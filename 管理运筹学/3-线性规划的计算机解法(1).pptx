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Lst>
  <p:sldIdLst>
    <p:sldId id="258" r:id="rId7"/>
    <p:sldId id="257" r:id="rId8"/>
    <p:sldId id="259" r:id="rId9"/>
    <p:sldId id="260" r:id="rId10"/>
    <p:sldId id="262" r:id="rId11"/>
    <p:sldId id="263" r:id="rId12"/>
    <p:sldId id="264" r:id="rId13"/>
    <p:sldId id="273" r:id="rId14"/>
    <p:sldId id="266" r:id="rId15"/>
    <p:sldId id="267" r:id="rId16"/>
    <p:sldId id="268" r:id="rId17"/>
    <p:sldId id="274" r:id="rId18"/>
    <p:sldId id="275" r:id="rId19"/>
    <p:sldId id="276" r:id="rId20"/>
    <p:sldId id="269" r:id="rId21"/>
    <p:sldId id="270" r:id="rId22"/>
    <p:sldId id="278" r:id="rId23"/>
    <p:sldId id="272" r:id="rId24"/>
    <p:sldId id="279" r:id="rId25"/>
    <p:sldId id="283" r:id="rId26"/>
    <p:sldId id="284" r:id="rId27"/>
    <p:sldId id="271" r:id="rId28"/>
    <p:sldId id="291" r:id="rId29"/>
    <p:sldId id="277" r:id="rId30"/>
    <p:sldId id="280" r:id="rId31"/>
    <p:sldId id="281" r:id="rId32"/>
    <p:sldId id="282" r:id="rId33"/>
    <p:sldId id="285" r:id="rId34"/>
    <p:sldId id="286" r:id="rId35"/>
    <p:sldId id="294" r:id="rId36"/>
    <p:sldId id="287" r:id="rId37"/>
    <p:sldId id="295" r:id="rId38"/>
    <p:sldId id="289" r:id="rId39"/>
    <p:sldId id="292" r:id="rId40"/>
    <p:sldId id="288" r:id="rId41"/>
    <p:sldId id="305" r:id="rId42"/>
    <p:sldId id="308" r:id="rId43"/>
    <p:sldId id="309" r:id="rId44"/>
    <p:sldId id="290" r:id="rId45"/>
    <p:sldId id="307"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52" autoAdjust="0"/>
    <p:restoredTop sz="94660"/>
  </p:normalViewPr>
  <p:slideViewPr>
    <p:cSldViewPr snapToGrid="0">
      <p:cViewPr varScale="1">
        <p:scale>
          <a:sx n="114" d="100"/>
          <a:sy n="114" d="100"/>
        </p:scale>
        <p:origin x="77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楷体" panose="02010609060101010101" pitchFamily="49" charset="-122"/>
                <a:ea typeface="楷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sz="half" idx="1" hasCustomPrompt="1"/>
          </p:nvPr>
        </p:nvSpPr>
        <p:spPr>
          <a:xfrm>
            <a:off x="838200" y="1825625"/>
            <a:ext cx="5181600" cy="4351338"/>
          </a:xfr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atin typeface="楷体" panose="02010609060101010101" pitchFamily="49" charset="-122"/>
                <a:ea typeface="楷体" panose="02010609060101010101" pitchFamily="49" charset="-122"/>
              </a:defRPr>
            </a:lvl1pPr>
          </a:lstStyle>
          <a:p>
            <a:fld id="{081AD006-0691-4AE4-A640-F2553EBE2C76}"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atin typeface="楷体" panose="02010609060101010101" pitchFamily="49" charset="-122"/>
                <a:ea typeface="楷体" panose="02010609060101010101" pitchFamily="49" charset="-122"/>
              </a:defRPr>
            </a:lvl1pPr>
          </a:lstStyle>
          <a:p>
            <a:endParaRPr lang="zh-CN" altLang="en-US"/>
          </a:p>
        </p:txBody>
      </p:sp>
      <p:sp>
        <p:nvSpPr>
          <p:cNvPr id="7" name="灯片编号占位符 6"/>
          <p:cNvSpPr>
            <a:spLocks noGrp="1"/>
          </p:cNvSpPr>
          <p:nvPr>
            <p:ph type="sldNum" sz="quarter" idx="12"/>
          </p:nvPr>
        </p:nvSpPr>
        <p:spPr/>
        <p:txBody>
          <a:bodyPr/>
          <a:lstStyle>
            <a:lvl1pPr>
              <a:defRPr>
                <a:latin typeface="楷体" panose="02010609060101010101" pitchFamily="49" charset="-122"/>
                <a:ea typeface="楷体" panose="02010609060101010101" pitchFamily="49" charset="-122"/>
              </a:defRPr>
            </a:lvl1pPr>
          </a:lstStyle>
          <a:p>
            <a:fld id="{742F5881-F9D4-4CE5-8915-C3B256F1610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lvl1pPr>
              <a:defRPr>
                <a:latin typeface="楷体" panose="02010609060101010101" pitchFamily="49" charset="-122"/>
                <a:ea typeface="楷体" panose="02010609060101010101" pitchFamily="49" charset="-122"/>
              </a:defRPr>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atin typeface="楷体" panose="02010609060101010101" pitchFamily="49" charset="-122"/>
                <a:ea typeface="楷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atin typeface="楷体" panose="02010609060101010101" pitchFamily="49" charset="-122"/>
                <a:ea typeface="楷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atin typeface="楷体" panose="02010609060101010101" pitchFamily="49" charset="-122"/>
                <a:ea typeface="楷体" panose="02010609060101010101" pitchFamily="49" charset="-122"/>
              </a:defRPr>
            </a:lvl1pPr>
          </a:lstStyle>
          <a:p>
            <a:fld id="{081AD006-0691-4AE4-A640-F2553EBE2C76}"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atin typeface="楷体" panose="02010609060101010101" pitchFamily="49" charset="-122"/>
                <a:ea typeface="楷体" panose="02010609060101010101" pitchFamily="49" charset="-122"/>
              </a:defRPr>
            </a:lvl1pPr>
          </a:lstStyle>
          <a:p>
            <a:endParaRPr lang="zh-CN" altLang="en-US"/>
          </a:p>
        </p:txBody>
      </p:sp>
      <p:sp>
        <p:nvSpPr>
          <p:cNvPr id="9" name="灯片编号占位符 8"/>
          <p:cNvSpPr>
            <a:spLocks noGrp="1"/>
          </p:cNvSpPr>
          <p:nvPr>
            <p:ph type="sldNum" sz="quarter" idx="12"/>
          </p:nvPr>
        </p:nvSpPr>
        <p:spPr/>
        <p:txBody>
          <a:bodyPr/>
          <a:lstStyle>
            <a:lvl1pPr>
              <a:defRPr>
                <a:latin typeface="楷体" panose="02010609060101010101" pitchFamily="49" charset="-122"/>
                <a:ea typeface="楷体" panose="02010609060101010101" pitchFamily="49" charset="-122"/>
              </a:defRPr>
            </a:lvl1pPr>
          </a:lstStyle>
          <a:p>
            <a:fld id="{742F5881-F9D4-4CE5-8915-C3B256F1610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742F5881-F9D4-4CE5-8915-C3B256F1610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742F5881-F9D4-4CE5-8915-C3B256F16100}"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81AD006-0691-4AE4-A640-F2553EBE2C7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2F5881-F9D4-4CE5-8915-C3B256F16100}"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2" Type="http://schemas.openxmlformats.org/officeDocument/2006/relationships/theme" Target="../theme/theme5.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1AD006-0691-4AE4-A640-F2553EBE2C7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742F5881-F9D4-4CE5-8915-C3B256F16100}" type="slidenum">
              <a:rPr lang="zh-CN" altLang="en-US" smtClean="0"/>
            </a:fld>
            <a:endParaRPr lang="zh-CN" altLang="en-US"/>
          </a:p>
        </p:txBody>
      </p:sp>
      <p:grpSp>
        <p:nvGrpSpPr>
          <p:cNvPr id="7" name="组合 6"/>
          <p:cNvGrpSpPr/>
          <p:nvPr userDrawn="1"/>
        </p:nvGrpSpPr>
        <p:grpSpPr>
          <a:xfrm>
            <a:off x="0" y="6219242"/>
            <a:ext cx="12192000" cy="627681"/>
            <a:chOff x="0" y="5888735"/>
            <a:chExt cx="12192000" cy="969265"/>
          </a:xfrm>
        </p:grpSpPr>
        <p:sp>
          <p:nvSpPr>
            <p:cNvPr id="8" name="任意多边形: 形状 7"/>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userDrawn="1"/>
        </p:nvSpPr>
        <p:spPr>
          <a:xfrm rot="16200000">
            <a:off x="72797" y="68319"/>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userDrawn="1"/>
        </p:nvSpPr>
        <p:spPr>
          <a:xfrm rot="16200000">
            <a:off x="57549" y="226943"/>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userDrawn="1"/>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194079"/>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txBox="1"/>
          <p:nvPr userDrawn="1"/>
        </p:nvSpPr>
        <p:spPr>
          <a:xfrm>
            <a:off x="9332976" y="646351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100"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42F5881-F9D4-4CE5-8915-C3B256F1610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3FAB52-0D75-4FB4-963F-CFC9BE82CFA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3E8295-D660-4793-94DB-7FA6302251F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1AD006-0691-4AE4-A640-F2553EBE2C7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742F5881-F9D4-4CE5-8915-C3B256F1610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A68B94-C734-4FAA-BA75-57D48D0BD3C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29AAA6-52A7-41A3-AAC3-F7EE0809863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3FAB52-0D75-4FB4-963F-CFC9BE82CFA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3E8295-D660-4793-94DB-7FA6302251F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image" Target="../media/image20.png"/><Relationship Id="rId3" Type="http://schemas.openxmlformats.org/officeDocument/2006/relationships/image" Target="../media/image21.png"/><Relationship Id="rId2" Type="http://schemas.openxmlformats.org/officeDocument/2006/relationships/tags" Target="../tags/tag2.xml"/><Relationship Id="rId13" Type="http://schemas.openxmlformats.org/officeDocument/2006/relationships/slideLayout" Target="../slideLayouts/slideLayout7.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image" Target="../media/image22.png"/><Relationship Id="rId22" Type="http://schemas.openxmlformats.org/officeDocument/2006/relationships/slideLayout" Target="../slideLayouts/slideLayout7.xml"/><Relationship Id="rId21" Type="http://schemas.openxmlformats.org/officeDocument/2006/relationships/tags" Target="../tags/tag29.xml"/><Relationship Id="rId20" Type="http://schemas.openxmlformats.org/officeDocument/2006/relationships/tags" Target="../tags/tag28.xml"/><Relationship Id="rId2" Type="http://schemas.openxmlformats.org/officeDocument/2006/relationships/tags" Target="../tags/tag12.xml"/><Relationship Id="rId19" Type="http://schemas.openxmlformats.org/officeDocument/2006/relationships/tags" Target="../tags/tag27.xml"/><Relationship Id="rId18" Type="http://schemas.openxmlformats.org/officeDocument/2006/relationships/tags" Target="../tags/tag26.xml"/><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image" Target="../media/image20.png"/><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1.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7.png"/><Relationship Id="rId1"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7.png"/><Relationship Id="rId1" Type="http://schemas.openxmlformats.org/officeDocument/2006/relationships/image" Target="../media/image26.png"/></Relationships>
</file>

<file path=ppt/slides/_rels/slide25.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image" Target="../media/image25.png"/><Relationship Id="rId2" Type="http://schemas.openxmlformats.org/officeDocument/2006/relationships/image" Target="../media/image27.png"/><Relationship Id="rId17" Type="http://schemas.openxmlformats.org/officeDocument/2006/relationships/slideLayout" Target="../slideLayouts/slideLayout7.xml"/><Relationship Id="rId16" Type="http://schemas.openxmlformats.org/officeDocument/2006/relationships/tags" Target="../tags/tag43.xml"/><Relationship Id="rId15" Type="http://schemas.openxmlformats.org/officeDocument/2006/relationships/tags" Target="../tags/tag42.xml"/><Relationship Id="rId14" Type="http://schemas.openxmlformats.org/officeDocument/2006/relationships/tags" Target="../tags/tag41.xml"/><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tags" Target="../tags/tag30.xml"/></Relationships>
</file>

<file path=ppt/slides/_rels/slide26.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image" Target="../media/image25.png"/><Relationship Id="rId7" Type="http://schemas.openxmlformats.org/officeDocument/2006/relationships/image" Target="../media/image27.png"/><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image" Target="../media/image28.png"/><Relationship Id="rId23" Type="http://schemas.openxmlformats.org/officeDocument/2006/relationships/slideLayout" Target="../slideLayouts/slideLayout7.xml"/><Relationship Id="rId22" Type="http://schemas.openxmlformats.org/officeDocument/2006/relationships/tags" Target="../tags/tag62.xml"/><Relationship Id="rId21" Type="http://schemas.openxmlformats.org/officeDocument/2006/relationships/tags" Target="../tags/tag61.xml"/><Relationship Id="rId20" Type="http://schemas.openxmlformats.org/officeDocument/2006/relationships/tags" Target="../tags/tag60.xml"/><Relationship Id="rId2" Type="http://schemas.openxmlformats.org/officeDocument/2006/relationships/tags" Target="../tags/tag45.xml"/><Relationship Id="rId19" Type="http://schemas.openxmlformats.org/officeDocument/2006/relationships/tags" Target="../tags/tag59.xml"/><Relationship Id="rId18" Type="http://schemas.openxmlformats.org/officeDocument/2006/relationships/tags" Target="../tags/tag58.xml"/><Relationship Id="rId17" Type="http://schemas.openxmlformats.org/officeDocument/2006/relationships/tags" Target="../tags/tag57.xml"/><Relationship Id="rId16" Type="http://schemas.openxmlformats.org/officeDocument/2006/relationships/tags" Target="../tags/tag56.xml"/><Relationship Id="rId15" Type="http://schemas.openxmlformats.org/officeDocument/2006/relationships/tags" Target="../tags/tag55.xml"/><Relationship Id="rId14" Type="http://schemas.openxmlformats.org/officeDocument/2006/relationships/tags" Target="../tags/tag54.xml"/><Relationship Id="rId13" Type="http://schemas.openxmlformats.org/officeDocument/2006/relationships/tags" Target="../tags/tag53.xml"/><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tags" Target="../tags/tag44.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7.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9375" t="39498" r="10496" b="1702"/>
          <a:stretch>
            <a:fillRect/>
          </a:stretch>
        </p:blipFill>
        <p:spPr>
          <a:xfrm>
            <a:off x="0" y="0"/>
            <a:ext cx="12192000" cy="3349519"/>
          </a:xfrm>
          <a:prstGeom prst="rect">
            <a:avLst/>
          </a:prstGeom>
        </p:spPr>
      </p:pic>
      <p:sp>
        <p:nvSpPr>
          <p:cNvPr id="5" name="文本框 4"/>
          <p:cNvSpPr txBox="1"/>
          <p:nvPr/>
        </p:nvSpPr>
        <p:spPr>
          <a:xfrm>
            <a:off x="1551964" y="3946378"/>
            <a:ext cx="8555598" cy="707886"/>
          </a:xfrm>
          <a:prstGeom prst="rect">
            <a:avLst/>
          </a:prstGeom>
          <a:noFill/>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第三章：线性规划的计算机求解</a:t>
            </a:r>
            <a:endParaRPr lang="zh-CN" altLang="en-US" sz="4000" b="1" spc="600" dirty="0">
              <a:solidFill>
                <a:schemeClr val="accent1"/>
              </a:solidFill>
              <a:latin typeface="微软雅黑" panose="020B0503020204020204" pitchFamily="34" charset="-122"/>
              <a:ea typeface="微软雅黑" panose="020B0503020204020204" pitchFamily="34" charset="-122"/>
            </a:endParaRPr>
          </a:p>
        </p:txBody>
      </p:sp>
      <p:sp>
        <p:nvSpPr>
          <p:cNvPr id="6" name="矩形 5"/>
          <p:cNvSpPr/>
          <p:nvPr/>
        </p:nvSpPr>
        <p:spPr>
          <a:xfrm>
            <a:off x="0" y="3339894"/>
            <a:ext cx="12192000" cy="1290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6"/>
          <p:cNvSpPr/>
          <p:nvPr/>
        </p:nvSpPr>
        <p:spPr>
          <a:xfrm>
            <a:off x="0" y="3270038"/>
            <a:ext cx="12192000" cy="129048"/>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3025540" y="4869708"/>
            <a:ext cx="6140919" cy="338554"/>
          </a:xfrm>
          <a:prstGeom prst="rect">
            <a:avLst/>
          </a:prstGeom>
          <a:noFill/>
        </p:spPr>
        <p:txBody>
          <a:bodyPr wrap="square" rtlCol="0">
            <a:spAutoFit/>
          </a:bodyPr>
          <a:lstStyle/>
          <a:p>
            <a:pPr algn="dist"/>
            <a:r>
              <a:rPr lang="en-US" altLang="zh-CN" sz="1600" dirty="0">
                <a:solidFill>
                  <a:schemeClr val="bg1">
                    <a:lumMod val="65000"/>
                  </a:schemeClr>
                </a:solidFill>
                <a:latin typeface="Segoe UI Light" panose="020B0502040204020203" pitchFamily="34" charset="0"/>
                <a:cs typeface="Segoe UI Light" panose="020B0502040204020203" pitchFamily="34" charset="0"/>
              </a:rPr>
              <a:t>HUAZHONG AGRICULTURAL UNIVERSITY</a:t>
            </a:r>
            <a:endParaRPr lang="zh-CN" altLang="en-US" sz="1600" dirty="0">
              <a:solidFill>
                <a:schemeClr val="bg1">
                  <a:lumMod val="65000"/>
                </a:schemeClr>
              </a:solidFill>
              <a:latin typeface="Segoe UI Light" panose="020B0502040204020203" pitchFamily="34" charset="0"/>
              <a:cs typeface="Segoe UI Light" panose="020B0502040204020203" pitchFamily="34" charset="0"/>
            </a:endParaRPr>
          </a:p>
        </p:txBody>
      </p:sp>
      <p:grpSp>
        <p:nvGrpSpPr>
          <p:cNvPr id="12" name="组合 11"/>
          <p:cNvGrpSpPr/>
          <p:nvPr/>
        </p:nvGrpSpPr>
        <p:grpSpPr>
          <a:xfrm>
            <a:off x="9214084" y="5016125"/>
            <a:ext cx="1999647" cy="45719"/>
            <a:chOff x="9458460" y="4956809"/>
            <a:chExt cx="1999647" cy="45719"/>
          </a:xfrm>
        </p:grpSpPr>
        <p:cxnSp>
          <p:nvCxnSpPr>
            <p:cNvPr id="10" name="直接连接符 9"/>
            <p:cNvCxnSpPr/>
            <p:nvPr/>
          </p:nvCxnSpPr>
          <p:spPr>
            <a:xfrm>
              <a:off x="9504179" y="4982095"/>
              <a:ext cx="19539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9458460" y="4956809"/>
              <a:ext cx="45719" cy="45719"/>
            </a:xfrm>
            <a:prstGeom prst="ellips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flipH="1">
            <a:off x="980174" y="5016125"/>
            <a:ext cx="1999647" cy="45719"/>
            <a:chOff x="9458460" y="4956809"/>
            <a:chExt cx="1999647" cy="45719"/>
          </a:xfrm>
        </p:grpSpPr>
        <p:cxnSp>
          <p:nvCxnSpPr>
            <p:cNvPr id="14" name="直接连接符 13"/>
            <p:cNvCxnSpPr/>
            <p:nvPr/>
          </p:nvCxnSpPr>
          <p:spPr>
            <a:xfrm>
              <a:off x="9504179" y="4982095"/>
              <a:ext cx="19539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9458460" y="4956809"/>
              <a:ext cx="45719" cy="45719"/>
            </a:xfrm>
            <a:prstGeom prst="ellips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学习计划与重要知识点</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专业运筹学软件介绍</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管理运筹学软件的操作方法</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管理运筹学软件的输出分析</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百分之一百法则</a:t>
            </a: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nchor="ctr">
            <a:normAutofit/>
          </a:bodyPr>
          <a:lstStyle/>
          <a:p>
            <a:r>
              <a:rPr lang="zh-CN" altLang="en-US" dirty="0">
                <a:latin typeface="楷体" panose="02010609060101010101" pitchFamily="49" charset="-122"/>
                <a:ea typeface="楷体" panose="02010609060101010101" pitchFamily="49" charset="-122"/>
              </a:rPr>
              <a:t>专业运筹学软件介绍 </a:t>
            </a:r>
            <a:r>
              <a:rPr lang="en-US" altLang="zh-CN" dirty="0">
                <a:latin typeface="楷体" panose="02010609060101010101" pitchFamily="49" charset="-122"/>
                <a:ea typeface="楷体" panose="02010609060101010101" pitchFamily="49" charset="-122"/>
              </a:rPr>
              <a:t>- Lingo</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sz="half" idx="1"/>
          </p:nvPr>
        </p:nvSpPr>
        <p:spPr>
          <a:xfrm>
            <a:off x="838200" y="1825625"/>
            <a:ext cx="5181600" cy="4351338"/>
          </a:xfrm>
        </p:spPr>
        <p:txBody>
          <a:bodyPr>
            <a:normAutofit/>
          </a:bodyPr>
          <a:lstStyle/>
          <a:p>
            <a:r>
              <a:rPr lang="en-US" b="0" i="0" dirty="0">
                <a:effectLst/>
                <a:latin typeface="楷体" panose="02010609060101010101" pitchFamily="49" charset="-122"/>
                <a:ea typeface="楷体" panose="02010609060101010101" pitchFamily="49" charset="-122"/>
              </a:rPr>
              <a:t>LINGO</a:t>
            </a:r>
            <a:r>
              <a:rPr lang="ja-JP" altLang="en-US" b="0" i="0">
                <a:effectLst/>
                <a:latin typeface="楷体" panose="02010609060101010101" pitchFamily="49" charset="-122"/>
                <a:ea typeface="楷体" panose="02010609060101010101" pitchFamily="49" charset="-122"/>
              </a:rPr>
              <a:t>全称是</a:t>
            </a:r>
            <a:r>
              <a:rPr lang="en-US" b="0" i="0" dirty="0">
                <a:effectLst/>
                <a:latin typeface="楷体" panose="02010609060101010101" pitchFamily="49" charset="-122"/>
                <a:ea typeface="楷体" panose="02010609060101010101" pitchFamily="49" charset="-122"/>
              </a:rPr>
              <a:t>Linear Interactive and General Optimizer</a:t>
            </a:r>
            <a:r>
              <a:rPr lang="ja-JP" altLang="en-US" b="0" i="0">
                <a:effectLst/>
                <a:latin typeface="楷体" panose="02010609060101010101" pitchFamily="49" charset="-122"/>
                <a:ea typeface="楷体" panose="02010609060101010101" pitchFamily="49" charset="-122"/>
              </a:rPr>
              <a:t>的缩写</a:t>
            </a:r>
            <a:r>
              <a:rPr lang="en-US" altLang="ja-JP" b="0" i="0" dirty="0">
                <a:effectLst/>
                <a:latin typeface="楷体" panose="02010609060101010101" pitchFamily="49" charset="-122"/>
                <a:ea typeface="楷体" panose="02010609060101010101" pitchFamily="49" charset="-122"/>
              </a:rPr>
              <a:t>---</a:t>
            </a:r>
            <a:r>
              <a:rPr lang="ja-JP" altLang="en-US" b="0" i="0">
                <a:effectLst/>
                <a:latin typeface="楷体" panose="02010609060101010101" pitchFamily="49" charset="-122"/>
                <a:ea typeface="楷体" panose="02010609060101010101" pitchFamily="49" charset="-122"/>
              </a:rPr>
              <a:t>交互式的线性和通用优化求解器。</a:t>
            </a:r>
            <a:endParaRPr lang="en-US" altLang="ja-JP" b="0" i="0" dirty="0">
              <a:effectLst/>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由美国</a:t>
            </a:r>
            <a:r>
              <a:rPr lang="en-US" altLang="zh-CN" dirty="0">
                <a:latin typeface="楷体" panose="02010609060101010101" pitchFamily="49" charset="-122"/>
                <a:ea typeface="楷体" panose="02010609060101010101" pitchFamily="49" charset="-122"/>
              </a:rPr>
              <a:t>LINDO</a:t>
            </a:r>
            <a:r>
              <a:rPr lang="zh-CN" altLang="en-US" dirty="0">
                <a:latin typeface="楷体" panose="02010609060101010101" pitchFamily="49" charset="-122"/>
                <a:ea typeface="楷体" panose="02010609060101010101" pitchFamily="49" charset="-122"/>
              </a:rPr>
              <a:t>系统公司（</a:t>
            </a:r>
            <a:r>
              <a:rPr lang="en-US" altLang="zh-CN" dirty="0">
                <a:latin typeface="楷体" panose="02010609060101010101" pitchFamily="49" charset="-122"/>
                <a:ea typeface="楷体" panose="02010609060101010101" pitchFamily="49" charset="-122"/>
              </a:rPr>
              <a:t>Lindo System Inc.</a:t>
            </a:r>
            <a:r>
              <a:rPr lang="zh-CN" altLang="en-US" dirty="0">
                <a:latin typeface="楷体" panose="02010609060101010101" pitchFamily="49" charset="-122"/>
                <a:ea typeface="楷体" panose="02010609060101010101" pitchFamily="49" charset="-122"/>
              </a:rPr>
              <a:t>）推出的，可以用于求解</a:t>
            </a:r>
            <a:r>
              <a:rPr lang="zh-CN" altLang="en-US" dirty="0">
                <a:solidFill>
                  <a:srgbClr val="FF0000"/>
                </a:solidFill>
                <a:latin typeface="楷体" panose="02010609060101010101" pitchFamily="49" charset="-122"/>
                <a:ea typeface="楷体" panose="02010609060101010101" pitchFamily="49" charset="-122"/>
              </a:rPr>
              <a:t>非线性规划</a:t>
            </a:r>
            <a:r>
              <a:rPr lang="zh-CN" altLang="en-US" dirty="0">
                <a:latin typeface="楷体" panose="02010609060101010101" pitchFamily="49" charset="-122"/>
                <a:ea typeface="楷体" panose="02010609060101010101" pitchFamily="49" charset="-122"/>
              </a:rPr>
              <a:t>，也可以用于一些</a:t>
            </a:r>
            <a:r>
              <a:rPr lang="zh-CN" altLang="en-US" dirty="0">
                <a:solidFill>
                  <a:srgbClr val="FF0000"/>
                </a:solidFill>
                <a:latin typeface="楷体" panose="02010609060101010101" pitchFamily="49" charset="-122"/>
                <a:ea typeface="楷体" panose="02010609060101010101" pitchFamily="49" charset="-122"/>
              </a:rPr>
              <a:t>线性和非线性方程组</a:t>
            </a:r>
            <a:r>
              <a:rPr lang="zh-CN" altLang="en-US" dirty="0">
                <a:latin typeface="楷体" panose="02010609060101010101" pitchFamily="49" charset="-122"/>
                <a:ea typeface="楷体" panose="02010609060101010101" pitchFamily="49" charset="-122"/>
              </a:rPr>
              <a:t>的求解等，功能十分强大，是求解优化模型的最佳选择。</a:t>
            </a:r>
            <a:endParaRPr lang="zh-CN" altLang="en-US" dirty="0">
              <a:latin typeface="楷体" panose="02010609060101010101" pitchFamily="49" charset="-122"/>
              <a:ea typeface="楷体" panose="02010609060101010101" pitchFamily="49" charset="-122"/>
            </a:endParaRPr>
          </a:p>
        </p:txBody>
      </p:sp>
      <p:pic>
        <p:nvPicPr>
          <p:cNvPr id="5" name="Picture 4" descr="Graphical user interface, application&#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72200" y="2291366"/>
            <a:ext cx="5181600" cy="3419856"/>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nchor="ctr">
            <a:normAutofit/>
          </a:bodyPr>
          <a:lstStyle/>
          <a:p>
            <a:r>
              <a:rPr lang="zh-CN" altLang="en-US" dirty="0"/>
              <a:t>专业运筹学软件介绍 </a:t>
            </a:r>
            <a:r>
              <a:rPr lang="en-US" altLang="zh-CN" dirty="0"/>
              <a:t>- CPLEX</a:t>
            </a:r>
            <a:endParaRPr lang="zh-CN" altLang="en-US" dirty="0"/>
          </a:p>
        </p:txBody>
      </p:sp>
      <p:sp>
        <p:nvSpPr>
          <p:cNvPr id="3" name="内容占位符 2"/>
          <p:cNvSpPr>
            <a:spLocks noGrp="1"/>
          </p:cNvSpPr>
          <p:nvPr>
            <p:ph sz="half" idx="1"/>
          </p:nvPr>
        </p:nvSpPr>
        <p:spPr>
          <a:xfrm>
            <a:off x="838200" y="1825625"/>
            <a:ext cx="5181600" cy="4351338"/>
          </a:xfrm>
        </p:spPr>
        <p:txBody>
          <a:bodyPr>
            <a:normAutofit/>
          </a:bodyPr>
          <a:lstStyle/>
          <a:p>
            <a:r>
              <a:rPr lang="en-US" altLang="zh-CN" dirty="0"/>
              <a:t>IBM CPLEX Studio</a:t>
            </a:r>
            <a:r>
              <a:rPr lang="zh-CN" altLang="en-US" dirty="0"/>
              <a:t>是业界领先的数学优化求解器，能够以最快的速度最可靠地实现基本算法， 以解决困难的数学优化问题：</a:t>
            </a:r>
            <a:endParaRPr lang="en-US" altLang="zh-CN" dirty="0"/>
          </a:p>
          <a:p>
            <a:pPr lvl="1"/>
            <a:r>
              <a:rPr lang="zh-CN" altLang="en-US" sz="2800"/>
              <a:t>线性规划</a:t>
            </a:r>
            <a:endParaRPr lang="en-US" altLang="zh-CN" sz="2800"/>
          </a:p>
          <a:p>
            <a:pPr lvl="1"/>
            <a:r>
              <a:rPr lang="zh-CN" altLang="en-US" sz="2800"/>
              <a:t>二次方程规划</a:t>
            </a:r>
            <a:endParaRPr lang="en-US" altLang="zh-CN" sz="2800"/>
          </a:p>
          <a:p>
            <a:pPr lvl="1"/>
            <a:r>
              <a:rPr lang="zh-CN" altLang="en-US" sz="2800"/>
              <a:t>二次方程约束规划</a:t>
            </a:r>
            <a:endParaRPr lang="en-US" altLang="zh-CN" sz="2800"/>
          </a:p>
          <a:p>
            <a:pPr lvl="1"/>
            <a:r>
              <a:rPr lang="zh-CN" altLang="en-US" sz="2800"/>
              <a:t>混合整数规划</a:t>
            </a:r>
            <a:endParaRPr lang="en-US" altLang="zh-CN" sz="2800"/>
          </a:p>
          <a:p>
            <a:r>
              <a:rPr lang="zh-CN" altLang="en-US" dirty="0"/>
              <a:t>高效的算法</a:t>
            </a:r>
            <a:r>
              <a:rPr lang="en-US" altLang="zh-CN" dirty="0"/>
              <a:t>+</a:t>
            </a:r>
            <a:r>
              <a:rPr lang="zh-CN" altLang="en-US" dirty="0"/>
              <a:t>多</a:t>
            </a:r>
            <a:r>
              <a:rPr lang="en-US" altLang="zh-CN" dirty="0"/>
              <a:t>CPU</a:t>
            </a:r>
            <a:r>
              <a:rPr lang="zh-CN" altLang="en-US" dirty="0"/>
              <a:t>运算能力</a:t>
            </a:r>
            <a:endParaRPr lang="zh-CN" altLang="en-US" dirty="0"/>
          </a:p>
        </p:txBody>
      </p:sp>
      <p:pic>
        <p:nvPicPr>
          <p:cNvPr id="1026" name="Picture 2" descr="ILOG CPLEX Optimization Studio | IBM"/>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6172200" y="2543969"/>
            <a:ext cx="5181600" cy="2914650"/>
          </a:xfrm>
          <a:prstGeom prst="rect">
            <a:avLst/>
          </a:prstGeom>
          <a:solidFill>
            <a:srgbClr val="FFFFFF"/>
          </a:solid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nchor="ctr">
            <a:normAutofit/>
          </a:bodyPr>
          <a:lstStyle/>
          <a:p>
            <a:r>
              <a:rPr lang="zh-CN" altLang="en-US" dirty="0"/>
              <a:t>专业运筹学软件介绍 </a:t>
            </a:r>
            <a:r>
              <a:rPr lang="en-US" altLang="zh-CN" dirty="0"/>
              <a:t>- Julia</a:t>
            </a:r>
            <a:endParaRPr lang="zh-CN" altLang="en-US" dirty="0"/>
          </a:p>
        </p:txBody>
      </p:sp>
      <p:sp>
        <p:nvSpPr>
          <p:cNvPr id="3" name="内容占位符 2"/>
          <p:cNvSpPr>
            <a:spLocks noGrp="1"/>
          </p:cNvSpPr>
          <p:nvPr>
            <p:ph sz="half" idx="1"/>
          </p:nvPr>
        </p:nvSpPr>
        <p:spPr>
          <a:xfrm>
            <a:off x="838200" y="1825625"/>
            <a:ext cx="5181600" cy="4351338"/>
          </a:xfrm>
        </p:spPr>
        <p:txBody>
          <a:bodyPr>
            <a:normAutofit/>
          </a:bodyPr>
          <a:lstStyle/>
          <a:p>
            <a:r>
              <a:rPr lang="zh-CN" altLang="en-US" dirty="0"/>
              <a:t>由</a:t>
            </a:r>
            <a:r>
              <a:rPr lang="en-US" altLang="zh-CN" dirty="0"/>
              <a:t>MIT</a:t>
            </a:r>
            <a:r>
              <a:rPr lang="zh-CN" altLang="en-US" dirty="0"/>
              <a:t>自主研发的通用编程语言，具有许多上述商业软件没有的优势：</a:t>
            </a:r>
            <a:endParaRPr lang="en-US" altLang="zh-CN" dirty="0"/>
          </a:p>
          <a:p>
            <a:pPr lvl="1"/>
            <a:r>
              <a:rPr lang="zh-CN" altLang="en-US" sz="2800"/>
              <a:t>开源免费</a:t>
            </a:r>
            <a:endParaRPr lang="en-US" altLang="zh-CN" sz="2800"/>
          </a:p>
          <a:p>
            <a:pPr lvl="1"/>
            <a:r>
              <a:rPr lang="zh-CN" altLang="en-US" sz="2800"/>
              <a:t>高性能、轻量级</a:t>
            </a:r>
            <a:endParaRPr lang="en-US" altLang="zh-CN" sz="2800"/>
          </a:p>
          <a:p>
            <a:pPr lvl="1"/>
            <a:r>
              <a:rPr lang="zh-CN" altLang="en-US" sz="2800"/>
              <a:t>数学符号输入便捷</a:t>
            </a:r>
            <a:endParaRPr lang="en-US" altLang="zh-CN" sz="2800"/>
          </a:p>
          <a:p>
            <a:pPr lvl="1"/>
            <a:r>
              <a:rPr lang="zh-CN" altLang="en-US" sz="2800"/>
              <a:t>泛用性强</a:t>
            </a:r>
            <a:endParaRPr lang="en-US" altLang="zh-CN" sz="2800"/>
          </a:p>
          <a:p>
            <a:pPr lvl="1"/>
            <a:endParaRPr lang="en-US" altLang="zh-CN" sz="2800"/>
          </a:p>
        </p:txBody>
      </p:sp>
      <p:pic>
        <p:nvPicPr>
          <p:cNvPr id="5" name="Picture 4"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72200" y="2064671"/>
            <a:ext cx="5181600" cy="3873246"/>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管理运筹学软件的操作方法 </a:t>
            </a:r>
            <a:r>
              <a:rPr lang="en-US" altLang="zh-CN" dirty="0"/>
              <a:t>– </a:t>
            </a:r>
            <a:r>
              <a:rPr lang="zh-CN" altLang="en-US" dirty="0"/>
              <a:t>问题选择界面</a:t>
            </a:r>
            <a:br>
              <a:rPr lang="zh-CN" altLang="en-US" dirty="0"/>
            </a:br>
            <a:endParaRPr lang="zh-CN" altLang="en-US" dirty="0"/>
          </a:p>
        </p:txBody>
      </p:sp>
      <p:sp>
        <p:nvSpPr>
          <p:cNvPr id="3" name="内容占位符 2"/>
          <p:cNvSpPr>
            <a:spLocks noGrp="1"/>
          </p:cNvSpPr>
          <p:nvPr>
            <p:ph idx="1"/>
          </p:nvPr>
        </p:nvSpPr>
        <p:spPr>
          <a:xfrm>
            <a:off x="838200" y="1825625"/>
            <a:ext cx="4632016" cy="4351338"/>
          </a:xfrm>
        </p:spPr>
        <p:txBody>
          <a:bodyPr/>
          <a:lstStyle/>
          <a:p>
            <a:r>
              <a:rPr lang="zh-CN" altLang="en-US" dirty="0">
                <a:latin typeface="楷体" panose="02010609060101010101" pitchFamily="49" charset="-122"/>
                <a:ea typeface="楷体" panose="02010609060101010101" pitchFamily="49" charset="-122"/>
              </a:rPr>
              <a:t>下面演示如何用“管理运筹学”软件包来解决第二章例</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的线性规划问题</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管理运筹学</a:t>
            </a:r>
            <a:r>
              <a:rPr lang="en-US" altLang="zh-CN" dirty="0">
                <a:latin typeface="楷体" panose="02010609060101010101" pitchFamily="49" charset="-122"/>
                <a:ea typeface="楷体" panose="02010609060101010101" pitchFamily="49" charset="-122"/>
              </a:rPr>
              <a:t>3.0</a:t>
            </a:r>
            <a:r>
              <a:rPr lang="zh-CN" altLang="en-US" dirty="0">
                <a:latin typeface="楷体" panose="02010609060101010101" pitchFamily="49" charset="-122"/>
                <a:ea typeface="楷体" panose="02010609060101010101" pitchFamily="49" charset="-122"/>
              </a:rPr>
              <a:t>只能解决</a:t>
            </a:r>
            <a:r>
              <a:rPr lang="en-US" altLang="zh-CN" dirty="0">
                <a:latin typeface="楷体" panose="02010609060101010101" pitchFamily="49" charset="-122"/>
                <a:ea typeface="楷体" panose="02010609060101010101" pitchFamily="49" charset="-122"/>
              </a:rPr>
              <a:t>100</a:t>
            </a:r>
            <a:r>
              <a:rPr lang="zh-CN" altLang="en-US" dirty="0">
                <a:latin typeface="楷体" panose="02010609060101010101" pitchFamily="49" charset="-122"/>
                <a:ea typeface="楷体" panose="02010609060101010101" pitchFamily="49" charset="-122"/>
              </a:rPr>
              <a:t>个决策变量和</a:t>
            </a:r>
            <a:r>
              <a:rPr lang="en-US" altLang="zh-CN" dirty="0">
                <a:latin typeface="楷体" panose="02010609060101010101" pitchFamily="49" charset="-122"/>
                <a:ea typeface="楷体" panose="02010609060101010101" pitchFamily="49" charset="-122"/>
              </a:rPr>
              <a:t>50</a:t>
            </a:r>
            <a:r>
              <a:rPr lang="zh-CN" altLang="en-US" dirty="0">
                <a:latin typeface="楷体" panose="02010609060101010101" pitchFamily="49" charset="-122"/>
                <a:ea typeface="楷体" panose="02010609060101010101" pitchFamily="49" charset="-122"/>
              </a:rPr>
              <a:t>个约束方程的线性规划问题</a:t>
            </a:r>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下载网址：</a:t>
            </a:r>
            <a:r>
              <a:rPr lang="en-US" altLang="zh-CN" dirty="0">
                <a:latin typeface="楷体" panose="02010609060101010101" pitchFamily="49" charset="-122"/>
                <a:ea typeface="楷体" panose="02010609060101010101" pitchFamily="49" charset="-122"/>
              </a:rPr>
              <a:t>http://2d.hep.cn/52723/90</a:t>
            </a:r>
            <a:endParaRPr lang="zh-CN" altLang="en-US" dirty="0">
              <a:latin typeface="楷体" panose="02010609060101010101" pitchFamily="49" charset="-122"/>
              <a:ea typeface="楷体" panose="02010609060101010101" pitchFamily="49" charset="-122"/>
            </a:endParaRPr>
          </a:p>
          <a:p>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470216" y="1825625"/>
            <a:ext cx="5503451" cy="329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管理运筹学软件的操作方法 </a:t>
            </a:r>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例</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回顾</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p:txBody>
          <a:bodyPr/>
          <a:lstStyle/>
          <a:p>
            <a:pPr marL="0" indent="0" algn="ctr">
              <a:buNone/>
            </a:pPr>
            <a:r>
              <a:rPr lang="en-US" altLang="zh-CN" dirty="0">
                <a:solidFill>
                  <a:srgbClr val="0000CC"/>
                </a:solidFill>
                <a:latin typeface="楷体" panose="02010609060101010101" pitchFamily="49" charset="-122"/>
                <a:ea typeface="楷体" panose="02010609060101010101" pitchFamily="49" charset="-122"/>
              </a:rPr>
              <a:t>max Z=50x</a:t>
            </a:r>
            <a:r>
              <a:rPr lang="en-US" altLang="zh-CN" baseline="-25000" dirty="0">
                <a:solidFill>
                  <a:srgbClr val="0000CC"/>
                </a:solidFill>
                <a:latin typeface="楷体" panose="02010609060101010101" pitchFamily="49" charset="-122"/>
                <a:ea typeface="楷体" panose="02010609060101010101" pitchFamily="49" charset="-122"/>
              </a:rPr>
              <a:t>1</a:t>
            </a:r>
            <a:r>
              <a:rPr lang="en-US" altLang="zh-CN" dirty="0">
                <a:solidFill>
                  <a:srgbClr val="0000CC"/>
                </a:solidFill>
                <a:latin typeface="楷体" panose="02010609060101010101" pitchFamily="49" charset="-122"/>
                <a:ea typeface="楷体" panose="02010609060101010101" pitchFamily="49" charset="-122"/>
              </a:rPr>
              <a:t>+100x</a:t>
            </a:r>
            <a:r>
              <a:rPr lang="en-US" altLang="zh-CN" baseline="-25000" dirty="0">
                <a:solidFill>
                  <a:srgbClr val="0000CC"/>
                </a:solidFill>
                <a:latin typeface="楷体" panose="02010609060101010101" pitchFamily="49" charset="-122"/>
                <a:ea typeface="楷体" panose="02010609060101010101" pitchFamily="49" charset="-122"/>
              </a:rPr>
              <a:t>2</a:t>
            </a:r>
            <a:r>
              <a:rPr lang="en-US" altLang="zh-CN" dirty="0">
                <a:solidFill>
                  <a:srgbClr val="0000CC"/>
                </a:solidFill>
                <a:latin typeface="楷体" panose="02010609060101010101" pitchFamily="49" charset="-122"/>
                <a:ea typeface="楷体" panose="02010609060101010101" pitchFamily="49" charset="-122"/>
              </a:rPr>
              <a:t>，</a:t>
            </a:r>
            <a:endParaRPr lang="en-US" altLang="zh-CN" dirty="0">
              <a:solidFill>
                <a:srgbClr val="0000CC"/>
              </a:solidFill>
              <a:latin typeface="楷体" panose="02010609060101010101" pitchFamily="49" charset="-122"/>
              <a:ea typeface="楷体" panose="02010609060101010101" pitchFamily="49" charset="-122"/>
            </a:endParaRPr>
          </a:p>
          <a:p>
            <a:pPr marL="0" indent="0" algn="ctr">
              <a:buNone/>
            </a:pPr>
            <a:r>
              <a:rPr lang="zh-CN" altLang="en-US" dirty="0">
                <a:solidFill>
                  <a:srgbClr val="0000CC"/>
                </a:solidFill>
                <a:latin typeface="楷体" panose="02010609060101010101" pitchFamily="49" charset="-122"/>
                <a:ea typeface="楷体" panose="02010609060101010101" pitchFamily="49" charset="-122"/>
              </a:rPr>
              <a:t>约束条件：</a:t>
            </a:r>
            <a:endParaRPr lang="en-US" altLang="zh-CN" dirty="0">
              <a:solidFill>
                <a:srgbClr val="0000CC"/>
              </a:solidFill>
              <a:latin typeface="楷体" panose="02010609060101010101" pitchFamily="49" charset="-122"/>
              <a:ea typeface="楷体" panose="02010609060101010101" pitchFamily="49" charset="-122"/>
            </a:endParaRPr>
          </a:p>
          <a:p>
            <a:pPr marL="0" indent="0" algn="ctr">
              <a:buNone/>
            </a:pPr>
            <a:r>
              <a:rPr lang="en-US" altLang="zh-CN" dirty="0">
                <a:solidFill>
                  <a:srgbClr val="0000CC"/>
                </a:solidFill>
                <a:latin typeface="楷体" panose="02010609060101010101" pitchFamily="49" charset="-122"/>
                <a:ea typeface="楷体" panose="02010609060101010101" pitchFamily="49" charset="-122"/>
              </a:rPr>
              <a:t>x</a:t>
            </a:r>
            <a:r>
              <a:rPr lang="en-US" altLang="zh-CN" baseline="-25000" dirty="0">
                <a:solidFill>
                  <a:srgbClr val="0000CC"/>
                </a:solidFill>
                <a:latin typeface="楷体" panose="02010609060101010101" pitchFamily="49" charset="-122"/>
                <a:ea typeface="楷体" panose="02010609060101010101" pitchFamily="49" charset="-122"/>
              </a:rPr>
              <a:t>1</a:t>
            </a:r>
            <a:r>
              <a:rPr lang="en-US" altLang="zh-CN" dirty="0">
                <a:solidFill>
                  <a:srgbClr val="0000CC"/>
                </a:solidFill>
                <a:latin typeface="楷体" panose="02010609060101010101" pitchFamily="49" charset="-122"/>
                <a:ea typeface="楷体" panose="02010609060101010101" pitchFamily="49" charset="-122"/>
              </a:rPr>
              <a:t>+x</a:t>
            </a:r>
            <a:r>
              <a:rPr lang="en-US" altLang="zh-CN" baseline="-25000" dirty="0">
                <a:solidFill>
                  <a:srgbClr val="0000CC"/>
                </a:solidFill>
                <a:latin typeface="楷体" panose="02010609060101010101" pitchFamily="49" charset="-122"/>
                <a:ea typeface="楷体" panose="02010609060101010101" pitchFamily="49" charset="-122"/>
              </a:rPr>
              <a:t>2</a:t>
            </a:r>
            <a:r>
              <a:rPr lang="en-US" altLang="zh-CN" dirty="0">
                <a:solidFill>
                  <a:srgbClr val="0000CC"/>
                </a:solidFill>
                <a:latin typeface="楷体" panose="02010609060101010101" pitchFamily="49" charset="-122"/>
                <a:ea typeface="楷体" panose="02010609060101010101" pitchFamily="49" charset="-122"/>
              </a:rPr>
              <a:t>≤300，</a:t>
            </a:r>
            <a:endParaRPr lang="en-US" altLang="zh-CN" dirty="0">
              <a:solidFill>
                <a:srgbClr val="0000CC"/>
              </a:solidFill>
              <a:latin typeface="楷体" panose="02010609060101010101" pitchFamily="49" charset="-122"/>
              <a:ea typeface="楷体" panose="02010609060101010101" pitchFamily="49" charset="-122"/>
            </a:endParaRPr>
          </a:p>
          <a:p>
            <a:pPr marL="0" indent="0" algn="ctr">
              <a:buNone/>
            </a:pPr>
            <a:r>
              <a:rPr lang="en-US" altLang="zh-CN" dirty="0">
                <a:solidFill>
                  <a:srgbClr val="0000CC"/>
                </a:solidFill>
                <a:latin typeface="楷体" panose="02010609060101010101" pitchFamily="49" charset="-122"/>
                <a:ea typeface="楷体" panose="02010609060101010101" pitchFamily="49" charset="-122"/>
              </a:rPr>
              <a:t>2x</a:t>
            </a:r>
            <a:r>
              <a:rPr lang="en-US" altLang="zh-CN" baseline="-25000" dirty="0">
                <a:solidFill>
                  <a:srgbClr val="0000CC"/>
                </a:solidFill>
                <a:latin typeface="楷体" panose="02010609060101010101" pitchFamily="49" charset="-122"/>
                <a:ea typeface="楷体" panose="02010609060101010101" pitchFamily="49" charset="-122"/>
              </a:rPr>
              <a:t>1</a:t>
            </a:r>
            <a:r>
              <a:rPr lang="en-US" altLang="zh-CN" dirty="0">
                <a:solidFill>
                  <a:srgbClr val="0000CC"/>
                </a:solidFill>
                <a:latin typeface="楷体" panose="02010609060101010101" pitchFamily="49" charset="-122"/>
                <a:ea typeface="楷体" panose="02010609060101010101" pitchFamily="49" charset="-122"/>
              </a:rPr>
              <a:t>+x</a:t>
            </a:r>
            <a:r>
              <a:rPr lang="en-US" altLang="zh-CN" baseline="-25000" dirty="0">
                <a:solidFill>
                  <a:srgbClr val="0000CC"/>
                </a:solidFill>
                <a:latin typeface="楷体" panose="02010609060101010101" pitchFamily="49" charset="-122"/>
                <a:ea typeface="楷体" panose="02010609060101010101" pitchFamily="49" charset="-122"/>
              </a:rPr>
              <a:t>2</a:t>
            </a:r>
            <a:r>
              <a:rPr lang="en-US" altLang="zh-CN" dirty="0">
                <a:solidFill>
                  <a:srgbClr val="0000CC"/>
                </a:solidFill>
                <a:latin typeface="楷体" panose="02010609060101010101" pitchFamily="49" charset="-122"/>
                <a:ea typeface="楷体" panose="02010609060101010101" pitchFamily="49" charset="-122"/>
              </a:rPr>
              <a:t>≤400，</a:t>
            </a:r>
            <a:endParaRPr lang="en-US" altLang="zh-CN" dirty="0">
              <a:solidFill>
                <a:srgbClr val="0000CC"/>
              </a:solidFill>
              <a:latin typeface="楷体" panose="02010609060101010101" pitchFamily="49" charset="-122"/>
              <a:ea typeface="楷体" panose="02010609060101010101" pitchFamily="49" charset="-122"/>
            </a:endParaRPr>
          </a:p>
          <a:p>
            <a:pPr marL="0" indent="0" algn="ctr">
              <a:buNone/>
            </a:pPr>
            <a:r>
              <a:rPr lang="en-US" altLang="zh-CN" dirty="0">
                <a:solidFill>
                  <a:srgbClr val="0000CC"/>
                </a:solidFill>
                <a:latin typeface="楷体" panose="02010609060101010101" pitchFamily="49" charset="-122"/>
                <a:ea typeface="楷体" panose="02010609060101010101" pitchFamily="49" charset="-122"/>
              </a:rPr>
              <a:t>x</a:t>
            </a:r>
            <a:r>
              <a:rPr lang="en-US" altLang="zh-CN" baseline="-25000" dirty="0">
                <a:solidFill>
                  <a:srgbClr val="0000CC"/>
                </a:solidFill>
                <a:latin typeface="楷体" panose="02010609060101010101" pitchFamily="49" charset="-122"/>
                <a:ea typeface="楷体" panose="02010609060101010101" pitchFamily="49" charset="-122"/>
              </a:rPr>
              <a:t>2</a:t>
            </a:r>
            <a:r>
              <a:rPr lang="en-US" altLang="zh-CN" dirty="0">
                <a:solidFill>
                  <a:srgbClr val="0000CC"/>
                </a:solidFill>
                <a:latin typeface="楷体" panose="02010609060101010101" pitchFamily="49" charset="-122"/>
                <a:ea typeface="楷体" panose="02010609060101010101" pitchFamily="49" charset="-122"/>
              </a:rPr>
              <a:t>≤250,</a:t>
            </a:r>
            <a:endParaRPr lang="en-US" altLang="zh-CN" dirty="0">
              <a:solidFill>
                <a:srgbClr val="0000CC"/>
              </a:solidFill>
              <a:latin typeface="楷体" panose="02010609060101010101" pitchFamily="49" charset="-122"/>
              <a:ea typeface="楷体" panose="02010609060101010101" pitchFamily="49" charset="-122"/>
            </a:endParaRPr>
          </a:p>
          <a:p>
            <a:pPr marL="0" indent="0" algn="ctr">
              <a:buNone/>
            </a:pPr>
            <a:r>
              <a:rPr lang="en-US" altLang="zh-CN" dirty="0">
                <a:solidFill>
                  <a:srgbClr val="0000CC"/>
                </a:solidFill>
                <a:latin typeface="楷体" panose="02010609060101010101" pitchFamily="49" charset="-122"/>
                <a:ea typeface="楷体" panose="02010609060101010101" pitchFamily="49" charset="-122"/>
              </a:rPr>
              <a:t>x</a:t>
            </a:r>
            <a:r>
              <a:rPr lang="en-US" altLang="zh-CN" baseline="-25000" dirty="0">
                <a:solidFill>
                  <a:srgbClr val="0000CC"/>
                </a:solidFill>
                <a:latin typeface="楷体" panose="02010609060101010101" pitchFamily="49" charset="-122"/>
                <a:ea typeface="楷体" panose="02010609060101010101" pitchFamily="49" charset="-122"/>
              </a:rPr>
              <a:t>1</a:t>
            </a:r>
            <a:r>
              <a:rPr lang="en-US" altLang="zh-CN" dirty="0">
                <a:solidFill>
                  <a:srgbClr val="0000CC"/>
                </a:solidFill>
                <a:latin typeface="楷体" panose="02010609060101010101" pitchFamily="49" charset="-122"/>
                <a:ea typeface="楷体" panose="02010609060101010101" pitchFamily="49" charset="-122"/>
              </a:rPr>
              <a:t>≥0, x</a:t>
            </a:r>
            <a:r>
              <a:rPr lang="en-US" altLang="zh-CN" baseline="-25000" dirty="0">
                <a:solidFill>
                  <a:srgbClr val="0000CC"/>
                </a:solidFill>
                <a:latin typeface="楷体" panose="02010609060101010101" pitchFamily="49" charset="-122"/>
                <a:ea typeface="楷体" panose="02010609060101010101" pitchFamily="49" charset="-122"/>
              </a:rPr>
              <a:t>2</a:t>
            </a:r>
            <a:r>
              <a:rPr lang="en-US" altLang="zh-CN" dirty="0">
                <a:solidFill>
                  <a:srgbClr val="0000CC"/>
                </a:solidFill>
                <a:latin typeface="楷体" panose="02010609060101010101" pitchFamily="49" charset="-122"/>
                <a:ea typeface="楷体" panose="02010609060101010101" pitchFamily="49" charset="-122"/>
              </a:rPr>
              <a:t>≥0.</a:t>
            </a:r>
            <a:endParaRPr lang="en-US" altLang="zh-CN" dirty="0">
              <a:solidFill>
                <a:srgbClr val="0000CC"/>
              </a:solidFill>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latin typeface="华文楷体" panose="02010600040101010101" charset="-122"/>
                <a:ea typeface="华文楷体" panose="02010600040101010101" charset="-122"/>
                <a:cs typeface="华文楷体" panose="02010600040101010101" charset="-122"/>
              </a:rPr>
              <a:t>管理运筹学软件的操作方法 </a:t>
            </a:r>
            <a:r>
              <a:rPr lang="en-US" altLang="zh-CN" dirty="0">
                <a:latin typeface="华文楷体" panose="02010600040101010101" charset="-122"/>
                <a:ea typeface="华文楷体" panose="02010600040101010101" charset="-122"/>
                <a:cs typeface="华文楷体" panose="02010600040101010101" charset="-122"/>
              </a:rPr>
              <a:t>– </a:t>
            </a:r>
            <a:r>
              <a:rPr lang="zh-CN" altLang="en-US" dirty="0">
                <a:latin typeface="华文楷体" panose="02010600040101010101" charset="-122"/>
                <a:ea typeface="华文楷体" panose="02010600040101010101" charset="-122"/>
                <a:cs typeface="华文楷体" panose="02010600040101010101" charset="-122"/>
              </a:rPr>
              <a:t>线性规划初始界面</a:t>
            </a:r>
            <a:endParaRPr lang="zh-CN" altLang="en-US" dirty="0">
              <a:latin typeface="华文楷体" panose="02010600040101010101" charset="-122"/>
              <a:ea typeface="华文楷体" panose="02010600040101010101" charset="-122"/>
              <a:cs typeface="华文楷体" panose="02010600040101010101" charset="-122"/>
            </a:endParaRPr>
          </a:p>
        </p:txBody>
      </p:sp>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第一步：</a:t>
            </a:r>
            <a:r>
              <a:rPr lang="zh-CN" altLang="en-US" dirty="0">
                <a:latin typeface="楷体" panose="02010609060101010101" pitchFamily="49" charset="-122"/>
                <a:ea typeface="楷体" panose="02010609060101010101" pitchFamily="49" charset="-122"/>
              </a:rPr>
              <a:t>选择了线性规划后，就出现的界面，然后点新建。得到如下对话框：</a:t>
            </a:r>
            <a:endParaRPr lang="zh-CN" altLang="en-US" dirty="0">
              <a:latin typeface="楷体" panose="02010609060101010101" pitchFamily="49" charset="-122"/>
              <a:ea typeface="楷体" panose="02010609060101010101" pitchFamily="49" charset="-122"/>
            </a:endParaRPr>
          </a:p>
          <a:p>
            <a:endParaRPr lang="zh-CN" altLang="en-US" dirty="0">
              <a:solidFill>
                <a:srgbClr val="000000"/>
              </a:solidFill>
              <a:latin typeface="Times New Roman" panose="02020603050405020304" pitchFamily="18" charset="0"/>
            </a:endParaRPr>
          </a:p>
          <a:p>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963186" y="2654850"/>
            <a:ext cx="6104439" cy="3782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管理运筹学软件的操作方法</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838200" y="1807870"/>
            <a:ext cx="10515600" cy="4351338"/>
          </a:xfrm>
        </p:spPr>
        <p:txBody>
          <a:bodyPr/>
          <a:lstStyle/>
          <a:p>
            <a:r>
              <a:rPr lang="zh-CN" altLang="en-US" dirty="0">
                <a:latin typeface="楷体" panose="02010609060101010101" pitchFamily="49" charset="-122"/>
                <a:ea typeface="楷体" panose="02010609060101010101" pitchFamily="49" charset="-122"/>
              </a:rPr>
              <a:t>第二步：在点击“新建”按钮以后，输入变量个数，约束条件个数，目标函数选择</a:t>
            </a:r>
            <a:r>
              <a:rPr lang="en-US" altLang="zh-CN" dirty="0">
                <a:latin typeface="楷体" panose="02010609060101010101" pitchFamily="49" charset="-122"/>
                <a:ea typeface="楷体" panose="02010609060101010101" pitchFamily="49" charset="-122"/>
              </a:rPr>
              <a:t>max(min)</a:t>
            </a:r>
            <a:r>
              <a:rPr lang="zh-CN" altLang="en-US" dirty="0">
                <a:latin typeface="楷体" panose="02010609060101010101" pitchFamily="49" charset="-122"/>
                <a:ea typeface="楷体" panose="02010609060101010101" pitchFamily="49" charset="-122"/>
              </a:rPr>
              <a:t>，点击确定</a:t>
            </a:r>
            <a:endParaRPr lang="zh-CN" altLang="en-US" dirty="0">
              <a:solidFill>
                <a:srgbClr val="000000"/>
              </a:solidFill>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04605" y="2770536"/>
            <a:ext cx="6182789" cy="382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5"/>
          <p:cNvSpPr>
            <a:spLocks noChangeArrowheads="1"/>
          </p:cNvSpPr>
          <p:nvPr/>
        </p:nvSpPr>
        <p:spPr bwMode="auto">
          <a:xfrm>
            <a:off x="133165" y="2614427"/>
            <a:ext cx="3071674" cy="1143000"/>
          </a:xfrm>
          <a:prstGeom prst="rightArrowCallout">
            <a:avLst/>
          </a:prstGeom>
          <a:solidFill>
            <a:srgbClr val="0000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r>
              <a:rPr lang="zh-CN" altLang="en-US" b="1" dirty="0">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rPr>
              <a:t>然后新建清零，下面就可以输入模型了。</a:t>
            </a:r>
            <a:endParaRPr lang="zh-CN" altLang="en-US" b="1" dirty="0">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endParaRPr>
          </a:p>
        </p:txBody>
      </p:sp>
      <p:sp>
        <p:nvSpPr>
          <p:cNvPr id="6" name="AutoShape 6"/>
          <p:cNvSpPr>
            <a:spLocks noChangeArrowheads="1"/>
          </p:cNvSpPr>
          <p:nvPr/>
        </p:nvSpPr>
        <p:spPr bwMode="auto">
          <a:xfrm>
            <a:off x="7528263" y="2885243"/>
            <a:ext cx="4530571" cy="1371600"/>
          </a:xfrm>
          <a:prstGeom prst="leftArrowCallout">
            <a:avLst/>
          </a:prstGeom>
          <a:solidFill>
            <a:srgbClr val="0000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r>
              <a:rPr lang="zh-CN" altLang="en-US" b="1">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rPr>
              <a:t>先输入变量个数、约束个数和</a:t>
            </a:r>
            <a:r>
              <a:rPr lang="en-US" altLang="zh-CN" b="1">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rPr>
              <a:t>MAX</a:t>
            </a:r>
            <a:r>
              <a:rPr lang="zh-CN" altLang="en-US" b="1">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rPr>
              <a:t>或</a:t>
            </a:r>
            <a:r>
              <a:rPr lang="en-US" altLang="zh-CN" b="1">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rPr>
              <a:t>Min，</a:t>
            </a:r>
            <a:r>
              <a:rPr lang="zh-CN" altLang="en-US" b="1">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rPr>
              <a:t>然后点确定后，才能输入模型。</a:t>
            </a:r>
            <a:endParaRPr lang="zh-CN" altLang="en-US" b="1">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管理运筹学软件的操作方法</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第三步：输入约束条件个数，目标函数及约束条件各系数和</a:t>
                </a:r>
                <a:r>
                  <a:rPr lang="en-US" altLang="zh-CN" dirty="0">
                    <a:latin typeface="楷体" panose="02010609060101010101" pitchFamily="49" charset="-122"/>
                    <a:ea typeface="楷体" panose="02010609060101010101" pitchFamily="49" charset="-122"/>
                  </a:rPr>
                  <a:t>b</a:t>
                </a:r>
                <a:r>
                  <a:rPr lang="zh-CN" altLang="en-US" dirty="0">
                    <a:latin typeface="楷体" panose="02010609060101010101" pitchFamily="49" charset="-122"/>
                    <a:ea typeface="楷体" panose="02010609060101010101" pitchFamily="49" charset="-122"/>
                  </a:rPr>
                  <a:t>值，并选好“</a:t>
                </a:r>
                <a14:m>
                  <m:oMath xmlns:m="http://schemas.openxmlformats.org/officeDocument/2006/math">
                    <m:r>
                      <a:rPr lang="en-US" altLang="zh-CN" b="0" i="1" smtClean="0">
                        <a:latin typeface="Cambria Math" panose="02040503050406030204" pitchFamily="18" charset="0"/>
                      </a:rPr>
                      <m:t>≥</m:t>
                    </m:r>
                  </m:oMath>
                </a14:m>
                <a:r>
                  <a:rPr lang="zh-CN" altLang="en-US" dirty="0">
                    <a:latin typeface="楷体" panose="02010609060101010101" pitchFamily="49" charset="-122"/>
                    <a:ea typeface="楷体" panose="02010609060101010101" pitchFamily="49" charset="-122"/>
                  </a:rPr>
                  <a:t>”，“</a:t>
                </a:r>
                <a14:m>
                  <m:oMath xmlns:m="http://schemas.openxmlformats.org/officeDocument/2006/math">
                    <m:r>
                      <a:rPr lang="en-US" altLang="zh-CN" b="0" i="1" smtClean="0">
                        <a:latin typeface="Cambria Math" panose="02040503050406030204" pitchFamily="18" charset="0"/>
                      </a:rPr>
                      <m:t>≤</m:t>
                    </m:r>
                  </m:oMath>
                </a14:m>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pic>
        <p:nvPicPr>
          <p:cNvPr id="4"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04561" y="2622303"/>
            <a:ext cx="5982877" cy="3689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5"/>
          <p:cNvSpPr>
            <a:spLocks noChangeArrowheads="1"/>
          </p:cNvSpPr>
          <p:nvPr/>
        </p:nvSpPr>
        <p:spPr bwMode="auto">
          <a:xfrm>
            <a:off x="5498976" y="3514078"/>
            <a:ext cx="2437661" cy="658427"/>
          </a:xfrm>
          <a:prstGeom prst="leftArrowCallout">
            <a:avLst/>
          </a:prstGeom>
          <a:solidFill>
            <a:srgbClr val="0000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r>
              <a:rPr lang="zh-CN" altLang="en-US" b="1" dirty="0">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rPr>
              <a:t>输入目标函数系数</a:t>
            </a:r>
            <a:endParaRPr lang="en-US" altLang="zh-CN" b="1" dirty="0">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endParaRPr>
          </a:p>
        </p:txBody>
      </p:sp>
      <p:sp>
        <p:nvSpPr>
          <p:cNvPr id="7" name="AutoShape 10"/>
          <p:cNvSpPr>
            <a:spLocks noChangeArrowheads="1"/>
          </p:cNvSpPr>
          <p:nvPr/>
        </p:nvSpPr>
        <p:spPr bwMode="auto">
          <a:xfrm>
            <a:off x="6880194" y="4467101"/>
            <a:ext cx="2947387" cy="658427"/>
          </a:xfrm>
          <a:prstGeom prst="wedgeRoundRectCallout">
            <a:avLst>
              <a:gd name="adj1" fmla="val -112620"/>
              <a:gd name="adj2" fmla="val 10319"/>
              <a:gd name="adj3" fmla="val 16667"/>
            </a:avLst>
          </a:prstGeom>
          <a:solidFill>
            <a:srgbClr val="0000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r>
              <a:rPr lang="zh-CN" altLang="en-US" b="1" dirty="0">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rPr>
              <a:t>在这输入约束条件，还要注意不等号的方向。</a:t>
            </a:r>
            <a:endParaRPr lang="en-US" altLang="zh-CN" b="1" dirty="0">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endParaRPr>
          </a:p>
          <a:p>
            <a:pPr algn="ctr">
              <a:defRPr/>
            </a:pPr>
            <a:endParaRPr lang="en-US" altLang="zh-CN" b="1" dirty="0">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endParaRPr>
          </a:p>
        </p:txBody>
      </p:sp>
      <p:sp>
        <p:nvSpPr>
          <p:cNvPr id="8" name="AutoShape 10"/>
          <p:cNvSpPr>
            <a:spLocks noChangeArrowheads="1"/>
          </p:cNvSpPr>
          <p:nvPr/>
        </p:nvSpPr>
        <p:spPr bwMode="auto">
          <a:xfrm>
            <a:off x="7583951" y="5214298"/>
            <a:ext cx="3747117" cy="940293"/>
          </a:xfrm>
          <a:prstGeom prst="wedgeRoundRectCallout">
            <a:avLst>
              <a:gd name="adj1" fmla="val -112620"/>
              <a:gd name="adj2" fmla="val 10319"/>
              <a:gd name="adj3" fmla="val 16667"/>
            </a:avLst>
          </a:prstGeom>
          <a:solidFill>
            <a:srgbClr val="0000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r>
              <a:rPr lang="zh-CN" altLang="en-US" b="1" dirty="0">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rPr>
              <a:t>在这输入约束条件，在输入约束条件时注意清0，还要注意不等号的方向。</a:t>
            </a:r>
            <a:endParaRPr lang="en-US" altLang="zh-CN" b="1" dirty="0">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endParaRPr>
          </a:p>
          <a:p>
            <a:pPr algn="ctr">
              <a:defRPr/>
            </a:pPr>
            <a:endParaRPr lang="en-US" altLang="zh-CN" b="1" dirty="0">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管理运筹学软件的操作方法</a:t>
            </a:r>
            <a:endParaRPr lang="zh-CN" altLang="en-US" dirty="0"/>
          </a:p>
        </p:txBody>
      </p:sp>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第四步：点击解决</a:t>
            </a:r>
            <a:endParaRPr lang="zh-CN" altLang="en-US" dirty="0">
              <a:solidFill>
                <a:srgbClr val="000000"/>
              </a:solidFill>
              <a:latin typeface="Times New Roman" panose="02020603050405020304" pitchFamily="18" charset="0"/>
            </a:endParaRPr>
          </a:p>
          <a:p>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18408" y="2266524"/>
            <a:ext cx="6595107" cy="4145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管理运筹学软件的操作方法</a:t>
            </a:r>
            <a:endParaRPr lang="zh-CN" altLang="en-US" dirty="0"/>
          </a:p>
        </p:txBody>
      </p:sp>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第五步：点击开始</a:t>
            </a:r>
            <a:endParaRPr lang="zh-CN" altLang="en-US" dirty="0">
              <a:solidFill>
                <a:srgbClr val="000000"/>
              </a:solidFill>
              <a:latin typeface="Times New Roman" panose="02020603050405020304" pitchFamily="18" charset="0"/>
            </a:endParaRPr>
          </a:p>
          <a:p>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669674" y="2208921"/>
            <a:ext cx="6545701" cy="410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管理运筹学软件的操作方法</a:t>
            </a:r>
            <a:endParaRPr lang="zh-CN" altLang="en-US" dirty="0"/>
          </a:p>
        </p:txBody>
      </p:sp>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第六步：点击下一步</a:t>
            </a:r>
            <a:endParaRPr lang="zh-CN" altLang="en-US" dirty="0">
              <a:solidFill>
                <a:srgbClr val="000000"/>
              </a:solidFill>
              <a:latin typeface="Times New Roman" panose="02020603050405020304" pitchFamily="18" charset="0"/>
            </a:endParaRPr>
          </a:p>
          <a:p>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746384" y="2298176"/>
            <a:ext cx="6699232" cy="4194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管理运筹学软件的操作方法</a:t>
            </a:r>
            <a:endParaRPr lang="zh-CN" altLang="en-US" dirty="0"/>
          </a:p>
        </p:txBody>
      </p:sp>
      <p:sp>
        <p:nvSpPr>
          <p:cNvPr id="3" name="内容占位符 2"/>
          <p:cNvSpPr>
            <a:spLocks noGrp="1"/>
          </p:cNvSpPr>
          <p:nvPr>
            <p:ph idx="1"/>
          </p:nvPr>
        </p:nvSpPr>
        <p:spPr/>
        <p:txBody>
          <a:bodyPr/>
          <a:lstStyle/>
          <a:p>
            <a:pPr>
              <a:spcBef>
                <a:spcPts val="600"/>
              </a:spcBef>
              <a:spcAft>
                <a:spcPts val="600"/>
              </a:spcAft>
              <a:buNone/>
            </a:pPr>
            <a:r>
              <a:rPr lang="zh-CN" altLang="en-US" dirty="0">
                <a:latin typeface="楷体" panose="02010609060101010101" pitchFamily="49" charset="-122"/>
                <a:ea typeface="楷体" panose="02010609060101010101" pitchFamily="49" charset="-122"/>
              </a:rPr>
              <a:t>第七步：点击下一步</a:t>
            </a:r>
            <a:endParaRPr lang="zh-CN" altLang="en-US" dirty="0">
              <a:solidFill>
                <a:srgbClr val="000000"/>
              </a:solidFill>
              <a:latin typeface="Times New Roman" panose="02020603050405020304" pitchFamily="18" charset="0"/>
            </a:endParaRPr>
          </a:p>
          <a:p>
            <a:endParaRPr lang="zh-CN" altLang="en-US"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780710" y="2205053"/>
            <a:ext cx="6974386"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管理运筹学软件的操作方法 </a:t>
            </a:r>
            <a:r>
              <a:rPr lang="en-US" altLang="zh-CN" dirty="0"/>
              <a:t>– </a:t>
            </a:r>
            <a:r>
              <a:rPr lang="zh-CN" altLang="en-US" dirty="0"/>
              <a:t>得到结果</a:t>
            </a:r>
            <a:endParaRPr lang="zh-CN" altLang="en-US" dirty="0"/>
          </a:p>
        </p:txBody>
      </p:sp>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第八步：关闭计算过程</a:t>
            </a:r>
            <a:endParaRPr lang="zh-CN" altLang="en-US" dirty="0">
              <a:latin typeface="楷体" panose="02010609060101010101" pitchFamily="49" charset="-122"/>
              <a:ea typeface="楷体" panose="02010609060101010101" pitchFamily="49" charset="-122"/>
            </a:endParaRPr>
          </a:p>
          <a:p>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899085" y="2371417"/>
            <a:ext cx="6393830" cy="3805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楷体" panose="02010609060101010101" pitchFamily="49" charset="-122"/>
                <a:ea typeface="楷体" panose="02010609060101010101" pitchFamily="49" charset="-122"/>
              </a:rPr>
              <a:t>管理运筹学软件的输出分析 </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 最优解，最优值与相差值</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838200" y="1825625"/>
            <a:ext cx="5257800" cy="4351338"/>
          </a:xfrm>
        </p:spPr>
        <p:txBody>
          <a:bodyPr/>
          <a:lstStyle/>
          <a:p>
            <a:r>
              <a:rPr lang="zh-CN" altLang="en-US" dirty="0">
                <a:latin typeface="楷体" panose="02010609060101010101" pitchFamily="49" charset="-122"/>
                <a:ea typeface="楷体" panose="02010609060101010101" pitchFamily="49" charset="-122"/>
              </a:rPr>
              <a:t>最优解为：生产</a:t>
            </a:r>
            <a:r>
              <a:rPr lang="en-US" altLang="zh-CN" dirty="0">
                <a:latin typeface="楷体" panose="02010609060101010101" pitchFamily="49" charset="-122"/>
                <a:ea typeface="楷体" panose="02010609060101010101" pitchFamily="49" charset="-122"/>
              </a:rPr>
              <a:t>I</a:t>
            </a:r>
            <a:r>
              <a:rPr lang="zh-CN" altLang="en-US" dirty="0">
                <a:latin typeface="楷体" panose="02010609060101010101" pitchFamily="49" charset="-122"/>
                <a:ea typeface="楷体" panose="02010609060101010101" pitchFamily="49" charset="-122"/>
              </a:rPr>
              <a:t>产品</a:t>
            </a:r>
            <a:r>
              <a:rPr lang="en-US" altLang="zh-CN" dirty="0">
                <a:latin typeface="楷体" panose="02010609060101010101" pitchFamily="49" charset="-122"/>
                <a:ea typeface="楷体" panose="02010609060101010101" pitchFamily="49" charset="-122"/>
              </a:rPr>
              <a:t>50</a:t>
            </a:r>
            <a:r>
              <a:rPr lang="zh-CN" altLang="en-US" dirty="0">
                <a:latin typeface="楷体" panose="02010609060101010101" pitchFamily="49" charset="-122"/>
                <a:ea typeface="楷体" panose="02010609060101010101" pitchFamily="49" charset="-122"/>
              </a:rPr>
              <a:t>单位，</a:t>
            </a:r>
            <a:r>
              <a:rPr lang="en-US" altLang="zh-CN" dirty="0">
                <a:latin typeface="楷体" panose="02010609060101010101" pitchFamily="49" charset="-122"/>
                <a:ea typeface="楷体" panose="02010609060101010101" pitchFamily="49" charset="-122"/>
              </a:rPr>
              <a:t>II</a:t>
            </a:r>
            <a:r>
              <a:rPr lang="zh-CN" altLang="en-US" dirty="0">
                <a:latin typeface="楷体" panose="02010609060101010101" pitchFamily="49" charset="-122"/>
                <a:ea typeface="楷体" panose="02010609060101010101" pitchFamily="49" charset="-122"/>
              </a:rPr>
              <a:t>产品</a:t>
            </a:r>
            <a:r>
              <a:rPr lang="en-US" altLang="zh-CN" dirty="0">
                <a:latin typeface="楷体" panose="02010609060101010101" pitchFamily="49" charset="-122"/>
                <a:ea typeface="楷体" panose="02010609060101010101" pitchFamily="49" charset="-122"/>
              </a:rPr>
              <a:t>250</a:t>
            </a:r>
            <a:r>
              <a:rPr lang="zh-CN" altLang="en-US" dirty="0">
                <a:latin typeface="楷体" panose="02010609060101010101" pitchFamily="49" charset="-122"/>
                <a:ea typeface="楷体" panose="02010609060101010101" pitchFamily="49" charset="-122"/>
              </a:rPr>
              <a:t>单位</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最优值： </a:t>
            </a:r>
            <a:r>
              <a:rPr lang="en-US" altLang="zh-CN" dirty="0">
                <a:latin typeface="楷体" panose="02010609060101010101" pitchFamily="49" charset="-122"/>
                <a:ea typeface="楷体" panose="02010609060101010101" pitchFamily="49" charset="-122"/>
              </a:rPr>
              <a:t>27500</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相差值：代表相应的决策变量的</a:t>
            </a:r>
            <a:r>
              <a:rPr lang="zh-CN" altLang="en-US" dirty="0">
                <a:solidFill>
                  <a:srgbClr val="FF0000"/>
                </a:solidFill>
                <a:latin typeface="楷体" panose="02010609060101010101" pitchFamily="49" charset="-122"/>
                <a:ea typeface="楷体" panose="02010609060101010101" pitchFamily="49" charset="-122"/>
              </a:rPr>
              <a:t>目标系数需要改进的数量</a:t>
            </a:r>
            <a:r>
              <a:rPr lang="zh-CN" altLang="en-US" dirty="0">
                <a:latin typeface="楷体" panose="02010609060101010101" pitchFamily="49" charset="-122"/>
                <a:ea typeface="楷体" panose="02010609060101010101" pitchFamily="49" charset="-122"/>
              </a:rPr>
              <a:t>，使得该决策变量有可能取正数值。</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当决策变量已经去正数值时则相差值为</a:t>
            </a:r>
            <a:r>
              <a:rPr lang="en-US" altLang="zh-CN" dirty="0">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p:txBody>
      </p:sp>
      <p:pic>
        <p:nvPicPr>
          <p:cNvPr id="6" name="Picture 5" descr="A picture containing 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96000" y="2435156"/>
            <a:ext cx="5346700" cy="1295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管理运筹学软件的输出分析 </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 相差值的意义</a:t>
            </a:r>
            <a:endParaRPr lang="en-US"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dirty="0">
                    <a:latin typeface="楷体" panose="02010609060101010101" pitchFamily="49" charset="-122"/>
                    <a:ea typeface="楷体" panose="02010609060101010101" pitchFamily="49" charset="-122"/>
                  </a:rPr>
                  <a:t>假设</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a14:m>
                <a:r>
                  <a:rPr lang="en-US" dirty="0">
                    <a:latin typeface="楷体" panose="02010609060101010101" pitchFamily="49" charset="-122"/>
                    <a:ea typeface="楷体" panose="02010609060101010101" pitchFamily="49" charset="-122"/>
                  </a:rPr>
                  <a:t>的相差值为</a:t>
                </a:r>
                <a:r>
                  <a:rPr lang="en-US" altLang="zh-CN" dirty="0">
                    <a:latin typeface="楷体" panose="02010609060101010101" pitchFamily="49" charset="-122"/>
                    <a:ea typeface="楷体" panose="02010609060101010101" pitchFamily="49" charset="-122"/>
                  </a:rPr>
                  <a:t>20</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产品</a:t>
                </a:r>
                <a:r>
                  <a:rPr lang="en-US" altLang="zh-CN" dirty="0">
                    <a:latin typeface="楷体" panose="02010609060101010101" pitchFamily="49" charset="-122"/>
                    <a:ea typeface="楷体" panose="02010609060101010101" pitchFamily="49" charset="-122"/>
                  </a:rPr>
                  <a:t>I</a:t>
                </a:r>
                <a:r>
                  <a:rPr lang="zh-CN" altLang="en-US" dirty="0">
                    <a:latin typeface="楷体" panose="02010609060101010101" pitchFamily="49" charset="-122"/>
                    <a:ea typeface="楷体" panose="02010609060101010101" pitchFamily="49" charset="-122"/>
                  </a:rPr>
                  <a:t>的利润再提高</a:t>
                </a:r>
                <a:r>
                  <a:rPr lang="en-US" altLang="zh-CN" dirty="0">
                    <a:latin typeface="楷体" panose="02010609060101010101" pitchFamily="49" charset="-122"/>
                    <a:ea typeface="楷体" panose="02010609060101010101" pitchFamily="49" charset="-122"/>
                  </a:rPr>
                  <a:t>20</a:t>
                </a:r>
                <a:r>
                  <a:rPr lang="zh-CN" altLang="en-US" dirty="0">
                    <a:latin typeface="楷体" panose="02010609060101010101" pitchFamily="49" charset="-122"/>
                    <a:ea typeface="楷体" panose="02010609060101010101" pitchFamily="49" charset="-122"/>
                  </a:rPr>
                  <a:t>元，即</a:t>
                </a:r>
                <a:r>
                  <a:rPr lang="en-US" altLang="zh-CN" dirty="0">
                    <a:latin typeface="楷体" panose="02010609060101010101" pitchFamily="49" charset="-122"/>
                    <a:ea typeface="楷体" panose="02010609060101010101" pitchFamily="49" charset="-122"/>
                  </a:rPr>
                  <a:t>50+20=70</a:t>
                </a:r>
                <a:r>
                  <a:rPr lang="zh-CN" altLang="en-US" dirty="0">
                    <a:latin typeface="楷体" panose="02010609060101010101" pitchFamily="49" charset="-122"/>
                    <a:ea typeface="楷体" panose="02010609060101010101" pitchFamily="49" charset="-122"/>
                  </a:rPr>
                  <a:t>元（</a:t>
                </a:r>
                <a:r>
                  <a:rPr lang="zh-CN" altLang="en-US" dirty="0">
                    <a:solidFill>
                      <a:srgbClr val="FF0000"/>
                    </a:solidFill>
                    <a:latin typeface="楷体" panose="02010609060101010101" pitchFamily="49" charset="-122"/>
                    <a:ea typeface="楷体" panose="02010609060101010101" pitchFamily="49" charset="-122"/>
                  </a:rPr>
                  <a:t>这里的</a:t>
                </a:r>
                <a:r>
                  <a:rPr lang="en-US" altLang="zh-CN" dirty="0">
                    <a:solidFill>
                      <a:srgbClr val="FF0000"/>
                    </a:solidFill>
                    <a:latin typeface="楷体" panose="02010609060101010101" pitchFamily="49" charset="-122"/>
                    <a:ea typeface="楷体" panose="02010609060101010101" pitchFamily="49" charset="-122"/>
                  </a:rPr>
                  <a:t>50</a:t>
                </a:r>
                <a:r>
                  <a:rPr lang="zh-CN" altLang="en-US" dirty="0">
                    <a:solidFill>
                      <a:srgbClr val="FF0000"/>
                    </a:solidFill>
                    <a:latin typeface="楷体" panose="02010609060101010101" pitchFamily="49" charset="-122"/>
                    <a:ea typeface="楷体" panose="02010609060101010101" pitchFamily="49" charset="-122"/>
                  </a:rPr>
                  <a:t>是目标函数系数</a:t>
                </a:r>
                <a14:m>
                  <m:oMath xmlns:m="http://schemas.openxmlformats.org/officeDocument/2006/math">
                    <m:sSub>
                      <m:sSubPr>
                        <m:ctrlPr>
                          <a:rPr lang="en-US" altLang="zh-CN" b="0" i="1" smtClean="0">
                            <a:solidFill>
                              <a:srgbClr val="FF0000"/>
                            </a:solidFill>
                            <a:latin typeface="Cambria Math" panose="02040503050406030204" pitchFamily="18" charset="0"/>
                          </a:rPr>
                        </m:ctrlPr>
                      </m:sSubPr>
                      <m:e>
                        <m:r>
                          <a:rPr lang="en-US" altLang="zh-CN" b="0" i="1" smtClean="0">
                            <a:solidFill>
                              <a:srgbClr val="FF0000"/>
                            </a:solidFill>
                            <a:latin typeface="Cambria Math" panose="02040503050406030204" pitchFamily="18" charset="0"/>
                          </a:rPr>
                          <m:t>𝑐</m:t>
                        </m:r>
                      </m:e>
                      <m:sub>
                        <m:r>
                          <a:rPr lang="en-US" altLang="zh-CN" b="0" i="1" smtClean="0">
                            <a:solidFill>
                              <a:srgbClr val="FF0000"/>
                            </a:solidFill>
                            <a:latin typeface="Cambria Math" panose="02040503050406030204" pitchFamily="18" charset="0"/>
                          </a:rPr>
                          <m:t>1</m:t>
                        </m:r>
                      </m:sub>
                    </m:sSub>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50</m:t>
                    </m:r>
                  </m:oMath>
                </a14:m>
                <a:r>
                  <a:rPr lang="zh-CN" altLang="en-US" dirty="0">
                    <a:solidFill>
                      <a:srgbClr val="FF0000"/>
                    </a:solidFill>
                    <a:latin typeface="楷体" panose="02010609060101010101" pitchFamily="49" charset="-122"/>
                    <a:ea typeface="楷体" panose="02010609060101010101" pitchFamily="49" charset="-122"/>
                  </a:rPr>
                  <a:t>，而不是最优解</a:t>
                </a:r>
                <a14:m>
                  <m:oMath xmlns:m="http://schemas.openxmlformats.org/officeDocument/2006/math">
                    <m:sSub>
                      <m:sSubPr>
                        <m:ctrlPr>
                          <a:rPr lang="en-US" altLang="zh-CN" b="0" i="1" smtClean="0">
                            <a:solidFill>
                              <a:srgbClr val="FF0000"/>
                            </a:solidFill>
                            <a:latin typeface="Cambria Math" panose="02040503050406030204" pitchFamily="18" charset="0"/>
                          </a:rPr>
                        </m:ctrlPr>
                      </m:sSubPr>
                      <m:e>
                        <m:r>
                          <a:rPr lang="en-US" altLang="zh-CN" b="0" i="1" smtClean="0">
                            <a:solidFill>
                              <a:srgbClr val="FF0000"/>
                            </a:solidFill>
                            <a:latin typeface="Cambria Math" panose="02040503050406030204" pitchFamily="18" charset="0"/>
                          </a:rPr>
                          <m:t>𝑥</m:t>
                        </m:r>
                      </m:e>
                      <m:sub>
                        <m:r>
                          <a:rPr lang="en-US" altLang="zh-CN" b="0" i="1" smtClean="0">
                            <a:solidFill>
                              <a:srgbClr val="FF0000"/>
                            </a:solidFill>
                            <a:latin typeface="Cambria Math" panose="02040503050406030204" pitchFamily="18" charset="0"/>
                          </a:rPr>
                          <m:t>1</m:t>
                        </m:r>
                      </m:sub>
                    </m:sSub>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50</m:t>
                    </m:r>
                  </m:oMath>
                </a14:m>
                <a:r>
                  <a:rPr lang="zh-CN" altLang="en-US" dirty="0">
                    <a:latin typeface="楷体" panose="02010609060101010101" pitchFamily="49" charset="-122"/>
                    <a:ea typeface="楷体" panose="02010609060101010101" pitchFamily="49" charset="-122"/>
                  </a:rPr>
                  <a:t>），产品</a:t>
                </a:r>
                <a:r>
                  <a:rPr lang="en-US" altLang="zh-CN" dirty="0">
                    <a:latin typeface="楷体" panose="02010609060101010101" pitchFamily="49" charset="-122"/>
                    <a:ea typeface="楷体" panose="02010609060101010101" pitchFamily="49" charset="-122"/>
                  </a:rPr>
                  <a:t>I</a:t>
                </a:r>
                <a:r>
                  <a:rPr lang="zh-CN" altLang="en-US" dirty="0">
                    <a:latin typeface="楷体" panose="02010609060101010101" pitchFamily="49" charset="-122"/>
                    <a:ea typeface="楷体" panose="02010609060101010101" pitchFamily="49" charset="-122"/>
                  </a:rPr>
                  <a:t>才可能生产，即</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oMath>
                </a14:m>
                <a:r>
                  <a:rPr lang="en-US" dirty="0">
                    <a:latin typeface="楷体" panose="02010609060101010101" pitchFamily="49" charset="-122"/>
                    <a:ea typeface="楷体" panose="02010609060101010101" pitchFamily="49" charset="-122"/>
                  </a:rPr>
                  <a:t>才可能大于</a:t>
                </a:r>
                <a:r>
                  <a:rPr lang="en-US" altLang="zh-CN" dirty="0">
                    <a:latin typeface="楷体" panose="02010609060101010101" pitchFamily="49" charset="-122"/>
                    <a:ea typeface="楷体" panose="02010609060101010101" pitchFamily="49" charset="-122"/>
                  </a:rPr>
                  <a:t>0</a:t>
                </a:r>
                <a:endParaRPr lang="en-US" altLang="zh-CN" dirty="0">
                  <a:latin typeface="楷体" panose="02010609060101010101" pitchFamily="49" charset="-122"/>
                  <a:ea typeface="楷体" panose="02010609060101010101" pitchFamily="49" charset="-122"/>
                </a:endParaRPr>
              </a:p>
              <a:p>
                <a:r>
                  <a:rPr lang="en-US" dirty="0" err="1">
                    <a:latin typeface="楷体" panose="02010609060101010101" pitchFamily="49" charset="-122"/>
                    <a:ea typeface="楷体" panose="02010609060101010101" pitchFamily="49" charset="-122"/>
                  </a:rPr>
                  <a:t>如果不是求最大值</a:t>
                </a:r>
                <a:r>
                  <a:rPr lang="zh-CN" altLang="en-US" dirty="0">
                    <a:latin typeface="楷体" panose="02010609060101010101" pitchFamily="49" charset="-122"/>
                    <a:ea typeface="楷体" panose="02010609060101010101" pitchFamily="49" charset="-122"/>
                  </a:rPr>
                  <a:t>，而是求最小值，当</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a14:m>
                <a:r>
                  <a:rPr lang="en-US" dirty="0">
                    <a:latin typeface="楷体" panose="02010609060101010101" pitchFamily="49" charset="-122"/>
                    <a:ea typeface="楷体" panose="02010609060101010101" pitchFamily="49" charset="-122"/>
                  </a:rPr>
                  <a:t>的相差值为</a:t>
                </a:r>
                <a:r>
                  <a:rPr lang="en-US" altLang="zh-CN" dirty="0">
                    <a:latin typeface="楷体" panose="02010609060101010101" pitchFamily="49" charset="-122"/>
                    <a:ea typeface="楷体" panose="02010609060101010101" pitchFamily="49" charset="-122"/>
                  </a:rPr>
                  <a:t>20</a:t>
                </a:r>
                <a:r>
                  <a:rPr lang="zh-CN" altLang="en-US" dirty="0">
                    <a:latin typeface="楷体" panose="02010609060101010101" pitchFamily="49" charset="-122"/>
                    <a:ea typeface="楷体" panose="02010609060101010101" pitchFamily="49" charset="-122"/>
                  </a:rPr>
                  <a:t>时，产品</a:t>
                </a:r>
                <a:r>
                  <a:rPr lang="en-US" altLang="zh-CN" dirty="0">
                    <a:latin typeface="楷体" panose="02010609060101010101" pitchFamily="49" charset="-122"/>
                    <a:ea typeface="楷体" panose="02010609060101010101" pitchFamily="49" charset="-122"/>
                  </a:rPr>
                  <a:t>I</a:t>
                </a:r>
                <a:r>
                  <a:rPr lang="zh-CN" altLang="en-US" dirty="0">
                    <a:latin typeface="楷体" panose="02010609060101010101" pitchFamily="49" charset="-122"/>
                    <a:ea typeface="楷体" panose="02010609060101010101" pitchFamily="49" charset="-122"/>
                  </a:rPr>
                  <a:t>的利润再降低</a:t>
                </a:r>
                <a:r>
                  <a:rPr lang="en-US" altLang="zh-CN" dirty="0">
                    <a:latin typeface="楷体" panose="02010609060101010101" pitchFamily="49" charset="-122"/>
                    <a:ea typeface="楷体" panose="02010609060101010101" pitchFamily="49" charset="-122"/>
                  </a:rPr>
                  <a:t>20</a:t>
                </a:r>
                <a:r>
                  <a:rPr lang="zh-CN" altLang="en-US" dirty="0">
                    <a:latin typeface="楷体" panose="02010609060101010101" pitchFamily="49" charset="-122"/>
                    <a:ea typeface="楷体" panose="02010609060101010101" pitchFamily="49" charset="-122"/>
                  </a:rPr>
                  <a:t>元，即</a:t>
                </a:r>
                <a:r>
                  <a:rPr lang="en-US" altLang="zh-CN" dirty="0">
                    <a:latin typeface="楷体" panose="02010609060101010101" pitchFamily="49" charset="-122"/>
                    <a:ea typeface="楷体" panose="02010609060101010101" pitchFamily="49" charset="-122"/>
                  </a:rPr>
                  <a:t>50-20=30</a:t>
                </a:r>
                <a:r>
                  <a:rPr lang="zh-CN" altLang="en-US" dirty="0">
                    <a:latin typeface="楷体" panose="02010609060101010101" pitchFamily="49" charset="-122"/>
                    <a:ea typeface="楷体" panose="02010609060101010101" pitchFamily="49" charset="-122"/>
                  </a:rPr>
                  <a:t>元，产品</a:t>
                </a:r>
                <a:r>
                  <a:rPr lang="en-US" altLang="zh-CN" dirty="0">
                    <a:latin typeface="楷体" panose="02010609060101010101" pitchFamily="49" charset="-122"/>
                    <a:ea typeface="楷体" panose="02010609060101010101" pitchFamily="49" charset="-122"/>
                  </a:rPr>
                  <a:t>I</a:t>
                </a:r>
                <a:r>
                  <a:rPr lang="zh-CN" altLang="en-US" dirty="0">
                    <a:latin typeface="楷体" panose="02010609060101010101" pitchFamily="49" charset="-122"/>
                    <a:ea typeface="楷体" panose="02010609060101010101" pitchFamily="49" charset="-122"/>
                  </a:rPr>
                  <a:t>才可能生产</a:t>
                </a:r>
                <a:endParaRPr lang="en-US" altLang="zh-CN" dirty="0">
                  <a:latin typeface="楷体" panose="02010609060101010101" pitchFamily="49" charset="-122"/>
                  <a:ea typeface="楷体" panose="02010609060101010101" pitchFamily="49" charset="-122"/>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p:nvPr>
            </p:nvSpPr>
            <p:spPr>
              <a:xfrm>
                <a:off x="838200" y="365125"/>
                <a:ext cx="10515600" cy="1325563"/>
              </a:xfrm>
            </p:spPr>
            <p:txBody>
              <a:bodyPr anchor="ctr">
                <a:normAutofit/>
              </a:bodyPr>
              <a:lstStyle/>
              <a:p>
                <a:r>
                  <a:rPr lang="zh-CN" altLang="en-US" dirty="0"/>
                  <a:t>管理运筹学软件的输出分析 </a:t>
                </a:r>
                <a:r>
                  <a:rPr lang="en-US" altLang="zh-CN" dirty="0"/>
                  <a:t>–</a:t>
                </a:r>
                <a:r>
                  <a:rPr lang="zh-CN" altLang="en-US" dirty="0"/>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Sub>
                  </m:oMath>
                </a14:m>
                <a:r>
                  <a:rPr lang="zh-CN" altLang="en-US" dirty="0"/>
                  <a:t>灵敏度分析 </a:t>
                </a:r>
                <a:endParaRPr lang="zh-CN" altLang="en-US" dirty="0"/>
              </a:p>
            </p:txBody>
          </p:sp>
        </mc:Choice>
        <mc:Fallback>
          <p:sp>
            <p:nvSpPr>
              <p:cNvPr id="2" name="标题 1"/>
              <p:cNvSpPr>
                <a:spLocks noRot="1" noChangeAspect="1" noMove="1" noResize="1" noEditPoints="1" noAdjustHandles="1" noChangeArrowheads="1" noChangeShapeType="1" noTextEdit="1"/>
              </p:cNvSpPr>
              <p:nvPr>
                <p:ph type="title"/>
              </p:nvPr>
            </p:nvSpPr>
            <p:spPr>
              <a:xfrm>
                <a:off x="838200" y="365125"/>
                <a:ext cx="10515600" cy="1325563"/>
              </a:xfrm>
              <a:blipFill rotWithShape="1">
                <a:blip r:embed="rId1"/>
                <a:stretch>
                  <a:fillRect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内容占位符 2"/>
              <p:cNvSpPr>
                <a:spLocks noGrp="1"/>
              </p:cNvSpPr>
              <p:nvPr>
                <p:ph sz="half" idx="1"/>
              </p:nvPr>
            </p:nvSpPr>
            <p:spPr>
              <a:xfrm>
                <a:off x="838200" y="1825625"/>
                <a:ext cx="5181600" cy="4351338"/>
              </a:xfrm>
            </p:spPr>
            <p:txBody>
              <a:bodyPr>
                <a:normAutofit/>
              </a:bodyPr>
              <a:lstStyle/>
              <a:p>
                <a:r>
                  <a:rPr lang="zh-CN" altLang="en-US" sz="2000" dirty="0"/>
                  <a:t>当前值为目标函数中对应决策变量的系数</a:t>
                </a:r>
                <a:endParaRPr lang="en-US" altLang="zh-CN" sz="2000" dirty="0"/>
              </a:p>
              <a:p>
                <a:pPr lvl="1"/>
                <a:r>
                  <a:rPr lang="zh-CN" altLang="en-US" sz="2000" b="0" dirty="0"/>
                  <a:t>产品</a:t>
                </a:r>
                <a:r>
                  <a:rPr lang="en-US" altLang="zh-CN" sz="2000" b="0" dirty="0"/>
                  <a:t>I</a:t>
                </a:r>
                <a:r>
                  <a:rPr lang="zh-CN" altLang="en-US" sz="2000" b="0" dirty="0"/>
                  <a:t>单价</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50</m:t>
                    </m:r>
                  </m:oMath>
                </a14:m>
                <a:r>
                  <a:rPr lang="en-US" altLang="zh-CN" sz="2000" dirty="0"/>
                  <a:t>,</a:t>
                </a:r>
                <a:r>
                  <a:rPr lang="zh-CN" altLang="en-US" sz="2000" dirty="0"/>
                  <a:t> 产品</a:t>
                </a:r>
                <a:r>
                  <a:rPr lang="en-US" altLang="zh-CN" sz="2000" dirty="0"/>
                  <a:t>II</a:t>
                </a:r>
                <a:r>
                  <a:rPr lang="zh-CN" altLang="en-US" sz="2000" dirty="0"/>
                  <a:t>单价</a:t>
                </a:r>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2</m:t>
                        </m:r>
                      </m:sub>
                    </m:sSub>
                    <m:r>
                      <a:rPr lang="en-US" altLang="zh-CN" sz="2000" i="1">
                        <a:latin typeface="Cambria Math" panose="02040503050406030204" pitchFamily="18" charset="0"/>
                      </a:rPr>
                      <m:t>=</m:t>
                    </m:r>
                    <m:r>
                      <a:rPr lang="en-US" altLang="zh-CN" sz="2000" b="0" i="1" smtClean="0">
                        <a:latin typeface="Cambria Math" panose="02040503050406030204" pitchFamily="18" charset="0"/>
                      </a:rPr>
                      <m:t>100</m:t>
                    </m:r>
                  </m:oMath>
                </a14:m>
                <a:endParaRPr lang="en-US" altLang="zh-CN" sz="2000" dirty="0"/>
              </a:p>
              <a:p>
                <a:r>
                  <a:rPr lang="zh-CN" altLang="en-US" sz="2000" dirty="0"/>
                  <a:t>上限与下限是指当</a:t>
                </a:r>
                <a:r>
                  <a:rPr lang="zh-CN" altLang="en-US" sz="2000" dirty="0">
                    <a:solidFill>
                      <a:srgbClr val="FF0000"/>
                    </a:solidFill>
                  </a:rPr>
                  <a:t>其他系数固定时</a:t>
                </a:r>
                <a:r>
                  <a:rPr lang="zh-CN" altLang="en-US" sz="2000" dirty="0"/>
                  <a:t>，任一目标函数决策变量系数在此范围内变化时，其线性规划的最优解不变。</a:t>
                </a:r>
                <a:endParaRPr lang="en-US" altLang="zh-CN" sz="2000" dirty="0"/>
              </a:p>
              <a:p>
                <a:pPr lvl="1"/>
                <a14:m>
                  <m:oMath xmlns:m="http://schemas.openxmlformats.org/officeDocument/2006/math">
                    <m:r>
                      <a:rPr lang="zh-CN" altLang="en-US" sz="2000" i="1" dirty="0">
                        <a:latin typeface="Cambria Math" panose="02040503050406030204" pitchFamily="18" charset="0"/>
                      </a:rPr>
                      <m:t>其他系数保持不变</m:t>
                    </m:r>
                  </m:oMath>
                </a14:m>
                <a:r>
                  <a:rPr lang="zh-CN" altLang="en-US" sz="2000" dirty="0"/>
                  <a:t>，当</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100</m:t>
                    </m:r>
                    <m:r>
                      <a:rPr lang="en-US" altLang="zh-CN" sz="2000" b="0" i="1" smtClean="0">
                        <a:latin typeface="Cambria Math" panose="02040503050406030204" pitchFamily="18" charset="0"/>
                      </a:rPr>
                      <m:t>]</m:t>
                    </m:r>
                  </m:oMath>
                </a14:m>
                <a:r>
                  <a:rPr lang="zh-CN" altLang="en-US" sz="2000" dirty="0"/>
                  <a:t>时，</a:t>
                </a:r>
                <a:r>
                  <a:rPr lang="en-US" altLang="zh-CN" sz="2000" dirty="0"/>
                  <a:t> </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50</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250</m:t>
                    </m:r>
                  </m:oMath>
                </a14:m>
                <a:r>
                  <a:rPr lang="zh-CN" altLang="en-US" sz="2000" dirty="0"/>
                  <a:t>仍是最优解</a:t>
                </a:r>
                <a:endParaRPr lang="en-US" altLang="zh-CN" sz="2000" dirty="0"/>
              </a:p>
              <a:p>
                <a:pPr lvl="1"/>
                <a14:m>
                  <m:oMath xmlns:m="http://schemas.openxmlformats.org/officeDocument/2006/math">
                    <m:r>
                      <a:rPr lang="zh-CN" altLang="en-US" sz="2000" i="1" dirty="0">
                        <a:latin typeface="Cambria Math" panose="02040503050406030204" pitchFamily="18" charset="0"/>
                      </a:rPr>
                      <m:t>其他系数保持不变</m:t>
                    </m:r>
                  </m:oMath>
                </a14:m>
                <a:r>
                  <a:rPr lang="zh-CN" altLang="en-US" sz="2000" dirty="0"/>
                  <a:t>，当</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&gt;</m:t>
                    </m:r>
                    <m:r>
                      <a:rPr lang="en-US" altLang="zh-CN" sz="2000" b="0" i="1" smtClean="0">
                        <a:latin typeface="Cambria Math" panose="02040503050406030204" pitchFamily="18" charset="0"/>
                      </a:rPr>
                      <m:t>100</m:t>
                    </m:r>
                  </m:oMath>
                </a14:m>
                <a:r>
                  <a:rPr lang="zh-CN" altLang="en-US" sz="2000" dirty="0"/>
                  <a:t>时，</a:t>
                </a:r>
                <a:r>
                  <a:rPr lang="en-US" altLang="zh-CN" sz="2000" dirty="0"/>
                  <a:t> </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50</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250</m:t>
                    </m:r>
                  </m:oMath>
                </a14:m>
                <a:r>
                  <a:rPr lang="zh-CN" altLang="en-US" sz="2000" dirty="0"/>
                  <a:t>可能不再是最优解，需要重新计算</a:t>
                </a:r>
                <a:endParaRPr lang="en-US" altLang="zh-CN" sz="2000" dirty="0"/>
              </a:p>
              <a:p>
                <a:pPr lvl="1"/>
                <a:r>
                  <a:rPr lang="zh-CN" altLang="en-US" sz="2000" dirty="0"/>
                  <a:t>同理，</a:t>
                </a:r>
                <a14:m>
                  <m:oMath xmlns:m="http://schemas.openxmlformats.org/officeDocument/2006/math">
                    <m:r>
                      <a:rPr lang="zh-CN" altLang="en-US" sz="2000" i="1" dirty="0">
                        <a:latin typeface="Cambria Math" panose="02040503050406030204" pitchFamily="18" charset="0"/>
                      </a:rPr>
                      <m:t>其他系数保持不变</m:t>
                    </m:r>
                  </m:oMath>
                </a14:m>
                <a:r>
                  <a:rPr lang="zh-CN" altLang="en-US" sz="2000" dirty="0"/>
                  <a:t>，当</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50</m:t>
                    </m:r>
                    <m:r>
                      <a:rPr lang="en-US" altLang="zh-CN" sz="2000" b="0" i="1" smtClean="0">
                        <a:latin typeface="Cambria Math" panose="02040503050406030204" pitchFamily="18" charset="0"/>
                      </a:rPr>
                      <m:t>,∞]</m:t>
                    </m:r>
                  </m:oMath>
                </a14:m>
                <a:r>
                  <a:rPr lang="zh-CN" altLang="en-US" sz="2000" dirty="0"/>
                  <a:t>，</a:t>
                </a:r>
                <a:r>
                  <a:rPr lang="en-US" altLang="zh-CN" sz="2000" dirty="0"/>
                  <a:t> </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50</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250</m:t>
                    </m:r>
                  </m:oMath>
                </a14:m>
                <a:r>
                  <a:rPr lang="zh-CN" altLang="en-US" sz="2000" dirty="0"/>
                  <a:t>仍是最优解</a:t>
                </a:r>
                <a:endParaRPr lang="en-US" altLang="zh-CN" sz="2000" dirty="0"/>
              </a:p>
              <a:p>
                <a:pPr lvl="1"/>
                <a:endParaRPr lang="en-US" altLang="zh-CN" sz="2000" dirty="0"/>
              </a:p>
              <a:p>
                <a:pPr lvl="1"/>
                <a:endParaRPr lang="zh-CN" altLang="en-US" sz="2000" dirty="0"/>
              </a:p>
            </p:txBody>
          </p:sp>
        </mc:Choice>
        <mc:Fallback>
          <p:sp>
            <p:nvSpPr>
              <p:cNvPr id="3" name="内容占位符 2"/>
              <p:cNvSpPr>
                <a:spLocks noRot="1" noChangeAspect="1" noMove="1" noResize="1" noEditPoints="1" noAdjustHandles="1" noChangeArrowheads="1" noChangeShapeType="1" noTextEdit="1"/>
              </p:cNvSpPr>
              <p:nvPr>
                <p:ph sz="half" idx="1"/>
              </p:nvPr>
            </p:nvSpPr>
            <p:spPr>
              <a:xfrm>
                <a:off x="838200" y="1825625"/>
                <a:ext cx="5181600" cy="4351338"/>
              </a:xfrm>
              <a:blipFill rotWithShape="1">
                <a:blip r:embed="rId2"/>
                <a:stretch>
                  <a:fillRect b="-14250"/>
                </a:stretch>
              </a:blipFill>
            </p:spPr>
            <p:txBody>
              <a:bodyPr/>
              <a:lstStyle/>
              <a:p>
                <a:r>
                  <a:rPr lang="zh-CN" altLang="en-US">
                    <a:noFill/>
                  </a:rPr>
                  <a:t> </a:t>
                </a:r>
              </a:p>
            </p:txBody>
          </p:sp>
        </mc:Fallback>
      </mc:AlternateContent>
      <p:pic>
        <p:nvPicPr>
          <p:cNvPr id="7" name="Picture 6" descr="Text&#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3431318"/>
            <a:ext cx="5181600" cy="1139952"/>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TextBox 10"/>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14:m>
                  <m:oMath xmlns:m="http://schemas.openxmlformats.org/officeDocument/2006/math">
                    <m:r>
                      <a:rPr lang="zh-CN" altLang="en-US" sz="2800" i="1">
                        <a:latin typeface="Cambria Math" panose="02040503050406030204" pitchFamily="18" charset="0"/>
                      </a:rPr>
                      <m:t>假设</m:t>
                    </m:r>
                    <m:r>
                      <a:rPr lang="en-US" altLang="zh-CN" sz="2800" b="0" i="1" smtClean="0">
                        <a:latin typeface="Cambria Math" panose="02040503050406030204" pitchFamily="18" charset="0"/>
                      </a:rPr>
                      <m:t>𝐵</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50</m:t>
                    </m:r>
                    <m:r>
                      <a:rPr lang="en-US" altLang="zh-CN" sz="2800" b="0" i="1" smtClean="0">
                        <a:latin typeface="Cambria Math" panose="02040503050406030204" pitchFamily="18" charset="0"/>
                      </a:rPr>
                      <m:t>, </m:t>
                    </m:r>
                    <m:r>
                      <a:rPr lang="en-US" altLang="zh-CN" sz="2800" b="0" i="1" smtClean="0">
                        <a:latin typeface="Cambria Math" panose="02040503050406030204" pitchFamily="18" charset="0"/>
                      </a:rPr>
                      <m:t>250</m:t>
                    </m:r>
                    <m:r>
                      <a:rPr lang="en-US" altLang="zh-CN" sz="2800" b="0" i="1" smtClean="0">
                        <a:latin typeface="Cambria Math" panose="02040503050406030204" pitchFamily="18" charset="0"/>
                      </a:rPr>
                      <m:t>)</m:t>
                    </m:r>
                  </m:oMath>
                </a14:m>
                <a:r>
                  <a:rPr lang="zh-CN" altLang="en-US" sz="2800" dirty="0"/>
                  <a:t>是最优解，</a:t>
                </a:r>
                <a:r>
                  <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当产品I的单位价格由</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50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元变为</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80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元，其最大利润为</a:t>
                </a:r>
                <a:r>
                  <a:rPr lang="zh-CN" altLang="en-US" sz="26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元</a:t>
                </a:r>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11" name="TextBox 10"/>
              <p:cNvSpPr txBox="1">
                <a:spLocks noRot="1" noChangeAspect="1" noMove="1" noResize="1" noEditPoints="1" noAdjustHandles="1" noChangeArrowheads="1" noChangeShapeType="1" noTextEdit="1"/>
              </p:cNvSpPr>
              <p:nvPr>
                <p:custDataLst>
                  <p:tags r:id="rId2"/>
                </p:custDataLst>
              </p:nvPr>
            </p:nvSpPr>
            <p:spPr>
              <a:xfrm>
                <a:off x="1219200" y="635000"/>
                <a:ext cx="9753600" cy="2143125"/>
              </a:xfrm>
              <a:prstGeom prst="rect">
                <a:avLst/>
              </a:prstGeom>
              <a:blipFill rotWithShape="1">
                <a:blip r:embed="rId3"/>
                <a:stretch>
                  <a:fillRect/>
                </a:stretch>
              </a:blipFill>
            </p:spPr>
            <p:txBody>
              <a:bodyPr/>
              <a:lstStyle/>
              <a:p>
                <a:r>
                  <a:rPr lang="zh-CN" altLang="en-US">
                    <a:noFill/>
                  </a:rPr>
                  <a:t> </a:t>
                </a:r>
              </a:p>
            </p:txBody>
          </p:sp>
        </mc:Fallback>
      </mc:AlternateContent>
      <p:pic>
        <p:nvPicPr>
          <p:cNvPr id="2" name="Picture 1" descr="Text&#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15712" y="2939924"/>
            <a:ext cx="5181600" cy="1139952"/>
          </a:xfrm>
          <a:prstGeom prst="rect">
            <a:avLst/>
          </a:prstGeom>
          <a:noFill/>
        </p:spPr>
      </p:pic>
      <p:sp>
        <p:nvSpPr>
          <p:cNvPr id="3" name="矩形 2"/>
          <p:cNvSpPr/>
          <p:nvPr>
            <p:custDataLst>
              <p:tags r:id="rId5"/>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16" name="文本框 15"/>
          <p:cNvSpPr txBox="1"/>
          <p:nvPr>
            <p:custDataLst>
              <p:tags r:id="rId6"/>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a:t>
            </a:r>
            <a:endPar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0" name="Group 9"/>
          <p:cNvGrpSpPr/>
          <p:nvPr>
            <p:custDataLst>
              <p:tags r:id="rId7"/>
            </p:custDataLst>
          </p:nvPr>
        </p:nvGrpSpPr>
        <p:grpSpPr>
          <a:xfrm>
            <a:off x="0" y="0"/>
            <a:ext cx="12192000" cy="635000"/>
            <a:chOff x="0" y="0"/>
            <a:chExt cx="12192000" cy="635000"/>
          </a:xfrm>
        </p:grpSpPr>
        <p:sp>
          <p:nvSpPr>
            <p:cNvPr id="6"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TipText"/>
            <p:cNvSpPr txBox="1"/>
            <p:nvPr>
              <p:custDataLst>
                <p:tags r:id="rId11"/>
              </p:custDataLst>
            </p:nvPr>
          </p:nvSpPr>
          <p:spPr>
            <a:xfrm>
              <a:off x="1525905" y="109220"/>
              <a:ext cx="2286000" cy="508000"/>
            </a:xfrm>
            <a:prstGeom prst="rect">
              <a:avLst/>
            </a:prstGeom>
            <a:noFill/>
          </p:spPr>
          <p:txBody>
            <a:bodyPr vert="horz" wrap="none" rtlCol="0" anchor="ctr" anchorCtr="0">
              <a:noAutofit/>
            </a:bodyPr>
            <a:lstStyle/>
            <a:p>
              <a:r>
                <a:rPr lang="en-US" altLang="ja-JP"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ja-JP"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Tree>
    <p:custDataLst>
      <p:tags r:id="rId1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14:m>
                  <m:oMath xmlns:m="http://schemas.openxmlformats.org/officeDocument/2006/math">
                    <m:r>
                      <a:rPr lang="zh-CN" altLang="en-US" sz="2800" i="1" smtClean="0">
                        <a:latin typeface="Cambria Math" panose="02040503050406030204" pitchFamily="18" charset="0"/>
                      </a:rPr>
                      <m:t>假设</m:t>
                    </m:r>
                    <m:r>
                      <a:rPr lang="en-US" altLang="zh-CN" sz="2800" i="1">
                        <a:latin typeface="Cambria Math" panose="02040503050406030204" pitchFamily="18" charset="0"/>
                      </a:rPr>
                      <m:t>𝐵</m:t>
                    </m:r>
                    <m:r>
                      <a:rPr lang="en-US" altLang="zh-CN" sz="2800" i="1">
                        <a:latin typeface="Cambria Math" panose="02040503050406030204" pitchFamily="18" charset="0"/>
                      </a:rPr>
                      <m:t>=(</m:t>
                    </m:r>
                    <m:r>
                      <a:rPr lang="en-US" altLang="zh-CN" sz="2800" i="1">
                        <a:latin typeface="Cambria Math" panose="02040503050406030204" pitchFamily="18" charset="0"/>
                      </a:rPr>
                      <m:t>50</m:t>
                    </m:r>
                    <m:r>
                      <a:rPr lang="en-US" altLang="zh-CN" sz="2800" i="1">
                        <a:latin typeface="Cambria Math" panose="02040503050406030204" pitchFamily="18" charset="0"/>
                      </a:rPr>
                      <m:t>, </m:t>
                    </m:r>
                    <m:r>
                      <a:rPr lang="en-US" altLang="zh-CN" sz="2800" i="1">
                        <a:latin typeface="Cambria Math" panose="02040503050406030204" pitchFamily="18" charset="0"/>
                      </a:rPr>
                      <m:t>250</m:t>
                    </m:r>
                    <m:r>
                      <a:rPr lang="en-US" altLang="zh-CN" sz="2800" i="1">
                        <a:latin typeface="Cambria Math" panose="02040503050406030204" pitchFamily="18" charset="0"/>
                      </a:rPr>
                      <m:t>)</m:t>
                    </m:r>
                  </m:oMath>
                </a14:m>
                <a:r>
                  <a:rPr lang="zh-CN" altLang="en-US" sz="2800" dirty="0"/>
                  <a:t>是最优解，</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当产品I的单位价格由50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元变为</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150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元，</a:t>
                </a:r>
                <a:r>
                  <a:rPr lang="zh-CN" altLang="en-US" sz="2800" dirty="0"/>
                  <a:t>则最大利润为</a:t>
                </a:r>
                <a14:m>
                  <m:oMath xmlns:m="http://schemas.openxmlformats.org/officeDocument/2006/math">
                    <m:r>
                      <a:rPr lang="en-US" altLang="zh-CN" sz="2800" b="0" i="1" smtClean="0">
                        <a:latin typeface="Cambria Math" panose="02040503050406030204" pitchFamily="18" charset="0"/>
                      </a:rPr>
                      <m:t>50</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150</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250</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100</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32500</m:t>
                    </m:r>
                  </m:oMath>
                </a14:m>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9" name="TextBox 8"/>
              <p:cNvSpPr txBox="1">
                <a:spLocks noRot="1" noChangeAspect="1" noMove="1" noResize="1" noEditPoints="1" noAdjustHandles="1" noChangeArrowheads="1" noChangeShapeType="1" noTextEdit="1"/>
              </p:cNvSpPr>
              <p:nvPr>
                <p:custDataLst>
                  <p:tags r:id="rId2"/>
                </p:custDataLst>
              </p:nvPr>
            </p:nvSpPr>
            <p:spPr>
              <a:xfrm>
                <a:off x="1219200" y="635000"/>
                <a:ext cx="9753600" cy="2143125"/>
              </a:xfrm>
              <a:prstGeom prst="rect">
                <a:avLst/>
              </a:prstGeom>
              <a:blipFill rotWithShape="1">
                <a:blip r:embed="rId3"/>
                <a:stretch>
                  <a:fillRect/>
                </a:stretch>
              </a:blipFill>
            </p:spPr>
            <p:txBody>
              <a:bodyPr/>
              <a:lstStyle/>
              <a:p>
                <a:r>
                  <a:rPr lang="zh-CN" altLang="en-US">
                    <a:noFill/>
                  </a:rPr>
                  <a:t> </a:t>
                </a:r>
              </a:p>
            </p:txBody>
          </p:sp>
        </mc:Fallback>
      </mc:AlternateContent>
      <p:sp>
        <p:nvSpPr>
          <p:cNvPr id="10" name="TextBox 9"/>
          <p:cNvSpPr txBox="1"/>
          <p:nvPr>
            <p:custDataLst>
              <p:tags r:id="rId4"/>
            </p:custDataLst>
          </p:nvPr>
        </p:nvSpPr>
        <p:spPr>
          <a:xfrm>
            <a:off x="2438400" y="2786063"/>
            <a:ext cx="8534400" cy="642938"/>
          </a:xfrm>
          <a:prstGeom prst="rect">
            <a:avLst/>
          </a:prstGeom>
          <a:noFill/>
        </p:spPr>
        <p:txBody>
          <a:bodyPr vert="horz" rtlCol="0" anchor="ctr" anchorCtr="0">
            <a:noAutofit/>
          </a:bodyPr>
          <a:lstStyle/>
          <a:p>
            <a:r>
              <a:rPr lang="en-US" sz="2600"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正确</a:t>
            </a:r>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TextBox 10"/>
          <p:cNvSpPr txBox="1"/>
          <p:nvPr>
            <p:custDataLst>
              <p:tags r:id="rId5"/>
            </p:custDataLst>
          </p:nvPr>
        </p:nvSpPr>
        <p:spPr>
          <a:xfrm>
            <a:off x="2438400" y="3643313"/>
            <a:ext cx="8534400" cy="642938"/>
          </a:xfrm>
          <a:prstGeom prst="rect">
            <a:avLst/>
          </a:prstGeom>
          <a:noFill/>
        </p:spPr>
        <p:txBody>
          <a:bodyPr vert="horz"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错误</a:t>
            </a:r>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Oval 13"/>
          <p:cNvSpPr>
            <a:spLocks noChangeAspect="1"/>
          </p:cNvSpPr>
          <p:nvPr>
            <p:custDataLst>
              <p:tags r:id="rId6"/>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1"/>
          <p:cNvSpPr/>
          <p:nvPr>
            <p:custDataLst>
              <p:tags r:id="rId7"/>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19" name="文本框 18"/>
          <p:cNvSpPr txBox="1"/>
          <p:nvPr>
            <p:custDataLst>
              <p:tags r:id="rId8"/>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a:t>
            </a:r>
            <a:endPar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7" name="组合 16"/>
          <p:cNvGrpSpPr/>
          <p:nvPr>
            <p:custDataLst>
              <p:tags r:id="rId9"/>
            </p:custDataLst>
          </p:nvPr>
        </p:nvGrpSpPr>
        <p:grpSpPr>
          <a:xfrm>
            <a:off x="12585700" y="0"/>
            <a:ext cx="3815080" cy="647700"/>
            <a:chOff x="12585700" y="0"/>
            <a:chExt cx="3815080" cy="647700"/>
          </a:xfrm>
        </p:grpSpPr>
        <p:sp>
          <p:nvSpPr>
            <p:cNvPr id="12" name="RemarkBack"/>
            <p:cNvSpPr/>
            <p:nvPr>
              <p:custDataLst>
                <p:tags r:id="rId10"/>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markBlock"/>
            <p:cNvSpPr/>
            <p:nvPr>
              <p:custDataLst>
                <p:tags r:id="rId11"/>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markTitleText"/>
            <p:cNvSpPr txBox="1"/>
            <p:nvPr>
              <p:custDataLst>
                <p:tags r:id="rId12"/>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endPar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3" name="文本框 22"/>
          <p:cNvSpPr txBox="1"/>
          <p:nvPr>
            <p:custDataLst>
              <p:tags r:id="rId13"/>
            </p:custDataLst>
          </p:nvPr>
        </p:nvSpPr>
        <p:spPr>
          <a:xfrm>
            <a:off x="12827000" y="1270000"/>
            <a:ext cx="3332480" cy="1631216"/>
          </a:xfrm>
          <a:prstGeom prst="rect">
            <a:avLst/>
          </a:prstGeom>
          <a:noFill/>
        </p:spPr>
        <p:txBody>
          <a:bodyPr vert="horz" rtlCol="0" anchor="t" anchorCtr="0">
            <a:spAutoFit/>
          </a:bodyPr>
          <a:lstStyle/>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因为产品</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I</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的单价变为</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150</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时，其大小以及超过了上限</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100</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，因此不能直接套用灵敏度公式。我们需要重新对最优解和最优值进行计算。</a:t>
            </a:r>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4" name="Picture 6" descr="Text&#10;&#10;Description automatically generated"/>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221105" y="4629151"/>
            <a:ext cx="5181600" cy="1139952"/>
          </a:xfrm>
          <a:prstGeom prst="rect">
            <a:avLst/>
          </a:prstGeom>
          <a:noFill/>
        </p:spPr>
      </p:pic>
      <p:grpSp>
        <p:nvGrpSpPr>
          <p:cNvPr id="8" name="Group 7"/>
          <p:cNvGrpSpPr/>
          <p:nvPr>
            <p:custDataLst>
              <p:tags r:id="rId15"/>
            </p:custDataLst>
          </p:nvPr>
        </p:nvGrpSpPr>
        <p:grpSpPr>
          <a:xfrm>
            <a:off x="0" y="0"/>
            <a:ext cx="12192000" cy="635000"/>
            <a:chOff x="0" y="0"/>
            <a:chExt cx="12192000" cy="635000"/>
          </a:xfrm>
        </p:grpSpPr>
        <p:sp>
          <p:nvSpPr>
            <p:cNvPr id="4" name="TitleBackground"/>
            <p:cNvSpPr/>
            <p:nvPr>
              <p:custDataLst>
                <p:tags r:id="rId1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lorBlock"/>
            <p:cNvSpPr/>
            <p:nvPr>
              <p:custDataLst>
                <p:tags r:id="rId1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ypeText"/>
            <p:cNvSpPr txBox="1"/>
            <p:nvPr>
              <p:custDataLst>
                <p:tags r:id="rId18"/>
              </p:custDataLst>
            </p:nvPr>
          </p:nvSpPr>
          <p:spPr>
            <a:xfrm>
              <a:off x="254000" y="0"/>
              <a:ext cx="1905000" cy="635000"/>
            </a:xfrm>
            <a:prstGeom prst="rect">
              <a:avLst/>
            </a:prstGeom>
            <a:noFill/>
          </p:spPr>
          <p:txBody>
            <a:bodyPr vert="horz" wrap="none"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ipText"/>
            <p:cNvSpPr txBox="1"/>
            <p:nvPr>
              <p:custDataLst>
                <p:tags r:id="rId19"/>
              </p:custDataLst>
            </p:nvPr>
          </p:nvSpPr>
          <p:spPr>
            <a:xfrm>
              <a:off x="1525905" y="109220"/>
              <a:ext cx="2286000" cy="508000"/>
            </a:xfrm>
            <a:prstGeom prst="rect">
              <a:avLst/>
            </a:prstGeom>
            <a:noFill/>
          </p:spPr>
          <p:txBody>
            <a:bodyPr vert="horz" wrap="none" rtlCol="0" anchor="ctr" anchorCtr="0">
              <a:noAutofit/>
            </a:bodyPr>
            <a:lstStyle/>
            <a:p>
              <a:r>
                <a:rPr lang="en-US" altLang="ja-JP"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ja-JP"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1" name="Oval 13"/>
          <p:cNvSpPr>
            <a:spLocks noChangeAspect="1"/>
          </p:cNvSpPr>
          <p:nvPr>
            <p:custDataLst>
              <p:tags r:id="rId20"/>
            </p:custDataLst>
          </p:nvPr>
        </p:nvSpPr>
        <p:spPr>
          <a:xfrm>
            <a:off x="1556385" y="369744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p>
            <a:pPr algn="ctr"/>
            <a:r>
              <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2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p:nvPr>
            </p:nvSpPr>
            <p:spPr/>
            <p:txBody>
              <a:bodyPr>
                <a:normAutofit/>
              </a:bodyPr>
              <a:lstStyle/>
              <a:p>
                <a:r>
                  <a:rPr lang="zh-CN" altLang="en-US" dirty="0">
                    <a:latin typeface="楷体" panose="02010609060101010101" pitchFamily="49" charset="-122"/>
                    <a:ea typeface="楷体" panose="02010609060101010101" pitchFamily="49" charset="-122"/>
                  </a:rPr>
                  <a:t>管理运筹学软件的输出分析 </a:t>
                </a:r>
                <a:r>
                  <a:rPr lang="en-US" altLang="zh-CN" dirty="0">
                    <a:latin typeface="楷体" panose="02010609060101010101" pitchFamily="49" charset="-122"/>
                    <a:ea typeface="楷体" panose="02010609060101010101" pitchFamily="49" charset="-122"/>
                  </a:rPr>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𝑖</m:t>
                        </m:r>
                      </m:sub>
                    </m:sSub>
                  </m:oMath>
                </a14:m>
                <a:r>
                  <a:rPr lang="zh-CN" altLang="en-US" dirty="0">
                    <a:latin typeface="楷体" panose="02010609060101010101" pitchFamily="49" charset="-122"/>
                    <a:ea typeface="楷体" panose="02010609060101010101" pitchFamily="49" charset="-122"/>
                  </a:rPr>
                  <a:t>灵敏度分析 </a:t>
                </a:r>
                <a:endParaRPr lang="zh-CN" altLang="en-US" dirty="0">
                  <a:latin typeface="楷体" panose="02010609060101010101" pitchFamily="49" charset="-122"/>
                  <a:ea typeface="楷体" panose="02010609060101010101" pitchFamily="49" charset="-122"/>
                </a:endParaRPr>
              </a:p>
            </p:txBody>
          </p:sp>
        </mc:Choice>
        <mc:Fallback>
          <p:sp>
            <p:nvSpPr>
              <p:cNvPr id="2" name="标题 1"/>
              <p:cNvSpPr>
                <a:spLocks noRot="1" noChangeAspect="1" noMove="1" noResize="1" noEditPoints="1" noAdjustHandles="1" noChangeArrowheads="1" noChangeShapeType="1" noTextEdit="1"/>
              </p:cNvSpPr>
              <p:nvPr>
                <p:ph type="title"/>
              </p:nvPr>
            </p:nvSpPr>
            <p:spPr>
              <a:blipFill rotWithShape="1">
                <a:blip r:embed="rId1"/>
                <a:stretch>
                  <a:fillRect b="24"/>
                </a:stretch>
              </a:blipFill>
            </p:spPr>
            <p:txBody>
              <a:bodyPr/>
              <a:lstStyle/>
              <a:p>
                <a:r>
                  <a:rPr lang="zh-CN" altLang="en-US">
                    <a:noFill/>
                  </a:rPr>
                  <a:t> </a:t>
                </a:r>
              </a:p>
            </p:txBody>
          </p:sp>
        </mc:Fallback>
      </mc:AlternateContent>
      <p:sp>
        <p:nvSpPr>
          <p:cNvPr id="3" name="内容占位符 2"/>
          <p:cNvSpPr>
            <a:spLocks noGrp="1"/>
          </p:cNvSpPr>
          <p:nvPr>
            <p:ph idx="1"/>
          </p:nvPr>
        </p:nvSpPr>
        <p:spPr>
          <a:xfrm>
            <a:off x="838200" y="1825625"/>
            <a:ext cx="5948494" cy="4351338"/>
          </a:xfrm>
        </p:spPr>
        <p:txBody>
          <a:bodyPr/>
          <a:lstStyle/>
          <a:p>
            <a:r>
              <a:rPr lang="zh-CN" altLang="en-US" dirty="0">
                <a:latin typeface="楷体" panose="02010609060101010101" pitchFamily="49" charset="-122"/>
                <a:ea typeface="楷体" panose="02010609060101010101" pitchFamily="49" charset="-122"/>
              </a:rPr>
              <a:t>当产品</a:t>
            </a:r>
            <a:r>
              <a:rPr lang="en-US" altLang="zh-CN" dirty="0">
                <a:latin typeface="楷体" panose="02010609060101010101" pitchFamily="49" charset="-122"/>
                <a:ea typeface="楷体" panose="02010609060101010101" pitchFamily="49" charset="-122"/>
              </a:rPr>
              <a:t>I</a:t>
            </a:r>
            <a:r>
              <a:rPr lang="zh-CN" altLang="en-US" dirty="0">
                <a:latin typeface="楷体" panose="02010609060101010101" pitchFamily="49" charset="-122"/>
                <a:ea typeface="楷体" panose="02010609060101010101" pitchFamily="49" charset="-122"/>
              </a:rPr>
              <a:t>单价变为</a:t>
            </a:r>
            <a:r>
              <a:rPr lang="en-US" altLang="zh-CN" dirty="0">
                <a:latin typeface="楷体" panose="02010609060101010101" pitchFamily="49" charset="-122"/>
                <a:ea typeface="楷体" panose="02010609060101010101" pitchFamily="49" charset="-122"/>
              </a:rPr>
              <a:t>150</a:t>
            </a:r>
            <a:r>
              <a:rPr lang="zh-CN" altLang="en-US" dirty="0">
                <a:latin typeface="楷体" panose="02010609060101010101" pitchFamily="49" charset="-122"/>
                <a:ea typeface="楷体" panose="02010609060101010101" pitchFamily="49" charset="-122"/>
              </a:rPr>
              <a:t>时，使用管理运筹学软件可以得到如下结果。</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最优解变为（</a:t>
            </a:r>
            <a:r>
              <a:rPr lang="en-US" altLang="zh-CN" dirty="0">
                <a:latin typeface="楷体" panose="02010609060101010101" pitchFamily="49" charset="-122"/>
                <a:ea typeface="楷体" panose="02010609060101010101" pitchFamily="49" charset="-122"/>
              </a:rPr>
              <a:t>100,200</a:t>
            </a:r>
            <a:r>
              <a:rPr lang="zh-CN" altLang="en-US" dirty="0">
                <a:latin typeface="楷体" panose="02010609060101010101" pitchFamily="49" charset="-122"/>
                <a:ea typeface="楷体" panose="02010609060101010101" pitchFamily="49" charset="-122"/>
              </a:rPr>
              <a:t>），最优值为</a:t>
            </a:r>
            <a:r>
              <a:rPr lang="en-US" altLang="zh-CN" dirty="0">
                <a:latin typeface="楷体" panose="02010609060101010101" pitchFamily="49" charset="-122"/>
                <a:ea typeface="楷体" panose="02010609060101010101" pitchFamily="49" charset="-122"/>
              </a:rPr>
              <a:t>35000</a:t>
            </a:r>
            <a:r>
              <a:rPr lang="zh-CN" altLang="en-US" dirty="0">
                <a:latin typeface="楷体" panose="02010609060101010101" pitchFamily="49" charset="-122"/>
                <a:ea typeface="楷体" panose="02010609060101010101" pitchFamily="49" charset="-122"/>
              </a:rPr>
              <a:t>，而不是</a:t>
            </a:r>
            <a:r>
              <a:rPr lang="en-US" altLang="zh-CN" dirty="0">
                <a:latin typeface="楷体" panose="02010609060101010101" pitchFamily="49" charset="-122"/>
                <a:ea typeface="楷体" panose="02010609060101010101" pitchFamily="49" charset="-122"/>
              </a:rPr>
              <a:t>32500</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2835" y="1932723"/>
            <a:ext cx="5269165" cy="362019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nchor="ctr">
            <a:normAutofit/>
          </a:bodyPr>
          <a:lstStyle/>
          <a:p>
            <a:r>
              <a:rPr lang="zh-CN" altLang="en-US" dirty="0"/>
              <a:t>管理运筹学软件的输出分析 </a:t>
            </a:r>
            <a:r>
              <a:rPr lang="en-US" altLang="zh-CN" dirty="0"/>
              <a:t>–</a:t>
            </a:r>
            <a:r>
              <a:rPr lang="zh-CN" altLang="en-US" dirty="0"/>
              <a:t> 剩余变量与松弛变量</a:t>
            </a:r>
            <a:endParaRPr lang="zh-CN" altLang="en-US" dirty="0"/>
          </a:p>
        </p:txBody>
      </p:sp>
      <p:sp>
        <p:nvSpPr>
          <p:cNvPr id="3" name="内容占位符 2"/>
          <p:cNvSpPr>
            <a:spLocks noGrp="1"/>
          </p:cNvSpPr>
          <p:nvPr>
            <p:ph sz="half" idx="1"/>
          </p:nvPr>
        </p:nvSpPr>
        <p:spPr>
          <a:xfrm>
            <a:off x="838200" y="1825625"/>
            <a:ext cx="5181600" cy="4351338"/>
          </a:xfrm>
        </p:spPr>
        <p:txBody>
          <a:bodyPr>
            <a:normAutofit/>
          </a:bodyPr>
          <a:lstStyle/>
          <a:p>
            <a:r>
              <a:rPr lang="zh-CN" altLang="en-US" dirty="0"/>
              <a:t>台时数已全部用完</a:t>
            </a:r>
            <a:endParaRPr lang="en-US" altLang="zh-CN" dirty="0"/>
          </a:p>
          <a:p>
            <a:pPr lvl="1"/>
            <a:r>
              <a:rPr lang="zh-CN" altLang="en-US" sz="2800"/>
              <a:t>松弛变量为</a:t>
            </a:r>
            <a:r>
              <a:rPr lang="en-US" altLang="zh-CN" sz="2800"/>
              <a:t>0</a:t>
            </a:r>
            <a:r>
              <a:rPr lang="zh-CN" altLang="en-US" sz="2800"/>
              <a:t>，对偶价格为</a:t>
            </a:r>
            <a:r>
              <a:rPr lang="en-US" altLang="zh-CN" sz="2800"/>
              <a:t>50</a:t>
            </a:r>
            <a:r>
              <a:rPr lang="zh-CN" altLang="en-US" sz="2800"/>
              <a:t>元每台时</a:t>
            </a:r>
            <a:endParaRPr lang="en-US" altLang="zh-CN" sz="2800"/>
          </a:p>
          <a:p>
            <a:r>
              <a:rPr lang="zh-CN" altLang="en-US" dirty="0"/>
              <a:t>原料</a:t>
            </a:r>
            <a:r>
              <a:rPr lang="en-US" altLang="zh-CN" dirty="0"/>
              <a:t>A</a:t>
            </a:r>
            <a:r>
              <a:rPr lang="zh-CN" altLang="en-US" dirty="0"/>
              <a:t>还有</a:t>
            </a:r>
            <a:r>
              <a:rPr lang="en-US" altLang="zh-CN" dirty="0"/>
              <a:t>50</a:t>
            </a:r>
            <a:r>
              <a:rPr lang="zh-CN" altLang="en-US" dirty="0"/>
              <a:t>千克没有使用</a:t>
            </a:r>
            <a:endParaRPr lang="en-US" altLang="zh-CN" dirty="0"/>
          </a:p>
          <a:p>
            <a:pPr lvl="1"/>
            <a:r>
              <a:rPr lang="zh-CN" altLang="en-US" sz="2800"/>
              <a:t>松弛变量为</a:t>
            </a:r>
            <a:r>
              <a:rPr lang="en-US" altLang="zh-CN" sz="2800"/>
              <a:t>50</a:t>
            </a:r>
            <a:r>
              <a:rPr lang="zh-CN" altLang="en-US" sz="2800"/>
              <a:t>，对偶价格为</a:t>
            </a:r>
            <a:r>
              <a:rPr lang="en-US" altLang="zh-CN" sz="2800"/>
              <a:t>0</a:t>
            </a:r>
            <a:r>
              <a:rPr lang="zh-CN" altLang="en-US" sz="2800"/>
              <a:t>元每千克</a:t>
            </a:r>
            <a:endParaRPr lang="en-US" altLang="zh-CN" sz="2800"/>
          </a:p>
          <a:p>
            <a:r>
              <a:rPr lang="zh-CN" altLang="en-US" dirty="0"/>
              <a:t>原料</a:t>
            </a:r>
            <a:r>
              <a:rPr lang="en-US" altLang="zh-CN" dirty="0"/>
              <a:t>B</a:t>
            </a:r>
            <a:r>
              <a:rPr lang="zh-CN" altLang="en-US" dirty="0"/>
              <a:t>已耗尽</a:t>
            </a:r>
            <a:endParaRPr lang="en-US" altLang="zh-CN" dirty="0"/>
          </a:p>
          <a:p>
            <a:pPr lvl="1"/>
            <a:r>
              <a:rPr lang="zh-CN" altLang="en-US" sz="2800"/>
              <a:t>松弛变量为</a:t>
            </a:r>
            <a:r>
              <a:rPr lang="en-US" altLang="zh-CN" sz="2800"/>
              <a:t>0</a:t>
            </a:r>
            <a:r>
              <a:rPr lang="zh-CN" altLang="en-US" sz="2800"/>
              <a:t>，对偶价格为</a:t>
            </a:r>
            <a:r>
              <a:rPr lang="en-US" altLang="zh-CN" sz="2800"/>
              <a:t>50</a:t>
            </a:r>
            <a:r>
              <a:rPr lang="zh-CN" altLang="en-US" sz="2800"/>
              <a:t>元每千克</a:t>
            </a:r>
            <a:endParaRPr lang="zh-CN" altLang="en-US" sz="2800"/>
          </a:p>
        </p:txBody>
      </p:sp>
      <p:pic>
        <p:nvPicPr>
          <p:cNvPr id="5" name="Picture 4" descr="Table&#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72200" y="3249962"/>
            <a:ext cx="5181600" cy="1502664"/>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838200" y="365125"/>
                <a:ext cx="10515600" cy="1325563"/>
              </a:xfrm>
            </p:spPr>
            <p:txBody>
              <a:bodyPr anchor="ctr">
                <a:normAutofit/>
              </a:bodyPr>
              <a:lstStyle/>
              <a:p>
                <a:r>
                  <a:rPr lang="zh-CN" altLang="en-US" sz="4100" dirty="0"/>
                  <a:t>管理运筹学软件的输出分析 </a:t>
                </a:r>
                <a:r>
                  <a:rPr lang="en-US" altLang="zh-CN" sz="4100" dirty="0"/>
                  <a:t>–</a:t>
                </a:r>
                <a:r>
                  <a:rPr lang="zh-CN" altLang="en-US" sz="4100" dirty="0"/>
                  <a:t> </a:t>
                </a:r>
                <a14:m>
                  <m:oMath xmlns:m="http://schemas.openxmlformats.org/officeDocument/2006/math">
                    <m:sSub>
                      <m:sSubPr>
                        <m:ctrlPr>
                          <a:rPr lang="en-US" altLang="zh-CN" sz="4100" b="0" i="1" smtClean="0">
                            <a:latin typeface="Cambria Math" panose="02040503050406030204" pitchFamily="18" charset="0"/>
                          </a:rPr>
                        </m:ctrlPr>
                      </m:sSubPr>
                      <m:e>
                        <m:r>
                          <m:rPr>
                            <m:sty m:val="p"/>
                          </m:rPr>
                          <a:rPr lang="en-US" altLang="zh-CN" sz="4100" i="1">
                            <a:latin typeface="Cambria Math" panose="02040503050406030204" pitchFamily="18" charset="0"/>
                          </a:rPr>
                          <m:t>b</m:t>
                        </m:r>
                      </m:e>
                      <m:sub>
                        <m:r>
                          <a:rPr lang="en-US" altLang="zh-CN" sz="4100" b="0" i="1" smtClean="0">
                            <a:latin typeface="Cambria Math" panose="02040503050406030204" pitchFamily="18" charset="0"/>
                          </a:rPr>
                          <m:t>𝑗</m:t>
                        </m:r>
                      </m:sub>
                    </m:sSub>
                  </m:oMath>
                </a14:m>
                <a:r>
                  <a:rPr lang="zh-CN" altLang="en-US" sz="4100" dirty="0"/>
                  <a:t>灵敏度分析 </a:t>
                </a:r>
                <a:endParaRPr lang="en-US" sz="4100" dirty="0"/>
              </a:p>
            </p:txBody>
          </p:sp>
        </mc:Choice>
        <mc:Fallback>
          <p:sp>
            <p:nvSpPr>
              <p:cNvPr id="2" name="Title 1"/>
              <p:cNvSpPr>
                <a:spLocks noRot="1" noChangeAspect="1" noMove="1" noResize="1" noEditPoints="1" noAdjustHandles="1" noChangeArrowheads="1" noChangeShapeType="1" noTextEdit="1"/>
              </p:cNvSpPr>
              <p:nvPr>
                <p:ph type="title"/>
              </p:nvPr>
            </p:nvSpPr>
            <p:spPr>
              <a:xfrm>
                <a:off x="838200" y="365125"/>
                <a:ext cx="10515600" cy="1325563"/>
              </a:xfrm>
              <a:blipFill rotWithShape="1">
                <a:blip r:embed="rId1"/>
                <a:stretch>
                  <a:fillRect b="24"/>
                </a:stretch>
              </a:blipFill>
            </p:spPr>
            <p:txBody>
              <a:bodyPr/>
              <a:lstStyle/>
              <a:p>
                <a:r>
                  <a:rPr lang="zh-CN" altLang="en-US">
                    <a:noFill/>
                  </a:rPr>
                  <a:t> </a:t>
                </a:r>
              </a:p>
            </p:txBody>
          </p:sp>
        </mc:Fallback>
      </mc:AlternateContent>
      <p:sp>
        <p:nvSpPr>
          <p:cNvPr id="3" name="Content Placeholder 2"/>
          <p:cNvSpPr>
            <a:spLocks noGrp="1"/>
          </p:cNvSpPr>
          <p:nvPr>
            <p:ph sz="half" idx="1"/>
          </p:nvPr>
        </p:nvSpPr>
        <p:spPr>
          <a:xfrm>
            <a:off x="838199" y="1825625"/>
            <a:ext cx="10147183" cy="4351338"/>
          </a:xfrm>
        </p:spPr>
        <p:txBody>
          <a:bodyPr>
            <a:normAutofit/>
          </a:bodyPr>
          <a:lstStyle/>
          <a:p>
            <a:r>
              <a:rPr lang="en-US" sz="2400" dirty="0" err="1"/>
              <a:t>当前值为约束条件中常数项的现在值</a:t>
            </a:r>
            <a:endParaRPr lang="en-US" sz="2400" dirty="0"/>
          </a:p>
          <a:p>
            <a:pPr lvl="1"/>
            <a:r>
              <a:rPr lang="en-US" dirty="0"/>
              <a:t>台时总数为</a:t>
            </a:r>
            <a:r>
              <a:rPr lang="en-US" altLang="zh-CN" dirty="0"/>
              <a:t>300</a:t>
            </a:r>
            <a:r>
              <a:rPr lang="zh-CN" altLang="en-US" dirty="0"/>
              <a:t>，原料</a:t>
            </a:r>
            <a:r>
              <a:rPr lang="en-US" altLang="zh-CN" dirty="0"/>
              <a:t>A</a:t>
            </a:r>
            <a:r>
              <a:rPr lang="zh-CN" altLang="en-US" dirty="0"/>
              <a:t>的总数为</a:t>
            </a:r>
            <a:r>
              <a:rPr lang="en-US" altLang="zh-CN" dirty="0"/>
              <a:t>400</a:t>
            </a:r>
            <a:r>
              <a:rPr lang="zh-CN" altLang="en-US" dirty="0"/>
              <a:t>，原料</a:t>
            </a:r>
            <a:r>
              <a:rPr lang="en-US" altLang="zh-CN" dirty="0"/>
              <a:t>B</a:t>
            </a:r>
            <a:r>
              <a:rPr lang="zh-CN" altLang="en-US" dirty="0"/>
              <a:t>的总数为</a:t>
            </a:r>
            <a:r>
              <a:rPr lang="en-US" altLang="zh-CN" dirty="0"/>
              <a:t>250</a:t>
            </a:r>
            <a:endParaRPr lang="en-US" altLang="zh-CN" dirty="0"/>
          </a:p>
          <a:p>
            <a:r>
              <a:rPr lang="en-US" sz="2400" dirty="0" err="1"/>
              <a:t>同理</a:t>
            </a:r>
            <a:r>
              <a:rPr lang="zh-CN" altLang="en-US" sz="2400" dirty="0"/>
              <a:t>，上限和下限是指当约束条件中的常数项在此范围内变化，而</a:t>
            </a:r>
            <a:r>
              <a:rPr lang="zh-CN" altLang="en-US" sz="2400" dirty="0">
                <a:solidFill>
                  <a:srgbClr val="FF0000"/>
                </a:solidFill>
              </a:rPr>
              <a:t>其他系数保持不变时</a:t>
            </a:r>
            <a:r>
              <a:rPr lang="zh-CN" altLang="en-US" sz="2400" dirty="0"/>
              <a:t>，与其对应的对偶价格保持不变。</a:t>
            </a:r>
            <a:endParaRPr lang="en-US" altLang="zh-CN" sz="2400" dirty="0"/>
          </a:p>
          <a:p>
            <a:pPr lvl="1"/>
            <a:r>
              <a:rPr lang="en-US" dirty="0"/>
              <a:t>当台时总数保持在</a:t>
            </a:r>
            <a:r>
              <a:rPr lang="en-US" altLang="zh-CN" dirty="0"/>
              <a:t>250-325</a:t>
            </a:r>
            <a:r>
              <a:rPr lang="zh-CN" altLang="en-US" dirty="0"/>
              <a:t>之间时，其对偶价格是</a:t>
            </a:r>
            <a:r>
              <a:rPr lang="en-US" altLang="zh-CN" dirty="0"/>
              <a:t>50</a:t>
            </a:r>
            <a:r>
              <a:rPr lang="zh-CN" altLang="en-US" dirty="0"/>
              <a:t>元</a:t>
            </a:r>
            <a:r>
              <a:rPr lang="en-US" altLang="zh-CN" dirty="0"/>
              <a:t>/</a:t>
            </a:r>
            <a:r>
              <a:rPr lang="zh-CN" altLang="en-US" dirty="0"/>
              <a:t>台时数</a:t>
            </a:r>
            <a:endParaRPr lang="en-US" altLang="zh-CN" dirty="0"/>
          </a:p>
          <a:p>
            <a:pPr lvl="1"/>
            <a:r>
              <a:rPr lang="zh-CN" altLang="en-US" dirty="0"/>
              <a:t>当原料</a:t>
            </a:r>
            <a:r>
              <a:rPr lang="en-US" altLang="zh-CN" dirty="0"/>
              <a:t>A</a:t>
            </a:r>
            <a:r>
              <a:rPr lang="zh-CN" altLang="en-US" dirty="0"/>
              <a:t>的总量保持在</a:t>
            </a:r>
            <a:r>
              <a:rPr lang="en-US" altLang="zh-CN" dirty="0"/>
              <a:t>350-</a:t>
            </a:r>
            <a:r>
              <a:rPr lang="zh-CN" altLang="en-US" dirty="0"/>
              <a:t>正无穷之间时，其对偶价格是</a:t>
            </a:r>
            <a:r>
              <a:rPr lang="en-US" altLang="zh-CN" dirty="0"/>
              <a:t>0</a:t>
            </a:r>
            <a:r>
              <a:rPr lang="zh-CN" altLang="en-US" dirty="0"/>
              <a:t>元</a:t>
            </a:r>
            <a:r>
              <a:rPr lang="en-US" altLang="zh-CN" dirty="0"/>
              <a:t>/kg</a:t>
            </a:r>
            <a:endParaRPr lang="en-US" altLang="zh-CN" dirty="0"/>
          </a:p>
          <a:p>
            <a:pPr lvl="1"/>
            <a:r>
              <a:rPr lang="zh-CN" altLang="en-US" dirty="0"/>
              <a:t>当原料</a:t>
            </a:r>
            <a:r>
              <a:rPr lang="en-US" altLang="zh-CN" dirty="0"/>
              <a:t>B</a:t>
            </a:r>
            <a:r>
              <a:rPr lang="zh-CN" altLang="en-US" dirty="0"/>
              <a:t>的总量保持在</a:t>
            </a:r>
            <a:r>
              <a:rPr lang="en-US" altLang="zh-CN" dirty="0"/>
              <a:t>200-300</a:t>
            </a:r>
            <a:r>
              <a:rPr lang="zh-CN" altLang="en-US" dirty="0"/>
              <a:t>之间时，其对偶价格是</a:t>
            </a:r>
            <a:r>
              <a:rPr lang="en-US" altLang="zh-CN" dirty="0"/>
              <a:t>50</a:t>
            </a:r>
            <a:r>
              <a:rPr lang="zh-CN" altLang="en-US" dirty="0"/>
              <a:t>元</a:t>
            </a:r>
            <a:r>
              <a:rPr lang="en-US" altLang="zh-CN" dirty="0"/>
              <a:t>/kg</a:t>
            </a:r>
            <a:endParaRPr lang="en-US" altLang="zh-CN" dirty="0"/>
          </a:p>
          <a:p>
            <a:pPr lvl="1"/>
            <a:endParaRPr lang="en-US" altLang="zh-CN" sz="1500" dirty="0"/>
          </a:p>
          <a:p>
            <a:pPr lvl="1"/>
            <a:endParaRPr lang="en-US" altLang="zh-CN" sz="15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3185720" y="5011183"/>
            <a:ext cx="5181600" cy="125193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838200" y="365125"/>
                <a:ext cx="10515600" cy="1325563"/>
              </a:xfrm>
            </p:spPr>
            <p:txBody>
              <a:bodyPr anchor="ctr">
                <a:normAutofit/>
              </a:bodyPr>
              <a:lstStyle/>
              <a:p>
                <a:r>
                  <a:rPr lang="zh-CN" altLang="en-US" sz="4100" dirty="0"/>
                  <a:t>管理运筹学软件的输出分析 </a:t>
                </a:r>
                <a:r>
                  <a:rPr lang="en-US" altLang="zh-CN" sz="4100" dirty="0"/>
                  <a:t>–</a:t>
                </a:r>
                <a:r>
                  <a:rPr lang="zh-CN" altLang="en-US" sz="4100" dirty="0"/>
                  <a:t> </a:t>
                </a:r>
                <a14:m>
                  <m:oMath xmlns:m="http://schemas.openxmlformats.org/officeDocument/2006/math">
                    <m:sSub>
                      <m:sSubPr>
                        <m:ctrlPr>
                          <a:rPr lang="en-US" altLang="zh-CN" sz="4100" b="0" i="1" smtClean="0">
                            <a:latin typeface="Cambria Math" panose="02040503050406030204" pitchFamily="18" charset="0"/>
                          </a:rPr>
                        </m:ctrlPr>
                      </m:sSubPr>
                      <m:e>
                        <m:r>
                          <m:rPr>
                            <m:sty m:val="p"/>
                          </m:rPr>
                          <a:rPr lang="en-US" altLang="zh-CN" sz="4100" i="1">
                            <a:latin typeface="Cambria Math" panose="02040503050406030204" pitchFamily="18" charset="0"/>
                          </a:rPr>
                          <m:t>b</m:t>
                        </m:r>
                      </m:e>
                      <m:sub>
                        <m:r>
                          <a:rPr lang="en-US" altLang="zh-CN" sz="4100" b="0" i="1" smtClean="0">
                            <a:latin typeface="Cambria Math" panose="02040503050406030204" pitchFamily="18" charset="0"/>
                          </a:rPr>
                          <m:t>𝑗</m:t>
                        </m:r>
                      </m:sub>
                    </m:sSub>
                  </m:oMath>
                </a14:m>
                <a:r>
                  <a:rPr lang="zh-CN" altLang="en-US" sz="4100" dirty="0"/>
                  <a:t>灵敏度分析 </a:t>
                </a:r>
                <a:endParaRPr lang="en-US" sz="4100" dirty="0"/>
              </a:p>
            </p:txBody>
          </p:sp>
        </mc:Choice>
        <mc:Fallback>
          <p:sp>
            <p:nvSpPr>
              <p:cNvPr id="2" name="Title 1"/>
              <p:cNvSpPr>
                <a:spLocks noRot="1" noChangeAspect="1" noMove="1" noResize="1" noEditPoints="1" noAdjustHandles="1" noChangeArrowheads="1" noChangeShapeType="1" noTextEdit="1"/>
              </p:cNvSpPr>
              <p:nvPr>
                <p:ph type="title"/>
              </p:nvPr>
            </p:nvSpPr>
            <p:spPr>
              <a:xfrm>
                <a:off x="838200" y="365125"/>
                <a:ext cx="10515600" cy="1325563"/>
              </a:xfrm>
              <a:blipFill rotWithShape="1">
                <a:blip r:embed="rId1"/>
                <a:stretch>
                  <a:fillRect b="24"/>
                </a:stretch>
              </a:blipFill>
            </p:spPr>
            <p:txBody>
              <a:bodyPr/>
              <a:lstStyle/>
              <a:p>
                <a:r>
                  <a:rPr lang="zh-CN" altLang="en-US">
                    <a:noFill/>
                  </a:rPr>
                  <a:t> </a:t>
                </a:r>
              </a:p>
            </p:txBody>
          </p:sp>
        </mc:Fallback>
      </mc:AlternateContent>
      <p:sp>
        <p:nvSpPr>
          <p:cNvPr id="3" name="Content Placeholder 2"/>
          <p:cNvSpPr>
            <a:spLocks noGrp="1"/>
          </p:cNvSpPr>
          <p:nvPr>
            <p:ph sz="half" idx="1"/>
          </p:nvPr>
        </p:nvSpPr>
        <p:spPr>
          <a:xfrm>
            <a:off x="838199" y="1825625"/>
            <a:ext cx="9903903" cy="4351338"/>
          </a:xfrm>
        </p:spPr>
        <p:txBody>
          <a:bodyPr>
            <a:normAutofit/>
          </a:bodyPr>
          <a:lstStyle/>
          <a:p>
            <a:r>
              <a:rPr lang="zh-CN" altLang="en-US" sz="2400" dirty="0"/>
              <a:t>假设原料</a:t>
            </a:r>
            <a:r>
              <a:rPr lang="en-US" altLang="zh-CN" sz="2400" dirty="0"/>
              <a:t>A</a:t>
            </a:r>
            <a:r>
              <a:rPr lang="zh-CN" altLang="en-US" sz="2400" dirty="0"/>
              <a:t>的总量和台时总数不变，原料</a:t>
            </a:r>
            <a:r>
              <a:rPr lang="en-US" altLang="zh-CN" sz="2400" dirty="0"/>
              <a:t>B</a:t>
            </a:r>
            <a:r>
              <a:rPr lang="zh-CN" altLang="en-US" sz="2400" dirty="0"/>
              <a:t>的总量从</a:t>
            </a:r>
            <a:r>
              <a:rPr lang="en-US" altLang="zh-CN" sz="2400" dirty="0"/>
              <a:t>250kg</a:t>
            </a:r>
            <a:r>
              <a:rPr lang="zh-CN" altLang="en-US" sz="2400" dirty="0"/>
              <a:t>上升到</a:t>
            </a:r>
            <a:r>
              <a:rPr lang="en-US" altLang="zh-CN" sz="2400" dirty="0"/>
              <a:t>280kg</a:t>
            </a:r>
            <a:r>
              <a:rPr lang="zh-CN" altLang="en-US" sz="2400" dirty="0"/>
              <a:t>，会对最大利润产生怎样的影响？</a:t>
            </a:r>
            <a:endParaRPr lang="en-US" altLang="zh-CN" sz="2400" dirty="0"/>
          </a:p>
          <a:p>
            <a:pPr lvl="1"/>
            <a:r>
              <a:rPr lang="zh-CN" altLang="en-US" dirty="0"/>
              <a:t>最大利润：</a:t>
            </a:r>
            <a:r>
              <a:rPr lang="en-US" altLang="zh-CN" dirty="0"/>
              <a:t>27500</a:t>
            </a:r>
            <a:r>
              <a:rPr lang="zh-CN" altLang="en-US" dirty="0"/>
              <a:t>（变动前最大利润）</a:t>
            </a:r>
            <a:r>
              <a:rPr lang="en-US" altLang="zh-CN" dirty="0"/>
              <a:t>+</a:t>
            </a:r>
            <a:r>
              <a:rPr lang="zh-CN" altLang="en-US" dirty="0"/>
              <a:t>（</a:t>
            </a:r>
            <a:r>
              <a:rPr lang="en-US" altLang="zh-CN" dirty="0"/>
              <a:t>280-250</a:t>
            </a:r>
            <a:r>
              <a:rPr lang="zh-CN" altLang="en-US" dirty="0"/>
              <a:t>）*</a:t>
            </a:r>
            <a:r>
              <a:rPr lang="en-US" altLang="zh-CN" dirty="0"/>
              <a:t>50=29000</a:t>
            </a:r>
            <a:r>
              <a:rPr lang="zh-CN" altLang="en-US" dirty="0"/>
              <a:t>元</a:t>
            </a:r>
            <a:endParaRPr lang="en-US" altLang="zh-CN" dirty="0"/>
          </a:p>
          <a:p>
            <a:pPr lvl="1"/>
            <a:r>
              <a:rPr lang="zh-CN" altLang="en-US" dirty="0"/>
              <a:t>最大利润增大</a:t>
            </a:r>
            <a:r>
              <a:rPr lang="en-US" altLang="zh-CN" dirty="0"/>
              <a:t>1500</a:t>
            </a:r>
            <a:r>
              <a:rPr lang="zh-CN" altLang="en-US" dirty="0"/>
              <a:t>元</a:t>
            </a:r>
            <a:endParaRPr lang="en-US" altLang="zh-CN" dirty="0"/>
          </a:p>
          <a:p>
            <a:pPr lvl="1"/>
            <a:endParaRPr lang="en-US" altLang="zh-CN" sz="1500" dirty="0"/>
          </a:p>
          <a:p>
            <a:pPr lvl="1"/>
            <a:endParaRPr lang="en-US" altLang="zh-CN" sz="15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3585596" y="4245524"/>
            <a:ext cx="5181600" cy="125193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400" dirty="0"/>
              <a:t>假设原料</a:t>
            </a:r>
            <a:r>
              <a:rPr lang="en-US" altLang="zh-CN" sz="2400" dirty="0"/>
              <a:t>B</a:t>
            </a:r>
            <a:r>
              <a:rPr lang="zh-CN" altLang="en-US" sz="2400" dirty="0"/>
              <a:t>的总量（</a:t>
            </a:r>
            <a:r>
              <a:rPr lang="en-US" altLang="zh-CN" sz="2400" dirty="0"/>
              <a:t>3</a:t>
            </a:r>
            <a:r>
              <a:rPr lang="zh-CN" altLang="en-US" sz="2400" dirty="0"/>
              <a:t>）和台时总数（</a:t>
            </a:r>
            <a:r>
              <a:rPr lang="en-US" altLang="zh-CN" sz="2400" dirty="0"/>
              <a:t>1</a:t>
            </a:r>
            <a:r>
              <a:rPr lang="zh-CN" altLang="en-US" sz="2400" dirty="0"/>
              <a:t>）不变，原料</a:t>
            </a:r>
            <a:r>
              <a:rPr lang="en-US" altLang="zh-CN" sz="2400" dirty="0"/>
              <a:t>A</a:t>
            </a:r>
            <a:r>
              <a:rPr lang="zh-CN" altLang="en-US" sz="2400" dirty="0"/>
              <a:t>的总量（</a:t>
            </a:r>
            <a:r>
              <a:rPr lang="en-US" altLang="zh-CN" sz="2400" dirty="0"/>
              <a:t>2</a:t>
            </a:r>
            <a:r>
              <a:rPr lang="zh-CN" altLang="en-US" sz="2400" dirty="0"/>
              <a:t>）从</a:t>
            </a:r>
            <a:r>
              <a:rPr lang="en-US" altLang="zh-CN" sz="2400" dirty="0"/>
              <a:t>400kg</a:t>
            </a:r>
            <a:r>
              <a:rPr lang="zh-CN" altLang="en-US" sz="2400" dirty="0"/>
              <a:t>上升到</a:t>
            </a:r>
            <a:r>
              <a:rPr lang="en-US" altLang="zh-CN" sz="2400" dirty="0"/>
              <a:t>500kg</a:t>
            </a:r>
            <a:r>
              <a:rPr lang="zh-CN" altLang="en-US" sz="2400" dirty="0"/>
              <a:t>，则最大利润增加</a:t>
            </a:r>
            <a:r>
              <a:rPr lang="zh-CN" altLang="en-US" sz="2400" dirty="0">
                <a:solidFill>
                  <a:srgbClr val="FF0000"/>
                </a:solidFill>
              </a:rPr>
              <a:t> </a:t>
            </a:r>
            <a:r>
              <a:rPr lang="en-US" sz="2400" dirty="0">
                <a:solidFill>
                  <a:srgbClr val="FF0000"/>
                </a:solidFill>
              </a:rPr>
              <a:t>(    )  </a:t>
            </a:r>
            <a:r>
              <a:rPr lang="zh-CN" altLang="en-US" sz="2400" dirty="0">
                <a:solidFill>
                  <a:srgbClr val="000000"/>
                </a:solidFill>
              </a:rPr>
              <a:t>元。</a:t>
            </a:r>
            <a:endParaRPr 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6172200" y="3375329"/>
            <a:ext cx="5181600" cy="1251930"/>
          </a:xfrm>
          <a:prstGeom prst="rect">
            <a:avLst/>
          </a:prstGeom>
          <a:noFill/>
        </p:spPr>
      </p:pic>
      <p:pic>
        <p:nvPicPr>
          <p:cNvPr id="3" name="Picture 2" descr="Table&#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1" y="3249962"/>
            <a:ext cx="5181600" cy="1502664"/>
          </a:xfrm>
          <a:prstGeom prst="rect">
            <a:avLst/>
          </a:prstGeom>
          <a:noFill/>
        </p:spPr>
      </p:pic>
      <p:sp>
        <p:nvSpPr>
          <p:cNvPr id="4" name="矩形 3"/>
          <p:cNvSpPr/>
          <p:nvPr>
            <p:custDataLst>
              <p:tags r:id="rId4"/>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17" name="文本框 16"/>
          <p:cNvSpPr txBox="1"/>
          <p:nvPr>
            <p:custDataLst>
              <p:tags r:id="rId5"/>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a:t>
            </a:r>
            <a:endPar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文本框 17"/>
          <p:cNvSpPr txBox="1"/>
          <p:nvPr>
            <p:custDataLst>
              <p:tags r:id="rId6"/>
            </p:custDataLst>
          </p:nvPr>
        </p:nvSpPr>
        <p:spPr>
          <a:xfrm>
            <a:off x="12827000" y="1270000"/>
            <a:ext cx="3332480" cy="1323439"/>
          </a:xfrm>
          <a:prstGeom prst="rect">
            <a:avLst/>
          </a:prstGeom>
          <a:noFill/>
        </p:spPr>
        <p:txBody>
          <a:bodyPr vert="horz" rtlCol="0" anchor="t" anchorCtr="0">
            <a:spAutoFit/>
          </a:bodyPr>
          <a:lstStyle/>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因为原料</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的对偶价格</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0</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元，所以原料</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总量从</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400kg</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增加到</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500kg</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时，最大利润不会改变。</a:t>
            </a:r>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6" name="组合 15"/>
          <p:cNvGrpSpPr/>
          <p:nvPr>
            <p:custDataLst>
              <p:tags r:id="rId7"/>
            </p:custDataLst>
          </p:nvPr>
        </p:nvGrpSpPr>
        <p:grpSpPr>
          <a:xfrm>
            <a:off x="12585700" y="0"/>
            <a:ext cx="3815080" cy="647700"/>
            <a:chOff x="12585700" y="0"/>
            <a:chExt cx="3815080" cy="647700"/>
          </a:xfrm>
        </p:grpSpPr>
        <p:sp>
          <p:nvSpPr>
            <p:cNvPr id="5" name="RemarkBack"/>
            <p:cNvSpPr/>
            <p:nvPr>
              <p:custDataLst>
                <p:tags r:id="rId8"/>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markBlock"/>
            <p:cNvSpPr/>
            <p:nvPr>
              <p:custDataLst>
                <p:tags r:id="rId9"/>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markTitleText"/>
            <p:cNvSpPr txBox="1"/>
            <p:nvPr>
              <p:custDataLst>
                <p:tags r:id="rId10"/>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endPar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1" name="Group 10"/>
          <p:cNvGrpSpPr/>
          <p:nvPr>
            <p:custDataLst>
              <p:tags r:id="rId11"/>
            </p:custDataLst>
          </p:nvPr>
        </p:nvGrpSpPr>
        <p:grpSpPr>
          <a:xfrm>
            <a:off x="0" y="0"/>
            <a:ext cx="12192000" cy="635000"/>
            <a:chOff x="0" y="0"/>
            <a:chExt cx="12192000" cy="635000"/>
          </a:xfrm>
        </p:grpSpPr>
        <p:sp>
          <p:nvSpPr>
            <p:cNvPr id="7"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ja-JP"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ja-JP"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Tree>
    <p:custDataLst>
      <p:tags r:id="rId16"/>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请判断以下说法是否正确</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800" dirty="0"/>
                  <a:t>假设原料</a:t>
                </a:r>
                <a:r>
                  <a:rPr lang="en-US" altLang="zh-CN" sz="2800" dirty="0"/>
                  <a:t>A</a:t>
                </a:r>
                <a:r>
                  <a:rPr lang="zh-CN" altLang="en-US" sz="2800" dirty="0"/>
                  <a:t>和</a:t>
                </a:r>
                <a:r>
                  <a:rPr lang="en-US" altLang="zh-CN" sz="2800" dirty="0"/>
                  <a:t>B</a:t>
                </a:r>
                <a:r>
                  <a:rPr lang="zh-CN" altLang="en-US" sz="2800" dirty="0"/>
                  <a:t>的总量不变，台时总数从</a:t>
                </a:r>
                <a:r>
                  <a:rPr lang="en-US" altLang="zh-CN" sz="2800" dirty="0"/>
                  <a:t>300</a:t>
                </a:r>
                <a:r>
                  <a:rPr lang="zh-CN" altLang="en-US" sz="2800" dirty="0"/>
                  <a:t>上升到</a:t>
                </a:r>
                <a:r>
                  <a:rPr lang="en-US" altLang="zh-CN" sz="2800" dirty="0"/>
                  <a:t>350</a:t>
                </a:r>
                <a:r>
                  <a:rPr lang="zh-CN" altLang="en-US" sz="2800" dirty="0"/>
                  <a:t>，则最大利润为</a:t>
                </a:r>
                <a14:m>
                  <m:oMath xmlns:m="http://schemas.openxmlformats.org/officeDocument/2006/math">
                    <m:r>
                      <a:rPr lang="en-US" altLang="zh-CN" sz="2800" b="0" i="1" smtClean="0">
                        <a:latin typeface="Cambria Math" panose="02040503050406030204" pitchFamily="18" charset="0"/>
                      </a:rPr>
                      <m:t>27500</m:t>
                    </m:r>
                    <m:r>
                      <a:rPr lang="en-US" altLang="zh-CN" sz="2800" b="0" i="1" smtClean="0">
                        <a:latin typeface="Cambria Math" panose="02040503050406030204" pitchFamily="18" charset="0"/>
                      </a:rPr>
                      <m:t>+</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350</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300</m:t>
                        </m:r>
                      </m:e>
                    </m:d>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50</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30000</m:t>
                    </m:r>
                  </m:oMath>
                </a14:m>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9" name="TextBox 8"/>
              <p:cNvSpPr txBox="1">
                <a:spLocks noRot="1" noChangeAspect="1" noMove="1" noResize="1" noEditPoints="1" noAdjustHandles="1" noChangeArrowheads="1" noChangeShapeType="1" noTextEdit="1"/>
              </p:cNvSpPr>
              <p:nvPr>
                <p:custDataLst>
                  <p:tags r:id="rId2"/>
                </p:custDataLst>
              </p:nvPr>
            </p:nvSpPr>
            <p:spPr>
              <a:xfrm>
                <a:off x="1219200" y="635000"/>
                <a:ext cx="9753600" cy="2143125"/>
              </a:xfrm>
              <a:prstGeom prst="rect">
                <a:avLst/>
              </a:prstGeom>
              <a:blipFill rotWithShape="1">
                <a:blip r:embed="rId3"/>
                <a:stretch>
                  <a:fillRect/>
                </a:stretch>
              </a:blipFill>
            </p:spPr>
            <p:txBody>
              <a:bodyPr/>
              <a:lstStyle/>
              <a:p>
                <a:r>
                  <a:rPr lang="zh-CN" altLang="en-US">
                    <a:noFill/>
                  </a:rPr>
                  <a:t> </a:t>
                </a:r>
              </a:p>
            </p:txBody>
          </p:sp>
        </mc:Fallback>
      </mc:AlternateContent>
      <p:sp>
        <p:nvSpPr>
          <p:cNvPr id="10" name="TextBox 9"/>
          <p:cNvSpPr txBox="1"/>
          <p:nvPr>
            <p:custDataLst>
              <p:tags r:id="rId4"/>
            </p:custDataLst>
          </p:nvPr>
        </p:nvSpPr>
        <p:spPr>
          <a:xfrm>
            <a:off x="2438400" y="2786063"/>
            <a:ext cx="8534400" cy="642938"/>
          </a:xfrm>
          <a:prstGeom prst="rect">
            <a:avLst/>
          </a:prstGeom>
          <a:noFill/>
        </p:spPr>
        <p:txBody>
          <a:bodyPr vert="horz" rtlCol="0" anchor="ctr" anchorCtr="0">
            <a:noAutofit/>
          </a:bodyPr>
          <a:lstStyle/>
          <a:p>
            <a:r>
              <a:rPr lang="en-US" sz="2600"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正确</a:t>
            </a:r>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TextBox 10"/>
          <p:cNvSpPr txBox="1"/>
          <p:nvPr>
            <p:custDataLst>
              <p:tags r:id="rId5"/>
            </p:custDataLst>
          </p:nvPr>
        </p:nvSpPr>
        <p:spPr>
          <a:xfrm>
            <a:off x="2438400" y="3643313"/>
            <a:ext cx="8534400" cy="642938"/>
          </a:xfrm>
          <a:prstGeom prst="rect">
            <a:avLst/>
          </a:prstGeom>
          <a:noFill/>
        </p:spPr>
        <p:txBody>
          <a:bodyPr vert="horz"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错误</a:t>
            </a:r>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Oval 13"/>
          <p:cNvSpPr>
            <a:spLocks noChangeAspect="1"/>
          </p:cNvSpPr>
          <p:nvPr>
            <p:custDataLst>
              <p:tags r:id="rId6"/>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0" name="Picture 19"/>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a:off x="6455421" y="4532490"/>
            <a:ext cx="5181600" cy="1251930"/>
          </a:xfrm>
          <a:prstGeom prst="rect">
            <a:avLst/>
          </a:prstGeom>
          <a:noFill/>
        </p:spPr>
      </p:pic>
      <p:pic>
        <p:nvPicPr>
          <p:cNvPr id="21" name="Picture 20" descr="Table&#10;&#10;Description automatically generated"/>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1422" y="4407123"/>
            <a:ext cx="5181600" cy="1502664"/>
          </a:xfrm>
          <a:prstGeom prst="rect">
            <a:avLst/>
          </a:prstGeom>
          <a:noFill/>
        </p:spPr>
      </p:pic>
      <p:sp>
        <p:nvSpPr>
          <p:cNvPr id="2" name="矩形 1"/>
          <p:cNvSpPr/>
          <p:nvPr>
            <p:custDataLst>
              <p:tags r:id="rId9"/>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19" name="文本框 18"/>
          <p:cNvSpPr txBox="1"/>
          <p:nvPr>
            <p:custDataLst>
              <p:tags r:id="rId10"/>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a:t>
            </a:r>
            <a:endPar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7" name="组合 16"/>
          <p:cNvGrpSpPr/>
          <p:nvPr>
            <p:custDataLst>
              <p:tags r:id="rId11"/>
            </p:custDataLst>
          </p:nvPr>
        </p:nvGrpSpPr>
        <p:grpSpPr>
          <a:xfrm>
            <a:off x="12585700" y="0"/>
            <a:ext cx="3815080" cy="647700"/>
            <a:chOff x="12585700" y="0"/>
            <a:chExt cx="3815080" cy="647700"/>
          </a:xfrm>
        </p:grpSpPr>
        <p:sp>
          <p:nvSpPr>
            <p:cNvPr id="12" name="RemarkBack"/>
            <p:cNvSpPr/>
            <p:nvPr>
              <p:custDataLst>
                <p:tags r:id="rId12"/>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markBlock"/>
            <p:cNvSpPr/>
            <p:nvPr>
              <p:custDataLst>
                <p:tags r:id="rId13"/>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markTitleText"/>
            <p:cNvSpPr txBox="1"/>
            <p:nvPr>
              <p:custDataLst>
                <p:tags r:id="rId14"/>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endPar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3" name="文本框 22"/>
          <p:cNvSpPr txBox="1"/>
          <p:nvPr>
            <p:custDataLst>
              <p:tags r:id="rId15"/>
            </p:custDataLst>
          </p:nvPr>
        </p:nvSpPr>
        <p:spPr>
          <a:xfrm>
            <a:off x="12827000" y="1270000"/>
            <a:ext cx="3332480" cy="1631216"/>
          </a:xfrm>
          <a:prstGeom prst="rect">
            <a:avLst/>
          </a:prstGeom>
          <a:noFill/>
        </p:spPr>
        <p:txBody>
          <a:bodyPr vert="horz" rtlCol="0" anchor="t" anchorCtr="0">
            <a:spAutoFit/>
          </a:bodyPr>
          <a:lstStyle/>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因为台时总数变为</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350</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时，其大小以及超过了上限</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325</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，因此不能直接套用灵敏度公式。我们需要重新对最优解和最优值进行计算。</a:t>
            </a:r>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8" name="Group 7"/>
          <p:cNvGrpSpPr/>
          <p:nvPr>
            <p:custDataLst>
              <p:tags r:id="rId16"/>
            </p:custDataLst>
          </p:nvPr>
        </p:nvGrpSpPr>
        <p:grpSpPr>
          <a:xfrm>
            <a:off x="0" y="0"/>
            <a:ext cx="12192000" cy="635000"/>
            <a:chOff x="0" y="0"/>
            <a:chExt cx="12192000" cy="635000"/>
          </a:xfrm>
        </p:grpSpPr>
        <p:sp>
          <p:nvSpPr>
            <p:cNvPr id="4" name="TitleBackground"/>
            <p:cNvSpPr/>
            <p:nvPr>
              <p:custDataLst>
                <p:tags r:id="rId1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lorBlock"/>
            <p:cNvSpPr/>
            <p:nvPr>
              <p:custDataLst>
                <p:tags r:id="rId1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ypeText"/>
            <p:cNvSpPr txBox="1"/>
            <p:nvPr>
              <p:custDataLst>
                <p:tags r:id="rId19"/>
              </p:custDataLst>
            </p:nvPr>
          </p:nvSpPr>
          <p:spPr>
            <a:xfrm>
              <a:off x="254000" y="0"/>
              <a:ext cx="1905000" cy="635000"/>
            </a:xfrm>
            <a:prstGeom prst="rect">
              <a:avLst/>
            </a:prstGeom>
            <a:noFill/>
          </p:spPr>
          <p:txBody>
            <a:bodyPr vert="horz" wrap="none"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ipText"/>
            <p:cNvSpPr txBox="1"/>
            <p:nvPr>
              <p:custDataLst>
                <p:tags r:id="rId20"/>
              </p:custDataLst>
            </p:nvPr>
          </p:nvSpPr>
          <p:spPr>
            <a:xfrm>
              <a:off x="1525905" y="109220"/>
              <a:ext cx="2286000" cy="508000"/>
            </a:xfrm>
            <a:prstGeom prst="rect">
              <a:avLst/>
            </a:prstGeom>
            <a:noFill/>
          </p:spPr>
          <p:txBody>
            <a:bodyPr vert="horz" wrap="none" rtlCol="0" anchor="ctr" anchorCtr="0">
              <a:noAutofit/>
            </a:bodyPr>
            <a:lstStyle/>
            <a:p>
              <a:r>
                <a:rPr lang="en-US" altLang="ja-JP"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ja-JP"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2" name="Oval 13"/>
          <p:cNvSpPr>
            <a:spLocks noChangeAspect="1"/>
          </p:cNvSpPr>
          <p:nvPr>
            <p:custDataLst>
              <p:tags r:id="rId21"/>
            </p:custDataLst>
          </p:nvPr>
        </p:nvSpPr>
        <p:spPr>
          <a:xfrm>
            <a:off x="1565275" y="370633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p>
            <a:pPr algn="ctr"/>
            <a:r>
              <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22"/>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p:nvPr>
            </p:nvSpPr>
            <p:spPr/>
            <p:txBody>
              <a:bodyPr>
                <a:normAutofit fontScale="90000"/>
              </a:bodyPr>
              <a:lstStyle/>
              <a:p>
                <a:r>
                  <a:rPr lang="zh-CN" altLang="en-US" dirty="0">
                    <a:latin typeface="楷体" panose="02010609060101010101" pitchFamily="49" charset="-122"/>
                    <a:ea typeface="楷体" panose="02010609060101010101" pitchFamily="49" charset="-122"/>
                  </a:rPr>
                  <a:t>管理运筹学软件的输出分析 </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b</m:t>
                        </m:r>
                      </m:e>
                      <m:sub>
                        <m:r>
                          <a:rPr lang="en-US" altLang="zh-CN" i="1">
                            <a:latin typeface="Cambria Math" panose="02040503050406030204" pitchFamily="18" charset="0"/>
                          </a:rPr>
                          <m:t>𝑗</m:t>
                        </m:r>
                      </m:sub>
                    </m:sSub>
                  </m:oMath>
                </a14:m>
                <a:r>
                  <a:rPr lang="zh-CN" altLang="en-US" dirty="0">
                    <a:latin typeface="楷体" panose="02010609060101010101" pitchFamily="49" charset="-122"/>
                    <a:ea typeface="楷体" panose="02010609060101010101" pitchFamily="49" charset="-122"/>
                  </a:rPr>
                  <a:t>灵敏度分析 </a:t>
                </a:r>
                <a:endParaRPr lang="zh-CN" altLang="en-US" dirty="0">
                  <a:latin typeface="楷体" panose="02010609060101010101" pitchFamily="49" charset="-122"/>
                  <a:ea typeface="楷体" panose="02010609060101010101" pitchFamily="49" charset="-122"/>
                </a:endParaRPr>
              </a:p>
            </p:txBody>
          </p:sp>
        </mc:Choice>
        <mc:Fallback>
          <p:sp>
            <p:nvSpPr>
              <p:cNvPr id="2" name="标题 1"/>
              <p:cNvSpPr>
                <a:spLocks noRot="1" noChangeAspect="1" noMove="1" noResize="1" noEditPoints="1" noAdjustHandles="1" noChangeArrowheads="1" noChangeShapeType="1" noTextEdit="1"/>
              </p:cNvSpPr>
              <p:nvPr>
                <p:ph type="title"/>
              </p:nvPr>
            </p:nvSpPr>
            <p:spPr>
              <a:blipFill rotWithShape="1">
                <a:blip r:embed="rId1"/>
                <a:stretch>
                  <a:fillRect b="24"/>
                </a:stretch>
              </a:blipFill>
            </p:spPr>
            <p:txBody>
              <a:bodyPr/>
              <a:lstStyle/>
              <a:p>
                <a:r>
                  <a:rPr lang="zh-CN" altLang="en-US">
                    <a:noFill/>
                  </a:rPr>
                  <a:t> </a:t>
                </a:r>
              </a:p>
            </p:txBody>
          </p:sp>
        </mc:Fallback>
      </mc:AlternateContent>
      <p:sp>
        <p:nvSpPr>
          <p:cNvPr id="3" name="内容占位符 2"/>
          <p:cNvSpPr>
            <a:spLocks noGrp="1"/>
          </p:cNvSpPr>
          <p:nvPr>
            <p:ph idx="1"/>
          </p:nvPr>
        </p:nvSpPr>
        <p:spPr>
          <a:xfrm>
            <a:off x="838200" y="1825625"/>
            <a:ext cx="5948494" cy="4351338"/>
          </a:xfrm>
        </p:spPr>
        <p:txBody>
          <a:bodyPr/>
          <a:lstStyle/>
          <a:p>
            <a:r>
              <a:rPr lang="zh-CN" altLang="en-US" dirty="0">
                <a:latin typeface="楷体" panose="02010609060101010101" pitchFamily="49" charset="-122"/>
                <a:ea typeface="楷体" panose="02010609060101010101" pitchFamily="49" charset="-122"/>
              </a:rPr>
              <a:t>当台时总数变为</a:t>
            </a:r>
            <a:r>
              <a:rPr lang="en-US" altLang="zh-CN" dirty="0">
                <a:latin typeface="楷体" panose="02010609060101010101" pitchFamily="49" charset="-122"/>
                <a:ea typeface="楷体" panose="02010609060101010101" pitchFamily="49" charset="-122"/>
              </a:rPr>
              <a:t>350</a:t>
            </a:r>
            <a:r>
              <a:rPr lang="zh-CN" altLang="en-US" dirty="0">
                <a:latin typeface="楷体" panose="02010609060101010101" pitchFamily="49" charset="-122"/>
                <a:ea typeface="楷体" panose="02010609060101010101" pitchFamily="49" charset="-122"/>
              </a:rPr>
              <a:t>时，使用管理运筹学软件可以得到如下结果。</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最优解变为（</a:t>
            </a:r>
            <a:r>
              <a:rPr lang="en-US" altLang="zh-CN" dirty="0">
                <a:latin typeface="楷体" panose="02010609060101010101" pitchFamily="49" charset="-122"/>
                <a:ea typeface="楷体" panose="02010609060101010101" pitchFamily="49" charset="-122"/>
              </a:rPr>
              <a:t>75,250</a:t>
            </a:r>
            <a:r>
              <a:rPr lang="zh-CN" altLang="en-US" dirty="0">
                <a:latin typeface="楷体" panose="02010609060101010101" pitchFamily="49" charset="-122"/>
                <a:ea typeface="楷体" panose="02010609060101010101" pitchFamily="49" charset="-122"/>
              </a:rPr>
              <a:t>），最优值为</a:t>
            </a:r>
            <a:r>
              <a:rPr lang="en-US" altLang="zh-CN" dirty="0">
                <a:latin typeface="楷体" panose="02010609060101010101" pitchFamily="49" charset="-122"/>
                <a:ea typeface="楷体" panose="02010609060101010101" pitchFamily="49" charset="-122"/>
              </a:rPr>
              <a:t>28750</a:t>
            </a:r>
            <a:r>
              <a:rPr lang="zh-CN" altLang="en-US" dirty="0">
                <a:latin typeface="楷体" panose="02010609060101010101" pitchFamily="49" charset="-122"/>
                <a:ea typeface="楷体" panose="02010609060101010101" pitchFamily="49" charset="-122"/>
              </a:rPr>
              <a:t>，而不是</a:t>
            </a:r>
            <a:r>
              <a:rPr lang="en-US" altLang="zh-CN" dirty="0">
                <a:latin typeface="楷体" panose="02010609060101010101" pitchFamily="49" charset="-122"/>
                <a:ea typeface="楷体" panose="02010609060101010101" pitchFamily="49" charset="-122"/>
              </a:rPr>
              <a:t>30000</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2835" y="1904300"/>
            <a:ext cx="5269165" cy="367704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百分之一百法则</a:t>
            </a:r>
            <a:br>
              <a:rPr lang="zh-CN" altLang="en-US" dirty="0">
                <a:latin typeface="楷体" panose="02010609060101010101" pitchFamily="49" charset="-122"/>
                <a:ea typeface="楷体" panose="02010609060101010101" pitchFamily="49" charset="-122"/>
              </a:rPr>
            </a:b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前面所提到的灵敏度分析都基于一个重要的假设：</a:t>
            </a:r>
            <a:r>
              <a:rPr lang="zh-CN" altLang="en-US" dirty="0">
                <a:solidFill>
                  <a:srgbClr val="FF0000"/>
                </a:solidFill>
                <a:latin typeface="楷体" panose="02010609060101010101" pitchFamily="49" charset="-122"/>
                <a:ea typeface="楷体" panose="02010609060101010101" pitchFamily="49" charset="-122"/>
              </a:rPr>
              <a:t>当一个系数发生变化时，其他系数保持不变。</a:t>
            </a:r>
            <a:endParaRPr lang="en-US" altLang="zh-CN" dirty="0">
              <a:solidFill>
                <a:srgbClr val="FF0000"/>
              </a:solidFill>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如果当两个或更多的系数发生变化时，我们改如何进行灵敏度分析？最优值会如何变化？</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这种情况下可以使用百分之一百法则进行灵敏度分析。</a:t>
            </a: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百分之一百法则</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目标函数决策变量系数</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199" y="1825625"/>
                <a:ext cx="10428215" cy="4351338"/>
              </a:xfrm>
            </p:spPr>
            <p:txBody>
              <a:bodyPr>
                <a:normAutofit/>
              </a:bodyPr>
              <a:lstStyle/>
              <a:p>
                <a:r>
                  <a:rPr lang="zh-CN" altLang="en-US" dirty="0">
                    <a:latin typeface="楷体" panose="02010609060101010101" pitchFamily="49" charset="-122"/>
                    <a:ea typeface="楷体" panose="02010609060101010101" pitchFamily="49" charset="-122"/>
                  </a:rPr>
                  <a:t>目标函数决策变量系数的百分之一百法则：对于所有变化的目标函数决策变量系数，当其所</a:t>
                </a:r>
                <a:r>
                  <a:rPr lang="zh-CN" altLang="en-US" dirty="0">
                    <a:solidFill>
                      <a:srgbClr val="FF0000"/>
                    </a:solidFill>
                    <a:latin typeface="楷体" panose="02010609060101010101" pitchFamily="49" charset="-122"/>
                    <a:ea typeface="楷体" panose="02010609060101010101" pitchFamily="49" charset="-122"/>
                  </a:rPr>
                  <a:t>允许增加百分比</a:t>
                </a:r>
                <a:r>
                  <a:rPr lang="zh-CN" altLang="en-US" dirty="0">
                    <a:latin typeface="楷体" panose="02010609060101010101" pitchFamily="49" charset="-122"/>
                    <a:ea typeface="楷体" panose="02010609060101010101" pitchFamily="49" charset="-122"/>
                  </a:rPr>
                  <a:t>和</a:t>
                </a:r>
                <a:r>
                  <a:rPr lang="zh-CN" altLang="en-US" dirty="0">
                    <a:solidFill>
                      <a:srgbClr val="FF0000"/>
                    </a:solidFill>
                    <a:latin typeface="楷体" panose="02010609060101010101" pitchFamily="49" charset="-122"/>
                    <a:ea typeface="楷体" panose="02010609060101010101" pitchFamily="49" charset="-122"/>
                  </a:rPr>
                  <a:t>允许减少百分比</a:t>
                </a:r>
                <a:r>
                  <a:rPr lang="zh-CN" altLang="en-US" dirty="0">
                    <a:latin typeface="楷体" panose="02010609060101010101" pitchFamily="49" charset="-122"/>
                    <a:ea typeface="楷体" panose="02010609060101010101" pitchFamily="49" charset="-122"/>
                  </a:rPr>
                  <a:t>之和</a:t>
                </a:r>
                <a:r>
                  <a:rPr lang="zh-CN" altLang="en-US" dirty="0">
                    <a:solidFill>
                      <a:srgbClr val="FF0000"/>
                    </a:solidFill>
                    <a:latin typeface="楷体" panose="02010609060101010101" pitchFamily="49" charset="-122"/>
                    <a:ea typeface="楷体" panose="02010609060101010101" pitchFamily="49" charset="-122"/>
                  </a:rPr>
                  <a:t>不超过</a:t>
                </a:r>
                <a:r>
                  <a:rPr lang="zh-CN" altLang="en-US" dirty="0">
                    <a:latin typeface="楷体" panose="02010609060101010101" pitchFamily="49" charset="-122"/>
                    <a:ea typeface="楷体" panose="02010609060101010101" pitchFamily="49" charset="-122"/>
                  </a:rPr>
                  <a:t>百分之一百时，</a:t>
                </a:r>
                <a:r>
                  <a:rPr lang="zh-CN" altLang="en-US" dirty="0">
                    <a:solidFill>
                      <a:srgbClr val="FF0000"/>
                    </a:solidFill>
                    <a:latin typeface="楷体" panose="02010609060101010101" pitchFamily="49" charset="-122"/>
                    <a:ea typeface="楷体" panose="02010609060101010101" pitchFamily="49" charset="-122"/>
                  </a:rPr>
                  <a:t>最优解不变</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对于系数增加的部分，我们通过如下方式计算允许增加百分比：</a:t>
                </a:r>
                <a:endParaRPr lang="en-US" altLang="zh-CN" dirty="0">
                  <a:latin typeface="楷体" panose="02010609060101010101" pitchFamily="49" charset="-122"/>
                  <a:ea typeface="楷体" panose="02010609060101010101" pitchFamily="49" charset="-122"/>
                </a:endParaRPr>
              </a:p>
              <a:p>
                <a:pPr marL="0" indent="0">
                  <a:buNone/>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ea typeface="楷体" panose="02010609060101010101" pitchFamily="49" charset="-122"/>
                            </a:rPr>
                          </m:ctrlPr>
                        </m:fPr>
                        <m:num>
                          <m:r>
                            <a:rPr lang="zh-CN" altLang="en-US" i="1">
                              <a:latin typeface="Cambria Math" panose="02040503050406030204" pitchFamily="18" charset="0"/>
                              <a:ea typeface="楷体" panose="02010609060101010101" pitchFamily="49" charset="-122"/>
                            </a:rPr>
                            <m:t>变化后</m:t>
                          </m:r>
                          <m:r>
                            <a:rPr lang="zh-CN" altLang="en-US" i="1" smtClean="0">
                              <a:latin typeface="Cambria Math" panose="02040503050406030204" pitchFamily="18" charset="0"/>
                              <a:ea typeface="楷体" panose="02010609060101010101" pitchFamily="49" charset="-122"/>
                            </a:rPr>
                            <m:t>系数</m:t>
                          </m:r>
                          <m:r>
                            <a:rPr lang="en-US" altLang="zh-CN" b="0" i="1" smtClean="0">
                              <a:latin typeface="Cambria Math" panose="02040503050406030204" pitchFamily="18" charset="0"/>
                              <a:ea typeface="楷体" panose="02010609060101010101" pitchFamily="49" charset="-122"/>
                            </a:rPr>
                            <m:t>−</m:t>
                          </m:r>
                          <m:r>
                            <a:rPr lang="zh-CN" altLang="en-US" i="1">
                              <a:latin typeface="Cambria Math" panose="02040503050406030204" pitchFamily="18" charset="0"/>
                              <a:ea typeface="楷体" panose="02010609060101010101" pitchFamily="49" charset="-122"/>
                            </a:rPr>
                            <m:t>当前值</m:t>
                          </m:r>
                        </m:num>
                        <m:den>
                          <m:r>
                            <a:rPr lang="zh-CN" altLang="en-US" i="1">
                              <a:latin typeface="Cambria Math" panose="02040503050406030204" pitchFamily="18" charset="0"/>
                              <a:ea typeface="楷体" panose="02010609060101010101" pitchFamily="49" charset="-122"/>
                            </a:rPr>
                            <m:t>上限</m:t>
                          </m:r>
                          <m:r>
                            <a:rPr lang="en-US" altLang="zh-CN" b="0" i="1" smtClean="0">
                              <a:latin typeface="Cambria Math" panose="02040503050406030204" pitchFamily="18" charset="0"/>
                              <a:ea typeface="楷体" panose="02010609060101010101" pitchFamily="49" charset="-122"/>
                            </a:rPr>
                            <m:t>−</m:t>
                          </m:r>
                          <m:r>
                            <a:rPr lang="zh-CN" altLang="en-US" i="1">
                              <a:latin typeface="Cambria Math" panose="02040503050406030204" pitchFamily="18" charset="0"/>
                              <a:ea typeface="楷体" panose="02010609060101010101" pitchFamily="49" charset="-122"/>
                            </a:rPr>
                            <m:t>当前值</m:t>
                          </m:r>
                        </m:den>
                      </m:f>
                      <m:r>
                        <a:rPr lang="en-US" altLang="zh-CN" b="0" i="1" smtClean="0">
                          <a:latin typeface="Cambria Math" panose="02040503050406030204" pitchFamily="18" charset="0"/>
                          <a:ea typeface="楷体" panose="02010609060101010101" pitchFamily="49" charset="-122"/>
                        </a:rPr>
                        <m:t>×</m:t>
                      </m:r>
                      <m:r>
                        <a:rPr lang="en-US" altLang="zh-CN" b="0" i="1" smtClean="0">
                          <a:latin typeface="Cambria Math" panose="02040503050406030204" pitchFamily="18" charset="0"/>
                          <a:ea typeface="楷体" panose="02010609060101010101" pitchFamily="49" charset="-122"/>
                        </a:rPr>
                        <m:t>100</m:t>
                      </m:r>
                      <m:r>
                        <a:rPr lang="en-US" altLang="zh-CN" b="0" i="1" smtClean="0">
                          <a:latin typeface="Cambria Math" panose="02040503050406030204" pitchFamily="18" charset="0"/>
                          <a:ea typeface="楷体" panose="02010609060101010101" pitchFamily="49" charset="-122"/>
                        </a:rPr>
                        <m:t>%</m:t>
                      </m:r>
                    </m:oMath>
                  </m:oMathPara>
                </a14:m>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同理，对于系数减少的部分，我们定义允许减少的百分比为：</a:t>
                </a:r>
                <a:endParaRPr lang="en-US" altLang="zh-CN" dirty="0">
                  <a:latin typeface="楷体" panose="02010609060101010101" pitchFamily="49" charset="-122"/>
                  <a:ea typeface="楷体" panose="02010609060101010101" pitchFamily="49" charset="-122"/>
                </a:endParaRPr>
              </a:p>
              <a:p>
                <a:pPr marL="0" indent="0">
                  <a:buNone/>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ea typeface="楷体" panose="02010609060101010101" pitchFamily="49" charset="-122"/>
                            </a:rPr>
                          </m:ctrlPr>
                        </m:fPr>
                        <m:num>
                          <m:r>
                            <a:rPr lang="zh-CN" altLang="en-US" i="1">
                              <a:latin typeface="Cambria Math" panose="02040503050406030204" pitchFamily="18" charset="0"/>
                              <a:ea typeface="楷体" panose="02010609060101010101" pitchFamily="49" charset="-122"/>
                            </a:rPr>
                            <m:t>当前值</m:t>
                          </m:r>
                          <m:r>
                            <a:rPr lang="en-US" altLang="zh-CN" b="0" i="1" smtClean="0">
                              <a:latin typeface="Cambria Math" panose="02040503050406030204" pitchFamily="18" charset="0"/>
                              <a:ea typeface="楷体" panose="02010609060101010101" pitchFamily="49" charset="-122"/>
                            </a:rPr>
                            <m:t>−</m:t>
                          </m:r>
                          <m:r>
                            <a:rPr lang="zh-CN" altLang="en-US" i="1">
                              <a:latin typeface="Cambria Math" panose="02040503050406030204" pitchFamily="18" charset="0"/>
                              <a:ea typeface="楷体" panose="02010609060101010101" pitchFamily="49" charset="-122"/>
                            </a:rPr>
                            <m:t>变化后</m:t>
                          </m:r>
                          <m:r>
                            <a:rPr lang="zh-CN" altLang="en-US" i="1" smtClean="0">
                              <a:latin typeface="Cambria Math" panose="02040503050406030204" pitchFamily="18" charset="0"/>
                              <a:ea typeface="楷体" panose="02010609060101010101" pitchFamily="49" charset="-122"/>
                            </a:rPr>
                            <m:t>系数</m:t>
                          </m:r>
                        </m:num>
                        <m:den>
                          <m:r>
                            <a:rPr lang="zh-CN" altLang="en-US" i="1">
                              <a:latin typeface="Cambria Math" panose="02040503050406030204" pitchFamily="18" charset="0"/>
                              <a:ea typeface="楷体" panose="02010609060101010101" pitchFamily="49" charset="-122"/>
                            </a:rPr>
                            <m:t>当前值</m:t>
                          </m:r>
                          <m:r>
                            <a:rPr lang="en-US" altLang="zh-CN" b="0" i="1" smtClean="0">
                              <a:latin typeface="Cambria Math" panose="02040503050406030204" pitchFamily="18" charset="0"/>
                              <a:ea typeface="楷体" panose="02010609060101010101" pitchFamily="49" charset="-122"/>
                            </a:rPr>
                            <m:t>−</m:t>
                          </m:r>
                          <m:r>
                            <a:rPr lang="zh-CN" altLang="en-US" i="1">
                              <a:latin typeface="Cambria Math" panose="02040503050406030204" pitchFamily="18" charset="0"/>
                              <a:ea typeface="楷体" panose="02010609060101010101" pitchFamily="49" charset="-122"/>
                            </a:rPr>
                            <m:t>下限</m:t>
                          </m:r>
                        </m:den>
                      </m:f>
                      <m:r>
                        <a:rPr lang="en-US" altLang="zh-CN" b="0" i="1" smtClean="0">
                          <a:latin typeface="Cambria Math" panose="02040503050406030204" pitchFamily="18" charset="0"/>
                          <a:ea typeface="楷体" panose="02010609060101010101" pitchFamily="49" charset="-122"/>
                        </a:rPr>
                        <m:t>×</m:t>
                      </m:r>
                      <m:r>
                        <a:rPr lang="en-US" altLang="zh-CN" b="0" i="1" smtClean="0">
                          <a:latin typeface="Cambria Math" panose="02040503050406030204" pitchFamily="18" charset="0"/>
                          <a:ea typeface="楷体" panose="02010609060101010101" pitchFamily="49" charset="-122"/>
                        </a:rPr>
                        <m:t>100</m:t>
                      </m:r>
                      <m:r>
                        <a:rPr lang="en-US" altLang="zh-CN" b="0" i="1" smtClean="0">
                          <a:latin typeface="Cambria Math" panose="02040503050406030204" pitchFamily="18" charset="0"/>
                          <a:ea typeface="楷体" panose="02010609060101010101" pitchFamily="49" charset="-122"/>
                        </a:rPr>
                        <m:t>%</m:t>
                      </m:r>
                    </m:oMath>
                  </m:oMathPara>
                </a14:m>
                <a:endParaRPr lang="zh-CN" altLang="en-US" dirty="0">
                  <a:latin typeface="楷体" panose="02010609060101010101" pitchFamily="49" charset="-122"/>
                  <a:ea typeface="楷体" panose="02010609060101010101" pitchFamily="49"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199" y="1825625"/>
                <a:ext cx="10428215" cy="4351338"/>
              </a:xfrm>
              <a:blipFill rotWithShape="1">
                <a:blip r:embed="rId1"/>
                <a:stretch>
                  <a:fillRect l="-6" r="2" b="7"/>
                </a:stretch>
              </a:blipFill>
            </p:spPr>
            <p:txBody>
              <a:bodyPr/>
              <a:lstStyle/>
              <a:p>
                <a:r>
                  <a:rPr lang="zh-CN"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百分之一百法则</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目标函数决策变量系数</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838199" y="1825625"/>
            <a:ext cx="10515599" cy="4351338"/>
          </a:xfrm>
        </p:spPr>
        <p:txBody>
          <a:bodyPr>
            <a:normAutofit/>
          </a:bodyPr>
          <a:lstStyle/>
          <a:p>
            <a:pPr marL="0" indent="0">
              <a:buNone/>
            </a:pPr>
            <a:r>
              <a:rPr lang="zh-CN" altLang="en-US" dirty="0">
                <a:latin typeface="楷体" panose="02010609060101010101" pitchFamily="49" charset="-122"/>
                <a:ea typeface="楷体" panose="02010609060101010101" pitchFamily="49" charset="-122"/>
              </a:rPr>
              <a:t>例</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中，假设产品</a:t>
            </a:r>
            <a:r>
              <a:rPr lang="en-US" altLang="zh-CN" dirty="0">
                <a:latin typeface="楷体" panose="02010609060101010101" pitchFamily="49" charset="-122"/>
                <a:ea typeface="楷体" panose="02010609060101010101" pitchFamily="49" charset="-122"/>
              </a:rPr>
              <a:t>I</a:t>
            </a:r>
            <a:r>
              <a:rPr lang="zh-CN" altLang="en-US" dirty="0">
                <a:latin typeface="楷体" panose="02010609060101010101" pitchFamily="49" charset="-122"/>
                <a:ea typeface="楷体" panose="02010609060101010101" pitchFamily="49" charset="-122"/>
              </a:rPr>
              <a:t>和</a:t>
            </a:r>
            <a:r>
              <a:rPr lang="en-US" altLang="zh-CN" dirty="0">
                <a:latin typeface="楷体" panose="02010609060101010101" pitchFamily="49" charset="-122"/>
                <a:ea typeface="楷体" panose="02010609060101010101" pitchFamily="49" charset="-122"/>
              </a:rPr>
              <a:t>II</a:t>
            </a:r>
            <a:r>
              <a:rPr lang="zh-CN" altLang="en-US" dirty="0">
                <a:latin typeface="楷体" panose="02010609060101010101" pitchFamily="49" charset="-122"/>
                <a:ea typeface="楷体" panose="02010609060101010101" pitchFamily="49" charset="-122"/>
              </a:rPr>
              <a:t>的价格分别变为</a:t>
            </a:r>
            <a:r>
              <a:rPr lang="en-US" altLang="zh-CN" dirty="0">
                <a:latin typeface="楷体" panose="02010609060101010101" pitchFamily="49" charset="-122"/>
                <a:ea typeface="楷体" panose="02010609060101010101" pitchFamily="49" charset="-122"/>
              </a:rPr>
              <a:t>74</a:t>
            </a:r>
            <a:r>
              <a:rPr lang="zh-CN" altLang="en-US" dirty="0">
                <a:latin typeface="楷体" panose="02010609060101010101" pitchFamily="49" charset="-122"/>
                <a:ea typeface="楷体" panose="02010609060101010101" pitchFamily="49" charset="-122"/>
              </a:rPr>
              <a:t>元和</a:t>
            </a:r>
            <a:r>
              <a:rPr lang="en-US" altLang="zh-CN" dirty="0">
                <a:latin typeface="楷体" panose="02010609060101010101" pitchFamily="49" charset="-122"/>
                <a:ea typeface="楷体" panose="02010609060101010101" pitchFamily="49" charset="-122"/>
              </a:rPr>
              <a:t>78</a:t>
            </a:r>
            <a:r>
              <a:rPr lang="zh-CN" altLang="en-US" dirty="0">
                <a:latin typeface="楷体" panose="02010609060101010101" pitchFamily="49" charset="-122"/>
                <a:ea typeface="楷体" panose="02010609060101010101" pitchFamily="49" charset="-122"/>
              </a:rPr>
              <a:t>元，那么这个线性函数的最优解发生变化了吗？此时最优值是多少？</a:t>
            </a:r>
            <a:endParaRPr lang="en-US" altLang="zh-CN"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pic>
        <p:nvPicPr>
          <p:cNvPr id="6" name="Picture 6"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738458" y="3504406"/>
            <a:ext cx="4313338" cy="1139952"/>
          </a:xfrm>
          <a:prstGeom prst="rect">
            <a:avLst/>
          </a:prstGeom>
          <a:noFill/>
        </p:spPr>
      </p:pic>
      <p:sp>
        <p:nvSpPr>
          <p:cNvPr id="4" name="星形: 五角 5"/>
          <p:cNvSpPr/>
          <p:nvPr/>
        </p:nvSpPr>
        <p:spPr>
          <a:xfrm>
            <a:off x="10749793" y="788819"/>
            <a:ext cx="604007" cy="478173"/>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楷体" panose="02010609060101010101" pitchFamily="49" charset="-122"/>
                <a:ea typeface="楷体" panose="02010609060101010101" pitchFamily="49" charset="-122"/>
              </a:rPr>
              <a:t>1</a:t>
            </a:r>
            <a:endParaRPr lang="zh-CN" altLang="en-US" dirty="0">
              <a:latin typeface="楷体" panose="02010609060101010101" pitchFamily="49" charset="-122"/>
              <a:ea typeface="楷体" panose="02010609060101010101" pitchFamily="49" charset="-122"/>
            </a:endParaRPr>
          </a:p>
        </p:txBody>
      </p:sp>
      <p:pic>
        <p:nvPicPr>
          <p:cNvPr id="5" name="Picture 5" descr="A picture containing 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547" y="3426682"/>
            <a:ext cx="5346700" cy="12954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百分之一百法则</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约束条件中常数项</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838199" y="1825625"/>
            <a:ext cx="10515599" cy="4351338"/>
          </a:xfrm>
        </p:spPr>
        <p:txBody>
          <a:bodyPr>
            <a:normAutofit/>
          </a:bodyPr>
          <a:lstStyle/>
          <a:p>
            <a:pPr marL="0" indent="0">
              <a:buNone/>
            </a:pPr>
            <a:r>
              <a:rPr lang="zh-CN" altLang="en-US" sz="3400" dirty="0">
                <a:latin typeface="楷体" panose="02010609060101010101" pitchFamily="49" charset="-122"/>
                <a:ea typeface="楷体" panose="02010609060101010101" pitchFamily="49" charset="-122"/>
              </a:rPr>
              <a:t>对于所有变化的约束条件中的常数项，当其所有允许增加百分比和允许减少百分比之和</a:t>
            </a:r>
            <a:r>
              <a:rPr lang="zh-CN" altLang="en-US" sz="3400" dirty="0">
                <a:solidFill>
                  <a:srgbClr val="FF0000"/>
                </a:solidFill>
                <a:latin typeface="楷体" panose="02010609060101010101" pitchFamily="49" charset="-122"/>
                <a:ea typeface="楷体" panose="02010609060101010101" pitchFamily="49" charset="-122"/>
              </a:rPr>
              <a:t>不超过</a:t>
            </a:r>
            <a:r>
              <a:rPr lang="zh-CN" altLang="en-US" sz="3400" dirty="0">
                <a:latin typeface="楷体" panose="02010609060101010101" pitchFamily="49" charset="-122"/>
                <a:ea typeface="楷体" panose="02010609060101010101" pitchFamily="49" charset="-122"/>
              </a:rPr>
              <a:t>百分之一百时，</a:t>
            </a:r>
            <a:r>
              <a:rPr lang="zh-CN" altLang="en-US" sz="3400" dirty="0">
                <a:solidFill>
                  <a:srgbClr val="FF0000"/>
                </a:solidFill>
                <a:latin typeface="楷体" panose="02010609060101010101" pitchFamily="49" charset="-122"/>
                <a:ea typeface="楷体" panose="02010609060101010101" pitchFamily="49" charset="-122"/>
              </a:rPr>
              <a:t>其对偶价格不变</a:t>
            </a:r>
            <a:r>
              <a:rPr lang="zh-CN" altLang="en-US" sz="3400" dirty="0">
                <a:latin typeface="楷体" panose="02010609060101010101" pitchFamily="49" charset="-122"/>
                <a:ea typeface="楷体" panose="02010609060101010101" pitchFamily="49" charset="-122"/>
              </a:rPr>
              <a:t>。</a:t>
            </a:r>
            <a:endParaRPr lang="en-US" altLang="zh-CN" sz="3400"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百分之一百法则</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约束条件中常数项</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838199" y="1825625"/>
            <a:ext cx="10515599" cy="4351338"/>
          </a:xfrm>
        </p:spPr>
        <p:txBody>
          <a:bodyPr>
            <a:normAutofit/>
          </a:bodyPr>
          <a:lstStyle/>
          <a:p>
            <a:pPr marL="0" indent="0">
              <a:buNone/>
            </a:pPr>
            <a:r>
              <a:rPr lang="zh-CN" altLang="en-US" sz="3400" dirty="0">
                <a:latin typeface="楷体" panose="02010609060101010101" pitchFamily="49" charset="-122"/>
                <a:ea typeface="楷体" panose="02010609060101010101" pitchFamily="49" charset="-122"/>
              </a:rPr>
              <a:t>例</a:t>
            </a:r>
            <a:r>
              <a:rPr lang="en-US" altLang="zh-CN" sz="3400" dirty="0">
                <a:latin typeface="楷体" panose="02010609060101010101" pitchFamily="49" charset="-122"/>
                <a:ea typeface="楷体" panose="02010609060101010101" pitchFamily="49" charset="-122"/>
              </a:rPr>
              <a:t>1</a:t>
            </a:r>
            <a:r>
              <a:rPr lang="zh-CN" altLang="en-US" sz="3400" dirty="0">
                <a:latin typeface="楷体" panose="02010609060101010101" pitchFamily="49" charset="-122"/>
                <a:ea typeface="楷体" panose="02010609060101010101" pitchFamily="49" charset="-122"/>
              </a:rPr>
              <a:t>中，假设总台时数，原料</a:t>
            </a:r>
            <a:r>
              <a:rPr lang="en-US" altLang="zh-CN" sz="3400" dirty="0">
                <a:latin typeface="楷体" panose="02010609060101010101" pitchFamily="49" charset="-122"/>
                <a:ea typeface="楷体" panose="02010609060101010101" pitchFamily="49" charset="-122"/>
              </a:rPr>
              <a:t>A</a:t>
            </a:r>
            <a:r>
              <a:rPr lang="zh-CN" altLang="en-US" sz="3400" dirty="0">
                <a:latin typeface="楷体" panose="02010609060101010101" pitchFamily="49" charset="-122"/>
                <a:ea typeface="楷体" panose="02010609060101010101" pitchFamily="49" charset="-122"/>
              </a:rPr>
              <a:t>和原料</a:t>
            </a:r>
            <a:r>
              <a:rPr lang="en-US" altLang="zh-CN" sz="3400" dirty="0">
                <a:latin typeface="楷体" panose="02010609060101010101" pitchFamily="49" charset="-122"/>
                <a:ea typeface="楷体" panose="02010609060101010101" pitchFamily="49" charset="-122"/>
              </a:rPr>
              <a:t>B</a:t>
            </a:r>
            <a:r>
              <a:rPr lang="zh-CN" altLang="en-US" sz="3400" dirty="0">
                <a:latin typeface="楷体" panose="02010609060101010101" pitchFamily="49" charset="-122"/>
                <a:ea typeface="楷体" panose="02010609060101010101" pitchFamily="49" charset="-122"/>
              </a:rPr>
              <a:t>的总量分别变为</a:t>
            </a:r>
            <a:r>
              <a:rPr lang="en-US" altLang="zh-CN" sz="3400" dirty="0">
                <a:latin typeface="楷体" panose="02010609060101010101" pitchFamily="49" charset="-122"/>
                <a:ea typeface="楷体" panose="02010609060101010101" pitchFamily="49" charset="-122"/>
              </a:rPr>
              <a:t>315</a:t>
            </a:r>
            <a:r>
              <a:rPr lang="zh-CN" altLang="en-US" sz="3400" dirty="0">
                <a:latin typeface="楷体" panose="02010609060101010101" pitchFamily="49" charset="-122"/>
                <a:ea typeface="楷体" panose="02010609060101010101" pitchFamily="49" charset="-122"/>
              </a:rPr>
              <a:t>台，</a:t>
            </a:r>
            <a:r>
              <a:rPr lang="en-US" altLang="zh-CN" sz="3400" dirty="0">
                <a:latin typeface="楷体" panose="02010609060101010101" pitchFamily="49" charset="-122"/>
                <a:ea typeface="楷体" panose="02010609060101010101" pitchFamily="49" charset="-122"/>
              </a:rPr>
              <a:t>390kg</a:t>
            </a:r>
            <a:r>
              <a:rPr lang="zh-CN" altLang="en-US" sz="3400" dirty="0">
                <a:latin typeface="楷体" panose="02010609060101010101" pitchFamily="49" charset="-122"/>
                <a:ea typeface="楷体" panose="02010609060101010101" pitchFamily="49" charset="-122"/>
              </a:rPr>
              <a:t>和</a:t>
            </a:r>
            <a:r>
              <a:rPr lang="en-US" altLang="zh-CN" sz="3400" dirty="0">
                <a:latin typeface="楷体" panose="02010609060101010101" pitchFamily="49" charset="-122"/>
                <a:ea typeface="楷体" panose="02010609060101010101" pitchFamily="49" charset="-122"/>
              </a:rPr>
              <a:t>240kg</a:t>
            </a:r>
            <a:r>
              <a:rPr lang="zh-CN" altLang="en-US" sz="3400" dirty="0">
                <a:latin typeface="楷体" panose="02010609060101010101" pitchFamily="49" charset="-122"/>
                <a:ea typeface="楷体" panose="02010609060101010101" pitchFamily="49" charset="-122"/>
              </a:rPr>
              <a:t>时，那么这个线性规划的对偶价格发生变化了吗？此时最优值变化的大小是多少？</a:t>
            </a:r>
            <a:endParaRPr lang="zh-CN" altLang="en-US" dirty="0">
              <a:latin typeface="楷体" panose="02010609060101010101" pitchFamily="49" charset="-122"/>
              <a:ea typeface="楷体" panose="02010609060101010101" pitchFamily="49" charset="-122"/>
            </a:endParaRPr>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1605988" y="3670490"/>
            <a:ext cx="4422405" cy="1251930"/>
          </a:xfrm>
          <a:prstGeom prst="rect">
            <a:avLst/>
          </a:prstGeom>
          <a:noFill/>
        </p:spPr>
      </p:pic>
      <p:sp>
        <p:nvSpPr>
          <p:cNvPr id="4" name="星形: 五角 5"/>
          <p:cNvSpPr/>
          <p:nvPr/>
        </p:nvSpPr>
        <p:spPr>
          <a:xfrm>
            <a:off x="9672705" y="788820"/>
            <a:ext cx="604007" cy="478173"/>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楷体" panose="02010609060101010101" pitchFamily="49" charset="-122"/>
                <a:ea typeface="楷体" panose="02010609060101010101" pitchFamily="49" charset="-122"/>
              </a:rPr>
              <a:t>2</a:t>
            </a:r>
            <a:endParaRPr lang="zh-CN" altLang="en-US" dirty="0">
              <a:latin typeface="楷体" panose="02010609060101010101" pitchFamily="49" charset="-122"/>
              <a:ea typeface="楷体" panose="02010609060101010101" pitchFamily="49" charset="-122"/>
            </a:endParaRPr>
          </a:p>
        </p:txBody>
      </p:sp>
      <p:pic>
        <p:nvPicPr>
          <p:cNvPr id="5" name="Picture 20" descr="Table&#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1653" y="3670490"/>
            <a:ext cx="5181600" cy="1502664"/>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百分之一百法则</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使用百分之一百法则进行灵敏度分析时需要注意一下三点：</a:t>
                </a:r>
                <a:endParaRPr lang="en-US" altLang="zh-CN" dirty="0">
                  <a:latin typeface="楷体" panose="02010609060101010101" pitchFamily="49" charset="-122"/>
                  <a:ea typeface="楷体" panose="02010609060101010101" pitchFamily="49" charset="-122"/>
                </a:endParaRPr>
              </a:p>
              <a:p>
                <a:pPr marL="514350" indent="-514350">
                  <a:buFont typeface="+mj-lt"/>
                  <a:buAutoNum type="arabicPeriod"/>
                </a:pPr>
                <a:r>
                  <a:rPr lang="zh-CN" altLang="en-US" dirty="0">
                    <a:latin typeface="楷体" panose="02010609060101010101" pitchFamily="49" charset="-122"/>
                    <a:ea typeface="楷体" panose="02010609060101010101" pitchFamily="49" charset="-122"/>
                  </a:rPr>
                  <a:t>当允许增加量（减少量）为无穷大时，则对于任一个增加量（减少量），其允许增加（减少）百分比都看成零。</a:t>
                </a:r>
                <a:endParaRPr lang="en-US" altLang="zh-CN" dirty="0">
                  <a:latin typeface="楷体" panose="02010609060101010101" pitchFamily="49" charset="-122"/>
                  <a:ea typeface="楷体" panose="02010609060101010101" pitchFamily="49" charset="-122"/>
                </a:endParaRPr>
              </a:p>
              <a:p>
                <a:pPr marL="514350" indent="-514350">
                  <a:buFont typeface="+mj-lt"/>
                  <a:buAutoNum type="arabicPeriod"/>
                </a:pPr>
                <a:r>
                  <a:rPr lang="zh-CN" altLang="en-US" dirty="0">
                    <a:latin typeface="楷体" panose="02010609060101010101" pitchFamily="49" charset="-122"/>
                    <a:ea typeface="楷体" panose="02010609060101010101" pitchFamily="49" charset="-122"/>
                  </a:rPr>
                  <a:t>百分之一百法则是判断最优解或对偶价格变化的充分不必要条件：</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百分比之和</a:t>
                </a:r>
                <a14:m>
                  <m:oMath xmlns:m="http://schemas.openxmlformats.org/officeDocument/2006/math">
                    <m:r>
                      <a:rPr lang="en-US" altLang="zh-CN" b="0" i="1" smtClean="0">
                        <a:solidFill>
                          <a:srgbClr val="FF0000"/>
                        </a:solidFill>
                        <a:latin typeface="Cambria Math" panose="02040503050406030204" pitchFamily="18" charset="0"/>
                      </a:rPr>
                      <m:t>≤</m:t>
                    </m:r>
                  </m:oMath>
                </a14:m>
                <a:r>
                  <a:rPr lang="en-US" altLang="zh-CN" dirty="0">
                    <a:latin typeface="楷体" panose="02010609060101010101" pitchFamily="49" charset="-122"/>
                    <a:ea typeface="楷体" panose="02010609060101010101" pitchFamily="49" charset="-122"/>
                  </a:rPr>
                  <a:t>100% =&gt; </a:t>
                </a:r>
                <a:r>
                  <a:rPr lang="zh-CN" altLang="en-US" dirty="0">
                    <a:latin typeface="楷体" panose="02010609060101010101" pitchFamily="49" charset="-122"/>
                    <a:ea typeface="楷体" panose="02010609060101010101" pitchFamily="49" charset="-122"/>
                  </a:rPr>
                  <a:t>最优解或对偶价格</a:t>
                </a:r>
                <a:r>
                  <a:rPr lang="zh-CN" altLang="en-US" dirty="0">
                    <a:solidFill>
                      <a:srgbClr val="FF0000"/>
                    </a:solidFill>
                    <a:latin typeface="楷体" panose="02010609060101010101" pitchFamily="49" charset="-122"/>
                    <a:ea typeface="楷体" panose="02010609060101010101" pitchFamily="49" charset="-122"/>
                  </a:rPr>
                  <a:t>不变</a:t>
                </a:r>
                <a:endParaRPr lang="en-US" altLang="zh-CN" dirty="0">
                  <a:solidFill>
                    <a:srgbClr val="FF0000"/>
                  </a:solidFill>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百分比之和</a:t>
                </a:r>
                <a:r>
                  <a:rPr lang="en-US" altLang="zh-CN" dirty="0">
                    <a:solidFill>
                      <a:srgbClr val="FF0000"/>
                    </a:solidFill>
                    <a:latin typeface="楷体" panose="02010609060101010101" pitchFamily="49" charset="-122"/>
                    <a:ea typeface="楷体" panose="02010609060101010101" pitchFamily="49" charset="-122"/>
                  </a:rPr>
                  <a:t>&gt;</a:t>
                </a:r>
                <a:r>
                  <a:rPr lang="en-US" altLang="zh-CN" dirty="0">
                    <a:latin typeface="楷体" panose="02010609060101010101" pitchFamily="49" charset="-122"/>
                    <a:ea typeface="楷体" panose="02010609060101010101" pitchFamily="49" charset="-122"/>
                  </a:rPr>
                  <a:t>100% =&gt;</a:t>
                </a:r>
                <a:r>
                  <a:rPr lang="zh-CN" altLang="en-US" dirty="0">
                    <a:latin typeface="楷体" panose="02010609060101010101" pitchFamily="49" charset="-122"/>
                    <a:ea typeface="楷体" panose="02010609060101010101" pitchFamily="49" charset="-122"/>
                  </a:rPr>
                  <a:t>最优解或对偶价格</a:t>
                </a:r>
                <a:r>
                  <a:rPr lang="zh-CN" altLang="en-US" dirty="0">
                    <a:solidFill>
                      <a:srgbClr val="FF0000"/>
                    </a:solidFill>
                    <a:latin typeface="楷体" panose="02010609060101010101" pitchFamily="49" charset="-122"/>
                    <a:ea typeface="楷体" panose="02010609060101010101" pitchFamily="49" charset="-122"/>
                  </a:rPr>
                  <a:t>可变可不变</a:t>
                </a:r>
                <a:endParaRPr lang="en-US" altLang="zh-CN" dirty="0">
                  <a:solidFill>
                    <a:srgbClr val="FF0000"/>
                  </a:solidFill>
                  <a:latin typeface="楷体" panose="02010609060101010101" pitchFamily="49" charset="-122"/>
                  <a:ea typeface="楷体" panose="02010609060101010101" pitchFamily="49" charset="-122"/>
                </a:endParaRPr>
              </a:p>
              <a:p>
                <a:pPr marL="514350" indent="-514350">
                  <a:buFont typeface="+mj-lt"/>
                  <a:buAutoNum type="arabicPeriod"/>
                </a:pPr>
                <a:r>
                  <a:rPr lang="zh-CN" altLang="en-US" dirty="0">
                    <a:latin typeface="楷体" panose="02010609060101010101" pitchFamily="49" charset="-122"/>
                    <a:ea typeface="楷体" panose="02010609060101010101" pitchFamily="49" charset="-122"/>
                  </a:rPr>
                  <a:t>百分之一百法则不能用于决策变量系数和约束条件中常数项同时变化的情况</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如遇到这种情况，只能重新求最优解或对偶价格</a:t>
                </a:r>
                <a:endParaRPr lang="en-US" altLang="zh-CN" dirty="0">
                  <a:latin typeface="楷体" panose="02010609060101010101" pitchFamily="49" charset="-122"/>
                  <a:ea typeface="楷体" panose="02010609060101010101" pitchFamily="49" charset="-122"/>
                </a:endParaRPr>
              </a:p>
              <a:p>
                <a:pPr marL="514350" indent="-514350">
                  <a:buFont typeface="+mj-lt"/>
                  <a:buAutoNum type="arabicPeriod"/>
                </a:pPr>
                <a:endParaRPr lang="zh-CN" altLang="en-US" dirty="0">
                  <a:latin typeface="楷体" panose="02010609060101010101" pitchFamily="49" charset="-122"/>
                  <a:ea typeface="楷体" panose="02010609060101010101" pitchFamily="49"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10295"/>
                </a:stretch>
              </a:blipFill>
            </p:spPr>
            <p:txBody>
              <a:bodyPr/>
              <a:lstStyle/>
              <a:p>
                <a:r>
                  <a:rPr lang="zh-CN"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ea typeface="楷体" panose="02010609060101010101" pitchFamily="49" charset="-122"/>
                <a:cs typeface="Times New Roman" panose="02020603050405020304" pitchFamily="18" charset="0"/>
              </a:rPr>
              <a:t>随堂练习</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a:t>
            </a:r>
            <a:r>
              <a:rPr lang="en-US" dirty="0">
                <a:latin typeface="Times New Roman" panose="02020603050405020304" pitchFamily="18" charset="0"/>
                <a:ea typeface="楷体" panose="02010609060101010101" pitchFamily="49" charset="-122"/>
                <a:cs typeface="Times New Roman" panose="02020603050405020304" pitchFamily="18" charset="0"/>
              </a:rPr>
              <a:t>题目</a:t>
            </a:r>
            <a:r>
              <a:rPr lang="zh-CN" altLang="en-US"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 例</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zh-CN" altLang="en-US" dirty="0">
                <a:latin typeface="Times New Roman" panose="02020603050405020304" pitchFamily="18" charset="0"/>
                <a:ea typeface="楷体" panose="02010609060101010101" pitchFamily="49" charset="-122"/>
                <a:cs typeface="Times New Roman" panose="02020603050405020304" pitchFamily="18" charset="0"/>
              </a:rPr>
              <a:t>目标函数：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min Z=2x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+3x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dirty="0">
                <a:latin typeface="Times New Roman" panose="02020603050405020304" pitchFamily="18" charset="0"/>
                <a:ea typeface="楷体" panose="02010609060101010101" pitchFamily="49" charset="-122"/>
                <a:cs typeface="Times New Roman" panose="02020603050405020304" pitchFamily="18" charset="0"/>
              </a:rPr>
              <a:t>    约束条件：    </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457200" lvl="1" indent="0">
              <a:buNone/>
            </a:pPr>
            <a:r>
              <a:rPr lang="en-US" altLang="zh-CN"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≥350</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457200" lvl="1" indent="0">
              <a:buNone/>
            </a:pPr>
            <a:r>
              <a:rPr lang="en-US" altLang="zh-CN"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≥125</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457200" lvl="1" indent="0">
              <a:buNone/>
            </a:pPr>
            <a:r>
              <a:rPr lang="en-US" altLang="zh-CN" dirty="0">
                <a:latin typeface="Times New Roman" panose="02020603050405020304" pitchFamily="18" charset="0"/>
                <a:ea typeface="楷体" panose="02010609060101010101" pitchFamily="49" charset="-122"/>
                <a:cs typeface="Times New Roman" panose="02020603050405020304" pitchFamily="18" charset="0"/>
              </a:rPr>
              <a:t>2x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≤600</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457200" lvl="1" indent="0">
              <a:buNone/>
            </a:pPr>
            <a:r>
              <a:rPr lang="en-US" altLang="zh-CN"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≥0. </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p>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Rectangle 3"/>
          <p:cNvSpPr/>
          <p:nvPr/>
        </p:nvSpPr>
        <p:spPr>
          <a:xfrm>
            <a:off x="5996198" y="2646096"/>
            <a:ext cx="3673784" cy="23143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楷体" panose="02010609060101010101" pitchFamily="49" charset="-122"/>
                <a:ea typeface="楷体" panose="02010609060101010101" pitchFamily="49" charset="-122"/>
              </a:rPr>
              <a:t>复习题</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marL="342900" indent="-342900" algn="ctr">
              <a:buFont typeface="+mj-lt"/>
              <a:buAutoNum type="arabicPeriod"/>
            </a:pPr>
            <a:r>
              <a:rPr lang="zh-CN" altLang="en-US" dirty="0">
                <a:latin typeface="楷体" panose="02010609060101010101" pitchFamily="49" charset="-122"/>
                <a:ea typeface="楷体" panose="02010609060101010101" pitchFamily="49" charset="-122"/>
              </a:rPr>
              <a:t>例</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中分别有几个剩余</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松弛变量？对应的约束条件是哪个？</a:t>
            </a:r>
            <a:endParaRPr lang="en-US" altLang="zh-CN" dirty="0">
              <a:latin typeface="楷体" panose="02010609060101010101" pitchFamily="49" charset="-122"/>
              <a:ea typeface="楷体" panose="02010609060101010101" pitchFamily="49" charset="-122"/>
            </a:endParaRPr>
          </a:p>
          <a:p>
            <a:pPr marL="342900" indent="-342900" algn="ctr">
              <a:buFont typeface="+mj-lt"/>
              <a:buAutoNum type="arabicPeriod"/>
            </a:pPr>
            <a:r>
              <a:rPr lang="zh-CN" altLang="en-US" dirty="0">
                <a:latin typeface="楷体" panose="02010609060101010101" pitchFamily="49" charset="-122"/>
                <a:ea typeface="楷体" panose="02010609060101010101" pitchFamily="49" charset="-122"/>
              </a:rPr>
              <a:t>请写出例</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的标准形式</a:t>
            </a:r>
            <a:endParaRPr lang="en-US" dirty="0">
              <a:latin typeface="楷体" panose="02010609060101010101" pitchFamily="49" charset="-122"/>
              <a:ea typeface="楷体" panose="02010609060101010101"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随堂练习</a:t>
            </a:r>
            <a:r>
              <a:rPr lang="en-US" altLang="zh-CN" dirty="0">
                <a:latin typeface="楷体" panose="02010609060101010101" pitchFamily="49" charset="-122"/>
                <a:ea typeface="楷体" panose="02010609060101010101" pitchFamily="49" charset="-122"/>
              </a:rPr>
              <a:t>1</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838200" y="1825625"/>
            <a:ext cx="5914938" cy="4351338"/>
          </a:xfrm>
        </p:spPr>
        <p:txBody>
          <a:bodyPr>
            <a:normAutofit fontScale="62500" lnSpcReduction="20000"/>
          </a:bodyPr>
          <a:lstStyle/>
          <a:p>
            <a:pPr marL="0" indent="0">
              <a:lnSpc>
                <a:spcPct val="120000"/>
              </a:lnSpc>
              <a:buNone/>
            </a:pPr>
            <a:r>
              <a:rPr lang="zh-CN" altLang="en-US" dirty="0">
                <a:latin typeface="楷体" panose="02010609060101010101" pitchFamily="49" charset="-122"/>
                <a:ea typeface="楷体" panose="02010609060101010101" pitchFamily="49" charset="-122"/>
              </a:rPr>
              <a:t>右图为例</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的计算机求解结果，请根据该结果回答一下问题：</a:t>
            </a:r>
            <a:endParaRPr lang="en-US" altLang="zh-CN" dirty="0">
              <a:latin typeface="楷体" panose="02010609060101010101" pitchFamily="49" charset="-122"/>
              <a:ea typeface="楷体" panose="02010609060101010101" pitchFamily="49" charset="-122"/>
            </a:endParaRPr>
          </a:p>
          <a:p>
            <a:pPr marL="514350" indent="-514350">
              <a:lnSpc>
                <a:spcPct val="120000"/>
              </a:lnSpc>
              <a:buFont typeface="+mj-lt"/>
              <a:buAutoNum type="arabicPeriod"/>
            </a:pPr>
            <a:r>
              <a:rPr lang="zh-CN" altLang="en-US" dirty="0">
                <a:latin typeface="楷体" panose="02010609060101010101" pitchFamily="49" charset="-122"/>
                <a:ea typeface="楷体" panose="02010609060101010101" pitchFamily="49" charset="-122"/>
              </a:rPr>
              <a:t>最优解，最优值，松弛</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剩余变量各是多少？</a:t>
            </a:r>
            <a:endParaRPr lang="en-US" altLang="zh-CN" dirty="0">
              <a:latin typeface="楷体" panose="02010609060101010101" pitchFamily="49" charset="-122"/>
              <a:ea typeface="楷体" panose="02010609060101010101" pitchFamily="49" charset="-122"/>
            </a:endParaRPr>
          </a:p>
          <a:p>
            <a:pPr marL="514350" indent="-514350">
              <a:lnSpc>
                <a:spcPct val="120000"/>
              </a:lnSpc>
              <a:buFont typeface="+mj-lt"/>
              <a:buAutoNum type="arabicPeriod"/>
            </a:pPr>
            <a:r>
              <a:rPr lang="zh-CN" altLang="en-US" dirty="0">
                <a:latin typeface="楷体" panose="02010609060101010101" pitchFamily="49" charset="-122"/>
                <a:ea typeface="楷体" panose="02010609060101010101" pitchFamily="49" charset="-122"/>
              </a:rPr>
              <a:t>如果把加工时数（约束条件</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）从</a:t>
            </a:r>
            <a:r>
              <a:rPr lang="en-US" altLang="zh-CN" dirty="0">
                <a:latin typeface="楷体" panose="02010609060101010101" pitchFamily="49" charset="-122"/>
                <a:ea typeface="楷体" panose="02010609060101010101" pitchFamily="49" charset="-122"/>
              </a:rPr>
              <a:t>600h</a:t>
            </a:r>
            <a:r>
              <a:rPr lang="zh-CN" altLang="en-US" dirty="0">
                <a:latin typeface="楷体" panose="02010609060101010101" pitchFamily="49" charset="-122"/>
                <a:ea typeface="楷体" panose="02010609060101010101" pitchFamily="49" charset="-122"/>
              </a:rPr>
              <a:t>提高到</a:t>
            </a:r>
            <a:r>
              <a:rPr lang="en-US" altLang="zh-CN" dirty="0">
                <a:latin typeface="楷体" panose="02010609060101010101" pitchFamily="49" charset="-122"/>
                <a:ea typeface="楷体" panose="02010609060101010101" pitchFamily="49" charset="-122"/>
              </a:rPr>
              <a:t>601h</a:t>
            </a:r>
            <a:r>
              <a:rPr lang="zh-CN" altLang="en-US" dirty="0">
                <a:latin typeface="楷体" panose="02010609060101010101" pitchFamily="49" charset="-122"/>
                <a:ea typeface="楷体" panose="02010609060101010101" pitchFamily="49" charset="-122"/>
              </a:rPr>
              <a:t>，总成本将如何变化？</a:t>
            </a:r>
            <a:endParaRPr lang="en-US" altLang="zh-CN" dirty="0">
              <a:latin typeface="楷体" panose="02010609060101010101" pitchFamily="49" charset="-122"/>
              <a:ea typeface="楷体" panose="02010609060101010101" pitchFamily="49" charset="-122"/>
            </a:endParaRPr>
          </a:p>
          <a:p>
            <a:pPr marL="514350" indent="-514350">
              <a:lnSpc>
                <a:spcPct val="120000"/>
              </a:lnSpc>
              <a:buFont typeface="+mj-lt"/>
              <a:buAutoNum type="arabicPeriod"/>
            </a:pPr>
            <a:r>
              <a:rPr lang="zh-CN" altLang="en-US" dirty="0">
                <a:latin typeface="楷体" panose="02010609060101010101" pitchFamily="49" charset="-122"/>
                <a:ea typeface="楷体" panose="02010609060101010101" pitchFamily="49" charset="-122"/>
              </a:rPr>
              <a:t>如果原料</a:t>
            </a:r>
            <a:r>
              <a:rPr lang="en-US" altLang="zh-CN" dirty="0">
                <a:latin typeface="楷体" panose="02010609060101010101" pitchFamily="49" charset="-122"/>
                <a:ea typeface="楷体" panose="02010609060101010101" pitchFamily="49" charset="-122"/>
              </a:rPr>
              <a:t>A</a:t>
            </a:r>
            <a:r>
              <a:rPr lang="zh-CN" altLang="en-US" dirty="0">
                <a:latin typeface="楷体" panose="02010609060101010101" pitchFamily="49" charset="-122"/>
                <a:ea typeface="楷体" panose="02010609060101010101" pitchFamily="49" charset="-122"/>
              </a:rPr>
              <a:t>和</a:t>
            </a:r>
            <a:r>
              <a:rPr lang="en-US" altLang="zh-CN" dirty="0">
                <a:latin typeface="楷体" panose="02010609060101010101" pitchFamily="49" charset="-122"/>
                <a:ea typeface="楷体" panose="02010609060101010101" pitchFamily="49" charset="-122"/>
              </a:rPr>
              <a:t>B</a:t>
            </a:r>
            <a:r>
              <a:rPr lang="zh-CN" altLang="en-US" dirty="0">
                <a:latin typeface="楷体" panose="02010609060101010101" pitchFamily="49" charset="-122"/>
                <a:ea typeface="楷体" panose="02010609060101010101" pitchFamily="49" charset="-122"/>
              </a:rPr>
              <a:t>总量的下限（约束条件</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）从</a:t>
            </a:r>
            <a:r>
              <a:rPr lang="en-US" altLang="zh-CN" dirty="0">
                <a:latin typeface="楷体" panose="02010609060101010101" pitchFamily="49" charset="-122"/>
                <a:ea typeface="楷体" panose="02010609060101010101" pitchFamily="49" charset="-122"/>
              </a:rPr>
              <a:t>350t</a:t>
            </a:r>
            <a:r>
              <a:rPr lang="zh-CN" altLang="en-US" dirty="0">
                <a:latin typeface="楷体" panose="02010609060101010101" pitchFamily="49" charset="-122"/>
                <a:ea typeface="楷体" panose="02010609060101010101" pitchFamily="49" charset="-122"/>
              </a:rPr>
              <a:t>增加至</a:t>
            </a:r>
            <a:r>
              <a:rPr lang="en-US" altLang="zh-CN" dirty="0">
                <a:latin typeface="楷体" panose="02010609060101010101" pitchFamily="49" charset="-122"/>
                <a:ea typeface="楷体" panose="02010609060101010101" pitchFamily="49" charset="-122"/>
              </a:rPr>
              <a:t>351t</a:t>
            </a:r>
            <a:r>
              <a:rPr lang="zh-CN" altLang="en-US" dirty="0">
                <a:latin typeface="楷体" panose="02010609060101010101" pitchFamily="49" charset="-122"/>
                <a:ea typeface="楷体" panose="02010609060101010101" pitchFamily="49" charset="-122"/>
              </a:rPr>
              <a:t>，总成本将如何变化？从</a:t>
            </a:r>
            <a:r>
              <a:rPr lang="en-US" altLang="zh-CN" dirty="0">
                <a:latin typeface="楷体" panose="02010609060101010101" pitchFamily="49" charset="-122"/>
                <a:ea typeface="楷体" panose="02010609060101010101" pitchFamily="49" charset="-122"/>
              </a:rPr>
              <a:t>350t</a:t>
            </a:r>
            <a:r>
              <a:rPr lang="zh-CN" altLang="en-US" dirty="0">
                <a:latin typeface="楷体" panose="02010609060101010101" pitchFamily="49" charset="-122"/>
                <a:ea typeface="楷体" panose="02010609060101010101" pitchFamily="49" charset="-122"/>
              </a:rPr>
              <a:t>减少至</a:t>
            </a:r>
            <a:r>
              <a:rPr lang="en-US" altLang="zh-CN" dirty="0">
                <a:latin typeface="楷体" panose="02010609060101010101" pitchFamily="49" charset="-122"/>
                <a:ea typeface="楷体" panose="02010609060101010101" pitchFamily="49" charset="-122"/>
              </a:rPr>
              <a:t>349t</a:t>
            </a:r>
            <a:r>
              <a:rPr lang="zh-CN" altLang="en-US" dirty="0">
                <a:latin typeface="楷体" panose="02010609060101010101" pitchFamily="49" charset="-122"/>
                <a:ea typeface="楷体" panose="02010609060101010101" pitchFamily="49" charset="-122"/>
              </a:rPr>
              <a:t>，总成本将如何变化？</a:t>
            </a:r>
            <a:endParaRPr lang="en-US" altLang="zh-CN" dirty="0">
              <a:latin typeface="楷体" panose="02010609060101010101" pitchFamily="49" charset="-122"/>
              <a:ea typeface="楷体" panose="02010609060101010101" pitchFamily="49" charset="-122"/>
            </a:endParaRPr>
          </a:p>
          <a:p>
            <a:pPr marL="514350" indent="-514350">
              <a:lnSpc>
                <a:spcPct val="120000"/>
              </a:lnSpc>
              <a:buFont typeface="+mj-lt"/>
              <a:buAutoNum type="arabicPeriod"/>
            </a:pPr>
            <a:r>
              <a:rPr lang="zh-CN" altLang="en-US" dirty="0">
                <a:latin typeface="楷体" panose="02010609060101010101" pitchFamily="49" charset="-122"/>
                <a:ea typeface="楷体" panose="02010609060101010101" pitchFamily="49" charset="-122"/>
              </a:rPr>
              <a:t>如果原料</a:t>
            </a:r>
            <a:r>
              <a:rPr lang="en-US" altLang="zh-CN" dirty="0">
                <a:latin typeface="楷体" panose="02010609060101010101" pitchFamily="49" charset="-122"/>
                <a:ea typeface="楷体" panose="02010609060101010101" pitchFamily="49" charset="-122"/>
              </a:rPr>
              <a:t>A</a:t>
            </a:r>
            <a:r>
              <a:rPr lang="zh-CN" altLang="en-US" dirty="0">
                <a:latin typeface="楷体" panose="02010609060101010101" pitchFamily="49" charset="-122"/>
                <a:ea typeface="楷体" panose="02010609060101010101" pitchFamily="49" charset="-122"/>
              </a:rPr>
              <a:t>和</a:t>
            </a:r>
            <a:r>
              <a:rPr lang="en-US" altLang="zh-CN" dirty="0">
                <a:latin typeface="楷体" panose="02010609060101010101" pitchFamily="49" charset="-122"/>
                <a:ea typeface="楷体" panose="02010609060101010101" pitchFamily="49" charset="-122"/>
              </a:rPr>
              <a:t>B</a:t>
            </a:r>
            <a:r>
              <a:rPr lang="zh-CN" altLang="en-US" dirty="0">
                <a:latin typeface="楷体" panose="02010609060101010101" pitchFamily="49" charset="-122"/>
                <a:ea typeface="楷体" panose="02010609060101010101" pitchFamily="49" charset="-122"/>
              </a:rPr>
              <a:t>的价格从</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和</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变为</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和</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，最低成本是多少？</a:t>
            </a:r>
            <a:endParaRPr lang="en-US" altLang="zh-CN" dirty="0">
              <a:latin typeface="楷体" panose="02010609060101010101" pitchFamily="49" charset="-122"/>
              <a:ea typeface="楷体" panose="02010609060101010101" pitchFamily="49" charset="-122"/>
            </a:endParaRPr>
          </a:p>
          <a:p>
            <a:pPr marL="514350" indent="-514350">
              <a:lnSpc>
                <a:spcPct val="120000"/>
              </a:lnSpc>
              <a:buFont typeface="+mj-lt"/>
              <a:buAutoNum type="arabicPeriod"/>
            </a:pPr>
            <a:r>
              <a:rPr lang="zh-CN" altLang="en-US" dirty="0">
                <a:latin typeface="楷体" panose="02010609060101010101" pitchFamily="49" charset="-122"/>
                <a:ea typeface="楷体" panose="02010609060101010101" pitchFamily="49" charset="-122"/>
              </a:rPr>
              <a:t>如果总资源需求（约束条件</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A</a:t>
            </a:r>
            <a:r>
              <a:rPr lang="zh-CN" altLang="en-US" dirty="0">
                <a:latin typeface="楷体" panose="02010609060101010101" pitchFamily="49" charset="-122"/>
                <a:ea typeface="楷体" panose="02010609060101010101" pitchFamily="49" charset="-122"/>
              </a:rPr>
              <a:t>的最低需求（约束条件</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），和时间限制（约束条件</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）分别变为</a:t>
            </a:r>
            <a:r>
              <a:rPr lang="en-US" altLang="zh-CN" dirty="0">
                <a:latin typeface="楷体" panose="02010609060101010101" pitchFamily="49" charset="-122"/>
                <a:ea typeface="楷体" panose="02010609060101010101" pitchFamily="49" charset="-122"/>
              </a:rPr>
              <a:t>360</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130</a:t>
            </a:r>
            <a:r>
              <a:rPr lang="zh-CN" altLang="en-US" dirty="0">
                <a:latin typeface="楷体" panose="02010609060101010101" pitchFamily="49" charset="-122"/>
                <a:ea typeface="楷体" panose="02010609060101010101" pitchFamily="49" charset="-122"/>
              </a:rPr>
              <a:t>，和</a:t>
            </a:r>
            <a:r>
              <a:rPr lang="en-US" altLang="zh-CN" dirty="0">
                <a:latin typeface="楷体" panose="02010609060101010101" pitchFamily="49" charset="-122"/>
                <a:ea typeface="楷体" panose="02010609060101010101" pitchFamily="49" charset="-122"/>
              </a:rPr>
              <a:t>650</a:t>
            </a:r>
            <a:r>
              <a:rPr lang="zh-CN" altLang="en-US" dirty="0">
                <a:latin typeface="楷体" panose="02010609060101010101" pitchFamily="49" charset="-122"/>
                <a:ea typeface="楷体" panose="02010609060101010101" pitchFamily="49" charset="-122"/>
              </a:rPr>
              <a:t>，最低成本是多少？</a:t>
            </a:r>
            <a:endParaRPr lang="en-US" altLang="zh-CN" dirty="0">
              <a:latin typeface="楷体" panose="02010609060101010101" pitchFamily="49" charset="-122"/>
              <a:ea typeface="楷体" panose="02010609060101010101" pitchFamily="49" charset="-122"/>
            </a:endParaRPr>
          </a:p>
          <a:p>
            <a:pPr>
              <a:lnSpc>
                <a:spcPct val="120000"/>
              </a:lnSpc>
            </a:pPr>
            <a:endParaRPr lang="en-US" altLang="zh-CN" dirty="0">
              <a:latin typeface="楷体" panose="02010609060101010101" pitchFamily="49" charset="-122"/>
              <a:ea typeface="楷体" panose="02010609060101010101" pitchFamily="49" charset="-122"/>
            </a:endParaRPr>
          </a:p>
          <a:p>
            <a:pPr>
              <a:lnSpc>
                <a:spcPct val="120000"/>
              </a:lnSpc>
            </a:pPr>
            <a:endParaRPr lang="zh-CN" altLang="en-US" dirty="0">
              <a:latin typeface="楷体" panose="02010609060101010101" pitchFamily="49" charset="-122"/>
              <a:ea typeface="楷体" panose="02010609060101010101" pitchFamily="49" charset="-122"/>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753138" y="1690688"/>
            <a:ext cx="5308250" cy="3665825"/>
          </a:xfrm>
          <a:prstGeom prst="rect">
            <a:avLst/>
          </a:prstGeom>
        </p:spPr>
      </p:pic>
      <p:sp>
        <p:nvSpPr>
          <p:cNvPr id="6" name="星形: 五角 5"/>
          <p:cNvSpPr/>
          <p:nvPr/>
        </p:nvSpPr>
        <p:spPr>
          <a:xfrm>
            <a:off x="3649211" y="796954"/>
            <a:ext cx="604007" cy="478173"/>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楷体" panose="02010609060101010101" pitchFamily="49" charset="-122"/>
                <a:ea typeface="楷体" panose="02010609060101010101" pitchFamily="49" charset="-122"/>
              </a:rPr>
              <a:t>3</a:t>
            </a: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注意：对偶价格与影子价格</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838200" y="1825625"/>
            <a:ext cx="10668000" cy="4351655"/>
          </a:xfrm>
        </p:spPr>
        <p:txBody>
          <a:bodyPr>
            <a:normAutofit/>
          </a:bodyPr>
          <a:lstStyle/>
          <a:p>
            <a:pPr>
              <a:lnSpc>
                <a:spcPct val="120000"/>
              </a:lnSpc>
            </a:pPr>
            <a:r>
              <a:rPr lang="zh-CN" altLang="en-US" dirty="0">
                <a:latin typeface="楷体" panose="02010609060101010101" pitchFamily="49" charset="-122"/>
                <a:ea typeface="楷体" panose="02010609060101010101" pitchFamily="49" charset="-122"/>
              </a:rPr>
              <a:t>影子价格：当约束条件中的常数项增加一单位时，最优目标函数数值</a:t>
            </a:r>
            <a:r>
              <a:rPr lang="zh-CN" altLang="en-US" dirty="0">
                <a:solidFill>
                  <a:srgbClr val="FF0000"/>
                </a:solidFill>
                <a:latin typeface="楷体" panose="02010609060101010101" pitchFamily="49" charset="-122"/>
                <a:ea typeface="楷体" panose="02010609060101010101" pitchFamily="49" charset="-122"/>
              </a:rPr>
              <a:t>增加</a:t>
            </a:r>
            <a:r>
              <a:rPr lang="zh-CN" altLang="en-US" dirty="0">
                <a:latin typeface="楷体" panose="02010609060101010101" pitchFamily="49" charset="-122"/>
                <a:ea typeface="楷体" panose="02010609060101010101" pitchFamily="49" charset="-122"/>
              </a:rPr>
              <a:t>的数量。</a:t>
            </a:r>
            <a:endParaRPr lang="zh-CN" altLang="en-US" dirty="0">
              <a:latin typeface="楷体" panose="02010609060101010101" pitchFamily="49" charset="-122"/>
              <a:ea typeface="楷体" panose="02010609060101010101" pitchFamily="49" charset="-122"/>
            </a:endParaRPr>
          </a:p>
          <a:p>
            <a:pPr>
              <a:lnSpc>
                <a:spcPct val="120000"/>
              </a:lnSpc>
            </a:pPr>
            <a:r>
              <a:rPr lang="zh-CN" altLang="en-US" dirty="0">
                <a:latin typeface="楷体" panose="02010609060101010101" pitchFamily="49" charset="-122"/>
                <a:ea typeface="楷体" panose="02010609060101010101" pitchFamily="49" charset="-122"/>
              </a:rPr>
              <a:t>对偶价格：</a:t>
            </a:r>
            <a:r>
              <a:rPr lang="zh-CN" altLang="en-US" dirty="0">
                <a:latin typeface="楷体" panose="02010609060101010101" pitchFamily="49" charset="-122"/>
                <a:ea typeface="楷体" panose="02010609060101010101" pitchFamily="49" charset="-122"/>
                <a:sym typeface="+mn-ea"/>
              </a:rPr>
              <a:t>当约束条件中的常数项增加一单位时，最优目标函数数值</a:t>
            </a:r>
            <a:r>
              <a:rPr lang="zh-CN" altLang="en-US" dirty="0">
                <a:solidFill>
                  <a:srgbClr val="FF0000"/>
                </a:solidFill>
                <a:latin typeface="楷体" panose="02010609060101010101" pitchFamily="49" charset="-122"/>
                <a:ea typeface="楷体" panose="02010609060101010101" pitchFamily="49" charset="-122"/>
                <a:sym typeface="+mn-ea"/>
              </a:rPr>
              <a:t>改进</a:t>
            </a:r>
            <a:r>
              <a:rPr lang="zh-CN" altLang="en-US" dirty="0">
                <a:latin typeface="楷体" panose="02010609060101010101" pitchFamily="49" charset="-122"/>
                <a:ea typeface="楷体" panose="02010609060101010101" pitchFamily="49" charset="-122"/>
                <a:sym typeface="+mn-ea"/>
              </a:rPr>
              <a:t>的数量。</a:t>
            </a:r>
            <a:endParaRPr lang="zh-CN" altLang="en-US" dirty="0">
              <a:latin typeface="楷体" panose="02010609060101010101" pitchFamily="49" charset="-122"/>
              <a:ea typeface="楷体" panose="02010609060101010101" pitchFamily="49" charset="-122"/>
              <a:sym typeface="+mn-ea"/>
            </a:endParaRPr>
          </a:p>
          <a:p>
            <a:pPr>
              <a:lnSpc>
                <a:spcPct val="120000"/>
              </a:lnSpc>
            </a:pPr>
            <a:r>
              <a:rPr lang="zh-CN" altLang="en-US" dirty="0">
                <a:latin typeface="楷体" panose="02010609060101010101" pitchFamily="49" charset="-122"/>
                <a:ea typeface="楷体" panose="02010609060101010101" pitchFamily="49" charset="-122"/>
                <a:sym typeface="+mn-ea"/>
              </a:rPr>
              <a:t>当求目标函数的</a:t>
            </a:r>
            <a:r>
              <a:rPr lang="zh-CN" altLang="en-US" dirty="0">
                <a:solidFill>
                  <a:srgbClr val="FF0000"/>
                </a:solidFill>
                <a:latin typeface="楷体" panose="02010609060101010101" pitchFamily="49" charset="-122"/>
                <a:ea typeface="楷体" panose="02010609060101010101" pitchFamily="49" charset="-122"/>
                <a:sym typeface="+mn-ea"/>
              </a:rPr>
              <a:t>最大值</a:t>
            </a:r>
            <a:r>
              <a:rPr lang="zh-CN" altLang="en-US" dirty="0">
                <a:latin typeface="楷体" panose="02010609060101010101" pitchFamily="49" charset="-122"/>
                <a:ea typeface="楷体" panose="02010609060101010101" pitchFamily="49" charset="-122"/>
                <a:sym typeface="+mn-ea"/>
              </a:rPr>
              <a:t>时，增加的数量就是</a:t>
            </a:r>
            <a:r>
              <a:rPr lang="zh-CN" altLang="en-US" dirty="0">
                <a:solidFill>
                  <a:srgbClr val="FF0000"/>
                </a:solidFill>
                <a:latin typeface="楷体" panose="02010609060101010101" pitchFamily="49" charset="-122"/>
                <a:ea typeface="楷体" panose="02010609060101010101" pitchFamily="49" charset="-122"/>
                <a:sym typeface="+mn-ea"/>
              </a:rPr>
              <a:t>改进</a:t>
            </a:r>
            <a:r>
              <a:rPr lang="zh-CN" altLang="en-US" dirty="0">
                <a:latin typeface="楷体" panose="02010609060101010101" pitchFamily="49" charset="-122"/>
                <a:ea typeface="楷体" panose="02010609060101010101" pitchFamily="49" charset="-122"/>
                <a:sym typeface="+mn-ea"/>
              </a:rPr>
              <a:t>的数量，所以影子价格</a:t>
            </a:r>
            <a:r>
              <a:rPr lang="zh-CN" altLang="en-US" dirty="0">
                <a:solidFill>
                  <a:srgbClr val="FF0000"/>
                </a:solidFill>
                <a:latin typeface="楷体" panose="02010609060101010101" pitchFamily="49" charset="-122"/>
                <a:ea typeface="楷体" panose="02010609060101010101" pitchFamily="49" charset="-122"/>
                <a:sym typeface="+mn-ea"/>
              </a:rPr>
              <a:t>等于</a:t>
            </a:r>
            <a:r>
              <a:rPr lang="zh-CN" altLang="en-US" dirty="0">
                <a:latin typeface="楷体" panose="02010609060101010101" pitchFamily="49" charset="-122"/>
                <a:ea typeface="楷体" panose="02010609060101010101" pitchFamily="49" charset="-122"/>
                <a:sym typeface="+mn-ea"/>
              </a:rPr>
              <a:t>对偶价格；当求目标函数的</a:t>
            </a:r>
            <a:r>
              <a:rPr lang="zh-CN" altLang="en-US" dirty="0">
                <a:solidFill>
                  <a:srgbClr val="FF0000"/>
                </a:solidFill>
                <a:latin typeface="楷体" panose="02010609060101010101" pitchFamily="49" charset="-122"/>
                <a:ea typeface="楷体" panose="02010609060101010101" pitchFamily="49" charset="-122"/>
                <a:sym typeface="+mn-ea"/>
              </a:rPr>
              <a:t>最小值</a:t>
            </a:r>
            <a:r>
              <a:rPr lang="zh-CN" altLang="en-US" dirty="0">
                <a:latin typeface="楷体" panose="02010609060101010101" pitchFamily="49" charset="-122"/>
                <a:ea typeface="楷体" panose="02010609060101010101" pitchFamily="49" charset="-122"/>
                <a:sym typeface="+mn-ea"/>
              </a:rPr>
              <a:t>时，改进的数量应该是</a:t>
            </a:r>
            <a:r>
              <a:rPr lang="zh-CN" altLang="en-US" dirty="0">
                <a:solidFill>
                  <a:srgbClr val="FF0000"/>
                </a:solidFill>
                <a:latin typeface="楷体" panose="02010609060101010101" pitchFamily="49" charset="-122"/>
                <a:ea typeface="楷体" panose="02010609060101010101" pitchFamily="49" charset="-122"/>
                <a:sym typeface="+mn-ea"/>
              </a:rPr>
              <a:t>减少</a:t>
            </a:r>
            <a:r>
              <a:rPr lang="en-US" altLang="zh-CN" dirty="0">
                <a:latin typeface="楷体" panose="02010609060101010101" pitchFamily="49" charset="-122"/>
                <a:ea typeface="楷体" panose="02010609060101010101" pitchFamily="49" charset="-122"/>
                <a:sym typeface="+mn-ea"/>
              </a:rPr>
              <a:t>的数量，所以影子价格</a:t>
            </a:r>
            <a:r>
              <a:rPr lang="en-US" altLang="zh-CN" dirty="0">
                <a:solidFill>
                  <a:srgbClr val="FF0000"/>
                </a:solidFill>
                <a:latin typeface="楷体" panose="02010609060101010101" pitchFamily="49" charset="-122"/>
                <a:ea typeface="楷体" panose="02010609060101010101" pitchFamily="49" charset="-122"/>
                <a:sym typeface="+mn-ea"/>
              </a:rPr>
              <a:t>等于负的</a:t>
            </a:r>
            <a:r>
              <a:rPr lang="zh-CN" altLang="en-US" dirty="0">
                <a:latin typeface="楷体" panose="02010609060101010101" pitchFamily="49" charset="-122"/>
                <a:ea typeface="楷体" panose="02010609060101010101" pitchFamily="49" charset="-122"/>
                <a:sym typeface="+mn-ea"/>
              </a:rPr>
              <a:t>对偶价格。</a:t>
            </a:r>
            <a:endParaRPr lang="en-US" altLang="zh-CN" dirty="0">
              <a:latin typeface="楷体" panose="02010609060101010101" pitchFamily="49" charset="-122"/>
              <a:ea typeface="楷体" panose="02010609060101010101" pitchFamily="49" charset="-122"/>
            </a:endParaRPr>
          </a:p>
          <a:p>
            <a:pPr>
              <a:lnSpc>
                <a:spcPct val="120000"/>
              </a:lnSpc>
            </a:pP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随堂练习</a:t>
            </a:r>
            <a:r>
              <a:rPr lang="en-US" altLang="zh-CN" dirty="0">
                <a:latin typeface="楷体" panose="02010609060101010101" pitchFamily="49" charset="-122"/>
                <a:ea typeface="楷体" panose="02010609060101010101" pitchFamily="49" charset="-122"/>
              </a:rPr>
              <a:t>2</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739140" y="1409065"/>
            <a:ext cx="5034915" cy="2391410"/>
          </a:xfrm>
        </p:spPr>
        <p:txBody>
          <a:bodyPr>
            <a:noAutofit/>
          </a:bodyPr>
          <a:lstStyle/>
          <a:p>
            <a:pPr marL="0" indent="0">
              <a:lnSpc>
                <a:spcPct val="120000"/>
              </a:lnSpc>
              <a:buNone/>
            </a:pPr>
            <a:r>
              <a:rPr lang="zh-CN" altLang="en-US" sz="2000" dirty="0">
                <a:latin typeface="楷体" panose="02010609060101010101" pitchFamily="49" charset="-122"/>
                <a:ea typeface="楷体" panose="02010609060101010101" pitchFamily="49" charset="-122"/>
                <a:cs typeface="楷体" panose="02010609060101010101" pitchFamily="49" charset="-122"/>
              </a:rPr>
              <a:t>右图为下述线性规划的计算机求解结果：</a:t>
            </a:r>
            <a:endParaRPr lang="en-US" altLang="zh-CN" sz="2000" dirty="0">
              <a:latin typeface="楷体" panose="02010609060101010101" pitchFamily="49" charset="-122"/>
              <a:ea typeface="楷体" panose="02010609060101010101" pitchFamily="49" charset="-122"/>
              <a:cs typeface="楷体" panose="02010609060101010101" pitchFamily="49" charset="-122"/>
            </a:endParaRPr>
          </a:p>
          <a:p>
            <a:pPr marL="0" indent="0">
              <a:lnSpc>
                <a:spcPct val="120000"/>
              </a:lnSpc>
              <a:buFont typeface="+mj-lt"/>
              <a:buNone/>
            </a:pPr>
            <a:r>
              <a:rPr lang="en-US" altLang="zh-CN" sz="2000" dirty="0">
                <a:latin typeface="楷体" panose="02010609060101010101" pitchFamily="49" charset="-122"/>
                <a:ea typeface="楷体" panose="02010609060101010101" pitchFamily="49" charset="-122"/>
                <a:cs typeface="楷体" panose="02010609060101010101" pitchFamily="49" charset="-122"/>
              </a:rPr>
              <a:t>max z=2x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1</a:t>
            </a:r>
            <a:r>
              <a:rPr lang="en-US" altLang="zh-CN" sz="2000" dirty="0">
                <a:latin typeface="楷体" panose="02010609060101010101" pitchFamily="49" charset="-122"/>
                <a:ea typeface="楷体" panose="02010609060101010101" pitchFamily="49" charset="-122"/>
                <a:cs typeface="楷体" panose="02010609060101010101" pitchFamily="49" charset="-122"/>
              </a:rPr>
              <a:t>+x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2</a:t>
            </a:r>
            <a:r>
              <a:rPr lang="en-US" altLang="zh-CN" sz="2000" dirty="0">
                <a:latin typeface="楷体" panose="02010609060101010101" pitchFamily="49" charset="-122"/>
                <a:ea typeface="楷体" panose="02010609060101010101" pitchFamily="49" charset="-122"/>
                <a:cs typeface="楷体" panose="02010609060101010101" pitchFamily="49" charset="-122"/>
              </a:rPr>
              <a:t>-x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3</a:t>
            </a:r>
            <a:r>
              <a:rPr lang="en-US" altLang="zh-CN" sz="2000" dirty="0">
                <a:latin typeface="楷体" panose="02010609060101010101" pitchFamily="49" charset="-122"/>
                <a:ea typeface="楷体" panose="02010609060101010101" pitchFamily="49" charset="-122"/>
                <a:cs typeface="楷体" panose="02010609060101010101" pitchFamily="49" charset="-122"/>
              </a:rPr>
              <a:t>+x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4</a:t>
            </a:r>
            <a:endParaRPr lang="en-US" altLang="zh-CN" sz="2000" baseline="-25000" dirty="0">
              <a:latin typeface="楷体" panose="02010609060101010101" pitchFamily="49" charset="-122"/>
              <a:ea typeface="楷体" panose="02010609060101010101" pitchFamily="49" charset="-122"/>
              <a:cs typeface="楷体" panose="02010609060101010101" pitchFamily="49" charset="-122"/>
            </a:endParaRPr>
          </a:p>
          <a:p>
            <a:pPr marL="0" indent="0">
              <a:lnSpc>
                <a:spcPct val="120000"/>
              </a:lnSpc>
              <a:buFont typeface="+mj-lt"/>
              <a:buNone/>
            </a:pPr>
            <a:r>
              <a:rPr lang="en-US" altLang="zh-CN" sz="2000" dirty="0">
                <a:latin typeface="楷体" panose="02010609060101010101" pitchFamily="49" charset="-122"/>
                <a:ea typeface="楷体" panose="02010609060101010101" pitchFamily="49" charset="-122"/>
                <a:cs typeface="楷体" panose="02010609060101010101" pitchFamily="49" charset="-122"/>
              </a:rPr>
              <a:t>      s.t. 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1</a:t>
            </a:r>
            <a:r>
              <a:rPr lang="en-US" altLang="zh-CN" sz="2000" dirty="0">
                <a:latin typeface="楷体" panose="02010609060101010101" pitchFamily="49" charset="-122"/>
                <a:ea typeface="楷体" panose="02010609060101010101" pitchFamily="49" charset="-122"/>
                <a:cs typeface="楷体" panose="02010609060101010101" pitchFamily="49" charset="-122"/>
              </a:rPr>
              <a:t>-x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2</a:t>
            </a:r>
            <a:r>
              <a:rPr lang="en-US" altLang="zh-CN" sz="2000" dirty="0">
                <a:latin typeface="楷体" panose="02010609060101010101" pitchFamily="49" charset="-122"/>
                <a:ea typeface="楷体" panose="02010609060101010101" pitchFamily="49" charset="-122"/>
                <a:cs typeface="楷体" panose="02010609060101010101" pitchFamily="49" charset="-122"/>
              </a:rPr>
              <a:t>+2x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3</a:t>
            </a:r>
            <a:r>
              <a:rPr lang="en-US" altLang="zh-CN" sz="2000" dirty="0">
                <a:latin typeface="楷体" panose="02010609060101010101" pitchFamily="49" charset="-122"/>
                <a:ea typeface="楷体" panose="02010609060101010101" pitchFamily="49" charset="-122"/>
                <a:cs typeface="楷体" panose="02010609060101010101" pitchFamily="49" charset="-122"/>
              </a:rPr>
              <a:t>+x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4</a:t>
            </a: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≥2,</a:t>
            </a:r>
            <a:endParaRPr lang="en-US" altLang="zh-CN" sz="2000" dirty="0">
              <a:latin typeface="楷体" panose="02010609060101010101" pitchFamily="49" charset="-122"/>
              <a:ea typeface="楷体" panose="02010609060101010101" pitchFamily="49" charset="-122"/>
              <a:cs typeface="楷体" panose="02010609060101010101" pitchFamily="49" charset="-122"/>
              <a:sym typeface="+mn-ea"/>
            </a:endParaRPr>
          </a:p>
          <a:p>
            <a:pPr marL="0" indent="0">
              <a:lnSpc>
                <a:spcPct val="120000"/>
              </a:lnSpc>
              <a:buFont typeface="+mj-lt"/>
              <a:buNone/>
            </a:pP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           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sym typeface="+mn-ea"/>
              </a:rPr>
              <a:t>1</a:t>
            </a: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-3x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sym typeface="+mn-ea"/>
              </a:rPr>
              <a:t>2</a:t>
            </a: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sym typeface="+mn-ea"/>
              </a:rPr>
              <a:t>3</a:t>
            </a: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sym typeface="+mn-ea"/>
              </a:rPr>
              <a:t>4</a:t>
            </a: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≤4,</a:t>
            </a:r>
            <a:endParaRPr lang="en-US" altLang="zh-CN" sz="2000" dirty="0">
              <a:latin typeface="楷体" panose="02010609060101010101" pitchFamily="49" charset="-122"/>
              <a:ea typeface="楷体" panose="02010609060101010101" pitchFamily="49" charset="-122"/>
              <a:cs typeface="楷体" panose="02010609060101010101" pitchFamily="49" charset="-122"/>
              <a:sym typeface="+mn-ea"/>
            </a:endParaRPr>
          </a:p>
          <a:p>
            <a:pPr marL="0" indent="0">
              <a:lnSpc>
                <a:spcPct val="120000"/>
              </a:lnSpc>
              <a:buFont typeface="+mj-lt"/>
              <a:buNone/>
            </a:pP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           2</a:t>
            </a: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sym typeface="+mn-ea"/>
              </a:rPr>
              <a:t>2</a:t>
            </a: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sym typeface="+mn-ea"/>
              </a:rPr>
              <a:t>3</a:t>
            </a: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+2x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sym typeface="+mn-ea"/>
              </a:rPr>
              <a:t>4</a:t>
            </a: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≤3,</a:t>
            </a:r>
            <a:endParaRPr lang="en-US" altLang="zh-CN" sz="2000" dirty="0">
              <a:latin typeface="楷体" panose="02010609060101010101" pitchFamily="49" charset="-122"/>
              <a:ea typeface="楷体" panose="02010609060101010101" pitchFamily="49" charset="-122"/>
              <a:cs typeface="楷体" panose="02010609060101010101" pitchFamily="49" charset="-122"/>
              <a:sym typeface="+mn-ea"/>
            </a:endParaRPr>
          </a:p>
          <a:p>
            <a:pPr marL="0" indent="0">
              <a:lnSpc>
                <a:spcPct val="120000"/>
              </a:lnSpc>
              <a:buFont typeface="+mj-lt"/>
              <a:buNone/>
            </a:pP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           </a:t>
            </a: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sym typeface="+mn-ea"/>
              </a:rPr>
              <a:t>1</a:t>
            </a: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sym typeface="+mn-ea"/>
              </a:rPr>
              <a:t>2</a:t>
            </a: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sym typeface="+mn-ea"/>
              </a:rPr>
              <a:t>3</a:t>
            </a: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,x</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sym typeface="+mn-ea"/>
              </a:rPr>
              <a:t>4</a:t>
            </a: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≥0.</a:t>
            </a:r>
            <a:endParaRPr lang="en-US" altLang="zh-CN" sz="2000" dirty="0">
              <a:latin typeface="楷体" panose="02010609060101010101" pitchFamily="49" charset="-122"/>
              <a:ea typeface="楷体" panose="02010609060101010101" pitchFamily="49" charset="-122"/>
              <a:cs typeface="楷体" panose="02010609060101010101" pitchFamily="49" charset="-122"/>
            </a:endParaRPr>
          </a:p>
          <a:p>
            <a:pPr>
              <a:lnSpc>
                <a:spcPct val="120000"/>
              </a:lnSpc>
            </a:pPr>
            <a:endParaRPr lang="en-US" altLang="zh-CN" sz="2000" dirty="0">
              <a:latin typeface="楷体" panose="02010609060101010101" pitchFamily="49" charset="-122"/>
              <a:ea typeface="楷体" panose="02010609060101010101" pitchFamily="49" charset="-122"/>
              <a:cs typeface="楷体" panose="02010609060101010101" pitchFamily="49" charset="-122"/>
            </a:endParaRPr>
          </a:p>
        </p:txBody>
      </p:sp>
      <p:sp>
        <p:nvSpPr>
          <p:cNvPr id="6" name="星形: 五角 5"/>
          <p:cNvSpPr/>
          <p:nvPr/>
        </p:nvSpPr>
        <p:spPr>
          <a:xfrm>
            <a:off x="3649211" y="796954"/>
            <a:ext cx="604007" cy="478173"/>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楷体" panose="02010609060101010101" pitchFamily="49" charset="-122"/>
                <a:ea typeface="楷体" panose="02010609060101010101" pitchFamily="49" charset="-122"/>
              </a:rPr>
              <a:t>4</a:t>
            </a:r>
            <a:endParaRPr lang="zh-CN" altLang="en-US" dirty="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1"/>
          <a:stretch>
            <a:fillRect/>
          </a:stretch>
        </p:blipFill>
        <p:spPr>
          <a:xfrm>
            <a:off x="5380355" y="696595"/>
            <a:ext cx="5789930" cy="3815715"/>
          </a:xfrm>
          <a:prstGeom prst="rect">
            <a:avLst/>
          </a:prstGeom>
        </p:spPr>
      </p:pic>
      <p:sp>
        <p:nvSpPr>
          <p:cNvPr id="7" name="文本框 6"/>
          <p:cNvSpPr txBox="1"/>
          <p:nvPr/>
        </p:nvSpPr>
        <p:spPr>
          <a:xfrm>
            <a:off x="803910" y="4676140"/>
            <a:ext cx="10481945" cy="1717040"/>
          </a:xfrm>
          <a:prstGeom prst="rect">
            <a:avLst/>
          </a:prstGeom>
          <a:noFill/>
        </p:spPr>
        <p:txBody>
          <a:bodyPr wrap="square" rtlCol="0">
            <a:noAutofit/>
          </a:bodyPr>
          <a:p>
            <a:r>
              <a:rPr lang="en-US" altLang="zh-CN">
                <a:latin typeface="华文楷体" panose="02010600040101010101" charset="-122"/>
                <a:ea typeface="华文楷体" panose="02010600040101010101" charset="-122"/>
                <a:cs typeface="华文楷体" panose="02010600040101010101" charset="-122"/>
              </a:rPr>
              <a:t>1. </a:t>
            </a:r>
            <a:r>
              <a:rPr lang="zh-CN" altLang="en-US">
                <a:latin typeface="华文楷体" panose="02010600040101010101" charset="-122"/>
                <a:ea typeface="华文楷体" panose="02010600040101010101" charset="-122"/>
                <a:cs typeface="华文楷体" panose="02010600040101010101" charset="-122"/>
              </a:rPr>
              <a:t>指出最优解及其最优值。</a:t>
            </a:r>
            <a:endParaRPr lang="zh-CN" altLang="en-US">
              <a:latin typeface="华文楷体" panose="02010600040101010101" charset="-122"/>
              <a:ea typeface="华文楷体" panose="02010600040101010101" charset="-122"/>
              <a:cs typeface="华文楷体" panose="02010600040101010101" charset="-122"/>
            </a:endParaRPr>
          </a:p>
          <a:p>
            <a:r>
              <a:rPr lang="en-US" altLang="zh-CN">
                <a:latin typeface="华文楷体" panose="02010600040101010101" charset="-122"/>
                <a:ea typeface="华文楷体" panose="02010600040101010101" charset="-122"/>
                <a:cs typeface="华文楷体" panose="02010600040101010101" charset="-122"/>
              </a:rPr>
              <a:t>2. </a:t>
            </a:r>
            <a:r>
              <a:rPr lang="zh-CN" altLang="en-US">
                <a:latin typeface="华文楷体" panose="02010600040101010101" charset="-122"/>
                <a:ea typeface="华文楷体" panose="02010600040101010101" charset="-122"/>
                <a:cs typeface="华文楷体" panose="02010600040101010101" charset="-122"/>
              </a:rPr>
              <a:t>哪些约束条件起了作用，它们的对偶价格分别是多少。</a:t>
            </a:r>
            <a:endParaRPr lang="zh-CN" altLang="en-US">
              <a:latin typeface="华文楷体" panose="02010600040101010101" charset="-122"/>
              <a:ea typeface="华文楷体" panose="02010600040101010101" charset="-122"/>
              <a:cs typeface="华文楷体" panose="02010600040101010101" charset="-122"/>
            </a:endParaRPr>
          </a:p>
          <a:p>
            <a:r>
              <a:rPr lang="en-US" altLang="zh-CN">
                <a:latin typeface="华文楷体" panose="02010600040101010101" charset="-122"/>
                <a:ea typeface="华文楷体" panose="02010600040101010101" charset="-122"/>
                <a:cs typeface="华文楷体" panose="02010600040101010101" charset="-122"/>
              </a:rPr>
              <a:t>3. </a:t>
            </a:r>
            <a:r>
              <a:rPr lang="zh-CN" altLang="en-US">
                <a:latin typeface="华文楷体" panose="02010600040101010101" charset="-122"/>
                <a:ea typeface="华文楷体" panose="02010600040101010101" charset="-122"/>
                <a:cs typeface="华文楷体" panose="02010600040101010101" charset="-122"/>
              </a:rPr>
              <a:t>如果让你选择一个约束条件，将它的常数项增加一个单位，你将选择哪一个，此时目标函数值是多少。</a:t>
            </a:r>
            <a:endParaRPr lang="zh-CN" altLang="en-US">
              <a:latin typeface="华文楷体" panose="02010600040101010101" charset="-122"/>
              <a:ea typeface="华文楷体" panose="02010600040101010101" charset="-122"/>
              <a:cs typeface="华文楷体" panose="02010600040101010101" charset="-122"/>
            </a:endParaRPr>
          </a:p>
          <a:p>
            <a:r>
              <a:rPr lang="en-US" altLang="zh-CN">
                <a:latin typeface="华文楷体" panose="02010600040101010101" charset="-122"/>
                <a:ea typeface="华文楷体" panose="02010600040101010101" charset="-122"/>
                <a:cs typeface="华文楷体" panose="02010600040101010101" charset="-122"/>
              </a:rPr>
              <a:t>4.</a:t>
            </a:r>
            <a:r>
              <a:rPr lang="zh-CN" altLang="en-US">
                <a:latin typeface="华文楷体" panose="02010600040101010101" charset="-122"/>
                <a:ea typeface="华文楷体" panose="02010600040101010101" charset="-122"/>
                <a:cs typeface="华文楷体" panose="02010600040101010101" charset="-122"/>
              </a:rPr>
              <a:t>目标函数中</a:t>
            </a:r>
            <a:r>
              <a:rPr lang="en-US" altLang="zh-CN">
                <a:latin typeface="华文楷体" panose="02010600040101010101" charset="-122"/>
                <a:ea typeface="华文楷体" panose="02010600040101010101" charset="-122"/>
                <a:cs typeface="华文楷体" panose="02010600040101010101" charset="-122"/>
              </a:rPr>
              <a:t>x</a:t>
            </a:r>
            <a:r>
              <a:rPr lang="en-US" altLang="zh-CN" baseline="-25000">
                <a:latin typeface="华文楷体" panose="02010600040101010101" charset="-122"/>
                <a:ea typeface="华文楷体" panose="02010600040101010101" charset="-122"/>
                <a:cs typeface="华文楷体" panose="02010600040101010101" charset="-122"/>
              </a:rPr>
              <a:t>3</a:t>
            </a:r>
            <a:r>
              <a:rPr lang="zh-CN" altLang="en-US">
                <a:latin typeface="华文楷体" panose="02010600040101010101" charset="-122"/>
                <a:ea typeface="华文楷体" panose="02010600040101010101" charset="-122"/>
                <a:cs typeface="华文楷体" panose="02010600040101010101" charset="-122"/>
              </a:rPr>
              <a:t>的系数在什么范围变化，最优解不变，这时目标函数值是否发生变化。</a:t>
            </a:r>
            <a:endParaRPr lang="zh-CN" altLang="en-US">
              <a:latin typeface="华文楷体" panose="02010600040101010101" charset="-122"/>
              <a:ea typeface="华文楷体" panose="02010600040101010101" charset="-122"/>
              <a:cs typeface="华文楷体" panose="02010600040101010101" charset="-122"/>
            </a:endParaRPr>
          </a:p>
          <a:p>
            <a:r>
              <a:rPr lang="en-US" altLang="zh-CN">
                <a:latin typeface="华文楷体" panose="02010600040101010101" charset="-122"/>
                <a:ea typeface="华文楷体" panose="02010600040101010101" charset="-122"/>
                <a:cs typeface="华文楷体" panose="02010600040101010101" charset="-122"/>
              </a:rPr>
              <a:t>5. </a:t>
            </a:r>
            <a:r>
              <a:rPr lang="zh-CN" altLang="en-US">
                <a:latin typeface="华文楷体" panose="02010600040101010101" charset="-122"/>
                <a:ea typeface="华文楷体" panose="02010600040101010101" charset="-122"/>
                <a:cs typeface="华文楷体" panose="02010600040101010101" charset="-122"/>
                <a:sym typeface="+mn-ea"/>
              </a:rPr>
              <a:t>目标函数中</a:t>
            </a:r>
            <a:r>
              <a:rPr lang="en-US" altLang="zh-CN">
                <a:latin typeface="华文楷体" panose="02010600040101010101" charset="-122"/>
                <a:ea typeface="华文楷体" panose="02010600040101010101" charset="-122"/>
                <a:cs typeface="华文楷体" panose="02010600040101010101" charset="-122"/>
                <a:sym typeface="+mn-ea"/>
              </a:rPr>
              <a:t>x</a:t>
            </a:r>
            <a:r>
              <a:rPr lang="en-US" altLang="zh-CN" baseline="-25000">
                <a:latin typeface="华文楷体" panose="02010600040101010101" charset="-122"/>
                <a:ea typeface="华文楷体" panose="02010600040101010101" charset="-122"/>
                <a:cs typeface="华文楷体" panose="02010600040101010101" charset="-122"/>
                <a:sym typeface="+mn-ea"/>
              </a:rPr>
              <a:t>1</a:t>
            </a:r>
            <a:r>
              <a:rPr lang="zh-CN" altLang="en-US">
                <a:latin typeface="华文楷体" panose="02010600040101010101" charset="-122"/>
                <a:ea typeface="华文楷体" panose="02010600040101010101" charset="-122"/>
                <a:cs typeface="华文楷体" panose="02010600040101010101" charset="-122"/>
                <a:sym typeface="+mn-ea"/>
              </a:rPr>
              <a:t>的系数在什么范围变化，最优解不变，这时目标函数值是否发生变化。</a:t>
            </a:r>
            <a:endParaRPr lang="en-US" altLang="zh-CN">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随堂练习</a:t>
            </a:r>
            <a:r>
              <a:rPr lang="en-US" altLang="zh-CN" dirty="0">
                <a:latin typeface="楷体" panose="02010609060101010101" pitchFamily="49" charset="-122"/>
                <a:ea typeface="楷体" panose="02010609060101010101" pitchFamily="49" charset="-122"/>
              </a:rPr>
              <a:t>3</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739140" y="1409065"/>
            <a:ext cx="5034915" cy="2391410"/>
          </a:xfrm>
        </p:spPr>
        <p:txBody>
          <a:bodyPr>
            <a:noAutofit/>
          </a:bodyPr>
          <a:lstStyle/>
          <a:p>
            <a:pPr marL="0" indent="0">
              <a:lnSpc>
                <a:spcPct val="120000"/>
              </a:lnSpc>
              <a:buNone/>
            </a:pPr>
            <a:r>
              <a:rPr lang="zh-CN" altLang="en-US" sz="1800" dirty="0">
                <a:latin typeface="楷体" panose="02010609060101010101" pitchFamily="49" charset="-122"/>
                <a:ea typeface="楷体" panose="02010609060101010101" pitchFamily="49" charset="-122"/>
                <a:cs typeface="楷体" panose="02010609060101010101" pitchFamily="49" charset="-122"/>
              </a:rPr>
              <a:t>右图为下述线性规划的计算机求解结果：</a:t>
            </a:r>
            <a:endParaRPr lang="en-US" altLang="zh-CN" sz="1800" dirty="0">
              <a:latin typeface="楷体" panose="02010609060101010101" pitchFamily="49" charset="-122"/>
              <a:ea typeface="楷体" panose="02010609060101010101" pitchFamily="49" charset="-122"/>
              <a:cs typeface="楷体" panose="02010609060101010101" pitchFamily="49" charset="-122"/>
            </a:endParaRPr>
          </a:p>
          <a:p>
            <a:pPr marL="0" indent="0">
              <a:lnSpc>
                <a:spcPct val="120000"/>
              </a:lnSpc>
              <a:buFont typeface="+mj-lt"/>
              <a:buNone/>
            </a:pPr>
            <a:r>
              <a:rPr lang="en-US" altLang="zh-CN" sz="1800" dirty="0">
                <a:latin typeface="楷体" panose="02010609060101010101" pitchFamily="49" charset="-122"/>
                <a:ea typeface="楷体" panose="02010609060101010101" pitchFamily="49" charset="-122"/>
                <a:cs typeface="楷体" panose="02010609060101010101" pitchFamily="49" charset="-122"/>
              </a:rPr>
              <a:t>min z=16x</a:t>
            </a:r>
            <a:r>
              <a:rPr lang="en-US" altLang="zh-CN" sz="1800" baseline="-25000" dirty="0">
                <a:latin typeface="楷体" panose="02010609060101010101" pitchFamily="49" charset="-122"/>
                <a:ea typeface="楷体" panose="02010609060101010101" pitchFamily="49" charset="-122"/>
                <a:cs typeface="楷体" panose="02010609060101010101" pitchFamily="49" charset="-122"/>
              </a:rPr>
              <a:t>1</a:t>
            </a:r>
            <a:r>
              <a:rPr lang="en-US" altLang="zh-CN" sz="1800" dirty="0">
                <a:latin typeface="楷体" panose="02010609060101010101" pitchFamily="49" charset="-122"/>
                <a:ea typeface="楷体" panose="02010609060101010101" pitchFamily="49" charset="-122"/>
                <a:cs typeface="楷体" panose="02010609060101010101" pitchFamily="49" charset="-122"/>
              </a:rPr>
              <a:t>+16x</a:t>
            </a:r>
            <a:r>
              <a:rPr lang="en-US" altLang="zh-CN" sz="1800" baseline="-25000" dirty="0">
                <a:latin typeface="楷体" panose="02010609060101010101" pitchFamily="49" charset="-122"/>
                <a:ea typeface="楷体" panose="02010609060101010101" pitchFamily="49" charset="-122"/>
                <a:cs typeface="楷体" panose="02010609060101010101" pitchFamily="49" charset="-122"/>
              </a:rPr>
              <a:t>2</a:t>
            </a:r>
            <a:r>
              <a:rPr lang="en-US" altLang="zh-CN" sz="1800" dirty="0">
                <a:latin typeface="楷体" panose="02010609060101010101" pitchFamily="49" charset="-122"/>
                <a:ea typeface="楷体" panose="02010609060101010101" pitchFamily="49" charset="-122"/>
                <a:cs typeface="楷体" panose="02010609060101010101" pitchFamily="49" charset="-122"/>
              </a:rPr>
              <a:t>+17x</a:t>
            </a:r>
            <a:r>
              <a:rPr lang="en-US" altLang="zh-CN" sz="1800" baseline="-25000" dirty="0">
                <a:latin typeface="楷体" panose="02010609060101010101" pitchFamily="49" charset="-122"/>
                <a:ea typeface="楷体" panose="02010609060101010101" pitchFamily="49" charset="-122"/>
                <a:cs typeface="楷体" panose="02010609060101010101" pitchFamily="49" charset="-122"/>
              </a:rPr>
              <a:t>3</a:t>
            </a:r>
            <a:endParaRPr lang="en-US" altLang="zh-CN" sz="1800" baseline="-25000" dirty="0">
              <a:latin typeface="楷体" panose="02010609060101010101" pitchFamily="49" charset="-122"/>
              <a:ea typeface="楷体" panose="02010609060101010101" pitchFamily="49" charset="-122"/>
              <a:cs typeface="楷体" panose="02010609060101010101" pitchFamily="49" charset="-122"/>
            </a:endParaRPr>
          </a:p>
          <a:p>
            <a:pPr marL="0" indent="0">
              <a:lnSpc>
                <a:spcPct val="120000"/>
              </a:lnSpc>
              <a:buFont typeface="+mj-lt"/>
              <a:buNone/>
            </a:pPr>
            <a:r>
              <a:rPr lang="en-US" altLang="zh-CN" sz="1800" dirty="0">
                <a:latin typeface="楷体" panose="02010609060101010101" pitchFamily="49" charset="-122"/>
                <a:ea typeface="楷体" panose="02010609060101010101" pitchFamily="49" charset="-122"/>
                <a:cs typeface="楷体" panose="02010609060101010101" pitchFamily="49" charset="-122"/>
              </a:rPr>
              <a:t>      s.t. x</a:t>
            </a:r>
            <a:r>
              <a:rPr lang="en-US" altLang="zh-CN" sz="1800" baseline="-25000" dirty="0">
                <a:latin typeface="楷体" panose="02010609060101010101" pitchFamily="49" charset="-122"/>
                <a:ea typeface="楷体" panose="02010609060101010101" pitchFamily="49" charset="-122"/>
                <a:cs typeface="楷体" panose="02010609060101010101" pitchFamily="49" charset="-122"/>
              </a:rPr>
              <a:t>1</a:t>
            </a:r>
            <a:r>
              <a:rPr lang="en-US" altLang="zh-CN" sz="1800" dirty="0">
                <a:latin typeface="楷体" panose="02010609060101010101" pitchFamily="49" charset="-122"/>
                <a:ea typeface="楷体" panose="02010609060101010101" pitchFamily="49" charset="-122"/>
                <a:cs typeface="楷体" panose="02010609060101010101" pitchFamily="49" charset="-122"/>
              </a:rPr>
              <a:t>+</a:t>
            </a: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x</a:t>
            </a:r>
            <a:r>
              <a:rPr lang="en-US" altLang="zh-CN" sz="1800" baseline="-25000" dirty="0">
                <a:latin typeface="楷体" panose="02010609060101010101" pitchFamily="49" charset="-122"/>
                <a:ea typeface="楷体" panose="02010609060101010101" pitchFamily="49" charset="-122"/>
                <a:cs typeface="楷体" panose="02010609060101010101" pitchFamily="49" charset="-122"/>
                <a:sym typeface="+mn-ea"/>
              </a:rPr>
              <a:t>3</a:t>
            </a: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a:t>
            </a: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30,</a:t>
            </a:r>
            <a:endParaRPr lang="en-US" altLang="zh-CN" sz="1800" dirty="0">
              <a:latin typeface="楷体" panose="02010609060101010101" pitchFamily="49" charset="-122"/>
              <a:ea typeface="楷体" panose="02010609060101010101" pitchFamily="49" charset="-122"/>
              <a:cs typeface="楷体" panose="02010609060101010101" pitchFamily="49" charset="-122"/>
              <a:sym typeface="+mn-ea"/>
            </a:endParaRPr>
          </a:p>
          <a:p>
            <a:pPr marL="0" indent="0">
              <a:lnSpc>
                <a:spcPct val="120000"/>
              </a:lnSpc>
              <a:buFont typeface="+mj-lt"/>
              <a:buNone/>
            </a:pP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           0.5x</a:t>
            </a:r>
            <a:r>
              <a:rPr lang="en-US" altLang="zh-CN" sz="1800" baseline="-25000" dirty="0">
                <a:latin typeface="楷体" panose="02010609060101010101" pitchFamily="49" charset="-122"/>
                <a:ea typeface="楷体" panose="02010609060101010101" pitchFamily="49" charset="-122"/>
                <a:cs typeface="楷体" panose="02010609060101010101" pitchFamily="49" charset="-122"/>
                <a:sym typeface="+mn-ea"/>
              </a:rPr>
              <a:t>1</a:t>
            </a: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-x</a:t>
            </a:r>
            <a:r>
              <a:rPr lang="en-US" altLang="zh-CN" sz="1800" baseline="-25000" dirty="0">
                <a:latin typeface="楷体" panose="02010609060101010101" pitchFamily="49" charset="-122"/>
                <a:ea typeface="楷体" panose="02010609060101010101" pitchFamily="49" charset="-122"/>
                <a:cs typeface="楷体" panose="02010609060101010101" pitchFamily="49" charset="-122"/>
                <a:sym typeface="+mn-ea"/>
              </a:rPr>
              <a:t>2</a:t>
            </a: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+6x</a:t>
            </a:r>
            <a:r>
              <a:rPr lang="en-US" altLang="zh-CN" sz="1800" baseline="-25000" dirty="0">
                <a:latin typeface="楷体" panose="02010609060101010101" pitchFamily="49" charset="-122"/>
                <a:ea typeface="楷体" panose="02010609060101010101" pitchFamily="49" charset="-122"/>
                <a:cs typeface="楷体" panose="02010609060101010101" pitchFamily="49" charset="-122"/>
                <a:sym typeface="+mn-ea"/>
              </a:rPr>
              <a:t>3</a:t>
            </a: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a:t>
            </a: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15,</a:t>
            </a:r>
            <a:endParaRPr lang="en-US" altLang="zh-CN" sz="1800" dirty="0">
              <a:latin typeface="楷体" panose="02010609060101010101" pitchFamily="49" charset="-122"/>
              <a:ea typeface="楷体" panose="02010609060101010101" pitchFamily="49" charset="-122"/>
              <a:cs typeface="楷体" panose="02010609060101010101" pitchFamily="49" charset="-122"/>
              <a:sym typeface="+mn-ea"/>
            </a:endParaRPr>
          </a:p>
          <a:p>
            <a:pPr marL="0" indent="0">
              <a:lnSpc>
                <a:spcPct val="120000"/>
              </a:lnSpc>
              <a:buFont typeface="+mj-lt"/>
              <a:buNone/>
            </a:pP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           3x</a:t>
            </a:r>
            <a:r>
              <a:rPr lang="en-US" altLang="zh-CN" sz="1800" baseline="-25000" dirty="0">
                <a:latin typeface="楷体" panose="02010609060101010101" pitchFamily="49" charset="-122"/>
                <a:ea typeface="楷体" panose="02010609060101010101" pitchFamily="49" charset="-122"/>
                <a:cs typeface="楷体" panose="02010609060101010101" pitchFamily="49" charset="-122"/>
                <a:sym typeface="+mn-ea"/>
              </a:rPr>
              <a:t>1</a:t>
            </a: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+4x</a:t>
            </a:r>
            <a:r>
              <a:rPr lang="en-US" altLang="zh-CN" sz="1800" baseline="-25000" dirty="0">
                <a:latin typeface="楷体" panose="02010609060101010101" pitchFamily="49" charset="-122"/>
                <a:ea typeface="楷体" panose="02010609060101010101" pitchFamily="49" charset="-122"/>
                <a:cs typeface="楷体" panose="02010609060101010101" pitchFamily="49" charset="-122"/>
                <a:sym typeface="+mn-ea"/>
              </a:rPr>
              <a:t>2</a:t>
            </a: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-x</a:t>
            </a:r>
            <a:r>
              <a:rPr lang="en-US" altLang="zh-CN" sz="1800" baseline="-25000" dirty="0">
                <a:latin typeface="楷体" panose="02010609060101010101" pitchFamily="49" charset="-122"/>
                <a:ea typeface="楷体" panose="02010609060101010101" pitchFamily="49" charset="-122"/>
                <a:cs typeface="楷体" panose="02010609060101010101" pitchFamily="49" charset="-122"/>
                <a:sym typeface="+mn-ea"/>
              </a:rPr>
              <a:t>3</a:t>
            </a: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a:t>
            </a: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20,</a:t>
            </a:r>
            <a:endParaRPr lang="en-US" altLang="zh-CN" sz="1800" dirty="0">
              <a:latin typeface="楷体" panose="02010609060101010101" pitchFamily="49" charset="-122"/>
              <a:ea typeface="楷体" panose="02010609060101010101" pitchFamily="49" charset="-122"/>
              <a:cs typeface="楷体" panose="02010609060101010101" pitchFamily="49" charset="-122"/>
              <a:sym typeface="+mn-ea"/>
            </a:endParaRPr>
          </a:p>
          <a:p>
            <a:pPr marL="0" indent="0">
              <a:lnSpc>
                <a:spcPct val="120000"/>
              </a:lnSpc>
              <a:buFont typeface="+mj-lt"/>
              <a:buNone/>
            </a:pP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           x</a:t>
            </a:r>
            <a:r>
              <a:rPr lang="en-US" altLang="zh-CN" sz="1800" baseline="-25000" dirty="0">
                <a:latin typeface="楷体" panose="02010609060101010101" pitchFamily="49" charset="-122"/>
                <a:ea typeface="楷体" panose="02010609060101010101" pitchFamily="49" charset="-122"/>
                <a:cs typeface="楷体" panose="02010609060101010101" pitchFamily="49" charset="-122"/>
                <a:sym typeface="+mn-ea"/>
              </a:rPr>
              <a:t>1</a:t>
            </a: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,x</a:t>
            </a:r>
            <a:r>
              <a:rPr lang="en-US" altLang="zh-CN" sz="1800" baseline="-25000" dirty="0">
                <a:latin typeface="楷体" panose="02010609060101010101" pitchFamily="49" charset="-122"/>
                <a:ea typeface="楷体" panose="02010609060101010101" pitchFamily="49" charset="-122"/>
                <a:cs typeface="楷体" panose="02010609060101010101" pitchFamily="49" charset="-122"/>
                <a:sym typeface="+mn-ea"/>
              </a:rPr>
              <a:t>2</a:t>
            </a: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,x</a:t>
            </a:r>
            <a:r>
              <a:rPr lang="en-US" altLang="zh-CN" sz="1800" baseline="-25000" dirty="0">
                <a:latin typeface="楷体" panose="02010609060101010101" pitchFamily="49" charset="-122"/>
                <a:ea typeface="楷体" panose="02010609060101010101" pitchFamily="49" charset="-122"/>
                <a:cs typeface="楷体" panose="02010609060101010101" pitchFamily="49" charset="-122"/>
                <a:sym typeface="+mn-ea"/>
              </a:rPr>
              <a:t>3</a:t>
            </a: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≥0.</a:t>
            </a:r>
            <a:endParaRPr lang="en-US" altLang="zh-CN" sz="1800" dirty="0">
              <a:latin typeface="楷体" panose="02010609060101010101" pitchFamily="49" charset="-122"/>
              <a:ea typeface="楷体" panose="02010609060101010101" pitchFamily="49" charset="-122"/>
              <a:cs typeface="楷体" panose="02010609060101010101" pitchFamily="49" charset="-122"/>
            </a:endParaRPr>
          </a:p>
          <a:p>
            <a:pPr>
              <a:lnSpc>
                <a:spcPct val="120000"/>
              </a:lnSpc>
            </a:pPr>
            <a:endParaRPr lang="en-US" altLang="zh-CN" sz="1800" dirty="0">
              <a:latin typeface="楷体" panose="02010609060101010101" pitchFamily="49" charset="-122"/>
              <a:ea typeface="楷体" panose="02010609060101010101" pitchFamily="49" charset="-122"/>
              <a:cs typeface="楷体" panose="02010609060101010101" pitchFamily="49" charset="-122"/>
            </a:endParaRPr>
          </a:p>
        </p:txBody>
      </p:sp>
      <p:sp>
        <p:nvSpPr>
          <p:cNvPr id="6" name="星形: 五角 5"/>
          <p:cNvSpPr/>
          <p:nvPr/>
        </p:nvSpPr>
        <p:spPr>
          <a:xfrm>
            <a:off x="3649211" y="796954"/>
            <a:ext cx="604007" cy="478173"/>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楷体" panose="02010609060101010101" pitchFamily="49" charset="-122"/>
                <a:ea typeface="楷体" panose="02010609060101010101" pitchFamily="49" charset="-122"/>
              </a:rPr>
              <a:t>5</a:t>
            </a:r>
            <a:endParaRPr lang="zh-CN" altLang="en-US" dirty="0">
              <a:latin typeface="楷体" panose="02010609060101010101" pitchFamily="49" charset="-122"/>
              <a:ea typeface="楷体" panose="02010609060101010101" pitchFamily="49" charset="-122"/>
            </a:endParaRPr>
          </a:p>
        </p:txBody>
      </p:sp>
      <p:sp>
        <p:nvSpPr>
          <p:cNvPr id="7" name="文本框 6"/>
          <p:cNvSpPr txBox="1"/>
          <p:nvPr/>
        </p:nvSpPr>
        <p:spPr>
          <a:xfrm>
            <a:off x="803910" y="4680585"/>
            <a:ext cx="10631170" cy="1245870"/>
          </a:xfrm>
          <a:prstGeom prst="rect">
            <a:avLst/>
          </a:prstGeom>
          <a:noFill/>
        </p:spPr>
        <p:txBody>
          <a:bodyPr wrap="square" rtlCol="0">
            <a:noAutofit/>
          </a:bodyPr>
          <a:p>
            <a:r>
              <a:rPr lang="en-US" altLang="zh-CN">
                <a:latin typeface="楷体" panose="02010609060101010101" pitchFamily="49" charset="-122"/>
                <a:ea typeface="楷体" panose="02010609060101010101" pitchFamily="49" charset="-122"/>
                <a:cs typeface="楷体" panose="02010609060101010101" pitchFamily="49" charset="-122"/>
              </a:rPr>
              <a:t>1. </a:t>
            </a:r>
            <a:r>
              <a:rPr lang="zh-CN" altLang="en-US">
                <a:latin typeface="楷体" panose="02010609060101010101" pitchFamily="49" charset="-122"/>
                <a:ea typeface="楷体" panose="02010609060101010101" pitchFamily="49" charset="-122"/>
                <a:cs typeface="楷体" panose="02010609060101010101" pitchFamily="49" charset="-122"/>
              </a:rPr>
              <a:t>第二个约束条件的对偶价格是一个负数，含义是什么，影子价格是</a:t>
            </a:r>
            <a:r>
              <a:rPr lang="zh-CN" altLang="en-US">
                <a:latin typeface="楷体" panose="02010609060101010101" pitchFamily="49" charset="-122"/>
                <a:ea typeface="楷体" panose="02010609060101010101" pitchFamily="49" charset="-122"/>
                <a:cs typeface="楷体" panose="02010609060101010101" pitchFamily="49" charset="-122"/>
              </a:rPr>
              <a:t>多少。</a:t>
            </a:r>
            <a:endParaRPr lang="zh-CN" altLang="en-US">
              <a:latin typeface="楷体" panose="02010609060101010101" pitchFamily="49" charset="-122"/>
              <a:ea typeface="楷体" panose="02010609060101010101" pitchFamily="49" charset="-122"/>
              <a:cs typeface="楷体" panose="02010609060101010101" pitchFamily="49" charset="-122"/>
            </a:endParaRPr>
          </a:p>
          <a:p>
            <a:r>
              <a:rPr lang="en-US" altLang="zh-CN">
                <a:latin typeface="楷体" panose="02010609060101010101" pitchFamily="49" charset="-122"/>
                <a:ea typeface="楷体" panose="02010609060101010101" pitchFamily="49" charset="-122"/>
                <a:cs typeface="楷体" panose="02010609060101010101" pitchFamily="49" charset="-122"/>
              </a:rPr>
              <a:t>2. </a:t>
            </a:r>
            <a:r>
              <a:rPr lang="en-US" altLang="zh-CN">
                <a:latin typeface="楷体" panose="02010609060101010101" pitchFamily="49" charset="-122"/>
                <a:ea typeface="楷体" panose="02010609060101010101" pitchFamily="49" charset="-122"/>
                <a:cs typeface="楷体" panose="02010609060101010101" pitchFamily="49" charset="-122"/>
                <a:sym typeface="+mn-ea"/>
              </a:rPr>
              <a:t>x</a:t>
            </a:r>
            <a:r>
              <a:rPr lang="en-US" altLang="zh-CN" baseline="-25000">
                <a:latin typeface="楷体" panose="02010609060101010101" pitchFamily="49" charset="-122"/>
                <a:ea typeface="楷体" panose="02010609060101010101" pitchFamily="49" charset="-122"/>
                <a:cs typeface="楷体" panose="02010609060101010101" pitchFamily="49" charset="-122"/>
                <a:sym typeface="+mn-ea"/>
              </a:rPr>
              <a:t>2</a:t>
            </a:r>
            <a:r>
              <a:rPr lang="zh-CN" altLang="en-US">
                <a:latin typeface="楷体" panose="02010609060101010101" pitchFamily="49" charset="-122"/>
                <a:ea typeface="楷体" panose="02010609060101010101" pitchFamily="49" charset="-122"/>
                <a:cs typeface="楷体" panose="02010609060101010101" pitchFamily="49" charset="-122"/>
                <a:sym typeface="+mn-ea"/>
              </a:rPr>
              <a:t>的相差值是</a:t>
            </a:r>
            <a:r>
              <a:rPr lang="en-US" altLang="zh-CN">
                <a:latin typeface="楷体" panose="02010609060101010101" pitchFamily="49" charset="-122"/>
                <a:ea typeface="楷体" panose="02010609060101010101" pitchFamily="49" charset="-122"/>
                <a:cs typeface="楷体" panose="02010609060101010101" pitchFamily="49" charset="-122"/>
                <a:sym typeface="+mn-ea"/>
              </a:rPr>
              <a:t>0.703</a:t>
            </a:r>
            <a:r>
              <a:rPr lang="zh-CN" altLang="en-US">
                <a:latin typeface="楷体" panose="02010609060101010101" pitchFamily="49" charset="-122"/>
                <a:ea typeface="楷体" panose="02010609060101010101" pitchFamily="49" charset="-122"/>
                <a:cs typeface="楷体" panose="02010609060101010101" pitchFamily="49" charset="-122"/>
                <a:sym typeface="+mn-ea"/>
              </a:rPr>
              <a:t>，含义是什么</a:t>
            </a:r>
            <a:r>
              <a:rPr lang="zh-CN" altLang="en-US">
                <a:latin typeface="楷体" panose="02010609060101010101" pitchFamily="49" charset="-122"/>
                <a:ea typeface="楷体" panose="02010609060101010101" pitchFamily="49" charset="-122"/>
                <a:cs typeface="楷体" panose="02010609060101010101" pitchFamily="49" charset="-122"/>
              </a:rPr>
              <a:t>。</a:t>
            </a:r>
            <a:endParaRPr lang="zh-CN" altLang="en-US">
              <a:latin typeface="楷体" panose="02010609060101010101" pitchFamily="49" charset="-122"/>
              <a:ea typeface="楷体" panose="02010609060101010101" pitchFamily="49" charset="-122"/>
              <a:cs typeface="楷体" panose="02010609060101010101" pitchFamily="49" charset="-122"/>
            </a:endParaRPr>
          </a:p>
          <a:p>
            <a:r>
              <a:rPr lang="en-US" altLang="zh-CN">
                <a:latin typeface="楷体" panose="02010609060101010101" pitchFamily="49" charset="-122"/>
                <a:ea typeface="楷体" panose="02010609060101010101" pitchFamily="49" charset="-122"/>
                <a:cs typeface="楷体" panose="02010609060101010101" pitchFamily="49" charset="-122"/>
              </a:rPr>
              <a:t>3. </a:t>
            </a:r>
            <a:r>
              <a:rPr lang="zh-CN" altLang="en-US">
                <a:latin typeface="楷体" panose="02010609060101010101" pitchFamily="49" charset="-122"/>
                <a:ea typeface="楷体" panose="02010609060101010101" pitchFamily="49" charset="-122"/>
                <a:cs typeface="楷体" panose="02010609060101010101" pitchFamily="49" charset="-122"/>
              </a:rPr>
              <a:t>目标函数中</a:t>
            </a:r>
            <a:r>
              <a:rPr lang="en-US" altLang="zh-CN">
                <a:latin typeface="楷体" panose="02010609060101010101" pitchFamily="49" charset="-122"/>
                <a:ea typeface="楷体" panose="02010609060101010101" pitchFamily="49" charset="-122"/>
                <a:cs typeface="楷体" panose="02010609060101010101" pitchFamily="49" charset="-122"/>
              </a:rPr>
              <a:t>x</a:t>
            </a:r>
            <a:r>
              <a:rPr lang="en-US" altLang="zh-CN" baseline="-25000">
                <a:latin typeface="楷体" panose="02010609060101010101" pitchFamily="49" charset="-122"/>
                <a:ea typeface="楷体" panose="02010609060101010101" pitchFamily="49" charset="-122"/>
                <a:cs typeface="楷体" panose="02010609060101010101" pitchFamily="49" charset="-122"/>
              </a:rPr>
              <a:t>3</a:t>
            </a:r>
            <a:r>
              <a:rPr lang="zh-CN" altLang="en-US">
                <a:latin typeface="楷体" panose="02010609060101010101" pitchFamily="49" charset="-122"/>
                <a:ea typeface="楷体" panose="02010609060101010101" pitchFamily="49" charset="-122"/>
                <a:cs typeface="楷体" panose="02010609060101010101" pitchFamily="49" charset="-122"/>
              </a:rPr>
              <a:t>的系数从</a:t>
            </a:r>
            <a:r>
              <a:rPr lang="en-US" altLang="zh-CN">
                <a:latin typeface="楷体" panose="02010609060101010101" pitchFamily="49" charset="-122"/>
                <a:ea typeface="楷体" panose="02010609060101010101" pitchFamily="49" charset="-122"/>
                <a:cs typeface="楷体" panose="02010609060101010101" pitchFamily="49" charset="-122"/>
              </a:rPr>
              <a:t>16</a:t>
            </a:r>
            <a:r>
              <a:rPr lang="zh-CN" altLang="en-US">
                <a:latin typeface="楷体" panose="02010609060101010101" pitchFamily="49" charset="-122"/>
                <a:ea typeface="楷体" panose="02010609060101010101" pitchFamily="49" charset="-122"/>
                <a:cs typeface="楷体" panose="02010609060101010101" pitchFamily="49" charset="-122"/>
              </a:rPr>
              <a:t>降到</a:t>
            </a:r>
            <a:r>
              <a:rPr lang="en-US" altLang="zh-CN">
                <a:latin typeface="楷体" panose="02010609060101010101" pitchFamily="49" charset="-122"/>
                <a:ea typeface="楷体" panose="02010609060101010101" pitchFamily="49" charset="-122"/>
                <a:cs typeface="楷体" panose="02010609060101010101" pitchFamily="49" charset="-122"/>
              </a:rPr>
              <a:t>15</a:t>
            </a:r>
            <a:r>
              <a:rPr lang="zh-CN" altLang="en-US">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x2</a:t>
            </a:r>
            <a:r>
              <a:rPr lang="zh-CN" altLang="en-US">
                <a:latin typeface="楷体" panose="02010609060101010101" pitchFamily="49" charset="-122"/>
                <a:ea typeface="楷体" panose="02010609060101010101" pitchFamily="49" charset="-122"/>
                <a:cs typeface="楷体" panose="02010609060101010101" pitchFamily="49" charset="-122"/>
              </a:rPr>
              <a:t>的系数从</a:t>
            </a:r>
            <a:r>
              <a:rPr lang="en-US" altLang="zh-CN">
                <a:latin typeface="楷体" panose="02010609060101010101" pitchFamily="49" charset="-122"/>
                <a:ea typeface="楷体" panose="02010609060101010101" pitchFamily="49" charset="-122"/>
                <a:cs typeface="楷体" panose="02010609060101010101" pitchFamily="49" charset="-122"/>
              </a:rPr>
              <a:t>16</a:t>
            </a:r>
            <a:r>
              <a:rPr lang="zh-CN" altLang="en-US">
                <a:latin typeface="楷体" panose="02010609060101010101" pitchFamily="49" charset="-122"/>
                <a:ea typeface="楷体" panose="02010609060101010101" pitchFamily="49" charset="-122"/>
                <a:cs typeface="楷体" panose="02010609060101010101" pitchFamily="49" charset="-122"/>
              </a:rPr>
              <a:t>升为</a:t>
            </a:r>
            <a:r>
              <a:rPr lang="en-US" altLang="zh-CN">
                <a:latin typeface="楷体" panose="02010609060101010101" pitchFamily="49" charset="-122"/>
                <a:ea typeface="楷体" panose="02010609060101010101" pitchFamily="49" charset="-122"/>
                <a:cs typeface="楷体" panose="02010609060101010101" pitchFamily="49" charset="-122"/>
              </a:rPr>
              <a:t>18</a:t>
            </a:r>
            <a:r>
              <a:rPr lang="zh-CN" altLang="en-US">
                <a:latin typeface="楷体" panose="02010609060101010101" pitchFamily="49" charset="-122"/>
                <a:ea typeface="楷体" panose="02010609060101010101" pitchFamily="49" charset="-122"/>
                <a:cs typeface="楷体" panose="02010609060101010101" pitchFamily="49" charset="-122"/>
              </a:rPr>
              <a:t>时，最优解是否发生</a:t>
            </a:r>
            <a:r>
              <a:rPr lang="zh-CN" altLang="en-US">
                <a:latin typeface="楷体" panose="02010609060101010101" pitchFamily="49" charset="-122"/>
                <a:ea typeface="楷体" panose="02010609060101010101" pitchFamily="49" charset="-122"/>
                <a:cs typeface="楷体" panose="02010609060101010101" pitchFamily="49" charset="-122"/>
              </a:rPr>
              <a:t>变化。</a:t>
            </a:r>
            <a:endParaRPr lang="zh-CN" altLang="en-US">
              <a:latin typeface="楷体" panose="02010609060101010101" pitchFamily="49" charset="-122"/>
              <a:ea typeface="楷体" panose="02010609060101010101" pitchFamily="49" charset="-122"/>
              <a:cs typeface="楷体" panose="02010609060101010101" pitchFamily="49" charset="-122"/>
            </a:endParaRPr>
          </a:p>
          <a:p>
            <a:r>
              <a:rPr lang="en-US" altLang="zh-CN">
                <a:latin typeface="楷体" panose="02010609060101010101" pitchFamily="49" charset="-122"/>
                <a:ea typeface="楷体" panose="02010609060101010101" pitchFamily="49" charset="-122"/>
                <a:cs typeface="楷体" panose="02010609060101010101" pitchFamily="49" charset="-122"/>
              </a:rPr>
              <a:t>4. </a:t>
            </a:r>
            <a:r>
              <a:rPr lang="zh-CN" altLang="en-US">
                <a:latin typeface="楷体" panose="02010609060101010101" pitchFamily="49" charset="-122"/>
                <a:ea typeface="楷体" panose="02010609060101010101" pitchFamily="49" charset="-122"/>
                <a:cs typeface="楷体" panose="02010609060101010101" pitchFamily="49" charset="-122"/>
                <a:sym typeface="+mn-ea"/>
              </a:rPr>
              <a:t>第一个约束的常数项从</a:t>
            </a:r>
            <a:r>
              <a:rPr lang="en-US" altLang="zh-CN">
                <a:latin typeface="楷体" panose="02010609060101010101" pitchFamily="49" charset="-122"/>
                <a:ea typeface="楷体" panose="02010609060101010101" pitchFamily="49" charset="-122"/>
                <a:cs typeface="楷体" panose="02010609060101010101" pitchFamily="49" charset="-122"/>
                <a:sym typeface="+mn-ea"/>
              </a:rPr>
              <a:t>30</a:t>
            </a:r>
            <a:r>
              <a:rPr lang="zh-CN" altLang="en-US">
                <a:latin typeface="楷体" panose="02010609060101010101" pitchFamily="49" charset="-122"/>
                <a:ea typeface="楷体" panose="02010609060101010101" pitchFamily="49" charset="-122"/>
                <a:cs typeface="楷体" panose="02010609060101010101" pitchFamily="49" charset="-122"/>
                <a:sym typeface="+mn-ea"/>
              </a:rPr>
              <a:t>减少到</a:t>
            </a:r>
            <a:r>
              <a:rPr lang="en-US" altLang="zh-CN">
                <a:latin typeface="楷体" panose="02010609060101010101" pitchFamily="49" charset="-122"/>
                <a:ea typeface="楷体" panose="02010609060101010101" pitchFamily="49" charset="-122"/>
                <a:cs typeface="楷体" panose="02010609060101010101" pitchFamily="49" charset="-122"/>
                <a:sym typeface="+mn-ea"/>
              </a:rPr>
              <a:t>15</a:t>
            </a:r>
            <a:r>
              <a:rPr lang="zh-CN" altLang="en-US">
                <a:latin typeface="楷体" panose="02010609060101010101" pitchFamily="49" charset="-122"/>
                <a:ea typeface="楷体" panose="02010609060101010101" pitchFamily="49" charset="-122"/>
                <a:cs typeface="楷体" panose="02010609060101010101" pitchFamily="49" charset="-122"/>
                <a:sym typeface="+mn-ea"/>
              </a:rPr>
              <a:t>，而第二个约束的常数项从</a:t>
            </a:r>
            <a:r>
              <a:rPr lang="en-US" altLang="zh-CN">
                <a:latin typeface="楷体" panose="02010609060101010101" pitchFamily="49" charset="-122"/>
                <a:ea typeface="楷体" panose="02010609060101010101" pitchFamily="49" charset="-122"/>
                <a:cs typeface="楷体" panose="02010609060101010101" pitchFamily="49" charset="-122"/>
                <a:sym typeface="+mn-ea"/>
              </a:rPr>
              <a:t>15</a:t>
            </a:r>
            <a:r>
              <a:rPr lang="zh-CN" altLang="en-US">
                <a:latin typeface="楷体" panose="02010609060101010101" pitchFamily="49" charset="-122"/>
                <a:ea typeface="楷体" panose="02010609060101010101" pitchFamily="49" charset="-122"/>
                <a:cs typeface="楷体" panose="02010609060101010101" pitchFamily="49" charset="-122"/>
                <a:sym typeface="+mn-ea"/>
              </a:rPr>
              <a:t>增加到</a:t>
            </a:r>
            <a:r>
              <a:rPr lang="en-US" altLang="zh-CN">
                <a:latin typeface="楷体" panose="02010609060101010101" pitchFamily="49" charset="-122"/>
                <a:ea typeface="楷体" panose="02010609060101010101" pitchFamily="49" charset="-122"/>
                <a:cs typeface="楷体" panose="02010609060101010101" pitchFamily="49" charset="-122"/>
                <a:sym typeface="+mn-ea"/>
              </a:rPr>
              <a:t>80</a:t>
            </a:r>
            <a:r>
              <a:rPr lang="zh-CN" altLang="en-US">
                <a:latin typeface="楷体" panose="02010609060101010101" pitchFamily="49" charset="-122"/>
                <a:ea typeface="楷体" panose="02010609060101010101" pitchFamily="49" charset="-122"/>
                <a:cs typeface="楷体" panose="02010609060101010101" pitchFamily="49" charset="-122"/>
                <a:sym typeface="+mn-ea"/>
              </a:rPr>
              <a:t>时，对偶价格是否发生变化。</a:t>
            </a:r>
            <a:endParaRPr lang="en-US" altLang="zh-CN">
              <a:latin typeface="楷体" panose="02010609060101010101" pitchFamily="49" charset="-122"/>
              <a:ea typeface="楷体" panose="02010609060101010101" pitchFamily="49" charset="-122"/>
              <a:cs typeface="楷体" panose="02010609060101010101" pitchFamily="49" charset="-122"/>
            </a:endParaRPr>
          </a:p>
        </p:txBody>
      </p:sp>
      <p:pic>
        <p:nvPicPr>
          <p:cNvPr id="5" name="图片 4"/>
          <p:cNvPicPr>
            <a:picLocks noChangeAspect="1"/>
          </p:cNvPicPr>
          <p:nvPr/>
        </p:nvPicPr>
        <p:blipFill>
          <a:blip r:embed="rId1"/>
          <a:stretch>
            <a:fillRect/>
          </a:stretch>
        </p:blipFill>
        <p:spPr>
          <a:xfrm>
            <a:off x="5050790" y="254635"/>
            <a:ext cx="6250305" cy="409702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楷体" panose="02010609060101010101" pitchFamily="49" charset="-122"/>
                <a:ea typeface="楷体" panose="02010609060101010101" pitchFamily="49" charset="-122"/>
              </a:rPr>
              <a:t>总结</a:t>
            </a:r>
            <a:endParaRPr lang="en-US" dirty="0">
              <a:latin typeface="楷体" panose="02010609060101010101" pitchFamily="49" charset="-122"/>
              <a:ea typeface="楷体" panose="02010609060101010101" pitchFamily="49" charset="-122"/>
            </a:endParaRPr>
          </a:p>
        </p:txBody>
      </p:sp>
      <p:sp>
        <p:nvSpPr>
          <p:cNvPr id="3" name="Content Placeholder 2"/>
          <p:cNvSpPr>
            <a:spLocks noGrp="1"/>
          </p:cNvSpPr>
          <p:nvPr>
            <p:ph idx="1"/>
          </p:nvPr>
        </p:nvSpPr>
        <p:spPr/>
        <p:txBody>
          <a:bodyPr>
            <a:normAutofit fontScale="92500" lnSpcReduction="20000"/>
          </a:bodyPr>
          <a:lstStyle/>
          <a:p>
            <a:r>
              <a:rPr lang="zh-CN" altLang="en-US" dirty="0">
                <a:latin typeface="楷体" panose="02010609060101010101" pitchFamily="49" charset="-122"/>
                <a:ea typeface="楷体" panose="02010609060101010101" pitchFamily="49" charset="-122"/>
              </a:rPr>
              <a:t>管理运筹学软件的输出分析：在任意给定的输出结果中确定以下问题的答案：</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最优解和最优值是多少？</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对偶价格是多少？有什么含义？</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松弛</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剩余变量是多少？有什么含义？</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相差值是多少？有什么含义？</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常数项的上下限是多少？有什么含义？</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目标函数系数的上下限是多少？有什么含义？</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百分之一百法则：</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决策变量系数的百分之一百法则</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常数项的百分之一百发展</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其他注意问题：</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目标函数为求最小值时注意对偶价格符号</a:t>
            </a:r>
            <a:endParaRPr lang="en-US" altLang="zh-CN" dirty="0">
              <a:latin typeface="楷体" panose="02010609060101010101" pitchFamily="49" charset="-122"/>
              <a:ea typeface="楷体" panose="02010609060101010101" pitchFamily="49" charset="-122"/>
            </a:endParaRPr>
          </a:p>
          <a:p>
            <a:pPr lvl="1"/>
            <a:endParaRPr lang="en-US" dirty="0">
              <a:latin typeface="楷体" panose="02010609060101010101" pitchFamily="49" charset="-122"/>
              <a:ea typeface="楷体" panose="02010609060101010101"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err="1">
                <a:latin typeface="华文楷体" panose="02010600040101010101" charset="-122"/>
                <a:ea typeface="华文楷体" panose="02010600040101010101" charset="-122"/>
              </a:rPr>
              <a:t>课后</a:t>
            </a:r>
            <a:r>
              <a:rPr lang="zh-CN" altLang="en-US" dirty="0" err="1">
                <a:latin typeface="华文楷体" panose="02010600040101010101" charset="-122"/>
                <a:ea typeface="华文楷体" panose="02010600040101010101" charset="-122"/>
              </a:rPr>
              <a:t>作业</a:t>
            </a:r>
            <a:endParaRPr lang="zh-CN" altLang="en-US" dirty="0" err="1">
              <a:latin typeface="华文楷体" panose="02010600040101010101" charset="-122"/>
              <a:ea typeface="华文楷体" panose="02010600040101010101" charset="-122"/>
            </a:endParaRPr>
          </a:p>
        </p:txBody>
      </p:sp>
      <p:sp>
        <p:nvSpPr>
          <p:cNvPr id="3" name="Content Placeholder 2"/>
          <p:cNvSpPr>
            <a:spLocks noGrp="1"/>
          </p:cNvSpPr>
          <p:nvPr>
            <p:ph idx="1"/>
          </p:nvPr>
        </p:nvSpPr>
        <p:spPr/>
        <p:txBody>
          <a:bodyPr>
            <a:normAutofit/>
          </a:bodyPr>
          <a:lstStyle/>
          <a:p>
            <a:r>
              <a:rPr lang="zh-CN" altLang="en-US" dirty="0">
                <a:latin typeface="华文楷体" panose="02010600040101010101" charset="-122"/>
                <a:ea typeface="华文楷体" panose="02010600040101010101" charset="-122"/>
                <a:cs typeface="华文楷体" panose="02010600040101010101" charset="-122"/>
              </a:rPr>
              <a:t>第三章课后习题</a:t>
            </a:r>
            <a:r>
              <a:rPr lang="en-US" altLang="zh-CN" dirty="0">
                <a:latin typeface="华文楷体" panose="02010600040101010101" charset="-122"/>
                <a:ea typeface="华文楷体" panose="02010600040101010101" charset="-122"/>
                <a:cs typeface="华文楷体" panose="02010600040101010101" charset="-122"/>
              </a:rPr>
              <a:t>7</a:t>
            </a:r>
            <a:r>
              <a:rPr lang="zh-CN" altLang="en-US" dirty="0">
                <a:latin typeface="华文楷体" panose="02010600040101010101" charset="-122"/>
                <a:ea typeface="华文楷体" panose="02010600040101010101" charset="-122"/>
                <a:cs typeface="华文楷体" panose="02010600040101010101" charset="-122"/>
              </a:rPr>
              <a:t>，</a:t>
            </a:r>
            <a:r>
              <a:rPr lang="en-US" altLang="zh-CN" dirty="0">
                <a:latin typeface="华文楷体" panose="02010600040101010101" charset="-122"/>
                <a:ea typeface="华文楷体" panose="02010600040101010101" charset="-122"/>
                <a:cs typeface="华文楷体" panose="02010600040101010101" charset="-122"/>
              </a:rPr>
              <a:t>8</a:t>
            </a:r>
            <a:r>
              <a:rPr lang="zh-CN" altLang="en-US" dirty="0">
                <a:latin typeface="华文楷体" panose="02010600040101010101" charset="-122"/>
                <a:ea typeface="华文楷体" panose="02010600040101010101" charset="-122"/>
                <a:cs typeface="华文楷体" panose="02010600040101010101" charset="-122"/>
              </a:rPr>
              <a:t>（第五版）</a:t>
            </a:r>
            <a:endParaRPr lang="zh-CN" altLang="en-US" dirty="0">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Body"/>
</p:tagLst>
</file>

<file path=ppt/tags/tag3.xml><?xml version="1.0" encoding="utf-8"?>
<p:tagLst xmlns:p="http://schemas.openxmlformats.org/presentationml/2006/main">
  <p:tag name="RAINPROBLEM" val="ProblemRemarkBoard"/>
</p:tagLst>
</file>

<file path=ppt/tags/tag4.xml><?xml version="1.0" encoding="utf-8"?>
<p:tagLst xmlns:p="http://schemas.openxmlformats.org/presentationml/2006/main">
  <p:tag name="PROBLEMREMARKTITLE" val="ProblemRemarkBoardTip"/>
</p:tagLst>
</file>

<file path=ppt/tags/tag5.xml><?xml version="1.0" encoding="utf-8"?>
<p:tagLst xmlns:p="http://schemas.openxmlformats.org/presentationml/2006/main">
  <p:tag name="RAINPROBLEMTYPE" val="ProblemTypeMarker"/>
</p:tagLst>
</file>

<file path=ppt/tags/tag6.xml><?xml version="1.0" encoding="utf-8"?>
<p:tagLst xmlns:p="http://schemas.openxmlformats.org/presentationml/2006/main">
  <p:tag name="RAINPROBLEMTYPE" val="ProblemTypeMarker"/>
</p:tagLst>
</file>

<file path=ppt/tags/tag7.xml><?xml version="1.0" encoding="utf-8"?>
<p:tagLst xmlns:p="http://schemas.openxmlformats.org/presentationml/2006/main">
  <p:tag name="RAINPROBLEMTYPE" val="ProblemTypeMarker"/>
</p:tagLst>
</file>

<file path=ppt/tags/tag8.xml><?xml version="1.0" encoding="utf-8"?>
<p:tagLst xmlns:p="http://schemas.openxmlformats.org/presentationml/2006/main">
  <p:tag name="RAINPROBLEMTYPE" val="ProblemTypeMarker"/>
</p:tagLst>
</file>

<file path=ppt/tags/tag9.xml><?xml version="1.0" encoding="utf-8"?>
<p:tagLst xmlns:p="http://schemas.openxmlformats.org/presentationml/2006/main">
  <p:tag name="RAINPROBLEMTYPE" val="ProblemTypeMarker"/>
</p:tagLst>
</file>

<file path=ppt/tags/tag10.xml><?xml version="1.0" encoding="utf-8"?>
<p:tagLst xmlns:p="http://schemas.openxmlformats.org/presentationml/2006/main">
  <p:tag name="RAINPROBLEM" val="FillBlank"/>
  <p:tag name="PROBLEMBLANKKEYWORD" val="填空"/>
  <p:tag name="PROBLEMHASREMARK" val="True"/>
  <p:tag name="PROBLEMREMARK" val="80*50+100*250=29000"/>
  <p:tag name="PROBLEMBLANKORDER" val="False"/>
  <p:tag name="PROBLEMBLANK" val="[{&quot;num&quot;:1,&quot;caseSensitive&quot;:false,&quot;fuzzyMatch&quot;:true,&quot;Score&quot;:1.0,&quot;answers&quot;:[&quot;29000&quot;]}]"/>
  <p:tag name="PROBLEMSCORE" val="1.0"/>
</p:tagLst>
</file>

<file path=ppt/tags/tag11.xml><?xml version="1.0" encoding="utf-8"?>
<p:tagLst xmlns:p="http://schemas.openxmlformats.org/presentationml/2006/main">
  <p:tag name="RAINPROBLEM" val="ProblemBody"/>
</p:tagLst>
</file>

<file path=ppt/tags/tag12.xml><?xml version="1.0" encoding="utf-8"?>
<p:tagLst xmlns:p="http://schemas.openxmlformats.org/presentationml/2006/main">
  <p:tag name="RAINPROBLEM" val="ProblemBody"/>
</p:tagLst>
</file>

<file path=ppt/tags/tag13.xml><?xml version="1.0" encoding="utf-8"?>
<p:tagLst xmlns:p="http://schemas.openxmlformats.org/presentationml/2006/main">
  <p:tag name="RAINPROBLEM" val="ProblemItem"/>
</p:tagLst>
</file>

<file path=ppt/tags/tag14.xml><?xml version="1.0" encoding="utf-8"?>
<p:tagLst xmlns:p="http://schemas.openxmlformats.org/presentationml/2006/main">
  <p:tag name="RAINPROBLEM" val="ProblemItem"/>
</p:tagLst>
</file>

<file path=ppt/tags/tag15.xml><?xml version="1.0" encoding="utf-8"?>
<p:tagLst xmlns:p="http://schemas.openxmlformats.org/presentationml/2006/main">
  <p:tag name="RAINPROBLEM" val="ProblemBullet"/>
  <p:tag name="RAINPROBLEMTYPE" val="MultipleChoice"/>
  <p:tag name="RAINBULLET" val="Wrong"/>
</p:tagLst>
</file>

<file path=ppt/tags/tag16.xml><?xml version="1.0" encoding="utf-8"?>
<p:tagLst xmlns:p="http://schemas.openxmlformats.org/presentationml/2006/main">
  <p:tag name="RAINPROBLEM" val="ProblemRemarkBoard"/>
</p:tagLst>
</file>

<file path=ppt/tags/tag17.xml><?xml version="1.0" encoding="utf-8"?>
<p:tagLst xmlns:p="http://schemas.openxmlformats.org/presentationml/2006/main">
  <p:tag name="PROBLEMREMARKTITLE" val="ProblemRemarkBoardTip"/>
</p:tagLst>
</file>

<file path=ppt/tags/tag18.xml><?xml version="1.0" encoding="utf-8"?>
<p:tagLst xmlns:p="http://schemas.openxmlformats.org/presentationml/2006/main">
  <p:tag name="PROBLEMREMARKTITLE" val="ProblemRemarkBoardTitle"/>
</p:tagLst>
</file>

<file path=ppt/tags/tag19.xml><?xml version="1.0" encoding="utf-8"?>
<p:tagLst xmlns:p="http://schemas.openxmlformats.org/presentationml/2006/main">
  <p:tag name="PROBLEMREMARKTITLE" val="ProblemRemarkBoardTitle"/>
</p:tagLst>
</file>

<file path=ppt/tags/tag20.xml><?xml version="1.0" encoding="utf-8"?>
<p:tagLst xmlns:p="http://schemas.openxmlformats.org/presentationml/2006/main">
  <p:tag name="PROBLEMREMARKTITLE" val="ProblemRemarkBoardTitle"/>
</p:tagLst>
</file>

<file path=ppt/tags/tag21.xml><?xml version="1.0" encoding="utf-8"?>
<p:tagLst xmlns:p="http://schemas.openxmlformats.org/presentationml/2006/main">
  <p:tag name="PROBLEMREMARKTITLE" val="ProblemRemarkBoardTitle"/>
</p:tagLst>
</file>

<file path=ppt/tags/tag22.xml><?xml version="1.0" encoding="utf-8"?>
<p:tagLst xmlns:p="http://schemas.openxmlformats.org/presentationml/2006/main">
  <p:tag name="RAINPROBLEM" val="ProblemRemark"/>
</p:tagLst>
</file>

<file path=ppt/tags/tag23.xml><?xml version="1.0" encoding="utf-8"?>
<p:tagLst xmlns:p="http://schemas.openxmlformats.org/presentationml/2006/main">
  <p:tag name="RAINPROBLEMTYPE" val="ProblemTypeMarker"/>
</p:tagLst>
</file>

<file path=ppt/tags/tag24.xml><?xml version="1.0" encoding="utf-8"?>
<p:tagLst xmlns:p="http://schemas.openxmlformats.org/presentationml/2006/main">
  <p:tag name="RAINPROBLEMTYPE" val="ProblemTypeMarker"/>
</p:tagLst>
</file>

<file path=ppt/tags/tag25.xml><?xml version="1.0" encoding="utf-8"?>
<p:tagLst xmlns:p="http://schemas.openxmlformats.org/presentationml/2006/main">
  <p:tag name="RAINPROBLEMTYPE" val="ProblemTypeMarker"/>
</p:tagLst>
</file>

<file path=ppt/tags/tag26.xml><?xml version="1.0" encoding="utf-8"?>
<p:tagLst xmlns:p="http://schemas.openxmlformats.org/presentationml/2006/main">
  <p:tag name="RAINPROBLEMTYPE" val="ProblemTypeMarker"/>
</p:tagLst>
</file>

<file path=ppt/tags/tag27.xml><?xml version="1.0" encoding="utf-8"?>
<p:tagLst xmlns:p="http://schemas.openxmlformats.org/presentationml/2006/main">
  <p:tag name="RAINPROBLEMTYPE" val="ProblemTypeMarker"/>
</p:tagLst>
</file>

<file path=ppt/tags/tag28.xml><?xml version="1.0" encoding="utf-8"?>
<p:tagLst xmlns:p="http://schemas.openxmlformats.org/presentationml/2006/main">
  <p:tag name="RAINPROBLEM" val="ProblemBullet"/>
  <p:tag name="RAINPROBLEMTYPE" val="MultipleChoice"/>
  <p:tag name="RAINBULLET" val="Wrong"/>
</p:tagLst>
</file>

<file path=ppt/tags/tag29.xml><?xml version="1.0" encoding="utf-8"?>
<p:tagLst xmlns:p="http://schemas.openxmlformats.org/presentationml/2006/main">
  <p:tag name="RAINPROBLEM" val="MultipleChoice"/>
  <p:tag name="PROBLEMSCORE" val="1"/>
  <p:tag name="PROBLEMHASREMARK" val="True"/>
  <p:tag name="PROBLEMREMARK" val="因为产品I的单价变为150时，其大小以及超过了上限100，因此不能直接套用灵敏度公式。我们需要重新对最优解和最优值进行计算。"/>
</p:tagLst>
</file>

<file path=ppt/tags/tag30.xml><?xml version="1.0" encoding="utf-8"?>
<p:tagLst xmlns:p="http://schemas.openxmlformats.org/presentationml/2006/main">
  <p:tag name="RAINPROBLEM" val="ProblemBody"/>
</p:tagLst>
</file>

<file path=ppt/tags/tag31.xml><?xml version="1.0" encoding="utf-8"?>
<p:tagLst xmlns:p="http://schemas.openxmlformats.org/presentationml/2006/main">
  <p:tag name="RAINPROBLEM" val="ProblemRemarkBoard"/>
</p:tagLst>
</file>

<file path=ppt/tags/tag32.xml><?xml version="1.0" encoding="utf-8"?>
<p:tagLst xmlns:p="http://schemas.openxmlformats.org/presentationml/2006/main">
  <p:tag name="PROBLEMREMARKTITLE" val="ProblemRemarkBoardTip"/>
</p:tagLst>
</file>

<file path=ppt/tags/tag33.xml><?xml version="1.0" encoding="utf-8"?>
<p:tagLst xmlns:p="http://schemas.openxmlformats.org/presentationml/2006/main">
  <p:tag name="RAINPROBLEM" val="ProblemRemark"/>
</p:tagLst>
</file>

<file path=ppt/tags/tag34.xml><?xml version="1.0" encoding="utf-8"?>
<p:tagLst xmlns:p="http://schemas.openxmlformats.org/presentationml/2006/main">
  <p:tag name="PROBLEMREMARKTITLE" val="ProblemRemarkBoardTitle"/>
</p:tagLst>
</file>

<file path=ppt/tags/tag35.xml><?xml version="1.0" encoding="utf-8"?>
<p:tagLst xmlns:p="http://schemas.openxmlformats.org/presentationml/2006/main">
  <p:tag name="PROBLEMREMARKTITLE" val="ProblemRemarkBoardTitle"/>
</p:tagLst>
</file>

<file path=ppt/tags/tag36.xml><?xml version="1.0" encoding="utf-8"?>
<p:tagLst xmlns:p="http://schemas.openxmlformats.org/presentationml/2006/main">
  <p:tag name="PROBLEMREMARKTITLE" val="ProblemRemarkBoardTitle"/>
</p:tagLst>
</file>

<file path=ppt/tags/tag37.xml><?xml version="1.0" encoding="utf-8"?>
<p:tagLst xmlns:p="http://schemas.openxmlformats.org/presentationml/2006/main">
  <p:tag name="PROBLEMREMARKTITLE" val="ProblemRemarkBoardTitle"/>
</p:tagLst>
</file>

<file path=ppt/tags/tag38.xml><?xml version="1.0" encoding="utf-8"?>
<p:tagLst xmlns:p="http://schemas.openxmlformats.org/presentationml/2006/main">
  <p:tag name="RAINPROBLEMTYPE" val="ProblemTypeMarker"/>
</p:tagLst>
</file>

<file path=ppt/tags/tag39.xml><?xml version="1.0" encoding="utf-8"?>
<p:tagLst xmlns:p="http://schemas.openxmlformats.org/presentationml/2006/main">
  <p:tag name="RAINPROBLEMTYPE" val="ProblemTypeMarker"/>
</p:tagLst>
</file>

<file path=ppt/tags/tag40.xml><?xml version="1.0" encoding="utf-8"?>
<p:tagLst xmlns:p="http://schemas.openxmlformats.org/presentationml/2006/main">
  <p:tag name="RAINPROBLEMTYPE" val="ProblemTypeMarker"/>
</p:tagLst>
</file>

<file path=ppt/tags/tag41.xml><?xml version="1.0" encoding="utf-8"?>
<p:tagLst xmlns:p="http://schemas.openxmlformats.org/presentationml/2006/main">
  <p:tag name="RAINPROBLEMTYPE" val="ProblemTypeMarker"/>
</p:tagLst>
</file>

<file path=ppt/tags/tag42.xml><?xml version="1.0" encoding="utf-8"?>
<p:tagLst xmlns:p="http://schemas.openxmlformats.org/presentationml/2006/main">
  <p:tag name="RAINPROBLEMTYPE" val="ProblemTypeMarker"/>
</p:tagLst>
</file>

<file path=ppt/tags/tag43.xml><?xml version="1.0" encoding="utf-8"?>
<p:tagLst xmlns:p="http://schemas.openxmlformats.org/presentationml/2006/main">
  <p:tag name="RAINPROBLEM" val="FillBlank"/>
  <p:tag name="PROBLEMBLANKKEYWORD" val="填空"/>
  <p:tag name="PROBLEMHASREMARK" val="True"/>
  <p:tag name="PROBLEMBLANKORDER" val="False"/>
  <p:tag name="PROBLEMREMARK" val="因为原料A的对偶价格0元，所以原料A总量从400kg增加到500kg时，最大利润不会改变。"/>
  <p:tag name="PROBLEMBLANK" val="[{&quot;num&quot;:1,&quot;caseSensitive&quot;:false,&quot;fuzzyMatch&quot;:true,&quot;Score&quot;:1.0,&quot;answers&quot;:[&quot;0&quot;]}]"/>
  <p:tag name="PROBLEMSCORE" val="1.0"/>
</p:tagLst>
</file>

<file path=ppt/tags/tag44.xml><?xml version="1.0" encoding="utf-8"?>
<p:tagLst xmlns:p="http://schemas.openxmlformats.org/presentationml/2006/main">
  <p:tag name="RAINPROBLEM" val="ProblemBody"/>
</p:tagLst>
</file>

<file path=ppt/tags/tag45.xml><?xml version="1.0" encoding="utf-8"?>
<p:tagLst xmlns:p="http://schemas.openxmlformats.org/presentationml/2006/main">
  <p:tag name="RAINPROBLEM" val="ProblemBody"/>
</p:tagLst>
</file>

<file path=ppt/tags/tag46.xml><?xml version="1.0" encoding="utf-8"?>
<p:tagLst xmlns:p="http://schemas.openxmlformats.org/presentationml/2006/main">
  <p:tag name="RAINPROBLEM" val="ProblemItem"/>
</p:tagLst>
</file>

<file path=ppt/tags/tag47.xml><?xml version="1.0" encoding="utf-8"?>
<p:tagLst xmlns:p="http://schemas.openxmlformats.org/presentationml/2006/main">
  <p:tag name="RAINPROBLEM" val="ProblemItem"/>
</p:tagLst>
</file>

<file path=ppt/tags/tag48.xml><?xml version="1.0" encoding="utf-8"?>
<p:tagLst xmlns:p="http://schemas.openxmlformats.org/presentationml/2006/main">
  <p:tag name="RAINPROBLEM" val="ProblemBullet"/>
  <p:tag name="RAINPROBLEMTYPE" val="MultipleChoice"/>
  <p:tag name="RAINBULLET" val="Wrong"/>
</p:tagLst>
</file>

<file path=ppt/tags/tag49.xml><?xml version="1.0" encoding="utf-8"?>
<p:tagLst xmlns:p="http://schemas.openxmlformats.org/presentationml/2006/main">
  <p:tag name="RAINPROBLEM" val="ProblemRemarkBoard"/>
</p:tagLst>
</file>

<file path=ppt/tags/tag50.xml><?xml version="1.0" encoding="utf-8"?>
<p:tagLst xmlns:p="http://schemas.openxmlformats.org/presentationml/2006/main">
  <p:tag name="PROBLEMREMARKTITLE" val="ProblemRemarkBoardTip"/>
</p:tagLst>
</file>

<file path=ppt/tags/tag51.xml><?xml version="1.0" encoding="utf-8"?>
<p:tagLst xmlns:p="http://schemas.openxmlformats.org/presentationml/2006/main">
  <p:tag name="PROBLEMREMARKTITLE" val="ProblemRemarkBoardTitle"/>
</p:tagLst>
</file>

<file path=ppt/tags/tag52.xml><?xml version="1.0" encoding="utf-8"?>
<p:tagLst xmlns:p="http://schemas.openxmlformats.org/presentationml/2006/main">
  <p:tag name="PROBLEMREMARKTITLE" val="ProblemRemarkBoardTitle"/>
</p:tagLst>
</file>

<file path=ppt/tags/tag53.xml><?xml version="1.0" encoding="utf-8"?>
<p:tagLst xmlns:p="http://schemas.openxmlformats.org/presentationml/2006/main">
  <p:tag name="PROBLEMREMARKTITLE" val="ProblemRemarkBoardTitle"/>
</p:tagLst>
</file>

<file path=ppt/tags/tag54.xml><?xml version="1.0" encoding="utf-8"?>
<p:tagLst xmlns:p="http://schemas.openxmlformats.org/presentationml/2006/main">
  <p:tag name="PROBLEMREMARKTITLE" val="ProblemRemarkBoardTitle"/>
</p:tagLst>
</file>

<file path=ppt/tags/tag55.xml><?xml version="1.0" encoding="utf-8"?>
<p:tagLst xmlns:p="http://schemas.openxmlformats.org/presentationml/2006/main">
  <p:tag name="RAINPROBLEM" val="ProblemRemark"/>
</p:tagLst>
</file>

<file path=ppt/tags/tag56.xml><?xml version="1.0" encoding="utf-8"?>
<p:tagLst xmlns:p="http://schemas.openxmlformats.org/presentationml/2006/main">
  <p:tag name="RAINPROBLEMTYPE" val="ProblemTypeMarker"/>
</p:tagLst>
</file>

<file path=ppt/tags/tag57.xml><?xml version="1.0" encoding="utf-8"?>
<p:tagLst xmlns:p="http://schemas.openxmlformats.org/presentationml/2006/main">
  <p:tag name="RAINPROBLEMTYPE" val="ProblemTypeMarker"/>
</p:tagLst>
</file>

<file path=ppt/tags/tag58.xml><?xml version="1.0" encoding="utf-8"?>
<p:tagLst xmlns:p="http://schemas.openxmlformats.org/presentationml/2006/main">
  <p:tag name="RAINPROBLEMTYPE" val="ProblemTypeMarker"/>
</p:tagLst>
</file>

<file path=ppt/tags/tag59.xml><?xml version="1.0" encoding="utf-8"?>
<p:tagLst xmlns:p="http://schemas.openxmlformats.org/presentationml/2006/main">
  <p:tag name="RAINPROBLEMTYPE" val="ProblemTypeMarker"/>
</p:tagLst>
</file>

<file path=ppt/tags/tag60.xml><?xml version="1.0" encoding="utf-8"?>
<p:tagLst xmlns:p="http://schemas.openxmlformats.org/presentationml/2006/main">
  <p:tag name="RAINPROBLEMTYPE" val="ProblemTypeMarker"/>
</p:tagLst>
</file>

<file path=ppt/tags/tag61.xml><?xml version="1.0" encoding="utf-8"?>
<p:tagLst xmlns:p="http://schemas.openxmlformats.org/presentationml/2006/main">
  <p:tag name="RAINPROBLEM" val="ProblemBullet"/>
  <p:tag name="RAINPROBLEMTYPE" val="MultipleChoice"/>
  <p:tag name="RAINBULLET" val="Wrong"/>
</p:tagLst>
</file>

<file path=ppt/tags/tag62.xml><?xml version="1.0" encoding="utf-8"?>
<p:tagLst xmlns:p="http://schemas.openxmlformats.org/presentationml/2006/main">
  <p:tag name="RAINPROBLEM" val="MultipleChoice"/>
  <p:tag name="PROBLEMSCORE" val="1"/>
  <p:tag name="PROBLEMHASREMARK" val="True"/>
  <p:tag name="PROBLEMREMARK" val="因为台时总数变为350时，其大小以及超过了上限325，因此不能直接套用灵敏度公式。我们需要重新对最优解和最优值进行计算。"/>
</p:tagLst>
</file>

<file path=ppt/theme/theme1.xml><?xml version="1.0" encoding="utf-8"?>
<a:theme xmlns:a="http://schemas.openxmlformats.org/drawingml/2006/main" name="华中农业大学应届生毕业论文答辩通用ppt模板">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主题1">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华中农业大学应届生毕业论文答辩通用ppt模板</Template>
  <TotalTime>0</TotalTime>
  <Words>4980</Words>
  <Application>WPS 演示</Application>
  <PresentationFormat>宽屏</PresentationFormat>
  <Paragraphs>361</Paragraphs>
  <Slides>40</Slides>
  <Notes>0</Notes>
  <HiddenSlides>0</HiddenSlides>
  <MMClips>0</MMClips>
  <ScaleCrop>false</ScaleCrop>
  <HeadingPairs>
    <vt:vector size="6" baseType="variant">
      <vt:variant>
        <vt:lpstr>已用的字体</vt:lpstr>
      </vt:variant>
      <vt:variant>
        <vt:i4>18</vt:i4>
      </vt:variant>
      <vt:variant>
        <vt:lpstr>主题</vt:lpstr>
      </vt:variant>
      <vt:variant>
        <vt:i4>5</vt:i4>
      </vt:variant>
      <vt:variant>
        <vt:lpstr>幻灯片标题</vt:lpstr>
      </vt:variant>
      <vt:variant>
        <vt:i4>40</vt:i4>
      </vt:variant>
    </vt:vector>
  </HeadingPairs>
  <TitlesOfParts>
    <vt:vector size="63" baseType="lpstr">
      <vt:lpstr>Arial</vt:lpstr>
      <vt:lpstr>宋体</vt:lpstr>
      <vt:lpstr>Wingdings</vt:lpstr>
      <vt:lpstr>微软雅黑</vt:lpstr>
      <vt:lpstr>DIN Light</vt:lpstr>
      <vt:lpstr>微软雅黑 Light</vt:lpstr>
      <vt:lpstr>楷体</vt:lpstr>
      <vt:lpstr>等线</vt:lpstr>
      <vt:lpstr>Segoe UI Light</vt:lpstr>
      <vt:lpstr>华文楷体</vt:lpstr>
      <vt:lpstr>Times New Roman</vt:lpstr>
      <vt:lpstr>Cambria Math</vt:lpstr>
      <vt:lpstr>Arial Unicode MS</vt:lpstr>
      <vt:lpstr>等线 Light</vt:lpstr>
      <vt:lpstr>Calibri</vt:lpstr>
      <vt:lpstr>Courant</vt:lpstr>
      <vt:lpstr>仿宋</vt:lpstr>
      <vt:lpstr>华文宋体</vt:lpstr>
      <vt:lpstr>华中农业大学应届生毕业论文答辩通用ppt模板</vt:lpstr>
      <vt:lpstr>1_Office 主题​​</vt:lpstr>
      <vt:lpstr>主题1</vt:lpstr>
      <vt:lpstr>自定义设计方案</vt:lpstr>
      <vt:lpstr>2_Office 主题​​</vt:lpstr>
      <vt:lpstr>PowerPoint 演示文稿</vt:lpstr>
      <vt:lpstr>学习计划与重要知识点</vt:lpstr>
      <vt:lpstr>专业运筹学软件介绍 - Lingo</vt:lpstr>
      <vt:lpstr>专业运筹学软件介绍 - CPLEX</vt:lpstr>
      <vt:lpstr>专业运筹学软件介绍 - Julia</vt:lpstr>
      <vt:lpstr>管理运筹学软件的操作方法 – 问题选择界面 </vt:lpstr>
      <vt:lpstr>管理运筹学软件的操作方法 – 例1回顾</vt:lpstr>
      <vt:lpstr>管理运筹学软件的操作方法 – 线性规划初始界面</vt:lpstr>
      <vt:lpstr>管理运筹学软件的操作方法</vt:lpstr>
      <vt:lpstr>管理运筹学软件的操作方法</vt:lpstr>
      <vt:lpstr>管理运筹学软件的操作方法</vt:lpstr>
      <vt:lpstr>管理运筹学软件的操作方法</vt:lpstr>
      <vt:lpstr>管理运筹学软件的操作方法</vt:lpstr>
      <vt:lpstr>管理运筹学软件的操作方法</vt:lpstr>
      <vt:lpstr>管理运筹学软件的操作方法 – 得到结果</vt:lpstr>
      <vt:lpstr>管理运筹学软件的输出分析 – 最优解，最优值与相差值</vt:lpstr>
      <vt:lpstr>管理运筹学软件的输出分析 – 相差值的意义</vt:lpstr>
      <vt:lpstr>管理运筹学软件的输出分析 – 灵敏度分析 </vt:lpstr>
      <vt:lpstr>PowerPoint 演示文稿</vt:lpstr>
      <vt:lpstr>PowerPoint 演示文稿</vt:lpstr>
      <vt:lpstr>管理运筹学软件的输出分析 –灵敏度分析 </vt:lpstr>
      <vt:lpstr>管理运筹学软件的输出分析 – 剩余变量与松弛变量</vt:lpstr>
      <vt:lpstr>管理运筹学软件的输出分析 – 灵敏度分析 </vt:lpstr>
      <vt:lpstr>管理运筹学软件的输出分析 – 灵敏度分析 </vt:lpstr>
      <vt:lpstr>PowerPoint 演示文稿</vt:lpstr>
      <vt:lpstr>PowerPoint 演示文稿</vt:lpstr>
      <vt:lpstr>管理运筹学软件的输出分析 – 灵敏度分析 </vt:lpstr>
      <vt:lpstr>百分之一百法则 </vt:lpstr>
      <vt:lpstr>百分之一百法则-目标函数决策变量系数</vt:lpstr>
      <vt:lpstr>百分之一百法则-目标函数决策变量系数</vt:lpstr>
      <vt:lpstr>百分之一百法则-约束条件中常数项</vt:lpstr>
      <vt:lpstr>百分之一百法则-约束条件中常数项</vt:lpstr>
      <vt:lpstr>百分之一百法则</vt:lpstr>
      <vt:lpstr>随堂练习1题目 – 例2</vt:lpstr>
      <vt:lpstr>随堂练习1</vt:lpstr>
      <vt:lpstr>注意：对偶价格与影子价格</vt:lpstr>
      <vt:lpstr>随堂练习1</vt:lpstr>
      <vt:lpstr>随堂练习2</vt:lpstr>
      <vt:lpstr>总结</vt:lpstr>
      <vt:lpstr>课后作业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Siyu Bian</dc:creator>
  <cp:lastModifiedBy>Lee</cp:lastModifiedBy>
  <cp:revision>95</cp:revision>
  <dcterms:created xsi:type="dcterms:W3CDTF">2023-05-09T07:03:00Z</dcterms:created>
  <dcterms:modified xsi:type="dcterms:W3CDTF">2025-10-21T14:10:49Z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2025E340351A4C62B7DFDD6541D7CCD8_12</vt:lpwstr>
  </property>
  <property fmtid="{D5CDD505-2E9C-101B-9397-08002B2CF9AE}" pid="3" name="KSOProductBuildVer">
    <vt:lpwstr>2052-12.1.0.19302</vt:lpwstr>
  </property>
</Properties>
</file>