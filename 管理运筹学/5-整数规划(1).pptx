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1"/>
  </p:notesMasterIdLst>
  <p:sldIdLst>
    <p:sldId id="258" r:id="rId6"/>
    <p:sldId id="259" r:id="rId7"/>
    <p:sldId id="260" r:id="rId8"/>
    <p:sldId id="261" r:id="rId9"/>
    <p:sldId id="298" r:id="rId10"/>
    <p:sldId id="299" r:id="rId12"/>
    <p:sldId id="300" r:id="rId13"/>
    <p:sldId id="301" r:id="rId14"/>
    <p:sldId id="269" r:id="rId15"/>
    <p:sldId id="270" r:id="rId16"/>
    <p:sldId id="297" r:id="rId17"/>
    <p:sldId id="271" r:id="rId18"/>
    <p:sldId id="282" r:id="rId19"/>
    <p:sldId id="273" r:id="rId20"/>
    <p:sldId id="274" r:id="rId21"/>
    <p:sldId id="277" r:id="rId22"/>
    <p:sldId id="275" r:id="rId23"/>
    <p:sldId id="362" r:id="rId24"/>
    <p:sldId id="262" r:id="rId25"/>
    <p:sldId id="263" r:id="rId26"/>
    <p:sldId id="302" r:id="rId27"/>
    <p:sldId id="304" r:id="rId28"/>
    <p:sldId id="305" r:id="rId29"/>
    <p:sldId id="306" r:id="rId30"/>
    <p:sldId id="265" r:id="rId31"/>
    <p:sldId id="267" r:id="rId32"/>
    <p:sldId id="307" r:id="rId33"/>
    <p:sldId id="308" r:id="rId34"/>
    <p:sldId id="309" r:id="rId35"/>
    <p:sldId id="316" r:id="rId36"/>
    <p:sldId id="317" r:id="rId37"/>
    <p:sldId id="318" r:id="rId38"/>
    <p:sldId id="319" r:id="rId39"/>
    <p:sldId id="320" r:id="rId40"/>
    <p:sldId id="321" r:id="rId41"/>
    <p:sldId id="322" r:id="rId42"/>
    <p:sldId id="310" r:id="rId43"/>
    <p:sldId id="311" r:id="rId44"/>
    <p:sldId id="312" r:id="rId45"/>
    <p:sldId id="313" r:id="rId46"/>
    <p:sldId id="314" r:id="rId47"/>
    <p:sldId id="315" r:id="rId48"/>
    <p:sldId id="369" r:id="rId49"/>
    <p:sldId id="370" r:id="rId50"/>
    <p:sldId id="323" r:id="rId51"/>
    <p:sldId id="324" r:id="rId52"/>
    <p:sldId id="325" r:id="rId53"/>
    <p:sldId id="326" r:id="rId54"/>
    <p:sldId id="327" r:id="rId55"/>
    <p:sldId id="328" r:id="rId56"/>
    <p:sldId id="329" r:id="rId57"/>
    <p:sldId id="330" r:id="rId58"/>
    <p:sldId id="331" r:id="rId59"/>
    <p:sldId id="366" r:id="rId60"/>
    <p:sldId id="367" r:id="rId61"/>
    <p:sldId id="348" r:id="rId62"/>
    <p:sldId id="349" r:id="rId63"/>
    <p:sldId id="350" r:id="rId64"/>
    <p:sldId id="351" r:id="rId65"/>
    <p:sldId id="352" r:id="rId66"/>
    <p:sldId id="353" r:id="rId67"/>
    <p:sldId id="354" r:id="rId68"/>
    <p:sldId id="355" r:id="rId69"/>
    <p:sldId id="356" r:id="rId70"/>
    <p:sldId id="368" r:id="rId71"/>
    <p:sldId id="276" r:id="rId72"/>
    <p:sldId id="279" r:id="rId73"/>
    <p:sldId id="280" r:id="rId74"/>
    <p:sldId id="281" r:id="rId75"/>
    <p:sldId id="361" r:id="rId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89" autoAdjust="0"/>
    <p:restoredTop sz="94660"/>
  </p:normalViewPr>
  <p:slideViewPr>
    <p:cSldViewPr snapToGrid="0">
      <p:cViewPr varScale="1">
        <p:scale>
          <a:sx n="123" d="100"/>
          <a:sy n="123" d="100"/>
        </p:scale>
        <p:origin x="224"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notesMaster" Target="notesMasters/notesMaster1.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6387" name="Rectangle 3"/>
          <p:cNvSpPr>
            <a:spLocks noGrp="1" noChangeArrowheads="1"/>
          </p:cNvSpPr>
          <p:nvPr>
            <p:ph type="body" idx="1"/>
          </p:nvPr>
        </p:nvSpPr>
        <p:spPr>
          <a:noFill/>
        </p:spPr>
        <p:txBody>
          <a:bodyPr/>
          <a:lstStyle/>
          <a:p>
            <a:pPr eaLnBrk="1" hangingPunct="1"/>
            <a:endParaRPr lang="zh-CN" altLang="zh-CN" dirty="0"/>
          </a:p>
        </p:txBody>
      </p:sp>
      <p:sp>
        <p:nvSpPr>
          <p:cNvPr id="1638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6</a:t>
            </a:r>
            <a:endParaRPr lang="zh-CN" altLang="zh-CN"/>
          </a:p>
        </p:txBody>
      </p:sp>
      <p:sp>
        <p:nvSpPr>
          <p:cNvPr id="1638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6387"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纯整数规划问题中所有变量都为非负整数。</a:t>
            </a:r>
            <a:endParaRPr lang="zh-CN" altLang="zh-CN"/>
          </a:p>
          <a:p>
            <a:pPr eaLnBrk="1" hangingPunct="1"/>
            <a:r>
              <a:rPr lang="zh-CN" altLang="zh-CN"/>
              <a:t>（A）对</a:t>
            </a:r>
            <a:endParaRPr lang="zh-CN" altLang="zh-CN"/>
          </a:p>
          <a:p>
            <a:pPr eaLnBrk="1" hangingPunct="1"/>
            <a:r>
              <a:rPr lang="zh-CN" altLang="zh-CN"/>
              <a:t>（B）错</a:t>
            </a:r>
            <a:endParaRPr lang="zh-CN" altLang="zh-CN"/>
          </a:p>
          <a:p>
            <a:pPr eaLnBrk="1" hangingPunct="1"/>
            <a:endParaRPr lang="zh-CN" altLang="zh-CN"/>
          </a:p>
        </p:txBody>
      </p:sp>
      <p:sp>
        <p:nvSpPr>
          <p:cNvPr id="1638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6</a:t>
            </a:r>
            <a:endParaRPr lang="zh-CN" altLang="zh-CN"/>
          </a:p>
        </p:txBody>
      </p:sp>
      <p:sp>
        <p:nvSpPr>
          <p:cNvPr id="1638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6387"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纯整数规划问题中所有变量都为非负整数。</a:t>
            </a:r>
            <a:endParaRPr lang="zh-CN" altLang="zh-CN"/>
          </a:p>
          <a:p>
            <a:pPr eaLnBrk="1" hangingPunct="1"/>
            <a:r>
              <a:rPr lang="zh-CN" altLang="zh-CN"/>
              <a:t>（A）对</a:t>
            </a:r>
            <a:endParaRPr lang="zh-CN" altLang="zh-CN"/>
          </a:p>
          <a:p>
            <a:pPr eaLnBrk="1" hangingPunct="1"/>
            <a:r>
              <a:rPr lang="zh-CN" altLang="zh-CN"/>
              <a:t>（B）错</a:t>
            </a:r>
            <a:endParaRPr lang="zh-CN" altLang="zh-CN"/>
          </a:p>
          <a:p>
            <a:pPr eaLnBrk="1" hangingPunct="1"/>
            <a:endParaRPr lang="zh-CN" altLang="zh-CN"/>
          </a:p>
        </p:txBody>
      </p:sp>
      <p:sp>
        <p:nvSpPr>
          <p:cNvPr id="1638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6</a:t>
            </a:r>
            <a:endParaRPr lang="zh-CN" altLang="zh-CN"/>
          </a:p>
        </p:txBody>
      </p:sp>
      <p:sp>
        <p:nvSpPr>
          <p:cNvPr id="1638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6387"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纯整数规划问题中所有变量都为非负整数。</a:t>
            </a:r>
            <a:endParaRPr lang="zh-CN" altLang="zh-CN"/>
          </a:p>
          <a:p>
            <a:pPr eaLnBrk="1" hangingPunct="1"/>
            <a:r>
              <a:rPr lang="zh-CN" altLang="zh-CN"/>
              <a:t>（A）对</a:t>
            </a:r>
            <a:endParaRPr lang="zh-CN" altLang="zh-CN"/>
          </a:p>
          <a:p>
            <a:pPr eaLnBrk="1" hangingPunct="1"/>
            <a:r>
              <a:rPr lang="zh-CN" altLang="zh-CN"/>
              <a:t>（B）错</a:t>
            </a:r>
            <a:endParaRPr lang="zh-CN" altLang="zh-CN"/>
          </a:p>
          <a:p>
            <a:pPr eaLnBrk="1" hangingPunct="1"/>
            <a:endParaRPr lang="zh-CN" altLang="zh-CN"/>
          </a:p>
        </p:txBody>
      </p:sp>
      <p:sp>
        <p:nvSpPr>
          <p:cNvPr id="1638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6</a:t>
            </a:r>
            <a:endParaRPr lang="zh-CN" altLang="zh-CN"/>
          </a:p>
        </p:txBody>
      </p:sp>
      <p:sp>
        <p:nvSpPr>
          <p:cNvPr id="1638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1639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39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
        <p:nvSpPr>
          <p:cNvPr id="1640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a:t>
            </a: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24579" name="Rectangle 3"/>
          <p:cNvSpPr>
            <a:spLocks noGrp="1" noChangeArrowheads="1"/>
          </p:cNvSpPr>
          <p:nvPr>
            <p:ph type="body" idx="1"/>
          </p:nvPr>
        </p:nvSpPr>
        <p:spPr>
          <a:noFill/>
        </p:spPr>
        <p:txBody>
          <a:bodyPr/>
          <a:lstStyle/>
          <a:p>
            <a:pPr eaLnBrk="1" hangingPunct="1"/>
            <a:endParaRPr lang="zh-CN" altLang="zh-CN"/>
          </a:p>
        </p:txBody>
      </p:sp>
      <p:sp>
        <p:nvSpPr>
          <p:cNvPr id="24580"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24581"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24582"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24583"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24584"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85"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86"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87"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88"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89"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90"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91"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92"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93"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94"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
        <p:nvSpPr>
          <p:cNvPr id="24595"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6</a:t>
            </a: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anose="02010600030101010101" pitchFamily="2" charset="-122"/>
              </a:rPr>
              <a:t>约束条件？每步分别出来？</a:t>
            </a:r>
            <a:endParaRPr lang="zh-CN" altLang="en-US">
              <a:ea typeface="宋体" panose="02010600030101010101" pitchFamily="2" charset="-122"/>
            </a:endParaRPr>
          </a:p>
        </p:txBody>
      </p:sp>
      <p:sp>
        <p:nvSpPr>
          <p:cNvPr id="583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47E3F64-EF28-4FF8-9091-D49D84AF6F17}" type="slidenum">
              <a:rPr lang="en-US" altLang="zh-CN" sz="1200"/>
            </a:fld>
            <a:endParaRPr lang="en-US" altLang="zh-CN"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45059"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厂址选择问题可转化成整数规划问题求解。</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45060"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45061"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5062"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5063"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5064"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65"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66"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67"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68"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69"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70"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71"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72"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73"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74"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
        <p:nvSpPr>
          <p:cNvPr id="45075"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13</a:t>
            </a: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49155" name="Rectangle 3"/>
          <p:cNvSpPr>
            <a:spLocks noGrp="1" noChangeArrowheads="1"/>
          </p:cNvSpPr>
          <p:nvPr>
            <p:ph type="body" idx="1"/>
          </p:nvPr>
        </p:nvSpPr>
        <p:spPr>
          <a:noFill/>
        </p:spPr>
        <p:txBody>
          <a:bodyPr/>
          <a:lstStyle/>
          <a:p>
            <a:pPr eaLnBrk="1" hangingPunct="1"/>
            <a:endParaRPr lang="zh-CN" altLang="zh-CN"/>
          </a:p>
        </p:txBody>
      </p:sp>
      <p:sp>
        <p:nvSpPr>
          <p:cNvPr id="4915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4915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915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915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916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7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7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53251"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生产中，若无生产活动，则无固定费用产生。</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5325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5325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325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325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325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5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5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5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55299" name="Rectangle 3"/>
          <p:cNvSpPr>
            <a:spLocks noGrp="1" noChangeArrowheads="1"/>
          </p:cNvSpPr>
          <p:nvPr>
            <p:ph type="body" idx="1"/>
          </p:nvPr>
        </p:nvSpPr>
        <p:spPr>
          <a:noFill/>
        </p:spPr>
        <p:txBody>
          <a:bodyPr/>
          <a:lstStyle/>
          <a:p>
            <a:pPr eaLnBrk="1" hangingPunct="1"/>
            <a:r>
              <a:rPr lang="zh-CN" altLang="zh-CN"/>
              <a:t>结束</a:t>
            </a:r>
            <a:endParaRPr lang="zh-CN" altLang="zh-CN"/>
          </a:p>
        </p:txBody>
      </p:sp>
      <p:sp>
        <p:nvSpPr>
          <p:cNvPr id="55300"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55301"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2"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3"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4"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5"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6"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7"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8"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9"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0"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1"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2"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3"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4"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5"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61443" name="Rectangle 3"/>
          <p:cNvSpPr>
            <a:spLocks noGrp="1" noChangeArrowheads="1"/>
          </p:cNvSpPr>
          <p:nvPr>
            <p:ph type="body" idx="1"/>
          </p:nvPr>
        </p:nvSpPr>
        <p:spPr>
          <a:noFill/>
        </p:spPr>
        <p:txBody>
          <a:bodyPr/>
          <a:lstStyle/>
          <a:p>
            <a:pPr eaLnBrk="1" hangingPunct="1"/>
            <a:endParaRPr lang="zh-CN" altLang="zh-CN"/>
          </a:p>
        </p:txBody>
      </p:sp>
      <p:sp>
        <p:nvSpPr>
          <p:cNvPr id="61444"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61445"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1446"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1447"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1448"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49"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0"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1"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2"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3"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4"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5"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6"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7"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8"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1459"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63491"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指派问题的总目标可以是求花费最少，也可以是求获益最大。</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6349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6349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349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349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349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49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49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49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63491"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指派问题的总目标可以是求花费最少，也可以是求获益最大。</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6349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6349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349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349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349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49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49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49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
        <p:nvSpPr>
          <p:cNvPr id="6350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19</a:t>
            </a:r>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69635" name="Rectangle 3"/>
          <p:cNvSpPr>
            <a:spLocks noGrp="1" noChangeArrowheads="1"/>
          </p:cNvSpPr>
          <p:nvPr>
            <p:ph type="body" idx="1"/>
          </p:nvPr>
        </p:nvSpPr>
        <p:spPr>
          <a:noFill/>
        </p:spPr>
        <p:txBody>
          <a:bodyPr/>
          <a:lstStyle/>
          <a:p>
            <a:pPr eaLnBrk="1" hangingPunct="1"/>
            <a:endParaRPr lang="zh-CN" altLang="zh-CN"/>
          </a:p>
        </p:txBody>
      </p:sp>
      <p:sp>
        <p:nvSpPr>
          <p:cNvPr id="6963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6963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963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963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6964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4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5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6965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73731" name="Rectangle 3"/>
          <p:cNvSpPr>
            <a:spLocks noGrp="1" noChangeArrowheads="1"/>
          </p:cNvSpPr>
          <p:nvPr>
            <p:ph type="body" idx="1"/>
          </p:nvPr>
        </p:nvSpPr>
        <p:spPr>
          <a:noFill/>
        </p:spPr>
        <p:txBody>
          <a:bodyPr/>
          <a:lstStyle/>
          <a:p>
            <a:pPr eaLnBrk="1" hangingPunct="1"/>
            <a:endParaRPr lang="zh-CN" altLang="zh-CN"/>
          </a:p>
        </p:txBody>
      </p:sp>
      <p:sp>
        <p:nvSpPr>
          <p:cNvPr id="7373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7373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373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373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373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3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3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3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4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4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4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4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4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4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4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
        <p:nvSpPr>
          <p:cNvPr id="7374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21</a:t>
            </a:r>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71683" name="Rectangle 3"/>
          <p:cNvSpPr>
            <a:spLocks noGrp="1" noChangeArrowheads="1"/>
          </p:cNvSpPr>
          <p:nvPr>
            <p:ph type="body" idx="1"/>
          </p:nvPr>
        </p:nvSpPr>
        <p:spPr>
          <a:noFill/>
        </p:spPr>
        <p:txBody>
          <a:bodyPr/>
          <a:lstStyle/>
          <a:p>
            <a:pPr eaLnBrk="1" hangingPunct="1"/>
            <a:endParaRPr lang="zh-CN" altLang="zh-CN"/>
          </a:p>
        </p:txBody>
      </p:sp>
      <p:sp>
        <p:nvSpPr>
          <p:cNvPr id="71684"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71685"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1686"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1687"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1688"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89"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0"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1"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2"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3"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4"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5"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6"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7"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8"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71699"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75779" name="Rectangle 3"/>
          <p:cNvSpPr>
            <a:spLocks noGrp="1" noChangeArrowheads="1"/>
          </p:cNvSpPr>
          <p:nvPr>
            <p:ph type="body" idx="1"/>
          </p:nvPr>
        </p:nvSpPr>
        <p:spPr>
          <a:noFill/>
        </p:spPr>
        <p:txBody>
          <a:bodyPr/>
          <a:lstStyle/>
          <a:p>
            <a:pPr eaLnBrk="1" hangingPunct="1"/>
            <a:endParaRPr lang="zh-CN" altLang="zh-CN"/>
          </a:p>
        </p:txBody>
      </p:sp>
      <p:sp>
        <p:nvSpPr>
          <p:cNvPr id="75780"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75781"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5782"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5783"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5784"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85"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86"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87"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88"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89"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90"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91"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92"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93"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94"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5795"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77827" name="Rectangle 3"/>
          <p:cNvSpPr>
            <a:spLocks noGrp="1" noChangeArrowheads="1"/>
          </p:cNvSpPr>
          <p:nvPr>
            <p:ph type="body" idx="1"/>
          </p:nvPr>
        </p:nvSpPr>
        <p:spPr>
          <a:noFill/>
        </p:spPr>
        <p:txBody>
          <a:bodyPr/>
          <a:lstStyle/>
          <a:p>
            <a:pPr eaLnBrk="1" hangingPunct="1"/>
            <a:endParaRPr lang="zh-CN" altLang="zh-CN"/>
          </a:p>
        </p:txBody>
      </p:sp>
      <p:sp>
        <p:nvSpPr>
          <p:cNvPr id="7782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7782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783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783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783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3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3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3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3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3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3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3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4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4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4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784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79875" name="Rectangle 3"/>
          <p:cNvSpPr>
            <a:spLocks noGrp="1" noChangeArrowheads="1"/>
          </p:cNvSpPr>
          <p:nvPr>
            <p:ph type="body" idx="1"/>
          </p:nvPr>
        </p:nvSpPr>
        <p:spPr>
          <a:noFill/>
        </p:spPr>
        <p:txBody>
          <a:bodyPr/>
          <a:lstStyle/>
          <a:p>
            <a:pPr eaLnBrk="1" hangingPunct="1"/>
            <a:endParaRPr lang="zh-CN" altLang="zh-CN"/>
          </a:p>
        </p:txBody>
      </p:sp>
      <p:sp>
        <p:nvSpPr>
          <p:cNvPr id="7987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7987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987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987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7988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8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9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
        <p:nvSpPr>
          <p:cNvPr id="7989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22</a:t>
            </a:r>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83971" name="Rectangle 3"/>
          <p:cNvSpPr>
            <a:spLocks noGrp="1" noChangeArrowheads="1"/>
          </p:cNvSpPr>
          <p:nvPr>
            <p:ph type="body" idx="1"/>
          </p:nvPr>
        </p:nvSpPr>
        <p:spPr>
          <a:noFill/>
        </p:spPr>
        <p:txBody>
          <a:bodyPr/>
          <a:lstStyle/>
          <a:p>
            <a:pPr eaLnBrk="1" hangingPunct="1"/>
            <a:endParaRPr lang="zh-CN" altLang="zh-CN"/>
          </a:p>
        </p:txBody>
      </p:sp>
      <p:sp>
        <p:nvSpPr>
          <p:cNvPr id="8397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8397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397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397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397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7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7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7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88067" name="Rectangle 3"/>
          <p:cNvSpPr>
            <a:spLocks noGrp="1" noChangeArrowheads="1"/>
          </p:cNvSpPr>
          <p:nvPr>
            <p:ph type="body" idx="1"/>
          </p:nvPr>
        </p:nvSpPr>
        <p:spPr>
          <a:noFill/>
        </p:spPr>
        <p:txBody>
          <a:bodyPr/>
          <a:lstStyle/>
          <a:p>
            <a:pPr eaLnBrk="1" hangingPunct="1"/>
            <a:endParaRPr lang="zh-CN" altLang="zh-CN"/>
          </a:p>
        </p:txBody>
      </p:sp>
      <p:sp>
        <p:nvSpPr>
          <p:cNvPr id="8806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8806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807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807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807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8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8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8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8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90115" name="Rectangle 3"/>
          <p:cNvSpPr>
            <a:spLocks noGrp="1" noChangeArrowheads="1"/>
          </p:cNvSpPr>
          <p:nvPr>
            <p:ph type="body" idx="1"/>
          </p:nvPr>
        </p:nvSpPr>
        <p:spPr>
          <a:noFill/>
        </p:spPr>
        <p:txBody>
          <a:bodyPr/>
          <a:lstStyle/>
          <a:p>
            <a:pPr eaLnBrk="1" hangingPunct="1"/>
            <a:endParaRPr lang="zh-CN" altLang="zh-CN"/>
          </a:p>
        </p:txBody>
      </p:sp>
      <p:sp>
        <p:nvSpPr>
          <p:cNvPr id="9011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endParaRPr lang="zh-CN" altLang="zh-CN"/>
          </a:p>
        </p:txBody>
      </p:sp>
      <p:sp>
        <p:nvSpPr>
          <p:cNvPr id="9011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011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011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012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9012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9012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9012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9012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012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012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012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012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012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013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013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92163"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选择投资项目的问题可以用整数规划求解。</a:t>
            </a:r>
            <a:endParaRPr lang="zh-CN" altLang="zh-CN"/>
          </a:p>
          <a:p>
            <a:pPr eaLnBrk="1" hangingPunct="1"/>
            <a:r>
              <a:rPr lang="zh-CN" altLang="zh-CN"/>
              <a:t>（A）对</a:t>
            </a:r>
            <a:endParaRPr lang="zh-CN" altLang="zh-CN"/>
          </a:p>
          <a:p>
            <a:pPr eaLnBrk="1" hangingPunct="1"/>
            <a:r>
              <a:rPr lang="zh-CN" altLang="zh-CN"/>
              <a:t>（B）错</a:t>
            </a:r>
            <a:endParaRPr lang="zh-CN" altLang="zh-CN"/>
          </a:p>
          <a:p>
            <a:pPr eaLnBrk="1" hangingPunct="1"/>
            <a:endParaRPr lang="zh-CN" altLang="zh-CN"/>
          </a:p>
        </p:txBody>
      </p:sp>
      <p:sp>
        <p:nvSpPr>
          <p:cNvPr id="92164"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endParaRPr lang="zh-CN" altLang="zh-CN"/>
          </a:p>
        </p:txBody>
      </p:sp>
      <p:sp>
        <p:nvSpPr>
          <p:cNvPr id="92165"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2166"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2167"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2168"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92169"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92170"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92171"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20</a:t>
            </a:r>
            <a:endParaRPr lang="zh-CN" altLang="zh-CN"/>
          </a:p>
        </p:txBody>
      </p:sp>
      <p:sp>
        <p:nvSpPr>
          <p:cNvPr id="92172"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2173"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2174"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2175"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2176"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2177"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2178"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
        <p:nvSpPr>
          <p:cNvPr id="92179"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25</a:t>
            </a:r>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94211" name="Rectangle 3"/>
          <p:cNvSpPr>
            <a:spLocks noGrp="1" noChangeArrowheads="1"/>
          </p:cNvSpPr>
          <p:nvPr>
            <p:ph type="body" idx="1"/>
          </p:nvPr>
        </p:nvSpPr>
        <p:spPr>
          <a:noFill/>
        </p:spPr>
        <p:txBody>
          <a:bodyPr/>
          <a:lstStyle/>
          <a:p>
            <a:pPr eaLnBrk="1" hangingPunct="1"/>
            <a:endParaRPr lang="zh-CN" altLang="zh-CN"/>
          </a:p>
        </p:txBody>
      </p:sp>
      <p:sp>
        <p:nvSpPr>
          <p:cNvPr id="9421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9421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94211" name="Rectangle 3"/>
          <p:cNvSpPr>
            <a:spLocks noGrp="1" noChangeArrowheads="1"/>
          </p:cNvSpPr>
          <p:nvPr>
            <p:ph type="body" idx="1"/>
          </p:nvPr>
        </p:nvSpPr>
        <p:spPr>
          <a:noFill/>
        </p:spPr>
        <p:txBody>
          <a:bodyPr/>
          <a:lstStyle/>
          <a:p>
            <a:pPr eaLnBrk="1" hangingPunct="1"/>
            <a:endParaRPr lang="zh-CN" altLang="zh-CN"/>
          </a:p>
        </p:txBody>
      </p:sp>
      <p:sp>
        <p:nvSpPr>
          <p:cNvPr id="9421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9421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94211" name="Rectangle 3"/>
          <p:cNvSpPr>
            <a:spLocks noGrp="1" noChangeArrowheads="1"/>
          </p:cNvSpPr>
          <p:nvPr>
            <p:ph type="body" idx="1"/>
          </p:nvPr>
        </p:nvSpPr>
        <p:spPr>
          <a:noFill/>
        </p:spPr>
        <p:txBody>
          <a:bodyPr/>
          <a:lstStyle/>
          <a:p>
            <a:pPr eaLnBrk="1" hangingPunct="1"/>
            <a:endParaRPr lang="zh-CN" altLang="zh-CN"/>
          </a:p>
        </p:txBody>
      </p:sp>
      <p:sp>
        <p:nvSpPr>
          <p:cNvPr id="9421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9421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421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1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
        <p:nvSpPr>
          <p:cNvPr id="9422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27</a:t>
            </a:r>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anose="02010600030101010101" pitchFamily="2" charset="-122"/>
              </a:rPr>
              <a:t>约束条件？每步分别出来？</a:t>
            </a:r>
            <a:endParaRPr lang="zh-CN" altLang="en-US">
              <a:ea typeface="宋体" panose="02010600030101010101" pitchFamily="2" charset="-122"/>
            </a:endParaRPr>
          </a:p>
        </p:txBody>
      </p:sp>
      <p:sp>
        <p:nvSpPr>
          <p:cNvPr id="583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47E3F64-EF28-4FF8-9091-D49D84AF6F17}" type="slidenum">
              <a:rPr lang="en-US" altLang="zh-CN" sz="1200"/>
            </a:fld>
            <a:endParaRPr lang="en-US" altLang="zh-CN"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宋体" panose="02010600030101010101" pitchFamily="2" charset="-122"/>
              </a:rPr>
              <a:t>约束条件？每步分别出来？</a:t>
            </a:r>
            <a:endParaRPr lang="zh-CN" altLang="en-US">
              <a:ea typeface="宋体" panose="02010600030101010101" pitchFamily="2" charset="-122"/>
            </a:endParaRPr>
          </a:p>
        </p:txBody>
      </p:sp>
      <p:sp>
        <p:nvSpPr>
          <p:cNvPr id="583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B47E3F64-EF28-4FF8-9091-D49D84AF6F17}" type="slidenum">
              <a:rPr lang="en-US" altLang="zh-CN" sz="1200"/>
            </a:fld>
            <a:endParaRPr lang="en-US" altLang="zh-CN"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98307" name="Rectangle 3"/>
          <p:cNvSpPr>
            <a:spLocks noGrp="1" noChangeArrowheads="1"/>
          </p:cNvSpPr>
          <p:nvPr>
            <p:ph type="body" idx="1"/>
          </p:nvPr>
        </p:nvSpPr>
        <p:spPr>
          <a:noFill/>
        </p:spPr>
        <p:txBody>
          <a:bodyPr/>
          <a:lstStyle/>
          <a:p>
            <a:pPr eaLnBrk="1" hangingPunct="1"/>
            <a:r>
              <a:rPr lang="zh-CN" altLang="zh-CN"/>
              <a:t>整数规划可用来解决变量离散值的问题。</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9830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9830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831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831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9831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1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1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1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1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1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1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1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2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2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2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9832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00355" name="Rectangle 3"/>
          <p:cNvSpPr>
            <a:spLocks noGrp="1" noChangeArrowheads="1"/>
          </p:cNvSpPr>
          <p:nvPr>
            <p:ph type="body" idx="1"/>
          </p:nvPr>
        </p:nvSpPr>
        <p:spPr>
          <a:noFill/>
        </p:spPr>
        <p:txBody>
          <a:bodyPr/>
          <a:lstStyle/>
          <a:p>
            <a:pPr eaLnBrk="1" hangingPunct="1"/>
            <a:r>
              <a:rPr lang="zh-CN" altLang="zh-CN"/>
              <a:t>整数规划可用来解决变量离散值的问题。</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10035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0035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035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035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036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6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7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037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55299" name="Rectangle 3"/>
          <p:cNvSpPr>
            <a:spLocks noGrp="1" noChangeArrowheads="1"/>
          </p:cNvSpPr>
          <p:nvPr>
            <p:ph type="body" idx="1"/>
          </p:nvPr>
        </p:nvSpPr>
        <p:spPr>
          <a:noFill/>
        </p:spPr>
        <p:txBody>
          <a:bodyPr/>
          <a:lstStyle/>
          <a:p>
            <a:pPr eaLnBrk="1" hangingPunct="1"/>
            <a:r>
              <a:rPr lang="zh-CN" altLang="zh-CN"/>
              <a:t>结束</a:t>
            </a:r>
            <a:endParaRPr lang="zh-CN" altLang="zh-CN"/>
          </a:p>
        </p:txBody>
      </p:sp>
      <p:sp>
        <p:nvSpPr>
          <p:cNvPr id="55300"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55301"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2"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3"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4"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5"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6"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7"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8"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9"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0"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1"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2"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3"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4"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5"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02403" name="Rectangle 3"/>
          <p:cNvSpPr>
            <a:spLocks noGrp="1" noChangeArrowheads="1"/>
          </p:cNvSpPr>
          <p:nvPr>
            <p:ph type="body" idx="1"/>
          </p:nvPr>
        </p:nvSpPr>
        <p:spPr>
          <a:noFill/>
        </p:spPr>
        <p:txBody>
          <a:bodyPr/>
          <a:lstStyle/>
          <a:p>
            <a:pPr eaLnBrk="1" hangingPunct="1"/>
            <a:r>
              <a:rPr lang="zh-CN" altLang="zh-CN"/>
              <a:t>整数规划可用来解决变量离散值的问题。</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102404"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02405"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2406"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2407"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2408"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09"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0"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1"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2"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3"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4"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5"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6"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7"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8"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2419"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83971" name="Rectangle 3"/>
          <p:cNvSpPr>
            <a:spLocks noGrp="1" noChangeArrowheads="1"/>
          </p:cNvSpPr>
          <p:nvPr>
            <p:ph type="body" idx="1"/>
          </p:nvPr>
        </p:nvSpPr>
        <p:spPr>
          <a:noFill/>
        </p:spPr>
        <p:txBody>
          <a:bodyPr/>
          <a:lstStyle/>
          <a:p>
            <a:pPr eaLnBrk="1" hangingPunct="1"/>
            <a:endParaRPr lang="zh-CN" altLang="zh-CN"/>
          </a:p>
        </p:txBody>
      </p:sp>
      <p:sp>
        <p:nvSpPr>
          <p:cNvPr id="8397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8397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397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397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397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7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7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7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
        <p:nvSpPr>
          <p:cNvPr id="8398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23</a:t>
            </a:r>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04451" name="Rectangle 3"/>
          <p:cNvSpPr>
            <a:spLocks noGrp="1" noChangeArrowheads="1"/>
          </p:cNvSpPr>
          <p:nvPr>
            <p:ph type="body" idx="1"/>
          </p:nvPr>
        </p:nvSpPr>
        <p:spPr>
          <a:noFill/>
        </p:spPr>
        <p:txBody>
          <a:bodyPr/>
          <a:lstStyle/>
          <a:p>
            <a:pPr eaLnBrk="1" hangingPunct="1"/>
            <a:r>
              <a:rPr lang="zh-CN" altLang="zh-CN"/>
              <a:t>整数规划可用来解决变量离散值的问题。</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10445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0445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445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445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445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5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5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5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6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6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6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6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6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6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6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446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06499" name="Rectangle 3"/>
          <p:cNvSpPr>
            <a:spLocks noGrp="1" noChangeArrowheads="1"/>
          </p:cNvSpPr>
          <p:nvPr>
            <p:ph type="body" idx="1"/>
          </p:nvPr>
        </p:nvSpPr>
        <p:spPr>
          <a:noFill/>
        </p:spPr>
        <p:txBody>
          <a:bodyPr/>
          <a:lstStyle/>
          <a:p>
            <a:pPr eaLnBrk="1" hangingPunct="1"/>
            <a:r>
              <a:rPr lang="zh-CN" altLang="zh-CN"/>
              <a:t>整数规划可用来解决变量离散值的问题。</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106500"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06501"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6502"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6503"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6504"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05"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06"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07"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08"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09"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10"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11"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12"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13"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14"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6515"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08547" name="Rectangle 3"/>
          <p:cNvSpPr>
            <a:spLocks noGrp="1" noChangeArrowheads="1"/>
          </p:cNvSpPr>
          <p:nvPr>
            <p:ph type="body" idx="1"/>
          </p:nvPr>
        </p:nvSpPr>
        <p:spPr>
          <a:noFill/>
        </p:spPr>
        <p:txBody>
          <a:bodyPr/>
          <a:lstStyle/>
          <a:p>
            <a:pPr eaLnBrk="1" hangingPunct="1"/>
            <a:r>
              <a:rPr lang="zh-CN" altLang="zh-CN"/>
              <a:t>整数规划可用来解决变量离散值的问题。</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10854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0854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855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855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0855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5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5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5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5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5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5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5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6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6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6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0856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10595" name="Rectangle 3"/>
          <p:cNvSpPr>
            <a:spLocks noGrp="1" noChangeArrowheads="1"/>
          </p:cNvSpPr>
          <p:nvPr>
            <p:ph type="body" idx="1"/>
          </p:nvPr>
        </p:nvSpPr>
        <p:spPr>
          <a:noFill/>
        </p:spPr>
        <p:txBody>
          <a:bodyPr/>
          <a:lstStyle/>
          <a:p>
            <a:pPr eaLnBrk="1" hangingPunct="1"/>
            <a:r>
              <a:rPr lang="zh-CN" altLang="zh-CN"/>
              <a:t>整数规划可用来解决变量离散值的问题。</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11059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1059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1059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1059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1060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0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1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
        <p:nvSpPr>
          <p:cNvPr id="11061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29</a:t>
            </a:r>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182ACDC-A57F-4467-9A3B-2C4B95878A35}" type="slidenum">
              <a:rPr kumimoji="1"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182ACDC-A57F-4467-9A3B-2C4B95878A35}" type="slidenum">
              <a:rPr kumimoji="1"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31075" name="Rectangle 3"/>
          <p:cNvSpPr>
            <a:spLocks noGrp="1" noChangeArrowheads="1"/>
          </p:cNvSpPr>
          <p:nvPr>
            <p:ph type="body" idx="1"/>
          </p:nvPr>
        </p:nvSpPr>
        <p:spPr>
          <a:noFill/>
        </p:spPr>
        <p:txBody>
          <a:bodyPr/>
          <a:lstStyle/>
          <a:p>
            <a:pPr eaLnBrk="1" hangingPunct="1"/>
            <a:endParaRPr lang="zh-CN" altLang="zh-CN"/>
          </a:p>
        </p:txBody>
      </p:sp>
      <p:sp>
        <p:nvSpPr>
          <p:cNvPr id="13107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3107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107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107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108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108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108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108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108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41</a:t>
            </a:r>
            <a:endParaRPr lang="zh-CN" altLang="zh-CN"/>
          </a:p>
        </p:txBody>
      </p:sp>
      <p:sp>
        <p:nvSpPr>
          <p:cNvPr id="13108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41</a:t>
            </a:r>
            <a:endParaRPr lang="zh-CN" altLang="zh-CN"/>
          </a:p>
        </p:txBody>
      </p:sp>
      <p:sp>
        <p:nvSpPr>
          <p:cNvPr id="13108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41</a:t>
            </a:r>
            <a:endParaRPr lang="zh-CN" altLang="zh-CN"/>
          </a:p>
        </p:txBody>
      </p:sp>
      <p:sp>
        <p:nvSpPr>
          <p:cNvPr id="13108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41</a:t>
            </a:r>
            <a:endParaRPr lang="zh-CN" altLang="zh-CN"/>
          </a:p>
        </p:txBody>
      </p:sp>
      <p:sp>
        <p:nvSpPr>
          <p:cNvPr id="13108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41</a:t>
            </a:r>
            <a:endParaRPr lang="zh-CN" altLang="zh-CN"/>
          </a:p>
        </p:txBody>
      </p:sp>
      <p:sp>
        <p:nvSpPr>
          <p:cNvPr id="13108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41</a:t>
            </a:r>
            <a:endParaRPr lang="zh-CN" altLang="zh-CN"/>
          </a:p>
        </p:txBody>
      </p:sp>
      <p:sp>
        <p:nvSpPr>
          <p:cNvPr id="13109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41</a:t>
            </a:r>
            <a:endParaRPr lang="zh-CN" altLang="zh-CN"/>
          </a:p>
        </p:txBody>
      </p:sp>
      <p:sp>
        <p:nvSpPr>
          <p:cNvPr id="13109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41</a:t>
            </a:r>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33123" name="Rectangle 3"/>
          <p:cNvSpPr>
            <a:spLocks noGrp="1" noChangeArrowheads="1"/>
          </p:cNvSpPr>
          <p:nvPr>
            <p:ph type="body" idx="1"/>
          </p:nvPr>
        </p:nvSpPr>
        <p:spPr>
          <a:noFill/>
        </p:spPr>
        <p:txBody>
          <a:bodyPr/>
          <a:lstStyle/>
          <a:p>
            <a:pPr eaLnBrk="1" hangingPunct="1"/>
            <a:endParaRPr lang="zh-CN" altLang="zh-CN"/>
          </a:p>
        </p:txBody>
      </p:sp>
      <p:sp>
        <p:nvSpPr>
          <p:cNvPr id="133124"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33125"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3126"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3127"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3128"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3129"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3130"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3131"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3132"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42</a:t>
            </a:r>
            <a:endParaRPr lang="zh-CN" altLang="zh-CN"/>
          </a:p>
        </p:txBody>
      </p:sp>
      <p:sp>
        <p:nvSpPr>
          <p:cNvPr id="133133"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42</a:t>
            </a:r>
            <a:endParaRPr lang="zh-CN" altLang="zh-CN"/>
          </a:p>
        </p:txBody>
      </p:sp>
      <p:sp>
        <p:nvSpPr>
          <p:cNvPr id="133134"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42</a:t>
            </a:r>
            <a:endParaRPr lang="zh-CN" altLang="zh-CN"/>
          </a:p>
        </p:txBody>
      </p:sp>
      <p:sp>
        <p:nvSpPr>
          <p:cNvPr id="133135"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42</a:t>
            </a:r>
            <a:endParaRPr lang="zh-CN" altLang="zh-CN"/>
          </a:p>
        </p:txBody>
      </p:sp>
      <p:sp>
        <p:nvSpPr>
          <p:cNvPr id="133136"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42</a:t>
            </a:r>
            <a:endParaRPr lang="zh-CN" altLang="zh-CN"/>
          </a:p>
        </p:txBody>
      </p:sp>
      <p:sp>
        <p:nvSpPr>
          <p:cNvPr id="133137"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42</a:t>
            </a:r>
            <a:endParaRPr lang="zh-CN" altLang="zh-CN"/>
          </a:p>
        </p:txBody>
      </p:sp>
      <p:sp>
        <p:nvSpPr>
          <p:cNvPr id="133138"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42</a:t>
            </a:r>
            <a:endParaRPr lang="zh-CN" altLang="zh-CN"/>
          </a:p>
        </p:txBody>
      </p:sp>
      <p:sp>
        <p:nvSpPr>
          <p:cNvPr id="133139"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42</a:t>
            </a:r>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35171"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过滤条件的加入可减少计算的工作量。</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13517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3517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517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517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517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517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517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517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518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43</a:t>
            </a:r>
            <a:endParaRPr lang="zh-CN" altLang="zh-CN"/>
          </a:p>
        </p:txBody>
      </p:sp>
      <p:sp>
        <p:nvSpPr>
          <p:cNvPr id="13518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43</a:t>
            </a:r>
            <a:endParaRPr lang="zh-CN" altLang="zh-CN"/>
          </a:p>
        </p:txBody>
      </p:sp>
      <p:sp>
        <p:nvSpPr>
          <p:cNvPr id="13518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43</a:t>
            </a:r>
            <a:endParaRPr lang="zh-CN" altLang="zh-CN"/>
          </a:p>
        </p:txBody>
      </p:sp>
      <p:sp>
        <p:nvSpPr>
          <p:cNvPr id="13518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43</a:t>
            </a:r>
            <a:endParaRPr lang="zh-CN" altLang="zh-CN"/>
          </a:p>
        </p:txBody>
      </p:sp>
      <p:sp>
        <p:nvSpPr>
          <p:cNvPr id="13518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43</a:t>
            </a:r>
            <a:endParaRPr lang="zh-CN" altLang="zh-CN"/>
          </a:p>
        </p:txBody>
      </p:sp>
      <p:sp>
        <p:nvSpPr>
          <p:cNvPr id="13518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43</a:t>
            </a:r>
            <a:endParaRPr lang="zh-CN" altLang="zh-CN"/>
          </a:p>
        </p:txBody>
      </p:sp>
      <p:sp>
        <p:nvSpPr>
          <p:cNvPr id="13518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43</a:t>
            </a:r>
            <a:endParaRPr lang="zh-CN" altLang="zh-CN"/>
          </a:p>
        </p:txBody>
      </p:sp>
      <p:sp>
        <p:nvSpPr>
          <p:cNvPr id="13518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43</a:t>
            </a:r>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39267" name="Rectangle 3"/>
          <p:cNvSpPr>
            <a:spLocks noGrp="1" noChangeArrowheads="1"/>
          </p:cNvSpPr>
          <p:nvPr>
            <p:ph type="body" idx="1"/>
          </p:nvPr>
        </p:nvSpPr>
        <p:spPr>
          <a:noFill/>
        </p:spPr>
        <p:txBody>
          <a:bodyPr/>
          <a:lstStyle/>
          <a:p>
            <a:pPr eaLnBrk="1" hangingPunct="1"/>
            <a:endParaRPr lang="zh-CN" altLang="zh-CN"/>
          </a:p>
        </p:txBody>
      </p:sp>
      <p:sp>
        <p:nvSpPr>
          <p:cNvPr id="13926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3926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927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927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3927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927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927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927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3927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44</a:t>
            </a:r>
            <a:endParaRPr lang="zh-CN" altLang="zh-CN"/>
          </a:p>
        </p:txBody>
      </p:sp>
      <p:sp>
        <p:nvSpPr>
          <p:cNvPr id="13927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44</a:t>
            </a:r>
            <a:endParaRPr lang="zh-CN" altLang="zh-CN"/>
          </a:p>
        </p:txBody>
      </p:sp>
      <p:sp>
        <p:nvSpPr>
          <p:cNvPr id="13927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44</a:t>
            </a:r>
            <a:endParaRPr lang="zh-CN" altLang="zh-CN"/>
          </a:p>
        </p:txBody>
      </p:sp>
      <p:sp>
        <p:nvSpPr>
          <p:cNvPr id="13927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44</a:t>
            </a:r>
            <a:endParaRPr lang="zh-CN" altLang="zh-CN"/>
          </a:p>
        </p:txBody>
      </p:sp>
      <p:sp>
        <p:nvSpPr>
          <p:cNvPr id="13928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44</a:t>
            </a:r>
            <a:endParaRPr lang="zh-CN" altLang="zh-CN"/>
          </a:p>
        </p:txBody>
      </p:sp>
      <p:sp>
        <p:nvSpPr>
          <p:cNvPr id="13928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44</a:t>
            </a:r>
            <a:endParaRPr lang="zh-CN" altLang="zh-CN"/>
          </a:p>
        </p:txBody>
      </p:sp>
      <p:sp>
        <p:nvSpPr>
          <p:cNvPr id="13928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44</a:t>
            </a:r>
            <a:endParaRPr lang="zh-CN" altLang="zh-CN"/>
          </a:p>
        </p:txBody>
      </p:sp>
      <p:sp>
        <p:nvSpPr>
          <p:cNvPr id="13928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44</a:t>
            </a:r>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41315"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在求最大值问题的计算过程中，可以按照目标函数系数的大小依次递减顺序排列，可减少计算量。</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14131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4131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131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131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132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132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132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132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132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46</a:t>
            </a:r>
            <a:endParaRPr lang="zh-CN" altLang="zh-CN"/>
          </a:p>
        </p:txBody>
      </p:sp>
      <p:sp>
        <p:nvSpPr>
          <p:cNvPr id="14132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46</a:t>
            </a:r>
            <a:endParaRPr lang="zh-CN" altLang="zh-CN"/>
          </a:p>
        </p:txBody>
      </p:sp>
      <p:sp>
        <p:nvSpPr>
          <p:cNvPr id="14132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46</a:t>
            </a:r>
            <a:endParaRPr lang="zh-CN" altLang="zh-CN"/>
          </a:p>
        </p:txBody>
      </p:sp>
      <p:sp>
        <p:nvSpPr>
          <p:cNvPr id="14132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46</a:t>
            </a:r>
            <a:endParaRPr lang="zh-CN" altLang="zh-CN"/>
          </a:p>
        </p:txBody>
      </p:sp>
      <p:sp>
        <p:nvSpPr>
          <p:cNvPr id="14132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46</a:t>
            </a:r>
            <a:endParaRPr lang="zh-CN" altLang="zh-CN"/>
          </a:p>
        </p:txBody>
      </p:sp>
      <p:sp>
        <p:nvSpPr>
          <p:cNvPr id="14132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46</a:t>
            </a:r>
            <a:endParaRPr lang="zh-CN" altLang="zh-CN"/>
          </a:p>
        </p:txBody>
      </p:sp>
      <p:sp>
        <p:nvSpPr>
          <p:cNvPr id="14133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46</a:t>
            </a:r>
            <a:endParaRPr lang="zh-CN" altLang="zh-CN"/>
          </a:p>
        </p:txBody>
      </p:sp>
      <p:sp>
        <p:nvSpPr>
          <p:cNvPr id="14133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46</a:t>
            </a:r>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45411" name="Rectangle 3"/>
          <p:cNvSpPr>
            <a:spLocks noGrp="1" noChangeArrowheads="1"/>
          </p:cNvSpPr>
          <p:nvPr>
            <p:ph type="body" idx="1"/>
          </p:nvPr>
        </p:nvSpPr>
        <p:spPr>
          <a:noFill/>
        </p:spPr>
        <p:txBody>
          <a:bodyPr/>
          <a:lstStyle/>
          <a:p>
            <a:pPr eaLnBrk="1" hangingPunct="1"/>
            <a:endParaRPr lang="zh-CN" altLang="zh-CN"/>
          </a:p>
        </p:txBody>
      </p:sp>
      <p:sp>
        <p:nvSpPr>
          <p:cNvPr id="14541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4541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541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541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541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541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541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541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542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47</a:t>
            </a:r>
            <a:endParaRPr lang="zh-CN" altLang="zh-CN"/>
          </a:p>
        </p:txBody>
      </p:sp>
      <p:sp>
        <p:nvSpPr>
          <p:cNvPr id="14542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47</a:t>
            </a:r>
            <a:endParaRPr lang="zh-CN" altLang="zh-CN"/>
          </a:p>
        </p:txBody>
      </p:sp>
      <p:sp>
        <p:nvSpPr>
          <p:cNvPr id="14542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47</a:t>
            </a:r>
            <a:endParaRPr lang="zh-CN" altLang="zh-CN"/>
          </a:p>
        </p:txBody>
      </p:sp>
      <p:sp>
        <p:nvSpPr>
          <p:cNvPr id="14542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47</a:t>
            </a:r>
            <a:endParaRPr lang="zh-CN" altLang="zh-CN"/>
          </a:p>
        </p:txBody>
      </p:sp>
      <p:sp>
        <p:nvSpPr>
          <p:cNvPr id="14542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47</a:t>
            </a:r>
            <a:endParaRPr lang="zh-CN" altLang="zh-CN"/>
          </a:p>
        </p:txBody>
      </p:sp>
      <p:sp>
        <p:nvSpPr>
          <p:cNvPr id="14542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47</a:t>
            </a:r>
            <a:endParaRPr lang="zh-CN" altLang="zh-CN"/>
          </a:p>
        </p:txBody>
      </p:sp>
      <p:sp>
        <p:nvSpPr>
          <p:cNvPr id="14542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47</a:t>
            </a:r>
            <a:endParaRPr lang="zh-CN" altLang="zh-CN"/>
          </a:p>
        </p:txBody>
      </p:sp>
      <p:sp>
        <p:nvSpPr>
          <p:cNvPr id="14542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47</a:t>
            </a:r>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47459" name="Rectangle 3"/>
          <p:cNvSpPr>
            <a:spLocks noGrp="1" noChangeArrowheads="1"/>
          </p:cNvSpPr>
          <p:nvPr>
            <p:ph type="body" idx="1"/>
          </p:nvPr>
        </p:nvSpPr>
        <p:spPr>
          <a:noFill/>
        </p:spPr>
        <p:txBody>
          <a:bodyPr/>
          <a:lstStyle/>
          <a:p>
            <a:pPr eaLnBrk="1" hangingPunct="1"/>
            <a:endParaRPr lang="zh-CN" altLang="zh-CN"/>
          </a:p>
        </p:txBody>
      </p:sp>
      <p:sp>
        <p:nvSpPr>
          <p:cNvPr id="147460"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47461"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7462"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7463"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7464"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7465"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7466"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7467"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7468"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48</a:t>
            </a:r>
            <a:endParaRPr lang="zh-CN" altLang="zh-CN"/>
          </a:p>
        </p:txBody>
      </p:sp>
      <p:sp>
        <p:nvSpPr>
          <p:cNvPr id="147469"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48</a:t>
            </a:r>
            <a:endParaRPr lang="zh-CN" altLang="zh-CN"/>
          </a:p>
        </p:txBody>
      </p:sp>
      <p:sp>
        <p:nvSpPr>
          <p:cNvPr id="147470"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48</a:t>
            </a:r>
            <a:endParaRPr lang="zh-CN" altLang="zh-CN"/>
          </a:p>
        </p:txBody>
      </p:sp>
      <p:sp>
        <p:nvSpPr>
          <p:cNvPr id="147471"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48</a:t>
            </a:r>
            <a:endParaRPr lang="zh-CN" altLang="zh-CN"/>
          </a:p>
        </p:txBody>
      </p:sp>
      <p:sp>
        <p:nvSpPr>
          <p:cNvPr id="147472"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48</a:t>
            </a:r>
            <a:endParaRPr lang="zh-CN" altLang="zh-CN"/>
          </a:p>
        </p:txBody>
      </p:sp>
      <p:sp>
        <p:nvSpPr>
          <p:cNvPr id="147473"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48</a:t>
            </a:r>
            <a:endParaRPr lang="zh-CN" altLang="zh-CN"/>
          </a:p>
        </p:txBody>
      </p:sp>
      <p:sp>
        <p:nvSpPr>
          <p:cNvPr id="147474"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48</a:t>
            </a:r>
            <a:endParaRPr lang="zh-CN" altLang="zh-CN"/>
          </a:p>
        </p:txBody>
      </p:sp>
      <p:sp>
        <p:nvSpPr>
          <p:cNvPr id="147475"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48</a:t>
            </a:r>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49507" name="Rectangle 3"/>
          <p:cNvSpPr>
            <a:spLocks noGrp="1" noChangeArrowheads="1"/>
          </p:cNvSpPr>
          <p:nvPr>
            <p:ph type="body" idx="1"/>
          </p:nvPr>
        </p:nvSpPr>
        <p:spPr>
          <a:noFill/>
        </p:spPr>
        <p:txBody>
          <a:bodyPr/>
          <a:lstStyle/>
          <a:p>
            <a:pPr eaLnBrk="1" hangingPunct="1"/>
            <a:endParaRPr lang="zh-CN" altLang="zh-CN"/>
          </a:p>
        </p:txBody>
      </p:sp>
      <p:sp>
        <p:nvSpPr>
          <p:cNvPr id="14950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4950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951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951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4951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951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951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951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4951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49</a:t>
            </a:r>
            <a:endParaRPr lang="zh-CN" altLang="zh-CN"/>
          </a:p>
        </p:txBody>
      </p:sp>
      <p:sp>
        <p:nvSpPr>
          <p:cNvPr id="14951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49</a:t>
            </a:r>
            <a:endParaRPr lang="zh-CN" altLang="zh-CN"/>
          </a:p>
        </p:txBody>
      </p:sp>
      <p:sp>
        <p:nvSpPr>
          <p:cNvPr id="14951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49</a:t>
            </a:r>
            <a:endParaRPr lang="zh-CN" altLang="zh-CN"/>
          </a:p>
        </p:txBody>
      </p:sp>
      <p:sp>
        <p:nvSpPr>
          <p:cNvPr id="14951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49</a:t>
            </a:r>
            <a:endParaRPr lang="zh-CN" altLang="zh-CN"/>
          </a:p>
        </p:txBody>
      </p:sp>
      <p:sp>
        <p:nvSpPr>
          <p:cNvPr id="14952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49</a:t>
            </a:r>
            <a:endParaRPr lang="zh-CN" altLang="zh-CN"/>
          </a:p>
        </p:txBody>
      </p:sp>
      <p:sp>
        <p:nvSpPr>
          <p:cNvPr id="14952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49</a:t>
            </a:r>
            <a:endParaRPr lang="zh-CN" altLang="zh-CN"/>
          </a:p>
        </p:txBody>
      </p:sp>
      <p:sp>
        <p:nvSpPr>
          <p:cNvPr id="14952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49</a:t>
            </a:r>
            <a:endParaRPr lang="zh-CN" altLang="zh-CN"/>
          </a:p>
        </p:txBody>
      </p:sp>
      <p:sp>
        <p:nvSpPr>
          <p:cNvPr id="14952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49</a:t>
            </a:r>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151555" name="Rectangle 3"/>
          <p:cNvSpPr>
            <a:spLocks noGrp="1" noChangeArrowheads="1"/>
          </p:cNvSpPr>
          <p:nvPr>
            <p:ph type="body" idx="1"/>
          </p:nvPr>
        </p:nvSpPr>
        <p:spPr>
          <a:noFill/>
        </p:spPr>
        <p:txBody>
          <a:bodyPr/>
          <a:lstStyle/>
          <a:p>
            <a:pPr eaLnBrk="1" hangingPunct="1"/>
            <a:r>
              <a:rPr lang="zh-CN" altLang="zh-CN"/>
              <a:t>此讲结束</a:t>
            </a:r>
            <a:endParaRPr lang="zh-CN" altLang="zh-CN"/>
          </a:p>
          <a:p>
            <a:pPr eaLnBrk="1" hangingPunct="1"/>
            <a:endParaRPr lang="zh-CN" altLang="zh-CN"/>
          </a:p>
        </p:txBody>
      </p:sp>
      <p:sp>
        <p:nvSpPr>
          <p:cNvPr id="15155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15155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5155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5155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15156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5156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5156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5156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39</a:t>
            </a:r>
            <a:endParaRPr lang="zh-CN" altLang="zh-CN"/>
          </a:p>
        </p:txBody>
      </p:sp>
      <p:sp>
        <p:nvSpPr>
          <p:cNvPr id="15156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50</a:t>
            </a:r>
            <a:endParaRPr lang="zh-CN" altLang="zh-CN"/>
          </a:p>
        </p:txBody>
      </p:sp>
      <p:sp>
        <p:nvSpPr>
          <p:cNvPr id="15156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50</a:t>
            </a:r>
            <a:endParaRPr lang="zh-CN" altLang="zh-CN"/>
          </a:p>
        </p:txBody>
      </p:sp>
      <p:sp>
        <p:nvSpPr>
          <p:cNvPr id="15156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50</a:t>
            </a:r>
            <a:endParaRPr lang="zh-CN" altLang="zh-CN"/>
          </a:p>
        </p:txBody>
      </p:sp>
      <p:sp>
        <p:nvSpPr>
          <p:cNvPr id="15156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50</a:t>
            </a:r>
            <a:endParaRPr lang="zh-CN" altLang="zh-CN"/>
          </a:p>
        </p:txBody>
      </p:sp>
      <p:sp>
        <p:nvSpPr>
          <p:cNvPr id="15156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50</a:t>
            </a:r>
            <a:endParaRPr lang="zh-CN" altLang="zh-CN"/>
          </a:p>
        </p:txBody>
      </p:sp>
      <p:sp>
        <p:nvSpPr>
          <p:cNvPr id="15156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50</a:t>
            </a:r>
            <a:endParaRPr lang="zh-CN" altLang="zh-CN"/>
          </a:p>
        </p:txBody>
      </p:sp>
      <p:sp>
        <p:nvSpPr>
          <p:cNvPr id="15157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50</a:t>
            </a:r>
            <a:endParaRPr lang="zh-CN" altLang="zh-CN"/>
          </a:p>
        </p:txBody>
      </p:sp>
      <p:sp>
        <p:nvSpPr>
          <p:cNvPr id="15157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50</a:t>
            </a:r>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182ACDC-A57F-4467-9A3B-2C4B95878A35}" type="slidenum">
              <a:rPr kumimoji="1" lang="en-US" altLang="zh-CN" sz="1200" b="1"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10930DFD-B8B9-4690-80C1-65A56B8FE8B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10930DFD-B8B9-4690-80C1-65A56B8FE8BD}"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D4C83AB-B6A3-424C-83DA-B51EF1FA06F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0930DFD-B8B9-4690-80C1-65A56B8FE8B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C83AB-B6A3-424C-83DA-B51EF1FA06F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10930DFD-B8B9-4690-80C1-65A56B8FE8BD}" type="slidenum">
              <a:rPr lang="zh-CN" altLang="en-US" smtClean="0"/>
            </a:fld>
            <a:endParaRPr lang="zh-CN" altLang="en-US"/>
          </a:p>
        </p:txBody>
      </p:sp>
      <p:grpSp>
        <p:nvGrpSpPr>
          <p:cNvPr id="7" name="组合 6"/>
          <p:cNvGrpSpPr/>
          <p:nvPr userDrawn="1"/>
        </p:nvGrpSpPr>
        <p:grpSpPr>
          <a:xfrm>
            <a:off x="0" y="6210600"/>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59677"/>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18301"/>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185437"/>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54868"/>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930DFD-B8B9-4690-80C1-65A56B8FE8B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68B94-C734-4FAA-BA75-57D48D0BD3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9AAA6-52A7-41A3-AAC3-F7EE0809863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4C83AB-B6A3-424C-83DA-B51EF1FA06F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10930DFD-B8B9-4690-80C1-65A56B8FE8BD}" type="slidenum">
              <a:rPr lang="zh-CN" altLang="en-US" smtClean="0"/>
            </a:fld>
            <a:endParaRPr lang="zh-CN" altLang="en-US"/>
          </a:p>
        </p:txBody>
      </p:sp>
      <p:grpSp>
        <p:nvGrpSpPr>
          <p:cNvPr id="7" name="组合 6"/>
          <p:cNvGrpSpPr/>
          <p:nvPr userDrawn="1"/>
        </p:nvGrpSpPr>
        <p:grpSpPr>
          <a:xfrm>
            <a:off x="0" y="6210600"/>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59677"/>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18301"/>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185437"/>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54868"/>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930DFD-B8B9-4690-80C1-65A56B8FE8B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image" Target="../media/image8.pn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7.xml"/><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7.xml"/><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8.emf"/><Relationship Id="rId1"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image" Target="../media/image37.png"/><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2" Type="http://schemas.openxmlformats.org/officeDocument/2006/relationships/notesSlide" Target="../notesSlides/notesSlide12.xml"/><Relationship Id="rId11" Type="http://schemas.openxmlformats.org/officeDocument/2006/relationships/slideLayout" Target="../slideLayouts/slideLayout7.xml"/><Relationship Id="rId10" Type="http://schemas.openxmlformats.org/officeDocument/2006/relationships/image" Target="../media/image39.png"/><Relationship Id="rId1" Type="http://schemas.openxmlformats.org/officeDocument/2006/relationships/image" Target="../media/image30.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35.xml.rels><?xml version="1.0" encoding="UTF-8" standalone="yes"?>
<Relationships xmlns="http://schemas.openxmlformats.org/package/2006/relationships"><Relationship Id="rId9" Type="http://schemas.openxmlformats.org/officeDocument/2006/relationships/image" Target="../media/image54.png"/><Relationship Id="rId8" Type="http://schemas.openxmlformats.org/officeDocument/2006/relationships/image" Target="../media/image53.png"/><Relationship Id="rId7" Type="http://schemas.openxmlformats.org/officeDocument/2006/relationships/image" Target="../media/image52.png"/><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1" Type="http://schemas.openxmlformats.org/officeDocument/2006/relationships/notesSlide" Target="../notesSlides/notesSlide19.xml"/><Relationship Id="rId10" Type="http://schemas.openxmlformats.org/officeDocument/2006/relationships/slideLayout" Target="../slideLayouts/slideLayout7.xml"/><Relationship Id="rId1" Type="http://schemas.openxmlformats.org/officeDocument/2006/relationships/image" Target="../media/image46.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5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7.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61.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61.png"/><Relationship Id="rId1" Type="http://schemas.openxmlformats.org/officeDocument/2006/relationships/image" Target="../media/image6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61.png"/><Relationship Id="rId1" Type="http://schemas.openxmlformats.org/officeDocument/2006/relationships/image" Target="../media/image6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7.xml"/><Relationship Id="rId2" Type="http://schemas.openxmlformats.org/officeDocument/2006/relationships/image" Target="../media/image66.png"/><Relationship Id="rId1" Type="http://schemas.openxmlformats.org/officeDocument/2006/relationships/image" Target="../media/image65.png"/></Relationships>
</file>

<file path=ppt/slides/_rels/slide4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7.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0" Type="http://schemas.openxmlformats.org/officeDocument/2006/relationships/notesSlide" Target="../notesSlides/notesSlide31.xml"/><Relationship Id="rId1" Type="http://schemas.openxmlformats.org/officeDocument/2006/relationships/image" Target="../media/image21.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image" Target="../media/image69.png"/><Relationship Id="rId1" Type="http://schemas.openxmlformats.org/officeDocument/2006/relationships/image" Target="../media/image6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9" Type="http://schemas.openxmlformats.org/officeDocument/2006/relationships/image" Target="../media/image78.png"/><Relationship Id="rId8" Type="http://schemas.openxmlformats.org/officeDocument/2006/relationships/image" Target="../media/image77.png"/><Relationship Id="rId7" Type="http://schemas.openxmlformats.org/officeDocument/2006/relationships/image" Target="../media/image76.png"/><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1.png"/><Relationship Id="rId11" Type="http://schemas.openxmlformats.org/officeDocument/2006/relationships/notesSlide" Target="../notesSlides/notesSlide34.xml"/><Relationship Id="rId10" Type="http://schemas.openxmlformats.org/officeDocument/2006/relationships/slideLayout" Target="../slideLayouts/slideLayout7.xml"/><Relationship Id="rId1" Type="http://schemas.openxmlformats.org/officeDocument/2006/relationships/image" Target="../media/image70.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79.png"/></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7.xml"/><Relationship Id="rId4" Type="http://schemas.openxmlformats.org/officeDocument/2006/relationships/image" Target="../media/image83.png"/><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8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2" Type="http://schemas.openxmlformats.org/officeDocument/2006/relationships/slideLayout" Target="../slideLayouts/slideLayout7.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68.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2" Type="http://schemas.openxmlformats.org/officeDocument/2006/relationships/slideLayout" Target="../slideLayouts/slideLayout7.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5.xml"/></Relationships>
</file>

<file path=ppt/slides/_rels/slide69.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2" Type="http://schemas.openxmlformats.org/officeDocument/2006/relationships/slideLayout" Target="../slideLayouts/slideLayout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9375" t="39498" r="10496" b="1702"/>
          <a:stretch>
            <a:fillRect/>
          </a:stretch>
        </p:blipFill>
        <p:spPr>
          <a:xfrm>
            <a:off x="0" y="0"/>
            <a:ext cx="12192000" cy="3349519"/>
          </a:xfrm>
          <a:prstGeom prst="rect">
            <a:avLst/>
          </a:prstGeom>
        </p:spPr>
      </p:pic>
      <p:sp>
        <p:nvSpPr>
          <p:cNvPr id="5" name="文本框 4"/>
          <p:cNvSpPr txBox="1"/>
          <p:nvPr/>
        </p:nvSpPr>
        <p:spPr>
          <a:xfrm>
            <a:off x="1007712" y="4042399"/>
            <a:ext cx="10176573" cy="707886"/>
          </a:xfrm>
          <a:prstGeom prst="rect">
            <a:avLst/>
          </a:prstGeom>
          <a:noFill/>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第五章：整数规划</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sp>
        <p:nvSpPr>
          <p:cNvPr id="6" name="矩形 5"/>
          <p:cNvSpPr/>
          <p:nvPr/>
        </p:nvSpPr>
        <p:spPr>
          <a:xfrm>
            <a:off x="0" y="3339894"/>
            <a:ext cx="12192000" cy="12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270038"/>
            <a:ext cx="12192000" cy="12904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025540" y="4869708"/>
            <a:ext cx="6140919" cy="338554"/>
          </a:xfrm>
          <a:prstGeom prst="rect">
            <a:avLst/>
          </a:prstGeom>
          <a:noFill/>
        </p:spPr>
        <p:txBody>
          <a:bodyPr wrap="square" rtlCol="0">
            <a:spAutoFit/>
          </a:bodyPr>
          <a:lstStyle/>
          <a:p>
            <a:pPr algn="dist"/>
            <a:r>
              <a:rPr lang="en-US" altLang="zh-CN" sz="1600" dirty="0">
                <a:solidFill>
                  <a:schemeClr val="bg1">
                    <a:lumMod val="65000"/>
                  </a:schemeClr>
                </a:solidFill>
                <a:latin typeface="Segoe UI Light" panose="020B0502040204020203" pitchFamily="34" charset="0"/>
                <a:cs typeface="Segoe UI Light" panose="020B0502040204020203" pitchFamily="34" charset="0"/>
              </a:rPr>
              <a:t>HUAZHONG AGRICULTURAL UNIVERSITY</a:t>
            </a:r>
            <a:endParaRPr lang="zh-CN" altLang="en-US" sz="16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12" name="组合 11"/>
          <p:cNvGrpSpPr/>
          <p:nvPr/>
        </p:nvGrpSpPr>
        <p:grpSpPr>
          <a:xfrm>
            <a:off x="9214084" y="5016125"/>
            <a:ext cx="1999647" cy="45719"/>
            <a:chOff x="9458460" y="4956809"/>
            <a:chExt cx="1999647" cy="45719"/>
          </a:xfrm>
        </p:grpSpPr>
        <p:cxnSp>
          <p:nvCxnSpPr>
            <p:cNvPr id="10" name="直接连接符 9"/>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H="1">
            <a:off x="980174" y="5016125"/>
            <a:ext cx="1999647" cy="45719"/>
            <a:chOff x="9458460" y="4956809"/>
            <a:chExt cx="1999647" cy="45719"/>
          </a:xfrm>
        </p:grpSpPr>
        <p:cxnSp>
          <p:nvCxnSpPr>
            <p:cNvPr id="14" name="直接连接符 13"/>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cs typeface="Times New Roman" panose="02020603050405020304" pitchFamily="18" charset="0"/>
              </a:rPr>
              <a:t>章节内容</a:t>
            </a:r>
            <a:endParaRPr lang="zh-CN" altLang="en-US" dirty="0">
              <a:latin typeface="楷体" panose="02010609060101010101" pitchFamily="49" charset="-122"/>
              <a:ea typeface="楷体" panose="02010609060101010101" pitchFamily="49" charset="-122"/>
              <a:cs typeface="Times New Roman" panose="02020603050405020304" pitchFamily="18" charset="0"/>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cs typeface="Times New Roman" panose="02020603050405020304" pitchFamily="18" charset="0"/>
              </a:rPr>
              <a:t>整数规划的定义</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r>
              <a:rPr lang="zh-CN" altLang="en-US" dirty="0">
                <a:latin typeface="楷体" panose="02010609060101010101" pitchFamily="49" charset="-122"/>
                <a:ea typeface="楷体" panose="02010609060101010101" pitchFamily="49" charset="-122"/>
                <a:cs typeface="Times New Roman" panose="02020603050405020304" pitchFamily="18" charset="0"/>
              </a:rPr>
              <a:t>整数规划的图解法</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r>
              <a:rPr lang="zh-CN" altLang="en-US" dirty="0">
                <a:latin typeface="楷体" panose="02010609060101010101" pitchFamily="49" charset="-122"/>
                <a:ea typeface="楷体" panose="02010609060101010101" pitchFamily="49" charset="-122"/>
                <a:cs typeface="Times New Roman" panose="02020603050405020304" pitchFamily="18" charset="0"/>
              </a:rPr>
              <a:t>整数规划的分枝定</a:t>
            </a:r>
            <a:r>
              <a:rPr lang="zh-CN" altLang="en-US" dirty="0">
                <a:latin typeface="楷体" panose="02010609060101010101" pitchFamily="49" charset="-122"/>
                <a:ea typeface="楷体" panose="02010609060101010101" pitchFamily="49" charset="-122"/>
                <a:cs typeface="Times New Roman" panose="02020603050405020304" pitchFamily="18" charset="0"/>
                <a:sym typeface="+mn-ea"/>
              </a:rPr>
              <a:t>界</a:t>
            </a:r>
            <a:r>
              <a:rPr lang="zh-CN" altLang="en-US" dirty="0">
                <a:latin typeface="楷体" panose="02010609060101010101" pitchFamily="49" charset="-122"/>
                <a:ea typeface="楷体" panose="02010609060101010101" pitchFamily="49" charset="-122"/>
                <a:cs typeface="Times New Roman" panose="02020603050405020304" pitchFamily="18" charset="0"/>
              </a:rPr>
              <a:t>法</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r>
              <a:rPr lang="zh-CN" altLang="en-US" dirty="0">
                <a:latin typeface="楷体" panose="02010609060101010101" pitchFamily="49" charset="-122"/>
                <a:ea typeface="楷体" panose="02010609060101010101" pitchFamily="49" charset="-122"/>
                <a:cs typeface="Times New Roman" panose="02020603050405020304" pitchFamily="18" charset="0"/>
              </a:rPr>
              <a:t>整数规划的应用</a:t>
            </a:r>
            <a:endParaRPr lang="zh-CN" altLang="en-US" dirty="0">
              <a:latin typeface="楷体" panose="02010609060101010101" pitchFamily="49" charset="-122"/>
              <a:ea typeface="楷体" panose="02010609060101010101" pitchFamily="49" charset="-122"/>
              <a:cs typeface="Times New Roman" panose="02020603050405020304" pitchFamily="18" charset="0"/>
            </a:endParaRPr>
          </a:p>
          <a:p>
            <a:r>
              <a:rPr lang="en-US" altLang="zh-CN" dirty="0">
                <a:latin typeface="楷体" panose="02010609060101010101" pitchFamily="49" charset="-122"/>
                <a:ea typeface="楷体" panose="02010609060101010101" pitchFamily="49" charset="-122"/>
                <a:cs typeface="Times New Roman" panose="02020603050405020304" pitchFamily="18" charset="0"/>
              </a:rPr>
              <a:t>0-1</a:t>
            </a:r>
            <a:r>
              <a:rPr lang="zh-CN" altLang="en-US" dirty="0">
                <a:latin typeface="楷体" panose="02010609060101010101" pitchFamily="49" charset="-122"/>
                <a:ea typeface="楷体" panose="02010609060101010101" pitchFamily="49" charset="-122"/>
                <a:cs typeface="Times New Roman" panose="02020603050405020304" pitchFamily="18" charset="0"/>
              </a:rPr>
              <a:t>规划的解法</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endParaRPr lang="en-US" altLang="zh-CN"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整数规划的定义</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整数线性规划</a:t>
            </a:r>
            <a:r>
              <a:rPr lang="en-US" altLang="zh-CN" dirty="0">
                <a:latin typeface="楷体" panose="02010609060101010101" pitchFamily="49" charset="-122"/>
                <a:ea typeface="楷体" panose="02010609060101010101" pitchFamily="49" charset="-122"/>
              </a:rPr>
              <a:t>(Integer Linear Programming</a:t>
            </a:r>
            <a:r>
              <a:rPr lang="zh-CN" altLang="en-US" dirty="0">
                <a:latin typeface="楷体" panose="02010609060101010101" pitchFamily="49" charset="-122"/>
                <a:ea typeface="楷体" panose="02010609060101010101" pitchFamily="49" charset="-122"/>
              </a:rPr>
              <a:t>，简记为</a:t>
            </a:r>
            <a:r>
              <a:rPr lang="en-US" altLang="zh-CN" dirty="0">
                <a:latin typeface="楷体" panose="02010609060101010101" pitchFamily="49" charset="-122"/>
                <a:ea typeface="楷体" panose="02010609060101010101" pitchFamily="49" charset="-122"/>
              </a:rPr>
              <a:t>ILP)</a:t>
            </a:r>
            <a:r>
              <a:rPr lang="zh-CN" altLang="en-US" dirty="0">
                <a:latin typeface="楷体" panose="02010609060101010101" pitchFamily="49" charset="-122"/>
                <a:ea typeface="楷体" panose="02010609060101010101" pitchFamily="49" charset="-122"/>
              </a:rPr>
              <a:t>问题研究的是要求</a:t>
            </a:r>
            <a:r>
              <a:rPr lang="zh-CN" altLang="en-US" dirty="0">
                <a:solidFill>
                  <a:srgbClr val="FF0000"/>
                </a:solidFill>
                <a:latin typeface="楷体" panose="02010609060101010101" pitchFamily="49" charset="-122"/>
                <a:ea typeface="楷体" panose="02010609060101010101" pitchFamily="49" charset="-122"/>
              </a:rPr>
              <a:t>变量取整数值</a:t>
            </a:r>
            <a:r>
              <a:rPr lang="zh-CN" altLang="en-US" dirty="0">
                <a:latin typeface="楷体" panose="02010609060101010101" pitchFamily="49" charset="-122"/>
                <a:ea typeface="楷体" panose="02010609060101010101" pitchFamily="49" charset="-122"/>
              </a:rPr>
              <a:t>时，在一组线性约束条件下一个线性函数最优问题，是应用非常广泛的运筹学的一个重要分支。 </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本章研究的整数规划特指整数线性规划。除了整数线性规划外还存在整数非线性规划</a:t>
            </a:r>
            <a:endParaRPr lang="en-US" altLang="zh-CN" dirty="0">
              <a:latin typeface="楷体" panose="02010609060101010101" pitchFamily="49" charset="-122"/>
              <a:ea typeface="楷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整数规划的定义</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根据变量的取值情况，整数线性规划又可以分为</a:t>
            </a:r>
            <a:r>
              <a:rPr lang="zh-CN" altLang="en-US" dirty="0">
                <a:solidFill>
                  <a:srgbClr val="FF0000"/>
                </a:solidFill>
                <a:latin typeface="楷体" panose="02010609060101010101" pitchFamily="49" charset="-122"/>
                <a:ea typeface="楷体" panose="02010609060101010101" pitchFamily="49" charset="-122"/>
              </a:rPr>
              <a:t>纯整数规划（所有变量取整数），混合整数规划（部分变量取整数），</a:t>
            </a:r>
            <a:r>
              <a:rPr lang="en-US" altLang="zh-CN" dirty="0">
                <a:solidFill>
                  <a:srgbClr val="FF0000"/>
                </a:solidFill>
                <a:latin typeface="楷体" panose="02010609060101010101" pitchFamily="49" charset="-122"/>
                <a:ea typeface="楷体" panose="02010609060101010101" pitchFamily="49" charset="-122"/>
              </a:rPr>
              <a:t>0-1</a:t>
            </a:r>
            <a:r>
              <a:rPr lang="zh-CN" altLang="en-US" dirty="0">
                <a:solidFill>
                  <a:srgbClr val="FF0000"/>
                </a:solidFill>
                <a:latin typeface="楷体" panose="02010609060101010101" pitchFamily="49" charset="-122"/>
                <a:ea typeface="楷体" panose="02010609060101010101" pitchFamily="49" charset="-122"/>
              </a:rPr>
              <a:t>整数规划（变量只取</a:t>
            </a:r>
            <a:r>
              <a:rPr lang="en-US" altLang="zh-CN" dirty="0">
                <a:solidFill>
                  <a:srgbClr val="FF0000"/>
                </a:solidFill>
                <a:latin typeface="楷体" panose="02010609060101010101" pitchFamily="49" charset="-122"/>
                <a:ea typeface="楷体" panose="02010609060101010101" pitchFamily="49" charset="-122"/>
              </a:rPr>
              <a:t>0</a:t>
            </a:r>
            <a:r>
              <a:rPr lang="zh-CN" altLang="en-US" dirty="0">
                <a:solidFill>
                  <a:srgbClr val="FF0000"/>
                </a:solidFill>
                <a:latin typeface="楷体" panose="02010609060101010101" pitchFamily="49" charset="-122"/>
                <a:ea typeface="楷体" panose="02010609060101010101" pitchFamily="49" charset="-122"/>
              </a:rPr>
              <a:t>或</a:t>
            </a:r>
            <a:r>
              <a:rPr lang="en-US" altLang="zh-CN" dirty="0">
                <a:solidFill>
                  <a:srgbClr val="FF0000"/>
                </a:solidFill>
                <a:latin typeface="楷体" panose="02010609060101010101" pitchFamily="49" charset="-122"/>
                <a:ea typeface="楷体" panose="02010609060101010101" pitchFamily="49" charset="-122"/>
              </a:rPr>
              <a:t>1</a:t>
            </a:r>
            <a:r>
              <a:rPr lang="zh-CN" altLang="en-US" dirty="0">
                <a:solidFill>
                  <a:srgbClr val="FF0000"/>
                </a:solidFill>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等。</a:t>
            </a:r>
            <a:endParaRPr lang="zh-CN" altLang="en-US"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求整数解的线性规划问题，</a:t>
            </a:r>
            <a:r>
              <a:rPr lang="zh-CN" altLang="en-US" dirty="0">
                <a:solidFill>
                  <a:srgbClr val="FF0000"/>
                </a:solidFill>
                <a:latin typeface="楷体" panose="02010609060101010101" pitchFamily="49" charset="-122"/>
                <a:ea typeface="楷体" panose="02010609060101010101" pitchFamily="49" charset="-122"/>
              </a:rPr>
              <a:t>不是用四舍五入法或去尾法对线性规划的非整数解加以处理就能解决的</a:t>
            </a:r>
            <a:r>
              <a:rPr lang="zh-CN" altLang="en-US" dirty="0">
                <a:latin typeface="楷体" panose="02010609060101010101" pitchFamily="49" charset="-122"/>
                <a:ea typeface="楷体" panose="02010609060101010101" pitchFamily="49" charset="-122"/>
              </a:rPr>
              <a:t>。整数线性规划一些基本算法的设计是以相应线性规划的最优解为出发点而发展出来的。</a:t>
            </a:r>
            <a:endParaRPr lang="zh-CN" altLang="en-US"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912495" y="770255"/>
            <a:ext cx="9631680" cy="671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en-US" sz="4400" dirty="0">
                <a:latin typeface="楷体" panose="02010609060101010101" pitchFamily="49" charset="-122"/>
                <a:ea typeface="楷体" panose="02010609060101010101" pitchFamily="49" charset="-122"/>
                <a:sym typeface="+mn-ea"/>
              </a:rPr>
              <a:t>整数规划的定义</a:t>
            </a:r>
            <a:endParaRPr lang="zh-CN" altLang="zh-CN" sz="4400" dirty="0">
              <a:latin typeface="Arial" panose="020B0604020202020204" pitchFamily="34" charset="0"/>
              <a:ea typeface="楷体" panose="02010609060101010101" pitchFamily="49" charset="-122"/>
            </a:endParaRPr>
          </a:p>
        </p:txBody>
      </p:sp>
      <p:sp>
        <p:nvSpPr>
          <p:cNvPr id="15365" name="Rectangle 5"/>
          <p:cNvSpPr>
            <a:spLocks noChangeArrowheads="1"/>
          </p:cNvSpPr>
          <p:nvPr/>
        </p:nvSpPr>
        <p:spPr bwMode="auto">
          <a:xfrm>
            <a:off x="1047750" y="1502410"/>
            <a:ext cx="10046335" cy="4968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266700" algn="l"/>
                <a:tab pos="1993900" algn="l"/>
              </a:tabLst>
            </a:pPr>
            <a:r>
              <a:rPr lang="zh-CN" altLang="en-US" sz="2400" dirty="0">
                <a:latin typeface="华文楷体" panose="02010600040101010101" charset="-122"/>
                <a:ea typeface="华文楷体" panose="02010600040101010101" charset="-122"/>
                <a:cs typeface="华文楷体" panose="02010600040101010101" charset="-122"/>
              </a:rPr>
              <a:t>钻石切割问题：</a:t>
            </a:r>
            <a:endParaRPr lang="en-US" altLang="zh-CN" sz="2400" dirty="0">
              <a:latin typeface="华文楷体" panose="02010600040101010101" charset="-122"/>
              <a:ea typeface="华文楷体" panose="02010600040101010101" charset="-122"/>
              <a:cs typeface="华文楷体" panose="02010600040101010101" charset="-122"/>
            </a:endParaRPr>
          </a:p>
          <a:p>
            <a:pPr algn="just" eaLnBrk="1" hangingPunct="1">
              <a:lnSpc>
                <a:spcPct val="150000"/>
              </a:lnSpc>
              <a:buClr>
                <a:srgbClr val="000000"/>
              </a:buClr>
              <a:buSzPct val="100000"/>
              <a:tabLst>
                <a:tab pos="190500" algn="l"/>
                <a:tab pos="266700" algn="l"/>
                <a:tab pos="1993900" algn="l"/>
              </a:tabLst>
            </a:pPr>
            <a:r>
              <a:rPr lang="zh-CN" altLang="en-US" sz="2400" dirty="0">
                <a:latin typeface="华文楷体" panose="02010600040101010101" charset="-122"/>
                <a:ea typeface="华文楷体" panose="02010600040101010101" charset="-122"/>
                <a:cs typeface="华文楷体" panose="02010600040101010101" charset="-122"/>
              </a:rPr>
              <a:t>某宝石加工厂最近新到</a:t>
            </a:r>
            <a:r>
              <a:rPr lang="en-US" altLang="zh-CN" sz="2400" dirty="0">
                <a:latin typeface="华文楷体" panose="02010600040101010101" charset="-122"/>
                <a:ea typeface="华文楷体" panose="02010600040101010101" charset="-122"/>
                <a:cs typeface="华文楷体" panose="02010600040101010101" charset="-122"/>
              </a:rPr>
              <a:t>6</a:t>
            </a:r>
            <a:r>
              <a:rPr lang="zh-CN" altLang="en-US" sz="2400" dirty="0">
                <a:latin typeface="华文楷体" panose="02010600040101010101" charset="-122"/>
                <a:ea typeface="华文楷体" panose="02010600040101010101" charset="-122"/>
                <a:cs typeface="华文楷体" panose="02010600040101010101" charset="-122"/>
              </a:rPr>
              <a:t>粒大小、质量等级相似的钻石毛料，管理层有两种选择，一是切割成一般的皇冠形，每粒可获利</a:t>
            </a:r>
            <a:r>
              <a:rPr lang="en-US" altLang="zh-CN" sz="2400" dirty="0">
                <a:latin typeface="华文楷体" panose="02010600040101010101" charset="-122"/>
                <a:ea typeface="华文楷体" panose="02010600040101010101" charset="-122"/>
                <a:cs typeface="华文楷体" panose="02010600040101010101" charset="-122"/>
              </a:rPr>
              <a:t>2.5</a:t>
            </a:r>
            <a:r>
              <a:rPr lang="zh-CN" altLang="en-US" sz="2400" dirty="0">
                <a:latin typeface="华文楷体" panose="02010600040101010101" charset="-122"/>
                <a:ea typeface="华文楷体" panose="02010600040101010101" charset="-122"/>
                <a:cs typeface="华文楷体" panose="02010600040101010101" charset="-122"/>
              </a:rPr>
              <a:t>千元；一是切磨成虽然较难切磨但当前市场较流行的心形，每粒可获利</a:t>
            </a:r>
            <a:r>
              <a:rPr lang="en-US" altLang="zh-CN" sz="2400" dirty="0">
                <a:latin typeface="华文楷体" panose="02010600040101010101" charset="-122"/>
                <a:ea typeface="华文楷体" panose="02010600040101010101" charset="-122"/>
                <a:cs typeface="华文楷体" panose="02010600040101010101" charset="-122"/>
              </a:rPr>
              <a:t>4</a:t>
            </a:r>
            <a:r>
              <a:rPr lang="zh-CN" altLang="en-US" sz="2400" dirty="0">
                <a:latin typeface="华文楷体" panose="02010600040101010101" charset="-122"/>
                <a:ea typeface="华文楷体" panose="02010600040101010101" charset="-122"/>
                <a:cs typeface="华文楷体" panose="02010600040101010101" charset="-122"/>
              </a:rPr>
              <a:t>千元。切磨成皇冠形需</a:t>
            </a:r>
            <a:r>
              <a:rPr lang="en-US" altLang="zh-CN" sz="2400" dirty="0">
                <a:latin typeface="华文楷体" panose="02010600040101010101" charset="-122"/>
                <a:ea typeface="华文楷体" panose="02010600040101010101" charset="-122"/>
                <a:cs typeface="华文楷体" panose="02010600040101010101" charset="-122"/>
              </a:rPr>
              <a:t>5</a:t>
            </a:r>
            <a:r>
              <a:rPr lang="zh-CN" altLang="en-US" sz="2400" dirty="0">
                <a:latin typeface="华文楷体" panose="02010600040101010101" charset="-122"/>
                <a:ea typeface="华文楷体" panose="02010600040101010101" charset="-122"/>
                <a:cs typeface="华文楷体" panose="02010600040101010101" charset="-122"/>
              </a:rPr>
              <a:t>个工作日</a:t>
            </a:r>
            <a:r>
              <a:rPr lang="en-US" altLang="zh-CN" sz="2400" dirty="0">
                <a:latin typeface="华文楷体" panose="02010600040101010101" charset="-122"/>
                <a:ea typeface="华文楷体" panose="02010600040101010101" charset="-122"/>
                <a:cs typeface="华文楷体" panose="02010600040101010101" charset="-122"/>
              </a:rPr>
              <a:t>/</a:t>
            </a:r>
            <a:r>
              <a:rPr lang="zh-CN" altLang="en-US" sz="2400" dirty="0">
                <a:latin typeface="华文楷体" panose="02010600040101010101" charset="-122"/>
                <a:ea typeface="华文楷体" panose="02010600040101010101" charset="-122"/>
                <a:cs typeface="华文楷体" panose="02010600040101010101" charset="-122"/>
              </a:rPr>
              <a:t>粒，心形需要</a:t>
            </a:r>
            <a:r>
              <a:rPr lang="en-US" altLang="zh-CN" sz="2400" dirty="0">
                <a:latin typeface="华文楷体" panose="02010600040101010101" charset="-122"/>
                <a:ea typeface="华文楷体" panose="02010600040101010101" charset="-122"/>
                <a:cs typeface="华文楷体" panose="02010600040101010101" charset="-122"/>
              </a:rPr>
              <a:t>9</a:t>
            </a:r>
            <a:r>
              <a:rPr lang="zh-CN" altLang="en-US" sz="2400" dirty="0">
                <a:latin typeface="华文楷体" panose="02010600040101010101" charset="-122"/>
                <a:ea typeface="华文楷体" panose="02010600040101010101" charset="-122"/>
                <a:cs typeface="华文楷体" panose="02010600040101010101" charset="-122"/>
              </a:rPr>
              <a:t>个工作日</a:t>
            </a:r>
            <a:r>
              <a:rPr lang="en-US" altLang="zh-CN" sz="2400" dirty="0">
                <a:latin typeface="华文楷体" panose="02010600040101010101" charset="-122"/>
                <a:ea typeface="华文楷体" panose="02010600040101010101" charset="-122"/>
                <a:cs typeface="华文楷体" panose="02010600040101010101" charset="-122"/>
              </a:rPr>
              <a:t>/</a:t>
            </a:r>
            <a:r>
              <a:rPr lang="zh-CN" altLang="en-US" sz="2400" dirty="0">
                <a:latin typeface="华文楷体" panose="02010600040101010101" charset="-122"/>
                <a:ea typeface="华文楷体" panose="02010600040101010101" charset="-122"/>
                <a:cs typeface="华文楷体" panose="02010600040101010101" charset="-122"/>
              </a:rPr>
              <a:t>粒，师傅最多有</a:t>
            </a:r>
            <a:r>
              <a:rPr lang="en-US" altLang="zh-CN" sz="2400" dirty="0">
                <a:latin typeface="华文楷体" panose="02010600040101010101" charset="-122"/>
                <a:ea typeface="华文楷体" panose="02010600040101010101" charset="-122"/>
                <a:cs typeface="华文楷体" panose="02010600040101010101" charset="-122"/>
              </a:rPr>
              <a:t>45</a:t>
            </a:r>
            <a:r>
              <a:rPr lang="zh-CN" altLang="en-US" sz="2400" dirty="0">
                <a:latin typeface="华文楷体" panose="02010600040101010101" charset="-122"/>
                <a:ea typeface="华文楷体" panose="02010600040101010101" charset="-122"/>
                <a:cs typeface="华文楷体" panose="02010600040101010101" charset="-122"/>
              </a:rPr>
              <a:t>个工作日来做这批工作，且其中</a:t>
            </a:r>
            <a:r>
              <a:rPr lang="en-US" altLang="zh-CN" sz="2400" dirty="0">
                <a:latin typeface="华文楷体" panose="02010600040101010101" charset="-122"/>
                <a:ea typeface="华文楷体" panose="02010600040101010101" charset="-122"/>
                <a:cs typeface="华文楷体" panose="02010600040101010101" charset="-122"/>
              </a:rPr>
              <a:t>4</a:t>
            </a:r>
            <a:r>
              <a:rPr lang="zh-CN" altLang="en-US" sz="2400" dirty="0">
                <a:latin typeface="华文楷体" panose="02010600040101010101" charset="-122"/>
                <a:ea typeface="华文楷体" panose="02010600040101010101" charset="-122"/>
                <a:cs typeface="华文楷体" panose="02010600040101010101" charset="-122"/>
              </a:rPr>
              <a:t>粒毛料可以切成皇冠形，</a:t>
            </a:r>
            <a:r>
              <a:rPr lang="en-US" altLang="zh-CN" sz="2400" dirty="0">
                <a:latin typeface="华文楷体" panose="02010600040101010101" charset="-122"/>
                <a:ea typeface="华文楷体" panose="02010600040101010101" charset="-122"/>
                <a:cs typeface="华文楷体" panose="02010600040101010101" charset="-122"/>
              </a:rPr>
              <a:t>6</a:t>
            </a:r>
            <a:r>
              <a:rPr lang="zh-CN" altLang="en-US" sz="2400" dirty="0">
                <a:latin typeface="华文楷体" panose="02010600040101010101" charset="-122"/>
                <a:ea typeface="华文楷体" panose="02010600040101010101" charset="-122"/>
                <a:cs typeface="华文楷体" panose="02010600040101010101" charset="-122"/>
              </a:rPr>
              <a:t>粒中毛料中任何一粒都可以切磨成心形。管理层应如何决策使得获利最大？</a:t>
            </a:r>
            <a:endParaRPr lang="zh-CN" altLang="zh-CN" sz="2400" dirty="0">
              <a:latin typeface="华文楷体" panose="02010600040101010101" charset="-122"/>
              <a:ea typeface="华文楷体" panose="02010600040101010101" charset="-122"/>
              <a:cs typeface="华文楷体" panose="02010600040101010101" charset="-122"/>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650240" y="645795"/>
            <a:ext cx="9893935" cy="708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en-US" sz="4400" dirty="0">
                <a:latin typeface="楷体" panose="02010609060101010101" pitchFamily="49" charset="-122"/>
                <a:ea typeface="楷体" panose="02010609060101010101" pitchFamily="49" charset="-122"/>
                <a:sym typeface="+mn-ea"/>
              </a:rPr>
              <a:t>整数规划的定义</a:t>
            </a:r>
            <a:endParaRPr lang="zh-CN" altLang="zh-CN" sz="4400" b="1" dirty="0">
              <a:latin typeface="Arial" panose="020B0604020202020204" pitchFamily="34" charset="0"/>
              <a:ea typeface="楷体" panose="02010609060101010101" pitchFamily="49"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67608" y="1463543"/>
            <a:ext cx="3347541" cy="2510656"/>
          </a:xfrm>
          <a:prstGeom prst="rect">
            <a:avLst/>
          </a:prstGeom>
        </p:spPr>
      </p:pic>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l="6602" r="10870"/>
          <a:stretch>
            <a:fillRect/>
          </a:stretch>
        </p:blipFill>
        <p:spPr>
          <a:xfrm>
            <a:off x="6211168" y="1465828"/>
            <a:ext cx="3312137" cy="2508368"/>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3469" y="4052501"/>
            <a:ext cx="3045062" cy="2691835"/>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365" name="Rectangle 5"/>
              <p:cNvSpPr>
                <a:spLocks noChangeArrowheads="1"/>
              </p:cNvSpPr>
              <p:nvPr/>
            </p:nvSpPr>
            <p:spPr bwMode="auto">
              <a:xfrm>
                <a:off x="1651000" y="1502714"/>
                <a:ext cx="8893175" cy="3942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266700" algn="l"/>
                    <a:tab pos="1993900" algn="l"/>
                  </a:tabLst>
                </a:pPr>
                <a:r>
                  <a:rPr lang="zh-CN" altLang="en-US" sz="2400" dirty="0">
                    <a:latin typeface="Arial" panose="020B0604020202020204" pitchFamily="34" charset="0"/>
                    <a:ea typeface="楷体" panose="02010609060101010101" pitchFamily="49" charset="-122"/>
                  </a:rPr>
                  <a:t>解：设</a:t>
                </a:r>
                <a14:m>
                  <m:oMath xmlns:m="http://schemas.openxmlformats.org/officeDocument/2006/math">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1</m:t>
                        </m:r>
                      </m:sub>
                    </m:sSub>
                    <m:r>
                      <a:rPr lang="en-US" altLang="zh-CN" sz="2400" b="0" i="1" smtClean="0">
                        <a:latin typeface="Cambria Math" panose="02040503050406030204" pitchFamily="18" charset="0"/>
                        <a:ea typeface="楷体" panose="02010609060101010101" pitchFamily="49" charset="-122"/>
                      </a:rPr>
                      <m:t>,</m:t>
                    </m:r>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2</m:t>
                        </m:r>
                      </m:sub>
                    </m:sSub>
                  </m:oMath>
                </a14:m>
                <a:r>
                  <a:rPr lang="zh-CN" altLang="en-US" sz="2400" dirty="0">
                    <a:latin typeface="Arial" panose="020B0604020202020204" pitchFamily="34" charset="0"/>
                    <a:ea typeface="楷体" panose="02010609060101010101" pitchFamily="49" charset="-122"/>
                  </a:rPr>
                  <a:t>分别代表切磨成皇冠形和心形钻石的数量，得到如下纯整数规划模型：</a:t>
                </a:r>
                <a:endParaRPr lang="en-US" altLang="zh-CN" sz="2400" dirty="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266700" algn="l"/>
                    <a:tab pos="1993900" algn="l"/>
                  </a:tabLst>
                </a:pPr>
                <a14:m>
                  <m:oMathPara xmlns:m="http://schemas.openxmlformats.org/officeDocument/2006/math">
                    <m:oMathParaPr>
                      <m:jc m:val="centerGroup"/>
                    </m:oMathParaPr>
                    <m:oMath xmlns:m="http://schemas.openxmlformats.org/officeDocument/2006/math">
                      <m:func>
                        <m:funcPr>
                          <m:ctrlPr>
                            <a:rPr lang="en-US" altLang="zh-CN" sz="2800" b="0" i="1" smtClean="0">
                              <a:latin typeface="Cambria Math" panose="02040503050406030204" pitchFamily="18" charset="0"/>
                              <a:ea typeface="楷体" panose="02010609060101010101" pitchFamily="49" charset="-122"/>
                            </a:rPr>
                          </m:ctrlPr>
                        </m:funcPr>
                        <m:fName>
                          <m:r>
                            <m:rPr>
                              <m:sty m:val="p"/>
                            </m:rPr>
                            <a:rPr lang="en-US" altLang="zh-CN" sz="2800" b="0" i="0" smtClean="0">
                              <a:latin typeface="Cambria Math" panose="02040503050406030204" pitchFamily="18" charset="0"/>
                              <a:ea typeface="楷体" panose="02010609060101010101" pitchFamily="49" charset="-122"/>
                            </a:rPr>
                            <m:t>max</m:t>
                          </m:r>
                        </m:fName>
                        <m:e>
                          <m:r>
                            <a:rPr lang="en-US" altLang="zh-CN" sz="2800" b="0" i="1" smtClean="0">
                              <a:latin typeface="Cambria Math" panose="02040503050406030204" pitchFamily="18" charset="0"/>
                              <a:ea typeface="楷体" panose="02010609060101010101" pitchFamily="49" charset="-122"/>
                            </a:rPr>
                            <m:t>𝑧</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2</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5</m:t>
                          </m:r>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1</m:t>
                              </m:r>
                            </m:sub>
                          </m:sSub>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4</m:t>
                          </m:r>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2</m:t>
                              </m:r>
                            </m:sub>
                          </m:sSub>
                        </m:e>
                      </m:func>
                    </m:oMath>
                  </m:oMathPara>
                </a14:m>
                <a:endParaRPr lang="en-US" altLang="zh-CN" sz="2800" dirty="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266700" algn="l"/>
                    <a:tab pos="1993900" algn="l"/>
                  </a:tabLst>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楷体" panose="02010609060101010101" pitchFamily="49" charset="-122"/>
                        </a:rPr>
                        <m:t>𝑠</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𝑡</m:t>
                      </m:r>
                      <m:r>
                        <a:rPr lang="en-US" altLang="zh-CN" sz="2800" b="0" i="1" smtClean="0">
                          <a:latin typeface="Cambria Math" panose="02040503050406030204" pitchFamily="18" charset="0"/>
                          <a:ea typeface="楷体" panose="02010609060101010101" pitchFamily="49" charset="-122"/>
                        </a:rPr>
                        <m:t>.</m:t>
                      </m:r>
                      <m:d>
                        <m:dPr>
                          <m:begChr m:val="{"/>
                          <m:endChr m:val=""/>
                          <m:ctrlPr>
                            <a:rPr lang="en-US" altLang="zh-CN" sz="2800" b="0" i="1" smtClean="0">
                              <a:latin typeface="Cambria Math" panose="02040503050406030204" pitchFamily="18" charset="0"/>
                              <a:ea typeface="楷体" panose="02010609060101010101" pitchFamily="49" charset="-122"/>
                            </a:rPr>
                          </m:ctrlPr>
                        </m:dPr>
                        <m:e>
                          <m:eqArr>
                            <m:eqArrPr>
                              <m:ctrlPr>
                                <a:rPr lang="en-US" altLang="zh-CN" sz="2800" b="0" i="1" smtClean="0">
                                  <a:latin typeface="Cambria Math" panose="02040503050406030204" pitchFamily="18" charset="0"/>
                                  <a:ea typeface="楷体" panose="02010609060101010101" pitchFamily="49" charset="-122"/>
                                </a:rPr>
                              </m:ctrlPr>
                            </m:eqArrPr>
                            <m:e>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1</m:t>
                                  </m:r>
                                </m:sub>
                              </m:sSub>
                              <m:r>
                                <a:rPr lang="en-US" altLang="zh-CN" sz="2800" b="0" i="1" smtClean="0">
                                  <a:latin typeface="Cambria Math" panose="02040503050406030204" pitchFamily="18" charset="0"/>
                                  <a:ea typeface="楷体" panose="02010609060101010101" pitchFamily="49" charset="-122"/>
                                </a:rPr>
                                <m:t>+</m:t>
                              </m:r>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2</m:t>
                                  </m:r>
                                </m:sub>
                              </m:sSub>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6</m:t>
                              </m:r>
                            </m:e>
                            <m:e>
                              <m:r>
                                <a:rPr lang="en-US" altLang="zh-CN" sz="2800" b="0" i="1" smtClean="0">
                                  <a:latin typeface="Cambria Math" panose="02040503050406030204" pitchFamily="18" charset="0"/>
                                  <a:ea typeface="楷体" panose="02010609060101010101" pitchFamily="49" charset="-122"/>
                                </a:rPr>
                                <m:t>5</m:t>
                              </m:r>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1</m:t>
                                  </m:r>
                                </m:sub>
                              </m:sSub>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9</m:t>
                              </m:r>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2</m:t>
                                  </m:r>
                                </m:sub>
                              </m:sSub>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45</m:t>
                              </m:r>
                            </m:e>
                            <m:e>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1</m:t>
                                  </m:r>
                                </m:sub>
                              </m:sSub>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4</m:t>
                              </m:r>
                            </m:e>
                            <m:e>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1</m:t>
                                  </m:r>
                                </m:sub>
                              </m:sSub>
                              <m:r>
                                <a:rPr lang="en-US" altLang="zh-CN" sz="2800" b="0" i="1" smtClean="0">
                                  <a:latin typeface="Cambria Math" panose="02040503050406030204" pitchFamily="18" charset="0"/>
                                  <a:ea typeface="楷体" panose="02010609060101010101" pitchFamily="49" charset="-122"/>
                                </a:rPr>
                                <m:t>,</m:t>
                              </m:r>
                              <m:sSub>
                                <m:sSubPr>
                                  <m:ctrlPr>
                                    <a:rPr lang="en-US" altLang="zh-CN" sz="2800" b="0" i="1" smtClean="0">
                                      <a:latin typeface="Cambria Math" panose="02040503050406030204" pitchFamily="18" charset="0"/>
                                      <a:ea typeface="楷体" panose="02010609060101010101" pitchFamily="49" charset="-122"/>
                                    </a:rPr>
                                  </m:ctrlPr>
                                </m:sSubPr>
                                <m:e>
                                  <m:r>
                                    <a:rPr lang="en-US" altLang="zh-CN" sz="2800" b="0" i="1" smtClean="0">
                                      <a:latin typeface="Cambria Math" panose="02040503050406030204" pitchFamily="18" charset="0"/>
                                      <a:ea typeface="楷体" panose="02010609060101010101" pitchFamily="49" charset="-122"/>
                                    </a:rPr>
                                    <m:t>𝑥</m:t>
                                  </m:r>
                                </m:e>
                                <m:sub>
                                  <m:r>
                                    <a:rPr lang="en-US" altLang="zh-CN" sz="2800" b="0" i="1" smtClean="0">
                                      <a:latin typeface="Cambria Math" panose="02040503050406030204" pitchFamily="18" charset="0"/>
                                      <a:ea typeface="楷体" panose="02010609060101010101" pitchFamily="49" charset="-122"/>
                                    </a:rPr>
                                    <m:t>2</m:t>
                                  </m:r>
                                </m:sub>
                              </m:sSub>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0</m:t>
                              </m:r>
                              <m:r>
                                <a:rPr lang="zh-CN" altLang="en-US" sz="2800" i="1">
                                  <a:latin typeface="Cambria Math" panose="02040503050406030204" pitchFamily="18" charset="0"/>
                                  <a:ea typeface="楷体" panose="02010609060101010101" pitchFamily="49" charset="-122"/>
                                </a:rPr>
                                <m:t>且为整数</m:t>
                              </m:r>
                            </m:e>
                          </m:eqArr>
                        </m:e>
                      </m:d>
                    </m:oMath>
                  </m:oMathPara>
                </a14:m>
                <a:endParaRPr lang="zh-CN" altLang="zh-CN" sz="2800" dirty="0">
                  <a:latin typeface="Arial" panose="020B0604020202020204" pitchFamily="34" charset="0"/>
                  <a:ea typeface="楷体" panose="02010609060101010101" pitchFamily="49" charset="-122"/>
                </a:endParaRPr>
              </a:p>
            </p:txBody>
          </p:sp>
        </mc:Choice>
        <mc:Fallback>
          <p:sp>
            <p:nvSpPr>
              <p:cNvPr id="15365" name="Rectangle 5"/>
              <p:cNvSpPr>
                <a:spLocks noRot="1" noChangeAspect="1" noMove="1" noResize="1" noEditPoints="1" noAdjustHandles="1" noChangeArrowheads="1" noChangeShapeType="1" noTextEdit="1"/>
              </p:cNvSpPr>
              <p:nvPr/>
            </p:nvSpPr>
            <p:spPr bwMode="auto">
              <a:xfrm>
                <a:off x="1651000" y="1502714"/>
                <a:ext cx="8893175" cy="3942409"/>
              </a:xfrm>
              <a:prstGeom prst="rect">
                <a:avLst/>
              </a:prstGeom>
              <a:blipFill rotWithShape="1">
                <a:blip r:embed="rId1"/>
                <a:stretch>
                  <a:fillRect t="-8" b="1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2" name="Rectangle 4"/>
          <p:cNvSpPr>
            <a:spLocks noChangeArrowheads="1"/>
          </p:cNvSpPr>
          <p:nvPr/>
        </p:nvSpPr>
        <p:spPr bwMode="auto">
          <a:xfrm>
            <a:off x="650240" y="645795"/>
            <a:ext cx="9893935" cy="708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eaLnBrk="1" hangingPunct="1">
              <a:buClr>
                <a:srgbClr val="000000"/>
              </a:buClr>
              <a:buSzPct val="100000"/>
            </a:pPr>
            <a:r>
              <a:rPr lang="zh-CN" altLang="en-US" sz="4400" dirty="0">
                <a:latin typeface="楷体" panose="02010609060101010101" pitchFamily="49" charset="-122"/>
                <a:ea typeface="楷体" panose="02010609060101010101" pitchFamily="49" charset="-122"/>
                <a:sym typeface="+mn-ea"/>
              </a:rPr>
              <a:t>整数规划的定义</a:t>
            </a:r>
            <a:endParaRPr lang="zh-CN" altLang="zh-CN" sz="4400" b="1" dirty="0">
              <a:latin typeface="Arial" panose="020B0604020202020204" pitchFamily="34" charset="0"/>
              <a:ea typeface="楷体" panose="02010609060101010101" pitchFamily="49" charset="-122"/>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365" name="Rectangle 5"/>
              <p:cNvSpPr>
                <a:spLocks noChangeArrowheads="1"/>
              </p:cNvSpPr>
              <p:nvPr/>
            </p:nvSpPr>
            <p:spPr bwMode="auto">
              <a:xfrm>
                <a:off x="1651000" y="1249963"/>
                <a:ext cx="8893175" cy="28215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lnSpc>
                    <a:spcPct val="150000"/>
                  </a:lnSpc>
                  <a:buClr>
                    <a:srgbClr val="000000"/>
                  </a:buClr>
                  <a:buSzPct val="100000"/>
                  <a:tabLst>
                    <a:tab pos="190500" algn="l"/>
                    <a:tab pos="266700" algn="l"/>
                    <a:tab pos="1993900" algn="l"/>
                  </a:tabLst>
                </a:pPr>
                <a:r>
                  <a:rPr lang="zh-CN" altLang="en-US" sz="2400" dirty="0">
                    <a:latin typeface="Arial" panose="020B0604020202020204" pitchFamily="34" charset="0"/>
                    <a:ea typeface="楷体" panose="02010609060101010101" pitchFamily="49" charset="-122"/>
                  </a:rPr>
                  <a:t>线性</a:t>
                </a:r>
                <a:r>
                  <a:rPr lang="zh-CN" altLang="en-US" sz="2400" dirty="0">
                    <a:latin typeface="Arial" panose="020B0604020202020204" pitchFamily="34" charset="0"/>
                    <a:ea typeface="楷体" panose="02010609060101010101" pitchFamily="49" charset="-122"/>
                  </a:rPr>
                  <a:t>规划问题</a:t>
                </a:r>
                <a:endParaRPr lang="en-US" altLang="zh-CN" sz="24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266700" algn="l"/>
                    <a:tab pos="1993900" algn="l"/>
                  </a:tabLst>
                </a:pPr>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ea typeface="楷体" panose="02010609060101010101" pitchFamily="49" charset="-122"/>
                            </a:rPr>
                          </m:ctrlPr>
                        </m:funcPr>
                        <m:fName>
                          <m:r>
                            <m:rPr>
                              <m:sty m:val="p"/>
                            </m:rPr>
                            <a:rPr lang="en-US" altLang="zh-CN" sz="2400" b="0" i="0" smtClean="0">
                              <a:latin typeface="Cambria Math" panose="02040503050406030204" pitchFamily="18" charset="0"/>
                              <a:ea typeface="楷体" panose="02010609060101010101" pitchFamily="49" charset="-122"/>
                            </a:rPr>
                            <m:t>max</m:t>
                          </m:r>
                        </m:fName>
                        <m:e>
                          <m:r>
                            <a:rPr lang="en-US" altLang="zh-CN" sz="2400" b="0" i="1" smtClean="0">
                              <a:latin typeface="Cambria Math" panose="02040503050406030204" pitchFamily="18" charset="0"/>
                              <a:ea typeface="楷体" panose="02010609060101010101" pitchFamily="49" charset="-122"/>
                            </a:rPr>
                            <m:t>𝑧</m:t>
                          </m:r>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2</m:t>
                          </m:r>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5</m:t>
                          </m:r>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1</m:t>
                              </m:r>
                            </m:sub>
                          </m:sSub>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4</m:t>
                          </m:r>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2</m:t>
                              </m:r>
                            </m:sub>
                          </m:sSub>
                        </m:e>
                      </m:func>
                    </m:oMath>
                  </m:oMathPara>
                </a14:m>
                <a:endParaRPr lang="en-US" altLang="zh-CN" sz="2400" dirty="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266700" algn="l"/>
                    <a:tab pos="1993900" algn="l"/>
                  </a:tabLst>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楷体" panose="02010609060101010101" pitchFamily="49" charset="-122"/>
                        </a:rPr>
                        <m:t>𝑠</m:t>
                      </m:r>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𝑡</m:t>
                      </m:r>
                      <m:r>
                        <a:rPr lang="en-US" altLang="zh-CN" sz="2400" b="0" i="1" smtClean="0">
                          <a:latin typeface="Cambria Math" panose="02040503050406030204" pitchFamily="18" charset="0"/>
                          <a:ea typeface="楷体" panose="02010609060101010101" pitchFamily="49" charset="-122"/>
                        </a:rPr>
                        <m:t>.</m:t>
                      </m:r>
                      <m:d>
                        <m:dPr>
                          <m:begChr m:val="{"/>
                          <m:endChr m:val=""/>
                          <m:ctrlPr>
                            <a:rPr lang="en-US" altLang="zh-CN" sz="2400" b="0" i="1" smtClean="0">
                              <a:latin typeface="Cambria Math" panose="02040503050406030204" pitchFamily="18" charset="0"/>
                              <a:ea typeface="楷体" panose="02010609060101010101" pitchFamily="49" charset="-122"/>
                            </a:rPr>
                          </m:ctrlPr>
                        </m:dPr>
                        <m:e>
                          <m:eqArr>
                            <m:eqArrPr>
                              <m:ctrlPr>
                                <a:rPr lang="en-US" altLang="zh-CN" sz="2400" b="0" i="1" smtClean="0">
                                  <a:latin typeface="Cambria Math" panose="02040503050406030204" pitchFamily="18" charset="0"/>
                                  <a:ea typeface="楷体" panose="02010609060101010101" pitchFamily="49" charset="-122"/>
                                </a:rPr>
                              </m:ctrlPr>
                            </m:eqArrPr>
                            <m:e>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1</m:t>
                                  </m:r>
                                </m:sub>
                              </m:sSub>
                              <m:r>
                                <a:rPr lang="en-US" altLang="zh-CN" sz="2400" b="0" i="1" smtClean="0">
                                  <a:latin typeface="Cambria Math" panose="02040503050406030204" pitchFamily="18" charset="0"/>
                                  <a:ea typeface="楷体" panose="02010609060101010101" pitchFamily="49" charset="-122"/>
                                </a:rPr>
                                <m:t>+</m:t>
                              </m:r>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2</m:t>
                                  </m:r>
                                </m:sub>
                              </m:sSub>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6</m:t>
                              </m:r>
                            </m:e>
                            <m:e>
                              <m:r>
                                <a:rPr lang="en-US" altLang="zh-CN" sz="2400" b="0" i="1" smtClean="0">
                                  <a:latin typeface="Cambria Math" panose="02040503050406030204" pitchFamily="18" charset="0"/>
                                  <a:ea typeface="楷体" panose="02010609060101010101" pitchFamily="49" charset="-122"/>
                                </a:rPr>
                                <m:t>5</m:t>
                              </m:r>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1</m:t>
                                  </m:r>
                                </m:sub>
                              </m:sSub>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9</m:t>
                              </m:r>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2</m:t>
                                  </m:r>
                                </m:sub>
                              </m:sSub>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45</m:t>
                              </m:r>
                            </m:e>
                            <m:e>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1</m:t>
                                  </m:r>
                                </m:sub>
                              </m:sSub>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4</m:t>
                              </m:r>
                            </m:e>
                            <m:e>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1</m:t>
                                  </m:r>
                                </m:sub>
                              </m:sSub>
                              <m:r>
                                <a:rPr lang="en-US" altLang="zh-CN" sz="2400" b="0" i="1" smtClean="0">
                                  <a:latin typeface="Cambria Math" panose="02040503050406030204" pitchFamily="18" charset="0"/>
                                  <a:ea typeface="楷体" panose="02010609060101010101" pitchFamily="49" charset="-122"/>
                                </a:rPr>
                                <m:t>,</m:t>
                              </m:r>
                              <m:sSub>
                                <m:sSubPr>
                                  <m:ctrlPr>
                                    <a:rPr lang="en-US" altLang="zh-CN" sz="2400" b="0" i="1" smtClean="0">
                                      <a:latin typeface="Cambria Math" panose="02040503050406030204" pitchFamily="18" charset="0"/>
                                      <a:ea typeface="楷体" panose="02010609060101010101" pitchFamily="49" charset="-122"/>
                                    </a:rPr>
                                  </m:ctrlPr>
                                </m:sSubPr>
                                <m:e>
                                  <m:r>
                                    <a:rPr lang="en-US" altLang="zh-CN" sz="2400" b="0" i="1" smtClean="0">
                                      <a:latin typeface="Cambria Math" panose="02040503050406030204" pitchFamily="18" charset="0"/>
                                      <a:ea typeface="楷体" panose="02010609060101010101" pitchFamily="49" charset="-122"/>
                                    </a:rPr>
                                    <m:t>𝑥</m:t>
                                  </m:r>
                                </m:e>
                                <m:sub>
                                  <m:r>
                                    <a:rPr lang="en-US" altLang="zh-CN" sz="2400" b="0" i="1" smtClean="0">
                                      <a:latin typeface="Cambria Math" panose="02040503050406030204" pitchFamily="18" charset="0"/>
                                      <a:ea typeface="楷体" panose="02010609060101010101" pitchFamily="49" charset="-122"/>
                                    </a:rPr>
                                    <m:t>2</m:t>
                                  </m:r>
                                </m:sub>
                              </m:sSub>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0</m:t>
                              </m:r>
                            </m:e>
                          </m:eqArr>
                        </m:e>
                      </m:d>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15365" name="Rectangle 5"/>
              <p:cNvSpPr>
                <a:spLocks noRot="1" noChangeAspect="1" noMove="1" noResize="1" noEditPoints="1" noAdjustHandles="1" noChangeArrowheads="1" noChangeShapeType="1" noTextEdit="1"/>
              </p:cNvSpPr>
              <p:nvPr/>
            </p:nvSpPr>
            <p:spPr bwMode="auto">
              <a:xfrm>
                <a:off x="1651000" y="1249963"/>
                <a:ext cx="8893175" cy="2821584"/>
              </a:xfrm>
              <a:prstGeom prst="rect">
                <a:avLst/>
              </a:prstGeom>
              <a:blipFill rotWithShape="1">
                <a:blip r:embed="rId1"/>
                <a:stretch>
                  <a:fillRect t="-10" b="2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custDataLst>
                  <p:tags r:id="rId2"/>
                </p:custDataLst>
              </p:nvPr>
            </p:nvGraphicFramePr>
            <p:xfrm>
              <a:off x="1701800" y="3857625"/>
              <a:ext cx="8962390" cy="2553970"/>
            </p:xfrm>
            <a:graphic>
              <a:graphicData uri="http://schemas.openxmlformats.org/drawingml/2006/table">
                <a:tbl>
                  <a:tblPr firstRow="1" bandRow="1">
                    <a:tableStyleId>{5C22544A-7EE6-4342-B048-85BDC9FD1C3A}</a:tableStyleId>
                  </a:tblPr>
                  <a:tblGrid>
                    <a:gridCol w="1205865"/>
                    <a:gridCol w="1631950"/>
                    <a:gridCol w="911225"/>
                    <a:gridCol w="906145"/>
                    <a:gridCol w="831850"/>
                    <a:gridCol w="1133475"/>
                    <a:gridCol w="1133475"/>
                    <a:gridCol w="1208405"/>
                  </a:tblGrid>
                  <a:tr h="701040">
                    <a:tc>
                      <a:txBody>
                        <a:bodyPr/>
                        <a:lstStyle/>
                        <a:p>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zh-CN" altLang="en-US" sz="2000" dirty="0">
                              <a:solidFill>
                                <a:schemeClr val="tx1"/>
                              </a:solidFill>
                              <a:latin typeface="Times New Roman" panose="02020603050405020304" pitchFamily="18" charset="0"/>
                              <a:cs typeface="Times New Roman" panose="02020603050405020304" pitchFamily="18" charset="0"/>
                            </a:rPr>
                            <a:t>线性</a:t>
                          </a:r>
                          <a:r>
                            <a:rPr lang="zh-CN" altLang="en-US" sz="2000" dirty="0">
                              <a:solidFill>
                                <a:schemeClr val="tx1"/>
                              </a:solidFill>
                              <a:latin typeface="Times New Roman" panose="02020603050405020304" pitchFamily="18" charset="0"/>
                              <a:cs typeface="Times New Roman" panose="02020603050405020304" pitchFamily="18" charset="0"/>
                            </a:rPr>
                            <a:t>规划问题最优解</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c gridSpan="4">
                      <a:txBody>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舍入法解</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c hMerge="1">
                      <a:tcPr/>
                    </a:tc>
                    <a:tc hMerge="1">
                      <a:tcPr/>
                    </a:tc>
                    <a:tc hMerge="1">
                      <a:tcPr/>
                    </a:tc>
                    <a:tc>
                      <a:txBody>
                        <a:bodyPr/>
                        <a:lstStyle/>
                        <a:p>
                          <a:r>
                            <a:rPr lang="zh-CN" altLang="en-US" sz="2000" dirty="0">
                              <a:solidFill>
                                <a:schemeClr val="tx1"/>
                              </a:solidFill>
                              <a:latin typeface="Times New Roman" panose="02020603050405020304" pitchFamily="18" charset="0"/>
                              <a:cs typeface="Times New Roman" panose="02020603050405020304" pitchFamily="18" charset="0"/>
                            </a:rPr>
                            <a:t>最近解</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zh-CN" altLang="en-US" sz="2000" dirty="0">
                              <a:solidFill>
                                <a:schemeClr val="tx1"/>
                              </a:solidFill>
                              <a:latin typeface="Times New Roman" panose="02020603050405020304" pitchFamily="18" charset="0"/>
                              <a:cs typeface="Times New Roman" panose="02020603050405020304" pitchFamily="18" charset="0"/>
                              <a:sym typeface="+mn-ea"/>
                            </a:rPr>
                            <a:t>整数规划</a:t>
                          </a:r>
                          <a:r>
                            <a:rPr lang="zh-CN" altLang="en-US" sz="2000" dirty="0">
                              <a:solidFill>
                                <a:schemeClr val="tx1"/>
                              </a:solidFill>
                              <a:latin typeface="Times New Roman" panose="02020603050405020304" pitchFamily="18" charset="0"/>
                              <a:cs typeface="Times New Roman" panose="02020603050405020304" pitchFamily="18" charset="0"/>
                            </a:rPr>
                            <a:t>最优解</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r>
                  <a:tr h="575310">
                    <a:tc>
                      <a:txBody>
                        <a:bodyPr/>
                        <a:lstStyle/>
                        <a:p>
                          <a14:m>
                            <m:oMathPara xmlns:m="http://schemas.openxmlformats.org/officeDocument/2006/math">
                              <m:oMathParaPr>
                                <m:jc m:val="centerGroup"/>
                              </m:oMathParaPr>
                              <m:oMath xmlns:m="http://schemas.openxmlformats.org/officeDocument/2006/math">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𝑥</m:t>
                                    </m:r>
                                  </m:e>
                                  <m:sub>
                                    <m:r>
                                      <a:rPr lang="en-US" altLang="zh-CN" sz="2800" b="0" i="1" smtClean="0">
                                        <a:solidFill>
                                          <a:schemeClr val="tx1"/>
                                        </a:solidFill>
                                        <a:latin typeface="Cambria Math" panose="02040503050406030204" pitchFamily="18" charset="0"/>
                                      </a:rPr>
                                      <m:t>1</m:t>
                                    </m:r>
                                  </m:sub>
                                </m:sSub>
                              </m:oMath>
                            </m:oMathPara>
                          </a14:m>
                          <a:endParaRPr lang="zh-CN" altLang="en-US" sz="2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2.25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r>
                  <a:tr h="576580">
                    <a:tc>
                      <a:txBody>
                        <a:bodyPr/>
                        <a:lstStyle/>
                        <a:p>
                          <a14:m>
                            <m:oMathPara xmlns:m="http://schemas.openxmlformats.org/officeDocument/2006/math">
                              <m:oMathParaPr>
                                <m:jc m:val="centerGroup"/>
                              </m:oMathParaPr>
                              <m:oMath xmlns:m="http://schemas.openxmlformats.org/officeDocument/2006/math">
                                <m:sSub>
                                  <m:sSubPr>
                                    <m:ctrlPr>
                                      <a:rPr lang="en-US" altLang="zh-CN" sz="2800" b="0" i="1" smtClean="0">
                                        <a:solidFill>
                                          <a:schemeClr val="tx1"/>
                                        </a:solidFill>
                                        <a:latin typeface="Cambria Math" panose="02040503050406030204" pitchFamily="18" charset="0"/>
                                      </a:rPr>
                                    </m:ctrlPr>
                                  </m:sSubPr>
                                  <m:e>
                                    <m:r>
                                      <a:rPr lang="en-US" altLang="zh-CN" sz="2800" b="0" i="1" smtClean="0">
                                        <a:solidFill>
                                          <a:schemeClr val="tx1"/>
                                        </a:solidFill>
                                        <a:latin typeface="Cambria Math" panose="02040503050406030204" pitchFamily="18" charset="0"/>
                                      </a:rPr>
                                      <m:t>𝑥</m:t>
                                    </m:r>
                                  </m:e>
                                  <m:sub>
                                    <m:r>
                                      <a:rPr lang="en-US" altLang="zh-CN" sz="2800" b="0" i="1" smtClean="0">
                                        <a:solidFill>
                                          <a:schemeClr val="tx1"/>
                                        </a:solidFill>
                                        <a:latin typeface="Cambria Math" panose="02040503050406030204" pitchFamily="18" charset="0"/>
                                      </a:rPr>
                                      <m:t>2</m:t>
                                    </m:r>
                                  </m:sub>
                                </m:sSub>
                              </m:oMath>
                            </m:oMathPara>
                          </a14:m>
                          <a:endParaRPr lang="zh-CN" altLang="en-US" sz="2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3.75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4</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4</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r>
                  <a:tr h="575945">
                    <a:tc>
                      <a:txBody>
                        <a:bodyPr/>
                        <a:lstStyle/>
                        <a:p>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𝑧</m:t>
                                </m:r>
                              </m:oMath>
                            </m:oMathPara>
                          </a14:m>
                          <a:endParaRPr lang="zh-CN" altLang="en-US" sz="28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20.625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不可行</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17</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19.5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不可行</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17</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r>
                </a:tbl>
              </a:graphicData>
            </a:graphic>
          </p:graphicFrame>
        </mc:Choice>
        <mc:Fallback xmlns="">
          <p:graphicFrame>
            <p:nvGraphicFramePr>
              <p:cNvPr id="2" name="表格 1"/>
              <p:cNvGraphicFramePr>
                <a:graphicFrameLocks noGrp="1"/>
              </p:cNvGraphicFramePr>
              <p:nvPr>
                <p:custDataLst>
                  <p:tags r:id="rId3"/>
                </p:custDataLst>
              </p:nvPr>
            </p:nvGraphicFramePr>
            <p:xfrm>
              <a:off x="1701800" y="3857625"/>
              <a:ext cx="8962390" cy="2553970"/>
            </p:xfrm>
            <a:graphic>
              <a:graphicData uri="http://schemas.openxmlformats.org/drawingml/2006/table">
                <a:tbl>
                  <a:tblPr firstRow="1" bandRow="1">
                    <a:tableStyleId>{5C22544A-7EE6-4342-B048-85BDC9FD1C3A}</a:tableStyleId>
                  </a:tblPr>
                  <a:tblGrid>
                    <a:gridCol w="1205865"/>
                    <a:gridCol w="1631950"/>
                    <a:gridCol w="911225"/>
                    <a:gridCol w="906145"/>
                    <a:gridCol w="831850"/>
                    <a:gridCol w="1133475"/>
                    <a:gridCol w="1133475"/>
                    <a:gridCol w="1208405"/>
                  </a:tblGrid>
                  <a:tr h="701040">
                    <a:tc>
                      <a:txBody>
                        <a:bodyPr/>
                        <a:lstStyle/>
                        <a:p>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zh-CN" altLang="en-US" sz="2000" dirty="0">
                              <a:solidFill>
                                <a:schemeClr val="tx1"/>
                              </a:solidFill>
                              <a:latin typeface="Times New Roman" panose="02020603050405020304" pitchFamily="18" charset="0"/>
                              <a:cs typeface="Times New Roman" panose="02020603050405020304" pitchFamily="18" charset="0"/>
                            </a:rPr>
                            <a:t>线性</a:t>
                          </a:r>
                          <a:r>
                            <a:rPr lang="zh-CN" altLang="en-US" sz="2000" dirty="0">
                              <a:solidFill>
                                <a:schemeClr val="tx1"/>
                              </a:solidFill>
                              <a:latin typeface="Times New Roman" panose="02020603050405020304" pitchFamily="18" charset="0"/>
                              <a:cs typeface="Times New Roman" panose="02020603050405020304" pitchFamily="18" charset="0"/>
                            </a:rPr>
                            <a:t>规划问题最优解</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c gridSpan="4">
                      <a:txBody>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舍入法解</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c hMerge="1">
                      <a:tcPr/>
                    </a:tc>
                    <a:tc hMerge="1">
                      <a:tcPr/>
                    </a:tc>
                    <a:tc hMerge="1">
                      <a:tcPr/>
                    </a:tc>
                    <a:tc>
                      <a:txBody>
                        <a:bodyPr/>
                        <a:lstStyle/>
                        <a:p>
                          <a:r>
                            <a:rPr lang="zh-CN" altLang="en-US" sz="2000" dirty="0">
                              <a:solidFill>
                                <a:schemeClr val="tx1"/>
                              </a:solidFill>
                              <a:latin typeface="Times New Roman" panose="02020603050405020304" pitchFamily="18" charset="0"/>
                              <a:cs typeface="Times New Roman" panose="02020603050405020304" pitchFamily="18" charset="0"/>
                            </a:rPr>
                            <a:t>最近解</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zh-CN" altLang="en-US" sz="2000" dirty="0">
                              <a:solidFill>
                                <a:schemeClr val="tx1"/>
                              </a:solidFill>
                              <a:latin typeface="Times New Roman" panose="02020603050405020304" pitchFamily="18" charset="0"/>
                              <a:cs typeface="Times New Roman" panose="02020603050405020304" pitchFamily="18" charset="0"/>
                              <a:sym typeface="+mn-ea"/>
                            </a:rPr>
                            <a:t>整数规划</a:t>
                          </a:r>
                          <a:r>
                            <a:rPr lang="zh-CN" altLang="en-US" sz="2000" dirty="0">
                              <a:solidFill>
                                <a:schemeClr val="tx1"/>
                              </a:solidFill>
                              <a:latin typeface="Times New Roman" panose="02020603050405020304" pitchFamily="18" charset="0"/>
                              <a:cs typeface="Times New Roman" panose="02020603050405020304" pitchFamily="18" charset="0"/>
                            </a:rPr>
                            <a:t>最优解</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tc>
                  </a:tr>
                  <a:tr h="575310">
                    <a:tc>
                      <a:txBody>
                        <a:bodyPr/>
                        <a:lstStyle/>
                        <a:p>
                          <a:endParaRPr lang="zh-CN"/>
                        </a:p>
                      </a:txBody>
                      <a:tcPr>
                        <a:blipFill>
                          <a:blip r:embed="rId4"/>
                        </a:blip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2.25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r>
                  <a:tr h="576580">
                    <a:tc>
                      <a:txBody>
                        <a:bodyPr/>
                        <a:lstStyle/>
                        <a:p>
                          <a:endParaRPr lang="zh-CN"/>
                        </a:p>
                      </a:txBody>
                      <a:tcPr>
                        <a:blipFill>
                          <a:blip r:embed="rId4"/>
                        </a:blip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3.75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4</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4</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3</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r>
                  <a:tr h="701040">
                    <a:tc>
                      <a:txBody>
                        <a:bodyPr/>
                        <a:lstStyle/>
                        <a:p>
                          <a:endParaRPr lang="zh-CN"/>
                        </a:p>
                      </a:txBody>
                      <a:tcPr>
                        <a:blipFill>
                          <a:blip r:embed="rId4"/>
                        </a:blipFill>
                      </a:tcP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20.625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不可行</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17</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19.5</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2000" dirty="0">
                              <a:solidFill>
                                <a:schemeClr val="tx1"/>
                              </a:solidFill>
                              <a:latin typeface="Times New Roman" panose="02020603050405020304" pitchFamily="18" charset="0"/>
                              <a:cs typeface="Times New Roman" panose="02020603050405020304" pitchFamily="18" charset="0"/>
                            </a:rPr>
                            <a:t>不可行</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17</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2000" dirty="0">
                              <a:solidFill>
                                <a:schemeClr val="tx1"/>
                              </a:solidFill>
                              <a:latin typeface="Times New Roman" panose="02020603050405020304" pitchFamily="18" charset="0"/>
                              <a:cs typeface="Times New Roman" panose="02020603050405020304" pitchFamily="18" charset="0"/>
                            </a:rPr>
                            <a:t>20</a:t>
                          </a:r>
                          <a:endParaRPr lang="zh-CN" altLang="en-US" sz="2000" dirty="0">
                            <a:solidFill>
                              <a:schemeClr val="tx1"/>
                            </a:solidFill>
                            <a:latin typeface="Times New Roman" panose="02020603050405020304" pitchFamily="18" charset="0"/>
                            <a:cs typeface="Times New Roman" panose="02020603050405020304" pitchFamily="18" charset="0"/>
                          </a:endParaRPr>
                        </a:p>
                      </a:txBody>
                      <a:tcPr anchor="ctr"/>
                    </a:tc>
                  </a:tr>
                </a:tbl>
              </a:graphicData>
            </a:graphic>
          </p:graphicFrame>
        </mc:Fallback>
      </mc:AlternateContent>
      <p:sp>
        <p:nvSpPr>
          <p:cNvPr id="3" name="Rectangle 4"/>
          <p:cNvSpPr>
            <a:spLocks noChangeArrowheads="1"/>
          </p:cNvSpPr>
          <p:nvPr/>
        </p:nvSpPr>
        <p:spPr bwMode="auto">
          <a:xfrm>
            <a:off x="650240" y="645795"/>
            <a:ext cx="9893935" cy="7086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p>
            <a:pPr eaLnBrk="1" hangingPunct="1">
              <a:buClr>
                <a:srgbClr val="000000"/>
              </a:buClr>
              <a:buSzPct val="100000"/>
            </a:pPr>
            <a:r>
              <a:rPr lang="zh-CN" altLang="en-US" sz="4400" dirty="0">
                <a:latin typeface="楷体" panose="02010609060101010101" pitchFamily="49" charset="-122"/>
                <a:ea typeface="楷体" panose="02010609060101010101" pitchFamily="49" charset="-122"/>
                <a:sym typeface="+mn-ea"/>
              </a:rPr>
              <a:t>整数规划的定义</a:t>
            </a:r>
            <a:endParaRPr lang="zh-CN" altLang="zh-CN" sz="4400" b="1" dirty="0">
              <a:latin typeface="Arial" panose="020B0604020202020204" pitchFamily="34" charset="0"/>
              <a:ea typeface="楷体" panose="02010609060101010101" pitchFamily="49" charset="-122"/>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整数规划的图解法</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normAutofit lnSpcReduction="10000"/>
          </a:bodyPr>
          <a:lstStyle/>
          <a:p>
            <a:pPr marL="0" indent="0">
              <a:buClr>
                <a:srgbClr val="000000"/>
              </a:buClr>
              <a:buSzPct val="100000"/>
              <a:buNone/>
            </a:pPr>
            <a:r>
              <a:rPr lang="zh-CN" altLang="zh-CN" dirty="0">
                <a:latin typeface="楷体" panose="02010609060101010101" pitchFamily="49" charset="-122"/>
                <a:ea typeface="楷体" panose="02010609060101010101" pitchFamily="49" charset="-122"/>
              </a:rPr>
              <a:t>例 1.   某公司拟用集装箱托运甲、乙两种货物，这两种货物每件的体积、重量、可获利润以及托运所受限制如表 。</a:t>
            </a:r>
            <a:endParaRPr lang="zh-CN" altLang="zh-CN" dirty="0">
              <a:latin typeface="楷体" panose="02010609060101010101" pitchFamily="49" charset="-122"/>
              <a:ea typeface="楷体" panose="02010609060101010101" pitchFamily="49" charset="-122"/>
            </a:endParaRPr>
          </a:p>
          <a:p>
            <a:pPr algn="ctr">
              <a:buClr>
                <a:srgbClr val="000000"/>
              </a:buClr>
              <a:buSzPct val="100000"/>
            </a:pPr>
            <a:endParaRPr lang="zh-CN" altLang="zh-CN" sz="2400" dirty="0">
              <a:solidFill>
                <a:srgbClr val="000000"/>
              </a:solidFill>
              <a:latin typeface="楷体" panose="02010609060101010101" pitchFamily="49" charset="-122"/>
              <a:ea typeface="楷体" panose="02010609060101010101" pitchFamily="49" charset="-122"/>
            </a:endParaRPr>
          </a:p>
          <a:p>
            <a:pPr algn="ctr">
              <a:buClr>
                <a:srgbClr val="000000"/>
              </a:buClr>
              <a:buSzPct val="100000"/>
            </a:pPr>
            <a:endParaRPr lang="zh-CN" altLang="zh-CN" sz="2400" dirty="0">
              <a:solidFill>
                <a:srgbClr val="000000"/>
              </a:solidFill>
              <a:latin typeface="楷体" panose="02010609060101010101" pitchFamily="49" charset="-122"/>
              <a:ea typeface="楷体" panose="02010609060101010101" pitchFamily="49" charset="-122"/>
            </a:endParaRPr>
          </a:p>
          <a:p>
            <a:pPr algn="ctr">
              <a:buClr>
                <a:srgbClr val="000000"/>
              </a:buClr>
              <a:buSzPct val="100000"/>
            </a:pPr>
            <a:endParaRPr lang="zh-CN" altLang="zh-CN" sz="2400" dirty="0">
              <a:solidFill>
                <a:srgbClr val="000000"/>
              </a:solidFill>
              <a:latin typeface="楷体" panose="02010609060101010101" pitchFamily="49" charset="-122"/>
              <a:ea typeface="楷体" panose="02010609060101010101" pitchFamily="49" charset="-122"/>
            </a:endParaRPr>
          </a:p>
          <a:p>
            <a:pPr algn="ctr">
              <a:buClr>
                <a:srgbClr val="000000"/>
              </a:buClr>
              <a:buSzPct val="100000"/>
            </a:pPr>
            <a:endParaRPr lang="zh-CN" altLang="zh-CN" sz="2400" dirty="0">
              <a:solidFill>
                <a:srgbClr val="000000"/>
              </a:solidFill>
              <a:latin typeface="楷体" panose="02010609060101010101" pitchFamily="49" charset="-122"/>
              <a:ea typeface="楷体" panose="02010609060101010101" pitchFamily="49" charset="-122"/>
            </a:endParaRPr>
          </a:p>
          <a:p>
            <a:pPr algn="ctr">
              <a:buClr>
                <a:srgbClr val="000000"/>
              </a:buClr>
              <a:buSzPct val="100000"/>
            </a:pPr>
            <a:endParaRPr lang="zh-CN" altLang="zh-CN" sz="2400" dirty="0">
              <a:solidFill>
                <a:srgbClr val="000000"/>
              </a:solidFill>
              <a:latin typeface="楷体" panose="02010609060101010101" pitchFamily="49" charset="-122"/>
              <a:ea typeface="楷体" panose="02010609060101010101" pitchFamily="49" charset="-122"/>
            </a:endParaRPr>
          </a:p>
          <a:p>
            <a:pPr>
              <a:buClr>
                <a:srgbClr val="000000"/>
              </a:buClr>
              <a:buSzPct val="100000"/>
            </a:pPr>
            <a:endParaRPr lang="zh-CN" altLang="zh-CN" dirty="0">
              <a:latin typeface="楷体" panose="02010609060101010101" pitchFamily="49" charset="-122"/>
              <a:ea typeface="楷体" panose="02010609060101010101" pitchFamily="49" charset="-122"/>
            </a:endParaRPr>
          </a:p>
          <a:p>
            <a:pPr marL="0" indent="0">
              <a:buClr>
                <a:srgbClr val="000000"/>
              </a:buClr>
              <a:buSzPct val="100000"/>
              <a:buNone/>
            </a:pPr>
            <a:r>
              <a:rPr lang="zh-CN" altLang="zh-CN" dirty="0">
                <a:latin typeface="楷体" panose="02010609060101010101" pitchFamily="49" charset="-122"/>
                <a:ea typeface="楷体" panose="02010609060101010101" pitchFamily="49" charset="-122"/>
              </a:rPr>
              <a:t>甲种货物至多托运 4 件，问两种货物各托运多少件，可使获得利润最大。</a:t>
            </a:r>
            <a:endParaRPr lang="zh-CN" altLang="zh-CN" dirty="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p:txBody>
      </p:sp>
      <p:graphicFrame>
        <p:nvGraphicFramePr>
          <p:cNvPr id="4" name="Group 7"/>
          <p:cNvGraphicFramePr>
            <a:graphicFrameLocks noGrp="1"/>
          </p:cNvGraphicFramePr>
          <p:nvPr/>
        </p:nvGraphicFramePr>
        <p:xfrm>
          <a:off x="1768606" y="2849039"/>
          <a:ext cx="8245475" cy="2008189"/>
        </p:xfrm>
        <a:graphic>
          <a:graphicData uri="http://schemas.openxmlformats.org/drawingml/2006/table">
            <a:tbl>
              <a:tblPr/>
              <a:tblGrid>
                <a:gridCol w="1314450"/>
                <a:gridCol w="2278062"/>
                <a:gridCol w="2590800"/>
                <a:gridCol w="2062163"/>
              </a:tblGrid>
              <a:tr h="608013">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货物</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tabLst>
                          <a:tab pos="127000" algn="l"/>
                          <a:tab pos="215900" algn="l"/>
                          <a:tab pos="254000" algn="l"/>
                        </a:tabLst>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tabLst>
                          <a:tab pos="127000" algn="l"/>
                          <a:tab pos="215900" algn="l"/>
                          <a:tab pos="254000" algn="l"/>
                        </a:tabLst>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tabLst>
                          <a:tab pos="127000" algn="l"/>
                          <a:tab pos="215900" algn="l"/>
                          <a:tab pos="254000" algn="l"/>
                        </a:tabLst>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tabLst>
                          <a:tab pos="127000" algn="l"/>
                          <a:tab pos="215900" algn="l"/>
                          <a:tab pos="254000" algn="l"/>
                        </a:tabLst>
                      </a:pPr>
                      <a:r>
                        <a:rPr kumimoji="0" lang="zh-CN"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rPr>
                        <a:t>每件体积/立方英尺</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tabLst>
                          <a:tab pos="88900" algn="l"/>
                          <a:tab pos="215900" algn="l"/>
                          <a:tab pos="241300" algn="l"/>
                          <a:tab pos="279400" algn="l"/>
                        </a:tabLst>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tabLst>
                          <a:tab pos="88900" algn="l"/>
                          <a:tab pos="215900" algn="l"/>
                          <a:tab pos="241300" algn="l"/>
                          <a:tab pos="279400" algn="l"/>
                        </a:tabLst>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tabLst>
                          <a:tab pos="88900" algn="l"/>
                          <a:tab pos="215900" algn="l"/>
                          <a:tab pos="241300" algn="l"/>
                          <a:tab pos="279400" algn="l"/>
                        </a:tabLst>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tabLst>
                          <a:tab pos="88900" algn="l"/>
                          <a:tab pos="215900" algn="l"/>
                          <a:tab pos="241300" algn="l"/>
                          <a:tab pos="279400" algn="l"/>
                        </a:tabLst>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	</a:t>
                      </a:r>
                      <a:r>
                        <a:rPr kumimoji="0" lang="zh-CN"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rPr>
                        <a:t>每件重量/百千克</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tabLst>
                          <a:tab pos="25400" algn="l"/>
                          <a:tab pos="215900" algn="l"/>
                        </a:tabLst>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tabLst>
                          <a:tab pos="25400" algn="l"/>
                          <a:tab pos="215900" algn="l"/>
                        </a:tabLst>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tabLst>
                          <a:tab pos="25400" algn="l"/>
                          <a:tab pos="215900" algn="l"/>
                        </a:tabLst>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tabLst>
                          <a:tab pos="25400" algn="l"/>
                          <a:tab pos="215900" algn="l"/>
                        </a:tabLst>
                      </a:pPr>
                      <a:r>
                        <a:rPr kumimoji="0" lang="zh-CN"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rPr>
                        <a:t>每件利润/百元</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58788">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甲</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195</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4</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60375">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乙</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273</a:t>
                      </a:r>
                      <a:endPar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40</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3</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81013">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托运限制</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1365</a:t>
                      </a:r>
                      <a:endPar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140</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整数规划的图解法</a:t>
            </a:r>
            <a:endParaRPr lang="zh-CN" altLang="en-US" dirty="0">
              <a:latin typeface="楷体" panose="02010609060101010101" pitchFamily="49" charset="-122"/>
              <a:ea typeface="楷体" panose="02010609060101010101" pitchFamily="49" charset="-122"/>
            </a:endParaRPr>
          </a:p>
        </p:txBody>
      </p:sp>
      <p:graphicFrame>
        <p:nvGraphicFramePr>
          <p:cNvPr id="72" name="Group 7"/>
          <p:cNvGraphicFramePr>
            <a:graphicFrameLocks noGrp="1"/>
          </p:cNvGraphicFramePr>
          <p:nvPr/>
        </p:nvGraphicFramePr>
        <p:xfrm>
          <a:off x="1760217" y="1690688"/>
          <a:ext cx="8245475" cy="2008189"/>
        </p:xfrm>
        <a:graphic>
          <a:graphicData uri="http://schemas.openxmlformats.org/drawingml/2006/table">
            <a:tbl>
              <a:tblPr/>
              <a:tblGrid>
                <a:gridCol w="1314450"/>
                <a:gridCol w="2278062"/>
                <a:gridCol w="2590800"/>
                <a:gridCol w="2062163"/>
              </a:tblGrid>
              <a:tr h="608013">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货物</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tabLst>
                          <a:tab pos="127000" algn="l"/>
                          <a:tab pos="215900" algn="l"/>
                          <a:tab pos="254000" algn="l"/>
                        </a:tabLst>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tabLst>
                          <a:tab pos="127000" algn="l"/>
                          <a:tab pos="215900" algn="l"/>
                          <a:tab pos="254000" algn="l"/>
                        </a:tabLst>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tabLst>
                          <a:tab pos="127000" algn="l"/>
                          <a:tab pos="215900" algn="l"/>
                          <a:tab pos="254000" algn="l"/>
                        </a:tabLst>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tabLst>
                          <a:tab pos="127000" algn="l"/>
                          <a:tab pos="215900" algn="l"/>
                          <a:tab pos="254000" algn="l"/>
                        </a:tabLst>
                      </a:pPr>
                      <a:r>
                        <a:rPr kumimoji="0" lang="zh-CN"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rPr>
                        <a:t>每件体积/立方英尺</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tabLst>
                          <a:tab pos="88900" algn="l"/>
                          <a:tab pos="215900" algn="l"/>
                          <a:tab pos="241300" algn="l"/>
                          <a:tab pos="279400" algn="l"/>
                        </a:tabLst>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tabLst>
                          <a:tab pos="88900" algn="l"/>
                          <a:tab pos="215900" algn="l"/>
                          <a:tab pos="241300" algn="l"/>
                          <a:tab pos="279400" algn="l"/>
                        </a:tabLst>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tabLst>
                          <a:tab pos="88900" algn="l"/>
                          <a:tab pos="215900" algn="l"/>
                          <a:tab pos="241300" algn="l"/>
                          <a:tab pos="279400" algn="l"/>
                        </a:tabLst>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tabLst>
                          <a:tab pos="88900" algn="l"/>
                          <a:tab pos="215900" algn="l"/>
                          <a:tab pos="241300" algn="l"/>
                          <a:tab pos="279400" algn="l"/>
                        </a:tabLst>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	</a:t>
                      </a:r>
                      <a:r>
                        <a:rPr kumimoji="0" lang="zh-CN"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rPr>
                        <a:t>每件重量/百千克</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tabLst>
                          <a:tab pos="25400" algn="l"/>
                          <a:tab pos="215900" algn="l"/>
                        </a:tabLst>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tabLst>
                          <a:tab pos="25400" algn="l"/>
                          <a:tab pos="215900" algn="l"/>
                        </a:tabLst>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tabLst>
                          <a:tab pos="25400" algn="l"/>
                          <a:tab pos="215900" algn="l"/>
                        </a:tabLst>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tabLst>
                          <a:tab pos="25400" algn="l"/>
                          <a:tab pos="215900" algn="l"/>
                        </a:tabLst>
                      </a:pPr>
                      <a:r>
                        <a:rPr kumimoji="0" lang="zh-CN"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rPr>
                        <a:t>每件利润/百元</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58788">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甲</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195</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4</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60375">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乙</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273</a:t>
                      </a:r>
                      <a:endPar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40</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3</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81013">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托运限制</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1365</a:t>
                      </a:r>
                      <a:endPar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140</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SzPct val="100000"/>
                        <a:defRPr sz="2800">
                          <a:solidFill>
                            <a:schemeClr val="tx1"/>
                          </a:solidFill>
                          <a:latin typeface="Calibri" panose="020F0502020204030204" pitchFamily="34" charset="0"/>
                          <a:ea typeface="微软雅黑" panose="020B0503020204020204" pitchFamily="34" charset="-122"/>
                        </a:defRPr>
                      </a:lvl1pPr>
                      <a:lvl2pPr marL="742950" indent="-285750">
                        <a:spcBef>
                          <a:spcPct val="20000"/>
                        </a:spcBef>
                        <a:buSzPct val="100000"/>
                        <a:defRPr sz="2400">
                          <a:solidFill>
                            <a:schemeClr val="tx1"/>
                          </a:solidFill>
                          <a:latin typeface="Calibri" panose="020F0502020204030204" pitchFamily="34" charset="0"/>
                          <a:ea typeface="微软雅黑" panose="020B0503020204020204" pitchFamily="34" charset="-122"/>
                        </a:defRPr>
                      </a:lvl2pPr>
                      <a:lvl3pPr marL="1143000" indent="-228600">
                        <a:spcBef>
                          <a:spcPct val="20000"/>
                        </a:spcBef>
                        <a:buSzPct val="100000"/>
                        <a:defRPr sz="2000">
                          <a:solidFill>
                            <a:schemeClr val="tx1"/>
                          </a:solidFill>
                          <a:latin typeface="Calibri" panose="020F0502020204030204" pitchFamily="34" charset="0"/>
                          <a:ea typeface="微软雅黑" panose="020B0503020204020204" pitchFamily="34" charset="-122"/>
                        </a:defRPr>
                      </a:lvl3pPr>
                      <a:lvl4pPr marL="1600200" indent="-228600">
                        <a:spcBef>
                          <a:spcPct val="20000"/>
                        </a:spcBef>
                        <a:buSzPct val="100000"/>
                        <a:defRPr>
                          <a:solidFill>
                            <a:schemeClr val="tx1"/>
                          </a:solidFill>
                          <a:latin typeface="Calibri" panose="020F0502020204030204" pitchFamily="34" charset="0"/>
                          <a:ea typeface="微软雅黑" panose="020B0503020204020204" pitchFamily="34" charset="-122"/>
                        </a:defRPr>
                      </a:lvl4pPr>
                      <a:lvl5pPr marL="2057400" indent="-228600">
                        <a:spcBef>
                          <a:spcPct val="20000"/>
                        </a:spcBef>
                        <a:buSzPct val="100000"/>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73" name="矩形 72"/>
              <p:cNvSpPr/>
              <p:nvPr/>
            </p:nvSpPr>
            <p:spPr>
              <a:xfrm>
                <a:off x="1760217" y="3837607"/>
                <a:ext cx="8245475" cy="2197525"/>
              </a:xfrm>
              <a:prstGeom prst="rect">
                <a:avLst/>
              </a:prstGeom>
            </p:spPr>
            <p:txBody>
              <a:bodyPr wrap="square">
                <a:spAutoFit/>
              </a:bodyPr>
              <a:lstStyle/>
              <a:p>
                <a:pPr algn="just">
                  <a:lnSpc>
                    <a:spcPct val="95000"/>
                  </a:lnSpc>
                  <a:spcBef>
                    <a:spcPct val="0"/>
                  </a:spcBef>
                </a:pPr>
                <a:r>
                  <a:rPr lang="zh-CN" altLang="en-US" dirty="0">
                    <a:latin typeface="楷体" panose="02010609060101010101" pitchFamily="49" charset="-122"/>
                    <a:ea typeface="楷体" panose="02010609060101010101" pitchFamily="49" charset="-122"/>
                  </a:rPr>
                  <a:t>设</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a:t>
                </a:r>
                <a:r>
                  <a:rPr lang="zh-CN" altLang="en-US" baseline="-25000" dirty="0">
                    <a:latin typeface="楷体" panose="02010609060101010101" pitchFamily="49" charset="-122"/>
                    <a:ea typeface="楷体" panose="02010609060101010101" pitchFamily="49" charset="-122"/>
                  </a:rPr>
                  <a:t> </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分别为甲、乙两种货物托运的件数，建立模型。</a:t>
                </a:r>
                <a:endParaRPr lang="zh-CN" altLang="en-US" dirty="0">
                  <a:latin typeface="楷体" panose="02010609060101010101" pitchFamily="49" charset="-122"/>
                  <a:ea typeface="楷体" panose="02010609060101010101" pitchFamily="49" charset="-122"/>
                </a:endParaRPr>
              </a:p>
              <a:p>
                <a:pPr algn="just">
                  <a:lnSpc>
                    <a:spcPct val="95000"/>
                  </a:lnSpc>
                  <a:spcBef>
                    <a:spcPct val="0"/>
                  </a:spcBef>
                </a:pPr>
                <a:r>
                  <a:rPr lang="zh-CN" altLang="en-US" dirty="0">
                    <a:latin typeface="楷体" panose="02010609060101010101" pitchFamily="49" charset="-122"/>
                    <a:ea typeface="楷体" panose="02010609060101010101" pitchFamily="49" charset="-122"/>
                  </a:rPr>
                  <a:t>       目标函数：        Max  z = 2</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+3</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2 </a:t>
                </a:r>
                <a:endParaRPr lang="zh-CN" altLang="en-US" dirty="0">
                  <a:latin typeface="楷体" panose="02010609060101010101" pitchFamily="49" charset="-122"/>
                  <a:ea typeface="楷体" panose="02010609060101010101" pitchFamily="49" charset="-122"/>
                </a:endParaRPr>
              </a:p>
              <a:p>
                <a:pPr algn="just">
                  <a:lnSpc>
                    <a:spcPct val="95000"/>
                  </a:lnSpc>
                  <a:spcBef>
                    <a:spcPct val="0"/>
                  </a:spcBef>
                </a:pPr>
                <a:r>
                  <a:rPr lang="zh-CN" altLang="en-US" dirty="0">
                    <a:latin typeface="楷体" panose="02010609060101010101" pitchFamily="49" charset="-122"/>
                    <a:ea typeface="楷体" panose="02010609060101010101" pitchFamily="49" charset="-122"/>
                  </a:rPr>
                  <a:t>       约束条件：s.t.   195</a:t>
                </a:r>
                <a:r>
                  <a:rPr lang="zh-CN" altLang="en-US" baseline="-25000" dirty="0">
                    <a:latin typeface="楷体" panose="02010609060101010101" pitchFamily="49" charset="-122"/>
                    <a:ea typeface="楷体" panose="02010609060101010101" pitchFamily="49" charset="-122"/>
                  </a:rPr>
                  <a:t> </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+ 273 </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≤1365                     </a:t>
                </a:r>
                <a:endParaRPr lang="zh-CN" altLang="en-US" dirty="0">
                  <a:latin typeface="楷体" panose="02010609060101010101" pitchFamily="49" charset="-122"/>
                  <a:ea typeface="楷体" panose="02010609060101010101" pitchFamily="49" charset="-122"/>
                </a:endParaRPr>
              </a:p>
              <a:p>
                <a:pPr algn="just">
                  <a:lnSpc>
                    <a:spcPct val="95000"/>
                  </a:lnSpc>
                  <a:spcBef>
                    <a:spcPct val="0"/>
                  </a:spcBef>
                </a:pPr>
                <a:r>
                  <a:rPr lang="zh-CN" altLang="en-US" dirty="0">
                    <a:latin typeface="楷体" panose="02010609060101010101" pitchFamily="49" charset="-122"/>
                    <a:ea typeface="楷体" panose="02010609060101010101" pitchFamily="49" charset="-122"/>
                  </a:rPr>
                  <a:t>                        4</a:t>
                </a:r>
                <a:r>
                  <a:rPr lang="zh-CN" altLang="en-US" baseline="-25000" dirty="0">
                    <a:latin typeface="楷体" panose="02010609060101010101" pitchFamily="49" charset="-122"/>
                    <a:ea typeface="楷体" panose="02010609060101010101" pitchFamily="49" charset="-122"/>
                  </a:rPr>
                  <a:t> </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   40</a:t>
                </a:r>
                <a:r>
                  <a:rPr lang="zh-CN" altLang="en-US" i="1" dirty="0">
                    <a:latin typeface="楷体" panose="02010609060101010101" pitchFamily="49" charset="-122"/>
                    <a:ea typeface="楷体" panose="02010609060101010101" pitchFamily="49" charset="-122"/>
                  </a:rPr>
                  <a:t> x</a:t>
                </a:r>
                <a:r>
                  <a:rPr lang="zh-CN" altLang="en-US" baseline="-25000"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≤140</a:t>
                </a:r>
                <a:endParaRPr lang="zh-CN" altLang="en-US" dirty="0">
                  <a:latin typeface="楷体" panose="02010609060101010101" pitchFamily="49" charset="-122"/>
                  <a:ea typeface="楷体" panose="02010609060101010101" pitchFamily="49" charset="-122"/>
                </a:endParaRPr>
              </a:p>
              <a:p>
                <a:pPr algn="just">
                  <a:lnSpc>
                    <a:spcPct val="95000"/>
                  </a:lnSpc>
                  <a:spcBef>
                    <a:spcPct val="0"/>
                  </a:spcBef>
                </a:pPr>
                <a:r>
                  <a:rPr lang="zh-CN" altLang="en-US" baseline="-25000" dirty="0">
                    <a:latin typeface="楷体" panose="02010609060101010101" pitchFamily="49" charset="-122"/>
                    <a:ea typeface="楷体" panose="02010609060101010101" pitchFamily="49" charset="-122"/>
                  </a:rPr>
                  <a:t>                                       </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1 </a:t>
                </a:r>
                <a:r>
                  <a:rPr lang="zh-CN" altLang="en-US" dirty="0">
                    <a:latin typeface="楷体" panose="02010609060101010101" pitchFamily="49" charset="-122"/>
                    <a:ea typeface="楷体" panose="02010609060101010101" pitchFamily="49" charset="-122"/>
                  </a:rPr>
                  <a:t>≤4</a:t>
                </a:r>
                <a:endParaRPr lang="zh-CN" altLang="en-US" dirty="0">
                  <a:latin typeface="楷体" panose="02010609060101010101" pitchFamily="49" charset="-122"/>
                  <a:ea typeface="楷体" panose="02010609060101010101" pitchFamily="49" charset="-122"/>
                </a:endParaRPr>
              </a:p>
              <a:p>
                <a:pPr algn="just">
                  <a:lnSpc>
                    <a:spcPct val="95000"/>
                  </a:lnSpc>
                  <a:spcBef>
                    <a:spcPct val="0"/>
                  </a:spcBef>
                </a:pPr>
                <a:r>
                  <a:rPr lang="zh-CN" altLang="en-US" dirty="0">
                    <a:latin typeface="楷体" panose="02010609060101010101" pitchFamily="49" charset="-122"/>
                    <a:ea typeface="楷体" panose="02010609060101010101" pitchFamily="49" charset="-122"/>
                  </a:rPr>
                  <a:t>                        </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1，</a:t>
                </a:r>
                <a:r>
                  <a:rPr lang="zh-CN" altLang="en-US" i="1" dirty="0">
                    <a:latin typeface="楷体" panose="02010609060101010101" pitchFamily="49" charset="-122"/>
                    <a:ea typeface="楷体" panose="02010609060101010101" pitchFamily="49" charset="-122"/>
                  </a:rPr>
                  <a:t>x</a:t>
                </a:r>
                <a:r>
                  <a:rPr lang="zh-CN" altLang="en-US" baseline="-25000" dirty="0">
                    <a:latin typeface="楷体" panose="02010609060101010101" pitchFamily="49" charset="-122"/>
                    <a:ea typeface="楷体" panose="02010609060101010101" pitchFamily="49" charset="-122"/>
                  </a:rPr>
                  <a:t>2 </a:t>
                </a:r>
                <a:r>
                  <a:rPr lang="zh-CN" altLang="en-US" dirty="0">
                    <a:latin typeface="楷体" panose="02010609060101010101" pitchFamily="49" charset="-122"/>
                    <a:ea typeface="楷体" panose="02010609060101010101" pitchFamily="49" charset="-122"/>
                  </a:rPr>
                  <a:t>≥0,</a:t>
                </a:r>
                <a:r>
                  <a:rPr lang="zh-CN" altLang="en-US" dirty="0">
                    <a:solidFill>
                      <a:srgbClr val="FF0000"/>
                    </a:solidFill>
                    <a:latin typeface="楷体" panose="02010609060101010101" pitchFamily="49" charset="-122"/>
                    <a:ea typeface="楷体" panose="02010609060101010101" pitchFamily="49" charset="-122"/>
                  </a:rPr>
                  <a:t>  </a:t>
                </a:r>
                <a:endParaRPr lang="en-US" altLang="zh-CN" dirty="0">
                  <a:solidFill>
                    <a:srgbClr val="FF0000"/>
                  </a:solidFill>
                  <a:latin typeface="楷体" panose="02010609060101010101" pitchFamily="49" charset="-122"/>
                  <a:ea typeface="楷体" panose="02010609060101010101" pitchFamily="49" charset="-122"/>
                </a:endParaRPr>
              </a:p>
              <a:p>
                <a:pPr algn="just">
                  <a:lnSpc>
                    <a:spcPct val="95000"/>
                  </a:lnSpc>
                  <a:spcBef>
                    <a:spcPct val="0"/>
                  </a:spcBef>
                </a:pPr>
                <a:r>
                  <a:rPr lang="en-US" altLang="zh-CN" dirty="0">
                    <a:solidFill>
                      <a:srgbClr val="FF0000"/>
                    </a:solidFill>
                    <a:latin typeface="楷体" panose="02010609060101010101" pitchFamily="49" charset="-122"/>
                    <a:ea typeface="楷体" panose="02010609060101010101" pitchFamily="49" charset="-122"/>
                  </a:rPr>
                  <a:t>			</a:t>
                </a:r>
                <a14:m>
                  <m:oMath xmlns:m="http://schemas.openxmlformats.org/officeDocument/2006/math">
                    <m:sSub>
                      <m:sSubPr>
                        <m:ctrlPr>
                          <a:rPr lang="en-US" altLang="zh-CN" b="0" i="1" smtClean="0">
                            <a:solidFill>
                              <a:srgbClr val="FF0000"/>
                            </a:solidFill>
                            <a:latin typeface="Cambria Math" panose="02040503050406030204" pitchFamily="18" charset="0"/>
                            <a:ea typeface="楷体" panose="02010609060101010101" pitchFamily="49" charset="-122"/>
                          </a:rPr>
                        </m:ctrlPr>
                      </m:sSubPr>
                      <m:e>
                        <m:r>
                          <a:rPr lang="en-US" altLang="zh-CN" b="0" i="1" smtClean="0">
                            <a:solidFill>
                              <a:srgbClr val="FF0000"/>
                            </a:solidFill>
                            <a:latin typeface="Cambria Math" panose="02040503050406030204" pitchFamily="18" charset="0"/>
                            <a:ea typeface="楷体" panose="02010609060101010101" pitchFamily="49" charset="-122"/>
                          </a:rPr>
                          <m:t>𝑥</m:t>
                        </m:r>
                      </m:e>
                      <m:sub>
                        <m:r>
                          <a:rPr lang="en-US" altLang="zh-CN" b="0" i="1" smtClean="0">
                            <a:solidFill>
                              <a:srgbClr val="FF0000"/>
                            </a:solidFill>
                            <a:latin typeface="Cambria Math" panose="02040503050406030204" pitchFamily="18" charset="0"/>
                            <a:ea typeface="楷体" panose="02010609060101010101" pitchFamily="49" charset="-122"/>
                          </a:rPr>
                          <m:t>1</m:t>
                        </m:r>
                      </m:sub>
                    </m:sSub>
                    <m:r>
                      <a:rPr lang="en-US" altLang="zh-CN" b="0" i="1" smtClean="0">
                        <a:solidFill>
                          <a:srgbClr val="FF0000"/>
                        </a:solidFill>
                        <a:latin typeface="Cambria Math" panose="02040503050406030204" pitchFamily="18" charset="0"/>
                        <a:ea typeface="楷体" panose="02010609060101010101" pitchFamily="49" charset="-122"/>
                      </a:rPr>
                      <m:t>,</m:t>
                    </m:r>
                    <m:sSub>
                      <m:sSubPr>
                        <m:ctrlPr>
                          <a:rPr lang="en-US" altLang="zh-CN" b="0" i="1" smtClean="0">
                            <a:solidFill>
                              <a:srgbClr val="FF0000"/>
                            </a:solidFill>
                            <a:latin typeface="Cambria Math" panose="02040503050406030204" pitchFamily="18" charset="0"/>
                            <a:ea typeface="楷体" panose="02010609060101010101" pitchFamily="49" charset="-122"/>
                          </a:rPr>
                        </m:ctrlPr>
                      </m:sSubPr>
                      <m:e>
                        <m:r>
                          <a:rPr lang="en-US" altLang="zh-CN" b="0" i="1" smtClean="0">
                            <a:solidFill>
                              <a:srgbClr val="FF0000"/>
                            </a:solidFill>
                            <a:latin typeface="Cambria Math" panose="02040503050406030204" pitchFamily="18" charset="0"/>
                            <a:ea typeface="楷体" panose="02010609060101010101" pitchFamily="49" charset="-122"/>
                          </a:rPr>
                          <m:t>𝑥</m:t>
                        </m:r>
                      </m:e>
                      <m:sub>
                        <m:r>
                          <a:rPr lang="en-US" altLang="zh-CN" b="0" i="1" smtClean="0">
                            <a:solidFill>
                              <a:srgbClr val="FF0000"/>
                            </a:solidFill>
                            <a:latin typeface="Cambria Math" panose="02040503050406030204" pitchFamily="18" charset="0"/>
                            <a:ea typeface="楷体" panose="02010609060101010101" pitchFamily="49" charset="-122"/>
                          </a:rPr>
                          <m:t>2</m:t>
                        </m:r>
                      </m:sub>
                    </m:sSub>
                  </m:oMath>
                </a14:m>
                <a:r>
                  <a:rPr lang="zh-CN" altLang="en-US" dirty="0">
                    <a:solidFill>
                      <a:srgbClr val="FF0000"/>
                    </a:solidFill>
                    <a:latin typeface="楷体" panose="02010609060101010101" pitchFamily="49" charset="-122"/>
                    <a:ea typeface="楷体" panose="02010609060101010101" pitchFamily="49" charset="-122"/>
                  </a:rPr>
                  <a:t>为整数</a:t>
                </a:r>
                <a:r>
                  <a:rPr lang="zh-CN" altLang="en-US"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a:p>
                <a:pPr algn="just">
                  <a:lnSpc>
                    <a:spcPct val="95000"/>
                  </a:lnSpc>
                  <a:spcBef>
                    <a:spcPct val="0"/>
                  </a:spcBef>
                </a:pPr>
                <a:r>
                  <a:rPr lang="zh-CN" altLang="en-US" dirty="0">
                    <a:solidFill>
                      <a:srgbClr val="FF0000"/>
                    </a:solidFill>
                    <a:latin typeface="楷体" panose="02010609060101010101" pitchFamily="49" charset="-122"/>
                    <a:ea typeface="楷体" panose="02010609060101010101" pitchFamily="49" charset="-122"/>
                  </a:rPr>
                  <a:t>如果去掉最后一个约束，就是一个线性规划问题.</a:t>
                </a:r>
                <a:endParaRPr lang="zh-CN" altLang="en-US" dirty="0">
                  <a:solidFill>
                    <a:srgbClr val="FF0000"/>
                  </a:solidFill>
                  <a:latin typeface="楷体" panose="02010609060101010101" pitchFamily="49" charset="-122"/>
                  <a:ea typeface="楷体" panose="02010609060101010101" pitchFamily="49" charset="-122"/>
                </a:endParaRPr>
              </a:p>
            </p:txBody>
          </p:sp>
        </mc:Choice>
        <mc:Fallback>
          <p:sp>
            <p:nvSpPr>
              <p:cNvPr id="73" name="矩形 72"/>
              <p:cNvSpPr>
                <a:spLocks noRot="1" noChangeAspect="1" noMove="1" noResize="1" noEditPoints="1" noAdjustHandles="1" noChangeArrowheads="1" noChangeShapeType="1" noTextEdit="1"/>
              </p:cNvSpPr>
              <p:nvPr/>
            </p:nvSpPr>
            <p:spPr>
              <a:xfrm>
                <a:off x="1760217" y="3837607"/>
                <a:ext cx="8245475" cy="2197525"/>
              </a:xfrm>
              <a:prstGeom prst="rect">
                <a:avLst/>
              </a:prstGeom>
              <a:blipFill rotWithShape="1">
                <a:blip r:embed="rId1"/>
                <a:stretch>
                  <a:fillRect l="-8" t="-14" r="8" b="4"/>
                </a:stretch>
              </a:blipFill>
            </p:spPr>
            <p:txBody>
              <a:bodyPr/>
              <a:lstStyle/>
              <a:p>
                <a:r>
                  <a:rPr lang="zh-CN" altLang="en-US">
                    <a:noFill/>
                  </a:rPr>
                  <a:t> </a:t>
                </a:r>
              </a:p>
            </p:txBody>
          </p:sp>
        </mc:Fallback>
      </mc:AlternateContent>
      <p:sp>
        <p:nvSpPr>
          <p:cNvPr id="4" name="星形: 五角 3"/>
          <p:cNvSpPr/>
          <p:nvPr/>
        </p:nvSpPr>
        <p:spPr>
          <a:xfrm>
            <a:off x="5809377" y="696286"/>
            <a:ext cx="687897" cy="545285"/>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楷体" panose="02010609060101010101" pitchFamily="49" charset="-122"/>
                <a:ea typeface="楷体" panose="02010609060101010101" pitchFamily="49" charset="-122"/>
              </a:rPr>
              <a:t>1</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1"/>
          <a:stretch>
            <a:fillRect/>
          </a:stretch>
        </p:blipFill>
        <p:spPr>
          <a:xfrm>
            <a:off x="3719513" y="3137328"/>
            <a:ext cx="3221285" cy="3240610"/>
          </a:xfrm>
          <a:prstGeom prst="rect">
            <a:avLst/>
          </a:prstGeom>
        </p:spPr>
      </p:pic>
      <p:sp>
        <p:nvSpPr>
          <p:cNvPr id="23557" name="Rectangle 5"/>
          <p:cNvSpPr>
            <a:spLocks noChangeArrowheads="1"/>
          </p:cNvSpPr>
          <p:nvPr/>
        </p:nvSpPr>
        <p:spPr bwMode="auto">
          <a:xfrm>
            <a:off x="892810" y="770255"/>
            <a:ext cx="9667240"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sz="4400" dirty="0">
                <a:latin typeface="Arial" panose="020B0604020202020204" pitchFamily="34" charset="0"/>
                <a:ea typeface="楷体" panose="02010609060101010101" pitchFamily="49" charset="-122"/>
              </a:rPr>
              <a:t>整数规划的图解法</a:t>
            </a:r>
            <a:endParaRPr lang="zh-CN" altLang="zh-CN" sz="4400" dirty="0">
              <a:latin typeface="Arial" panose="020B0604020202020204" pitchFamily="34" charset="0"/>
              <a:ea typeface="楷体" panose="02010609060101010101" pitchFamily="49" charset="-122"/>
            </a:endParaRPr>
          </a:p>
        </p:txBody>
      </p:sp>
      <p:sp>
        <p:nvSpPr>
          <p:cNvPr id="23558" name="Rectangle 6"/>
          <p:cNvSpPr>
            <a:spLocks noChangeArrowheads="1"/>
          </p:cNvSpPr>
          <p:nvPr/>
        </p:nvSpPr>
        <p:spPr bwMode="auto">
          <a:xfrm>
            <a:off x="1708150" y="1533525"/>
            <a:ext cx="8893175" cy="469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利用图解法</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000" dirty="0">
              <a:solidFill>
                <a:srgbClr val="000000"/>
              </a:solidFill>
              <a:latin typeface="Arial" panose="020B0604020202020204" pitchFamily="34" charset="0"/>
              <a:ea typeface="微软雅黑" panose="020B0503020204020204" pitchFamily="34" charset="-122"/>
            </a:endParaRPr>
          </a:p>
        </p:txBody>
      </p:sp>
      <p:grpSp>
        <p:nvGrpSpPr>
          <p:cNvPr id="27" name="组合 26"/>
          <p:cNvGrpSpPr/>
          <p:nvPr/>
        </p:nvGrpSpPr>
        <p:grpSpPr>
          <a:xfrm>
            <a:off x="3574832" y="2474983"/>
            <a:ext cx="6719599" cy="2836907"/>
            <a:chOff x="2050832" y="2474983"/>
            <a:chExt cx="6719599" cy="2836907"/>
          </a:xfrm>
        </p:grpSpPr>
        <p:grpSp>
          <p:nvGrpSpPr>
            <p:cNvPr id="24" name="组合 23"/>
            <p:cNvGrpSpPr/>
            <p:nvPr/>
          </p:nvGrpSpPr>
          <p:grpSpPr>
            <a:xfrm>
              <a:off x="2050832" y="2474983"/>
              <a:ext cx="2687955" cy="1323571"/>
              <a:chOff x="2961123" y="1878064"/>
              <a:chExt cx="2687955" cy="1323571"/>
            </a:xfrm>
          </p:grpSpPr>
          <mc:AlternateContent xmlns:mc="http://schemas.openxmlformats.org/markup-compatibility/2006">
            <mc:Choice xmlns:a14="http://schemas.microsoft.com/office/drawing/2010/main" Requires="a14">
              <p:sp>
                <p:nvSpPr>
                  <p:cNvPr id="3" name="矩形 2"/>
                  <p:cNvSpPr/>
                  <p:nvPr/>
                </p:nvSpPr>
                <p:spPr>
                  <a:xfrm>
                    <a:off x="2961123" y="1878064"/>
                    <a:ext cx="2687955"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zh-CN" sz="2400" i="1" dirty="0">
                              <a:latin typeface="Cambria Math" panose="02040503050406030204" pitchFamily="18" charset="0"/>
                              <a:ea typeface="楷体" panose="02010609060101010101" pitchFamily="49" charset="-122"/>
                            </a:rPr>
                            <m:t>4</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40</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140</m:t>
                          </m:r>
                        </m:oMath>
                      </m:oMathPara>
                    </a14:m>
                    <a:endParaRPr lang="zh-CN" altLang="en-US" sz="2400" dirty="0"/>
                  </a:p>
                </p:txBody>
              </p:sp>
            </mc:Choice>
            <mc:Fallback>
              <p:sp>
                <p:nvSpPr>
                  <p:cNvPr id="3" name="矩形 2"/>
                  <p:cNvSpPr>
                    <a:spLocks noRot="1" noChangeAspect="1" noMove="1" noResize="1" noEditPoints="1" noAdjustHandles="1" noChangeArrowheads="1" noChangeShapeType="1" noTextEdit="1"/>
                  </p:cNvSpPr>
                  <p:nvPr/>
                </p:nvSpPr>
                <p:spPr>
                  <a:xfrm>
                    <a:off x="2961123" y="1878064"/>
                    <a:ext cx="2687955" cy="460375"/>
                  </a:xfrm>
                  <a:prstGeom prst="rect">
                    <a:avLst/>
                  </a:prstGeom>
                  <a:blipFill rotWithShape="1">
                    <a:blip r:embed="rId2"/>
                  </a:blipFill>
                </p:spPr>
                <p:txBody>
                  <a:bodyPr/>
                  <a:lstStyle/>
                  <a:p>
                    <a:r>
                      <a:rPr lang="zh-CN" altLang="en-US">
                        <a:noFill/>
                      </a:rPr>
                      <a:t> </a:t>
                    </a:r>
                  </a:p>
                </p:txBody>
              </p:sp>
            </mc:Fallback>
          </mc:AlternateContent>
          <p:cxnSp>
            <p:nvCxnSpPr>
              <p:cNvPr id="5" name="直接箭头连接符 4"/>
              <p:cNvCxnSpPr/>
              <p:nvPr/>
            </p:nvCxnSpPr>
            <p:spPr bwMode="auto">
              <a:xfrm flipH="1">
                <a:off x="3971690" y="2339729"/>
                <a:ext cx="358558" cy="861906"/>
              </a:xfrm>
              <a:prstGeom prst="straightConnector1">
                <a:avLst/>
              </a:prstGeom>
              <a:solidFill>
                <a:schemeClr val="accent1"/>
              </a:solidFill>
              <a:ln w="2857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5" name="组合 24"/>
            <p:cNvGrpSpPr/>
            <p:nvPr/>
          </p:nvGrpSpPr>
          <p:grpSpPr>
            <a:xfrm>
              <a:off x="4430524" y="3289250"/>
              <a:ext cx="4339907" cy="1080120"/>
              <a:chOff x="5483858" y="2841595"/>
              <a:chExt cx="4339907" cy="1080120"/>
            </a:xfrm>
          </p:grpSpPr>
          <mc:AlternateContent xmlns:mc="http://schemas.openxmlformats.org/markup-compatibility/2006">
            <mc:Choice xmlns:a14="http://schemas.microsoft.com/office/drawing/2010/main" Requires="a14">
              <p:sp>
                <p:nvSpPr>
                  <p:cNvPr id="8" name="矩形 7"/>
                  <p:cNvSpPr/>
                  <p:nvPr/>
                </p:nvSpPr>
                <p:spPr>
                  <a:xfrm>
                    <a:off x="6189025" y="2841595"/>
                    <a:ext cx="3634740"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zh-CN" sz="2400" i="1" dirty="0">
                              <a:latin typeface="Cambria Math" panose="02040503050406030204" pitchFamily="18" charset="0"/>
                              <a:ea typeface="楷体" panose="02010609060101010101" pitchFamily="49" charset="-122"/>
                            </a:rPr>
                            <m:t>195</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273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365</m:t>
                          </m:r>
                          <m:r>
                            <a:rPr lang="zh-CN" altLang="zh-CN" sz="2400" i="1" dirty="0">
                              <a:latin typeface="Cambria Math" panose="02040503050406030204" pitchFamily="18" charset="0"/>
                              <a:ea typeface="楷体" panose="02010609060101010101" pitchFamily="49" charset="-122"/>
                            </a:rPr>
                            <m:t> </m:t>
                          </m:r>
                        </m:oMath>
                      </m:oMathPara>
                    </a14:m>
                    <a:endParaRPr lang="zh-CN" altLang="en-US" sz="2400" dirty="0"/>
                  </a:p>
                </p:txBody>
              </p:sp>
            </mc:Choice>
            <mc:Fallback>
              <p:sp>
                <p:nvSpPr>
                  <p:cNvPr id="8" name="矩形 7"/>
                  <p:cNvSpPr>
                    <a:spLocks noRot="1" noChangeAspect="1" noMove="1" noResize="1" noEditPoints="1" noAdjustHandles="1" noChangeArrowheads="1" noChangeShapeType="1" noTextEdit="1"/>
                  </p:cNvSpPr>
                  <p:nvPr/>
                </p:nvSpPr>
                <p:spPr>
                  <a:xfrm>
                    <a:off x="6189025" y="2841595"/>
                    <a:ext cx="3634740" cy="460375"/>
                  </a:xfrm>
                  <a:prstGeom prst="rect">
                    <a:avLst/>
                  </a:prstGeom>
                  <a:blipFill rotWithShape="1">
                    <a:blip r:embed="rId3"/>
                  </a:blipFill>
                </p:spPr>
                <p:txBody>
                  <a:bodyPr/>
                  <a:lstStyle/>
                  <a:p>
                    <a:r>
                      <a:rPr lang="zh-CN" altLang="en-US">
                        <a:noFill/>
                      </a:rPr>
                      <a:t> </a:t>
                    </a:r>
                  </a:p>
                </p:txBody>
              </p:sp>
            </mc:Fallback>
          </mc:AlternateContent>
          <p:cxnSp>
            <p:nvCxnSpPr>
              <p:cNvPr id="10" name="直接箭头连接符 9"/>
              <p:cNvCxnSpPr/>
              <p:nvPr/>
            </p:nvCxnSpPr>
            <p:spPr bwMode="auto">
              <a:xfrm flipH="1">
                <a:off x="5483858" y="3201635"/>
                <a:ext cx="705167" cy="720080"/>
              </a:xfrm>
              <a:prstGeom prst="straightConnector1">
                <a:avLst/>
              </a:prstGeom>
              <a:solidFill>
                <a:schemeClr val="accent1"/>
              </a:solidFill>
              <a:ln w="2857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6" name="组合 25"/>
            <p:cNvGrpSpPr/>
            <p:nvPr/>
          </p:nvGrpSpPr>
          <p:grpSpPr>
            <a:xfrm>
              <a:off x="4899730" y="4851515"/>
              <a:ext cx="1955626" cy="460375"/>
              <a:chOff x="5987914" y="4414469"/>
              <a:chExt cx="1955626" cy="460375"/>
            </a:xfrm>
          </p:grpSpPr>
          <mc:AlternateContent xmlns:mc="http://schemas.openxmlformats.org/markup-compatibility/2006">
            <mc:Choice xmlns:a14="http://schemas.microsoft.com/office/drawing/2010/main" Requires="a14">
              <p:sp>
                <p:nvSpPr>
                  <p:cNvPr id="11" name="矩形 10"/>
                  <p:cNvSpPr/>
                  <p:nvPr/>
                </p:nvSpPr>
                <p:spPr>
                  <a:xfrm>
                    <a:off x="6877375" y="4414469"/>
                    <a:ext cx="1066165"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4</m:t>
                          </m:r>
                        </m:oMath>
                      </m:oMathPara>
                    </a14:m>
                    <a:endParaRPr lang="zh-CN" altLang="en-US" sz="2400" dirty="0"/>
                  </a:p>
                </p:txBody>
              </p:sp>
            </mc:Choice>
            <mc:Fallback>
              <p:sp>
                <p:nvSpPr>
                  <p:cNvPr id="11" name="矩形 10"/>
                  <p:cNvSpPr>
                    <a:spLocks noRot="1" noChangeAspect="1" noMove="1" noResize="1" noEditPoints="1" noAdjustHandles="1" noChangeArrowheads="1" noChangeShapeType="1" noTextEdit="1"/>
                  </p:cNvSpPr>
                  <p:nvPr/>
                </p:nvSpPr>
                <p:spPr>
                  <a:xfrm>
                    <a:off x="6877375" y="4414469"/>
                    <a:ext cx="1066165" cy="460375"/>
                  </a:xfrm>
                  <a:prstGeom prst="rect">
                    <a:avLst/>
                  </a:prstGeom>
                  <a:blipFill rotWithShape="1">
                    <a:blip r:embed="rId4"/>
                  </a:blipFill>
                </p:spPr>
                <p:txBody>
                  <a:bodyPr/>
                  <a:lstStyle/>
                  <a:p>
                    <a:r>
                      <a:rPr lang="zh-CN" altLang="en-US">
                        <a:noFill/>
                      </a:rPr>
                      <a:t> </a:t>
                    </a:r>
                  </a:p>
                </p:txBody>
              </p:sp>
            </mc:Fallback>
          </mc:AlternateContent>
          <p:cxnSp>
            <p:nvCxnSpPr>
              <p:cNvPr id="13" name="直接箭头连接符 12"/>
              <p:cNvCxnSpPr>
                <a:stCxn id="11" idx="1"/>
              </p:cNvCxnSpPr>
              <p:nvPr/>
            </p:nvCxnSpPr>
            <p:spPr bwMode="auto">
              <a:xfrm flipH="1">
                <a:off x="5987914" y="4644667"/>
                <a:ext cx="889461" cy="0"/>
              </a:xfrm>
              <a:prstGeom prst="straightConnector1">
                <a:avLst/>
              </a:prstGeom>
              <a:solidFill>
                <a:schemeClr val="accent1"/>
              </a:solidFill>
              <a:ln w="2857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0" name="组合 19"/>
          <p:cNvGrpSpPr/>
          <p:nvPr/>
        </p:nvGrpSpPr>
        <p:grpSpPr>
          <a:xfrm>
            <a:off x="1572082" y="4862810"/>
            <a:ext cx="4382442" cy="1494395"/>
            <a:chOff x="48082" y="4862810"/>
            <a:chExt cx="4382442" cy="1494395"/>
          </a:xfrm>
        </p:grpSpPr>
        <p:cxnSp>
          <p:nvCxnSpPr>
            <p:cNvPr id="16" name="直接连接符 15"/>
            <p:cNvCxnSpPr/>
            <p:nvPr/>
          </p:nvCxnSpPr>
          <p:spPr bwMode="auto">
            <a:xfrm>
              <a:off x="2268433" y="5159219"/>
              <a:ext cx="2162091" cy="1197986"/>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9" name="矩形 18"/>
                <p:cNvSpPr/>
                <p:nvPr/>
              </p:nvSpPr>
              <p:spPr>
                <a:xfrm>
                  <a:off x="48082" y="4862810"/>
                  <a:ext cx="2227580"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zh-CN" sz="2400" i="1" dirty="0">
                            <a:latin typeface="Cambria Math" panose="02040503050406030204" pitchFamily="18" charset="0"/>
                            <a:ea typeface="楷体" panose="02010609060101010101" pitchFamily="49" charset="-122"/>
                          </a:rPr>
                          <m:t>𝑧</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m:t>
                        </m:r>
                      </m:oMath>
                    </m:oMathPara>
                  </a14:m>
                  <a:endParaRPr lang="zh-CN" altLang="en-US" sz="2400" dirty="0"/>
                </a:p>
              </p:txBody>
            </p:sp>
          </mc:Choice>
          <mc:Fallback>
            <p:sp>
              <p:nvSpPr>
                <p:cNvPr id="19" name="矩形 18"/>
                <p:cNvSpPr>
                  <a:spLocks noRot="1" noChangeAspect="1" noMove="1" noResize="1" noEditPoints="1" noAdjustHandles="1" noChangeArrowheads="1" noChangeShapeType="1" noTextEdit="1"/>
                </p:cNvSpPr>
                <p:nvPr/>
              </p:nvSpPr>
              <p:spPr>
                <a:xfrm>
                  <a:off x="48082" y="4862810"/>
                  <a:ext cx="2227580" cy="460375"/>
                </a:xfrm>
                <a:prstGeom prst="rect">
                  <a:avLst/>
                </a:prstGeom>
                <a:blipFill rotWithShape="1">
                  <a:blip r:embed="rId5"/>
                </a:blipFill>
              </p:spPr>
              <p:txBody>
                <a:bodyPr/>
                <a:lstStyle/>
                <a:p>
                  <a:r>
                    <a:rPr lang="zh-CN" altLang="en-US">
                      <a:noFill/>
                    </a:rPr>
                    <a:t> </a:t>
                  </a:r>
                </a:p>
              </p:txBody>
            </p:sp>
          </mc:Fallback>
        </mc:AlternateContent>
      </p:grpSp>
      <p:cxnSp>
        <p:nvCxnSpPr>
          <p:cNvPr id="85" name="直接连接符 84"/>
          <p:cNvCxnSpPr/>
          <p:nvPr/>
        </p:nvCxnSpPr>
        <p:spPr bwMode="auto">
          <a:xfrm>
            <a:off x="4411860" y="3436032"/>
            <a:ext cx="2361351" cy="1335292"/>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1" name="组合 30"/>
          <p:cNvGrpSpPr/>
          <p:nvPr/>
        </p:nvGrpSpPr>
        <p:grpSpPr>
          <a:xfrm>
            <a:off x="5532310" y="2879030"/>
            <a:ext cx="2918361" cy="1191352"/>
            <a:chOff x="4008310" y="2879030"/>
            <a:chExt cx="2918361" cy="1191352"/>
          </a:xfrm>
        </p:grpSpPr>
        <mc:AlternateContent xmlns:mc="http://schemas.openxmlformats.org/markup-compatibility/2006">
          <mc:Choice xmlns:a14="http://schemas.microsoft.com/office/drawing/2010/main" Requires="a14">
            <p:sp>
              <p:nvSpPr>
                <p:cNvPr id="22" name="矩形 21"/>
                <p:cNvSpPr/>
                <p:nvPr/>
              </p:nvSpPr>
              <p:spPr>
                <a:xfrm>
                  <a:off x="4068536" y="2879030"/>
                  <a:ext cx="2858135"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44</m:t>
                        </m:r>
                        <m:r>
                          <a:rPr lang="en-US" altLang="zh-CN" sz="2400" b="0" i="1" dirty="0" smtClean="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26</m:t>
                        </m:r>
                      </m:oMath>
                    </m:oMathPara>
                  </a14:m>
                  <a:endParaRPr lang="zh-CN" altLang="en-US" sz="2400" dirty="0"/>
                </a:p>
              </p:txBody>
            </p:sp>
          </mc:Choice>
          <mc:Fallback>
            <p:sp>
              <p:nvSpPr>
                <p:cNvPr id="22" name="矩形 21"/>
                <p:cNvSpPr>
                  <a:spLocks noRot="1" noChangeAspect="1" noMove="1" noResize="1" noEditPoints="1" noAdjustHandles="1" noChangeArrowheads="1" noChangeShapeType="1" noTextEdit="1"/>
                </p:cNvSpPr>
                <p:nvPr/>
              </p:nvSpPr>
              <p:spPr>
                <a:xfrm>
                  <a:off x="4068536" y="2879030"/>
                  <a:ext cx="2858135" cy="460375"/>
                </a:xfrm>
                <a:prstGeom prst="rect">
                  <a:avLst/>
                </a:prstGeom>
                <a:blipFill rotWithShape="1">
                  <a:blip r:embed="rId6"/>
                </a:blipFill>
              </p:spPr>
              <p:txBody>
                <a:bodyPr/>
                <a:lstStyle/>
                <a:p>
                  <a:r>
                    <a:rPr lang="zh-CN" altLang="en-US">
                      <a:noFill/>
                    </a:rPr>
                    <a:t> </a:t>
                  </a:r>
                </a:p>
              </p:txBody>
            </p:sp>
          </mc:Fallback>
        </mc:AlternateContent>
        <p:cxnSp>
          <p:nvCxnSpPr>
            <p:cNvPr id="29" name="直接箭头连接符 28"/>
            <p:cNvCxnSpPr/>
            <p:nvPr/>
          </p:nvCxnSpPr>
          <p:spPr bwMode="auto">
            <a:xfrm flipH="1">
              <a:off x="4008310" y="3305002"/>
              <a:ext cx="324067" cy="765380"/>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00" name="直接连接符 99"/>
          <p:cNvCxnSpPr/>
          <p:nvPr/>
        </p:nvCxnSpPr>
        <p:spPr bwMode="auto">
          <a:xfrm>
            <a:off x="5303037" y="4122461"/>
            <a:ext cx="2361351" cy="1335292"/>
          </a:xfrm>
          <a:prstGeom prst="line">
            <a:avLst/>
          </a:prstGeom>
          <a:solidFill>
            <a:schemeClr val="accent1"/>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1" name="组合 100"/>
          <p:cNvGrpSpPr/>
          <p:nvPr/>
        </p:nvGrpSpPr>
        <p:grpSpPr>
          <a:xfrm>
            <a:off x="6423487" y="3565459"/>
            <a:ext cx="2116356" cy="1191352"/>
            <a:chOff x="4008310" y="2879030"/>
            <a:chExt cx="2116356" cy="1191352"/>
          </a:xfrm>
        </p:grpSpPr>
        <mc:AlternateContent xmlns:mc="http://schemas.openxmlformats.org/markup-compatibility/2006">
          <mc:Choice xmlns:a14="http://schemas.microsoft.com/office/drawing/2010/main" Requires="a14">
            <p:sp>
              <p:nvSpPr>
                <p:cNvPr id="102" name="矩形 101"/>
                <p:cNvSpPr/>
                <p:nvPr/>
              </p:nvSpPr>
              <p:spPr>
                <a:xfrm>
                  <a:off x="4068536" y="2879030"/>
                  <a:ext cx="2056130"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en-US" altLang="zh-CN" sz="2400" b="0" i="1" dirty="0" smtClean="0">
                            <a:latin typeface="Cambria Math" panose="02040503050406030204" pitchFamily="18" charset="0"/>
                            <a:ea typeface="楷体" panose="02010609060101010101" pitchFamily="49" charset="-122"/>
                          </a:rPr>
                          <m:t>4</m:t>
                        </m:r>
                        <m:r>
                          <a:rPr lang="en-US" altLang="zh-CN" sz="2400" b="0" i="1" dirty="0" smtClean="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en-US" altLang="zh-CN" sz="2400" b="0" i="1" dirty="0" smtClean="0">
                            <a:latin typeface="Cambria Math" panose="02040503050406030204" pitchFamily="18" charset="0"/>
                            <a:ea typeface="楷体" panose="02010609060101010101" pitchFamily="49" charset="-122"/>
                          </a:rPr>
                          <m:t>2</m:t>
                        </m:r>
                      </m:oMath>
                    </m:oMathPara>
                  </a14:m>
                  <a:endParaRPr lang="zh-CN" altLang="en-US" sz="2400" dirty="0"/>
                </a:p>
              </p:txBody>
            </p:sp>
          </mc:Choice>
          <mc:Fallback>
            <p:sp>
              <p:nvSpPr>
                <p:cNvPr id="102" name="矩形 101"/>
                <p:cNvSpPr>
                  <a:spLocks noRot="1" noChangeAspect="1" noMove="1" noResize="1" noEditPoints="1" noAdjustHandles="1" noChangeArrowheads="1" noChangeShapeType="1" noTextEdit="1"/>
                </p:cNvSpPr>
                <p:nvPr/>
              </p:nvSpPr>
              <p:spPr>
                <a:xfrm>
                  <a:off x="4068536" y="2879030"/>
                  <a:ext cx="2056130" cy="460375"/>
                </a:xfrm>
                <a:prstGeom prst="rect">
                  <a:avLst/>
                </a:prstGeom>
                <a:blipFill rotWithShape="1">
                  <a:blip r:embed="rId7"/>
                </a:blipFill>
              </p:spPr>
              <p:txBody>
                <a:bodyPr/>
                <a:lstStyle/>
                <a:p>
                  <a:r>
                    <a:rPr lang="zh-CN" altLang="en-US">
                      <a:noFill/>
                    </a:rPr>
                    <a:t> </a:t>
                  </a:r>
                </a:p>
              </p:txBody>
            </p:sp>
          </mc:Fallback>
        </mc:AlternateContent>
        <p:cxnSp>
          <p:nvCxnSpPr>
            <p:cNvPr id="103" name="直接箭头连接符 102"/>
            <p:cNvCxnSpPr/>
            <p:nvPr/>
          </p:nvCxnSpPr>
          <p:spPr bwMode="auto">
            <a:xfrm flipH="1">
              <a:off x="4008310" y="3305002"/>
              <a:ext cx="324067" cy="765380"/>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0"/>
                                        </p:tgtEl>
                                      </p:cBhvr>
                                    </p:animEffect>
                                    <p:set>
                                      <p:cBhvr>
                                        <p:cTn id="12" dur="1" fill="hold">
                                          <p:stCondLst>
                                            <p:cond delay="499"/>
                                          </p:stCondLst>
                                        </p:cTn>
                                        <p:tgtEl>
                                          <p:spTgt spid="20"/>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500"/>
                                        <p:tgtEl>
                                          <p:spTgt spid="27"/>
                                        </p:tgtEl>
                                      </p:cBhvr>
                                    </p:animEffect>
                                    <p:set>
                                      <p:cBhvr>
                                        <p:cTn id="15" dur="1" fill="hold">
                                          <p:stCondLst>
                                            <p:cond delay="499"/>
                                          </p:stCondLst>
                                        </p:cTn>
                                        <p:tgtEl>
                                          <p:spTgt spid="2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5"/>
                                        </p:tgtEl>
                                        <p:attrNameLst>
                                          <p:attrName>style.visibility</p:attrName>
                                        </p:attrNameLst>
                                      </p:cBhvr>
                                      <p:to>
                                        <p:strVal val="visible"/>
                                      </p:to>
                                    </p:set>
                                    <p:animEffect transition="in" filter="fade">
                                      <p:cBhvr>
                                        <p:cTn id="20" dur="500"/>
                                        <p:tgtEl>
                                          <p:spTgt spid="8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0"/>
                                        </p:tgtEl>
                                        <p:attrNameLst>
                                          <p:attrName>style.visibility</p:attrName>
                                        </p:attrNameLst>
                                      </p:cBhvr>
                                      <p:to>
                                        <p:strVal val="visible"/>
                                      </p:to>
                                    </p:set>
                                    <p:animEffect transition="in" filter="fade">
                                      <p:cBhvr>
                                        <p:cTn id="30" dur="500"/>
                                        <p:tgtEl>
                                          <p:spTgt spid="10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1"/>
                                        </p:tgtEl>
                                        <p:attrNameLst>
                                          <p:attrName>style.visibility</p:attrName>
                                        </p:attrNameLst>
                                      </p:cBhvr>
                                      <p:to>
                                        <p:strVal val="visible"/>
                                      </p:to>
                                    </p:set>
                                    <p:animEffect transition="in" filter="fade">
                                      <p:cBhvr>
                                        <p:cTn id="35"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整数规划的图解法</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在没有整数假设的前提下，相应的线性规划的最优解为</a:t>
            </a:r>
            <a:r>
              <a:rPr lang="en-US" altLang="zh-CN" dirty="0">
                <a:latin typeface="楷体" panose="02010609060101010101" pitchFamily="49" charset="-122"/>
                <a:ea typeface="楷体" panose="02010609060101010101" pitchFamily="49" charset="-122"/>
              </a:rPr>
              <a:t>x1=2.44, x2=3.26,</a:t>
            </a:r>
            <a:r>
              <a:rPr lang="zh-CN" altLang="en-US" dirty="0">
                <a:latin typeface="楷体" panose="02010609060101010101" pitchFamily="49" charset="-122"/>
                <a:ea typeface="楷体" panose="02010609060101010101" pitchFamily="49" charset="-122"/>
              </a:rPr>
              <a:t>目标函数值为</a:t>
            </a:r>
            <a:r>
              <a:rPr lang="en-US" altLang="zh-CN" dirty="0">
                <a:latin typeface="楷体" panose="02010609060101010101" pitchFamily="49" charset="-122"/>
                <a:ea typeface="楷体" panose="02010609060101010101" pitchFamily="49" charset="-122"/>
              </a:rPr>
              <a:t>14.66</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在有整数解的假设前提下，整数规划的最优解为</a:t>
            </a:r>
            <a:r>
              <a:rPr lang="en-US" altLang="zh-CN" dirty="0">
                <a:latin typeface="楷体" panose="02010609060101010101" pitchFamily="49" charset="-122"/>
                <a:ea typeface="楷体" panose="02010609060101010101" pitchFamily="49" charset="-122"/>
              </a:rPr>
              <a:t>x1=4, x2=2,</a:t>
            </a:r>
            <a:r>
              <a:rPr lang="zh-CN" altLang="en-US" dirty="0">
                <a:latin typeface="楷体" panose="02010609060101010101" pitchFamily="49" charset="-122"/>
                <a:ea typeface="楷体" panose="02010609060101010101" pitchFamily="49" charset="-122"/>
              </a:rPr>
              <a:t>目标函数值为</a:t>
            </a:r>
            <a:r>
              <a:rPr lang="en-US" altLang="zh-CN" dirty="0">
                <a:latin typeface="楷体" panose="02010609060101010101" pitchFamily="49" charset="-122"/>
                <a:ea typeface="楷体" panose="02010609060101010101" pitchFamily="49" charset="-122"/>
              </a:rPr>
              <a:t>14</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整数规划最优值的性质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由此，我们可知整数规划具有以下性质（性质</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0" indent="0">
              <a:buNone/>
            </a:pPr>
            <a:r>
              <a:rPr lang="zh-CN" altLang="en-US" dirty="0">
                <a:solidFill>
                  <a:srgbClr val="FF0000"/>
                </a:solidFill>
                <a:latin typeface="楷体" panose="02010609060101010101" pitchFamily="49" charset="-122"/>
                <a:ea typeface="楷体" panose="02010609060101010101" pitchFamily="49" charset="-122"/>
              </a:rPr>
              <a:t>任何求最大目标函数值的纯整数规划或混合整数规划的最大目标函数值小于或等于相应的线性规划的最大目标函数值；</a:t>
            </a:r>
            <a:endParaRPr lang="en-US" altLang="zh-CN" dirty="0">
              <a:solidFill>
                <a:srgbClr val="FF0000"/>
              </a:solidFill>
              <a:latin typeface="楷体" panose="02010609060101010101" pitchFamily="49" charset="-122"/>
              <a:ea typeface="楷体" panose="02010609060101010101" pitchFamily="49" charset="-122"/>
            </a:endParaRPr>
          </a:p>
          <a:p>
            <a:pPr marL="0" indent="0">
              <a:buNone/>
            </a:pPr>
            <a:r>
              <a:rPr lang="zh-CN" altLang="en-US" dirty="0">
                <a:solidFill>
                  <a:srgbClr val="FF0000"/>
                </a:solidFill>
                <a:latin typeface="楷体" panose="02010609060101010101" pitchFamily="49" charset="-122"/>
                <a:ea typeface="楷体" panose="02010609060101010101" pitchFamily="49" charset="-122"/>
              </a:rPr>
              <a:t>任何求最小目标函数值的纯整数规划或混合整数规划的最小目标函数值大于或等于相应的线性规划的最小目标函数值。</a:t>
            </a:r>
            <a:endParaRPr lang="zh-CN" altLang="en-US" dirty="0">
              <a:solidFill>
                <a:srgbClr val="FF0000"/>
              </a:solidFill>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整数规划的最优值不会优于相应的线性规划</a:t>
            </a:r>
            <a:endParaRPr lang="zh-CN" altLang="en-US" dirty="0">
              <a:latin typeface="楷体" panose="02010609060101010101" pitchFamily="49" charset="-122"/>
              <a:ea typeface="楷体" panose="02010609060101010101" pitchFamily="49" charset="-122"/>
            </a:endParaRPr>
          </a:p>
        </p:txBody>
      </p:sp>
      <p:sp>
        <p:nvSpPr>
          <p:cNvPr id="4" name="箭头: 下 3"/>
          <p:cNvSpPr/>
          <p:nvPr/>
        </p:nvSpPr>
        <p:spPr>
          <a:xfrm>
            <a:off x="5560142" y="4252452"/>
            <a:ext cx="639097" cy="51127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整数规划的分</a:t>
            </a:r>
            <a:r>
              <a:rPr lang="zh-CN" altLang="en-US" dirty="0">
                <a:latin typeface="楷体" panose="02010609060101010101" pitchFamily="49" charset="-122"/>
                <a:ea typeface="楷体" panose="02010609060101010101" pitchFamily="49" charset="-122"/>
              </a:rPr>
              <a:t>枝定</a:t>
            </a:r>
            <a:r>
              <a:rPr lang="zh-CN" altLang="en-US" dirty="0">
                <a:latin typeface="楷体" panose="02010609060101010101" pitchFamily="49" charset="-122"/>
                <a:ea typeface="楷体" panose="02010609060101010101" pitchFamily="49" charset="-122"/>
                <a:sym typeface="+mn-ea"/>
              </a:rPr>
              <a:t>界</a:t>
            </a:r>
            <a:r>
              <a:rPr lang="zh-CN" altLang="en-US" dirty="0">
                <a:latin typeface="楷体" panose="02010609060101010101" pitchFamily="49" charset="-122"/>
                <a:ea typeface="楷体" panose="02010609060101010101" pitchFamily="49" charset="-122"/>
              </a:rPr>
              <a:t>法</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latin typeface="楷体" panose="02010609060101010101" pitchFamily="49" charset="-122"/>
                <a:ea typeface="楷体" panose="02010609060101010101" pitchFamily="49" charset="-122"/>
              </a:rPr>
              <a:t>求解与</a:t>
            </a:r>
            <a:r>
              <a:rPr lang="en-US" altLang="zh-CN" dirty="0">
                <a:latin typeface="楷体" panose="02010609060101010101" pitchFamily="49" charset="-122"/>
                <a:ea typeface="楷体" panose="02010609060101010101" pitchFamily="49" charset="-122"/>
              </a:rPr>
              <a:t>IP</a:t>
            </a:r>
            <a:r>
              <a:rPr lang="zh-CN" altLang="en-US" dirty="0">
                <a:latin typeface="楷体" panose="02010609060101010101" pitchFamily="49" charset="-122"/>
                <a:ea typeface="楷体" panose="02010609060101010101" pitchFamily="49" charset="-122"/>
              </a:rPr>
              <a:t>相应的</a:t>
            </a:r>
            <a:r>
              <a:rPr lang="en-US" altLang="zh-CN" dirty="0">
                <a:latin typeface="楷体" panose="02010609060101010101" pitchFamily="49" charset="-122"/>
                <a:ea typeface="楷体" panose="02010609060101010101" pitchFamily="49" charset="-122"/>
              </a:rPr>
              <a:t>LP</a:t>
            </a:r>
            <a:r>
              <a:rPr lang="zh-CN" altLang="en-US" dirty="0">
                <a:latin typeface="楷体" panose="02010609060101010101" pitchFamily="49" charset="-122"/>
                <a:ea typeface="楷体" panose="02010609060101010101" pitchFamily="49" charset="-122"/>
              </a:rPr>
              <a:t>问题，可能会出现下面几种情况：</a:t>
            </a:r>
            <a:endParaRPr lang="zh-CN" altLang="en-US"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若所得的最优解的各变量恰好取整数，则这个解也是原整数规划的最优解，计算结束。</a:t>
            </a:r>
            <a:endParaRPr lang="zh-CN" altLang="en-US"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若无可行解，则原整数规划问题也无可行解，计算结束。</a:t>
            </a:r>
            <a:endParaRPr lang="zh-CN" altLang="en-US"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若</a:t>
            </a:r>
            <a:r>
              <a:rPr lang="zh-CN" altLang="en-US" dirty="0">
                <a:solidFill>
                  <a:srgbClr val="FF0000"/>
                </a:solidFill>
                <a:latin typeface="楷体" panose="02010609060101010101" pitchFamily="49" charset="-122"/>
                <a:ea typeface="楷体" panose="02010609060101010101" pitchFamily="49" charset="-122"/>
              </a:rPr>
              <a:t>有最优解，但其各决策变量不全是整数</a:t>
            </a:r>
            <a:r>
              <a:rPr lang="zh-CN" altLang="en-US" dirty="0">
                <a:latin typeface="楷体" panose="02010609060101010101" pitchFamily="49" charset="-122"/>
                <a:ea typeface="楷体" panose="02010609060101010101" pitchFamily="49" charset="-122"/>
              </a:rPr>
              <a:t>，则这个解不是原整数规划的最优解，转下一步。</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针对最后一种情况，我们可以采用分</a:t>
            </a:r>
            <a:r>
              <a:rPr lang="zh-CN" altLang="en-US" dirty="0">
                <a:latin typeface="楷体" panose="02010609060101010101" pitchFamily="49" charset="-122"/>
                <a:ea typeface="楷体" panose="02010609060101010101" pitchFamily="49" charset="-122"/>
                <a:sym typeface="+mn-ea"/>
              </a:rPr>
              <a:t>枝</a:t>
            </a:r>
            <a:r>
              <a:rPr lang="zh-CN" altLang="en-US" dirty="0">
                <a:latin typeface="楷体" panose="02010609060101010101" pitchFamily="49" charset="-122"/>
                <a:ea typeface="楷体" panose="02010609060101010101" pitchFamily="49" charset="-122"/>
              </a:rPr>
              <a:t>定</a:t>
            </a:r>
            <a:r>
              <a:rPr lang="zh-CN" altLang="en-US" dirty="0">
                <a:latin typeface="楷体" panose="02010609060101010101" pitchFamily="49" charset="-122"/>
                <a:ea typeface="楷体" panose="02010609060101010101" pitchFamily="49" charset="-122"/>
                <a:sym typeface="+mn-ea"/>
              </a:rPr>
              <a:t>界</a:t>
            </a:r>
            <a:r>
              <a:rPr lang="zh-CN" altLang="en-US" dirty="0">
                <a:latin typeface="楷体" panose="02010609060101010101" pitchFamily="49" charset="-122"/>
                <a:ea typeface="楷体" panose="02010609060101010101" pitchFamily="49" charset="-122"/>
              </a:rPr>
              <a:t>法求解</a:t>
            </a:r>
            <a:endParaRPr lang="en-US" altLang="zh-CN" dirty="0">
              <a:latin typeface="楷体" panose="02010609060101010101" pitchFamily="49" charset="-122"/>
              <a:ea typeface="楷体" panose="02010609060101010101" pitchFamily="49" charset="-122"/>
            </a:endParaRPr>
          </a:p>
          <a:p>
            <a:pPr marL="457200" lvl="1" indent="0">
              <a:buNone/>
            </a:pPr>
            <a:endParaRPr lang="zh-CN" altLang="en-US"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dirty="0">
                <a:latin typeface="华文楷体" panose="02010600040101010101" charset="-122"/>
                <a:ea typeface="华文楷体" panose="02010600040101010101" charset="-122"/>
                <a:cs typeface="华文楷体" panose="02010600040101010101" charset="-122"/>
              </a:rPr>
              <a:t>整数规划的分</a:t>
            </a:r>
            <a:r>
              <a:rPr lang="zh-CN" altLang="en-US" dirty="0">
                <a:latin typeface="华文楷体" panose="02010600040101010101" charset="-122"/>
                <a:ea typeface="华文楷体" panose="02010600040101010101" charset="-122"/>
                <a:cs typeface="华文楷体" panose="02010600040101010101" charset="-122"/>
                <a:sym typeface="+mn-ea"/>
              </a:rPr>
              <a:t>枝</a:t>
            </a:r>
            <a:r>
              <a:rPr lang="zh-CN" altLang="en-US" dirty="0">
                <a:latin typeface="华文楷体" panose="02010600040101010101" charset="-122"/>
                <a:ea typeface="华文楷体" panose="02010600040101010101" charset="-122"/>
                <a:cs typeface="华文楷体" panose="02010600040101010101" charset="-122"/>
              </a:rPr>
              <a:t>定</a:t>
            </a:r>
            <a:r>
              <a:rPr lang="zh-CN" altLang="en-US" dirty="0">
                <a:latin typeface="华文楷体" panose="02010600040101010101" charset="-122"/>
                <a:ea typeface="华文楷体" panose="02010600040101010101" charset="-122"/>
                <a:cs typeface="华文楷体" panose="02010600040101010101" charset="-122"/>
                <a:sym typeface="+mn-ea"/>
              </a:rPr>
              <a:t>界</a:t>
            </a:r>
            <a:r>
              <a:rPr lang="zh-CN" altLang="en-US" dirty="0">
                <a:latin typeface="华文楷体" panose="02010600040101010101" charset="-122"/>
                <a:ea typeface="华文楷体" panose="02010600040101010101" charset="-122"/>
                <a:cs typeface="华文楷体" panose="02010600040101010101" charset="-122"/>
              </a:rPr>
              <a:t>法 </a:t>
            </a:r>
            <a:r>
              <a:rPr lang="en-US" altLang="zh-CN" dirty="0">
                <a:latin typeface="华文楷体" panose="02010600040101010101" charset="-122"/>
                <a:ea typeface="华文楷体" panose="02010600040101010101" charset="-122"/>
                <a:cs typeface="华文楷体" panose="02010600040101010101" charset="-122"/>
              </a:rPr>
              <a:t>– </a:t>
            </a:r>
            <a:r>
              <a:rPr lang="zh-CN" altLang="en-US" dirty="0">
                <a:latin typeface="华文楷体" panose="02010600040101010101" charset="-122"/>
                <a:ea typeface="华文楷体" panose="02010600040101010101" charset="-122"/>
                <a:cs typeface="华文楷体" panose="02010600040101010101" charset="-122"/>
              </a:rPr>
              <a:t>流程图</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4" name="Rectangle 8"/>
          <p:cNvSpPr>
            <a:spLocks noChangeArrowheads="1"/>
          </p:cNvSpPr>
          <p:nvPr/>
        </p:nvSpPr>
        <p:spPr bwMode="auto">
          <a:xfrm>
            <a:off x="4459259" y="1955582"/>
            <a:ext cx="1000125" cy="37941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buClr>
                <a:srgbClr val="000000"/>
              </a:buClr>
              <a:buSzPct val="100000"/>
            </a:pPr>
            <a:r>
              <a:rPr lang="zh-CN" altLang="zh-CN" sz="1400" b="1">
                <a:latin typeface="仿宋" panose="02010609060101010101" pitchFamily="49" charset="-122"/>
                <a:ea typeface="仿宋" panose="02010609060101010101" pitchFamily="49" charset="-122"/>
              </a:rPr>
              <a:t>整数规划</a:t>
            </a:r>
            <a:endParaRPr lang="zh-CN" altLang="zh-CN" sz="1400" b="1">
              <a:latin typeface="仿宋" panose="02010609060101010101" pitchFamily="49" charset="-122"/>
              <a:ea typeface="仿宋" panose="02010609060101010101" pitchFamily="49" charset="-122"/>
            </a:endParaRPr>
          </a:p>
        </p:txBody>
      </p:sp>
      <p:sp>
        <p:nvSpPr>
          <p:cNvPr id="5" name="Rectangle 9"/>
          <p:cNvSpPr>
            <a:spLocks noChangeArrowheads="1"/>
          </p:cNvSpPr>
          <p:nvPr/>
        </p:nvSpPr>
        <p:spPr bwMode="auto">
          <a:xfrm>
            <a:off x="4827559" y="4205069"/>
            <a:ext cx="17145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b="1">
                <a:latin typeface="仿宋" panose="02010609060101010101" pitchFamily="49" charset="-122"/>
                <a:ea typeface="仿宋" panose="02010609060101010101" pitchFamily="49" charset="-122"/>
              </a:rPr>
              <a:t>整数规划上、下界</a:t>
            </a:r>
            <a:endParaRPr lang="zh-CN" altLang="zh-CN" sz="1400" b="1">
              <a:latin typeface="仿宋" panose="02010609060101010101" pitchFamily="49" charset="-122"/>
              <a:ea typeface="仿宋" panose="02010609060101010101" pitchFamily="49" charset="-122"/>
            </a:endParaRPr>
          </a:p>
        </p:txBody>
      </p:sp>
      <p:sp>
        <p:nvSpPr>
          <p:cNvPr id="6" name="Rectangle 10"/>
          <p:cNvSpPr>
            <a:spLocks noChangeArrowheads="1"/>
          </p:cNvSpPr>
          <p:nvPr/>
        </p:nvSpPr>
        <p:spPr bwMode="auto">
          <a:xfrm>
            <a:off x="4459259" y="2665194"/>
            <a:ext cx="1000125" cy="3571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buClr>
                <a:srgbClr val="000000"/>
              </a:buClr>
              <a:buSzPct val="100000"/>
            </a:pPr>
            <a:r>
              <a:rPr lang="zh-CN" altLang="zh-CN" sz="1400" b="1">
                <a:latin typeface="仿宋" panose="02010609060101010101" pitchFamily="49" charset="-122"/>
                <a:ea typeface="仿宋" panose="02010609060101010101" pitchFamily="49" charset="-122"/>
              </a:rPr>
              <a:t>线性规划</a:t>
            </a:r>
            <a:endParaRPr lang="zh-CN" altLang="zh-CN" sz="1400" b="1">
              <a:latin typeface="仿宋" panose="02010609060101010101" pitchFamily="49" charset="-122"/>
              <a:ea typeface="仿宋" panose="02010609060101010101" pitchFamily="49" charset="-122"/>
            </a:endParaRPr>
          </a:p>
        </p:txBody>
      </p:sp>
      <p:sp>
        <p:nvSpPr>
          <p:cNvPr id="7" name="Rectangle 11"/>
          <p:cNvSpPr>
            <a:spLocks noChangeArrowheads="1"/>
          </p:cNvSpPr>
          <p:nvPr/>
        </p:nvSpPr>
        <p:spPr bwMode="auto">
          <a:xfrm>
            <a:off x="4441796" y="5343307"/>
            <a:ext cx="1357313" cy="48101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buClr>
                <a:srgbClr val="000000"/>
              </a:buClr>
              <a:buSzPct val="100000"/>
            </a:pPr>
            <a:r>
              <a:rPr lang="zh-CN" altLang="zh-CN" sz="1400" b="1">
                <a:latin typeface="仿宋" panose="02010609060101010101" pitchFamily="49" charset="-122"/>
                <a:ea typeface="仿宋" panose="02010609060101010101" pitchFamily="49" charset="-122"/>
              </a:rPr>
              <a:t>整数规划</a:t>
            </a:r>
            <a:endParaRPr lang="zh-CN" altLang="zh-CN" sz="1400" b="1">
              <a:latin typeface="仿宋" panose="02010609060101010101" pitchFamily="49" charset="-122"/>
              <a:ea typeface="仿宋" panose="02010609060101010101" pitchFamily="49" charset="-122"/>
            </a:endParaRPr>
          </a:p>
          <a:p>
            <a:pPr algn="ctr" eaLnBrk="1" hangingPunct="1">
              <a:buClr>
                <a:srgbClr val="000000"/>
              </a:buClr>
              <a:buSzPct val="100000"/>
            </a:pPr>
            <a:r>
              <a:rPr lang="zh-CN" altLang="zh-CN" sz="1400" b="1">
                <a:latin typeface="仿宋" panose="02010609060101010101" pitchFamily="49" charset="-122"/>
                <a:ea typeface="仿宋" panose="02010609060101010101" pitchFamily="49" charset="-122"/>
              </a:rPr>
              <a:t>最优解</a:t>
            </a:r>
            <a:endParaRPr lang="zh-CN" altLang="zh-CN" sz="1400" b="1">
              <a:latin typeface="仿宋" panose="02010609060101010101" pitchFamily="49" charset="-122"/>
              <a:ea typeface="仿宋" panose="02010609060101010101" pitchFamily="49" charset="-122"/>
            </a:endParaRPr>
          </a:p>
        </p:txBody>
      </p:sp>
      <p:sp>
        <p:nvSpPr>
          <p:cNvPr id="8" name="Rectangle 12"/>
          <p:cNvSpPr>
            <a:spLocks noChangeArrowheads="1"/>
          </p:cNvSpPr>
          <p:nvPr/>
        </p:nvSpPr>
        <p:spPr bwMode="auto">
          <a:xfrm>
            <a:off x="3114646" y="4482882"/>
            <a:ext cx="36988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buClr>
                <a:srgbClr val="000000"/>
              </a:buClr>
              <a:buSzPct val="100000"/>
            </a:pPr>
            <a:r>
              <a:rPr lang="zh-CN" altLang="zh-CN" sz="1400" b="1">
                <a:latin typeface="Arial" panose="020B0604020202020204" pitchFamily="34" charset="0"/>
                <a:ea typeface="楷体" panose="02010609060101010101" pitchFamily="49" charset="-122"/>
              </a:rPr>
              <a:t>是</a:t>
            </a:r>
            <a:endParaRPr lang="zh-CN" altLang="zh-CN" sz="1400" b="1">
              <a:latin typeface="Arial" panose="020B0604020202020204" pitchFamily="34" charset="0"/>
            </a:endParaRPr>
          </a:p>
        </p:txBody>
      </p:sp>
      <p:sp>
        <p:nvSpPr>
          <p:cNvPr id="9" name="Rectangle 13"/>
          <p:cNvSpPr>
            <a:spLocks noChangeArrowheads="1"/>
          </p:cNvSpPr>
          <p:nvPr/>
        </p:nvSpPr>
        <p:spPr bwMode="auto">
          <a:xfrm>
            <a:off x="4413221" y="4163794"/>
            <a:ext cx="36988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buClr>
                <a:srgbClr val="000000"/>
              </a:buClr>
              <a:buSzPct val="100000"/>
            </a:pPr>
            <a:r>
              <a:rPr lang="zh-CN" altLang="zh-CN" sz="1400" b="1">
                <a:latin typeface="仿宋" panose="02010609060101010101" pitchFamily="49" charset="-122"/>
                <a:ea typeface="仿宋" panose="02010609060101010101" pitchFamily="49" charset="-122"/>
              </a:rPr>
              <a:t>否</a:t>
            </a:r>
            <a:endParaRPr lang="zh-CN" altLang="zh-CN" sz="1400" b="1">
              <a:latin typeface="仿宋" panose="02010609060101010101" pitchFamily="49" charset="-122"/>
              <a:ea typeface="仿宋" panose="02010609060101010101" pitchFamily="49" charset="-122"/>
            </a:endParaRPr>
          </a:p>
        </p:txBody>
      </p:sp>
      <p:sp>
        <p:nvSpPr>
          <p:cNvPr id="10" name="AutoShape 14"/>
          <p:cNvSpPr>
            <a:spLocks noChangeArrowheads="1"/>
          </p:cNvSpPr>
          <p:nvPr/>
        </p:nvSpPr>
        <p:spPr bwMode="auto">
          <a:xfrm>
            <a:off x="3751234" y="3541494"/>
            <a:ext cx="2284412" cy="682625"/>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buClr>
                <a:srgbClr val="000000"/>
              </a:buClr>
              <a:buSzPct val="100000"/>
            </a:pPr>
            <a:r>
              <a:rPr lang="zh-CN" altLang="zh-CN" sz="1200" b="1">
                <a:latin typeface="仿宋" panose="02010609060101010101" pitchFamily="49" charset="-122"/>
                <a:ea typeface="仿宋" panose="02010609060101010101" pitchFamily="49" charset="-122"/>
              </a:rPr>
              <a:t>解为整数，且上界=下界</a:t>
            </a:r>
            <a:endParaRPr lang="zh-CN" altLang="zh-CN" sz="1200" b="1">
              <a:latin typeface="仿宋" panose="02010609060101010101" pitchFamily="49" charset="-122"/>
              <a:ea typeface="仿宋" panose="02010609060101010101" pitchFamily="49" charset="-122"/>
            </a:endParaRPr>
          </a:p>
        </p:txBody>
      </p:sp>
      <p:cxnSp>
        <p:nvCxnSpPr>
          <p:cNvPr id="11" name="AutoShape 15"/>
          <p:cNvCxnSpPr>
            <a:cxnSpLocks noChangeShapeType="1"/>
            <a:endCxn id="6" idx="0"/>
          </p:cNvCxnSpPr>
          <p:nvPr/>
        </p:nvCxnSpPr>
        <p:spPr bwMode="auto">
          <a:xfrm>
            <a:off x="4959321" y="2369919"/>
            <a:ext cx="0" cy="29527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2" name="Rectangle 16"/>
          <p:cNvSpPr>
            <a:spLocks noChangeArrowheads="1"/>
          </p:cNvSpPr>
          <p:nvPr/>
        </p:nvSpPr>
        <p:spPr bwMode="auto">
          <a:xfrm>
            <a:off x="4246534" y="4581307"/>
            <a:ext cx="1357312" cy="3571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buClr>
                <a:srgbClr val="000000"/>
              </a:buClr>
              <a:buSzPct val="100000"/>
            </a:pPr>
            <a:r>
              <a:rPr lang="zh-CN" altLang="zh-CN" sz="1400" b="1">
                <a:latin typeface="仿宋" panose="02010609060101010101" pitchFamily="49" charset="-122"/>
                <a:ea typeface="仿宋" panose="02010609060101010101" pitchFamily="49" charset="-122"/>
              </a:rPr>
              <a:t>线性规划分枝</a:t>
            </a:r>
            <a:endParaRPr lang="zh-CN" altLang="zh-CN" sz="1400" b="1">
              <a:latin typeface="仿宋" panose="02010609060101010101" pitchFamily="49" charset="-122"/>
              <a:ea typeface="仿宋" panose="02010609060101010101" pitchFamily="49" charset="-122"/>
            </a:endParaRPr>
          </a:p>
        </p:txBody>
      </p:sp>
      <p:cxnSp>
        <p:nvCxnSpPr>
          <p:cNvPr id="13" name="AutoShape 17"/>
          <p:cNvCxnSpPr>
            <a:cxnSpLocks noChangeShapeType="1"/>
          </p:cNvCxnSpPr>
          <p:nvPr/>
        </p:nvCxnSpPr>
        <p:spPr bwMode="auto">
          <a:xfrm>
            <a:off x="4892646" y="4224119"/>
            <a:ext cx="0" cy="39052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cxnSp>
        <p:nvCxnSpPr>
          <p:cNvPr id="14" name="AutoShape 18"/>
          <p:cNvCxnSpPr>
            <a:cxnSpLocks noChangeShapeType="1"/>
            <a:stCxn id="10" idx="1"/>
            <a:endCxn id="7" idx="1"/>
          </p:cNvCxnSpPr>
          <p:nvPr/>
        </p:nvCxnSpPr>
        <p:spPr bwMode="auto">
          <a:xfrm rot="10800000" flipH="1" flipV="1">
            <a:off x="3751234" y="3882807"/>
            <a:ext cx="690562" cy="1701800"/>
          </a:xfrm>
          <a:prstGeom prst="bentConnector3">
            <a:avLst>
              <a:gd name="adj1" fmla="val -3310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5" name="AutoShape 19"/>
          <p:cNvCxnSpPr>
            <a:cxnSpLocks noChangeShapeType="1"/>
            <a:stCxn id="12" idx="3"/>
            <a:endCxn id="10" idx="3"/>
          </p:cNvCxnSpPr>
          <p:nvPr/>
        </p:nvCxnSpPr>
        <p:spPr bwMode="auto">
          <a:xfrm flipV="1">
            <a:off x="5603846" y="3882807"/>
            <a:ext cx="431800" cy="876300"/>
          </a:xfrm>
          <a:prstGeom prst="bentConnector3">
            <a:avLst>
              <a:gd name="adj1" fmla="val 15291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6" name="AutoShape 20"/>
          <p:cNvSpPr>
            <a:spLocks noChangeArrowheads="1"/>
          </p:cNvSpPr>
          <p:nvPr/>
        </p:nvSpPr>
        <p:spPr bwMode="auto">
          <a:xfrm>
            <a:off x="5895946" y="2823944"/>
            <a:ext cx="2286000" cy="539750"/>
          </a:xfrm>
          <a:prstGeom prst="diamond">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buClr>
                <a:srgbClr val="000000"/>
              </a:buClr>
              <a:buSzPct val="100000"/>
            </a:pPr>
            <a:r>
              <a:rPr lang="zh-CN" altLang="zh-CN" sz="1200" b="1">
                <a:latin typeface="仿宋" panose="02010609060101010101" pitchFamily="49" charset="-122"/>
                <a:ea typeface="仿宋" panose="02010609060101010101" pitchFamily="49" charset="-122"/>
              </a:rPr>
              <a:t>可行解</a:t>
            </a:r>
            <a:endParaRPr lang="zh-CN" altLang="zh-CN" sz="1200" b="1">
              <a:latin typeface="仿宋" panose="02010609060101010101" pitchFamily="49" charset="-122"/>
              <a:ea typeface="仿宋" panose="02010609060101010101" pitchFamily="49" charset="-122"/>
            </a:endParaRPr>
          </a:p>
        </p:txBody>
      </p:sp>
      <p:cxnSp>
        <p:nvCxnSpPr>
          <p:cNvPr id="17" name="AutoShape 21"/>
          <p:cNvCxnSpPr>
            <a:cxnSpLocks noChangeShapeType="1"/>
            <a:stCxn id="16" idx="2"/>
            <a:endCxn id="10" idx="0"/>
          </p:cNvCxnSpPr>
          <p:nvPr/>
        </p:nvCxnSpPr>
        <p:spPr bwMode="auto">
          <a:xfrm rot="5400000">
            <a:off x="5876896" y="2379444"/>
            <a:ext cx="177800" cy="2146300"/>
          </a:xfrm>
          <a:prstGeom prst="bentConnector3">
            <a:avLst>
              <a:gd name="adj1" fmla="val 5000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8" name="Rectangle 22"/>
          <p:cNvSpPr>
            <a:spLocks noChangeArrowheads="1"/>
          </p:cNvSpPr>
          <p:nvPr/>
        </p:nvSpPr>
        <p:spPr bwMode="auto">
          <a:xfrm>
            <a:off x="6381721" y="3530382"/>
            <a:ext cx="36988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buClr>
                <a:srgbClr val="000000"/>
              </a:buClr>
              <a:buSzPct val="100000"/>
            </a:pPr>
            <a:r>
              <a:rPr lang="zh-CN" altLang="zh-CN" sz="1400" b="1">
                <a:latin typeface="Arial" panose="020B0604020202020204" pitchFamily="34" charset="0"/>
                <a:ea typeface="楷体" panose="02010609060101010101" pitchFamily="49" charset="-122"/>
              </a:rPr>
              <a:t>有</a:t>
            </a:r>
            <a:endParaRPr lang="zh-CN" altLang="zh-CN" sz="1400" b="1">
              <a:latin typeface="Arial" panose="020B0604020202020204" pitchFamily="34" charset="0"/>
            </a:endParaRPr>
          </a:p>
        </p:txBody>
      </p:sp>
      <p:sp>
        <p:nvSpPr>
          <p:cNvPr id="19" name="Rectangle 23"/>
          <p:cNvSpPr>
            <a:spLocks noChangeArrowheads="1"/>
          </p:cNvSpPr>
          <p:nvPr/>
        </p:nvSpPr>
        <p:spPr bwMode="auto">
          <a:xfrm>
            <a:off x="7751734" y="5336957"/>
            <a:ext cx="1357312" cy="558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ctr" eaLnBrk="1" hangingPunct="1">
              <a:buClr>
                <a:srgbClr val="000000"/>
              </a:buClr>
              <a:buSzPct val="100000"/>
            </a:pPr>
            <a:r>
              <a:rPr lang="zh-CN" altLang="zh-CN" sz="1400" b="1">
                <a:latin typeface="仿宋" panose="02010609060101010101" pitchFamily="49" charset="-122"/>
                <a:ea typeface="仿宋" panose="02010609060101010101" pitchFamily="49" charset="-122"/>
              </a:rPr>
              <a:t>整数规划</a:t>
            </a:r>
            <a:endParaRPr lang="zh-CN" altLang="zh-CN" sz="1400" b="1">
              <a:latin typeface="仿宋" panose="02010609060101010101" pitchFamily="49" charset="-122"/>
              <a:ea typeface="仿宋" panose="02010609060101010101" pitchFamily="49" charset="-122"/>
            </a:endParaRPr>
          </a:p>
          <a:p>
            <a:pPr algn="ctr" eaLnBrk="1" hangingPunct="1">
              <a:buClr>
                <a:srgbClr val="000000"/>
              </a:buClr>
              <a:buSzPct val="100000"/>
            </a:pPr>
            <a:r>
              <a:rPr lang="zh-CN" altLang="zh-CN" sz="1400" b="1">
                <a:latin typeface="仿宋" panose="02010609060101010101" pitchFamily="49" charset="-122"/>
                <a:ea typeface="仿宋" panose="02010609060101010101" pitchFamily="49" charset="-122"/>
              </a:rPr>
              <a:t>无可行解</a:t>
            </a:r>
            <a:endParaRPr lang="zh-CN" altLang="zh-CN" sz="1400" b="1">
              <a:latin typeface="仿宋" panose="02010609060101010101" pitchFamily="49" charset="-122"/>
              <a:ea typeface="仿宋" panose="02010609060101010101" pitchFamily="49" charset="-122"/>
            </a:endParaRPr>
          </a:p>
        </p:txBody>
      </p:sp>
      <p:cxnSp>
        <p:nvCxnSpPr>
          <p:cNvPr id="20" name="AutoShape 24"/>
          <p:cNvCxnSpPr>
            <a:cxnSpLocks noChangeShapeType="1"/>
            <a:stCxn id="16" idx="3"/>
            <a:endCxn id="19" idx="0"/>
          </p:cNvCxnSpPr>
          <p:nvPr/>
        </p:nvCxnSpPr>
        <p:spPr bwMode="auto">
          <a:xfrm>
            <a:off x="8181946" y="3093819"/>
            <a:ext cx="249238" cy="2243138"/>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21" name="Rectangle 25"/>
          <p:cNvSpPr>
            <a:spLocks noChangeArrowheads="1"/>
          </p:cNvSpPr>
          <p:nvPr/>
        </p:nvSpPr>
        <p:spPr bwMode="auto">
          <a:xfrm>
            <a:off x="8462934" y="4035207"/>
            <a:ext cx="36988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buClr>
                <a:srgbClr val="000000"/>
              </a:buClr>
              <a:buSzPct val="100000"/>
            </a:pPr>
            <a:r>
              <a:rPr lang="zh-CN" altLang="zh-CN" sz="1400" b="1">
                <a:latin typeface="Arial" panose="020B0604020202020204" pitchFamily="34" charset="0"/>
                <a:ea typeface="楷体" panose="02010609060101010101" pitchFamily="49" charset="-122"/>
              </a:rPr>
              <a:t>无</a:t>
            </a:r>
            <a:endParaRPr lang="zh-CN" altLang="zh-CN" sz="1400" b="1">
              <a:latin typeface="Arial" panose="020B0604020202020204" pitchFamily="34" charset="0"/>
            </a:endParaRPr>
          </a:p>
        </p:txBody>
      </p:sp>
      <p:cxnSp>
        <p:nvCxnSpPr>
          <p:cNvPr id="22" name="AutoShape 26"/>
          <p:cNvCxnSpPr>
            <a:cxnSpLocks noChangeShapeType="1"/>
            <a:stCxn id="6" idx="3"/>
            <a:endCxn id="16" idx="1"/>
          </p:cNvCxnSpPr>
          <p:nvPr/>
        </p:nvCxnSpPr>
        <p:spPr bwMode="auto">
          <a:xfrm>
            <a:off x="5459384" y="2844582"/>
            <a:ext cx="436562" cy="249237"/>
          </a:xfrm>
          <a:prstGeom prst="bentConnector3">
            <a:avLst>
              <a:gd name="adj1" fmla="val 5000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23" name="Rectangle 27"/>
          <p:cNvSpPr>
            <a:spLocks noChangeArrowheads="1"/>
          </p:cNvSpPr>
          <p:nvPr/>
        </p:nvSpPr>
        <p:spPr bwMode="auto">
          <a:xfrm>
            <a:off x="6364259" y="4271744"/>
            <a:ext cx="6080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b="1">
                <a:latin typeface="仿宋" panose="02010609060101010101" pitchFamily="49" charset="-122"/>
                <a:ea typeface="仿宋" panose="02010609060101010101" pitchFamily="49" charset="-122"/>
              </a:rPr>
              <a:t>剪枝比较</a:t>
            </a:r>
            <a:endParaRPr lang="zh-CN" altLang="zh-CN" sz="1400" b="1">
              <a:latin typeface="仿宋" panose="02010609060101010101" pitchFamily="49" charset="-122"/>
              <a:ea typeface="仿宋" panose="02010609060101010101" pitchFamily="49" charset="-122"/>
            </a:endParaRPr>
          </a:p>
        </p:txBody>
      </p:sp>
      <p:sp>
        <p:nvSpPr>
          <p:cNvPr id="25" name="文本框 24"/>
          <p:cNvSpPr txBox="1"/>
          <p:nvPr/>
        </p:nvSpPr>
        <p:spPr>
          <a:xfrm>
            <a:off x="5120452" y="2332890"/>
            <a:ext cx="2285992" cy="307777"/>
          </a:xfrm>
          <a:prstGeom prst="rect">
            <a:avLst/>
          </a:prstGeom>
          <a:noFill/>
        </p:spPr>
        <p:txBody>
          <a:bodyPr wrap="square" rtlCol="0">
            <a:spAutoFit/>
          </a:bodyPr>
          <a:lstStyle/>
          <a:p>
            <a:r>
              <a:rPr lang="zh-CN" altLang="en-US" sz="1400" dirty="0"/>
              <a:t>移除整数限制</a:t>
            </a:r>
            <a:endParaRPr lang="zh-CN" altLang="en-US" sz="1400" dirty="0"/>
          </a:p>
        </p:txBody>
      </p:sp>
      <p:sp>
        <p:nvSpPr>
          <p:cNvPr id="27" name="矩形 26"/>
          <p:cNvSpPr/>
          <p:nvPr/>
        </p:nvSpPr>
        <p:spPr>
          <a:xfrm>
            <a:off x="8647877" y="1753299"/>
            <a:ext cx="3021205" cy="11744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华文楷体" panose="02010600040101010101" charset="-122"/>
                <a:ea typeface="华文楷体" panose="02010600040101010101" charset="-122"/>
              </a:rPr>
              <a:t>剪枝：把那些子问题的最优值与上下界值比较，凡不优或不能更优的分枝全剪掉，直到每个分枝都查清为止。</a:t>
            </a:r>
            <a:endParaRPr lang="zh-CN" altLang="en-US" dirty="0">
              <a:latin typeface="华文楷体" panose="02010600040101010101" charset="-122"/>
              <a:ea typeface="华文楷体" panose="0201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整数规划的分支定</a:t>
            </a:r>
            <a:r>
              <a:rPr lang="zh-CN" altLang="en-US" dirty="0">
                <a:latin typeface="楷体" panose="02010609060101010101" pitchFamily="49" charset="-122"/>
                <a:ea typeface="楷体" panose="02010609060101010101" pitchFamily="49" charset="-122"/>
                <a:sym typeface="+mn-ea"/>
              </a:rPr>
              <a:t>界</a:t>
            </a:r>
            <a:r>
              <a:rPr lang="zh-CN" altLang="en-US" dirty="0">
                <a:latin typeface="楷体" panose="02010609060101010101" pitchFamily="49" charset="-122"/>
                <a:ea typeface="楷体" panose="02010609060101010101" pitchFamily="49" charset="-122"/>
              </a:rPr>
              <a:t>法</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en-US" dirty="0" err="1">
                <a:latin typeface="华文楷体" panose="02010600040101010101" charset="-122"/>
                <a:ea typeface="华文楷体" panose="02010600040101010101" charset="-122"/>
              </a:rPr>
              <a:t>整数规划的上界值由其对应的线性规划最优值决定</a:t>
            </a:r>
            <a:r>
              <a:rPr lang="zh-CN" altLang="en-US" dirty="0">
                <a:latin typeface="华文楷体" panose="02010600040101010101" charset="-122"/>
                <a:ea typeface="华文楷体" panose="02010600040101010101" charset="-122"/>
              </a:rPr>
              <a:t>，下界值则由该整数规划的一个可行解所对应的目标函数值决定。</a:t>
            </a:r>
            <a:endParaRPr lang="en-US" altLang="zh-CN" dirty="0">
              <a:latin typeface="华文楷体" panose="02010600040101010101" charset="-122"/>
              <a:ea typeface="华文楷体" panose="02010600040101010101" charset="-122"/>
            </a:endParaRPr>
          </a:p>
          <a:p>
            <a:r>
              <a:rPr lang="zh-CN" altLang="en-US" dirty="0">
                <a:latin typeface="楷体" panose="02010609060101010101" pitchFamily="49" charset="-122"/>
                <a:ea typeface="楷体" panose="02010609060101010101" pitchFamily="49" charset="-122"/>
              </a:rPr>
              <a:t>整数规划的分枝定</a:t>
            </a:r>
            <a:r>
              <a:rPr lang="zh-CN" altLang="en-US" dirty="0">
                <a:latin typeface="楷体" panose="02010609060101010101" pitchFamily="49" charset="-122"/>
                <a:ea typeface="楷体" panose="02010609060101010101" pitchFamily="49" charset="-122"/>
                <a:sym typeface="+mn-ea"/>
              </a:rPr>
              <a:t>界</a:t>
            </a:r>
            <a:r>
              <a:rPr lang="zh-CN" altLang="en-US" dirty="0">
                <a:latin typeface="楷体" panose="02010609060101010101" pitchFamily="49" charset="-122"/>
                <a:ea typeface="楷体" panose="02010609060101010101" pitchFamily="49" charset="-122"/>
              </a:rPr>
              <a:t>法具有以下性质（性质</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0" indent="0">
              <a:buNone/>
            </a:pPr>
            <a:r>
              <a:rPr lang="zh-CN" altLang="en-US" dirty="0">
                <a:solidFill>
                  <a:srgbClr val="FF0000"/>
                </a:solidFill>
                <a:latin typeface="楷体" panose="02010609060101010101" pitchFamily="49" charset="-122"/>
                <a:ea typeface="楷体" panose="02010609060101010101" pitchFamily="49" charset="-122"/>
              </a:rPr>
              <a:t>当整数规划的最优目标函数值的上界等于下界时，该整数规划的最优解已被求出，这个整数规划的最优解即为其目标函数值取此下界的对应线性规划的整数解。</a:t>
            </a:r>
            <a:endParaRPr lang="en-US" altLang="zh-CN"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dirty="0">
                <a:latin typeface="华文楷体" panose="02010600040101010101" charset="-122"/>
                <a:ea typeface="华文楷体" panose="02010600040101010101" charset="-122"/>
              </a:rPr>
              <a:t>整数规划的分</a:t>
            </a:r>
            <a:r>
              <a:rPr lang="zh-CN" altLang="en-US">
                <a:latin typeface="华文楷体" panose="02010600040101010101" charset="-122"/>
                <a:ea typeface="华文楷体" panose="02010600040101010101" charset="-122"/>
              </a:rPr>
              <a:t>枝</a:t>
            </a:r>
            <a:r>
              <a:rPr lang="zh-CN" altLang="en-US" dirty="0">
                <a:latin typeface="华文楷体" panose="02010600040101010101" charset="-122"/>
                <a:ea typeface="华文楷体" panose="02010600040101010101" charset="-122"/>
              </a:rPr>
              <a:t>定</a:t>
            </a:r>
            <a:r>
              <a:rPr lang="zh-CN" altLang="en-US" dirty="0">
                <a:latin typeface="华文楷体" panose="02010600040101010101" charset="-122"/>
                <a:ea typeface="华文楷体" panose="02010600040101010101" charset="-122"/>
                <a:sym typeface="+mn-ea"/>
              </a:rPr>
              <a:t>界</a:t>
            </a:r>
            <a:r>
              <a:rPr lang="zh-CN" altLang="en-US" dirty="0">
                <a:latin typeface="华文楷体" panose="02010600040101010101" charset="-122"/>
                <a:ea typeface="华文楷体" panose="02010600040101010101" charset="-122"/>
              </a:rPr>
              <a:t>法求解思路图</a:t>
            </a:r>
            <a:endParaRPr lang="zh-CN" altLang="en-US" dirty="0">
              <a:latin typeface="华文楷体" panose="02010600040101010101" charset="-122"/>
              <a:ea typeface="华文楷体" panose="02010600040101010101" charset="-122"/>
            </a:endParaRPr>
          </a:p>
        </p:txBody>
      </p:sp>
      <p:sp>
        <p:nvSpPr>
          <p:cNvPr id="26" name="Line 7"/>
          <p:cNvSpPr>
            <a:spLocks noChangeShapeType="1"/>
          </p:cNvSpPr>
          <p:nvPr/>
        </p:nvSpPr>
        <p:spPr bwMode="auto">
          <a:xfrm>
            <a:off x="2817230" y="3245390"/>
            <a:ext cx="1655762" cy="7191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 name="Rectangle 8"/>
          <p:cNvSpPr>
            <a:spLocks noChangeArrowheads="1"/>
          </p:cNvSpPr>
          <p:nvPr/>
        </p:nvSpPr>
        <p:spPr bwMode="auto">
          <a:xfrm>
            <a:off x="5063542" y="1743615"/>
            <a:ext cx="1000125" cy="9286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a:latin typeface="Arial" panose="020B0604020202020204" pitchFamily="34" charset="0"/>
              </a:rPr>
              <a:t>线性规划1</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Z</a:t>
            </a:r>
            <a:r>
              <a:rPr lang="zh-CN" altLang="zh-CN" sz="1400" baseline="-25000">
                <a:latin typeface="Arial" panose="020B0604020202020204" pitchFamily="34" charset="0"/>
              </a:rPr>
              <a:t>1</a:t>
            </a:r>
            <a:r>
              <a:rPr lang="zh-CN" altLang="zh-CN" sz="1400">
                <a:latin typeface="Arial" panose="020B0604020202020204" pitchFamily="34" charset="0"/>
              </a:rPr>
              <a:t>=14.66</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X</a:t>
            </a:r>
            <a:r>
              <a:rPr lang="zh-CN" altLang="zh-CN" sz="1400" baseline="-25000">
                <a:latin typeface="Arial" panose="020B0604020202020204" pitchFamily="34" charset="0"/>
              </a:rPr>
              <a:t>1</a:t>
            </a:r>
            <a:r>
              <a:rPr lang="zh-CN" altLang="zh-CN" sz="1400">
                <a:latin typeface="Arial" panose="020B0604020202020204" pitchFamily="34" charset="0"/>
              </a:rPr>
              <a:t>=2.44</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X</a:t>
            </a:r>
            <a:r>
              <a:rPr lang="zh-CN" altLang="zh-CN" sz="1400" baseline="-25000">
                <a:latin typeface="Arial" panose="020B0604020202020204" pitchFamily="34" charset="0"/>
              </a:rPr>
              <a:t>2</a:t>
            </a:r>
            <a:r>
              <a:rPr lang="zh-CN" altLang="zh-CN" sz="1400">
                <a:latin typeface="Arial" panose="020B0604020202020204" pitchFamily="34" charset="0"/>
              </a:rPr>
              <a:t>=3.26</a:t>
            </a:r>
            <a:endParaRPr lang="zh-CN" altLang="zh-CN" sz="1400">
              <a:latin typeface="Arial" panose="020B0604020202020204" pitchFamily="34" charset="0"/>
            </a:endParaRPr>
          </a:p>
        </p:txBody>
      </p:sp>
      <p:sp>
        <p:nvSpPr>
          <p:cNvPr id="28" name="Rectangle 9"/>
          <p:cNvSpPr>
            <a:spLocks noChangeArrowheads="1"/>
          </p:cNvSpPr>
          <p:nvPr/>
        </p:nvSpPr>
        <p:spPr bwMode="auto">
          <a:xfrm>
            <a:off x="8135355" y="3315240"/>
            <a:ext cx="1714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a:latin typeface="Arial" panose="020B0604020202020204" pitchFamily="34" charset="0"/>
              </a:rPr>
              <a:t>z=13,z=14.58</a:t>
            </a:r>
            <a:endParaRPr lang="zh-CN" altLang="zh-CN" sz="1400">
              <a:latin typeface="Arial" panose="020B0604020202020204" pitchFamily="34" charset="0"/>
            </a:endParaRPr>
          </a:p>
        </p:txBody>
      </p:sp>
      <p:sp>
        <p:nvSpPr>
          <p:cNvPr id="29" name="Rectangle 10"/>
          <p:cNvSpPr>
            <a:spLocks noChangeArrowheads="1"/>
          </p:cNvSpPr>
          <p:nvPr/>
        </p:nvSpPr>
        <p:spPr bwMode="auto">
          <a:xfrm>
            <a:off x="3349042" y="2958052"/>
            <a:ext cx="1000125" cy="9286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a:latin typeface="Arial" panose="020B0604020202020204" pitchFamily="34" charset="0"/>
              </a:rPr>
              <a:t>线性规划2</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Z</a:t>
            </a:r>
            <a:r>
              <a:rPr lang="zh-CN" altLang="zh-CN" sz="1400" baseline="-25000">
                <a:latin typeface="Arial" panose="020B0604020202020204" pitchFamily="34" charset="0"/>
              </a:rPr>
              <a:t>2</a:t>
            </a:r>
            <a:r>
              <a:rPr lang="zh-CN" altLang="zh-CN" sz="1400">
                <a:latin typeface="Arial" panose="020B0604020202020204" pitchFamily="34" charset="0"/>
              </a:rPr>
              <a:t>=13.90</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X</a:t>
            </a:r>
            <a:r>
              <a:rPr lang="zh-CN" altLang="zh-CN" sz="1400" baseline="-25000">
                <a:latin typeface="Arial" panose="020B0604020202020204" pitchFamily="34" charset="0"/>
              </a:rPr>
              <a:t>1</a:t>
            </a:r>
            <a:r>
              <a:rPr lang="zh-CN" altLang="zh-CN" sz="1400">
                <a:latin typeface="Arial" panose="020B0604020202020204" pitchFamily="34" charset="0"/>
              </a:rPr>
              <a:t>=2</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X</a:t>
            </a:r>
            <a:r>
              <a:rPr lang="zh-CN" altLang="zh-CN" sz="1400" baseline="-25000">
                <a:latin typeface="Arial" panose="020B0604020202020204" pitchFamily="34" charset="0"/>
              </a:rPr>
              <a:t>2</a:t>
            </a:r>
            <a:r>
              <a:rPr lang="zh-CN" altLang="zh-CN" sz="1400">
                <a:latin typeface="Arial" panose="020B0604020202020204" pitchFamily="34" charset="0"/>
              </a:rPr>
              <a:t>=3.30</a:t>
            </a:r>
            <a:endParaRPr lang="zh-CN" altLang="zh-CN" sz="1400">
              <a:latin typeface="Arial" panose="020B0604020202020204" pitchFamily="34" charset="0"/>
            </a:endParaRPr>
          </a:p>
        </p:txBody>
      </p:sp>
      <p:sp>
        <p:nvSpPr>
          <p:cNvPr id="30" name="Rectangle 11"/>
          <p:cNvSpPr>
            <a:spLocks noChangeArrowheads="1"/>
          </p:cNvSpPr>
          <p:nvPr/>
        </p:nvSpPr>
        <p:spPr bwMode="auto">
          <a:xfrm>
            <a:off x="6778042" y="2958052"/>
            <a:ext cx="1000125" cy="92868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a:latin typeface="Arial" panose="020B0604020202020204" pitchFamily="34" charset="0"/>
              </a:rPr>
              <a:t>线性规划3</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Z</a:t>
            </a:r>
            <a:r>
              <a:rPr lang="zh-CN" altLang="zh-CN" sz="1400" baseline="-25000">
                <a:latin typeface="Arial" panose="020B0604020202020204" pitchFamily="34" charset="0"/>
              </a:rPr>
              <a:t>3</a:t>
            </a:r>
            <a:r>
              <a:rPr lang="zh-CN" altLang="zh-CN" sz="1400">
                <a:latin typeface="Arial" panose="020B0604020202020204" pitchFamily="34" charset="0"/>
              </a:rPr>
              <a:t>=14.58</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X</a:t>
            </a:r>
            <a:r>
              <a:rPr lang="zh-CN" altLang="zh-CN" sz="1400" baseline="-25000">
                <a:latin typeface="Arial" panose="020B0604020202020204" pitchFamily="34" charset="0"/>
              </a:rPr>
              <a:t>1</a:t>
            </a:r>
            <a:r>
              <a:rPr lang="zh-CN" altLang="zh-CN" sz="1400">
                <a:latin typeface="Arial" panose="020B0604020202020204" pitchFamily="34" charset="0"/>
              </a:rPr>
              <a:t>=3</a:t>
            </a:r>
            <a:endParaRPr lang="zh-CN" altLang="zh-CN" sz="1400">
              <a:latin typeface="Arial" panose="020B0604020202020204" pitchFamily="34" charset="0"/>
            </a:endParaRPr>
          </a:p>
          <a:p>
            <a:pPr eaLnBrk="1" hangingPunct="1">
              <a:buClr>
                <a:srgbClr val="000000"/>
              </a:buClr>
              <a:buSzPct val="100000"/>
            </a:pPr>
            <a:r>
              <a:rPr lang="zh-CN" altLang="zh-CN" sz="1400">
                <a:latin typeface="Arial" panose="020B0604020202020204" pitchFamily="34" charset="0"/>
              </a:rPr>
              <a:t>X</a:t>
            </a:r>
            <a:r>
              <a:rPr lang="zh-CN" altLang="zh-CN" sz="1400" baseline="-25000">
                <a:latin typeface="Arial" panose="020B0604020202020204" pitchFamily="34" charset="0"/>
              </a:rPr>
              <a:t>2</a:t>
            </a:r>
            <a:r>
              <a:rPr lang="zh-CN" altLang="zh-CN" sz="1400">
                <a:latin typeface="Arial" panose="020B0604020202020204" pitchFamily="34" charset="0"/>
              </a:rPr>
              <a:t>=2.86</a:t>
            </a:r>
            <a:endParaRPr lang="zh-CN" altLang="zh-CN" sz="1400">
              <a:latin typeface="Arial" panose="020B0604020202020204" pitchFamily="34" charset="0"/>
            </a:endParaRPr>
          </a:p>
        </p:txBody>
      </p:sp>
      <p:sp>
        <p:nvSpPr>
          <p:cNvPr id="31" name="Rectangle 12"/>
          <p:cNvSpPr>
            <a:spLocks noChangeArrowheads="1"/>
          </p:cNvSpPr>
          <p:nvPr/>
        </p:nvSpPr>
        <p:spPr bwMode="auto">
          <a:xfrm>
            <a:off x="6277980" y="2029365"/>
            <a:ext cx="1714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a:latin typeface="Arial" panose="020B0604020202020204" pitchFamily="34" charset="0"/>
              </a:rPr>
              <a:t>z=13,z=14.</a:t>
            </a:r>
            <a:r>
              <a:rPr lang="en-US" altLang="zh-CN" sz="1400">
                <a:latin typeface="Arial" panose="020B0604020202020204" pitchFamily="34" charset="0"/>
              </a:rPr>
              <a:t>66</a:t>
            </a:r>
            <a:endParaRPr lang="zh-CN" altLang="zh-CN" sz="1400">
              <a:latin typeface="Arial" panose="020B0604020202020204" pitchFamily="34" charset="0"/>
            </a:endParaRPr>
          </a:p>
        </p:txBody>
      </p:sp>
      <p:sp>
        <p:nvSpPr>
          <p:cNvPr id="32" name="Rectangle 13"/>
          <p:cNvSpPr>
            <a:spLocks noChangeArrowheads="1"/>
          </p:cNvSpPr>
          <p:nvPr/>
        </p:nvSpPr>
        <p:spPr bwMode="auto">
          <a:xfrm>
            <a:off x="4960354" y="5398040"/>
            <a:ext cx="10715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dirty="0">
                <a:latin typeface="Arial" panose="020B0604020202020204" pitchFamily="34" charset="0"/>
              </a:rPr>
              <a:t>z=14,z=14</a:t>
            </a:r>
            <a:endParaRPr lang="zh-CN" altLang="zh-CN" sz="1400" dirty="0">
              <a:latin typeface="Arial" panose="020B0604020202020204" pitchFamily="34" charset="0"/>
            </a:endParaRPr>
          </a:p>
        </p:txBody>
      </p:sp>
      <p:sp>
        <p:nvSpPr>
          <p:cNvPr id="33" name="Rectangle 14"/>
          <p:cNvSpPr>
            <a:spLocks noChangeArrowheads="1"/>
          </p:cNvSpPr>
          <p:nvPr/>
        </p:nvSpPr>
        <p:spPr bwMode="auto">
          <a:xfrm>
            <a:off x="5206417" y="4315365"/>
            <a:ext cx="1135063" cy="9286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dirty="0">
                <a:latin typeface="Arial" panose="020B0604020202020204" pitchFamily="34" charset="0"/>
              </a:rPr>
              <a:t>线性规划</a:t>
            </a:r>
            <a:r>
              <a:rPr lang="en-US" altLang="zh-CN" sz="1400" dirty="0">
                <a:latin typeface="Arial" panose="020B0604020202020204" pitchFamily="34" charset="0"/>
              </a:rPr>
              <a:t>31</a:t>
            </a:r>
            <a:endParaRPr lang="zh-CN" altLang="zh-CN" sz="1400" dirty="0">
              <a:latin typeface="Arial" panose="020B0604020202020204" pitchFamily="34" charset="0"/>
            </a:endParaRPr>
          </a:p>
          <a:p>
            <a:pPr eaLnBrk="1" hangingPunct="1">
              <a:buClr>
                <a:srgbClr val="000000"/>
              </a:buClr>
              <a:buSzPct val="100000"/>
            </a:pPr>
            <a:r>
              <a:rPr lang="zh-CN" altLang="zh-CN" sz="1400" dirty="0">
                <a:latin typeface="Arial" panose="020B0604020202020204" pitchFamily="34" charset="0"/>
              </a:rPr>
              <a:t>Z</a:t>
            </a:r>
            <a:r>
              <a:rPr lang="zh-CN" altLang="zh-CN" sz="1400" baseline="-25000" dirty="0">
                <a:latin typeface="Arial" panose="020B0604020202020204" pitchFamily="34" charset="0"/>
              </a:rPr>
              <a:t>4</a:t>
            </a:r>
            <a:r>
              <a:rPr lang="zh-CN" altLang="zh-CN" sz="1400" dirty="0">
                <a:latin typeface="Arial" panose="020B0604020202020204" pitchFamily="34" charset="0"/>
              </a:rPr>
              <a:t>=14.00</a:t>
            </a:r>
            <a:endParaRPr lang="zh-CN" altLang="zh-CN" sz="1400" dirty="0">
              <a:latin typeface="Arial" panose="020B0604020202020204" pitchFamily="34" charset="0"/>
            </a:endParaRPr>
          </a:p>
          <a:p>
            <a:pPr eaLnBrk="1" hangingPunct="1">
              <a:buClr>
                <a:srgbClr val="000000"/>
              </a:buClr>
              <a:buSzPct val="100000"/>
            </a:pPr>
            <a:r>
              <a:rPr lang="zh-CN" altLang="zh-CN" sz="1400" dirty="0">
                <a:latin typeface="Arial" panose="020B0604020202020204" pitchFamily="34" charset="0"/>
              </a:rPr>
              <a:t>X</a:t>
            </a:r>
            <a:r>
              <a:rPr lang="zh-CN" altLang="zh-CN" sz="1400" baseline="-25000" dirty="0">
                <a:latin typeface="Arial" panose="020B0604020202020204" pitchFamily="34" charset="0"/>
              </a:rPr>
              <a:t>1</a:t>
            </a:r>
            <a:r>
              <a:rPr lang="zh-CN" altLang="zh-CN" sz="1400" dirty="0">
                <a:latin typeface="Arial" panose="020B0604020202020204" pitchFamily="34" charset="0"/>
              </a:rPr>
              <a:t>=4</a:t>
            </a:r>
            <a:endParaRPr lang="zh-CN" altLang="zh-CN" sz="1400" dirty="0">
              <a:latin typeface="Arial" panose="020B0604020202020204" pitchFamily="34" charset="0"/>
            </a:endParaRPr>
          </a:p>
          <a:p>
            <a:pPr eaLnBrk="1" hangingPunct="1">
              <a:buClr>
                <a:srgbClr val="000000"/>
              </a:buClr>
              <a:buSzPct val="100000"/>
            </a:pPr>
            <a:r>
              <a:rPr lang="zh-CN" altLang="zh-CN" sz="1400" dirty="0">
                <a:latin typeface="Arial" panose="020B0604020202020204" pitchFamily="34" charset="0"/>
              </a:rPr>
              <a:t>X</a:t>
            </a:r>
            <a:r>
              <a:rPr lang="zh-CN" altLang="zh-CN" sz="1400" baseline="-25000" dirty="0">
                <a:latin typeface="Arial" panose="020B0604020202020204" pitchFamily="34" charset="0"/>
              </a:rPr>
              <a:t>2</a:t>
            </a:r>
            <a:r>
              <a:rPr lang="zh-CN" altLang="zh-CN" sz="1400" dirty="0">
                <a:latin typeface="Arial" panose="020B0604020202020204" pitchFamily="34" charset="0"/>
              </a:rPr>
              <a:t>=2</a:t>
            </a:r>
            <a:endParaRPr lang="zh-CN" altLang="zh-CN" sz="1400" dirty="0">
              <a:latin typeface="Arial" panose="020B0604020202020204" pitchFamily="34" charset="0"/>
            </a:endParaRPr>
          </a:p>
        </p:txBody>
      </p:sp>
      <p:sp>
        <p:nvSpPr>
          <p:cNvPr id="34" name="Rectangle 15"/>
          <p:cNvSpPr>
            <a:spLocks noChangeArrowheads="1"/>
          </p:cNvSpPr>
          <p:nvPr/>
        </p:nvSpPr>
        <p:spPr bwMode="auto">
          <a:xfrm>
            <a:off x="8278230" y="4315365"/>
            <a:ext cx="1135063" cy="9286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400" dirty="0">
                <a:latin typeface="Arial" panose="020B0604020202020204" pitchFamily="34" charset="0"/>
              </a:rPr>
              <a:t>线性规划</a:t>
            </a:r>
            <a:r>
              <a:rPr lang="en-US" altLang="zh-CN" sz="1400" dirty="0">
                <a:latin typeface="Arial" panose="020B0604020202020204" pitchFamily="34" charset="0"/>
              </a:rPr>
              <a:t>32</a:t>
            </a:r>
            <a:endParaRPr lang="zh-CN" altLang="zh-CN" sz="1400" dirty="0">
              <a:latin typeface="Arial" panose="020B0604020202020204" pitchFamily="34" charset="0"/>
            </a:endParaRPr>
          </a:p>
          <a:p>
            <a:pPr eaLnBrk="1" hangingPunct="1">
              <a:buClr>
                <a:srgbClr val="000000"/>
              </a:buClr>
              <a:buSzPct val="100000"/>
            </a:pPr>
            <a:r>
              <a:rPr lang="zh-CN" altLang="zh-CN" sz="1400" dirty="0">
                <a:latin typeface="Arial" panose="020B0604020202020204" pitchFamily="34" charset="0"/>
              </a:rPr>
              <a:t>无可行解</a:t>
            </a:r>
            <a:endParaRPr lang="zh-CN" altLang="zh-CN" sz="1400" dirty="0">
              <a:latin typeface="Arial" panose="020B0604020202020204" pitchFamily="34" charset="0"/>
            </a:endParaRPr>
          </a:p>
        </p:txBody>
      </p:sp>
      <p:cxnSp>
        <p:nvCxnSpPr>
          <p:cNvPr id="35" name="AutoShape 16"/>
          <p:cNvCxnSpPr>
            <a:cxnSpLocks noChangeShapeType="1"/>
            <a:stCxn id="27" idx="2"/>
            <a:endCxn id="30" idx="0"/>
          </p:cNvCxnSpPr>
          <p:nvPr/>
        </p:nvCxnSpPr>
        <p:spPr bwMode="auto">
          <a:xfrm rot="16200000" flipH="1">
            <a:off x="6277980" y="1957927"/>
            <a:ext cx="285750" cy="1714500"/>
          </a:xfrm>
          <a:prstGeom prst="bentConnector3">
            <a:avLst>
              <a:gd name="adj1" fmla="val 50000"/>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36" name="AutoShape 17"/>
          <p:cNvCxnSpPr>
            <a:cxnSpLocks noChangeShapeType="1"/>
            <a:stCxn id="27" idx="2"/>
            <a:endCxn id="29" idx="0"/>
          </p:cNvCxnSpPr>
          <p:nvPr/>
        </p:nvCxnSpPr>
        <p:spPr bwMode="auto">
          <a:xfrm rot="5400000">
            <a:off x="4563480" y="1957927"/>
            <a:ext cx="285750" cy="1714500"/>
          </a:xfrm>
          <a:prstGeom prst="bentConnector3">
            <a:avLst>
              <a:gd name="adj1" fmla="val 49995"/>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37" name="AutoShape 18"/>
          <p:cNvCxnSpPr>
            <a:cxnSpLocks noChangeShapeType="1"/>
            <a:stCxn id="30" idx="2"/>
            <a:endCxn id="34" idx="0"/>
          </p:cNvCxnSpPr>
          <p:nvPr/>
        </p:nvCxnSpPr>
        <p:spPr bwMode="auto">
          <a:xfrm rot="16200000" flipH="1">
            <a:off x="7847621" y="3317223"/>
            <a:ext cx="428625" cy="1567657"/>
          </a:xfrm>
          <a:prstGeom prst="bentConnector3">
            <a:avLst>
              <a:gd name="adj1" fmla="val 50000"/>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38" name="AutoShape 19"/>
          <p:cNvCxnSpPr>
            <a:cxnSpLocks noChangeShapeType="1"/>
            <a:stCxn id="30" idx="2"/>
            <a:endCxn id="33" idx="0"/>
          </p:cNvCxnSpPr>
          <p:nvPr/>
        </p:nvCxnSpPr>
        <p:spPr bwMode="auto">
          <a:xfrm rot="5400000">
            <a:off x="6311715" y="3348974"/>
            <a:ext cx="428625" cy="1504156"/>
          </a:xfrm>
          <a:prstGeom prst="bentConnector3">
            <a:avLst>
              <a:gd name="adj1" fmla="val 50000"/>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39" name="Rectangle 20"/>
          <p:cNvSpPr>
            <a:spLocks noChangeArrowheads="1"/>
          </p:cNvSpPr>
          <p:nvPr/>
        </p:nvSpPr>
        <p:spPr bwMode="auto">
          <a:xfrm>
            <a:off x="6349417" y="2507202"/>
            <a:ext cx="67151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buClr>
                <a:srgbClr val="000000"/>
              </a:buClr>
              <a:buSzPct val="100000"/>
            </a:pPr>
            <a:r>
              <a:rPr lang="zh-CN" altLang="zh-CN" sz="1400">
                <a:latin typeface="Arial" panose="020B0604020202020204" pitchFamily="34" charset="0"/>
                <a:ea typeface="楷体" panose="02010609060101010101" pitchFamily="49" charset="-122"/>
              </a:rPr>
              <a:t> x</a:t>
            </a:r>
            <a:r>
              <a:rPr lang="zh-CN" altLang="zh-CN" sz="1400" baseline="-25000">
                <a:latin typeface="Arial" panose="020B0604020202020204" pitchFamily="34" charset="0"/>
                <a:ea typeface="楷体" panose="02010609060101010101" pitchFamily="49" charset="-122"/>
              </a:rPr>
              <a:t>1</a:t>
            </a:r>
            <a:r>
              <a:rPr lang="zh-CN" altLang="zh-CN" sz="1400">
                <a:latin typeface="Arial" panose="020B0604020202020204" pitchFamily="34" charset="0"/>
                <a:ea typeface="楷体" panose="02010609060101010101" pitchFamily="49" charset="-122"/>
              </a:rPr>
              <a:t>≥3</a:t>
            </a:r>
            <a:endParaRPr lang="zh-CN" altLang="zh-CN" sz="1400">
              <a:latin typeface="Arial" panose="020B0604020202020204" pitchFamily="34" charset="0"/>
            </a:endParaRPr>
          </a:p>
        </p:txBody>
      </p:sp>
      <p:sp>
        <p:nvSpPr>
          <p:cNvPr id="40" name="Rectangle 21"/>
          <p:cNvSpPr>
            <a:spLocks noChangeArrowheads="1"/>
          </p:cNvSpPr>
          <p:nvPr/>
        </p:nvSpPr>
        <p:spPr bwMode="auto">
          <a:xfrm>
            <a:off x="4031667" y="2507202"/>
            <a:ext cx="6223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buClr>
                <a:srgbClr val="000000"/>
              </a:buClr>
              <a:buSzPct val="100000"/>
            </a:pPr>
            <a:r>
              <a:rPr lang="zh-CN" altLang="zh-CN" sz="1400">
                <a:latin typeface="Arial" panose="020B0604020202020204" pitchFamily="34" charset="0"/>
                <a:ea typeface="楷体" panose="02010609060101010101" pitchFamily="49" charset="-122"/>
              </a:rPr>
              <a:t>x</a:t>
            </a:r>
            <a:r>
              <a:rPr lang="zh-CN" altLang="zh-CN" sz="1400" baseline="-25000">
                <a:latin typeface="Arial" panose="020B0604020202020204" pitchFamily="34" charset="0"/>
                <a:ea typeface="楷体" panose="02010609060101010101" pitchFamily="49" charset="-122"/>
              </a:rPr>
              <a:t>1</a:t>
            </a:r>
            <a:r>
              <a:rPr lang="zh-CN" altLang="zh-CN" sz="1400">
                <a:latin typeface="Arial" panose="020B0604020202020204" pitchFamily="34" charset="0"/>
                <a:ea typeface="楷体" panose="02010609060101010101" pitchFamily="49" charset="-122"/>
              </a:rPr>
              <a:t>≤2</a:t>
            </a:r>
            <a:endParaRPr lang="zh-CN" altLang="zh-CN" sz="1400">
              <a:latin typeface="Arial" panose="020B0604020202020204" pitchFamily="34" charset="0"/>
            </a:endParaRPr>
          </a:p>
        </p:txBody>
      </p:sp>
      <p:sp>
        <p:nvSpPr>
          <p:cNvPr id="41" name="Rectangle 22"/>
          <p:cNvSpPr>
            <a:spLocks noChangeArrowheads="1"/>
          </p:cNvSpPr>
          <p:nvPr/>
        </p:nvSpPr>
        <p:spPr bwMode="auto">
          <a:xfrm>
            <a:off x="5920792" y="3815302"/>
            <a:ext cx="6223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buClr>
                <a:srgbClr val="000000"/>
              </a:buClr>
              <a:buSzPct val="100000"/>
            </a:pPr>
            <a:r>
              <a:rPr lang="zh-CN" altLang="zh-CN" sz="1400">
                <a:latin typeface="Arial" panose="020B0604020202020204" pitchFamily="34" charset="0"/>
                <a:ea typeface="楷体" panose="02010609060101010101" pitchFamily="49" charset="-122"/>
              </a:rPr>
              <a:t>x</a:t>
            </a:r>
            <a:r>
              <a:rPr lang="zh-CN" altLang="zh-CN" sz="1400" baseline="-25000">
                <a:latin typeface="Arial" panose="020B0604020202020204" pitchFamily="34" charset="0"/>
                <a:ea typeface="楷体" panose="02010609060101010101" pitchFamily="49" charset="-122"/>
              </a:rPr>
              <a:t>2</a:t>
            </a:r>
            <a:r>
              <a:rPr lang="zh-CN" altLang="zh-CN" sz="1400">
                <a:latin typeface="Arial" panose="020B0604020202020204" pitchFamily="34" charset="0"/>
                <a:ea typeface="楷体" panose="02010609060101010101" pitchFamily="49" charset="-122"/>
              </a:rPr>
              <a:t>≤2</a:t>
            </a:r>
            <a:endParaRPr lang="zh-CN" altLang="zh-CN" sz="1400">
              <a:latin typeface="Arial" panose="020B0604020202020204" pitchFamily="34" charset="0"/>
            </a:endParaRPr>
          </a:p>
        </p:txBody>
      </p:sp>
      <p:sp>
        <p:nvSpPr>
          <p:cNvPr id="42" name="Rectangle 23"/>
          <p:cNvSpPr>
            <a:spLocks noChangeArrowheads="1"/>
          </p:cNvSpPr>
          <p:nvPr/>
        </p:nvSpPr>
        <p:spPr bwMode="auto">
          <a:xfrm>
            <a:off x="7921042" y="3815302"/>
            <a:ext cx="6223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buClr>
                <a:srgbClr val="000000"/>
              </a:buClr>
              <a:buSzPct val="100000"/>
            </a:pPr>
            <a:r>
              <a:rPr lang="zh-CN" altLang="zh-CN" sz="1400">
                <a:latin typeface="Arial" panose="020B0604020202020204" pitchFamily="34" charset="0"/>
                <a:ea typeface="楷体" panose="02010609060101010101" pitchFamily="49" charset="-122"/>
              </a:rPr>
              <a:t>x</a:t>
            </a:r>
            <a:r>
              <a:rPr lang="zh-CN" altLang="zh-CN" sz="1400" baseline="-25000">
                <a:latin typeface="Arial" panose="020B0604020202020204" pitchFamily="34" charset="0"/>
                <a:ea typeface="楷体" panose="02010609060101010101" pitchFamily="49" charset="-122"/>
              </a:rPr>
              <a:t>2</a:t>
            </a:r>
            <a:r>
              <a:rPr lang="zh-CN" altLang="zh-CN" sz="1400">
                <a:latin typeface="Arial" panose="020B0604020202020204" pitchFamily="34" charset="0"/>
                <a:ea typeface="楷体" panose="02010609060101010101" pitchFamily="49" charset="-122"/>
              </a:rPr>
              <a:t>≥3</a:t>
            </a:r>
            <a:endParaRPr lang="zh-CN" altLang="zh-CN" sz="1400">
              <a:latin typeface="Arial" panose="020B0604020202020204" pitchFamily="34" charset="0"/>
            </a:endParaRPr>
          </a:p>
        </p:txBody>
      </p:sp>
      <p:sp>
        <p:nvSpPr>
          <p:cNvPr id="43" name="Line 24"/>
          <p:cNvSpPr>
            <a:spLocks noChangeShapeType="1"/>
          </p:cNvSpPr>
          <p:nvPr/>
        </p:nvSpPr>
        <p:spPr bwMode="auto">
          <a:xfrm>
            <a:off x="8706855" y="3386677"/>
            <a:ext cx="71437"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25"/>
          <p:cNvSpPr>
            <a:spLocks noChangeShapeType="1"/>
          </p:cNvSpPr>
          <p:nvPr/>
        </p:nvSpPr>
        <p:spPr bwMode="auto">
          <a:xfrm>
            <a:off x="6349417" y="2267490"/>
            <a:ext cx="71438" cy="158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Line 26"/>
          <p:cNvSpPr>
            <a:spLocks noChangeShapeType="1"/>
          </p:cNvSpPr>
          <p:nvPr/>
        </p:nvSpPr>
        <p:spPr bwMode="auto">
          <a:xfrm>
            <a:off x="6849480" y="2100802"/>
            <a:ext cx="71437"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Line 27"/>
          <p:cNvSpPr>
            <a:spLocks noChangeShapeType="1"/>
          </p:cNvSpPr>
          <p:nvPr/>
        </p:nvSpPr>
        <p:spPr bwMode="auto">
          <a:xfrm>
            <a:off x="5023459" y="5683251"/>
            <a:ext cx="172243"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Line 28"/>
          <p:cNvSpPr>
            <a:spLocks noChangeShapeType="1"/>
          </p:cNvSpPr>
          <p:nvPr/>
        </p:nvSpPr>
        <p:spPr bwMode="auto">
          <a:xfrm>
            <a:off x="8216317" y="3599402"/>
            <a:ext cx="71438" cy="158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Line 29"/>
          <p:cNvSpPr>
            <a:spLocks noChangeShapeType="1"/>
          </p:cNvSpPr>
          <p:nvPr/>
        </p:nvSpPr>
        <p:spPr bwMode="auto">
          <a:xfrm>
            <a:off x="5494150" y="5425320"/>
            <a:ext cx="13890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AutoShape 30"/>
          <p:cNvSpPr>
            <a:spLocks noChangeArrowheads="1"/>
          </p:cNvSpPr>
          <p:nvPr/>
        </p:nvSpPr>
        <p:spPr bwMode="auto">
          <a:xfrm>
            <a:off x="7849605" y="2386552"/>
            <a:ext cx="1428750" cy="571500"/>
          </a:xfrm>
          <a:prstGeom prst="wedgeRectCallout">
            <a:avLst>
              <a:gd name="adj1" fmla="val -50380"/>
              <a:gd name="adj2" fmla="val 83963"/>
            </a:avLst>
          </a:prstGeom>
          <a:solidFill>
            <a:schemeClr val="accent1"/>
          </a:solidFill>
          <a:ln w="9525">
            <a:solidFill>
              <a:schemeClr val="tx1"/>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600"/>
              <a:t>选择目标函数较优者</a:t>
            </a:r>
            <a:endParaRPr lang="zh-CN" altLang="zh-CN" sz="1600"/>
          </a:p>
          <a:p>
            <a:pPr eaLnBrk="1" hangingPunct="1">
              <a:buClr>
                <a:srgbClr val="000000"/>
              </a:buClr>
              <a:buSzPct val="100000"/>
            </a:pPr>
            <a:endParaRPr lang="zh-CN" altLang="zh-CN" sz="1600"/>
          </a:p>
        </p:txBody>
      </p:sp>
      <p:sp>
        <p:nvSpPr>
          <p:cNvPr id="50" name="Rectangle 31"/>
          <p:cNvSpPr>
            <a:spLocks noChangeArrowheads="1"/>
          </p:cNvSpPr>
          <p:nvPr/>
        </p:nvSpPr>
        <p:spPr bwMode="auto">
          <a:xfrm>
            <a:off x="7489242" y="1564227"/>
            <a:ext cx="37877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190500" algn="l"/>
                <a:tab pos="1993900" algn="l"/>
              </a:tabLst>
              <a:defRPr>
                <a:solidFill>
                  <a:schemeClr val="tx1"/>
                </a:solidFill>
                <a:latin typeface="Times New Roman" panose="02020603050405020304" pitchFamily="18" charset="0"/>
                <a:ea typeface="宋体" panose="02010600030101010101" pitchFamily="2" charset="-122"/>
              </a:defRPr>
            </a:lvl1pPr>
            <a:lvl2pPr marL="742950" indent="-285750">
              <a:tabLst>
                <a:tab pos="190500" algn="l"/>
                <a:tab pos="1993900" algn="l"/>
              </a:tabLst>
              <a:defRPr>
                <a:solidFill>
                  <a:schemeClr val="tx1"/>
                </a:solidFill>
                <a:latin typeface="Times New Roman" panose="02020603050405020304" pitchFamily="18" charset="0"/>
                <a:ea typeface="宋体" panose="02010600030101010101" pitchFamily="2" charset="-122"/>
              </a:defRPr>
            </a:lvl2pPr>
            <a:lvl3pPr marL="11430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3pPr>
            <a:lvl4pPr marL="16002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4pPr>
            <a:lvl5pPr marL="20574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600">
                <a:latin typeface="Arial" panose="020B0604020202020204" pitchFamily="34" charset="0"/>
                <a:ea typeface="楷体" panose="02010609060101010101" pitchFamily="49" charset="-122"/>
              </a:rPr>
              <a:t>	解：（1）先求出以下线性规划的解。</a:t>
            </a:r>
            <a:endParaRPr lang="zh-CN" altLang="zh-CN" sz="1600">
              <a:latin typeface="Arial" panose="020B0604020202020204" pitchFamily="34" charset="0"/>
              <a:ea typeface="楷体" panose="02010609060101010101" pitchFamily="49" charset="-122"/>
            </a:endParaRPr>
          </a:p>
          <a:p>
            <a:pPr eaLnBrk="1" hangingPunct="1">
              <a:buClr>
                <a:srgbClr val="000000"/>
              </a:buClr>
              <a:buSzPct val="100000"/>
            </a:pPr>
            <a:r>
              <a:rPr lang="zh-CN" altLang="zh-CN" sz="1600">
                <a:latin typeface="Arial" panose="020B0604020202020204" pitchFamily="34" charset="0"/>
                <a:ea typeface="楷体" panose="02010609060101010101" pitchFamily="49" charset="-122"/>
              </a:rPr>
              <a:t>	                max 2x</a:t>
            </a:r>
            <a:r>
              <a:rPr lang="zh-CN" altLang="zh-CN" sz="1600" baseline="-25000">
                <a:latin typeface="Arial" panose="020B0604020202020204" pitchFamily="34" charset="0"/>
                <a:ea typeface="楷体" panose="02010609060101010101" pitchFamily="49" charset="-122"/>
              </a:rPr>
              <a:t>1</a:t>
            </a:r>
            <a:r>
              <a:rPr lang="zh-CN" altLang="zh-CN" sz="1600">
                <a:latin typeface="Arial" panose="020B0604020202020204" pitchFamily="34" charset="0"/>
                <a:ea typeface="楷体" panose="02010609060101010101" pitchFamily="49" charset="-122"/>
              </a:rPr>
              <a:t>+3x</a:t>
            </a:r>
            <a:r>
              <a:rPr lang="zh-CN" altLang="zh-CN" sz="1600" baseline="-25000">
                <a:latin typeface="Arial" panose="020B0604020202020204" pitchFamily="34" charset="0"/>
                <a:ea typeface="楷体" panose="02010609060101010101" pitchFamily="49" charset="-122"/>
              </a:rPr>
              <a:t>2</a:t>
            </a:r>
            <a:endParaRPr lang="zh-CN" altLang="zh-CN" sz="1600" baseline="-25000">
              <a:latin typeface="Arial" panose="020B0604020202020204" pitchFamily="34" charset="0"/>
              <a:ea typeface="楷体" panose="02010609060101010101" pitchFamily="49" charset="-122"/>
            </a:endParaRPr>
          </a:p>
          <a:p>
            <a:pPr eaLnBrk="1" hangingPunct="1">
              <a:buClr>
                <a:srgbClr val="000000"/>
              </a:buClr>
              <a:buSzPct val="100000"/>
            </a:pPr>
            <a:r>
              <a:rPr lang="zh-CN" altLang="zh-CN" sz="1600">
                <a:latin typeface="Arial" panose="020B0604020202020204" pitchFamily="34" charset="0"/>
                <a:ea typeface="楷体" panose="02010609060101010101" pitchFamily="49" charset="-122"/>
              </a:rPr>
              <a:t>	         s.t. 195x</a:t>
            </a:r>
            <a:r>
              <a:rPr lang="zh-CN" altLang="zh-CN" sz="1600" baseline="-25000">
                <a:latin typeface="Arial" panose="020B0604020202020204" pitchFamily="34" charset="0"/>
                <a:ea typeface="楷体" panose="02010609060101010101" pitchFamily="49" charset="-122"/>
              </a:rPr>
              <a:t>1</a:t>
            </a:r>
            <a:r>
              <a:rPr lang="zh-CN" altLang="zh-CN" sz="1600">
                <a:latin typeface="Arial" panose="020B0604020202020204" pitchFamily="34" charset="0"/>
                <a:ea typeface="楷体" panose="02010609060101010101" pitchFamily="49" charset="-122"/>
              </a:rPr>
              <a:t>+273x</a:t>
            </a:r>
            <a:r>
              <a:rPr lang="zh-CN" altLang="zh-CN" sz="1600" baseline="-25000">
                <a:latin typeface="Arial" panose="020B0604020202020204" pitchFamily="34" charset="0"/>
                <a:ea typeface="楷体" panose="02010609060101010101" pitchFamily="49" charset="-122"/>
              </a:rPr>
              <a:t>2</a:t>
            </a:r>
            <a:r>
              <a:rPr lang="zh-CN" altLang="zh-CN" sz="1600">
                <a:latin typeface="Arial" panose="020B0604020202020204" pitchFamily="34" charset="0"/>
                <a:ea typeface="楷体" panose="02010609060101010101" pitchFamily="49" charset="-122"/>
              </a:rPr>
              <a:t>≤1 365</a:t>
            </a:r>
            <a:endParaRPr lang="zh-CN" altLang="zh-CN" sz="1600">
              <a:latin typeface="Arial" panose="020B0604020202020204" pitchFamily="34" charset="0"/>
              <a:ea typeface="楷体" panose="02010609060101010101" pitchFamily="49" charset="-122"/>
            </a:endParaRPr>
          </a:p>
          <a:p>
            <a:pPr eaLnBrk="1" hangingPunct="1">
              <a:buClr>
                <a:srgbClr val="000000"/>
              </a:buClr>
              <a:buSzPct val="100000"/>
            </a:pPr>
            <a:r>
              <a:rPr lang="zh-CN" altLang="zh-CN" sz="1600">
                <a:latin typeface="Arial" panose="020B0604020202020204" pitchFamily="34" charset="0"/>
                <a:ea typeface="楷体" panose="02010609060101010101" pitchFamily="49" charset="-122"/>
              </a:rPr>
              <a:t>	               4x</a:t>
            </a:r>
            <a:r>
              <a:rPr lang="zh-CN" altLang="zh-CN" sz="1600" baseline="-25000">
                <a:latin typeface="Arial" panose="020B0604020202020204" pitchFamily="34" charset="0"/>
                <a:ea typeface="楷体" panose="02010609060101010101" pitchFamily="49" charset="-122"/>
              </a:rPr>
              <a:t>1</a:t>
            </a:r>
            <a:r>
              <a:rPr lang="zh-CN" altLang="zh-CN" sz="1600">
                <a:latin typeface="Arial" panose="020B0604020202020204" pitchFamily="34" charset="0"/>
                <a:ea typeface="楷体" panose="02010609060101010101" pitchFamily="49" charset="-122"/>
              </a:rPr>
              <a:t>+ 40x</a:t>
            </a:r>
            <a:r>
              <a:rPr lang="zh-CN" altLang="zh-CN" sz="1600" baseline="-25000">
                <a:latin typeface="Arial" panose="020B0604020202020204" pitchFamily="34" charset="0"/>
                <a:ea typeface="楷体" panose="02010609060101010101" pitchFamily="49" charset="-122"/>
              </a:rPr>
              <a:t>2</a:t>
            </a:r>
            <a:r>
              <a:rPr lang="zh-CN" altLang="zh-CN" sz="1600">
                <a:latin typeface="Arial" panose="020B0604020202020204" pitchFamily="34" charset="0"/>
                <a:ea typeface="楷体" panose="02010609060101010101" pitchFamily="49" charset="-122"/>
              </a:rPr>
              <a:t>≤140</a:t>
            </a:r>
            <a:endParaRPr lang="zh-CN" altLang="zh-CN" sz="1600">
              <a:latin typeface="Arial" panose="020B0604020202020204" pitchFamily="34" charset="0"/>
              <a:ea typeface="楷体" panose="02010609060101010101" pitchFamily="49" charset="-122"/>
            </a:endParaRPr>
          </a:p>
          <a:p>
            <a:pPr eaLnBrk="1" hangingPunct="1">
              <a:buClr>
                <a:srgbClr val="000000"/>
              </a:buClr>
              <a:buSzPct val="100000"/>
            </a:pPr>
            <a:r>
              <a:rPr lang="zh-CN" altLang="zh-CN" sz="1600">
                <a:latin typeface="Arial" panose="020B0604020202020204" pitchFamily="34" charset="0"/>
                <a:ea typeface="楷体" panose="02010609060101010101" pitchFamily="49" charset="-122"/>
              </a:rPr>
              <a:t>	                x</a:t>
            </a:r>
            <a:r>
              <a:rPr lang="zh-CN" altLang="zh-CN" sz="1600" baseline="-25000">
                <a:latin typeface="Arial" panose="020B0604020202020204" pitchFamily="34" charset="0"/>
                <a:ea typeface="楷体" panose="02010609060101010101" pitchFamily="49" charset="-122"/>
              </a:rPr>
              <a:t>1</a:t>
            </a:r>
            <a:r>
              <a:rPr lang="zh-CN" altLang="zh-CN" sz="1600">
                <a:latin typeface="Arial" panose="020B0604020202020204" pitchFamily="34" charset="0"/>
                <a:ea typeface="楷体" panose="02010609060101010101" pitchFamily="49" charset="-122"/>
              </a:rPr>
              <a:t>  ≤4</a:t>
            </a:r>
            <a:endParaRPr lang="zh-CN" altLang="zh-CN" sz="1600">
              <a:latin typeface="Arial" panose="020B0604020202020204" pitchFamily="34" charset="0"/>
              <a:ea typeface="楷体" panose="02010609060101010101" pitchFamily="49" charset="-122"/>
            </a:endParaRPr>
          </a:p>
          <a:p>
            <a:pPr eaLnBrk="1" hangingPunct="1">
              <a:buClr>
                <a:srgbClr val="000000"/>
              </a:buClr>
              <a:buSzPct val="100000"/>
            </a:pPr>
            <a:r>
              <a:rPr lang="zh-CN" altLang="zh-CN" sz="1600">
                <a:latin typeface="Arial" panose="020B0604020202020204" pitchFamily="34" charset="0"/>
                <a:ea typeface="楷体" panose="02010609060101010101" pitchFamily="49" charset="-122"/>
              </a:rPr>
              <a:t>                   x</a:t>
            </a:r>
            <a:r>
              <a:rPr lang="zh-CN" altLang="zh-CN" sz="1600" baseline="-25000">
                <a:latin typeface="Arial" panose="020B0604020202020204" pitchFamily="34" charset="0"/>
                <a:ea typeface="楷体" panose="02010609060101010101" pitchFamily="49" charset="-122"/>
              </a:rPr>
              <a:t>1</a:t>
            </a:r>
            <a:r>
              <a:rPr lang="zh-CN" altLang="zh-CN" sz="1600">
                <a:latin typeface="Arial" panose="020B0604020202020204" pitchFamily="34" charset="0"/>
                <a:ea typeface="楷体" panose="02010609060101010101" pitchFamily="49" charset="-122"/>
              </a:rPr>
              <a:t>,x</a:t>
            </a:r>
            <a:r>
              <a:rPr lang="zh-CN" altLang="zh-CN" sz="1600" baseline="-25000">
                <a:latin typeface="Arial" panose="020B0604020202020204" pitchFamily="34" charset="0"/>
                <a:ea typeface="楷体" panose="02010609060101010101" pitchFamily="49" charset="-122"/>
              </a:rPr>
              <a:t>2</a:t>
            </a:r>
            <a:r>
              <a:rPr lang="zh-CN" altLang="zh-CN" sz="1600">
                <a:latin typeface="Arial" panose="020B0604020202020204" pitchFamily="34" charset="0"/>
                <a:ea typeface="楷体" panose="02010609060101010101" pitchFamily="49" charset="-122"/>
              </a:rPr>
              <a:t>≥0</a:t>
            </a:r>
            <a:endParaRPr lang="zh-CN" altLang="zh-CN" sz="1600">
              <a:latin typeface="Arial" panose="020B0604020202020204" pitchFamily="34" charset="0"/>
              <a:ea typeface="楷体" panose="02010609060101010101" pitchFamily="49" charset="-122"/>
            </a:endParaRPr>
          </a:p>
          <a:p>
            <a:pPr eaLnBrk="1" hangingPunct="1">
              <a:buClr>
                <a:srgbClr val="000000"/>
              </a:buClr>
              <a:buSzPct val="100000"/>
            </a:pPr>
            <a:r>
              <a:rPr lang="zh-CN" altLang="zh-CN" sz="1600">
                <a:latin typeface="Arial" panose="020B0604020202020204" pitchFamily="34" charset="0"/>
                <a:ea typeface="楷体" panose="02010609060101010101" pitchFamily="49" charset="-122"/>
              </a:rPr>
              <a:t>	       得 z</a:t>
            </a:r>
            <a:r>
              <a:rPr lang="zh-CN" altLang="zh-CN" sz="1600" baseline="-25000">
                <a:latin typeface="Arial" panose="020B0604020202020204" pitchFamily="34" charset="0"/>
                <a:ea typeface="楷体" panose="02010609060101010101" pitchFamily="49" charset="-122"/>
              </a:rPr>
              <a:t>1</a:t>
            </a:r>
            <a:r>
              <a:rPr lang="zh-CN" altLang="zh-CN" sz="1600">
                <a:latin typeface="Arial" panose="020B0604020202020204" pitchFamily="34" charset="0"/>
                <a:ea typeface="楷体" panose="02010609060101010101" pitchFamily="49" charset="-122"/>
              </a:rPr>
              <a:t>=14.66，x</a:t>
            </a:r>
            <a:r>
              <a:rPr lang="zh-CN" altLang="zh-CN" sz="1600" baseline="-25000">
                <a:latin typeface="Arial" panose="020B0604020202020204" pitchFamily="34" charset="0"/>
                <a:ea typeface="楷体" panose="02010609060101010101" pitchFamily="49" charset="-122"/>
              </a:rPr>
              <a:t>1</a:t>
            </a:r>
            <a:r>
              <a:rPr lang="zh-CN" altLang="zh-CN" sz="1600">
                <a:latin typeface="Arial" panose="020B0604020202020204" pitchFamily="34" charset="0"/>
                <a:ea typeface="楷体" panose="02010609060101010101" pitchFamily="49" charset="-122"/>
              </a:rPr>
              <a:t>=2.44，x</a:t>
            </a:r>
            <a:r>
              <a:rPr lang="zh-CN" altLang="zh-CN" sz="1600" baseline="-25000">
                <a:latin typeface="Arial" panose="020B0604020202020204" pitchFamily="34" charset="0"/>
                <a:ea typeface="楷体" panose="02010609060101010101" pitchFamily="49" charset="-122"/>
              </a:rPr>
              <a:t>2</a:t>
            </a:r>
            <a:r>
              <a:rPr lang="zh-CN" altLang="zh-CN" sz="1600">
                <a:latin typeface="Arial" panose="020B0604020202020204" pitchFamily="34" charset="0"/>
                <a:ea typeface="楷体" panose="02010609060101010101" pitchFamily="49" charset="-122"/>
              </a:rPr>
              <a:t>=3.26</a:t>
            </a:r>
            <a:endParaRPr lang="zh-CN" altLang="zh-CN" sz="1600">
              <a:latin typeface="Arial" panose="020B0604020202020204" pitchFamily="34" charset="0"/>
              <a:ea typeface="楷体" panose="02010609060101010101" pitchFamily="49" charset="-122"/>
            </a:endParaRPr>
          </a:p>
          <a:p>
            <a:pPr eaLnBrk="1" hangingPunct="1">
              <a:buClr>
                <a:srgbClr val="000000"/>
              </a:buClr>
              <a:buSzPct val="100000"/>
            </a:pPr>
            <a:endParaRPr lang="zh-CN" altLang="zh-CN" sz="1600">
              <a:latin typeface="Arial" panose="020B0604020202020204" pitchFamily="34" charset="0"/>
              <a:ea typeface="楷体" panose="02010609060101010101" pitchFamily="49" charset="-122"/>
            </a:endParaRPr>
          </a:p>
        </p:txBody>
      </p:sp>
      <p:sp>
        <p:nvSpPr>
          <p:cNvPr id="51" name="Rectangle 32"/>
          <p:cNvSpPr>
            <a:spLocks noChangeArrowheads="1"/>
          </p:cNvSpPr>
          <p:nvPr/>
        </p:nvSpPr>
        <p:spPr bwMode="auto">
          <a:xfrm>
            <a:off x="2853742" y="2992977"/>
            <a:ext cx="64293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190500" algn="l"/>
                <a:tab pos="1993900" algn="l"/>
              </a:tabLst>
              <a:defRPr>
                <a:solidFill>
                  <a:schemeClr val="tx1"/>
                </a:solidFill>
                <a:latin typeface="Times New Roman" panose="02020603050405020304" pitchFamily="18" charset="0"/>
                <a:ea typeface="宋体" panose="02010600030101010101" pitchFamily="2" charset="-122"/>
              </a:defRPr>
            </a:lvl1pPr>
            <a:lvl2pPr marL="742950" indent="-285750">
              <a:tabLst>
                <a:tab pos="190500" algn="l"/>
                <a:tab pos="1993900" algn="l"/>
              </a:tabLst>
              <a:defRPr>
                <a:solidFill>
                  <a:schemeClr val="tx1"/>
                </a:solidFill>
                <a:latin typeface="Times New Roman" panose="02020603050405020304" pitchFamily="18" charset="0"/>
                <a:ea typeface="宋体" panose="02010600030101010101" pitchFamily="2" charset="-122"/>
              </a:defRPr>
            </a:lvl2pPr>
            <a:lvl3pPr marL="11430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3pPr>
            <a:lvl4pPr marL="16002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4pPr>
            <a:lvl5pPr marL="20574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600" dirty="0">
                <a:latin typeface="Arial" panose="020B0604020202020204" pitchFamily="34" charset="0"/>
                <a:ea typeface="楷体" panose="02010609060101010101" pitchFamily="49" charset="-122"/>
              </a:rPr>
              <a:t>确定整数规划的最优目标函数值 z*初始上界  和下界 。</a:t>
            </a:r>
            <a:endParaRPr lang="zh-CN" altLang="zh-CN" sz="1600" dirty="0">
              <a:latin typeface="Arial" panose="020B0604020202020204" pitchFamily="34" charset="0"/>
              <a:ea typeface="楷体" panose="02010609060101010101" pitchFamily="49" charset="-122"/>
            </a:endParaRPr>
          </a:p>
          <a:p>
            <a:pPr eaLnBrk="1" hangingPunct="1">
              <a:buClr>
                <a:srgbClr val="000000"/>
              </a:buClr>
              <a:buSzPct val="100000"/>
            </a:pPr>
            <a:r>
              <a:rPr lang="zh-CN" altLang="zh-CN" sz="1600" dirty="0">
                <a:latin typeface="Arial" panose="020B0604020202020204" pitchFamily="34" charset="0"/>
                <a:ea typeface="楷体" panose="02010609060101010101" pitchFamily="49" charset="-122"/>
              </a:rPr>
              <a:t>分析后，知道 上界为14.66，由观察法得下界 </a:t>
            </a:r>
            <a:r>
              <a:rPr lang="zh-CN" altLang="zh-CN" sz="1600" u="sng" dirty="0">
                <a:latin typeface="Arial" panose="020B0604020202020204" pitchFamily="34" charset="0"/>
                <a:ea typeface="楷体" panose="02010609060101010101" pitchFamily="49" charset="-122"/>
              </a:rPr>
              <a:t>为</a:t>
            </a:r>
            <a:r>
              <a:rPr lang="zh-CN" altLang="zh-CN" sz="1600" dirty="0">
                <a:latin typeface="Arial" panose="020B0604020202020204" pitchFamily="34" charset="0"/>
                <a:ea typeface="楷体" panose="02010609060101010101" pitchFamily="49" charset="-122"/>
              </a:rPr>
              <a:t>13（当 x</a:t>
            </a:r>
            <a:r>
              <a:rPr lang="zh-CN" altLang="zh-CN" sz="1600" baseline="-25000" dirty="0">
                <a:latin typeface="Arial" panose="020B0604020202020204" pitchFamily="34" charset="0"/>
                <a:ea typeface="楷体" panose="02010609060101010101" pitchFamily="49" charset="-122"/>
              </a:rPr>
              <a:t>1</a:t>
            </a:r>
            <a:r>
              <a:rPr lang="zh-CN" altLang="zh-CN" sz="1600" dirty="0">
                <a:latin typeface="Arial" panose="020B0604020202020204" pitchFamily="34" charset="0"/>
                <a:ea typeface="楷体" panose="02010609060101010101" pitchFamily="49" charset="-122"/>
              </a:rPr>
              <a:t>=2,x</a:t>
            </a:r>
            <a:r>
              <a:rPr lang="zh-CN" altLang="zh-CN" sz="1600" baseline="-25000" dirty="0">
                <a:latin typeface="Arial" panose="020B0604020202020204" pitchFamily="34" charset="0"/>
                <a:ea typeface="楷体" panose="02010609060101010101" pitchFamily="49" charset="-122"/>
              </a:rPr>
              <a:t>2</a:t>
            </a:r>
            <a:r>
              <a:rPr lang="zh-CN" altLang="zh-CN" sz="1600" dirty="0">
                <a:latin typeface="Arial" panose="020B0604020202020204" pitchFamily="34" charset="0"/>
                <a:ea typeface="楷体" panose="02010609060101010101" pitchFamily="49" charset="-122"/>
              </a:rPr>
              <a:t>=3 时）。</a:t>
            </a:r>
            <a:endParaRPr lang="zh-CN" altLang="zh-CN" sz="1600" dirty="0">
              <a:latin typeface="Arial" panose="020B0604020202020204" pitchFamily="34" charset="0"/>
              <a:ea typeface="楷体" panose="02010609060101010101" pitchFamily="49" charset="-122"/>
            </a:endParaRPr>
          </a:p>
        </p:txBody>
      </p:sp>
      <p:sp>
        <p:nvSpPr>
          <p:cNvPr id="52" name="Rectangle 33"/>
          <p:cNvSpPr>
            <a:spLocks noChangeArrowheads="1"/>
          </p:cNvSpPr>
          <p:nvPr/>
        </p:nvSpPr>
        <p:spPr bwMode="auto">
          <a:xfrm>
            <a:off x="167226" y="1461040"/>
            <a:ext cx="3168650"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190500" algn="l"/>
                <a:tab pos="1993900" algn="l"/>
              </a:tabLst>
              <a:defRPr>
                <a:solidFill>
                  <a:schemeClr val="tx1"/>
                </a:solidFill>
                <a:latin typeface="Times New Roman" panose="02020603050405020304" pitchFamily="18" charset="0"/>
                <a:ea typeface="宋体" panose="02010600030101010101" pitchFamily="2" charset="-122"/>
              </a:defRPr>
            </a:lvl1pPr>
            <a:lvl2pPr marL="742950" indent="-285750">
              <a:tabLst>
                <a:tab pos="190500" algn="l"/>
                <a:tab pos="1993900" algn="l"/>
              </a:tabLst>
              <a:defRPr>
                <a:solidFill>
                  <a:schemeClr val="tx1"/>
                </a:solidFill>
                <a:latin typeface="Times New Roman" panose="02020603050405020304" pitchFamily="18" charset="0"/>
                <a:ea typeface="宋体" panose="02010600030101010101" pitchFamily="2" charset="-122"/>
              </a:defRPr>
            </a:lvl2pPr>
            <a:lvl3pPr marL="11430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3pPr>
            <a:lvl4pPr marL="16002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4pPr>
            <a:lvl5pPr marL="20574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将线性规划 1 分解为两支：</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线性规划 2：</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max 2x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+3x</a:t>
            </a:r>
            <a:r>
              <a:rPr lang="zh-CN" altLang="zh-CN" sz="1600" baseline="-25000" dirty="0">
                <a:latin typeface="楷体" panose="02010609060101010101" pitchFamily="49" charset="-122"/>
                <a:ea typeface="楷体" panose="02010609060101010101" pitchFamily="49" charset="-122"/>
              </a:rPr>
              <a:t>2</a:t>
            </a:r>
            <a:endParaRPr lang="zh-CN" altLang="zh-CN" sz="1600" baseline="-250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s.t. 195x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+273x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≤1 365</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4x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+ 40x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≤140		           </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   ≤4	</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   ≤2</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≥0</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解得 z</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=13.90,x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=2,x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=3.30</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a:t>
            </a:r>
            <a:endParaRPr lang="zh-CN" altLang="zh-CN" sz="1600" dirty="0">
              <a:latin typeface="楷体" panose="02010609060101010101" pitchFamily="49" charset="-122"/>
              <a:ea typeface="楷体" panose="02010609060101010101" pitchFamily="49" charset="-122"/>
            </a:endParaRPr>
          </a:p>
        </p:txBody>
      </p:sp>
      <p:sp>
        <p:nvSpPr>
          <p:cNvPr id="53" name="Rectangle 34"/>
          <p:cNvSpPr>
            <a:spLocks noChangeArrowheads="1"/>
          </p:cNvSpPr>
          <p:nvPr/>
        </p:nvSpPr>
        <p:spPr bwMode="auto">
          <a:xfrm>
            <a:off x="7883736" y="2129377"/>
            <a:ext cx="4013200"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190500" algn="l"/>
                <a:tab pos="1993900" algn="l"/>
              </a:tabLst>
              <a:defRPr>
                <a:solidFill>
                  <a:schemeClr val="tx1"/>
                </a:solidFill>
                <a:latin typeface="Times New Roman" panose="02020603050405020304" pitchFamily="18" charset="0"/>
                <a:ea typeface="宋体" panose="02010600030101010101" pitchFamily="2" charset="-122"/>
              </a:defRPr>
            </a:lvl1pPr>
            <a:lvl2pPr marL="742950" indent="-285750">
              <a:tabLst>
                <a:tab pos="190500" algn="l"/>
                <a:tab pos="1993900" algn="l"/>
              </a:tabLst>
              <a:defRPr>
                <a:solidFill>
                  <a:schemeClr val="tx1"/>
                </a:solidFill>
                <a:latin typeface="Times New Roman" panose="02020603050405020304" pitchFamily="18" charset="0"/>
                <a:ea typeface="宋体" panose="02010600030101010101" pitchFamily="2" charset="-122"/>
              </a:defRPr>
            </a:lvl2pPr>
            <a:lvl3pPr marL="11430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3pPr>
            <a:lvl4pPr marL="16002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4pPr>
            <a:lvl5pPr marL="20574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线性规划 3：</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max 2x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+3x</a:t>
            </a:r>
            <a:r>
              <a:rPr lang="zh-CN" altLang="zh-CN" sz="1600" baseline="-25000" dirty="0">
                <a:latin typeface="楷体" panose="02010609060101010101" pitchFamily="49" charset="-122"/>
                <a:ea typeface="楷体" panose="02010609060101010101" pitchFamily="49" charset="-122"/>
              </a:rPr>
              <a:t>2</a:t>
            </a:r>
            <a:endParaRPr lang="zh-CN" altLang="zh-CN" sz="1600" baseline="-250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s.t. 195x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+273x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≤1 365</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4x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+ 40x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≤140</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   ≤4</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≥3</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≥0</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解得 z</a:t>
            </a:r>
            <a:r>
              <a:rPr lang="zh-CN" altLang="zh-CN" sz="1600" baseline="-25000" dirty="0">
                <a:latin typeface="楷体" panose="02010609060101010101" pitchFamily="49" charset="-122"/>
                <a:ea typeface="楷体" panose="02010609060101010101" pitchFamily="49" charset="-122"/>
              </a:rPr>
              <a:t>3</a:t>
            </a:r>
            <a:r>
              <a:rPr lang="zh-CN" altLang="zh-CN" sz="1600" dirty="0">
                <a:latin typeface="楷体" panose="02010609060101010101" pitchFamily="49" charset="-122"/>
                <a:ea typeface="楷体" panose="02010609060101010101" pitchFamily="49" charset="-122"/>
              </a:rPr>
              <a:t>=14.58,x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=3,x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=2.86</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endParaRPr lang="zh-CN" altLang="zh-CN" sz="1600" dirty="0">
              <a:latin typeface="楷体" panose="02010609060101010101" pitchFamily="49" charset="-122"/>
              <a:ea typeface="楷体" panose="02010609060101010101" pitchFamily="49" charset="-122"/>
            </a:endParaRPr>
          </a:p>
        </p:txBody>
      </p:sp>
      <p:sp>
        <p:nvSpPr>
          <p:cNvPr id="54" name="Rectangle 35"/>
          <p:cNvSpPr>
            <a:spLocks noChangeArrowheads="1"/>
          </p:cNvSpPr>
          <p:nvPr/>
        </p:nvSpPr>
        <p:spPr bwMode="auto">
          <a:xfrm>
            <a:off x="2649350" y="4142315"/>
            <a:ext cx="2789237"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190500" algn="l"/>
                <a:tab pos="1993900" algn="l"/>
              </a:tabLst>
              <a:defRPr>
                <a:solidFill>
                  <a:schemeClr val="tx1"/>
                </a:solidFill>
                <a:latin typeface="Times New Roman" panose="02020603050405020304" pitchFamily="18" charset="0"/>
                <a:ea typeface="宋体" panose="02010600030101010101" pitchFamily="2" charset="-122"/>
              </a:defRPr>
            </a:lvl1pPr>
            <a:lvl2pPr marL="742950" indent="-285750">
              <a:tabLst>
                <a:tab pos="190500" algn="l"/>
                <a:tab pos="1993900" algn="l"/>
              </a:tabLst>
              <a:defRPr>
                <a:solidFill>
                  <a:schemeClr val="tx1"/>
                </a:solidFill>
                <a:latin typeface="Times New Roman" panose="02020603050405020304" pitchFamily="18" charset="0"/>
                <a:ea typeface="宋体" panose="02010600030101010101" pitchFamily="2" charset="-122"/>
              </a:defRPr>
            </a:lvl2pPr>
            <a:lvl3pPr marL="11430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3pPr>
            <a:lvl4pPr marL="16002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4pPr>
            <a:lvl5pPr marL="20574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线性规划 </a:t>
            </a:r>
            <a:r>
              <a:rPr lang="en-US" altLang="zh-CN" sz="1600" dirty="0">
                <a:latin typeface="楷体" panose="02010609060101010101" pitchFamily="49" charset="-122"/>
                <a:ea typeface="楷体" panose="02010609060101010101" pitchFamily="49" charset="-122"/>
              </a:rPr>
              <a:t>31</a:t>
            </a:r>
            <a:r>
              <a:rPr lang="zh-CN" altLang="zh-CN" sz="1600" dirty="0">
                <a:latin typeface="楷体" panose="02010609060101010101" pitchFamily="49" charset="-122"/>
                <a:ea typeface="楷体" panose="02010609060101010101" pitchFamily="49" charset="-122"/>
              </a:rPr>
              <a:t>：</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max 2</a:t>
            </a:r>
            <a:r>
              <a:rPr lang="zh-CN" altLang="zh-CN" sz="1600" dirty="0">
                <a:latin typeface="楷体" panose="02010609060101010101" pitchFamily="49" charset="-122"/>
                <a:ea typeface="楷体" panose="02010609060101010101" pitchFamily="49" charset="-122"/>
              </a:rPr>
              <a:t>x1+3x</a:t>
            </a:r>
            <a:r>
              <a:rPr lang="zh-CN" altLang="zh-CN" sz="1600" baseline="-25000" dirty="0">
                <a:latin typeface="楷体" panose="02010609060101010101" pitchFamily="49" charset="-122"/>
                <a:ea typeface="楷体" panose="02010609060101010101" pitchFamily="49" charset="-122"/>
              </a:rPr>
              <a:t>2</a:t>
            </a:r>
            <a:endParaRPr lang="zh-CN" altLang="zh-CN" sz="1600" baseline="-250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s.t.  195x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+273x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≤1365</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4x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+ 40x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≤140</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≤4</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≥3</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≤2</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≥0</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解得 z</a:t>
            </a:r>
            <a:r>
              <a:rPr lang="zh-CN" altLang="zh-CN" sz="1600" baseline="-25000" dirty="0">
                <a:latin typeface="楷体" panose="02010609060101010101" pitchFamily="49" charset="-122"/>
                <a:ea typeface="楷体" panose="02010609060101010101" pitchFamily="49" charset="-122"/>
              </a:rPr>
              <a:t>4</a:t>
            </a:r>
            <a:r>
              <a:rPr lang="zh-CN" altLang="zh-CN" sz="1600" dirty="0">
                <a:latin typeface="楷体" panose="02010609060101010101" pitchFamily="49" charset="-122"/>
                <a:ea typeface="楷体" panose="02010609060101010101" pitchFamily="49" charset="-122"/>
              </a:rPr>
              <a:t>=14,x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=4,x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=2</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a:t>
            </a:r>
            <a:endParaRPr lang="zh-CN" altLang="zh-CN" sz="1600" dirty="0">
              <a:latin typeface="楷体" panose="02010609060101010101" pitchFamily="49" charset="-122"/>
              <a:ea typeface="楷体" panose="02010609060101010101" pitchFamily="49" charset="-122"/>
            </a:endParaRPr>
          </a:p>
        </p:txBody>
      </p:sp>
      <p:sp>
        <p:nvSpPr>
          <p:cNvPr id="55" name="Rectangle 36"/>
          <p:cNvSpPr>
            <a:spLocks noChangeArrowheads="1"/>
          </p:cNvSpPr>
          <p:nvPr/>
        </p:nvSpPr>
        <p:spPr bwMode="auto">
          <a:xfrm>
            <a:off x="9000542" y="3523202"/>
            <a:ext cx="2736850"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tabLst>
                <a:tab pos="190500" algn="l"/>
                <a:tab pos="1993900" algn="l"/>
              </a:tabLst>
              <a:defRPr>
                <a:solidFill>
                  <a:schemeClr val="tx1"/>
                </a:solidFill>
                <a:latin typeface="Times New Roman" panose="02020603050405020304" pitchFamily="18" charset="0"/>
                <a:ea typeface="宋体" panose="02010600030101010101" pitchFamily="2" charset="-122"/>
              </a:defRPr>
            </a:lvl1pPr>
            <a:lvl2pPr marL="742950" indent="-285750">
              <a:tabLst>
                <a:tab pos="190500" algn="l"/>
                <a:tab pos="1993900" algn="l"/>
              </a:tabLst>
              <a:defRPr>
                <a:solidFill>
                  <a:schemeClr val="tx1"/>
                </a:solidFill>
                <a:latin typeface="Times New Roman" panose="02020603050405020304" pitchFamily="18" charset="0"/>
                <a:ea typeface="宋体" panose="02010600030101010101" pitchFamily="2" charset="-122"/>
              </a:defRPr>
            </a:lvl2pPr>
            <a:lvl3pPr marL="11430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3pPr>
            <a:lvl4pPr marL="16002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4pPr>
            <a:lvl5pPr marL="2057400" indent="-228600">
              <a:tabLst>
                <a:tab pos="190500" algn="l"/>
                <a:tab pos="1993900" algn="l"/>
              </a:tabLs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190500" algn="l"/>
                <a:tab pos="1993900" algn="l"/>
              </a:tabLs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线性规划 </a:t>
            </a:r>
            <a:r>
              <a:rPr lang="en-US" altLang="zh-CN" sz="1600">
                <a:latin typeface="楷体" panose="02010609060101010101" pitchFamily="49" charset="-122"/>
                <a:ea typeface="楷体" panose="02010609060101010101" pitchFamily="49" charset="-122"/>
              </a:rPr>
              <a:t>32</a:t>
            </a:r>
            <a:r>
              <a:rPr lang="zh-CN" altLang="zh-CN" sz="1600">
                <a:latin typeface="楷体" panose="02010609060101010101" pitchFamily="49" charset="-122"/>
                <a:ea typeface="楷体" panose="02010609060101010101" pitchFamily="49" charset="-122"/>
              </a:rPr>
              <a:t>：</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max 2x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+3x</a:t>
            </a:r>
            <a:r>
              <a:rPr lang="zh-CN" altLang="zh-CN" sz="1600" baseline="-25000" dirty="0">
                <a:latin typeface="楷体" panose="02010609060101010101" pitchFamily="49" charset="-122"/>
                <a:ea typeface="楷体" panose="02010609060101010101" pitchFamily="49" charset="-122"/>
              </a:rPr>
              <a:t>2</a:t>
            </a:r>
            <a:endParaRPr lang="zh-CN" altLang="zh-CN" sz="1600" baseline="-250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s.t.  195x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+273x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≤1365</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4x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+ 40x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≤140</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≤4</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≥3</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≥3</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x</a:t>
            </a:r>
            <a:r>
              <a:rPr lang="zh-CN" altLang="zh-CN" sz="1600" baseline="-25000" dirty="0">
                <a:latin typeface="楷体" panose="02010609060101010101" pitchFamily="49" charset="-122"/>
                <a:ea typeface="楷体" panose="02010609060101010101" pitchFamily="49" charset="-122"/>
              </a:rPr>
              <a:t>1</a:t>
            </a:r>
            <a:r>
              <a:rPr lang="zh-CN" altLang="zh-CN" sz="1600" dirty="0">
                <a:latin typeface="楷体" panose="02010609060101010101" pitchFamily="49" charset="-122"/>
                <a:ea typeface="楷体" panose="02010609060101010101" pitchFamily="49" charset="-122"/>
              </a:rPr>
              <a:t>,x</a:t>
            </a:r>
            <a:r>
              <a:rPr lang="zh-CN" altLang="zh-CN" sz="1600" baseline="-25000" dirty="0">
                <a:latin typeface="楷体" panose="02010609060101010101" pitchFamily="49" charset="-122"/>
                <a:ea typeface="楷体" panose="02010609060101010101" pitchFamily="49" charset="-122"/>
              </a:rPr>
              <a:t>2</a:t>
            </a:r>
            <a:r>
              <a:rPr lang="zh-CN" altLang="zh-CN" sz="1600" dirty="0">
                <a:latin typeface="楷体" panose="02010609060101010101" pitchFamily="49" charset="-122"/>
                <a:ea typeface="楷体" panose="02010609060101010101" pitchFamily="49" charset="-122"/>
              </a:rPr>
              <a:t>≥0</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r>
              <a:rPr lang="zh-CN" altLang="zh-CN" sz="1600" dirty="0">
                <a:latin typeface="楷体" panose="02010609060101010101" pitchFamily="49" charset="-122"/>
                <a:ea typeface="楷体" panose="02010609060101010101" pitchFamily="49" charset="-122"/>
              </a:rPr>
              <a:t>	线性规划 5 无可行解。</a:t>
            </a:r>
            <a:endParaRPr lang="zh-CN" altLang="zh-CN" sz="1600" dirty="0">
              <a:latin typeface="楷体" panose="02010609060101010101" pitchFamily="49" charset="-122"/>
              <a:ea typeface="楷体" panose="02010609060101010101" pitchFamily="49" charset="-122"/>
            </a:endParaRPr>
          </a:p>
          <a:p>
            <a:pPr eaLnBrk="1" hangingPunct="1">
              <a:buClr>
                <a:srgbClr val="000000"/>
              </a:buClr>
              <a:buSzPct val="100000"/>
            </a:pPr>
            <a:endParaRPr lang="zh-CN" altLang="zh-CN" sz="1600" dirty="0">
              <a:latin typeface="楷体" panose="02010609060101010101" pitchFamily="49" charset="-122"/>
              <a:ea typeface="楷体" panose="02010609060101010101" pitchFamily="49" charset="-122"/>
            </a:endParaRPr>
          </a:p>
        </p:txBody>
      </p:sp>
      <p:sp>
        <p:nvSpPr>
          <p:cNvPr id="56" name="AutoShape 37"/>
          <p:cNvSpPr>
            <a:spLocks noChangeArrowheads="1"/>
          </p:cNvSpPr>
          <p:nvPr/>
        </p:nvSpPr>
        <p:spPr bwMode="auto">
          <a:xfrm>
            <a:off x="6143042" y="5128165"/>
            <a:ext cx="1135063" cy="571500"/>
          </a:xfrm>
          <a:prstGeom prst="wedgeRectCallout">
            <a:avLst>
              <a:gd name="adj1" fmla="val -49468"/>
              <a:gd name="adj2" fmla="val -105750"/>
            </a:avLst>
          </a:prstGeom>
          <a:solidFill>
            <a:schemeClr val="accent1"/>
          </a:solidFill>
          <a:ln w="9525">
            <a:solidFill>
              <a:schemeClr val="tx1"/>
            </a:solidFill>
            <a:miter lim="800000"/>
          </a:ln>
        </p:spPr>
        <p:txBody>
          <a:bodyP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buClr>
                <a:srgbClr val="000000"/>
              </a:buClr>
              <a:buSzPct val="100000"/>
            </a:pPr>
            <a:r>
              <a:rPr lang="zh-CN" altLang="zh-CN" sz="1600"/>
              <a:t>整数规划最优解</a:t>
            </a:r>
            <a:endParaRPr lang="zh-CN" altLang="zh-CN" sz="1600"/>
          </a:p>
          <a:p>
            <a:pPr eaLnBrk="1" hangingPunct="1">
              <a:buClr>
                <a:srgbClr val="000000"/>
              </a:buClr>
              <a:buSzPct val="100000"/>
            </a:pPr>
            <a:endParaRPr lang="zh-CN" altLang="zh-CN" sz="1600"/>
          </a:p>
        </p:txBody>
      </p:sp>
      <p:sp>
        <p:nvSpPr>
          <p:cNvPr id="57" name="星形: 五角 56"/>
          <p:cNvSpPr/>
          <p:nvPr/>
        </p:nvSpPr>
        <p:spPr>
          <a:xfrm>
            <a:off x="9505906" y="614537"/>
            <a:ext cx="687897" cy="545285"/>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anim calcmode="lin" valueType="num">
                                      <p:cBhvr additive="base">
                                        <p:cTn id="19" dur="500" fill="hold"/>
                                        <p:tgtEl>
                                          <p:spTgt spid="51"/>
                                        </p:tgtEl>
                                        <p:attrNameLst>
                                          <p:attrName>ppt_x</p:attrName>
                                        </p:attrNameLst>
                                      </p:cBhvr>
                                      <p:tavLst>
                                        <p:tav tm="0">
                                          <p:val>
                                            <p:strVal val="ppt_x"/>
                                          </p:val>
                                        </p:tav>
                                        <p:tav tm="100000">
                                          <p:val>
                                            <p:strVal val="ppt_x"/>
                                          </p:val>
                                        </p:tav>
                                      </p:tavLst>
                                    </p:anim>
                                    <p:anim calcmode="lin" valueType="num">
                                      <p:cBhvr additive="base">
                                        <p:cTn id="2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additive="base">
                                        <p:cTn id="29" dur="500" fill="hold"/>
                                        <p:tgtEl>
                                          <p:spTgt spid="44"/>
                                        </p:tgtEl>
                                        <p:attrNameLst>
                                          <p:attrName>ppt_x</p:attrName>
                                        </p:attrNameLst>
                                      </p:cBhvr>
                                      <p:tavLst>
                                        <p:tav tm="0">
                                          <p:val>
                                            <p:strVal val="ppt_x"/>
                                          </p:val>
                                        </p:tav>
                                        <p:tav tm="100000">
                                          <p:val>
                                            <p:strVal val="ppt_x"/>
                                          </p:val>
                                        </p:tav>
                                      </p:tavLst>
                                    </p:anim>
                                    <p:anim calcmode="lin" valueType="num">
                                      <p:cBhvr additive="base">
                                        <p:cTn id="30" dur="500" fill="hold"/>
                                        <p:tgtEl>
                                          <p:spTgt spid="4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anim calcmode="lin" valueType="num">
                                      <p:cBhvr additive="base">
                                        <p:cTn id="33" dur="500" fill="hold"/>
                                        <p:tgtEl>
                                          <p:spTgt spid="45"/>
                                        </p:tgtEl>
                                        <p:attrNameLst>
                                          <p:attrName>ppt_x</p:attrName>
                                        </p:attrNameLst>
                                      </p:cBhvr>
                                      <p:tavLst>
                                        <p:tav tm="0">
                                          <p:val>
                                            <p:strVal val="ppt_x"/>
                                          </p:val>
                                        </p:tav>
                                        <p:tav tm="100000">
                                          <p:val>
                                            <p:strVal val="ppt_x"/>
                                          </p:val>
                                        </p:tav>
                                      </p:tavLst>
                                    </p:anim>
                                    <p:anim calcmode="lin" valueType="num">
                                      <p:cBhvr additive="base">
                                        <p:cTn id="3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1" nodeType="clickEffect">
                                  <p:stCondLst>
                                    <p:cond delay="0"/>
                                  </p:stCondLst>
                                  <p:childTnLst>
                                    <p:anim calcmode="lin" valueType="num">
                                      <p:cBhvr additive="base">
                                        <p:cTn id="38" dur="500" fill="hold"/>
                                        <p:tgtEl>
                                          <p:spTgt spid="51"/>
                                        </p:tgtEl>
                                        <p:attrNameLst>
                                          <p:attrName>ppt_x</p:attrName>
                                        </p:attrNameLst>
                                      </p:cBhvr>
                                      <p:tavLst>
                                        <p:tav tm="0">
                                          <p:val>
                                            <p:strVal val="ppt_x"/>
                                          </p:val>
                                        </p:tav>
                                        <p:tav tm="100000">
                                          <p:val>
                                            <p:strVal val="ppt_x"/>
                                          </p:val>
                                        </p:tav>
                                      </p:tavLst>
                                    </p:anim>
                                    <p:anim calcmode="lin" valueType="num">
                                      <p:cBhvr additive="base">
                                        <p:cTn id="39" dur="500" fill="hold"/>
                                        <p:tgtEl>
                                          <p:spTgt spid="51"/>
                                        </p:tgtEl>
                                        <p:attrNameLst>
                                          <p:attrName>ppt_y</p:attrName>
                                        </p:attrNameLst>
                                      </p:cBhvr>
                                      <p:tavLst>
                                        <p:tav tm="0">
                                          <p:val>
                                            <p:strVal val="ppt_x"/>
                                          </p:val>
                                        </p:tav>
                                        <p:tav tm="100000">
                                          <p:val>
                                            <p:strVal val="1+ppt_h/2"/>
                                          </p:val>
                                        </p:tav>
                                      </p:tavLst>
                                    </p:anim>
                                    <p:set>
                                      <p:cBhvr>
                                        <p:cTn id="40" dur="1" fill="hold">
                                          <p:stCondLst>
                                            <p:cond delay="499"/>
                                          </p:stCondLst>
                                        </p:cTn>
                                        <p:tgtEl>
                                          <p:spTgt spid="51"/>
                                        </p:tgtEl>
                                        <p:attrNameLst>
                                          <p:attrName>style.visibility</p:attrName>
                                        </p:attrNameLst>
                                      </p:cBhvr>
                                      <p:to>
                                        <p:strVal val="hidden"/>
                                      </p:to>
                                    </p:set>
                                  </p:childTnLst>
                                </p:cTn>
                              </p:par>
                              <p:par>
                                <p:cTn id="41" presetID="2" presetClass="exit" presetSubtype="4" fill="hold" grpId="1" nodeType="withEffect">
                                  <p:stCondLst>
                                    <p:cond delay="0"/>
                                  </p:stCondLst>
                                  <p:childTnLst>
                                    <p:anim calcmode="lin" valueType="num">
                                      <p:cBhvr additive="base">
                                        <p:cTn id="42" dur="500" fill="hold"/>
                                        <p:tgtEl>
                                          <p:spTgt spid="50"/>
                                        </p:tgtEl>
                                        <p:attrNameLst>
                                          <p:attrName>ppt_x</p:attrName>
                                        </p:attrNameLst>
                                      </p:cBhvr>
                                      <p:tavLst>
                                        <p:tav tm="0">
                                          <p:val>
                                            <p:strVal val="ppt_x"/>
                                          </p:val>
                                        </p:tav>
                                        <p:tav tm="100000">
                                          <p:val>
                                            <p:strVal val="ppt_x"/>
                                          </p:val>
                                        </p:tav>
                                      </p:tavLst>
                                    </p:anim>
                                    <p:anim calcmode="lin" valueType="num">
                                      <p:cBhvr additive="base">
                                        <p:cTn id="43" dur="500" fill="hold"/>
                                        <p:tgtEl>
                                          <p:spTgt spid="50"/>
                                        </p:tgtEl>
                                        <p:attrNameLst>
                                          <p:attrName>ppt_y</p:attrName>
                                        </p:attrNameLst>
                                      </p:cBhvr>
                                      <p:tavLst>
                                        <p:tav tm="0">
                                          <p:val>
                                            <p:strVal val="ppt_x"/>
                                          </p:val>
                                        </p:tav>
                                        <p:tav tm="100000">
                                          <p:val>
                                            <p:strVal val="1+ppt_h/2"/>
                                          </p:val>
                                        </p:tav>
                                      </p:tavLst>
                                    </p:anim>
                                    <p:set>
                                      <p:cBhvr>
                                        <p:cTn id="44" dur="1" fill="hold">
                                          <p:stCondLst>
                                            <p:cond delay="499"/>
                                          </p:stCondLst>
                                        </p:cTn>
                                        <p:tgtEl>
                                          <p:spTgt spid="5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anim calcmode="lin" valueType="num">
                                      <p:cBhvr additive="base">
                                        <p:cTn id="49" dur="500" fill="hold"/>
                                        <p:tgtEl>
                                          <p:spTgt spid="36"/>
                                        </p:tgtEl>
                                        <p:attrNameLst>
                                          <p:attrName>ppt_x</p:attrName>
                                        </p:attrNameLst>
                                      </p:cBhvr>
                                      <p:tavLst>
                                        <p:tav tm="0">
                                          <p:val>
                                            <p:strVal val="ppt_x"/>
                                          </p:val>
                                        </p:tav>
                                        <p:tav tm="100000">
                                          <p:val>
                                            <p:strVal val="ppt_x"/>
                                          </p:val>
                                        </p:tav>
                                      </p:tavLst>
                                    </p:anim>
                                    <p:anim calcmode="lin" valueType="num">
                                      <p:cBhvr additive="base">
                                        <p:cTn id="50" dur="500" fill="hold"/>
                                        <p:tgtEl>
                                          <p:spTgt spid="3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additive="base">
                                        <p:cTn id="53" dur="500" fill="hold"/>
                                        <p:tgtEl>
                                          <p:spTgt spid="35"/>
                                        </p:tgtEl>
                                        <p:attrNameLst>
                                          <p:attrName>ppt_x</p:attrName>
                                        </p:attrNameLst>
                                      </p:cBhvr>
                                      <p:tavLst>
                                        <p:tav tm="0">
                                          <p:val>
                                            <p:strVal val="ppt_x"/>
                                          </p:val>
                                        </p:tav>
                                        <p:tav tm="100000">
                                          <p:val>
                                            <p:strVal val="ppt_x"/>
                                          </p:val>
                                        </p:tav>
                                      </p:tavLst>
                                    </p:anim>
                                    <p:anim calcmode="lin" valueType="num">
                                      <p:cBhvr additive="base">
                                        <p:cTn id="54"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anim calcmode="lin" valueType="num">
                                      <p:cBhvr additive="base">
                                        <p:cTn id="59" dur="500" fill="hold"/>
                                        <p:tgtEl>
                                          <p:spTgt spid="40"/>
                                        </p:tgtEl>
                                        <p:attrNameLst>
                                          <p:attrName>ppt_x</p:attrName>
                                        </p:attrNameLst>
                                      </p:cBhvr>
                                      <p:tavLst>
                                        <p:tav tm="0">
                                          <p:val>
                                            <p:strVal val="ppt_x"/>
                                          </p:val>
                                        </p:tav>
                                        <p:tav tm="100000">
                                          <p:val>
                                            <p:strVal val="ppt_x"/>
                                          </p:val>
                                        </p:tav>
                                      </p:tavLst>
                                    </p:anim>
                                    <p:anim calcmode="lin" valueType="num">
                                      <p:cBhvr additive="base">
                                        <p:cTn id="6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39"/>
                                        </p:tgtEl>
                                        <p:attrNameLst>
                                          <p:attrName>style.visibility</p:attrName>
                                        </p:attrNameLst>
                                      </p:cBhvr>
                                      <p:to>
                                        <p:strVal val="visible"/>
                                      </p:to>
                                    </p:set>
                                    <p:anim calcmode="lin" valueType="num">
                                      <p:cBhvr additive="base">
                                        <p:cTn id="65" dur="500" fill="hold"/>
                                        <p:tgtEl>
                                          <p:spTgt spid="39"/>
                                        </p:tgtEl>
                                        <p:attrNameLst>
                                          <p:attrName>ppt_x</p:attrName>
                                        </p:attrNameLst>
                                      </p:cBhvr>
                                      <p:tavLst>
                                        <p:tav tm="0">
                                          <p:val>
                                            <p:strVal val="ppt_x"/>
                                          </p:val>
                                        </p:tav>
                                        <p:tav tm="100000">
                                          <p:val>
                                            <p:strVal val="ppt_x"/>
                                          </p:val>
                                        </p:tav>
                                      </p:tavLst>
                                    </p:anim>
                                    <p:anim calcmode="lin" valueType="num">
                                      <p:cBhvr additive="base">
                                        <p:cTn id="66"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52"/>
                                        </p:tgtEl>
                                        <p:attrNameLst>
                                          <p:attrName>style.visibility</p:attrName>
                                        </p:attrNameLst>
                                      </p:cBhvr>
                                      <p:to>
                                        <p:strVal val="visible"/>
                                      </p:to>
                                    </p:set>
                                    <p:anim calcmode="lin" valueType="num">
                                      <p:cBhvr additive="base">
                                        <p:cTn id="71" dur="500" fill="hold"/>
                                        <p:tgtEl>
                                          <p:spTgt spid="52"/>
                                        </p:tgtEl>
                                        <p:attrNameLst>
                                          <p:attrName>ppt_x</p:attrName>
                                        </p:attrNameLst>
                                      </p:cBhvr>
                                      <p:tavLst>
                                        <p:tav tm="0">
                                          <p:val>
                                            <p:strVal val="ppt_x"/>
                                          </p:val>
                                        </p:tav>
                                        <p:tav tm="100000">
                                          <p:val>
                                            <p:strVal val="ppt_x"/>
                                          </p:val>
                                        </p:tav>
                                      </p:tavLst>
                                    </p:anim>
                                    <p:anim calcmode="lin" valueType="num">
                                      <p:cBhvr additive="base">
                                        <p:cTn id="7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additive="base">
                                        <p:cTn id="77" dur="500" fill="hold"/>
                                        <p:tgtEl>
                                          <p:spTgt spid="29"/>
                                        </p:tgtEl>
                                        <p:attrNameLst>
                                          <p:attrName>ppt_x</p:attrName>
                                        </p:attrNameLst>
                                      </p:cBhvr>
                                      <p:tavLst>
                                        <p:tav tm="0">
                                          <p:val>
                                            <p:strVal val="ppt_x"/>
                                          </p:val>
                                        </p:tav>
                                        <p:tav tm="100000">
                                          <p:val>
                                            <p:strVal val="ppt_x"/>
                                          </p:val>
                                        </p:tav>
                                      </p:tavLst>
                                    </p:anim>
                                    <p:anim calcmode="lin" valueType="num">
                                      <p:cBhvr additive="base">
                                        <p:cTn id="7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xit" presetSubtype="4" fill="hold" grpId="1" nodeType="clickEffect">
                                  <p:stCondLst>
                                    <p:cond delay="0"/>
                                  </p:stCondLst>
                                  <p:childTnLst>
                                    <p:anim calcmode="lin" valueType="num">
                                      <p:cBhvr additive="base">
                                        <p:cTn id="82" dur="500" fill="hold"/>
                                        <p:tgtEl>
                                          <p:spTgt spid="52"/>
                                        </p:tgtEl>
                                        <p:attrNameLst>
                                          <p:attrName>ppt_x</p:attrName>
                                        </p:attrNameLst>
                                      </p:cBhvr>
                                      <p:tavLst>
                                        <p:tav tm="0">
                                          <p:val>
                                            <p:strVal val="ppt_x"/>
                                          </p:val>
                                        </p:tav>
                                        <p:tav tm="100000">
                                          <p:val>
                                            <p:strVal val="ppt_x"/>
                                          </p:val>
                                        </p:tav>
                                      </p:tavLst>
                                    </p:anim>
                                    <p:anim calcmode="lin" valueType="num">
                                      <p:cBhvr additive="base">
                                        <p:cTn id="83" dur="500" fill="hold"/>
                                        <p:tgtEl>
                                          <p:spTgt spid="52"/>
                                        </p:tgtEl>
                                        <p:attrNameLst>
                                          <p:attrName>ppt_y</p:attrName>
                                        </p:attrNameLst>
                                      </p:cBhvr>
                                      <p:tavLst>
                                        <p:tav tm="0">
                                          <p:val>
                                            <p:strVal val="ppt_x"/>
                                          </p:val>
                                        </p:tav>
                                        <p:tav tm="100000">
                                          <p:val>
                                            <p:strVal val="1+ppt_h/2"/>
                                          </p:val>
                                        </p:tav>
                                      </p:tavLst>
                                    </p:anim>
                                    <p:set>
                                      <p:cBhvr>
                                        <p:cTn id="84" dur="1" fill="hold">
                                          <p:stCondLst>
                                            <p:cond delay="499"/>
                                          </p:stCondLst>
                                        </p:cTn>
                                        <p:tgtEl>
                                          <p:spTgt spid="52"/>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53"/>
                                        </p:tgtEl>
                                        <p:attrNameLst>
                                          <p:attrName>style.visibility</p:attrName>
                                        </p:attrNameLst>
                                      </p:cBhvr>
                                      <p:to>
                                        <p:strVal val="visible"/>
                                      </p:to>
                                    </p:set>
                                    <p:anim calcmode="lin" valueType="num">
                                      <p:cBhvr additive="base">
                                        <p:cTn id="89" dur="500" fill="hold"/>
                                        <p:tgtEl>
                                          <p:spTgt spid="53"/>
                                        </p:tgtEl>
                                        <p:attrNameLst>
                                          <p:attrName>ppt_x</p:attrName>
                                        </p:attrNameLst>
                                      </p:cBhvr>
                                      <p:tavLst>
                                        <p:tav tm="0">
                                          <p:val>
                                            <p:strVal val="ppt_x"/>
                                          </p:val>
                                        </p:tav>
                                        <p:tav tm="100000">
                                          <p:val>
                                            <p:strVal val="ppt_x"/>
                                          </p:val>
                                        </p:tav>
                                      </p:tavLst>
                                    </p:anim>
                                    <p:anim calcmode="lin" valueType="num">
                                      <p:cBhvr additive="base">
                                        <p:cTn id="9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30"/>
                                        </p:tgtEl>
                                        <p:attrNameLst>
                                          <p:attrName>style.visibility</p:attrName>
                                        </p:attrNameLst>
                                      </p:cBhvr>
                                      <p:to>
                                        <p:strVal val="visible"/>
                                      </p:to>
                                    </p:set>
                                    <p:anim calcmode="lin" valueType="num">
                                      <p:cBhvr additive="base">
                                        <p:cTn id="95" dur="500" fill="hold"/>
                                        <p:tgtEl>
                                          <p:spTgt spid="30"/>
                                        </p:tgtEl>
                                        <p:attrNameLst>
                                          <p:attrName>ppt_x</p:attrName>
                                        </p:attrNameLst>
                                      </p:cBhvr>
                                      <p:tavLst>
                                        <p:tav tm="0">
                                          <p:val>
                                            <p:strVal val="ppt_x"/>
                                          </p:val>
                                        </p:tav>
                                        <p:tav tm="100000">
                                          <p:val>
                                            <p:strVal val="ppt_x"/>
                                          </p:val>
                                        </p:tav>
                                      </p:tavLst>
                                    </p:anim>
                                    <p:anim calcmode="lin" valueType="num">
                                      <p:cBhvr additive="base">
                                        <p:cTn id="9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xit" presetSubtype="4" fill="hold" grpId="1" nodeType="clickEffect">
                                  <p:stCondLst>
                                    <p:cond delay="0"/>
                                  </p:stCondLst>
                                  <p:childTnLst>
                                    <p:anim calcmode="lin" valueType="num">
                                      <p:cBhvr additive="base">
                                        <p:cTn id="100" dur="500" fill="hold"/>
                                        <p:tgtEl>
                                          <p:spTgt spid="53"/>
                                        </p:tgtEl>
                                        <p:attrNameLst>
                                          <p:attrName>ppt_x</p:attrName>
                                        </p:attrNameLst>
                                      </p:cBhvr>
                                      <p:tavLst>
                                        <p:tav tm="0">
                                          <p:val>
                                            <p:strVal val="ppt_x"/>
                                          </p:val>
                                        </p:tav>
                                        <p:tav tm="100000">
                                          <p:val>
                                            <p:strVal val="ppt_x"/>
                                          </p:val>
                                        </p:tav>
                                      </p:tavLst>
                                    </p:anim>
                                    <p:anim calcmode="lin" valueType="num">
                                      <p:cBhvr additive="base">
                                        <p:cTn id="101" dur="500" fill="hold"/>
                                        <p:tgtEl>
                                          <p:spTgt spid="53"/>
                                        </p:tgtEl>
                                        <p:attrNameLst>
                                          <p:attrName>ppt_y</p:attrName>
                                        </p:attrNameLst>
                                      </p:cBhvr>
                                      <p:tavLst>
                                        <p:tav tm="0">
                                          <p:val>
                                            <p:strVal val="ppt_x"/>
                                          </p:val>
                                        </p:tav>
                                        <p:tav tm="100000">
                                          <p:val>
                                            <p:strVal val="1+ppt_h/2"/>
                                          </p:val>
                                        </p:tav>
                                      </p:tavLst>
                                    </p:anim>
                                    <p:set>
                                      <p:cBhvr>
                                        <p:cTn id="102" dur="1" fill="hold">
                                          <p:stCondLst>
                                            <p:cond delay="499"/>
                                          </p:stCondLst>
                                        </p:cTn>
                                        <p:tgtEl>
                                          <p:spTgt spid="53"/>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 calcmode="lin" valueType="num">
                                      <p:cBhvr additive="base">
                                        <p:cTn id="111" dur="500" fill="hold"/>
                                        <p:tgtEl>
                                          <p:spTgt spid="47"/>
                                        </p:tgtEl>
                                        <p:attrNameLst>
                                          <p:attrName>ppt_x</p:attrName>
                                        </p:attrNameLst>
                                      </p:cBhvr>
                                      <p:tavLst>
                                        <p:tav tm="0">
                                          <p:val>
                                            <p:strVal val="ppt_x"/>
                                          </p:val>
                                        </p:tav>
                                        <p:tav tm="100000">
                                          <p:val>
                                            <p:strVal val="ppt_x"/>
                                          </p:val>
                                        </p:tav>
                                      </p:tavLst>
                                    </p:anim>
                                    <p:anim calcmode="lin" valueType="num">
                                      <p:cBhvr additive="base">
                                        <p:cTn id="112" dur="500" fill="hold"/>
                                        <p:tgtEl>
                                          <p:spTgt spid="47"/>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43"/>
                                        </p:tgtEl>
                                        <p:attrNameLst>
                                          <p:attrName>style.visibility</p:attrName>
                                        </p:attrNameLst>
                                      </p:cBhvr>
                                      <p:to>
                                        <p:strVal val="visible"/>
                                      </p:to>
                                    </p:set>
                                    <p:anim calcmode="lin" valueType="num">
                                      <p:cBhvr additive="base">
                                        <p:cTn id="115" dur="500" fill="hold"/>
                                        <p:tgtEl>
                                          <p:spTgt spid="43"/>
                                        </p:tgtEl>
                                        <p:attrNameLst>
                                          <p:attrName>ppt_x</p:attrName>
                                        </p:attrNameLst>
                                      </p:cBhvr>
                                      <p:tavLst>
                                        <p:tav tm="0">
                                          <p:val>
                                            <p:strVal val="ppt_x"/>
                                          </p:val>
                                        </p:tav>
                                        <p:tav tm="100000">
                                          <p:val>
                                            <p:strVal val="ppt_x"/>
                                          </p:val>
                                        </p:tav>
                                      </p:tavLst>
                                    </p:anim>
                                    <p:anim calcmode="lin" valueType="num">
                                      <p:cBhvr additive="base">
                                        <p:cTn id="11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49"/>
                                        </p:tgtEl>
                                        <p:attrNameLst>
                                          <p:attrName>style.visibility</p:attrName>
                                        </p:attrNameLst>
                                      </p:cBhvr>
                                      <p:to>
                                        <p:strVal val="visible"/>
                                      </p:to>
                                    </p:set>
                                    <p:anim calcmode="lin" valueType="num">
                                      <p:cBhvr additive="base">
                                        <p:cTn id="121" dur="500" fill="hold"/>
                                        <p:tgtEl>
                                          <p:spTgt spid="49"/>
                                        </p:tgtEl>
                                        <p:attrNameLst>
                                          <p:attrName>ppt_x</p:attrName>
                                        </p:attrNameLst>
                                      </p:cBhvr>
                                      <p:tavLst>
                                        <p:tav tm="0">
                                          <p:val>
                                            <p:strVal val="ppt_x"/>
                                          </p:val>
                                        </p:tav>
                                        <p:tav tm="100000">
                                          <p:val>
                                            <p:strVal val="ppt_x"/>
                                          </p:val>
                                        </p:tav>
                                      </p:tavLst>
                                    </p:anim>
                                    <p:anim calcmode="lin" valueType="num">
                                      <p:cBhvr additive="base">
                                        <p:cTn id="12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38"/>
                                        </p:tgtEl>
                                        <p:attrNameLst>
                                          <p:attrName>style.visibility</p:attrName>
                                        </p:attrNameLst>
                                      </p:cBhvr>
                                      <p:to>
                                        <p:strVal val="visible"/>
                                      </p:to>
                                    </p:set>
                                    <p:anim calcmode="lin" valueType="num">
                                      <p:cBhvr additive="base">
                                        <p:cTn id="127" dur="500" fill="hold"/>
                                        <p:tgtEl>
                                          <p:spTgt spid="38"/>
                                        </p:tgtEl>
                                        <p:attrNameLst>
                                          <p:attrName>ppt_x</p:attrName>
                                        </p:attrNameLst>
                                      </p:cBhvr>
                                      <p:tavLst>
                                        <p:tav tm="0">
                                          <p:val>
                                            <p:strVal val="ppt_x"/>
                                          </p:val>
                                        </p:tav>
                                        <p:tav tm="100000">
                                          <p:val>
                                            <p:strVal val="ppt_x"/>
                                          </p:val>
                                        </p:tav>
                                      </p:tavLst>
                                    </p:anim>
                                    <p:anim calcmode="lin" valueType="num">
                                      <p:cBhvr additive="base">
                                        <p:cTn id="128" dur="500" fill="hold"/>
                                        <p:tgtEl>
                                          <p:spTgt spid="38"/>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37"/>
                                        </p:tgtEl>
                                        <p:attrNameLst>
                                          <p:attrName>style.visibility</p:attrName>
                                        </p:attrNameLst>
                                      </p:cBhvr>
                                      <p:to>
                                        <p:strVal val="visible"/>
                                      </p:to>
                                    </p:set>
                                    <p:anim calcmode="lin" valueType="num">
                                      <p:cBhvr additive="base">
                                        <p:cTn id="131" dur="500" fill="hold"/>
                                        <p:tgtEl>
                                          <p:spTgt spid="37"/>
                                        </p:tgtEl>
                                        <p:attrNameLst>
                                          <p:attrName>ppt_x</p:attrName>
                                        </p:attrNameLst>
                                      </p:cBhvr>
                                      <p:tavLst>
                                        <p:tav tm="0">
                                          <p:val>
                                            <p:strVal val="ppt_x"/>
                                          </p:val>
                                        </p:tav>
                                        <p:tav tm="100000">
                                          <p:val>
                                            <p:strVal val="ppt_x"/>
                                          </p:val>
                                        </p:tav>
                                      </p:tavLst>
                                    </p:anim>
                                    <p:anim calcmode="lin" valueType="num">
                                      <p:cBhvr additive="base">
                                        <p:cTn id="13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grpId="0" nodeType="clickEffect">
                                  <p:stCondLst>
                                    <p:cond delay="0"/>
                                  </p:stCondLst>
                                  <p:childTnLst>
                                    <p:set>
                                      <p:cBhvr>
                                        <p:cTn id="136" dur="1" fill="hold">
                                          <p:stCondLst>
                                            <p:cond delay="0"/>
                                          </p:stCondLst>
                                        </p:cTn>
                                        <p:tgtEl>
                                          <p:spTgt spid="41"/>
                                        </p:tgtEl>
                                        <p:attrNameLst>
                                          <p:attrName>style.visibility</p:attrName>
                                        </p:attrNameLst>
                                      </p:cBhvr>
                                      <p:to>
                                        <p:strVal val="visible"/>
                                      </p:to>
                                    </p:set>
                                    <p:anim calcmode="lin" valueType="num">
                                      <p:cBhvr additive="base">
                                        <p:cTn id="137" dur="500" fill="hold"/>
                                        <p:tgtEl>
                                          <p:spTgt spid="41"/>
                                        </p:tgtEl>
                                        <p:attrNameLst>
                                          <p:attrName>ppt_x</p:attrName>
                                        </p:attrNameLst>
                                      </p:cBhvr>
                                      <p:tavLst>
                                        <p:tav tm="0">
                                          <p:val>
                                            <p:strVal val="ppt_x"/>
                                          </p:val>
                                        </p:tav>
                                        <p:tav tm="100000">
                                          <p:val>
                                            <p:strVal val="ppt_x"/>
                                          </p:val>
                                        </p:tav>
                                      </p:tavLst>
                                    </p:anim>
                                    <p:anim calcmode="lin" valueType="num">
                                      <p:cBhvr additive="base">
                                        <p:cTn id="13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grpId="0" nodeType="clickEffect">
                                  <p:stCondLst>
                                    <p:cond delay="0"/>
                                  </p:stCondLst>
                                  <p:childTnLst>
                                    <p:set>
                                      <p:cBhvr>
                                        <p:cTn id="142" dur="1" fill="hold">
                                          <p:stCondLst>
                                            <p:cond delay="0"/>
                                          </p:stCondLst>
                                        </p:cTn>
                                        <p:tgtEl>
                                          <p:spTgt spid="42"/>
                                        </p:tgtEl>
                                        <p:attrNameLst>
                                          <p:attrName>style.visibility</p:attrName>
                                        </p:attrNameLst>
                                      </p:cBhvr>
                                      <p:to>
                                        <p:strVal val="visible"/>
                                      </p:to>
                                    </p:set>
                                    <p:anim calcmode="lin" valueType="num">
                                      <p:cBhvr additive="base">
                                        <p:cTn id="143" dur="500" fill="hold"/>
                                        <p:tgtEl>
                                          <p:spTgt spid="42"/>
                                        </p:tgtEl>
                                        <p:attrNameLst>
                                          <p:attrName>ppt_x</p:attrName>
                                        </p:attrNameLst>
                                      </p:cBhvr>
                                      <p:tavLst>
                                        <p:tav tm="0">
                                          <p:val>
                                            <p:strVal val="ppt_x"/>
                                          </p:val>
                                        </p:tav>
                                        <p:tav tm="100000">
                                          <p:val>
                                            <p:strVal val="ppt_x"/>
                                          </p:val>
                                        </p:tav>
                                      </p:tavLst>
                                    </p:anim>
                                    <p:anim calcmode="lin" valueType="num">
                                      <p:cBhvr additive="base">
                                        <p:cTn id="14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2" presetClass="entr" presetSubtype="4" fill="hold" grpId="0" nodeType="clickEffect">
                                  <p:stCondLst>
                                    <p:cond delay="0"/>
                                  </p:stCondLst>
                                  <p:childTnLst>
                                    <p:set>
                                      <p:cBhvr>
                                        <p:cTn id="148" dur="1" fill="hold">
                                          <p:stCondLst>
                                            <p:cond delay="0"/>
                                          </p:stCondLst>
                                        </p:cTn>
                                        <p:tgtEl>
                                          <p:spTgt spid="55"/>
                                        </p:tgtEl>
                                        <p:attrNameLst>
                                          <p:attrName>style.visibility</p:attrName>
                                        </p:attrNameLst>
                                      </p:cBhvr>
                                      <p:to>
                                        <p:strVal val="visible"/>
                                      </p:to>
                                    </p:set>
                                    <p:anim calcmode="lin" valueType="num">
                                      <p:cBhvr additive="base">
                                        <p:cTn id="149" dur="500" fill="hold"/>
                                        <p:tgtEl>
                                          <p:spTgt spid="55"/>
                                        </p:tgtEl>
                                        <p:attrNameLst>
                                          <p:attrName>ppt_x</p:attrName>
                                        </p:attrNameLst>
                                      </p:cBhvr>
                                      <p:tavLst>
                                        <p:tav tm="0">
                                          <p:val>
                                            <p:strVal val="ppt_x"/>
                                          </p:val>
                                        </p:tav>
                                        <p:tav tm="100000">
                                          <p:val>
                                            <p:strVal val="ppt_x"/>
                                          </p:val>
                                        </p:tav>
                                      </p:tavLst>
                                    </p:anim>
                                    <p:anim calcmode="lin" valueType="num">
                                      <p:cBhvr additive="base">
                                        <p:cTn id="150"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2" presetClass="entr" presetSubtype="4" fill="hold" grpId="0" nodeType="clickEffect">
                                  <p:stCondLst>
                                    <p:cond delay="0"/>
                                  </p:stCondLst>
                                  <p:childTnLst>
                                    <p:set>
                                      <p:cBhvr>
                                        <p:cTn id="154" dur="1" fill="hold">
                                          <p:stCondLst>
                                            <p:cond delay="0"/>
                                          </p:stCondLst>
                                        </p:cTn>
                                        <p:tgtEl>
                                          <p:spTgt spid="34"/>
                                        </p:tgtEl>
                                        <p:attrNameLst>
                                          <p:attrName>style.visibility</p:attrName>
                                        </p:attrNameLst>
                                      </p:cBhvr>
                                      <p:to>
                                        <p:strVal val="visible"/>
                                      </p:to>
                                    </p:set>
                                    <p:anim calcmode="lin" valueType="num">
                                      <p:cBhvr additive="base">
                                        <p:cTn id="155" dur="500" fill="hold"/>
                                        <p:tgtEl>
                                          <p:spTgt spid="34"/>
                                        </p:tgtEl>
                                        <p:attrNameLst>
                                          <p:attrName>ppt_x</p:attrName>
                                        </p:attrNameLst>
                                      </p:cBhvr>
                                      <p:tavLst>
                                        <p:tav tm="0">
                                          <p:val>
                                            <p:strVal val="ppt_x"/>
                                          </p:val>
                                        </p:tav>
                                        <p:tav tm="100000">
                                          <p:val>
                                            <p:strVal val="ppt_x"/>
                                          </p:val>
                                        </p:tav>
                                      </p:tavLst>
                                    </p:anim>
                                    <p:anim calcmode="lin" valueType="num">
                                      <p:cBhvr additive="base">
                                        <p:cTn id="15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2" presetClass="exit" presetSubtype="4" fill="hold" grpId="1" nodeType="clickEffect">
                                  <p:stCondLst>
                                    <p:cond delay="0"/>
                                  </p:stCondLst>
                                  <p:childTnLst>
                                    <p:anim calcmode="lin" valueType="num">
                                      <p:cBhvr additive="base">
                                        <p:cTn id="160" dur="500" fill="hold"/>
                                        <p:tgtEl>
                                          <p:spTgt spid="55"/>
                                        </p:tgtEl>
                                        <p:attrNameLst>
                                          <p:attrName>ppt_x</p:attrName>
                                        </p:attrNameLst>
                                      </p:cBhvr>
                                      <p:tavLst>
                                        <p:tav tm="0">
                                          <p:val>
                                            <p:strVal val="ppt_x"/>
                                          </p:val>
                                        </p:tav>
                                        <p:tav tm="100000">
                                          <p:val>
                                            <p:strVal val="ppt_x"/>
                                          </p:val>
                                        </p:tav>
                                      </p:tavLst>
                                    </p:anim>
                                    <p:anim calcmode="lin" valueType="num">
                                      <p:cBhvr additive="base">
                                        <p:cTn id="161" dur="500" fill="hold"/>
                                        <p:tgtEl>
                                          <p:spTgt spid="55"/>
                                        </p:tgtEl>
                                        <p:attrNameLst>
                                          <p:attrName>ppt_y</p:attrName>
                                        </p:attrNameLst>
                                      </p:cBhvr>
                                      <p:tavLst>
                                        <p:tav tm="0">
                                          <p:val>
                                            <p:strVal val="ppt_x"/>
                                          </p:val>
                                        </p:tav>
                                        <p:tav tm="100000">
                                          <p:val>
                                            <p:strVal val="1+ppt_h/2"/>
                                          </p:val>
                                        </p:tav>
                                      </p:tavLst>
                                    </p:anim>
                                    <p:set>
                                      <p:cBhvr>
                                        <p:cTn id="162" dur="1" fill="hold">
                                          <p:stCondLst>
                                            <p:cond delay="499"/>
                                          </p:stCondLst>
                                        </p:cTn>
                                        <p:tgtEl>
                                          <p:spTgt spid="55"/>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2" presetClass="entr" presetSubtype="4" fill="hold" grpId="0" nodeType="clickEffect">
                                  <p:stCondLst>
                                    <p:cond delay="0"/>
                                  </p:stCondLst>
                                  <p:childTnLst>
                                    <p:set>
                                      <p:cBhvr>
                                        <p:cTn id="166" dur="1" fill="hold">
                                          <p:stCondLst>
                                            <p:cond delay="0"/>
                                          </p:stCondLst>
                                        </p:cTn>
                                        <p:tgtEl>
                                          <p:spTgt spid="54"/>
                                        </p:tgtEl>
                                        <p:attrNameLst>
                                          <p:attrName>style.visibility</p:attrName>
                                        </p:attrNameLst>
                                      </p:cBhvr>
                                      <p:to>
                                        <p:strVal val="visible"/>
                                      </p:to>
                                    </p:set>
                                    <p:anim calcmode="lin" valueType="num">
                                      <p:cBhvr additive="base">
                                        <p:cTn id="167" dur="500" fill="hold"/>
                                        <p:tgtEl>
                                          <p:spTgt spid="54"/>
                                        </p:tgtEl>
                                        <p:attrNameLst>
                                          <p:attrName>ppt_x</p:attrName>
                                        </p:attrNameLst>
                                      </p:cBhvr>
                                      <p:tavLst>
                                        <p:tav tm="0">
                                          <p:val>
                                            <p:strVal val="ppt_x"/>
                                          </p:val>
                                        </p:tav>
                                        <p:tav tm="100000">
                                          <p:val>
                                            <p:strVal val="ppt_x"/>
                                          </p:val>
                                        </p:tav>
                                      </p:tavLst>
                                    </p:anim>
                                    <p:anim calcmode="lin" valueType="num">
                                      <p:cBhvr additive="base">
                                        <p:cTn id="16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2" presetClass="entr" presetSubtype="4" fill="hold" grpId="0" nodeType="clickEffect">
                                  <p:stCondLst>
                                    <p:cond delay="0"/>
                                  </p:stCondLst>
                                  <p:childTnLst>
                                    <p:set>
                                      <p:cBhvr>
                                        <p:cTn id="172" dur="1" fill="hold">
                                          <p:stCondLst>
                                            <p:cond delay="0"/>
                                          </p:stCondLst>
                                        </p:cTn>
                                        <p:tgtEl>
                                          <p:spTgt spid="33"/>
                                        </p:tgtEl>
                                        <p:attrNameLst>
                                          <p:attrName>style.visibility</p:attrName>
                                        </p:attrNameLst>
                                      </p:cBhvr>
                                      <p:to>
                                        <p:strVal val="visible"/>
                                      </p:to>
                                    </p:set>
                                    <p:anim calcmode="lin" valueType="num">
                                      <p:cBhvr additive="base">
                                        <p:cTn id="173" dur="500" fill="hold"/>
                                        <p:tgtEl>
                                          <p:spTgt spid="33"/>
                                        </p:tgtEl>
                                        <p:attrNameLst>
                                          <p:attrName>ppt_x</p:attrName>
                                        </p:attrNameLst>
                                      </p:cBhvr>
                                      <p:tavLst>
                                        <p:tav tm="0">
                                          <p:val>
                                            <p:strVal val="ppt_x"/>
                                          </p:val>
                                        </p:tav>
                                        <p:tav tm="100000">
                                          <p:val>
                                            <p:strVal val="ppt_x"/>
                                          </p:val>
                                        </p:tav>
                                      </p:tavLst>
                                    </p:anim>
                                    <p:anim calcmode="lin" valueType="num">
                                      <p:cBhvr additive="base">
                                        <p:cTn id="17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2" presetClass="entr" presetSubtype="4" fill="hold" grpId="0" nodeType="clickEffect">
                                  <p:stCondLst>
                                    <p:cond delay="0"/>
                                  </p:stCondLst>
                                  <p:childTnLst>
                                    <p:set>
                                      <p:cBhvr>
                                        <p:cTn id="178" dur="1" fill="hold">
                                          <p:stCondLst>
                                            <p:cond delay="0"/>
                                          </p:stCondLst>
                                        </p:cTn>
                                        <p:tgtEl>
                                          <p:spTgt spid="32"/>
                                        </p:tgtEl>
                                        <p:attrNameLst>
                                          <p:attrName>style.visibility</p:attrName>
                                        </p:attrNameLst>
                                      </p:cBhvr>
                                      <p:to>
                                        <p:strVal val="visible"/>
                                      </p:to>
                                    </p:set>
                                    <p:anim calcmode="lin" valueType="num">
                                      <p:cBhvr additive="base">
                                        <p:cTn id="179" dur="500" fill="hold"/>
                                        <p:tgtEl>
                                          <p:spTgt spid="32"/>
                                        </p:tgtEl>
                                        <p:attrNameLst>
                                          <p:attrName>ppt_x</p:attrName>
                                        </p:attrNameLst>
                                      </p:cBhvr>
                                      <p:tavLst>
                                        <p:tav tm="0">
                                          <p:val>
                                            <p:strVal val="ppt_x"/>
                                          </p:val>
                                        </p:tav>
                                        <p:tav tm="100000">
                                          <p:val>
                                            <p:strVal val="ppt_x"/>
                                          </p:val>
                                        </p:tav>
                                      </p:tavLst>
                                    </p:anim>
                                    <p:anim calcmode="lin" valueType="num">
                                      <p:cBhvr additive="base">
                                        <p:cTn id="180" dur="500" fill="hold"/>
                                        <p:tgtEl>
                                          <p:spTgt spid="32"/>
                                        </p:tgtEl>
                                        <p:attrNameLst>
                                          <p:attrName>ppt_y</p:attrName>
                                        </p:attrNameLst>
                                      </p:cBhvr>
                                      <p:tavLst>
                                        <p:tav tm="0">
                                          <p:val>
                                            <p:strVal val="1+#ppt_h/2"/>
                                          </p:val>
                                        </p:tav>
                                        <p:tav tm="100000">
                                          <p:val>
                                            <p:strVal val="ppt_y"/>
                                          </p:val>
                                        </p:tav>
                                      </p:tavLst>
                                    </p:anim>
                                  </p:childTnLst>
                                </p:cTn>
                              </p:par>
                              <p:par>
                                <p:cTn id="181" presetID="2" presetClass="entr" presetSubtype="4" fill="hold" nodeType="withEffect">
                                  <p:stCondLst>
                                    <p:cond delay="0"/>
                                  </p:stCondLst>
                                  <p:childTnLst>
                                    <p:set>
                                      <p:cBhvr>
                                        <p:cTn id="182" dur="1" fill="hold">
                                          <p:stCondLst>
                                            <p:cond delay="0"/>
                                          </p:stCondLst>
                                        </p:cTn>
                                        <p:tgtEl>
                                          <p:spTgt spid="46"/>
                                        </p:tgtEl>
                                        <p:attrNameLst>
                                          <p:attrName>style.visibility</p:attrName>
                                        </p:attrNameLst>
                                      </p:cBhvr>
                                      <p:to>
                                        <p:strVal val="visible"/>
                                      </p:to>
                                    </p:set>
                                    <p:anim calcmode="lin" valueType="num">
                                      <p:cBhvr additive="base">
                                        <p:cTn id="183" dur="500" fill="hold"/>
                                        <p:tgtEl>
                                          <p:spTgt spid="46"/>
                                        </p:tgtEl>
                                        <p:attrNameLst>
                                          <p:attrName>ppt_x</p:attrName>
                                        </p:attrNameLst>
                                      </p:cBhvr>
                                      <p:tavLst>
                                        <p:tav tm="0">
                                          <p:val>
                                            <p:strVal val="ppt_x"/>
                                          </p:val>
                                        </p:tav>
                                        <p:tav tm="100000">
                                          <p:val>
                                            <p:strVal val="ppt_x"/>
                                          </p:val>
                                        </p:tav>
                                      </p:tavLst>
                                    </p:anim>
                                    <p:anim calcmode="lin" valueType="num">
                                      <p:cBhvr additive="base">
                                        <p:cTn id="184" dur="500" fill="hold"/>
                                        <p:tgtEl>
                                          <p:spTgt spid="46"/>
                                        </p:tgtEl>
                                        <p:attrNameLst>
                                          <p:attrName>ppt_y</p:attrName>
                                        </p:attrNameLst>
                                      </p:cBhvr>
                                      <p:tavLst>
                                        <p:tav tm="0">
                                          <p:val>
                                            <p:strVal val="1+#ppt_h/2"/>
                                          </p:val>
                                        </p:tav>
                                        <p:tav tm="100000">
                                          <p:val>
                                            <p:strVal val="ppt_y"/>
                                          </p:val>
                                        </p:tav>
                                      </p:tavLst>
                                    </p:anim>
                                  </p:childTnLst>
                                </p:cTn>
                              </p:par>
                              <p:par>
                                <p:cTn id="185" presetID="2" presetClass="entr" presetSubtype="4" fill="hold" nodeType="withEffect">
                                  <p:stCondLst>
                                    <p:cond delay="0"/>
                                  </p:stCondLst>
                                  <p:childTnLst>
                                    <p:set>
                                      <p:cBhvr>
                                        <p:cTn id="186" dur="1" fill="hold">
                                          <p:stCondLst>
                                            <p:cond delay="0"/>
                                          </p:stCondLst>
                                        </p:cTn>
                                        <p:tgtEl>
                                          <p:spTgt spid="48"/>
                                        </p:tgtEl>
                                        <p:attrNameLst>
                                          <p:attrName>style.visibility</p:attrName>
                                        </p:attrNameLst>
                                      </p:cBhvr>
                                      <p:to>
                                        <p:strVal val="visible"/>
                                      </p:to>
                                    </p:set>
                                    <p:anim calcmode="lin" valueType="num">
                                      <p:cBhvr additive="base">
                                        <p:cTn id="187" dur="500" fill="hold"/>
                                        <p:tgtEl>
                                          <p:spTgt spid="48"/>
                                        </p:tgtEl>
                                        <p:attrNameLst>
                                          <p:attrName>ppt_x</p:attrName>
                                        </p:attrNameLst>
                                      </p:cBhvr>
                                      <p:tavLst>
                                        <p:tav tm="0">
                                          <p:val>
                                            <p:strVal val="ppt_x"/>
                                          </p:val>
                                        </p:tav>
                                        <p:tav tm="100000">
                                          <p:val>
                                            <p:strVal val="ppt_x"/>
                                          </p:val>
                                        </p:tav>
                                      </p:tavLst>
                                    </p:anim>
                                    <p:anim calcmode="lin" valueType="num">
                                      <p:cBhvr additive="base">
                                        <p:cTn id="18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xit" presetSubtype="4" fill="hold" grpId="1" nodeType="clickEffect">
                                  <p:stCondLst>
                                    <p:cond delay="0"/>
                                  </p:stCondLst>
                                  <p:childTnLst>
                                    <p:anim calcmode="lin" valueType="num">
                                      <p:cBhvr additive="base">
                                        <p:cTn id="192" dur="500" fill="hold"/>
                                        <p:tgtEl>
                                          <p:spTgt spid="54"/>
                                        </p:tgtEl>
                                        <p:attrNameLst>
                                          <p:attrName>ppt_x</p:attrName>
                                        </p:attrNameLst>
                                      </p:cBhvr>
                                      <p:tavLst>
                                        <p:tav tm="0">
                                          <p:val>
                                            <p:strVal val="ppt_x"/>
                                          </p:val>
                                        </p:tav>
                                        <p:tav tm="100000">
                                          <p:val>
                                            <p:strVal val="ppt_x"/>
                                          </p:val>
                                        </p:tav>
                                      </p:tavLst>
                                    </p:anim>
                                    <p:anim calcmode="lin" valueType="num">
                                      <p:cBhvr additive="base">
                                        <p:cTn id="193" dur="500" fill="hold"/>
                                        <p:tgtEl>
                                          <p:spTgt spid="54"/>
                                        </p:tgtEl>
                                        <p:attrNameLst>
                                          <p:attrName>ppt_y</p:attrName>
                                        </p:attrNameLst>
                                      </p:cBhvr>
                                      <p:tavLst>
                                        <p:tav tm="0">
                                          <p:val>
                                            <p:strVal val="ppt_x"/>
                                          </p:val>
                                        </p:tav>
                                        <p:tav tm="100000">
                                          <p:val>
                                            <p:strVal val="1+ppt_h/2"/>
                                          </p:val>
                                        </p:tav>
                                      </p:tavLst>
                                    </p:anim>
                                    <p:set>
                                      <p:cBhvr>
                                        <p:cTn id="194" dur="1" fill="hold">
                                          <p:stCondLst>
                                            <p:cond delay="499"/>
                                          </p:stCondLst>
                                        </p:cTn>
                                        <p:tgtEl>
                                          <p:spTgt spid="54"/>
                                        </p:tgtEl>
                                        <p:attrNameLst>
                                          <p:attrName>style.visibility</p:attrName>
                                        </p:attrNameLst>
                                      </p:cBhvr>
                                      <p:to>
                                        <p:strVal val="hidden"/>
                                      </p:to>
                                    </p:set>
                                  </p:childTnLst>
                                </p:cTn>
                              </p:par>
                            </p:childTnLst>
                          </p:cTn>
                        </p:par>
                      </p:childTnLst>
                    </p:cTn>
                  </p:par>
                  <p:par>
                    <p:cTn id="195" fill="hold">
                      <p:stCondLst>
                        <p:cond delay="indefinite"/>
                      </p:stCondLst>
                      <p:childTnLst>
                        <p:par>
                          <p:cTn id="196" fill="hold">
                            <p:stCondLst>
                              <p:cond delay="0"/>
                            </p:stCondLst>
                            <p:childTnLst>
                              <p:par>
                                <p:cTn id="197" presetID="2" presetClass="entr" presetSubtype="4" fill="hold" grpId="0" nodeType="clickEffect">
                                  <p:stCondLst>
                                    <p:cond delay="0"/>
                                  </p:stCondLst>
                                  <p:childTnLst>
                                    <p:set>
                                      <p:cBhvr>
                                        <p:cTn id="198" dur="1" fill="hold">
                                          <p:stCondLst>
                                            <p:cond delay="0"/>
                                          </p:stCondLst>
                                        </p:cTn>
                                        <p:tgtEl>
                                          <p:spTgt spid="56"/>
                                        </p:tgtEl>
                                        <p:attrNameLst>
                                          <p:attrName>style.visibility</p:attrName>
                                        </p:attrNameLst>
                                      </p:cBhvr>
                                      <p:to>
                                        <p:strVal val="visible"/>
                                      </p:to>
                                    </p:set>
                                    <p:anim calcmode="lin" valueType="num">
                                      <p:cBhvr additive="base">
                                        <p:cTn id="199" dur="500" fill="hold"/>
                                        <p:tgtEl>
                                          <p:spTgt spid="56"/>
                                        </p:tgtEl>
                                        <p:attrNameLst>
                                          <p:attrName>ppt_x</p:attrName>
                                        </p:attrNameLst>
                                      </p:cBhvr>
                                      <p:tavLst>
                                        <p:tav tm="0">
                                          <p:val>
                                            <p:strVal val="ppt_x"/>
                                          </p:val>
                                        </p:tav>
                                        <p:tav tm="100000">
                                          <p:val>
                                            <p:strVal val="ppt_x"/>
                                          </p:val>
                                        </p:tav>
                                      </p:tavLst>
                                    </p:anim>
                                    <p:anim calcmode="lin" valueType="num">
                                      <p:cBhvr additive="base">
                                        <p:cTn id="200"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9" grpId="0"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1</a:t>
            </a:r>
            <a:endParaRPr lang="en-US" altLang="zh-CN" dirty="0" err="1">
              <a:latin typeface="华文楷体" panose="02010600040101010101" charset="-122"/>
              <a:ea typeface="华文楷体" panose="02010600040101010101" charset="-122"/>
            </a:endParaRPr>
          </a:p>
        </p:txBody>
      </p:sp>
      <p:sp>
        <p:nvSpPr>
          <p:cNvPr id="3" name="文本框 2"/>
          <p:cNvSpPr txBox="1"/>
          <p:nvPr/>
        </p:nvSpPr>
        <p:spPr>
          <a:xfrm>
            <a:off x="829945" y="1125855"/>
            <a:ext cx="10675620" cy="2303145"/>
          </a:xfrm>
          <a:prstGeom prst="rect">
            <a:avLst/>
          </a:prstGeom>
          <a:noFill/>
        </p:spPr>
        <p:txBody>
          <a:bodyPr wrap="square" rtlCol="0">
            <a:noAutofit/>
          </a:bodyPr>
          <a:p>
            <a:r>
              <a:rPr lang="zh-CN" altLang="en-US" sz="2400">
                <a:latin typeface="华文楷体" panose="02010600040101010101" charset="-122"/>
                <a:ea typeface="华文楷体" panose="02010600040101010101" charset="-122"/>
                <a:cs typeface="华文楷体" panose="02010600040101010101" charset="-122"/>
              </a:rPr>
              <a:t>用分枝定界法解决下列整数规划问题：</a:t>
            </a:r>
            <a:r>
              <a:rPr lang="en-US" altLang="zh-CN" sz="2400">
                <a:latin typeface="华文楷体" panose="02010600040101010101" charset="-122"/>
                <a:ea typeface="华文楷体" panose="02010600040101010101" charset="-122"/>
                <a:cs typeface="华文楷体" panose="02010600040101010101" charset="-122"/>
              </a:rPr>
              <a:t>x</a:t>
            </a:r>
            <a:r>
              <a:rPr lang="en-US" altLang="zh-CN" sz="2400" baseline="-25000">
                <a:latin typeface="华文楷体" panose="02010600040101010101" charset="-122"/>
                <a:ea typeface="华文楷体" panose="02010600040101010101" charset="-122"/>
                <a:cs typeface="华文楷体" panose="02010600040101010101" charset="-122"/>
              </a:rPr>
              <a:t>1</a:t>
            </a:r>
            <a:r>
              <a:rPr lang="zh-CN" altLang="en-US" sz="2400">
                <a:latin typeface="华文楷体" panose="02010600040101010101" charset="-122"/>
                <a:ea typeface="华文楷体" panose="02010600040101010101" charset="-122"/>
                <a:cs typeface="华文楷体" panose="02010600040101010101" charset="-122"/>
              </a:rPr>
              <a:t>和</a:t>
            </a:r>
            <a:r>
              <a:rPr lang="en-US" altLang="zh-CN" sz="2400">
                <a:latin typeface="华文楷体" panose="02010600040101010101" charset="-122"/>
                <a:ea typeface="华文楷体" panose="02010600040101010101" charset="-122"/>
                <a:cs typeface="华文楷体" panose="02010600040101010101" charset="-122"/>
              </a:rPr>
              <a:t>x</a:t>
            </a:r>
            <a:r>
              <a:rPr lang="en-US" altLang="zh-CN" sz="2400" baseline="-25000">
                <a:latin typeface="华文楷体" panose="02010600040101010101" charset="-122"/>
                <a:ea typeface="华文楷体" panose="02010600040101010101" charset="-122"/>
                <a:cs typeface="华文楷体" panose="02010600040101010101" charset="-122"/>
              </a:rPr>
              <a:t>2</a:t>
            </a:r>
            <a:r>
              <a:rPr lang="zh-CN" altLang="en-US" sz="2400">
                <a:latin typeface="华文楷体" panose="02010600040101010101" charset="-122"/>
                <a:ea typeface="华文楷体" panose="02010600040101010101" charset="-122"/>
                <a:cs typeface="华文楷体" panose="02010600040101010101" charset="-122"/>
              </a:rPr>
              <a:t>均为</a:t>
            </a:r>
            <a:r>
              <a:rPr lang="zh-CN" altLang="en-US" sz="2400">
                <a:latin typeface="华文楷体" panose="02010600040101010101" charset="-122"/>
                <a:ea typeface="华文楷体" panose="02010600040101010101" charset="-122"/>
                <a:cs typeface="华文楷体" panose="02010600040101010101" charset="-122"/>
              </a:rPr>
              <a:t>整数</a:t>
            </a:r>
            <a:endParaRPr lang="zh-CN" altLang="en-US" sz="2400">
              <a:latin typeface="华文楷体" panose="02010600040101010101" charset="-122"/>
              <a:ea typeface="华文楷体" panose="02010600040101010101" charset="-122"/>
              <a:cs typeface="华文楷体" panose="02010600040101010101" charset="-122"/>
            </a:endParaRPr>
          </a:p>
          <a:p>
            <a:r>
              <a:rPr lang="en-US" altLang="zh-CN" sz="2400">
                <a:latin typeface="华文楷体" panose="02010600040101010101" charset="-122"/>
                <a:ea typeface="华文楷体" panose="02010600040101010101" charset="-122"/>
                <a:cs typeface="华文楷体" panose="02010600040101010101" charset="-122"/>
              </a:rPr>
              <a:t>                      max z=5x</a:t>
            </a:r>
            <a:r>
              <a:rPr lang="en-US" altLang="zh-CN" sz="2400" baseline="-25000">
                <a:latin typeface="华文楷体" panose="02010600040101010101" charset="-122"/>
                <a:ea typeface="华文楷体" panose="02010600040101010101" charset="-122"/>
                <a:cs typeface="华文楷体" panose="02010600040101010101" charset="-122"/>
              </a:rPr>
              <a:t>1</a:t>
            </a:r>
            <a:r>
              <a:rPr lang="en-US" altLang="zh-CN" sz="2400">
                <a:latin typeface="华文楷体" panose="02010600040101010101" charset="-122"/>
                <a:ea typeface="华文楷体" panose="02010600040101010101" charset="-122"/>
                <a:cs typeface="华文楷体" panose="02010600040101010101" charset="-122"/>
              </a:rPr>
              <a:t>+8x</a:t>
            </a:r>
            <a:r>
              <a:rPr lang="en-US" altLang="zh-CN" sz="2400" baseline="-25000">
                <a:latin typeface="华文楷体" panose="02010600040101010101" charset="-122"/>
                <a:ea typeface="华文楷体" panose="02010600040101010101" charset="-122"/>
                <a:cs typeface="华文楷体" panose="02010600040101010101" charset="-122"/>
              </a:rPr>
              <a:t>2</a:t>
            </a:r>
            <a:endParaRPr lang="en-US" altLang="zh-CN" sz="2400">
              <a:latin typeface="华文楷体" panose="02010600040101010101" charset="-122"/>
              <a:ea typeface="华文楷体" panose="02010600040101010101" charset="-122"/>
              <a:cs typeface="华文楷体" panose="02010600040101010101" charset="-122"/>
            </a:endParaRPr>
          </a:p>
          <a:p>
            <a:r>
              <a:rPr lang="en-US" altLang="zh-CN" sz="2400">
                <a:latin typeface="华文楷体" panose="02010600040101010101" charset="-122"/>
                <a:ea typeface="华文楷体" panose="02010600040101010101" charset="-122"/>
                <a:cs typeface="华文楷体" panose="02010600040101010101" charset="-122"/>
              </a:rPr>
              <a:t>            </a:t>
            </a:r>
            <a:r>
              <a:rPr lang="zh-CN" altLang="en-US" sz="2400">
                <a:latin typeface="华文楷体" panose="02010600040101010101" charset="-122"/>
                <a:ea typeface="华文楷体" panose="02010600040101010101" charset="-122"/>
                <a:cs typeface="华文楷体" panose="02010600040101010101" charset="-122"/>
              </a:rPr>
              <a:t>约束条件：</a:t>
            </a:r>
            <a:r>
              <a:rPr lang="en-US" altLang="zh-CN" sz="2400">
                <a:latin typeface="华文楷体" panose="02010600040101010101" charset="-122"/>
                <a:ea typeface="华文楷体" panose="02010600040101010101" charset="-122"/>
                <a:cs typeface="华文楷体" panose="02010600040101010101" charset="-122"/>
              </a:rPr>
              <a:t> </a:t>
            </a:r>
            <a:r>
              <a:rPr lang="en-US" altLang="zh-CN" sz="2400">
                <a:latin typeface="Times New Roman" panose="02020603050405020304" pitchFamily="18" charset="0"/>
                <a:ea typeface="华文楷体" panose="02010600040101010101" charset="-122"/>
                <a:cs typeface="Times New Roman" panose="02020603050405020304" pitchFamily="18" charset="0"/>
              </a:rPr>
              <a:t>x</a:t>
            </a:r>
            <a:r>
              <a:rPr lang="en-US" altLang="zh-CN" sz="2400" baseline="-25000">
                <a:latin typeface="Times New Roman" panose="02020603050405020304" pitchFamily="18" charset="0"/>
                <a:ea typeface="华文楷体" panose="02010600040101010101" charset="-122"/>
                <a:cs typeface="Times New Roman" panose="02020603050405020304" pitchFamily="18" charset="0"/>
              </a:rPr>
              <a:t>1</a:t>
            </a:r>
            <a:r>
              <a:rPr lang="en-US" altLang="zh-CN" sz="2400">
                <a:latin typeface="Times New Roman" panose="02020603050405020304" pitchFamily="18" charset="0"/>
                <a:ea typeface="华文楷体" panose="02010600040101010101" charset="-122"/>
                <a:cs typeface="Times New Roman" panose="02020603050405020304" pitchFamily="18" charset="0"/>
              </a:rPr>
              <a:t>+x</a:t>
            </a:r>
            <a:r>
              <a:rPr lang="en-US" altLang="zh-CN" sz="2400" baseline="-25000">
                <a:latin typeface="Times New Roman" panose="02020603050405020304" pitchFamily="18" charset="0"/>
                <a:ea typeface="华文楷体" panose="02010600040101010101" charset="-122"/>
                <a:cs typeface="Times New Roman" panose="02020603050405020304" pitchFamily="18" charset="0"/>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6</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                                5x</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sym typeface="+mn-ea"/>
              </a:rPr>
              <a:t>1</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+9x</a:t>
            </a:r>
            <a:r>
              <a:rPr lang="en-US" altLang="zh-CN" sz="2400" baseline="-25000" dirty="0">
                <a:latin typeface="Times New Roman" panose="02020603050405020304" pitchFamily="18" charset="0"/>
                <a:ea typeface="楷体" panose="02010609060101010101" pitchFamily="49" charset="-122"/>
                <a:cs typeface="Times New Roman" panose="02020603050405020304" pitchFamily="18" charset="0"/>
                <a:sym typeface="+mn-ea"/>
              </a:rPr>
              <a:t>2</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45</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a:latin typeface="Times New Roman" panose="02020603050405020304" pitchFamily="18" charset="0"/>
                <a:ea typeface="华文楷体" panose="02010600040101010101" charset="-122"/>
                <a:cs typeface="Times New Roman" panose="02020603050405020304" pitchFamily="18" charset="0"/>
                <a:sym typeface="+mn-ea"/>
              </a:rPr>
              <a:t>x</a:t>
            </a:r>
            <a:r>
              <a:rPr lang="en-US" altLang="zh-CN" sz="2400" baseline="-25000">
                <a:latin typeface="Times New Roman" panose="02020603050405020304" pitchFamily="18" charset="0"/>
                <a:ea typeface="华文楷体" panose="02010600040101010101" charset="-122"/>
                <a:cs typeface="Times New Roman" panose="02020603050405020304" pitchFamily="18" charset="0"/>
                <a:sym typeface="+mn-ea"/>
              </a:rPr>
              <a:t>1</a:t>
            </a:r>
            <a:r>
              <a:rPr lang="en-US" altLang="zh-CN" sz="2400">
                <a:latin typeface="Times New Roman" panose="02020603050405020304" pitchFamily="18" charset="0"/>
                <a:ea typeface="华文楷体" panose="02010600040101010101" charset="-122"/>
                <a:cs typeface="Times New Roman" panose="02020603050405020304" pitchFamily="18" charset="0"/>
                <a:sym typeface="+mn-ea"/>
              </a:rPr>
              <a:t>, x</a:t>
            </a:r>
            <a:r>
              <a:rPr lang="en-US" altLang="zh-CN" sz="2400" baseline="-25000">
                <a:latin typeface="Times New Roman" panose="02020603050405020304" pitchFamily="18" charset="0"/>
                <a:ea typeface="华文楷体" panose="02010600040101010101" charset="-122"/>
                <a:cs typeface="Times New Roman" panose="02020603050405020304" pitchFamily="18" charset="0"/>
                <a:sym typeface="+mn-ea"/>
              </a:rPr>
              <a:t>2</a:t>
            </a:r>
            <a:r>
              <a:rPr lang="zh-CN" altLang="zh-CN" sz="240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sym typeface="+mn-ea"/>
              </a:rPr>
              <a:t>0</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整数规划的应用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tx1"/>
                </a:solidFill>
                <a:latin typeface="楷体" panose="02010609060101010101" pitchFamily="49" charset="-122"/>
                <a:ea typeface="楷体" panose="02010609060101010101" pitchFamily="49" charset="-122"/>
              </a:rPr>
              <a:t>投资场所的选择</a:t>
            </a:r>
            <a:endParaRPr lang="en-US" altLang="zh-CN" dirty="0">
              <a:solidFill>
                <a:schemeClr val="tx1"/>
              </a:solidFill>
              <a:latin typeface="楷体" panose="02010609060101010101" pitchFamily="49" charset="-122"/>
              <a:ea typeface="楷体" panose="02010609060101010101" pitchFamily="49" charset="-122"/>
            </a:endParaRPr>
          </a:p>
          <a:p>
            <a:r>
              <a:rPr lang="zh-CN" altLang="en-US" dirty="0">
                <a:solidFill>
                  <a:schemeClr val="tx1"/>
                </a:solidFill>
                <a:latin typeface="楷体" panose="02010609060101010101" pitchFamily="49" charset="-122"/>
                <a:ea typeface="楷体" panose="02010609060101010101" pitchFamily="49" charset="-122"/>
              </a:rPr>
              <a:t>固定成本问题</a:t>
            </a:r>
            <a:endParaRPr lang="en-US" altLang="zh-CN" dirty="0">
              <a:solidFill>
                <a:schemeClr val="tx1"/>
              </a:solidFill>
              <a:latin typeface="楷体" panose="02010609060101010101" pitchFamily="49" charset="-122"/>
              <a:ea typeface="楷体" panose="02010609060101010101" pitchFamily="49" charset="-122"/>
            </a:endParaRPr>
          </a:p>
          <a:p>
            <a:r>
              <a:rPr lang="zh-CN" altLang="en-US" dirty="0">
                <a:solidFill>
                  <a:schemeClr val="tx1"/>
                </a:solidFill>
                <a:latin typeface="楷体" panose="02010609060101010101" pitchFamily="49" charset="-122"/>
                <a:ea typeface="楷体" panose="02010609060101010101" pitchFamily="49" charset="-122"/>
              </a:rPr>
              <a:t>指派问题</a:t>
            </a:r>
            <a:endParaRPr lang="en-US" altLang="zh-CN" dirty="0">
              <a:solidFill>
                <a:schemeClr val="tx1"/>
              </a:solidFill>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分布系统设计</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投资问题</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投资场所的选择</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normAutofit fontScale="70000" lnSpcReduction="20000"/>
          </a:bodyPr>
          <a:lstStyle/>
          <a:p>
            <a:pPr marL="0" indent="0">
              <a:buNone/>
            </a:pPr>
            <a:r>
              <a:rPr lang="zh-CN" altLang="en-US" dirty="0">
                <a:latin typeface="楷体" panose="02010609060101010101" pitchFamily="49" charset="-122"/>
                <a:ea typeface="楷体" panose="02010609060101010101" pitchFamily="49" charset="-122"/>
              </a:rPr>
              <a:t> 一、投资场所的选择</a:t>
            </a:r>
            <a:endParaRPr lang="zh-CN" altLang="en-US" dirty="0">
              <a:latin typeface="楷体" panose="02010609060101010101" pitchFamily="49" charset="-122"/>
              <a:ea typeface="楷体" panose="02010609060101010101" pitchFamily="49" charset="-122"/>
            </a:endParaRPr>
          </a:p>
          <a:p>
            <a:pPr marL="0" indent="0">
              <a:buNone/>
            </a:pPr>
            <a:r>
              <a:rPr lang="zh-CN" altLang="en-US" dirty="0">
                <a:latin typeface="楷体" panose="02010609060101010101" pitchFamily="49" charset="-122"/>
                <a:ea typeface="楷体" panose="02010609060101010101" pitchFamily="49" charset="-122"/>
              </a:rPr>
              <a:t>        例</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、某产品公司计划在市区的东、西、南、北四区建立销售门市部，拟议中有</a:t>
            </a:r>
            <a:r>
              <a:rPr lang="en-US" altLang="zh-CN" dirty="0">
                <a:latin typeface="楷体" panose="02010609060101010101" pitchFamily="49" charset="-122"/>
                <a:ea typeface="楷体" panose="02010609060101010101" pitchFamily="49" charset="-122"/>
              </a:rPr>
              <a:t>10</a:t>
            </a:r>
            <a:r>
              <a:rPr lang="zh-CN" altLang="en-US" dirty="0">
                <a:latin typeface="楷体" panose="02010609060101010101" pitchFamily="49" charset="-122"/>
                <a:ea typeface="楷体" panose="02010609060101010101" pitchFamily="49" charset="-122"/>
              </a:rPr>
              <a:t>个位置 </a:t>
            </a:r>
            <a:r>
              <a:rPr lang="en-US" altLang="zh-CN" dirty="0" err="1">
                <a:latin typeface="楷体" panose="02010609060101010101" pitchFamily="49" charset="-122"/>
                <a:ea typeface="楷体" panose="02010609060101010101" pitchFamily="49" charset="-122"/>
              </a:rPr>
              <a:t>Aj</a:t>
            </a:r>
            <a:r>
              <a:rPr lang="en-US" altLang="zh-CN" dirty="0">
                <a:latin typeface="楷体" panose="02010609060101010101" pitchFamily="49" charset="-122"/>
                <a:ea typeface="楷体" panose="02010609060101010101" pitchFamily="49" charset="-122"/>
              </a:rPr>
              <a:t> (j=1,2,3,…,10)</a:t>
            </a:r>
            <a:r>
              <a:rPr lang="zh-CN" altLang="en-US" dirty="0">
                <a:latin typeface="楷体" panose="02010609060101010101" pitchFamily="49" charset="-122"/>
                <a:ea typeface="楷体" panose="02010609060101010101" pitchFamily="49" charset="-122"/>
              </a:rPr>
              <a:t>可供选择，考虑到各地区居民的消费水平及居民居住密集度，规定</a:t>
            </a:r>
            <a:r>
              <a:rPr lang="en-US"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0" indent="0">
              <a:buNone/>
            </a:pP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在东区由</a:t>
            </a:r>
            <a:r>
              <a:rPr lang="en-US" altLang="zh-CN" dirty="0">
                <a:latin typeface="楷体" panose="02010609060101010101" pitchFamily="49" charset="-122"/>
                <a:ea typeface="楷体" panose="02010609060101010101" pitchFamily="49" charset="-122"/>
              </a:rPr>
              <a:t>A1 </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A2 </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A3  </a:t>
            </a:r>
            <a:r>
              <a:rPr lang="zh-CN" altLang="en-US" dirty="0">
                <a:latin typeface="楷体" panose="02010609060101010101" pitchFamily="49" charset="-122"/>
                <a:ea typeface="楷体" panose="02010609060101010101" pitchFamily="49" charset="-122"/>
              </a:rPr>
              <a:t>三个点至多选择两个；</a:t>
            </a:r>
            <a:endParaRPr lang="zh-CN" altLang="en-US" dirty="0">
              <a:latin typeface="楷体" panose="02010609060101010101" pitchFamily="49" charset="-122"/>
              <a:ea typeface="楷体" panose="02010609060101010101" pitchFamily="49" charset="-122"/>
            </a:endParaRPr>
          </a:p>
          <a:p>
            <a:pPr marL="0" indent="0">
              <a:buNone/>
            </a:pPr>
            <a:r>
              <a:rPr lang="zh-CN" altLang="en-US" dirty="0">
                <a:latin typeface="楷体" panose="02010609060101010101" pitchFamily="49" charset="-122"/>
                <a:ea typeface="楷体" panose="02010609060101010101" pitchFamily="49" charset="-122"/>
              </a:rPr>
              <a:t>              在西区由</a:t>
            </a:r>
            <a:r>
              <a:rPr lang="en-US" altLang="zh-CN" dirty="0">
                <a:latin typeface="楷体" panose="02010609060101010101" pitchFamily="49" charset="-122"/>
                <a:ea typeface="楷体" panose="02010609060101010101" pitchFamily="49" charset="-122"/>
              </a:rPr>
              <a:t>A4 </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A5  </a:t>
            </a:r>
            <a:r>
              <a:rPr lang="zh-CN" altLang="en-US" dirty="0">
                <a:latin typeface="楷体" panose="02010609060101010101" pitchFamily="49" charset="-122"/>
                <a:ea typeface="楷体" panose="02010609060101010101" pitchFamily="49" charset="-122"/>
              </a:rPr>
              <a:t>两个点中至少选一个；</a:t>
            </a:r>
            <a:endParaRPr lang="zh-CN" altLang="en-US" dirty="0">
              <a:latin typeface="楷体" panose="02010609060101010101" pitchFamily="49" charset="-122"/>
              <a:ea typeface="楷体" panose="02010609060101010101" pitchFamily="49" charset="-122"/>
            </a:endParaRPr>
          </a:p>
          <a:p>
            <a:pPr marL="0" indent="0">
              <a:buNone/>
            </a:pPr>
            <a:r>
              <a:rPr lang="zh-CN" altLang="en-US" dirty="0">
                <a:latin typeface="楷体" panose="02010609060101010101" pitchFamily="49" charset="-122"/>
                <a:ea typeface="楷体" panose="02010609060101010101" pitchFamily="49" charset="-122"/>
              </a:rPr>
              <a:t>              在南区由</a:t>
            </a:r>
            <a:r>
              <a:rPr lang="en-US" altLang="zh-CN" dirty="0">
                <a:latin typeface="楷体" panose="02010609060101010101" pitchFamily="49" charset="-122"/>
                <a:ea typeface="楷体" panose="02010609060101010101" pitchFamily="49" charset="-122"/>
              </a:rPr>
              <a:t>A6 </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A7  </a:t>
            </a:r>
            <a:r>
              <a:rPr lang="zh-CN" altLang="en-US" dirty="0">
                <a:latin typeface="楷体" panose="02010609060101010101" pitchFamily="49" charset="-122"/>
                <a:ea typeface="楷体" panose="02010609060101010101" pitchFamily="49" charset="-122"/>
              </a:rPr>
              <a:t>两个点中至少选一个；</a:t>
            </a:r>
            <a:endParaRPr lang="zh-CN" altLang="en-US" dirty="0">
              <a:latin typeface="楷体" panose="02010609060101010101" pitchFamily="49" charset="-122"/>
              <a:ea typeface="楷体" panose="02010609060101010101" pitchFamily="49" charset="-122"/>
            </a:endParaRPr>
          </a:p>
          <a:p>
            <a:pPr marL="0" indent="0">
              <a:buNone/>
            </a:pPr>
            <a:r>
              <a:rPr lang="zh-CN" altLang="en-US" dirty="0">
                <a:latin typeface="楷体" panose="02010609060101010101" pitchFamily="49" charset="-122"/>
                <a:ea typeface="楷体" panose="02010609060101010101" pitchFamily="49" charset="-122"/>
              </a:rPr>
              <a:t>              在北区由</a:t>
            </a:r>
            <a:r>
              <a:rPr lang="en-US" altLang="zh-CN" dirty="0">
                <a:latin typeface="楷体" panose="02010609060101010101" pitchFamily="49" charset="-122"/>
                <a:ea typeface="楷体" panose="02010609060101010101" pitchFamily="49" charset="-122"/>
              </a:rPr>
              <a:t>A8 </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A9 </a:t>
            </a:r>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A10 </a:t>
            </a:r>
            <a:r>
              <a:rPr lang="zh-CN" altLang="en-US" dirty="0">
                <a:latin typeface="楷体" panose="02010609060101010101" pitchFamily="49" charset="-122"/>
                <a:ea typeface="楷体" panose="02010609060101010101" pitchFamily="49" charset="-122"/>
              </a:rPr>
              <a:t>三个点中至少选两个。</a:t>
            </a:r>
            <a:endParaRPr lang="zh-CN" altLang="en-US" dirty="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a:p>
            <a:pPr marL="0" indent="0">
              <a:buNone/>
            </a:pPr>
            <a:r>
              <a:rPr lang="zh-CN" altLang="en-US" dirty="0">
                <a:latin typeface="楷体" panose="02010609060101010101" pitchFamily="49" charset="-122"/>
                <a:ea typeface="楷体" panose="02010609060101010101" pitchFamily="49" charset="-122"/>
              </a:rPr>
              <a:t>        </a:t>
            </a:r>
            <a:endParaRPr lang="zh-CN" altLang="en-US" dirty="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a:p>
            <a:pPr marL="0" indent="0">
              <a:buNone/>
            </a:pPr>
            <a:r>
              <a:rPr lang="en-US" altLang="zh-CN" dirty="0" err="1">
                <a:latin typeface="楷体" panose="02010609060101010101" pitchFamily="49" charset="-122"/>
                <a:ea typeface="楷体" panose="02010609060101010101" pitchFamily="49" charset="-122"/>
              </a:rPr>
              <a:t>Aj</a:t>
            </a: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各点的设备投资及每年可获利润由于地点不同都是不一样的，预测情况见表所示 </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单位：万元</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。但投资总额不能超过</a:t>
            </a:r>
            <a:r>
              <a:rPr lang="en-US" altLang="zh-CN" dirty="0">
                <a:latin typeface="楷体" panose="02010609060101010101" pitchFamily="49" charset="-122"/>
                <a:ea typeface="楷体" panose="02010609060101010101" pitchFamily="49" charset="-122"/>
              </a:rPr>
              <a:t>720</a:t>
            </a:r>
            <a:r>
              <a:rPr lang="zh-CN" altLang="en-US" dirty="0">
                <a:latin typeface="楷体" panose="02010609060101010101" pitchFamily="49" charset="-122"/>
                <a:ea typeface="楷体" panose="02010609060101010101" pitchFamily="49" charset="-122"/>
              </a:rPr>
              <a:t>万元，问应选择哪几个销售点，可使年利润为最大</a:t>
            </a:r>
            <a:r>
              <a:rPr lang="en-US" altLang="zh-CN"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0" indent="0">
              <a:buNone/>
            </a:pPr>
            <a:endParaRPr lang="zh-CN" altLang="en-US" dirty="0">
              <a:latin typeface="楷体" panose="02010609060101010101" pitchFamily="49" charset="-122"/>
              <a:ea typeface="楷体" panose="02010609060101010101" pitchFamily="49" charset="-122"/>
            </a:endParaRPr>
          </a:p>
        </p:txBody>
      </p:sp>
      <p:graphicFrame>
        <p:nvGraphicFramePr>
          <p:cNvPr id="4" name="Object 4"/>
          <p:cNvGraphicFramePr>
            <a:graphicFrameLocks noChangeAspect="1"/>
          </p:cNvGraphicFramePr>
          <p:nvPr/>
        </p:nvGraphicFramePr>
        <p:xfrm>
          <a:off x="1324616" y="4001294"/>
          <a:ext cx="8497888" cy="1800225"/>
        </p:xfrm>
        <a:graphic>
          <a:graphicData uri="http://schemas.openxmlformats.org/presentationml/2006/ole">
            <mc:AlternateContent xmlns:mc="http://schemas.openxmlformats.org/markup-compatibility/2006">
              <mc:Choice xmlns:v="urn:schemas-microsoft-com:vml" Requires="v">
                <p:oleObj spid="_x0000_s5" name="" r:id="rId1" imgW="5504815" imgH="1036320" progId="Word.Document.8">
                  <p:embed/>
                </p:oleObj>
              </mc:Choice>
              <mc:Fallback>
                <p:oleObj name="" r:id="rId1" imgW="5504815" imgH="1036320"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4616" y="4001294"/>
                        <a:ext cx="8497888"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星形: 五角 4"/>
          <p:cNvSpPr/>
          <p:nvPr/>
        </p:nvSpPr>
        <p:spPr>
          <a:xfrm>
            <a:off x="9942133" y="681037"/>
            <a:ext cx="687897" cy="545285"/>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8677" name="Rectangle 5"/>
              <p:cNvSpPr>
                <a:spLocks noChangeArrowheads="1"/>
              </p:cNvSpPr>
              <p:nvPr/>
            </p:nvSpPr>
            <p:spPr bwMode="auto">
              <a:xfrm>
                <a:off x="1651000" y="1471612"/>
                <a:ext cx="8893175" cy="17043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solidFill>
                      <a:srgbClr val="000000"/>
                    </a:solidFill>
                    <a:latin typeface="Arial" panose="020B0604020202020204" pitchFamily="34" charset="0"/>
                    <a:ea typeface="楷体" panose="02010609060101010101" pitchFamily="49" charset="-122"/>
                  </a:rPr>
                  <a:t>解：设：</a:t>
                </a:r>
                <a:r>
                  <a:rPr lang="zh-CN" altLang="zh-CN" sz="2800" dirty="0">
                    <a:solidFill>
                      <a:srgbClr val="000000"/>
                    </a:solidFill>
                    <a:latin typeface="仿宋" panose="02010609060101010101" pitchFamily="49" charset="-122"/>
                    <a:ea typeface="仿宋" panose="02010609060101010101" pitchFamily="49" charset="-122"/>
                    <a:cs typeface="Times New Roman" panose="02020603050405020304" pitchFamily="18" charset="0"/>
                  </a:rPr>
                  <a:t>0−1</a:t>
                </a:r>
                <a:r>
                  <a:rPr lang="zh-CN" altLang="zh-CN" sz="2800" dirty="0">
                    <a:solidFill>
                      <a:srgbClr val="000000"/>
                    </a:solidFill>
                    <a:ea typeface="楷体" panose="02010609060101010101" pitchFamily="49" charset="-122"/>
                    <a:cs typeface="Times New Roman" panose="02020603050405020304" pitchFamily="18" charset="0"/>
                  </a:rPr>
                  <a:t> </a:t>
                </a:r>
                <a:r>
                  <a:rPr lang="zh-CN" altLang="zh-CN" sz="2800" dirty="0">
                    <a:solidFill>
                      <a:srgbClr val="000000"/>
                    </a:solidFill>
                    <a:latin typeface="Arial" panose="020B0604020202020204" pitchFamily="34" charset="0"/>
                    <a:ea typeface="楷体" panose="02010609060101010101" pitchFamily="49" charset="-122"/>
                  </a:rPr>
                  <a:t>变量 </a:t>
                </a:r>
                <a:endParaRPr lang="en-US" altLang="zh-CN" sz="2800" dirty="0">
                  <a:solidFill>
                    <a:srgbClr val="000000"/>
                  </a:solidFill>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a:rPr lang="zh-CN" altLang="zh-CN" sz="2800" i="1" dirty="0" smtClean="0">
                          <a:solidFill>
                            <a:srgbClr val="000000"/>
                          </a:solidFill>
                          <a:latin typeface="Cambria Math" panose="02040503050406030204" pitchFamily="18" charset="0"/>
                          <a:ea typeface="楷体" panose="02010609060101010101" pitchFamily="49" charset="-122"/>
                        </a:rPr>
                        <m:t>𝑥</m:t>
                      </m:r>
                      <m:r>
                        <a:rPr lang="zh-CN" altLang="zh-CN" sz="2800" i="1" baseline="-25000" dirty="0">
                          <a:solidFill>
                            <a:srgbClr val="000000"/>
                          </a:solidFill>
                          <a:latin typeface="Cambria Math" panose="02040503050406030204" pitchFamily="18" charset="0"/>
                          <a:ea typeface="楷体" panose="02010609060101010101" pitchFamily="49" charset="-122"/>
                        </a:rPr>
                        <m:t>𝑖</m:t>
                      </m:r>
                      <m:r>
                        <a:rPr lang="zh-CN" altLang="zh-CN" sz="2800" i="1" dirty="0">
                          <a:solidFill>
                            <a:srgbClr val="000000"/>
                          </a:solidFill>
                          <a:latin typeface="Cambria Math" panose="02040503050406030204" pitchFamily="18" charset="0"/>
                          <a:ea typeface="楷体" panose="02010609060101010101" pitchFamily="49" charset="-122"/>
                        </a:rPr>
                        <m:t> = </m:t>
                      </m:r>
                      <m:d>
                        <m:dPr>
                          <m:begChr m:val="{"/>
                          <m:endChr m:val=""/>
                          <m:ctrlPr>
                            <a:rPr lang="en-US" altLang="zh-CN" sz="2800" i="1" dirty="0" smtClean="0">
                              <a:solidFill>
                                <a:srgbClr val="000000"/>
                              </a:solidFill>
                              <a:latin typeface="Cambria Math" panose="02040503050406030204" pitchFamily="18" charset="0"/>
                              <a:ea typeface="楷体" panose="02010609060101010101" pitchFamily="49" charset="-122"/>
                            </a:rPr>
                          </m:ctrlPr>
                        </m:dPr>
                        <m:e>
                          <m:eqArr>
                            <m:eqArrPr>
                              <m:ctrlPr>
                                <a:rPr lang="en-US" altLang="zh-CN" sz="2800" i="1" dirty="0" smtClean="0">
                                  <a:solidFill>
                                    <a:srgbClr val="000000"/>
                                  </a:solidFill>
                                  <a:latin typeface="Cambria Math" panose="02040503050406030204" pitchFamily="18" charset="0"/>
                                  <a:ea typeface="楷体" panose="02010609060101010101" pitchFamily="49" charset="-122"/>
                                </a:rPr>
                              </m:ctrlPr>
                            </m:eqArrPr>
                            <m:e>
                              <m:r>
                                <a:rPr lang="en-US" altLang="zh-CN" sz="2800" b="0" i="1" dirty="0" smtClean="0">
                                  <a:solidFill>
                                    <a:srgbClr val="000000"/>
                                  </a:solidFill>
                                  <a:latin typeface="Cambria Math" panose="02040503050406030204" pitchFamily="18" charset="0"/>
                                  <a:ea typeface="楷体" panose="02010609060101010101" pitchFamily="49" charset="-122"/>
                                </a:rPr>
                                <m:t>1</m:t>
                              </m:r>
                              <m:r>
                                <a:rPr lang="en-US" altLang="zh-CN" sz="2800" b="0" i="1" dirty="0" smtClean="0">
                                  <a:solidFill>
                                    <a:srgbClr val="000000"/>
                                  </a:solidFill>
                                  <a:latin typeface="Cambria Math" panose="02040503050406030204" pitchFamily="18" charset="0"/>
                                  <a:ea typeface="楷体" panose="02010609060101010101" pitchFamily="49" charset="-122"/>
                                </a:rPr>
                                <m:t>, </m:t>
                              </m:r>
                              <m:r>
                                <a:rPr lang="zh-CN" altLang="zh-CN" sz="2800" i="1" dirty="0">
                                  <a:solidFill>
                                    <a:srgbClr val="000000"/>
                                  </a:solidFill>
                                  <a:latin typeface="Cambria Math" panose="02040503050406030204" pitchFamily="18" charset="0"/>
                                  <a:ea typeface="楷体" panose="02010609060101010101" pitchFamily="49" charset="-122"/>
                                </a:rPr>
                                <m:t>𝐴</m:t>
                              </m:r>
                              <m:r>
                                <a:rPr lang="zh-CN" altLang="zh-CN" sz="2800" i="1" baseline="-25000" dirty="0">
                                  <a:solidFill>
                                    <a:srgbClr val="000000"/>
                                  </a:solidFill>
                                  <a:latin typeface="Cambria Math" panose="02040503050406030204" pitchFamily="18" charset="0"/>
                                  <a:ea typeface="楷体" panose="02010609060101010101" pitchFamily="49" charset="-122"/>
                                </a:rPr>
                                <m:t>𝑖</m:t>
                              </m:r>
                              <m:r>
                                <a:rPr lang="zh-CN" altLang="zh-CN" sz="2800" i="1" dirty="0">
                                  <a:solidFill>
                                    <a:srgbClr val="000000"/>
                                  </a:solidFill>
                                  <a:latin typeface="Cambria Math" panose="02040503050406030204" pitchFamily="18" charset="0"/>
                                  <a:ea typeface="楷体" panose="02010609060101010101" pitchFamily="49" charset="-122"/>
                                </a:rPr>
                                <m:t> </m:t>
                              </m:r>
                              <m:r>
                                <m:rPr>
                                  <m:nor/>
                                </m:rPr>
                                <a:rPr lang="zh-CN" altLang="zh-CN" sz="2800" dirty="0">
                                  <a:solidFill>
                                    <a:srgbClr val="000000"/>
                                  </a:solidFill>
                                  <a:latin typeface="Arial" panose="020B0604020202020204" pitchFamily="34" charset="0"/>
                                  <a:ea typeface="楷体" panose="02010609060101010101" pitchFamily="49" charset="-122"/>
                                </a:rPr>
                                <m:t>点被选用</m:t>
                              </m:r>
                            </m:e>
                            <m:e>
                              <m:r>
                                <a:rPr lang="en-US" altLang="zh-CN" sz="2800" b="0" i="1" dirty="0" smtClean="0">
                                  <a:solidFill>
                                    <a:srgbClr val="000000"/>
                                  </a:solidFill>
                                  <a:latin typeface="Cambria Math" panose="02040503050406030204" pitchFamily="18" charset="0"/>
                                  <a:ea typeface="楷体" panose="02010609060101010101" pitchFamily="49" charset="-122"/>
                                </a:rPr>
                                <m:t>0</m:t>
                              </m:r>
                              <m:r>
                                <a:rPr lang="en-US" altLang="zh-CN" sz="2800" b="0" i="1" dirty="0" smtClean="0">
                                  <a:solidFill>
                                    <a:srgbClr val="000000"/>
                                  </a:solidFill>
                                  <a:latin typeface="Cambria Math" panose="02040503050406030204" pitchFamily="18" charset="0"/>
                                  <a:ea typeface="楷体" panose="02010609060101010101" pitchFamily="49" charset="-122"/>
                                </a:rPr>
                                <m:t>, </m:t>
                              </m:r>
                              <m:r>
                                <a:rPr lang="zh-CN" altLang="zh-CN" sz="2800" i="1" dirty="0">
                                  <a:solidFill>
                                    <a:srgbClr val="000000"/>
                                  </a:solidFill>
                                  <a:latin typeface="Cambria Math" panose="02040503050406030204" pitchFamily="18" charset="0"/>
                                  <a:ea typeface="楷体" panose="02010609060101010101" pitchFamily="49" charset="-122"/>
                                </a:rPr>
                                <m:t>𝐴</m:t>
                              </m:r>
                              <m:r>
                                <a:rPr lang="zh-CN" altLang="zh-CN" sz="2800" i="1" baseline="-25000" dirty="0">
                                  <a:solidFill>
                                    <a:srgbClr val="000000"/>
                                  </a:solidFill>
                                  <a:latin typeface="Cambria Math" panose="02040503050406030204" pitchFamily="18" charset="0"/>
                                  <a:ea typeface="楷体" panose="02010609060101010101" pitchFamily="49" charset="-122"/>
                                </a:rPr>
                                <m:t>𝑖</m:t>
                              </m:r>
                              <m:r>
                                <a:rPr lang="zh-CN" altLang="zh-CN" sz="2800" i="1" dirty="0">
                                  <a:solidFill>
                                    <a:srgbClr val="000000"/>
                                  </a:solidFill>
                                  <a:latin typeface="Cambria Math" panose="02040503050406030204" pitchFamily="18" charset="0"/>
                                  <a:ea typeface="楷体" panose="02010609060101010101" pitchFamily="49" charset="-122"/>
                                </a:rPr>
                                <m:t> </m:t>
                              </m:r>
                              <m:r>
                                <m:rPr>
                                  <m:nor/>
                                </m:rPr>
                                <a:rPr lang="zh-CN" altLang="zh-CN" sz="2800" dirty="0">
                                  <a:solidFill>
                                    <a:srgbClr val="000000"/>
                                  </a:solidFill>
                                  <a:latin typeface="Arial" panose="020B0604020202020204" pitchFamily="34" charset="0"/>
                                  <a:ea typeface="楷体" panose="02010609060101010101" pitchFamily="49" charset="-122"/>
                                </a:rPr>
                                <m:t>点没被选用</m:t>
                              </m:r>
                            </m:e>
                          </m:eqArr>
                        </m:e>
                      </m:d>
                    </m:oMath>
                  </m:oMathPara>
                </a14:m>
                <a:endParaRPr lang="en-US" altLang="zh-CN" sz="2800" dirty="0">
                  <a:solidFill>
                    <a:srgbClr val="000000"/>
                  </a:solidFill>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solidFill>
                      <a:srgbClr val="000000"/>
                    </a:solidFill>
                    <a:latin typeface="Arial" panose="020B0604020202020204" pitchFamily="34" charset="0"/>
                    <a:ea typeface="楷体" panose="02010609060101010101" pitchFamily="49" charset="-122"/>
                  </a:rPr>
                  <a:t>建立数学模型：</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28677" name="Rectangle 5"/>
              <p:cNvSpPr>
                <a:spLocks noRot="1" noChangeAspect="1" noMove="1" noResize="1" noEditPoints="1" noAdjustHandles="1" noChangeArrowheads="1" noChangeShapeType="1" noTextEdit="1"/>
              </p:cNvSpPr>
              <p:nvPr/>
            </p:nvSpPr>
            <p:spPr bwMode="auto">
              <a:xfrm>
                <a:off x="1651000" y="1471612"/>
                <a:ext cx="8893175" cy="1704385"/>
              </a:xfrm>
              <a:prstGeom prst="rect">
                <a:avLst/>
              </a:prstGeom>
              <a:blipFill rotWithShape="1">
                <a:blip r:embed="rId1"/>
                <a:stretch>
                  <a:fillRect t="-19" b="-4848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680" name="Rectangle 8"/>
              <p:cNvSpPr>
                <a:spLocks noChangeArrowheads="1"/>
              </p:cNvSpPr>
              <p:nvPr/>
            </p:nvSpPr>
            <p:spPr bwMode="auto">
              <a:xfrm>
                <a:off x="1760662" y="3320462"/>
                <a:ext cx="8670676" cy="3528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buClr>
                    <a:srgbClr val="000000"/>
                  </a:buClr>
                  <a:buSzPct val="100000"/>
                  <a:tabLst>
                    <a:tab pos="190500" algn="l"/>
                    <a:tab pos="1993900" algn="l"/>
                  </a:tabLst>
                </a:pPr>
                <a:r>
                  <a:rPr lang="zh-CN" altLang="zh-CN" sz="2400" dirty="0">
                    <a:solidFill>
                      <a:schemeClr val="tx1"/>
                    </a:solidFill>
                    <a:latin typeface="Arial" panose="020B0604020202020204" pitchFamily="34" charset="0"/>
                    <a:ea typeface="楷体" panose="02010609060101010101" pitchFamily="49" charset="-122"/>
                  </a:rPr>
                  <a:t>	</a:t>
                </a:r>
                <a14:m>
                  <m:oMath xmlns:m="http://schemas.openxmlformats.org/officeDocument/2006/math">
                    <m:func>
                      <m:funcPr>
                        <m:ctrlPr>
                          <a:rPr lang="zh-CN" altLang="zh-CN" sz="2400" i="1" dirty="0" smtClean="0">
                            <a:solidFill>
                              <a:schemeClr val="tx1"/>
                            </a:solidFill>
                            <a:latin typeface="Cambria Math" panose="02040503050406030204" pitchFamily="18" charset="0"/>
                            <a:ea typeface="楷体" panose="02010609060101010101" pitchFamily="49" charset="-122"/>
                          </a:rPr>
                        </m:ctrlPr>
                      </m:funcPr>
                      <m:fName>
                        <m:r>
                          <m:rPr>
                            <m:sty m:val="p"/>
                          </m:rPr>
                          <a:rPr lang="zh-CN" altLang="zh-CN" sz="2400" i="0" dirty="0" smtClean="0">
                            <a:solidFill>
                              <a:schemeClr val="tx1"/>
                            </a:solidFill>
                            <a:latin typeface="Cambria Math" panose="02040503050406030204" pitchFamily="18" charset="0"/>
                            <a:ea typeface="楷体" panose="02010609060101010101" pitchFamily="49" charset="-122"/>
                          </a:rPr>
                          <m:t>max</m:t>
                        </m:r>
                      </m:fName>
                      <m:e>
                        <m:r>
                          <a:rPr lang="zh-CN" altLang="zh-CN" sz="2400" i="1" dirty="0" smtClean="0">
                            <a:solidFill>
                              <a:schemeClr val="tx1"/>
                            </a:solidFill>
                            <a:latin typeface="Cambria Math" panose="02040503050406030204" pitchFamily="18" charset="0"/>
                            <a:ea typeface="楷体" panose="02010609060101010101" pitchFamily="49" charset="-122"/>
                          </a:rPr>
                          <m:t>𝑧</m:t>
                        </m:r>
                      </m:e>
                    </m:func>
                    <m:r>
                      <a:rPr lang="zh-CN" altLang="zh-CN" sz="2400" i="1" dirty="0" smtClean="0">
                        <a:solidFill>
                          <a:schemeClr val="tx1"/>
                        </a:solidFill>
                        <a:latin typeface="Cambria Math" panose="02040503050406030204" pitchFamily="18" charset="0"/>
                        <a:ea typeface="楷体" panose="02010609060101010101" pitchFamily="49" charset="-122"/>
                      </a:rPr>
                      <m:t>=</m:t>
                    </m:r>
                    <m:r>
                      <a:rPr lang="zh-CN" altLang="zh-CN" sz="2400" i="1" dirty="0" smtClean="0">
                        <a:solidFill>
                          <a:schemeClr val="tx1"/>
                        </a:solidFill>
                        <a:latin typeface="Cambria Math" panose="02040503050406030204" pitchFamily="18" charset="0"/>
                        <a:ea typeface="楷体" panose="02010609060101010101" pitchFamily="49" charset="-122"/>
                      </a:rPr>
                      <m:t>36</m:t>
                    </m:r>
                    <m:r>
                      <a:rPr lang="zh-CN" altLang="zh-CN" sz="2400" i="1" dirty="0" smtClean="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1</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40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2</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50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3</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22</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4</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20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5</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30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6</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25</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7</m:t>
                    </m:r>
                    <m:r>
                      <a:rPr lang="zh-CN" altLang="zh-CN" sz="2400" i="1" dirty="0">
                        <a:solidFill>
                          <a:schemeClr val="tx1"/>
                        </a:solidFill>
                        <a:latin typeface="Cambria Math" panose="02040503050406030204" pitchFamily="18" charset="0"/>
                        <a:ea typeface="楷体" panose="02010609060101010101" pitchFamily="49" charset="-122"/>
                      </a:rPr>
                      <m:t>+</m:t>
                    </m:r>
                    <m:r>
                      <a:rPr lang="en-US" altLang="zh-CN" sz="2400" b="0" i="1" dirty="0" smtClean="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48</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8</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58</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9</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61</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10</m:t>
                    </m:r>
                  </m:oMath>
                </a14:m>
                <a:r>
                  <a:rPr lang="zh-CN" altLang="zh-CN" sz="2400" dirty="0">
                    <a:solidFill>
                      <a:schemeClr val="tx1"/>
                    </a:solidFill>
                    <a:latin typeface="Arial" panose="020B0604020202020204" pitchFamily="34" charset="0"/>
                    <a:ea typeface="楷体" panose="02010609060101010101" pitchFamily="49" charset="-122"/>
                  </a:rPr>
                  <a:t>	</a:t>
                </a:r>
                <a:endParaRPr lang="en-US" altLang="zh-CN" sz="2400" dirty="0">
                  <a:solidFill>
                    <a:schemeClr val="tx1"/>
                  </a:solidFill>
                  <a:latin typeface="Arial" panose="020B0604020202020204" pitchFamily="34" charset="0"/>
                  <a:ea typeface="楷体" panose="02010609060101010101" pitchFamily="49" charset="-122"/>
                </a:endParaRPr>
              </a:p>
              <a:p>
                <a:pPr algn="just"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a:rPr lang="en-US" altLang="zh-CN" sz="2400" b="0" i="1" smtClean="0">
                          <a:solidFill>
                            <a:schemeClr val="tx1"/>
                          </a:solidFill>
                          <a:latin typeface="Cambria Math" panose="02040503050406030204" pitchFamily="18" charset="0"/>
                          <a:ea typeface="楷体" panose="02010609060101010101" pitchFamily="49" charset="-122"/>
                        </a:rPr>
                        <m:t>𝑠</m:t>
                      </m:r>
                      <m:r>
                        <a:rPr lang="en-US" altLang="zh-CN" sz="2400" b="0" i="1" smtClean="0">
                          <a:solidFill>
                            <a:schemeClr val="tx1"/>
                          </a:solidFill>
                          <a:latin typeface="Cambria Math" panose="02040503050406030204" pitchFamily="18" charset="0"/>
                          <a:ea typeface="楷体" panose="02010609060101010101" pitchFamily="49" charset="-122"/>
                        </a:rPr>
                        <m:t>.</m:t>
                      </m:r>
                      <m:r>
                        <a:rPr lang="en-US" altLang="zh-CN" sz="2400" b="0" i="1" smtClean="0">
                          <a:solidFill>
                            <a:schemeClr val="tx1"/>
                          </a:solidFill>
                          <a:latin typeface="Cambria Math" panose="02040503050406030204" pitchFamily="18" charset="0"/>
                          <a:ea typeface="楷体" panose="02010609060101010101" pitchFamily="49" charset="-122"/>
                        </a:rPr>
                        <m:t>𝑡</m:t>
                      </m:r>
                      <m:r>
                        <a:rPr lang="en-US" altLang="zh-CN" sz="2400" b="0" i="1" smtClean="0">
                          <a:solidFill>
                            <a:schemeClr val="tx1"/>
                          </a:solidFill>
                          <a:latin typeface="Cambria Math" panose="02040503050406030204" pitchFamily="18" charset="0"/>
                          <a:ea typeface="楷体" panose="02010609060101010101" pitchFamily="49" charset="-122"/>
                        </a:rPr>
                        <m:t>. </m:t>
                      </m:r>
                      <m:d>
                        <m:dPr>
                          <m:begChr m:val="{"/>
                          <m:endChr m:val=""/>
                          <m:ctrlPr>
                            <a:rPr lang="en-US" altLang="zh-CN" sz="2400" b="0" i="1" smtClean="0">
                              <a:solidFill>
                                <a:schemeClr val="tx1"/>
                              </a:solidFill>
                              <a:latin typeface="Cambria Math" panose="02040503050406030204" pitchFamily="18" charset="0"/>
                              <a:ea typeface="楷体" panose="02010609060101010101" pitchFamily="49" charset="-122"/>
                            </a:rPr>
                          </m:ctrlPr>
                        </m:dPr>
                        <m:e>
                          <m:eqArr>
                            <m:eqArrPr>
                              <m:ctrlPr>
                                <a:rPr lang="en-US" altLang="zh-CN" sz="2400" b="0" i="1" smtClean="0">
                                  <a:solidFill>
                                    <a:schemeClr val="tx1"/>
                                  </a:solidFill>
                                  <a:latin typeface="Cambria Math" panose="02040503050406030204" pitchFamily="18" charset="0"/>
                                  <a:ea typeface="楷体" panose="02010609060101010101" pitchFamily="49" charset="-122"/>
                                </a:rPr>
                              </m:ctrlPr>
                            </m:eqArrPr>
                            <m:e>
                              <m:r>
                                <a:rPr lang="zh-CN" altLang="zh-CN" sz="2400" i="1" dirty="0">
                                  <a:solidFill>
                                    <a:schemeClr val="tx1"/>
                                  </a:solidFill>
                                  <a:latin typeface="Cambria Math" panose="02040503050406030204" pitchFamily="18" charset="0"/>
                                  <a:ea typeface="楷体" panose="02010609060101010101" pitchFamily="49" charset="-122"/>
                                </a:rPr>
                                <m:t>100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1</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120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2</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150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3</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80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4</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70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5</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90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6</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80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7</m:t>
                              </m:r>
                              <m:r>
                                <a:rPr lang="zh-CN" altLang="zh-CN" sz="2400" i="1" dirty="0">
                                  <a:solidFill>
                                    <a:schemeClr val="tx1"/>
                                  </a:solidFill>
                                  <a:latin typeface="Cambria Math" panose="02040503050406030204" pitchFamily="18" charset="0"/>
                                  <a:ea typeface="楷体" panose="02010609060101010101" pitchFamily="49" charset="-122"/>
                                </a:rPr>
                                <m:t>+</m:t>
                              </m:r>
                            </m:e>
                            <m:e>
                              <m:r>
                                <a:rPr lang="zh-CN" altLang="zh-CN" sz="2400" i="1" dirty="0">
                                  <a:solidFill>
                                    <a:schemeClr val="tx1"/>
                                  </a:solidFill>
                                  <a:latin typeface="Cambria Math" panose="02040503050406030204" pitchFamily="18" charset="0"/>
                                  <a:ea typeface="楷体" panose="02010609060101010101" pitchFamily="49" charset="-122"/>
                                </a:rPr>
                                <m:t>140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8</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160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9</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180</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10</m:t>
                              </m:r>
                              <m:r>
                                <a:rPr lang="zh-CN" altLang="zh-CN" sz="2400" i="1" dirty="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720</m:t>
                              </m:r>
                              <m:r>
                                <m:rPr>
                                  <m:nor/>
                                </m:rPr>
                                <a:rPr lang="zh-CN" altLang="zh-CN" sz="2400" dirty="0">
                                  <a:solidFill>
                                    <a:schemeClr val="tx1"/>
                                  </a:solidFill>
                                  <a:latin typeface="Arial" panose="020B0604020202020204" pitchFamily="34" charset="0"/>
                                  <a:ea typeface="楷体" panose="02010609060101010101" pitchFamily="49" charset="-122"/>
                                </a:rPr>
                                <m:t> </m:t>
                              </m:r>
                            </m:e>
                            <m:e>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1</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2</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3</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2</m:t>
                              </m:r>
                              <m:r>
                                <m:rPr>
                                  <m:nor/>
                                </m:rPr>
                                <a:rPr lang="zh-CN" altLang="zh-CN" sz="2400" dirty="0">
                                  <a:solidFill>
                                    <a:schemeClr val="tx1"/>
                                  </a:solidFill>
                                  <a:latin typeface="Arial" panose="020B0604020202020204" pitchFamily="34" charset="0"/>
                                  <a:ea typeface="楷体" panose="02010609060101010101" pitchFamily="49" charset="-122"/>
                                </a:rPr>
                                <m:t> </m:t>
                              </m:r>
                            </m:e>
                            <m:e>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4</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5</m:t>
                              </m:r>
                              <m:r>
                                <a:rPr lang="zh-CN" altLang="zh-CN" sz="2400" i="1" baseline="-25000" dirty="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1</m:t>
                              </m:r>
                              <m:r>
                                <m:rPr>
                                  <m:nor/>
                                </m:rPr>
                                <a:rPr lang="zh-CN" altLang="zh-CN" sz="2400" dirty="0">
                                  <a:solidFill>
                                    <a:schemeClr val="tx1"/>
                                  </a:solidFill>
                                  <a:latin typeface="Arial" panose="020B0604020202020204" pitchFamily="34" charset="0"/>
                                  <a:ea typeface="楷体" panose="02010609060101010101" pitchFamily="49" charset="-122"/>
                                </a:rPr>
                                <m:t> </m:t>
                              </m:r>
                            </m:e>
                            <m:e>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6</m:t>
                              </m:r>
                              <m:r>
                                <a:rPr lang="zh-CN" altLang="zh-CN" sz="2400" i="1" baseline="-25000" dirty="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7</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1</m:t>
                              </m:r>
                            </m:e>
                            <m:e>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8</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9</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𝑥</m:t>
                              </m:r>
                              <m:r>
                                <a:rPr lang="zh-CN" altLang="zh-CN" sz="2400" i="1" baseline="-25000" dirty="0">
                                  <a:solidFill>
                                    <a:schemeClr val="tx1"/>
                                  </a:solidFill>
                                  <a:latin typeface="Cambria Math" panose="02040503050406030204" pitchFamily="18" charset="0"/>
                                  <a:ea typeface="楷体" panose="02010609060101010101" pitchFamily="49" charset="-122"/>
                                </a:rPr>
                                <m:t>10</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2</m:t>
                              </m:r>
                              <m:r>
                                <m:rPr>
                                  <m:nor/>
                                </m:rPr>
                                <a:rPr lang="zh-CN" altLang="zh-CN" sz="2400" dirty="0">
                                  <a:solidFill>
                                    <a:schemeClr val="tx1"/>
                                  </a:solidFill>
                                  <a:latin typeface="Arial" panose="020B0604020202020204" pitchFamily="34" charset="0"/>
                                  <a:ea typeface="楷体" panose="02010609060101010101" pitchFamily="49" charset="-122"/>
                                </a:rPr>
                                <m:t> </m:t>
                              </m:r>
                            </m:e>
                            <m:e>
                              <m:sSub>
                                <m:sSubPr>
                                  <m:ctrlPr>
                                    <a:rPr lang="en-US" altLang="zh-CN" sz="2400" b="0" i="1" dirty="0" smtClean="0">
                                      <a:solidFill>
                                        <a:schemeClr val="tx1"/>
                                      </a:solidFill>
                                      <a:latin typeface="Cambria Math" panose="02040503050406030204" pitchFamily="18" charset="0"/>
                                      <a:ea typeface="楷体" panose="02010609060101010101" pitchFamily="49" charset="-122"/>
                                    </a:rPr>
                                  </m:ctrlPr>
                                </m:sSubPr>
                                <m:e>
                                  <m:r>
                                    <a:rPr lang="zh-CN" altLang="zh-CN" sz="2400" i="1" dirty="0">
                                      <a:solidFill>
                                        <a:schemeClr val="tx1"/>
                                      </a:solidFill>
                                      <a:latin typeface="Cambria Math" panose="02040503050406030204" pitchFamily="18" charset="0"/>
                                      <a:ea typeface="楷体" panose="02010609060101010101" pitchFamily="49" charset="-122"/>
                                    </a:rPr>
                                    <m:t>𝑥</m:t>
                                  </m:r>
                                </m:e>
                                <m:sub>
                                  <m:r>
                                    <a:rPr lang="en-US" altLang="zh-CN" sz="2400" b="0" i="1" dirty="0" smtClean="0">
                                      <a:solidFill>
                                        <a:schemeClr val="tx1"/>
                                      </a:solidFill>
                                      <a:latin typeface="Cambria Math" panose="02040503050406030204" pitchFamily="18" charset="0"/>
                                      <a:ea typeface="楷体" panose="02010609060101010101" pitchFamily="49" charset="-122"/>
                                    </a:rPr>
                                    <m:t>𝑖</m:t>
                                  </m:r>
                                </m:sub>
                              </m:sSub>
                              <m:r>
                                <a:rPr lang="en-US" altLang="zh-CN" sz="2400" b="0" i="1" dirty="0" smtClean="0">
                                  <a:solidFill>
                                    <a:schemeClr val="tx1"/>
                                  </a:solidFill>
                                  <a:latin typeface="Cambria Math" panose="02040503050406030204" pitchFamily="18" charset="0"/>
                                  <a:ea typeface="楷体" panose="02010609060101010101" pitchFamily="49" charset="-122"/>
                                </a:rPr>
                                <m:t>≥</m:t>
                              </m:r>
                              <m:r>
                                <a:rPr lang="en-US" altLang="zh-CN" sz="2400" b="0" i="1" dirty="0" smtClean="0">
                                  <a:solidFill>
                                    <a:schemeClr val="tx1"/>
                                  </a:solidFill>
                                  <a:latin typeface="Cambria Math" panose="02040503050406030204" pitchFamily="18" charset="0"/>
                                  <a:ea typeface="楷体" panose="02010609060101010101" pitchFamily="49" charset="-122"/>
                                </a:rPr>
                                <m:t>0</m:t>
                              </m:r>
                              <m:r>
                                <a:rPr lang="en-US" altLang="zh-CN" sz="2400" b="0" i="1" dirty="0" smtClean="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且</m:t>
                              </m:r>
                              <m:r>
                                <a:rPr lang="zh-CN" altLang="zh-CN" sz="2400" i="1" dirty="0">
                                  <a:solidFill>
                                    <a:schemeClr val="tx1"/>
                                  </a:solidFill>
                                  <a:latin typeface="Cambria Math" panose="02040503050406030204" pitchFamily="18" charset="0"/>
                                  <a:ea typeface="楷体" panose="02010609060101010101" pitchFamily="49" charset="-122"/>
                                </a:rPr>
                                <m:t> </m:t>
                              </m:r>
                              <m:sSub>
                                <m:sSubPr>
                                  <m:ctrlPr>
                                    <a:rPr lang="en-US" altLang="zh-CN" sz="2400" b="0" i="1" dirty="0" smtClean="0">
                                      <a:solidFill>
                                        <a:schemeClr val="tx1"/>
                                      </a:solidFill>
                                      <a:latin typeface="Cambria Math" panose="02040503050406030204" pitchFamily="18" charset="0"/>
                                      <a:ea typeface="楷体" panose="02010609060101010101" pitchFamily="49" charset="-122"/>
                                    </a:rPr>
                                  </m:ctrlPr>
                                </m:sSubPr>
                                <m:e>
                                  <m:r>
                                    <a:rPr lang="zh-CN" altLang="zh-CN" sz="2400" i="1" dirty="0">
                                      <a:solidFill>
                                        <a:schemeClr val="tx1"/>
                                      </a:solidFill>
                                      <a:latin typeface="Cambria Math" panose="02040503050406030204" pitchFamily="18" charset="0"/>
                                      <a:ea typeface="楷体" panose="02010609060101010101" pitchFamily="49" charset="-122"/>
                                    </a:rPr>
                                    <m:t>𝑥</m:t>
                                  </m:r>
                                </m:e>
                                <m:sub>
                                  <m:r>
                                    <a:rPr lang="en-US" altLang="zh-CN" sz="2400" b="0" i="1" dirty="0" smtClean="0">
                                      <a:solidFill>
                                        <a:schemeClr val="tx1"/>
                                      </a:solidFill>
                                      <a:latin typeface="Cambria Math" panose="02040503050406030204" pitchFamily="18" charset="0"/>
                                      <a:ea typeface="楷体" panose="02010609060101010101" pitchFamily="49" charset="-122"/>
                                    </a:rPr>
                                    <m:t>𝑖</m:t>
                                  </m:r>
                                </m:sub>
                              </m:sSub>
                              <m:r>
                                <a:rPr lang="zh-CN" altLang="zh-CN" sz="2400" i="1" baseline="-25000" dirty="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为</m:t>
                              </m:r>
                              <m:r>
                                <a:rPr lang="zh-CN" altLang="zh-CN" sz="2400" i="1" dirty="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0</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1</m:t>
                              </m:r>
                              <m:r>
                                <a:rPr lang="zh-CN" altLang="zh-CN" sz="2400" i="1" dirty="0">
                                  <a:solidFill>
                                    <a:schemeClr val="tx1"/>
                                  </a:solidFill>
                                  <a:latin typeface="Cambria Math" panose="02040503050406030204" pitchFamily="18" charset="0"/>
                                  <a:ea typeface="楷体" panose="02010609060101010101" pitchFamily="49" charset="-122"/>
                                </a:rPr>
                                <m:t> </m:t>
                              </m:r>
                              <m:r>
                                <a:rPr lang="zh-CN" altLang="zh-CN" sz="2400" i="1" dirty="0">
                                  <a:solidFill>
                                    <a:schemeClr val="tx1"/>
                                  </a:solidFill>
                                  <a:latin typeface="Cambria Math" panose="02040503050406030204" pitchFamily="18" charset="0"/>
                                  <a:ea typeface="楷体" panose="02010609060101010101" pitchFamily="49" charset="-122"/>
                                </a:rPr>
                                <m:t>变量</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𝑖</m:t>
                              </m:r>
                              <m:r>
                                <a:rPr lang="zh-CN" altLang="zh-CN" sz="2400" i="1" dirty="0">
                                  <a:solidFill>
                                    <a:schemeClr val="tx1"/>
                                  </a:solidFill>
                                  <a:latin typeface="Cambria Math" panose="02040503050406030204" pitchFamily="18" charset="0"/>
                                  <a:ea typeface="楷体" panose="02010609060101010101" pitchFamily="49" charset="-122"/>
                                </a:rPr>
                                <m:t> = </m:t>
                              </m:r>
                              <m:r>
                                <a:rPr lang="zh-CN" altLang="zh-CN" sz="2400" i="1" dirty="0">
                                  <a:solidFill>
                                    <a:schemeClr val="tx1"/>
                                  </a:solidFill>
                                  <a:latin typeface="Cambria Math" panose="02040503050406030204" pitchFamily="18" charset="0"/>
                                  <a:ea typeface="楷体" panose="02010609060101010101" pitchFamily="49" charset="-122"/>
                                </a:rPr>
                                <m:t>1</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2</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3</m:t>
                              </m:r>
                              <m:r>
                                <a:rPr lang="zh-CN" altLang="zh-CN" sz="2400" i="1" dirty="0">
                                  <a:solidFill>
                                    <a:schemeClr val="tx1"/>
                                  </a:solidFill>
                                  <a:latin typeface="Cambria Math" panose="02040503050406030204" pitchFamily="18" charset="0"/>
                                  <a:ea typeface="楷体" panose="02010609060101010101" pitchFamily="49" charset="-122"/>
                                </a:rPr>
                                <m:t>,…,</m:t>
                              </m:r>
                              <m:r>
                                <a:rPr lang="zh-CN" altLang="zh-CN" sz="2400" i="1" dirty="0">
                                  <a:solidFill>
                                    <a:schemeClr val="tx1"/>
                                  </a:solidFill>
                                  <a:latin typeface="Cambria Math" panose="02040503050406030204" pitchFamily="18" charset="0"/>
                                  <a:ea typeface="楷体" panose="02010609060101010101" pitchFamily="49" charset="-122"/>
                                </a:rPr>
                                <m:t>10</m:t>
                              </m:r>
                              <m:r>
                                <m:rPr>
                                  <m:nor/>
                                </m:rPr>
                                <a:rPr lang="zh-CN" altLang="zh-CN" sz="2400" dirty="0">
                                  <a:solidFill>
                                    <a:schemeClr val="tx1"/>
                                  </a:solidFill>
                                  <a:latin typeface="Arial" panose="020B0604020202020204" pitchFamily="34" charset="0"/>
                                  <a:ea typeface="楷体" panose="02010609060101010101" pitchFamily="49" charset="-122"/>
                                </a:rPr>
                                <m:t> </m:t>
                              </m:r>
                            </m:e>
                          </m:eqArr>
                        </m:e>
                      </m:d>
                    </m:oMath>
                  </m:oMathPara>
                </a14:m>
                <a:endParaRPr lang="zh-CN" altLang="zh-CN" sz="2400" dirty="0">
                  <a:solidFill>
                    <a:schemeClr val="tx1"/>
                  </a:solidFill>
                  <a:latin typeface="Arial" panose="020B0604020202020204" pitchFamily="34" charset="0"/>
                  <a:ea typeface="楷体" panose="02010609060101010101" pitchFamily="49" charset="-122"/>
                </a:endParaRPr>
              </a:p>
              <a:p>
                <a:pPr algn="just" eaLnBrk="1" hangingPunct="1">
                  <a:buClr>
                    <a:srgbClr val="000000"/>
                  </a:buClr>
                  <a:buSzPct val="100000"/>
                  <a:tabLst>
                    <a:tab pos="190500" algn="l"/>
                    <a:tab pos="1993900" algn="l"/>
                  </a:tabLst>
                </a:pPr>
                <a:endParaRPr lang="zh-CN" altLang="zh-CN" sz="2400" dirty="0">
                  <a:solidFill>
                    <a:schemeClr val="tx1"/>
                  </a:solidFill>
                  <a:latin typeface="Arial" panose="020B0604020202020204" pitchFamily="34" charset="0"/>
                  <a:ea typeface="楷体" panose="02010609060101010101" pitchFamily="49" charset="-122"/>
                </a:endParaRPr>
              </a:p>
              <a:p>
                <a:pPr algn="just" eaLnBrk="1" hangingPunct="1">
                  <a:buClr>
                    <a:srgbClr val="000000"/>
                  </a:buClr>
                  <a:buSzPct val="100000"/>
                  <a:tabLst>
                    <a:tab pos="190500" algn="l"/>
                    <a:tab pos="1993900" algn="l"/>
                  </a:tabLst>
                </a:pPr>
                <a:endParaRPr lang="zh-CN" altLang="zh-CN" sz="2400" dirty="0">
                  <a:solidFill>
                    <a:schemeClr val="tx1"/>
                  </a:solidFill>
                  <a:latin typeface="Arial" panose="020B0604020202020204" pitchFamily="34" charset="0"/>
                  <a:ea typeface="楷体" panose="02010609060101010101" pitchFamily="49" charset="-122"/>
                </a:endParaRPr>
              </a:p>
              <a:p>
                <a:pPr algn="just" eaLnBrk="1" hangingPunct="1">
                  <a:buClr>
                    <a:srgbClr val="000000"/>
                  </a:buClr>
                  <a:buSzPct val="100000"/>
                  <a:tabLst>
                    <a:tab pos="190500" algn="l"/>
                    <a:tab pos="1993900" algn="l"/>
                  </a:tabLst>
                </a:pPr>
                <a:r>
                  <a:rPr lang="zh-CN" altLang="zh-CN" sz="2400" dirty="0">
                    <a:solidFill>
                      <a:schemeClr val="tx1"/>
                    </a:solidFill>
                    <a:latin typeface="Arial" panose="020B0604020202020204" pitchFamily="34" charset="0"/>
                    <a:ea typeface="楷体" panose="02010609060101010101" pitchFamily="49" charset="-122"/>
                  </a:rPr>
                  <a:t>		</a:t>
                </a:r>
                <a:endParaRPr lang="zh-CN" altLang="zh-CN" sz="2400" dirty="0">
                  <a:solidFill>
                    <a:schemeClr val="tx1"/>
                  </a:solidFill>
                  <a:latin typeface="Arial" panose="020B0604020202020204" pitchFamily="34" charset="0"/>
                  <a:ea typeface="楷体" panose="02010609060101010101" pitchFamily="49" charset="-122"/>
                </a:endParaRPr>
              </a:p>
              <a:p>
                <a:pPr algn="just" eaLnBrk="1" hangingPunct="1">
                  <a:buClr>
                    <a:srgbClr val="000000"/>
                  </a:buClr>
                  <a:buSzPct val="100000"/>
                  <a:tabLst>
                    <a:tab pos="190500" algn="l"/>
                    <a:tab pos="1993900" algn="l"/>
                  </a:tabLst>
                </a:pPr>
                <a:endParaRPr lang="zh-CN" altLang="zh-CN" sz="2400" dirty="0">
                  <a:solidFill>
                    <a:schemeClr val="tx1"/>
                  </a:solidFill>
                  <a:latin typeface="Arial" panose="020B0604020202020204" pitchFamily="34" charset="0"/>
                  <a:ea typeface="楷体" panose="02010609060101010101" pitchFamily="49" charset="-122"/>
                </a:endParaRPr>
              </a:p>
            </p:txBody>
          </p:sp>
        </mc:Choice>
        <mc:Fallback>
          <p:sp>
            <p:nvSpPr>
              <p:cNvPr id="28680" name="Rectangle 8"/>
              <p:cNvSpPr>
                <a:spLocks noRot="1" noChangeAspect="1" noMove="1" noResize="1" noEditPoints="1" noAdjustHandles="1" noChangeArrowheads="1" noChangeShapeType="1" noTextEdit="1"/>
              </p:cNvSpPr>
              <p:nvPr/>
            </p:nvSpPr>
            <p:spPr bwMode="auto">
              <a:xfrm>
                <a:off x="1760662" y="3320462"/>
                <a:ext cx="8670676" cy="3528343"/>
              </a:xfrm>
              <a:prstGeom prst="rect">
                <a:avLst/>
              </a:prstGeom>
              <a:blipFill rotWithShape="1">
                <a:blip r:embed="rId2"/>
                <a:stretch>
                  <a:fillRect l="-5" t="-1" r="2" b="-3195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28682" name="Rectangle 10"/>
          <p:cNvSpPr>
            <a:spLocks noChangeArrowheads="1"/>
          </p:cNvSpPr>
          <p:nvPr/>
        </p:nvSpPr>
        <p:spPr bwMode="auto">
          <a:xfrm>
            <a:off x="2063750" y="4935934"/>
            <a:ext cx="88931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endParaRPr lang="zh-CN" altLang="zh-CN" sz="20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000" dirty="0">
                <a:latin typeface="Arial" panose="020B0604020202020204" pitchFamily="34" charset="0"/>
                <a:ea typeface="楷体" panose="02010609060101010101" pitchFamily="49" charset="-122"/>
              </a:rPr>
              <a:t>		</a:t>
            </a:r>
            <a:endParaRPr lang="zh-CN" altLang="zh-CN" sz="20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000" dirty="0">
              <a:latin typeface="Arial" panose="020B0604020202020204" pitchFamily="34" charset="0"/>
              <a:ea typeface="楷体" panose="02010609060101010101" pitchFamily="49" charset="-122"/>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投资场所的选择</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 calcmode="lin" valueType="num">
                                      <p:cBhvr additive="base">
                                        <p:cTn id="7" dur="500" fill="hold"/>
                                        <p:tgtEl>
                                          <p:spTgt spid="28677"/>
                                        </p:tgtEl>
                                        <p:attrNameLst>
                                          <p:attrName>ppt_x</p:attrName>
                                        </p:attrNameLst>
                                      </p:cBhvr>
                                      <p:tavLst>
                                        <p:tav tm="0">
                                          <p:val>
                                            <p:strVal val="ppt_x"/>
                                          </p:val>
                                        </p:tav>
                                        <p:tav tm="100000">
                                          <p:val>
                                            <p:strVal val="ppt_x"/>
                                          </p:val>
                                        </p:tav>
                                      </p:tavLst>
                                    </p:anim>
                                    <p:anim calcmode="lin" valueType="num">
                                      <p:cBhvr additive="base">
                                        <p:cTn id="8" dur="500" fill="hold"/>
                                        <p:tgtEl>
                                          <p:spTgt spid="2867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80"/>
                                        </p:tgtEl>
                                        <p:attrNameLst>
                                          <p:attrName>style.visibility</p:attrName>
                                        </p:attrNameLst>
                                      </p:cBhvr>
                                      <p:to>
                                        <p:strVal val="visible"/>
                                      </p:to>
                                    </p:set>
                                    <p:anim calcmode="lin" valueType="num">
                                      <p:cBhvr additive="base">
                                        <p:cTn id="13" dur="500" fill="hold"/>
                                        <p:tgtEl>
                                          <p:spTgt spid="28680"/>
                                        </p:tgtEl>
                                        <p:attrNameLst>
                                          <p:attrName>ppt_x</p:attrName>
                                        </p:attrNameLst>
                                      </p:cBhvr>
                                      <p:tavLst>
                                        <p:tav tm="0">
                                          <p:val>
                                            <p:strVal val="ppt_x"/>
                                          </p:val>
                                        </p:tav>
                                        <p:tav tm="100000">
                                          <p:val>
                                            <p:strVal val="ppt_x"/>
                                          </p:val>
                                        </p:tav>
                                      </p:tavLst>
                                    </p:anim>
                                    <p:anim calcmode="lin" valueType="num">
                                      <p:cBhvr additive="base">
                                        <p:cTn id="14" dur="500" fill="hold"/>
                                        <p:tgtEl>
                                          <p:spTgt spid="2868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82"/>
                                        </p:tgtEl>
                                        <p:attrNameLst>
                                          <p:attrName>style.visibility</p:attrName>
                                        </p:attrNameLst>
                                      </p:cBhvr>
                                      <p:to>
                                        <p:strVal val="visible"/>
                                      </p:to>
                                    </p:set>
                                    <p:anim calcmode="lin" valueType="num">
                                      <p:cBhvr additive="base">
                                        <p:cTn id="19" dur="500" fill="hold"/>
                                        <p:tgtEl>
                                          <p:spTgt spid="28682"/>
                                        </p:tgtEl>
                                        <p:attrNameLst>
                                          <p:attrName>ppt_x</p:attrName>
                                        </p:attrNameLst>
                                      </p:cBhvr>
                                      <p:tavLst>
                                        <p:tav tm="0">
                                          <p:val>
                                            <p:strVal val="ppt_x"/>
                                          </p:val>
                                        </p:tav>
                                        <p:tav tm="100000">
                                          <p:val>
                                            <p:strVal val="ppt_x"/>
                                          </p:val>
                                        </p:tav>
                                      </p:tavLst>
                                    </p:anim>
                                    <p:anim calcmode="lin" valueType="num">
                                      <p:cBhvr additive="base">
                                        <p:cTn id="20" dur="500" fill="hold"/>
                                        <p:tgtEl>
                                          <p:spTgt spid="286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bldLvl="0" animBg="1"/>
      <p:bldP spid="28680" grpId="0" bldLvl="0" animBg="1"/>
      <p:bldP spid="28682"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5"/>
          <p:cNvSpPr>
            <a:spLocks noChangeArrowheads="1"/>
          </p:cNvSpPr>
          <p:nvPr/>
        </p:nvSpPr>
        <p:spPr bwMode="auto">
          <a:xfrm>
            <a:off x="672465" y="1557655"/>
            <a:ext cx="9871710" cy="4319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sz="2400" dirty="0">
                <a:latin typeface="Arial" panose="020B0604020202020204" pitchFamily="34" charset="0"/>
                <a:ea typeface="楷体" panose="02010609060101010101" pitchFamily="49" charset="-122"/>
              </a:rPr>
              <a:t>二、固定成本问题</a:t>
            </a:r>
            <a:endParaRPr lang="zh-CN" altLang="zh-CN" sz="24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dirty="0">
                <a:latin typeface="Arial" panose="020B0604020202020204" pitchFamily="34" charset="0"/>
                <a:ea typeface="楷体" panose="02010609060101010101" pitchFamily="49" charset="-122"/>
              </a:rPr>
              <a:t>	例 5．高压容器公司制造小、中、大三种尺寸的金属容器，所用资源为金属板、劳动力和机器设备，制造一个容器所需的各种资源的数量如表。不考虑固定费用，每种容器单位利润分别为 4 万元、5 万元、6 万元，可使用的金属板 500 吨，劳动力 300 人/月，机器100 台/月，此外只要生产，须支付固定费用：小号是 l00 万元，中号为 150 万元，大号为 200 万元。制定一个生产计划，使获利最大。</a:t>
            </a:r>
            <a:endParaRPr lang="zh-CN" altLang="zh-CN"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endParaRPr lang="zh-CN" altLang="zh-CN" dirty="0">
              <a:latin typeface="Arial" panose="020B0604020202020204" pitchFamily="34" charset="0"/>
              <a:ea typeface="楷体" panose="02010609060101010101" pitchFamily="49" charset="-122"/>
            </a:endParaRPr>
          </a:p>
        </p:txBody>
      </p:sp>
      <p:sp>
        <p:nvSpPr>
          <p:cNvPr id="48134"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latin typeface="Arial" panose="020B0604020202020204" pitchFamily="34" charset="0"/>
                <a:ea typeface="楷体" panose="02010609060101010101" pitchFamily="49" charset="-122"/>
                <a:sym typeface="+mn-ea"/>
              </a:rPr>
              <a:t>固定成本问题</a:t>
            </a:r>
            <a:endParaRPr lang="zh-CN" altLang="en-US" dirty="0">
              <a:latin typeface="楷体" panose="02010609060101010101" pitchFamily="49" charset="-122"/>
              <a:ea typeface="楷体" panose="02010609060101010101" pitchFamily="49" charset="-122"/>
            </a:endParaRPr>
          </a:p>
        </p:txBody>
      </p:sp>
      <p:graphicFrame>
        <p:nvGraphicFramePr>
          <p:cNvPr id="3" name="表格 2"/>
          <p:cNvGraphicFramePr>
            <a:graphicFrameLocks noGrp="1"/>
          </p:cNvGraphicFramePr>
          <p:nvPr/>
        </p:nvGraphicFramePr>
        <p:xfrm>
          <a:off x="688209" y="4211009"/>
          <a:ext cx="9835584" cy="1960880"/>
        </p:xfrm>
        <a:graphic>
          <a:graphicData uri="http://schemas.openxmlformats.org/drawingml/2006/table">
            <a:tbl>
              <a:tblPr firstRow="1" bandRow="1">
                <a:tableStyleId>{5C22544A-7EE6-4342-B048-85BDC9FD1C3A}</a:tableStyleId>
              </a:tblPr>
              <a:tblGrid>
                <a:gridCol w="2779395"/>
                <a:gridCol w="2088232"/>
                <a:gridCol w="2088232"/>
                <a:gridCol w="2879725"/>
              </a:tblGrid>
              <a:tr h="490217">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资源</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tabLst>
                          <a:tab pos="127000" algn="l"/>
                          <a:tab pos="215900" algn="l"/>
                          <a:tab pos="254000" algn="l"/>
                        </a:tabLst>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tabLst>
                          <a:tab pos="127000" algn="l"/>
                          <a:tab pos="215900" algn="l"/>
                          <a:tab pos="254000" algn="l"/>
                        </a:tabLst>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tabLst>
                          <a:tab pos="127000" algn="l"/>
                          <a:tab pos="215900" algn="l"/>
                          <a:tab pos="254000" algn="l"/>
                        </a:tabLst>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tabLst>
                          <a:tab pos="127000" algn="l"/>
                          <a:tab pos="215900" algn="l"/>
                          <a:tab pos="254000" algn="l"/>
                        </a:tabLst>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小号容器</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tabLst>
                          <a:tab pos="88900" algn="l"/>
                          <a:tab pos="215900" algn="l"/>
                          <a:tab pos="241300" algn="l"/>
                          <a:tab pos="279400" algn="l"/>
                        </a:tabLst>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tabLst>
                          <a:tab pos="88900" algn="l"/>
                          <a:tab pos="215900" algn="l"/>
                          <a:tab pos="241300" algn="l"/>
                          <a:tab pos="279400" algn="l"/>
                        </a:tabLst>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tabLst>
                          <a:tab pos="88900" algn="l"/>
                          <a:tab pos="215900" algn="l"/>
                          <a:tab pos="241300" algn="l"/>
                          <a:tab pos="279400" algn="l"/>
                        </a:tabLst>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tabLst>
                          <a:tab pos="88900" algn="l"/>
                          <a:tab pos="215900" algn="l"/>
                          <a:tab pos="241300" algn="l"/>
                          <a:tab pos="279400" algn="l"/>
                        </a:tabLst>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中号容器</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tabLst>
                          <a:tab pos="25400" algn="l"/>
                          <a:tab pos="215900" algn="l"/>
                        </a:tabLst>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tabLst>
                          <a:tab pos="25400" algn="l"/>
                          <a:tab pos="215900" algn="l"/>
                        </a:tabLst>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tabLst>
                          <a:tab pos="25400" algn="l"/>
                          <a:tab pos="215900" algn="l"/>
                        </a:tabLst>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tabLst>
                          <a:tab pos="25400" algn="l"/>
                          <a:tab pos="215900" algn="l"/>
                        </a:tabLst>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tabLst>
                          <a:tab pos="25400" algn="l"/>
                          <a:tab pos="215900" algn="l"/>
                        </a:tabLst>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tabLst>
                          <a:tab pos="25400" algn="l"/>
                          <a:tab pos="215900" algn="l"/>
                        </a:tabLst>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大号容器</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490217">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金属板/t</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8</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490217">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劳动力/（人/月）</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490217">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机器设备/（台/月）</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bl>
          </a:graphicData>
        </a:graphic>
      </p:graphicFrame>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2229" name="Rectangle 5"/>
              <p:cNvSpPr>
                <a:spLocks noChangeArrowheads="1"/>
              </p:cNvSpPr>
              <p:nvPr/>
            </p:nvSpPr>
            <p:spPr bwMode="auto">
              <a:xfrm>
                <a:off x="1649412" y="1567592"/>
                <a:ext cx="8893175" cy="4520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解：整数规划问题</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设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oMath>
                </a14:m>
                <a:r>
                  <a:rPr lang="zh-CN" altLang="zh-CN" sz="2800" dirty="0">
                    <a:latin typeface="Arial" panose="020B0604020202020204" pitchFamily="34" charset="0"/>
                    <a:ea typeface="楷体" panose="02010609060101010101" pitchFamily="49" charset="-122"/>
                  </a:rPr>
                  <a:t> 分别为小号、中号和大号容器的生产数量。</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固定费用：</a:t>
                </a:r>
                <a:r>
                  <a:rPr lang="zh-CN" altLang="en-US" sz="2800" dirty="0">
                    <a:latin typeface="Arial" panose="020B0604020202020204" pitchFamily="34" charset="0"/>
                    <a:ea typeface="楷体" panose="02010609060101010101" pitchFamily="49" charset="-122"/>
                  </a:rPr>
                  <a:t>容器的生产与否</a:t>
                </a:r>
                <a:endParaRPr lang="en-US"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设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m:t>
                    </m:r>
                    <m:d>
                      <m:dPr>
                        <m:begChr m:val="{"/>
                        <m:endChr m:val=""/>
                        <m:ctrlPr>
                          <a:rPr lang="en-US" altLang="zh-CN" sz="2800" i="1" dirty="0" smtClean="0">
                            <a:latin typeface="Cambria Math" panose="02040503050406030204" pitchFamily="18" charset="0"/>
                            <a:ea typeface="楷体" panose="02010609060101010101" pitchFamily="49" charset="-122"/>
                          </a:rPr>
                        </m:ctrlPr>
                      </m:dPr>
                      <m:e>
                        <m:eqArr>
                          <m:eqArrPr>
                            <m:ctrlPr>
                              <a:rPr lang="en-US" altLang="zh-CN" sz="2800" i="1" dirty="0" smtClean="0">
                                <a:latin typeface="Cambria Math" panose="02040503050406030204" pitchFamily="18" charset="0"/>
                                <a:ea typeface="楷体" panose="02010609060101010101" pitchFamily="49" charset="-122"/>
                              </a:rPr>
                            </m:ctrlPr>
                          </m:eqArrPr>
                          <m:e>
                            <m:r>
                              <a:rPr lang="en-US" altLang="zh-CN" sz="2800" b="0" i="1" dirty="0" smtClean="0">
                                <a:latin typeface="Cambria Math" panose="02040503050406030204" pitchFamily="18" charset="0"/>
                                <a:ea typeface="楷体" panose="02010609060101010101" pitchFamily="49" charset="-122"/>
                              </a:rPr>
                              <m:t>1</m:t>
                            </m:r>
                            <m:r>
                              <a:rPr lang="en-US" altLang="zh-CN" sz="2800" b="0" i="1" dirty="0" smtClean="0">
                                <a:latin typeface="Cambria Math" panose="02040503050406030204" pitchFamily="18" charset="0"/>
                                <a:ea typeface="楷体" panose="02010609060101010101" pitchFamily="49" charset="-122"/>
                              </a:rPr>
                              <m:t>,</m:t>
                            </m:r>
                            <m:r>
                              <m:rPr>
                                <m:nor/>
                              </m:rPr>
                              <a:rPr lang="zh-CN" altLang="zh-CN" sz="2800" dirty="0">
                                <a:latin typeface="Arial" panose="020B0604020202020204" pitchFamily="34" charset="0"/>
                                <a:ea typeface="楷体" panose="02010609060101010101" pitchFamily="49" charset="-122"/>
                              </a:rPr>
                              <m:t>当生产第</m:t>
                            </m:r>
                            <m:r>
                              <m:rPr>
                                <m:nor/>
                              </m:rPr>
                              <a:rPr lang="zh-CN" altLang="zh-CN" sz="2800" dirty="0">
                                <a:latin typeface="Arial" panose="020B0604020202020204" pitchFamily="34"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m:t>
                            </m:r>
                            <m:r>
                              <m:rPr>
                                <m:nor/>
                              </m:rPr>
                              <a:rPr lang="zh-CN" altLang="zh-CN" sz="2800" dirty="0">
                                <a:latin typeface="Arial" panose="020B0604020202020204" pitchFamily="34" charset="0"/>
                                <a:ea typeface="楷体" panose="02010609060101010101" pitchFamily="49" charset="-122"/>
                              </a:rPr>
                              <m:t>种容器，即</m:t>
                            </m:r>
                            <m:r>
                              <m:rPr>
                                <m:nor/>
                              </m:rPr>
                              <a:rPr lang="zh-CN" altLang="zh-CN" sz="2800" dirty="0">
                                <a:latin typeface="Arial" panose="020B0604020202020204" pitchFamily="34"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r>
                              <a:rPr lang="zh-CN" altLang="zh-CN" sz="2800" i="1" dirty="0">
                                <a:latin typeface="Cambria Math" panose="02040503050406030204" pitchFamily="18" charset="0"/>
                                <a:ea typeface="楷体" panose="02010609060101010101" pitchFamily="49" charset="-122"/>
                              </a:rPr>
                              <m:t> </m:t>
                            </m:r>
                            <m:r>
                              <m:rPr>
                                <m:nor/>
                              </m:rPr>
                              <a:rPr lang="zh-CN" altLang="zh-CN" sz="2800" dirty="0">
                                <a:latin typeface="Arial" panose="020B0604020202020204" pitchFamily="34" charset="0"/>
                                <a:ea typeface="楷体" panose="02010609060101010101" pitchFamily="49" charset="-122"/>
                              </a:rPr>
                              <m:t>时</m:t>
                            </m:r>
                          </m:e>
                          <m:e>
                            <m:r>
                              <a:rPr lang="en-US" altLang="zh-CN" sz="2800" b="0" i="1" dirty="0" smtClean="0">
                                <a:latin typeface="Cambria Math" panose="02040503050406030204" pitchFamily="18" charset="0"/>
                                <a:ea typeface="楷体" panose="02010609060101010101" pitchFamily="49" charset="-122"/>
                              </a:rPr>
                              <m:t>0</m:t>
                            </m:r>
                            <m:r>
                              <a:rPr lang="en-US" altLang="zh-CN" sz="2800" b="0" i="1" dirty="0" smtClean="0">
                                <a:latin typeface="Cambria Math" panose="02040503050406030204" pitchFamily="18" charset="0"/>
                                <a:ea typeface="楷体" panose="02010609060101010101" pitchFamily="49" charset="-122"/>
                              </a:rPr>
                              <m:t>,</m:t>
                            </m:r>
                            <m:r>
                              <m:rPr>
                                <m:nor/>
                              </m:rPr>
                              <a:rPr lang="zh-CN" altLang="zh-CN" sz="2800" dirty="0">
                                <a:latin typeface="Arial" panose="020B0604020202020204" pitchFamily="34" charset="0"/>
                                <a:ea typeface="楷体" panose="02010609060101010101" pitchFamily="49" charset="-122"/>
                              </a:rPr>
                              <m:t>当不生产第</m:t>
                            </m:r>
                            <m:r>
                              <m:rPr>
                                <m:nor/>
                              </m:rPr>
                              <a:rPr lang="zh-CN" altLang="zh-CN" sz="2800" dirty="0">
                                <a:latin typeface="Arial" panose="020B0604020202020204" pitchFamily="34"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𝑖</m:t>
                            </m:r>
                            <m:r>
                              <m:rPr>
                                <m:nor/>
                              </m:rPr>
                              <a:rPr lang="zh-CN" altLang="zh-CN" sz="2800" dirty="0">
                                <a:latin typeface="Arial" panose="020B0604020202020204" pitchFamily="34" charset="0"/>
                                <a:ea typeface="楷体" panose="02010609060101010101" pitchFamily="49" charset="-122"/>
                              </a:rPr>
                              <m:t>种容器</m:t>
                            </m:r>
                            <m:r>
                              <a:rPr lang="zh-CN" altLang="en-US" sz="2800" i="1" dirty="0">
                                <a:latin typeface="Cambria Math" panose="02040503050406030204" pitchFamily="18" charset="0"/>
                                <a:ea typeface="楷体" panose="02010609060101010101" pitchFamily="49" charset="-122"/>
                              </a:rPr>
                              <m:t>，</m:t>
                            </m:r>
                            <m:r>
                              <m:rPr>
                                <m:nor/>
                              </m:rPr>
                              <a:rPr lang="zh-CN" altLang="zh-CN" sz="2800" dirty="0">
                                <a:latin typeface="Arial" panose="020B0604020202020204" pitchFamily="34" charset="0"/>
                                <a:ea typeface="楷体" panose="02010609060101010101" pitchFamily="49" charset="-122"/>
                              </a:rPr>
                              <m:t>即</m:t>
                            </m:r>
                            <m:r>
                              <m:rPr>
                                <m:nor/>
                              </m:rPr>
                              <a:rPr lang="zh-CN" altLang="zh-CN" sz="2800" dirty="0">
                                <a:latin typeface="Arial" panose="020B0604020202020204" pitchFamily="34"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r>
                              <m:rPr>
                                <m:nor/>
                              </m:rPr>
                              <a:rPr lang="zh-CN" altLang="zh-CN" sz="2800" dirty="0">
                                <a:latin typeface="Arial" panose="020B0604020202020204" pitchFamily="34" charset="0"/>
                                <a:ea typeface="楷体" panose="02010609060101010101" pitchFamily="49" charset="-122"/>
                              </a:rPr>
                              <m:t> </m:t>
                            </m:r>
                            <m:r>
                              <m:rPr>
                                <m:nor/>
                              </m:rPr>
                              <a:rPr lang="zh-CN" altLang="zh-CN" sz="2800" dirty="0">
                                <a:latin typeface="Arial" panose="020B0604020202020204" pitchFamily="34" charset="0"/>
                                <a:ea typeface="楷体" panose="02010609060101010101" pitchFamily="49" charset="-122"/>
                              </a:rPr>
                              <m:t>时</m:t>
                            </m:r>
                          </m:e>
                        </m:eqArr>
                      </m:e>
                    </m:d>
                  </m:oMath>
                </a14:m>
                <a:endParaRPr lang="zh-CN" altLang="zh-CN" sz="2800" dirty="0">
                  <a:latin typeface="Arial" panose="020B0604020202020204" pitchFamily="34" charset="0"/>
                  <a:ea typeface="楷体" panose="02010609060101010101" pitchFamily="49" charset="-122"/>
                </a:endParaRPr>
              </a:p>
            </p:txBody>
          </p:sp>
        </mc:Choice>
        <mc:Fallback>
          <p:sp>
            <p:nvSpPr>
              <p:cNvPr id="52229" name="Rectangle 5"/>
              <p:cNvSpPr>
                <a:spLocks noRot="1" noChangeAspect="1" noMove="1" noResize="1" noEditPoints="1" noAdjustHandles="1" noChangeArrowheads="1" noChangeShapeType="1" noTextEdit="1"/>
              </p:cNvSpPr>
              <p:nvPr/>
            </p:nvSpPr>
            <p:spPr bwMode="auto">
              <a:xfrm>
                <a:off x="1649412" y="1567592"/>
                <a:ext cx="8893175" cy="4520467"/>
              </a:xfrm>
              <a:prstGeom prst="rect">
                <a:avLst/>
              </a:prstGeom>
              <a:blipFill rotWithShape="1">
                <a:blip r:embed="rId1"/>
                <a:stretch>
                  <a:fillRect l="-4" t="-9" r="4" b="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52230"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latin typeface="Arial" panose="020B0604020202020204" pitchFamily="34" charset="0"/>
                <a:ea typeface="楷体" panose="02010609060101010101" pitchFamily="49" charset="-122"/>
                <a:sym typeface="+mn-ea"/>
              </a:rPr>
              <a:t>固定成本问题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5"/>
          <p:cNvSpPr>
            <a:spLocks noChangeArrowheads="1"/>
          </p:cNvSpPr>
          <p:nvPr/>
        </p:nvSpPr>
        <p:spPr bwMode="auto">
          <a:xfrm>
            <a:off x="1651000" y="1557338"/>
            <a:ext cx="8893175"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建立数学模型：		</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54278"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33800" name="Rectangle 8"/>
              <p:cNvSpPr>
                <a:spLocks noChangeArrowheads="1"/>
              </p:cNvSpPr>
              <p:nvPr/>
            </p:nvSpPr>
            <p:spPr bwMode="auto">
              <a:xfrm>
                <a:off x="1608138" y="198596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m:rPr>
                        <m:sty m:val="p"/>
                      </m:rPr>
                      <a:rPr lang="zh-CN" altLang="zh-CN" sz="2800" i="1" dirty="0" smtClean="0">
                        <a:latin typeface="Cambria Math" panose="02040503050406030204" pitchFamily="18" charset="0"/>
                        <a:ea typeface="楷体" panose="02010609060101010101" pitchFamily="49" charset="-122"/>
                      </a:rPr>
                      <m:t>max</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𝑧</m:t>
                    </m:r>
                    <m:r>
                      <a:rPr lang="zh-CN" altLang="zh-CN" sz="2800" i="1" dirty="0" smtClean="0">
                        <a:latin typeface="Cambria Math" panose="02040503050406030204" pitchFamily="18" charset="0"/>
                        <a:ea typeface="楷体" panose="02010609060101010101" pitchFamily="49" charset="-122"/>
                      </a:rPr>
                      <m:t> = </m:t>
                    </m:r>
                    <m:r>
                      <a:rPr lang="zh-CN" altLang="zh-CN" sz="2800" i="1" dirty="0" smtClean="0">
                        <a:latin typeface="Cambria Math" panose="02040503050406030204" pitchFamily="18" charset="0"/>
                        <a:ea typeface="楷体" panose="02010609060101010101" pitchFamily="49" charset="-122"/>
                      </a:rPr>
                      <m:t>4</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5</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6</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100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150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200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3</m:t>
                    </m:r>
                  </m:oMath>
                </a14:m>
                <a:endParaRPr lang="zh-CN" altLang="zh-CN" sz="2800" baseline="-25000" dirty="0">
                  <a:latin typeface="Arial" panose="020B0604020202020204" pitchFamily="34" charset="0"/>
                  <a:ea typeface="楷体" panose="02010609060101010101" pitchFamily="49" charset="-122"/>
                </a:endParaRPr>
              </a:p>
            </p:txBody>
          </p:sp>
        </mc:Choice>
        <mc:Fallback>
          <p:sp>
            <p:nvSpPr>
              <p:cNvPr id="33800" name="Rectangle 8"/>
              <p:cNvSpPr>
                <a:spLocks noRot="1" noChangeAspect="1" noMove="1" noResize="1" noEditPoints="1" noAdjustHandles="1" noChangeArrowheads="1" noChangeShapeType="1" noTextEdit="1"/>
              </p:cNvSpPr>
              <p:nvPr/>
            </p:nvSpPr>
            <p:spPr bwMode="auto">
              <a:xfrm>
                <a:off x="1608138" y="1985963"/>
                <a:ext cx="8893175" cy="506412"/>
              </a:xfrm>
              <a:prstGeom prst="rect">
                <a:avLst/>
              </a:prstGeom>
              <a:blipFill rotWithShape="1">
                <a:blip r:embed="rId1"/>
                <a:stretch>
                  <a:fillRect l="-4" t="-63" r="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1" name="Rectangle 9"/>
              <p:cNvSpPr>
                <a:spLocks noChangeArrowheads="1"/>
              </p:cNvSpPr>
              <p:nvPr/>
            </p:nvSpPr>
            <p:spPr bwMode="auto">
              <a:xfrm>
                <a:off x="1589088" y="249396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	</m:t>
                    </m:r>
                    <m:r>
                      <a:rPr lang="zh-CN" altLang="zh-CN" sz="2800" i="1" dirty="0" smtClean="0">
                        <a:latin typeface="Cambria Math" panose="02040503050406030204" pitchFamily="18" charset="0"/>
                        <a:ea typeface="楷体" panose="02010609060101010101" pitchFamily="49" charset="-122"/>
                      </a:rPr>
                      <m:t>𝑠</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𝑡</m:t>
                    </m:r>
                    <m:r>
                      <a:rPr lang="zh-CN" altLang="zh-CN" sz="2800" i="1" dirty="0" smtClean="0">
                        <a:latin typeface="Cambria Math" panose="02040503050406030204" pitchFamily="18" charset="0"/>
                        <a:ea typeface="楷体" panose="02010609060101010101" pitchFamily="49" charset="-122"/>
                      </a:rPr>
                      <m:t>.   </m:t>
                    </m:r>
                    <m:r>
                      <a:rPr lang="zh-CN" altLang="zh-CN" sz="2800" i="1" dirty="0" smtClean="0">
                        <a:latin typeface="Cambria Math" panose="02040503050406030204" pitchFamily="18" charset="0"/>
                        <a:ea typeface="楷体" panose="02010609060101010101" pitchFamily="49" charset="-122"/>
                      </a:rPr>
                      <m:t>2</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8</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500</m:t>
                    </m:r>
                    <m:r>
                      <a:rPr lang="zh-CN" altLang="zh-CN" sz="2800" i="1" dirty="0">
                        <a:latin typeface="Cambria Math" panose="02040503050406030204" pitchFamily="18" charset="0"/>
                        <a:ea typeface="楷体" panose="02010609060101010101" pitchFamily="49" charset="-122"/>
                      </a:rPr>
                      <m:t>      </m:t>
                    </m:r>
                  </m:oMath>
                </a14:m>
                <a:r>
                  <a:rPr lang="zh-CN" altLang="zh-CN" sz="2800" dirty="0">
                    <a:latin typeface="Arial" panose="020B0604020202020204" pitchFamily="34" charset="0"/>
                    <a:ea typeface="楷体" panose="02010609060101010101" pitchFamily="49" charset="-122"/>
                  </a:rPr>
                  <a:t>（金属板约束）</a:t>
                </a:r>
                <a:endParaRPr lang="zh-CN" altLang="zh-CN" sz="2800" dirty="0">
                  <a:latin typeface="Arial" panose="020B0604020202020204" pitchFamily="34" charset="0"/>
                  <a:ea typeface="楷体" panose="02010609060101010101" pitchFamily="49" charset="-122"/>
                </a:endParaRPr>
              </a:p>
            </p:txBody>
          </p:sp>
        </mc:Choice>
        <mc:Fallback>
          <p:sp>
            <p:nvSpPr>
              <p:cNvPr id="33801" name="Rectangle 9"/>
              <p:cNvSpPr>
                <a:spLocks noRot="1" noChangeAspect="1" noMove="1" noResize="1" noEditPoints="1" noAdjustHandles="1" noChangeArrowheads="1" noChangeShapeType="1" noTextEdit="1"/>
              </p:cNvSpPr>
              <p:nvPr/>
            </p:nvSpPr>
            <p:spPr bwMode="auto">
              <a:xfrm>
                <a:off x="1589088" y="2493963"/>
                <a:ext cx="8893175" cy="506412"/>
              </a:xfrm>
              <a:prstGeom prst="rect">
                <a:avLst/>
              </a:prstGeom>
              <a:blipFill rotWithShape="1">
                <a:blip r:embed="rId2"/>
                <a:stretch>
                  <a:fillRect l="-4" t="-63" r="4" b="-815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2" name="Rectangle 10"/>
              <p:cNvSpPr>
                <a:spLocks noChangeArrowheads="1"/>
              </p:cNvSpPr>
              <p:nvPr/>
            </p:nvSpPr>
            <p:spPr bwMode="auto">
              <a:xfrm>
                <a:off x="1570038" y="298291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2</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300</m:t>
                    </m:r>
                  </m:oMath>
                </a14:m>
                <a:r>
                  <a:rPr lang="en-US" altLang="zh-CN" sz="2800" dirty="0">
                    <a:latin typeface="Arial" panose="020B0604020202020204" pitchFamily="34" charset="0"/>
                    <a:ea typeface="楷体" panose="02010609060101010101" pitchFamily="49" charset="-122"/>
                  </a:rPr>
                  <a:t>     </a:t>
                </a:r>
                <a:r>
                  <a:rPr lang="zh-CN" altLang="zh-CN" sz="2800" dirty="0">
                    <a:latin typeface="Arial" panose="020B0604020202020204" pitchFamily="34" charset="0"/>
                    <a:ea typeface="楷体" panose="02010609060101010101" pitchFamily="49" charset="-122"/>
                  </a:rPr>
                  <a:t>（劳动力约束）</a:t>
                </a:r>
                <a:endParaRPr lang="zh-CN" altLang="zh-CN" sz="2800" dirty="0">
                  <a:latin typeface="Arial" panose="020B0604020202020204" pitchFamily="34" charset="0"/>
                  <a:ea typeface="楷体" panose="02010609060101010101" pitchFamily="49" charset="-122"/>
                </a:endParaRPr>
              </a:p>
            </p:txBody>
          </p:sp>
        </mc:Choice>
        <mc:Fallback>
          <p:sp>
            <p:nvSpPr>
              <p:cNvPr id="33802" name="Rectangle 10"/>
              <p:cNvSpPr>
                <a:spLocks noRot="1" noChangeAspect="1" noMove="1" noResize="1" noEditPoints="1" noAdjustHandles="1" noChangeArrowheads="1" noChangeShapeType="1" noTextEdit="1"/>
              </p:cNvSpPr>
              <p:nvPr/>
            </p:nvSpPr>
            <p:spPr bwMode="auto">
              <a:xfrm>
                <a:off x="1570038" y="2982913"/>
                <a:ext cx="8893175" cy="506412"/>
              </a:xfrm>
              <a:prstGeom prst="rect">
                <a:avLst/>
              </a:prstGeom>
              <a:blipFill rotWithShape="1">
                <a:blip r:embed="rId3"/>
                <a:stretch>
                  <a:fillRect l="-4" t="-63" r="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3" name="Rectangle 11"/>
              <p:cNvSpPr>
                <a:spLocks noChangeArrowheads="1"/>
              </p:cNvSpPr>
              <p:nvPr/>
            </p:nvSpPr>
            <p:spPr bwMode="auto">
              <a:xfrm>
                <a:off x="1550988" y="3489325"/>
                <a:ext cx="889317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baseline="-25000"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100</m:t>
                    </m:r>
                  </m:oMath>
                </a14:m>
                <a:r>
                  <a:rPr lang="en-US" altLang="zh-CN" sz="2800" dirty="0">
                    <a:latin typeface="Arial" panose="020B0604020202020204" pitchFamily="34" charset="0"/>
                    <a:ea typeface="楷体" panose="02010609060101010101" pitchFamily="49" charset="-122"/>
                  </a:rPr>
                  <a:t>       </a:t>
                </a:r>
                <a:r>
                  <a:rPr lang="zh-CN" altLang="zh-CN" sz="2800" dirty="0">
                    <a:latin typeface="Arial" panose="020B0604020202020204" pitchFamily="34" charset="0"/>
                    <a:ea typeface="楷体" panose="02010609060101010101" pitchFamily="49" charset="-122"/>
                  </a:rPr>
                  <a:t>（机器设备约束）</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33803" name="Rectangle 11"/>
              <p:cNvSpPr>
                <a:spLocks noRot="1" noChangeAspect="1" noMove="1" noResize="1" noEditPoints="1" noAdjustHandles="1" noChangeArrowheads="1" noChangeShapeType="1" noTextEdit="1"/>
              </p:cNvSpPr>
              <p:nvPr/>
            </p:nvSpPr>
            <p:spPr bwMode="auto">
              <a:xfrm>
                <a:off x="1550988" y="3489325"/>
                <a:ext cx="8893175" cy="506413"/>
              </a:xfrm>
              <a:prstGeom prst="rect">
                <a:avLst/>
              </a:prstGeom>
              <a:blipFill rotWithShape="1">
                <a:blip r:embed="rId4"/>
                <a:stretch>
                  <a:fillRect l="-4" r="4" b="-6852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4" name="Rectangle 12"/>
              <p:cNvSpPr>
                <a:spLocks noChangeArrowheads="1"/>
              </p:cNvSpPr>
              <p:nvPr/>
            </p:nvSpPr>
            <p:spPr bwMode="auto">
              <a:xfrm>
                <a:off x="1524000" y="3976688"/>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b="1" i="1" dirty="0" smtClean="0">
                        <a:solidFill>
                          <a:srgbClr val="FF0000"/>
                        </a:solidFill>
                        <a:latin typeface="Cambria Math" panose="02040503050406030204" pitchFamily="18" charset="0"/>
                        <a:ea typeface="楷体" panose="02010609060101010101" pitchFamily="49" charset="-122"/>
                      </a:rPr>
                      <m:t>𝒙</m:t>
                    </m:r>
                    <m:r>
                      <a:rPr lang="zh-CN" altLang="zh-CN" sz="2800" b="1" i="1" baseline="-25000" dirty="0">
                        <a:solidFill>
                          <a:srgbClr val="FF0000"/>
                        </a:solidFill>
                        <a:latin typeface="Cambria Math" panose="02040503050406030204" pitchFamily="18" charset="0"/>
                        <a:ea typeface="楷体" panose="02010609060101010101" pitchFamily="49" charset="-122"/>
                      </a:rPr>
                      <m:t>𝒊</m:t>
                    </m:r>
                    <m:r>
                      <a:rPr lang="zh-CN" altLang="zh-CN" sz="2800" b="1" i="1" dirty="0">
                        <a:solidFill>
                          <a:srgbClr val="FF0000"/>
                        </a:solidFill>
                        <a:latin typeface="Cambria Math" panose="02040503050406030204" pitchFamily="18" charset="0"/>
                        <a:ea typeface="楷体" panose="02010609060101010101" pitchFamily="49" charset="-122"/>
                      </a:rPr>
                      <m:t> ≤ </m:t>
                    </m:r>
                    <m:r>
                      <a:rPr lang="zh-CN" altLang="zh-CN" sz="2800" b="1" i="1" dirty="0">
                        <a:solidFill>
                          <a:srgbClr val="FF0000"/>
                        </a:solidFill>
                        <a:latin typeface="Cambria Math" panose="02040503050406030204" pitchFamily="18" charset="0"/>
                        <a:ea typeface="楷体" panose="02010609060101010101" pitchFamily="49" charset="-122"/>
                      </a:rPr>
                      <m:t>𝑴</m:t>
                    </m:r>
                    <m:r>
                      <a:rPr lang="en-US" altLang="zh-CN" sz="2800" b="1" i="1" dirty="0" smtClean="0">
                        <a:solidFill>
                          <a:srgbClr val="FF0000"/>
                        </a:solidFill>
                        <a:latin typeface="Cambria Math" panose="02040503050406030204" pitchFamily="18" charset="0"/>
                        <a:ea typeface="楷体" panose="02010609060101010101" pitchFamily="49" charset="-122"/>
                      </a:rPr>
                      <m:t>⋅</m:t>
                    </m:r>
                    <m:sSub>
                      <m:sSubPr>
                        <m:ctrlPr>
                          <a:rPr lang="en-US" altLang="zh-CN" sz="2800" b="1" i="1" dirty="0" smtClean="0">
                            <a:solidFill>
                              <a:srgbClr val="FF0000"/>
                            </a:solidFill>
                            <a:latin typeface="Cambria Math" panose="02040503050406030204" pitchFamily="18" charset="0"/>
                            <a:ea typeface="楷体" panose="02010609060101010101" pitchFamily="49" charset="-122"/>
                          </a:rPr>
                        </m:ctrlPr>
                      </m:sSubPr>
                      <m:e>
                        <m:r>
                          <a:rPr lang="zh-CN" altLang="zh-CN" sz="2800" b="1" i="1" dirty="0">
                            <a:solidFill>
                              <a:srgbClr val="FF0000"/>
                            </a:solidFill>
                            <a:latin typeface="Cambria Math" panose="02040503050406030204" pitchFamily="18" charset="0"/>
                            <a:ea typeface="楷体" panose="02010609060101010101" pitchFamily="49" charset="-122"/>
                          </a:rPr>
                          <m:t>𝒚</m:t>
                        </m:r>
                      </m:e>
                      <m:sub>
                        <m:r>
                          <a:rPr lang="en-US" altLang="zh-CN" sz="2800" b="1" i="1" dirty="0" smtClean="0">
                            <a:solidFill>
                              <a:srgbClr val="FF0000"/>
                            </a:solidFill>
                            <a:latin typeface="Cambria Math" panose="02040503050406030204" pitchFamily="18" charset="0"/>
                            <a:ea typeface="楷体" panose="02010609060101010101" pitchFamily="49" charset="-122"/>
                          </a:rPr>
                          <m:t>𝒊</m:t>
                        </m:r>
                      </m:sub>
                    </m:sSub>
                    <m:r>
                      <a:rPr lang="en-US" altLang="zh-CN" sz="2800" b="1" i="1" dirty="0" smtClean="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𝒊</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𝟏</m:t>
                    </m:r>
                    <m:r>
                      <a:rPr lang="zh-CN" altLang="zh-CN" sz="2800" b="1" i="1" dirty="0">
                        <a:solidFill>
                          <a:srgbClr val="FF0000"/>
                        </a:solidFill>
                        <a:latin typeface="Cambria Math" panose="02040503050406030204" pitchFamily="18" charset="0"/>
                        <a:ea typeface="楷体" panose="02010609060101010101" pitchFamily="49" charset="-122"/>
                      </a:rPr>
                      <m:t>,</m:t>
                    </m:r>
                    <m:r>
                      <a:rPr lang="zh-CN" altLang="zh-CN" sz="2800" b="1" i="1" dirty="0">
                        <a:solidFill>
                          <a:srgbClr val="FF0000"/>
                        </a:solidFill>
                        <a:latin typeface="Cambria Math" panose="02040503050406030204" pitchFamily="18" charset="0"/>
                        <a:ea typeface="楷体" panose="02010609060101010101" pitchFamily="49" charset="-122"/>
                      </a:rPr>
                      <m:t>𝟐</m:t>
                    </m:r>
                    <m:r>
                      <a:rPr lang="zh-CN" altLang="zh-CN" sz="2800" b="1" i="1" dirty="0">
                        <a:solidFill>
                          <a:srgbClr val="FF0000"/>
                        </a:solidFill>
                        <a:latin typeface="Cambria Math" panose="02040503050406030204" pitchFamily="18" charset="0"/>
                        <a:ea typeface="楷体" panose="02010609060101010101" pitchFamily="49" charset="-122"/>
                      </a:rPr>
                      <m:t>,</m:t>
                    </m:r>
                    <m:r>
                      <a:rPr lang="zh-CN" altLang="zh-CN" sz="2800" b="1" i="1" dirty="0">
                        <a:solidFill>
                          <a:srgbClr val="FF0000"/>
                        </a:solidFill>
                        <a:latin typeface="Cambria Math" panose="02040503050406030204" pitchFamily="18" charset="0"/>
                        <a:ea typeface="楷体" panose="02010609060101010101" pitchFamily="49" charset="-122"/>
                      </a:rPr>
                      <m:t>𝟑</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𝑴</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充分大</m:t>
                    </m:r>
                  </m:oMath>
                </a14:m>
                <a:endParaRPr lang="zh-CN" altLang="zh-CN" sz="2800" b="1" dirty="0">
                  <a:latin typeface="Arial" panose="020B0604020202020204" pitchFamily="34" charset="0"/>
                  <a:ea typeface="楷体" panose="02010609060101010101" pitchFamily="49" charset="-122"/>
                </a:endParaRPr>
              </a:p>
            </p:txBody>
          </p:sp>
        </mc:Choice>
        <mc:Fallback>
          <p:sp>
            <p:nvSpPr>
              <p:cNvPr id="33804" name="Rectangle 12"/>
              <p:cNvSpPr>
                <a:spLocks noRot="1" noChangeAspect="1" noMove="1" noResize="1" noEditPoints="1" noAdjustHandles="1" noChangeArrowheads="1" noChangeShapeType="1" noTextEdit="1"/>
              </p:cNvSpPr>
              <p:nvPr/>
            </p:nvSpPr>
            <p:spPr bwMode="auto">
              <a:xfrm>
                <a:off x="1524000" y="3976688"/>
                <a:ext cx="8893175" cy="506412"/>
              </a:xfrm>
              <a:prstGeom prst="rect">
                <a:avLst/>
              </a:prstGeom>
              <a:blipFill rotWithShape="1">
                <a:blip r:embed="rId5"/>
                <a:stretch>
                  <a:fillRect t="-6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5" name="Rectangle 13"/>
              <p:cNvSpPr>
                <a:spLocks noChangeArrowheads="1"/>
              </p:cNvSpPr>
              <p:nvPr/>
            </p:nvSpPr>
            <p:spPr bwMode="auto">
              <a:xfrm>
                <a:off x="1524000" y="4441825"/>
                <a:ext cx="889317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0</m:t>
                    </m:r>
                    <m:r>
                      <a:rPr lang="zh-CN" altLang="zh-CN" sz="2800" i="1" dirty="0">
                        <a:latin typeface="Cambria Math" panose="02040503050406030204" pitchFamily="18" charset="0"/>
                        <a:ea typeface="楷体" panose="02010609060101010101" pitchFamily="49" charset="-122"/>
                      </a:rPr>
                      <m:t>，</m:t>
                    </m:r>
                    <m:sSub>
                      <m:sSubPr>
                        <m:ctrlPr>
                          <a:rPr lang="en-US" altLang="zh-CN" sz="2800" b="0" i="1" dirty="0" smtClean="0">
                            <a:latin typeface="Cambria Math" panose="02040503050406030204" pitchFamily="18" charset="0"/>
                            <a:ea typeface="楷体" panose="02010609060101010101" pitchFamily="49" charset="-122"/>
                          </a:rPr>
                        </m:ctrlPr>
                      </m:sSubPr>
                      <m:e>
                        <m:r>
                          <a:rPr lang="zh-CN" altLang="zh-CN" sz="2800" i="1" dirty="0">
                            <a:latin typeface="Cambria Math" panose="02040503050406030204" pitchFamily="18" charset="0"/>
                            <a:ea typeface="楷体" panose="02010609060101010101" pitchFamily="49" charset="-122"/>
                          </a:rPr>
                          <m:t>𝑦</m:t>
                        </m:r>
                      </m:e>
                      <m:sub>
                        <m:r>
                          <a:rPr lang="en-US" altLang="zh-CN" sz="2800" b="0" i="1" dirty="0" smtClean="0">
                            <a:latin typeface="Cambria Math" panose="02040503050406030204" pitchFamily="18" charset="0"/>
                            <a:ea typeface="楷体" panose="02010609060101010101" pitchFamily="49" charset="-122"/>
                          </a:rPr>
                          <m:t>𝑖</m:t>
                        </m:r>
                      </m:sub>
                    </m:sSub>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为</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0</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变量</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3</m:t>
                    </m:r>
                  </m:oMath>
                </a14:m>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33805" name="Rectangle 13"/>
              <p:cNvSpPr>
                <a:spLocks noRot="1" noChangeAspect="1" noMove="1" noResize="1" noEditPoints="1" noAdjustHandles="1" noChangeArrowheads="1" noChangeShapeType="1" noTextEdit="1"/>
              </p:cNvSpPr>
              <p:nvPr/>
            </p:nvSpPr>
            <p:spPr bwMode="auto">
              <a:xfrm>
                <a:off x="1524000" y="4441825"/>
                <a:ext cx="8893175" cy="506413"/>
              </a:xfrm>
              <a:prstGeom prst="rect">
                <a:avLst/>
              </a:prstGeom>
              <a:blipFill rotWithShape="1">
                <a:blip r:embed="rId6"/>
                <a:stretch>
                  <a:fillRect b="-15316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6" name="Rectangle 14"/>
              <p:cNvSpPr>
                <a:spLocks noChangeArrowheads="1"/>
              </p:cNvSpPr>
              <p:nvPr/>
            </p:nvSpPr>
            <p:spPr bwMode="auto">
              <a:xfrm>
                <a:off x="1656464" y="5200513"/>
                <a:ext cx="8893175" cy="1368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软件计算：最大目标函数值为300，</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最优解为</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100</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oMath>
                </a14:m>
                <a:r>
                  <a:rPr lang="zh-CN" altLang="zh-CN" sz="2800" dirty="0">
                    <a:latin typeface="Arial" panose="020B0604020202020204" pitchFamily="34" charset="0"/>
                    <a:ea typeface="楷体" panose="02010609060101010101" pitchFamily="49" charset="-122"/>
                  </a:rPr>
                  <a:t>。</a:t>
                </a:r>
                <a:endParaRPr lang="zh-CN" altLang="zh-CN" sz="2800" dirty="0">
                  <a:latin typeface="Arial" panose="020B0604020202020204" pitchFamily="34" charset="0"/>
                  <a:ea typeface="楷体" panose="02010609060101010101" pitchFamily="49" charset="-122"/>
                </a:endParaRPr>
              </a:p>
            </p:txBody>
          </p:sp>
        </mc:Choice>
        <mc:Fallback>
          <p:sp>
            <p:nvSpPr>
              <p:cNvPr id="33806" name="Rectangle 14"/>
              <p:cNvSpPr>
                <a:spLocks noRot="1" noChangeAspect="1" noMove="1" noResize="1" noEditPoints="1" noAdjustHandles="1" noChangeArrowheads="1" noChangeShapeType="1" noTextEdit="1"/>
              </p:cNvSpPr>
              <p:nvPr/>
            </p:nvSpPr>
            <p:spPr bwMode="auto">
              <a:xfrm>
                <a:off x="1656464" y="5200513"/>
                <a:ext cx="8893175" cy="1368698"/>
              </a:xfrm>
              <a:prstGeom prst="rect">
                <a:avLst/>
              </a:prstGeom>
              <a:blipFill rotWithShape="1">
                <a:blip r:embed="rId7"/>
                <a:stretch>
                  <a:fillRect l="-4" t="-36" r="4" b="1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latin typeface="Arial" panose="020B0604020202020204" pitchFamily="34" charset="0"/>
                <a:ea typeface="楷体" panose="02010609060101010101" pitchFamily="49" charset="-122"/>
                <a:sym typeface="+mn-ea"/>
              </a:rPr>
              <a:t>固定成本问题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 calcmode="lin" valueType="num">
                                      <p:cBhvr additive="base">
                                        <p:cTn id="7" dur="500" fill="hold"/>
                                        <p:tgtEl>
                                          <p:spTgt spid="33797"/>
                                        </p:tgtEl>
                                        <p:attrNameLst>
                                          <p:attrName>ppt_x</p:attrName>
                                        </p:attrNameLst>
                                      </p:cBhvr>
                                      <p:tavLst>
                                        <p:tav tm="0">
                                          <p:val>
                                            <p:strVal val="ppt_x"/>
                                          </p:val>
                                        </p:tav>
                                        <p:tav tm="100000">
                                          <p:val>
                                            <p:strVal val="ppt_x"/>
                                          </p:val>
                                        </p:tav>
                                      </p:tavLst>
                                    </p:anim>
                                    <p:anim calcmode="lin" valueType="num">
                                      <p:cBhvr additive="base">
                                        <p:cTn id="8" dur="500" fill="hold"/>
                                        <p:tgtEl>
                                          <p:spTgt spid="337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800"/>
                                        </p:tgtEl>
                                        <p:attrNameLst>
                                          <p:attrName>style.visibility</p:attrName>
                                        </p:attrNameLst>
                                      </p:cBhvr>
                                      <p:to>
                                        <p:strVal val="visible"/>
                                      </p:to>
                                    </p:set>
                                    <p:anim calcmode="lin" valueType="num">
                                      <p:cBhvr additive="base">
                                        <p:cTn id="13" dur="500" fill="hold"/>
                                        <p:tgtEl>
                                          <p:spTgt spid="33800"/>
                                        </p:tgtEl>
                                        <p:attrNameLst>
                                          <p:attrName>ppt_x</p:attrName>
                                        </p:attrNameLst>
                                      </p:cBhvr>
                                      <p:tavLst>
                                        <p:tav tm="0">
                                          <p:val>
                                            <p:strVal val="ppt_x"/>
                                          </p:val>
                                        </p:tav>
                                        <p:tav tm="100000">
                                          <p:val>
                                            <p:strVal val="ppt_x"/>
                                          </p:val>
                                        </p:tav>
                                      </p:tavLst>
                                    </p:anim>
                                    <p:anim calcmode="lin" valueType="num">
                                      <p:cBhvr additive="base">
                                        <p:cTn id="14" dur="500" fill="hold"/>
                                        <p:tgtEl>
                                          <p:spTgt spid="3380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801"/>
                                        </p:tgtEl>
                                        <p:attrNameLst>
                                          <p:attrName>style.visibility</p:attrName>
                                        </p:attrNameLst>
                                      </p:cBhvr>
                                      <p:to>
                                        <p:strVal val="visible"/>
                                      </p:to>
                                    </p:set>
                                    <p:anim calcmode="lin" valueType="num">
                                      <p:cBhvr additive="base">
                                        <p:cTn id="19" dur="500" fill="hold"/>
                                        <p:tgtEl>
                                          <p:spTgt spid="33801"/>
                                        </p:tgtEl>
                                        <p:attrNameLst>
                                          <p:attrName>ppt_x</p:attrName>
                                        </p:attrNameLst>
                                      </p:cBhvr>
                                      <p:tavLst>
                                        <p:tav tm="0">
                                          <p:val>
                                            <p:strVal val="ppt_x"/>
                                          </p:val>
                                        </p:tav>
                                        <p:tav tm="100000">
                                          <p:val>
                                            <p:strVal val="ppt_x"/>
                                          </p:val>
                                        </p:tav>
                                      </p:tavLst>
                                    </p:anim>
                                    <p:anim calcmode="lin" valueType="num">
                                      <p:cBhvr additive="base">
                                        <p:cTn id="20" dur="500" fill="hold"/>
                                        <p:tgtEl>
                                          <p:spTgt spid="3380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3802"/>
                                        </p:tgtEl>
                                        <p:attrNameLst>
                                          <p:attrName>style.visibility</p:attrName>
                                        </p:attrNameLst>
                                      </p:cBhvr>
                                      <p:to>
                                        <p:strVal val="visible"/>
                                      </p:to>
                                    </p:set>
                                    <p:anim calcmode="lin" valueType="num">
                                      <p:cBhvr additive="base">
                                        <p:cTn id="25" dur="500" fill="hold"/>
                                        <p:tgtEl>
                                          <p:spTgt spid="33802"/>
                                        </p:tgtEl>
                                        <p:attrNameLst>
                                          <p:attrName>ppt_x</p:attrName>
                                        </p:attrNameLst>
                                      </p:cBhvr>
                                      <p:tavLst>
                                        <p:tav tm="0">
                                          <p:val>
                                            <p:strVal val="ppt_x"/>
                                          </p:val>
                                        </p:tav>
                                        <p:tav tm="100000">
                                          <p:val>
                                            <p:strVal val="ppt_x"/>
                                          </p:val>
                                        </p:tav>
                                      </p:tavLst>
                                    </p:anim>
                                    <p:anim calcmode="lin" valueType="num">
                                      <p:cBhvr additive="base">
                                        <p:cTn id="26" dur="500" fill="hold"/>
                                        <p:tgtEl>
                                          <p:spTgt spid="3380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3803"/>
                                        </p:tgtEl>
                                        <p:attrNameLst>
                                          <p:attrName>style.visibility</p:attrName>
                                        </p:attrNameLst>
                                      </p:cBhvr>
                                      <p:to>
                                        <p:strVal val="visible"/>
                                      </p:to>
                                    </p:set>
                                    <p:anim calcmode="lin" valueType="num">
                                      <p:cBhvr additive="base">
                                        <p:cTn id="31" dur="500" fill="hold"/>
                                        <p:tgtEl>
                                          <p:spTgt spid="33803"/>
                                        </p:tgtEl>
                                        <p:attrNameLst>
                                          <p:attrName>ppt_x</p:attrName>
                                        </p:attrNameLst>
                                      </p:cBhvr>
                                      <p:tavLst>
                                        <p:tav tm="0">
                                          <p:val>
                                            <p:strVal val="ppt_x"/>
                                          </p:val>
                                        </p:tav>
                                        <p:tav tm="100000">
                                          <p:val>
                                            <p:strVal val="ppt_x"/>
                                          </p:val>
                                        </p:tav>
                                      </p:tavLst>
                                    </p:anim>
                                    <p:anim calcmode="lin" valueType="num">
                                      <p:cBhvr additive="base">
                                        <p:cTn id="32" dur="500" fill="hold"/>
                                        <p:tgtEl>
                                          <p:spTgt spid="3380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3805"/>
                                        </p:tgtEl>
                                        <p:attrNameLst>
                                          <p:attrName>style.visibility</p:attrName>
                                        </p:attrNameLst>
                                      </p:cBhvr>
                                      <p:to>
                                        <p:strVal val="visible"/>
                                      </p:to>
                                    </p:set>
                                    <p:anim calcmode="lin" valueType="num">
                                      <p:cBhvr additive="base">
                                        <p:cTn id="37" dur="500" fill="hold"/>
                                        <p:tgtEl>
                                          <p:spTgt spid="33805"/>
                                        </p:tgtEl>
                                        <p:attrNameLst>
                                          <p:attrName>ppt_x</p:attrName>
                                        </p:attrNameLst>
                                      </p:cBhvr>
                                      <p:tavLst>
                                        <p:tav tm="0">
                                          <p:val>
                                            <p:strVal val="ppt_x"/>
                                          </p:val>
                                        </p:tav>
                                        <p:tav tm="100000">
                                          <p:val>
                                            <p:strVal val="ppt_x"/>
                                          </p:val>
                                        </p:tav>
                                      </p:tavLst>
                                    </p:anim>
                                    <p:anim calcmode="lin" valueType="num">
                                      <p:cBhvr additive="base">
                                        <p:cTn id="38" dur="500" fill="hold"/>
                                        <p:tgtEl>
                                          <p:spTgt spid="3380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3804"/>
                                        </p:tgtEl>
                                        <p:attrNameLst>
                                          <p:attrName>style.visibility</p:attrName>
                                        </p:attrNameLst>
                                      </p:cBhvr>
                                      <p:to>
                                        <p:strVal val="visible"/>
                                      </p:to>
                                    </p:set>
                                    <p:anim calcmode="lin" valueType="num">
                                      <p:cBhvr additive="base">
                                        <p:cTn id="43" dur="500" fill="hold"/>
                                        <p:tgtEl>
                                          <p:spTgt spid="33804"/>
                                        </p:tgtEl>
                                        <p:attrNameLst>
                                          <p:attrName>ppt_x</p:attrName>
                                        </p:attrNameLst>
                                      </p:cBhvr>
                                      <p:tavLst>
                                        <p:tav tm="0">
                                          <p:val>
                                            <p:strVal val="ppt_x"/>
                                          </p:val>
                                        </p:tav>
                                        <p:tav tm="100000">
                                          <p:val>
                                            <p:strVal val="ppt_x"/>
                                          </p:val>
                                        </p:tav>
                                      </p:tavLst>
                                    </p:anim>
                                    <p:anim calcmode="lin" valueType="num">
                                      <p:cBhvr additive="base">
                                        <p:cTn id="44" dur="500" fill="hold"/>
                                        <p:tgtEl>
                                          <p:spTgt spid="3380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3806"/>
                                        </p:tgtEl>
                                        <p:attrNameLst>
                                          <p:attrName>style.visibility</p:attrName>
                                        </p:attrNameLst>
                                      </p:cBhvr>
                                      <p:to>
                                        <p:strVal val="visible"/>
                                      </p:to>
                                    </p:set>
                                    <p:anim calcmode="lin" valueType="num">
                                      <p:cBhvr additive="base">
                                        <p:cTn id="49" dur="500" fill="hold"/>
                                        <p:tgtEl>
                                          <p:spTgt spid="33806"/>
                                        </p:tgtEl>
                                        <p:attrNameLst>
                                          <p:attrName>ppt_x</p:attrName>
                                        </p:attrNameLst>
                                      </p:cBhvr>
                                      <p:tavLst>
                                        <p:tav tm="0">
                                          <p:val>
                                            <p:strVal val="ppt_x"/>
                                          </p:val>
                                        </p:tav>
                                        <p:tav tm="100000">
                                          <p:val>
                                            <p:strVal val="ppt_x"/>
                                          </p:val>
                                        </p:tav>
                                      </p:tavLst>
                                    </p:anim>
                                    <p:anim calcmode="lin" valueType="num">
                                      <p:cBhvr additive="base">
                                        <p:cTn id="50" dur="500" fill="hold"/>
                                        <p:tgtEl>
                                          <p:spTgt spid="338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ldLvl="0" animBg="1"/>
      <p:bldP spid="33800" grpId="0" bldLvl="0" animBg="1"/>
      <p:bldP spid="33801" grpId="0" bldLvl="0" animBg="1"/>
      <p:bldP spid="33802" grpId="0" bldLvl="0" animBg="1"/>
      <p:bldP spid="33803" grpId="0" bldLvl="0" animBg="1"/>
      <p:bldP spid="33804" grpId="0" bldLvl="0" animBg="1"/>
      <p:bldP spid="33805" grpId="0" bldLvl="0" animBg="1"/>
      <p:bldP spid="33806"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指派问题</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lstStyle/>
          <a:p>
            <a:pPr marL="0" indent="0">
              <a:buNone/>
            </a:pPr>
            <a:r>
              <a:rPr lang="zh-CN" altLang="en-US" dirty="0">
                <a:latin typeface="楷体" panose="02010609060101010101" pitchFamily="49" charset="-122"/>
                <a:ea typeface="楷体" panose="02010609060101010101" pitchFamily="49" charset="-122"/>
                <a:sym typeface="+mn-ea"/>
              </a:rPr>
              <a:t>三、指派问题</a:t>
            </a:r>
            <a:endParaRPr lang="zh-CN" altLang="en-US" dirty="0">
              <a:latin typeface="楷体" panose="02010609060101010101" pitchFamily="49" charset="-122"/>
              <a:ea typeface="楷体" panose="02010609060101010101" pitchFamily="49" charset="-122"/>
            </a:endParaRPr>
          </a:p>
          <a:p>
            <a:pPr marL="0" indent="0">
              <a:buNone/>
            </a:pPr>
            <a:r>
              <a:rPr lang="zh-CN" altLang="en-US" dirty="0">
                <a:latin typeface="楷体" panose="02010609060101010101" pitchFamily="49" charset="-122"/>
                <a:ea typeface="楷体" panose="02010609060101010101" pitchFamily="49" charset="-122"/>
              </a:rPr>
              <a:t>有 </a:t>
            </a:r>
            <a:r>
              <a:rPr lang="en-US" altLang="zh-CN" dirty="0">
                <a:latin typeface="楷体" panose="02010609060101010101" pitchFamily="49" charset="-122"/>
                <a:ea typeface="楷体" panose="02010609060101010101" pitchFamily="49" charset="-122"/>
              </a:rPr>
              <a:t>n </a:t>
            </a:r>
            <a:r>
              <a:rPr lang="zh-CN" altLang="en-US" dirty="0">
                <a:latin typeface="楷体" panose="02010609060101010101" pitchFamily="49" charset="-122"/>
                <a:ea typeface="楷体" panose="02010609060101010101" pitchFamily="49" charset="-122"/>
              </a:rPr>
              <a:t>项不同的任务，恰好 </a:t>
            </a:r>
            <a:r>
              <a:rPr lang="en-US" altLang="zh-CN" dirty="0">
                <a:latin typeface="楷体" panose="02010609060101010101" pitchFamily="49" charset="-122"/>
                <a:ea typeface="楷体" panose="02010609060101010101" pitchFamily="49" charset="-122"/>
              </a:rPr>
              <a:t>n </a:t>
            </a:r>
            <a:r>
              <a:rPr lang="zh-CN" altLang="en-US" dirty="0">
                <a:latin typeface="楷体" panose="02010609060101010101" pitchFamily="49" charset="-122"/>
                <a:ea typeface="楷体" panose="02010609060101010101" pitchFamily="49" charset="-122"/>
              </a:rPr>
              <a:t>个人可分别承担这些任务，但由于每人特长不同，完成各项任务的效率等情况也不同。现假设必须指派每个人去完成一项任务，怎样把 </a:t>
            </a:r>
            <a:r>
              <a:rPr lang="en-US" altLang="zh-CN" dirty="0">
                <a:latin typeface="楷体" panose="02010609060101010101" pitchFamily="49" charset="-122"/>
                <a:ea typeface="楷体" panose="02010609060101010101" pitchFamily="49" charset="-122"/>
              </a:rPr>
              <a:t>n </a:t>
            </a:r>
            <a:r>
              <a:rPr lang="zh-CN" altLang="en-US" dirty="0">
                <a:latin typeface="楷体" panose="02010609060101010101" pitchFamily="49" charset="-122"/>
                <a:ea typeface="楷体" panose="02010609060101010101" pitchFamily="49" charset="-122"/>
              </a:rPr>
              <a:t>项任务指派给</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个人，使得完成 </a:t>
            </a:r>
            <a:r>
              <a:rPr lang="en-US" altLang="zh-CN" dirty="0">
                <a:latin typeface="楷体" panose="02010609060101010101" pitchFamily="49" charset="-122"/>
                <a:ea typeface="楷体" panose="02010609060101010101" pitchFamily="49" charset="-122"/>
              </a:rPr>
              <a:t>n </a:t>
            </a:r>
            <a:r>
              <a:rPr lang="zh-CN" altLang="en-US" dirty="0">
                <a:latin typeface="楷体" panose="02010609060101010101" pitchFamily="49" charset="-122"/>
                <a:ea typeface="楷体" panose="02010609060101010101" pitchFamily="49" charset="-122"/>
              </a:rPr>
              <a:t>项任务的总的效率最高，这就是指派问题。</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指派问题</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838200" y="1825625"/>
            <a:ext cx="10515600" cy="4667250"/>
          </a:xfrm>
        </p:spPr>
        <p:txBody>
          <a:bodyPr>
            <a:normAutofit/>
          </a:bodyPr>
          <a:lstStyle/>
          <a:p>
            <a:pPr marL="0" indent="0">
              <a:buNone/>
            </a:pPr>
            <a:r>
              <a:rPr lang="zh-CN" altLang="en-US" dirty="0">
                <a:latin typeface="楷体" panose="02010609060101010101" pitchFamily="49" charset="-122"/>
                <a:ea typeface="楷体" panose="02010609060101010101" pitchFamily="49" charset="-122"/>
              </a:rPr>
              <a:t>有四个工人，要分别指派他们完成四项不同的工作，每人做各项工作所消耗的时间如下表所示，问应如何指派工作，才能使总的消耗时间为最少。</a:t>
            </a:r>
            <a:endParaRPr lang="en-US" altLang="zh-CN" dirty="0">
              <a:latin typeface="楷体" panose="02010609060101010101" pitchFamily="49" charset="-122"/>
              <a:ea typeface="楷体" panose="02010609060101010101" pitchFamily="49" charset="-122"/>
            </a:endParaRPr>
          </a:p>
          <a:p>
            <a:pPr marL="0" indent="0">
              <a:buNone/>
            </a:pPr>
            <a:endParaRPr lang="en-US" altLang="zh-CN" dirty="0">
              <a:latin typeface="楷体" panose="02010609060101010101" pitchFamily="49" charset="-122"/>
              <a:ea typeface="楷体" panose="02010609060101010101" pitchFamily="49" charset="-122"/>
            </a:endParaRPr>
          </a:p>
          <a:p>
            <a:pPr marL="0" indent="0">
              <a:buNone/>
            </a:pPr>
            <a:endParaRPr lang="en-US" altLang="zh-CN" dirty="0">
              <a:latin typeface="楷体" panose="02010609060101010101" pitchFamily="49" charset="-122"/>
              <a:ea typeface="楷体" panose="02010609060101010101" pitchFamily="49" charset="-122"/>
            </a:endParaRPr>
          </a:p>
          <a:p>
            <a:pPr marL="0" indent="0">
              <a:buNone/>
            </a:pPr>
            <a:endParaRPr lang="en-US" altLang="zh-CN" dirty="0">
              <a:latin typeface="楷体" panose="02010609060101010101" pitchFamily="49" charset="-122"/>
              <a:ea typeface="楷体" panose="02010609060101010101" pitchFamily="49" charset="-122"/>
            </a:endParaRPr>
          </a:p>
        </p:txBody>
      </p:sp>
      <p:graphicFrame>
        <p:nvGraphicFramePr>
          <p:cNvPr id="4" name="Object 3"/>
          <p:cNvGraphicFramePr>
            <a:graphicFrameLocks noChangeAspect="1"/>
          </p:cNvGraphicFramePr>
          <p:nvPr/>
        </p:nvGraphicFramePr>
        <p:xfrm>
          <a:off x="3969530" y="3159326"/>
          <a:ext cx="4252940" cy="1999848"/>
        </p:xfrm>
        <a:graphic>
          <a:graphicData uri="http://schemas.openxmlformats.org/presentationml/2006/ole">
            <mc:AlternateContent xmlns:mc="http://schemas.openxmlformats.org/markup-compatibility/2006">
              <mc:Choice xmlns:v="urn:schemas-microsoft-com:vml" Requires="v">
                <p:oleObj spid="_x0000_s5" name="" r:id="rId1" imgW="2731135" imgH="1450340" progId="Word.Document.8">
                  <p:embed/>
                </p:oleObj>
              </mc:Choice>
              <mc:Fallback>
                <p:oleObj name="" r:id="rId1" imgW="2731135" imgH="1450340"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9530" y="3159326"/>
                        <a:ext cx="4252940" cy="1999848"/>
                      </a:xfrm>
                      <a:prstGeom prst="rect">
                        <a:avLst/>
                      </a:prstGeom>
                      <a:noFill/>
                      <a:ln>
                        <a:noFill/>
                      </a:ln>
                      <a:effectLst/>
                    </p:spPr>
                  </p:pic>
                </p:oleObj>
              </mc:Fallback>
            </mc:AlternateContent>
          </a:graphicData>
        </a:graphic>
      </p:graphicFrame>
      <p:sp>
        <p:nvSpPr>
          <p:cNvPr id="6" name="星形: 五角 4"/>
          <p:cNvSpPr/>
          <p:nvPr/>
        </p:nvSpPr>
        <p:spPr>
          <a:xfrm>
            <a:off x="9942133" y="681037"/>
            <a:ext cx="687897" cy="545285"/>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0421" name="Rectangle 5"/>
              <p:cNvSpPr>
                <a:spLocks noChangeArrowheads="1"/>
              </p:cNvSpPr>
              <p:nvPr/>
            </p:nvSpPr>
            <p:spPr bwMode="auto">
              <a:xfrm>
                <a:off x="1651000" y="1557338"/>
                <a:ext cx="8893175" cy="38877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解：引入 </a:t>
                </a:r>
                <a:r>
                  <a:rPr lang="zh-CN" altLang="zh-CN" sz="2800" dirty="0">
                    <a:ea typeface="楷体" panose="02010609060101010101" pitchFamily="49" charset="-122"/>
                    <a:cs typeface="Times New Roman" panose="02020603050405020304" pitchFamily="18" charset="0"/>
                  </a:rPr>
                  <a:t>0−1 </a:t>
                </a:r>
                <a:r>
                  <a:rPr lang="zh-CN" altLang="zh-CN" sz="2800" dirty="0">
                    <a:latin typeface="Arial" panose="020B0604020202020204" pitchFamily="34" charset="0"/>
                    <a:ea typeface="楷体" panose="02010609060101010101" pitchFamily="49" charset="-122"/>
                  </a:rPr>
                  <a:t>变量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𝑖𝑗</m:t>
                    </m:r>
                  </m:oMath>
                </a14:m>
                <a:r>
                  <a:rPr lang="zh-CN" altLang="zh-CN" sz="2800" dirty="0">
                    <a:latin typeface="Arial" panose="020B0604020202020204" pitchFamily="34" charset="0"/>
                    <a:ea typeface="楷体" panose="02010609060101010101" pitchFamily="49" charset="-122"/>
                  </a:rPr>
                  <a:t>，</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令</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𝑖𝑗</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1</m:t>
                    </m:r>
                    <m:r>
                      <a:rPr lang="en-US" altLang="zh-CN" sz="2800" b="0" i="1" dirty="0" smtClean="0">
                        <a:latin typeface="Cambria Math" panose="02040503050406030204" pitchFamily="18" charset="0"/>
                        <a:ea typeface="楷体" panose="02010609060101010101" pitchFamily="49" charset="-122"/>
                      </a:rPr>
                      <m:t> </m:t>
                    </m:r>
                  </m:oMath>
                </a14:m>
                <a:r>
                  <a:rPr lang="zh-CN" altLang="en-US" sz="2800" dirty="0">
                    <a:latin typeface="Arial" panose="020B0604020202020204" pitchFamily="34" charset="0"/>
                    <a:ea typeface="楷体" panose="02010609060101010101" pitchFamily="49" charset="-122"/>
                  </a:rPr>
                  <a:t>（</a:t>
                </a:r>
                <a:r>
                  <a:rPr lang="zh-CN" altLang="zh-CN" sz="2800" dirty="0">
                    <a:latin typeface="Arial" panose="020B0604020202020204" pitchFamily="34" charset="0"/>
                    <a:ea typeface="楷体" panose="02010609060101010101" pitchFamily="49" charset="-122"/>
                  </a:rPr>
                  <a:t>指派第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𝑖</m:t>
                    </m:r>
                  </m:oMath>
                </a14:m>
                <a:r>
                  <a:rPr lang="zh-CN" altLang="zh-CN" sz="2800" dirty="0">
                    <a:latin typeface="Arial" panose="020B0604020202020204" pitchFamily="34" charset="0"/>
                    <a:ea typeface="楷体" panose="02010609060101010101" pitchFamily="49" charset="-122"/>
                  </a:rPr>
                  <a:t> 人去完成第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𝑗</m:t>
                    </m:r>
                  </m:oMath>
                </a14:m>
                <a:r>
                  <a:rPr lang="zh-CN" altLang="zh-CN" sz="2800" dirty="0">
                    <a:latin typeface="Arial" panose="020B0604020202020204" pitchFamily="34" charset="0"/>
                    <a:ea typeface="楷体" panose="02010609060101010101" pitchFamily="49" charset="-122"/>
                  </a:rPr>
                  <a:t> 项工作</a:t>
                </a:r>
                <a:r>
                  <a:rPr lang="zh-CN" altLang="en-US" sz="2800" dirty="0">
                    <a:latin typeface="Arial" panose="020B0604020202020204" pitchFamily="34" charset="0"/>
                    <a:ea typeface="楷体" panose="02010609060101010101" pitchFamily="49" charset="-122"/>
                  </a:rPr>
                  <a:t>）</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𝑖𝑗</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0</m:t>
                    </m:r>
                  </m:oMath>
                </a14:m>
                <a:r>
                  <a:rPr lang="zh-CN" altLang="zh-CN" sz="2800" dirty="0">
                    <a:latin typeface="Arial" panose="020B0604020202020204" pitchFamily="34" charset="0"/>
                    <a:ea typeface="楷体" panose="02010609060101010101" pitchFamily="49" charset="-122"/>
                  </a:rPr>
                  <a:t>（不指派第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𝑖</m:t>
                    </m:r>
                  </m:oMath>
                </a14:m>
                <a:r>
                  <a:rPr lang="zh-CN" altLang="zh-CN" sz="2800" dirty="0">
                    <a:latin typeface="Arial" panose="020B0604020202020204" pitchFamily="34" charset="0"/>
                    <a:ea typeface="楷体" panose="02010609060101010101" pitchFamily="49" charset="-122"/>
                  </a:rPr>
                  <a:t> 人去完成第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𝑗</m:t>
                    </m:r>
                  </m:oMath>
                </a14:m>
                <a:r>
                  <a:rPr lang="zh-CN" altLang="zh-CN" sz="2800" dirty="0">
                    <a:latin typeface="Arial" panose="020B0604020202020204" pitchFamily="34" charset="0"/>
                    <a:ea typeface="楷体" panose="02010609060101010101" pitchFamily="49" charset="-122"/>
                  </a:rPr>
                  <a:t> 项工作）</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构建</a:t>
                </a:r>
                <a:r>
                  <a:rPr lang="zh-CN" altLang="zh-CN" sz="2800" dirty="0">
                    <a:ea typeface="楷体" panose="02010609060101010101" pitchFamily="49" charset="-122"/>
                    <a:cs typeface="Times New Roman" panose="02020603050405020304" pitchFamily="18" charset="0"/>
                  </a:rPr>
                  <a:t>0−1 </a:t>
                </a:r>
                <a:r>
                  <a:rPr lang="zh-CN" altLang="zh-CN" sz="2800" dirty="0">
                    <a:latin typeface="Arial" panose="020B0604020202020204" pitchFamily="34" charset="0"/>
                    <a:ea typeface="楷体" panose="02010609060101010101" pitchFamily="49" charset="-122"/>
                  </a:rPr>
                  <a:t>整数规划问题。</a:t>
                </a:r>
                <a:endParaRPr lang="zh-CN" altLang="zh-CN" sz="20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60421" name="Rectangle 5"/>
              <p:cNvSpPr>
                <a:spLocks noRot="1" noChangeAspect="1" noMove="1" noResize="1" noEditPoints="1" noAdjustHandles="1" noChangeArrowheads="1" noChangeShapeType="1" noTextEdit="1"/>
              </p:cNvSpPr>
              <p:nvPr/>
            </p:nvSpPr>
            <p:spPr bwMode="auto">
              <a:xfrm>
                <a:off x="1651000" y="1557338"/>
                <a:ext cx="8893175" cy="3887786"/>
              </a:xfrm>
              <a:prstGeom prst="rect">
                <a:avLst/>
              </a:prstGeom>
              <a:blipFill rotWithShape="1">
                <a:blip r:embed="rId1"/>
                <a:stretch>
                  <a:fillRect t="-8" b="-3170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60422"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指派问题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7893" name="Rectangle 5"/>
              <p:cNvSpPr>
                <a:spLocks noChangeArrowheads="1"/>
              </p:cNvSpPr>
              <p:nvPr/>
            </p:nvSpPr>
            <p:spPr bwMode="auto">
              <a:xfrm>
                <a:off x="1524000" y="1557338"/>
                <a:ext cx="9172575"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𝑀𝑖𝑛</m:t>
                      </m:r>
                      <m:r>
                        <a:rPr lang="zh-CN" altLang="zh-CN" sz="2400" i="1" dirty="0" smtClean="0">
                          <a:latin typeface="Cambria Math" panose="02040503050406030204" pitchFamily="18" charset="0"/>
                          <a:ea typeface="楷体" panose="02010609060101010101" pitchFamily="49" charset="-122"/>
                        </a:rPr>
                        <m:t> </m:t>
                      </m:r>
                      <m:r>
                        <a:rPr lang="en-US" altLang="zh-CN" sz="2400" b="0" i="1" dirty="0" smtClean="0">
                          <a:latin typeface="Cambria Math" panose="02040503050406030204" pitchFamily="18" charset="0"/>
                          <a:ea typeface="楷体" panose="02010609060101010101" pitchFamily="49" charset="-122"/>
                        </a:rPr>
                        <m:t>𝑧</m:t>
                      </m:r>
                      <m:r>
                        <a:rPr lang="zh-CN" altLang="zh-CN" sz="2400" i="1" dirty="0" smtClean="0">
                          <a:latin typeface="Cambria Math" panose="02040503050406030204" pitchFamily="18" charset="0"/>
                          <a:ea typeface="楷体" panose="02010609060101010101" pitchFamily="49" charset="-122"/>
                        </a:rPr>
                        <m:t>=</m:t>
                      </m:r>
                      <m:r>
                        <a:rPr lang="zh-CN" altLang="zh-CN" sz="2400" i="1" dirty="0" smtClean="0">
                          <a:latin typeface="Cambria Math" panose="02040503050406030204" pitchFamily="18" charset="0"/>
                          <a:ea typeface="楷体" panose="02010609060101010101" pitchFamily="49" charset="-122"/>
                        </a:rPr>
                        <m:t>15</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18</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24</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14</m:t>
                      </m:r>
                      <m:r>
                        <a:rPr lang="zh-CN" altLang="zh-CN" sz="2400" i="1" baseline="-25000"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19</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22</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18</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24</m:t>
                      </m:r>
                    </m:oMath>
                  </m:oMathPara>
                </a14:m>
                <a:endParaRPr lang="zh-CN" altLang="zh-CN" sz="2400" baseline="-250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    +</m:t>
                      </m:r>
                      <m:r>
                        <a:rPr lang="zh-CN" altLang="zh-CN" sz="2400" i="1" dirty="0" smtClean="0">
                          <a:latin typeface="Cambria Math" panose="02040503050406030204" pitchFamily="18" charset="0"/>
                          <a:ea typeface="楷体" panose="02010609060101010101" pitchFamily="49" charset="-122"/>
                        </a:rPr>
                        <m:t>26</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17</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16</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19</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34</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19</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17</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44</m:t>
                      </m:r>
                    </m:oMath>
                  </m:oMathPara>
                </a14:m>
                <a:endParaRPr lang="zh-CN" altLang="zh-CN" sz="2400" baseline="-25000" dirty="0">
                  <a:latin typeface="Arial" panose="020B0604020202020204" pitchFamily="34" charset="0"/>
                  <a:ea typeface="楷体" panose="02010609060101010101" pitchFamily="49" charset="-122"/>
                </a:endParaRPr>
              </a:p>
            </p:txBody>
          </p:sp>
        </mc:Choice>
        <mc:Fallback>
          <p:sp>
            <p:nvSpPr>
              <p:cNvPr id="37893" name="Rectangle 5"/>
              <p:cNvSpPr>
                <a:spLocks noRot="1" noChangeAspect="1" noMove="1" noResize="1" noEditPoints="1" noAdjustHandles="1" noChangeArrowheads="1" noChangeShapeType="1" noTextEdit="1"/>
              </p:cNvSpPr>
              <p:nvPr/>
            </p:nvSpPr>
            <p:spPr bwMode="auto">
              <a:xfrm>
                <a:off x="1524000" y="1557338"/>
                <a:ext cx="9172575" cy="792162"/>
              </a:xfrm>
              <a:prstGeom prst="rect">
                <a:avLst/>
              </a:prstGeom>
              <a:blipFill rotWithShape="1">
                <a:blip r:embed="rId1"/>
                <a:stretch>
                  <a:fillRect t="-40" b="-4617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62470" name="Line 7"/>
          <p:cNvSpPr>
            <a:spLocks noChangeShapeType="1"/>
          </p:cNvSpPr>
          <p:nvPr/>
        </p:nvSpPr>
        <p:spPr bwMode="auto">
          <a:xfrm>
            <a:off x="2352923" y="4077469"/>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37896" name="Rectangle 8"/>
              <p:cNvSpPr>
                <a:spLocks noChangeArrowheads="1"/>
              </p:cNvSpPr>
              <p:nvPr/>
            </p:nvSpPr>
            <p:spPr bwMode="auto">
              <a:xfrm>
                <a:off x="2164010" y="2924944"/>
                <a:ext cx="889317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𝑠</m:t>
                    </m:r>
                    <m:r>
                      <a:rPr lang="zh-CN" altLang="zh-CN" sz="2400" i="1" dirty="0" smtClean="0">
                        <a:latin typeface="Cambria Math" panose="02040503050406030204" pitchFamily="18" charset="0"/>
                        <a:ea typeface="楷体" panose="02010609060101010101" pitchFamily="49" charset="-122"/>
                      </a:rPr>
                      <m:t>.</m:t>
                    </m:r>
                    <m:r>
                      <a:rPr lang="zh-CN" altLang="zh-CN" sz="2400" i="1" dirty="0" smtClean="0">
                        <a:latin typeface="Cambria Math" panose="02040503050406030204" pitchFamily="18" charset="0"/>
                        <a:ea typeface="楷体" panose="02010609060101010101" pitchFamily="49" charset="-122"/>
                      </a:rPr>
                      <m:t>𝑡</m:t>
                    </m:r>
                    <m:r>
                      <a:rPr lang="zh-CN" altLang="zh-CN" sz="2400" i="1" dirty="0" smtClean="0">
                        <a:latin typeface="Cambria Math" panose="02040503050406030204" pitchFamily="18" charset="0"/>
                        <a:ea typeface="楷体" panose="02010609060101010101" pitchFamily="49" charset="-122"/>
                      </a:rPr>
                      <m:t>  </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oMath>
                </a14:m>
                <a:r>
                  <a:rPr lang="zh-CN" altLang="zh-CN" sz="2400" dirty="0">
                    <a:latin typeface="Arial" panose="020B0604020202020204" pitchFamily="34" charset="0"/>
                    <a:ea typeface="楷体" panose="02010609060101010101" pitchFamily="49" charset="-122"/>
                  </a:rPr>
                  <a:t>（甲只能干一项工作）</a:t>
                </a:r>
                <a:endParaRPr lang="zh-CN" altLang="zh-CN" sz="2400" dirty="0">
                  <a:latin typeface="Arial" panose="020B0604020202020204" pitchFamily="34" charset="0"/>
                  <a:ea typeface="楷体" panose="02010609060101010101" pitchFamily="49" charset="-122"/>
                </a:endParaRPr>
              </a:p>
            </p:txBody>
          </p:sp>
        </mc:Choice>
        <mc:Fallback>
          <p:sp>
            <p:nvSpPr>
              <p:cNvPr id="37896" name="Rectangle 8"/>
              <p:cNvSpPr>
                <a:spLocks noRot="1" noChangeAspect="1" noMove="1" noResize="1" noEditPoints="1" noAdjustHandles="1" noChangeArrowheads="1" noChangeShapeType="1" noTextEdit="1"/>
              </p:cNvSpPr>
              <p:nvPr/>
            </p:nvSpPr>
            <p:spPr bwMode="auto">
              <a:xfrm>
                <a:off x="2164010" y="2924944"/>
                <a:ext cx="8893175" cy="504825"/>
              </a:xfrm>
              <a:prstGeom prst="rect">
                <a:avLst/>
              </a:prstGeom>
              <a:blipFill rotWithShape="1">
                <a:blip r:embed="rId2"/>
                <a:stretch>
                  <a:fillRect l="-6" t="-27" r="6" b="2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897" name="Rectangle 9"/>
              <p:cNvSpPr>
                <a:spLocks noChangeArrowheads="1"/>
              </p:cNvSpPr>
              <p:nvPr/>
            </p:nvSpPr>
            <p:spPr bwMode="auto">
              <a:xfrm>
                <a:off x="2171948" y="3631381"/>
                <a:ext cx="889317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400" dirty="0">
                    <a:latin typeface="Arial" panose="020B0604020202020204" pitchFamily="34" charset="0"/>
                    <a:ea typeface="楷体" panose="02010609060101010101" pitchFamily="49" charset="-122"/>
                  </a:rPr>
                  <a:t>	   </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oMath>
                </a14:m>
                <a:r>
                  <a:rPr lang="en-US" altLang="zh-CN" sz="2400" dirty="0">
                    <a:latin typeface="Arial" panose="020B0604020202020204" pitchFamily="34" charset="0"/>
                    <a:ea typeface="楷体" panose="02010609060101010101" pitchFamily="49" charset="-122"/>
                  </a:rPr>
                  <a:t> </a:t>
                </a:r>
                <a:r>
                  <a:rPr lang="zh-CN" altLang="zh-CN" sz="2400" dirty="0">
                    <a:latin typeface="Arial" panose="020B0604020202020204" pitchFamily="34" charset="0"/>
                    <a:ea typeface="楷体" panose="02010609060101010101" pitchFamily="49" charset="-122"/>
                  </a:rPr>
                  <a:t>（丙只能干一项工作）</a:t>
                </a:r>
                <a:endParaRPr lang="zh-CN" altLang="zh-CN" sz="2400" dirty="0">
                  <a:latin typeface="Arial" panose="020B0604020202020204" pitchFamily="34" charset="0"/>
                  <a:ea typeface="楷体" panose="02010609060101010101" pitchFamily="49" charset="-122"/>
                </a:endParaRPr>
              </a:p>
            </p:txBody>
          </p:sp>
        </mc:Choice>
        <mc:Fallback>
          <p:sp>
            <p:nvSpPr>
              <p:cNvPr id="37897" name="Rectangle 9"/>
              <p:cNvSpPr>
                <a:spLocks noRot="1" noChangeAspect="1" noMove="1" noResize="1" noEditPoints="1" noAdjustHandles="1" noChangeArrowheads="1" noChangeShapeType="1" noTextEdit="1"/>
              </p:cNvSpPr>
              <p:nvPr/>
            </p:nvSpPr>
            <p:spPr bwMode="auto">
              <a:xfrm>
                <a:off x="2171948" y="3631381"/>
                <a:ext cx="8893175" cy="431800"/>
              </a:xfrm>
              <a:prstGeom prst="rect">
                <a:avLst/>
              </a:prstGeom>
              <a:blipFill rotWithShape="1">
                <a:blip r:embed="rId3"/>
                <a:stretch>
                  <a:fillRect l="-3" t="-104" r="3" b="10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898" name="Rectangle 10"/>
              <p:cNvSpPr>
                <a:spLocks noChangeArrowheads="1"/>
              </p:cNvSpPr>
              <p:nvPr/>
            </p:nvSpPr>
            <p:spPr bwMode="auto">
              <a:xfrm>
                <a:off x="2243385" y="3991744"/>
                <a:ext cx="889317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400" dirty="0">
                    <a:latin typeface="Arial" panose="020B0604020202020204" pitchFamily="34" charset="0"/>
                    <a:ea typeface="楷体" panose="02010609060101010101" pitchFamily="49" charset="-122"/>
                  </a:rPr>
                  <a:t>	   </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oMath>
                </a14:m>
                <a:r>
                  <a:rPr lang="zh-CN" altLang="zh-CN" sz="2400" dirty="0">
                    <a:latin typeface="Arial" panose="020B0604020202020204" pitchFamily="34" charset="0"/>
                    <a:ea typeface="楷体" panose="02010609060101010101" pitchFamily="49" charset="-122"/>
                  </a:rPr>
                  <a:t>（丁只能干一项工作）</a:t>
                </a:r>
                <a:endParaRPr lang="zh-CN" altLang="zh-CN" sz="2400" dirty="0">
                  <a:latin typeface="Arial" panose="020B0604020202020204" pitchFamily="34" charset="0"/>
                  <a:ea typeface="楷体" panose="02010609060101010101" pitchFamily="49" charset="-122"/>
                </a:endParaRPr>
              </a:p>
            </p:txBody>
          </p:sp>
        </mc:Choice>
        <mc:Fallback>
          <p:sp>
            <p:nvSpPr>
              <p:cNvPr id="37898" name="Rectangle 10"/>
              <p:cNvSpPr>
                <a:spLocks noRot="1" noChangeAspect="1" noMove="1" noResize="1" noEditPoints="1" noAdjustHandles="1" noChangeArrowheads="1" noChangeShapeType="1" noTextEdit="1"/>
              </p:cNvSpPr>
              <p:nvPr/>
            </p:nvSpPr>
            <p:spPr bwMode="auto">
              <a:xfrm>
                <a:off x="2243385" y="3991744"/>
                <a:ext cx="8893175" cy="431800"/>
              </a:xfrm>
              <a:prstGeom prst="rect">
                <a:avLst/>
              </a:prstGeom>
              <a:blipFill rotWithShape="1">
                <a:blip r:embed="rId4"/>
                <a:stretch>
                  <a:fillRect l="-6" t="-31" r="6" b="31"/>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899" name="Rectangle 11"/>
              <p:cNvSpPr>
                <a:spLocks noChangeArrowheads="1"/>
              </p:cNvSpPr>
              <p:nvPr/>
            </p:nvSpPr>
            <p:spPr bwMode="auto">
              <a:xfrm>
                <a:off x="2130673" y="3271019"/>
                <a:ext cx="889317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400" dirty="0">
                    <a:latin typeface="Arial" panose="020B0604020202020204" pitchFamily="34" charset="0"/>
                    <a:ea typeface="楷体" panose="02010609060101010101" pitchFamily="49" charset="-122"/>
                  </a:rPr>
                  <a:t>      </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oMath>
                </a14:m>
                <a:r>
                  <a:rPr lang="en-US" altLang="zh-CN" sz="2400" dirty="0">
                    <a:latin typeface="Arial" panose="020B0604020202020204" pitchFamily="34" charset="0"/>
                    <a:ea typeface="楷体" panose="02010609060101010101" pitchFamily="49" charset="-122"/>
                  </a:rPr>
                  <a:t> </a:t>
                </a:r>
                <a:r>
                  <a:rPr lang="zh-CN" altLang="zh-CN" sz="2400" dirty="0">
                    <a:latin typeface="Arial" panose="020B0604020202020204" pitchFamily="34" charset="0"/>
                    <a:ea typeface="楷体" panose="02010609060101010101" pitchFamily="49" charset="-122"/>
                  </a:rPr>
                  <a:t>（乙只能干一项工作）</a:t>
                </a:r>
                <a:endParaRPr lang="zh-CN" altLang="zh-CN" sz="2400" dirty="0">
                  <a:latin typeface="Arial" panose="020B0604020202020204" pitchFamily="34" charset="0"/>
                  <a:ea typeface="楷体" panose="02010609060101010101" pitchFamily="49" charset="-122"/>
                </a:endParaRPr>
              </a:p>
            </p:txBody>
          </p:sp>
        </mc:Choice>
        <mc:Fallback>
          <p:sp>
            <p:nvSpPr>
              <p:cNvPr id="37899" name="Rectangle 11"/>
              <p:cNvSpPr>
                <a:spLocks noRot="1" noChangeAspect="1" noMove="1" noResize="1" noEditPoints="1" noAdjustHandles="1" noChangeArrowheads="1" noChangeShapeType="1" noTextEdit="1"/>
              </p:cNvSpPr>
              <p:nvPr/>
            </p:nvSpPr>
            <p:spPr bwMode="auto">
              <a:xfrm>
                <a:off x="2130673" y="3271019"/>
                <a:ext cx="8893175" cy="504825"/>
              </a:xfrm>
              <a:prstGeom prst="rect">
                <a:avLst/>
              </a:prstGeom>
              <a:blipFill rotWithShape="1">
                <a:blip r:embed="rId5"/>
                <a:stretch>
                  <a:fillRect l="-3" t="-27" r="3" b="2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900" name="Rectangle 12"/>
              <p:cNvSpPr>
                <a:spLocks noChangeArrowheads="1"/>
              </p:cNvSpPr>
              <p:nvPr/>
            </p:nvSpPr>
            <p:spPr bwMode="auto">
              <a:xfrm>
                <a:off x="2568823" y="4340994"/>
                <a:ext cx="67691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oMath>
                </a14:m>
                <a:r>
                  <a:rPr lang="zh-CN" altLang="zh-CN" sz="2400" dirty="0">
                    <a:latin typeface="Arial" panose="020B0604020202020204" pitchFamily="34" charset="0"/>
                    <a:ea typeface="楷体" panose="02010609060101010101" pitchFamily="49" charset="-122"/>
                  </a:rPr>
                  <a:t>（</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𝐴</m:t>
                    </m:r>
                  </m:oMath>
                </a14:m>
                <a:r>
                  <a:rPr lang="zh-CN" altLang="zh-CN" sz="2400" dirty="0">
                    <a:latin typeface="Arial" panose="020B0604020202020204" pitchFamily="34" charset="0"/>
                    <a:ea typeface="楷体" panose="02010609060101010101" pitchFamily="49" charset="-122"/>
                  </a:rPr>
                  <a:t> 工作只能一人干）</a:t>
                </a:r>
                <a:endParaRPr lang="zh-CN" altLang="zh-CN" sz="2400" dirty="0">
                  <a:latin typeface="Arial" panose="020B0604020202020204" pitchFamily="34" charset="0"/>
                  <a:ea typeface="楷体" panose="02010609060101010101" pitchFamily="49" charset="-122"/>
                </a:endParaRPr>
              </a:p>
            </p:txBody>
          </p:sp>
        </mc:Choice>
        <mc:Fallback>
          <p:sp>
            <p:nvSpPr>
              <p:cNvPr id="37900" name="Rectangle 12"/>
              <p:cNvSpPr>
                <a:spLocks noRot="1" noChangeAspect="1" noMove="1" noResize="1" noEditPoints="1" noAdjustHandles="1" noChangeArrowheads="1" noChangeShapeType="1" noTextEdit="1"/>
              </p:cNvSpPr>
              <p:nvPr/>
            </p:nvSpPr>
            <p:spPr bwMode="auto">
              <a:xfrm>
                <a:off x="2568823" y="4340994"/>
                <a:ext cx="6769100" cy="460375"/>
              </a:xfrm>
              <a:prstGeom prst="rect">
                <a:avLst/>
              </a:prstGeom>
              <a:blipFill rotWithShape="1">
                <a:blip r:embed="rId6"/>
                <a:stretch>
                  <a:fillRect l="-4" t="-29" r="-1038" b="-259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901" name="Rectangle 13"/>
              <p:cNvSpPr>
                <a:spLocks noChangeArrowheads="1"/>
              </p:cNvSpPr>
              <p:nvPr/>
            </p:nvSpPr>
            <p:spPr bwMode="auto">
              <a:xfrm>
                <a:off x="2568823" y="4742631"/>
                <a:ext cx="69850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oMath>
                </a14:m>
                <a:r>
                  <a:rPr lang="zh-CN" altLang="zh-CN" sz="2400" dirty="0">
                    <a:latin typeface="Arial" panose="020B0604020202020204" pitchFamily="34" charset="0"/>
                    <a:ea typeface="楷体" panose="02010609060101010101" pitchFamily="49" charset="-122"/>
                  </a:rPr>
                  <a:t>（</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𝐵</m:t>
                    </m:r>
                  </m:oMath>
                </a14:m>
                <a:r>
                  <a:rPr lang="zh-CN" altLang="zh-CN" sz="2400" dirty="0">
                    <a:latin typeface="Arial" panose="020B0604020202020204" pitchFamily="34" charset="0"/>
                    <a:ea typeface="楷体" panose="02010609060101010101" pitchFamily="49" charset="-122"/>
                  </a:rPr>
                  <a:t> 工作只能一人干）</a:t>
                </a:r>
                <a:endParaRPr lang="zh-CN" altLang="zh-CN" sz="2400" dirty="0">
                  <a:latin typeface="Arial" panose="020B0604020202020204" pitchFamily="34" charset="0"/>
                  <a:ea typeface="楷体" panose="02010609060101010101" pitchFamily="49" charset="-122"/>
                </a:endParaRPr>
              </a:p>
            </p:txBody>
          </p:sp>
        </mc:Choice>
        <mc:Fallback>
          <p:sp>
            <p:nvSpPr>
              <p:cNvPr id="37901" name="Rectangle 13"/>
              <p:cNvSpPr>
                <a:spLocks noRot="1" noChangeAspect="1" noMove="1" noResize="1" noEditPoints="1" noAdjustHandles="1" noChangeArrowheads="1" noChangeShapeType="1" noTextEdit="1"/>
              </p:cNvSpPr>
              <p:nvPr/>
            </p:nvSpPr>
            <p:spPr bwMode="auto">
              <a:xfrm>
                <a:off x="2568823" y="4742631"/>
                <a:ext cx="6985000" cy="460375"/>
              </a:xfrm>
              <a:prstGeom prst="rect">
                <a:avLst/>
              </a:prstGeom>
              <a:blipFill rotWithShape="1">
                <a:blip r:embed="rId7"/>
                <a:stretch>
                  <a:fillRect l="-4" t="-98" r="4" b="-252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902" name="Rectangle 14"/>
              <p:cNvSpPr>
                <a:spLocks noChangeArrowheads="1"/>
              </p:cNvSpPr>
              <p:nvPr/>
            </p:nvSpPr>
            <p:spPr bwMode="auto">
              <a:xfrm>
                <a:off x="2495798" y="5115694"/>
                <a:ext cx="7201172"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buClr>
                    <a:srgbClr val="000000"/>
                  </a:buClr>
                  <a:buSzPct val="100000"/>
                </a:pPr>
                <a:r>
                  <a:rPr lang="zh-CN" altLang="zh-CN" sz="2400" dirty="0">
                    <a:latin typeface="Arial" panose="020B0604020202020204" pitchFamily="34" charset="0"/>
                    <a:ea typeface="楷体" panose="02010609060101010101" pitchFamily="49" charset="-122"/>
                  </a:rPr>
                  <a:t> </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oMath>
                </a14:m>
                <a:r>
                  <a:rPr lang="zh-CN" altLang="zh-CN" sz="2400" dirty="0">
                    <a:latin typeface="Arial" panose="020B0604020202020204" pitchFamily="34" charset="0"/>
                    <a:ea typeface="楷体" panose="02010609060101010101" pitchFamily="49" charset="-122"/>
                  </a:rPr>
                  <a:t>（</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𝐶</m:t>
                    </m:r>
                  </m:oMath>
                </a14:m>
                <a:r>
                  <a:rPr lang="zh-CN" altLang="zh-CN" sz="2400" dirty="0">
                    <a:latin typeface="Arial" panose="020B0604020202020204" pitchFamily="34" charset="0"/>
                    <a:ea typeface="楷体" panose="02010609060101010101" pitchFamily="49" charset="-122"/>
                  </a:rPr>
                  <a:t> 工作只能一人干）</a:t>
                </a:r>
                <a:endParaRPr lang="zh-CN" altLang="zh-CN" sz="2400" dirty="0">
                  <a:latin typeface="Arial" panose="020B0604020202020204" pitchFamily="34" charset="0"/>
                </a:endParaRPr>
              </a:p>
            </p:txBody>
          </p:sp>
        </mc:Choice>
        <mc:Fallback>
          <p:sp>
            <p:nvSpPr>
              <p:cNvPr id="37902" name="Rectangle 14"/>
              <p:cNvSpPr>
                <a:spLocks noRot="1" noChangeAspect="1" noMove="1" noResize="1" noEditPoints="1" noAdjustHandles="1" noChangeArrowheads="1" noChangeShapeType="1" noTextEdit="1"/>
              </p:cNvSpPr>
              <p:nvPr/>
            </p:nvSpPr>
            <p:spPr bwMode="auto">
              <a:xfrm>
                <a:off x="2495798" y="5115694"/>
                <a:ext cx="7201172" cy="460375"/>
              </a:xfrm>
              <a:prstGeom prst="rect">
                <a:avLst/>
              </a:prstGeom>
              <a:blipFill rotWithShape="1">
                <a:blip r:embed="rId8"/>
                <a:stretch>
                  <a:fillRect l="-3" t="-29" r="7" b="-259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903" name="Rectangle 15"/>
              <p:cNvSpPr>
                <a:spLocks noChangeArrowheads="1"/>
              </p:cNvSpPr>
              <p:nvPr/>
            </p:nvSpPr>
            <p:spPr bwMode="auto">
              <a:xfrm>
                <a:off x="2495797" y="5518919"/>
                <a:ext cx="7201171"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buClr>
                    <a:srgbClr val="000000"/>
                  </a:buClr>
                  <a:buSzPct val="100000"/>
                </a:pPr>
                <a:r>
                  <a:rPr lang="zh-CN" altLang="zh-CN" sz="2400" dirty="0">
                    <a:latin typeface="Arial" panose="020B0604020202020204" pitchFamily="34" charset="0"/>
                    <a:ea typeface="楷体" panose="02010609060101010101" pitchFamily="49" charset="-122"/>
                  </a:rPr>
                  <a:t> </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oMath>
                </a14:m>
                <a:r>
                  <a:rPr lang="zh-CN" altLang="zh-CN" sz="2400" dirty="0">
                    <a:latin typeface="Arial" panose="020B0604020202020204" pitchFamily="34" charset="0"/>
                    <a:ea typeface="楷体" panose="02010609060101010101" pitchFamily="49" charset="-122"/>
                  </a:rPr>
                  <a:t>（</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𝐷</m:t>
                    </m:r>
                  </m:oMath>
                </a14:m>
                <a:r>
                  <a:rPr lang="zh-CN" altLang="zh-CN" sz="2400" dirty="0">
                    <a:latin typeface="Arial" panose="020B0604020202020204" pitchFamily="34" charset="0"/>
                    <a:ea typeface="楷体" panose="02010609060101010101" pitchFamily="49" charset="-122"/>
                  </a:rPr>
                  <a:t> 工作只能一人干）</a:t>
                </a:r>
                <a:endParaRPr lang="zh-CN" altLang="zh-CN" sz="2400" dirty="0">
                  <a:latin typeface="Arial" panose="020B0604020202020204" pitchFamily="34" charset="0"/>
                </a:endParaRPr>
              </a:p>
            </p:txBody>
          </p:sp>
        </mc:Choice>
        <mc:Fallback>
          <p:sp>
            <p:nvSpPr>
              <p:cNvPr id="37903" name="Rectangle 15"/>
              <p:cNvSpPr>
                <a:spLocks noRot="1" noChangeAspect="1" noMove="1" noResize="1" noEditPoints="1" noAdjustHandles="1" noChangeArrowheads="1" noChangeShapeType="1" noTextEdit="1"/>
              </p:cNvSpPr>
              <p:nvPr/>
            </p:nvSpPr>
            <p:spPr bwMode="auto">
              <a:xfrm>
                <a:off x="2495797" y="5518919"/>
                <a:ext cx="7201171" cy="460375"/>
              </a:xfrm>
              <a:prstGeom prst="rect">
                <a:avLst/>
              </a:prstGeom>
              <a:blipFill rotWithShape="1">
                <a:blip r:embed="rId9"/>
                <a:stretch>
                  <a:fillRect l="-3" t="-29" r="7" b="-259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904" name="Rectangle 16"/>
              <p:cNvSpPr>
                <a:spLocks noChangeArrowheads="1"/>
              </p:cNvSpPr>
              <p:nvPr/>
            </p:nvSpPr>
            <p:spPr bwMode="auto">
              <a:xfrm>
                <a:off x="2243385" y="5979294"/>
                <a:ext cx="8893175"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400" dirty="0">
                    <a:latin typeface="Arial" panose="020B0604020202020204" pitchFamily="34" charset="0"/>
                    <a:ea typeface="楷体" panose="02010609060101010101" pitchFamily="49" charset="-122"/>
                  </a:rPr>
                  <a:t>	   </a:t>
                </a:r>
                <a14:m>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𝑖𝑗</m:t>
                    </m:r>
                    <m:r>
                      <a:rPr lang="zh-CN" altLang="zh-CN" sz="2400" i="1" baseline="-25000"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为</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0</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变量，</m:t>
                    </m:r>
                    <m:r>
                      <a:rPr lang="zh-CN" altLang="zh-CN" sz="2400" i="1" dirty="0">
                        <a:latin typeface="Cambria Math" panose="02040503050406030204" pitchFamily="18" charset="0"/>
                        <a:ea typeface="楷体" panose="02010609060101010101" pitchFamily="49" charset="-122"/>
                      </a:rPr>
                      <m:t>𝑖</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𝑗</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4</m:t>
                    </m:r>
                  </m:oMath>
                </a14:m>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p:txBody>
          </p:sp>
        </mc:Choice>
        <mc:Fallback>
          <p:sp>
            <p:nvSpPr>
              <p:cNvPr id="37904" name="Rectangle 16"/>
              <p:cNvSpPr>
                <a:spLocks noRot="1" noChangeAspect="1" noMove="1" noResize="1" noEditPoints="1" noAdjustHandles="1" noChangeArrowheads="1" noChangeShapeType="1" noTextEdit="1"/>
              </p:cNvSpPr>
              <p:nvPr/>
            </p:nvSpPr>
            <p:spPr bwMode="auto">
              <a:xfrm>
                <a:off x="2243385" y="5979294"/>
                <a:ext cx="8893175" cy="474662"/>
              </a:xfrm>
              <a:prstGeom prst="rect">
                <a:avLst/>
              </a:prstGeom>
              <a:blipFill rotWithShape="1">
                <a:blip r:embed="rId10"/>
                <a:stretch>
                  <a:fillRect l="-6" t="-28" r="6" b="-271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指派问题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 calcmode="lin" valueType="num">
                                      <p:cBhvr additive="base">
                                        <p:cTn id="7" dur="500" fill="hold"/>
                                        <p:tgtEl>
                                          <p:spTgt spid="37893"/>
                                        </p:tgtEl>
                                        <p:attrNameLst>
                                          <p:attrName>ppt_x</p:attrName>
                                        </p:attrNameLst>
                                      </p:cBhvr>
                                      <p:tavLst>
                                        <p:tav tm="0">
                                          <p:val>
                                            <p:strVal val="ppt_x"/>
                                          </p:val>
                                        </p:tav>
                                        <p:tav tm="100000">
                                          <p:val>
                                            <p:strVal val="ppt_x"/>
                                          </p:val>
                                        </p:tav>
                                      </p:tavLst>
                                    </p:anim>
                                    <p:anim calcmode="lin" valueType="num">
                                      <p:cBhvr additive="base">
                                        <p:cTn id="8"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6"/>
                                        </p:tgtEl>
                                        <p:attrNameLst>
                                          <p:attrName>style.visibility</p:attrName>
                                        </p:attrNameLst>
                                      </p:cBhvr>
                                      <p:to>
                                        <p:strVal val="visible"/>
                                      </p:to>
                                    </p:set>
                                    <p:anim calcmode="lin" valueType="num">
                                      <p:cBhvr additive="base">
                                        <p:cTn id="13" dur="500" fill="hold"/>
                                        <p:tgtEl>
                                          <p:spTgt spid="37896"/>
                                        </p:tgtEl>
                                        <p:attrNameLst>
                                          <p:attrName>ppt_x</p:attrName>
                                        </p:attrNameLst>
                                      </p:cBhvr>
                                      <p:tavLst>
                                        <p:tav tm="0">
                                          <p:val>
                                            <p:strVal val="ppt_x"/>
                                          </p:val>
                                        </p:tav>
                                        <p:tav tm="100000">
                                          <p:val>
                                            <p:strVal val="ppt_x"/>
                                          </p:val>
                                        </p:tav>
                                      </p:tavLst>
                                    </p:anim>
                                    <p:anim calcmode="lin" valueType="num">
                                      <p:cBhvr additive="base">
                                        <p:cTn id="14" dur="500" fill="hold"/>
                                        <p:tgtEl>
                                          <p:spTgt spid="378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9"/>
                                        </p:tgtEl>
                                        <p:attrNameLst>
                                          <p:attrName>style.visibility</p:attrName>
                                        </p:attrNameLst>
                                      </p:cBhvr>
                                      <p:to>
                                        <p:strVal val="visible"/>
                                      </p:to>
                                    </p:set>
                                    <p:anim calcmode="lin" valueType="num">
                                      <p:cBhvr additive="base">
                                        <p:cTn id="19" dur="500" fill="hold"/>
                                        <p:tgtEl>
                                          <p:spTgt spid="37899"/>
                                        </p:tgtEl>
                                        <p:attrNameLst>
                                          <p:attrName>ppt_x</p:attrName>
                                        </p:attrNameLst>
                                      </p:cBhvr>
                                      <p:tavLst>
                                        <p:tav tm="0">
                                          <p:val>
                                            <p:strVal val="ppt_x"/>
                                          </p:val>
                                        </p:tav>
                                        <p:tav tm="100000">
                                          <p:val>
                                            <p:strVal val="ppt_x"/>
                                          </p:val>
                                        </p:tav>
                                      </p:tavLst>
                                    </p:anim>
                                    <p:anim calcmode="lin" valueType="num">
                                      <p:cBhvr additive="base">
                                        <p:cTn id="20" dur="500" fill="hold"/>
                                        <p:tgtEl>
                                          <p:spTgt spid="3789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7897"/>
                                        </p:tgtEl>
                                        <p:attrNameLst>
                                          <p:attrName>style.visibility</p:attrName>
                                        </p:attrNameLst>
                                      </p:cBhvr>
                                      <p:to>
                                        <p:strVal val="visible"/>
                                      </p:to>
                                    </p:set>
                                    <p:anim calcmode="lin" valueType="num">
                                      <p:cBhvr additive="base">
                                        <p:cTn id="25" dur="500" fill="hold"/>
                                        <p:tgtEl>
                                          <p:spTgt spid="37897"/>
                                        </p:tgtEl>
                                        <p:attrNameLst>
                                          <p:attrName>ppt_x</p:attrName>
                                        </p:attrNameLst>
                                      </p:cBhvr>
                                      <p:tavLst>
                                        <p:tav tm="0">
                                          <p:val>
                                            <p:strVal val="ppt_x"/>
                                          </p:val>
                                        </p:tav>
                                        <p:tav tm="100000">
                                          <p:val>
                                            <p:strVal val="ppt_x"/>
                                          </p:val>
                                        </p:tav>
                                      </p:tavLst>
                                    </p:anim>
                                    <p:anim calcmode="lin" valueType="num">
                                      <p:cBhvr additive="base">
                                        <p:cTn id="26" dur="500" fill="hold"/>
                                        <p:tgtEl>
                                          <p:spTgt spid="3789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7898"/>
                                        </p:tgtEl>
                                        <p:attrNameLst>
                                          <p:attrName>style.visibility</p:attrName>
                                        </p:attrNameLst>
                                      </p:cBhvr>
                                      <p:to>
                                        <p:strVal val="visible"/>
                                      </p:to>
                                    </p:set>
                                    <p:anim calcmode="lin" valueType="num">
                                      <p:cBhvr additive="base">
                                        <p:cTn id="31" dur="500" fill="hold"/>
                                        <p:tgtEl>
                                          <p:spTgt spid="37898"/>
                                        </p:tgtEl>
                                        <p:attrNameLst>
                                          <p:attrName>ppt_x</p:attrName>
                                        </p:attrNameLst>
                                      </p:cBhvr>
                                      <p:tavLst>
                                        <p:tav tm="0">
                                          <p:val>
                                            <p:strVal val="ppt_x"/>
                                          </p:val>
                                        </p:tav>
                                        <p:tav tm="100000">
                                          <p:val>
                                            <p:strVal val="ppt_x"/>
                                          </p:val>
                                        </p:tav>
                                      </p:tavLst>
                                    </p:anim>
                                    <p:anim calcmode="lin" valueType="num">
                                      <p:cBhvr additive="base">
                                        <p:cTn id="32" dur="500" fill="hold"/>
                                        <p:tgtEl>
                                          <p:spTgt spid="3789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7900"/>
                                        </p:tgtEl>
                                        <p:attrNameLst>
                                          <p:attrName>style.visibility</p:attrName>
                                        </p:attrNameLst>
                                      </p:cBhvr>
                                      <p:to>
                                        <p:strVal val="visible"/>
                                      </p:to>
                                    </p:set>
                                    <p:anim calcmode="lin" valueType="num">
                                      <p:cBhvr additive="base">
                                        <p:cTn id="37" dur="500" fill="hold"/>
                                        <p:tgtEl>
                                          <p:spTgt spid="37900"/>
                                        </p:tgtEl>
                                        <p:attrNameLst>
                                          <p:attrName>ppt_x</p:attrName>
                                        </p:attrNameLst>
                                      </p:cBhvr>
                                      <p:tavLst>
                                        <p:tav tm="0">
                                          <p:val>
                                            <p:strVal val="ppt_x"/>
                                          </p:val>
                                        </p:tav>
                                        <p:tav tm="100000">
                                          <p:val>
                                            <p:strVal val="ppt_x"/>
                                          </p:val>
                                        </p:tav>
                                      </p:tavLst>
                                    </p:anim>
                                    <p:anim calcmode="lin" valueType="num">
                                      <p:cBhvr additive="base">
                                        <p:cTn id="38" dur="500" fill="hold"/>
                                        <p:tgtEl>
                                          <p:spTgt spid="3790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7901"/>
                                        </p:tgtEl>
                                        <p:attrNameLst>
                                          <p:attrName>style.visibility</p:attrName>
                                        </p:attrNameLst>
                                      </p:cBhvr>
                                      <p:to>
                                        <p:strVal val="visible"/>
                                      </p:to>
                                    </p:set>
                                    <p:anim calcmode="lin" valueType="num">
                                      <p:cBhvr additive="base">
                                        <p:cTn id="43" dur="500" fill="hold"/>
                                        <p:tgtEl>
                                          <p:spTgt spid="37901"/>
                                        </p:tgtEl>
                                        <p:attrNameLst>
                                          <p:attrName>ppt_x</p:attrName>
                                        </p:attrNameLst>
                                      </p:cBhvr>
                                      <p:tavLst>
                                        <p:tav tm="0">
                                          <p:val>
                                            <p:strVal val="ppt_x"/>
                                          </p:val>
                                        </p:tav>
                                        <p:tav tm="100000">
                                          <p:val>
                                            <p:strVal val="ppt_x"/>
                                          </p:val>
                                        </p:tav>
                                      </p:tavLst>
                                    </p:anim>
                                    <p:anim calcmode="lin" valueType="num">
                                      <p:cBhvr additive="base">
                                        <p:cTn id="44" dur="500" fill="hold"/>
                                        <p:tgtEl>
                                          <p:spTgt spid="3790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7902"/>
                                        </p:tgtEl>
                                        <p:attrNameLst>
                                          <p:attrName>style.visibility</p:attrName>
                                        </p:attrNameLst>
                                      </p:cBhvr>
                                      <p:to>
                                        <p:strVal val="visible"/>
                                      </p:to>
                                    </p:set>
                                    <p:anim calcmode="lin" valueType="num">
                                      <p:cBhvr additive="base">
                                        <p:cTn id="49" dur="500" fill="hold"/>
                                        <p:tgtEl>
                                          <p:spTgt spid="37902"/>
                                        </p:tgtEl>
                                        <p:attrNameLst>
                                          <p:attrName>ppt_x</p:attrName>
                                        </p:attrNameLst>
                                      </p:cBhvr>
                                      <p:tavLst>
                                        <p:tav tm="0">
                                          <p:val>
                                            <p:strVal val="ppt_x"/>
                                          </p:val>
                                        </p:tav>
                                        <p:tav tm="100000">
                                          <p:val>
                                            <p:strVal val="ppt_x"/>
                                          </p:val>
                                        </p:tav>
                                      </p:tavLst>
                                    </p:anim>
                                    <p:anim calcmode="lin" valueType="num">
                                      <p:cBhvr additive="base">
                                        <p:cTn id="50" dur="500" fill="hold"/>
                                        <p:tgtEl>
                                          <p:spTgt spid="3790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7903"/>
                                        </p:tgtEl>
                                        <p:attrNameLst>
                                          <p:attrName>style.visibility</p:attrName>
                                        </p:attrNameLst>
                                      </p:cBhvr>
                                      <p:to>
                                        <p:strVal val="visible"/>
                                      </p:to>
                                    </p:set>
                                    <p:anim calcmode="lin" valueType="num">
                                      <p:cBhvr additive="base">
                                        <p:cTn id="55" dur="500" fill="hold"/>
                                        <p:tgtEl>
                                          <p:spTgt spid="37903"/>
                                        </p:tgtEl>
                                        <p:attrNameLst>
                                          <p:attrName>ppt_x</p:attrName>
                                        </p:attrNameLst>
                                      </p:cBhvr>
                                      <p:tavLst>
                                        <p:tav tm="0">
                                          <p:val>
                                            <p:strVal val="ppt_x"/>
                                          </p:val>
                                        </p:tav>
                                        <p:tav tm="100000">
                                          <p:val>
                                            <p:strVal val="ppt_x"/>
                                          </p:val>
                                        </p:tav>
                                      </p:tavLst>
                                    </p:anim>
                                    <p:anim calcmode="lin" valueType="num">
                                      <p:cBhvr additive="base">
                                        <p:cTn id="56" dur="500" fill="hold"/>
                                        <p:tgtEl>
                                          <p:spTgt spid="3790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7904"/>
                                        </p:tgtEl>
                                        <p:attrNameLst>
                                          <p:attrName>style.visibility</p:attrName>
                                        </p:attrNameLst>
                                      </p:cBhvr>
                                      <p:to>
                                        <p:strVal val="visible"/>
                                      </p:to>
                                    </p:set>
                                    <p:anim calcmode="lin" valueType="num">
                                      <p:cBhvr additive="base">
                                        <p:cTn id="61" dur="500" fill="hold"/>
                                        <p:tgtEl>
                                          <p:spTgt spid="37904"/>
                                        </p:tgtEl>
                                        <p:attrNameLst>
                                          <p:attrName>ppt_x</p:attrName>
                                        </p:attrNameLst>
                                      </p:cBhvr>
                                      <p:tavLst>
                                        <p:tav tm="0">
                                          <p:val>
                                            <p:strVal val="ppt_x"/>
                                          </p:val>
                                        </p:tav>
                                        <p:tav tm="100000">
                                          <p:val>
                                            <p:strVal val="ppt_x"/>
                                          </p:val>
                                        </p:tav>
                                      </p:tavLst>
                                    </p:anim>
                                    <p:anim calcmode="lin" valueType="num">
                                      <p:cBhvr additive="base">
                                        <p:cTn id="62" dur="500" fill="hold"/>
                                        <p:tgtEl>
                                          <p:spTgt spid="379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bldLvl="0" animBg="1"/>
      <p:bldP spid="37896" grpId="0" bldLvl="0" animBg="1"/>
      <p:bldP spid="37897" grpId="0" bldLvl="0" animBg="1"/>
      <p:bldP spid="37898" grpId="0" bldLvl="0" animBg="1"/>
      <p:bldP spid="37899" grpId="0" bldLvl="0" animBg="1"/>
      <p:bldP spid="37900" grpId="0" bldLvl="0" animBg="1"/>
      <p:bldP spid="37901" grpId="0" bldLvl="0" animBg="1"/>
      <p:bldP spid="37902" grpId="0" bldLvl="0" animBg="1"/>
      <p:bldP spid="37903" grpId="0" bldLvl="0" animBg="1"/>
      <p:bldP spid="37904"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7893" name="Rectangle 5"/>
              <p:cNvSpPr>
                <a:spLocks noChangeArrowheads="1"/>
              </p:cNvSpPr>
              <p:nvPr/>
            </p:nvSpPr>
            <p:spPr bwMode="auto">
              <a:xfrm>
                <a:off x="1524000" y="1557338"/>
                <a:ext cx="9172575"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𝑀𝑖𝑛</m:t>
                      </m:r>
                      <m:r>
                        <a:rPr lang="zh-CN" altLang="zh-CN" sz="2400" i="1" dirty="0" smtClean="0">
                          <a:latin typeface="Cambria Math" panose="02040503050406030204" pitchFamily="18" charset="0"/>
                          <a:ea typeface="楷体" panose="02010609060101010101" pitchFamily="49" charset="-122"/>
                        </a:rPr>
                        <m:t> </m:t>
                      </m:r>
                      <m:r>
                        <a:rPr lang="en-US" altLang="zh-CN" sz="2400" b="0" i="1" dirty="0" smtClean="0">
                          <a:latin typeface="Cambria Math" panose="02040503050406030204" pitchFamily="18" charset="0"/>
                          <a:ea typeface="楷体" panose="02010609060101010101" pitchFamily="49" charset="-122"/>
                        </a:rPr>
                        <m:t>𝑧</m:t>
                      </m:r>
                      <m:r>
                        <a:rPr lang="zh-CN" altLang="zh-CN" sz="2400" i="1" dirty="0" smtClean="0">
                          <a:latin typeface="Cambria Math" panose="02040503050406030204" pitchFamily="18" charset="0"/>
                          <a:ea typeface="楷体" panose="02010609060101010101" pitchFamily="49" charset="-122"/>
                        </a:rPr>
                        <m:t>=</m:t>
                      </m:r>
                      <m:r>
                        <a:rPr lang="zh-CN" altLang="zh-CN" sz="2400" i="1" dirty="0" smtClean="0">
                          <a:latin typeface="Cambria Math" panose="02040503050406030204" pitchFamily="18" charset="0"/>
                          <a:ea typeface="楷体" panose="02010609060101010101" pitchFamily="49" charset="-122"/>
                        </a:rPr>
                        <m:t>15</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18</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24</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14</m:t>
                      </m:r>
                      <m:r>
                        <a:rPr lang="zh-CN" altLang="zh-CN" sz="2400" i="1" baseline="-25000"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19</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22</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18</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24</m:t>
                      </m:r>
                    </m:oMath>
                  </m:oMathPara>
                </a14:m>
                <a:endParaRPr lang="zh-CN" altLang="zh-CN" sz="2400" baseline="-250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    +</m:t>
                      </m:r>
                      <m:r>
                        <a:rPr lang="zh-CN" altLang="zh-CN" sz="2400" i="1" dirty="0" smtClean="0">
                          <a:latin typeface="Cambria Math" panose="02040503050406030204" pitchFamily="18" charset="0"/>
                          <a:ea typeface="楷体" panose="02010609060101010101" pitchFamily="49" charset="-122"/>
                        </a:rPr>
                        <m:t>26</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17</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16</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19</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34</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19</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17</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44</m:t>
                      </m:r>
                    </m:oMath>
                  </m:oMathPara>
                </a14:m>
                <a:endParaRPr lang="zh-CN" altLang="zh-CN" sz="2400" baseline="-25000" dirty="0">
                  <a:latin typeface="Arial" panose="020B0604020202020204" pitchFamily="34" charset="0"/>
                  <a:ea typeface="楷体" panose="02010609060101010101" pitchFamily="49" charset="-122"/>
                </a:endParaRPr>
              </a:p>
            </p:txBody>
          </p:sp>
        </mc:Choice>
        <mc:Fallback>
          <p:sp>
            <p:nvSpPr>
              <p:cNvPr id="37893" name="Rectangle 5"/>
              <p:cNvSpPr>
                <a:spLocks noRot="1" noChangeAspect="1" noMove="1" noResize="1" noEditPoints="1" noAdjustHandles="1" noChangeArrowheads="1" noChangeShapeType="1" noTextEdit="1"/>
              </p:cNvSpPr>
              <p:nvPr/>
            </p:nvSpPr>
            <p:spPr bwMode="auto">
              <a:xfrm>
                <a:off x="1524000" y="1557338"/>
                <a:ext cx="9172575" cy="792162"/>
              </a:xfrm>
              <a:prstGeom prst="rect">
                <a:avLst/>
              </a:prstGeom>
              <a:blipFill rotWithShape="1">
                <a:blip r:embed="rId1"/>
                <a:stretch>
                  <a:fillRect t="-40" b="-4617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896" name="Rectangle 8"/>
              <p:cNvSpPr>
                <a:spLocks noChangeArrowheads="1"/>
              </p:cNvSpPr>
              <p:nvPr/>
            </p:nvSpPr>
            <p:spPr bwMode="auto">
              <a:xfrm>
                <a:off x="2934791" y="3096977"/>
                <a:ext cx="6322417" cy="28230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ea typeface="楷体" panose="02010609060101010101" pitchFamily="49" charset="-122"/>
                        </a:rPr>
                        <m:t>𝑠</m:t>
                      </m:r>
                      <m:r>
                        <a:rPr lang="en-US" altLang="zh-CN" sz="2400" b="0" i="1" smtClean="0">
                          <a:latin typeface="Cambria Math" panose="02040503050406030204" pitchFamily="18" charset="0"/>
                          <a:ea typeface="楷体" panose="02010609060101010101" pitchFamily="49" charset="-122"/>
                        </a:rPr>
                        <m:t>.</m:t>
                      </m:r>
                      <m:r>
                        <a:rPr lang="en-US" altLang="zh-CN" sz="2400" b="0" i="1" smtClean="0">
                          <a:latin typeface="Cambria Math" panose="02040503050406030204" pitchFamily="18" charset="0"/>
                          <a:ea typeface="楷体" panose="02010609060101010101" pitchFamily="49" charset="-122"/>
                        </a:rPr>
                        <m:t>𝑡</m:t>
                      </m:r>
                      <m:r>
                        <a:rPr lang="en-US" altLang="zh-CN" sz="2400" b="0" i="1" smtClean="0">
                          <a:latin typeface="Cambria Math" panose="02040503050406030204" pitchFamily="18" charset="0"/>
                          <a:ea typeface="楷体" panose="02010609060101010101" pitchFamily="49" charset="-122"/>
                        </a:rPr>
                        <m:t>.</m:t>
                      </m:r>
                      <m:d>
                        <m:dPr>
                          <m:begChr m:val="{"/>
                          <m:endChr m:val=""/>
                          <m:ctrlPr>
                            <a:rPr lang="en-US" altLang="zh-CN" sz="2400" b="0" i="1" smtClean="0">
                              <a:latin typeface="Cambria Math" panose="02040503050406030204" pitchFamily="18" charset="0"/>
                              <a:ea typeface="楷体" panose="02010609060101010101" pitchFamily="49" charset="-122"/>
                            </a:rPr>
                          </m:ctrlPr>
                        </m:dPr>
                        <m:e>
                          <m:eqArr>
                            <m:eqArrPr>
                              <m:ctrlPr>
                                <a:rPr lang="en-US" altLang="zh-CN" sz="2400" b="0" i="1" smtClean="0">
                                  <a:latin typeface="Cambria Math" panose="02040503050406030204" pitchFamily="18" charset="0"/>
                                  <a:ea typeface="楷体" panose="02010609060101010101" pitchFamily="49" charset="-122"/>
                                </a:rPr>
                              </m:ctrlPr>
                            </m:eqArrPr>
                            <m:e>
                              <m:nary>
                                <m:naryPr>
                                  <m:chr m:val="∑"/>
                                  <m:ctrlPr>
                                    <a:rPr lang="zh-CN" altLang="en-US" sz="2400" i="1">
                                      <a:latin typeface="Cambria Math" panose="02040503050406030204" pitchFamily="18" charset="0"/>
                                      <a:ea typeface="楷体" panose="02010609060101010101" pitchFamily="49" charset="-122"/>
                                    </a:rPr>
                                  </m:ctrlPr>
                                </m:naryPr>
                                <m:sub>
                                  <m:r>
                                    <m:rPr>
                                      <m:brk m:alnAt="23"/>
                                    </m:rPr>
                                    <a:rPr lang="en-US" altLang="zh-CN" sz="2400" i="1">
                                      <a:latin typeface="Cambria Math" panose="02040503050406030204" pitchFamily="18" charset="0"/>
                                      <a:ea typeface="楷体" panose="02010609060101010101" pitchFamily="49" charset="-122"/>
                                    </a:rPr>
                                    <m:t>𝑗</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1</m:t>
                                  </m:r>
                                </m:sub>
                                <m:sup>
                                  <m:r>
                                    <a:rPr lang="en-US" altLang="zh-CN" sz="2400" i="1">
                                      <a:latin typeface="Cambria Math" panose="02040503050406030204" pitchFamily="18" charset="0"/>
                                      <a:ea typeface="楷体" panose="02010609060101010101" pitchFamily="49" charset="-122"/>
                                    </a:rPr>
                                    <m:t>4</m:t>
                                  </m:r>
                                </m:sup>
                                <m:e>
                                  <m:sSub>
                                    <m:sSubPr>
                                      <m:ctrlPr>
                                        <a:rPr lang="en-US" altLang="zh-CN" sz="2400" i="1">
                                          <a:latin typeface="Cambria Math" panose="02040503050406030204" pitchFamily="18" charset="0"/>
                                          <a:ea typeface="楷体" panose="02010609060101010101" pitchFamily="49" charset="-122"/>
                                        </a:rPr>
                                      </m:ctrlPr>
                                    </m:sSubPr>
                                    <m:e>
                                      <m:r>
                                        <a:rPr lang="en-US" altLang="zh-CN" sz="2400" i="1">
                                          <a:latin typeface="Cambria Math" panose="02040503050406030204" pitchFamily="18" charset="0"/>
                                          <a:ea typeface="楷体" panose="02010609060101010101" pitchFamily="49" charset="-122"/>
                                        </a:rPr>
                                        <m:t>𝑥</m:t>
                                      </m:r>
                                    </m:e>
                                    <m:sub>
                                      <m:r>
                                        <a:rPr lang="en-US" altLang="zh-CN" sz="2400" i="1">
                                          <a:latin typeface="Cambria Math" panose="02040503050406030204" pitchFamily="18" charset="0"/>
                                          <a:ea typeface="楷体" panose="02010609060101010101" pitchFamily="49" charset="-122"/>
                                        </a:rPr>
                                        <m:t>𝑖𝑗</m:t>
                                      </m:r>
                                    </m:sub>
                                  </m:sSub>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1</m:t>
                                  </m:r>
                                  <m:r>
                                    <a:rPr lang="en-US" altLang="zh-CN" sz="2400" i="1">
                                      <a:latin typeface="Cambria Math" panose="02040503050406030204" pitchFamily="18" charset="0"/>
                                      <a:ea typeface="楷体" panose="02010609060101010101" pitchFamily="49" charset="-122"/>
                                    </a:rPr>
                                    <m:t>, </m:t>
                                  </m:r>
                                  <m:r>
                                    <a:rPr lang="en-US" altLang="zh-CN" sz="2400" i="1">
                                      <a:latin typeface="Cambria Math" panose="02040503050406030204" pitchFamily="18" charset="0"/>
                                      <a:ea typeface="楷体" panose="02010609060101010101" pitchFamily="49" charset="-122"/>
                                    </a:rPr>
                                    <m:t>𝑖</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1</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2</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3</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4</m:t>
                                  </m:r>
                                </m:e>
                              </m:nary>
                            </m:e>
                            <m:e>
                              <m:nary>
                                <m:naryPr>
                                  <m:chr m:val="∑"/>
                                  <m:ctrlPr>
                                    <a:rPr lang="zh-CN" altLang="en-US" sz="2400" i="1">
                                      <a:latin typeface="Cambria Math" panose="02040503050406030204" pitchFamily="18" charset="0"/>
                                      <a:ea typeface="楷体" panose="02010609060101010101" pitchFamily="49" charset="-122"/>
                                    </a:rPr>
                                  </m:ctrlPr>
                                </m:naryPr>
                                <m:sub>
                                  <m:r>
                                    <a:rPr lang="en-US" altLang="zh-CN" sz="2400" i="1">
                                      <a:latin typeface="Cambria Math" panose="02040503050406030204" pitchFamily="18" charset="0"/>
                                      <a:ea typeface="楷体" panose="02010609060101010101" pitchFamily="49" charset="-122"/>
                                    </a:rPr>
                                    <m:t>𝑖</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1</m:t>
                                  </m:r>
                                </m:sub>
                                <m:sup>
                                  <m:r>
                                    <a:rPr lang="en-US" altLang="zh-CN" sz="2400" i="1">
                                      <a:latin typeface="Cambria Math" panose="02040503050406030204" pitchFamily="18" charset="0"/>
                                      <a:ea typeface="楷体" panose="02010609060101010101" pitchFamily="49" charset="-122"/>
                                    </a:rPr>
                                    <m:t>4</m:t>
                                  </m:r>
                                </m:sup>
                                <m:e>
                                  <m:sSub>
                                    <m:sSubPr>
                                      <m:ctrlPr>
                                        <a:rPr lang="en-US" altLang="zh-CN" sz="2400" i="1">
                                          <a:latin typeface="Cambria Math" panose="02040503050406030204" pitchFamily="18" charset="0"/>
                                          <a:ea typeface="楷体" panose="02010609060101010101" pitchFamily="49" charset="-122"/>
                                        </a:rPr>
                                      </m:ctrlPr>
                                    </m:sSubPr>
                                    <m:e>
                                      <m:r>
                                        <a:rPr lang="en-US" altLang="zh-CN" sz="2400" i="1">
                                          <a:latin typeface="Cambria Math" panose="02040503050406030204" pitchFamily="18" charset="0"/>
                                          <a:ea typeface="楷体" panose="02010609060101010101" pitchFamily="49" charset="-122"/>
                                        </a:rPr>
                                        <m:t>𝑥</m:t>
                                      </m:r>
                                    </m:e>
                                    <m:sub>
                                      <m:r>
                                        <a:rPr lang="en-US" altLang="zh-CN" sz="2400" i="1">
                                          <a:latin typeface="Cambria Math" panose="02040503050406030204" pitchFamily="18" charset="0"/>
                                          <a:ea typeface="楷体" panose="02010609060101010101" pitchFamily="49" charset="-122"/>
                                        </a:rPr>
                                        <m:t>𝑖𝑗</m:t>
                                      </m:r>
                                    </m:sub>
                                  </m:sSub>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1</m:t>
                                  </m:r>
                                  <m:r>
                                    <a:rPr lang="en-US" altLang="zh-CN" sz="2400" i="1">
                                      <a:latin typeface="Cambria Math" panose="02040503050406030204" pitchFamily="18" charset="0"/>
                                      <a:ea typeface="楷体" panose="02010609060101010101" pitchFamily="49" charset="-122"/>
                                    </a:rPr>
                                    <m:t>, </m:t>
                                  </m:r>
                                  <m:r>
                                    <a:rPr lang="en-US" altLang="zh-CN" sz="2400" i="1">
                                      <a:latin typeface="Cambria Math" panose="02040503050406030204" pitchFamily="18" charset="0"/>
                                      <a:ea typeface="楷体" panose="02010609060101010101" pitchFamily="49" charset="-122"/>
                                    </a:rPr>
                                    <m:t>𝑗</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1</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2</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3</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4</m:t>
                                  </m:r>
                                </m:e>
                              </m:nary>
                            </m:e>
                            <m:e>
                              <m:sSub>
                                <m:sSubPr>
                                  <m:ctrlPr>
                                    <a:rPr lang="en-US" altLang="zh-CN" sz="2400" i="1">
                                      <a:latin typeface="Cambria Math" panose="02040503050406030204" pitchFamily="18" charset="0"/>
                                      <a:ea typeface="楷体" panose="02010609060101010101" pitchFamily="49" charset="-122"/>
                                    </a:rPr>
                                  </m:ctrlPr>
                                </m:sSubPr>
                                <m:e>
                                  <m:r>
                                    <a:rPr lang="en-US" altLang="zh-CN" sz="2400" i="1">
                                      <a:latin typeface="Cambria Math" panose="02040503050406030204" pitchFamily="18" charset="0"/>
                                      <a:ea typeface="楷体" panose="02010609060101010101" pitchFamily="49" charset="-122"/>
                                    </a:rPr>
                                    <m:t>𝑥</m:t>
                                  </m:r>
                                </m:e>
                                <m:sub>
                                  <m:r>
                                    <a:rPr lang="en-US" altLang="zh-CN" sz="2400" i="1">
                                      <a:latin typeface="Cambria Math" panose="02040503050406030204" pitchFamily="18" charset="0"/>
                                      <a:ea typeface="楷体" panose="02010609060101010101" pitchFamily="49" charset="-122"/>
                                    </a:rPr>
                                    <m:t>𝑖𝑗</m:t>
                                  </m:r>
                                </m:sub>
                              </m:sSub>
                              <m:r>
                                <a:rPr lang="zh-CN" altLang="en-US" sz="2400" i="1">
                                  <a:latin typeface="Cambria Math" panose="02040503050406030204" pitchFamily="18" charset="0"/>
                                  <a:ea typeface="楷体" panose="02010609060101010101" pitchFamily="49" charset="-122"/>
                                </a:rPr>
                                <m:t>为</m:t>
                              </m:r>
                              <m:r>
                                <m:rPr>
                                  <m:nor/>
                                </m:rPr>
                                <a:rPr lang="en-US" altLang="zh-CN" sz="2400" dirty="0">
                                  <a:latin typeface="Cambria Math" panose="02040503050406030204" pitchFamily="18" charset="0"/>
                                  <a:ea typeface="楷体" panose="02010609060101010101" pitchFamily="49" charset="-122"/>
                                  <a:cs typeface="Times New Roman" panose="02020603050405020304" pitchFamily="18" charset="0"/>
                                </a:rPr>
                                <m:t>0</m:t>
                              </m:r>
                              <m:r>
                                <m:rPr>
                                  <m:nor/>
                                </m:rPr>
                                <a:rPr lang="en-US" altLang="zh-CN" sz="2400" dirty="0">
                                  <a:latin typeface="Cambria Math" panose="02040503050406030204" pitchFamily="18" charset="0"/>
                                  <a:ea typeface="楷体" panose="02010609060101010101" pitchFamily="49" charset="-122"/>
                                  <a:cs typeface="Times New Roman" panose="02020603050405020304" pitchFamily="18" charset="0"/>
                                </a:rPr>
                                <m:t>−</m:t>
                              </m:r>
                              <m:r>
                                <m:rPr>
                                  <m:nor/>
                                </m:rPr>
                                <a:rPr lang="en-US" altLang="zh-CN" sz="2400" dirty="0">
                                  <a:latin typeface="Cambria Math" panose="02040503050406030204" pitchFamily="18" charset="0"/>
                                  <a:ea typeface="楷体" panose="02010609060101010101" pitchFamily="49" charset="-122"/>
                                  <a:cs typeface="Times New Roman" panose="02020603050405020304" pitchFamily="18" charset="0"/>
                                </a:rPr>
                                <m:t>1</m:t>
                              </m:r>
                              <m:r>
                                <m:rPr>
                                  <m:nor/>
                                </m:rPr>
                                <a:rPr lang="zh-CN" altLang="en-US" sz="2400" dirty="0">
                                  <a:latin typeface="Arial" panose="020B0604020202020204" pitchFamily="34" charset="0"/>
                                  <a:ea typeface="楷体" panose="02010609060101010101" pitchFamily="49" charset="-122"/>
                                </a:rPr>
                                <m:t>变量，</m:t>
                              </m:r>
                              <m:r>
                                <a:rPr lang="en-US" altLang="zh-CN" sz="2400" i="1">
                                  <a:latin typeface="Cambria Math" panose="02040503050406030204" pitchFamily="18" charset="0"/>
                                  <a:ea typeface="楷体" panose="02010609060101010101" pitchFamily="49" charset="-122"/>
                                </a:rPr>
                                <m:t>𝑖</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𝑗</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1</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2</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3</m:t>
                              </m:r>
                              <m:r>
                                <a:rPr lang="en-US" altLang="zh-CN" sz="2400" i="1">
                                  <a:latin typeface="Cambria Math" panose="02040503050406030204" pitchFamily="18" charset="0"/>
                                  <a:ea typeface="楷体" panose="02010609060101010101" pitchFamily="49" charset="-122"/>
                                </a:rPr>
                                <m:t>,</m:t>
                              </m:r>
                              <m:r>
                                <a:rPr lang="en-US" altLang="zh-CN" sz="2400" i="1">
                                  <a:latin typeface="Cambria Math" panose="02040503050406030204" pitchFamily="18" charset="0"/>
                                  <a:ea typeface="楷体" panose="02010609060101010101" pitchFamily="49" charset="-122"/>
                                </a:rPr>
                                <m:t>4</m:t>
                              </m:r>
                              <m:r>
                                <m:rPr>
                                  <m:nor/>
                                </m:rPr>
                                <a:rPr lang="en-US" altLang="zh-CN" sz="2400" dirty="0">
                                  <a:latin typeface="Arial" panose="020B0604020202020204" pitchFamily="34" charset="0"/>
                                  <a:ea typeface="楷体" panose="02010609060101010101" pitchFamily="49" charset="-122"/>
                                </a:rPr>
                                <m:t> </m:t>
                              </m:r>
                            </m:e>
                          </m:eqArr>
                        </m:e>
                      </m:d>
                    </m:oMath>
                  </m:oMathPara>
                </a14:m>
                <a:endParaRPr lang="en-US" altLang="zh-CN" sz="24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400" dirty="0">
                  <a:latin typeface="Arial" panose="020B0604020202020204" pitchFamily="34" charset="0"/>
                  <a:ea typeface="楷体" panose="02010609060101010101" pitchFamily="49" charset="-122"/>
                </a:endParaRPr>
              </a:p>
            </p:txBody>
          </p:sp>
        </mc:Choice>
        <mc:Fallback>
          <p:sp>
            <p:nvSpPr>
              <p:cNvPr id="37896" name="Rectangle 8"/>
              <p:cNvSpPr>
                <a:spLocks noRot="1" noChangeAspect="1" noMove="1" noResize="1" noEditPoints="1" noAdjustHandles="1" noChangeArrowheads="1" noChangeShapeType="1" noTextEdit="1"/>
              </p:cNvSpPr>
              <p:nvPr/>
            </p:nvSpPr>
            <p:spPr bwMode="auto">
              <a:xfrm>
                <a:off x="2934791" y="3096977"/>
                <a:ext cx="6322417" cy="2823047"/>
              </a:xfrm>
              <a:prstGeom prst="rect">
                <a:avLst/>
              </a:prstGeom>
              <a:blipFill rotWithShape="1">
                <a:blip r:embed="rId2"/>
                <a:stretch>
                  <a:fillRect l="-7" t="-3" r="3" b="-607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指派问题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 calcmode="lin" valueType="num">
                                      <p:cBhvr additive="base">
                                        <p:cTn id="7" dur="500" fill="hold"/>
                                        <p:tgtEl>
                                          <p:spTgt spid="37893"/>
                                        </p:tgtEl>
                                        <p:attrNameLst>
                                          <p:attrName>ppt_x</p:attrName>
                                        </p:attrNameLst>
                                      </p:cBhvr>
                                      <p:tavLst>
                                        <p:tav tm="0">
                                          <p:val>
                                            <p:strVal val="ppt_x"/>
                                          </p:val>
                                        </p:tav>
                                        <p:tav tm="100000">
                                          <p:val>
                                            <p:strVal val="ppt_x"/>
                                          </p:val>
                                        </p:tav>
                                      </p:tavLst>
                                    </p:anim>
                                    <p:anim calcmode="lin" valueType="num">
                                      <p:cBhvr additive="base">
                                        <p:cTn id="8"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6"/>
                                        </p:tgtEl>
                                        <p:attrNameLst>
                                          <p:attrName>style.visibility</p:attrName>
                                        </p:attrNameLst>
                                      </p:cBhvr>
                                      <p:to>
                                        <p:strVal val="visible"/>
                                      </p:to>
                                    </p:set>
                                    <p:anim calcmode="lin" valueType="num">
                                      <p:cBhvr additive="base">
                                        <p:cTn id="13" dur="500" fill="hold"/>
                                        <p:tgtEl>
                                          <p:spTgt spid="37896"/>
                                        </p:tgtEl>
                                        <p:attrNameLst>
                                          <p:attrName>ppt_x</p:attrName>
                                        </p:attrNameLst>
                                      </p:cBhvr>
                                      <p:tavLst>
                                        <p:tav tm="0">
                                          <p:val>
                                            <p:strVal val="ppt_x"/>
                                          </p:val>
                                        </p:tav>
                                        <p:tav tm="100000">
                                          <p:val>
                                            <p:strVal val="ppt_x"/>
                                          </p:val>
                                        </p:tav>
                                      </p:tavLst>
                                    </p:anim>
                                    <p:anim calcmode="lin" valueType="num">
                                      <p:cBhvr additive="base">
                                        <p:cTn id="14" dur="500" fill="hold"/>
                                        <p:tgtEl>
                                          <p:spTgt spid="378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bldLvl="0" animBg="1"/>
      <p:bldP spid="37896"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8613" name="Rectangle 5"/>
              <p:cNvSpPr>
                <a:spLocks noChangeArrowheads="1"/>
              </p:cNvSpPr>
              <p:nvPr/>
            </p:nvSpPr>
            <p:spPr bwMode="auto">
              <a:xfrm>
                <a:off x="899160" y="1557655"/>
                <a:ext cx="9645015" cy="4968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sz="2800" dirty="0">
                    <a:ea typeface="楷体" panose="02010609060101010101" pitchFamily="49" charset="-122"/>
                    <a:cs typeface="Times New Roman" panose="02020603050405020304" pitchFamily="18" charset="0"/>
                  </a:rPr>
                  <a:t>四、分布系统设计</a:t>
                </a: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r>
                  <a:rPr lang="zh-CN" altLang="zh-CN" sz="2800" dirty="0">
                    <a:ea typeface="楷体" panose="02010609060101010101" pitchFamily="49" charset="-122"/>
                    <a:cs typeface="Times New Roman" panose="02020603050405020304" pitchFamily="18" charset="0"/>
                  </a:rPr>
                  <a:t>	例 7．某企业在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m:t>
                    </m:r>
                  </m:oMath>
                </a14:m>
                <a:r>
                  <a:rPr lang="zh-CN" altLang="zh-CN" sz="2800" dirty="0">
                    <a:ea typeface="楷体" panose="02010609060101010101" pitchFamily="49" charset="-122"/>
                    <a:cs typeface="Times New Roman" panose="02020603050405020304" pitchFamily="18" charset="0"/>
                  </a:rPr>
                  <a:t>地有一工厂，其产品的生产能力为 30 千箱，为扩大生产，打算在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5</m:t>
                    </m:r>
                    <m:r>
                      <a:rPr lang="zh-CN" altLang="zh-CN" sz="2800" i="1" dirty="0">
                        <a:latin typeface="Cambria Math" panose="02040503050406030204" pitchFamily="18" charset="0"/>
                        <a:ea typeface="楷体" panose="02010609060101010101" pitchFamily="49" charset="-122"/>
                      </a:rPr>
                      <m:t> </m:t>
                    </m:r>
                  </m:oMath>
                </a14:m>
                <a:r>
                  <a:rPr lang="zh-CN" altLang="zh-CN" sz="2800" dirty="0">
                    <a:ea typeface="楷体" panose="02010609060101010101" pitchFamily="49" charset="-122"/>
                    <a:cs typeface="Times New Roman" panose="02020603050405020304" pitchFamily="18" charset="0"/>
                  </a:rPr>
                  <a:t>地中再选择几个地方建厂。已知在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5</m:t>
                    </m:r>
                  </m:oMath>
                </a14:m>
                <a:r>
                  <a:rPr lang="zh-CN" altLang="zh-CN" sz="2800" dirty="0">
                    <a:ea typeface="楷体" panose="02010609060101010101" pitchFamily="49" charset="-122"/>
                    <a:cs typeface="Times New Roman" panose="02020603050405020304" pitchFamily="18" charset="0"/>
                  </a:rPr>
                  <a:t> 地建厂的固定成本分别为 175 千元、300 千元、375 千元、500 千元，另外，</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m:t>
                    </m:r>
                  </m:oMath>
                </a14:m>
                <a:r>
                  <a:rPr lang="zh-CN" altLang="zh-CN" sz="2800" dirty="0">
                    <a:ea typeface="楷体" panose="02010609060101010101" pitchFamily="49" charset="-122"/>
                    <a:cs typeface="Times New Roman" panose="02020603050405020304" pitchFamily="18" charset="0"/>
                  </a:rPr>
                  <a:t>产量及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5</m:t>
                    </m:r>
                  </m:oMath>
                </a14:m>
                <a:r>
                  <a:rPr lang="zh-CN" altLang="zh-CN" sz="2800" baseline="-25000" dirty="0">
                    <a:ea typeface="楷体" panose="02010609060101010101" pitchFamily="49" charset="-122"/>
                    <a:cs typeface="Times New Roman" panose="02020603050405020304" pitchFamily="18" charset="0"/>
                  </a:rPr>
                  <a:t> </a:t>
                </a:r>
                <a:r>
                  <a:rPr lang="zh-CN" altLang="zh-CN" sz="2800" dirty="0">
                    <a:ea typeface="楷体" panose="02010609060101010101" pitchFamily="49" charset="-122"/>
                    <a:cs typeface="Times New Roman" panose="02020603050405020304" pitchFamily="18" charset="0"/>
                  </a:rPr>
                  <a:t>建成厂的产量，销地的销量以及产地到销地的单位运价（每千箱运费）如表 。</a:t>
                </a: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r>
                  <a:rPr lang="zh-CN" altLang="zh-CN" sz="2800" dirty="0">
                    <a:ea typeface="楷体" panose="02010609060101010101" pitchFamily="49" charset="-122"/>
                    <a:cs typeface="Times New Roman" panose="02020603050405020304" pitchFamily="18" charset="0"/>
                  </a:rPr>
                  <a:t>		</a:t>
                </a: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p:txBody>
          </p:sp>
        </mc:Choice>
        <mc:Fallback>
          <p:sp>
            <p:nvSpPr>
              <p:cNvPr id="68613" name="Rectangle 5"/>
              <p:cNvSpPr>
                <a:spLocks noRot="1" noChangeAspect="1" noMove="1" noResize="1" noEditPoints="1" noAdjustHandles="1" noChangeArrowheads="1" noChangeShapeType="1" noTextEdit="1"/>
              </p:cNvSpPr>
              <p:nvPr/>
            </p:nvSpPr>
            <p:spPr bwMode="auto">
              <a:xfrm>
                <a:off x="899160" y="1557655"/>
                <a:ext cx="9645015" cy="4968240"/>
              </a:xfrm>
              <a:prstGeom prst="rect">
                <a:avLst/>
              </a:prstGeom>
              <a:blipFill rotWithShape="1">
                <a:blip r:embed="rId1"/>
                <a:stretch>
                  <a:fillRect b="-417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68614"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标题 1"/>
          <p:cNvSpPr>
            <a:spLocks noGrp="1"/>
          </p:cNvSpPr>
          <p:nvPr/>
        </p:nvSpPr>
        <p:spPr>
          <a:xfrm>
            <a:off x="838200" y="365125"/>
            <a:ext cx="1051560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ea typeface="楷体" panose="02010609060101010101" pitchFamily="49" charset="-122"/>
                <a:cs typeface="Times New Roman" panose="02020603050405020304" pitchFamily="18" charset="0"/>
                <a:sym typeface="+mn-ea"/>
              </a:rPr>
              <a:t>分布系统设计</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0" name="Line 7"/>
          <p:cNvSpPr>
            <a:spLocks noChangeShapeType="1"/>
          </p:cNvSpPr>
          <p:nvPr/>
        </p:nvSpPr>
        <p:spPr bwMode="auto">
          <a:xfrm>
            <a:off x="1765052" y="326135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nvGraphicFramePr>
            <p:xfrm>
              <a:off x="1884362" y="1872918"/>
              <a:ext cx="8423275" cy="4215130"/>
            </p:xfrm>
            <a:graphic>
              <a:graphicData uri="http://schemas.openxmlformats.org/drawingml/2006/table">
                <a:tbl>
                  <a:tblPr firstRow="1" bandRow="1">
                    <a:tableStyleId>{5C22544A-7EE6-4342-B048-85BDC9FD1C3A}</a:tableStyleId>
                  </a:tblPr>
                  <a:tblGrid>
                    <a:gridCol w="1684655"/>
                    <a:gridCol w="1684655"/>
                    <a:gridCol w="1684655"/>
                    <a:gridCol w="1684655"/>
                    <a:gridCol w="1684655"/>
                  </a:tblGrid>
                  <a:tr h="62103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                       销地</a:t>
                          </a:r>
                          <a:endPar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Pct val="100000"/>
                            <a:buFontTx/>
                            <a:buNone/>
                          </a:pPr>
                          <a:r>
                            <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     运费单价/元</a:t>
                          </a:r>
                          <a:endPar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Pct val="100000"/>
                            <a:buFontTx/>
                            <a:buNone/>
                          </a:pPr>
                          <a:r>
                            <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产地</a:t>
                          </a:r>
                          <a:endPar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4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𝐵</m:t>
                                </m:r>
                                <m:r>
                                  <a:rPr kumimoji="0" lang="zh-CN" altLang="zh-CN" sz="2400" b="0" i="1" u="none" strike="noStrike" cap="none" normalizeH="0" baseline="-25000" dirty="0">
                                    <a:ln>
                                      <a:noFill/>
                                    </a:ln>
                                    <a:solidFill>
                                      <a:schemeClr val="tx1"/>
                                    </a:solidFill>
                                    <a:effectLst/>
                                    <a:latin typeface="Cambria Math" panose="02040503050406030204" pitchFamily="18" charset="0"/>
                                    <a:ea typeface="仿宋" panose="02010609060101010101" pitchFamily="49" charset="-122"/>
                                  </a:rPr>
                                  <m:t>1</m:t>
                                </m:r>
                              </m:oMath>
                            </m:oMathPara>
                          </a14:m>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4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𝐵</m:t>
                                </m:r>
                                <m:r>
                                  <a:rPr kumimoji="0" lang="zh-CN" altLang="zh-CN" sz="2400" b="0" i="1" u="none" strike="noStrike" cap="none" normalizeH="0" baseline="-25000" dirty="0">
                                    <a:ln>
                                      <a:noFill/>
                                    </a:ln>
                                    <a:solidFill>
                                      <a:schemeClr val="tx1"/>
                                    </a:solidFill>
                                    <a:effectLst/>
                                    <a:latin typeface="Cambria Math" panose="02040503050406030204" pitchFamily="18" charset="0"/>
                                    <a:ea typeface="仿宋" panose="02010609060101010101" pitchFamily="49" charset="-122"/>
                                  </a:rPr>
                                  <m:t>2</m:t>
                                </m:r>
                              </m:oMath>
                            </m:oMathPara>
                          </a14:m>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4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𝐵</m:t>
                                </m:r>
                                <m:r>
                                  <a:rPr kumimoji="0" lang="zh-CN" altLang="zh-CN" sz="2400" b="0" i="1" u="none" strike="noStrike" cap="none" normalizeH="0" baseline="-25000" dirty="0">
                                    <a:ln>
                                      <a:noFill/>
                                    </a:ln>
                                    <a:solidFill>
                                      <a:schemeClr val="tx1"/>
                                    </a:solidFill>
                                    <a:effectLst/>
                                    <a:latin typeface="Cambria Math" panose="02040503050406030204" pitchFamily="18" charset="0"/>
                                    <a:ea typeface="仿宋" panose="02010609060101010101" pitchFamily="49" charset="-122"/>
                                  </a:rPr>
                                  <m:t>3</m:t>
                                </m:r>
                              </m:oMath>
                            </m:oMathPara>
                          </a14:m>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产量/千箱</a:t>
                          </a:r>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anchor="ctr" horzOverflow="overflow"/>
                    </a:tc>
                  </a:tr>
                  <a:tr h="59880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4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𝐴</m:t>
                                </m:r>
                                <m:r>
                                  <a:rPr kumimoji="0" lang="zh-CN" altLang="zh-CN" sz="2400" b="0" i="1" u="none" strike="noStrike" cap="none" normalizeH="0" baseline="-25000" dirty="0">
                                    <a:ln>
                                      <a:noFill/>
                                    </a:ln>
                                    <a:solidFill>
                                      <a:schemeClr val="tx1"/>
                                    </a:solidFill>
                                    <a:effectLst/>
                                    <a:latin typeface="Cambria Math" panose="02040503050406030204" pitchFamily="18" charset="0"/>
                                    <a:ea typeface="仿宋" panose="02010609060101010101" pitchFamily="49" charset="-122"/>
                                  </a:rPr>
                                  <m:t>1</m:t>
                                </m:r>
                              </m:oMath>
                            </m:oMathPara>
                          </a14:m>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8</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59880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4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𝐴</m:t>
                                </m:r>
                                <m:r>
                                  <a:rPr kumimoji="0" lang="zh-CN" altLang="zh-CN" sz="2400" b="0" i="1" u="none" strike="noStrike" cap="none" normalizeH="0" baseline="-25000" dirty="0">
                                    <a:ln>
                                      <a:noFill/>
                                    </a:ln>
                                    <a:solidFill>
                                      <a:schemeClr val="tx1"/>
                                    </a:solidFill>
                                    <a:effectLst/>
                                    <a:latin typeface="Cambria Math" panose="02040503050406030204" pitchFamily="18" charset="0"/>
                                    <a:ea typeface="仿宋" panose="02010609060101010101" pitchFamily="49" charset="-122"/>
                                  </a:rPr>
                                  <m:t>2</m:t>
                                </m:r>
                              </m:oMath>
                            </m:oMathPara>
                          </a14:m>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5</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60007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4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𝐴</m:t>
                                </m:r>
                                <m:r>
                                  <a:rPr kumimoji="0" lang="zh-CN" altLang="zh-CN" sz="2400" b="0" i="1" u="none" strike="noStrike" cap="none" normalizeH="0" baseline="-25000" dirty="0">
                                    <a:ln>
                                      <a:noFill/>
                                    </a:ln>
                                    <a:solidFill>
                                      <a:schemeClr val="tx1"/>
                                    </a:solidFill>
                                    <a:effectLst/>
                                    <a:latin typeface="Cambria Math" panose="02040503050406030204" pitchFamily="18" charset="0"/>
                                    <a:ea typeface="仿宋" panose="02010609060101010101" pitchFamily="49" charset="-122"/>
                                  </a:rPr>
                                  <m:t>3</m:t>
                                </m:r>
                              </m:oMath>
                            </m:oMathPara>
                          </a14:m>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59880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4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𝐴</m:t>
                                </m:r>
                                <m:r>
                                  <a:rPr kumimoji="0" lang="zh-CN" altLang="zh-CN" sz="2400" b="0" i="1" u="none" strike="noStrike" cap="none" normalizeH="0" baseline="-25000" dirty="0">
                                    <a:ln>
                                      <a:noFill/>
                                    </a:ln>
                                    <a:solidFill>
                                      <a:schemeClr val="tx1"/>
                                    </a:solidFill>
                                    <a:effectLst/>
                                    <a:latin typeface="Cambria Math" panose="02040503050406030204" pitchFamily="18" charset="0"/>
                                    <a:ea typeface="仿宋" panose="02010609060101010101" pitchFamily="49" charset="-122"/>
                                  </a:rPr>
                                  <m:t>4</m:t>
                                </m:r>
                              </m:oMath>
                            </m:oMathPara>
                          </a14:m>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9</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7</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5</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30</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59880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400" b="0" i="1" u="none" strike="noStrike" cap="none" normalizeH="0" baseline="0" dirty="0" smtClean="0">
                                    <a:ln>
                                      <a:noFill/>
                                    </a:ln>
                                    <a:solidFill>
                                      <a:schemeClr val="tx1"/>
                                    </a:solidFill>
                                    <a:effectLst/>
                                    <a:latin typeface="Cambria Math" panose="02040503050406030204" pitchFamily="18" charset="0"/>
                                    <a:ea typeface="仿宋" panose="02010609060101010101" pitchFamily="49" charset="-122"/>
                                  </a:rPr>
                                  <m:t>𝐴</m:t>
                                </m:r>
                                <m:r>
                                  <a:rPr kumimoji="0" lang="zh-CN" altLang="zh-CN" sz="2400" b="0" i="1" u="none" strike="noStrike" cap="none" normalizeH="0" baseline="-25000" dirty="0">
                                    <a:ln>
                                      <a:noFill/>
                                    </a:ln>
                                    <a:solidFill>
                                      <a:schemeClr val="tx1"/>
                                    </a:solidFill>
                                    <a:effectLst/>
                                    <a:latin typeface="Cambria Math" panose="02040503050406030204" pitchFamily="18" charset="0"/>
                                    <a:ea typeface="仿宋" panose="02010609060101010101" pitchFamily="49" charset="-122"/>
                                  </a:rPr>
                                  <m:t>5</m:t>
                                </m:r>
                              </m:oMath>
                            </m:oMathPara>
                          </a14:m>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40</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59880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销量/千箱</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bl>
              </a:graphicData>
            </a:graphic>
          </p:graphicFrame>
        </mc:Choice>
        <mc:Fallback xmlns="">
          <p:graphicFrame>
            <p:nvGraphicFramePr>
              <p:cNvPr id="2" name="表格 1"/>
              <p:cNvGraphicFramePr>
                <a:graphicFrameLocks noGrp="1"/>
              </p:cNvGraphicFramePr>
              <p:nvPr/>
            </p:nvGraphicFramePr>
            <p:xfrm>
              <a:off x="1884362" y="1872918"/>
              <a:ext cx="8423275" cy="4215130"/>
            </p:xfrm>
            <a:graphic>
              <a:graphicData uri="http://schemas.openxmlformats.org/drawingml/2006/table">
                <a:tbl>
                  <a:tblPr firstRow="1" bandRow="1">
                    <a:tableStyleId>{5C22544A-7EE6-4342-B048-85BDC9FD1C3A}</a:tableStyleId>
                  </a:tblPr>
                  <a:tblGrid>
                    <a:gridCol w="1684655"/>
                    <a:gridCol w="1684655"/>
                    <a:gridCol w="1684655"/>
                    <a:gridCol w="1684655"/>
                    <a:gridCol w="1684655"/>
                  </a:tblGrid>
                  <a:tr h="62103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                       销地</a:t>
                          </a:r>
                          <a:endPar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Pct val="100000"/>
                            <a:buFontTx/>
                            <a:buNone/>
                          </a:pPr>
                          <a:r>
                            <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     运费单价/元</a:t>
                          </a:r>
                          <a:endPar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Pct val="100000"/>
                            <a:buFontTx/>
                            <a:buNone/>
                          </a:pPr>
                          <a:r>
                            <a:rPr kumimoji="0" lang="zh-CN" altLang="zh-CN" sz="12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产地</a:t>
                          </a:r>
                          <a:endParaRPr kumimoji="0" lang="zh-CN" altLang="zh-CN" sz="20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rPr>
                            <a:t>产量/千箱</a:t>
                          </a:r>
                          <a:endParaRPr kumimoji="0" lang="zh-CN" altLang="zh-CN" sz="24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68580" marR="68580" marT="0" marB="0" anchor="ctr" horzOverflow="overflow"/>
                    </a:tc>
                  </a:tr>
                  <a:tr h="598805">
                    <a:tc>
                      <a:txBody>
                        <a:bodyPr/>
                        <a:lstStyle/>
                        <a:p>
                          <a:endParaRPr lang="zh-CN"/>
                        </a:p>
                      </a:txBody>
                      <a:tcPr marL="68580" marR="68580" marT="0" marB="0"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8</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598805">
                    <a:tc>
                      <a:txBody>
                        <a:bodyPr/>
                        <a:lstStyle/>
                        <a:p>
                          <a:endParaRPr lang="zh-CN"/>
                        </a:p>
                      </a:txBody>
                      <a:tcPr marL="68580" marR="68580" marT="0" marB="0"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5</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600075">
                    <a:tc>
                      <a:txBody>
                        <a:bodyPr/>
                        <a:lstStyle/>
                        <a:p>
                          <a:endParaRPr lang="zh-CN"/>
                        </a:p>
                      </a:txBody>
                      <a:tcPr marL="68580" marR="68580" marT="0" marB="0"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598805">
                    <a:tc>
                      <a:txBody>
                        <a:bodyPr/>
                        <a:lstStyle/>
                        <a:p>
                          <a:endParaRPr lang="zh-CN"/>
                        </a:p>
                      </a:txBody>
                      <a:tcPr marL="68580" marR="68580" marT="0" marB="0"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9</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7</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5</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30</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598805">
                    <a:tc>
                      <a:txBody>
                        <a:bodyPr/>
                        <a:lstStyle/>
                        <a:p>
                          <a:endParaRPr lang="zh-CN"/>
                        </a:p>
                      </a:txBody>
                      <a:tcPr marL="68580" marR="68580" marT="0" marB="0"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40</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59880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销量/千箱</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20</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bl>
              </a:graphicData>
            </a:graphic>
          </p:graphicFrame>
        </mc:Fallback>
      </mc:AlternateContent>
      <p:grpSp>
        <p:nvGrpSpPr>
          <p:cNvPr id="12" name="组合 11"/>
          <p:cNvGrpSpPr/>
          <p:nvPr/>
        </p:nvGrpSpPr>
        <p:grpSpPr>
          <a:xfrm>
            <a:off x="1884362" y="1866225"/>
            <a:ext cx="1655762" cy="627289"/>
            <a:chOff x="468313" y="2060575"/>
            <a:chExt cx="1655762" cy="647700"/>
          </a:xfrm>
        </p:grpSpPr>
        <p:sp>
          <p:nvSpPr>
            <p:cNvPr id="13" name="Line 126"/>
            <p:cNvSpPr>
              <a:spLocks noChangeShapeType="1"/>
            </p:cNvSpPr>
            <p:nvPr/>
          </p:nvSpPr>
          <p:spPr bwMode="auto">
            <a:xfrm>
              <a:off x="1331913" y="2060575"/>
              <a:ext cx="792162" cy="64770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Line 127"/>
            <p:cNvSpPr>
              <a:spLocks noChangeShapeType="1"/>
            </p:cNvSpPr>
            <p:nvPr/>
          </p:nvSpPr>
          <p:spPr bwMode="auto">
            <a:xfrm>
              <a:off x="468313" y="2420938"/>
              <a:ext cx="1655762" cy="287337"/>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 name="标题 1"/>
          <p:cNvSpPr>
            <a:spLocks noGrp="1"/>
          </p:cNvSpPr>
          <p:nvPr/>
        </p:nvSpPr>
        <p:spPr>
          <a:xfrm>
            <a:off x="838200" y="365125"/>
            <a:ext cx="1051560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ea typeface="楷体" panose="02010609060101010101" pitchFamily="49" charset="-122"/>
                <a:cs typeface="Times New Roman" panose="02020603050405020304" pitchFamily="18" charset="0"/>
                <a:sym typeface="+mn-ea"/>
              </a:rPr>
              <a:t>分布系统设计</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0661" name="Rectangle 5"/>
              <p:cNvSpPr>
                <a:spLocks noChangeArrowheads="1"/>
              </p:cNvSpPr>
              <p:nvPr/>
            </p:nvSpPr>
            <p:spPr bwMode="auto">
              <a:xfrm>
                <a:off x="1651000" y="1557338"/>
                <a:ext cx="8893175" cy="3057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chemeClr val="tx1"/>
                  </a:buClr>
                  <a:buSzPct val="100000"/>
                  <a:buFontTx/>
                  <a:buAutoNum type="arabicParenBoth"/>
                  <a:tabLst>
                    <a:tab pos="190500" algn="l"/>
                    <a:tab pos="1993900" algn="l"/>
                  </a:tabLst>
                </a:pPr>
                <a:r>
                  <a:rPr lang="en-US" altLang="zh-CN" sz="2800" dirty="0">
                    <a:ea typeface="楷体" panose="02010609060101010101" pitchFamily="49" charset="-122"/>
                    <a:cs typeface="Times New Roman" panose="02020603050405020304" pitchFamily="18" charset="0"/>
                  </a:rPr>
                  <a:t> </a:t>
                </a:r>
                <a:r>
                  <a:rPr lang="zh-CN" altLang="zh-CN" sz="2800" dirty="0">
                    <a:ea typeface="楷体" panose="02010609060101010101" pitchFamily="49" charset="-122"/>
                    <a:cs typeface="Times New Roman" panose="02020603050405020304" pitchFamily="18" charset="0"/>
                  </a:rPr>
                  <a:t>该在哪几个地方建厂，在满足销量的前提下，使总固定成本和运输费用之和最小?</a:t>
                </a: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chemeClr val="tx1"/>
                  </a:buClr>
                  <a:buSzPct val="100000"/>
                  <a:buFontTx/>
                  <a:buAutoNum type="arabicParenBoth"/>
                  <a:tabLst>
                    <a:tab pos="190500" algn="l"/>
                    <a:tab pos="1993900" algn="l"/>
                  </a:tabLst>
                </a:pPr>
                <a:r>
                  <a:rPr lang="en-US" altLang="zh-CN" sz="2800" dirty="0">
                    <a:ea typeface="楷体" panose="02010609060101010101" pitchFamily="49" charset="-122"/>
                    <a:cs typeface="Times New Roman" panose="02020603050405020304" pitchFamily="18" charset="0"/>
                  </a:rPr>
                  <a:t> </a:t>
                </a:r>
                <a:r>
                  <a:rPr lang="zh-CN" altLang="zh-CN" sz="2800" dirty="0">
                    <a:ea typeface="楷体" panose="02010609060101010101" pitchFamily="49" charset="-122"/>
                    <a:cs typeface="Times New Roman" panose="02020603050405020304" pitchFamily="18" charset="0"/>
                  </a:rPr>
                  <a:t>若政策要求必须在</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 </m:t>
                    </m:r>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m:t>
                    </m:r>
                  </m:oMath>
                </a14:m>
                <a:r>
                  <a:rPr lang="zh-CN" altLang="zh-CN" sz="2800" dirty="0">
                    <a:ea typeface="楷体" panose="02010609060101010101" pitchFamily="49" charset="-122"/>
                    <a:cs typeface="Times New Roman" panose="02020603050405020304" pitchFamily="18" charset="0"/>
                  </a:rPr>
                  <a:t>地建一个厂，应在哪几个地方建厂？</a:t>
                </a: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r>
                  <a:rPr lang="zh-CN" altLang="zh-CN" sz="2800" dirty="0">
                    <a:ea typeface="楷体" panose="02010609060101010101" pitchFamily="49" charset="-122"/>
                    <a:cs typeface="Times New Roman" panose="02020603050405020304" pitchFamily="18" charset="0"/>
                  </a:rPr>
                  <a:t>		</a:t>
                </a:r>
                <a:endParaRPr lang="zh-CN" altLang="zh-CN" sz="2800" dirty="0">
                  <a:ea typeface="楷体" panose="02010609060101010101" pitchFamily="49" charset="-122"/>
                  <a:cs typeface="Times New Roman" panose="02020603050405020304" pitchFamily="18" charset="0"/>
                </a:endParaRPr>
              </a:p>
              <a:p>
                <a:pPr algn="just" eaLnBrk="1" hangingPunct="1">
                  <a:lnSpc>
                    <a:spcPct val="150000"/>
                  </a:lnSpc>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p:txBody>
          </p:sp>
        </mc:Choice>
        <mc:Fallback>
          <p:sp>
            <p:nvSpPr>
              <p:cNvPr id="70661" name="Rectangle 5"/>
              <p:cNvSpPr>
                <a:spLocks noRot="1" noChangeAspect="1" noMove="1" noResize="1" noEditPoints="1" noAdjustHandles="1" noChangeArrowheads="1" noChangeShapeType="1" noTextEdit="1"/>
              </p:cNvSpPr>
              <p:nvPr/>
            </p:nvSpPr>
            <p:spPr bwMode="auto">
              <a:xfrm>
                <a:off x="1651000" y="1557338"/>
                <a:ext cx="8893175" cy="3057698"/>
              </a:xfrm>
              <a:prstGeom prst="rect">
                <a:avLst/>
              </a:prstGeom>
              <a:blipFill rotWithShape="1">
                <a:blip r:embed="rId1"/>
                <a:stretch>
                  <a:fillRect t="-10" b="-8839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70662"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标题 1"/>
          <p:cNvSpPr>
            <a:spLocks noGrp="1"/>
          </p:cNvSpPr>
          <p:nvPr/>
        </p:nvSpPr>
        <p:spPr>
          <a:xfrm>
            <a:off x="838200" y="365125"/>
            <a:ext cx="1051560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ea typeface="楷体" panose="02010609060101010101" pitchFamily="49" charset="-122"/>
                <a:cs typeface="Times New Roman" panose="02020603050405020304" pitchFamily="18" charset="0"/>
                <a:sym typeface="+mn-ea"/>
              </a:rPr>
              <a:t>分布系统设计</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4757" name="Rectangle 5"/>
              <p:cNvSpPr>
                <a:spLocks noChangeArrowheads="1"/>
              </p:cNvSpPr>
              <p:nvPr/>
            </p:nvSpPr>
            <p:spPr bwMode="auto">
              <a:xfrm>
                <a:off x="1651000" y="1557337"/>
                <a:ext cx="8893175" cy="31678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解：</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（1）设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𝑖𝑗</m:t>
                    </m:r>
                    <m:r>
                      <a:rPr lang="zh-CN" altLang="zh-CN" sz="2800" i="1" dirty="0">
                        <a:latin typeface="Cambria Math" panose="02040503050406030204" pitchFamily="18" charset="0"/>
                        <a:ea typeface="楷体" panose="02010609060101010101" pitchFamily="49" charset="-122"/>
                      </a:rPr>
                      <m:t> </m:t>
                    </m:r>
                  </m:oMath>
                </a14:m>
                <a:r>
                  <a:rPr lang="zh-CN" altLang="zh-CN" sz="2800" dirty="0">
                    <a:latin typeface="Arial" panose="020B0604020202020204" pitchFamily="34" charset="0"/>
                    <a:ea typeface="楷体" panose="02010609060101010101" pitchFamily="49" charset="-122"/>
                  </a:rPr>
                  <a:t>为从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m:t>
                    </m:r>
                  </m:oMath>
                </a14:m>
                <a:r>
                  <a:rPr lang="zh-CN" altLang="zh-CN" sz="2800" dirty="0">
                    <a:latin typeface="Arial" panose="020B0604020202020204" pitchFamily="34" charset="0"/>
                    <a:ea typeface="楷体" panose="02010609060101010101" pitchFamily="49" charset="-122"/>
                  </a:rPr>
                  <a:t>运往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𝐵</m:t>
                    </m:r>
                    <m:r>
                      <a:rPr lang="zh-CN" altLang="zh-CN" sz="2800" i="1" baseline="-25000" dirty="0">
                        <a:latin typeface="Cambria Math" panose="02040503050406030204" pitchFamily="18" charset="0"/>
                        <a:ea typeface="楷体" panose="02010609060101010101" pitchFamily="49" charset="-122"/>
                      </a:rPr>
                      <m:t>𝑗</m:t>
                    </m:r>
                    <m:r>
                      <a:rPr lang="zh-CN" altLang="zh-CN" sz="2800" i="1" dirty="0">
                        <a:latin typeface="Cambria Math" panose="02040503050406030204" pitchFamily="18" charset="0"/>
                        <a:ea typeface="楷体" panose="02010609060101010101" pitchFamily="49" charset="-122"/>
                      </a:rPr>
                      <m:t> </m:t>
                    </m:r>
                  </m:oMath>
                </a14:m>
                <a:r>
                  <a:rPr lang="zh-CN" altLang="zh-CN" sz="2800" dirty="0">
                    <a:latin typeface="Arial" panose="020B0604020202020204" pitchFamily="34" charset="0"/>
                    <a:ea typeface="楷体" panose="02010609060101010101" pitchFamily="49" charset="-122"/>
                  </a:rPr>
                  <a:t>的运输量（单位：千箱）</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          </m:t>
                    </m:r>
                    <m:sSub>
                      <m:sSubPr>
                        <m:ctrlPr>
                          <a:rPr lang="en-US" altLang="zh-CN" sz="2800" b="0" i="1" dirty="0" smtClean="0">
                            <a:latin typeface="Cambria Math" panose="02040503050406030204" pitchFamily="18" charset="0"/>
                            <a:ea typeface="楷体" panose="02010609060101010101" pitchFamily="49" charset="-122"/>
                          </a:rPr>
                        </m:ctrlPr>
                      </m:sSubPr>
                      <m:e>
                        <m:r>
                          <a:rPr lang="en-US" altLang="zh-CN" sz="2800" b="0" i="1" dirty="0" smtClean="0">
                            <a:latin typeface="Cambria Math" panose="02040503050406030204" pitchFamily="18" charset="0"/>
                            <a:ea typeface="楷体" panose="02010609060101010101" pitchFamily="49" charset="-122"/>
                          </a:rPr>
                          <m:t>𝑦</m:t>
                        </m:r>
                      </m:e>
                      <m:sub>
                        <m:r>
                          <a:rPr lang="en-US" altLang="zh-CN" sz="2800" b="0" i="1" dirty="0" smtClean="0">
                            <a:latin typeface="Cambria Math" panose="02040503050406030204" pitchFamily="18" charset="0"/>
                            <a:ea typeface="楷体" panose="02010609060101010101" pitchFamily="49" charset="-122"/>
                          </a:rPr>
                          <m:t>𝑘</m:t>
                        </m:r>
                      </m:sub>
                    </m:sSub>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1</m:t>
                    </m:r>
                  </m:oMath>
                </a14:m>
                <a:r>
                  <a:rPr lang="zh-CN" altLang="zh-CN" sz="2800" dirty="0">
                    <a:latin typeface="Arial" panose="020B0604020202020204" pitchFamily="34" charset="0"/>
                    <a:ea typeface="楷体" panose="02010609060101010101" pitchFamily="49" charset="-122"/>
                  </a:rPr>
                  <a:t>（</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𝑘</m:t>
                    </m:r>
                  </m:oMath>
                </a14:m>
                <a:r>
                  <a:rPr lang="zh-CN" altLang="zh-CN" sz="2800" dirty="0">
                    <a:latin typeface="Arial" panose="020B0604020202020204" pitchFamily="34" charset="0"/>
                    <a:ea typeface="楷体" panose="02010609060101010101" pitchFamily="49" charset="-122"/>
                  </a:rPr>
                  <a:t> 被选中）</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          </m:t>
                    </m:r>
                    <m:sSub>
                      <m:sSubPr>
                        <m:ctrlPr>
                          <a:rPr lang="en-US" altLang="zh-CN" sz="2800" b="0" i="1" dirty="0" smtClean="0">
                            <a:latin typeface="Cambria Math" panose="02040503050406030204" pitchFamily="18" charset="0"/>
                            <a:ea typeface="楷体" panose="02010609060101010101" pitchFamily="49" charset="-122"/>
                          </a:rPr>
                        </m:ctrlPr>
                      </m:sSubPr>
                      <m:e>
                        <m:r>
                          <a:rPr lang="zh-CN" altLang="zh-CN" sz="2800" i="1" dirty="0" smtClean="0">
                            <a:latin typeface="Cambria Math" panose="02040503050406030204" pitchFamily="18" charset="0"/>
                            <a:ea typeface="楷体" panose="02010609060101010101" pitchFamily="49" charset="-122"/>
                          </a:rPr>
                          <m:t>𝑦</m:t>
                        </m:r>
                      </m:e>
                      <m:sub>
                        <m:r>
                          <a:rPr lang="en-US" altLang="zh-CN" sz="2800" b="0" i="1" dirty="0" smtClean="0">
                            <a:latin typeface="Cambria Math" panose="02040503050406030204" pitchFamily="18" charset="0"/>
                            <a:ea typeface="楷体" panose="02010609060101010101" pitchFamily="49" charset="-122"/>
                          </a:rPr>
                          <m:t>𝑘</m:t>
                        </m:r>
                      </m:sub>
                    </m:sSub>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0</m:t>
                    </m:r>
                  </m:oMath>
                </a14:m>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𝐴</m:t>
                    </m:r>
                    <m:r>
                      <a:rPr lang="zh-CN" altLang="zh-CN" sz="2800" i="1" baseline="-25000" dirty="0">
                        <a:latin typeface="Cambria Math" panose="02040503050406030204" pitchFamily="18" charset="0"/>
                        <a:ea typeface="楷体" panose="02010609060101010101" pitchFamily="49" charset="-122"/>
                      </a:rPr>
                      <m:t>𝑘</m:t>
                    </m:r>
                    <m:r>
                      <a:rPr lang="zh-CN" altLang="zh-CN" sz="2800" i="1" dirty="0">
                        <a:latin typeface="Cambria Math" panose="02040503050406030204" pitchFamily="18" charset="0"/>
                        <a:ea typeface="楷体" panose="02010609060101010101" pitchFamily="49" charset="-122"/>
                      </a:rPr>
                      <m:t> </m:t>
                    </m:r>
                  </m:oMath>
                </a14:m>
                <a:r>
                  <a:rPr lang="zh-CN" altLang="zh-CN" sz="2800" dirty="0">
                    <a:latin typeface="Arial" panose="020B0604020202020204" pitchFamily="34" charset="0"/>
                    <a:ea typeface="楷体" panose="02010609060101010101" pitchFamily="49" charset="-122"/>
                  </a:rPr>
                  <a:t>没被选中），</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𝑘</m:t>
                    </m:r>
                    <m:r>
                      <a:rPr lang="zh-CN" altLang="zh-CN" sz="2800" i="1" dirty="0" smtClean="0">
                        <a:latin typeface="Cambria Math" panose="02040503050406030204" pitchFamily="18" charset="0"/>
                        <a:ea typeface="楷体" panose="02010609060101010101" pitchFamily="49" charset="-122"/>
                      </a:rPr>
                      <m:t> =</m:t>
                    </m:r>
                    <m:r>
                      <a:rPr lang="zh-CN" altLang="zh-CN" sz="2800" i="1" dirty="0" smtClean="0">
                        <a:latin typeface="Cambria Math" panose="02040503050406030204" pitchFamily="18" charset="0"/>
                        <a:ea typeface="楷体" panose="02010609060101010101" pitchFamily="49" charset="-122"/>
                      </a:rPr>
                      <m:t>2</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3</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4</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5</m:t>
                    </m:r>
                  </m:oMath>
                </a14:m>
                <a:r>
                  <a:rPr lang="zh-CN" altLang="zh-CN" sz="2800" dirty="0">
                    <a:latin typeface="Arial" panose="020B0604020202020204" pitchFamily="34" charset="0"/>
                    <a:ea typeface="楷体" panose="02010609060101010101" pitchFamily="49" charset="-122"/>
                  </a:rPr>
                  <a:t>．</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000" dirty="0">
                    <a:latin typeface="Arial" panose="020B0604020202020204" pitchFamily="34" charset="0"/>
                    <a:ea typeface="楷体" panose="02010609060101010101" pitchFamily="49" charset="-122"/>
                  </a:rPr>
                  <a:t>	</a:t>
                </a:r>
                <a:endParaRPr lang="zh-CN" altLang="zh-CN" sz="20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74757" name="Rectangle 5"/>
              <p:cNvSpPr>
                <a:spLocks noRot="1" noChangeAspect="1" noMove="1" noResize="1" noEditPoints="1" noAdjustHandles="1" noChangeArrowheads="1" noChangeShapeType="1" noTextEdit="1"/>
              </p:cNvSpPr>
              <p:nvPr/>
            </p:nvSpPr>
            <p:spPr bwMode="auto">
              <a:xfrm>
                <a:off x="1651000" y="1557337"/>
                <a:ext cx="8893175" cy="3167807"/>
              </a:xfrm>
              <a:prstGeom prst="rect">
                <a:avLst/>
              </a:prstGeom>
              <a:blipFill rotWithShape="1">
                <a:blip r:embed="rId1"/>
                <a:stretch>
                  <a:fillRect t="-10" b="-1545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74758"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 name="标题 1"/>
          <p:cNvSpPr>
            <a:spLocks noGrp="1"/>
          </p:cNvSpPr>
          <p:nvPr/>
        </p:nvSpPr>
        <p:spPr>
          <a:xfrm>
            <a:off x="838200" y="365125"/>
            <a:ext cx="1051560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ea typeface="楷体" panose="02010609060101010101" pitchFamily="49" charset="-122"/>
                <a:cs typeface="Times New Roman" panose="02020603050405020304" pitchFamily="18" charset="0"/>
                <a:sym typeface="+mn-ea"/>
              </a:rPr>
              <a:t>分布系统设计</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Line 6"/>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45063" name="Rectangle 7"/>
              <p:cNvSpPr>
                <a:spLocks noChangeArrowheads="1"/>
              </p:cNvSpPr>
              <p:nvPr/>
            </p:nvSpPr>
            <p:spPr bwMode="auto">
              <a:xfrm>
                <a:off x="1651000" y="2276475"/>
                <a:ext cx="8893175"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m:rPr>
                        <m:sty m:val="p"/>
                      </m:rPr>
                      <a:rPr lang="zh-CN" altLang="zh-CN" sz="2800" i="1" dirty="0" smtClean="0">
                        <a:latin typeface="Cambria Math" panose="02040503050406030204" pitchFamily="18" charset="0"/>
                        <a:ea typeface="楷体" panose="02010609060101010101" pitchFamily="49" charset="-122"/>
                      </a:rPr>
                      <m:t>min</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𝑧</m:t>
                    </m:r>
                    <m:r>
                      <a:rPr lang="zh-CN" altLang="zh-CN" sz="2800" i="1" dirty="0" smtClean="0">
                        <a:latin typeface="Cambria Math" panose="02040503050406030204" pitchFamily="18" charset="0"/>
                        <a:ea typeface="楷体" panose="02010609060101010101" pitchFamily="49" charset="-122"/>
                      </a:rPr>
                      <m:t> = </m:t>
                    </m:r>
                    <m:r>
                      <a:rPr lang="zh-CN" altLang="zh-CN" sz="2800" i="1" dirty="0" smtClean="0">
                        <a:latin typeface="Cambria Math" panose="02040503050406030204" pitchFamily="18" charset="0"/>
                        <a:ea typeface="楷体" panose="02010609060101010101" pitchFamily="49" charset="-122"/>
                      </a:rPr>
                      <m:t>175</m:t>
                    </m:r>
                    <m:r>
                      <a:rPr lang="zh-CN" altLang="zh-CN" sz="2800" i="1" dirty="0" smtClean="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300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375</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500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5</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8</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baseline="-25000" dirty="0" smtClean="0">
                        <a:latin typeface="Cambria Math" panose="02040503050406030204" pitchFamily="18" charset="0"/>
                        <a:ea typeface="楷体" panose="02010609060101010101" pitchFamily="49" charset="-122"/>
                      </a:rPr>
                      <m:t>3</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5</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9</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41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7</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42</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5</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43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10</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51</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52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53</m:t>
                    </m:r>
                  </m:oMath>
                </a14:m>
                <a:endParaRPr lang="zh-CN" altLang="zh-CN" sz="2800" baseline="-25000" dirty="0">
                  <a:latin typeface="Arial" panose="020B0604020202020204" pitchFamily="34" charset="0"/>
                  <a:ea typeface="楷体" panose="02010609060101010101" pitchFamily="49" charset="-122"/>
                </a:endParaRPr>
              </a:p>
            </p:txBody>
          </p:sp>
        </mc:Choice>
        <mc:Fallback>
          <p:sp>
            <p:nvSpPr>
              <p:cNvPr id="45063" name="Rectangle 7"/>
              <p:cNvSpPr>
                <a:spLocks noRot="1" noChangeAspect="1" noMove="1" noResize="1" noEditPoints="1" noAdjustHandles="1" noChangeArrowheads="1" noChangeShapeType="1" noTextEdit="1"/>
              </p:cNvSpPr>
              <p:nvPr/>
            </p:nvSpPr>
            <p:spPr bwMode="auto">
              <a:xfrm>
                <a:off x="1651000" y="2276475"/>
                <a:ext cx="8893175" cy="1800225"/>
              </a:xfrm>
              <a:prstGeom prst="rect">
                <a:avLst/>
              </a:prstGeom>
              <a:blipFill rotWithShape="1">
                <a:blip r:embed="rId1"/>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45064" name="Rectangle 8"/>
          <p:cNvSpPr>
            <a:spLocks noChangeArrowheads="1"/>
          </p:cNvSpPr>
          <p:nvPr/>
        </p:nvSpPr>
        <p:spPr bwMode="auto">
          <a:xfrm>
            <a:off x="1657350" y="1628775"/>
            <a:ext cx="4799013" cy="583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buClr>
                <a:srgbClr val="000000"/>
              </a:buClr>
              <a:buSzPct val="100000"/>
            </a:pPr>
            <a:r>
              <a:rPr lang="zh-CN" altLang="zh-CN" sz="3200">
                <a:latin typeface="楷体" panose="02010609060101010101" pitchFamily="49" charset="-122"/>
                <a:ea typeface="楷体" panose="02010609060101010101" pitchFamily="49" charset="-122"/>
              </a:rPr>
              <a:t> 构建整数规划问题：</a:t>
            </a:r>
            <a:endParaRPr lang="zh-CN" altLang="zh-CN" sz="3200">
              <a:latin typeface="楷体" panose="02010609060101010101" pitchFamily="49" charset="-122"/>
              <a:ea typeface="楷体" panose="02010609060101010101" pitchFamily="49" charset="-122"/>
            </a:endParaRPr>
          </a:p>
        </p:txBody>
      </p:sp>
      <p:sp>
        <p:nvSpPr>
          <p:cNvPr id="2" name="标题 1"/>
          <p:cNvSpPr>
            <a:spLocks noGrp="1"/>
          </p:cNvSpPr>
          <p:nvPr/>
        </p:nvSpPr>
        <p:spPr>
          <a:xfrm>
            <a:off x="838200" y="365125"/>
            <a:ext cx="1051560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ea typeface="楷体" panose="02010609060101010101" pitchFamily="49" charset="-122"/>
                <a:cs typeface="Times New Roman" panose="02020603050405020304" pitchFamily="18" charset="0"/>
                <a:sym typeface="+mn-ea"/>
              </a:rPr>
              <a:t>分布系统设计</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064"/>
                                        </p:tgtEl>
                                        <p:attrNameLst>
                                          <p:attrName>style.visibility</p:attrName>
                                        </p:attrNameLst>
                                      </p:cBhvr>
                                      <p:to>
                                        <p:strVal val="visible"/>
                                      </p:to>
                                    </p:set>
                                    <p:anim calcmode="lin" valueType="num">
                                      <p:cBhvr additive="base">
                                        <p:cTn id="7" dur="500" fill="hold"/>
                                        <p:tgtEl>
                                          <p:spTgt spid="45064"/>
                                        </p:tgtEl>
                                        <p:attrNameLst>
                                          <p:attrName>ppt_x</p:attrName>
                                        </p:attrNameLst>
                                      </p:cBhvr>
                                      <p:tavLst>
                                        <p:tav tm="0">
                                          <p:val>
                                            <p:strVal val="ppt_x"/>
                                          </p:val>
                                        </p:tav>
                                        <p:tav tm="100000">
                                          <p:val>
                                            <p:strVal val="ppt_x"/>
                                          </p:val>
                                        </p:tav>
                                      </p:tavLst>
                                    </p:anim>
                                    <p:anim calcmode="lin" valueType="num">
                                      <p:cBhvr additive="base">
                                        <p:cTn id="8" dur="500" fill="hold"/>
                                        <p:tgtEl>
                                          <p:spTgt spid="450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063"/>
                                        </p:tgtEl>
                                        <p:attrNameLst>
                                          <p:attrName>style.visibility</p:attrName>
                                        </p:attrNameLst>
                                      </p:cBhvr>
                                      <p:to>
                                        <p:strVal val="visible"/>
                                      </p:to>
                                    </p:set>
                                    <p:anim calcmode="lin" valueType="num">
                                      <p:cBhvr additive="base">
                                        <p:cTn id="13" dur="500" fill="hold"/>
                                        <p:tgtEl>
                                          <p:spTgt spid="45063"/>
                                        </p:tgtEl>
                                        <p:attrNameLst>
                                          <p:attrName>ppt_x</p:attrName>
                                        </p:attrNameLst>
                                      </p:cBhvr>
                                      <p:tavLst>
                                        <p:tav tm="0">
                                          <p:val>
                                            <p:strVal val="ppt_x"/>
                                          </p:val>
                                        </p:tav>
                                        <p:tav tm="100000">
                                          <p:val>
                                            <p:strVal val="ppt_x"/>
                                          </p:val>
                                        </p:tav>
                                      </p:tavLst>
                                    </p:anim>
                                    <p:anim calcmode="lin" valueType="num">
                                      <p:cBhvr additive="base">
                                        <p:cTn id="14" dur="500" fill="hold"/>
                                        <p:tgtEl>
                                          <p:spTgt spid="450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bldLvl="0" animBg="1"/>
      <p:bldP spid="45064"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3" name="Line 6"/>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46087" name="Rectangle 7"/>
              <p:cNvSpPr>
                <a:spLocks noChangeArrowheads="1"/>
              </p:cNvSpPr>
              <p:nvPr/>
            </p:nvSpPr>
            <p:spPr bwMode="auto">
              <a:xfrm>
                <a:off x="2208213" y="1501775"/>
                <a:ext cx="7562850" cy="443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𝑠</m:t>
                      </m:r>
                      <m:r>
                        <a:rPr lang="zh-CN" altLang="zh-CN" sz="2400" i="1" dirty="0" smtClean="0">
                          <a:latin typeface="Cambria Math" panose="02040503050406030204" pitchFamily="18" charset="0"/>
                          <a:ea typeface="楷体" panose="02010609060101010101" pitchFamily="49" charset="-122"/>
                        </a:rPr>
                        <m:t>.</m:t>
                      </m:r>
                      <m:r>
                        <a:rPr lang="zh-CN" altLang="zh-CN" sz="2400" i="1" dirty="0" smtClean="0">
                          <a:latin typeface="Cambria Math" panose="02040503050406030204" pitchFamily="18" charset="0"/>
                          <a:ea typeface="楷体" panose="02010609060101010101" pitchFamily="49" charset="-122"/>
                        </a:rPr>
                        <m:t>𝑡</m:t>
                      </m:r>
                      <m:r>
                        <a:rPr lang="en-US" altLang="zh-CN" sz="2400" i="1" dirty="0" smtClean="0">
                          <a:latin typeface="Cambria Math" panose="02040503050406030204" pitchFamily="18" charset="0"/>
                          <a:ea typeface="楷体" panose="02010609060101010101" pitchFamily="49" charset="-122"/>
                        </a:rPr>
                        <m:t>.</m:t>
                      </m:r>
                      <m:r>
                        <a:rPr lang="zh-CN" altLang="zh-CN" sz="2400" i="1" dirty="0" smtClean="0">
                          <a:latin typeface="Cambria Math" panose="02040503050406030204" pitchFamily="18" charset="0"/>
                          <a:ea typeface="楷体" panose="02010609060101010101" pitchFamily="49" charset="-122"/>
                        </a:rPr>
                        <m:t> </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13</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30</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𝐴</m:t>
                      </m:r>
                      <m:r>
                        <a:rPr lang="zh-CN" altLang="zh-CN" sz="2400" i="1" baseline="-25000"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厂的产量限制</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46087" name="Rectangle 7"/>
              <p:cNvSpPr>
                <a:spLocks noRot="1" noChangeAspect="1" noMove="1" noResize="1" noEditPoints="1" noAdjustHandles="1" noChangeArrowheads="1" noChangeShapeType="1" noTextEdit="1"/>
              </p:cNvSpPr>
              <p:nvPr/>
            </p:nvSpPr>
            <p:spPr bwMode="auto">
              <a:xfrm>
                <a:off x="2208213" y="1501775"/>
                <a:ext cx="7562850" cy="443865"/>
              </a:xfrm>
              <a:prstGeom prst="rect">
                <a:avLst/>
              </a:prstGeom>
              <a:blipFill rotWithShape="1">
                <a:blip r:embed="rId1"/>
                <a:stretch>
                  <a:fillRect l="-4" r="4" b="-27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088" name="Rectangle 8"/>
              <p:cNvSpPr>
                <a:spLocks noChangeArrowheads="1"/>
              </p:cNvSpPr>
              <p:nvPr/>
            </p:nvSpPr>
            <p:spPr bwMode="auto">
              <a:xfrm>
                <a:off x="2684463" y="1916113"/>
                <a:ext cx="6867524" cy="443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10</m:t>
                      </m:r>
                      <m:r>
                        <a:rPr lang="zh-CN" altLang="zh-CN" sz="2400" i="1" dirty="0">
                          <a:latin typeface="Cambria Math" panose="02040503050406030204" pitchFamily="18" charset="0"/>
                          <a:ea typeface="楷体" panose="02010609060101010101" pitchFamily="49" charset="-122"/>
                        </a:rPr>
                        <m:t>𝑦</m:t>
                      </m:r>
                      <m:r>
                        <a:rPr lang="zh-CN" altLang="zh-CN" sz="2400" i="1" baseline="-25000"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𝐴</m:t>
                      </m:r>
                      <m:r>
                        <a:rPr lang="zh-CN" altLang="zh-CN" sz="2400" i="1" baseline="-25000"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厂的产量限制</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46088" name="Rectangle 8"/>
              <p:cNvSpPr>
                <a:spLocks noRot="1" noChangeAspect="1" noMove="1" noResize="1" noEditPoints="1" noAdjustHandles="1" noChangeArrowheads="1" noChangeShapeType="1" noTextEdit="1"/>
              </p:cNvSpPr>
              <p:nvPr/>
            </p:nvSpPr>
            <p:spPr bwMode="auto">
              <a:xfrm>
                <a:off x="2684463" y="1916113"/>
                <a:ext cx="6867524" cy="443865"/>
              </a:xfrm>
              <a:prstGeom prst="rect">
                <a:avLst/>
              </a:prstGeom>
              <a:blipFill rotWithShape="1">
                <a:blip r:embed="rId2"/>
                <a:stretch>
                  <a:fillRect l="-5" t="-72" r="5" b="-264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089" name="Rectangle 9"/>
              <p:cNvSpPr>
                <a:spLocks noChangeArrowheads="1"/>
              </p:cNvSpPr>
              <p:nvPr/>
            </p:nvSpPr>
            <p:spPr bwMode="auto">
              <a:xfrm>
                <a:off x="2640013" y="2349500"/>
                <a:ext cx="8289925" cy="443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33</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20</m:t>
                      </m:r>
                      <m:r>
                        <a:rPr lang="zh-CN" altLang="zh-CN" sz="2400" i="1" dirty="0">
                          <a:latin typeface="Cambria Math" panose="02040503050406030204" pitchFamily="18" charset="0"/>
                          <a:ea typeface="楷体" panose="02010609060101010101" pitchFamily="49" charset="-122"/>
                        </a:rPr>
                        <m:t>𝑦</m:t>
                      </m:r>
                      <m:r>
                        <a:rPr lang="zh-CN" altLang="zh-CN" sz="2400" i="1" baseline="-25000"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𝐴</m:t>
                      </m:r>
                      <m:r>
                        <a:rPr lang="zh-CN" altLang="zh-CN" sz="2400" i="1" baseline="-25000"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厂的产量限制</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46089" name="Rectangle 9"/>
              <p:cNvSpPr>
                <a:spLocks noRot="1" noChangeAspect="1" noMove="1" noResize="1" noEditPoints="1" noAdjustHandles="1" noChangeArrowheads="1" noChangeShapeType="1" noTextEdit="1"/>
              </p:cNvSpPr>
              <p:nvPr/>
            </p:nvSpPr>
            <p:spPr bwMode="auto">
              <a:xfrm>
                <a:off x="2640013" y="2349500"/>
                <a:ext cx="8289925" cy="443865"/>
              </a:xfrm>
              <a:prstGeom prst="rect">
                <a:avLst/>
              </a:prstGeom>
              <a:blipFill rotWithShape="1">
                <a:blip r:embed="rId3"/>
                <a:stretch>
                  <a:fillRect l="-4" r="4" b="-27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090" name="Rectangle 10"/>
              <p:cNvSpPr>
                <a:spLocks noChangeArrowheads="1"/>
              </p:cNvSpPr>
              <p:nvPr/>
            </p:nvSpPr>
            <p:spPr bwMode="auto">
              <a:xfrm>
                <a:off x="2630488" y="2781300"/>
                <a:ext cx="8289925" cy="443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43</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30</m:t>
                      </m:r>
                      <m:r>
                        <a:rPr lang="zh-CN" altLang="zh-CN" sz="2400" i="1" dirty="0">
                          <a:latin typeface="Cambria Math" panose="02040503050406030204" pitchFamily="18" charset="0"/>
                          <a:ea typeface="楷体" panose="02010609060101010101" pitchFamily="49" charset="-122"/>
                        </a:rPr>
                        <m:t>𝑦</m:t>
                      </m:r>
                      <m:r>
                        <a:rPr lang="zh-CN" altLang="zh-CN" sz="2400" i="1" baseline="-25000" dirty="0">
                          <a:latin typeface="Cambria Math" panose="02040503050406030204" pitchFamily="18" charset="0"/>
                          <a:ea typeface="楷体" panose="02010609060101010101" pitchFamily="49" charset="-122"/>
                        </a:rPr>
                        <m:t>4</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𝐴</m:t>
                      </m:r>
                      <m:r>
                        <a:rPr lang="zh-CN" altLang="zh-CN" sz="2400" i="1" baseline="-25000" dirty="0">
                          <a:latin typeface="Cambria Math" panose="02040503050406030204" pitchFamily="18" charset="0"/>
                          <a:ea typeface="楷体" panose="02010609060101010101" pitchFamily="49" charset="-122"/>
                        </a:rPr>
                        <m:t>4</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厂的产量限制</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46090" name="Rectangle 10"/>
              <p:cNvSpPr>
                <a:spLocks noRot="1" noChangeAspect="1" noMove="1" noResize="1" noEditPoints="1" noAdjustHandles="1" noChangeArrowheads="1" noChangeShapeType="1" noTextEdit="1"/>
              </p:cNvSpPr>
              <p:nvPr/>
            </p:nvSpPr>
            <p:spPr bwMode="auto">
              <a:xfrm>
                <a:off x="2630488" y="2781300"/>
                <a:ext cx="8289925" cy="443865"/>
              </a:xfrm>
              <a:prstGeom prst="rect">
                <a:avLst/>
              </a:prstGeom>
              <a:blipFill rotWithShape="1">
                <a:blip r:embed="rId4"/>
                <a:stretch>
                  <a:fillRect l="-4" r="4" b="-27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091" name="Rectangle 11"/>
              <p:cNvSpPr>
                <a:spLocks noChangeArrowheads="1"/>
              </p:cNvSpPr>
              <p:nvPr/>
            </p:nvSpPr>
            <p:spPr bwMode="auto">
              <a:xfrm>
                <a:off x="2630488" y="3213100"/>
                <a:ext cx="8289925" cy="443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53</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40</m:t>
                      </m:r>
                      <m:r>
                        <a:rPr lang="zh-CN" altLang="zh-CN" sz="2400" i="1" dirty="0">
                          <a:latin typeface="Cambria Math" panose="02040503050406030204" pitchFamily="18" charset="0"/>
                          <a:ea typeface="楷体" panose="02010609060101010101" pitchFamily="49" charset="-122"/>
                        </a:rPr>
                        <m:t>𝑦</m:t>
                      </m:r>
                      <m:r>
                        <a:rPr lang="zh-CN" altLang="zh-CN" sz="2400" i="1" baseline="-25000" dirty="0">
                          <a:latin typeface="Cambria Math" panose="02040503050406030204" pitchFamily="18" charset="0"/>
                          <a:ea typeface="楷体" panose="02010609060101010101" pitchFamily="49" charset="-122"/>
                        </a:rPr>
                        <m:t>5</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𝐴</m:t>
                      </m:r>
                      <m:r>
                        <a:rPr lang="zh-CN" altLang="zh-CN" sz="2400" i="1" baseline="-25000" dirty="0">
                          <a:latin typeface="Cambria Math" panose="02040503050406030204" pitchFamily="18" charset="0"/>
                          <a:ea typeface="楷体" panose="02010609060101010101" pitchFamily="49" charset="-122"/>
                        </a:rPr>
                        <m:t>5</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厂的产量限制</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46091" name="Rectangle 11"/>
              <p:cNvSpPr>
                <a:spLocks noRot="1" noChangeAspect="1" noMove="1" noResize="1" noEditPoints="1" noAdjustHandles="1" noChangeArrowheads="1" noChangeShapeType="1" noTextEdit="1"/>
              </p:cNvSpPr>
              <p:nvPr/>
            </p:nvSpPr>
            <p:spPr bwMode="auto">
              <a:xfrm>
                <a:off x="2630488" y="3213100"/>
                <a:ext cx="8289925" cy="443865"/>
              </a:xfrm>
              <a:prstGeom prst="rect">
                <a:avLst/>
              </a:prstGeom>
              <a:blipFill rotWithShape="1">
                <a:blip r:embed="rId5"/>
                <a:stretch>
                  <a:fillRect l="-4" r="4" b="-27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092" name="Rectangle 12"/>
              <p:cNvSpPr>
                <a:spLocks noChangeArrowheads="1"/>
              </p:cNvSpPr>
              <p:nvPr/>
            </p:nvSpPr>
            <p:spPr bwMode="auto">
              <a:xfrm>
                <a:off x="2640013" y="3644900"/>
                <a:ext cx="7918450" cy="443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41</m:t>
                      </m:r>
                      <m:r>
                        <a:rPr lang="zh-CN" altLang="zh-CN" sz="2400" i="1" baseline="-25000"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51</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30</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𝐵</m:t>
                      </m:r>
                      <m:r>
                        <a:rPr lang="zh-CN" altLang="zh-CN" sz="2400" i="1" baseline="-25000"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销地的限制</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ndParaRPr>
              </a:p>
            </p:txBody>
          </p:sp>
        </mc:Choice>
        <mc:Fallback>
          <p:sp>
            <p:nvSpPr>
              <p:cNvPr id="46092" name="Rectangle 12"/>
              <p:cNvSpPr>
                <a:spLocks noRot="1" noChangeAspect="1" noMove="1" noResize="1" noEditPoints="1" noAdjustHandles="1" noChangeArrowheads="1" noChangeShapeType="1" noTextEdit="1"/>
              </p:cNvSpPr>
              <p:nvPr/>
            </p:nvSpPr>
            <p:spPr bwMode="auto">
              <a:xfrm>
                <a:off x="2640013" y="3644900"/>
                <a:ext cx="7918450" cy="443865"/>
              </a:xfrm>
              <a:prstGeom prst="rect">
                <a:avLst/>
              </a:prstGeom>
              <a:blipFill rotWithShape="1">
                <a:blip r:embed="rId6"/>
                <a:stretch>
                  <a:fillRect l="-4" r="4" b="-27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093" name="Rectangle 13"/>
              <p:cNvSpPr>
                <a:spLocks noChangeArrowheads="1"/>
              </p:cNvSpPr>
              <p:nvPr/>
            </p:nvSpPr>
            <p:spPr bwMode="auto">
              <a:xfrm>
                <a:off x="2609850" y="4076700"/>
                <a:ext cx="7807325" cy="443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42</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52</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20</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𝐵</m:t>
                      </m:r>
                      <m:r>
                        <a:rPr lang="zh-CN" altLang="zh-CN" sz="2400" i="1" baseline="-25000"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销地的限制</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46093" name="Rectangle 13"/>
              <p:cNvSpPr>
                <a:spLocks noRot="1" noChangeAspect="1" noMove="1" noResize="1" noEditPoints="1" noAdjustHandles="1" noChangeArrowheads="1" noChangeShapeType="1" noTextEdit="1"/>
              </p:cNvSpPr>
              <p:nvPr/>
            </p:nvSpPr>
            <p:spPr bwMode="auto">
              <a:xfrm>
                <a:off x="2609850" y="4076700"/>
                <a:ext cx="7807325" cy="443865"/>
              </a:xfrm>
              <a:prstGeom prst="rect">
                <a:avLst/>
              </a:prstGeom>
              <a:blipFill rotWithShape="1">
                <a:blip r:embed="rId7"/>
                <a:stretch>
                  <a:fillRect b="-27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094" name="Rectangle 14"/>
              <p:cNvSpPr>
                <a:spLocks noChangeArrowheads="1"/>
              </p:cNvSpPr>
              <p:nvPr/>
            </p:nvSpPr>
            <p:spPr bwMode="auto">
              <a:xfrm>
                <a:off x="2609850" y="4508500"/>
                <a:ext cx="7696200" cy="4438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13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43</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53</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20</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𝐵</m:t>
                      </m:r>
                      <m:r>
                        <a:rPr lang="zh-CN" altLang="zh-CN" sz="2400" i="1" baseline="-25000"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销地的限制</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46094" name="Rectangle 14"/>
              <p:cNvSpPr>
                <a:spLocks noRot="1" noChangeAspect="1" noMove="1" noResize="1" noEditPoints="1" noAdjustHandles="1" noChangeArrowheads="1" noChangeShapeType="1" noTextEdit="1"/>
              </p:cNvSpPr>
              <p:nvPr/>
            </p:nvSpPr>
            <p:spPr bwMode="auto">
              <a:xfrm>
                <a:off x="2609850" y="4508500"/>
                <a:ext cx="7696200" cy="443865"/>
              </a:xfrm>
              <a:prstGeom prst="rect">
                <a:avLst/>
              </a:prstGeom>
              <a:blipFill rotWithShape="1">
                <a:blip r:embed="rId8"/>
                <a:stretch>
                  <a:fillRect b="-271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095" name="Rectangle 15"/>
              <p:cNvSpPr>
                <a:spLocks noChangeArrowheads="1"/>
              </p:cNvSpPr>
              <p:nvPr/>
            </p:nvSpPr>
            <p:spPr bwMode="auto">
              <a:xfrm>
                <a:off x="2603500" y="4941888"/>
                <a:ext cx="8659813" cy="7918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𝑖𝑗</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0</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且为整数，</m:t>
                      </m:r>
                      <m:r>
                        <a:rPr lang="zh-CN" altLang="zh-CN" sz="2400" i="1" dirty="0">
                          <a:latin typeface="Cambria Math" panose="02040503050406030204" pitchFamily="18" charset="0"/>
                          <a:ea typeface="楷体" panose="02010609060101010101" pitchFamily="49" charset="-122"/>
                        </a:rPr>
                        <m:t>𝑖</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4</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5</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𝑗</m:t>
                      </m:r>
                      <m:r>
                        <a:rPr lang="zh-CN" altLang="zh-CN" sz="2400" i="1" dirty="0">
                          <a:latin typeface="Cambria Math" panose="02040503050406030204" pitchFamily="18" charset="0"/>
                          <a:ea typeface="楷体" panose="02010609060101010101" pitchFamily="49" charset="-122"/>
                        </a:rPr>
                        <m:t> =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a:p>
                <a:pPr eaLnBrk="1" hangingPunct="1">
                  <a:buClr>
                    <a:srgbClr val="000000"/>
                  </a:buClr>
                  <a:buSzPct val="100000"/>
                </a:pPr>
                <a14:m>
                  <m:oMathPara xmlns:m="http://schemas.openxmlformats.org/officeDocument/2006/math">
                    <m:oMathParaPr>
                      <m:jc m:val="left"/>
                    </m:oMathParaPr>
                    <m:oMath xmlns:m="http://schemas.openxmlformats.org/officeDocument/2006/math">
                      <m:r>
                        <a:rPr lang="zh-CN" altLang="zh-CN" sz="2400" i="1" dirty="0" smtClean="0">
                          <a:latin typeface="Cambria Math" panose="02040503050406030204" pitchFamily="18" charset="0"/>
                          <a:ea typeface="楷体" panose="02010609060101010101" pitchFamily="49" charset="-122"/>
                        </a:rPr>
                        <m:t>𝑦</m:t>
                      </m:r>
                      <m:r>
                        <a:rPr lang="zh-CN" altLang="zh-CN" sz="2400" i="1" baseline="-25000" dirty="0">
                          <a:latin typeface="Cambria Math" panose="02040503050406030204" pitchFamily="18" charset="0"/>
                          <a:ea typeface="楷体" panose="02010609060101010101" pitchFamily="49" charset="-122"/>
                        </a:rPr>
                        <m:t>𝑘</m:t>
                      </m:r>
                      <m:r>
                        <a:rPr lang="zh-CN" altLang="zh-CN" sz="2400" i="1" baseline="-25000"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为</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0</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变量，</m:t>
                      </m:r>
                      <m:r>
                        <a:rPr lang="zh-CN" altLang="zh-CN" sz="2400" i="1" dirty="0">
                          <a:latin typeface="Cambria Math" panose="02040503050406030204" pitchFamily="18" charset="0"/>
                          <a:ea typeface="楷体" panose="02010609060101010101" pitchFamily="49" charset="-122"/>
                        </a:rPr>
                        <m:t>𝑘</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2</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3</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4</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5</m:t>
                      </m:r>
                      <m:r>
                        <a:rPr lang="zh-CN" altLang="zh-CN" sz="2400" i="1" dirty="0">
                          <a:latin typeface="Cambria Math" panose="02040503050406030204" pitchFamily="18" charset="0"/>
                          <a:ea typeface="楷体" panose="02010609060101010101" pitchFamily="49" charset="-122"/>
                        </a:rPr>
                        <m:t>。</m:t>
                      </m:r>
                    </m:oMath>
                  </m:oMathPara>
                </a14:m>
                <a:endParaRPr lang="zh-CN" altLang="zh-CN" sz="2400" dirty="0">
                  <a:latin typeface="Arial" panose="020B0604020202020204" pitchFamily="34" charset="0"/>
                  <a:ea typeface="楷体" panose="02010609060101010101" pitchFamily="49" charset="-122"/>
                </a:endParaRPr>
              </a:p>
            </p:txBody>
          </p:sp>
        </mc:Choice>
        <mc:Fallback>
          <p:sp>
            <p:nvSpPr>
              <p:cNvPr id="46095" name="Rectangle 15"/>
              <p:cNvSpPr>
                <a:spLocks noRot="1" noChangeAspect="1" noMove="1" noResize="1" noEditPoints="1" noAdjustHandles="1" noChangeArrowheads="1" noChangeShapeType="1" noTextEdit="1"/>
              </p:cNvSpPr>
              <p:nvPr/>
            </p:nvSpPr>
            <p:spPr bwMode="auto">
              <a:xfrm>
                <a:off x="2603500" y="4941888"/>
                <a:ext cx="8659813" cy="791845"/>
              </a:xfrm>
              <a:prstGeom prst="rect">
                <a:avLst/>
              </a:prstGeom>
              <a:blipFill rotWithShape="1">
                <a:blip r:embed="rId9"/>
                <a:stretch>
                  <a:fillRect t="-40" r="4" b="-108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46096" name="Rectangle 16"/>
          <p:cNvSpPr>
            <a:spLocks noChangeArrowheads="1"/>
          </p:cNvSpPr>
          <p:nvPr/>
        </p:nvSpPr>
        <p:spPr bwMode="auto">
          <a:xfrm>
            <a:off x="2063750" y="5732463"/>
            <a:ext cx="848677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pPr>
            <a:r>
              <a:rPr lang="zh-CN" altLang="zh-CN" sz="2400">
                <a:latin typeface="Arial" panose="020B0604020202020204" pitchFamily="34" charset="0"/>
                <a:ea typeface="楷体" panose="02010609060101010101" pitchFamily="49" charset="-122"/>
              </a:rPr>
              <a:t>注：求解可用“管理运筹学”软件中整数规划子程序。</a:t>
            </a:r>
            <a:endParaRPr lang="zh-CN" altLang="zh-CN" sz="2400">
              <a:latin typeface="Arial" panose="020B0604020202020204" pitchFamily="34" charset="0"/>
              <a:ea typeface="楷体" panose="02010609060101010101" pitchFamily="49" charset="-122"/>
            </a:endParaRPr>
          </a:p>
        </p:txBody>
      </p:sp>
      <p:sp>
        <p:nvSpPr>
          <p:cNvPr id="2" name="标题 1"/>
          <p:cNvSpPr>
            <a:spLocks noGrp="1"/>
          </p:cNvSpPr>
          <p:nvPr/>
        </p:nvSpPr>
        <p:spPr>
          <a:xfrm>
            <a:off x="838200" y="365125"/>
            <a:ext cx="1051560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ea typeface="楷体" panose="02010609060101010101" pitchFamily="49" charset="-122"/>
                <a:cs typeface="Times New Roman" panose="02020603050405020304" pitchFamily="18" charset="0"/>
                <a:sym typeface="+mn-ea"/>
              </a:rPr>
              <a:t>分布系统设计</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087"/>
                                        </p:tgtEl>
                                        <p:attrNameLst>
                                          <p:attrName>style.visibility</p:attrName>
                                        </p:attrNameLst>
                                      </p:cBhvr>
                                      <p:to>
                                        <p:strVal val="visible"/>
                                      </p:to>
                                    </p:set>
                                    <p:anim calcmode="lin" valueType="num">
                                      <p:cBhvr additive="base">
                                        <p:cTn id="7" dur="500" fill="hold"/>
                                        <p:tgtEl>
                                          <p:spTgt spid="46087"/>
                                        </p:tgtEl>
                                        <p:attrNameLst>
                                          <p:attrName>ppt_x</p:attrName>
                                        </p:attrNameLst>
                                      </p:cBhvr>
                                      <p:tavLst>
                                        <p:tav tm="0">
                                          <p:val>
                                            <p:strVal val="ppt_x"/>
                                          </p:val>
                                        </p:tav>
                                        <p:tav tm="100000">
                                          <p:val>
                                            <p:strVal val="ppt_x"/>
                                          </p:val>
                                        </p:tav>
                                      </p:tavLst>
                                    </p:anim>
                                    <p:anim calcmode="lin" valueType="num">
                                      <p:cBhvr additive="base">
                                        <p:cTn id="8" dur="500" fill="hold"/>
                                        <p:tgtEl>
                                          <p:spTgt spid="460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088"/>
                                        </p:tgtEl>
                                        <p:attrNameLst>
                                          <p:attrName>style.visibility</p:attrName>
                                        </p:attrNameLst>
                                      </p:cBhvr>
                                      <p:to>
                                        <p:strVal val="visible"/>
                                      </p:to>
                                    </p:set>
                                    <p:anim calcmode="lin" valueType="num">
                                      <p:cBhvr additive="base">
                                        <p:cTn id="13" dur="500" fill="hold"/>
                                        <p:tgtEl>
                                          <p:spTgt spid="46088"/>
                                        </p:tgtEl>
                                        <p:attrNameLst>
                                          <p:attrName>ppt_x</p:attrName>
                                        </p:attrNameLst>
                                      </p:cBhvr>
                                      <p:tavLst>
                                        <p:tav tm="0">
                                          <p:val>
                                            <p:strVal val="ppt_x"/>
                                          </p:val>
                                        </p:tav>
                                        <p:tav tm="100000">
                                          <p:val>
                                            <p:strVal val="ppt_x"/>
                                          </p:val>
                                        </p:tav>
                                      </p:tavLst>
                                    </p:anim>
                                    <p:anim calcmode="lin" valueType="num">
                                      <p:cBhvr additive="base">
                                        <p:cTn id="14" dur="500" fill="hold"/>
                                        <p:tgtEl>
                                          <p:spTgt spid="4608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089"/>
                                        </p:tgtEl>
                                        <p:attrNameLst>
                                          <p:attrName>style.visibility</p:attrName>
                                        </p:attrNameLst>
                                      </p:cBhvr>
                                      <p:to>
                                        <p:strVal val="visible"/>
                                      </p:to>
                                    </p:set>
                                    <p:anim calcmode="lin" valueType="num">
                                      <p:cBhvr additive="base">
                                        <p:cTn id="19" dur="500" fill="hold"/>
                                        <p:tgtEl>
                                          <p:spTgt spid="46089"/>
                                        </p:tgtEl>
                                        <p:attrNameLst>
                                          <p:attrName>ppt_x</p:attrName>
                                        </p:attrNameLst>
                                      </p:cBhvr>
                                      <p:tavLst>
                                        <p:tav tm="0">
                                          <p:val>
                                            <p:strVal val="ppt_x"/>
                                          </p:val>
                                        </p:tav>
                                        <p:tav tm="100000">
                                          <p:val>
                                            <p:strVal val="ppt_x"/>
                                          </p:val>
                                        </p:tav>
                                      </p:tavLst>
                                    </p:anim>
                                    <p:anim calcmode="lin" valueType="num">
                                      <p:cBhvr additive="base">
                                        <p:cTn id="20" dur="500" fill="hold"/>
                                        <p:tgtEl>
                                          <p:spTgt spid="4608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090"/>
                                        </p:tgtEl>
                                        <p:attrNameLst>
                                          <p:attrName>style.visibility</p:attrName>
                                        </p:attrNameLst>
                                      </p:cBhvr>
                                      <p:to>
                                        <p:strVal val="visible"/>
                                      </p:to>
                                    </p:set>
                                    <p:anim calcmode="lin" valueType="num">
                                      <p:cBhvr additive="base">
                                        <p:cTn id="25" dur="500" fill="hold"/>
                                        <p:tgtEl>
                                          <p:spTgt spid="46090"/>
                                        </p:tgtEl>
                                        <p:attrNameLst>
                                          <p:attrName>ppt_x</p:attrName>
                                        </p:attrNameLst>
                                      </p:cBhvr>
                                      <p:tavLst>
                                        <p:tav tm="0">
                                          <p:val>
                                            <p:strVal val="ppt_x"/>
                                          </p:val>
                                        </p:tav>
                                        <p:tav tm="100000">
                                          <p:val>
                                            <p:strVal val="ppt_x"/>
                                          </p:val>
                                        </p:tav>
                                      </p:tavLst>
                                    </p:anim>
                                    <p:anim calcmode="lin" valueType="num">
                                      <p:cBhvr additive="base">
                                        <p:cTn id="26" dur="500" fill="hold"/>
                                        <p:tgtEl>
                                          <p:spTgt spid="4609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6091"/>
                                        </p:tgtEl>
                                        <p:attrNameLst>
                                          <p:attrName>style.visibility</p:attrName>
                                        </p:attrNameLst>
                                      </p:cBhvr>
                                      <p:to>
                                        <p:strVal val="visible"/>
                                      </p:to>
                                    </p:set>
                                    <p:anim calcmode="lin" valueType="num">
                                      <p:cBhvr additive="base">
                                        <p:cTn id="31" dur="500" fill="hold"/>
                                        <p:tgtEl>
                                          <p:spTgt spid="46091"/>
                                        </p:tgtEl>
                                        <p:attrNameLst>
                                          <p:attrName>ppt_x</p:attrName>
                                        </p:attrNameLst>
                                      </p:cBhvr>
                                      <p:tavLst>
                                        <p:tav tm="0">
                                          <p:val>
                                            <p:strVal val="ppt_x"/>
                                          </p:val>
                                        </p:tav>
                                        <p:tav tm="100000">
                                          <p:val>
                                            <p:strVal val="ppt_x"/>
                                          </p:val>
                                        </p:tav>
                                      </p:tavLst>
                                    </p:anim>
                                    <p:anim calcmode="lin" valueType="num">
                                      <p:cBhvr additive="base">
                                        <p:cTn id="32" dur="500" fill="hold"/>
                                        <p:tgtEl>
                                          <p:spTgt spid="4609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6092"/>
                                        </p:tgtEl>
                                        <p:attrNameLst>
                                          <p:attrName>style.visibility</p:attrName>
                                        </p:attrNameLst>
                                      </p:cBhvr>
                                      <p:to>
                                        <p:strVal val="visible"/>
                                      </p:to>
                                    </p:set>
                                    <p:anim calcmode="lin" valueType="num">
                                      <p:cBhvr additive="base">
                                        <p:cTn id="37" dur="500" fill="hold"/>
                                        <p:tgtEl>
                                          <p:spTgt spid="46092"/>
                                        </p:tgtEl>
                                        <p:attrNameLst>
                                          <p:attrName>ppt_x</p:attrName>
                                        </p:attrNameLst>
                                      </p:cBhvr>
                                      <p:tavLst>
                                        <p:tav tm="0">
                                          <p:val>
                                            <p:strVal val="ppt_x"/>
                                          </p:val>
                                        </p:tav>
                                        <p:tav tm="100000">
                                          <p:val>
                                            <p:strVal val="ppt_x"/>
                                          </p:val>
                                        </p:tav>
                                      </p:tavLst>
                                    </p:anim>
                                    <p:anim calcmode="lin" valueType="num">
                                      <p:cBhvr additive="base">
                                        <p:cTn id="38" dur="500" fill="hold"/>
                                        <p:tgtEl>
                                          <p:spTgt spid="4609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6093"/>
                                        </p:tgtEl>
                                        <p:attrNameLst>
                                          <p:attrName>style.visibility</p:attrName>
                                        </p:attrNameLst>
                                      </p:cBhvr>
                                      <p:to>
                                        <p:strVal val="visible"/>
                                      </p:to>
                                    </p:set>
                                    <p:anim calcmode="lin" valueType="num">
                                      <p:cBhvr additive="base">
                                        <p:cTn id="43" dur="500" fill="hold"/>
                                        <p:tgtEl>
                                          <p:spTgt spid="46093"/>
                                        </p:tgtEl>
                                        <p:attrNameLst>
                                          <p:attrName>ppt_x</p:attrName>
                                        </p:attrNameLst>
                                      </p:cBhvr>
                                      <p:tavLst>
                                        <p:tav tm="0">
                                          <p:val>
                                            <p:strVal val="ppt_x"/>
                                          </p:val>
                                        </p:tav>
                                        <p:tav tm="100000">
                                          <p:val>
                                            <p:strVal val="ppt_x"/>
                                          </p:val>
                                        </p:tav>
                                      </p:tavLst>
                                    </p:anim>
                                    <p:anim calcmode="lin" valueType="num">
                                      <p:cBhvr additive="base">
                                        <p:cTn id="44" dur="500" fill="hold"/>
                                        <p:tgtEl>
                                          <p:spTgt spid="4609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6094"/>
                                        </p:tgtEl>
                                        <p:attrNameLst>
                                          <p:attrName>style.visibility</p:attrName>
                                        </p:attrNameLst>
                                      </p:cBhvr>
                                      <p:to>
                                        <p:strVal val="visible"/>
                                      </p:to>
                                    </p:set>
                                    <p:anim calcmode="lin" valueType="num">
                                      <p:cBhvr additive="base">
                                        <p:cTn id="49" dur="500" fill="hold"/>
                                        <p:tgtEl>
                                          <p:spTgt spid="46094"/>
                                        </p:tgtEl>
                                        <p:attrNameLst>
                                          <p:attrName>ppt_x</p:attrName>
                                        </p:attrNameLst>
                                      </p:cBhvr>
                                      <p:tavLst>
                                        <p:tav tm="0">
                                          <p:val>
                                            <p:strVal val="ppt_x"/>
                                          </p:val>
                                        </p:tav>
                                        <p:tav tm="100000">
                                          <p:val>
                                            <p:strVal val="ppt_x"/>
                                          </p:val>
                                        </p:tav>
                                      </p:tavLst>
                                    </p:anim>
                                    <p:anim calcmode="lin" valueType="num">
                                      <p:cBhvr additive="base">
                                        <p:cTn id="50" dur="500" fill="hold"/>
                                        <p:tgtEl>
                                          <p:spTgt spid="4609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6095"/>
                                        </p:tgtEl>
                                        <p:attrNameLst>
                                          <p:attrName>style.visibility</p:attrName>
                                        </p:attrNameLst>
                                      </p:cBhvr>
                                      <p:to>
                                        <p:strVal val="visible"/>
                                      </p:to>
                                    </p:set>
                                    <p:anim calcmode="lin" valueType="num">
                                      <p:cBhvr additive="base">
                                        <p:cTn id="55" dur="500" fill="hold"/>
                                        <p:tgtEl>
                                          <p:spTgt spid="46095"/>
                                        </p:tgtEl>
                                        <p:attrNameLst>
                                          <p:attrName>ppt_x</p:attrName>
                                        </p:attrNameLst>
                                      </p:cBhvr>
                                      <p:tavLst>
                                        <p:tav tm="0">
                                          <p:val>
                                            <p:strVal val="ppt_x"/>
                                          </p:val>
                                        </p:tav>
                                        <p:tav tm="100000">
                                          <p:val>
                                            <p:strVal val="ppt_x"/>
                                          </p:val>
                                        </p:tav>
                                      </p:tavLst>
                                    </p:anim>
                                    <p:anim calcmode="lin" valueType="num">
                                      <p:cBhvr additive="base">
                                        <p:cTn id="56" dur="500" fill="hold"/>
                                        <p:tgtEl>
                                          <p:spTgt spid="4609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6096"/>
                                        </p:tgtEl>
                                        <p:attrNameLst>
                                          <p:attrName>style.visibility</p:attrName>
                                        </p:attrNameLst>
                                      </p:cBhvr>
                                      <p:to>
                                        <p:strVal val="visible"/>
                                      </p:to>
                                    </p:set>
                                    <p:anim calcmode="lin" valueType="num">
                                      <p:cBhvr additive="base">
                                        <p:cTn id="61" dur="500" fill="hold"/>
                                        <p:tgtEl>
                                          <p:spTgt spid="46096"/>
                                        </p:tgtEl>
                                        <p:attrNameLst>
                                          <p:attrName>ppt_x</p:attrName>
                                        </p:attrNameLst>
                                      </p:cBhvr>
                                      <p:tavLst>
                                        <p:tav tm="0">
                                          <p:val>
                                            <p:strVal val="ppt_x"/>
                                          </p:val>
                                        </p:tav>
                                        <p:tav tm="100000">
                                          <p:val>
                                            <p:strVal val="ppt_x"/>
                                          </p:val>
                                        </p:tav>
                                      </p:tavLst>
                                    </p:anim>
                                    <p:anim calcmode="lin" valueType="num">
                                      <p:cBhvr additive="base">
                                        <p:cTn id="62" dur="500" fill="hold"/>
                                        <p:tgtEl>
                                          <p:spTgt spid="460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7" grpId="0" bldLvl="0" animBg="1"/>
      <p:bldP spid="46088" grpId="0" bldLvl="0" animBg="1"/>
      <p:bldP spid="46089" grpId="0" bldLvl="0" animBg="1"/>
      <p:bldP spid="46090" grpId="0" bldLvl="0" animBg="1"/>
      <p:bldP spid="46091" grpId="0" bldLvl="0" animBg="1"/>
      <p:bldP spid="46092" grpId="0" bldLvl="0" animBg="1"/>
      <p:bldP spid="46093" grpId="0" bldLvl="0" animBg="1"/>
      <p:bldP spid="46094" grpId="0" bldLvl="0" animBg="1"/>
      <p:bldP spid="46095" grpId="0" bldLvl="0" animBg="1"/>
      <p:bldP spid="46096"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8133" name="Rectangle 5"/>
              <p:cNvSpPr>
                <a:spLocks noChangeArrowheads="1"/>
              </p:cNvSpPr>
              <p:nvPr/>
            </p:nvSpPr>
            <p:spPr bwMode="auto">
              <a:xfrm>
                <a:off x="1651000" y="1557338"/>
                <a:ext cx="8893175" cy="1300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楷体" panose="02010609060101010101" pitchFamily="49" charset="-122"/>
                    <a:ea typeface="楷体" panose="02010609060101010101" pitchFamily="49" charset="-122"/>
                  </a:rPr>
                  <a:t>（2）加入约束条件： </a:t>
                </a:r>
                <a:endParaRPr lang="zh-CN" altLang="zh-CN" sz="2800" dirty="0">
                  <a:latin typeface="楷体" panose="02010609060101010101" pitchFamily="49" charset="-122"/>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楷体" panose="02010609060101010101" pitchFamily="49" charset="-122"/>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m:t>
                    </m:r>
                  </m:oMath>
                </a14:m>
                <a:endParaRPr lang="zh-CN" altLang="zh-CN" sz="2800" dirty="0">
                  <a:latin typeface="楷体" panose="02010609060101010101" pitchFamily="49" charset="-122"/>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楷体" panose="02010609060101010101" pitchFamily="49" charset="-122"/>
                    <a:ea typeface="楷体" panose="02010609060101010101" pitchFamily="49" charset="-122"/>
                  </a:rPr>
                  <a:t>    得到问题</a:t>
                </a:r>
                <a:r>
                  <a:rPr lang="zh-CN" altLang="zh-CN" sz="2800" dirty="0">
                    <a:ea typeface="楷体" panose="02010609060101010101" pitchFamily="49" charset="-122"/>
                    <a:cs typeface="Times New Roman" panose="02020603050405020304" pitchFamily="18" charset="0"/>
                  </a:rPr>
                  <a:t>（2）</a:t>
                </a:r>
                <a:r>
                  <a:rPr lang="zh-CN" altLang="zh-CN" sz="2800" dirty="0">
                    <a:latin typeface="楷体" panose="02010609060101010101" pitchFamily="49" charset="-122"/>
                    <a:ea typeface="楷体" panose="02010609060101010101" pitchFamily="49" charset="-122"/>
                  </a:rPr>
                  <a:t>的数学模型</a:t>
                </a:r>
                <a:endParaRPr lang="zh-CN" altLang="zh-CN" sz="2800" dirty="0">
                  <a:latin typeface="楷体" panose="02010609060101010101" pitchFamily="49" charset="-122"/>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楷体" panose="02010609060101010101" pitchFamily="49" charset="-122"/>
                  <a:ea typeface="楷体" panose="02010609060101010101" pitchFamily="49" charset="-122"/>
                </a:endParaRPr>
              </a:p>
            </p:txBody>
          </p:sp>
        </mc:Choice>
        <mc:Fallback>
          <p:sp>
            <p:nvSpPr>
              <p:cNvPr id="48133" name="Rectangle 5"/>
              <p:cNvSpPr>
                <a:spLocks noRot="1" noChangeAspect="1" noMove="1" noResize="1" noEditPoints="1" noAdjustHandles="1" noChangeArrowheads="1" noChangeShapeType="1" noTextEdit="1"/>
              </p:cNvSpPr>
              <p:nvPr/>
            </p:nvSpPr>
            <p:spPr bwMode="auto">
              <a:xfrm>
                <a:off x="1651000" y="1557338"/>
                <a:ext cx="8893175" cy="1300162"/>
              </a:xfrm>
              <a:prstGeom prst="rect">
                <a:avLst/>
              </a:prstGeom>
              <a:blipFill rotWithShape="1">
                <a:blip r:embed="rId1"/>
                <a:stretch>
                  <a:fillRect t="-24" b="-3125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82950"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48136" name="Rectangle 8"/>
              <p:cNvSpPr>
                <a:spLocks noChangeArrowheads="1"/>
              </p:cNvSpPr>
              <p:nvPr/>
            </p:nvSpPr>
            <p:spPr bwMode="auto">
              <a:xfrm>
                <a:off x="1649412" y="1999456"/>
                <a:ext cx="8893175" cy="4586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𝑠</m:t>
                    </m:r>
                    <m:r>
                      <a:rPr lang="zh-CN" altLang="zh-CN" sz="2600" i="1" dirty="0" smtClean="0">
                        <a:latin typeface="Cambria Math" panose="02040503050406030204" pitchFamily="18" charset="0"/>
                        <a:ea typeface="楷体" panose="02010609060101010101" pitchFamily="49" charset="-122"/>
                      </a:rPr>
                      <m:t>.</m:t>
                    </m:r>
                    <m:r>
                      <a:rPr lang="zh-CN" altLang="zh-CN" sz="2600" i="1" dirty="0" smtClean="0">
                        <a:latin typeface="Cambria Math" panose="02040503050406030204" pitchFamily="18" charset="0"/>
                        <a:ea typeface="楷体" panose="02010609060101010101" pitchFamily="49" charset="-122"/>
                      </a:rPr>
                      <m:t>𝑡</m:t>
                    </m:r>
                    <m:r>
                      <a:rPr lang="zh-CN" altLang="zh-CN" sz="2600" i="1" dirty="0" smtClean="0">
                        <a:latin typeface="Cambria Math" panose="02040503050406030204" pitchFamily="18" charset="0"/>
                        <a:ea typeface="楷体" panose="02010609060101010101" pitchFamily="49" charset="-122"/>
                      </a:rPr>
                      <m:t>  </m:t>
                    </m:r>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11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12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13</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30</m:t>
                    </m:r>
                    <m:r>
                      <a:rPr lang="zh-CN" altLang="zh-CN" sz="2600" i="1" dirty="0">
                        <a:latin typeface="Cambria Math" panose="02040503050406030204" pitchFamily="18" charset="0"/>
                        <a:ea typeface="楷体" panose="02010609060101010101" pitchFamily="49" charset="-122"/>
                      </a:rPr>
                      <m:t>   </m:t>
                    </m:r>
                    <m:d>
                      <m:dPr>
                        <m:ctrlPr>
                          <a:rPr lang="zh-CN" altLang="zh-CN" sz="2600" i="1" dirty="0">
                            <a:latin typeface="Cambria Math" panose="02040503050406030204" pitchFamily="18" charset="0"/>
                            <a:ea typeface="楷体" panose="02010609060101010101" pitchFamily="49" charset="-122"/>
                          </a:rPr>
                        </m:ctrlPr>
                      </m:dPr>
                      <m:e>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𝐴</m:t>
                        </m:r>
                        <m:r>
                          <a:rPr lang="zh-CN" altLang="zh-CN" sz="2600" i="1" baseline="-25000" dirty="0">
                            <a:latin typeface="Cambria Math" panose="02040503050406030204" pitchFamily="18" charset="0"/>
                            <a:ea typeface="楷体" panose="02010609060101010101" pitchFamily="49" charset="-122"/>
                          </a:rPr>
                          <m:t>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厂的产量限制</m:t>
                        </m:r>
                      </m:e>
                    </m:d>
                  </m:oMath>
                </a14:m>
                <a:endParaRPr lang="en-US" altLang="zh-CN" sz="2600" i="1" dirty="0">
                  <a:latin typeface="Cambria Math" panose="02040503050406030204" pitchFamily="18" charset="0"/>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21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22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23</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10</m:t>
                    </m:r>
                    <m:r>
                      <a:rPr lang="zh-CN" altLang="zh-CN" sz="2600" i="1" dirty="0">
                        <a:latin typeface="Cambria Math" panose="02040503050406030204" pitchFamily="18" charset="0"/>
                        <a:ea typeface="楷体" panose="02010609060101010101" pitchFamily="49" charset="-122"/>
                      </a:rPr>
                      <m:t>𝑦</m:t>
                    </m:r>
                    <m:r>
                      <a:rPr lang="zh-CN" altLang="zh-CN" sz="2600" i="1" baseline="-25000" dirty="0">
                        <a:latin typeface="Cambria Math" panose="02040503050406030204" pitchFamily="18" charset="0"/>
                        <a:ea typeface="楷体" panose="02010609060101010101" pitchFamily="49" charset="-122"/>
                      </a:rPr>
                      <m:t>2</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𝐴</m:t>
                    </m:r>
                    <m:r>
                      <a:rPr lang="zh-CN" altLang="zh-CN" sz="2600" i="1" baseline="-25000" dirty="0">
                        <a:latin typeface="Cambria Math" panose="02040503050406030204" pitchFamily="18" charset="0"/>
                        <a:ea typeface="楷体" panose="02010609060101010101" pitchFamily="49" charset="-122"/>
                      </a:rPr>
                      <m:t>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厂的产量限制</m:t>
                    </m:r>
                    <m:r>
                      <a:rPr lang="zh-CN" altLang="zh-CN" sz="2600" i="1" dirty="0">
                        <a:latin typeface="Cambria Math" panose="02040503050406030204" pitchFamily="18" charset="0"/>
                        <a:ea typeface="楷体" panose="02010609060101010101" pitchFamily="49" charset="-122"/>
                      </a:rPr>
                      <m:t>)</m:t>
                    </m:r>
                  </m:oMath>
                </a14:m>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31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32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33</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20</m:t>
                    </m:r>
                    <m:r>
                      <a:rPr lang="zh-CN" altLang="zh-CN" sz="2600" i="1" dirty="0">
                        <a:latin typeface="Cambria Math" panose="02040503050406030204" pitchFamily="18" charset="0"/>
                        <a:ea typeface="楷体" panose="02010609060101010101" pitchFamily="49" charset="-122"/>
                      </a:rPr>
                      <m:t>𝑦</m:t>
                    </m:r>
                    <m:r>
                      <a:rPr lang="zh-CN" altLang="zh-CN" sz="2600" i="1" baseline="-25000" dirty="0">
                        <a:latin typeface="Cambria Math" panose="02040503050406030204" pitchFamily="18" charset="0"/>
                        <a:ea typeface="楷体" panose="02010609060101010101" pitchFamily="49" charset="-122"/>
                      </a:rPr>
                      <m:t>3</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𝐴</m:t>
                    </m:r>
                    <m:r>
                      <a:rPr lang="zh-CN" altLang="zh-CN" sz="2600" i="1" baseline="-25000" dirty="0">
                        <a:latin typeface="Cambria Math" panose="02040503050406030204" pitchFamily="18" charset="0"/>
                        <a:ea typeface="楷体" panose="02010609060101010101" pitchFamily="49" charset="-122"/>
                      </a:rPr>
                      <m:t>3</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厂的产量限制</m:t>
                    </m:r>
                    <m:r>
                      <a:rPr lang="zh-CN" altLang="zh-CN" sz="2600" i="1" dirty="0">
                        <a:latin typeface="Cambria Math" panose="02040503050406030204" pitchFamily="18" charset="0"/>
                        <a:ea typeface="楷体" panose="02010609060101010101" pitchFamily="49" charset="-122"/>
                      </a:rPr>
                      <m:t>)</m:t>
                    </m:r>
                  </m:oMath>
                </a14:m>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41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42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43</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30</m:t>
                    </m:r>
                    <m:r>
                      <a:rPr lang="zh-CN" altLang="zh-CN" sz="2600" i="1" dirty="0">
                        <a:latin typeface="Cambria Math" panose="02040503050406030204" pitchFamily="18" charset="0"/>
                        <a:ea typeface="楷体" panose="02010609060101010101" pitchFamily="49" charset="-122"/>
                      </a:rPr>
                      <m:t>𝑦</m:t>
                    </m:r>
                    <m:r>
                      <a:rPr lang="zh-CN" altLang="zh-CN" sz="2600" i="1" baseline="-25000" dirty="0">
                        <a:latin typeface="Cambria Math" panose="02040503050406030204" pitchFamily="18" charset="0"/>
                        <a:ea typeface="楷体" panose="02010609060101010101" pitchFamily="49" charset="-122"/>
                      </a:rPr>
                      <m:t>4</m:t>
                    </m:r>
                    <m:r>
                      <a:rPr lang="zh-CN" altLang="zh-CN" sz="2600" i="1" dirty="0">
                        <a:latin typeface="Cambria Math" panose="02040503050406030204" pitchFamily="18" charset="0"/>
                        <a:ea typeface="楷体" panose="02010609060101010101" pitchFamily="49" charset="-122"/>
                      </a:rPr>
                      <m:t>  </m:t>
                    </m:r>
                    <m:d>
                      <m:dPr>
                        <m:ctrlPr>
                          <a:rPr lang="zh-CN" altLang="zh-CN" sz="2600" i="1" baseline="-25000" dirty="0">
                            <a:latin typeface="Cambria Math" panose="02040503050406030204" pitchFamily="18" charset="0"/>
                            <a:ea typeface="楷体" panose="02010609060101010101" pitchFamily="49" charset="-122"/>
                          </a:rPr>
                        </m:ctrlPr>
                      </m:dPr>
                      <m:e>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𝐴</m:t>
                        </m:r>
                        <m:r>
                          <a:rPr lang="zh-CN" altLang="zh-CN" sz="2600" i="1" baseline="-25000" dirty="0">
                            <a:latin typeface="Cambria Math" panose="02040503050406030204" pitchFamily="18" charset="0"/>
                            <a:ea typeface="楷体" panose="02010609060101010101" pitchFamily="49" charset="-122"/>
                          </a:rPr>
                          <m:t>4</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厂的产量限制</m:t>
                        </m:r>
                      </m:e>
                    </m:d>
                  </m:oMath>
                </a14:m>
                <a:endParaRPr lang="en-US" altLang="zh-CN" sz="2600" i="1" dirty="0">
                  <a:latin typeface="Cambria Math" panose="02040503050406030204" pitchFamily="18" charset="0"/>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51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52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53</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40</m:t>
                    </m:r>
                    <m:r>
                      <a:rPr lang="zh-CN" altLang="zh-CN" sz="2600" i="1" dirty="0">
                        <a:latin typeface="Cambria Math" panose="02040503050406030204" pitchFamily="18" charset="0"/>
                        <a:ea typeface="楷体" panose="02010609060101010101" pitchFamily="49" charset="-122"/>
                      </a:rPr>
                      <m:t>𝑦</m:t>
                    </m:r>
                    <m:r>
                      <a:rPr lang="zh-CN" altLang="zh-CN" sz="2600" i="1" baseline="-25000" dirty="0">
                        <a:latin typeface="Cambria Math" panose="02040503050406030204" pitchFamily="18" charset="0"/>
                        <a:ea typeface="楷体" panose="02010609060101010101" pitchFamily="49" charset="-122"/>
                      </a:rPr>
                      <m:t>5</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𝐴</m:t>
                    </m:r>
                    <m:r>
                      <a:rPr lang="zh-CN" altLang="zh-CN" sz="2600" i="1" baseline="-25000" dirty="0">
                        <a:latin typeface="Cambria Math" panose="02040503050406030204" pitchFamily="18" charset="0"/>
                        <a:ea typeface="楷体" panose="02010609060101010101" pitchFamily="49" charset="-122"/>
                      </a:rPr>
                      <m:t>5</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厂的产量限制</m:t>
                    </m:r>
                    <m:r>
                      <a:rPr lang="zh-CN" altLang="zh-CN" sz="2600" i="1" dirty="0">
                        <a:latin typeface="Cambria Math" panose="02040503050406030204" pitchFamily="18" charset="0"/>
                        <a:ea typeface="楷体" panose="02010609060101010101" pitchFamily="49" charset="-122"/>
                      </a:rPr>
                      <m:t>)</m:t>
                    </m:r>
                  </m:oMath>
                </a14:m>
                <a:r>
                  <a:rPr lang="en-US" altLang="zh-CN" sz="2600" dirty="0">
                    <a:latin typeface="楷体" panose="02010609060101010101" pitchFamily="49" charset="-122"/>
                    <a:ea typeface="楷体" panose="02010609060101010101" pitchFamily="49" charset="-122"/>
                  </a:rPr>
                  <a:t> </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11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21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31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41</m:t>
                    </m:r>
                    <m:r>
                      <a:rPr lang="zh-CN" altLang="zh-CN" sz="2600" i="1" baseline="-25000"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51</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30</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𝐵</m:t>
                    </m:r>
                    <m:r>
                      <a:rPr lang="zh-CN" altLang="zh-CN" sz="2600" i="1" baseline="-25000" dirty="0">
                        <a:latin typeface="Cambria Math" panose="02040503050406030204" pitchFamily="18" charset="0"/>
                        <a:ea typeface="楷体" panose="02010609060101010101" pitchFamily="49" charset="-122"/>
                      </a:rPr>
                      <m:t>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销地的限制</m:t>
                    </m:r>
                    <m:r>
                      <a:rPr lang="zh-CN" altLang="zh-CN" sz="2600" i="1" dirty="0">
                        <a:latin typeface="Cambria Math" panose="02040503050406030204" pitchFamily="18" charset="0"/>
                        <a:ea typeface="楷体" panose="02010609060101010101" pitchFamily="49" charset="-122"/>
                      </a:rPr>
                      <m:t>)</m:t>
                    </m:r>
                  </m:oMath>
                </a14:m>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12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22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32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42</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52</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20</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𝐵</m:t>
                    </m:r>
                    <m:r>
                      <a:rPr lang="zh-CN" altLang="zh-CN" sz="2600" i="1" baseline="-25000" dirty="0">
                        <a:latin typeface="Cambria Math" panose="02040503050406030204" pitchFamily="18" charset="0"/>
                        <a:ea typeface="楷体" panose="02010609060101010101" pitchFamily="49" charset="-122"/>
                      </a:rPr>
                      <m:t>2</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销地的限制</m:t>
                    </m:r>
                    <m:r>
                      <a:rPr lang="zh-CN" altLang="zh-CN" sz="2600" i="1" dirty="0">
                        <a:latin typeface="Cambria Math" panose="02040503050406030204" pitchFamily="18" charset="0"/>
                        <a:ea typeface="楷体" panose="02010609060101010101" pitchFamily="49" charset="-122"/>
                      </a:rPr>
                      <m:t>)</m:t>
                    </m:r>
                  </m:oMath>
                </a14:m>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13</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23</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33</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43</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53</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20</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𝐵</m:t>
                    </m:r>
                    <m:r>
                      <a:rPr lang="zh-CN" altLang="zh-CN" sz="2600" i="1" baseline="-25000" dirty="0">
                        <a:latin typeface="Cambria Math" panose="02040503050406030204" pitchFamily="18" charset="0"/>
                        <a:ea typeface="楷体" panose="02010609060101010101" pitchFamily="49" charset="-122"/>
                      </a:rPr>
                      <m:t>3</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销地的限制</m:t>
                    </m:r>
                    <m:r>
                      <a:rPr lang="zh-CN" altLang="zh-CN" sz="2600" i="1" dirty="0">
                        <a:latin typeface="Cambria Math" panose="02040503050406030204" pitchFamily="18" charset="0"/>
                        <a:ea typeface="楷体" panose="02010609060101010101" pitchFamily="49" charset="-122"/>
                      </a:rPr>
                      <m:t>)</m:t>
                    </m:r>
                  </m:oMath>
                </a14:m>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en-US" altLang="zh-CN" sz="2400" dirty="0">
                    <a:solidFill>
                      <a:srgbClr val="FF0000"/>
                    </a:solidFill>
                    <a:ea typeface="楷体" panose="02010609060101010101" pitchFamily="49" charset="-122"/>
                  </a:rPr>
                  <a:t>          </a:t>
                </a:r>
                <a14:m>
                  <m:oMath xmlns:m="http://schemas.openxmlformats.org/officeDocument/2006/math">
                    <m:r>
                      <a:rPr lang="zh-CN" altLang="zh-CN" sz="2400" i="1" dirty="0">
                        <a:solidFill>
                          <a:srgbClr val="FF0000"/>
                        </a:solidFill>
                        <a:latin typeface="Cambria Math" panose="02040503050406030204" pitchFamily="18" charset="0"/>
                        <a:ea typeface="楷体" panose="02010609060101010101" pitchFamily="49" charset="-122"/>
                      </a:rPr>
                      <m:t>𝑦</m:t>
                    </m:r>
                    <m:r>
                      <a:rPr lang="zh-CN" altLang="zh-CN" sz="2400" i="1" baseline="-25000" dirty="0">
                        <a:solidFill>
                          <a:srgbClr val="FF0000"/>
                        </a:solidFill>
                        <a:latin typeface="Cambria Math" panose="02040503050406030204" pitchFamily="18" charset="0"/>
                        <a:ea typeface="楷体" panose="02010609060101010101" pitchFamily="49" charset="-122"/>
                      </a:rPr>
                      <m:t>2</m:t>
                    </m:r>
                    <m:r>
                      <a:rPr lang="zh-CN" altLang="zh-CN" sz="2400" i="1" dirty="0">
                        <a:solidFill>
                          <a:srgbClr val="FF0000"/>
                        </a:solidFill>
                        <a:latin typeface="Cambria Math" panose="02040503050406030204" pitchFamily="18" charset="0"/>
                        <a:ea typeface="楷体" panose="02010609060101010101" pitchFamily="49" charset="-122"/>
                      </a:rPr>
                      <m:t> + </m:t>
                    </m:r>
                    <m:r>
                      <a:rPr lang="zh-CN" altLang="zh-CN" sz="2400" i="1" dirty="0">
                        <a:solidFill>
                          <a:srgbClr val="FF0000"/>
                        </a:solidFill>
                        <a:latin typeface="Cambria Math" panose="02040503050406030204" pitchFamily="18" charset="0"/>
                        <a:ea typeface="楷体" panose="02010609060101010101" pitchFamily="49" charset="-122"/>
                      </a:rPr>
                      <m:t>𝑦</m:t>
                    </m:r>
                    <m:r>
                      <a:rPr lang="zh-CN" altLang="zh-CN" sz="2400" i="1" baseline="-25000" dirty="0">
                        <a:solidFill>
                          <a:srgbClr val="FF0000"/>
                        </a:solidFill>
                        <a:latin typeface="Cambria Math" panose="02040503050406030204" pitchFamily="18" charset="0"/>
                        <a:ea typeface="楷体" panose="02010609060101010101" pitchFamily="49" charset="-122"/>
                      </a:rPr>
                      <m:t>3</m:t>
                    </m:r>
                    <m:r>
                      <a:rPr lang="zh-CN" altLang="zh-CN" sz="2400" i="1" dirty="0">
                        <a:solidFill>
                          <a:srgbClr val="FF0000"/>
                        </a:solidFill>
                        <a:latin typeface="Cambria Math" panose="02040503050406030204" pitchFamily="18" charset="0"/>
                        <a:ea typeface="楷体" panose="02010609060101010101" pitchFamily="49" charset="-122"/>
                      </a:rPr>
                      <m:t> = </m:t>
                    </m:r>
                    <m:r>
                      <a:rPr lang="zh-CN" altLang="zh-CN" sz="2400" i="1" dirty="0">
                        <a:solidFill>
                          <a:srgbClr val="FF0000"/>
                        </a:solidFill>
                        <a:latin typeface="Cambria Math" panose="02040503050406030204" pitchFamily="18" charset="0"/>
                        <a:ea typeface="楷体" panose="02010609060101010101" pitchFamily="49" charset="-122"/>
                      </a:rPr>
                      <m:t>1</m:t>
                    </m:r>
                  </m:oMath>
                </a14:m>
                <a:endParaRPr lang="zh-CN" altLang="zh-CN" sz="2600" dirty="0">
                  <a:solidFill>
                    <a:srgbClr val="FF0000"/>
                  </a:solidFill>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𝑥</m:t>
                    </m:r>
                    <m:r>
                      <a:rPr lang="zh-CN" altLang="zh-CN" sz="2600" i="1" baseline="-25000" dirty="0">
                        <a:latin typeface="Cambria Math" panose="02040503050406030204" pitchFamily="18" charset="0"/>
                        <a:ea typeface="楷体" panose="02010609060101010101" pitchFamily="49" charset="-122"/>
                      </a:rPr>
                      <m:t>𝑖𝑗</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0</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且为整数，</m:t>
                    </m:r>
                    <m:r>
                      <a:rPr lang="zh-CN" altLang="zh-CN" sz="2600" i="1" dirty="0">
                        <a:latin typeface="Cambria Math" panose="02040503050406030204" pitchFamily="18" charset="0"/>
                        <a:ea typeface="楷体" panose="02010609060101010101" pitchFamily="49" charset="-122"/>
                      </a:rPr>
                      <m:t>𝑖</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1</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2</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3</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4</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5</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𝑗</m:t>
                    </m:r>
                    <m:r>
                      <a:rPr lang="zh-CN" altLang="zh-CN" sz="2600" i="1" dirty="0">
                        <a:latin typeface="Cambria Math" panose="02040503050406030204" pitchFamily="18" charset="0"/>
                        <a:ea typeface="楷体" panose="02010609060101010101" pitchFamily="49" charset="-122"/>
                      </a:rPr>
                      <m:t> = </m:t>
                    </m:r>
                    <m:r>
                      <a:rPr lang="zh-CN" altLang="zh-CN" sz="2600" i="1" dirty="0">
                        <a:latin typeface="Cambria Math" panose="02040503050406030204" pitchFamily="18" charset="0"/>
                        <a:ea typeface="楷体" panose="02010609060101010101" pitchFamily="49" charset="-122"/>
                      </a:rPr>
                      <m:t>1</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2</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3</m:t>
                    </m:r>
                    <m:r>
                      <a:rPr lang="zh-CN" altLang="zh-CN" sz="2600" i="1" dirty="0">
                        <a:latin typeface="Cambria Math" panose="02040503050406030204" pitchFamily="18" charset="0"/>
                        <a:ea typeface="楷体" panose="02010609060101010101" pitchFamily="49" charset="-122"/>
                      </a:rPr>
                      <m:t>，</m:t>
                    </m:r>
                  </m:oMath>
                </a14:m>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en-US" altLang="zh-CN" sz="2600" dirty="0">
                    <a:ea typeface="楷体" panose="02010609060101010101" pitchFamily="49" charset="-122"/>
                  </a:rPr>
                  <a:t>         </a:t>
                </a:r>
                <a14:m>
                  <m:oMath xmlns:m="http://schemas.openxmlformats.org/officeDocument/2006/math">
                    <m:r>
                      <a:rPr lang="zh-CN" altLang="zh-CN" sz="2600" i="1" dirty="0" smtClean="0">
                        <a:latin typeface="Cambria Math" panose="02040503050406030204" pitchFamily="18" charset="0"/>
                        <a:ea typeface="楷体" panose="02010609060101010101" pitchFamily="49" charset="-122"/>
                      </a:rPr>
                      <m:t>𝑦</m:t>
                    </m:r>
                    <m:r>
                      <a:rPr lang="zh-CN" altLang="zh-CN" sz="2600" i="1" baseline="-25000" dirty="0">
                        <a:latin typeface="Cambria Math" panose="02040503050406030204" pitchFamily="18" charset="0"/>
                        <a:ea typeface="楷体" panose="02010609060101010101" pitchFamily="49" charset="-122"/>
                      </a:rPr>
                      <m:t>𝑘</m:t>
                    </m:r>
                    <m:r>
                      <a:rPr lang="zh-CN" altLang="zh-CN" sz="2600" i="1" baseline="-25000"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为</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0</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1</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变量，</m:t>
                    </m:r>
                    <m:r>
                      <a:rPr lang="zh-CN" altLang="zh-CN" sz="2600" i="1" dirty="0">
                        <a:latin typeface="Cambria Math" panose="02040503050406030204" pitchFamily="18" charset="0"/>
                        <a:ea typeface="楷体" panose="02010609060101010101" pitchFamily="49" charset="-122"/>
                      </a:rPr>
                      <m:t>𝑘</m:t>
                    </m:r>
                    <m:r>
                      <a:rPr lang="zh-CN" altLang="zh-CN" sz="2600" i="1" dirty="0">
                        <a:latin typeface="Cambria Math" panose="02040503050406030204" pitchFamily="18" charset="0"/>
                        <a:ea typeface="楷体" panose="02010609060101010101" pitchFamily="49" charset="-122"/>
                      </a:rPr>
                      <m:t> =</m:t>
                    </m:r>
                    <m:r>
                      <a:rPr lang="zh-CN" altLang="zh-CN" sz="2600" i="1" dirty="0">
                        <a:latin typeface="Cambria Math" panose="02040503050406030204" pitchFamily="18" charset="0"/>
                        <a:ea typeface="楷体" panose="02010609060101010101" pitchFamily="49" charset="-122"/>
                      </a:rPr>
                      <m:t>2</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3</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4</m:t>
                    </m:r>
                    <m:r>
                      <a:rPr lang="zh-CN" altLang="zh-CN" sz="2600" i="1" dirty="0">
                        <a:latin typeface="Cambria Math" panose="02040503050406030204" pitchFamily="18" charset="0"/>
                        <a:ea typeface="楷体" panose="02010609060101010101" pitchFamily="49" charset="-122"/>
                      </a:rPr>
                      <m:t>,</m:t>
                    </m:r>
                    <m:r>
                      <a:rPr lang="zh-CN" altLang="zh-CN" sz="2600" i="1" dirty="0">
                        <a:latin typeface="Cambria Math" panose="02040503050406030204" pitchFamily="18" charset="0"/>
                        <a:ea typeface="楷体" panose="02010609060101010101" pitchFamily="49" charset="-122"/>
                      </a:rPr>
                      <m:t>5</m:t>
                    </m:r>
                    <m:r>
                      <a:rPr lang="zh-CN" altLang="zh-CN" sz="2600" i="1" dirty="0">
                        <a:latin typeface="Cambria Math" panose="02040503050406030204" pitchFamily="18" charset="0"/>
                        <a:ea typeface="楷体" panose="02010609060101010101" pitchFamily="49" charset="-122"/>
                      </a:rPr>
                      <m:t>。</m:t>
                    </m:r>
                  </m:oMath>
                </a14:m>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endParaRPr lang="zh-CN" altLang="zh-CN" sz="2800" dirty="0">
                  <a:latin typeface="楷体" panose="02010609060101010101" pitchFamily="49" charset="-122"/>
                  <a:ea typeface="楷体" panose="02010609060101010101" pitchFamily="49" charset="-122"/>
                </a:endParaRPr>
              </a:p>
            </p:txBody>
          </p:sp>
        </mc:Choice>
        <mc:Fallback>
          <p:sp>
            <p:nvSpPr>
              <p:cNvPr id="48136" name="Rectangle 8"/>
              <p:cNvSpPr>
                <a:spLocks noRot="1" noChangeAspect="1" noMove="1" noResize="1" noEditPoints="1" noAdjustHandles="1" noChangeArrowheads="1" noChangeShapeType="1" noTextEdit="1"/>
              </p:cNvSpPr>
              <p:nvPr/>
            </p:nvSpPr>
            <p:spPr bwMode="auto">
              <a:xfrm>
                <a:off x="1649412" y="1999456"/>
                <a:ext cx="8893175" cy="4586287"/>
              </a:xfrm>
              <a:prstGeom prst="rect">
                <a:avLst/>
              </a:prstGeom>
              <a:blipFill rotWithShape="1">
                <a:blip r:embed="rId2"/>
                <a:stretch>
                  <a:fillRect l="-4" t="-10" r="4" b="-487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2" name="标题 1"/>
          <p:cNvSpPr>
            <a:spLocks noGrp="1"/>
          </p:cNvSpPr>
          <p:nvPr/>
        </p:nvSpPr>
        <p:spPr>
          <a:xfrm>
            <a:off x="838200" y="365125"/>
            <a:ext cx="1051560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zh-CN" dirty="0">
                <a:ea typeface="楷体" panose="02010609060101010101" pitchFamily="49" charset="-122"/>
                <a:cs typeface="Times New Roman" panose="02020603050405020304" pitchFamily="18" charset="0"/>
                <a:sym typeface="+mn-ea"/>
              </a:rPr>
              <a:t>分布系统设计</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3"/>
                                        </p:tgtEl>
                                        <p:attrNameLst>
                                          <p:attrName>style.visibility</p:attrName>
                                        </p:attrNameLst>
                                      </p:cBhvr>
                                      <p:to>
                                        <p:strVal val="visible"/>
                                      </p:to>
                                    </p:set>
                                    <p:anim calcmode="lin" valueType="num">
                                      <p:cBhvr additive="base">
                                        <p:cTn id="7" dur="500" fill="hold"/>
                                        <p:tgtEl>
                                          <p:spTgt spid="48133"/>
                                        </p:tgtEl>
                                        <p:attrNameLst>
                                          <p:attrName>ppt_x</p:attrName>
                                        </p:attrNameLst>
                                      </p:cBhvr>
                                      <p:tavLst>
                                        <p:tav tm="0">
                                          <p:val>
                                            <p:strVal val="ppt_x"/>
                                          </p:val>
                                        </p:tav>
                                        <p:tav tm="100000">
                                          <p:val>
                                            <p:strVal val="ppt_x"/>
                                          </p:val>
                                        </p:tav>
                                      </p:tavLst>
                                    </p:anim>
                                    <p:anim calcmode="lin" valueType="num">
                                      <p:cBhvr additive="base">
                                        <p:cTn id="8" dur="500" fill="hold"/>
                                        <p:tgtEl>
                                          <p:spTgt spid="481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fill="hold"/>
                                        <p:tgtEl>
                                          <p:spTgt spid="48133"/>
                                        </p:tgtEl>
                                        <p:attrNameLst>
                                          <p:attrName>ppt_x</p:attrName>
                                        </p:attrNameLst>
                                      </p:cBhvr>
                                      <p:tavLst>
                                        <p:tav tm="0">
                                          <p:val>
                                            <p:strVal val="ppt_x"/>
                                          </p:val>
                                        </p:tav>
                                        <p:tav tm="100000">
                                          <p:val>
                                            <p:strVal val="ppt_x"/>
                                          </p:val>
                                        </p:tav>
                                      </p:tavLst>
                                    </p:anim>
                                    <p:anim calcmode="lin" valueType="num">
                                      <p:cBhvr additive="base">
                                        <p:cTn id="13" dur="500" fill="hold"/>
                                        <p:tgtEl>
                                          <p:spTgt spid="48133"/>
                                        </p:tgtEl>
                                        <p:attrNameLst>
                                          <p:attrName>ppt_y</p:attrName>
                                        </p:attrNameLst>
                                      </p:cBhvr>
                                      <p:tavLst>
                                        <p:tav tm="0">
                                          <p:val>
                                            <p:strVal val="ppt_x"/>
                                          </p:val>
                                        </p:tav>
                                        <p:tav tm="100000">
                                          <p:val>
                                            <p:strVal val="1+ppt_h/2"/>
                                          </p:val>
                                        </p:tav>
                                      </p:tavLst>
                                    </p:anim>
                                    <p:set>
                                      <p:cBhvr>
                                        <p:cTn id="14" dur="1" fill="hold">
                                          <p:stCondLst>
                                            <p:cond delay="499"/>
                                          </p:stCondLst>
                                        </p:cTn>
                                        <p:tgtEl>
                                          <p:spTgt spid="4813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8136"/>
                                        </p:tgtEl>
                                        <p:attrNameLst>
                                          <p:attrName>style.visibility</p:attrName>
                                        </p:attrNameLst>
                                      </p:cBhvr>
                                      <p:to>
                                        <p:strVal val="visible"/>
                                      </p:to>
                                    </p:set>
                                    <p:anim calcmode="lin" valueType="num">
                                      <p:cBhvr additive="base">
                                        <p:cTn id="19" dur="500" fill="hold"/>
                                        <p:tgtEl>
                                          <p:spTgt spid="48136"/>
                                        </p:tgtEl>
                                        <p:attrNameLst>
                                          <p:attrName>ppt_x</p:attrName>
                                        </p:attrNameLst>
                                      </p:cBhvr>
                                      <p:tavLst>
                                        <p:tav tm="0">
                                          <p:val>
                                            <p:strVal val="ppt_x"/>
                                          </p:val>
                                        </p:tav>
                                        <p:tav tm="100000">
                                          <p:val>
                                            <p:strVal val="ppt_x"/>
                                          </p:val>
                                        </p:tav>
                                      </p:tavLst>
                                    </p:anim>
                                    <p:anim calcmode="lin" valueType="num">
                                      <p:cBhvr additive="base">
                                        <p:cTn id="20" dur="500" fill="hold"/>
                                        <p:tgtEl>
                                          <p:spTgt spid="481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bldLvl="0" animBg="1"/>
      <p:bldP spid="48133" grpId="1" bldLvl="0" animBg="1"/>
      <p:bldP spid="48136"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5"/>
          <p:cNvSpPr>
            <a:spLocks noChangeArrowheads="1"/>
          </p:cNvSpPr>
          <p:nvPr/>
        </p:nvSpPr>
        <p:spPr bwMode="auto">
          <a:xfrm>
            <a:off x="1107440" y="1557655"/>
            <a:ext cx="943673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五、投资问题</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87046"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184" name="Rectangle 8"/>
          <p:cNvSpPr>
            <a:spLocks noChangeArrowheads="1"/>
          </p:cNvSpPr>
          <p:nvPr/>
        </p:nvSpPr>
        <p:spPr bwMode="auto">
          <a:xfrm>
            <a:off x="1107440" y="1928495"/>
            <a:ext cx="9417685" cy="4452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例 </a:t>
            </a:r>
            <a:r>
              <a:rPr lang="en-US" altLang="zh-CN" sz="2400" dirty="0">
                <a:ea typeface="楷体" panose="02010609060101010101" pitchFamily="49" charset="-122"/>
                <a:cs typeface="Times New Roman" panose="02020603050405020304" pitchFamily="18" charset="0"/>
              </a:rPr>
              <a:t>6</a:t>
            </a:r>
            <a:r>
              <a:rPr lang="zh-CN" altLang="zh-CN" sz="2400" dirty="0">
                <a:ea typeface="楷体" panose="02010609060101010101" pitchFamily="49" charset="-122"/>
                <a:cs typeface="Times New Roman" panose="02020603050405020304" pitchFamily="18" charset="0"/>
              </a:rPr>
              <a:t>．某公司在今后五年内考虑给以下的项目投资。已知：</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项目 A：从第一年到第四年每年年初需要投资，并于次年末回收本利115%，但要求第一年投资最低金额为 4 万元，第二、三、四年不限；</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项目 B：第三年初需要投资，到第五年末能回收本利 128%，但规定最低投资金额为 3 万元，最高金额为 5 万元；</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项目 C：第二年初需要投资，到第五年末能回收本利 140%，但规定其投资额或为 2 万元或为 4 万元，或为 6 万元或为 8 万元。</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项目 D：五年内每年初可购买公债，于当年末归还，并加利息 6%，此项投资金额不限。</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该部门现有资金 10 万元，问应如何确定给这些项目的每年投资额，使到第五年末拥有的资金本利总额为最大？</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400" dirty="0">
              <a:ea typeface="楷体" panose="02010609060101010101" pitchFamily="49" charset="-122"/>
              <a:cs typeface="Times New Roman" panose="02020603050405020304" pitchFamily="18" charset="0"/>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anim calcmode="lin" valueType="num">
                                      <p:cBhvr additive="base">
                                        <p:cTn id="7" dur="500" fill="hold"/>
                                        <p:tgtEl>
                                          <p:spTgt spid="50181"/>
                                        </p:tgtEl>
                                        <p:attrNameLst>
                                          <p:attrName>ppt_x</p:attrName>
                                        </p:attrNameLst>
                                      </p:cBhvr>
                                      <p:tavLst>
                                        <p:tav tm="0">
                                          <p:val>
                                            <p:strVal val="ppt_x"/>
                                          </p:val>
                                        </p:tav>
                                        <p:tav tm="100000">
                                          <p:val>
                                            <p:strVal val="ppt_x"/>
                                          </p:val>
                                        </p:tav>
                                      </p:tavLst>
                                    </p:anim>
                                    <p:anim calcmode="lin" valueType="num">
                                      <p:cBhvr additive="base">
                                        <p:cTn id="8" dur="500" fill="hold"/>
                                        <p:tgtEl>
                                          <p:spTgt spid="5018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184"/>
                                        </p:tgtEl>
                                        <p:attrNameLst>
                                          <p:attrName>style.visibility</p:attrName>
                                        </p:attrNameLst>
                                      </p:cBhvr>
                                      <p:to>
                                        <p:strVal val="visible"/>
                                      </p:to>
                                    </p:set>
                                    <p:anim calcmode="lin" valueType="num">
                                      <p:cBhvr additive="base">
                                        <p:cTn id="13" dur="500" fill="hold"/>
                                        <p:tgtEl>
                                          <p:spTgt spid="50184"/>
                                        </p:tgtEl>
                                        <p:attrNameLst>
                                          <p:attrName>ppt_x</p:attrName>
                                        </p:attrNameLst>
                                      </p:cBhvr>
                                      <p:tavLst>
                                        <p:tav tm="0">
                                          <p:val>
                                            <p:strVal val="ppt_x"/>
                                          </p:val>
                                        </p:tav>
                                        <p:tav tm="100000">
                                          <p:val>
                                            <p:strVal val="ppt_x"/>
                                          </p:val>
                                        </p:tav>
                                      </p:tavLst>
                                    </p:anim>
                                    <p:anim calcmode="lin" valueType="num">
                                      <p:cBhvr additive="base">
                                        <p:cTn id="14" dur="500" fill="hold"/>
                                        <p:tgtEl>
                                          <p:spTgt spid="501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bldLvl="0" animBg="1"/>
      <p:bldP spid="50184"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205" name="Rectangle 5"/>
              <p:cNvSpPr>
                <a:spLocks noChangeArrowheads="1"/>
              </p:cNvSpPr>
              <p:nvPr/>
            </p:nvSpPr>
            <p:spPr bwMode="auto">
              <a:xfrm>
                <a:off x="1651000" y="1557338"/>
                <a:ext cx="8893175"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solidFill>
                      <a:srgbClr val="000000"/>
                    </a:solidFill>
                    <a:latin typeface="Arial" panose="020B0604020202020204" pitchFamily="34" charset="0"/>
                    <a:ea typeface="楷体" panose="02010609060101010101" pitchFamily="49" charset="-122"/>
                  </a:rPr>
                  <a:t>解：</a:t>
                </a:r>
                <a:r>
                  <a:rPr lang="zh-CN" altLang="zh-CN" sz="2800" dirty="0">
                    <a:solidFill>
                      <a:srgbClr val="000000"/>
                    </a:solidFill>
                    <a:ea typeface="楷体" panose="02010609060101010101" pitchFamily="49" charset="-122"/>
                    <a:cs typeface="Times New Roman" panose="02020603050405020304" pitchFamily="18" charset="0"/>
                  </a:rPr>
                  <a:t>（1）</a:t>
                </a:r>
                <a:r>
                  <a:rPr lang="zh-CN" altLang="zh-CN" sz="2800" dirty="0">
                    <a:solidFill>
                      <a:srgbClr val="000000"/>
                    </a:solidFill>
                    <a:latin typeface="Arial" panose="020B0604020202020204" pitchFamily="34" charset="0"/>
                    <a:ea typeface="楷体" panose="02010609060101010101" pitchFamily="49" charset="-122"/>
                  </a:rPr>
                  <a:t>设 </a:t>
                </a:r>
                <a14:m>
                  <m:oMath xmlns:m="http://schemas.openxmlformats.org/officeDocument/2006/math">
                    <m:r>
                      <a:rPr lang="zh-CN" altLang="zh-CN" sz="2800" i="1" dirty="0" smtClean="0">
                        <a:solidFill>
                          <a:schemeClr val="tx1"/>
                        </a:solidFill>
                        <a:latin typeface="Cambria Math" panose="02040503050406030204" pitchFamily="18" charset="0"/>
                        <a:ea typeface="楷体" panose="02010609060101010101" pitchFamily="49" charset="-122"/>
                      </a:rPr>
                      <m:t>𝑥</m:t>
                    </m:r>
                    <m:r>
                      <a:rPr lang="zh-CN" altLang="zh-CN" sz="2800" i="1" baseline="-25000" dirty="0">
                        <a:solidFill>
                          <a:schemeClr val="tx1"/>
                        </a:solidFill>
                        <a:latin typeface="Cambria Math" panose="02040503050406030204" pitchFamily="18" charset="0"/>
                        <a:ea typeface="楷体" panose="02010609060101010101" pitchFamily="49" charset="-122"/>
                      </a:rPr>
                      <m:t>𝑖𝐴</m:t>
                    </m:r>
                    <m:r>
                      <a:rPr lang="zh-CN" altLang="zh-CN" sz="2800" i="1" dirty="0">
                        <a:solidFill>
                          <a:schemeClr val="tx1"/>
                        </a:solidFill>
                        <a:latin typeface="Cambria Math" panose="02040503050406030204" pitchFamily="18" charset="0"/>
                        <a:ea typeface="楷体" panose="02010609060101010101" pitchFamily="49" charset="-122"/>
                      </a:rPr>
                      <m:t>、</m:t>
                    </m:r>
                    <m:sSub>
                      <m:sSubPr>
                        <m:ctrlPr>
                          <a:rPr lang="en-US" altLang="zh-CN" sz="2800" b="0" i="1" dirty="0" smtClean="0">
                            <a:solidFill>
                              <a:schemeClr val="tx1"/>
                            </a:solidFill>
                            <a:latin typeface="Cambria Math" panose="02040503050406030204" pitchFamily="18" charset="0"/>
                            <a:ea typeface="楷体" panose="02010609060101010101" pitchFamily="49" charset="-122"/>
                          </a:rPr>
                        </m:ctrlPr>
                      </m:sSubPr>
                      <m:e>
                        <m:r>
                          <a:rPr lang="zh-CN" altLang="zh-CN" sz="2800" i="1" dirty="0">
                            <a:solidFill>
                              <a:schemeClr val="tx1"/>
                            </a:solidFill>
                            <a:latin typeface="Cambria Math" panose="02040503050406030204" pitchFamily="18" charset="0"/>
                            <a:ea typeface="楷体" panose="02010609060101010101" pitchFamily="49" charset="-122"/>
                          </a:rPr>
                          <m:t>𝑥</m:t>
                        </m:r>
                      </m:e>
                      <m:sub>
                        <m:r>
                          <a:rPr lang="en-US" altLang="zh-CN" sz="2800" b="0" i="1" dirty="0" smtClean="0">
                            <a:solidFill>
                              <a:schemeClr val="tx1"/>
                            </a:solidFill>
                            <a:latin typeface="Cambria Math" panose="02040503050406030204" pitchFamily="18" charset="0"/>
                            <a:ea typeface="楷体" panose="02010609060101010101" pitchFamily="49" charset="-122"/>
                          </a:rPr>
                          <m:t>𝑖𝐵</m:t>
                        </m:r>
                      </m:sub>
                    </m:sSub>
                    <m:r>
                      <a:rPr lang="zh-CN" altLang="zh-CN" sz="2800" i="1" dirty="0">
                        <a:solidFill>
                          <a:schemeClr val="tx1"/>
                        </a:solidFill>
                        <a:latin typeface="Cambria Math" panose="02040503050406030204" pitchFamily="18" charset="0"/>
                        <a:ea typeface="楷体" panose="02010609060101010101" pitchFamily="49" charset="-122"/>
                      </a:rPr>
                      <m:t>、</m:t>
                    </m:r>
                    <m:sSub>
                      <m:sSubPr>
                        <m:ctrlPr>
                          <a:rPr lang="en-US" altLang="zh-CN" sz="2800" b="0" i="1" dirty="0" smtClean="0">
                            <a:solidFill>
                              <a:schemeClr val="tx1"/>
                            </a:solidFill>
                            <a:latin typeface="Cambria Math" panose="02040503050406030204" pitchFamily="18" charset="0"/>
                            <a:ea typeface="楷体" panose="02010609060101010101" pitchFamily="49" charset="-122"/>
                          </a:rPr>
                        </m:ctrlPr>
                      </m:sSubPr>
                      <m:e>
                        <m:r>
                          <a:rPr lang="zh-CN" altLang="zh-CN" sz="2800" i="1" dirty="0">
                            <a:solidFill>
                              <a:schemeClr val="tx1"/>
                            </a:solidFill>
                            <a:latin typeface="Cambria Math" panose="02040503050406030204" pitchFamily="18" charset="0"/>
                            <a:ea typeface="楷体" panose="02010609060101010101" pitchFamily="49" charset="-122"/>
                          </a:rPr>
                          <m:t>𝑥</m:t>
                        </m:r>
                      </m:e>
                      <m:sub>
                        <m:r>
                          <a:rPr lang="en-US" altLang="zh-CN" sz="2800" b="0" i="1" dirty="0" smtClean="0">
                            <a:solidFill>
                              <a:schemeClr val="tx1"/>
                            </a:solidFill>
                            <a:latin typeface="Cambria Math" panose="02040503050406030204" pitchFamily="18" charset="0"/>
                            <a:ea typeface="楷体" panose="02010609060101010101" pitchFamily="49" charset="-122"/>
                          </a:rPr>
                          <m:t>𝑖𝐶</m:t>
                        </m:r>
                      </m:sub>
                    </m:sSub>
                    <m:r>
                      <a:rPr lang="zh-CN" altLang="zh-CN" sz="2800" i="1" dirty="0">
                        <a:solidFill>
                          <a:schemeClr val="tx1"/>
                        </a:solidFill>
                        <a:latin typeface="Cambria Math" panose="02040503050406030204" pitchFamily="18" charset="0"/>
                        <a:ea typeface="楷体" panose="02010609060101010101" pitchFamily="49" charset="-122"/>
                      </a:rPr>
                      <m:t>、</m:t>
                    </m:r>
                    <m:sSub>
                      <m:sSubPr>
                        <m:ctrlPr>
                          <a:rPr lang="en-US" altLang="zh-CN" sz="2800" b="0" i="1" dirty="0" smtClean="0">
                            <a:solidFill>
                              <a:schemeClr val="tx1"/>
                            </a:solidFill>
                            <a:latin typeface="Cambria Math" panose="02040503050406030204" pitchFamily="18" charset="0"/>
                            <a:ea typeface="楷体" panose="02010609060101010101" pitchFamily="49" charset="-122"/>
                          </a:rPr>
                        </m:ctrlPr>
                      </m:sSubPr>
                      <m:e>
                        <m:r>
                          <a:rPr lang="zh-CN" altLang="zh-CN" sz="2800" i="1" dirty="0">
                            <a:solidFill>
                              <a:schemeClr val="tx1"/>
                            </a:solidFill>
                            <a:latin typeface="Cambria Math" panose="02040503050406030204" pitchFamily="18" charset="0"/>
                            <a:ea typeface="楷体" panose="02010609060101010101" pitchFamily="49" charset="-122"/>
                          </a:rPr>
                          <m:t>𝑥</m:t>
                        </m:r>
                      </m:e>
                      <m:sub>
                        <m:r>
                          <a:rPr lang="en-US" altLang="zh-CN" sz="2800" b="0" i="1" dirty="0" smtClean="0">
                            <a:solidFill>
                              <a:schemeClr val="tx1"/>
                            </a:solidFill>
                            <a:latin typeface="Cambria Math" panose="02040503050406030204" pitchFamily="18" charset="0"/>
                            <a:ea typeface="楷体" panose="02010609060101010101" pitchFamily="49" charset="-122"/>
                          </a:rPr>
                          <m:t>𝑖𝐷</m:t>
                        </m:r>
                      </m:sub>
                    </m:sSub>
                    <m:r>
                      <a:rPr lang="zh-CN" altLang="zh-CN" sz="2800" i="1" dirty="0">
                        <a:solidFill>
                          <a:schemeClr val="tx1"/>
                        </a:solidFill>
                        <a:latin typeface="Cambria Math" panose="02040503050406030204" pitchFamily="18" charset="0"/>
                        <a:ea typeface="楷体" panose="02010609060101010101" pitchFamily="49" charset="-122"/>
                      </a:rPr>
                      <m:t>（</m:t>
                    </m:r>
                    <m:r>
                      <a:rPr lang="zh-CN" altLang="zh-CN" sz="2800" i="1" dirty="0">
                        <a:solidFill>
                          <a:schemeClr val="tx1"/>
                        </a:solidFill>
                        <a:latin typeface="Cambria Math" panose="02040503050406030204" pitchFamily="18" charset="0"/>
                        <a:ea typeface="楷体" panose="02010609060101010101" pitchFamily="49" charset="-122"/>
                      </a:rPr>
                      <m:t>𝑖</m:t>
                    </m:r>
                    <m:r>
                      <a:rPr lang="zh-CN" altLang="zh-CN" sz="2800" i="1" dirty="0">
                        <a:solidFill>
                          <a:schemeClr val="tx1"/>
                        </a:solidFill>
                        <a:latin typeface="Cambria Math" panose="02040503050406030204" pitchFamily="18" charset="0"/>
                        <a:ea typeface="楷体" panose="02010609060101010101" pitchFamily="49" charset="-122"/>
                      </a:rPr>
                      <m:t>＝</m:t>
                    </m:r>
                    <m:r>
                      <a:rPr lang="zh-CN" altLang="zh-CN" sz="2800" i="1" dirty="0">
                        <a:solidFill>
                          <a:schemeClr val="tx1"/>
                        </a:solidFill>
                        <a:latin typeface="Cambria Math" panose="02040503050406030204" pitchFamily="18" charset="0"/>
                        <a:ea typeface="楷体" panose="02010609060101010101" pitchFamily="49" charset="-122"/>
                      </a:rPr>
                      <m:t>1</m:t>
                    </m:r>
                    <m:r>
                      <a:rPr lang="zh-CN" altLang="zh-CN" sz="2800" i="1" dirty="0">
                        <a:solidFill>
                          <a:schemeClr val="tx1"/>
                        </a:solidFill>
                        <a:latin typeface="Cambria Math" panose="02040503050406030204" pitchFamily="18" charset="0"/>
                        <a:ea typeface="楷体" panose="02010609060101010101" pitchFamily="49" charset="-122"/>
                      </a:rPr>
                      <m:t>，</m:t>
                    </m:r>
                    <m:r>
                      <a:rPr lang="zh-CN" altLang="zh-CN" sz="2800" i="1" dirty="0">
                        <a:solidFill>
                          <a:schemeClr val="tx1"/>
                        </a:solidFill>
                        <a:latin typeface="Cambria Math" panose="02040503050406030204" pitchFamily="18" charset="0"/>
                        <a:ea typeface="楷体" panose="02010609060101010101" pitchFamily="49" charset="-122"/>
                      </a:rPr>
                      <m:t>2</m:t>
                    </m:r>
                    <m:r>
                      <a:rPr lang="zh-CN" altLang="zh-CN" sz="2800" i="1" dirty="0">
                        <a:solidFill>
                          <a:schemeClr val="tx1"/>
                        </a:solidFill>
                        <a:latin typeface="Cambria Math" panose="02040503050406030204" pitchFamily="18" charset="0"/>
                        <a:ea typeface="楷体" panose="02010609060101010101" pitchFamily="49" charset="-122"/>
                      </a:rPr>
                      <m:t>，</m:t>
                    </m:r>
                    <m:r>
                      <a:rPr lang="zh-CN" altLang="zh-CN" sz="2800" i="1" dirty="0">
                        <a:solidFill>
                          <a:schemeClr val="tx1"/>
                        </a:solidFill>
                        <a:latin typeface="Cambria Math" panose="02040503050406030204" pitchFamily="18" charset="0"/>
                        <a:ea typeface="楷体" panose="02010609060101010101" pitchFamily="49" charset="-122"/>
                      </a:rPr>
                      <m:t>3</m:t>
                    </m:r>
                    <m:r>
                      <a:rPr lang="zh-CN" altLang="zh-CN" sz="2800" i="1" dirty="0">
                        <a:solidFill>
                          <a:schemeClr val="tx1"/>
                        </a:solidFill>
                        <a:latin typeface="Cambria Math" panose="02040503050406030204" pitchFamily="18" charset="0"/>
                        <a:ea typeface="楷体" panose="02010609060101010101" pitchFamily="49" charset="-122"/>
                      </a:rPr>
                      <m:t>，</m:t>
                    </m:r>
                    <m:r>
                      <a:rPr lang="zh-CN" altLang="zh-CN" sz="2800" i="1" dirty="0">
                        <a:solidFill>
                          <a:schemeClr val="tx1"/>
                        </a:solidFill>
                        <a:latin typeface="Cambria Math" panose="02040503050406030204" pitchFamily="18" charset="0"/>
                        <a:ea typeface="楷体" panose="02010609060101010101" pitchFamily="49" charset="-122"/>
                      </a:rPr>
                      <m:t>4</m:t>
                    </m:r>
                    <m:r>
                      <a:rPr lang="zh-CN" altLang="zh-CN" sz="2800" i="1" dirty="0">
                        <a:solidFill>
                          <a:schemeClr val="tx1"/>
                        </a:solidFill>
                        <a:latin typeface="Cambria Math" panose="02040503050406030204" pitchFamily="18" charset="0"/>
                        <a:ea typeface="楷体" panose="02010609060101010101" pitchFamily="49" charset="-122"/>
                      </a:rPr>
                      <m:t>，</m:t>
                    </m:r>
                    <m:r>
                      <a:rPr lang="zh-CN" altLang="zh-CN" sz="2800" i="1" dirty="0">
                        <a:solidFill>
                          <a:schemeClr val="tx1"/>
                        </a:solidFill>
                        <a:latin typeface="Cambria Math" panose="02040503050406030204" pitchFamily="18" charset="0"/>
                        <a:ea typeface="楷体" panose="02010609060101010101" pitchFamily="49" charset="-122"/>
                      </a:rPr>
                      <m:t>5</m:t>
                    </m:r>
                    <m:r>
                      <a:rPr lang="zh-CN" altLang="zh-CN" sz="2800" i="1" dirty="0">
                        <a:solidFill>
                          <a:schemeClr val="tx1"/>
                        </a:solidFill>
                        <a:latin typeface="Cambria Math" panose="02040503050406030204" pitchFamily="18" charset="0"/>
                        <a:ea typeface="楷体" panose="02010609060101010101" pitchFamily="49" charset="-122"/>
                      </a:rPr>
                      <m:t>）</m:t>
                    </m:r>
                  </m:oMath>
                </a14:m>
                <a:r>
                  <a:rPr lang="zh-CN" altLang="zh-CN" sz="2800" dirty="0">
                    <a:solidFill>
                      <a:srgbClr val="000000"/>
                    </a:solidFill>
                    <a:latin typeface="Arial" panose="020B0604020202020204" pitchFamily="34" charset="0"/>
                    <a:ea typeface="楷体" panose="02010609060101010101" pitchFamily="49" charset="-122"/>
                  </a:rPr>
                  <a:t>分别表示第 </a:t>
                </a:r>
                <a14:m>
                  <m:oMath xmlns:m="http://schemas.openxmlformats.org/officeDocument/2006/math">
                    <m:r>
                      <a:rPr lang="zh-CN" altLang="zh-CN" sz="2800" i="1" dirty="0" smtClean="0">
                        <a:solidFill>
                          <a:srgbClr val="000000"/>
                        </a:solidFill>
                        <a:latin typeface="Cambria Math" panose="02040503050406030204" pitchFamily="18" charset="0"/>
                        <a:ea typeface="楷体" panose="02010609060101010101" pitchFamily="49" charset="-122"/>
                      </a:rPr>
                      <m:t>𝑖</m:t>
                    </m:r>
                  </m:oMath>
                </a14:m>
                <a:r>
                  <a:rPr lang="zh-CN" altLang="zh-CN" sz="2800" i="1" dirty="0">
                    <a:solidFill>
                      <a:srgbClr val="000000"/>
                    </a:solidFill>
                    <a:latin typeface="Arial" panose="020B0604020202020204" pitchFamily="34" charset="0"/>
                    <a:ea typeface="楷体" panose="02010609060101010101" pitchFamily="49" charset="-122"/>
                  </a:rPr>
                  <a:t> </a:t>
                </a:r>
                <a:r>
                  <a:rPr lang="zh-CN" altLang="zh-CN" sz="2800" dirty="0">
                    <a:solidFill>
                      <a:srgbClr val="000000"/>
                    </a:solidFill>
                    <a:latin typeface="Arial" panose="020B0604020202020204" pitchFamily="34" charset="0"/>
                    <a:ea typeface="楷体" panose="02010609060101010101" pitchFamily="49" charset="-122"/>
                  </a:rPr>
                  <a:t>年年初给项目 </a:t>
                </a:r>
                <a:r>
                  <a:rPr lang="zh-CN" altLang="zh-CN" sz="2800" dirty="0">
                    <a:solidFill>
                      <a:srgbClr val="000000"/>
                    </a:solidFill>
                    <a:ea typeface="楷体" panose="02010609060101010101" pitchFamily="49" charset="-122"/>
                    <a:cs typeface="Times New Roman" panose="02020603050405020304" pitchFamily="18" charset="0"/>
                  </a:rPr>
                  <a:t>A，B，C，D</a:t>
                </a:r>
                <a:r>
                  <a:rPr lang="zh-CN" altLang="zh-CN" sz="2800" dirty="0">
                    <a:solidFill>
                      <a:srgbClr val="000000"/>
                    </a:solidFill>
                    <a:latin typeface="Arial" panose="020B0604020202020204" pitchFamily="34" charset="0"/>
                    <a:ea typeface="楷体" panose="02010609060101010101" pitchFamily="49" charset="-122"/>
                  </a:rPr>
                  <a:t> 的投资额；</a:t>
                </a:r>
                <a:endParaRPr lang="zh-CN" altLang="zh-CN" sz="2800" dirty="0">
                  <a:solidFill>
                    <a:srgbClr val="000000"/>
                  </a:solidFill>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solidFill>
                      <a:srgbClr val="000000"/>
                    </a:solidFill>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51205" name="Rectangle 5"/>
              <p:cNvSpPr>
                <a:spLocks noRot="1" noChangeAspect="1" noMove="1" noResize="1" noEditPoints="1" noAdjustHandles="1" noChangeArrowheads="1" noChangeShapeType="1" noTextEdit="1"/>
              </p:cNvSpPr>
              <p:nvPr/>
            </p:nvSpPr>
            <p:spPr bwMode="auto">
              <a:xfrm>
                <a:off x="1651000" y="1557338"/>
                <a:ext cx="8893175" cy="942975"/>
              </a:xfrm>
              <a:prstGeom prst="rect">
                <a:avLst/>
              </a:prstGeom>
              <a:blipFill rotWithShape="1">
                <a:blip r:embed="rId1"/>
                <a:stretch>
                  <a:fillRect t="-34" b="-171885"/>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89094"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51208" name="Rectangle 8"/>
              <p:cNvSpPr>
                <a:spLocks noChangeArrowheads="1"/>
              </p:cNvSpPr>
              <p:nvPr/>
            </p:nvSpPr>
            <p:spPr bwMode="auto">
              <a:xfrm>
                <a:off x="1649412" y="2572991"/>
                <a:ext cx="8893175"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solidFill>
                      <a:srgbClr val="000000"/>
                    </a:solidFill>
                    <a:ea typeface="楷体" panose="02010609060101010101" pitchFamily="49" charset="-122"/>
                    <a:cs typeface="Times New Roman" panose="02020603050405020304" pitchFamily="18" charset="0"/>
                  </a:rPr>
                  <a:t>	    设 </a:t>
                </a:r>
                <a14:m>
                  <m:oMath xmlns:m="http://schemas.openxmlformats.org/officeDocument/2006/math">
                    <m:r>
                      <a:rPr lang="zh-CN" altLang="zh-CN" sz="2800" i="1" dirty="0" smtClean="0">
                        <a:solidFill>
                          <a:srgbClr val="000000"/>
                        </a:solidFill>
                        <a:latin typeface="Cambria Math" panose="02040503050406030204" pitchFamily="18" charset="0"/>
                        <a:ea typeface="楷体" panose="02010609060101010101" pitchFamily="49" charset="-122"/>
                      </a:rPr>
                      <m:t>𝑦</m:t>
                    </m:r>
                    <m:r>
                      <a:rPr lang="zh-CN" altLang="zh-CN" sz="2800" i="1" baseline="-25000" dirty="0">
                        <a:solidFill>
                          <a:srgbClr val="000000"/>
                        </a:solidFill>
                        <a:latin typeface="Cambria Math" panose="02040503050406030204" pitchFamily="18" charset="0"/>
                        <a:ea typeface="楷体" panose="02010609060101010101" pitchFamily="49" charset="-122"/>
                      </a:rPr>
                      <m:t>𝑖𝐴</m:t>
                    </m:r>
                  </m:oMath>
                </a14:m>
                <a:r>
                  <a:rPr lang="en-US" altLang="zh-CN" sz="2800" dirty="0">
                    <a:solidFill>
                      <a:srgbClr val="000000"/>
                    </a:solidFill>
                    <a:ea typeface="楷体" panose="02010609060101010101" pitchFamily="49" charset="-122"/>
                    <a:cs typeface="Times New Roman" panose="02020603050405020304" pitchFamily="18" charset="0"/>
                  </a:rPr>
                  <a:t>,</a:t>
                </a:r>
                <a14:m>
                  <m:oMath xmlns:m="http://schemas.openxmlformats.org/officeDocument/2006/math">
                    <m:r>
                      <a:rPr lang="en-US" altLang="zh-CN" sz="2800" b="0" i="0" dirty="0" smtClean="0">
                        <a:solidFill>
                          <a:srgbClr val="000000"/>
                        </a:solidFill>
                        <a:latin typeface="Cambria Math" panose="02040503050406030204" pitchFamily="18" charset="0"/>
                        <a:ea typeface="楷体" panose="02010609060101010101" pitchFamily="49" charset="-122"/>
                      </a:rPr>
                      <m:t>  </m:t>
                    </m:r>
                    <m:r>
                      <a:rPr lang="zh-CN" altLang="zh-CN" sz="2800" i="1" dirty="0">
                        <a:solidFill>
                          <a:srgbClr val="000000"/>
                        </a:solidFill>
                        <a:latin typeface="Cambria Math" panose="02040503050406030204" pitchFamily="18" charset="0"/>
                        <a:ea typeface="楷体" panose="02010609060101010101" pitchFamily="49" charset="-122"/>
                      </a:rPr>
                      <m:t>𝑦</m:t>
                    </m:r>
                    <m:r>
                      <a:rPr lang="zh-CN" altLang="zh-CN" sz="2800" i="1" baseline="-25000" dirty="0">
                        <a:solidFill>
                          <a:srgbClr val="000000"/>
                        </a:solidFill>
                        <a:latin typeface="Cambria Math" panose="02040503050406030204" pitchFamily="18" charset="0"/>
                        <a:ea typeface="楷体" panose="02010609060101010101" pitchFamily="49" charset="-122"/>
                      </a:rPr>
                      <m:t>𝑖</m:t>
                    </m:r>
                    <m:r>
                      <a:rPr lang="en-US" altLang="zh-CN" sz="2800" b="0" i="1" baseline="-25000" dirty="0" smtClean="0">
                        <a:solidFill>
                          <a:srgbClr val="000000"/>
                        </a:solidFill>
                        <a:latin typeface="Cambria Math" panose="02040503050406030204" pitchFamily="18" charset="0"/>
                        <a:ea typeface="楷体" panose="02010609060101010101" pitchFamily="49" charset="-122"/>
                      </a:rPr>
                      <m:t>𝐵</m:t>
                    </m:r>
                  </m:oMath>
                </a14:m>
                <a:r>
                  <a:rPr lang="en-US" altLang="zh-CN" sz="2800" dirty="0">
                    <a:solidFill>
                      <a:srgbClr val="000000"/>
                    </a:solidFill>
                    <a:ea typeface="楷体" panose="02010609060101010101" pitchFamily="49" charset="-122"/>
                    <a:cs typeface="Times New Roman" panose="02020603050405020304" pitchFamily="18" charset="0"/>
                  </a:rPr>
                  <a:t>, </a:t>
                </a:r>
                <a:r>
                  <a:rPr lang="zh-CN" altLang="zh-CN" sz="2800" dirty="0">
                    <a:solidFill>
                      <a:srgbClr val="000000"/>
                    </a:solidFill>
                    <a:ea typeface="楷体" panose="02010609060101010101" pitchFamily="49" charset="-122"/>
                    <a:cs typeface="Times New Roman" panose="02020603050405020304" pitchFamily="18" charset="0"/>
                  </a:rPr>
                  <a:t>是 0−1 变量，取 1 时分别表示第</a:t>
                </a:r>
                <a14:m>
                  <m:oMath xmlns:m="http://schemas.openxmlformats.org/officeDocument/2006/math">
                    <m:r>
                      <a:rPr lang="zh-CN" altLang="zh-CN" sz="2800" i="1" dirty="0" smtClean="0">
                        <a:solidFill>
                          <a:srgbClr val="000000"/>
                        </a:solidFill>
                        <a:latin typeface="Cambria Math" panose="02040503050406030204" pitchFamily="18" charset="0"/>
                        <a:ea typeface="楷体" panose="02010609060101010101" pitchFamily="49" charset="-122"/>
                      </a:rPr>
                      <m:t> </m:t>
                    </m:r>
                    <m:r>
                      <a:rPr lang="zh-CN" altLang="zh-CN" sz="2800" i="1" dirty="0" smtClean="0">
                        <a:solidFill>
                          <a:srgbClr val="000000"/>
                        </a:solidFill>
                        <a:latin typeface="Cambria Math" panose="02040503050406030204" pitchFamily="18" charset="0"/>
                        <a:ea typeface="楷体" panose="02010609060101010101" pitchFamily="49" charset="-122"/>
                      </a:rPr>
                      <m:t>𝑖</m:t>
                    </m:r>
                    <m:r>
                      <a:rPr lang="zh-CN" altLang="zh-CN" sz="2800" i="1" dirty="0" smtClean="0">
                        <a:solidFill>
                          <a:srgbClr val="000000"/>
                        </a:solidFill>
                        <a:latin typeface="Cambria Math" panose="02040503050406030204" pitchFamily="18" charset="0"/>
                        <a:ea typeface="楷体" panose="02010609060101010101" pitchFamily="49" charset="-122"/>
                      </a:rPr>
                      <m:t> </m:t>
                    </m:r>
                  </m:oMath>
                </a14:m>
                <a:r>
                  <a:rPr lang="zh-CN" altLang="zh-CN" sz="2800" dirty="0">
                    <a:solidFill>
                      <a:srgbClr val="000000"/>
                    </a:solidFill>
                    <a:ea typeface="楷体" panose="02010609060101010101" pitchFamily="49" charset="-122"/>
                    <a:cs typeface="Times New Roman" panose="02020603050405020304" pitchFamily="18" charset="0"/>
                  </a:rPr>
                  <a:t>年给 A、B 投资，否则取 0</a:t>
                </a:r>
                <a14:m>
                  <m:oMath xmlns:m="http://schemas.openxmlformats.org/officeDocument/2006/math">
                    <m:r>
                      <a:rPr lang="zh-CN" altLang="zh-CN" sz="2800" i="1" dirty="0" smtClean="0">
                        <a:solidFill>
                          <a:srgbClr val="000000"/>
                        </a:solidFill>
                        <a:latin typeface="Cambria Math" panose="02040503050406030204" pitchFamily="18" charset="0"/>
                        <a:ea typeface="楷体" panose="02010609060101010101" pitchFamily="49" charset="-122"/>
                      </a:rPr>
                      <m:t>（</m:t>
                    </m:r>
                    <m:r>
                      <a:rPr lang="zh-CN" altLang="zh-CN" sz="2800" i="1" dirty="0" smtClean="0">
                        <a:solidFill>
                          <a:srgbClr val="000000"/>
                        </a:solidFill>
                        <a:latin typeface="Cambria Math" panose="02040503050406030204" pitchFamily="18" charset="0"/>
                        <a:ea typeface="楷体" panose="02010609060101010101" pitchFamily="49" charset="-122"/>
                      </a:rPr>
                      <m:t>𝑖</m:t>
                    </m:r>
                    <m:r>
                      <a:rPr lang="zh-CN" altLang="zh-CN" sz="2800" i="1" dirty="0" smtClean="0">
                        <a:solidFill>
                          <a:srgbClr val="000000"/>
                        </a:solidFill>
                        <a:latin typeface="Cambria Math" panose="02040503050406030204" pitchFamily="18" charset="0"/>
                        <a:ea typeface="楷体" panose="02010609060101010101" pitchFamily="49" charset="-122"/>
                      </a:rPr>
                      <m:t> = </m:t>
                    </m:r>
                    <m:r>
                      <a:rPr lang="zh-CN" altLang="zh-CN" sz="2800" i="1" dirty="0" smtClean="0">
                        <a:solidFill>
                          <a:srgbClr val="000000"/>
                        </a:solidFill>
                        <a:latin typeface="Cambria Math" panose="02040503050406030204" pitchFamily="18" charset="0"/>
                        <a:ea typeface="楷体" panose="02010609060101010101" pitchFamily="49" charset="-122"/>
                      </a:rPr>
                      <m:t>1</m:t>
                    </m:r>
                    <m:r>
                      <a:rPr lang="zh-CN" altLang="zh-CN" sz="2800" i="1" dirty="0" smtClean="0">
                        <a:solidFill>
                          <a:srgbClr val="000000"/>
                        </a:solidFill>
                        <a:latin typeface="Cambria Math" panose="02040503050406030204" pitchFamily="18" charset="0"/>
                        <a:ea typeface="楷体" panose="02010609060101010101" pitchFamily="49" charset="-122"/>
                      </a:rPr>
                      <m:t>, </m:t>
                    </m:r>
                    <m:r>
                      <a:rPr lang="zh-CN" altLang="zh-CN" sz="2800" i="1" dirty="0" smtClean="0">
                        <a:solidFill>
                          <a:srgbClr val="000000"/>
                        </a:solidFill>
                        <a:latin typeface="Cambria Math" panose="02040503050406030204" pitchFamily="18" charset="0"/>
                        <a:ea typeface="楷体" panose="02010609060101010101" pitchFamily="49" charset="-122"/>
                      </a:rPr>
                      <m:t>2</m:t>
                    </m:r>
                    <m:r>
                      <a:rPr lang="zh-CN" altLang="zh-CN" sz="2800" i="1" dirty="0" smtClean="0">
                        <a:solidFill>
                          <a:srgbClr val="000000"/>
                        </a:solidFill>
                        <a:latin typeface="Cambria Math" panose="02040503050406030204" pitchFamily="18" charset="0"/>
                        <a:ea typeface="楷体" panose="02010609060101010101" pitchFamily="49" charset="-122"/>
                      </a:rPr>
                      <m:t>, </m:t>
                    </m:r>
                    <m:r>
                      <a:rPr lang="zh-CN" altLang="zh-CN" sz="2800" i="1" dirty="0" smtClean="0">
                        <a:solidFill>
                          <a:srgbClr val="000000"/>
                        </a:solidFill>
                        <a:latin typeface="Cambria Math" panose="02040503050406030204" pitchFamily="18" charset="0"/>
                        <a:ea typeface="楷体" panose="02010609060101010101" pitchFamily="49" charset="-122"/>
                      </a:rPr>
                      <m:t>3</m:t>
                    </m:r>
                    <m:r>
                      <a:rPr lang="zh-CN" altLang="zh-CN" sz="2800" i="1" dirty="0" smtClean="0">
                        <a:solidFill>
                          <a:srgbClr val="000000"/>
                        </a:solidFill>
                        <a:latin typeface="Cambria Math" panose="02040503050406030204" pitchFamily="18" charset="0"/>
                        <a:ea typeface="楷体" panose="02010609060101010101" pitchFamily="49" charset="-122"/>
                      </a:rPr>
                      <m:t>, </m:t>
                    </m:r>
                    <m:r>
                      <a:rPr lang="zh-CN" altLang="zh-CN" sz="2800" i="1" dirty="0" smtClean="0">
                        <a:solidFill>
                          <a:srgbClr val="000000"/>
                        </a:solidFill>
                        <a:latin typeface="Cambria Math" panose="02040503050406030204" pitchFamily="18" charset="0"/>
                        <a:ea typeface="楷体" panose="02010609060101010101" pitchFamily="49" charset="-122"/>
                      </a:rPr>
                      <m:t>4</m:t>
                    </m:r>
                    <m:r>
                      <a:rPr lang="zh-CN" altLang="zh-CN" sz="2800" i="1" dirty="0" smtClean="0">
                        <a:solidFill>
                          <a:srgbClr val="000000"/>
                        </a:solidFill>
                        <a:latin typeface="Cambria Math" panose="02040503050406030204" pitchFamily="18" charset="0"/>
                        <a:ea typeface="楷体" panose="02010609060101010101" pitchFamily="49" charset="-122"/>
                      </a:rPr>
                      <m:t>, </m:t>
                    </m:r>
                    <m:r>
                      <a:rPr lang="zh-CN" altLang="zh-CN" sz="2800" i="1" dirty="0" smtClean="0">
                        <a:solidFill>
                          <a:srgbClr val="000000"/>
                        </a:solidFill>
                        <a:latin typeface="Cambria Math" panose="02040503050406030204" pitchFamily="18" charset="0"/>
                        <a:ea typeface="楷体" panose="02010609060101010101" pitchFamily="49" charset="-122"/>
                      </a:rPr>
                      <m:t>5</m:t>
                    </m:r>
                    <m:r>
                      <a:rPr lang="zh-CN" altLang="zh-CN" sz="2800" i="1" dirty="0" smtClean="0">
                        <a:solidFill>
                          <a:srgbClr val="000000"/>
                        </a:solidFill>
                        <a:latin typeface="Cambria Math" panose="02040503050406030204" pitchFamily="18" charset="0"/>
                        <a:ea typeface="楷体" panose="02010609060101010101" pitchFamily="49" charset="-122"/>
                      </a:rPr>
                      <m:t>）</m:t>
                    </m:r>
                  </m:oMath>
                </a14:m>
                <a:r>
                  <a:rPr lang="zh-CN" altLang="zh-CN" sz="2800" dirty="0">
                    <a:solidFill>
                      <a:srgbClr val="000000"/>
                    </a:solidFill>
                    <a:ea typeface="楷体" panose="02010609060101010101" pitchFamily="49" charset="-122"/>
                    <a:cs typeface="Times New Roman" panose="02020603050405020304" pitchFamily="18" charset="0"/>
                  </a:rPr>
                  <a:t>。</a:t>
                </a: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800" dirty="0">
                    <a:ea typeface="楷体" panose="02010609060101010101" pitchFamily="49" charset="-122"/>
                    <a:cs typeface="Times New Roman" panose="02020603050405020304" pitchFamily="18" charset="0"/>
                  </a:rPr>
                  <a:t>		</a:t>
                </a: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p:txBody>
          </p:sp>
        </mc:Choice>
        <mc:Fallback>
          <p:sp>
            <p:nvSpPr>
              <p:cNvPr id="51208" name="Rectangle 8"/>
              <p:cNvSpPr>
                <a:spLocks noRot="1" noChangeAspect="1" noMove="1" noResize="1" noEditPoints="1" noAdjustHandles="1" noChangeArrowheads="1" noChangeShapeType="1" noTextEdit="1"/>
              </p:cNvSpPr>
              <p:nvPr/>
            </p:nvSpPr>
            <p:spPr bwMode="auto">
              <a:xfrm>
                <a:off x="1649412" y="2572991"/>
                <a:ext cx="8893175" cy="928688"/>
              </a:xfrm>
              <a:prstGeom prst="rect">
                <a:avLst/>
              </a:prstGeom>
              <a:blipFill rotWithShape="1">
                <a:blip r:embed="rId2"/>
                <a:stretch>
                  <a:fillRect l="-4" t="-65" r="-1332" b="-22321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1209" name="Rectangle 9"/>
              <p:cNvSpPr>
                <a:spLocks noChangeArrowheads="1"/>
              </p:cNvSpPr>
              <p:nvPr/>
            </p:nvSpPr>
            <p:spPr bwMode="auto">
              <a:xfrm>
                <a:off x="1649411" y="3569395"/>
                <a:ext cx="8893175" cy="2735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solidFill>
                      <a:srgbClr val="000000"/>
                    </a:solidFill>
                    <a:ea typeface="楷体" panose="02010609060101010101" pitchFamily="49" charset="-122"/>
                    <a:cs typeface="Times New Roman" panose="02020603050405020304" pitchFamily="18" charset="0"/>
                  </a:rPr>
                  <a:t>设 </a:t>
                </a:r>
                <a14:m>
                  <m:oMath xmlns:m="http://schemas.openxmlformats.org/officeDocument/2006/math">
                    <m:r>
                      <a:rPr lang="zh-CN" altLang="zh-CN" sz="2800" i="1" dirty="0" smtClean="0">
                        <a:solidFill>
                          <a:srgbClr val="000000"/>
                        </a:solidFill>
                        <a:latin typeface="Cambria Math" panose="02040503050406030204" pitchFamily="18" charset="0"/>
                        <a:ea typeface="楷体" panose="02010609060101010101" pitchFamily="49" charset="-122"/>
                      </a:rPr>
                      <m:t>𝑦</m:t>
                    </m:r>
                    <m:r>
                      <a:rPr lang="zh-CN" altLang="zh-CN" sz="2800" i="1" baseline="-25000" dirty="0">
                        <a:solidFill>
                          <a:srgbClr val="000000"/>
                        </a:solidFill>
                        <a:latin typeface="Cambria Math" panose="02040503050406030204" pitchFamily="18" charset="0"/>
                        <a:ea typeface="楷体" panose="02010609060101010101" pitchFamily="49" charset="-122"/>
                      </a:rPr>
                      <m:t>2</m:t>
                    </m:r>
                    <m:r>
                      <a:rPr lang="zh-CN" altLang="zh-CN" sz="2800" i="1" baseline="-25000" dirty="0">
                        <a:solidFill>
                          <a:srgbClr val="000000"/>
                        </a:solidFill>
                        <a:latin typeface="Cambria Math" panose="02040503050406030204" pitchFamily="18" charset="0"/>
                        <a:ea typeface="楷体" panose="02010609060101010101" pitchFamily="49" charset="-122"/>
                      </a:rPr>
                      <m:t>𝐶</m:t>
                    </m:r>
                    <m:r>
                      <a:rPr lang="zh-CN" altLang="zh-CN" sz="2800" i="1" dirty="0">
                        <a:solidFill>
                          <a:srgbClr val="000000"/>
                        </a:solidFill>
                        <a:latin typeface="Cambria Math" panose="02040503050406030204" pitchFamily="18" charset="0"/>
                        <a:ea typeface="楷体" panose="02010609060101010101" pitchFamily="49" charset="-122"/>
                      </a:rPr>
                      <m:t> </m:t>
                    </m:r>
                  </m:oMath>
                </a14:m>
                <a:r>
                  <a:rPr lang="zh-CN" altLang="zh-CN" sz="2800" dirty="0">
                    <a:solidFill>
                      <a:srgbClr val="000000"/>
                    </a:solidFill>
                    <a:ea typeface="楷体" panose="02010609060101010101" pitchFamily="49" charset="-122"/>
                    <a:cs typeface="Times New Roman" panose="02020603050405020304" pitchFamily="18" charset="0"/>
                  </a:rPr>
                  <a:t>是非负整数变量，</a:t>
                </a:r>
                <a14:m>
                  <m:oMath xmlns:m="http://schemas.openxmlformats.org/officeDocument/2006/math">
                    <m:r>
                      <a:rPr lang="en-US" altLang="zh-CN" sz="2800" b="0" i="1" dirty="0" smtClean="0">
                        <a:solidFill>
                          <a:schemeClr val="tx1"/>
                        </a:solidFill>
                        <a:latin typeface="Cambria Math" panose="02040503050406030204" pitchFamily="18" charset="0"/>
                        <a:ea typeface="楷体" panose="02010609060101010101" pitchFamily="49" charset="-122"/>
                      </a:rPr>
                      <m:t>𝑥</m:t>
                    </m:r>
                    <m:r>
                      <a:rPr lang="zh-CN" altLang="zh-CN" sz="2800" i="1" baseline="-25000" dirty="0">
                        <a:solidFill>
                          <a:schemeClr val="tx1"/>
                        </a:solidFill>
                        <a:latin typeface="Cambria Math" panose="02040503050406030204" pitchFamily="18" charset="0"/>
                        <a:ea typeface="楷体" panose="02010609060101010101" pitchFamily="49" charset="-122"/>
                      </a:rPr>
                      <m:t>2</m:t>
                    </m:r>
                    <m:r>
                      <a:rPr lang="zh-CN" altLang="zh-CN" sz="2800" i="1" baseline="-25000" dirty="0">
                        <a:solidFill>
                          <a:schemeClr val="tx1"/>
                        </a:solidFill>
                        <a:latin typeface="Cambria Math" panose="02040503050406030204" pitchFamily="18" charset="0"/>
                        <a:ea typeface="楷体" panose="02010609060101010101" pitchFamily="49" charset="-122"/>
                      </a:rPr>
                      <m:t>𝑐</m:t>
                    </m:r>
                    <m:r>
                      <a:rPr lang="zh-CN" altLang="zh-CN" sz="2800" i="1" dirty="0">
                        <a:solidFill>
                          <a:schemeClr val="tx1"/>
                        </a:solidFill>
                        <a:latin typeface="Cambria Math" panose="02040503050406030204" pitchFamily="18" charset="0"/>
                        <a:ea typeface="楷体" panose="02010609060101010101" pitchFamily="49" charset="-122"/>
                      </a:rPr>
                      <m:t>=</m:t>
                    </m:r>
                    <m:r>
                      <a:rPr lang="zh-CN" altLang="zh-CN" sz="2800" i="1" dirty="0">
                        <a:solidFill>
                          <a:schemeClr val="tx1"/>
                        </a:solidFill>
                        <a:latin typeface="Cambria Math" panose="02040503050406030204" pitchFamily="18" charset="0"/>
                        <a:ea typeface="楷体" panose="02010609060101010101" pitchFamily="49" charset="-122"/>
                      </a:rPr>
                      <m:t>20000</m:t>
                    </m:r>
                    <m:r>
                      <a:rPr lang="zh-CN" altLang="zh-CN" sz="2800" i="1" dirty="0">
                        <a:solidFill>
                          <a:schemeClr val="tx1"/>
                        </a:solidFill>
                        <a:latin typeface="Cambria Math" panose="02040503050406030204" pitchFamily="18" charset="0"/>
                        <a:ea typeface="楷体" panose="02010609060101010101" pitchFamily="49" charset="-122"/>
                      </a:rPr>
                      <m:t>𝑦</m:t>
                    </m:r>
                    <m:r>
                      <a:rPr lang="zh-CN" altLang="zh-CN" sz="2800" i="1" baseline="-25000" dirty="0">
                        <a:solidFill>
                          <a:schemeClr val="tx1"/>
                        </a:solidFill>
                        <a:latin typeface="Cambria Math" panose="02040503050406030204" pitchFamily="18" charset="0"/>
                        <a:ea typeface="楷体" panose="02010609060101010101" pitchFamily="49" charset="-122"/>
                      </a:rPr>
                      <m:t>2</m:t>
                    </m:r>
                    <m:r>
                      <a:rPr lang="zh-CN" altLang="zh-CN" sz="2800" i="1" baseline="-25000" dirty="0">
                        <a:solidFill>
                          <a:schemeClr val="tx1"/>
                        </a:solidFill>
                        <a:latin typeface="Cambria Math" panose="02040503050406030204" pitchFamily="18" charset="0"/>
                        <a:ea typeface="楷体" panose="02010609060101010101" pitchFamily="49" charset="-122"/>
                      </a:rPr>
                      <m:t>𝑐</m:t>
                    </m:r>
                  </m:oMath>
                </a14:m>
                <a:r>
                  <a:rPr lang="zh-CN" altLang="zh-CN" sz="2800" dirty="0">
                    <a:solidFill>
                      <a:srgbClr val="000000"/>
                    </a:solidFill>
                    <a:ea typeface="楷体" panose="02010609060101010101" pitchFamily="49" charset="-122"/>
                    <a:cs typeface="Times New Roman" panose="02020603050405020304" pitchFamily="18" charset="0"/>
                  </a:rPr>
                  <a:t>：</a:t>
                </a:r>
                <a:endParaRPr lang="zh-CN" altLang="zh-CN" sz="2800" baseline="-25000" dirty="0">
                  <a:solidFill>
                    <a:srgbClr val="FF0000"/>
                  </a:solidFill>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800" dirty="0">
                    <a:solidFill>
                      <a:srgbClr val="000000"/>
                    </a:solidFill>
                    <a:ea typeface="楷体" panose="02010609060101010101" pitchFamily="49" charset="-122"/>
                    <a:cs typeface="Times New Roman" panose="02020603050405020304" pitchFamily="18" charset="0"/>
                  </a:rPr>
                  <a:t>当</a:t>
                </a:r>
                <a14:m>
                  <m:oMath xmlns:m="http://schemas.openxmlformats.org/officeDocument/2006/math">
                    <m:sSub>
                      <m:sSubPr>
                        <m:ctrlP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𝑦</m:t>
                        </m:r>
                      </m:e>
                      <m:sub>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𝑐</m:t>
                        </m:r>
                      </m:sub>
                    </m:sSub>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4</m:t>
                    </m:r>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en-US" altLang="zh-CN" sz="2800" dirty="0">
                    <a:solidFill>
                      <a:srgbClr val="000000"/>
                    </a:solidFill>
                    <a:ea typeface="楷体" panose="02010609060101010101" pitchFamily="49" charset="-122"/>
                    <a:cs typeface="Times New Roman" panose="02020603050405020304" pitchFamily="18" charset="0"/>
                  </a:rPr>
                  <a:t>   </a:t>
                </a:r>
                <a:r>
                  <a:rPr lang="zh-CN" altLang="zh-CN" sz="2800" dirty="0">
                    <a:solidFill>
                      <a:srgbClr val="000000"/>
                    </a:solidFill>
                    <a:ea typeface="楷体" panose="02010609060101010101" pitchFamily="49" charset="-122"/>
                    <a:cs typeface="Times New Roman" panose="02020603050405020304" pitchFamily="18" charset="0"/>
                  </a:rPr>
                  <a:t>则第 2 年投资 C 项目 8 万元 ；</a:t>
                </a:r>
                <a:endParaRPr lang="zh-CN" altLang="zh-CN" sz="2800" dirty="0">
                  <a:solidFill>
                    <a:srgbClr val="000000"/>
                  </a:solidFill>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800" dirty="0">
                    <a:solidFill>
                      <a:srgbClr val="000000"/>
                    </a:solidFill>
                    <a:ea typeface="楷体" panose="02010609060101010101" pitchFamily="49" charset="-122"/>
                    <a:cs typeface="Times New Roman" panose="02020603050405020304" pitchFamily="18" charset="0"/>
                  </a:rPr>
                  <a:t>当</a:t>
                </a:r>
                <a14:m>
                  <m:oMath xmlns:m="http://schemas.openxmlformats.org/officeDocument/2006/math">
                    <m:sSub>
                      <m:sSubPr>
                        <m:ctrlP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𝑦</m:t>
                        </m:r>
                      </m:e>
                      <m:sub>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𝑐</m:t>
                        </m:r>
                      </m:sub>
                    </m:sSub>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3</m:t>
                    </m:r>
                  </m:oMath>
                </a14:m>
                <a:r>
                  <a:rPr lang="zh-CN" altLang="zh-CN" sz="2800" dirty="0">
                    <a:solidFill>
                      <a:srgbClr val="000000"/>
                    </a:solidFill>
                    <a:ea typeface="楷体" panose="02010609060101010101" pitchFamily="49" charset="-122"/>
                    <a:cs typeface="Times New Roman" panose="02020603050405020304" pitchFamily="18" charset="0"/>
                  </a:rPr>
                  <a:t>，则第 2 年投资 C 项目 6 万元；</a:t>
                </a:r>
                <a:endParaRPr lang="zh-CN" altLang="zh-CN" sz="2800" dirty="0">
                  <a:solidFill>
                    <a:srgbClr val="000000"/>
                  </a:solidFill>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800" dirty="0">
                    <a:solidFill>
                      <a:srgbClr val="000000"/>
                    </a:solidFill>
                    <a:ea typeface="楷体" panose="02010609060101010101" pitchFamily="49" charset="-122"/>
                    <a:cs typeface="Times New Roman" panose="02020603050405020304" pitchFamily="18" charset="0"/>
                  </a:rPr>
                  <a:t>当</a:t>
                </a:r>
                <a14:m>
                  <m:oMath xmlns:m="http://schemas.openxmlformats.org/officeDocument/2006/math">
                    <m:sSub>
                      <m:sSubPr>
                        <m:ctrlP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𝑦</m:t>
                        </m:r>
                      </m:e>
                      <m:sub>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𝑐</m:t>
                        </m:r>
                      </m:sub>
                    </m:sSub>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oMath>
                </a14:m>
                <a:r>
                  <a:rPr lang="zh-CN" altLang="zh-CN" sz="2800" dirty="0">
                    <a:solidFill>
                      <a:srgbClr val="000000"/>
                    </a:solidFill>
                    <a:ea typeface="楷体" panose="02010609060101010101" pitchFamily="49" charset="-122"/>
                    <a:cs typeface="Times New Roman" panose="02020603050405020304" pitchFamily="18" charset="0"/>
                  </a:rPr>
                  <a:t>，则第 2 年投资 C 项目 4 万元；</a:t>
                </a:r>
                <a:endParaRPr lang="zh-CN" altLang="zh-CN" sz="2800" dirty="0">
                  <a:solidFill>
                    <a:srgbClr val="000000"/>
                  </a:solidFill>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800" dirty="0">
                    <a:solidFill>
                      <a:srgbClr val="000000"/>
                    </a:solidFill>
                    <a:ea typeface="楷体" panose="02010609060101010101" pitchFamily="49" charset="-122"/>
                    <a:cs typeface="Times New Roman" panose="02020603050405020304" pitchFamily="18" charset="0"/>
                  </a:rPr>
                  <a:t>当</a:t>
                </a:r>
                <a14:m>
                  <m:oMath xmlns:m="http://schemas.openxmlformats.org/officeDocument/2006/math">
                    <m:sSub>
                      <m:sSubPr>
                        <m:ctrlP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𝑦</m:t>
                        </m:r>
                      </m:e>
                      <m:sub>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𝑐</m:t>
                        </m:r>
                      </m:sub>
                    </m:sSub>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oMath>
                </a14:m>
                <a:r>
                  <a:rPr lang="zh-CN" altLang="zh-CN" sz="2800" dirty="0">
                    <a:solidFill>
                      <a:srgbClr val="000000"/>
                    </a:solidFill>
                    <a:ea typeface="楷体" panose="02010609060101010101" pitchFamily="49" charset="-122"/>
                    <a:cs typeface="Times New Roman" panose="02020603050405020304" pitchFamily="18" charset="0"/>
                  </a:rPr>
                  <a:t>，则第 2 年投资 C 项目 2 万元；</a:t>
                </a:r>
                <a:endParaRPr lang="zh-CN" altLang="zh-CN" sz="2800" dirty="0">
                  <a:solidFill>
                    <a:srgbClr val="000000"/>
                  </a:solidFill>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800" dirty="0">
                    <a:solidFill>
                      <a:srgbClr val="000000"/>
                    </a:solidFill>
                    <a:ea typeface="楷体" panose="02010609060101010101" pitchFamily="49" charset="-122"/>
                    <a:cs typeface="Times New Roman" panose="02020603050405020304" pitchFamily="18" charset="0"/>
                  </a:rPr>
                  <a:t>当</a:t>
                </a:r>
                <a14:m>
                  <m:oMath xmlns:m="http://schemas.openxmlformats.org/officeDocument/2006/math">
                    <m:sSub>
                      <m:sSubPr>
                        <m:ctrlP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𝑦</m:t>
                        </m:r>
                      </m:e>
                      <m:sub>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𝑐</m:t>
                        </m:r>
                      </m:sub>
                    </m:sSub>
                    <m:r>
                      <a:rPr lang="en-US" altLang="zh-CN" sz="28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2800" b="0" i="1"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0</m:t>
                    </m:r>
                  </m:oMath>
                </a14:m>
                <a:r>
                  <a:rPr lang="zh-CN" altLang="zh-CN" sz="2800" dirty="0">
                    <a:solidFill>
                      <a:srgbClr val="000000"/>
                    </a:solidFill>
                    <a:ea typeface="楷体" panose="02010609060101010101" pitchFamily="49" charset="-122"/>
                    <a:cs typeface="Times New Roman" panose="02020603050405020304" pitchFamily="18" charset="0"/>
                  </a:rPr>
                  <a:t>，则第 2 年不投资 C 项目</a:t>
                </a:r>
                <a:r>
                  <a:rPr lang="zh-CN" altLang="en-US" sz="2800" dirty="0">
                    <a:solidFill>
                      <a:srgbClr val="000000"/>
                    </a:solidFill>
                    <a:ea typeface="楷体" panose="02010609060101010101" pitchFamily="49" charset="-122"/>
                    <a:cs typeface="Times New Roman" panose="02020603050405020304" pitchFamily="18" charset="0"/>
                  </a:rPr>
                  <a:t>，</a:t>
                </a:r>
                <a:r>
                  <a:rPr lang="en-US" altLang="zh-CN" sz="2800" dirty="0">
                    <a:ea typeface="楷体" panose="02010609060101010101" pitchFamily="49" charset="-122"/>
                  </a:rPr>
                  <a:t> </a:t>
                </a:r>
                <a14:m>
                  <m:oMath xmlns:m="http://schemas.openxmlformats.org/officeDocument/2006/math">
                    <m:r>
                      <a:rPr lang="en-US"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baseline="-25000" dirty="0">
                        <a:latin typeface="Cambria Math" panose="02040503050406030204" pitchFamily="18" charset="0"/>
                        <a:ea typeface="楷体" panose="02010609060101010101" pitchFamily="49" charset="-122"/>
                      </a:rPr>
                      <m:t>𝑐</m:t>
                    </m:r>
                    <m:r>
                      <a:rPr lang="zh-CN" altLang="zh-CN" sz="2800" i="1" dirty="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0</m:t>
                    </m:r>
                  </m:oMath>
                </a14:m>
                <a:r>
                  <a:rPr lang="zh-CN" altLang="zh-CN" sz="2800" dirty="0">
                    <a:solidFill>
                      <a:srgbClr val="000000"/>
                    </a:solidFill>
                    <a:ea typeface="楷体" panose="02010609060101010101" pitchFamily="49" charset="-122"/>
                    <a:cs typeface="Times New Roman" panose="02020603050405020304" pitchFamily="18" charset="0"/>
                  </a:rPr>
                  <a:t>。</a:t>
                </a:r>
                <a:endParaRPr lang="zh-CN" altLang="zh-CN" sz="2800" dirty="0">
                  <a:solidFill>
                    <a:srgbClr val="3333CC"/>
                  </a:solidFill>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000" dirty="0">
                  <a:solidFill>
                    <a:srgbClr val="3333CC"/>
                  </a:solidFill>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800" dirty="0">
                    <a:ea typeface="楷体" panose="02010609060101010101" pitchFamily="49" charset="-122"/>
                    <a:cs typeface="Times New Roman" panose="02020603050405020304" pitchFamily="18" charset="0"/>
                  </a:rPr>
                  <a:t>		</a:t>
                </a:r>
                <a:endParaRPr lang="zh-CN" altLang="zh-CN" sz="28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800" dirty="0">
                  <a:ea typeface="楷体" panose="02010609060101010101" pitchFamily="49" charset="-122"/>
                  <a:cs typeface="Times New Roman" panose="02020603050405020304" pitchFamily="18" charset="0"/>
                </a:endParaRPr>
              </a:p>
            </p:txBody>
          </p:sp>
        </mc:Choice>
        <mc:Fallback>
          <p:sp>
            <p:nvSpPr>
              <p:cNvPr id="51209" name="Rectangle 9"/>
              <p:cNvSpPr>
                <a:spLocks noRot="1" noChangeAspect="1" noMove="1" noResize="1" noEditPoints="1" noAdjustHandles="1" noChangeArrowheads="1" noChangeShapeType="1" noTextEdit="1"/>
              </p:cNvSpPr>
              <p:nvPr/>
            </p:nvSpPr>
            <p:spPr bwMode="auto">
              <a:xfrm>
                <a:off x="1649411" y="3569395"/>
                <a:ext cx="8893175" cy="2735262"/>
              </a:xfrm>
              <a:prstGeom prst="rect">
                <a:avLst/>
              </a:prstGeom>
              <a:blipFill rotWithShape="1">
                <a:blip r:embed="rId3"/>
                <a:stretch>
                  <a:fillRect l="-4" t="-2" r="4" b="-9835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anim calcmode="lin" valueType="num">
                                      <p:cBhvr additive="base">
                                        <p:cTn id="7" dur="500" fill="hold"/>
                                        <p:tgtEl>
                                          <p:spTgt spid="51205"/>
                                        </p:tgtEl>
                                        <p:attrNameLst>
                                          <p:attrName>ppt_x</p:attrName>
                                        </p:attrNameLst>
                                      </p:cBhvr>
                                      <p:tavLst>
                                        <p:tav tm="0">
                                          <p:val>
                                            <p:strVal val="ppt_x"/>
                                          </p:val>
                                        </p:tav>
                                        <p:tav tm="100000">
                                          <p:val>
                                            <p:strVal val="ppt_x"/>
                                          </p:val>
                                        </p:tav>
                                      </p:tavLst>
                                    </p:anim>
                                    <p:anim calcmode="lin" valueType="num">
                                      <p:cBhvr additive="base">
                                        <p:cTn id="8" dur="500" fill="hold"/>
                                        <p:tgtEl>
                                          <p:spTgt spid="512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8"/>
                                        </p:tgtEl>
                                        <p:attrNameLst>
                                          <p:attrName>style.visibility</p:attrName>
                                        </p:attrNameLst>
                                      </p:cBhvr>
                                      <p:to>
                                        <p:strVal val="visible"/>
                                      </p:to>
                                    </p:set>
                                    <p:anim calcmode="lin" valueType="num">
                                      <p:cBhvr additive="base">
                                        <p:cTn id="13" dur="500" fill="hold"/>
                                        <p:tgtEl>
                                          <p:spTgt spid="51208"/>
                                        </p:tgtEl>
                                        <p:attrNameLst>
                                          <p:attrName>ppt_x</p:attrName>
                                        </p:attrNameLst>
                                      </p:cBhvr>
                                      <p:tavLst>
                                        <p:tav tm="0">
                                          <p:val>
                                            <p:strVal val="ppt_x"/>
                                          </p:val>
                                        </p:tav>
                                        <p:tav tm="100000">
                                          <p:val>
                                            <p:strVal val="ppt_x"/>
                                          </p:val>
                                        </p:tav>
                                      </p:tavLst>
                                    </p:anim>
                                    <p:anim calcmode="lin" valueType="num">
                                      <p:cBhvr additive="base">
                                        <p:cTn id="14" dur="500" fill="hold"/>
                                        <p:tgtEl>
                                          <p:spTgt spid="5120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09"/>
                                        </p:tgtEl>
                                        <p:attrNameLst>
                                          <p:attrName>style.visibility</p:attrName>
                                        </p:attrNameLst>
                                      </p:cBhvr>
                                      <p:to>
                                        <p:strVal val="visible"/>
                                      </p:to>
                                    </p:set>
                                    <p:anim calcmode="lin" valueType="num">
                                      <p:cBhvr additive="base">
                                        <p:cTn id="19" dur="500" fill="hold"/>
                                        <p:tgtEl>
                                          <p:spTgt spid="51209"/>
                                        </p:tgtEl>
                                        <p:attrNameLst>
                                          <p:attrName>ppt_x</p:attrName>
                                        </p:attrNameLst>
                                      </p:cBhvr>
                                      <p:tavLst>
                                        <p:tav tm="0">
                                          <p:val>
                                            <p:strVal val="ppt_x"/>
                                          </p:val>
                                        </p:tav>
                                        <p:tav tm="100000">
                                          <p:val>
                                            <p:strVal val="ppt_x"/>
                                          </p:val>
                                        </p:tav>
                                      </p:tavLst>
                                    </p:anim>
                                    <p:anim calcmode="lin" valueType="num">
                                      <p:cBhvr additive="base">
                                        <p:cTn id="20" dur="500" fill="hold"/>
                                        <p:tgtEl>
                                          <p:spTgt spid="512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bldLvl="0" animBg="1"/>
      <p:bldP spid="51208" grpId="0" bldLvl="0" animBg="1"/>
      <p:bldP spid="51209"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1" name="Rectangle 5"/>
          <p:cNvSpPr>
            <a:spLocks noChangeArrowheads="1"/>
          </p:cNvSpPr>
          <p:nvPr/>
        </p:nvSpPr>
        <p:spPr bwMode="auto">
          <a:xfrm>
            <a:off x="1031240" y="1557655"/>
            <a:ext cx="9512935"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en-US" altLang="zh-CN" sz="2800" dirty="0">
                <a:latin typeface="Arial" panose="020B0604020202020204" pitchFamily="34" charset="0"/>
                <a:ea typeface="楷体" panose="02010609060101010101" pitchFamily="49" charset="-122"/>
              </a:rPr>
              <a:t>(2) </a:t>
            </a:r>
            <a:r>
              <a:rPr lang="zh-CN" altLang="en-US" sz="2800" dirty="0">
                <a:latin typeface="Arial" panose="020B0604020202020204" pitchFamily="34" charset="0"/>
                <a:ea typeface="楷体" panose="02010609060101010101" pitchFamily="49" charset="-122"/>
              </a:rPr>
              <a:t>设计</a:t>
            </a:r>
            <a:r>
              <a:rPr lang="zh-CN" altLang="zh-CN" sz="2800" dirty="0">
                <a:latin typeface="Arial" panose="020B0604020202020204" pitchFamily="34" charset="0"/>
                <a:ea typeface="楷体" panose="02010609060101010101" pitchFamily="49" charset="-122"/>
              </a:rPr>
              <a:t>决策变量：</a:t>
            </a:r>
            <a:endParaRPr lang="zh-CN" altLang="zh-CN" sz="2800" dirty="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r>
              <a:rPr lang="zh-CN" altLang="zh-CN" sz="2000" dirty="0">
                <a:solidFill>
                  <a:srgbClr val="000000"/>
                </a:solidFill>
                <a:latin typeface="Arial" panose="020B0604020202020204" pitchFamily="34" charset="0"/>
                <a:ea typeface="楷体" panose="02010609060101010101" pitchFamily="49" charset="-122"/>
              </a:rPr>
              <a:t> </a:t>
            </a:r>
            <a:endParaRPr lang="zh-CN" altLang="zh-CN" sz="2000" dirty="0">
              <a:solidFill>
                <a:srgbClr val="000000"/>
              </a:solidFill>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000" dirty="0">
              <a:solidFill>
                <a:srgbClr val="3333CC"/>
              </a:solidFill>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p:sp>
        <p:nvSpPr>
          <p:cNvPr id="91142" name="Line 7"/>
          <p:cNvSpPr>
            <a:spLocks noChangeShapeType="1"/>
          </p:cNvSpPr>
          <p:nvPr/>
        </p:nvSpPr>
        <p:spPr bwMode="auto">
          <a:xfrm>
            <a:off x="2388766" y="2925762"/>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2171973" y="2419349"/>
              <a:ext cx="7847965" cy="3116580"/>
            </p:xfrm>
            <a:graphic>
              <a:graphicData uri="http://schemas.openxmlformats.org/drawingml/2006/table">
                <a:tbl>
                  <a:tblPr firstRow="1" bandRow="1">
                    <a:tableStyleId>{5C22544A-7EE6-4342-B048-85BDC9FD1C3A}</a:tableStyleId>
                  </a:tblPr>
                  <a:tblGrid>
                    <a:gridCol w="1308100"/>
                    <a:gridCol w="996315"/>
                    <a:gridCol w="2592070"/>
                    <a:gridCol w="1080135"/>
                    <a:gridCol w="935990"/>
                    <a:gridCol w="935355"/>
                  </a:tblGrid>
                  <a:tr h="619125">
                    <a:tc>
                      <a:txBody>
                        <a:bodyPr/>
                        <a:lstStyle/>
                        <a:p>
                          <a:pPr algn="r"/>
                          <a:r>
                            <a:rPr lang="zh-CN" altLang="en-US" sz="1200" dirty="0">
                              <a:solidFill>
                                <a:schemeClr val="tx1"/>
                              </a:solidFill>
                            </a:rPr>
                            <a:t>年份</a:t>
                          </a:r>
                          <a:endParaRPr lang="en-US" altLang="zh-CN" sz="1200" dirty="0">
                            <a:solidFill>
                              <a:schemeClr val="tx1"/>
                            </a:solidFill>
                          </a:endParaRPr>
                        </a:p>
                        <a:p>
                          <a:pPr algn="ctr"/>
                          <a:r>
                            <a:rPr lang="zh-CN" altLang="en-US" sz="1200" dirty="0">
                              <a:solidFill>
                                <a:schemeClr val="tx1"/>
                              </a:solidFill>
                            </a:rPr>
                            <a:t>投资额</a:t>
                          </a:r>
                          <a:endParaRPr lang="en-US" altLang="zh-CN" sz="1200" dirty="0">
                            <a:solidFill>
                              <a:schemeClr val="tx1"/>
                            </a:solidFill>
                          </a:endParaRPr>
                        </a:p>
                        <a:p>
                          <a:pPr algn="l"/>
                          <a:r>
                            <a:rPr lang="zh-CN" altLang="en-US" sz="1200" dirty="0">
                              <a:solidFill>
                                <a:schemeClr val="tx1"/>
                              </a:solidFill>
                            </a:rPr>
                            <a:t>项目</a:t>
                          </a:r>
                          <a:endParaRPr lang="zh-CN" altLang="en-US" sz="1200" dirty="0">
                            <a:solidFill>
                              <a:schemeClr val="tx1"/>
                            </a:solidFill>
                          </a:endParaRPr>
                        </a:p>
                      </a:txBody>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r>
                  <a:tr h="6191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1</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𝐴</m:t>
                                </m:r>
                              </m:oMath>
                            </m:oMathPara>
                          </a14:m>
                          <a:endParaRPr kumimoji="0" lang="zh-CN" altLang="zh-CN" sz="2800" b="0" i="0" u="none" strike="noStrike" cap="none" normalizeH="0" baseline="-2500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2</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𝐴</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3</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𝐴</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4</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𝐴</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r>
                  <a:tr h="6191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smtClean="0">
                                    <a:ln>
                                      <a:noFill/>
                                    </a:ln>
                                    <a:solidFill>
                                      <a:srgbClr val="FF0000"/>
                                    </a:solidFill>
                                    <a:effectLst/>
                                    <a:latin typeface="Cambria Math" panose="02040503050406030204" pitchFamily="18" charset="0"/>
                                    <a:ea typeface="楷体" panose="02010609060101010101" pitchFamily="49" charset="-122"/>
                                  </a:rPr>
                                  <m:t>3</m:t>
                                </m:r>
                                <m:r>
                                  <a:rPr kumimoji="0" lang="zh-CN" altLang="zh-CN" sz="2800" b="0" i="1" u="none" strike="noStrike" cap="none" normalizeH="0" baseline="-25000" dirty="0" smtClean="0">
                                    <a:ln>
                                      <a:noFill/>
                                    </a:ln>
                                    <a:solidFill>
                                      <a:srgbClr val="FF0000"/>
                                    </a:solidFill>
                                    <a:effectLst/>
                                    <a:latin typeface="Cambria Math" panose="02040503050406030204" pitchFamily="18" charset="0"/>
                                    <a:ea typeface="楷体" panose="02010609060101010101" pitchFamily="49" charset="-122"/>
                                  </a:rPr>
                                  <m:t>𝐵</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r>
                  <a:tr h="6191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sSub>
                                  <m:sSubPr>
                                    <m:ctrlPr>
                                      <a:rPr kumimoji="0" lang="en-US" altLang="zh-CN" sz="24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ctrlPr>
                                  </m:sSubPr>
                                  <m:e>
                                    <m:r>
                                      <a:rPr kumimoji="0" lang="en-US" altLang="zh-CN" sz="24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e>
                                  <m:sub>
                                    <m:r>
                                      <a:rPr kumimoji="0" lang="en-US" altLang="zh-CN" sz="24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2</m:t>
                                    </m:r>
                                    <m:r>
                                      <a:rPr kumimoji="0" lang="en-US" altLang="zh-CN" sz="24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𝑐</m:t>
                                    </m:r>
                                  </m:sub>
                                </m:sSub>
                                <m:r>
                                  <a:rPr kumimoji="0" lang="zh-CN" altLang="zh-CN" sz="2400" b="0" i="1" u="none" strike="noStrike" cap="none" normalizeH="0" baseline="0" dirty="0">
                                    <a:ln>
                                      <a:noFill/>
                                    </a:ln>
                                    <a:solidFill>
                                      <a:srgbClr val="FF0000"/>
                                    </a:solidFill>
                                    <a:effectLst/>
                                    <a:latin typeface="Cambria Math" panose="02040503050406030204" pitchFamily="18" charset="0"/>
                                    <a:ea typeface="楷体" panose="02010609060101010101" pitchFamily="49" charset="-122"/>
                                  </a:rPr>
                                  <m:t>=</m:t>
                                </m:r>
                                <m:r>
                                  <a:rPr kumimoji="0" lang="zh-CN" altLang="zh-CN" sz="2400" b="0" i="1" u="none" strike="noStrike" cap="none" normalizeH="0" baseline="0" dirty="0">
                                    <a:ln>
                                      <a:noFill/>
                                    </a:ln>
                                    <a:solidFill>
                                      <a:srgbClr val="FF0000"/>
                                    </a:solidFill>
                                    <a:effectLst/>
                                    <a:latin typeface="Cambria Math" panose="02040503050406030204" pitchFamily="18" charset="0"/>
                                    <a:ea typeface="楷体" panose="02010609060101010101" pitchFamily="49" charset="-122"/>
                                  </a:rPr>
                                  <m:t>20000</m:t>
                                </m:r>
                                <m:r>
                                  <a:rPr kumimoji="0" lang="zh-CN" altLang="zh-CN" sz="2400" b="0" i="1" u="none" strike="noStrike" cap="none" normalizeH="0" baseline="0" dirty="0">
                                    <a:ln>
                                      <a:noFill/>
                                    </a:ln>
                                    <a:solidFill>
                                      <a:srgbClr val="FF0000"/>
                                    </a:solidFill>
                                    <a:effectLst/>
                                    <a:latin typeface="Cambria Math" panose="02040503050406030204" pitchFamily="18" charset="0"/>
                                    <a:ea typeface="楷体" panose="02010609060101010101" pitchFamily="49" charset="-122"/>
                                  </a:rPr>
                                  <m:t>𝑦</m:t>
                                </m:r>
                                <m:r>
                                  <a:rPr kumimoji="0" lang="zh-CN" altLang="zh-CN" sz="24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2</m:t>
                                </m:r>
                                <m:r>
                                  <a:rPr kumimoji="0" lang="zh-CN" altLang="zh-CN" sz="24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𝑐</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r>
                  <a:tr h="6191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1</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𝐷</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2</m:t>
                                </m:r>
                                <m:r>
                                  <a:rPr kumimoji="0" lang="zh-CN" altLang="zh-CN" sz="2800" b="0" i="1" u="none" strike="noStrike" cap="none" normalizeH="0" baseline="-25000" dirty="0">
                                    <a:ln>
                                      <a:noFill/>
                                    </a:ln>
                                    <a:solidFill>
                                      <a:srgbClr val="FF0000"/>
                                    </a:solidFill>
                                    <a:effectLst/>
                                    <a:latin typeface="Cambria Math" panose="02040503050406030204" pitchFamily="18" charset="0"/>
                                    <a:ea typeface="楷体" panose="02010609060101010101" pitchFamily="49" charset="-122"/>
                                  </a:rPr>
                                  <m:t>𝐷</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smtClean="0">
                                    <a:ln>
                                      <a:noFill/>
                                    </a:ln>
                                    <a:solidFill>
                                      <a:srgbClr val="FF0000"/>
                                    </a:solidFill>
                                    <a:effectLst/>
                                    <a:latin typeface="Cambria Math" panose="02040503050406030204" pitchFamily="18" charset="0"/>
                                    <a:ea typeface="楷体" panose="02010609060101010101" pitchFamily="49" charset="-122"/>
                                  </a:rPr>
                                  <m:t>3</m:t>
                                </m:r>
                                <m:r>
                                  <a:rPr kumimoji="0" lang="zh-CN" altLang="zh-CN" sz="2800" b="0" i="1" u="none" strike="noStrike" cap="none" normalizeH="0" baseline="-25000" dirty="0" smtClean="0">
                                    <a:ln>
                                      <a:noFill/>
                                    </a:ln>
                                    <a:solidFill>
                                      <a:srgbClr val="FF0000"/>
                                    </a:solidFill>
                                    <a:effectLst/>
                                    <a:latin typeface="Cambria Math" panose="02040503050406030204" pitchFamily="18" charset="0"/>
                                    <a:ea typeface="楷体" panose="02010609060101010101" pitchFamily="49" charset="-122"/>
                                  </a:rPr>
                                  <m:t>𝐷</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smtClean="0">
                                    <a:ln>
                                      <a:noFill/>
                                    </a:ln>
                                    <a:solidFill>
                                      <a:srgbClr val="FF0000"/>
                                    </a:solidFill>
                                    <a:effectLst/>
                                    <a:latin typeface="Cambria Math" panose="02040503050406030204" pitchFamily="18" charset="0"/>
                                    <a:ea typeface="楷体" panose="02010609060101010101" pitchFamily="49" charset="-122"/>
                                  </a:rPr>
                                  <m:t>4</m:t>
                                </m:r>
                                <m:r>
                                  <a:rPr kumimoji="0" lang="zh-CN" altLang="zh-CN" sz="2800" b="0" i="1" u="none" strike="noStrike" cap="none" normalizeH="0" baseline="-25000" dirty="0" smtClean="0">
                                    <a:ln>
                                      <a:noFill/>
                                    </a:ln>
                                    <a:solidFill>
                                      <a:srgbClr val="FF0000"/>
                                    </a:solidFill>
                                    <a:effectLst/>
                                    <a:latin typeface="Cambria Math" panose="02040503050406030204" pitchFamily="18" charset="0"/>
                                    <a:ea typeface="楷体" panose="02010609060101010101" pitchFamily="49" charset="-122"/>
                                  </a:rPr>
                                  <m:t>𝐷</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14:m>
                            <m:oMathPara xmlns:m="http://schemas.openxmlformats.org/officeDocument/2006/math">
                              <m:oMathParaPr>
                                <m:jc m:val="centerGroup"/>
                              </m:oMathParaPr>
                              <m:oMath xmlns:m="http://schemas.openxmlformats.org/officeDocument/2006/math">
                                <m:r>
                                  <a:rPr kumimoji="0" lang="zh-CN" altLang="zh-CN" sz="2800" b="0" i="1" u="none" strike="noStrike" cap="none" normalizeH="0" baseline="0" dirty="0" smtClean="0">
                                    <a:ln>
                                      <a:noFill/>
                                    </a:ln>
                                    <a:solidFill>
                                      <a:srgbClr val="FF0000"/>
                                    </a:solidFill>
                                    <a:effectLst/>
                                    <a:latin typeface="Cambria Math" panose="02040503050406030204" pitchFamily="18" charset="0"/>
                                    <a:ea typeface="楷体" panose="02010609060101010101" pitchFamily="49" charset="-122"/>
                                  </a:rPr>
                                  <m:t>𝑥</m:t>
                                </m:r>
                                <m:r>
                                  <a:rPr kumimoji="0" lang="zh-CN" altLang="zh-CN" sz="2800" b="0" i="1" u="none" strike="noStrike" cap="none" normalizeH="0" baseline="-25000" dirty="0" smtClean="0">
                                    <a:ln>
                                      <a:noFill/>
                                    </a:ln>
                                    <a:solidFill>
                                      <a:srgbClr val="FF0000"/>
                                    </a:solidFill>
                                    <a:effectLst/>
                                    <a:latin typeface="Cambria Math" panose="02040503050406030204" pitchFamily="18" charset="0"/>
                                    <a:ea typeface="楷体" panose="02010609060101010101" pitchFamily="49" charset="-122"/>
                                  </a:rPr>
                                  <m:t>5</m:t>
                                </m:r>
                                <m:r>
                                  <a:rPr kumimoji="0" lang="zh-CN" altLang="zh-CN" sz="2800" b="0" i="1" u="none" strike="noStrike" cap="none" normalizeH="0" baseline="-25000" dirty="0" smtClean="0">
                                    <a:ln>
                                      <a:noFill/>
                                    </a:ln>
                                    <a:solidFill>
                                      <a:srgbClr val="FF0000"/>
                                    </a:solidFill>
                                    <a:effectLst/>
                                    <a:latin typeface="Cambria Math" panose="02040503050406030204" pitchFamily="18" charset="0"/>
                                    <a:ea typeface="楷体" panose="02010609060101010101" pitchFamily="49" charset="-122"/>
                                  </a:rPr>
                                  <m:t>𝐷</m:t>
                                </m:r>
                              </m:oMath>
                            </m:oMathPara>
                          </a14:m>
                          <a:endParaRPr kumimoji="0" lang="zh-CN" altLang="zh-CN" sz="2800" b="0" i="0" u="none" strike="noStrike" cap="none" normalizeH="0" baseline="-25000" dirty="0">
                            <a:ln>
                              <a:noFill/>
                            </a:ln>
                            <a:solidFill>
                              <a:srgbClr val="FF0000"/>
                            </a:solidFill>
                            <a:effectLst/>
                            <a:latin typeface="Arial" panose="020B0604020202020204" pitchFamily="34" charset="0"/>
                            <a:ea typeface="楷体" panose="02010609060101010101" pitchFamily="49" charset="-122"/>
                          </a:endParaRPr>
                        </a:p>
                      </a:txBody>
                      <a:tcPr marL="68580" marR="68580" marT="0" marB="0" anchor="ctr" horzOverflow="overflow"/>
                    </a:tc>
                  </a:tr>
                </a:tbl>
              </a:graphicData>
            </a:graphic>
          </p:graphicFrame>
        </mc:Choice>
        <mc:Fallback xmlns="">
          <p:graphicFrame>
            <p:nvGraphicFramePr>
              <p:cNvPr id="3" name="表格 2"/>
              <p:cNvGraphicFramePr>
                <a:graphicFrameLocks noGrp="1"/>
              </p:cNvGraphicFramePr>
              <p:nvPr/>
            </p:nvGraphicFramePr>
            <p:xfrm>
              <a:off x="2171973" y="2419349"/>
              <a:ext cx="7847965" cy="3116580"/>
            </p:xfrm>
            <a:graphic>
              <a:graphicData uri="http://schemas.openxmlformats.org/drawingml/2006/table">
                <a:tbl>
                  <a:tblPr firstRow="1" bandRow="1">
                    <a:tableStyleId>{5C22544A-7EE6-4342-B048-85BDC9FD1C3A}</a:tableStyleId>
                  </a:tblPr>
                  <a:tblGrid>
                    <a:gridCol w="1308100"/>
                    <a:gridCol w="996315"/>
                    <a:gridCol w="2592070"/>
                    <a:gridCol w="1080135"/>
                    <a:gridCol w="935990"/>
                    <a:gridCol w="935355"/>
                  </a:tblGrid>
                  <a:tr h="619125">
                    <a:tc>
                      <a:txBody>
                        <a:bodyPr/>
                        <a:lstStyle/>
                        <a:p>
                          <a:pPr algn="r"/>
                          <a:r>
                            <a:rPr lang="zh-CN" altLang="en-US" sz="1200" dirty="0">
                              <a:solidFill>
                                <a:schemeClr val="tx1"/>
                              </a:solidFill>
                            </a:rPr>
                            <a:t>年份</a:t>
                          </a:r>
                          <a:endParaRPr lang="en-US" altLang="zh-CN" sz="1200" dirty="0">
                            <a:solidFill>
                              <a:schemeClr val="tx1"/>
                            </a:solidFill>
                          </a:endParaRPr>
                        </a:p>
                        <a:p>
                          <a:pPr algn="ctr"/>
                          <a:r>
                            <a:rPr lang="zh-CN" altLang="en-US" sz="1200" dirty="0">
                              <a:solidFill>
                                <a:schemeClr val="tx1"/>
                              </a:solidFill>
                            </a:rPr>
                            <a:t>投资额</a:t>
                          </a:r>
                          <a:endParaRPr lang="en-US" altLang="zh-CN" sz="1200" dirty="0">
                            <a:solidFill>
                              <a:schemeClr val="tx1"/>
                            </a:solidFill>
                          </a:endParaRPr>
                        </a:p>
                        <a:p>
                          <a:pPr algn="l"/>
                          <a:r>
                            <a:rPr lang="zh-CN" altLang="en-US" sz="1200" dirty="0">
                              <a:solidFill>
                                <a:schemeClr val="tx1"/>
                              </a:solidFill>
                            </a:rPr>
                            <a:t>项目</a:t>
                          </a:r>
                          <a:endParaRPr lang="zh-CN" altLang="en-US" sz="1200" dirty="0">
                            <a:solidFill>
                              <a:schemeClr val="tx1"/>
                            </a:solidFill>
                          </a:endParaRPr>
                        </a:p>
                      </a:txBody>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4</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5</a:t>
                          </a:r>
                          <a:endParaRPr kumimoji="0" lang="zh-CN" altLang="zh-CN" sz="2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r>
                  <a:tr h="6191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r>
                  <a:tr h="6191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B</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p>
                          <a:endParaRPr lang="zh-CN"/>
                        </a:p>
                      </a:txBody>
                      <a:tcPr marL="68580" marR="68580" marT="0" marB="0" anchor="ctr"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r>
                  <a:tr h="6191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p>
                          <a:endParaRPr lang="zh-CN"/>
                        </a:p>
                      </a:txBody>
                      <a:tcPr marL="68580" marR="68580" marT="0" marB="0" anchor="ctr" horzOverflow="overflow">
                        <a:blipFill>
                          <a:blip r:embed="rId1"/>
                        </a:blip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800" b="0" i="0" u="none" strike="noStrike" cap="none" normalizeH="0" baseline="0" dirty="0">
                            <a:ln>
                              <a:noFill/>
                            </a:ln>
                            <a:solidFill>
                              <a:schemeClr val="tx1"/>
                            </a:solidFill>
                            <a:effectLst/>
                            <a:latin typeface="Arial" panose="020B0604020202020204" pitchFamily="34" charset="0"/>
                            <a:ea typeface="微软雅黑" panose="020B0503020204020204" pitchFamily="34" charset="-122"/>
                          </a:endParaRPr>
                        </a:p>
                      </a:txBody>
                      <a:tcPr marL="68580" marR="68580" marT="0" marB="0" anchor="ctr" horzOverflow="overflow"/>
                    </a:tc>
                  </a:tr>
                  <a:tr h="6191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a:t>
                          </a:r>
                          <a:endParaRPr kumimoji="0" lang="zh-CN" altLang="zh-CN" sz="20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horzOverflow="overflow"/>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c>
                      <a:txBody>
                        <a:bodyPr/>
                        <a:lstStyle/>
                        <a:p>
                          <a:endParaRPr lang="zh-CN"/>
                        </a:p>
                      </a:txBody>
                      <a:tcPr marL="68580" marR="68580" marT="0" marB="0" anchor="ctr" horzOverflow="overflow">
                        <a:blipFill>
                          <a:blip r:embed="rId1"/>
                        </a:blipFill>
                      </a:tcPr>
                    </a:tc>
                  </a:tr>
                </a:tbl>
              </a:graphicData>
            </a:graphic>
          </p:graphicFrame>
        </mc:Fallback>
      </mc:AlternateContent>
      <p:grpSp>
        <p:nvGrpSpPr>
          <p:cNvPr id="12" name="组合 11"/>
          <p:cNvGrpSpPr/>
          <p:nvPr/>
        </p:nvGrpSpPr>
        <p:grpSpPr>
          <a:xfrm>
            <a:off x="2171973" y="2426604"/>
            <a:ext cx="1315442" cy="600530"/>
            <a:chOff x="468313" y="2349500"/>
            <a:chExt cx="1368425" cy="719138"/>
          </a:xfrm>
        </p:grpSpPr>
        <p:sp>
          <p:nvSpPr>
            <p:cNvPr id="13" name="Line 110"/>
            <p:cNvSpPr>
              <a:spLocks noChangeShapeType="1"/>
            </p:cNvSpPr>
            <p:nvPr/>
          </p:nvSpPr>
          <p:spPr bwMode="auto">
            <a:xfrm>
              <a:off x="1187450" y="2349500"/>
              <a:ext cx="649288" cy="7191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Line 111"/>
            <p:cNvSpPr>
              <a:spLocks noChangeShapeType="1"/>
            </p:cNvSpPr>
            <p:nvPr/>
          </p:nvSpPr>
          <p:spPr bwMode="auto">
            <a:xfrm>
              <a:off x="468313" y="2709863"/>
              <a:ext cx="1368425" cy="3587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9" name="Rectangle 5"/>
          <p:cNvSpPr>
            <a:spLocks noChangeArrowheads="1"/>
          </p:cNvSpPr>
          <p:nvPr/>
        </p:nvSpPr>
        <p:spPr bwMode="auto">
          <a:xfrm>
            <a:off x="1651000" y="1557338"/>
            <a:ext cx="889317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ea typeface="楷体" panose="02010609060101010101" pitchFamily="49" charset="-122"/>
                <a:cs typeface="Times New Roman" panose="02020603050405020304" pitchFamily="18" charset="0"/>
              </a:rPr>
              <a:t>（3）</a:t>
            </a:r>
            <a:r>
              <a:rPr lang="zh-CN" altLang="zh-CN" sz="2800" dirty="0">
                <a:latin typeface="Arial" panose="020B0604020202020204" pitchFamily="34" charset="0"/>
                <a:ea typeface="楷体" panose="02010609060101010101" pitchFamily="49" charset="-122"/>
              </a:rPr>
              <a:t>目标函数</a:t>
            </a:r>
            <a:r>
              <a:rPr lang="zh-CN" altLang="en-US" sz="2800" dirty="0">
                <a:latin typeface="Arial" panose="020B0604020202020204" pitchFamily="34" charset="0"/>
                <a:ea typeface="楷体" panose="02010609060101010101" pitchFamily="49" charset="-122"/>
              </a:rPr>
              <a:t>及约束条件</a:t>
            </a:r>
            <a:r>
              <a:rPr lang="zh-CN" altLang="zh-CN" sz="2800" dirty="0">
                <a:latin typeface="Arial" panose="020B0604020202020204" pitchFamily="34" charset="0"/>
                <a:ea typeface="楷体" panose="02010609060101010101" pitchFamily="49" charset="-122"/>
              </a:rPr>
              <a:t>：</a:t>
            </a:r>
            <a:endParaRPr lang="zh-CN" altLang="zh-CN" sz="2800" dirty="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53256" name="Rectangle 8"/>
              <p:cNvSpPr>
                <a:spLocks noChangeArrowheads="1"/>
              </p:cNvSpPr>
              <p:nvPr/>
            </p:nvSpPr>
            <p:spPr bwMode="auto">
              <a:xfrm>
                <a:off x="2044092" y="2051764"/>
                <a:ext cx="810381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m:rPr>
                          <m:sty m:val="p"/>
                        </m:rPr>
                        <a:rPr lang="zh-CN" altLang="zh-CN" sz="2400" i="1" dirty="0" smtClean="0">
                          <a:latin typeface="Cambria Math" panose="02040503050406030204" pitchFamily="18" charset="0"/>
                          <a:ea typeface="楷体" panose="02010609060101010101" pitchFamily="49" charset="-122"/>
                        </a:rPr>
                        <m:t>max</m:t>
                      </m:r>
                      <m:r>
                        <a:rPr lang="zh-CN" altLang="zh-CN" sz="2400" i="1" dirty="0" smtClean="0">
                          <a:latin typeface="Cambria Math" panose="02040503050406030204" pitchFamily="18" charset="0"/>
                          <a:ea typeface="楷体" panose="02010609060101010101" pitchFamily="49" charset="-122"/>
                        </a:rPr>
                        <m:t>⁡   </m:t>
                      </m:r>
                      <m:r>
                        <a:rPr lang="zh-CN" altLang="zh-CN" sz="2400" i="1" dirty="0" smtClean="0">
                          <a:latin typeface="Cambria Math" panose="02040503050406030204" pitchFamily="18" charset="0"/>
                          <a:ea typeface="楷体" panose="02010609060101010101" pitchFamily="49" charset="-122"/>
                        </a:rPr>
                        <m:t>𝑧</m:t>
                      </m:r>
                      <m:r>
                        <a:rPr lang="zh-CN" altLang="zh-CN" sz="2400" i="1" dirty="0" smtClean="0">
                          <a:latin typeface="Cambria Math" panose="02040503050406030204" pitchFamily="18" charset="0"/>
                          <a:ea typeface="楷体" panose="02010609060101010101" pitchFamily="49" charset="-122"/>
                        </a:rPr>
                        <m:t> = </m:t>
                      </m:r>
                      <m:r>
                        <a:rPr lang="zh-CN" altLang="zh-CN" sz="2400" i="1" dirty="0" smtClean="0">
                          <a:latin typeface="Cambria Math" panose="02040503050406030204" pitchFamily="18" charset="0"/>
                          <a:ea typeface="楷体" panose="02010609060101010101" pitchFamily="49" charset="-122"/>
                        </a:rPr>
                        <m:t>1</m:t>
                      </m:r>
                      <m:r>
                        <a:rPr lang="zh-CN" altLang="zh-CN" sz="2400" i="1" dirty="0" smtClean="0">
                          <a:latin typeface="Cambria Math" panose="02040503050406030204" pitchFamily="18" charset="0"/>
                          <a:ea typeface="楷体" panose="02010609060101010101" pitchFamily="49" charset="-122"/>
                        </a:rPr>
                        <m:t>.</m:t>
                      </m:r>
                      <m:r>
                        <a:rPr lang="zh-CN" altLang="zh-CN" sz="2400" i="1" dirty="0" smtClean="0">
                          <a:latin typeface="Cambria Math" panose="02040503050406030204" pitchFamily="18" charset="0"/>
                          <a:ea typeface="楷体" panose="02010609060101010101" pitchFamily="49" charset="-122"/>
                        </a:rPr>
                        <m:t>15</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m:t>
                      </m:r>
                      <m:r>
                        <a:rPr lang="zh-CN" altLang="zh-CN" sz="2400" i="1" baseline="-25000" dirty="0">
                          <a:latin typeface="Cambria Math" panose="02040503050406030204" pitchFamily="18" charset="0"/>
                          <a:ea typeface="楷体" panose="02010609060101010101" pitchFamily="49" charset="-122"/>
                        </a:rPr>
                        <m:t>𝐴</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28</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m:t>
                      </m:r>
                      <m:r>
                        <a:rPr lang="zh-CN" altLang="zh-CN" sz="2400" i="1" baseline="-25000" dirty="0">
                          <a:latin typeface="Cambria Math" panose="02040503050406030204" pitchFamily="18" charset="0"/>
                          <a:ea typeface="楷体" panose="02010609060101010101" pitchFamily="49" charset="-122"/>
                        </a:rPr>
                        <m:t>𝐵</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40</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m:t>
                      </m:r>
                      <m:r>
                        <a:rPr lang="zh-CN" altLang="zh-CN" sz="2400" i="1" baseline="-25000" dirty="0">
                          <a:latin typeface="Cambria Math" panose="02040503050406030204" pitchFamily="18" charset="0"/>
                          <a:ea typeface="楷体" panose="02010609060101010101" pitchFamily="49" charset="-122"/>
                        </a:rPr>
                        <m:t>𝐶</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06</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m:t>
                      </m:r>
                      <m:r>
                        <a:rPr lang="zh-CN" altLang="zh-CN" sz="2400" i="1" baseline="-25000" dirty="0">
                          <a:latin typeface="Cambria Math" panose="02040503050406030204" pitchFamily="18" charset="0"/>
                          <a:ea typeface="楷体" panose="02010609060101010101" pitchFamily="49" charset="-122"/>
                        </a:rPr>
                        <m:t>𝐷</m:t>
                      </m:r>
                    </m:oMath>
                  </m:oMathPara>
                </a14:m>
                <a:endParaRPr lang="en-US" altLang="zh-CN" sz="2400" baseline="-25000" dirty="0">
                  <a:latin typeface="Arial" panose="020B0604020202020204" pitchFamily="34" charset="0"/>
                  <a:ea typeface="楷体" panose="02010609060101010101" pitchFamily="49" charset="-122"/>
                </a:endParaRPr>
              </a:p>
            </p:txBody>
          </p:sp>
        </mc:Choice>
        <mc:Fallback>
          <p:sp>
            <p:nvSpPr>
              <p:cNvPr id="53256" name="Rectangle 8"/>
              <p:cNvSpPr>
                <a:spLocks noRot="1" noChangeAspect="1" noMove="1" noResize="1" noEditPoints="1" noAdjustHandles="1" noChangeArrowheads="1" noChangeShapeType="1" noTextEdit="1"/>
              </p:cNvSpPr>
              <p:nvPr/>
            </p:nvSpPr>
            <p:spPr bwMode="auto">
              <a:xfrm>
                <a:off x="2044092" y="2051764"/>
                <a:ext cx="8103815" cy="460375"/>
              </a:xfrm>
              <a:prstGeom prst="rect">
                <a:avLst/>
              </a:prstGeom>
              <a:blipFill rotWithShape="1">
                <a:blip r:embed="rId1"/>
                <a:stretch>
                  <a:fillRect t="-17" r="7" b="-260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1649413" y="2584651"/>
                <a:ext cx="8893174" cy="3784600"/>
              </a:xfrm>
              <a:prstGeom prst="rect">
                <a:avLst/>
              </a:prstGeom>
              <a:noFill/>
            </p:spPr>
            <p:txBody>
              <a:bodyPr wrap="square" rtlCol="0">
                <a:spAutoFit/>
              </a:bodyPr>
              <a:lstStyle/>
              <a:p>
                <a:pPr marL="285750" indent="-285750" algn="just">
                  <a:lnSpc>
                    <a:spcPct val="125000"/>
                  </a:lnSpc>
                  <a:buFont typeface="Arial" panose="020B0604020202020204" pitchFamily="34" charset="0"/>
                  <a:buChar char="•"/>
                </a:pPr>
                <a:r>
                  <a:rPr lang="zh-CN" altLang="en-US" sz="2000" dirty="0"/>
                  <a:t>项目</a:t>
                </a:r>
                <a14:m>
                  <m:oMath xmlns:m="http://schemas.openxmlformats.org/officeDocument/2006/math">
                    <m:r>
                      <a:rPr lang="en-US" altLang="zh-CN" sz="2000" i="1" dirty="0" smtClean="0">
                        <a:latin typeface="Cambria Math" panose="02040503050406030204" pitchFamily="18" charset="0"/>
                      </a:rPr>
                      <m:t>𝐷</m:t>
                    </m:r>
                  </m:oMath>
                </a14:m>
                <a:r>
                  <a:rPr lang="zh-CN" altLang="en-US" sz="2000" dirty="0"/>
                  <a:t>每年都可以投资，当年末可收回本息，所以，该公司每年应该把所有资金全部投出去，因此，有约束</a:t>
                </a:r>
                <a:endParaRPr lang="en-US" altLang="zh-CN" sz="2000" dirty="0"/>
              </a:p>
              <a:p>
                <a:pPr algn="ctr">
                  <a:lnSpc>
                    <a:spcPct val="125000"/>
                  </a:lnSpc>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𝐴</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𝐷</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100</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000</m:t>
                      </m:r>
                    </m:oMath>
                  </m:oMathPara>
                </a14:m>
                <a:endParaRPr lang="en-US" altLang="zh-CN" sz="2400" dirty="0"/>
              </a:p>
              <a:p>
                <a:pPr marL="285750" indent="-285750">
                  <a:lnSpc>
                    <a:spcPct val="125000"/>
                  </a:lnSpc>
                  <a:buFont typeface="Arial" panose="020B0604020202020204" pitchFamily="34" charset="0"/>
                  <a:buChar char="•"/>
                </a:pPr>
                <a:r>
                  <a:rPr lang="zh-CN" altLang="en-US" sz="2000" dirty="0"/>
                  <a:t>第二年年初可用资金为项目</a:t>
                </a:r>
                <a14:m>
                  <m:oMath xmlns:m="http://schemas.openxmlformats.org/officeDocument/2006/math">
                    <m:r>
                      <a:rPr lang="en-US" altLang="zh-CN" sz="2000" i="1" dirty="0" smtClean="0">
                        <a:latin typeface="Cambria Math" panose="02040503050406030204" pitchFamily="18" charset="0"/>
                      </a:rPr>
                      <m:t>𝐷</m:t>
                    </m:r>
                  </m:oMath>
                </a14:m>
                <a:r>
                  <a:rPr lang="zh-CN" altLang="en-US" sz="2000" dirty="0"/>
                  <a:t>在第一年回收的本息</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6</m:t>
                        </m:r>
                        <m:r>
                          <a:rPr lang="en-US" altLang="zh-CN" sz="2000" b="0" i="1" smtClean="0">
                            <a:latin typeface="Cambria Math" panose="02040503050406030204" pitchFamily="18" charset="0"/>
                          </a:rPr>
                          <m:t>%)</m:t>
                        </m:r>
                        <m:r>
                          <a:rPr lang="en-US" altLang="zh-CN" sz="2000" i="1">
                            <a:latin typeface="Cambria Math" panose="02040503050406030204" pitchFamily="18" charset="0"/>
                          </a:rPr>
                          <m:t>𝑥</m:t>
                        </m:r>
                      </m:e>
                      <m:sub>
                        <m:r>
                          <a:rPr lang="en-US" altLang="zh-CN" sz="2000" i="1">
                            <a:latin typeface="Cambria Math" panose="02040503050406030204" pitchFamily="18" charset="0"/>
                          </a:rPr>
                          <m:t>1</m:t>
                        </m:r>
                        <m:r>
                          <a:rPr lang="en-US" altLang="zh-CN" sz="2000" i="1">
                            <a:latin typeface="Cambria Math" panose="02040503050406030204" pitchFamily="18" charset="0"/>
                          </a:rPr>
                          <m:t>𝐷</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06</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𝐷</m:t>
                        </m:r>
                      </m:sub>
                    </m:sSub>
                  </m:oMath>
                </a14:m>
                <a:r>
                  <a:rPr lang="zh-CN" altLang="en-US" sz="2000" dirty="0"/>
                  <a:t>，第二年的投资分配为</a:t>
                </a:r>
                <a:endParaRPr lang="en-US" altLang="zh-CN" sz="2000" dirty="0"/>
              </a:p>
              <a:p>
                <a:pPr algn="ctr">
                  <a:lnSpc>
                    <a:spcPct val="125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r>
                            <a:rPr lang="en-US" altLang="zh-CN" sz="2400" i="1">
                              <a:latin typeface="Cambria Math" panose="02040503050406030204" pitchFamily="18" charset="0"/>
                            </a:rPr>
                            <m:t>𝐴</m:t>
                          </m:r>
                        </m:sub>
                      </m:sSub>
                      <m:r>
                        <a:rPr lang="en-US" altLang="zh-CN"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𝐶</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2</m:t>
                          </m:r>
                          <m:r>
                            <a:rPr lang="en-US" altLang="zh-CN" sz="2400" i="1">
                              <a:latin typeface="Cambria Math" panose="02040503050406030204" pitchFamily="18" charset="0"/>
                            </a:rPr>
                            <m:t>𝐷</m:t>
                          </m:r>
                        </m:sub>
                      </m:sSub>
                      <m:r>
                        <a:rPr lang="en-US" altLang="zh-CN" sz="2400" i="1">
                          <a:latin typeface="Cambria Math" panose="02040503050406030204" pitchFamily="18" charset="0"/>
                        </a:rPr>
                        <m:t>=</m:t>
                      </m:r>
                      <m:r>
                        <a:rPr lang="en-US" altLang="zh-CN" sz="2400" b="0" i="0" smtClean="0">
                          <a:latin typeface="Cambria Math" panose="02040503050406030204" pitchFamily="18" charset="0"/>
                        </a:rPr>
                        <m:t>1</m:t>
                      </m:r>
                      <m:r>
                        <a:rPr lang="en-US" altLang="zh-CN" sz="2400" b="0" i="0" smtClean="0">
                          <a:latin typeface="Cambria Math" panose="02040503050406030204" pitchFamily="18" charset="0"/>
                        </a:rPr>
                        <m:t>.</m:t>
                      </m:r>
                      <m:r>
                        <a:rPr lang="en-US" altLang="zh-CN" sz="2400" b="0" i="0" smtClean="0">
                          <a:latin typeface="Cambria Math" panose="02040503050406030204" pitchFamily="18" charset="0"/>
                        </a:rPr>
                        <m:t>06</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𝐷</m:t>
                          </m:r>
                        </m:sub>
                      </m:sSub>
                    </m:oMath>
                  </m:oMathPara>
                </a14:m>
                <a:endParaRPr lang="en-US" altLang="zh-CN" i="1" dirty="0"/>
              </a:p>
              <a:p>
                <a:pPr marL="285750" indent="-285750">
                  <a:lnSpc>
                    <a:spcPct val="125000"/>
                  </a:lnSpc>
                  <a:buFont typeface="Arial" panose="020B0604020202020204" pitchFamily="34" charset="0"/>
                  <a:buChar char="•"/>
                </a:pPr>
                <a:r>
                  <a:rPr lang="zh-CN" altLang="en-US" sz="2000" dirty="0"/>
                  <a:t>第三年年初可用资金为项目</a:t>
                </a:r>
                <a:r>
                  <a:rPr lang="en-US" altLang="zh-CN" sz="2000" dirty="0"/>
                  <a:t>A</a:t>
                </a:r>
                <a:r>
                  <a:rPr lang="zh-CN" altLang="en-US" sz="2000" dirty="0"/>
                  <a:t>第一年投资及项目</a:t>
                </a:r>
                <a:r>
                  <a:rPr lang="en-US" altLang="zh-CN" sz="2000" dirty="0"/>
                  <a:t>D</a:t>
                </a:r>
                <a:r>
                  <a:rPr lang="zh-CN" altLang="en-US" sz="2000" dirty="0"/>
                  <a:t>第二年投资所回收的本息总和，为</a:t>
                </a:r>
                <a14:m>
                  <m:oMath xmlns:m="http://schemas.openxmlformats.org/officeDocument/2006/math">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15</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𝐴</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06</m:t>
                        </m:r>
                        <m:r>
                          <a:rPr lang="en-US" altLang="zh-CN" sz="2000" i="1">
                            <a:latin typeface="Cambria Math" panose="02040503050406030204" pitchFamily="18" charset="0"/>
                          </a:rPr>
                          <m:t>𝑥</m:t>
                        </m:r>
                      </m:e>
                      <m:sub>
                        <m:r>
                          <a:rPr lang="en-US" altLang="zh-CN" sz="2000" b="0" i="1" smtClean="0">
                            <a:latin typeface="Cambria Math" panose="02040503050406030204" pitchFamily="18" charset="0"/>
                          </a:rPr>
                          <m:t>2</m:t>
                        </m:r>
                        <m:r>
                          <a:rPr lang="en-US" altLang="zh-CN" sz="2000" i="1">
                            <a:latin typeface="Cambria Math" panose="02040503050406030204" pitchFamily="18" charset="0"/>
                          </a:rPr>
                          <m:t>𝐷</m:t>
                        </m:r>
                      </m:sub>
                    </m:sSub>
                  </m:oMath>
                </a14:m>
                <a:r>
                  <a:rPr lang="zh-CN" altLang="en-US" sz="2000" dirty="0"/>
                  <a:t>，第三年的投资分配为</a:t>
                </a:r>
                <a:endParaRPr lang="en-US" altLang="zh-CN" sz="2000" dirty="0"/>
              </a:p>
              <a:p>
                <a:pPr algn="ctr">
                  <a:lnSpc>
                    <a:spcPct val="125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r>
                            <a:rPr lang="en-US" altLang="zh-CN" sz="2400" i="1">
                              <a:latin typeface="Cambria Math" panose="02040503050406030204" pitchFamily="18" charset="0"/>
                            </a:rPr>
                            <m:t>𝐴</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r>
                            <a:rPr lang="en-US" altLang="zh-CN" sz="2400" i="1">
                              <a:latin typeface="Cambria Math" panose="02040503050406030204" pitchFamily="18" charset="0"/>
                            </a:rPr>
                            <m:t>𝐶</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r>
                            <a:rPr lang="en-US" altLang="zh-CN" sz="2400" i="1">
                              <a:latin typeface="Cambria Math" panose="02040503050406030204" pitchFamily="18" charset="0"/>
                            </a:rPr>
                            <m:t>𝐷</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15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r>
                                <a:rPr lang="en-US" altLang="zh-CN" sz="2400" i="1">
                                  <a:latin typeface="Cambria Math" panose="02040503050406030204" pitchFamily="18" charset="0"/>
                                </a:rPr>
                                <m:t>𝐴</m:t>
                              </m:r>
                            </m:sub>
                          </m:sSub>
                          <m:r>
                            <a:rPr lang="en-US" altLang="zh-CN" sz="2400" i="1">
                              <a:latin typeface="Cambria Math" panose="02040503050406030204" pitchFamily="18" charset="0"/>
                            </a:rPr>
                            <m:t>+</m:t>
                          </m:r>
                          <m:r>
                            <a:rPr lang="en-US" altLang="zh-CN" sz="2400" i="1">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06</m:t>
                          </m:r>
                          <m:r>
                            <a:rPr lang="en-US" altLang="zh-CN" sz="2400" i="1">
                              <a:latin typeface="Cambria Math" panose="02040503050406030204" pitchFamily="18" charset="0"/>
                            </a:rPr>
                            <m:t>𝑥</m:t>
                          </m:r>
                        </m:e>
                        <m:sub>
                          <m:r>
                            <a:rPr lang="en-US" altLang="zh-CN" sz="2400" i="1">
                              <a:latin typeface="Cambria Math" panose="02040503050406030204" pitchFamily="18" charset="0"/>
                            </a:rPr>
                            <m:t>2</m:t>
                          </m:r>
                          <m:r>
                            <a:rPr lang="en-US" altLang="zh-CN" sz="2400" i="1">
                              <a:latin typeface="Cambria Math" panose="02040503050406030204" pitchFamily="18" charset="0"/>
                            </a:rPr>
                            <m:t>𝐷</m:t>
                          </m:r>
                        </m:sub>
                      </m:sSub>
                    </m:oMath>
                  </m:oMathPara>
                </a14:m>
                <a:endParaRPr lang="zh-CN" altLang="en-US" dirty="0"/>
              </a:p>
            </p:txBody>
          </p:sp>
        </mc:Choice>
        <mc:Fallback>
          <p:sp>
            <p:nvSpPr>
              <p:cNvPr id="2" name="文本框 1"/>
              <p:cNvSpPr txBox="1">
                <a:spLocks noRot="1" noChangeAspect="1" noMove="1" noResize="1" noEditPoints="1" noAdjustHandles="1" noChangeArrowheads="1" noChangeShapeType="1" noTextEdit="1"/>
              </p:cNvSpPr>
              <p:nvPr/>
            </p:nvSpPr>
            <p:spPr>
              <a:xfrm>
                <a:off x="1649413" y="2584651"/>
                <a:ext cx="8893174" cy="3784600"/>
              </a:xfrm>
              <a:prstGeom prst="rect">
                <a:avLst/>
              </a:prstGeom>
              <a:blipFill rotWithShape="1">
                <a:blip r:embed="rId2"/>
                <a:stretch>
                  <a:fillRect l="-4" t="-5" r="4" b="5"/>
                </a:stretch>
              </a:blipFill>
            </p:spPr>
            <p:txBody>
              <a:bodyPr/>
              <a:lstStyle/>
              <a:p>
                <a:r>
                  <a:rPr lang="zh-CN" altLang="en-US">
                    <a:noFill/>
                  </a:rPr>
                  <a:t> </a:t>
                </a:r>
              </a:p>
            </p:txBody>
          </p:sp>
        </mc:Fallback>
      </mc:AlternateContent>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6"/>
                                        </p:tgtEl>
                                        <p:attrNameLst>
                                          <p:attrName>style.visibility</p:attrName>
                                        </p:attrNameLst>
                                      </p:cBhvr>
                                      <p:to>
                                        <p:strVal val="visible"/>
                                      </p:to>
                                    </p:set>
                                    <p:anim calcmode="lin" valueType="num">
                                      <p:cBhvr additive="base">
                                        <p:cTn id="7" dur="500" fill="hold"/>
                                        <p:tgtEl>
                                          <p:spTgt spid="53256"/>
                                        </p:tgtEl>
                                        <p:attrNameLst>
                                          <p:attrName>ppt_x</p:attrName>
                                        </p:attrNameLst>
                                      </p:cBhvr>
                                      <p:tavLst>
                                        <p:tav tm="0">
                                          <p:val>
                                            <p:strVal val="ppt_x"/>
                                          </p:val>
                                        </p:tav>
                                        <p:tav tm="100000">
                                          <p:val>
                                            <p:strVal val="ppt_x"/>
                                          </p:val>
                                        </p:tav>
                                      </p:tavLst>
                                    </p:anim>
                                    <p:anim calcmode="lin" valueType="num">
                                      <p:cBhvr additive="base">
                                        <p:cTn id="8" dur="500" fill="hold"/>
                                        <p:tgtEl>
                                          <p:spTgt spid="53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6"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9" name="Rectangle 5"/>
          <p:cNvSpPr>
            <a:spLocks noChangeArrowheads="1"/>
          </p:cNvSpPr>
          <p:nvPr/>
        </p:nvSpPr>
        <p:spPr bwMode="auto">
          <a:xfrm>
            <a:off x="1651000" y="1557338"/>
            <a:ext cx="889317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000" dirty="0">
                <a:ea typeface="楷体" panose="02010609060101010101" pitchFamily="49" charset="-122"/>
                <a:cs typeface="Times New Roman" panose="02020603050405020304" pitchFamily="18" charset="0"/>
              </a:rPr>
              <a:t>（3）</a:t>
            </a:r>
            <a:r>
              <a:rPr lang="zh-CN" altLang="zh-CN" sz="2400" dirty="0">
                <a:latin typeface="Arial" panose="020B0604020202020204" pitchFamily="34" charset="0"/>
                <a:ea typeface="楷体" panose="02010609060101010101" pitchFamily="49" charset="-122"/>
              </a:rPr>
              <a:t>目标函数</a:t>
            </a:r>
            <a:r>
              <a:rPr lang="zh-CN" altLang="en-US" sz="2400" dirty="0">
                <a:latin typeface="Arial" panose="020B0604020202020204" pitchFamily="34" charset="0"/>
                <a:ea typeface="楷体" panose="02010609060101010101" pitchFamily="49" charset="-122"/>
              </a:rPr>
              <a:t>及约束条件</a:t>
            </a:r>
            <a:r>
              <a:rPr lang="zh-CN" altLang="zh-CN" sz="2400" dirty="0">
                <a:latin typeface="Arial" panose="020B0604020202020204" pitchFamily="34" charset="0"/>
                <a:ea typeface="楷体" panose="02010609060101010101" pitchFamily="49" charset="-122"/>
              </a:rPr>
              <a:t>：</a:t>
            </a:r>
            <a:endParaRPr lang="zh-CN" altLang="zh-CN" sz="2000" dirty="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1651001" y="2367047"/>
                <a:ext cx="8893174" cy="369252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zh-CN" altLang="en-US" sz="2000" dirty="0"/>
                  <a:t>第四年同上分析，投资分配为</a:t>
                </a:r>
                <a:endParaRPr lang="en-US" altLang="zh-CN" sz="2000" dirty="0"/>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r>
                            <a:rPr lang="en-US" altLang="zh-CN" sz="2400" i="1">
                              <a:latin typeface="Cambria Math" panose="02040503050406030204" pitchFamily="18" charset="0"/>
                            </a:rPr>
                            <m:t>𝐴</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r>
                            <a:rPr lang="en-US" altLang="zh-CN" sz="2400" b="0" i="1" smtClean="0">
                              <a:latin typeface="Cambria Math" panose="02040503050406030204" pitchFamily="18" charset="0"/>
                            </a:rPr>
                            <m:t>𝐷</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15</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𝐴</m:t>
                          </m:r>
                        </m:sub>
                      </m:sSub>
                      <m:r>
                        <a:rPr lang="en-US" altLang="zh-CN" sz="2400" b="0" i="1" smtClean="0">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r>
                        <a:rPr lang="en-US" altLang="zh-CN" sz="2400">
                          <a:latin typeface="Cambria Math" panose="02040503050406030204" pitchFamily="18" charset="0"/>
                        </a:rPr>
                        <m:t>06</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r>
                            <a:rPr lang="en-US" altLang="zh-CN" sz="2400" i="1">
                              <a:latin typeface="Cambria Math" panose="02040503050406030204" pitchFamily="18" charset="0"/>
                            </a:rPr>
                            <m:t>𝐷</m:t>
                          </m:r>
                        </m:sub>
                      </m:sSub>
                    </m:oMath>
                  </m:oMathPara>
                </a14:m>
                <a:endParaRPr lang="en-US" altLang="zh-CN" dirty="0"/>
              </a:p>
              <a:p>
                <a:pPr marL="285750" indent="-285750" algn="just">
                  <a:lnSpc>
                    <a:spcPct val="150000"/>
                  </a:lnSpc>
                  <a:buFont typeface="Arial" panose="020B0604020202020204" pitchFamily="34" charset="0"/>
                  <a:buChar char="•"/>
                </a:pPr>
                <a:r>
                  <a:rPr lang="zh-CN" altLang="en-US" sz="2000" dirty="0"/>
                  <a:t>第五年的投资分配为</a:t>
                </a:r>
                <a:endParaRPr lang="en-US" altLang="zh-CN" sz="2000" dirty="0"/>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5</m:t>
                          </m:r>
                          <m:r>
                            <a:rPr lang="en-US" altLang="zh-CN" sz="2400" i="1">
                              <a:latin typeface="Cambria Math" panose="02040503050406030204" pitchFamily="18" charset="0"/>
                            </a:rPr>
                            <m:t>𝐷</m:t>
                          </m:r>
                        </m:sub>
                      </m:sSub>
                      <m:r>
                        <a:rPr lang="en-US" altLang="zh-CN" sz="2400" i="1">
                          <a:latin typeface="Cambria Math" panose="02040503050406030204" pitchFamily="18" charset="0"/>
                        </a:rPr>
                        <m:t>=</m:t>
                      </m:r>
                      <m:r>
                        <a:rPr lang="en-US" altLang="zh-CN" sz="2400" i="1">
                          <a:latin typeface="Cambria Math" panose="02040503050406030204" pitchFamily="18" charset="0"/>
                        </a:rPr>
                        <m:t>1</m:t>
                      </m:r>
                      <m:r>
                        <a:rPr lang="en-US" altLang="zh-CN" sz="2400" i="1">
                          <a:latin typeface="Cambria Math" panose="02040503050406030204" pitchFamily="18" charset="0"/>
                        </a:rPr>
                        <m:t>.</m:t>
                      </m:r>
                      <m:r>
                        <a:rPr lang="en-US" altLang="zh-CN" sz="2400" i="1">
                          <a:latin typeface="Cambria Math" panose="02040503050406030204" pitchFamily="18" charset="0"/>
                        </a:rPr>
                        <m:t>15</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3</m:t>
                          </m:r>
                          <m:r>
                            <a:rPr lang="en-US" altLang="zh-CN" sz="2400" i="1">
                              <a:latin typeface="Cambria Math" panose="02040503050406030204" pitchFamily="18" charset="0"/>
                            </a:rPr>
                            <m:t>𝐴</m:t>
                          </m:r>
                        </m:sub>
                      </m:sSub>
                      <m:r>
                        <a:rPr lang="en-US" altLang="zh-CN" sz="2400" i="1">
                          <a:latin typeface="Cambria Math" panose="02040503050406030204" pitchFamily="18" charset="0"/>
                        </a:rPr>
                        <m:t>+</m:t>
                      </m:r>
                      <m:r>
                        <a:rPr lang="en-US" altLang="zh-CN" sz="2400">
                          <a:latin typeface="Cambria Math" panose="02040503050406030204" pitchFamily="18" charset="0"/>
                        </a:rPr>
                        <m:t>1</m:t>
                      </m:r>
                      <m:r>
                        <a:rPr lang="en-US" altLang="zh-CN" sz="2400">
                          <a:latin typeface="Cambria Math" panose="02040503050406030204" pitchFamily="18" charset="0"/>
                        </a:rPr>
                        <m:t>.</m:t>
                      </m:r>
                      <m:r>
                        <a:rPr lang="en-US" altLang="zh-CN" sz="2400">
                          <a:latin typeface="Cambria Math" panose="02040503050406030204" pitchFamily="18" charset="0"/>
                        </a:rPr>
                        <m:t>06</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4</m:t>
                          </m:r>
                          <m:r>
                            <a:rPr lang="en-US" altLang="zh-CN" sz="2400" i="1">
                              <a:latin typeface="Cambria Math" panose="02040503050406030204" pitchFamily="18" charset="0"/>
                            </a:rPr>
                            <m:t>𝐷</m:t>
                          </m:r>
                        </m:sub>
                      </m:sSub>
                    </m:oMath>
                  </m:oMathPara>
                </a14:m>
                <a:endParaRPr lang="en-US" altLang="zh-CN" dirty="0"/>
              </a:p>
              <a:p>
                <a:pPr marL="285750" indent="-285750">
                  <a:lnSpc>
                    <a:spcPct val="150000"/>
                  </a:lnSpc>
                  <a:buFont typeface="Arial" panose="020B0604020202020204" pitchFamily="34" charset="0"/>
                  <a:buChar char="•"/>
                </a:pPr>
                <a:r>
                  <a:rPr lang="zh-CN" altLang="en-US" sz="2000" dirty="0"/>
                  <a:t>项目</a:t>
                </a:r>
                <a:r>
                  <a:rPr lang="en-US" altLang="zh-CN" sz="2000" dirty="0"/>
                  <a:t>A</a:t>
                </a:r>
                <a:r>
                  <a:rPr lang="zh-CN" altLang="en-US" sz="2000" dirty="0"/>
                  <a:t>的投资额约束：</a:t>
                </a:r>
                <a:endParaRPr lang="en-US" altLang="zh-CN" sz="2000" dirty="0"/>
              </a:p>
              <a:p>
                <a:pPr algn="ctr">
                  <a:lnSpc>
                    <a:spcPct val="15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40</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000</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𝐴</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𝐴</m:t>
                          </m:r>
                        </m:sub>
                      </m:sSub>
                    </m:oMath>
                  </m:oMathPara>
                </a14:m>
                <a:endParaRPr lang="en-US" altLang="zh-CN" sz="2400" i="1" dirty="0">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r>
                            <a:rPr lang="en-US" altLang="zh-CN" sz="2400" i="1">
                              <a:latin typeface="Cambria Math" panose="02040503050406030204" pitchFamily="18" charset="0"/>
                            </a:rPr>
                            <m:t>𝐴</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100</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000</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𝐴</m:t>
                          </m:r>
                        </m:sub>
                      </m:sSub>
                    </m:oMath>
                  </m:oMathPara>
                </a14:m>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1651001" y="2367047"/>
                <a:ext cx="8893174" cy="3692525"/>
              </a:xfrm>
              <a:prstGeom prst="rect">
                <a:avLst/>
              </a:prstGeom>
              <a:blipFill rotWithShape="1">
                <a:blip r:embed="rId1"/>
                <a:stretch>
                  <a:fillRect t="-11"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Rectangle 8"/>
              <p:cNvSpPr>
                <a:spLocks noChangeArrowheads="1"/>
              </p:cNvSpPr>
              <p:nvPr/>
            </p:nvSpPr>
            <p:spPr bwMode="auto">
              <a:xfrm>
                <a:off x="2044092" y="2051764"/>
                <a:ext cx="810381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m:rPr>
                          <m:sty m:val="p"/>
                        </m:rPr>
                        <a:rPr lang="zh-CN" altLang="zh-CN" sz="2400" i="1" dirty="0" smtClean="0">
                          <a:latin typeface="Cambria Math" panose="02040503050406030204" pitchFamily="18" charset="0"/>
                          <a:ea typeface="楷体" panose="02010609060101010101" pitchFamily="49" charset="-122"/>
                        </a:rPr>
                        <m:t>max</m:t>
                      </m:r>
                      <m:r>
                        <a:rPr lang="zh-CN" altLang="zh-CN" sz="2400" i="1" dirty="0" smtClean="0">
                          <a:latin typeface="Cambria Math" panose="02040503050406030204" pitchFamily="18" charset="0"/>
                          <a:ea typeface="楷体" panose="02010609060101010101" pitchFamily="49" charset="-122"/>
                        </a:rPr>
                        <m:t>⁡   </m:t>
                      </m:r>
                      <m:r>
                        <a:rPr lang="zh-CN" altLang="zh-CN" sz="2400" i="1" dirty="0" smtClean="0">
                          <a:latin typeface="Cambria Math" panose="02040503050406030204" pitchFamily="18" charset="0"/>
                          <a:ea typeface="楷体" panose="02010609060101010101" pitchFamily="49" charset="-122"/>
                        </a:rPr>
                        <m:t>𝑧</m:t>
                      </m:r>
                      <m:r>
                        <a:rPr lang="zh-CN" altLang="zh-CN" sz="2400" i="1" dirty="0" smtClean="0">
                          <a:latin typeface="Cambria Math" panose="02040503050406030204" pitchFamily="18" charset="0"/>
                          <a:ea typeface="楷体" panose="02010609060101010101" pitchFamily="49" charset="-122"/>
                        </a:rPr>
                        <m:t> = </m:t>
                      </m:r>
                      <m:r>
                        <a:rPr lang="zh-CN" altLang="zh-CN" sz="2400" i="1" dirty="0" smtClean="0">
                          <a:latin typeface="Cambria Math" panose="02040503050406030204" pitchFamily="18" charset="0"/>
                          <a:ea typeface="楷体" panose="02010609060101010101" pitchFamily="49" charset="-122"/>
                        </a:rPr>
                        <m:t>1</m:t>
                      </m:r>
                      <m:r>
                        <a:rPr lang="zh-CN" altLang="zh-CN" sz="2400" i="1" dirty="0" smtClean="0">
                          <a:latin typeface="Cambria Math" panose="02040503050406030204" pitchFamily="18" charset="0"/>
                          <a:ea typeface="楷体" panose="02010609060101010101" pitchFamily="49" charset="-122"/>
                        </a:rPr>
                        <m:t>.</m:t>
                      </m:r>
                      <m:r>
                        <a:rPr lang="zh-CN" altLang="zh-CN" sz="2400" i="1" dirty="0" smtClean="0">
                          <a:latin typeface="Cambria Math" panose="02040503050406030204" pitchFamily="18" charset="0"/>
                          <a:ea typeface="楷体" panose="02010609060101010101" pitchFamily="49" charset="-122"/>
                        </a:rPr>
                        <m:t>15</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m:t>
                      </m:r>
                      <m:r>
                        <a:rPr lang="zh-CN" altLang="zh-CN" sz="2400" i="1" baseline="-25000" dirty="0">
                          <a:latin typeface="Cambria Math" panose="02040503050406030204" pitchFamily="18" charset="0"/>
                          <a:ea typeface="楷体" panose="02010609060101010101" pitchFamily="49" charset="-122"/>
                        </a:rPr>
                        <m:t>𝐴</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28</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m:t>
                      </m:r>
                      <m:r>
                        <a:rPr lang="zh-CN" altLang="zh-CN" sz="2400" i="1" baseline="-25000" dirty="0">
                          <a:latin typeface="Cambria Math" panose="02040503050406030204" pitchFamily="18" charset="0"/>
                          <a:ea typeface="楷体" panose="02010609060101010101" pitchFamily="49" charset="-122"/>
                        </a:rPr>
                        <m:t>𝐵</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40</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m:t>
                      </m:r>
                      <m:r>
                        <a:rPr lang="zh-CN" altLang="zh-CN" sz="2400" i="1" baseline="-25000" dirty="0">
                          <a:latin typeface="Cambria Math" panose="02040503050406030204" pitchFamily="18" charset="0"/>
                          <a:ea typeface="楷体" panose="02010609060101010101" pitchFamily="49" charset="-122"/>
                        </a:rPr>
                        <m:t>𝐶</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06</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m:t>
                      </m:r>
                      <m:r>
                        <a:rPr lang="zh-CN" altLang="zh-CN" sz="2400" i="1" baseline="-25000" dirty="0">
                          <a:latin typeface="Cambria Math" panose="02040503050406030204" pitchFamily="18" charset="0"/>
                          <a:ea typeface="楷体" panose="02010609060101010101" pitchFamily="49" charset="-122"/>
                        </a:rPr>
                        <m:t>𝐷</m:t>
                      </m:r>
                    </m:oMath>
                  </m:oMathPara>
                </a14:m>
                <a:endParaRPr lang="en-US" altLang="zh-CN" sz="2400" baseline="-25000" dirty="0">
                  <a:latin typeface="Arial" panose="020B0604020202020204" pitchFamily="34" charset="0"/>
                  <a:ea typeface="楷体" panose="02010609060101010101" pitchFamily="49" charset="-122"/>
                </a:endParaRPr>
              </a:p>
            </p:txBody>
          </p:sp>
        </mc:Choice>
        <mc:Fallback>
          <p:sp>
            <p:nvSpPr>
              <p:cNvPr id="8" name="Rectangle 8"/>
              <p:cNvSpPr>
                <a:spLocks noRot="1" noChangeAspect="1" noMove="1" noResize="1" noEditPoints="1" noAdjustHandles="1" noChangeArrowheads="1" noChangeShapeType="1" noTextEdit="1"/>
              </p:cNvSpPr>
              <p:nvPr/>
            </p:nvSpPr>
            <p:spPr bwMode="auto">
              <a:xfrm>
                <a:off x="2044092" y="2051764"/>
                <a:ext cx="8103815" cy="460375"/>
              </a:xfrm>
              <a:prstGeom prst="rect">
                <a:avLst/>
              </a:prstGeom>
              <a:blipFill rotWithShape="1">
                <a:blip r:embed="rId2"/>
                <a:stretch>
                  <a:fillRect t="-17" r="7" b="-260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9" name="Rectangle 5"/>
          <p:cNvSpPr>
            <a:spLocks noChangeArrowheads="1"/>
          </p:cNvSpPr>
          <p:nvPr/>
        </p:nvSpPr>
        <p:spPr bwMode="auto">
          <a:xfrm>
            <a:off x="1651000" y="1557338"/>
            <a:ext cx="889317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ea typeface="楷体" panose="02010609060101010101" pitchFamily="49" charset="-122"/>
                <a:cs typeface="Times New Roman" panose="02020603050405020304" pitchFamily="18" charset="0"/>
              </a:rPr>
              <a:t>（3）</a:t>
            </a:r>
            <a:r>
              <a:rPr lang="zh-CN" altLang="zh-CN" sz="2800" dirty="0">
                <a:latin typeface="Arial" panose="020B0604020202020204" pitchFamily="34" charset="0"/>
                <a:ea typeface="楷体" panose="02010609060101010101" pitchFamily="49" charset="-122"/>
              </a:rPr>
              <a:t>目标函数及模型：</a:t>
            </a:r>
            <a:endParaRPr lang="zh-CN" altLang="zh-CN" sz="2800" dirty="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29" name="Rectangle 8"/>
              <p:cNvSpPr>
                <a:spLocks noChangeArrowheads="1"/>
              </p:cNvSpPr>
              <p:nvPr/>
            </p:nvSpPr>
            <p:spPr bwMode="auto">
              <a:xfrm>
                <a:off x="2044091" y="2589211"/>
                <a:ext cx="8103815" cy="4101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a:rPr lang="en-US" altLang="zh-CN" sz="2000" b="0" i="1" dirty="0" smtClean="0">
                          <a:latin typeface="Cambria Math" panose="02040503050406030204" pitchFamily="18" charset="0"/>
                          <a:ea typeface="楷体" panose="02010609060101010101" pitchFamily="49" charset="-122"/>
                        </a:rPr>
                        <m:t>𝑠</m:t>
                      </m:r>
                      <m:r>
                        <a:rPr lang="en-US" altLang="zh-CN" sz="2000" b="0" i="1" dirty="0" smtClean="0">
                          <a:latin typeface="Cambria Math" panose="02040503050406030204" pitchFamily="18" charset="0"/>
                          <a:ea typeface="楷体" panose="02010609060101010101" pitchFamily="49" charset="-122"/>
                        </a:rPr>
                        <m:t>.</m:t>
                      </m:r>
                      <m:r>
                        <a:rPr lang="en-US" altLang="zh-CN" sz="2000" b="0" i="1" dirty="0" smtClean="0">
                          <a:latin typeface="Cambria Math" panose="02040503050406030204" pitchFamily="18" charset="0"/>
                          <a:ea typeface="楷体" panose="02010609060101010101" pitchFamily="49" charset="-122"/>
                        </a:rPr>
                        <m:t>𝑡</m:t>
                      </m:r>
                      <m:r>
                        <a:rPr lang="en-US" altLang="zh-CN" sz="2000" b="0" i="1" dirty="0" smtClean="0">
                          <a:latin typeface="Cambria Math" panose="02040503050406030204" pitchFamily="18" charset="0"/>
                          <a:ea typeface="楷体" panose="02010609060101010101" pitchFamily="49" charset="-122"/>
                        </a:rPr>
                        <m:t>. </m:t>
                      </m:r>
                      <m:d>
                        <m:dPr>
                          <m:begChr m:val="{"/>
                          <m:endChr m:val=""/>
                          <m:ctrlPr>
                            <a:rPr lang="en-US" altLang="zh-CN" sz="2000" b="0" i="1" dirty="0" smtClean="0">
                              <a:latin typeface="Cambria Math" panose="02040503050406030204" pitchFamily="18" charset="0"/>
                              <a:ea typeface="楷体" panose="02010609060101010101" pitchFamily="49" charset="-122"/>
                            </a:rPr>
                          </m:ctrlPr>
                        </m:dPr>
                        <m:e>
                          <m:eqArr>
                            <m:eqArrPr>
                              <m:ctrlPr>
                                <a:rPr lang="en-US" altLang="zh-CN" sz="2000" b="0" i="1" dirty="0" smtClean="0">
                                  <a:latin typeface="Cambria Math" panose="02040503050406030204" pitchFamily="18" charset="0"/>
                                  <a:ea typeface="楷体" panose="02010609060101010101" pitchFamily="49" charset="-122"/>
                                </a:rPr>
                              </m:ctrlPr>
                            </m:eqArrPr>
                            <m:e>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1</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1</m:t>
                              </m:r>
                              <m:r>
                                <a:rPr lang="zh-CN" altLang="zh-CN" sz="2000" i="1" baseline="-25000" dirty="0">
                                  <a:latin typeface="Cambria Math" panose="02040503050406030204" pitchFamily="18" charset="0"/>
                                  <a:ea typeface="楷体" panose="02010609060101010101" pitchFamily="49" charset="-122"/>
                                </a:rPr>
                                <m:t>𝐷</m:t>
                              </m:r>
                              <m:r>
                                <a:rPr lang="zh-CN" altLang="zh-CN" sz="2000" i="1" dirty="0">
                                  <a:latin typeface="Cambria Math" panose="02040503050406030204" pitchFamily="18" charset="0"/>
                                  <a:ea typeface="楷体" panose="02010609060101010101" pitchFamily="49" charset="-122"/>
                                </a:rPr>
                                <m:t> = </m:t>
                              </m:r>
                              <m:r>
                                <a:rPr lang="zh-CN" altLang="zh-CN" sz="2000" i="1" dirty="0">
                                  <a:latin typeface="Cambria Math" panose="02040503050406030204" pitchFamily="18" charset="0"/>
                                  <a:ea typeface="楷体" panose="02010609060101010101" pitchFamily="49" charset="-122"/>
                                </a:rPr>
                                <m:t>100</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000</m:t>
                              </m:r>
                            </m:e>
                            <m:e>
                              <m:r>
                                <a:rPr lang="en-US" altLang="zh-CN" sz="2000" i="1" dirty="0">
                                  <a:latin typeface="Cambria Math" panose="02040503050406030204" pitchFamily="18" charset="0"/>
                                  <a:ea typeface="楷体" panose="02010609060101010101" pitchFamily="49" charset="-122"/>
                                </a:rPr>
                                <m:t>−</m:t>
                              </m:r>
                              <m:r>
                                <a:rPr lang="en-US" altLang="zh-CN" sz="2000" i="1" dirty="0">
                                  <a:latin typeface="Cambria Math" panose="02040503050406030204" pitchFamily="18" charset="0"/>
                                  <a:ea typeface="楷体" panose="02010609060101010101" pitchFamily="49" charset="-122"/>
                                </a:rPr>
                                <m:t>1</m:t>
                              </m:r>
                              <m:r>
                                <a:rPr lang="en-US" altLang="zh-CN" sz="2000" i="1" dirty="0">
                                  <a:latin typeface="Cambria Math" panose="02040503050406030204" pitchFamily="18" charset="0"/>
                                  <a:ea typeface="楷体" panose="02010609060101010101" pitchFamily="49" charset="-122"/>
                                </a:rPr>
                                <m:t>.</m:t>
                              </m:r>
                              <m:r>
                                <a:rPr lang="en-US" altLang="zh-CN" sz="2000" i="1" dirty="0">
                                  <a:latin typeface="Cambria Math" panose="02040503050406030204" pitchFamily="18" charset="0"/>
                                  <a:ea typeface="楷体" panose="02010609060101010101" pitchFamily="49" charset="-122"/>
                                </a:rPr>
                                <m:t>06</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1</m:t>
                                  </m:r>
                                  <m:r>
                                    <a:rPr lang="en-US" altLang="zh-CN" sz="2000" b="0" i="1" dirty="0" smtClean="0">
                                      <a:latin typeface="Cambria Math" panose="02040503050406030204" pitchFamily="18" charset="0"/>
                                      <a:ea typeface="楷体" panose="02010609060101010101" pitchFamily="49" charset="-122"/>
                                    </a:rPr>
                                    <m:t>𝐷</m:t>
                                  </m:r>
                                </m:sub>
                              </m:sSub>
                              <m:r>
                                <a:rPr lang="en-US" altLang="zh-CN" sz="2000" i="1" dirty="0">
                                  <a:latin typeface="Cambria Math" panose="02040503050406030204" pitchFamily="18" charset="0"/>
                                  <a:ea typeface="楷体" panose="02010609060101010101" pitchFamily="49" charset="-122"/>
                                </a:rPr>
                                <m:t>+ </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2</m:t>
                                  </m:r>
                                  <m:r>
                                    <a:rPr lang="en-US" altLang="zh-CN" sz="2000" b="0" i="1" dirty="0" smtClean="0">
                                      <a:latin typeface="Cambria Math" panose="02040503050406030204" pitchFamily="18" charset="0"/>
                                      <a:ea typeface="楷体" panose="02010609060101010101" pitchFamily="49" charset="-122"/>
                                    </a:rPr>
                                    <m:t>𝐴</m:t>
                                  </m:r>
                                </m:sub>
                              </m:sSub>
                              <m:r>
                                <a:rPr lang="en-US" altLang="zh-CN" sz="2000" i="1" dirty="0">
                                  <a:latin typeface="Cambria Math" panose="02040503050406030204" pitchFamily="18" charset="0"/>
                                  <a:ea typeface="楷体" panose="02010609060101010101" pitchFamily="49" charset="-122"/>
                                </a:rPr>
                                <m:t>+</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2</m:t>
                                  </m:r>
                                  <m:r>
                                    <a:rPr lang="en-US" altLang="zh-CN" sz="2000" b="0" i="1" dirty="0" smtClean="0">
                                      <a:latin typeface="Cambria Math" panose="02040503050406030204" pitchFamily="18" charset="0"/>
                                      <a:ea typeface="楷体" panose="02010609060101010101" pitchFamily="49" charset="-122"/>
                                    </a:rPr>
                                    <m:t>𝐶</m:t>
                                  </m:r>
                                </m:sub>
                              </m:sSub>
                              <m:r>
                                <a:rPr lang="en-US" altLang="zh-CN" sz="2000" i="1" dirty="0">
                                  <a:latin typeface="Cambria Math" panose="02040503050406030204" pitchFamily="18" charset="0"/>
                                  <a:ea typeface="楷体" panose="02010609060101010101" pitchFamily="49" charset="-122"/>
                                </a:rPr>
                                <m:t>+</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2</m:t>
                                  </m:r>
                                  <m:r>
                                    <a:rPr lang="en-US" altLang="zh-CN" sz="2000" b="0" i="1" dirty="0" smtClean="0">
                                      <a:latin typeface="Cambria Math" panose="02040503050406030204" pitchFamily="18" charset="0"/>
                                      <a:ea typeface="楷体" panose="02010609060101010101" pitchFamily="49" charset="-122"/>
                                    </a:rPr>
                                    <m:t>𝐷</m:t>
                                  </m:r>
                                </m:sub>
                              </m:sSub>
                              <m:r>
                                <a:rPr lang="en-US" altLang="zh-CN" sz="2000" i="1" dirty="0">
                                  <a:latin typeface="Cambria Math" panose="02040503050406030204" pitchFamily="18" charset="0"/>
                                  <a:ea typeface="楷体" panose="02010609060101010101" pitchFamily="49" charset="-122"/>
                                </a:rPr>
                                <m:t>=</m:t>
                              </m:r>
                              <m:r>
                                <a:rPr lang="en-US" altLang="zh-CN" sz="2000" i="1" dirty="0">
                                  <a:latin typeface="Cambria Math" panose="02040503050406030204" pitchFamily="18" charset="0"/>
                                  <a:ea typeface="楷体" panose="02010609060101010101" pitchFamily="49" charset="-122"/>
                                </a:rPr>
                                <m:t>0</m:t>
                              </m:r>
                              <m:r>
                                <a:rPr lang="zh-CN" altLang="en-US" sz="2000" i="1" dirty="0">
                                  <a:latin typeface="Cambria Math" panose="02040503050406030204" pitchFamily="18" charset="0"/>
                                  <a:ea typeface="楷体" panose="02010609060101010101" pitchFamily="49" charset="-122"/>
                                </a:rPr>
                                <m:t>，</m:t>
                              </m:r>
                              <m:r>
                                <a:rPr lang="zh-CN" altLang="en-US" sz="2000" i="1" dirty="0">
                                  <a:latin typeface="Cambria Math" panose="02040503050406030204" pitchFamily="18" charset="0"/>
                                  <a:ea typeface="楷体" panose="02010609060101010101" pitchFamily="49" charset="-122"/>
                                </a:rPr>
                                <m:t> </m:t>
                              </m:r>
                            </m:e>
                            <m:e>
                              <m:r>
                                <a:rPr lang="en-US" altLang="zh-CN" sz="2000" i="1" dirty="0">
                                  <a:latin typeface="Cambria Math" panose="02040503050406030204" pitchFamily="18" charset="0"/>
                                  <a:ea typeface="楷体" panose="02010609060101010101" pitchFamily="49" charset="-122"/>
                                </a:rPr>
                                <m:t>−</m:t>
                              </m:r>
                              <m:r>
                                <a:rPr lang="en-US" altLang="zh-CN" sz="2000" i="1" dirty="0">
                                  <a:latin typeface="Cambria Math" panose="02040503050406030204" pitchFamily="18" charset="0"/>
                                  <a:ea typeface="楷体" panose="02010609060101010101" pitchFamily="49" charset="-122"/>
                                </a:rPr>
                                <m:t>1</m:t>
                              </m:r>
                              <m:r>
                                <a:rPr lang="en-US" altLang="zh-CN" sz="2000" i="1" dirty="0">
                                  <a:latin typeface="Cambria Math" panose="02040503050406030204" pitchFamily="18" charset="0"/>
                                  <a:ea typeface="楷体" panose="02010609060101010101" pitchFamily="49" charset="-122"/>
                                </a:rPr>
                                <m:t>.</m:t>
                              </m:r>
                              <m:r>
                                <a:rPr lang="en-US" altLang="zh-CN" sz="2000" i="1" dirty="0">
                                  <a:latin typeface="Cambria Math" panose="02040503050406030204" pitchFamily="18" charset="0"/>
                                  <a:ea typeface="楷体" panose="02010609060101010101" pitchFamily="49" charset="-122"/>
                                </a:rPr>
                                <m:t>15</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1</m:t>
                                  </m:r>
                                  <m:r>
                                    <a:rPr lang="en-US" altLang="zh-CN" sz="2000" b="0" i="1" dirty="0" smtClean="0">
                                      <a:latin typeface="Cambria Math" panose="02040503050406030204" pitchFamily="18" charset="0"/>
                                      <a:ea typeface="楷体" panose="02010609060101010101" pitchFamily="49" charset="-122"/>
                                    </a:rPr>
                                    <m:t>𝐴</m:t>
                                  </m:r>
                                </m:sub>
                              </m:sSub>
                              <m:r>
                                <a:rPr lang="zh-CN" altLang="en-US" sz="2000" i="1" dirty="0">
                                  <a:latin typeface="Cambria Math" panose="02040503050406030204" pitchFamily="18" charset="0"/>
                                  <a:ea typeface="楷体" panose="02010609060101010101" pitchFamily="49" charset="-122"/>
                                </a:rPr>
                                <m:t>−</m:t>
                              </m:r>
                              <m:r>
                                <a:rPr lang="en-US" altLang="zh-CN" sz="2000" i="1" dirty="0">
                                  <a:latin typeface="Cambria Math" panose="02040503050406030204" pitchFamily="18" charset="0"/>
                                  <a:ea typeface="楷体" panose="02010609060101010101" pitchFamily="49" charset="-122"/>
                                </a:rPr>
                                <m:t>1</m:t>
                              </m:r>
                              <m:r>
                                <a:rPr lang="en-US" altLang="zh-CN" sz="2000" i="1" dirty="0">
                                  <a:latin typeface="Cambria Math" panose="02040503050406030204" pitchFamily="18" charset="0"/>
                                  <a:ea typeface="楷体" panose="02010609060101010101" pitchFamily="49" charset="-122"/>
                                </a:rPr>
                                <m:t>.</m:t>
                              </m:r>
                              <m:r>
                                <a:rPr lang="en-US" altLang="zh-CN" sz="2000" i="1" dirty="0">
                                  <a:latin typeface="Cambria Math" panose="02040503050406030204" pitchFamily="18" charset="0"/>
                                  <a:ea typeface="楷体" panose="02010609060101010101" pitchFamily="49" charset="-122"/>
                                </a:rPr>
                                <m:t>06</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2</m:t>
                                  </m:r>
                                  <m:r>
                                    <a:rPr lang="en-US" altLang="zh-CN" sz="2000" b="0" i="1" dirty="0" smtClean="0">
                                      <a:latin typeface="Cambria Math" panose="02040503050406030204" pitchFamily="18" charset="0"/>
                                      <a:ea typeface="楷体" panose="02010609060101010101" pitchFamily="49" charset="-122"/>
                                    </a:rPr>
                                    <m:t>𝐷</m:t>
                                  </m:r>
                                </m:sub>
                              </m:sSub>
                              <m:r>
                                <a:rPr lang="en-US" altLang="zh-CN" sz="2000" i="1" dirty="0">
                                  <a:latin typeface="Cambria Math" panose="02040503050406030204" pitchFamily="18" charset="0"/>
                                  <a:ea typeface="楷体" panose="02010609060101010101" pitchFamily="49" charset="-122"/>
                                </a:rPr>
                                <m:t>+ </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3</m:t>
                                  </m:r>
                                  <m:r>
                                    <a:rPr lang="en-US" altLang="zh-CN" sz="2000" b="0" i="1" dirty="0" smtClean="0">
                                      <a:latin typeface="Cambria Math" panose="02040503050406030204" pitchFamily="18" charset="0"/>
                                      <a:ea typeface="楷体" panose="02010609060101010101" pitchFamily="49" charset="-122"/>
                                    </a:rPr>
                                    <m:t>𝐴</m:t>
                                  </m:r>
                                </m:sub>
                              </m:sSub>
                              <m:r>
                                <a:rPr lang="en-US" altLang="zh-CN" sz="2000" i="1" dirty="0">
                                  <a:latin typeface="Cambria Math" panose="02040503050406030204" pitchFamily="18" charset="0"/>
                                  <a:ea typeface="楷体" panose="02010609060101010101" pitchFamily="49" charset="-122"/>
                                </a:rPr>
                                <m:t>+</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3</m:t>
                                  </m:r>
                                  <m:r>
                                    <a:rPr lang="en-US" altLang="zh-CN" sz="2000" b="0" i="1" dirty="0" smtClean="0">
                                      <a:latin typeface="Cambria Math" panose="02040503050406030204" pitchFamily="18" charset="0"/>
                                      <a:ea typeface="楷体" panose="02010609060101010101" pitchFamily="49" charset="-122"/>
                                    </a:rPr>
                                    <m:t>𝐵</m:t>
                                  </m:r>
                                </m:sub>
                              </m:sSub>
                              <m:r>
                                <a:rPr lang="en-US" altLang="zh-CN" sz="2000" i="1" dirty="0">
                                  <a:latin typeface="Cambria Math" panose="02040503050406030204" pitchFamily="18" charset="0"/>
                                  <a:ea typeface="楷体" panose="02010609060101010101" pitchFamily="49" charset="-122"/>
                                </a:rPr>
                                <m:t>+</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en-US"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3</m:t>
                                  </m:r>
                                  <m:r>
                                    <a:rPr lang="en-US" altLang="zh-CN" sz="2000" b="0" i="1" dirty="0" smtClean="0">
                                      <a:latin typeface="Cambria Math" panose="02040503050406030204" pitchFamily="18" charset="0"/>
                                      <a:ea typeface="楷体" panose="02010609060101010101" pitchFamily="49" charset="-122"/>
                                    </a:rPr>
                                    <m:t>𝐷</m:t>
                                  </m:r>
                                </m:sub>
                              </m:sSub>
                              <m:r>
                                <a:rPr lang="en-US" altLang="zh-CN" sz="2000" i="1" dirty="0">
                                  <a:latin typeface="Cambria Math" panose="02040503050406030204" pitchFamily="18" charset="0"/>
                                  <a:ea typeface="楷体" panose="02010609060101010101" pitchFamily="49" charset="-122"/>
                                </a:rPr>
                                <m:t>=</m:t>
                              </m:r>
                              <m:r>
                                <a:rPr lang="en-US" altLang="zh-CN" sz="2000" i="1" dirty="0">
                                  <a:latin typeface="Cambria Math" panose="02040503050406030204" pitchFamily="18" charset="0"/>
                                  <a:ea typeface="楷体" panose="02010609060101010101" pitchFamily="49" charset="-122"/>
                                </a:rPr>
                                <m:t>0</m:t>
                              </m:r>
                              <m:r>
                                <a:rPr lang="zh-CN" altLang="en-US" sz="2000" i="1" dirty="0">
                                  <a:latin typeface="Cambria Math" panose="02040503050406030204" pitchFamily="18" charset="0"/>
                                  <a:ea typeface="楷体" panose="02010609060101010101" pitchFamily="49" charset="-122"/>
                                </a:rPr>
                                <m:t>，</m:t>
                              </m:r>
                            </m:e>
                            <m:e>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1</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15</m:t>
                              </m:r>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2</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1</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06</m:t>
                              </m:r>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3</m:t>
                              </m:r>
                              <m:r>
                                <a:rPr lang="zh-CN" altLang="zh-CN" sz="2000" i="1" baseline="-25000" dirty="0">
                                  <a:latin typeface="Cambria Math" panose="02040503050406030204" pitchFamily="18" charset="0"/>
                                  <a:ea typeface="楷体" panose="02010609060101010101" pitchFamily="49" charset="-122"/>
                                </a:rPr>
                                <m:t>𝐷</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4</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4</m:t>
                              </m:r>
                              <m:r>
                                <a:rPr lang="zh-CN" altLang="zh-CN" sz="2000" i="1" baseline="-25000" dirty="0">
                                  <a:latin typeface="Cambria Math" panose="02040503050406030204" pitchFamily="18" charset="0"/>
                                  <a:ea typeface="楷体" panose="02010609060101010101" pitchFamily="49" charset="-122"/>
                                </a:rPr>
                                <m:t>𝐷</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m:t>
                              </m:r>
                              <m:r>
                                <m:rPr>
                                  <m:nor/>
                                </m:rPr>
                                <a:rPr lang="zh-CN" altLang="zh-CN" sz="2000" dirty="0">
                                  <a:latin typeface="Arial" panose="020B0604020202020204" pitchFamily="34" charset="0"/>
                                </a:rPr>
                                <m:t> </m:t>
                              </m:r>
                            </m:e>
                            <m:e>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1</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15</m:t>
                              </m:r>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3</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1</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06</m:t>
                              </m:r>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4</m:t>
                              </m:r>
                              <m:r>
                                <a:rPr lang="zh-CN" altLang="zh-CN" sz="2000" i="1" baseline="-25000" dirty="0">
                                  <a:latin typeface="Cambria Math" panose="02040503050406030204" pitchFamily="18" charset="0"/>
                                  <a:ea typeface="楷体" panose="02010609060101010101" pitchFamily="49" charset="-122"/>
                                </a:rPr>
                                <m:t>𝐷</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5</m:t>
                              </m:r>
                              <m:r>
                                <a:rPr lang="zh-CN" altLang="zh-CN" sz="2000" i="1" baseline="-25000" dirty="0">
                                  <a:latin typeface="Cambria Math" panose="02040503050406030204" pitchFamily="18" charset="0"/>
                                  <a:ea typeface="楷体" panose="02010609060101010101" pitchFamily="49" charset="-122"/>
                                </a:rPr>
                                <m:t>𝐷</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m:t>
                              </m:r>
                              <m:r>
                                <m:rPr>
                                  <m:nor/>
                                </m:rPr>
                                <a:rPr lang="zh-CN" altLang="zh-CN" sz="2000" dirty="0">
                                  <a:latin typeface="Arial" panose="020B0604020202020204" pitchFamily="34" charset="0"/>
                                </a:rPr>
                                <m:t> </m:t>
                              </m:r>
                            </m:e>
                            <m:e>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1</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40</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000</m:t>
                              </m:r>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1</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m:t>
                              </m:r>
                            </m:e>
                            <m:e>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1</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20</m:t>
                              </m:r>
                              <m:r>
                                <a:rPr lang="en-US" altLang="zh-CN" sz="2000" b="0" i="1" dirty="0" smtClean="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000</m:t>
                              </m:r>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1</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m:t>
                              </m:r>
                            </m:e>
                            <m:e>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3</m:t>
                              </m:r>
                              <m:r>
                                <a:rPr lang="zh-CN" altLang="zh-CN" sz="2000" i="1" baseline="-25000" dirty="0">
                                  <a:latin typeface="Cambria Math" panose="02040503050406030204" pitchFamily="18" charset="0"/>
                                  <a:ea typeface="楷体" panose="02010609060101010101" pitchFamily="49" charset="-122"/>
                                </a:rPr>
                                <m:t>𝐵</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30</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000</m:t>
                              </m:r>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3</m:t>
                              </m:r>
                              <m:r>
                                <a:rPr lang="zh-CN" altLang="zh-CN" sz="2000" i="1" baseline="-25000" dirty="0">
                                  <a:latin typeface="Cambria Math" panose="02040503050406030204" pitchFamily="18" charset="0"/>
                                  <a:ea typeface="楷体" panose="02010609060101010101" pitchFamily="49" charset="-122"/>
                                </a:rPr>
                                <m:t>𝐵</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m:t>
                              </m:r>
                            </m:e>
                            <m:e>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3</m:t>
                              </m:r>
                              <m:r>
                                <a:rPr lang="zh-CN" altLang="zh-CN" sz="2000" i="1" baseline="-25000" dirty="0">
                                  <a:latin typeface="Cambria Math" panose="02040503050406030204" pitchFamily="18" charset="0"/>
                                  <a:ea typeface="楷体" panose="02010609060101010101" pitchFamily="49" charset="-122"/>
                                </a:rPr>
                                <m:t>𝐵</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50</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000</m:t>
                              </m:r>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3</m:t>
                              </m:r>
                              <m:r>
                                <a:rPr lang="zh-CN" altLang="zh-CN" sz="2000" i="1" baseline="-25000" dirty="0">
                                  <a:latin typeface="Cambria Math" panose="02040503050406030204" pitchFamily="18" charset="0"/>
                                  <a:ea typeface="楷体" panose="02010609060101010101" pitchFamily="49" charset="-122"/>
                                </a:rPr>
                                <m:t>𝐵</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m:t>
                              </m:r>
                            </m:e>
                            <m:e>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2</m:t>
                              </m:r>
                              <m:r>
                                <a:rPr lang="zh-CN" altLang="zh-CN" sz="2000" i="1" baseline="-25000" dirty="0">
                                  <a:latin typeface="Cambria Math" panose="02040503050406030204" pitchFamily="18" charset="0"/>
                                  <a:ea typeface="楷体" panose="02010609060101010101" pitchFamily="49" charset="-122"/>
                                </a:rPr>
                                <m:t>𝐶</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20</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000</m:t>
                              </m:r>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2</m:t>
                              </m:r>
                              <m:r>
                                <a:rPr lang="zh-CN" altLang="zh-CN" sz="2000" i="1" baseline="-25000" dirty="0">
                                  <a:latin typeface="Cambria Math" panose="02040503050406030204" pitchFamily="18" charset="0"/>
                                  <a:ea typeface="楷体" panose="02010609060101010101" pitchFamily="49" charset="-122"/>
                                </a:rPr>
                                <m:t>𝐶</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m:t>
                              </m:r>
                            </m:e>
                            <m:e>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2</m:t>
                              </m:r>
                              <m:r>
                                <a:rPr lang="zh-CN" altLang="zh-CN" sz="2000" i="1" baseline="-25000" dirty="0">
                                  <a:latin typeface="Cambria Math" panose="02040503050406030204" pitchFamily="18" charset="0"/>
                                  <a:ea typeface="楷体" panose="02010609060101010101" pitchFamily="49" charset="-122"/>
                                </a:rPr>
                                <m:t>𝐶</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4</m:t>
                              </m:r>
                              <m:r>
                                <a:rPr lang="zh-CN" altLang="zh-CN" sz="2000" i="1" dirty="0">
                                  <a:latin typeface="Cambria Math" panose="02040503050406030204" pitchFamily="18" charset="0"/>
                                  <a:ea typeface="楷体" panose="02010609060101010101" pitchFamily="49" charset="-122"/>
                                </a:rPr>
                                <m:t>，</m:t>
                              </m:r>
                            </m:e>
                            <m:e>
                              <m:r>
                                <a:rPr lang="zh-CN" altLang="zh-CN" sz="2000" i="1" dirty="0">
                                  <a:latin typeface="Cambria Math" panose="02040503050406030204" pitchFamily="18" charset="0"/>
                                  <a:ea typeface="楷体" panose="02010609060101010101" pitchFamily="49" charset="-122"/>
                                </a:rPr>
                                <m:t>𝑥</m:t>
                              </m:r>
                              <m:r>
                                <a:rPr lang="zh-CN" altLang="zh-CN" sz="2000" i="1" baseline="-25000" dirty="0">
                                  <a:latin typeface="Cambria Math" panose="02040503050406030204" pitchFamily="18" charset="0"/>
                                  <a:ea typeface="楷体" panose="02010609060101010101" pitchFamily="49" charset="-122"/>
                                </a:rPr>
                                <m:t>𝑖𝐴</m:t>
                              </m:r>
                              <m:r>
                                <a:rPr lang="zh-CN" altLang="zh-CN" sz="2000" i="1" dirty="0">
                                  <a:latin typeface="Cambria Math" panose="02040503050406030204" pitchFamily="18" charset="0"/>
                                  <a:ea typeface="楷体" panose="02010609060101010101" pitchFamily="49" charset="-122"/>
                                </a:rPr>
                                <m:t>，</m:t>
                              </m:r>
                              <m:sSub>
                                <m:sSubPr>
                                  <m:ctrlPr>
                                    <a:rPr lang="en-US" altLang="zh-CN" sz="2000" b="0" i="1" baseline="-25000" dirty="0" smtClean="0">
                                      <a:latin typeface="Cambria Math" panose="02040503050406030204" pitchFamily="18" charset="0"/>
                                      <a:ea typeface="楷体" panose="02010609060101010101" pitchFamily="49" charset="-122"/>
                                    </a:rPr>
                                  </m:ctrlPr>
                                </m:sSubPr>
                                <m:e>
                                  <m:r>
                                    <a:rPr lang="en-US" altLang="zh-CN" sz="2000" b="0" i="1" dirty="0" smtClean="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𝑖𝐵</m:t>
                                  </m:r>
                                </m:sub>
                              </m:sSub>
                              <m:r>
                                <a:rPr lang="zh-CN" altLang="zh-CN" sz="2000" i="1" dirty="0">
                                  <a:latin typeface="Cambria Math" panose="02040503050406030204" pitchFamily="18" charset="0"/>
                                  <a:ea typeface="楷体" panose="02010609060101010101" pitchFamily="49" charset="-122"/>
                                </a:rPr>
                                <m:t>，</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zh-CN"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𝑖𝐶</m:t>
                                  </m:r>
                                </m:sub>
                              </m:sSub>
                              <m:r>
                                <a:rPr lang="zh-CN" altLang="zh-CN" sz="2000" i="1" dirty="0">
                                  <a:latin typeface="Cambria Math" panose="02040503050406030204" pitchFamily="18" charset="0"/>
                                  <a:ea typeface="楷体" panose="02010609060101010101" pitchFamily="49" charset="-122"/>
                                </a:rPr>
                                <m:t>，</m:t>
                              </m:r>
                              <m:sSub>
                                <m:sSubPr>
                                  <m:ctrlPr>
                                    <a:rPr lang="en-US" altLang="zh-CN" sz="2000" b="0" i="1" dirty="0" smtClean="0">
                                      <a:latin typeface="Cambria Math" panose="02040503050406030204" pitchFamily="18" charset="0"/>
                                      <a:ea typeface="楷体" panose="02010609060101010101" pitchFamily="49" charset="-122"/>
                                    </a:rPr>
                                  </m:ctrlPr>
                                </m:sSubPr>
                                <m:e>
                                  <m:r>
                                    <a:rPr lang="zh-CN" altLang="zh-CN" sz="2000" i="1" dirty="0">
                                      <a:latin typeface="Cambria Math" panose="02040503050406030204" pitchFamily="18" charset="0"/>
                                      <a:ea typeface="楷体" panose="02010609060101010101" pitchFamily="49" charset="-122"/>
                                    </a:rPr>
                                    <m:t>𝑥</m:t>
                                  </m:r>
                                </m:e>
                                <m:sub>
                                  <m:r>
                                    <a:rPr lang="en-US" altLang="zh-CN" sz="2000" b="0" i="1" dirty="0" smtClean="0">
                                      <a:latin typeface="Cambria Math" panose="02040503050406030204" pitchFamily="18" charset="0"/>
                                      <a:ea typeface="楷体" panose="02010609060101010101" pitchFamily="49" charset="-122"/>
                                    </a:rPr>
                                    <m:t>𝑖𝐷</m:t>
                                  </m:r>
                                </m:sub>
                              </m:sSub>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    ( </m:t>
                              </m:r>
                              <m:r>
                                <a:rPr lang="zh-CN" altLang="zh-CN" sz="2000" i="1" dirty="0">
                                  <a:latin typeface="Cambria Math" panose="02040503050406030204" pitchFamily="18" charset="0"/>
                                  <a:ea typeface="楷体" panose="02010609060101010101" pitchFamily="49" charset="-122"/>
                                </a:rPr>
                                <m:t>𝑖</m:t>
                              </m:r>
                              <m:r>
                                <a:rPr lang="zh-CN" altLang="zh-CN" sz="2000" i="1" dirty="0">
                                  <a:latin typeface="Cambria Math" panose="02040503050406030204" pitchFamily="18" charset="0"/>
                                  <a:ea typeface="楷体" panose="02010609060101010101" pitchFamily="49" charset="-122"/>
                                </a:rPr>
                                <m:t> = </m:t>
                              </m:r>
                              <m:r>
                                <a:rPr lang="zh-CN" altLang="zh-CN" sz="2000" i="1" dirty="0">
                                  <a:latin typeface="Cambria Math" panose="02040503050406030204" pitchFamily="18" charset="0"/>
                                  <a:ea typeface="楷体" panose="02010609060101010101" pitchFamily="49" charset="-122"/>
                                </a:rPr>
                                <m:t>1</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2</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3</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4</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5</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m:t>
                              </m:r>
                              <m:r>
                                <m:rPr>
                                  <m:nor/>
                                </m:rPr>
                                <a:rPr lang="zh-CN" altLang="zh-CN" sz="2000" dirty="0">
                                  <a:latin typeface="Arial" panose="020B0604020202020204" pitchFamily="34" charset="0"/>
                                </a:rPr>
                                <m:t> </m:t>
                              </m:r>
                            </m:e>
                            <m:e>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2</m:t>
                              </m:r>
                              <m:r>
                                <a:rPr lang="zh-CN" altLang="zh-CN" sz="2000" i="1" baseline="-25000" dirty="0">
                                  <a:latin typeface="Cambria Math" panose="02040503050406030204" pitchFamily="18" charset="0"/>
                                  <a:ea typeface="楷体" panose="02010609060101010101" pitchFamily="49" charset="-122"/>
                                </a:rPr>
                                <m:t>𝐶</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为非负整数，</m:t>
                              </m:r>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1</m:t>
                              </m:r>
                              <m:r>
                                <a:rPr lang="zh-CN" altLang="zh-CN" sz="2000" i="1" baseline="-25000" dirty="0">
                                  <a:latin typeface="Cambria Math" panose="02040503050406030204" pitchFamily="18" charset="0"/>
                                  <a:ea typeface="楷体" panose="02010609060101010101" pitchFamily="49" charset="-122"/>
                                </a:rPr>
                                <m:t>𝐴</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𝑦</m:t>
                              </m:r>
                              <m:r>
                                <a:rPr lang="zh-CN" altLang="zh-CN" sz="2000" i="1" baseline="-25000" dirty="0">
                                  <a:latin typeface="Cambria Math" panose="02040503050406030204" pitchFamily="18" charset="0"/>
                                  <a:ea typeface="楷体" panose="02010609060101010101" pitchFamily="49" charset="-122"/>
                                </a:rPr>
                                <m:t>3</m:t>
                              </m:r>
                              <m:r>
                                <a:rPr lang="zh-CN" altLang="zh-CN" sz="2000" i="1" baseline="-25000" dirty="0">
                                  <a:latin typeface="Cambria Math" panose="02040503050406030204" pitchFamily="18" charset="0"/>
                                  <a:ea typeface="楷体" panose="02010609060101010101" pitchFamily="49" charset="-122"/>
                                </a:rPr>
                                <m:t>𝐵</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为</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0</m:t>
                              </m:r>
                              <m:r>
                                <a:rPr lang="zh-CN" altLang="zh-CN" sz="2000" i="1" dirty="0">
                                  <a:latin typeface="Cambria Math" panose="02040503050406030204" pitchFamily="18" charset="0"/>
                                  <a:ea typeface="楷体" panose="02010609060101010101" pitchFamily="49" charset="-122"/>
                                </a:rPr>
                                <m:t>−</m:t>
                              </m:r>
                              <m:r>
                                <a:rPr lang="zh-CN" altLang="zh-CN" sz="2000" i="1" dirty="0">
                                  <a:latin typeface="Cambria Math" panose="02040503050406030204" pitchFamily="18" charset="0"/>
                                  <a:ea typeface="楷体" panose="02010609060101010101" pitchFamily="49" charset="-122"/>
                                </a:rPr>
                                <m:t>1</m:t>
                              </m:r>
                              <m:r>
                                <a:rPr lang="zh-CN" altLang="zh-CN" sz="2000" i="1" dirty="0">
                                  <a:latin typeface="Cambria Math" panose="02040503050406030204" pitchFamily="18" charset="0"/>
                                  <a:ea typeface="楷体" panose="02010609060101010101" pitchFamily="49" charset="-122"/>
                                </a:rPr>
                                <m:t> </m:t>
                              </m:r>
                              <m:r>
                                <a:rPr lang="zh-CN" altLang="zh-CN" sz="2000" i="1" dirty="0">
                                  <a:latin typeface="Cambria Math" panose="02040503050406030204" pitchFamily="18" charset="0"/>
                                  <a:ea typeface="楷体" panose="02010609060101010101" pitchFamily="49" charset="-122"/>
                                </a:rPr>
                                <m:t>变量。</m:t>
                              </m:r>
                              <m:r>
                                <m:rPr>
                                  <m:nor/>
                                </m:rPr>
                                <a:rPr lang="zh-CN" altLang="zh-CN" sz="2000" dirty="0">
                                  <a:latin typeface="Arial" panose="020B0604020202020204" pitchFamily="34" charset="0"/>
                                </a:rPr>
                                <m:t> </m:t>
                              </m:r>
                            </m:e>
                          </m:eqArr>
                        </m:e>
                      </m:d>
                    </m:oMath>
                  </m:oMathPara>
                </a14:m>
                <a:endParaRPr lang="en-US" altLang="zh-CN" sz="2000" baseline="-25000" dirty="0">
                  <a:latin typeface="Arial" panose="020B0604020202020204" pitchFamily="34" charset="0"/>
                  <a:ea typeface="楷体" panose="02010609060101010101" pitchFamily="49" charset="-122"/>
                </a:endParaRPr>
              </a:p>
            </p:txBody>
          </p:sp>
        </mc:Choice>
        <mc:Fallback>
          <p:sp>
            <p:nvSpPr>
              <p:cNvPr id="29" name="Rectangle 8"/>
              <p:cNvSpPr>
                <a:spLocks noRot="1" noChangeAspect="1" noMove="1" noResize="1" noEditPoints="1" noAdjustHandles="1" noChangeArrowheads="1" noChangeShapeType="1" noTextEdit="1"/>
              </p:cNvSpPr>
              <p:nvPr/>
            </p:nvSpPr>
            <p:spPr bwMode="auto">
              <a:xfrm>
                <a:off x="2044091" y="2589211"/>
                <a:ext cx="8103815" cy="4101465"/>
              </a:xfrm>
              <a:prstGeom prst="rect">
                <a:avLst/>
              </a:prstGeom>
              <a:blipFill rotWithShape="1">
                <a:blip r:embed="rId1"/>
                <a:stretch>
                  <a:fillRect t="-8" r="7" b="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Rectangle 8"/>
              <p:cNvSpPr>
                <a:spLocks noChangeArrowheads="1"/>
              </p:cNvSpPr>
              <p:nvPr/>
            </p:nvSpPr>
            <p:spPr bwMode="auto">
              <a:xfrm>
                <a:off x="2044092" y="2051764"/>
                <a:ext cx="810381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buClr>
                    <a:srgbClr val="000000"/>
                  </a:buClr>
                  <a:buSzPct val="100000"/>
                  <a:tabLst>
                    <a:tab pos="190500" algn="l"/>
                    <a:tab pos="1993900" algn="l"/>
                  </a:tabLst>
                </a:pPr>
                <a14:m>
                  <m:oMathPara xmlns:m="http://schemas.openxmlformats.org/officeDocument/2006/math">
                    <m:oMathParaPr>
                      <m:jc m:val="centerGroup"/>
                    </m:oMathParaPr>
                    <m:oMath xmlns:m="http://schemas.openxmlformats.org/officeDocument/2006/math">
                      <m:r>
                        <m:rPr>
                          <m:sty m:val="p"/>
                        </m:rPr>
                        <a:rPr lang="zh-CN" altLang="zh-CN" sz="2400" i="1" dirty="0" smtClean="0">
                          <a:latin typeface="Cambria Math" panose="02040503050406030204" pitchFamily="18" charset="0"/>
                          <a:ea typeface="楷体" panose="02010609060101010101" pitchFamily="49" charset="-122"/>
                        </a:rPr>
                        <m:t>max</m:t>
                      </m:r>
                      <m:r>
                        <a:rPr lang="zh-CN" altLang="zh-CN" sz="2400" i="1" dirty="0" smtClean="0">
                          <a:latin typeface="Cambria Math" panose="02040503050406030204" pitchFamily="18" charset="0"/>
                          <a:ea typeface="楷体" panose="02010609060101010101" pitchFamily="49" charset="-122"/>
                        </a:rPr>
                        <m:t>⁡   </m:t>
                      </m:r>
                      <m:r>
                        <a:rPr lang="zh-CN" altLang="zh-CN" sz="2400" i="1" dirty="0" smtClean="0">
                          <a:latin typeface="Cambria Math" panose="02040503050406030204" pitchFamily="18" charset="0"/>
                          <a:ea typeface="楷体" panose="02010609060101010101" pitchFamily="49" charset="-122"/>
                        </a:rPr>
                        <m:t>𝑧</m:t>
                      </m:r>
                      <m:r>
                        <a:rPr lang="zh-CN" altLang="zh-CN" sz="2400" i="1" dirty="0" smtClean="0">
                          <a:latin typeface="Cambria Math" panose="02040503050406030204" pitchFamily="18" charset="0"/>
                          <a:ea typeface="楷体" panose="02010609060101010101" pitchFamily="49" charset="-122"/>
                        </a:rPr>
                        <m:t> = </m:t>
                      </m:r>
                      <m:r>
                        <a:rPr lang="zh-CN" altLang="zh-CN" sz="2400" i="1" dirty="0" smtClean="0">
                          <a:latin typeface="Cambria Math" panose="02040503050406030204" pitchFamily="18" charset="0"/>
                          <a:ea typeface="楷体" panose="02010609060101010101" pitchFamily="49" charset="-122"/>
                        </a:rPr>
                        <m:t>1</m:t>
                      </m:r>
                      <m:r>
                        <a:rPr lang="zh-CN" altLang="zh-CN" sz="2400" i="1" dirty="0" smtClean="0">
                          <a:latin typeface="Cambria Math" panose="02040503050406030204" pitchFamily="18" charset="0"/>
                          <a:ea typeface="楷体" panose="02010609060101010101" pitchFamily="49" charset="-122"/>
                        </a:rPr>
                        <m:t>.</m:t>
                      </m:r>
                      <m:r>
                        <a:rPr lang="zh-CN" altLang="zh-CN" sz="2400" i="1" dirty="0" smtClean="0">
                          <a:latin typeface="Cambria Math" panose="02040503050406030204" pitchFamily="18" charset="0"/>
                          <a:ea typeface="楷体" panose="02010609060101010101" pitchFamily="49" charset="-122"/>
                        </a:rPr>
                        <m:t>15</m:t>
                      </m:r>
                      <m:r>
                        <a:rPr lang="zh-CN" altLang="zh-CN" sz="2400" i="1" dirty="0" smtClean="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4</m:t>
                      </m:r>
                      <m:r>
                        <a:rPr lang="zh-CN" altLang="zh-CN" sz="2400" i="1" baseline="-25000" dirty="0">
                          <a:latin typeface="Cambria Math" panose="02040503050406030204" pitchFamily="18" charset="0"/>
                          <a:ea typeface="楷体" panose="02010609060101010101" pitchFamily="49" charset="-122"/>
                        </a:rPr>
                        <m:t>𝐴</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28</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3</m:t>
                      </m:r>
                      <m:r>
                        <a:rPr lang="zh-CN" altLang="zh-CN" sz="2400" i="1" baseline="-25000" dirty="0">
                          <a:latin typeface="Cambria Math" panose="02040503050406030204" pitchFamily="18" charset="0"/>
                          <a:ea typeface="楷体" panose="02010609060101010101" pitchFamily="49" charset="-122"/>
                        </a:rPr>
                        <m:t>𝐵</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40</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2</m:t>
                      </m:r>
                      <m:r>
                        <a:rPr lang="zh-CN" altLang="zh-CN" sz="2400" i="1" baseline="-25000" dirty="0">
                          <a:latin typeface="Cambria Math" panose="02040503050406030204" pitchFamily="18" charset="0"/>
                          <a:ea typeface="楷体" panose="02010609060101010101" pitchFamily="49" charset="-122"/>
                        </a:rPr>
                        <m:t>𝐶</m:t>
                      </m:r>
                      <m:r>
                        <a:rPr lang="zh-CN" altLang="zh-CN" sz="2400" i="1" dirty="0">
                          <a:latin typeface="Cambria Math" panose="02040503050406030204" pitchFamily="18" charset="0"/>
                          <a:ea typeface="楷体" panose="02010609060101010101" pitchFamily="49" charset="-122"/>
                        </a:rPr>
                        <m:t>+ </m:t>
                      </m:r>
                      <m:r>
                        <a:rPr lang="zh-CN" altLang="zh-CN" sz="2400" i="1" dirty="0">
                          <a:latin typeface="Cambria Math" panose="02040503050406030204" pitchFamily="18" charset="0"/>
                          <a:ea typeface="楷体" panose="02010609060101010101" pitchFamily="49" charset="-122"/>
                        </a:rPr>
                        <m:t>1</m:t>
                      </m:r>
                      <m:r>
                        <a:rPr lang="zh-CN" altLang="zh-CN" sz="2400" i="1" dirty="0">
                          <a:latin typeface="Cambria Math" panose="02040503050406030204" pitchFamily="18" charset="0"/>
                          <a:ea typeface="楷体" panose="02010609060101010101" pitchFamily="49" charset="-122"/>
                        </a:rPr>
                        <m:t>.</m:t>
                      </m:r>
                      <m:r>
                        <a:rPr lang="zh-CN" altLang="zh-CN" sz="2400" i="1" dirty="0">
                          <a:latin typeface="Cambria Math" panose="02040503050406030204" pitchFamily="18" charset="0"/>
                          <a:ea typeface="楷体" panose="02010609060101010101" pitchFamily="49" charset="-122"/>
                        </a:rPr>
                        <m:t>06</m:t>
                      </m:r>
                      <m:r>
                        <a:rPr lang="zh-CN" altLang="zh-CN" sz="2400" i="1" dirty="0">
                          <a:latin typeface="Cambria Math" panose="02040503050406030204" pitchFamily="18" charset="0"/>
                          <a:ea typeface="楷体" panose="02010609060101010101" pitchFamily="49" charset="-122"/>
                        </a:rPr>
                        <m:t>𝑥</m:t>
                      </m:r>
                      <m:r>
                        <a:rPr lang="zh-CN" altLang="zh-CN" sz="2400" i="1" baseline="-25000" dirty="0">
                          <a:latin typeface="Cambria Math" panose="02040503050406030204" pitchFamily="18" charset="0"/>
                          <a:ea typeface="楷体" panose="02010609060101010101" pitchFamily="49" charset="-122"/>
                        </a:rPr>
                        <m:t>5</m:t>
                      </m:r>
                      <m:r>
                        <a:rPr lang="zh-CN" altLang="zh-CN" sz="2400" i="1" baseline="-25000" dirty="0">
                          <a:latin typeface="Cambria Math" panose="02040503050406030204" pitchFamily="18" charset="0"/>
                          <a:ea typeface="楷体" panose="02010609060101010101" pitchFamily="49" charset="-122"/>
                        </a:rPr>
                        <m:t>𝐷</m:t>
                      </m:r>
                    </m:oMath>
                  </m:oMathPara>
                </a14:m>
                <a:endParaRPr lang="en-US" altLang="zh-CN" sz="2400" baseline="-25000" dirty="0">
                  <a:latin typeface="Arial" panose="020B0604020202020204" pitchFamily="34" charset="0"/>
                  <a:ea typeface="楷体" panose="02010609060101010101" pitchFamily="49" charset="-122"/>
                </a:endParaRPr>
              </a:p>
            </p:txBody>
          </p:sp>
        </mc:Choice>
        <mc:Fallback>
          <p:sp>
            <p:nvSpPr>
              <p:cNvPr id="8" name="Rectangle 8"/>
              <p:cNvSpPr>
                <a:spLocks noRot="1" noChangeAspect="1" noMove="1" noResize="1" noEditPoints="1" noAdjustHandles="1" noChangeArrowheads="1" noChangeShapeType="1" noTextEdit="1"/>
              </p:cNvSpPr>
              <p:nvPr/>
            </p:nvSpPr>
            <p:spPr bwMode="auto">
              <a:xfrm>
                <a:off x="2044092" y="2051764"/>
                <a:ext cx="8103815" cy="460375"/>
              </a:xfrm>
              <a:prstGeom prst="rect">
                <a:avLst/>
              </a:prstGeom>
              <a:blipFill rotWithShape="1">
                <a:blip r:embed="rId2"/>
                <a:stretch>
                  <a:fillRect t="-17" r="7" b="-260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8"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2</a:t>
            </a:r>
            <a:endParaRPr lang="en-US" altLang="zh-CN" dirty="0" err="1">
              <a:latin typeface="华文楷体" panose="02010600040101010101" charset="-122"/>
              <a:ea typeface="华文楷体" panose="02010600040101010101" charset="-122"/>
            </a:endParaRPr>
          </a:p>
        </p:txBody>
      </p:sp>
      <p:sp>
        <p:nvSpPr>
          <p:cNvPr id="3" name="文本框 2"/>
          <p:cNvSpPr txBox="1"/>
          <p:nvPr/>
        </p:nvSpPr>
        <p:spPr>
          <a:xfrm>
            <a:off x="829945" y="1125855"/>
            <a:ext cx="10675620" cy="1943735"/>
          </a:xfrm>
          <a:prstGeom prst="rect">
            <a:avLst/>
          </a:prstGeom>
          <a:noFill/>
        </p:spPr>
        <p:txBody>
          <a:bodyPr wrap="square" rtlCol="0">
            <a:noAutofit/>
          </a:bodyPr>
          <a:p>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飞天音响有限公司生产的飞天牌有源音箱供不应求。该公司目前有两家工厂设在北京和天津，考虑到电子元器材多为南方省供应，该公司打算在深圳或者广州再新建一家工厂。该公司根据市场分设了东北、华北、华东、西南四个销售事业部，各个地区的需求不同，故新工厂的选择要考虑运输成本。各工厂的生产能力如下表所示。</a:t>
            </a:r>
            <a:endParaRPr lang="zh-CN" altLang="en-US" sz="2000">
              <a:latin typeface="华文楷体" panose="02010600040101010101" charset="-122"/>
              <a:ea typeface="华文楷体" panose="02010600040101010101" charset="-122"/>
              <a:cs typeface="华文楷体" panose="02010600040101010101" charset="-122"/>
            </a:endParaRPr>
          </a:p>
          <a:p>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深圳或广州的工厂每年的生产费用预计为</a:t>
            </a:r>
            <a:r>
              <a:rPr lang="en-US" altLang="zh-CN" sz="2000">
                <a:latin typeface="华文楷体" panose="02010600040101010101" charset="-122"/>
                <a:ea typeface="华文楷体" panose="02010600040101010101" charset="-122"/>
                <a:cs typeface="华文楷体" panose="02010600040101010101" charset="-122"/>
              </a:rPr>
              <a:t>1000</a:t>
            </a:r>
            <a:r>
              <a:rPr lang="zh-CN" altLang="en-US" sz="2000">
                <a:latin typeface="华文楷体" panose="02010600040101010101" charset="-122"/>
                <a:ea typeface="华文楷体" panose="02010600040101010101" charset="-122"/>
                <a:cs typeface="华文楷体" panose="02010600040101010101" charset="-122"/>
              </a:rPr>
              <a:t>万或者</a:t>
            </a:r>
            <a:r>
              <a:rPr lang="en-US" altLang="zh-CN" sz="2000">
                <a:latin typeface="华文楷体" panose="02010600040101010101" charset="-122"/>
                <a:ea typeface="华文楷体" panose="02010600040101010101" charset="-122"/>
                <a:cs typeface="华文楷体" panose="02010600040101010101" charset="-122"/>
              </a:rPr>
              <a:t>1200</a:t>
            </a:r>
            <a:r>
              <a:rPr lang="zh-CN" altLang="en-US" sz="2000">
                <a:latin typeface="华文楷体" panose="02010600040101010101" charset="-122"/>
                <a:ea typeface="华文楷体" panose="02010600040101010101" charset="-122"/>
                <a:cs typeface="华文楷体" panose="02010600040101010101" charset="-122"/>
              </a:rPr>
              <a:t>万元。问应选择深圳还是广州建厂，可使得每年的总生产费用及运输费用成本最少？</a:t>
            </a:r>
            <a:endParaRPr lang="zh-CN" altLang="en-US" sz="2000">
              <a:latin typeface="华文楷体" panose="02010600040101010101" charset="-122"/>
              <a:ea typeface="华文楷体" panose="02010600040101010101" charset="-122"/>
              <a:cs typeface="华文楷体" panose="02010600040101010101" charset="-122"/>
            </a:endParaRPr>
          </a:p>
          <a:p>
            <a:endParaRPr lang="zh-CN" altLang="en-US" sz="2000">
              <a:latin typeface="华文楷体" panose="02010600040101010101" charset="-122"/>
              <a:ea typeface="华文楷体" panose="02010600040101010101" charset="-122"/>
              <a:cs typeface="华文楷体" panose="02010600040101010101" charset="-122"/>
            </a:endParaRPr>
          </a:p>
        </p:txBody>
      </p:sp>
      <p:graphicFrame>
        <p:nvGraphicFramePr>
          <p:cNvPr id="4" name="表格 3"/>
          <p:cNvGraphicFramePr/>
          <p:nvPr>
            <p:custDataLst>
              <p:tags r:id="rId1"/>
            </p:custDataLst>
          </p:nvPr>
        </p:nvGraphicFramePr>
        <p:xfrm>
          <a:off x="904240" y="3139440"/>
          <a:ext cx="10450830" cy="2964180"/>
        </p:xfrm>
        <a:graphic>
          <a:graphicData uri="http://schemas.openxmlformats.org/drawingml/2006/table">
            <a:tbl>
              <a:tblPr firstRow="1" bandRow="1">
                <a:tableStyleId>{5C22544A-7EE6-4342-B048-85BDC9FD1C3A}</a:tableStyleId>
              </a:tblPr>
              <a:tblGrid>
                <a:gridCol w="1741805"/>
                <a:gridCol w="1741805"/>
                <a:gridCol w="1741805"/>
                <a:gridCol w="1741805"/>
                <a:gridCol w="1741805"/>
                <a:gridCol w="1741805"/>
              </a:tblGrid>
              <a:tr h="965200">
                <a:tc>
                  <a:txBody>
                    <a:bodyPr/>
                    <a:p>
                      <a:pPr algn="r">
                        <a:buNone/>
                      </a:pPr>
                      <a:r>
                        <a:rPr lang="zh-CN" altLang="en-US">
                          <a:latin typeface="华文楷体" panose="02010600040101010101" charset="-122"/>
                          <a:ea typeface="华文楷体" panose="02010600040101010101" charset="-122"/>
                        </a:rPr>
                        <a:t>事业部</a:t>
                      </a:r>
                      <a:endParaRPr lang="zh-CN" altLang="en-US">
                        <a:latin typeface="华文楷体" panose="02010600040101010101" charset="-122"/>
                        <a:ea typeface="华文楷体" panose="02010600040101010101" charset="-122"/>
                      </a:endParaRPr>
                    </a:p>
                    <a:p>
                      <a:pPr algn="ctr">
                        <a:buNone/>
                      </a:pPr>
                      <a:r>
                        <a:rPr lang="zh-CN" altLang="en-US">
                          <a:latin typeface="华文楷体" panose="02010600040101010101" charset="-122"/>
                          <a:ea typeface="华文楷体" panose="02010600040101010101" charset="-122"/>
                        </a:rPr>
                        <a:t>单价</a:t>
                      </a:r>
                      <a:endParaRPr lang="zh-CN" altLang="en-US">
                        <a:latin typeface="华文楷体" panose="02010600040101010101" charset="-122"/>
                        <a:ea typeface="华文楷体" panose="02010600040101010101" charset="-122"/>
                      </a:endParaRPr>
                    </a:p>
                    <a:p>
                      <a:pPr algn="l">
                        <a:buNone/>
                      </a:pPr>
                      <a:r>
                        <a:rPr lang="zh-CN" altLang="en-US">
                          <a:latin typeface="华文楷体" panose="02010600040101010101" charset="-122"/>
                          <a:ea typeface="华文楷体" panose="02010600040101010101" charset="-122"/>
                        </a:rPr>
                        <a:t>产地</a:t>
                      </a:r>
                      <a:endParaRPr lang="zh-CN" altLang="en-US">
                        <a:latin typeface="华文楷体" panose="02010600040101010101" charset="-122"/>
                        <a:ea typeface="华文楷体" panose="02010600040101010101" charset="-122"/>
                      </a:endParaRPr>
                    </a:p>
                  </a:txBody>
                  <a:tcPr>
                    <a:lnL>
                      <a:noFill/>
                    </a:lnL>
                    <a:lnR>
                      <a:noFill/>
                    </a:lnR>
                    <a:lnT>
                      <a:noFill/>
                    </a:lnT>
                    <a:lnB>
                      <a:noFill/>
                    </a:lnB>
                    <a:lnTlToBr w="12700">
                      <a:solidFill>
                        <a:schemeClr val="tx1"/>
                      </a:solidFill>
                      <a:prstDash val="solid"/>
                    </a:lnTlToBr>
                    <a:lnBlToTr>
                      <a:noFill/>
                    </a:lnBlToTr>
                  </a:tcPr>
                </a:tc>
                <a:tc>
                  <a:txBody>
                    <a:bodyPr/>
                    <a:p>
                      <a:pPr algn="ctr">
                        <a:buNone/>
                      </a:pPr>
                      <a:endParaRPr lang="en-US" altLang="zh-CN">
                        <a:latin typeface="华文楷体" panose="02010600040101010101" charset="-122"/>
                        <a:ea typeface="华文楷体" panose="02010600040101010101" charset="-122"/>
                      </a:endParaRPr>
                    </a:p>
                    <a:p>
                      <a:pPr algn="ctr">
                        <a:buNone/>
                      </a:pPr>
                      <a:r>
                        <a:rPr lang="zh-CN" altLang="en-US">
                          <a:latin typeface="华文楷体" panose="02010600040101010101" charset="-122"/>
                          <a:ea typeface="华文楷体" panose="02010600040101010101" charset="-122"/>
                        </a:rPr>
                        <a:t>东北</a:t>
                      </a:r>
                      <a:endParaRPr lang="zh-CN" altLang="en-US">
                        <a:latin typeface="华文楷体" panose="02010600040101010101" charset="-122"/>
                        <a:ea typeface="华文楷体" panose="02010600040101010101" charset="-122"/>
                      </a:endParaRPr>
                    </a:p>
                  </a:txBody>
                  <a:tcPr>
                    <a:lnL>
                      <a:noFill/>
                    </a:lnL>
                  </a:tcPr>
                </a:tc>
                <a:tc>
                  <a:txBody>
                    <a:bodyPr/>
                    <a:p>
                      <a:pPr algn="ctr">
                        <a:buNone/>
                      </a:pPr>
                      <a:endParaRPr lang="en-US" altLang="zh-CN">
                        <a:latin typeface="华文楷体" panose="02010600040101010101" charset="-122"/>
                        <a:ea typeface="华文楷体" panose="02010600040101010101" charset="-122"/>
                      </a:endParaRPr>
                    </a:p>
                    <a:p>
                      <a:pPr algn="ctr">
                        <a:buNone/>
                      </a:pPr>
                      <a:r>
                        <a:rPr lang="zh-CN" altLang="en-US">
                          <a:latin typeface="华文楷体" panose="02010600040101010101" charset="-122"/>
                          <a:ea typeface="华文楷体" panose="02010600040101010101" charset="-122"/>
                        </a:rPr>
                        <a:t>华北</a:t>
                      </a:r>
                      <a:endParaRPr lang="zh-CN" altLang="en-US">
                        <a:latin typeface="华文楷体" panose="02010600040101010101" charset="-122"/>
                        <a:ea typeface="华文楷体" panose="02010600040101010101" charset="-122"/>
                      </a:endParaRPr>
                    </a:p>
                  </a:txBody>
                  <a:tcPr/>
                </a:tc>
                <a:tc>
                  <a:txBody>
                    <a:bodyPr/>
                    <a:p>
                      <a:pPr algn="ctr">
                        <a:buNone/>
                      </a:pPr>
                      <a:endParaRPr lang="en-US" altLang="zh-CN">
                        <a:latin typeface="华文楷体" panose="02010600040101010101" charset="-122"/>
                        <a:ea typeface="华文楷体" panose="02010600040101010101" charset="-122"/>
                      </a:endParaRPr>
                    </a:p>
                    <a:p>
                      <a:pPr algn="ctr">
                        <a:buNone/>
                      </a:pPr>
                      <a:r>
                        <a:rPr lang="zh-CN" altLang="en-US">
                          <a:latin typeface="华文楷体" panose="02010600040101010101" charset="-122"/>
                          <a:ea typeface="华文楷体" panose="02010600040101010101" charset="-122"/>
                        </a:rPr>
                        <a:t>华东</a:t>
                      </a:r>
                      <a:endParaRPr lang="zh-CN" altLang="en-US">
                        <a:latin typeface="华文楷体" panose="02010600040101010101" charset="-122"/>
                        <a:ea typeface="华文楷体" panose="02010600040101010101" charset="-122"/>
                      </a:endParaRPr>
                    </a:p>
                  </a:txBody>
                  <a:tcPr/>
                </a:tc>
                <a:tc>
                  <a:txBody>
                    <a:bodyPr/>
                    <a:p>
                      <a:pPr algn="ctr">
                        <a:buNone/>
                      </a:pPr>
                      <a:endParaRPr lang="en-US" altLang="zh-CN">
                        <a:latin typeface="华文楷体" panose="02010600040101010101" charset="-122"/>
                        <a:ea typeface="华文楷体" panose="02010600040101010101" charset="-122"/>
                      </a:endParaRPr>
                    </a:p>
                    <a:p>
                      <a:pPr algn="ctr">
                        <a:buNone/>
                      </a:pPr>
                      <a:r>
                        <a:rPr lang="zh-CN" altLang="en-US">
                          <a:latin typeface="华文楷体" panose="02010600040101010101" charset="-122"/>
                          <a:ea typeface="华文楷体" panose="02010600040101010101" charset="-122"/>
                        </a:rPr>
                        <a:t>西南</a:t>
                      </a:r>
                      <a:endParaRPr lang="zh-CN" altLang="en-US">
                        <a:latin typeface="华文楷体" panose="02010600040101010101" charset="-122"/>
                        <a:ea typeface="华文楷体" panose="02010600040101010101" charset="-122"/>
                      </a:endParaRPr>
                    </a:p>
                  </a:txBody>
                  <a:tcPr/>
                </a:tc>
                <a:tc>
                  <a:txBody>
                    <a:bodyPr/>
                    <a:p>
                      <a:pPr algn="ctr">
                        <a:buNone/>
                      </a:pPr>
                      <a:endParaRPr lang="en-US" altLang="zh-CN">
                        <a:latin typeface="华文楷体" panose="02010600040101010101" charset="-122"/>
                        <a:ea typeface="华文楷体" panose="02010600040101010101" charset="-122"/>
                      </a:endParaRPr>
                    </a:p>
                    <a:p>
                      <a:pPr algn="ctr">
                        <a:buNone/>
                      </a:pPr>
                      <a:r>
                        <a:rPr lang="zh-CN" altLang="en-US">
                          <a:latin typeface="华文楷体" panose="02010600040101010101" charset="-122"/>
                          <a:ea typeface="华文楷体" panose="02010600040101010101" charset="-122"/>
                        </a:rPr>
                        <a:t>产量（万套</a:t>
                      </a:r>
                      <a:r>
                        <a:rPr lang="en-US" altLang="zh-CN">
                          <a:latin typeface="华文楷体" panose="02010600040101010101" charset="-122"/>
                          <a:ea typeface="华文楷体" panose="02010600040101010101" charset="-122"/>
                        </a:rPr>
                        <a:t>/</a:t>
                      </a:r>
                      <a:r>
                        <a:rPr lang="zh-CN" altLang="en-US">
                          <a:latin typeface="华文楷体" panose="02010600040101010101" charset="-122"/>
                          <a:ea typeface="华文楷体" panose="02010600040101010101" charset="-122"/>
                        </a:rPr>
                        <a:t>年）</a:t>
                      </a:r>
                      <a:endParaRPr lang="zh-CN" altLang="en-US">
                        <a:latin typeface="华文楷体" panose="02010600040101010101" charset="-122"/>
                        <a:ea typeface="华文楷体" panose="02010600040101010101" charset="-122"/>
                      </a:endParaRPr>
                    </a:p>
                  </a:txBody>
                  <a:tcPr/>
                </a:tc>
              </a:tr>
              <a:tr h="429895">
                <a:tc>
                  <a:txBody>
                    <a:bodyPr/>
                    <a:p>
                      <a:pPr algn="ctr">
                        <a:buNone/>
                      </a:pPr>
                      <a:r>
                        <a:rPr lang="zh-CN" altLang="en-US">
                          <a:latin typeface="华文楷体" panose="02010600040101010101" charset="-122"/>
                          <a:ea typeface="华文楷体" panose="02010600040101010101" charset="-122"/>
                        </a:rPr>
                        <a:t>北京</a:t>
                      </a:r>
                      <a:endParaRPr lang="zh-CN" altLang="en-US">
                        <a:latin typeface="华文楷体" panose="02010600040101010101" charset="-122"/>
                        <a:ea typeface="华文楷体" panose="02010600040101010101" charset="-122"/>
                      </a:endParaRPr>
                    </a:p>
                  </a:txBody>
                  <a:tcPr>
                    <a:lnT>
                      <a:noFill/>
                    </a:lnT>
                  </a:tcPr>
                </a:tc>
                <a:tc>
                  <a:txBody>
                    <a:bodyPr/>
                    <a:p>
                      <a:pPr algn="ctr">
                        <a:buNone/>
                      </a:pPr>
                      <a:r>
                        <a:rPr lang="en-US" altLang="zh-CN">
                          <a:latin typeface="华文楷体" panose="02010600040101010101" charset="-122"/>
                          <a:ea typeface="华文楷体" panose="02010600040101010101" charset="-122"/>
                        </a:rPr>
                        <a:t>2</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3</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4</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3</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40</a:t>
                      </a:r>
                      <a:endParaRPr lang="en-US" altLang="zh-CN">
                        <a:latin typeface="华文楷体" panose="02010600040101010101" charset="-122"/>
                        <a:ea typeface="华文楷体" panose="02010600040101010101" charset="-122"/>
                      </a:endParaRPr>
                    </a:p>
                  </a:txBody>
                  <a:tcPr/>
                </a:tc>
              </a:tr>
              <a:tr h="392430">
                <a:tc>
                  <a:txBody>
                    <a:bodyPr/>
                    <a:p>
                      <a:pPr algn="ctr">
                        <a:buNone/>
                      </a:pPr>
                      <a:r>
                        <a:rPr lang="zh-CN" altLang="en-US">
                          <a:latin typeface="华文楷体" panose="02010600040101010101" charset="-122"/>
                          <a:ea typeface="华文楷体" panose="02010600040101010101" charset="-122"/>
                        </a:rPr>
                        <a:t>天津</a:t>
                      </a:r>
                      <a:endParaRPr lang="zh-CN" altLang="en-US">
                        <a:latin typeface="华文楷体" panose="02010600040101010101" charset="-122"/>
                        <a:ea typeface="华文楷体" panose="02010600040101010101" charset="-122"/>
                      </a:endParaRPr>
                    </a:p>
                  </a:txBody>
                  <a:tcPr>
                    <a:lnT>
                      <a:noFill/>
                    </a:lnT>
                  </a:tcPr>
                </a:tc>
                <a:tc>
                  <a:txBody>
                    <a:bodyPr/>
                    <a:p>
                      <a:pPr algn="ctr">
                        <a:buNone/>
                      </a:pPr>
                      <a:r>
                        <a:rPr lang="en-US" altLang="zh-CN">
                          <a:latin typeface="华文楷体" panose="02010600040101010101" charset="-122"/>
                          <a:ea typeface="华文楷体" panose="02010600040101010101" charset="-122"/>
                        </a:rPr>
                        <a:t>1</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3</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5</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4</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60</a:t>
                      </a:r>
                      <a:endParaRPr lang="en-US" altLang="zh-CN">
                        <a:latin typeface="华文楷体" panose="02010600040101010101" charset="-122"/>
                        <a:ea typeface="华文楷体" panose="02010600040101010101" charset="-122"/>
                      </a:endParaRPr>
                    </a:p>
                  </a:txBody>
                  <a:tcPr/>
                </a:tc>
              </a:tr>
              <a:tr h="392430">
                <a:tc>
                  <a:txBody>
                    <a:bodyPr/>
                    <a:p>
                      <a:pPr algn="ctr">
                        <a:buNone/>
                      </a:pPr>
                      <a:r>
                        <a:rPr lang="zh-CN" altLang="en-US">
                          <a:latin typeface="华文楷体" panose="02010600040101010101" charset="-122"/>
                          <a:ea typeface="华文楷体" panose="02010600040101010101" charset="-122"/>
                        </a:rPr>
                        <a:t>深圳</a:t>
                      </a:r>
                      <a:endParaRPr lang="zh-CN" altLang="en-US">
                        <a:latin typeface="华文楷体" panose="02010600040101010101" charset="-122"/>
                        <a:ea typeface="华文楷体" panose="02010600040101010101" charset="-122"/>
                      </a:endParaRPr>
                    </a:p>
                  </a:txBody>
                  <a:tcPr>
                    <a:lnT>
                      <a:noFill/>
                    </a:lnT>
                  </a:tcPr>
                </a:tc>
                <a:tc>
                  <a:txBody>
                    <a:bodyPr/>
                    <a:p>
                      <a:pPr algn="ctr">
                        <a:buNone/>
                      </a:pPr>
                      <a:r>
                        <a:rPr lang="en-US" altLang="zh-CN">
                          <a:latin typeface="华文楷体" panose="02010600040101010101" charset="-122"/>
                          <a:ea typeface="华文楷体" panose="02010600040101010101" charset="-122"/>
                        </a:rPr>
                        <a:t>4</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3</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2</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3</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20</a:t>
                      </a:r>
                      <a:endParaRPr lang="en-US" altLang="zh-CN">
                        <a:latin typeface="华文楷体" panose="02010600040101010101" charset="-122"/>
                        <a:ea typeface="华文楷体" panose="02010600040101010101" charset="-122"/>
                      </a:endParaRPr>
                    </a:p>
                  </a:txBody>
                  <a:tcPr/>
                </a:tc>
              </a:tr>
              <a:tr h="391795">
                <a:tc>
                  <a:txBody>
                    <a:bodyPr/>
                    <a:p>
                      <a:pPr algn="ctr">
                        <a:buNone/>
                      </a:pPr>
                      <a:r>
                        <a:rPr lang="zh-CN" altLang="en-US">
                          <a:latin typeface="华文楷体" panose="02010600040101010101" charset="-122"/>
                          <a:ea typeface="华文楷体" panose="02010600040101010101" charset="-122"/>
                        </a:rPr>
                        <a:t>广州</a:t>
                      </a:r>
                      <a:endParaRPr lang="zh-CN" altLang="en-US">
                        <a:latin typeface="华文楷体" panose="02010600040101010101" charset="-122"/>
                        <a:ea typeface="华文楷体" panose="02010600040101010101" charset="-122"/>
                      </a:endParaRPr>
                    </a:p>
                  </a:txBody>
                  <a:tcPr>
                    <a:lnT>
                      <a:noFill/>
                    </a:lnT>
                  </a:tcPr>
                </a:tc>
                <a:tc>
                  <a:txBody>
                    <a:bodyPr/>
                    <a:p>
                      <a:pPr algn="ctr">
                        <a:buNone/>
                      </a:pPr>
                      <a:r>
                        <a:rPr lang="en-US" altLang="zh-CN">
                          <a:latin typeface="华文楷体" panose="02010600040101010101" charset="-122"/>
                          <a:ea typeface="华文楷体" panose="02010600040101010101" charset="-122"/>
                        </a:rPr>
                        <a:t>5</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4</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3</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2</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20</a:t>
                      </a:r>
                      <a:endParaRPr lang="en-US" altLang="zh-CN">
                        <a:latin typeface="华文楷体" panose="02010600040101010101" charset="-122"/>
                        <a:ea typeface="华文楷体" panose="02010600040101010101" charset="-122"/>
                      </a:endParaRPr>
                    </a:p>
                  </a:txBody>
                  <a:tcPr/>
                </a:tc>
              </a:tr>
              <a:tr h="392430">
                <a:tc>
                  <a:txBody>
                    <a:bodyPr/>
                    <a:p>
                      <a:pPr algn="ctr">
                        <a:buNone/>
                      </a:pPr>
                      <a:r>
                        <a:rPr lang="zh-CN" altLang="en-US">
                          <a:latin typeface="华文楷体" panose="02010600040101010101" charset="-122"/>
                          <a:ea typeface="华文楷体" panose="02010600040101010101" charset="-122"/>
                        </a:rPr>
                        <a:t>销量</a:t>
                      </a:r>
                      <a:r>
                        <a:rPr lang="zh-CN" altLang="en-US" sz="1800">
                          <a:latin typeface="华文楷体" panose="02010600040101010101" charset="-122"/>
                          <a:ea typeface="华文楷体" panose="02010600040101010101" charset="-122"/>
                          <a:sym typeface="+mn-ea"/>
                        </a:rPr>
                        <a:t>（万套</a:t>
                      </a:r>
                      <a:r>
                        <a:rPr lang="en-US" altLang="zh-CN" sz="1800">
                          <a:latin typeface="华文楷体" panose="02010600040101010101" charset="-122"/>
                          <a:ea typeface="华文楷体" panose="02010600040101010101" charset="-122"/>
                          <a:sym typeface="+mn-ea"/>
                        </a:rPr>
                        <a:t>/</a:t>
                      </a:r>
                      <a:r>
                        <a:rPr lang="zh-CN" altLang="en-US" sz="1800">
                          <a:latin typeface="华文楷体" panose="02010600040101010101" charset="-122"/>
                          <a:ea typeface="华文楷体" panose="02010600040101010101" charset="-122"/>
                          <a:sym typeface="+mn-ea"/>
                        </a:rPr>
                        <a:t>年）</a:t>
                      </a:r>
                      <a:endParaRPr lang="zh-CN" altLang="en-US">
                        <a:latin typeface="华文楷体" panose="02010600040101010101" charset="-122"/>
                        <a:ea typeface="华文楷体" panose="02010600040101010101" charset="-122"/>
                      </a:endParaRPr>
                    </a:p>
                  </a:txBody>
                  <a:tcPr>
                    <a:lnT>
                      <a:noFill/>
                    </a:lnT>
                  </a:tcPr>
                </a:tc>
                <a:tc>
                  <a:txBody>
                    <a:bodyPr/>
                    <a:p>
                      <a:pPr algn="ctr">
                        <a:buNone/>
                      </a:pPr>
                      <a:r>
                        <a:rPr lang="en-US" altLang="zh-CN">
                          <a:latin typeface="华文楷体" panose="02010600040101010101" charset="-122"/>
                          <a:ea typeface="华文楷体" panose="02010600040101010101" charset="-122"/>
                        </a:rPr>
                        <a:t>35</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40</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30</a:t>
                      </a:r>
                      <a:endParaRPr lang="en-US" altLang="zh-CN">
                        <a:latin typeface="华文楷体" panose="02010600040101010101" charset="-122"/>
                        <a:ea typeface="华文楷体" panose="02010600040101010101" charset="-122"/>
                      </a:endParaRPr>
                    </a:p>
                  </a:txBody>
                  <a:tcPr/>
                </a:tc>
                <a:tc>
                  <a:txBody>
                    <a:bodyPr/>
                    <a:p>
                      <a:pPr algn="ctr">
                        <a:buNone/>
                      </a:pPr>
                      <a:r>
                        <a:rPr lang="en-US" altLang="zh-CN">
                          <a:latin typeface="华文楷体" panose="02010600040101010101" charset="-122"/>
                          <a:ea typeface="华文楷体" panose="02010600040101010101" charset="-122"/>
                        </a:rPr>
                        <a:t>15</a:t>
                      </a:r>
                      <a:endParaRPr lang="en-US" altLang="zh-CN">
                        <a:latin typeface="华文楷体" panose="02010600040101010101" charset="-122"/>
                        <a:ea typeface="华文楷体" panose="02010600040101010101" charset="-122"/>
                      </a:endParaRPr>
                    </a:p>
                  </a:txBody>
                  <a:tcPr/>
                </a:tc>
                <a:tc>
                  <a:txBody>
                    <a:bodyPr/>
                    <a:p>
                      <a:pPr algn="ctr">
                        <a:buNone/>
                      </a:pPr>
                      <a:endParaRPr lang="en-US" altLang="zh-CN">
                        <a:latin typeface="华文楷体" panose="02010600040101010101" charset="-122"/>
                        <a:ea typeface="华文楷体" panose="02010600040101010101" charset="-122"/>
                      </a:endParaRPr>
                    </a:p>
                  </a:txBody>
                  <a:tcPr/>
                </a:tc>
              </a:tr>
            </a:tbl>
          </a:graphicData>
        </a:graphic>
      </p:graphicFrame>
    </p:spTree>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3</a:t>
            </a:r>
            <a:endParaRPr lang="en-US" altLang="zh-CN" dirty="0" err="1">
              <a:latin typeface="华文楷体" panose="02010600040101010101" charset="-122"/>
              <a:ea typeface="华文楷体" panose="02010600040101010101" charset="-122"/>
            </a:endParaRPr>
          </a:p>
        </p:txBody>
      </p:sp>
      <p:sp>
        <p:nvSpPr>
          <p:cNvPr id="3" name="文本框 2"/>
          <p:cNvSpPr txBox="1"/>
          <p:nvPr/>
        </p:nvSpPr>
        <p:spPr>
          <a:xfrm>
            <a:off x="829945" y="1125855"/>
            <a:ext cx="10675620" cy="1943735"/>
          </a:xfrm>
          <a:prstGeom prst="rect">
            <a:avLst/>
          </a:prstGeom>
          <a:noFill/>
        </p:spPr>
        <p:txBody>
          <a:bodyPr wrap="square" rtlCol="0">
            <a:noAutofit/>
          </a:bodyPr>
          <a:p>
            <a:r>
              <a:rPr lang="en-US" altLang="zh-CN" sz="2000">
                <a:latin typeface="华文楷体" panose="02010600040101010101" charset="-122"/>
                <a:ea typeface="华文楷体" panose="02010600040101010101" charset="-122"/>
                <a:cs typeface="华文楷体" panose="02010600040101010101" charset="-122"/>
              </a:rPr>
              <a:t>      </a:t>
            </a:r>
            <a:r>
              <a:rPr lang="zh-CN" altLang="en-US" sz="2000">
                <a:latin typeface="华文楷体" panose="02010600040101010101" charset="-122"/>
                <a:ea typeface="华文楷体" panose="02010600040101010101" charset="-122"/>
                <a:cs typeface="华文楷体" panose="02010600040101010101" charset="-122"/>
              </a:rPr>
              <a:t>圣诞节玩具公司为即将到来的圣诞节赶制圣诞树和圣诞老人玩偶这两种产品。公司有两个工厂可以生产这两种产品。但为了避免重复的准备成本，公司只准备在一个工厂生产。生产</a:t>
            </a:r>
            <a:r>
              <a:rPr lang="zh-CN" altLang="en-US" sz="2000">
                <a:latin typeface="华文楷体" panose="02010600040101010101" charset="-122"/>
                <a:ea typeface="华文楷体" panose="02010600040101010101" charset="-122"/>
                <a:cs typeface="华文楷体" panose="02010600040101010101" charset="-122"/>
                <a:sym typeface="+mn-ea"/>
              </a:rPr>
              <a:t>圣诞树和圣诞老人玩偶的准备成本分别为</a:t>
            </a:r>
            <a:r>
              <a:rPr lang="en-US" altLang="zh-CN" sz="2000">
                <a:latin typeface="华文楷体" panose="02010600040101010101" charset="-122"/>
                <a:ea typeface="华文楷体" panose="02010600040101010101" charset="-122"/>
                <a:cs typeface="华文楷体" panose="02010600040101010101" charset="-122"/>
                <a:sym typeface="+mn-ea"/>
              </a:rPr>
              <a:t>3000</a:t>
            </a:r>
            <a:r>
              <a:rPr lang="zh-CN" altLang="en-US" sz="2000">
                <a:latin typeface="华文楷体" panose="02010600040101010101" charset="-122"/>
                <a:ea typeface="华文楷体" panose="02010600040101010101" charset="-122"/>
                <a:cs typeface="华文楷体" panose="02010600040101010101" charset="-122"/>
                <a:sym typeface="+mn-ea"/>
              </a:rPr>
              <a:t>元和</a:t>
            </a:r>
            <a:r>
              <a:rPr lang="en-US" altLang="zh-CN" sz="2000">
                <a:latin typeface="华文楷体" panose="02010600040101010101" charset="-122"/>
                <a:ea typeface="华文楷体" panose="02010600040101010101" charset="-122"/>
                <a:cs typeface="华文楷体" panose="02010600040101010101" charset="-122"/>
                <a:sym typeface="+mn-ea"/>
              </a:rPr>
              <a:t>4000</a:t>
            </a:r>
            <a:r>
              <a:rPr lang="zh-CN" altLang="en-US" sz="2000">
                <a:latin typeface="华文楷体" panose="02010600040101010101" charset="-122"/>
                <a:ea typeface="华文楷体" panose="02010600040101010101" charset="-122"/>
                <a:cs typeface="华文楷体" panose="02010600040101010101" charset="-122"/>
                <a:sym typeface="+mn-ea"/>
              </a:rPr>
              <a:t>元。工厂</a:t>
            </a:r>
            <a:r>
              <a:rPr lang="en-US" altLang="zh-CN" sz="2000">
                <a:latin typeface="华文楷体" panose="02010600040101010101" charset="-122"/>
                <a:ea typeface="华文楷体" panose="02010600040101010101" charset="-122"/>
                <a:cs typeface="华文楷体" panose="02010600040101010101" charset="-122"/>
                <a:sym typeface="+mn-ea"/>
              </a:rPr>
              <a:t>A</a:t>
            </a:r>
            <a:r>
              <a:rPr lang="zh-CN" altLang="en-US" sz="2000">
                <a:latin typeface="华文楷体" panose="02010600040101010101" charset="-122"/>
                <a:ea typeface="华文楷体" panose="02010600040101010101" charset="-122"/>
                <a:cs typeface="华文楷体" panose="02010600040101010101" charset="-122"/>
                <a:sym typeface="+mn-ea"/>
              </a:rPr>
              <a:t>每小时可以生产圣诞树</a:t>
            </a:r>
            <a:r>
              <a:rPr lang="en-US" altLang="zh-CN" sz="2000">
                <a:latin typeface="华文楷体" panose="02010600040101010101" charset="-122"/>
                <a:ea typeface="华文楷体" panose="02010600040101010101" charset="-122"/>
                <a:cs typeface="华文楷体" panose="02010600040101010101" charset="-122"/>
                <a:sym typeface="+mn-ea"/>
              </a:rPr>
              <a:t>50</a:t>
            </a:r>
            <a:r>
              <a:rPr lang="zh-CN" altLang="en-US" sz="2000">
                <a:latin typeface="华文楷体" panose="02010600040101010101" charset="-122"/>
                <a:ea typeface="华文楷体" panose="02010600040101010101" charset="-122"/>
                <a:cs typeface="华文楷体" panose="02010600040101010101" charset="-122"/>
                <a:sym typeface="+mn-ea"/>
              </a:rPr>
              <a:t>个，也可以生产</a:t>
            </a:r>
            <a:r>
              <a:rPr lang="en-US" altLang="zh-CN" sz="2000">
                <a:latin typeface="华文楷体" panose="02010600040101010101" charset="-122"/>
                <a:ea typeface="华文楷体" panose="02010600040101010101" charset="-122"/>
                <a:cs typeface="华文楷体" panose="02010600040101010101" charset="-122"/>
                <a:sym typeface="+mn-ea"/>
              </a:rPr>
              <a:t>40</a:t>
            </a:r>
            <a:r>
              <a:rPr lang="zh-CN" altLang="en-US" sz="2000">
                <a:latin typeface="华文楷体" panose="02010600040101010101" charset="-122"/>
                <a:ea typeface="华文楷体" panose="02010600040101010101" charset="-122"/>
                <a:cs typeface="华文楷体" panose="02010600040101010101" charset="-122"/>
                <a:sym typeface="+mn-ea"/>
              </a:rPr>
              <a:t>个</a:t>
            </a:r>
            <a:r>
              <a:rPr lang="zh-CN" altLang="en-US" sz="2000">
                <a:latin typeface="华文楷体" panose="02010600040101010101" charset="-122"/>
                <a:ea typeface="华文楷体" panose="02010600040101010101" charset="-122"/>
                <a:cs typeface="华文楷体" panose="02010600040101010101" charset="-122"/>
              </a:rPr>
              <a:t>圣诞老人玩偶；</a:t>
            </a:r>
            <a:r>
              <a:rPr lang="zh-CN" altLang="en-US" sz="2000">
                <a:latin typeface="华文楷体" panose="02010600040101010101" charset="-122"/>
                <a:ea typeface="华文楷体" panose="02010600040101010101" charset="-122"/>
                <a:cs typeface="华文楷体" panose="02010600040101010101" charset="-122"/>
                <a:sym typeface="+mn-ea"/>
              </a:rPr>
              <a:t>工厂</a:t>
            </a:r>
            <a:r>
              <a:rPr lang="en-US" altLang="zh-CN" sz="2000">
                <a:latin typeface="华文楷体" panose="02010600040101010101" charset="-122"/>
                <a:ea typeface="华文楷体" panose="02010600040101010101" charset="-122"/>
                <a:cs typeface="华文楷体" panose="02010600040101010101" charset="-122"/>
                <a:sym typeface="+mn-ea"/>
              </a:rPr>
              <a:t>B</a:t>
            </a:r>
            <a:r>
              <a:rPr lang="zh-CN" altLang="en-US" sz="2000">
                <a:latin typeface="华文楷体" panose="02010600040101010101" charset="-122"/>
                <a:ea typeface="华文楷体" panose="02010600040101010101" charset="-122"/>
                <a:cs typeface="华文楷体" panose="02010600040101010101" charset="-122"/>
                <a:sym typeface="+mn-ea"/>
              </a:rPr>
              <a:t>每小时可以生产圣诞树</a:t>
            </a:r>
            <a:r>
              <a:rPr lang="en-US" altLang="zh-CN" sz="2000">
                <a:latin typeface="华文楷体" panose="02010600040101010101" charset="-122"/>
                <a:ea typeface="华文楷体" panose="02010600040101010101" charset="-122"/>
                <a:cs typeface="华文楷体" panose="02010600040101010101" charset="-122"/>
                <a:sym typeface="+mn-ea"/>
              </a:rPr>
              <a:t>40</a:t>
            </a:r>
            <a:r>
              <a:rPr lang="zh-CN" altLang="en-US" sz="2000">
                <a:latin typeface="华文楷体" panose="02010600040101010101" charset="-122"/>
                <a:ea typeface="华文楷体" panose="02010600040101010101" charset="-122"/>
                <a:cs typeface="华文楷体" panose="02010600040101010101" charset="-122"/>
                <a:sym typeface="+mn-ea"/>
              </a:rPr>
              <a:t>个，也可以生产</a:t>
            </a:r>
            <a:r>
              <a:rPr lang="en-US" altLang="zh-CN" sz="2000">
                <a:latin typeface="华文楷体" panose="02010600040101010101" charset="-122"/>
                <a:ea typeface="华文楷体" panose="02010600040101010101" charset="-122"/>
                <a:cs typeface="华文楷体" panose="02010600040101010101" charset="-122"/>
                <a:sym typeface="+mn-ea"/>
              </a:rPr>
              <a:t>25</a:t>
            </a:r>
            <a:r>
              <a:rPr lang="zh-CN" altLang="en-US" sz="2000">
                <a:latin typeface="华文楷体" panose="02010600040101010101" charset="-122"/>
                <a:ea typeface="华文楷体" panose="02010600040101010101" charset="-122"/>
                <a:cs typeface="华文楷体" panose="02010600040101010101" charset="-122"/>
                <a:sym typeface="+mn-ea"/>
              </a:rPr>
              <a:t>个</a:t>
            </a:r>
            <a:r>
              <a:rPr lang="zh-CN" altLang="en-US" sz="2000">
                <a:latin typeface="华文楷体" panose="02010600040101010101" charset="-122"/>
                <a:ea typeface="华文楷体" panose="02010600040101010101" charset="-122"/>
                <a:cs typeface="华文楷体" panose="02010600040101010101" charset="-122"/>
                <a:sym typeface="+mn-ea"/>
              </a:rPr>
              <a:t>圣诞老人玩偶。圣诞树和圣诞老人玩偶的单件利润分别是</a:t>
            </a:r>
            <a:r>
              <a:rPr lang="en-US" altLang="zh-CN" sz="2000">
                <a:latin typeface="华文楷体" panose="02010600040101010101" charset="-122"/>
                <a:ea typeface="华文楷体" panose="02010600040101010101" charset="-122"/>
                <a:cs typeface="华文楷体" panose="02010600040101010101" charset="-122"/>
                <a:sym typeface="+mn-ea"/>
              </a:rPr>
              <a:t>10</a:t>
            </a:r>
            <a:r>
              <a:rPr lang="zh-CN" altLang="en-US" sz="2000">
                <a:latin typeface="华文楷体" panose="02010600040101010101" charset="-122"/>
                <a:ea typeface="华文楷体" panose="02010600040101010101" charset="-122"/>
                <a:cs typeface="华文楷体" panose="02010600040101010101" charset="-122"/>
                <a:sym typeface="+mn-ea"/>
              </a:rPr>
              <a:t>元和</a:t>
            </a:r>
            <a:r>
              <a:rPr lang="en-US" altLang="zh-CN" sz="2000">
                <a:latin typeface="华文楷体" panose="02010600040101010101" charset="-122"/>
                <a:ea typeface="华文楷体" panose="02010600040101010101" charset="-122"/>
                <a:cs typeface="华文楷体" panose="02010600040101010101" charset="-122"/>
                <a:sym typeface="+mn-ea"/>
              </a:rPr>
              <a:t>15</a:t>
            </a:r>
            <a:r>
              <a:rPr lang="zh-CN" altLang="en-US" sz="2000">
                <a:latin typeface="华文楷体" panose="02010600040101010101" charset="-122"/>
                <a:ea typeface="华文楷体" panose="02010600040101010101" charset="-122"/>
                <a:cs typeface="华文楷体" panose="02010600040101010101" charset="-122"/>
                <a:sym typeface="+mn-ea"/>
              </a:rPr>
              <a:t>元。圣诞节在即，工厂</a:t>
            </a:r>
            <a:r>
              <a:rPr lang="en-US" altLang="zh-CN" sz="2000">
                <a:latin typeface="华文楷体" panose="02010600040101010101" charset="-122"/>
                <a:ea typeface="华文楷体" panose="02010600040101010101" charset="-122"/>
                <a:cs typeface="华文楷体" panose="02010600040101010101" charset="-122"/>
                <a:sym typeface="+mn-ea"/>
              </a:rPr>
              <a:t>A</a:t>
            </a:r>
            <a:r>
              <a:rPr lang="zh-CN" altLang="en-US" sz="2000">
                <a:latin typeface="华文楷体" panose="02010600040101010101" charset="-122"/>
                <a:ea typeface="华文楷体" panose="02010600040101010101" charset="-122"/>
                <a:cs typeface="华文楷体" panose="02010600040101010101" charset="-122"/>
                <a:sym typeface="+mn-ea"/>
              </a:rPr>
              <a:t>和工厂</a:t>
            </a:r>
            <a:r>
              <a:rPr lang="en-US" altLang="zh-CN" sz="2000">
                <a:latin typeface="华文楷体" panose="02010600040101010101" charset="-122"/>
                <a:ea typeface="华文楷体" panose="02010600040101010101" charset="-122"/>
                <a:cs typeface="华文楷体" panose="02010600040101010101" charset="-122"/>
                <a:sym typeface="+mn-ea"/>
              </a:rPr>
              <a:t>B</a:t>
            </a:r>
            <a:r>
              <a:rPr lang="zh-CN" altLang="en-US" sz="2000">
                <a:latin typeface="华文楷体" panose="02010600040101010101" charset="-122"/>
                <a:ea typeface="华文楷体" panose="02010600040101010101" charset="-122"/>
                <a:cs typeface="华文楷体" panose="02010600040101010101" charset="-122"/>
                <a:sym typeface="+mn-ea"/>
              </a:rPr>
              <a:t>剩余的可用时间分别为</a:t>
            </a:r>
            <a:r>
              <a:rPr lang="en-US" altLang="zh-CN" sz="2000">
                <a:latin typeface="华文楷体" panose="02010600040101010101" charset="-122"/>
                <a:ea typeface="华文楷体" panose="02010600040101010101" charset="-122"/>
                <a:cs typeface="华文楷体" panose="02010600040101010101" charset="-122"/>
                <a:sym typeface="+mn-ea"/>
              </a:rPr>
              <a:t>400h</a:t>
            </a:r>
            <a:r>
              <a:rPr lang="zh-CN" altLang="en-US" sz="2000">
                <a:latin typeface="华文楷体" panose="02010600040101010101" charset="-122"/>
                <a:ea typeface="华文楷体" panose="02010600040101010101" charset="-122"/>
                <a:cs typeface="华文楷体" panose="02010600040101010101" charset="-122"/>
                <a:sym typeface="+mn-ea"/>
              </a:rPr>
              <a:t>和</a:t>
            </a:r>
            <a:r>
              <a:rPr lang="en-US" altLang="zh-CN" sz="2000">
                <a:latin typeface="华文楷体" panose="02010600040101010101" charset="-122"/>
                <a:ea typeface="华文楷体" panose="02010600040101010101" charset="-122"/>
                <a:cs typeface="华文楷体" panose="02010600040101010101" charset="-122"/>
                <a:sym typeface="+mn-ea"/>
              </a:rPr>
              <a:t>500h</a:t>
            </a:r>
            <a:r>
              <a:rPr lang="zh-CN" altLang="en-US" sz="2000">
                <a:latin typeface="华文楷体" panose="02010600040101010101" charset="-122"/>
                <a:ea typeface="华文楷体" panose="02010600040101010101" charset="-122"/>
                <a:cs typeface="华文楷体" panose="02010600040101010101" charset="-122"/>
                <a:sym typeface="+mn-ea"/>
              </a:rPr>
              <a:t>。请帮该公司选择在哪一个工厂生产这两种产品？</a:t>
            </a:r>
            <a:endParaRPr lang="zh-CN" altLang="en-US" sz="2000">
              <a:latin typeface="华文楷体" panose="02010600040101010101" charset="-122"/>
              <a:ea typeface="华文楷体" panose="02010600040101010101" charset="-122"/>
              <a:cs typeface="华文楷体" panose="02010600040101010101" charset="-122"/>
            </a:endParaRPr>
          </a:p>
          <a:p>
            <a:endParaRPr lang="zh-CN" altLang="en-US" sz="2000">
              <a:latin typeface="华文楷体" panose="02010600040101010101" charset="-122"/>
              <a:ea typeface="华文楷体" panose="02010600040101010101" charset="-122"/>
              <a:cs typeface="华文楷体" panose="02010600040101010101" charset="-122"/>
            </a:endParaRPr>
          </a:p>
        </p:txBody>
      </p:sp>
    </p:spTree>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5" name="Rectangle 6"/>
          <p:cNvSpPr>
            <a:spLocks noChangeArrowheads="1"/>
          </p:cNvSpPr>
          <p:nvPr/>
        </p:nvSpPr>
        <p:spPr bwMode="auto">
          <a:xfrm>
            <a:off x="1077595" y="1571625"/>
            <a:ext cx="8733155"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六、</a:t>
            </a:r>
            <a:r>
              <a:rPr lang="zh-CN" altLang="zh-CN" sz="2800" dirty="0">
                <a:ea typeface="楷体" panose="02010609060101010101" pitchFamily="49" charset="-122"/>
                <a:cs typeface="Times New Roman" panose="02020603050405020304" pitchFamily="18" charset="0"/>
              </a:rPr>
              <a:t>0-1</a:t>
            </a:r>
            <a:r>
              <a:rPr lang="zh-CN" altLang="zh-CN" sz="2800" dirty="0">
                <a:latin typeface="Arial" panose="020B0604020202020204" pitchFamily="34" charset="0"/>
                <a:ea typeface="楷体" panose="02010609060101010101" pitchFamily="49" charset="-122"/>
              </a:rPr>
              <a:t>整数变量在构建模型中的一些特殊作用</a:t>
            </a:r>
            <a:endParaRPr lang="zh-CN" altLang="zh-CN" sz="2800" dirty="0">
              <a:latin typeface="Arial" panose="020B0604020202020204" pitchFamily="34" charset="0"/>
              <a:ea typeface="楷体" panose="02010609060101010101" pitchFamily="49" charset="-122"/>
            </a:endParaRPr>
          </a:p>
        </p:txBody>
      </p:sp>
      <p:sp>
        <p:nvSpPr>
          <p:cNvPr id="55303" name="Rectangle 7"/>
          <p:cNvSpPr>
            <a:spLocks noChangeArrowheads="1"/>
          </p:cNvSpPr>
          <p:nvPr/>
        </p:nvSpPr>
        <p:spPr bwMode="auto">
          <a:xfrm>
            <a:off x="1216025" y="2072005"/>
            <a:ext cx="9166225" cy="1383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lnSpc>
                <a:spcPct val="150000"/>
              </a:lnSpc>
              <a:buClr>
                <a:srgbClr val="000000"/>
              </a:buClr>
              <a:buSzPct val="100000"/>
            </a:pPr>
            <a:r>
              <a:rPr lang="zh-CN" altLang="zh-CN" sz="2800" dirty="0">
                <a:latin typeface="Arial" panose="020B0604020202020204" pitchFamily="34" charset="0"/>
                <a:ea typeface="楷体" panose="02010609060101010101" pitchFamily="49" charset="-122"/>
              </a:rPr>
              <a:t>    引入整数变量，尤其是</a:t>
            </a:r>
            <a:r>
              <a:rPr lang="zh-CN" altLang="zh-CN" sz="2800" dirty="0">
                <a:ea typeface="楷体" panose="02010609060101010101" pitchFamily="49" charset="-122"/>
                <a:cs typeface="Times New Roman" panose="02020603050405020304" pitchFamily="18" charset="0"/>
              </a:rPr>
              <a:t>0-1</a:t>
            </a:r>
            <a:r>
              <a:rPr lang="zh-CN" altLang="zh-CN" sz="2800" dirty="0">
                <a:latin typeface="Arial" panose="020B0604020202020204" pitchFamily="34" charset="0"/>
                <a:ea typeface="楷体" panose="02010609060101010101" pitchFamily="49" charset="-122"/>
              </a:rPr>
              <a:t>变量，可将实际管理中无法归结为线性规划模型的问题，构建整数规划模型。</a:t>
            </a:r>
            <a:endParaRPr lang="zh-CN" altLang="zh-CN" sz="2800" dirty="0">
              <a:latin typeface="Arial" panose="020B0604020202020204" pitchFamily="34" charset="0"/>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303"/>
                                        </p:tgtEl>
                                        <p:attrNameLst>
                                          <p:attrName>style.visibility</p:attrName>
                                        </p:attrNameLst>
                                      </p:cBhvr>
                                      <p:to>
                                        <p:strVal val="visible"/>
                                      </p:to>
                                    </p:set>
                                    <p:anim calcmode="lin" valueType="num">
                                      <p:cBhvr additive="base">
                                        <p:cTn id="7" dur="500" fill="hold"/>
                                        <p:tgtEl>
                                          <p:spTgt spid="55303"/>
                                        </p:tgtEl>
                                        <p:attrNameLst>
                                          <p:attrName>ppt_x</p:attrName>
                                        </p:attrNameLst>
                                      </p:cBhvr>
                                      <p:tavLst>
                                        <p:tav tm="0">
                                          <p:val>
                                            <p:strVal val="ppt_x"/>
                                          </p:val>
                                        </p:tav>
                                        <p:tav tm="100000">
                                          <p:val>
                                            <p:strVal val="ppt_x"/>
                                          </p:val>
                                        </p:tav>
                                      </p:tavLst>
                                    </p:anim>
                                    <p:anim calcmode="lin" valueType="num">
                                      <p:cBhvr additive="base">
                                        <p:cTn id="8" dur="500" fill="hold"/>
                                        <p:tgtEl>
                                          <p:spTgt spid="553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3"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3" name="Rectangle 6"/>
          <p:cNvSpPr>
            <a:spLocks noChangeArrowheads="1"/>
          </p:cNvSpPr>
          <p:nvPr/>
        </p:nvSpPr>
        <p:spPr bwMode="auto">
          <a:xfrm>
            <a:off x="1881188" y="1571625"/>
            <a:ext cx="7929562"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六、0-1整数变量在构建模型中的一些特殊作用</a:t>
            </a:r>
            <a:endParaRPr lang="zh-CN" altLang="zh-CN" sz="2800">
              <a:latin typeface="Arial" panose="020B0604020202020204" pitchFamily="34" charset="0"/>
              <a:ea typeface="楷体" panose="02010609060101010101" pitchFamily="49" charset="-122"/>
            </a:endParaRPr>
          </a:p>
        </p:txBody>
      </p:sp>
      <p:sp>
        <p:nvSpPr>
          <p:cNvPr id="99334" name="Rectangle 7"/>
          <p:cNvSpPr>
            <a:spLocks noChangeArrowheads="1"/>
          </p:cNvSpPr>
          <p:nvPr/>
        </p:nvSpPr>
        <p:spPr bwMode="auto">
          <a:xfrm>
            <a:off x="1919288" y="2041525"/>
            <a:ext cx="5161280" cy="1383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1、解决固定成本问题(例5）</a:t>
            </a:r>
            <a:endParaRPr lang="zh-CN" altLang="zh-CN" sz="2800" dirty="0">
              <a:latin typeface="Arial" panose="020B0604020202020204" pitchFamily="34" charset="0"/>
              <a:ea typeface="楷体" panose="02010609060101010101" pitchFamily="49" charset="-122"/>
            </a:endParaRPr>
          </a:p>
          <a:p>
            <a:pPr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生产成本最小的整数规划模型：</a:t>
            </a:r>
            <a:endParaRPr lang="zh-CN" altLang="zh-CN" sz="2800" dirty="0">
              <a:latin typeface="Arial" panose="020B0604020202020204" pitchFamily="34" charset="0"/>
              <a:ea typeface="楷体" panose="02010609060101010101" pitchFamily="49" charset="-122"/>
            </a:endParaRPr>
          </a:p>
        </p:txBody>
      </p:sp>
      <p:sp>
        <p:nvSpPr>
          <p:cNvPr id="99337" name="Rectangle 10"/>
          <p:cNvSpPr>
            <a:spLocks noChangeArrowheads="1"/>
          </p:cNvSpPr>
          <p:nvPr/>
        </p:nvSpPr>
        <p:spPr bwMode="auto">
          <a:xfrm>
            <a:off x="1919288" y="4712318"/>
            <a:ext cx="540004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约束条件：      其他原始限制条件</a:t>
            </a:r>
            <a:endParaRPr lang="zh-CN" altLang="zh-CN" sz="280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4467156" y="3444717"/>
                <a:ext cx="3256915" cy="105537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unc>
                        <m:funcPr>
                          <m:ctrlPr>
                            <a:rPr lang="en-US" altLang="zh-CN" sz="2400" b="0" i="1" smtClean="0">
                              <a:latin typeface="Cambria Math" panose="02040503050406030204" pitchFamily="18" charset="0"/>
                            </a:rPr>
                          </m:ctrlPr>
                        </m:funcPr>
                        <m:fName>
                          <m:r>
                            <m:rPr>
                              <m:sty m:val="p"/>
                            </m:rPr>
                            <a:rPr lang="en-US" altLang="zh-CN" sz="2400" b="0" i="0" smtClean="0">
                              <a:latin typeface="Cambria Math" panose="02040503050406030204" pitchFamily="18" charset="0"/>
                            </a:rPr>
                            <m:t>min</m:t>
                          </m:r>
                        </m:fName>
                        <m:e>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𝑘</m:t>
                                  </m:r>
                                </m:e>
                                <m:sub>
                                  <m:r>
                                    <a:rPr lang="en-US" altLang="zh-CN" sz="2400" b="0" i="1" smtClean="0">
                                      <a:latin typeface="Cambria Math" panose="02040503050406030204" pitchFamily="18" charset="0"/>
                                    </a:rPr>
                                    <m:t>𝑗</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e>
                          </m:nary>
                        </m:e>
                      </m:func>
                    </m:oMath>
                  </m:oMathPara>
                </a14:m>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4467156" y="3444717"/>
                <a:ext cx="3256915" cy="1055370"/>
              </a:xfrm>
              <a:prstGeom prst="rect">
                <a:avLst/>
              </a:prstGeom>
              <a:blipFill rotWithShape="1">
                <a:blip r:embed="rId1"/>
                <a:stretch>
                  <a:fillRect l="-17" t="-45" r="-4077" b="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4706144" y="5233018"/>
                <a:ext cx="2279650" cy="1090295"/>
              </a:xfrm>
              <a:prstGeom prst="rect">
                <a:avLst/>
              </a:prstGeom>
              <a:noFill/>
            </p:spPr>
            <p:txBody>
              <a:bodyPr wrap="none" lIns="0" tIns="0" rIns="0" bIns="0" rtlCol="0">
                <a:spAutoFit/>
              </a:bodyPr>
              <a:lstStyle/>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𝑀</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𝑗</m:t>
                          </m:r>
                        </m:sub>
                      </m:sSub>
                    </m:oMath>
                  </m:oMathPara>
                </a14:m>
                <a:endParaRPr lang="en-US" altLang="zh-CN" sz="2400" b="0" dirty="0"/>
              </a:p>
              <a:p>
                <a:pPr algn="just">
                  <a:lnSpc>
                    <a:spcPct val="150000"/>
                  </a:lnSpc>
                </a:pP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oMath>
                </a14:m>
                <a:r>
                  <a:rPr lang="zh-CN" altLang="en-US" sz="2400" dirty="0"/>
                  <a:t>或</a:t>
                </a:r>
                <a:r>
                  <a:rPr lang="en-US" altLang="zh-CN" sz="2400" dirty="0"/>
                  <a:t>1</a:t>
                </a:r>
                <a:endParaRPr lang="zh-CN" altLang="en-US" sz="2400" dirty="0"/>
              </a:p>
            </p:txBody>
          </p:sp>
        </mc:Choice>
        <mc:Fallback>
          <p:sp>
            <p:nvSpPr>
              <p:cNvPr id="10" name="文本框 9"/>
              <p:cNvSpPr txBox="1">
                <a:spLocks noRot="1" noChangeAspect="1" noMove="1" noResize="1" noEditPoints="1" noAdjustHandles="1" noChangeArrowheads="1" noChangeShapeType="1" noTextEdit="1"/>
              </p:cNvSpPr>
              <p:nvPr/>
            </p:nvSpPr>
            <p:spPr>
              <a:xfrm>
                <a:off x="4706144" y="5233018"/>
                <a:ext cx="2279650" cy="1090295"/>
              </a:xfrm>
              <a:prstGeom prst="rect">
                <a:avLst/>
              </a:prstGeom>
              <a:blipFill rotWithShape="1">
                <a:blip r:embed="rId2"/>
                <a:stretch>
                  <a:fillRect l="-7" t="-57" r="-5870" b="57"/>
                </a:stretch>
              </a:blipFill>
            </p:spPr>
            <p:txBody>
              <a:bodyPr/>
              <a:lstStyle/>
              <a:p>
                <a:r>
                  <a:rPr lang="zh-CN" altLang="en-US">
                    <a:noFill/>
                  </a:rPr>
                  <a:t> </a:t>
                </a:r>
              </a:p>
            </p:txBody>
          </p:sp>
        </mc:Fallback>
      </mc:AlternateContent>
      <p:sp>
        <p:nvSpPr>
          <p:cNvPr id="3" name="矩形: 圆角 2"/>
          <p:cNvSpPr/>
          <p:nvPr/>
        </p:nvSpPr>
        <p:spPr bwMode="auto">
          <a:xfrm>
            <a:off x="8544272" y="4494748"/>
            <a:ext cx="1584176" cy="5206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
                <a:srgbClr val="000000"/>
              </a:buClr>
              <a:buSzPct val="100000"/>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生产与否</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11" name="矩形: 圆角 10"/>
          <p:cNvSpPr/>
          <p:nvPr/>
        </p:nvSpPr>
        <p:spPr bwMode="auto">
          <a:xfrm>
            <a:off x="8544272" y="5272248"/>
            <a:ext cx="1584176" cy="5206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
                <a:srgbClr val="000000"/>
              </a:buClr>
              <a:buSzPct val="100000"/>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订货与否</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12" name="矩形: 圆角 11"/>
          <p:cNvSpPr/>
          <p:nvPr/>
        </p:nvSpPr>
        <p:spPr bwMode="auto">
          <a:xfrm>
            <a:off x="8544272" y="6049748"/>
            <a:ext cx="1584176" cy="520693"/>
          </a:xfrm>
          <a:prstGeom prst="round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
                <a:srgbClr val="000000"/>
              </a:buClr>
              <a:buSzPct val="100000"/>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加工与否</a:t>
            </a:r>
            <a:endPar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4"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1" grpId="0" bldLvl="0" animBg="1"/>
      <p:bldP spid="12"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5"/>
          <p:cNvSpPr>
            <a:spLocks noChangeArrowheads="1"/>
          </p:cNvSpPr>
          <p:nvPr/>
        </p:nvSpPr>
        <p:spPr bwMode="auto">
          <a:xfrm>
            <a:off x="1651000" y="1557338"/>
            <a:ext cx="8893175"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建立数学模型：		</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54278"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33800" name="Rectangle 8"/>
              <p:cNvSpPr>
                <a:spLocks noChangeArrowheads="1"/>
              </p:cNvSpPr>
              <p:nvPr/>
            </p:nvSpPr>
            <p:spPr bwMode="auto">
              <a:xfrm>
                <a:off x="1608138" y="198596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m:rPr>
                        <m:sty m:val="p"/>
                      </m:rPr>
                      <a:rPr lang="zh-CN" altLang="zh-CN" sz="2800" i="1" dirty="0" smtClean="0">
                        <a:latin typeface="Cambria Math" panose="02040503050406030204" pitchFamily="18" charset="0"/>
                        <a:ea typeface="楷体" panose="02010609060101010101" pitchFamily="49" charset="-122"/>
                      </a:rPr>
                      <m:t>max</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𝑧</m:t>
                    </m:r>
                    <m:r>
                      <a:rPr lang="zh-CN" altLang="zh-CN" sz="2800" i="1" dirty="0" smtClean="0">
                        <a:latin typeface="Cambria Math" panose="02040503050406030204" pitchFamily="18" charset="0"/>
                        <a:ea typeface="楷体" panose="02010609060101010101" pitchFamily="49" charset="-122"/>
                      </a:rPr>
                      <m:t> = </m:t>
                    </m:r>
                    <m:r>
                      <a:rPr lang="zh-CN" altLang="zh-CN" sz="2800" i="1" dirty="0" smtClean="0">
                        <a:latin typeface="Cambria Math" panose="02040503050406030204" pitchFamily="18" charset="0"/>
                        <a:ea typeface="楷体" panose="02010609060101010101" pitchFamily="49" charset="-122"/>
                      </a:rPr>
                      <m:t>4</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5</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6</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100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150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200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3</m:t>
                    </m:r>
                  </m:oMath>
                </a14:m>
                <a:endParaRPr lang="zh-CN" altLang="zh-CN" sz="2800" baseline="-25000" dirty="0">
                  <a:latin typeface="Arial" panose="020B0604020202020204" pitchFamily="34" charset="0"/>
                  <a:ea typeface="楷体" panose="02010609060101010101" pitchFamily="49" charset="-122"/>
                </a:endParaRPr>
              </a:p>
            </p:txBody>
          </p:sp>
        </mc:Choice>
        <mc:Fallback>
          <p:sp>
            <p:nvSpPr>
              <p:cNvPr id="33800" name="Rectangle 8"/>
              <p:cNvSpPr>
                <a:spLocks noRot="1" noChangeAspect="1" noMove="1" noResize="1" noEditPoints="1" noAdjustHandles="1" noChangeArrowheads="1" noChangeShapeType="1" noTextEdit="1"/>
              </p:cNvSpPr>
              <p:nvPr/>
            </p:nvSpPr>
            <p:spPr bwMode="auto">
              <a:xfrm>
                <a:off x="1608138" y="1985963"/>
                <a:ext cx="8893175" cy="506412"/>
              </a:xfrm>
              <a:prstGeom prst="rect">
                <a:avLst/>
              </a:prstGeom>
              <a:blipFill rotWithShape="1">
                <a:blip r:embed="rId1"/>
                <a:stretch>
                  <a:fillRect l="-4" t="-63" r="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1" name="Rectangle 9"/>
              <p:cNvSpPr>
                <a:spLocks noChangeArrowheads="1"/>
              </p:cNvSpPr>
              <p:nvPr/>
            </p:nvSpPr>
            <p:spPr bwMode="auto">
              <a:xfrm>
                <a:off x="1589088" y="249396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	</m:t>
                    </m:r>
                    <m:r>
                      <a:rPr lang="zh-CN" altLang="zh-CN" sz="2800" i="1" dirty="0" smtClean="0">
                        <a:latin typeface="Cambria Math" panose="02040503050406030204" pitchFamily="18" charset="0"/>
                        <a:ea typeface="楷体" panose="02010609060101010101" pitchFamily="49" charset="-122"/>
                      </a:rPr>
                      <m:t>𝑠</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𝑡</m:t>
                    </m:r>
                    <m:r>
                      <a:rPr lang="zh-CN" altLang="zh-CN" sz="2800" i="1" dirty="0" smtClean="0">
                        <a:latin typeface="Cambria Math" panose="02040503050406030204" pitchFamily="18" charset="0"/>
                        <a:ea typeface="楷体" panose="02010609060101010101" pitchFamily="49" charset="-122"/>
                      </a:rPr>
                      <m:t>.   </m:t>
                    </m:r>
                    <m:r>
                      <a:rPr lang="zh-CN" altLang="zh-CN" sz="2800" i="1" dirty="0" smtClean="0">
                        <a:latin typeface="Cambria Math" panose="02040503050406030204" pitchFamily="18" charset="0"/>
                        <a:ea typeface="楷体" panose="02010609060101010101" pitchFamily="49" charset="-122"/>
                      </a:rPr>
                      <m:t>2</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8</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500</m:t>
                    </m:r>
                    <m:r>
                      <a:rPr lang="zh-CN" altLang="zh-CN" sz="2800" i="1" dirty="0">
                        <a:latin typeface="Cambria Math" panose="02040503050406030204" pitchFamily="18" charset="0"/>
                        <a:ea typeface="楷体" panose="02010609060101010101" pitchFamily="49" charset="-122"/>
                      </a:rPr>
                      <m:t>      </m:t>
                    </m:r>
                  </m:oMath>
                </a14:m>
                <a:r>
                  <a:rPr lang="zh-CN" altLang="zh-CN" sz="2800" dirty="0">
                    <a:latin typeface="Arial" panose="020B0604020202020204" pitchFamily="34" charset="0"/>
                    <a:ea typeface="楷体" panose="02010609060101010101" pitchFamily="49" charset="-122"/>
                  </a:rPr>
                  <a:t>（金属板约束）</a:t>
                </a:r>
                <a:endParaRPr lang="zh-CN" altLang="zh-CN" sz="2800" dirty="0">
                  <a:latin typeface="Arial" panose="020B0604020202020204" pitchFamily="34" charset="0"/>
                  <a:ea typeface="楷体" panose="02010609060101010101" pitchFamily="49" charset="-122"/>
                </a:endParaRPr>
              </a:p>
            </p:txBody>
          </p:sp>
        </mc:Choice>
        <mc:Fallback>
          <p:sp>
            <p:nvSpPr>
              <p:cNvPr id="33801" name="Rectangle 9"/>
              <p:cNvSpPr>
                <a:spLocks noRot="1" noChangeAspect="1" noMove="1" noResize="1" noEditPoints="1" noAdjustHandles="1" noChangeArrowheads="1" noChangeShapeType="1" noTextEdit="1"/>
              </p:cNvSpPr>
              <p:nvPr/>
            </p:nvSpPr>
            <p:spPr bwMode="auto">
              <a:xfrm>
                <a:off x="1589088" y="2493963"/>
                <a:ext cx="8893175" cy="506412"/>
              </a:xfrm>
              <a:prstGeom prst="rect">
                <a:avLst/>
              </a:prstGeom>
              <a:blipFill rotWithShape="1">
                <a:blip r:embed="rId2"/>
                <a:stretch>
                  <a:fillRect l="-4" t="-63" r="4" b="-815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2" name="Rectangle 10"/>
              <p:cNvSpPr>
                <a:spLocks noChangeArrowheads="1"/>
              </p:cNvSpPr>
              <p:nvPr/>
            </p:nvSpPr>
            <p:spPr bwMode="auto">
              <a:xfrm>
                <a:off x="1570038" y="298291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2</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300</m:t>
                    </m:r>
                  </m:oMath>
                </a14:m>
                <a:r>
                  <a:rPr lang="en-US" altLang="zh-CN" sz="2800" dirty="0">
                    <a:latin typeface="Arial" panose="020B0604020202020204" pitchFamily="34" charset="0"/>
                    <a:ea typeface="楷体" panose="02010609060101010101" pitchFamily="49" charset="-122"/>
                  </a:rPr>
                  <a:t>     </a:t>
                </a:r>
                <a:r>
                  <a:rPr lang="zh-CN" altLang="zh-CN" sz="2800" dirty="0">
                    <a:latin typeface="Arial" panose="020B0604020202020204" pitchFamily="34" charset="0"/>
                    <a:ea typeface="楷体" panose="02010609060101010101" pitchFamily="49" charset="-122"/>
                  </a:rPr>
                  <a:t>（劳动力约束）</a:t>
                </a:r>
                <a:endParaRPr lang="zh-CN" altLang="zh-CN" sz="2800" dirty="0">
                  <a:latin typeface="Arial" panose="020B0604020202020204" pitchFamily="34" charset="0"/>
                  <a:ea typeface="楷体" panose="02010609060101010101" pitchFamily="49" charset="-122"/>
                </a:endParaRPr>
              </a:p>
            </p:txBody>
          </p:sp>
        </mc:Choice>
        <mc:Fallback>
          <p:sp>
            <p:nvSpPr>
              <p:cNvPr id="33802" name="Rectangle 10"/>
              <p:cNvSpPr>
                <a:spLocks noRot="1" noChangeAspect="1" noMove="1" noResize="1" noEditPoints="1" noAdjustHandles="1" noChangeArrowheads="1" noChangeShapeType="1" noTextEdit="1"/>
              </p:cNvSpPr>
              <p:nvPr/>
            </p:nvSpPr>
            <p:spPr bwMode="auto">
              <a:xfrm>
                <a:off x="1570038" y="2982913"/>
                <a:ext cx="8893175" cy="506412"/>
              </a:xfrm>
              <a:prstGeom prst="rect">
                <a:avLst/>
              </a:prstGeom>
              <a:blipFill rotWithShape="1">
                <a:blip r:embed="rId3"/>
                <a:stretch>
                  <a:fillRect l="-4" t="-63" r="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3" name="Rectangle 11"/>
              <p:cNvSpPr>
                <a:spLocks noChangeArrowheads="1"/>
              </p:cNvSpPr>
              <p:nvPr/>
            </p:nvSpPr>
            <p:spPr bwMode="auto">
              <a:xfrm>
                <a:off x="1550988" y="3489325"/>
                <a:ext cx="889317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baseline="-25000"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100</m:t>
                    </m:r>
                  </m:oMath>
                </a14:m>
                <a:r>
                  <a:rPr lang="en-US" altLang="zh-CN" sz="2800" dirty="0">
                    <a:latin typeface="Arial" panose="020B0604020202020204" pitchFamily="34" charset="0"/>
                    <a:ea typeface="楷体" panose="02010609060101010101" pitchFamily="49" charset="-122"/>
                  </a:rPr>
                  <a:t>       </a:t>
                </a:r>
                <a:r>
                  <a:rPr lang="zh-CN" altLang="zh-CN" sz="2800" dirty="0">
                    <a:latin typeface="Arial" panose="020B0604020202020204" pitchFamily="34" charset="0"/>
                    <a:ea typeface="楷体" panose="02010609060101010101" pitchFamily="49" charset="-122"/>
                  </a:rPr>
                  <a:t>（机器设备约束）</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33803" name="Rectangle 11"/>
              <p:cNvSpPr>
                <a:spLocks noRot="1" noChangeAspect="1" noMove="1" noResize="1" noEditPoints="1" noAdjustHandles="1" noChangeArrowheads="1" noChangeShapeType="1" noTextEdit="1"/>
              </p:cNvSpPr>
              <p:nvPr/>
            </p:nvSpPr>
            <p:spPr bwMode="auto">
              <a:xfrm>
                <a:off x="1550988" y="3489325"/>
                <a:ext cx="8893175" cy="506413"/>
              </a:xfrm>
              <a:prstGeom prst="rect">
                <a:avLst/>
              </a:prstGeom>
              <a:blipFill rotWithShape="1">
                <a:blip r:embed="rId4"/>
                <a:stretch>
                  <a:fillRect l="-4" r="4" b="-6852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4" name="Rectangle 12"/>
              <p:cNvSpPr>
                <a:spLocks noChangeArrowheads="1"/>
              </p:cNvSpPr>
              <p:nvPr/>
            </p:nvSpPr>
            <p:spPr bwMode="auto">
              <a:xfrm>
                <a:off x="1524000" y="3976688"/>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b="1" i="1" dirty="0" smtClean="0">
                        <a:solidFill>
                          <a:srgbClr val="FF0000"/>
                        </a:solidFill>
                        <a:latin typeface="Cambria Math" panose="02040503050406030204" pitchFamily="18" charset="0"/>
                        <a:ea typeface="楷体" panose="02010609060101010101" pitchFamily="49" charset="-122"/>
                      </a:rPr>
                      <m:t>𝒙</m:t>
                    </m:r>
                    <m:r>
                      <a:rPr lang="zh-CN" altLang="zh-CN" sz="2800" b="1" i="1" baseline="-25000" dirty="0">
                        <a:solidFill>
                          <a:srgbClr val="FF0000"/>
                        </a:solidFill>
                        <a:latin typeface="Cambria Math" panose="02040503050406030204" pitchFamily="18" charset="0"/>
                        <a:ea typeface="楷体" panose="02010609060101010101" pitchFamily="49" charset="-122"/>
                      </a:rPr>
                      <m:t>𝒊</m:t>
                    </m:r>
                    <m:r>
                      <a:rPr lang="zh-CN" altLang="zh-CN" sz="2800" b="1" i="1" dirty="0">
                        <a:solidFill>
                          <a:srgbClr val="FF0000"/>
                        </a:solidFill>
                        <a:latin typeface="Cambria Math" panose="02040503050406030204" pitchFamily="18" charset="0"/>
                        <a:ea typeface="楷体" panose="02010609060101010101" pitchFamily="49" charset="-122"/>
                      </a:rPr>
                      <m:t> ≤ </m:t>
                    </m:r>
                    <m:r>
                      <a:rPr lang="zh-CN" altLang="zh-CN" sz="2800" b="1" i="1" dirty="0">
                        <a:solidFill>
                          <a:srgbClr val="FF0000"/>
                        </a:solidFill>
                        <a:latin typeface="Cambria Math" panose="02040503050406030204" pitchFamily="18" charset="0"/>
                        <a:ea typeface="楷体" panose="02010609060101010101" pitchFamily="49" charset="-122"/>
                      </a:rPr>
                      <m:t>𝑴</m:t>
                    </m:r>
                    <m:r>
                      <a:rPr lang="en-US" altLang="zh-CN" sz="2800" b="1" i="1" dirty="0" smtClean="0">
                        <a:solidFill>
                          <a:srgbClr val="FF0000"/>
                        </a:solidFill>
                        <a:latin typeface="Cambria Math" panose="02040503050406030204" pitchFamily="18" charset="0"/>
                        <a:ea typeface="楷体" panose="02010609060101010101" pitchFamily="49" charset="-122"/>
                      </a:rPr>
                      <m:t>⋅</m:t>
                    </m:r>
                    <m:sSub>
                      <m:sSubPr>
                        <m:ctrlPr>
                          <a:rPr lang="en-US" altLang="zh-CN" sz="2800" b="1" i="1" dirty="0" smtClean="0">
                            <a:solidFill>
                              <a:srgbClr val="FF0000"/>
                            </a:solidFill>
                            <a:latin typeface="Cambria Math" panose="02040503050406030204" pitchFamily="18" charset="0"/>
                            <a:ea typeface="楷体" panose="02010609060101010101" pitchFamily="49" charset="-122"/>
                          </a:rPr>
                        </m:ctrlPr>
                      </m:sSubPr>
                      <m:e>
                        <m:r>
                          <a:rPr lang="zh-CN" altLang="zh-CN" sz="2800" b="1" i="1" dirty="0">
                            <a:solidFill>
                              <a:srgbClr val="FF0000"/>
                            </a:solidFill>
                            <a:latin typeface="Cambria Math" panose="02040503050406030204" pitchFamily="18" charset="0"/>
                            <a:ea typeface="楷体" panose="02010609060101010101" pitchFamily="49" charset="-122"/>
                          </a:rPr>
                          <m:t>𝒚</m:t>
                        </m:r>
                      </m:e>
                      <m:sub>
                        <m:r>
                          <a:rPr lang="en-US" altLang="zh-CN" sz="2800" b="1" i="1" dirty="0" smtClean="0">
                            <a:solidFill>
                              <a:srgbClr val="FF0000"/>
                            </a:solidFill>
                            <a:latin typeface="Cambria Math" panose="02040503050406030204" pitchFamily="18" charset="0"/>
                            <a:ea typeface="楷体" panose="02010609060101010101" pitchFamily="49" charset="-122"/>
                          </a:rPr>
                          <m:t>𝒊</m:t>
                        </m:r>
                      </m:sub>
                    </m:sSub>
                    <m:r>
                      <a:rPr lang="en-US" altLang="zh-CN" sz="2800" b="1" i="1" dirty="0" smtClean="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𝒊</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𝟏</m:t>
                    </m:r>
                    <m:r>
                      <a:rPr lang="zh-CN" altLang="zh-CN" sz="2800" b="1" i="1" dirty="0">
                        <a:solidFill>
                          <a:srgbClr val="FF0000"/>
                        </a:solidFill>
                        <a:latin typeface="Cambria Math" panose="02040503050406030204" pitchFamily="18" charset="0"/>
                        <a:ea typeface="楷体" panose="02010609060101010101" pitchFamily="49" charset="-122"/>
                      </a:rPr>
                      <m:t>,</m:t>
                    </m:r>
                    <m:r>
                      <a:rPr lang="zh-CN" altLang="zh-CN" sz="2800" b="1" i="1" dirty="0">
                        <a:solidFill>
                          <a:srgbClr val="FF0000"/>
                        </a:solidFill>
                        <a:latin typeface="Cambria Math" panose="02040503050406030204" pitchFamily="18" charset="0"/>
                        <a:ea typeface="楷体" panose="02010609060101010101" pitchFamily="49" charset="-122"/>
                      </a:rPr>
                      <m:t>𝟐</m:t>
                    </m:r>
                    <m:r>
                      <a:rPr lang="zh-CN" altLang="zh-CN" sz="2800" b="1" i="1" dirty="0">
                        <a:solidFill>
                          <a:srgbClr val="FF0000"/>
                        </a:solidFill>
                        <a:latin typeface="Cambria Math" panose="02040503050406030204" pitchFamily="18" charset="0"/>
                        <a:ea typeface="楷体" panose="02010609060101010101" pitchFamily="49" charset="-122"/>
                      </a:rPr>
                      <m:t>,</m:t>
                    </m:r>
                    <m:r>
                      <a:rPr lang="zh-CN" altLang="zh-CN" sz="2800" b="1" i="1" dirty="0">
                        <a:solidFill>
                          <a:srgbClr val="FF0000"/>
                        </a:solidFill>
                        <a:latin typeface="Cambria Math" panose="02040503050406030204" pitchFamily="18" charset="0"/>
                        <a:ea typeface="楷体" panose="02010609060101010101" pitchFamily="49" charset="-122"/>
                      </a:rPr>
                      <m:t>𝟑</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𝑴</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充分大</m:t>
                    </m:r>
                  </m:oMath>
                </a14:m>
                <a:endParaRPr lang="zh-CN" altLang="zh-CN" sz="2800" b="1" dirty="0">
                  <a:latin typeface="Arial" panose="020B0604020202020204" pitchFamily="34" charset="0"/>
                  <a:ea typeface="楷体" panose="02010609060101010101" pitchFamily="49" charset="-122"/>
                </a:endParaRPr>
              </a:p>
            </p:txBody>
          </p:sp>
        </mc:Choice>
        <mc:Fallback>
          <p:sp>
            <p:nvSpPr>
              <p:cNvPr id="33804" name="Rectangle 12"/>
              <p:cNvSpPr>
                <a:spLocks noRot="1" noChangeAspect="1" noMove="1" noResize="1" noEditPoints="1" noAdjustHandles="1" noChangeArrowheads="1" noChangeShapeType="1" noTextEdit="1"/>
              </p:cNvSpPr>
              <p:nvPr/>
            </p:nvSpPr>
            <p:spPr bwMode="auto">
              <a:xfrm>
                <a:off x="1524000" y="3976688"/>
                <a:ext cx="8893175" cy="506412"/>
              </a:xfrm>
              <a:prstGeom prst="rect">
                <a:avLst/>
              </a:prstGeom>
              <a:blipFill rotWithShape="1">
                <a:blip r:embed="rId5"/>
                <a:stretch>
                  <a:fillRect t="-6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5" name="Rectangle 13"/>
              <p:cNvSpPr>
                <a:spLocks noChangeArrowheads="1"/>
              </p:cNvSpPr>
              <p:nvPr/>
            </p:nvSpPr>
            <p:spPr bwMode="auto">
              <a:xfrm>
                <a:off x="1524000" y="4441825"/>
                <a:ext cx="889317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0</m:t>
                    </m:r>
                    <m:r>
                      <a:rPr lang="zh-CN" altLang="zh-CN" sz="2800" i="1" dirty="0">
                        <a:latin typeface="Cambria Math" panose="02040503050406030204" pitchFamily="18" charset="0"/>
                        <a:ea typeface="楷体" panose="02010609060101010101" pitchFamily="49" charset="-122"/>
                      </a:rPr>
                      <m:t>，</m:t>
                    </m:r>
                    <m:sSub>
                      <m:sSubPr>
                        <m:ctrlPr>
                          <a:rPr lang="en-US" altLang="zh-CN" sz="2800" b="0" i="1" dirty="0" smtClean="0">
                            <a:latin typeface="Cambria Math" panose="02040503050406030204" pitchFamily="18" charset="0"/>
                            <a:ea typeface="楷体" panose="02010609060101010101" pitchFamily="49" charset="-122"/>
                          </a:rPr>
                        </m:ctrlPr>
                      </m:sSubPr>
                      <m:e>
                        <m:r>
                          <a:rPr lang="zh-CN" altLang="zh-CN" sz="2800" i="1" dirty="0">
                            <a:latin typeface="Cambria Math" panose="02040503050406030204" pitchFamily="18" charset="0"/>
                            <a:ea typeface="楷体" panose="02010609060101010101" pitchFamily="49" charset="-122"/>
                          </a:rPr>
                          <m:t>𝑦</m:t>
                        </m:r>
                      </m:e>
                      <m:sub>
                        <m:r>
                          <a:rPr lang="en-US" altLang="zh-CN" sz="2800" b="0" i="1" dirty="0" smtClean="0">
                            <a:latin typeface="Cambria Math" panose="02040503050406030204" pitchFamily="18" charset="0"/>
                            <a:ea typeface="楷体" panose="02010609060101010101" pitchFamily="49" charset="-122"/>
                          </a:rPr>
                          <m:t>𝑖</m:t>
                        </m:r>
                      </m:sub>
                    </m:sSub>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为</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0</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变量</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3</m:t>
                    </m:r>
                  </m:oMath>
                </a14:m>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33805" name="Rectangle 13"/>
              <p:cNvSpPr>
                <a:spLocks noRot="1" noChangeAspect="1" noMove="1" noResize="1" noEditPoints="1" noAdjustHandles="1" noChangeArrowheads="1" noChangeShapeType="1" noTextEdit="1"/>
              </p:cNvSpPr>
              <p:nvPr/>
            </p:nvSpPr>
            <p:spPr bwMode="auto">
              <a:xfrm>
                <a:off x="1524000" y="4441825"/>
                <a:ext cx="8893175" cy="506413"/>
              </a:xfrm>
              <a:prstGeom prst="rect">
                <a:avLst/>
              </a:prstGeom>
              <a:blipFill rotWithShape="1">
                <a:blip r:embed="rId6"/>
                <a:stretch>
                  <a:fillRect b="-15316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6" name="Rectangle 14"/>
              <p:cNvSpPr>
                <a:spLocks noChangeArrowheads="1"/>
              </p:cNvSpPr>
              <p:nvPr/>
            </p:nvSpPr>
            <p:spPr bwMode="auto">
              <a:xfrm>
                <a:off x="1656464" y="5200513"/>
                <a:ext cx="8893175" cy="1368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软件计算：最大目标函数值为300，</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最优解为</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100</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oMath>
                </a14:m>
                <a:r>
                  <a:rPr lang="zh-CN" altLang="zh-CN" sz="2800" dirty="0">
                    <a:latin typeface="Arial" panose="020B0604020202020204" pitchFamily="34" charset="0"/>
                    <a:ea typeface="楷体" panose="02010609060101010101" pitchFamily="49" charset="-122"/>
                  </a:rPr>
                  <a:t>。</a:t>
                </a:r>
                <a:endParaRPr lang="zh-CN" altLang="zh-CN" sz="2800" dirty="0">
                  <a:latin typeface="Arial" panose="020B0604020202020204" pitchFamily="34" charset="0"/>
                  <a:ea typeface="楷体" panose="02010609060101010101" pitchFamily="49" charset="-122"/>
                </a:endParaRPr>
              </a:p>
            </p:txBody>
          </p:sp>
        </mc:Choice>
        <mc:Fallback>
          <p:sp>
            <p:nvSpPr>
              <p:cNvPr id="33806" name="Rectangle 14"/>
              <p:cNvSpPr>
                <a:spLocks noRot="1" noChangeAspect="1" noMove="1" noResize="1" noEditPoints="1" noAdjustHandles="1" noChangeArrowheads="1" noChangeShapeType="1" noTextEdit="1"/>
              </p:cNvSpPr>
              <p:nvPr/>
            </p:nvSpPr>
            <p:spPr bwMode="auto">
              <a:xfrm>
                <a:off x="1656464" y="5200513"/>
                <a:ext cx="8893175" cy="1368698"/>
              </a:xfrm>
              <a:prstGeom prst="rect">
                <a:avLst/>
              </a:prstGeom>
              <a:blipFill rotWithShape="1">
                <a:blip r:embed="rId7"/>
                <a:stretch>
                  <a:fillRect l="-4" t="-36" r="4" b="1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bwMode="auto">
              <a:xfrm>
                <a:off x="8328248" y="3995737"/>
                <a:ext cx="2312764" cy="1692137"/>
              </a:xfrm>
              <a:prstGeom prst="rect">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lstStyle/>
              <a:p>
                <a:pPr marL="285750" indent="-285750" eaLnBrk="1" hangingPunct="1">
                  <a:buClr>
                    <a:srgbClr val="000000"/>
                  </a:buClr>
                  <a:buSzPct val="100000"/>
                  <a:buFont typeface="Arial" panose="020B0604020202020204" pitchFamily="34" charset="0"/>
                  <a:buChar char="•"/>
                </a:pP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楷体" panose="02010609060101010101" pitchFamily="49" charset="-122"/>
                          </a:rPr>
                        </m:ctrlPr>
                      </m:sSubPr>
                      <m:e>
                        <m:r>
                          <a:rPr lang="zh-CN" altLang="zh-CN" sz="2400" b="1" i="1" dirty="0">
                            <a:solidFill>
                              <a:srgbClr val="FF0000"/>
                            </a:solidFill>
                            <a:latin typeface="Cambria Math" panose="02040503050406030204" pitchFamily="18" charset="0"/>
                            <a:ea typeface="楷体" panose="02010609060101010101" pitchFamily="49" charset="-122"/>
                          </a:rPr>
                          <m:t>𝒚</m:t>
                        </m:r>
                      </m:e>
                      <m:sub>
                        <m:r>
                          <a:rPr lang="en-US" altLang="zh-CN" sz="2400" b="1" i="1" dirty="0">
                            <a:solidFill>
                              <a:srgbClr val="FF0000"/>
                            </a:solidFill>
                            <a:latin typeface="Cambria Math" panose="02040503050406030204" pitchFamily="18" charset="0"/>
                            <a:ea typeface="楷体" panose="02010609060101010101" pitchFamily="49" charset="-122"/>
                          </a:rPr>
                          <m:t>𝒊</m:t>
                        </m:r>
                      </m:sub>
                    </m:sSub>
                    <m:r>
                      <a:rPr lang="en-US" altLang="zh-CN" sz="2400" b="1" i="1" dirty="0" smtClean="0">
                        <a:solidFill>
                          <a:srgbClr val="FF0000"/>
                        </a:solidFill>
                        <a:latin typeface="Cambria Math" panose="02040503050406030204" pitchFamily="18" charset="0"/>
                        <a:ea typeface="楷体" panose="02010609060101010101" pitchFamily="49" charset="-122"/>
                      </a:rPr>
                      <m:t>=</m:t>
                    </m:r>
                    <m:r>
                      <a:rPr lang="en-US" altLang="zh-CN" sz="2400" b="1" i="1" dirty="0" smtClean="0">
                        <a:solidFill>
                          <a:srgbClr val="FF0000"/>
                        </a:solidFill>
                        <a:latin typeface="Cambria Math" panose="02040503050406030204" pitchFamily="18" charset="0"/>
                        <a:ea typeface="楷体" panose="02010609060101010101" pitchFamily="49" charset="-122"/>
                      </a:rPr>
                      <m:t>𝟎</m:t>
                    </m:r>
                    <m:r>
                      <a:rPr lang="en-US" altLang="zh-CN" sz="2400" b="0" i="0" dirty="0" smtClean="0">
                        <a:solidFill>
                          <a:srgbClr val="FF0000"/>
                        </a:solidFill>
                        <a:latin typeface="Cambria Math" panose="02040503050406030204" pitchFamily="18" charset="0"/>
                        <a:ea typeface="楷体" panose="02010609060101010101" pitchFamily="49" charset="-122"/>
                      </a:rPr>
                      <m:t>,</m:t>
                    </m:r>
                    <m:sSub>
                      <m:sSubPr>
                        <m:ctrlPr>
                          <a:rPr lang="en-US" altLang="zh-CN" sz="2400" b="1" i="1" dirty="0" smtClean="0">
                            <a:solidFill>
                              <a:srgbClr val="FF0000"/>
                            </a:solidFill>
                            <a:latin typeface="Cambria Math" panose="02040503050406030204" pitchFamily="18" charset="0"/>
                            <a:ea typeface="楷体" panose="02010609060101010101" pitchFamily="49" charset="-122"/>
                          </a:rPr>
                        </m:ctrlPr>
                      </m:sSubPr>
                      <m:e>
                        <m:r>
                          <a:rPr lang="en-US" altLang="zh-CN" sz="2400" b="1" i="1" dirty="0" smtClean="0">
                            <a:solidFill>
                              <a:srgbClr val="FF0000"/>
                            </a:solidFill>
                            <a:latin typeface="Cambria Math" panose="02040503050406030204" pitchFamily="18" charset="0"/>
                            <a:ea typeface="楷体" panose="02010609060101010101" pitchFamily="49" charset="-122"/>
                          </a:rPr>
                          <m:t>𝒙</m:t>
                        </m:r>
                      </m:e>
                      <m:sub>
                        <m:r>
                          <a:rPr lang="en-US" altLang="zh-CN" sz="2400" b="1" i="1" dirty="0" smtClean="0">
                            <a:solidFill>
                              <a:srgbClr val="FF0000"/>
                            </a:solidFill>
                            <a:latin typeface="Cambria Math" panose="02040503050406030204" pitchFamily="18" charset="0"/>
                            <a:ea typeface="楷体" panose="02010609060101010101" pitchFamily="49" charset="-122"/>
                          </a:rPr>
                          <m:t>𝒊</m:t>
                        </m:r>
                      </m:sub>
                    </m:sSub>
                    <m:r>
                      <a:rPr lang="en-US" altLang="zh-CN" sz="2400" b="1" i="1" dirty="0" smtClean="0">
                        <a:solidFill>
                          <a:srgbClr val="FF0000"/>
                        </a:solidFill>
                        <a:latin typeface="Cambria Math" panose="02040503050406030204" pitchFamily="18" charset="0"/>
                        <a:ea typeface="楷体" panose="02010609060101010101" pitchFamily="49" charset="-122"/>
                      </a:rPr>
                      <m:t>=</m:t>
                    </m:r>
                    <m:r>
                      <a:rPr lang="en-US" altLang="zh-CN" sz="2400" b="1" i="1" dirty="0" smtClean="0">
                        <a:solidFill>
                          <a:srgbClr val="FF0000"/>
                        </a:solidFill>
                        <a:latin typeface="Cambria Math" panose="02040503050406030204" pitchFamily="18" charset="0"/>
                        <a:ea typeface="楷体" panose="02010609060101010101" pitchFamily="49" charset="-122"/>
                      </a:rPr>
                      <m:t>𝟎</m:t>
                    </m:r>
                  </m:oMath>
                </a14:m>
                <a:endParaRPr lang="en-US" altLang="zh-CN" sz="2400" b="1" i="0" dirty="0">
                  <a:solidFill>
                    <a:srgbClr val="FF0000"/>
                  </a:solidFill>
                  <a:ea typeface="楷体" panose="02010609060101010101" pitchFamily="49" charset="-122"/>
                </a:endParaRPr>
              </a:p>
              <a:p>
                <a:pPr marL="285750" indent="-285750" eaLnBrk="1" hangingPunct="1">
                  <a:buClr>
                    <a:srgbClr val="000000"/>
                  </a:buClr>
                  <a:buSzPct val="100000"/>
                  <a:buFont typeface="Arial" panose="020B0604020202020204" pitchFamily="34" charset="0"/>
                  <a:buChar char="•"/>
                </a:pPr>
                <a14:m>
                  <m:oMath xmlns:m="http://schemas.openxmlformats.org/officeDocument/2006/math">
                    <m:sSub>
                      <m:sSubPr>
                        <m:ctrlPr>
                          <a:rPr lang="en-US" altLang="zh-CN" sz="2400" b="1" i="1" dirty="0">
                            <a:solidFill>
                              <a:srgbClr val="FF0000"/>
                            </a:solidFill>
                            <a:latin typeface="Cambria Math" panose="02040503050406030204" pitchFamily="18" charset="0"/>
                            <a:ea typeface="楷体" panose="02010609060101010101" pitchFamily="49" charset="-122"/>
                          </a:rPr>
                        </m:ctrlPr>
                      </m:sSubPr>
                      <m:e>
                        <m:r>
                          <a:rPr lang="zh-CN" altLang="zh-CN" sz="2400" b="1" i="1" dirty="0">
                            <a:solidFill>
                              <a:srgbClr val="FF0000"/>
                            </a:solidFill>
                            <a:latin typeface="Cambria Math" panose="02040503050406030204" pitchFamily="18" charset="0"/>
                            <a:ea typeface="楷体" panose="02010609060101010101" pitchFamily="49" charset="-122"/>
                          </a:rPr>
                          <m:t>𝒚</m:t>
                        </m:r>
                      </m:e>
                      <m:sub>
                        <m:r>
                          <a:rPr lang="en-US" altLang="zh-CN" sz="2400" b="1" i="1" dirty="0">
                            <a:solidFill>
                              <a:srgbClr val="FF0000"/>
                            </a:solidFill>
                            <a:latin typeface="Cambria Math" panose="02040503050406030204" pitchFamily="18" charset="0"/>
                            <a:ea typeface="楷体" panose="02010609060101010101" pitchFamily="49" charset="-122"/>
                          </a:rPr>
                          <m:t>𝒊</m:t>
                        </m:r>
                      </m:sub>
                    </m:sSub>
                    <m:r>
                      <a:rPr lang="en-US" altLang="zh-CN" sz="2400" b="1" i="1" dirty="0">
                        <a:solidFill>
                          <a:srgbClr val="FF0000"/>
                        </a:solidFill>
                        <a:latin typeface="Cambria Math" panose="02040503050406030204" pitchFamily="18" charset="0"/>
                        <a:ea typeface="楷体" panose="02010609060101010101" pitchFamily="49" charset="-122"/>
                      </a:rPr>
                      <m:t>=</m:t>
                    </m:r>
                    <m:r>
                      <a:rPr lang="en-US" altLang="zh-CN" sz="2400" b="0" i="0" dirty="0" smtClean="0">
                        <a:solidFill>
                          <a:srgbClr val="FF0000"/>
                        </a:solidFill>
                        <a:latin typeface="Cambria Math" panose="02040503050406030204" pitchFamily="18" charset="0"/>
                        <a:ea typeface="楷体" panose="02010609060101010101" pitchFamily="49" charset="-122"/>
                      </a:rPr>
                      <m:t>1</m:t>
                    </m:r>
                    <m:r>
                      <a:rPr lang="en-US" altLang="zh-CN" sz="2400" dirty="0">
                        <a:solidFill>
                          <a:srgbClr val="FF0000"/>
                        </a:solidFill>
                        <a:latin typeface="Cambria Math" panose="02040503050406030204" pitchFamily="18" charset="0"/>
                        <a:ea typeface="楷体" panose="02010609060101010101" pitchFamily="49" charset="-122"/>
                      </a:rPr>
                      <m:t>,</m:t>
                    </m:r>
                    <m:sSub>
                      <m:sSubPr>
                        <m:ctrlPr>
                          <a:rPr lang="en-US" altLang="zh-CN" sz="2400" b="1" i="1" dirty="0">
                            <a:solidFill>
                              <a:srgbClr val="FF0000"/>
                            </a:solidFill>
                            <a:latin typeface="Cambria Math" panose="02040503050406030204" pitchFamily="18" charset="0"/>
                            <a:ea typeface="楷体" panose="02010609060101010101" pitchFamily="49" charset="-122"/>
                          </a:rPr>
                        </m:ctrlPr>
                      </m:sSubPr>
                      <m:e>
                        <m:r>
                          <a:rPr lang="en-US" altLang="zh-CN" sz="2400" b="1" i="1" dirty="0">
                            <a:solidFill>
                              <a:srgbClr val="FF0000"/>
                            </a:solidFill>
                            <a:latin typeface="Cambria Math" panose="02040503050406030204" pitchFamily="18" charset="0"/>
                            <a:ea typeface="楷体" panose="02010609060101010101" pitchFamily="49" charset="-122"/>
                          </a:rPr>
                          <m:t>𝒙</m:t>
                        </m:r>
                      </m:e>
                      <m:sub>
                        <m:r>
                          <a:rPr lang="en-US" altLang="zh-CN" sz="2400" b="1" i="1" dirty="0">
                            <a:solidFill>
                              <a:srgbClr val="FF0000"/>
                            </a:solidFill>
                            <a:latin typeface="Cambria Math" panose="02040503050406030204" pitchFamily="18" charset="0"/>
                            <a:ea typeface="楷体" panose="02010609060101010101" pitchFamily="49" charset="-122"/>
                          </a:rPr>
                          <m:t>𝒊</m:t>
                        </m:r>
                      </m:sub>
                    </m:sSub>
                  </m:oMath>
                </a14:m>
                <a:r>
                  <a:rPr lang="zh-CN" altLang="en-US" sz="2400" b="1" dirty="0">
                    <a:solidFill>
                      <a:srgbClr val="FF0000"/>
                    </a:solidFill>
                    <a:ea typeface="楷体" panose="02010609060101010101" pitchFamily="49" charset="-122"/>
                  </a:rPr>
                  <a:t>可取任意非负整数值</a:t>
                </a:r>
                <a:endParaRPr lang="en-US" altLang="zh-CN" sz="2400" b="1" dirty="0">
                  <a:solidFill>
                    <a:srgbClr val="FF0000"/>
                  </a:solidFill>
                  <a:ea typeface="楷体" panose="02010609060101010101" pitchFamily="49" charset="-122"/>
                </a:endParaRPr>
              </a:p>
            </p:txBody>
          </p:sp>
        </mc:Choice>
        <mc:Fallback>
          <p:sp>
            <p:nvSpPr>
              <p:cNvPr id="2" name="矩形 1"/>
              <p:cNvSpPr>
                <a:spLocks noRot="1" noChangeAspect="1" noMove="1" noResize="1" noEditPoints="1" noAdjustHandles="1" noChangeArrowheads="1" noChangeShapeType="1" noTextEdit="1"/>
              </p:cNvSpPr>
              <p:nvPr/>
            </p:nvSpPr>
            <p:spPr bwMode="auto">
              <a:xfrm>
                <a:off x="8328248" y="3995737"/>
                <a:ext cx="2312764" cy="1692137"/>
              </a:xfrm>
              <a:prstGeom prst="rect">
                <a:avLst/>
              </a:prstGeom>
              <a:blipFill rotWithShape="1">
                <a:blip r:embed="rId8"/>
                <a:stretch>
                  <a:fillRect l="-641" t="-882" r="-590" b="-815"/>
                </a:stretch>
              </a:blipFill>
              <a:ln w="28575" cap="flat" cmpd="sng" algn="ctr">
                <a:solidFill>
                  <a:srgbClr val="00B050"/>
                </a:solidFill>
                <a:prstDash val="solid"/>
                <a:round/>
                <a:headEnd type="none" w="med" len="med"/>
                <a:tailEnd type="none" w="med" len="med"/>
              </a:ln>
              <a:effectLst/>
            </p:spPr>
            <p:txBody>
              <a:bodyPr/>
              <a:lstStyle/>
              <a:p>
                <a:r>
                  <a:rPr lang="zh-CN" altLang="en-US">
                    <a:noFill/>
                  </a:rPr>
                  <a:t> </a:t>
                </a:r>
              </a:p>
            </p:txBody>
          </p:sp>
        </mc:Fallback>
      </mc:AlternateContent>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 calcmode="lin" valueType="num">
                                      <p:cBhvr additive="base">
                                        <p:cTn id="7" dur="500" fill="hold"/>
                                        <p:tgtEl>
                                          <p:spTgt spid="33797"/>
                                        </p:tgtEl>
                                        <p:attrNameLst>
                                          <p:attrName>ppt_x</p:attrName>
                                        </p:attrNameLst>
                                      </p:cBhvr>
                                      <p:tavLst>
                                        <p:tav tm="0">
                                          <p:val>
                                            <p:strVal val="ppt_x"/>
                                          </p:val>
                                        </p:tav>
                                        <p:tav tm="100000">
                                          <p:val>
                                            <p:strVal val="ppt_x"/>
                                          </p:val>
                                        </p:tav>
                                      </p:tavLst>
                                    </p:anim>
                                    <p:anim calcmode="lin" valueType="num">
                                      <p:cBhvr additive="base">
                                        <p:cTn id="8" dur="500" fill="hold"/>
                                        <p:tgtEl>
                                          <p:spTgt spid="337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800"/>
                                        </p:tgtEl>
                                        <p:attrNameLst>
                                          <p:attrName>style.visibility</p:attrName>
                                        </p:attrNameLst>
                                      </p:cBhvr>
                                      <p:to>
                                        <p:strVal val="visible"/>
                                      </p:to>
                                    </p:set>
                                    <p:anim calcmode="lin" valueType="num">
                                      <p:cBhvr additive="base">
                                        <p:cTn id="13" dur="500" fill="hold"/>
                                        <p:tgtEl>
                                          <p:spTgt spid="33800"/>
                                        </p:tgtEl>
                                        <p:attrNameLst>
                                          <p:attrName>ppt_x</p:attrName>
                                        </p:attrNameLst>
                                      </p:cBhvr>
                                      <p:tavLst>
                                        <p:tav tm="0">
                                          <p:val>
                                            <p:strVal val="ppt_x"/>
                                          </p:val>
                                        </p:tav>
                                        <p:tav tm="100000">
                                          <p:val>
                                            <p:strVal val="ppt_x"/>
                                          </p:val>
                                        </p:tav>
                                      </p:tavLst>
                                    </p:anim>
                                    <p:anim calcmode="lin" valueType="num">
                                      <p:cBhvr additive="base">
                                        <p:cTn id="14" dur="500" fill="hold"/>
                                        <p:tgtEl>
                                          <p:spTgt spid="3380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801"/>
                                        </p:tgtEl>
                                        <p:attrNameLst>
                                          <p:attrName>style.visibility</p:attrName>
                                        </p:attrNameLst>
                                      </p:cBhvr>
                                      <p:to>
                                        <p:strVal val="visible"/>
                                      </p:to>
                                    </p:set>
                                    <p:anim calcmode="lin" valueType="num">
                                      <p:cBhvr additive="base">
                                        <p:cTn id="19" dur="500" fill="hold"/>
                                        <p:tgtEl>
                                          <p:spTgt spid="33801"/>
                                        </p:tgtEl>
                                        <p:attrNameLst>
                                          <p:attrName>ppt_x</p:attrName>
                                        </p:attrNameLst>
                                      </p:cBhvr>
                                      <p:tavLst>
                                        <p:tav tm="0">
                                          <p:val>
                                            <p:strVal val="ppt_x"/>
                                          </p:val>
                                        </p:tav>
                                        <p:tav tm="100000">
                                          <p:val>
                                            <p:strVal val="ppt_x"/>
                                          </p:val>
                                        </p:tav>
                                      </p:tavLst>
                                    </p:anim>
                                    <p:anim calcmode="lin" valueType="num">
                                      <p:cBhvr additive="base">
                                        <p:cTn id="20" dur="500" fill="hold"/>
                                        <p:tgtEl>
                                          <p:spTgt spid="3380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3802"/>
                                        </p:tgtEl>
                                        <p:attrNameLst>
                                          <p:attrName>style.visibility</p:attrName>
                                        </p:attrNameLst>
                                      </p:cBhvr>
                                      <p:to>
                                        <p:strVal val="visible"/>
                                      </p:to>
                                    </p:set>
                                    <p:anim calcmode="lin" valueType="num">
                                      <p:cBhvr additive="base">
                                        <p:cTn id="25" dur="500" fill="hold"/>
                                        <p:tgtEl>
                                          <p:spTgt spid="33802"/>
                                        </p:tgtEl>
                                        <p:attrNameLst>
                                          <p:attrName>ppt_x</p:attrName>
                                        </p:attrNameLst>
                                      </p:cBhvr>
                                      <p:tavLst>
                                        <p:tav tm="0">
                                          <p:val>
                                            <p:strVal val="ppt_x"/>
                                          </p:val>
                                        </p:tav>
                                        <p:tav tm="100000">
                                          <p:val>
                                            <p:strVal val="ppt_x"/>
                                          </p:val>
                                        </p:tav>
                                      </p:tavLst>
                                    </p:anim>
                                    <p:anim calcmode="lin" valueType="num">
                                      <p:cBhvr additive="base">
                                        <p:cTn id="26" dur="500" fill="hold"/>
                                        <p:tgtEl>
                                          <p:spTgt spid="3380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3803"/>
                                        </p:tgtEl>
                                        <p:attrNameLst>
                                          <p:attrName>style.visibility</p:attrName>
                                        </p:attrNameLst>
                                      </p:cBhvr>
                                      <p:to>
                                        <p:strVal val="visible"/>
                                      </p:to>
                                    </p:set>
                                    <p:anim calcmode="lin" valueType="num">
                                      <p:cBhvr additive="base">
                                        <p:cTn id="31" dur="500" fill="hold"/>
                                        <p:tgtEl>
                                          <p:spTgt spid="33803"/>
                                        </p:tgtEl>
                                        <p:attrNameLst>
                                          <p:attrName>ppt_x</p:attrName>
                                        </p:attrNameLst>
                                      </p:cBhvr>
                                      <p:tavLst>
                                        <p:tav tm="0">
                                          <p:val>
                                            <p:strVal val="ppt_x"/>
                                          </p:val>
                                        </p:tav>
                                        <p:tav tm="100000">
                                          <p:val>
                                            <p:strVal val="ppt_x"/>
                                          </p:val>
                                        </p:tav>
                                      </p:tavLst>
                                    </p:anim>
                                    <p:anim calcmode="lin" valueType="num">
                                      <p:cBhvr additive="base">
                                        <p:cTn id="32" dur="500" fill="hold"/>
                                        <p:tgtEl>
                                          <p:spTgt spid="3380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3805"/>
                                        </p:tgtEl>
                                        <p:attrNameLst>
                                          <p:attrName>style.visibility</p:attrName>
                                        </p:attrNameLst>
                                      </p:cBhvr>
                                      <p:to>
                                        <p:strVal val="visible"/>
                                      </p:to>
                                    </p:set>
                                    <p:anim calcmode="lin" valueType="num">
                                      <p:cBhvr additive="base">
                                        <p:cTn id="37" dur="500" fill="hold"/>
                                        <p:tgtEl>
                                          <p:spTgt spid="33805"/>
                                        </p:tgtEl>
                                        <p:attrNameLst>
                                          <p:attrName>ppt_x</p:attrName>
                                        </p:attrNameLst>
                                      </p:cBhvr>
                                      <p:tavLst>
                                        <p:tav tm="0">
                                          <p:val>
                                            <p:strVal val="ppt_x"/>
                                          </p:val>
                                        </p:tav>
                                        <p:tav tm="100000">
                                          <p:val>
                                            <p:strVal val="ppt_x"/>
                                          </p:val>
                                        </p:tav>
                                      </p:tavLst>
                                    </p:anim>
                                    <p:anim calcmode="lin" valueType="num">
                                      <p:cBhvr additive="base">
                                        <p:cTn id="38" dur="500" fill="hold"/>
                                        <p:tgtEl>
                                          <p:spTgt spid="3380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3804"/>
                                        </p:tgtEl>
                                        <p:attrNameLst>
                                          <p:attrName>style.visibility</p:attrName>
                                        </p:attrNameLst>
                                      </p:cBhvr>
                                      <p:to>
                                        <p:strVal val="visible"/>
                                      </p:to>
                                    </p:set>
                                    <p:anim calcmode="lin" valueType="num">
                                      <p:cBhvr additive="base">
                                        <p:cTn id="43" dur="500" fill="hold"/>
                                        <p:tgtEl>
                                          <p:spTgt spid="33804"/>
                                        </p:tgtEl>
                                        <p:attrNameLst>
                                          <p:attrName>ppt_x</p:attrName>
                                        </p:attrNameLst>
                                      </p:cBhvr>
                                      <p:tavLst>
                                        <p:tav tm="0">
                                          <p:val>
                                            <p:strVal val="ppt_x"/>
                                          </p:val>
                                        </p:tav>
                                        <p:tav tm="100000">
                                          <p:val>
                                            <p:strVal val="ppt_x"/>
                                          </p:val>
                                        </p:tav>
                                      </p:tavLst>
                                    </p:anim>
                                    <p:anim calcmode="lin" valueType="num">
                                      <p:cBhvr additive="base">
                                        <p:cTn id="44" dur="500" fill="hold"/>
                                        <p:tgtEl>
                                          <p:spTgt spid="3380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3806"/>
                                        </p:tgtEl>
                                        <p:attrNameLst>
                                          <p:attrName>style.visibility</p:attrName>
                                        </p:attrNameLst>
                                      </p:cBhvr>
                                      <p:to>
                                        <p:strVal val="visible"/>
                                      </p:to>
                                    </p:set>
                                    <p:anim calcmode="lin" valueType="num">
                                      <p:cBhvr additive="base">
                                        <p:cTn id="49" dur="500" fill="hold"/>
                                        <p:tgtEl>
                                          <p:spTgt spid="33806"/>
                                        </p:tgtEl>
                                        <p:attrNameLst>
                                          <p:attrName>ppt_x</p:attrName>
                                        </p:attrNameLst>
                                      </p:cBhvr>
                                      <p:tavLst>
                                        <p:tav tm="0">
                                          <p:val>
                                            <p:strVal val="ppt_x"/>
                                          </p:val>
                                        </p:tav>
                                        <p:tav tm="100000">
                                          <p:val>
                                            <p:strVal val="ppt_x"/>
                                          </p:val>
                                        </p:tav>
                                      </p:tavLst>
                                    </p:anim>
                                    <p:anim calcmode="lin" valueType="num">
                                      <p:cBhvr additive="base">
                                        <p:cTn id="50" dur="500" fill="hold"/>
                                        <p:tgtEl>
                                          <p:spTgt spid="3380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ldLvl="0" animBg="1"/>
      <p:bldP spid="33800" grpId="0" bldLvl="0" animBg="1"/>
      <p:bldP spid="33801" grpId="0" bldLvl="0" animBg="1"/>
      <p:bldP spid="33802" grpId="0" bldLvl="0" animBg="1"/>
      <p:bldP spid="33803" grpId="0" bldLvl="0" animBg="1"/>
      <p:bldP spid="33804" grpId="0" bldLvl="0" animBg="1"/>
      <p:bldP spid="33805" grpId="0" bldLvl="0" animBg="1"/>
      <p:bldP spid="33806" grpId="0" bldLvl="0" animBg="1"/>
      <p:bldP spid="2"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1" name="Line 6"/>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1382" name="Rectangle 7"/>
          <p:cNvSpPr>
            <a:spLocks noChangeArrowheads="1"/>
          </p:cNvSpPr>
          <p:nvPr/>
        </p:nvSpPr>
        <p:spPr bwMode="auto">
          <a:xfrm>
            <a:off x="1881188" y="1571625"/>
            <a:ext cx="7929562"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六、0-1整数变量在构建模型中的一些特殊作用</a:t>
            </a:r>
            <a:endParaRPr lang="zh-CN" altLang="zh-CN" sz="280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101383" name="Rectangle 8"/>
              <p:cNvSpPr>
                <a:spLocks noChangeArrowheads="1"/>
              </p:cNvSpPr>
              <p:nvPr/>
            </p:nvSpPr>
            <p:spPr bwMode="auto">
              <a:xfrm>
                <a:off x="2030601" y="2060575"/>
                <a:ext cx="6787515" cy="1383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2、解决选择取值问题（例7）</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约束条件的右端项可能是</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𝑛</m:t>
                    </m:r>
                  </m:oMath>
                </a14:m>
                <a:r>
                  <a:rPr lang="zh-CN" altLang="zh-CN" sz="2800" dirty="0">
                    <a:latin typeface="Arial" panose="020B0604020202020204" pitchFamily="34" charset="0"/>
                    <a:ea typeface="楷体" panose="02010609060101010101" pitchFamily="49" charset="-122"/>
                  </a:rPr>
                  <a:t>个值中的某一个</a:t>
                </a:r>
                <a:endParaRPr lang="zh-CN" altLang="zh-CN" sz="2800" dirty="0">
                  <a:latin typeface="Arial" panose="020B0604020202020204" pitchFamily="34" charset="0"/>
                  <a:ea typeface="楷体" panose="02010609060101010101" pitchFamily="49" charset="-122"/>
                </a:endParaRPr>
              </a:p>
            </p:txBody>
          </p:sp>
        </mc:Choice>
        <mc:Fallback>
          <p:sp>
            <p:nvSpPr>
              <p:cNvPr id="101383" name="Rectangle 8"/>
              <p:cNvSpPr>
                <a:spLocks noRot="1" noChangeAspect="1" noMove="1" noResize="1" noEditPoints="1" noAdjustHandles="1" noChangeArrowheads="1" noChangeShapeType="1" noTextEdit="1"/>
              </p:cNvSpPr>
              <p:nvPr/>
            </p:nvSpPr>
            <p:spPr bwMode="auto">
              <a:xfrm>
                <a:off x="2030601" y="2060575"/>
                <a:ext cx="6787515" cy="1383665"/>
              </a:xfrm>
              <a:prstGeom prst="rect">
                <a:avLst/>
              </a:prstGeom>
              <a:blipFill rotWithShape="1">
                <a:blip r:embed="rId1"/>
                <a:stretch>
                  <a:fillRect l="-7" r="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4009765" y="2952335"/>
                <a:ext cx="3672408" cy="3158490"/>
              </a:xfrm>
              <a:prstGeom prst="rect">
                <a:avLst/>
              </a:prstGeom>
              <a:noFill/>
            </p:spPr>
            <p:txBody>
              <a:bodyPr wrap="square" lIns="0" tIns="0" rIns="0" bIns="0" rtlCol="0">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𝑛</m:t>
                              </m:r>
                            </m:sub>
                          </m:sSub>
                        </m:e>
                      </m:d>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𝑛</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𝑏</m:t>
                              </m:r>
                            </m:e>
                            <m:sub>
                              <m:r>
                                <a:rPr lang="en-US" altLang="zh-CN" sz="2400" b="0" i="1" smtClean="0">
                                  <a:latin typeface="Cambria Math" panose="02040503050406030204" pitchFamily="18" charset="0"/>
                                </a:rPr>
                                <m:t>𝑖</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sub>
                          </m:sSub>
                        </m:e>
                      </m:nary>
                      <m:r>
                        <a:rPr lang="en-US" altLang="zh-CN" sz="2400" b="0" i="1" smtClean="0">
                          <a:latin typeface="Cambria Math" panose="02040503050406030204" pitchFamily="18" charset="0"/>
                        </a:rPr>
                        <m:t>,</m:t>
                      </m:r>
                    </m:oMath>
                  </m:oMathPara>
                </a14:m>
                <a:endParaRPr lang="en-US" altLang="zh-CN" sz="2400" b="0" dirty="0"/>
              </a:p>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𝑛</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oMath>
                  </m:oMathPara>
                </a14:m>
                <a:endParaRPr lang="en-US" altLang="zh-CN" sz="2400" b="0" dirty="0"/>
              </a:p>
              <a:p>
                <a:pPr algn="just">
                  <a:lnSpc>
                    <a:spcPct val="150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zh-CN" altLang="en-US" sz="2400" i="1">
                                  <a:latin typeface="Cambria Math" panose="02040503050406030204" pitchFamily="18" charset="0"/>
                                </a:rPr>
                                <m:t>当</m:t>
                              </m:r>
                              <m:r>
                                <a:rPr lang="zh-CN" altLang="en-US" sz="2400" i="1" smtClean="0">
                                  <a:latin typeface="Cambria Math" panose="02040503050406030204" pitchFamily="18" charset="0"/>
                                </a:rPr>
                                <m:t>约束</m:t>
                              </m:r>
                              <m:r>
                                <a:rPr lang="zh-CN" altLang="en-US" sz="2400" i="1">
                                  <a:latin typeface="Cambria Math" panose="02040503050406030204" pitchFamily="18" charset="0"/>
                                </a:rPr>
                                <m:t>有段</m:t>
                              </m:r>
                              <m:r>
                                <a:rPr lang="zh-CN" altLang="en-US" sz="2400" i="1" smtClean="0">
                                  <a:latin typeface="Cambria Math" panose="02040503050406030204" pitchFamily="18" charset="0"/>
                                </a:rPr>
                                <m:t>项</m:t>
                              </m:r>
                              <m:r>
                                <a:rPr lang="zh-CN" altLang="en-US" sz="2400" i="1">
                                  <a:latin typeface="Cambria Math" panose="02040503050406030204" pitchFamily="18" charset="0"/>
                                </a:rPr>
                                <m:t>为</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𝑏</m:t>
                                  </m:r>
                                </m:e>
                                <m:sub>
                                  <m:r>
                                    <a:rPr lang="en-US" altLang="zh-CN" sz="2400" b="0" i="1" smtClean="0">
                                      <a:latin typeface="Cambria Math" panose="02040503050406030204" pitchFamily="18" charset="0"/>
                                    </a:rPr>
                                    <m:t>𝑖</m:t>
                                  </m:r>
                                </m:sub>
                              </m:sSub>
                            </m:e>
                            <m:e>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r>
                                <a:rPr lang="zh-CN" altLang="en-US" sz="2400" i="1">
                                  <a:latin typeface="Cambria Math" panose="02040503050406030204" pitchFamily="18" charset="0"/>
                                </a:rPr>
                                <m:t>否则</m:t>
                              </m:r>
                            </m:e>
                          </m:eqArr>
                        </m:e>
                      </m:d>
                    </m:oMath>
                  </m:oMathPara>
                </a14:m>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4009765" y="2952335"/>
                <a:ext cx="3672408" cy="3158490"/>
              </a:xfrm>
              <a:prstGeom prst="rect">
                <a:avLst/>
              </a:prstGeom>
              <a:blipFill rotWithShape="1">
                <a:blip r:embed="rId2"/>
                <a:stretch>
                  <a:fillRect l="-10" t="-7" r="16" b="7"/>
                </a:stretch>
              </a:blipFill>
            </p:spPr>
            <p:txBody>
              <a:bodyPr/>
              <a:lstStyle/>
              <a:p>
                <a:r>
                  <a:rPr lang="zh-CN" altLang="en-US">
                    <a:noFill/>
                  </a:rPr>
                  <a:t> </a:t>
                </a:r>
              </a:p>
            </p:txBody>
          </p:sp>
        </mc:Fallback>
      </mc:AlternateContent>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5"/>
          <p:cNvSpPr>
            <a:spLocks noChangeArrowheads="1"/>
          </p:cNvSpPr>
          <p:nvPr/>
        </p:nvSpPr>
        <p:spPr bwMode="auto">
          <a:xfrm>
            <a:off x="1651000" y="1557338"/>
            <a:ext cx="8893175" cy="1300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楷体" panose="02010609060101010101" pitchFamily="49" charset="-122"/>
                <a:ea typeface="楷体" panose="02010609060101010101" pitchFamily="49" charset="-122"/>
              </a:rPr>
              <a:t>（2）加入约束条件： </a:t>
            </a:r>
            <a:endParaRPr lang="zh-CN" altLang="zh-CN" sz="2800">
              <a:latin typeface="楷体" panose="02010609060101010101" pitchFamily="49" charset="-122"/>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楷体" panose="02010609060101010101" pitchFamily="49" charset="-122"/>
                <a:ea typeface="楷体" panose="02010609060101010101" pitchFamily="49" charset="-122"/>
              </a:rPr>
              <a:t>     y</a:t>
            </a:r>
            <a:r>
              <a:rPr lang="zh-CN" altLang="zh-CN" sz="2800" baseline="-25000">
                <a:latin typeface="楷体" panose="02010609060101010101" pitchFamily="49" charset="-122"/>
                <a:ea typeface="楷体" panose="02010609060101010101" pitchFamily="49" charset="-122"/>
              </a:rPr>
              <a:t>2</a:t>
            </a:r>
            <a:r>
              <a:rPr lang="zh-CN" altLang="zh-CN" sz="2800">
                <a:latin typeface="楷体" panose="02010609060101010101" pitchFamily="49" charset="-122"/>
                <a:ea typeface="楷体" panose="02010609060101010101" pitchFamily="49" charset="-122"/>
              </a:rPr>
              <a:t> + y</a:t>
            </a:r>
            <a:r>
              <a:rPr lang="zh-CN" altLang="zh-CN" sz="2800" baseline="-25000">
                <a:latin typeface="楷体" panose="02010609060101010101" pitchFamily="49" charset="-122"/>
                <a:ea typeface="楷体" panose="02010609060101010101" pitchFamily="49" charset="-122"/>
              </a:rPr>
              <a:t>3</a:t>
            </a:r>
            <a:r>
              <a:rPr lang="zh-CN" altLang="zh-CN" sz="2800">
                <a:latin typeface="楷体" panose="02010609060101010101" pitchFamily="49" charset="-122"/>
                <a:ea typeface="楷体" panose="02010609060101010101" pitchFamily="49" charset="-122"/>
              </a:rPr>
              <a:t> = 1 ，</a:t>
            </a:r>
            <a:endParaRPr lang="zh-CN" altLang="zh-CN" sz="2800">
              <a:latin typeface="楷体" panose="02010609060101010101" pitchFamily="49" charset="-122"/>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楷体" panose="02010609060101010101" pitchFamily="49" charset="-122"/>
                <a:ea typeface="楷体" panose="02010609060101010101" pitchFamily="49" charset="-122"/>
              </a:rPr>
              <a:t>    得到问题（2）的数学模型</a:t>
            </a:r>
            <a:endParaRPr lang="zh-CN" altLang="zh-CN" sz="2800">
              <a:latin typeface="楷体" panose="02010609060101010101" pitchFamily="49" charset="-122"/>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楷体" panose="02010609060101010101" pitchFamily="49" charset="-122"/>
              <a:ea typeface="楷体" panose="02010609060101010101" pitchFamily="49" charset="-122"/>
            </a:endParaRPr>
          </a:p>
        </p:txBody>
      </p:sp>
      <p:sp>
        <p:nvSpPr>
          <p:cNvPr id="82950"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8136" name="Rectangle 8"/>
          <p:cNvSpPr>
            <a:spLocks noChangeArrowheads="1"/>
          </p:cNvSpPr>
          <p:nvPr/>
        </p:nvSpPr>
        <p:spPr bwMode="auto">
          <a:xfrm>
            <a:off x="1774825" y="1928813"/>
            <a:ext cx="8893175" cy="4586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s.t  x</a:t>
            </a:r>
            <a:r>
              <a:rPr lang="zh-CN" altLang="zh-CN" sz="2600" baseline="-25000" dirty="0">
                <a:latin typeface="楷体" panose="02010609060101010101" pitchFamily="49" charset="-122"/>
                <a:ea typeface="楷体" panose="02010609060101010101" pitchFamily="49" charset="-122"/>
              </a:rPr>
              <a:t>11</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12</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13</a:t>
            </a:r>
            <a:r>
              <a:rPr lang="zh-CN" altLang="zh-CN" sz="2600" dirty="0">
                <a:latin typeface="楷体" panose="02010609060101010101" pitchFamily="49" charset="-122"/>
                <a:ea typeface="楷体" panose="02010609060101010101" pitchFamily="49" charset="-122"/>
              </a:rPr>
              <a:t>  ≤ 30   ( A</a:t>
            </a:r>
            <a:r>
              <a:rPr lang="zh-CN" altLang="zh-CN" sz="2600" baseline="-25000" dirty="0">
                <a:latin typeface="楷体" panose="02010609060101010101" pitchFamily="49" charset="-122"/>
                <a:ea typeface="楷体" panose="02010609060101010101" pitchFamily="49" charset="-122"/>
              </a:rPr>
              <a:t>1</a:t>
            </a:r>
            <a:r>
              <a:rPr lang="zh-CN" altLang="zh-CN" sz="2600" dirty="0">
                <a:latin typeface="楷体" panose="02010609060101010101" pitchFamily="49" charset="-122"/>
                <a:ea typeface="楷体" panose="02010609060101010101" pitchFamily="49" charset="-122"/>
              </a:rPr>
              <a:t>  厂的产量限制)</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21</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22</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23</a:t>
            </a:r>
            <a:r>
              <a:rPr lang="zh-CN" altLang="zh-CN" sz="2600" dirty="0">
                <a:latin typeface="楷体" panose="02010609060101010101" pitchFamily="49" charset="-122"/>
                <a:ea typeface="楷体" panose="02010609060101010101" pitchFamily="49" charset="-122"/>
              </a:rPr>
              <a:t>  ≤ 10y</a:t>
            </a:r>
            <a:r>
              <a:rPr lang="zh-CN" altLang="zh-CN" sz="2600" baseline="-25000" dirty="0">
                <a:latin typeface="楷体" panose="02010609060101010101" pitchFamily="49" charset="-122"/>
                <a:ea typeface="楷体" panose="02010609060101010101" pitchFamily="49" charset="-122"/>
              </a:rPr>
              <a:t>2</a:t>
            </a:r>
            <a:r>
              <a:rPr lang="zh-CN" altLang="zh-CN" sz="2600" dirty="0">
                <a:latin typeface="楷体" panose="02010609060101010101" pitchFamily="49" charset="-122"/>
                <a:ea typeface="楷体" panose="02010609060101010101" pitchFamily="49" charset="-122"/>
              </a:rPr>
              <a:t> ( A</a:t>
            </a:r>
            <a:r>
              <a:rPr lang="zh-CN" altLang="zh-CN" sz="2600" baseline="-25000" dirty="0">
                <a:latin typeface="楷体" panose="02010609060101010101" pitchFamily="49" charset="-122"/>
                <a:ea typeface="楷体" panose="02010609060101010101" pitchFamily="49" charset="-122"/>
              </a:rPr>
              <a:t>2</a:t>
            </a:r>
            <a:r>
              <a:rPr lang="zh-CN" altLang="zh-CN" sz="2600" dirty="0">
                <a:latin typeface="楷体" panose="02010609060101010101" pitchFamily="49" charset="-122"/>
                <a:ea typeface="楷体" panose="02010609060101010101" pitchFamily="49" charset="-122"/>
              </a:rPr>
              <a:t>  厂的产量限制)</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31</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32</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33</a:t>
            </a:r>
            <a:r>
              <a:rPr lang="zh-CN" altLang="zh-CN" sz="2600" dirty="0">
                <a:latin typeface="楷体" panose="02010609060101010101" pitchFamily="49" charset="-122"/>
                <a:ea typeface="楷体" panose="02010609060101010101" pitchFamily="49" charset="-122"/>
              </a:rPr>
              <a:t> ≤ 20y</a:t>
            </a:r>
            <a:r>
              <a:rPr lang="zh-CN" altLang="zh-CN" sz="2600" baseline="-25000" dirty="0">
                <a:latin typeface="楷体" panose="02010609060101010101" pitchFamily="49" charset="-122"/>
                <a:ea typeface="楷体" panose="02010609060101010101" pitchFamily="49" charset="-122"/>
              </a:rPr>
              <a:t>3</a:t>
            </a:r>
            <a:r>
              <a:rPr lang="zh-CN" altLang="zh-CN" sz="2600" dirty="0">
                <a:latin typeface="楷体" panose="02010609060101010101" pitchFamily="49" charset="-122"/>
                <a:ea typeface="楷体" panose="02010609060101010101" pitchFamily="49" charset="-122"/>
              </a:rPr>
              <a:t>  ( A</a:t>
            </a:r>
            <a:r>
              <a:rPr lang="zh-CN" altLang="zh-CN" sz="2600" baseline="-25000" dirty="0">
                <a:latin typeface="楷体" panose="02010609060101010101" pitchFamily="49" charset="-122"/>
                <a:ea typeface="楷体" panose="02010609060101010101" pitchFamily="49" charset="-122"/>
              </a:rPr>
              <a:t>3</a:t>
            </a:r>
            <a:r>
              <a:rPr lang="zh-CN" altLang="zh-CN" sz="2600" dirty="0">
                <a:latin typeface="楷体" panose="02010609060101010101" pitchFamily="49" charset="-122"/>
                <a:ea typeface="楷体" panose="02010609060101010101" pitchFamily="49" charset="-122"/>
              </a:rPr>
              <a:t>  厂的产量限制)</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41</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42</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43</a:t>
            </a:r>
            <a:r>
              <a:rPr lang="zh-CN" altLang="zh-CN" sz="2600" dirty="0">
                <a:latin typeface="楷体" panose="02010609060101010101" pitchFamily="49" charset="-122"/>
                <a:ea typeface="楷体" panose="02010609060101010101" pitchFamily="49" charset="-122"/>
              </a:rPr>
              <a:t> ≤ 30y</a:t>
            </a:r>
            <a:r>
              <a:rPr lang="zh-CN" altLang="zh-CN" sz="2600" baseline="-25000" dirty="0">
                <a:latin typeface="楷体" panose="02010609060101010101" pitchFamily="49" charset="-122"/>
                <a:ea typeface="楷体" panose="02010609060101010101" pitchFamily="49" charset="-122"/>
              </a:rPr>
              <a:t>4</a:t>
            </a:r>
            <a:r>
              <a:rPr lang="zh-CN" altLang="zh-CN" sz="2600" dirty="0">
                <a:latin typeface="楷体" panose="02010609060101010101" pitchFamily="49" charset="-122"/>
                <a:ea typeface="楷体" panose="02010609060101010101" pitchFamily="49" charset="-122"/>
              </a:rPr>
              <a:t>  ( A</a:t>
            </a:r>
            <a:r>
              <a:rPr lang="zh-CN" altLang="zh-CN" sz="2600" baseline="-25000" dirty="0">
                <a:latin typeface="楷体" panose="02010609060101010101" pitchFamily="49" charset="-122"/>
                <a:ea typeface="楷体" panose="02010609060101010101" pitchFamily="49" charset="-122"/>
              </a:rPr>
              <a:t>4</a:t>
            </a:r>
            <a:r>
              <a:rPr lang="zh-CN" altLang="zh-CN" sz="2600" dirty="0">
                <a:latin typeface="楷体" panose="02010609060101010101" pitchFamily="49" charset="-122"/>
                <a:ea typeface="楷体" panose="02010609060101010101" pitchFamily="49" charset="-122"/>
              </a:rPr>
              <a:t>  厂的产量限制)</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51</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52</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53</a:t>
            </a:r>
            <a:r>
              <a:rPr lang="zh-CN" altLang="zh-CN" sz="2600" dirty="0">
                <a:latin typeface="楷体" panose="02010609060101010101" pitchFamily="49" charset="-122"/>
                <a:ea typeface="楷体" panose="02010609060101010101" pitchFamily="49" charset="-122"/>
              </a:rPr>
              <a:t> ≤ 40y</a:t>
            </a:r>
            <a:r>
              <a:rPr lang="zh-CN" altLang="zh-CN" sz="2600" baseline="-25000" dirty="0">
                <a:latin typeface="楷体" panose="02010609060101010101" pitchFamily="49" charset="-122"/>
                <a:ea typeface="楷体" panose="02010609060101010101" pitchFamily="49" charset="-122"/>
              </a:rPr>
              <a:t>5</a:t>
            </a:r>
            <a:r>
              <a:rPr lang="zh-CN" altLang="zh-CN" sz="2600" dirty="0">
                <a:latin typeface="楷体" panose="02010609060101010101" pitchFamily="49" charset="-122"/>
                <a:ea typeface="楷体" panose="02010609060101010101" pitchFamily="49" charset="-122"/>
              </a:rPr>
              <a:t>  ( A</a:t>
            </a:r>
            <a:r>
              <a:rPr lang="zh-CN" altLang="zh-CN" sz="2600" baseline="-25000" dirty="0">
                <a:latin typeface="楷体" panose="02010609060101010101" pitchFamily="49" charset="-122"/>
                <a:ea typeface="楷体" panose="02010609060101010101" pitchFamily="49" charset="-122"/>
              </a:rPr>
              <a:t>5</a:t>
            </a:r>
            <a:r>
              <a:rPr lang="zh-CN" altLang="zh-CN" sz="2600" dirty="0">
                <a:latin typeface="楷体" panose="02010609060101010101" pitchFamily="49" charset="-122"/>
                <a:ea typeface="楷体" panose="02010609060101010101" pitchFamily="49" charset="-122"/>
              </a:rPr>
              <a:t>  厂的产量限制)</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11</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21</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31</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41 </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51</a:t>
            </a:r>
            <a:r>
              <a:rPr lang="zh-CN" altLang="zh-CN" sz="2600" dirty="0">
                <a:latin typeface="楷体" panose="02010609060101010101" pitchFamily="49" charset="-122"/>
                <a:ea typeface="楷体" panose="02010609060101010101" pitchFamily="49" charset="-122"/>
              </a:rPr>
              <a:t> = 30   ( B</a:t>
            </a:r>
            <a:r>
              <a:rPr lang="zh-CN" altLang="zh-CN" sz="2600" baseline="-25000" dirty="0">
                <a:latin typeface="楷体" panose="02010609060101010101" pitchFamily="49" charset="-122"/>
                <a:ea typeface="楷体" panose="02010609060101010101" pitchFamily="49" charset="-122"/>
              </a:rPr>
              <a:t>1</a:t>
            </a:r>
            <a:r>
              <a:rPr lang="zh-CN" altLang="zh-CN" sz="2600" dirty="0">
                <a:latin typeface="楷体" panose="02010609060101010101" pitchFamily="49" charset="-122"/>
                <a:ea typeface="楷体" panose="02010609060101010101" pitchFamily="49" charset="-122"/>
              </a:rPr>
              <a:t>  销地的限制)</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12</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22</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32</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42</a:t>
            </a:r>
            <a:r>
              <a:rPr lang="zh-CN" altLang="zh-CN" sz="2600" dirty="0">
                <a:latin typeface="楷体" panose="02010609060101010101" pitchFamily="49" charset="-122"/>
                <a:ea typeface="楷体" panose="02010609060101010101" pitchFamily="49" charset="-122"/>
              </a:rPr>
              <a:t> + x</a:t>
            </a:r>
            <a:r>
              <a:rPr lang="zh-CN" altLang="zh-CN" sz="2600" baseline="-25000" dirty="0">
                <a:latin typeface="楷体" panose="02010609060101010101" pitchFamily="49" charset="-122"/>
                <a:ea typeface="楷体" panose="02010609060101010101" pitchFamily="49" charset="-122"/>
              </a:rPr>
              <a:t>52</a:t>
            </a:r>
            <a:r>
              <a:rPr lang="zh-CN" altLang="zh-CN" sz="2600" dirty="0">
                <a:latin typeface="楷体" panose="02010609060101010101" pitchFamily="49" charset="-122"/>
                <a:ea typeface="楷体" panose="02010609060101010101" pitchFamily="49" charset="-122"/>
              </a:rPr>
              <a:t> = 20  ( B</a:t>
            </a:r>
            <a:r>
              <a:rPr lang="zh-CN" altLang="zh-CN" sz="2600" baseline="-25000" dirty="0">
                <a:latin typeface="楷体" panose="02010609060101010101" pitchFamily="49" charset="-122"/>
                <a:ea typeface="楷体" panose="02010609060101010101" pitchFamily="49" charset="-122"/>
              </a:rPr>
              <a:t>2</a:t>
            </a:r>
            <a:r>
              <a:rPr lang="zh-CN" altLang="zh-CN" sz="2600" dirty="0">
                <a:latin typeface="楷体" panose="02010609060101010101" pitchFamily="49" charset="-122"/>
                <a:ea typeface="楷体" panose="02010609060101010101" pitchFamily="49" charset="-122"/>
              </a:rPr>
              <a:t>  销地的限制)</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13</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23</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33</a:t>
            </a: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43</a:t>
            </a:r>
            <a:r>
              <a:rPr lang="zh-CN" altLang="zh-CN" sz="2600" dirty="0">
                <a:latin typeface="楷体" panose="02010609060101010101" pitchFamily="49" charset="-122"/>
                <a:ea typeface="楷体" panose="02010609060101010101" pitchFamily="49" charset="-122"/>
              </a:rPr>
              <a:t> + x</a:t>
            </a:r>
            <a:r>
              <a:rPr lang="zh-CN" altLang="zh-CN" sz="2600" baseline="-25000" dirty="0">
                <a:latin typeface="楷体" panose="02010609060101010101" pitchFamily="49" charset="-122"/>
                <a:ea typeface="楷体" panose="02010609060101010101" pitchFamily="49" charset="-122"/>
              </a:rPr>
              <a:t>53</a:t>
            </a:r>
            <a:r>
              <a:rPr lang="zh-CN" altLang="zh-CN" sz="2600" dirty="0">
                <a:latin typeface="楷体" panose="02010609060101010101" pitchFamily="49" charset="-122"/>
                <a:ea typeface="楷体" panose="02010609060101010101" pitchFamily="49" charset="-122"/>
              </a:rPr>
              <a:t> = 20  ( B</a:t>
            </a:r>
            <a:r>
              <a:rPr lang="zh-CN" altLang="zh-CN" sz="2600" baseline="-25000" dirty="0">
                <a:latin typeface="楷体" panose="02010609060101010101" pitchFamily="49" charset="-122"/>
                <a:ea typeface="楷体" panose="02010609060101010101" pitchFamily="49" charset="-122"/>
              </a:rPr>
              <a:t>3</a:t>
            </a:r>
            <a:r>
              <a:rPr lang="zh-CN" altLang="zh-CN" sz="2600" dirty="0">
                <a:latin typeface="楷体" panose="02010609060101010101" pitchFamily="49" charset="-122"/>
                <a:ea typeface="楷体" panose="02010609060101010101" pitchFamily="49" charset="-122"/>
              </a:rPr>
              <a:t>  销地的限制)</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400" dirty="0">
                <a:latin typeface="楷体" panose="02010609060101010101" pitchFamily="49" charset="-122"/>
                <a:ea typeface="楷体" panose="02010609060101010101" pitchFamily="49" charset="-122"/>
              </a:rPr>
              <a:t>       </a:t>
            </a:r>
            <a:r>
              <a:rPr lang="zh-CN" altLang="zh-CN" sz="2400" dirty="0">
                <a:solidFill>
                  <a:srgbClr val="FF0000"/>
                </a:solidFill>
                <a:latin typeface="楷体" panose="02010609060101010101" pitchFamily="49" charset="-122"/>
                <a:ea typeface="楷体" panose="02010609060101010101" pitchFamily="49" charset="-122"/>
              </a:rPr>
              <a:t>y</a:t>
            </a:r>
            <a:r>
              <a:rPr lang="zh-CN" altLang="zh-CN" sz="2400" baseline="-25000" dirty="0">
                <a:solidFill>
                  <a:srgbClr val="FF0000"/>
                </a:solidFill>
                <a:latin typeface="楷体" panose="02010609060101010101" pitchFamily="49" charset="-122"/>
                <a:ea typeface="楷体" panose="02010609060101010101" pitchFamily="49" charset="-122"/>
              </a:rPr>
              <a:t>2</a:t>
            </a:r>
            <a:r>
              <a:rPr lang="zh-CN" altLang="zh-CN" sz="2400" dirty="0">
                <a:solidFill>
                  <a:srgbClr val="FF0000"/>
                </a:solidFill>
                <a:latin typeface="楷体" panose="02010609060101010101" pitchFamily="49" charset="-122"/>
                <a:ea typeface="楷体" panose="02010609060101010101" pitchFamily="49" charset="-122"/>
              </a:rPr>
              <a:t> + y</a:t>
            </a:r>
            <a:r>
              <a:rPr lang="zh-CN" altLang="zh-CN" sz="2400" baseline="-25000" dirty="0">
                <a:solidFill>
                  <a:srgbClr val="FF0000"/>
                </a:solidFill>
                <a:latin typeface="楷体" panose="02010609060101010101" pitchFamily="49" charset="-122"/>
                <a:ea typeface="楷体" panose="02010609060101010101" pitchFamily="49" charset="-122"/>
              </a:rPr>
              <a:t>3</a:t>
            </a:r>
            <a:r>
              <a:rPr lang="zh-CN" altLang="zh-CN" sz="2400" dirty="0">
                <a:solidFill>
                  <a:srgbClr val="FF0000"/>
                </a:solidFill>
                <a:latin typeface="楷体" panose="02010609060101010101" pitchFamily="49" charset="-122"/>
                <a:ea typeface="楷体" panose="02010609060101010101" pitchFamily="49" charset="-122"/>
              </a:rPr>
              <a:t> = 1</a:t>
            </a:r>
            <a:endParaRPr lang="zh-CN" altLang="zh-CN" sz="2600" dirty="0">
              <a:solidFill>
                <a:srgbClr val="FF0000"/>
              </a:solidFill>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x</a:t>
            </a:r>
            <a:r>
              <a:rPr lang="zh-CN" altLang="zh-CN" sz="2600" baseline="-25000" dirty="0">
                <a:latin typeface="楷体" panose="02010609060101010101" pitchFamily="49" charset="-122"/>
                <a:ea typeface="楷体" panose="02010609060101010101" pitchFamily="49" charset="-122"/>
              </a:rPr>
              <a:t>ij</a:t>
            </a:r>
            <a:r>
              <a:rPr lang="zh-CN" altLang="zh-CN" sz="2600" dirty="0">
                <a:latin typeface="楷体" panose="02010609060101010101" pitchFamily="49" charset="-122"/>
                <a:ea typeface="楷体" panose="02010609060101010101" pitchFamily="49" charset="-122"/>
              </a:rPr>
              <a:t>  ≥0,且为整数，i = 1,2,3,4,5；j = 1,2,3，</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r>
              <a:rPr lang="zh-CN" altLang="zh-CN" sz="2600" dirty="0">
                <a:latin typeface="楷体" panose="02010609060101010101" pitchFamily="49" charset="-122"/>
                <a:ea typeface="楷体" panose="02010609060101010101" pitchFamily="49" charset="-122"/>
              </a:rPr>
              <a:t>	     y</a:t>
            </a:r>
            <a:r>
              <a:rPr lang="zh-CN" altLang="zh-CN" sz="2600" baseline="-25000" dirty="0">
                <a:latin typeface="楷体" panose="02010609060101010101" pitchFamily="49" charset="-122"/>
                <a:ea typeface="楷体" panose="02010609060101010101" pitchFamily="49" charset="-122"/>
              </a:rPr>
              <a:t>k </a:t>
            </a:r>
            <a:r>
              <a:rPr lang="zh-CN" altLang="zh-CN" sz="2600" dirty="0">
                <a:latin typeface="楷体" panose="02010609060101010101" pitchFamily="49" charset="-122"/>
                <a:ea typeface="楷体" panose="02010609060101010101" pitchFamily="49" charset="-122"/>
              </a:rPr>
              <a:t>为 0−1 变量，k =2,3,4,5。</a:t>
            </a:r>
            <a:endParaRPr lang="zh-CN" altLang="zh-CN" sz="2600" dirty="0">
              <a:latin typeface="楷体" panose="02010609060101010101" pitchFamily="49" charset="-122"/>
              <a:ea typeface="楷体" panose="02010609060101010101" pitchFamily="49" charset="-122"/>
            </a:endParaRPr>
          </a:p>
          <a:p>
            <a:pPr>
              <a:buClr>
                <a:srgbClr val="000000"/>
              </a:buClr>
              <a:buSzPct val="100000"/>
              <a:tabLst>
                <a:tab pos="190500" algn="l"/>
                <a:tab pos="1993900" algn="l"/>
              </a:tabLst>
            </a:pPr>
            <a:endParaRPr lang="zh-CN" altLang="zh-CN" sz="2800" dirty="0">
              <a:latin typeface="楷体" panose="02010609060101010101" pitchFamily="49" charset="-122"/>
              <a:ea typeface="楷体" panose="02010609060101010101" pitchFamily="49" charset="-122"/>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3"/>
                                        </p:tgtEl>
                                        <p:attrNameLst>
                                          <p:attrName>style.visibility</p:attrName>
                                        </p:attrNameLst>
                                      </p:cBhvr>
                                      <p:to>
                                        <p:strVal val="visible"/>
                                      </p:to>
                                    </p:set>
                                    <p:anim calcmode="lin" valueType="num">
                                      <p:cBhvr additive="base">
                                        <p:cTn id="7" dur="500" fill="hold"/>
                                        <p:tgtEl>
                                          <p:spTgt spid="48133"/>
                                        </p:tgtEl>
                                        <p:attrNameLst>
                                          <p:attrName>ppt_x</p:attrName>
                                        </p:attrNameLst>
                                      </p:cBhvr>
                                      <p:tavLst>
                                        <p:tav tm="0">
                                          <p:val>
                                            <p:strVal val="ppt_x"/>
                                          </p:val>
                                        </p:tav>
                                        <p:tav tm="100000">
                                          <p:val>
                                            <p:strVal val="ppt_x"/>
                                          </p:val>
                                        </p:tav>
                                      </p:tavLst>
                                    </p:anim>
                                    <p:anim calcmode="lin" valueType="num">
                                      <p:cBhvr additive="base">
                                        <p:cTn id="8" dur="500" fill="hold"/>
                                        <p:tgtEl>
                                          <p:spTgt spid="481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fill="hold"/>
                                        <p:tgtEl>
                                          <p:spTgt spid="48133"/>
                                        </p:tgtEl>
                                        <p:attrNameLst>
                                          <p:attrName>ppt_x</p:attrName>
                                        </p:attrNameLst>
                                      </p:cBhvr>
                                      <p:tavLst>
                                        <p:tav tm="0">
                                          <p:val>
                                            <p:strVal val="ppt_x"/>
                                          </p:val>
                                        </p:tav>
                                        <p:tav tm="100000">
                                          <p:val>
                                            <p:strVal val="ppt_x"/>
                                          </p:val>
                                        </p:tav>
                                      </p:tavLst>
                                    </p:anim>
                                    <p:anim calcmode="lin" valueType="num">
                                      <p:cBhvr additive="base">
                                        <p:cTn id="13" dur="500" fill="hold"/>
                                        <p:tgtEl>
                                          <p:spTgt spid="48133"/>
                                        </p:tgtEl>
                                        <p:attrNameLst>
                                          <p:attrName>ppt_y</p:attrName>
                                        </p:attrNameLst>
                                      </p:cBhvr>
                                      <p:tavLst>
                                        <p:tav tm="0">
                                          <p:val>
                                            <p:strVal val="ppt_x"/>
                                          </p:val>
                                        </p:tav>
                                        <p:tav tm="100000">
                                          <p:val>
                                            <p:strVal val="1+ppt_h/2"/>
                                          </p:val>
                                        </p:tav>
                                      </p:tavLst>
                                    </p:anim>
                                    <p:set>
                                      <p:cBhvr>
                                        <p:cTn id="14" dur="1" fill="hold">
                                          <p:stCondLst>
                                            <p:cond delay="499"/>
                                          </p:stCondLst>
                                        </p:cTn>
                                        <p:tgtEl>
                                          <p:spTgt spid="4813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8136"/>
                                        </p:tgtEl>
                                        <p:attrNameLst>
                                          <p:attrName>style.visibility</p:attrName>
                                        </p:attrNameLst>
                                      </p:cBhvr>
                                      <p:to>
                                        <p:strVal val="visible"/>
                                      </p:to>
                                    </p:set>
                                    <p:anim calcmode="lin" valueType="num">
                                      <p:cBhvr additive="base">
                                        <p:cTn id="19" dur="500" fill="hold"/>
                                        <p:tgtEl>
                                          <p:spTgt spid="48136"/>
                                        </p:tgtEl>
                                        <p:attrNameLst>
                                          <p:attrName>ppt_x</p:attrName>
                                        </p:attrNameLst>
                                      </p:cBhvr>
                                      <p:tavLst>
                                        <p:tav tm="0">
                                          <p:val>
                                            <p:strVal val="ppt_x"/>
                                          </p:val>
                                        </p:tav>
                                        <p:tav tm="100000">
                                          <p:val>
                                            <p:strVal val="ppt_x"/>
                                          </p:val>
                                        </p:tav>
                                      </p:tavLst>
                                    </p:anim>
                                    <p:anim calcmode="lin" valueType="num">
                                      <p:cBhvr additive="base">
                                        <p:cTn id="20" dur="500" fill="hold"/>
                                        <p:tgtEl>
                                          <p:spTgt spid="481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bldLvl="0" animBg="1"/>
      <p:bldP spid="48133" grpId="1" bldLvl="0" animBg="1"/>
      <p:bldP spid="48136"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9" name="Line 6"/>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3430" name="Rectangle 7"/>
          <p:cNvSpPr>
            <a:spLocks noChangeArrowheads="1"/>
          </p:cNvSpPr>
          <p:nvPr/>
        </p:nvSpPr>
        <p:spPr bwMode="auto">
          <a:xfrm>
            <a:off x="1881188" y="1573794"/>
            <a:ext cx="7929562"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六、0-1整数变量在构建模型中的一些特殊作用</a:t>
            </a:r>
            <a:endParaRPr lang="zh-CN" altLang="zh-CN" sz="2800" dirty="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103431" name="Rectangle 8"/>
              <p:cNvSpPr>
                <a:spLocks noChangeArrowheads="1"/>
              </p:cNvSpPr>
              <p:nvPr/>
            </p:nvSpPr>
            <p:spPr bwMode="auto">
              <a:xfrm>
                <a:off x="1881188" y="2047875"/>
                <a:ext cx="8287385"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3、解决</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𝑛</m:t>
                    </m:r>
                  </m:oMath>
                </a14:m>
                <a:r>
                  <a:rPr lang="zh-CN" altLang="zh-CN" sz="2800" dirty="0">
                    <a:latin typeface="Arial" panose="020B0604020202020204" pitchFamily="34" charset="0"/>
                    <a:ea typeface="楷体" panose="02010609060101010101" pitchFamily="49" charset="-122"/>
                  </a:rPr>
                  <a:t>个变量中选取</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𝑘</m:t>
                    </m:r>
                  </m:oMath>
                </a14:m>
                <a:r>
                  <a:rPr lang="zh-CN" altLang="zh-CN" sz="2800" dirty="0">
                    <a:latin typeface="Arial" panose="020B0604020202020204" pitchFamily="34" charset="0"/>
                    <a:ea typeface="楷体" panose="02010609060101010101" pitchFamily="49" charset="-122"/>
                  </a:rPr>
                  <a:t>个变量的问题（例4、例6）</a:t>
                </a:r>
                <a:endParaRPr lang="zh-CN" altLang="zh-CN" sz="2800" dirty="0">
                  <a:latin typeface="Arial" panose="020B0604020202020204" pitchFamily="34" charset="0"/>
                  <a:ea typeface="楷体" panose="02010609060101010101" pitchFamily="49" charset="-122"/>
                </a:endParaRPr>
              </a:p>
            </p:txBody>
          </p:sp>
        </mc:Choice>
        <mc:Fallback>
          <p:sp>
            <p:nvSpPr>
              <p:cNvPr id="103431" name="Rectangle 8"/>
              <p:cNvSpPr>
                <a:spLocks noRot="1" noChangeAspect="1" noMove="1" noResize="1" noEditPoints="1" noAdjustHandles="1" noChangeArrowheads="1" noChangeShapeType="1" noTextEdit="1"/>
              </p:cNvSpPr>
              <p:nvPr/>
            </p:nvSpPr>
            <p:spPr bwMode="auto">
              <a:xfrm>
                <a:off x="1881188" y="2047875"/>
                <a:ext cx="8287385" cy="521970"/>
              </a:xfrm>
              <a:prstGeom prst="rect">
                <a:avLst/>
              </a:prstGeom>
              <a:blipFill rotWithShape="1">
                <a:blip r:embed="rId1"/>
                <a:stretch>
                  <a:fillRect l="-4" r="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33" name="Rectangle 10"/>
              <p:cNvSpPr>
                <a:spLocks noChangeArrowheads="1"/>
              </p:cNvSpPr>
              <p:nvPr/>
            </p:nvSpPr>
            <p:spPr bwMode="auto">
              <a:xfrm>
                <a:off x="2208213" y="2795588"/>
                <a:ext cx="200660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14:m>
                  <m:oMath xmlns:m="http://schemas.openxmlformats.org/officeDocument/2006/math">
                    <m:r>
                      <a:rPr lang="zh-CN" altLang="zh-CN" sz="2800" i="1" dirty="0">
                        <a:latin typeface="Cambria Math" panose="02040503050406030204" pitchFamily="18" charset="0"/>
                        <a:ea typeface="楷体" panose="02010609060101010101" pitchFamily="49" charset="-122"/>
                      </a:rPr>
                      <m:t>𝑛</m:t>
                    </m:r>
                  </m:oMath>
                </a14:m>
                <a:r>
                  <a:rPr lang="zh-CN" altLang="zh-CN" sz="2800" dirty="0">
                    <a:latin typeface="Arial" panose="020B0604020202020204" pitchFamily="34" charset="0"/>
                    <a:ea typeface="楷体" panose="02010609060101010101" pitchFamily="49" charset="-122"/>
                  </a:rPr>
                  <a:t>个取1个：</a:t>
                </a:r>
                <a:endParaRPr lang="zh-CN" altLang="zh-CN" sz="2800" dirty="0">
                  <a:latin typeface="Arial" panose="020B0604020202020204" pitchFamily="34" charset="0"/>
                  <a:ea typeface="楷体" panose="02010609060101010101" pitchFamily="49" charset="-122"/>
                </a:endParaRPr>
              </a:p>
            </p:txBody>
          </p:sp>
        </mc:Choice>
        <mc:Fallback>
          <p:sp>
            <p:nvSpPr>
              <p:cNvPr id="103433" name="Rectangle 10"/>
              <p:cNvSpPr>
                <a:spLocks noRot="1" noChangeAspect="1" noMove="1" noResize="1" noEditPoints="1" noAdjustHandles="1" noChangeArrowheads="1" noChangeShapeType="1" noTextEdit="1"/>
              </p:cNvSpPr>
              <p:nvPr/>
            </p:nvSpPr>
            <p:spPr bwMode="auto">
              <a:xfrm>
                <a:off x="2208213" y="2795588"/>
                <a:ext cx="2006600" cy="521970"/>
              </a:xfrm>
              <a:prstGeom prst="rect">
                <a:avLst/>
              </a:prstGeom>
              <a:blipFill rotWithShape="1">
                <a:blip r:embed="rId2"/>
                <a:stretch>
                  <a:fillRect l="-16" t="-61" r="16" b="61"/>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34" name="Rectangle 11"/>
              <p:cNvSpPr>
                <a:spLocks noChangeArrowheads="1"/>
              </p:cNvSpPr>
              <p:nvPr/>
            </p:nvSpPr>
            <p:spPr bwMode="auto">
              <a:xfrm>
                <a:off x="2185988" y="3625850"/>
                <a:ext cx="200533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14:m>
                  <m:oMath xmlns:m="http://schemas.openxmlformats.org/officeDocument/2006/math">
                    <m:r>
                      <a:rPr lang="zh-CN" altLang="zh-CN" sz="2800" i="1" dirty="0">
                        <a:latin typeface="Cambria Math" panose="02040503050406030204" pitchFamily="18" charset="0"/>
                        <a:ea typeface="楷体" panose="02010609060101010101" pitchFamily="49" charset="-122"/>
                      </a:rPr>
                      <m:t>𝑛</m:t>
                    </m:r>
                  </m:oMath>
                </a14:m>
                <a:r>
                  <a:rPr lang="zh-CN" altLang="zh-CN" sz="2800" dirty="0">
                    <a:latin typeface="Arial" panose="020B0604020202020204" pitchFamily="34" charset="0"/>
                    <a:ea typeface="楷体" panose="02010609060101010101" pitchFamily="49" charset="-122"/>
                  </a:rPr>
                  <a:t>个取</a:t>
                </a:r>
                <a14:m>
                  <m:oMath xmlns:m="http://schemas.openxmlformats.org/officeDocument/2006/math">
                    <m:r>
                      <a:rPr lang="zh-CN" altLang="zh-CN" sz="2800" i="1" dirty="0">
                        <a:latin typeface="Cambria Math" panose="02040503050406030204" pitchFamily="18" charset="0"/>
                        <a:ea typeface="楷体" panose="02010609060101010101" pitchFamily="49" charset="-122"/>
                      </a:rPr>
                      <m:t>𝑘</m:t>
                    </m:r>
                  </m:oMath>
                </a14:m>
                <a:r>
                  <a:rPr lang="zh-CN" altLang="zh-CN" sz="2800" dirty="0">
                    <a:latin typeface="Arial" panose="020B0604020202020204" pitchFamily="34" charset="0"/>
                    <a:ea typeface="楷体" panose="02010609060101010101" pitchFamily="49" charset="-122"/>
                  </a:rPr>
                  <a:t>个：</a:t>
                </a:r>
                <a:endParaRPr lang="zh-CN" altLang="zh-CN" sz="2800" dirty="0">
                  <a:latin typeface="Arial" panose="020B0604020202020204" pitchFamily="34" charset="0"/>
                  <a:ea typeface="楷体" panose="02010609060101010101" pitchFamily="49" charset="-122"/>
                </a:endParaRPr>
              </a:p>
            </p:txBody>
          </p:sp>
        </mc:Choice>
        <mc:Fallback>
          <p:sp>
            <p:nvSpPr>
              <p:cNvPr id="103434" name="Rectangle 11"/>
              <p:cNvSpPr>
                <a:spLocks noRot="1" noChangeAspect="1" noMove="1" noResize="1" noEditPoints="1" noAdjustHandles="1" noChangeArrowheads="1" noChangeShapeType="1" noTextEdit="1"/>
              </p:cNvSpPr>
              <p:nvPr/>
            </p:nvSpPr>
            <p:spPr bwMode="auto">
              <a:xfrm>
                <a:off x="2185988" y="3625850"/>
                <a:ext cx="2005330" cy="521970"/>
              </a:xfrm>
              <a:prstGeom prst="rect">
                <a:avLst/>
              </a:prstGeom>
              <a:blipFill rotWithShape="1">
                <a:blip r:embed="rId3"/>
                <a:stretch>
                  <a:fillRect l="-16" r="1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36" name="Rectangle 13"/>
              <p:cNvSpPr>
                <a:spLocks noChangeArrowheads="1"/>
              </p:cNvSpPr>
              <p:nvPr/>
            </p:nvSpPr>
            <p:spPr bwMode="auto">
              <a:xfrm>
                <a:off x="2208213" y="4562475"/>
                <a:ext cx="271653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14:m>
                  <m:oMath xmlns:m="http://schemas.openxmlformats.org/officeDocument/2006/math">
                    <m:r>
                      <a:rPr lang="zh-CN" altLang="zh-CN" sz="2800" i="1" dirty="0">
                        <a:latin typeface="Cambria Math" panose="02040503050406030204" pitchFamily="18" charset="0"/>
                        <a:ea typeface="楷体" panose="02010609060101010101" pitchFamily="49" charset="-122"/>
                      </a:rPr>
                      <m:t>𝑛</m:t>
                    </m:r>
                  </m:oMath>
                </a14:m>
                <a:r>
                  <a:rPr lang="zh-CN" altLang="zh-CN" sz="2800" dirty="0">
                    <a:latin typeface="Arial" panose="020B0604020202020204" pitchFamily="34" charset="0"/>
                    <a:ea typeface="楷体" panose="02010609060101010101" pitchFamily="49" charset="-122"/>
                  </a:rPr>
                  <a:t>个至少取</a:t>
                </a:r>
                <a14:m>
                  <m:oMath xmlns:m="http://schemas.openxmlformats.org/officeDocument/2006/math">
                    <m:r>
                      <a:rPr lang="zh-CN" altLang="zh-CN" sz="2800" i="1" dirty="0">
                        <a:latin typeface="Cambria Math" panose="02040503050406030204" pitchFamily="18" charset="0"/>
                        <a:ea typeface="楷体" panose="02010609060101010101" pitchFamily="49" charset="-122"/>
                      </a:rPr>
                      <m:t>𝑘</m:t>
                    </m:r>
                  </m:oMath>
                </a14:m>
                <a:r>
                  <a:rPr lang="zh-CN" altLang="zh-CN" sz="2800" dirty="0">
                    <a:latin typeface="Arial" panose="020B0604020202020204" pitchFamily="34" charset="0"/>
                    <a:ea typeface="楷体" panose="02010609060101010101" pitchFamily="49" charset="-122"/>
                  </a:rPr>
                  <a:t>个：</a:t>
                </a:r>
                <a:endParaRPr lang="zh-CN" altLang="zh-CN" sz="2800" dirty="0">
                  <a:latin typeface="Arial" panose="020B0604020202020204" pitchFamily="34" charset="0"/>
                  <a:ea typeface="楷体" panose="02010609060101010101" pitchFamily="49" charset="-122"/>
                </a:endParaRPr>
              </a:p>
            </p:txBody>
          </p:sp>
        </mc:Choice>
        <mc:Fallback>
          <p:sp>
            <p:nvSpPr>
              <p:cNvPr id="103436" name="Rectangle 13"/>
              <p:cNvSpPr>
                <a:spLocks noRot="1" noChangeAspect="1" noMove="1" noResize="1" noEditPoints="1" noAdjustHandles="1" noChangeArrowheads="1" noChangeShapeType="1" noTextEdit="1"/>
              </p:cNvSpPr>
              <p:nvPr/>
            </p:nvSpPr>
            <p:spPr bwMode="auto">
              <a:xfrm>
                <a:off x="2208213" y="4562475"/>
                <a:ext cx="2716530" cy="521970"/>
              </a:xfrm>
              <a:prstGeom prst="rect">
                <a:avLst/>
              </a:prstGeom>
              <a:blipFill rotWithShape="1">
                <a:blip r:embed="rId4"/>
                <a:stretch>
                  <a:fillRect l="-12" r="1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3438" name="Rectangle 15"/>
              <p:cNvSpPr>
                <a:spLocks noChangeArrowheads="1"/>
              </p:cNvSpPr>
              <p:nvPr/>
            </p:nvSpPr>
            <p:spPr bwMode="auto">
              <a:xfrm>
                <a:off x="2208213" y="5499100"/>
                <a:ext cx="271653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14:m>
                  <m:oMath xmlns:m="http://schemas.openxmlformats.org/officeDocument/2006/math">
                    <m:r>
                      <a:rPr lang="zh-CN" altLang="zh-CN" sz="2800" i="1" dirty="0">
                        <a:latin typeface="Cambria Math" panose="02040503050406030204" pitchFamily="18" charset="0"/>
                        <a:ea typeface="楷体" panose="02010609060101010101" pitchFamily="49" charset="-122"/>
                      </a:rPr>
                      <m:t>𝑛</m:t>
                    </m:r>
                  </m:oMath>
                </a14:m>
                <a:r>
                  <a:rPr lang="zh-CN" altLang="zh-CN" sz="2800" dirty="0">
                    <a:latin typeface="Arial" panose="020B0604020202020204" pitchFamily="34" charset="0"/>
                    <a:ea typeface="楷体" panose="02010609060101010101" pitchFamily="49" charset="-122"/>
                  </a:rPr>
                  <a:t>个至多取</a:t>
                </a:r>
                <a14:m>
                  <m:oMath xmlns:m="http://schemas.openxmlformats.org/officeDocument/2006/math">
                    <m:r>
                      <a:rPr lang="zh-CN" altLang="zh-CN" sz="2800" i="1" dirty="0">
                        <a:latin typeface="Cambria Math" panose="02040503050406030204" pitchFamily="18" charset="0"/>
                        <a:ea typeface="楷体" panose="02010609060101010101" pitchFamily="49" charset="-122"/>
                      </a:rPr>
                      <m:t>𝑘</m:t>
                    </m:r>
                  </m:oMath>
                </a14:m>
                <a:r>
                  <a:rPr lang="zh-CN" altLang="zh-CN" sz="2800" dirty="0">
                    <a:latin typeface="Arial" panose="020B0604020202020204" pitchFamily="34" charset="0"/>
                    <a:ea typeface="楷体" panose="02010609060101010101" pitchFamily="49" charset="-122"/>
                  </a:rPr>
                  <a:t>个：</a:t>
                </a:r>
                <a:endParaRPr lang="zh-CN" altLang="zh-CN" sz="2800" dirty="0">
                  <a:latin typeface="Arial" panose="020B0604020202020204" pitchFamily="34" charset="0"/>
                  <a:ea typeface="楷体" panose="02010609060101010101" pitchFamily="49" charset="-122"/>
                </a:endParaRPr>
              </a:p>
            </p:txBody>
          </p:sp>
        </mc:Choice>
        <mc:Fallback>
          <p:sp>
            <p:nvSpPr>
              <p:cNvPr id="103438" name="Rectangle 15"/>
              <p:cNvSpPr>
                <a:spLocks noRot="1" noChangeAspect="1" noMove="1" noResize="1" noEditPoints="1" noAdjustHandles="1" noChangeArrowheads="1" noChangeShapeType="1" noTextEdit="1"/>
              </p:cNvSpPr>
              <p:nvPr/>
            </p:nvSpPr>
            <p:spPr bwMode="auto">
              <a:xfrm>
                <a:off x="2208213" y="5499100"/>
                <a:ext cx="2716530" cy="521970"/>
              </a:xfrm>
              <a:prstGeom prst="rect">
                <a:avLst/>
              </a:prstGeom>
              <a:blipFill rotWithShape="1">
                <a:blip r:embed="rId5"/>
                <a:stretch>
                  <a:fillRect l="-12" r="1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4821238" y="2656443"/>
                <a:ext cx="2418715" cy="87757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nary>
                        <m:naryPr>
                          <m:chr m:val="∑"/>
                          <m:ctrlPr>
                            <a:rPr lang="zh-CN" altLang="en-US"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1</m:t>
                          </m:r>
                        </m:e>
                      </m:nary>
                    </m:oMath>
                  </m:oMathPara>
                </a14:m>
                <a:endParaRPr lang="zh-CN" altLang="en-US" sz="2000" dirty="0"/>
              </a:p>
            </p:txBody>
          </p:sp>
        </mc:Choice>
        <mc:Fallback>
          <p:sp>
            <p:nvSpPr>
              <p:cNvPr id="2" name="文本框 1"/>
              <p:cNvSpPr txBox="1">
                <a:spLocks noRot="1" noChangeAspect="1" noMove="1" noResize="1" noEditPoints="1" noAdjustHandles="1" noChangeArrowheads="1" noChangeShapeType="1" noTextEdit="1"/>
              </p:cNvSpPr>
              <p:nvPr/>
            </p:nvSpPr>
            <p:spPr>
              <a:xfrm>
                <a:off x="4821238" y="2656443"/>
                <a:ext cx="2418715" cy="877570"/>
              </a:xfrm>
              <a:prstGeom prst="rect">
                <a:avLst/>
              </a:prstGeom>
              <a:blipFill rotWithShape="1">
                <a:blip r:embed="rId6"/>
                <a:stretch>
                  <a:fillRect l="-13" t="-27" r="-4004"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文本框 16"/>
              <p:cNvSpPr txBox="1"/>
              <p:nvPr/>
            </p:nvSpPr>
            <p:spPr>
              <a:xfrm>
                <a:off x="4807926" y="3521507"/>
                <a:ext cx="2421890" cy="87757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nary>
                        <m:naryPr>
                          <m:chr m:val="∑"/>
                          <m:ctrlPr>
                            <a:rPr lang="zh-CN" altLang="en-US"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1</m:t>
                          </m:r>
                        </m:e>
                      </m:nary>
                    </m:oMath>
                  </m:oMathPara>
                </a14:m>
                <a:endParaRPr lang="zh-CN" altLang="en-US" sz="2000" dirty="0"/>
              </a:p>
            </p:txBody>
          </p:sp>
        </mc:Choice>
        <mc:Fallback>
          <p:sp>
            <p:nvSpPr>
              <p:cNvPr id="17" name="文本框 16"/>
              <p:cNvSpPr txBox="1">
                <a:spLocks noRot="1" noChangeAspect="1" noMove="1" noResize="1" noEditPoints="1" noAdjustHandles="1" noChangeArrowheads="1" noChangeShapeType="1" noTextEdit="1"/>
              </p:cNvSpPr>
              <p:nvPr/>
            </p:nvSpPr>
            <p:spPr>
              <a:xfrm>
                <a:off x="4807926" y="3521507"/>
                <a:ext cx="2421890" cy="877570"/>
              </a:xfrm>
              <a:prstGeom prst="rect">
                <a:avLst/>
              </a:prstGeom>
              <a:blipFill rotWithShape="1">
                <a:blip r:embed="rId7"/>
                <a:stretch>
                  <a:fillRect l="-14" t="-49" r="-3919"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4815339" y="4514124"/>
                <a:ext cx="2421890" cy="87757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nary>
                        <m:naryPr>
                          <m:chr m:val="∑"/>
                          <m:ctrlPr>
                            <a:rPr lang="zh-CN" altLang="en-US"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1</m:t>
                          </m:r>
                        </m:e>
                      </m:nary>
                    </m:oMath>
                  </m:oMathPara>
                </a14:m>
                <a:endParaRPr lang="zh-CN" altLang="en-US" sz="2000" dirty="0"/>
              </a:p>
            </p:txBody>
          </p:sp>
        </mc:Choice>
        <mc:Fallback>
          <p:sp>
            <p:nvSpPr>
              <p:cNvPr id="18" name="文本框 17"/>
              <p:cNvSpPr txBox="1">
                <a:spLocks noRot="1" noChangeAspect="1" noMove="1" noResize="1" noEditPoints="1" noAdjustHandles="1" noChangeArrowheads="1" noChangeShapeType="1" noTextEdit="1"/>
              </p:cNvSpPr>
              <p:nvPr/>
            </p:nvSpPr>
            <p:spPr>
              <a:xfrm>
                <a:off x="4815339" y="4514124"/>
                <a:ext cx="2421890" cy="877570"/>
              </a:xfrm>
              <a:prstGeom prst="rect">
                <a:avLst/>
              </a:prstGeom>
              <a:blipFill rotWithShape="1">
                <a:blip r:embed="rId8"/>
                <a:stretch>
                  <a:fillRect l="-6" t="-62" r="-3954"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4807926" y="5435772"/>
                <a:ext cx="2421890" cy="87757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nary>
                        <m:naryPr>
                          <m:chr m:val="∑"/>
                          <m:ctrlPr>
                            <a:rPr lang="zh-CN" altLang="en-US"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𝑘</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𝑜𝑟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1</m:t>
                          </m:r>
                        </m:e>
                      </m:nary>
                    </m:oMath>
                  </m:oMathPara>
                </a14:m>
                <a:endParaRPr lang="zh-CN" altLang="en-US" sz="2000" dirty="0"/>
              </a:p>
            </p:txBody>
          </p:sp>
        </mc:Choice>
        <mc:Fallback>
          <p:sp>
            <p:nvSpPr>
              <p:cNvPr id="19" name="文本框 18"/>
              <p:cNvSpPr txBox="1">
                <a:spLocks noRot="1" noChangeAspect="1" noMove="1" noResize="1" noEditPoints="1" noAdjustHandles="1" noChangeArrowheads="1" noChangeShapeType="1" noTextEdit="1"/>
              </p:cNvSpPr>
              <p:nvPr/>
            </p:nvSpPr>
            <p:spPr>
              <a:xfrm>
                <a:off x="4807926" y="5435772"/>
                <a:ext cx="2421890" cy="877570"/>
              </a:xfrm>
              <a:prstGeom prst="rect">
                <a:avLst/>
              </a:prstGeom>
              <a:blipFill rotWithShape="1">
                <a:blip r:embed="rId9"/>
                <a:stretch>
                  <a:fillRect l="-14" t="-20" r="-3945" b="20"/>
                </a:stretch>
              </a:blipFill>
            </p:spPr>
            <p:txBody>
              <a:bodyPr/>
              <a:lstStyle/>
              <a:p>
                <a:r>
                  <a:rPr lang="zh-CN" altLang="en-US">
                    <a:noFill/>
                  </a:rPr>
                  <a:t> </a:t>
                </a:r>
              </a:p>
            </p:txBody>
          </p:sp>
        </mc:Fallback>
      </mc:AlternateContent>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7" name="Line 6"/>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5478" name="Rectangle 7"/>
          <p:cNvSpPr>
            <a:spLocks noChangeArrowheads="1"/>
          </p:cNvSpPr>
          <p:nvPr/>
        </p:nvSpPr>
        <p:spPr bwMode="auto">
          <a:xfrm>
            <a:off x="1884363" y="1538288"/>
            <a:ext cx="7929562"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六、0-1整数变量在构建模型中的一些特殊作用</a:t>
            </a:r>
            <a:endParaRPr lang="zh-CN" altLang="zh-CN" sz="2800">
              <a:latin typeface="Arial" panose="020B0604020202020204" pitchFamily="34" charset="0"/>
              <a:ea typeface="楷体" panose="02010609060101010101" pitchFamily="49" charset="-122"/>
            </a:endParaRPr>
          </a:p>
        </p:txBody>
      </p:sp>
      <p:sp>
        <p:nvSpPr>
          <p:cNvPr id="105479" name="Rectangle 8"/>
          <p:cNvSpPr>
            <a:spLocks noChangeArrowheads="1"/>
          </p:cNvSpPr>
          <p:nvPr/>
        </p:nvSpPr>
        <p:spPr bwMode="auto">
          <a:xfrm>
            <a:off x="1992313" y="2261790"/>
            <a:ext cx="555625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4、解决变量离散值的问题（例8）</a:t>
            </a:r>
            <a:endParaRPr lang="zh-CN" altLang="zh-CN" sz="280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4329491" y="3168253"/>
                <a:ext cx="3506470" cy="216979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400" i="1" smtClean="0">
                              <a:latin typeface="Cambria Math" panose="02040503050406030204" pitchFamily="18" charset="0"/>
                            </a:rPr>
                          </m:ctrlPr>
                        </m:dPr>
                        <m:e>
                          <m:eqArr>
                            <m:eqArrPr>
                              <m:ctrlPr>
                                <a:rPr lang="en-US" altLang="zh-CN" sz="2400" i="1" smtClean="0">
                                  <a:latin typeface="Cambria Math" panose="02040503050406030204" pitchFamily="18" charset="0"/>
                                </a:rPr>
                              </m:ctrlPr>
                            </m:eqArrPr>
                            <m:e>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𝑚</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𝑐</m:t>
                                      </m:r>
                                    </m:e>
                                    <m:sub>
                                      <m:r>
                                        <a:rPr lang="en-US" altLang="zh-CN" sz="2400" b="0" i="1" smtClean="0">
                                          <a:latin typeface="Cambria Math" panose="02040503050406030204" pitchFamily="18" charset="0"/>
                                        </a:rPr>
                                        <m:t>𝑗</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𝑜𝑟</m:t>
                                  </m:r>
                                  <m:r>
                                    <a:rPr lang="en-US" altLang="zh-CN" sz="2400" b="0" i="1" smtClean="0">
                                      <a:latin typeface="Cambria Math" panose="02040503050406030204" pitchFamily="18" charset="0"/>
                                    </a:rPr>
                                    <m:t>  </m:t>
                                  </m:r>
                                  <m:r>
                                    <a:rPr lang="en-US" altLang="zh-CN" sz="2400" b="0" i="1" smtClean="0">
                                      <a:latin typeface="Cambria Math" panose="02040503050406030204" pitchFamily="18" charset="0"/>
                                    </a:rPr>
                                    <m:t>1</m:t>
                                  </m:r>
                                </m:e>
                              </m:nary>
                            </m:e>
                            <m:e>
                              <m:nary>
                                <m:naryPr>
                                  <m:chr m:val="∑"/>
                                  <m:ctrlPr>
                                    <a:rPr lang="en-US" altLang="zh-CN" sz="240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𝑗</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𝑚</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e>
                              </m:nary>
                            </m:e>
                          </m:eqArr>
                        </m:e>
                      </m:d>
                    </m:oMath>
                  </m:oMathPara>
                </a14:m>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4329491" y="3168253"/>
                <a:ext cx="3506470" cy="2169795"/>
              </a:xfrm>
              <a:prstGeom prst="rect">
                <a:avLst/>
              </a:prstGeom>
              <a:blipFill rotWithShape="1">
                <a:blip r:embed="rId1"/>
                <a:stretch>
                  <a:fillRect l="-2" t="-11" r="-3439" b="11"/>
                </a:stretch>
              </a:blipFill>
            </p:spPr>
            <p:txBody>
              <a:bodyPr/>
              <a:lstStyle/>
              <a:p>
                <a:r>
                  <a:rPr lang="zh-CN" altLang="en-US">
                    <a:noFill/>
                  </a:rPr>
                  <a:t> </a:t>
                </a:r>
              </a:p>
            </p:txBody>
          </p:sp>
        </mc:Fallback>
      </mc:AlternateContent>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5" name="Line 6"/>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7526" name="Rectangle 7"/>
          <p:cNvSpPr>
            <a:spLocks noChangeArrowheads="1"/>
          </p:cNvSpPr>
          <p:nvPr/>
        </p:nvSpPr>
        <p:spPr bwMode="auto">
          <a:xfrm>
            <a:off x="1881188" y="1571625"/>
            <a:ext cx="7929562"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六、0-1整数变量在构建模型中的一些特殊作用</a:t>
            </a:r>
            <a:endParaRPr lang="zh-CN" altLang="zh-CN" sz="2800">
              <a:latin typeface="Arial" panose="020B0604020202020204" pitchFamily="34" charset="0"/>
              <a:ea typeface="楷体" panose="02010609060101010101" pitchFamily="49" charset="-122"/>
            </a:endParaRPr>
          </a:p>
        </p:txBody>
      </p:sp>
      <p:sp>
        <p:nvSpPr>
          <p:cNvPr id="107527" name="Rectangle 8"/>
          <p:cNvSpPr>
            <a:spLocks noChangeArrowheads="1"/>
          </p:cNvSpPr>
          <p:nvPr/>
        </p:nvSpPr>
        <p:spPr bwMode="auto">
          <a:xfrm>
            <a:off x="1992313" y="2070100"/>
            <a:ext cx="3936365"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5、解决部分约束的问题</a:t>
            </a:r>
            <a:endParaRPr lang="zh-CN" altLang="zh-CN" sz="280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107528" name="Rectangle 9"/>
              <p:cNvSpPr>
                <a:spLocks noChangeArrowheads="1"/>
              </p:cNvSpPr>
              <p:nvPr/>
            </p:nvSpPr>
            <p:spPr bwMode="auto">
              <a:xfrm>
                <a:off x="1992313" y="2620963"/>
                <a:ext cx="3877310" cy="953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𝑚</m:t>
                    </m:r>
                  </m:oMath>
                </a14:m>
                <a:r>
                  <a:rPr lang="zh-CN" altLang="zh-CN" sz="2800" dirty="0">
                    <a:latin typeface="Arial" panose="020B0604020202020204" pitchFamily="34" charset="0"/>
                    <a:ea typeface="楷体" panose="02010609060101010101" pitchFamily="49" charset="-122"/>
                  </a:rPr>
                  <a:t>个约束只有</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𝑘</m:t>
                    </m:r>
                  </m:oMath>
                </a14:m>
                <a:r>
                  <a:rPr lang="zh-CN" altLang="zh-CN" sz="2800" dirty="0">
                    <a:latin typeface="Arial" panose="020B0604020202020204" pitchFamily="34" charset="0"/>
                    <a:ea typeface="楷体" panose="02010609060101010101" pitchFamily="49" charset="-122"/>
                  </a:rPr>
                  <a:t>个起作用</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𝑚</m:t>
                    </m:r>
                  </m:oMath>
                </a14:m>
                <a:r>
                  <a:rPr lang="zh-CN" altLang="zh-CN" sz="2800" dirty="0">
                    <a:latin typeface="Arial" panose="020B0604020202020204" pitchFamily="34" charset="0"/>
                    <a:ea typeface="楷体" panose="02010609060101010101" pitchFamily="49" charset="-122"/>
                  </a:rPr>
                  <a:t>个约束条件：</a:t>
                </a:r>
                <a:endParaRPr lang="zh-CN" altLang="zh-CN" sz="2800" dirty="0">
                  <a:latin typeface="Arial" panose="020B0604020202020204" pitchFamily="34" charset="0"/>
                  <a:ea typeface="楷体" panose="02010609060101010101" pitchFamily="49" charset="-122"/>
                </a:endParaRPr>
              </a:p>
            </p:txBody>
          </p:sp>
        </mc:Choice>
        <mc:Fallback>
          <p:sp>
            <p:nvSpPr>
              <p:cNvPr id="107528" name="Rectangle 9"/>
              <p:cNvSpPr>
                <a:spLocks noRot="1" noChangeAspect="1" noMove="1" noResize="1" noEditPoints="1" noAdjustHandles="1" noChangeArrowheads="1" noChangeShapeType="1" noTextEdit="1"/>
              </p:cNvSpPr>
              <p:nvPr/>
            </p:nvSpPr>
            <p:spPr bwMode="auto">
              <a:xfrm>
                <a:off x="1992313" y="2620963"/>
                <a:ext cx="3877310" cy="953135"/>
              </a:xfrm>
              <a:prstGeom prst="rect">
                <a:avLst/>
              </a:prstGeom>
              <a:blipFill rotWithShape="1">
                <a:blip r:embed="rId1"/>
                <a:stretch>
                  <a:fillRect l="-8" t="-33" r="8" b="3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107534" name="Rectangle 15"/>
          <p:cNvSpPr>
            <a:spLocks noChangeArrowheads="1"/>
          </p:cNvSpPr>
          <p:nvPr/>
        </p:nvSpPr>
        <p:spPr bwMode="auto">
          <a:xfrm>
            <a:off x="2369344" y="5831008"/>
            <a:ext cx="89408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则：</a:t>
            </a:r>
            <a:endParaRPr lang="zh-CN" altLang="zh-CN" sz="2800" dirty="0">
              <a:latin typeface="Arial" panose="020B0604020202020204" pitchFamily="34" charset="0"/>
              <a:ea typeface="楷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4670436" y="4313257"/>
                <a:ext cx="2556510" cy="87757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nary>
                        <m:naryPr>
                          <m:chr m:val="∑"/>
                          <m:ctrlPr>
                            <a:rPr lang="zh-CN" altLang="en-US"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𝑚</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𝑖𝑗</m:t>
                              </m:r>
                            </m:sub>
                          </m:sSub>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m:t>
                          </m:r>
                        </m:e>
                      </m:nary>
                    </m:oMath>
                  </m:oMathPara>
                </a14:m>
                <a:endParaRPr lang="zh-CN" altLang="en-US" sz="2000" dirty="0"/>
              </a:p>
            </p:txBody>
          </p:sp>
        </mc:Choice>
        <mc:Fallback>
          <p:sp>
            <p:nvSpPr>
              <p:cNvPr id="2" name="文本框 1"/>
              <p:cNvSpPr txBox="1">
                <a:spLocks noRot="1" noChangeAspect="1" noMove="1" noResize="1" noEditPoints="1" noAdjustHandles="1" noChangeArrowheads="1" noChangeShapeType="1" noTextEdit="1"/>
              </p:cNvSpPr>
              <p:nvPr/>
            </p:nvSpPr>
            <p:spPr>
              <a:xfrm>
                <a:off x="4670436" y="4313257"/>
                <a:ext cx="2556510" cy="877570"/>
              </a:xfrm>
              <a:prstGeom prst="rect">
                <a:avLst/>
              </a:prstGeom>
              <a:blipFill rotWithShape="1">
                <a:blip r:embed="rId2"/>
                <a:stretch>
                  <a:fillRect t="-38" r="-3055"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4694637" y="3189941"/>
                <a:ext cx="4890135" cy="109220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𝑦</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zh-CN" altLang="en-US" sz="2400" i="1">
                                  <a:latin typeface="Cambria Math" panose="02040503050406030204" pitchFamily="18" charset="0"/>
                                </a:rPr>
                                <m:t>假定</m:t>
                              </m:r>
                              <m:r>
                                <a:rPr lang="zh-CN" altLang="en-US" sz="2400" i="1" smtClean="0">
                                  <a:latin typeface="Cambria Math" panose="02040503050406030204" pitchFamily="18" charset="0"/>
                                </a:rPr>
                                <m:t>第</m:t>
                              </m:r>
                              <m:r>
                                <a:rPr lang="en-US" altLang="zh-CN" sz="2400" b="0" i="1" smtClean="0">
                                  <a:latin typeface="Cambria Math" panose="02040503050406030204" pitchFamily="18" charset="0"/>
                                </a:rPr>
                                <m:t>𝑖</m:t>
                              </m:r>
                              <m:r>
                                <a:rPr lang="zh-CN" altLang="en-US" sz="2400" i="1">
                                  <a:latin typeface="Cambria Math" panose="02040503050406030204" pitchFamily="18" charset="0"/>
                                </a:rPr>
                                <m:t>个</m:t>
                              </m:r>
                              <m:r>
                                <a:rPr lang="zh-CN" altLang="en-US" sz="2400" i="1" smtClean="0">
                                  <a:latin typeface="Cambria Math" panose="02040503050406030204" pitchFamily="18" charset="0"/>
                                </a:rPr>
                                <m:t>约束</m:t>
                              </m:r>
                              <m:r>
                                <a:rPr lang="zh-CN" altLang="en-US" sz="2400" i="1">
                                  <a:latin typeface="Cambria Math" panose="02040503050406030204" pitchFamily="18" charset="0"/>
                                </a:rPr>
                                <m:t>条件</m:t>
                              </m:r>
                              <m:r>
                                <a:rPr lang="zh-CN" altLang="en-US" sz="2400" i="1" smtClean="0">
                                  <a:latin typeface="Cambria Math" panose="02040503050406030204" pitchFamily="18" charset="0"/>
                                </a:rPr>
                                <m:t>不起</m:t>
                              </m:r>
                              <m:r>
                                <a:rPr lang="zh-CN" altLang="en-US" sz="2400" i="1">
                                  <a:latin typeface="Cambria Math" panose="02040503050406030204" pitchFamily="18" charset="0"/>
                                </a:rPr>
                                <m:t>作用</m:t>
                              </m:r>
                            </m:e>
                            <m:e>
                              <m:r>
                                <a:rPr lang="en-US" altLang="zh-CN" sz="2400" b="0" i="1" smtClean="0">
                                  <a:latin typeface="Cambria Math" panose="02040503050406030204" pitchFamily="18" charset="0"/>
                                </a:rPr>
                                <m:t>0</m:t>
                              </m:r>
                              <m:r>
                                <a:rPr lang="en-US" altLang="zh-CN" sz="2400" b="0" i="1" smtClean="0">
                                  <a:latin typeface="Cambria Math" panose="02040503050406030204" pitchFamily="18" charset="0"/>
                                </a:rPr>
                                <m:t>,</m:t>
                              </m:r>
                              <m:r>
                                <a:rPr lang="zh-CN" altLang="en-US" sz="2400" i="1">
                                  <a:latin typeface="Cambria Math" panose="02040503050406030204" pitchFamily="18" charset="0"/>
                                </a:rPr>
                                <m:t>假定</m:t>
                              </m:r>
                              <m:r>
                                <a:rPr lang="zh-CN" altLang="en-US" sz="2400" i="1" smtClean="0">
                                  <a:latin typeface="Cambria Math" panose="02040503050406030204" pitchFamily="18" charset="0"/>
                                </a:rPr>
                                <m:t>第</m:t>
                              </m:r>
                              <m:r>
                                <a:rPr lang="en-US" altLang="zh-CN" sz="2400" b="0" i="1" smtClean="0">
                                  <a:latin typeface="Cambria Math" panose="02040503050406030204" pitchFamily="18" charset="0"/>
                                </a:rPr>
                                <m:t>𝑖</m:t>
                              </m:r>
                              <m:r>
                                <a:rPr lang="zh-CN" altLang="en-US" sz="2400" i="1">
                                  <a:latin typeface="Cambria Math" panose="02040503050406030204" pitchFamily="18" charset="0"/>
                                </a:rPr>
                                <m:t>个</m:t>
                              </m:r>
                              <m:r>
                                <a:rPr lang="zh-CN" altLang="en-US" sz="2400" i="1" smtClean="0">
                                  <a:latin typeface="Cambria Math" panose="02040503050406030204" pitchFamily="18" charset="0"/>
                                </a:rPr>
                                <m:t>约束</m:t>
                              </m:r>
                              <m:r>
                                <a:rPr lang="zh-CN" altLang="en-US" sz="2400" i="1">
                                  <a:latin typeface="Cambria Math" panose="02040503050406030204" pitchFamily="18" charset="0"/>
                                </a:rPr>
                                <m:t>条件</m:t>
                              </m:r>
                              <m:r>
                                <a:rPr lang="zh-CN" altLang="en-US" sz="2400" i="1" smtClean="0">
                                  <a:latin typeface="Cambria Math" panose="02040503050406030204" pitchFamily="18" charset="0"/>
                                </a:rPr>
                                <m:t>起作用</m:t>
                              </m:r>
                            </m:e>
                          </m:eqArr>
                        </m:e>
                      </m:d>
                    </m:oMath>
                  </m:oMathPara>
                </a14:m>
                <a:endParaRPr lang="en-US" altLang="zh-CN" sz="2400" b="0" dirty="0"/>
              </a:p>
              <a:p>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2</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oMath>
                  </m:oMathPara>
                </a14:m>
                <a:endParaRPr lang="zh-CN" altLang="en-US" sz="2400" dirty="0"/>
              </a:p>
            </p:txBody>
          </p:sp>
        </mc:Choice>
        <mc:Fallback>
          <p:sp>
            <p:nvSpPr>
              <p:cNvPr id="3" name="文本框 2"/>
              <p:cNvSpPr txBox="1">
                <a:spLocks noRot="1" noChangeAspect="1" noMove="1" noResize="1" noEditPoints="1" noAdjustHandles="1" noChangeArrowheads="1" noChangeShapeType="1" noTextEdit="1"/>
              </p:cNvSpPr>
              <p:nvPr/>
            </p:nvSpPr>
            <p:spPr>
              <a:xfrm>
                <a:off x="4694637" y="3189941"/>
                <a:ext cx="4890135" cy="1092200"/>
              </a:xfrm>
              <a:prstGeom prst="rect">
                <a:avLst/>
              </a:prstGeom>
              <a:blipFill rotWithShape="1">
                <a:blip r:embed="rId3"/>
                <a:stretch>
                  <a:fillRect l="-2" t="-31" r="-1959"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4193267" y="5500708"/>
                <a:ext cx="3757930" cy="118554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nary>
                        <m:naryPr>
                          <m:chr m:val="∑"/>
                          <m:ctrlPr>
                            <a:rPr lang="zh-CN" altLang="en-US" sz="2000" i="1" smtClean="0">
                              <a:latin typeface="Cambria Math" panose="02040503050406030204" pitchFamily="18" charset="0"/>
                            </a:rPr>
                          </m:ctrlPr>
                        </m:naryPr>
                        <m:sub>
                          <m:r>
                            <m:rPr>
                              <m:brk m:alnAt="23"/>
                            </m:rPr>
                            <a:rPr lang="en-US" altLang="zh-CN" sz="2000" i="1">
                              <a:latin typeface="Cambria Math" panose="02040503050406030204" pitchFamily="18" charset="0"/>
                            </a:rPr>
                            <m:t>𝑗</m:t>
                          </m:r>
                          <m:r>
                            <a:rPr lang="en-US" altLang="zh-CN" sz="2000" i="1">
                              <a:latin typeface="Cambria Math" panose="02040503050406030204" pitchFamily="18" charset="0"/>
                            </a:rPr>
                            <m:t>=</m:t>
                          </m:r>
                          <m:r>
                            <a:rPr lang="en-US" altLang="zh-CN" sz="2000" i="1">
                              <a:latin typeface="Cambria Math" panose="02040503050406030204" pitchFamily="18" charset="0"/>
                            </a:rPr>
                            <m:t>1</m:t>
                          </m:r>
                        </m:sub>
                        <m:sup>
                          <m:r>
                            <a:rPr lang="en-US" altLang="zh-CN" sz="2000" i="1">
                              <a:latin typeface="Cambria Math" panose="02040503050406030204" pitchFamily="18" charset="0"/>
                            </a:rPr>
                            <m:t>𝑚</m:t>
                          </m:r>
                        </m:sup>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𝑎</m:t>
                              </m:r>
                            </m:e>
                            <m:sub>
                              <m:r>
                                <a:rPr lang="en-US" altLang="zh-CN" sz="2000" i="1">
                                  <a:latin typeface="Cambria Math" panose="02040503050406030204" pitchFamily="18" charset="0"/>
                                </a:rPr>
                                <m:t>𝑖𝑗</m:t>
                              </m:r>
                            </m:sub>
                          </m:sSub>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𝑗</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𝑏</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𝑀</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2</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𝑚</m:t>
                          </m:r>
                        </m:e>
                      </m:nary>
                    </m:oMath>
                  </m:oMathPara>
                </a14:m>
                <a:endParaRPr lang="en-US" altLang="zh-CN" sz="2000" dirty="0"/>
              </a:p>
              <a:p>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𝑦</m:t>
                          </m:r>
                        </m:e>
                        <m:sub>
                          <m:r>
                            <a:rPr lang="en-US" altLang="zh-CN" sz="2000" b="0" i="1" smtClean="0">
                              <a:latin typeface="Cambria Math" panose="02040503050406030204" pitchFamily="18" charset="0"/>
                            </a:rPr>
                            <m:t>𝑚</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𝑚</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𝑘</m:t>
                      </m:r>
                    </m:oMath>
                  </m:oMathPara>
                </a14:m>
                <a:endParaRPr lang="zh-CN" altLang="en-US" sz="2000" dirty="0"/>
              </a:p>
            </p:txBody>
          </p:sp>
        </mc:Choice>
        <mc:Fallback>
          <p:sp>
            <p:nvSpPr>
              <p:cNvPr id="4" name="文本框 3"/>
              <p:cNvSpPr txBox="1">
                <a:spLocks noRot="1" noChangeAspect="1" noMove="1" noResize="1" noEditPoints="1" noAdjustHandles="1" noChangeArrowheads="1" noChangeShapeType="1" noTextEdit="1"/>
              </p:cNvSpPr>
              <p:nvPr/>
            </p:nvSpPr>
            <p:spPr>
              <a:xfrm>
                <a:off x="4193267" y="5500708"/>
                <a:ext cx="3757930" cy="1185545"/>
              </a:xfrm>
              <a:prstGeom prst="rect">
                <a:avLst/>
              </a:prstGeom>
              <a:blipFill rotWithShape="1">
                <a:blip r:embed="rId4"/>
                <a:stretch>
                  <a:fillRect l="-10" t="-29" r="-2339" b="29"/>
                </a:stretch>
              </a:blipFill>
            </p:spPr>
            <p:txBody>
              <a:bodyPr/>
              <a:lstStyle/>
              <a:p>
                <a:r>
                  <a:rPr lang="zh-CN" altLang="en-US">
                    <a:noFill/>
                  </a:rPr>
                  <a:t> </a:t>
                </a:r>
              </a:p>
            </p:txBody>
          </p:sp>
        </mc:Fallback>
      </mc:AlternateContent>
      <p:sp>
        <p:nvSpPr>
          <p:cNvPr id="5"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3" name="Line 6"/>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9574" name="Rectangle 7"/>
          <p:cNvSpPr>
            <a:spLocks noChangeArrowheads="1"/>
          </p:cNvSpPr>
          <p:nvPr/>
        </p:nvSpPr>
        <p:spPr bwMode="auto">
          <a:xfrm>
            <a:off x="1881188" y="1571625"/>
            <a:ext cx="7929562"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六、0-1整数变量在构建模型中的一些特殊作用</a:t>
            </a:r>
            <a:endParaRPr lang="zh-CN" altLang="zh-CN" sz="2800">
              <a:latin typeface="Arial" panose="020B0604020202020204" pitchFamily="34" charset="0"/>
              <a:ea typeface="楷体" panose="02010609060101010101" pitchFamily="49" charset="-122"/>
            </a:endParaRPr>
          </a:p>
        </p:txBody>
      </p:sp>
      <p:sp>
        <p:nvSpPr>
          <p:cNvPr id="109575" name="Rectangle 8"/>
          <p:cNvSpPr>
            <a:spLocks noChangeArrowheads="1"/>
          </p:cNvSpPr>
          <p:nvPr/>
        </p:nvSpPr>
        <p:spPr bwMode="auto">
          <a:xfrm>
            <a:off x="1992313" y="2024063"/>
            <a:ext cx="4647565"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buClr>
                <a:srgbClr val="000000"/>
              </a:buClr>
              <a:buSzPct val="100000"/>
            </a:pPr>
            <a:r>
              <a:rPr lang="zh-CN" altLang="zh-CN" sz="2800">
                <a:latin typeface="Arial" panose="020B0604020202020204" pitchFamily="34" charset="0"/>
                <a:ea typeface="楷体" panose="02010609060101010101" pitchFamily="49" charset="-122"/>
              </a:rPr>
              <a:t>6、解决逻辑关系约束的问题</a:t>
            </a:r>
            <a:endParaRPr lang="zh-CN" altLang="zh-CN" sz="2800">
              <a:latin typeface="Arial" panose="020B0604020202020204" pitchFamily="34" charset="0"/>
            </a:endParaRPr>
          </a:p>
        </p:txBody>
      </p:sp>
      <mc:AlternateContent xmlns:mc="http://schemas.openxmlformats.org/markup-compatibility/2006">
        <mc:Choice xmlns:a14="http://schemas.microsoft.com/office/drawing/2010/main" Requires="a14">
          <p:sp>
            <p:nvSpPr>
              <p:cNvPr id="109576" name="Rectangle 9"/>
              <p:cNvSpPr>
                <a:spLocks noChangeArrowheads="1"/>
              </p:cNvSpPr>
              <p:nvPr/>
            </p:nvSpPr>
            <p:spPr bwMode="auto">
              <a:xfrm>
                <a:off x="1992630" y="2473325"/>
                <a:ext cx="8968105" cy="33229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lnSpc>
                    <a:spcPct val="150000"/>
                  </a:lnSpc>
                  <a:buClr>
                    <a:srgbClr val="000000"/>
                  </a:buClr>
                  <a:buSzPct val="100000"/>
                </a:pPr>
                <a:r>
                  <a:rPr lang="zh-CN" altLang="zh-CN" sz="2800" dirty="0">
                    <a:latin typeface="Arial" panose="020B0604020202020204" pitchFamily="34" charset="0"/>
                    <a:ea typeface="楷体" panose="02010609060101010101" pitchFamily="49" charset="-122"/>
                  </a:rPr>
                  <a:t>若</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𝑓</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𝑥</m:t>
                    </m:r>
                    <m:r>
                      <a:rPr lang="zh-CN" altLang="zh-CN" sz="2800" i="1" dirty="0" smtClean="0">
                        <a:latin typeface="Cambria Math" panose="02040503050406030204" pitchFamily="18" charset="0"/>
                        <a:ea typeface="楷体" panose="02010609060101010101" pitchFamily="49" charset="-122"/>
                      </a:rPr>
                      <m:t>)&lt;</m:t>
                    </m:r>
                    <m:r>
                      <a:rPr lang="zh-CN" altLang="zh-CN" sz="2800" i="1" dirty="0" smtClean="0">
                        <a:latin typeface="Cambria Math" panose="02040503050406030204" pitchFamily="18" charset="0"/>
                        <a:ea typeface="楷体" panose="02010609060101010101" pitchFamily="49" charset="-122"/>
                      </a:rPr>
                      <m:t>0</m:t>
                    </m:r>
                  </m:oMath>
                </a14:m>
                <a:r>
                  <a:rPr lang="zh-CN" altLang="zh-CN" sz="2800" dirty="0">
                    <a:latin typeface="Arial" panose="020B0604020202020204" pitchFamily="34" charset="0"/>
                    <a:ea typeface="楷体" panose="02010609060101010101" pitchFamily="49" charset="-122"/>
                  </a:rPr>
                  <a:t>成立（可得</a:t>
                </a:r>
                <a:r>
                  <a:rPr lang="en-US" altLang="zh-CN" sz="2800" dirty="0">
                    <a:latin typeface="Arial" panose="020B0604020202020204" pitchFamily="34" charset="0"/>
                    <a:ea typeface="楷体" panose="02010609060101010101" pitchFamily="49" charset="-122"/>
                  </a:rPr>
                  <a:t>y=0</a:t>
                </a:r>
                <a:r>
                  <a:rPr lang="zh-CN" altLang="zh-CN" sz="2800" dirty="0">
                    <a:latin typeface="Arial" panose="020B0604020202020204" pitchFamily="34" charset="0"/>
                    <a:ea typeface="楷体" panose="02010609060101010101" pitchFamily="49" charset="-122"/>
                  </a:rPr>
                  <a:t>），则</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𝑔</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𝑥</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0</m:t>
                    </m:r>
                  </m:oMath>
                </a14:m>
                <a:r>
                  <a:rPr lang="zh-CN" altLang="zh-CN" sz="2800" dirty="0">
                    <a:latin typeface="Arial" panose="020B0604020202020204" pitchFamily="34" charset="0"/>
                    <a:ea typeface="楷体" panose="02010609060101010101" pitchFamily="49" charset="-122"/>
                  </a:rPr>
                  <a:t>必须成立；</a:t>
                </a:r>
                <a:endParaRPr lang="zh-CN" altLang="zh-CN" sz="2800" dirty="0">
                  <a:latin typeface="Arial" panose="020B0604020202020204" pitchFamily="34" charset="0"/>
                  <a:ea typeface="楷体" panose="02010609060101010101" pitchFamily="49" charset="-122"/>
                </a:endParaRPr>
              </a:p>
              <a:p>
                <a:pPr algn="just">
                  <a:lnSpc>
                    <a:spcPct val="150000"/>
                  </a:lnSpc>
                  <a:buClr>
                    <a:srgbClr val="000000"/>
                  </a:buClr>
                  <a:buSzPct val="100000"/>
                </a:pPr>
                <a:r>
                  <a:rPr lang="zh-CN" altLang="zh-CN" sz="2800" dirty="0">
                    <a:latin typeface="Arial" panose="020B0604020202020204" pitchFamily="34" charset="0"/>
                    <a:ea typeface="楷体" panose="02010609060101010101" pitchFamily="49" charset="-122"/>
                  </a:rPr>
                  <a:t>若</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𝑓</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𝑥</m:t>
                    </m:r>
                    <m:r>
                      <a:rPr lang="zh-CN" altLang="zh-CN" sz="2800" i="1" dirty="0" smtClean="0">
                        <a:latin typeface="Cambria Math" panose="02040503050406030204" pitchFamily="18" charset="0"/>
                        <a:ea typeface="楷体" panose="02010609060101010101" pitchFamily="49" charset="-122"/>
                      </a:rPr>
                      <m:t>)&lt;</m:t>
                    </m:r>
                    <m:r>
                      <a:rPr lang="zh-CN" altLang="zh-CN" sz="2800" i="1" dirty="0" smtClean="0">
                        <a:latin typeface="Cambria Math" panose="02040503050406030204" pitchFamily="18" charset="0"/>
                        <a:ea typeface="楷体" panose="02010609060101010101" pitchFamily="49" charset="-122"/>
                      </a:rPr>
                      <m:t>0</m:t>
                    </m:r>
                  </m:oMath>
                </a14:m>
                <a:r>
                  <a:rPr lang="zh-CN" altLang="zh-CN" sz="2800" dirty="0">
                    <a:latin typeface="Arial" panose="020B0604020202020204" pitchFamily="34" charset="0"/>
                    <a:ea typeface="楷体" panose="02010609060101010101" pitchFamily="49" charset="-122"/>
                  </a:rPr>
                  <a:t>不成立</a:t>
                </a:r>
                <a:r>
                  <a:rPr lang="zh-CN" altLang="zh-CN" sz="2800" dirty="0">
                    <a:latin typeface="Arial" panose="020B0604020202020204" pitchFamily="34" charset="0"/>
                    <a:ea typeface="楷体" panose="02010609060101010101" pitchFamily="49" charset="-122"/>
                    <a:sym typeface="+mn-ea"/>
                  </a:rPr>
                  <a:t>（可得</a:t>
                </a:r>
                <a:r>
                  <a:rPr lang="en-US" altLang="zh-CN" sz="2800" dirty="0">
                    <a:latin typeface="Arial" panose="020B0604020202020204" pitchFamily="34" charset="0"/>
                    <a:ea typeface="楷体" panose="02010609060101010101" pitchFamily="49" charset="-122"/>
                    <a:sym typeface="+mn-ea"/>
                  </a:rPr>
                  <a:t>y=1</a:t>
                </a:r>
                <a:r>
                  <a:rPr lang="zh-CN" altLang="zh-CN" sz="2800" dirty="0">
                    <a:latin typeface="Arial" panose="020B0604020202020204" pitchFamily="34" charset="0"/>
                    <a:ea typeface="楷体" panose="02010609060101010101" pitchFamily="49" charset="-122"/>
                    <a:sym typeface="+mn-ea"/>
                  </a:rPr>
                  <a:t>）</a:t>
                </a:r>
                <a:r>
                  <a:rPr lang="zh-CN" altLang="zh-CN" sz="2800" dirty="0">
                    <a:latin typeface="Arial" panose="020B0604020202020204" pitchFamily="34" charset="0"/>
                    <a:ea typeface="楷体" panose="02010609060101010101" pitchFamily="49" charset="-122"/>
                  </a:rPr>
                  <a:t>，则</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𝑔</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𝑥</m:t>
                    </m:r>
                    <m:r>
                      <a:rPr lang="zh-CN" altLang="zh-CN" sz="2800" i="1" dirty="0" smtClean="0">
                        <a:latin typeface="Cambria Math" panose="02040503050406030204" pitchFamily="18" charset="0"/>
                        <a:ea typeface="楷体" panose="02010609060101010101" pitchFamily="49" charset="-122"/>
                      </a:rPr>
                      <m:t>)</m:t>
                    </m:r>
                  </m:oMath>
                </a14:m>
                <a:r>
                  <a:rPr lang="zh-CN" altLang="zh-CN" sz="2800" dirty="0">
                    <a:latin typeface="Arial" panose="020B0604020202020204" pitchFamily="34" charset="0"/>
                    <a:ea typeface="楷体" panose="02010609060101010101" pitchFamily="49" charset="-122"/>
                  </a:rPr>
                  <a:t>无限制。</a:t>
                </a:r>
                <a:endParaRPr lang="zh-CN" altLang="zh-CN" sz="2800" dirty="0">
                  <a:latin typeface="Arial" panose="020B0604020202020204" pitchFamily="34" charset="0"/>
                  <a:ea typeface="楷体" panose="02010609060101010101" pitchFamily="49" charset="-122"/>
                </a:endParaRPr>
              </a:p>
              <a:p>
                <a:pPr algn="just">
                  <a:lnSpc>
                    <a:spcPct val="150000"/>
                  </a:lnSpc>
                  <a:buClr>
                    <a:srgbClr val="000000"/>
                  </a:buClr>
                  <a:buSzPct val="100000"/>
                </a:pPr>
                <a:r>
                  <a:rPr lang="zh-CN" altLang="zh-CN" sz="2800" dirty="0">
                    <a:latin typeface="Arial" panose="020B0604020202020204" pitchFamily="34" charset="0"/>
                    <a:ea typeface="楷体" panose="02010609060101010101" pitchFamily="49" charset="-122"/>
                  </a:rPr>
                  <a:t>引入一个0-1变量</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𝑦</m:t>
                    </m:r>
                  </m:oMath>
                </a14:m>
                <a:r>
                  <a:rPr lang="zh-CN" altLang="zh-CN" sz="2800" dirty="0">
                    <a:latin typeface="Arial" panose="020B0604020202020204" pitchFamily="34" charset="0"/>
                    <a:ea typeface="楷体" panose="02010609060101010101" pitchFamily="49" charset="-122"/>
                  </a:rPr>
                  <a:t>来解决这一逻辑关系：</a:t>
                </a:r>
                <a:endParaRPr lang="zh-CN" altLang="zh-CN" sz="2800" dirty="0">
                  <a:latin typeface="Arial" panose="020B0604020202020204" pitchFamily="34" charset="0"/>
                  <a:ea typeface="楷体" panose="02010609060101010101" pitchFamily="49" charset="-122"/>
                </a:endParaRPr>
              </a:p>
              <a:p>
                <a:pPr algn="just">
                  <a:lnSpc>
                    <a:spcPct val="150000"/>
                  </a:lnSpc>
                  <a:buClr>
                    <a:srgbClr val="000000"/>
                  </a:buClr>
                  <a:buSzPct val="100000"/>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𝑓</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𝑥</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𝑀</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1</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𝑦</m:t>
                    </m:r>
                    <m:r>
                      <a:rPr lang="zh-CN" altLang="zh-CN" sz="2800" i="1" dirty="0" smtClean="0">
                        <a:latin typeface="Cambria Math" panose="02040503050406030204" pitchFamily="18" charset="0"/>
                        <a:ea typeface="楷体" panose="02010609060101010101" pitchFamily="49" charset="-122"/>
                      </a:rPr>
                      <m:t>)</m:t>
                    </m:r>
                  </m:oMath>
                </a14:m>
                <a:endParaRPr lang="zh-CN" altLang="zh-CN" sz="2800" dirty="0">
                  <a:latin typeface="Arial" panose="020B0604020202020204" pitchFamily="34" charset="0"/>
                  <a:ea typeface="楷体" panose="02010609060101010101" pitchFamily="49" charset="-122"/>
                </a:endParaRPr>
              </a:p>
              <a:p>
                <a:pPr algn="just">
                  <a:lnSpc>
                    <a:spcPct val="150000"/>
                  </a:lnSpc>
                  <a:buClr>
                    <a:srgbClr val="000000"/>
                  </a:buClr>
                  <a:buSzPct val="100000"/>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𝑔</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𝑥</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𝑀𝑦</m:t>
                    </m:r>
                  </m:oMath>
                </a14:m>
                <a:endParaRPr lang="zh-CN" altLang="zh-CN" sz="2800" dirty="0">
                  <a:latin typeface="Arial" panose="020B0604020202020204" pitchFamily="34" charset="0"/>
                  <a:ea typeface="楷体" panose="02010609060101010101" pitchFamily="49" charset="-122"/>
                </a:endParaRPr>
              </a:p>
            </p:txBody>
          </p:sp>
        </mc:Choice>
        <mc:Fallback>
          <p:sp>
            <p:nvSpPr>
              <p:cNvPr id="109576" name="Rectangle 9"/>
              <p:cNvSpPr>
                <a:spLocks noRot="1" noChangeAspect="1" noMove="1" noResize="1" noEditPoints="1" noAdjustHandles="1" noChangeArrowheads="1" noChangeShapeType="1" noTextEdit="1"/>
              </p:cNvSpPr>
              <p:nvPr/>
            </p:nvSpPr>
            <p:spPr bwMode="auto">
              <a:xfrm>
                <a:off x="1992630" y="2473325"/>
                <a:ext cx="8968105" cy="3322955"/>
              </a:xfrm>
              <a:prstGeom prst="rect">
                <a:avLst/>
              </a:prstGeom>
              <a:blipFill rotWithShape="1">
                <a:blip r:embed="rId1"/>
                <a:stretch>
                  <a:fillRect/>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整数变量的特殊</a:t>
            </a:r>
            <a:r>
              <a:rPr lang="zh-CN" altLang="en-US" dirty="0">
                <a:latin typeface="楷体" panose="02010609060101010101" pitchFamily="49" charset="-122"/>
                <a:ea typeface="楷体" panose="02010609060101010101" pitchFamily="49" charset="-122"/>
              </a:rPr>
              <a:t>应用</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1070610" y="1377315"/>
            <a:ext cx="931037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9705" indent="-85725">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179705" marR="0" lvl="0" indent="-85725" algn="l" defTabSz="914400" rtl="0" eaLnBrk="1" fontAlgn="base" latinLnBrk="0" hangingPunct="1">
              <a:lnSpc>
                <a:spcPct val="100000"/>
              </a:lnSpc>
              <a:spcBef>
                <a:spcPct val="0"/>
              </a:spcBef>
              <a:spcAft>
                <a:spcPct val="0"/>
              </a:spcAft>
              <a:buClrTx/>
              <a:buSzTx/>
              <a:buFontTx/>
              <a:buNone/>
              <a:defRPr/>
            </a:pP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试引入</a:t>
            </a:r>
            <a:r>
              <a:rPr kumimoji="1" lang="en-US" altLang="zh-CN"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0</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a:t>
            </a:r>
            <a:r>
              <a:rPr kumimoji="1" lang="en-US" altLang="zh-CN"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1</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变量将下列各题分别表达为一般线性约束条件</a:t>
            </a:r>
            <a:endPar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endParaRPr>
          </a:p>
          <a:p>
            <a:pPr marL="179705" marR="0" lvl="0" indent="-85725" algn="l" defTabSz="914400" rtl="0" eaLnBrk="0" fontAlgn="base" latinLnBrk="0" hangingPunct="0">
              <a:lnSpc>
                <a:spcPct val="100000"/>
              </a:lnSpc>
              <a:spcBef>
                <a:spcPct val="0"/>
              </a:spcBef>
              <a:spcAft>
                <a:spcPct val="0"/>
              </a:spcAft>
              <a:buClrTx/>
              <a:buSzTx/>
              <a:buFontTx/>
              <a:buNone/>
              <a:defRPr/>
            </a:pP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a:t>
            </a:r>
            <a:r>
              <a:rPr kumimoji="1" lang="en-US" altLang="zh-CN"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1</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1</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2</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≤6</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或</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4</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1</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+6</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2</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≥10</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或</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2</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1</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+4</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2</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≤20 </a:t>
            </a:r>
            <a:endParaRPr kumimoji="1" lang="en-US" altLang="zh-CN"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endParaRPr>
          </a:p>
          <a:p>
            <a:pPr marL="179705" marR="0" lvl="0" indent="-85725" algn="l" defTabSz="914400" rtl="0" eaLnBrk="0" fontAlgn="base" latinLnBrk="0" hangingPunct="0">
              <a:lnSpc>
                <a:spcPct val="100000"/>
              </a:lnSpc>
              <a:spcBef>
                <a:spcPct val="0"/>
              </a:spcBef>
              <a:spcAft>
                <a:spcPct val="0"/>
              </a:spcAft>
              <a:buClrTx/>
              <a:buSzTx/>
              <a:buFontTx/>
              <a:buNone/>
              <a:defRPr/>
            </a:pP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a:t>
            </a:r>
            <a:r>
              <a:rPr kumimoji="1" lang="en-US" altLang="zh-CN"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2</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）若</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1</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≤5</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，则</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2</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≥0</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，否则</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en-US" altLang="zh-CN" sz="2400" i="0" u="none" strike="noStrike" kern="1200" cap="none" spc="0" normalizeH="0" baseline="-30000" noProof="0" dirty="0">
                <a:ln>
                  <a:noFill/>
                </a:ln>
                <a:solidFill>
                  <a:srgbClr val="000000"/>
                </a:solidFill>
                <a:effectLst/>
                <a:uLnTx/>
                <a:uFillTx/>
                <a:ea typeface="仿宋" panose="02010609060101010101" pitchFamily="49" charset="-122"/>
                <a:cs typeface="Times New Roman" panose="02020603050405020304" pitchFamily="18" charset="0"/>
              </a:rPr>
              <a:t>2</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≤8</a:t>
            </a:r>
            <a:endParaRPr kumimoji="1" lang="en-US" altLang="zh-CN"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endParaRPr>
          </a:p>
          <a:p>
            <a:pPr marL="179705" marR="0" lvl="0" indent="-85725" algn="l" defTabSz="914400" rtl="0" eaLnBrk="0" fontAlgn="base" latinLnBrk="0" hangingPunct="0">
              <a:lnSpc>
                <a:spcPct val="100000"/>
              </a:lnSpc>
              <a:spcBef>
                <a:spcPct val="0"/>
              </a:spcBef>
              <a:spcAft>
                <a:spcPct val="0"/>
              </a:spcAft>
              <a:buClrTx/>
              <a:buSzTx/>
              <a:buFontTx/>
              <a:buNone/>
              <a:defRPr/>
            </a:pP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a:t>
            </a:r>
            <a:r>
              <a:rPr kumimoji="1" lang="en-US" altLang="zh-CN"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3</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a:t>
            </a:r>
            <a:r>
              <a:rPr kumimoji="1" lang="en-US" altLang="zh-CN" sz="2400" i="1"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x</a:t>
            </a:r>
            <a:r>
              <a:rPr kumimoji="1" lang="zh-CN" altLang="en-US" sz="2400" i="0" u="none" strike="noStrike" kern="1200" cap="none" spc="0" normalizeH="0" baseline="0" noProof="0" dirty="0">
                <a:ln>
                  <a:noFill/>
                </a:ln>
                <a:solidFill>
                  <a:srgbClr val="000000"/>
                </a:solidFill>
                <a:effectLst/>
                <a:uLnTx/>
                <a:uFillTx/>
                <a:latin typeface="仿宋" panose="02010609060101010101" pitchFamily="49" charset="-122"/>
                <a:ea typeface="仿宋" panose="02010609060101010101" pitchFamily="49" charset="-122"/>
                <a:cs typeface="仿宋" panose="02010609060101010101" pitchFamily="49" charset="-122"/>
              </a:rPr>
              <a:t>取值</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0</a:t>
            </a:r>
            <a:r>
              <a:rPr kumimoji="1" lang="zh-CN" altLang="en-US"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1</a:t>
            </a:r>
            <a:r>
              <a:rPr kumimoji="1" lang="zh-CN" altLang="en-US"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3</a:t>
            </a:r>
            <a:r>
              <a:rPr kumimoji="1" lang="zh-CN" altLang="en-US"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5</a:t>
            </a:r>
            <a:r>
              <a:rPr kumimoji="1" lang="zh-CN" altLang="en-US"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a:t>
            </a:r>
            <a:r>
              <a:rPr kumimoji="1" lang="en-US" altLang="zh-CN" sz="24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rPr>
              <a:t>7</a:t>
            </a:r>
            <a:endParaRPr kumimoji="1" lang="en-US" altLang="zh-CN" sz="4800" i="0" u="none" strike="noStrike" kern="1200" cap="none" spc="0" normalizeH="0" baseline="0" noProof="0" dirty="0">
              <a:ln>
                <a:noFill/>
              </a:ln>
              <a:solidFill>
                <a:srgbClr val="000000"/>
              </a:solidFill>
              <a:effectLst/>
              <a:uLnTx/>
              <a:uFillTx/>
              <a:ea typeface="仿宋" panose="02010609060101010101" pitchFamily="49" charset="-122"/>
              <a:cs typeface="Times New Roman" panose="02020603050405020304" pitchFamily="18" charset="0"/>
            </a:endParaRPr>
          </a:p>
        </p:txBody>
      </p:sp>
      <p:sp>
        <p:nvSpPr>
          <p:cNvPr id="14343" name="Rectangle 8"/>
          <p:cNvSpPr>
            <a:spLocks noChangeArrowheads="1"/>
          </p:cNvSpPr>
          <p:nvPr/>
        </p:nvSpPr>
        <p:spPr bwMode="auto">
          <a:xfrm>
            <a:off x="1524000" y="2589213"/>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4</a:t>
            </a:r>
            <a:endParaRPr lang="en-US" altLang="zh-CN" dirty="0" err="1">
              <a:latin typeface="华文楷体" panose="02010600040101010101" charset="-122"/>
              <a:ea typeface="华文楷体" panose="02010600040101010101" charset="-122"/>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animEffect transition="in" filter="wipe(left)">
                                      <p:cBhvr>
                                        <p:cTn id="7" dur="2000"/>
                                        <p:tgtEl>
                                          <p:spTgt spid="583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8370">
                                            <p:txEl>
                                              <p:pRg st="1" end="1"/>
                                            </p:txEl>
                                          </p:spTgt>
                                        </p:tgtEl>
                                        <p:attrNameLst>
                                          <p:attrName>style.visibility</p:attrName>
                                        </p:attrNameLst>
                                      </p:cBhvr>
                                      <p:to>
                                        <p:strVal val="visible"/>
                                      </p:to>
                                    </p:set>
                                    <p:animEffect transition="in" filter="wipe(left)">
                                      <p:cBhvr>
                                        <p:cTn id="12" dur="2000"/>
                                        <p:tgtEl>
                                          <p:spTgt spid="58370">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58370">
                                            <p:txEl>
                                              <p:pRg st="2" end="2"/>
                                            </p:txEl>
                                          </p:spTgt>
                                        </p:tgtEl>
                                        <p:attrNameLst>
                                          <p:attrName>style.visibility</p:attrName>
                                        </p:attrNameLst>
                                      </p:cBhvr>
                                      <p:to>
                                        <p:strVal val="visible"/>
                                      </p:to>
                                    </p:set>
                                    <p:animEffect transition="in" filter="wipe(left)">
                                      <p:cBhvr>
                                        <p:cTn id="15" dur="2000"/>
                                        <p:tgtEl>
                                          <p:spTgt spid="58370">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58370">
                                            <p:txEl>
                                              <p:pRg st="3" end="3"/>
                                            </p:txEl>
                                          </p:spTgt>
                                        </p:tgtEl>
                                        <p:attrNameLst>
                                          <p:attrName>style.visibility</p:attrName>
                                        </p:attrNameLst>
                                      </p:cBhvr>
                                      <p:to>
                                        <p:strVal val="visible"/>
                                      </p:to>
                                    </p:set>
                                    <p:animEffect transition="in" filter="wipe(left)">
                                      <p:cBhvr>
                                        <p:cTn id="18" dur="2000"/>
                                        <p:tgtEl>
                                          <p:spTgt spid="583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8"/>
          <p:cNvSpPr>
            <a:spLocks noChangeArrowheads="1"/>
          </p:cNvSpPr>
          <p:nvPr/>
        </p:nvSpPr>
        <p:spPr bwMode="auto">
          <a:xfrm>
            <a:off x="1524000" y="2589213"/>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5</a:t>
            </a:r>
            <a:endParaRPr lang="en-US" altLang="zh-CN" dirty="0" err="1">
              <a:latin typeface="华文楷体" panose="02010600040101010101" charset="-122"/>
              <a:ea typeface="华文楷体" panose="02010600040101010101" charset="-122"/>
            </a:endParaRPr>
          </a:p>
        </p:txBody>
      </p:sp>
      <p:sp>
        <p:nvSpPr>
          <p:cNvPr id="3" name="文本框 2"/>
          <p:cNvSpPr txBox="1"/>
          <p:nvPr/>
        </p:nvSpPr>
        <p:spPr>
          <a:xfrm>
            <a:off x="925830" y="1388110"/>
            <a:ext cx="9409430" cy="2729865"/>
          </a:xfrm>
          <a:prstGeom prst="rect">
            <a:avLst/>
          </a:prstGeom>
          <a:noFill/>
        </p:spPr>
        <p:txBody>
          <a:bodyPr wrap="square" rtlCol="0">
            <a:noAutofit/>
          </a:bodyPr>
          <a:p>
            <a:r>
              <a:rPr lang="zh-CN" altLang="en-US" sz="2400">
                <a:latin typeface="楷体" panose="02010609060101010101" pitchFamily="49" charset="-122"/>
                <a:ea typeface="楷体" panose="02010609060101010101" pitchFamily="49" charset="-122"/>
                <a:cs typeface="楷体" panose="02010609060101010101" pitchFamily="49" charset="-122"/>
              </a:rPr>
              <a:t>试将非线性的</a:t>
            </a:r>
            <a:r>
              <a:rPr lang="en-US" altLang="zh-CN" sz="2400">
                <a:latin typeface="楷体" panose="02010609060101010101" pitchFamily="49" charset="-122"/>
                <a:ea typeface="楷体" panose="02010609060101010101" pitchFamily="49" charset="-122"/>
                <a:cs typeface="楷体" panose="02010609060101010101" pitchFamily="49" charset="-122"/>
              </a:rPr>
              <a:t>0-1</a:t>
            </a:r>
            <a:r>
              <a:rPr lang="zh-CN" altLang="en-US" sz="2400">
                <a:latin typeface="楷体" panose="02010609060101010101" pitchFamily="49" charset="-122"/>
                <a:ea typeface="楷体" panose="02010609060101010101" pitchFamily="49" charset="-122"/>
                <a:cs typeface="楷体" panose="02010609060101010101" pitchFamily="49" charset="-122"/>
              </a:rPr>
              <a:t>整数规划转化为线性的</a:t>
            </a:r>
            <a:r>
              <a:rPr lang="en-US" altLang="zh-CN" sz="2400">
                <a:latin typeface="楷体" panose="02010609060101010101" pitchFamily="49" charset="-122"/>
                <a:ea typeface="楷体" panose="02010609060101010101" pitchFamily="49" charset="-122"/>
                <a:cs typeface="楷体" panose="02010609060101010101" pitchFamily="49" charset="-122"/>
              </a:rPr>
              <a:t>0-1</a:t>
            </a:r>
            <a:r>
              <a:rPr lang="zh-CN" altLang="en-US" sz="2400">
                <a:latin typeface="楷体" panose="02010609060101010101" pitchFamily="49" charset="-122"/>
                <a:ea typeface="楷体" panose="02010609060101010101" pitchFamily="49" charset="-122"/>
                <a:cs typeface="楷体" panose="02010609060101010101" pitchFamily="49" charset="-122"/>
              </a:rPr>
              <a:t>整数规划</a:t>
            </a:r>
            <a:endParaRPr lang="zh-CN" altLang="en-US" sz="2400">
              <a:latin typeface="楷体" panose="02010609060101010101" pitchFamily="49" charset="-122"/>
              <a:ea typeface="楷体" panose="02010609060101010101" pitchFamily="49" charset="-122"/>
              <a:cs typeface="楷体" panose="02010609060101010101" pitchFamily="49" charset="-122"/>
            </a:endParaRPr>
          </a:p>
          <a:p>
            <a:endParaRPr lang="zh-CN" altLang="en-US"/>
          </a:p>
          <a:p>
            <a:pPr algn="ctr"/>
            <a:r>
              <a:rPr lang="en-US" altLang="zh-CN" sz="3200">
                <a:latin typeface="Times New Roman" panose="02020603050405020304" pitchFamily="18" charset="0"/>
                <a:cs typeface="Times New Roman" panose="02020603050405020304" pitchFamily="18" charset="0"/>
              </a:rPr>
              <a:t>max z=x</a:t>
            </a:r>
            <a:r>
              <a:rPr lang="en-US" altLang="zh-CN" sz="3200" baseline="30000">
                <a:latin typeface="Times New Roman" panose="02020603050405020304" pitchFamily="18" charset="0"/>
                <a:cs typeface="Times New Roman" panose="02020603050405020304" pitchFamily="18" charset="0"/>
              </a:rPr>
              <a:t>2</a:t>
            </a:r>
            <a:r>
              <a:rPr lang="en-US" altLang="zh-CN" sz="3200" baseline="-25000">
                <a:latin typeface="Times New Roman" panose="02020603050405020304" pitchFamily="18" charset="0"/>
                <a:cs typeface="Times New Roman" panose="02020603050405020304" pitchFamily="18" charset="0"/>
              </a:rPr>
              <a:t>1</a:t>
            </a:r>
            <a:r>
              <a:rPr lang="en-US" altLang="zh-CN" sz="3200">
                <a:latin typeface="Times New Roman" panose="02020603050405020304" pitchFamily="18" charset="0"/>
                <a:cs typeface="Times New Roman" panose="02020603050405020304" pitchFamily="18" charset="0"/>
              </a:rPr>
              <a:t>+x</a:t>
            </a:r>
            <a:r>
              <a:rPr lang="en-US" altLang="zh-CN" sz="3200" baseline="-25000">
                <a:latin typeface="Times New Roman" panose="02020603050405020304" pitchFamily="18" charset="0"/>
                <a:cs typeface="Times New Roman" panose="02020603050405020304" pitchFamily="18" charset="0"/>
              </a:rPr>
              <a:t>2</a:t>
            </a:r>
            <a:r>
              <a:rPr lang="en-US" altLang="zh-CN" sz="3200">
                <a:latin typeface="Times New Roman" panose="02020603050405020304" pitchFamily="18" charset="0"/>
                <a:cs typeface="Times New Roman" panose="02020603050405020304" pitchFamily="18" charset="0"/>
              </a:rPr>
              <a:t>x</a:t>
            </a:r>
            <a:r>
              <a:rPr lang="en-US" altLang="zh-CN" sz="3200" baseline="-25000">
                <a:latin typeface="Times New Roman" panose="02020603050405020304" pitchFamily="18" charset="0"/>
                <a:cs typeface="Times New Roman" panose="02020603050405020304" pitchFamily="18" charset="0"/>
              </a:rPr>
              <a:t>3</a:t>
            </a:r>
            <a:r>
              <a:rPr lang="en-US" altLang="zh-CN" sz="3200">
                <a:latin typeface="Times New Roman" panose="02020603050405020304" pitchFamily="18" charset="0"/>
                <a:cs typeface="Times New Roman" panose="02020603050405020304" pitchFamily="18" charset="0"/>
              </a:rPr>
              <a:t>-</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1</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2</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3</a:t>
            </a:r>
            <a:endParaRPr lang="en-US" altLang="zh-CN" sz="3200" baseline="-25000">
              <a:latin typeface="Times New Roman" panose="02020603050405020304" pitchFamily="18" charset="0"/>
              <a:cs typeface="Times New Roman" panose="02020603050405020304" pitchFamily="18" charset="0"/>
              <a:sym typeface="+mn-ea"/>
            </a:endParaRPr>
          </a:p>
          <a:p>
            <a:pPr algn="ctr"/>
            <a:r>
              <a:rPr lang="zh-CN" altLang="en-US" sz="2400">
                <a:latin typeface="楷体" panose="02010609060101010101" pitchFamily="49" charset="-122"/>
                <a:ea typeface="楷体" panose="02010609060101010101" pitchFamily="49" charset="-122"/>
                <a:cs typeface="Times New Roman" panose="02020603050405020304" pitchFamily="18" charset="0"/>
              </a:rPr>
              <a:t>约束条件：</a:t>
            </a:r>
            <a:r>
              <a:rPr lang="en-US" altLang="zh-CN" sz="3200">
                <a:latin typeface="Times New Roman" panose="02020603050405020304" pitchFamily="18" charset="0"/>
                <a:cs typeface="Times New Roman" panose="02020603050405020304" pitchFamily="18" charset="0"/>
              </a:rPr>
              <a:t>-3</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1</a:t>
            </a:r>
            <a:r>
              <a:rPr lang="en-US" altLang="zh-CN" sz="3200">
                <a:latin typeface="Times New Roman" panose="02020603050405020304" pitchFamily="18" charset="0"/>
                <a:cs typeface="Times New Roman" panose="02020603050405020304" pitchFamily="18" charset="0"/>
                <a:sym typeface="+mn-ea"/>
              </a:rPr>
              <a:t>+4x</a:t>
            </a:r>
            <a:r>
              <a:rPr lang="en-US" altLang="zh-CN" sz="3200" baseline="-25000">
                <a:latin typeface="Times New Roman" panose="02020603050405020304" pitchFamily="18" charset="0"/>
                <a:cs typeface="Times New Roman" panose="02020603050405020304" pitchFamily="18" charset="0"/>
                <a:sym typeface="+mn-ea"/>
              </a:rPr>
              <a:t>2</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3</a:t>
            </a:r>
            <a:r>
              <a:rPr kumimoji="1" lang="en-US" altLang="zh-CN" sz="32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≤3</a:t>
            </a:r>
            <a:endParaRPr kumimoji="1" lang="en-US" altLang="zh-CN" sz="32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a:p>
            <a:pPr algn="ctr"/>
            <a:r>
              <a:rPr lang="en-US" altLang="zh-CN" sz="3200">
                <a:latin typeface="Times New Roman" panose="02020603050405020304" pitchFamily="18" charset="0"/>
                <a:cs typeface="Times New Roman" panose="02020603050405020304" pitchFamily="18" charset="0"/>
                <a:sym typeface="+mn-ea"/>
              </a:rPr>
              <a:t>                x</a:t>
            </a:r>
            <a:r>
              <a:rPr lang="en-US" altLang="zh-CN" sz="3200" baseline="-25000">
                <a:latin typeface="Times New Roman" panose="02020603050405020304" pitchFamily="18" charset="0"/>
                <a:cs typeface="Times New Roman" panose="02020603050405020304" pitchFamily="18" charset="0"/>
                <a:sym typeface="+mn-ea"/>
              </a:rPr>
              <a:t>1</a:t>
            </a:r>
            <a:r>
              <a:rPr lang="zh-CN" altLang="en-US" sz="3200" baseline="-25000">
                <a:latin typeface="Times New Roman" panose="02020603050405020304" pitchFamily="18" charset="0"/>
                <a:cs typeface="Times New Roman" panose="02020603050405020304" pitchFamily="18" charset="0"/>
                <a:sym typeface="+mn-ea"/>
              </a:rPr>
              <a:t>，</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2</a:t>
            </a:r>
            <a:r>
              <a:rPr lang="zh-CN" altLang="en-US" sz="3200" baseline="-25000">
                <a:latin typeface="Times New Roman" panose="02020603050405020304" pitchFamily="18" charset="0"/>
                <a:cs typeface="Times New Roman" panose="02020603050405020304" pitchFamily="18" charset="0"/>
                <a:sym typeface="+mn-ea"/>
              </a:rPr>
              <a:t>，</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3</a:t>
            </a:r>
            <a:r>
              <a:rPr lang="en-US" altLang="zh-CN" sz="3200">
                <a:latin typeface="Times New Roman" panose="02020603050405020304" pitchFamily="18" charset="0"/>
                <a:cs typeface="Times New Roman" panose="02020603050405020304" pitchFamily="18" charset="0"/>
                <a:sym typeface="+mn-ea"/>
              </a:rPr>
              <a:t>=0 </a:t>
            </a:r>
            <a:r>
              <a:rPr lang="zh-CN" altLang="en-US" sz="3200">
                <a:latin typeface="Times New Roman" panose="02020603050405020304" pitchFamily="18" charset="0"/>
                <a:cs typeface="Times New Roman" panose="02020603050405020304" pitchFamily="18" charset="0"/>
                <a:sym typeface="+mn-ea"/>
              </a:rPr>
              <a:t>或</a:t>
            </a:r>
            <a:r>
              <a:rPr lang="en-US" altLang="zh-CN" sz="3200">
                <a:latin typeface="Times New Roman" panose="02020603050405020304" pitchFamily="18" charset="0"/>
                <a:cs typeface="Times New Roman" panose="02020603050405020304" pitchFamily="18" charset="0"/>
                <a:sym typeface="+mn-ea"/>
              </a:rPr>
              <a:t>1</a:t>
            </a:r>
            <a:endParaRPr lang="en-US" altLang="zh-CN" sz="3200" baseline="-25000">
              <a:latin typeface="Times New Roman" panose="02020603050405020304" pitchFamily="18" charset="0"/>
              <a:cs typeface="Times New Roman" panose="02020603050405020304" pitchFamily="18" charset="0"/>
              <a:sym typeface="+mn-ea"/>
            </a:endParaRPr>
          </a:p>
          <a:p>
            <a:pPr algn="ctr"/>
            <a:endParaRPr lang="en-US" altLang="zh-CN" sz="3200">
              <a:latin typeface="Times New Roman" panose="02020603050405020304" pitchFamily="18" charset="0"/>
              <a:cs typeface="Times New Roman" panose="02020603050405020304" pitchFamily="18" charset="0"/>
            </a:endParaRPr>
          </a:p>
        </p:txBody>
      </p:sp>
    </p:spTree>
  </p:cSld>
  <p:clrMapOvr>
    <a:masterClrMapping/>
  </p:clrMapOvr>
  <p:transition spd="slow">
    <p:zo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3" name="Rectangle 5"/>
          <p:cNvSpPr>
            <a:spLocks noChangeArrowheads="1"/>
          </p:cNvSpPr>
          <p:nvPr/>
        </p:nvSpPr>
        <p:spPr bwMode="auto">
          <a:xfrm>
            <a:off x="1651000" y="1557338"/>
            <a:ext cx="889317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000">
                <a:latin typeface="Arial" panose="020B0604020202020204" pitchFamily="34" charset="0"/>
                <a:ea typeface="楷体" panose="02010609060101010101" pitchFamily="49" charset="-122"/>
              </a:rPr>
              <a:t>    </a:t>
            </a:r>
            <a:r>
              <a:rPr lang="zh-CN" altLang="zh-CN" sz="2800">
                <a:latin typeface="Arial" panose="020B0604020202020204" pitchFamily="34" charset="0"/>
                <a:ea typeface="楷体" panose="02010609060101010101" pitchFamily="49" charset="-122"/>
              </a:rPr>
              <a:t>求解0-1规划问题的方法：</a:t>
            </a:r>
            <a:endParaRPr lang="zh-CN" altLang="zh-CN" sz="2800">
              <a:latin typeface="Arial" panose="020B0604020202020204" pitchFamily="34" charset="0"/>
              <a:ea typeface="楷体" panose="02010609060101010101" pitchFamily="49" charset="-122"/>
            </a:endParaRPr>
          </a:p>
        </p:txBody>
      </p:sp>
      <p:sp>
        <p:nvSpPr>
          <p:cNvPr id="130054"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688" name="Rectangle 8"/>
          <p:cNvSpPr>
            <a:spLocks noChangeArrowheads="1"/>
          </p:cNvSpPr>
          <p:nvPr/>
        </p:nvSpPr>
        <p:spPr bwMode="auto">
          <a:xfrm>
            <a:off x="1666875" y="3573463"/>
            <a:ext cx="8893175"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2. 隐枚举法</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检查全部变量组合的一部分，求得问题的最优解。</a:t>
            </a:r>
            <a:endParaRPr lang="zh-CN" altLang="zh-CN" sz="2800">
              <a:latin typeface="Arial" panose="020B0604020202020204" pitchFamily="34" charset="0"/>
              <a:ea typeface="楷体" panose="02010609060101010101" pitchFamily="49" charset="-122"/>
            </a:endParaRPr>
          </a:p>
        </p:txBody>
      </p:sp>
      <p:sp>
        <p:nvSpPr>
          <p:cNvPr id="71689" name="Rectangle 9"/>
          <p:cNvSpPr>
            <a:spLocks noChangeArrowheads="1"/>
          </p:cNvSpPr>
          <p:nvPr/>
        </p:nvSpPr>
        <p:spPr bwMode="auto">
          <a:xfrm>
            <a:off x="1595438" y="2000250"/>
            <a:ext cx="8893175" cy="171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1.穷举法</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检查每个变量取值为0或1的所有组合，找出满足全部约束条件的所有组合，并比较目标函数的值，求得最优解。</a:t>
            </a:r>
            <a:endParaRPr lang="zh-CN" altLang="zh-CN" sz="2800">
              <a:latin typeface="Arial" panose="020B0604020202020204" pitchFamily="34" charset="0"/>
              <a:ea typeface="楷体" panose="02010609060101010101" pitchFamily="49" charset="-122"/>
            </a:endParaRPr>
          </a:p>
        </p:txBody>
      </p:sp>
      <p:sp>
        <p:nvSpPr>
          <p:cNvPr id="71690" name="Rectangle 10"/>
          <p:cNvSpPr>
            <a:spLocks noChangeArrowheads="1"/>
          </p:cNvSpPr>
          <p:nvPr/>
        </p:nvSpPr>
        <p:spPr bwMode="auto">
          <a:xfrm>
            <a:off x="3332163" y="4868863"/>
            <a:ext cx="5161280" cy="5219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pPr>
            <a:r>
              <a:rPr lang="zh-CN" altLang="zh-CN" sz="2800">
                <a:latin typeface="Arial" panose="020B0604020202020204" pitchFamily="34" charset="0"/>
                <a:ea typeface="楷体" panose="02010609060101010101" pitchFamily="49" charset="-122"/>
              </a:rPr>
              <a:t>分</a:t>
            </a:r>
            <a:r>
              <a:rPr lang="zh-CN" altLang="zh-CN" sz="2800">
                <a:latin typeface="Arial" panose="020B0604020202020204" pitchFamily="34" charset="0"/>
                <a:ea typeface="楷体" panose="02010609060101010101" pitchFamily="49" charset="-122"/>
              </a:rPr>
              <a:t>枝定界法也是一种隐枚举法。</a:t>
            </a:r>
            <a:endParaRPr lang="zh-CN" altLang="zh-CN" sz="2800">
              <a:latin typeface="Arial" panose="020B0604020202020204" pitchFamily="34" charset="0"/>
              <a:ea typeface="楷体" panose="02010609060101010101" pitchFamily="49" charset="-122"/>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689"/>
                                        </p:tgtEl>
                                        <p:attrNameLst>
                                          <p:attrName>style.visibility</p:attrName>
                                        </p:attrNameLst>
                                      </p:cBhvr>
                                      <p:to>
                                        <p:strVal val="visible"/>
                                      </p:to>
                                    </p:set>
                                    <p:anim calcmode="lin" valueType="num">
                                      <p:cBhvr additive="base">
                                        <p:cTn id="7" dur="500" fill="hold"/>
                                        <p:tgtEl>
                                          <p:spTgt spid="71689"/>
                                        </p:tgtEl>
                                        <p:attrNameLst>
                                          <p:attrName>ppt_x</p:attrName>
                                        </p:attrNameLst>
                                      </p:cBhvr>
                                      <p:tavLst>
                                        <p:tav tm="0">
                                          <p:val>
                                            <p:strVal val="ppt_x"/>
                                          </p:val>
                                        </p:tav>
                                        <p:tav tm="100000">
                                          <p:val>
                                            <p:strVal val="ppt_x"/>
                                          </p:val>
                                        </p:tav>
                                      </p:tavLst>
                                    </p:anim>
                                    <p:anim calcmode="lin" valueType="num">
                                      <p:cBhvr additive="base">
                                        <p:cTn id="8" dur="500" fill="hold"/>
                                        <p:tgtEl>
                                          <p:spTgt spid="716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688"/>
                                        </p:tgtEl>
                                        <p:attrNameLst>
                                          <p:attrName>style.visibility</p:attrName>
                                        </p:attrNameLst>
                                      </p:cBhvr>
                                      <p:to>
                                        <p:strVal val="visible"/>
                                      </p:to>
                                    </p:set>
                                    <p:anim calcmode="lin" valueType="num">
                                      <p:cBhvr additive="base">
                                        <p:cTn id="13" dur="500" fill="hold"/>
                                        <p:tgtEl>
                                          <p:spTgt spid="71688"/>
                                        </p:tgtEl>
                                        <p:attrNameLst>
                                          <p:attrName>ppt_x</p:attrName>
                                        </p:attrNameLst>
                                      </p:cBhvr>
                                      <p:tavLst>
                                        <p:tav tm="0">
                                          <p:val>
                                            <p:strVal val="ppt_x"/>
                                          </p:val>
                                        </p:tav>
                                        <p:tav tm="100000">
                                          <p:val>
                                            <p:strVal val="ppt_x"/>
                                          </p:val>
                                        </p:tav>
                                      </p:tavLst>
                                    </p:anim>
                                    <p:anim calcmode="lin" valueType="num">
                                      <p:cBhvr additive="base">
                                        <p:cTn id="14" dur="500" fill="hold"/>
                                        <p:tgtEl>
                                          <p:spTgt spid="7168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690"/>
                                        </p:tgtEl>
                                        <p:attrNameLst>
                                          <p:attrName>style.visibility</p:attrName>
                                        </p:attrNameLst>
                                      </p:cBhvr>
                                      <p:to>
                                        <p:strVal val="visible"/>
                                      </p:to>
                                    </p:set>
                                    <p:anim calcmode="lin" valueType="num">
                                      <p:cBhvr additive="base">
                                        <p:cTn id="19" dur="500" fill="hold"/>
                                        <p:tgtEl>
                                          <p:spTgt spid="71690"/>
                                        </p:tgtEl>
                                        <p:attrNameLst>
                                          <p:attrName>ppt_x</p:attrName>
                                        </p:attrNameLst>
                                      </p:cBhvr>
                                      <p:tavLst>
                                        <p:tav tm="0">
                                          <p:val>
                                            <p:strVal val="ppt_x"/>
                                          </p:val>
                                        </p:tav>
                                        <p:tav tm="100000">
                                          <p:val>
                                            <p:strVal val="ppt_x"/>
                                          </p:val>
                                        </p:tav>
                                      </p:tavLst>
                                    </p:anim>
                                    <p:anim calcmode="lin" valueType="num">
                                      <p:cBhvr additive="base">
                                        <p:cTn id="20" dur="500" fill="hold"/>
                                        <p:tgtEl>
                                          <p:spTgt spid="716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bldLvl="0" animBg="1"/>
      <p:bldP spid="71689" grpId="0" bldLvl="0" animBg="1"/>
      <p:bldP spid="71690"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1" name="Rectangle 5"/>
          <p:cNvSpPr>
            <a:spLocks noChangeArrowheads="1"/>
          </p:cNvSpPr>
          <p:nvPr/>
        </p:nvSpPr>
        <p:spPr bwMode="auto">
          <a:xfrm>
            <a:off x="1651000" y="1557655"/>
            <a:ext cx="8893175" cy="39649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000">
                <a:latin typeface="Arial" panose="020B0604020202020204" pitchFamily="34" charset="0"/>
                <a:ea typeface="楷体" panose="02010609060101010101" pitchFamily="49" charset="-122"/>
              </a:rPr>
              <a:t> </a:t>
            </a:r>
            <a:r>
              <a:rPr lang="zh-CN" altLang="zh-CN" sz="2800">
                <a:latin typeface="Arial" panose="020B0604020202020204" pitchFamily="34" charset="0"/>
                <a:ea typeface="楷体" panose="02010609060101010101" pitchFamily="49" charset="-122"/>
              </a:rPr>
              <a:t>例10.   有以下0-1规划</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max z=4x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+5x</a:t>
            </a:r>
            <a:r>
              <a:rPr lang="zh-CN" altLang="zh-CN" sz="2800" baseline="-25000">
                <a:latin typeface="Arial" panose="020B0604020202020204" pitchFamily="34" charset="0"/>
                <a:ea typeface="楷体" panose="02010609060101010101" pitchFamily="49" charset="-122"/>
              </a:rPr>
              <a:t>3</a:t>
            </a:r>
            <a:endParaRPr lang="zh-CN" altLang="zh-CN" sz="2800" baseline="-250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约束条件： 2x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+3x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-x</a:t>
            </a:r>
            <a:r>
              <a:rPr lang="zh-CN" altLang="zh-CN" sz="2800" baseline="-25000">
                <a:latin typeface="Arial" panose="020B0604020202020204" pitchFamily="34" charset="0"/>
                <a:ea typeface="楷体" panose="02010609060101010101" pitchFamily="49" charset="-122"/>
              </a:rPr>
              <a:t>3</a:t>
            </a:r>
            <a:r>
              <a:rPr lang="zh-CN" altLang="zh-CN" sz="2800">
                <a:latin typeface="Arial" panose="020B0604020202020204" pitchFamily="34" charset="0"/>
                <a:ea typeface="楷体" panose="02010609060101010101" pitchFamily="49" charset="-122"/>
              </a:rPr>
              <a:t>≤3      （1）</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+3x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+2x</a:t>
            </a:r>
            <a:r>
              <a:rPr lang="zh-CN" altLang="zh-CN" sz="2800" baseline="-25000">
                <a:latin typeface="Arial" panose="020B0604020202020204" pitchFamily="34" charset="0"/>
                <a:ea typeface="楷体" panose="02010609060101010101" pitchFamily="49" charset="-122"/>
              </a:rPr>
              <a:t>3</a:t>
            </a:r>
            <a:r>
              <a:rPr lang="zh-CN" altLang="zh-CN" sz="2800">
                <a:latin typeface="Arial" panose="020B0604020202020204" pitchFamily="34" charset="0"/>
                <a:ea typeface="楷体" panose="02010609060101010101" pitchFamily="49" charset="-122"/>
              </a:rPr>
              <a:t>≥2     （2）</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+2x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≤2            （3）</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3x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+2x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+x</a:t>
            </a:r>
            <a:r>
              <a:rPr lang="zh-CN" altLang="zh-CN" sz="2800" baseline="-25000">
                <a:latin typeface="Arial" panose="020B0604020202020204" pitchFamily="34" charset="0"/>
                <a:ea typeface="楷体" panose="02010609060101010101" pitchFamily="49" charset="-122"/>
              </a:rPr>
              <a:t>3</a:t>
            </a:r>
            <a:r>
              <a:rPr lang="zh-CN" altLang="zh-CN" sz="2800">
                <a:latin typeface="Arial" panose="020B0604020202020204" pitchFamily="34" charset="0"/>
                <a:ea typeface="楷体" panose="02010609060101010101" pitchFamily="49" charset="-122"/>
              </a:rPr>
              <a:t>≥2     （4）</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x</a:t>
            </a:r>
            <a:r>
              <a:rPr lang="zh-CN" altLang="zh-CN" sz="2800" baseline="-25000">
                <a:latin typeface="Arial" panose="020B0604020202020204" pitchFamily="34" charset="0"/>
                <a:ea typeface="楷体" panose="02010609060101010101" pitchFamily="49" charset="-122"/>
              </a:rPr>
              <a:t>i</a:t>
            </a:r>
            <a:r>
              <a:rPr lang="zh-CN" altLang="zh-CN" sz="2800">
                <a:latin typeface="Arial" panose="020B0604020202020204" pitchFamily="34" charset="0"/>
                <a:ea typeface="楷体" panose="02010609060101010101" pitchFamily="49" charset="-122"/>
              </a:rPr>
              <a:t>=1或0,i=1,2,3.</a:t>
            </a:r>
            <a:endParaRPr lang="zh-CN" altLang="zh-CN" sz="2800">
              <a:latin typeface="Arial" panose="020B0604020202020204" pitchFamily="34" charset="0"/>
              <a:ea typeface="楷体" panose="02010609060101010101" pitchFamily="49" charset="-122"/>
            </a:endParaRPr>
          </a:p>
        </p:txBody>
      </p:sp>
      <p:sp>
        <p:nvSpPr>
          <p:cNvPr id="132102"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5"/>
          <p:cNvSpPr>
            <a:spLocks noChangeArrowheads="1"/>
          </p:cNvSpPr>
          <p:nvPr/>
        </p:nvSpPr>
        <p:spPr bwMode="auto">
          <a:xfrm>
            <a:off x="1651000" y="1557338"/>
            <a:ext cx="8893175" cy="180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000">
                <a:latin typeface="Arial" panose="020B0604020202020204" pitchFamily="34" charset="0"/>
                <a:ea typeface="楷体" panose="02010609060101010101" pitchFamily="49" charset="-122"/>
              </a:rPr>
              <a:t> </a:t>
            </a:r>
            <a:r>
              <a:rPr lang="zh-CN" altLang="zh-CN" sz="2800">
                <a:latin typeface="Arial" panose="020B0604020202020204" pitchFamily="34" charset="0"/>
                <a:ea typeface="楷体" panose="02010609060101010101" pitchFamily="49" charset="-122"/>
              </a:rPr>
              <a:t>解：</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可行解： 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=(0,1,1)，z</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=6.</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增加约束条件：</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4x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+5x</a:t>
            </a:r>
            <a:r>
              <a:rPr lang="zh-CN" altLang="zh-CN" sz="2800" baseline="-25000">
                <a:latin typeface="Arial" panose="020B0604020202020204" pitchFamily="34" charset="0"/>
                <a:ea typeface="楷体" panose="02010609060101010101" pitchFamily="49" charset="-122"/>
              </a:rPr>
              <a:t>3</a:t>
            </a:r>
            <a:r>
              <a:rPr lang="zh-CN" altLang="zh-CN" sz="2800">
                <a:latin typeface="Arial" panose="020B0604020202020204" pitchFamily="34" charset="0"/>
                <a:ea typeface="楷体" panose="02010609060101010101" pitchFamily="49" charset="-122"/>
              </a:rPr>
              <a:t>≥6   （0）(过滤条件)</a:t>
            </a:r>
            <a:endParaRPr lang="zh-CN" altLang="zh-CN" sz="2800">
              <a:latin typeface="Arial" panose="020B0604020202020204" pitchFamily="34" charset="0"/>
              <a:ea typeface="楷体" panose="02010609060101010101" pitchFamily="49" charset="-122"/>
            </a:endParaRPr>
          </a:p>
        </p:txBody>
      </p:sp>
      <p:sp>
        <p:nvSpPr>
          <p:cNvPr id="134150"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5" name="Rectangle 5"/>
          <p:cNvSpPr>
            <a:spLocks noChangeArrowheads="1"/>
          </p:cNvSpPr>
          <p:nvPr/>
        </p:nvSpPr>
        <p:spPr bwMode="auto">
          <a:xfrm>
            <a:off x="1651000" y="1557338"/>
            <a:ext cx="8893175" cy="664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000">
                <a:latin typeface="Arial" panose="020B0604020202020204" pitchFamily="34" charset="0"/>
                <a:ea typeface="楷体" panose="02010609060101010101" pitchFamily="49" charset="-122"/>
              </a:rPr>
              <a:t> </a:t>
            </a:r>
            <a:r>
              <a:rPr lang="zh-CN" altLang="zh-CN" sz="2800">
                <a:latin typeface="Arial" panose="020B0604020202020204" pitchFamily="34" charset="0"/>
                <a:ea typeface="楷体" panose="02010609060101010101" pitchFamily="49" charset="-122"/>
              </a:rPr>
              <a:t>解：应用</a:t>
            </a:r>
            <a:r>
              <a:rPr lang="zh-CN" altLang="zh-CN" sz="2800">
                <a:solidFill>
                  <a:srgbClr val="FF0000"/>
                </a:solidFill>
                <a:latin typeface="Arial" panose="020B0604020202020204" pitchFamily="34" charset="0"/>
                <a:ea typeface="楷体" panose="02010609060101010101" pitchFamily="49" charset="-122"/>
              </a:rPr>
              <a:t>穷举法</a:t>
            </a:r>
            <a:r>
              <a:rPr lang="zh-CN" altLang="zh-CN" sz="2800">
                <a:latin typeface="Arial" panose="020B0604020202020204" pitchFamily="34" charset="0"/>
                <a:ea typeface="楷体" panose="02010609060101010101" pitchFamily="49" charset="-122"/>
              </a:rPr>
              <a:t>，将解依次带入约束条件，求出目标函数值并检验是否符合过滤条件。</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138246"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75784" name="Group 8"/>
          <p:cNvGraphicFramePr>
            <a:graphicFrameLocks noGrp="1"/>
          </p:cNvGraphicFramePr>
          <p:nvPr/>
        </p:nvGraphicFramePr>
        <p:xfrm>
          <a:off x="1979613" y="2571750"/>
          <a:ext cx="8272145" cy="3346452"/>
        </p:xfrm>
        <a:graphic>
          <a:graphicData uri="http://schemas.openxmlformats.org/drawingml/2006/table">
            <a:tbl>
              <a:tblPr/>
              <a:tblGrid>
                <a:gridCol w="1201420"/>
                <a:gridCol w="898525"/>
                <a:gridCol w="827405"/>
                <a:gridCol w="785495"/>
                <a:gridCol w="913130"/>
                <a:gridCol w="911225"/>
                <a:gridCol w="912495"/>
                <a:gridCol w="911225"/>
                <a:gridCol w="911225"/>
              </a:tblGrid>
              <a:tr h="31432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解</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约束条件左边值</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是否满足条件</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z值</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3655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18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1</a:t>
                      </a: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18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2</a:t>
                      </a: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18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3</a:t>
                      </a: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(0)</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(1)</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(2)</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(3)</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(4)</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是（√）</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rPr>
                        <a:t>否（×）</a:t>
                      </a: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8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34963">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3655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34963">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34963">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3655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34963">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3655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34607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14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6034" name="AutoShape 258"/>
          <p:cNvSpPr/>
          <p:nvPr/>
        </p:nvSpPr>
        <p:spPr bwMode="auto">
          <a:xfrm>
            <a:off x="6777038" y="6215063"/>
            <a:ext cx="3659187" cy="342900"/>
          </a:xfrm>
          <a:prstGeom prst="borderCallout1">
            <a:avLst>
              <a:gd name="adj1" fmla="val 45949"/>
              <a:gd name="adj2" fmla="val -736"/>
              <a:gd name="adj3" fmla="val -922403"/>
              <a:gd name="adj4" fmla="val -8397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a:solidFill>
                  <a:schemeClr val="bg1"/>
                </a:solidFill>
                <a:latin typeface="Arial" panose="020B0604020202020204" pitchFamily="34" charset="0"/>
                <a:ea typeface="楷体" panose="02010609060101010101" pitchFamily="49" charset="-122"/>
              </a:rPr>
              <a:t>4x</a:t>
            </a:r>
            <a:r>
              <a:rPr lang="zh-CN" altLang="zh-CN" b="1" baseline="-25000">
                <a:solidFill>
                  <a:schemeClr val="bg1"/>
                </a:solidFill>
                <a:latin typeface="Arial" panose="020B0604020202020204" pitchFamily="34" charset="0"/>
                <a:ea typeface="楷体" panose="02010609060101010101" pitchFamily="49" charset="-122"/>
              </a:rPr>
              <a:t>1</a:t>
            </a:r>
            <a:r>
              <a:rPr lang="zh-CN" altLang="zh-CN" b="1">
                <a:solidFill>
                  <a:schemeClr val="bg1"/>
                </a:solidFill>
                <a:latin typeface="Arial" panose="020B0604020202020204" pitchFamily="34" charset="0"/>
                <a:ea typeface="楷体" panose="02010609060101010101" pitchFamily="49" charset="-122"/>
              </a:rPr>
              <a:t>+x</a:t>
            </a:r>
            <a:r>
              <a:rPr lang="zh-CN" altLang="zh-CN" b="1" baseline="-25000">
                <a:solidFill>
                  <a:schemeClr val="bg1"/>
                </a:solidFill>
                <a:latin typeface="Arial" panose="020B0604020202020204" pitchFamily="34" charset="0"/>
                <a:ea typeface="楷体" panose="02010609060101010101" pitchFamily="49" charset="-122"/>
              </a:rPr>
              <a:t>2</a:t>
            </a:r>
            <a:r>
              <a:rPr lang="zh-CN" altLang="zh-CN" b="1">
                <a:solidFill>
                  <a:schemeClr val="bg1"/>
                </a:solidFill>
                <a:latin typeface="Arial" panose="020B0604020202020204" pitchFamily="34" charset="0"/>
                <a:ea typeface="楷体" panose="02010609060101010101" pitchFamily="49" charset="-122"/>
              </a:rPr>
              <a:t>+5x</a:t>
            </a:r>
            <a:r>
              <a:rPr lang="zh-CN" altLang="zh-CN" b="1" baseline="-25000">
                <a:solidFill>
                  <a:schemeClr val="bg1"/>
                </a:solidFill>
                <a:latin typeface="Arial" panose="020B0604020202020204" pitchFamily="34" charset="0"/>
                <a:ea typeface="楷体" panose="02010609060101010101" pitchFamily="49" charset="-122"/>
              </a:rPr>
              <a:t>3</a:t>
            </a:r>
            <a:r>
              <a:rPr lang="zh-CN" altLang="zh-CN" b="1">
                <a:solidFill>
                  <a:schemeClr val="bg1"/>
                </a:solidFill>
                <a:latin typeface="Arial" panose="020B0604020202020204" pitchFamily="34" charset="0"/>
                <a:ea typeface="楷体" panose="02010609060101010101" pitchFamily="49" charset="-122"/>
              </a:rPr>
              <a:t>≥9   （0）(过滤条件)</a:t>
            </a:r>
            <a:endParaRPr lang="zh-CN" altLang="zh-CN" b="1">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a:solidFill>
                <a:schemeClr val="bg1"/>
              </a:solidFill>
            </a:endParaRPr>
          </a:p>
        </p:txBody>
      </p:sp>
      <p:sp>
        <p:nvSpPr>
          <p:cNvPr id="76035" name="AutoShape 259"/>
          <p:cNvSpPr/>
          <p:nvPr/>
        </p:nvSpPr>
        <p:spPr bwMode="auto">
          <a:xfrm>
            <a:off x="4800600" y="4687888"/>
            <a:ext cx="3440113" cy="384175"/>
          </a:xfrm>
          <a:prstGeom prst="borderCallout1">
            <a:avLst>
              <a:gd name="adj1" fmla="val 45949"/>
              <a:gd name="adj2" fmla="val -736"/>
              <a:gd name="adj3" fmla="val -407458"/>
              <a:gd name="adj4" fmla="val -3269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dirty="0">
                <a:solidFill>
                  <a:schemeClr val="bg1"/>
                </a:solidFill>
                <a:latin typeface="Arial" panose="020B0604020202020204" pitchFamily="34" charset="0"/>
                <a:ea typeface="楷体" panose="02010609060101010101" pitchFamily="49" charset="-122"/>
              </a:rPr>
              <a:t>4x</a:t>
            </a:r>
            <a:r>
              <a:rPr lang="zh-CN" altLang="zh-CN" b="1" baseline="-25000" dirty="0">
                <a:solidFill>
                  <a:schemeClr val="bg1"/>
                </a:solidFill>
                <a:latin typeface="Arial" panose="020B0604020202020204" pitchFamily="34" charset="0"/>
                <a:ea typeface="楷体" panose="02010609060101010101" pitchFamily="49" charset="-122"/>
              </a:rPr>
              <a:t>1</a:t>
            </a:r>
            <a:r>
              <a:rPr lang="zh-CN" altLang="zh-CN" b="1" dirty="0">
                <a:solidFill>
                  <a:schemeClr val="bg1"/>
                </a:solidFill>
                <a:latin typeface="Arial" panose="020B0604020202020204" pitchFamily="34" charset="0"/>
                <a:ea typeface="楷体" panose="02010609060101010101" pitchFamily="49" charset="-122"/>
              </a:rPr>
              <a:t>+x</a:t>
            </a:r>
            <a:r>
              <a:rPr lang="zh-CN" altLang="zh-CN" b="1" baseline="-25000" dirty="0">
                <a:solidFill>
                  <a:schemeClr val="bg1"/>
                </a:solidFill>
                <a:latin typeface="Arial" panose="020B0604020202020204" pitchFamily="34" charset="0"/>
                <a:ea typeface="楷体" panose="02010609060101010101" pitchFamily="49" charset="-122"/>
              </a:rPr>
              <a:t>2</a:t>
            </a:r>
            <a:r>
              <a:rPr lang="zh-CN" altLang="zh-CN" b="1" dirty="0">
                <a:solidFill>
                  <a:schemeClr val="bg1"/>
                </a:solidFill>
                <a:latin typeface="Arial" panose="020B0604020202020204" pitchFamily="34" charset="0"/>
                <a:ea typeface="楷体" panose="02010609060101010101" pitchFamily="49" charset="-122"/>
              </a:rPr>
              <a:t>+5x</a:t>
            </a:r>
            <a:r>
              <a:rPr lang="zh-CN" altLang="zh-CN" b="1" baseline="-25000" dirty="0">
                <a:solidFill>
                  <a:schemeClr val="bg1"/>
                </a:solidFill>
                <a:latin typeface="Arial" panose="020B0604020202020204" pitchFamily="34" charset="0"/>
                <a:ea typeface="楷体" panose="02010609060101010101" pitchFamily="49" charset="-122"/>
              </a:rPr>
              <a:t>3</a:t>
            </a:r>
            <a:r>
              <a:rPr lang="zh-CN" altLang="zh-CN" b="1" dirty="0">
                <a:solidFill>
                  <a:schemeClr val="bg1"/>
                </a:solidFill>
                <a:latin typeface="Arial" panose="020B0604020202020204" pitchFamily="34" charset="0"/>
                <a:ea typeface="楷体" panose="02010609060101010101" pitchFamily="49" charset="-122"/>
              </a:rPr>
              <a:t>≥6  （0）(过滤条件)</a:t>
            </a:r>
            <a:endParaRPr lang="zh-CN" altLang="zh-CN" b="1" dirty="0">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dirty="0">
              <a:solidFill>
                <a:schemeClr val="bg1"/>
              </a:solidFill>
            </a:endParaRPr>
          </a:p>
        </p:txBody>
      </p:sp>
      <p:sp>
        <p:nvSpPr>
          <p:cNvPr id="76036" name="Rectangle 260"/>
          <p:cNvSpPr>
            <a:spLocks noChangeArrowheads="1"/>
          </p:cNvSpPr>
          <p:nvPr/>
        </p:nvSpPr>
        <p:spPr bwMode="auto">
          <a:xfrm>
            <a:off x="1884363" y="3203575"/>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（1，1，1）</a:t>
            </a:r>
            <a:endParaRPr lang="zh-CN" altLang="zh-CN">
              <a:latin typeface="Arial" panose="020B0604020202020204" pitchFamily="34" charset="0"/>
              <a:ea typeface="仿宋" panose="02010609060101010101" pitchFamily="49" charset="-122"/>
            </a:endParaRPr>
          </a:p>
        </p:txBody>
      </p:sp>
      <p:sp>
        <p:nvSpPr>
          <p:cNvPr id="76037" name="Rectangle 261"/>
          <p:cNvSpPr>
            <a:spLocks noChangeArrowheads="1"/>
          </p:cNvSpPr>
          <p:nvPr/>
        </p:nvSpPr>
        <p:spPr bwMode="auto">
          <a:xfrm>
            <a:off x="3432016" y="3203575"/>
            <a:ext cx="436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10</a:t>
            </a:r>
            <a:endParaRPr lang="zh-CN" altLang="zh-CN">
              <a:latin typeface="Arial" panose="020B0604020202020204" pitchFamily="34" charset="0"/>
              <a:ea typeface="仿宋" panose="02010609060101010101" pitchFamily="49" charset="-122"/>
            </a:endParaRPr>
          </a:p>
        </p:txBody>
      </p:sp>
      <p:sp>
        <p:nvSpPr>
          <p:cNvPr id="76038" name="Rectangle 262"/>
          <p:cNvSpPr>
            <a:spLocks noChangeArrowheads="1"/>
          </p:cNvSpPr>
          <p:nvPr/>
        </p:nvSpPr>
        <p:spPr bwMode="auto">
          <a:xfrm>
            <a:off x="4371817" y="320357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4</a:t>
            </a:r>
            <a:endParaRPr lang="zh-CN" altLang="zh-CN">
              <a:latin typeface="Arial" panose="020B0604020202020204" pitchFamily="34" charset="0"/>
              <a:ea typeface="仿宋" panose="02010609060101010101" pitchFamily="49" charset="-122"/>
            </a:endParaRPr>
          </a:p>
        </p:txBody>
      </p:sp>
      <p:sp>
        <p:nvSpPr>
          <p:cNvPr id="76039" name="Rectangle 263"/>
          <p:cNvSpPr>
            <a:spLocks noChangeArrowheads="1"/>
          </p:cNvSpPr>
          <p:nvPr/>
        </p:nvSpPr>
        <p:spPr bwMode="auto">
          <a:xfrm>
            <a:off x="8218329" y="3203575"/>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6040" name="Rectangle 264"/>
          <p:cNvSpPr>
            <a:spLocks noChangeArrowheads="1"/>
          </p:cNvSpPr>
          <p:nvPr/>
        </p:nvSpPr>
        <p:spPr bwMode="auto">
          <a:xfrm>
            <a:off x="1847850" y="3543300"/>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（1，1，0）</a:t>
            </a:r>
            <a:endParaRPr lang="zh-CN" altLang="zh-CN">
              <a:latin typeface="Arial" panose="020B0604020202020204" pitchFamily="34" charset="0"/>
              <a:ea typeface="仿宋" panose="02010609060101010101" pitchFamily="49" charset="-122"/>
            </a:endParaRPr>
          </a:p>
        </p:txBody>
      </p:sp>
      <p:sp>
        <p:nvSpPr>
          <p:cNvPr id="76041" name="Rectangle 265"/>
          <p:cNvSpPr>
            <a:spLocks noChangeArrowheads="1"/>
          </p:cNvSpPr>
          <p:nvPr/>
        </p:nvSpPr>
        <p:spPr bwMode="auto">
          <a:xfrm>
            <a:off x="3541554" y="353377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5</a:t>
            </a:r>
            <a:endParaRPr lang="zh-CN" altLang="zh-CN">
              <a:latin typeface="Arial" panose="020B0604020202020204" pitchFamily="34" charset="0"/>
              <a:ea typeface="仿宋" panose="02010609060101010101" pitchFamily="49" charset="-122"/>
            </a:endParaRPr>
          </a:p>
        </p:txBody>
      </p:sp>
      <p:sp>
        <p:nvSpPr>
          <p:cNvPr id="76042" name="Rectangle 266"/>
          <p:cNvSpPr>
            <a:spLocks noChangeArrowheads="1"/>
          </p:cNvSpPr>
          <p:nvPr/>
        </p:nvSpPr>
        <p:spPr bwMode="auto">
          <a:xfrm>
            <a:off x="8218329" y="3573463"/>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6043" name="Rectangle 267"/>
          <p:cNvSpPr>
            <a:spLocks noChangeArrowheads="1"/>
          </p:cNvSpPr>
          <p:nvPr/>
        </p:nvSpPr>
        <p:spPr bwMode="auto">
          <a:xfrm>
            <a:off x="1873250" y="3871913"/>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（1，0，1）</a:t>
            </a:r>
            <a:endParaRPr lang="zh-CN" altLang="zh-CN">
              <a:latin typeface="Arial" panose="020B0604020202020204" pitchFamily="34" charset="0"/>
              <a:ea typeface="仿宋" panose="02010609060101010101" pitchFamily="49" charset="-122"/>
            </a:endParaRPr>
          </a:p>
        </p:txBody>
      </p:sp>
      <p:sp>
        <p:nvSpPr>
          <p:cNvPr id="76044" name="Rectangle 268"/>
          <p:cNvSpPr>
            <a:spLocks noChangeArrowheads="1"/>
          </p:cNvSpPr>
          <p:nvPr/>
        </p:nvSpPr>
        <p:spPr bwMode="auto">
          <a:xfrm>
            <a:off x="3528854" y="389731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9</a:t>
            </a:r>
            <a:endParaRPr lang="zh-CN" altLang="zh-CN">
              <a:latin typeface="Arial" panose="020B0604020202020204" pitchFamily="34" charset="0"/>
              <a:ea typeface="仿宋" panose="02010609060101010101" pitchFamily="49" charset="-122"/>
            </a:endParaRPr>
          </a:p>
        </p:txBody>
      </p:sp>
      <p:sp>
        <p:nvSpPr>
          <p:cNvPr id="76045" name="Rectangle 269"/>
          <p:cNvSpPr>
            <a:spLocks noChangeArrowheads="1"/>
          </p:cNvSpPr>
          <p:nvPr/>
        </p:nvSpPr>
        <p:spPr bwMode="auto">
          <a:xfrm>
            <a:off x="4328954" y="3924300"/>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a:t>
            </a:r>
            <a:endParaRPr lang="zh-CN" altLang="zh-CN">
              <a:latin typeface="Arial" panose="020B0604020202020204" pitchFamily="34" charset="0"/>
              <a:ea typeface="仿宋" panose="02010609060101010101" pitchFamily="49" charset="-122"/>
            </a:endParaRPr>
          </a:p>
        </p:txBody>
      </p:sp>
      <p:sp>
        <p:nvSpPr>
          <p:cNvPr id="76046" name="Rectangle 270"/>
          <p:cNvSpPr>
            <a:spLocks noChangeArrowheads="1"/>
          </p:cNvSpPr>
          <p:nvPr/>
        </p:nvSpPr>
        <p:spPr bwMode="auto">
          <a:xfrm>
            <a:off x="5160804" y="389096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3</a:t>
            </a:r>
            <a:endParaRPr lang="zh-CN" altLang="zh-CN">
              <a:latin typeface="Arial" panose="020B0604020202020204" pitchFamily="34" charset="0"/>
              <a:ea typeface="仿宋" panose="02010609060101010101" pitchFamily="49" charset="-122"/>
            </a:endParaRPr>
          </a:p>
        </p:txBody>
      </p:sp>
      <p:sp>
        <p:nvSpPr>
          <p:cNvPr id="76047" name="Rectangle 271"/>
          <p:cNvSpPr>
            <a:spLocks noChangeArrowheads="1"/>
          </p:cNvSpPr>
          <p:nvPr/>
        </p:nvSpPr>
        <p:spPr bwMode="auto">
          <a:xfrm>
            <a:off x="5994242" y="387191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a:t>
            </a:r>
            <a:endParaRPr lang="zh-CN" altLang="zh-CN">
              <a:latin typeface="Arial" panose="020B0604020202020204" pitchFamily="34" charset="0"/>
              <a:ea typeface="仿宋" panose="02010609060101010101" pitchFamily="49" charset="-122"/>
            </a:endParaRPr>
          </a:p>
        </p:txBody>
      </p:sp>
      <p:sp>
        <p:nvSpPr>
          <p:cNvPr id="76048" name="Rectangle 272"/>
          <p:cNvSpPr>
            <a:spLocks noChangeArrowheads="1"/>
          </p:cNvSpPr>
          <p:nvPr/>
        </p:nvSpPr>
        <p:spPr bwMode="auto">
          <a:xfrm>
            <a:off x="6929279" y="389096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4</a:t>
            </a:r>
            <a:endParaRPr lang="zh-CN" altLang="zh-CN">
              <a:latin typeface="Arial" panose="020B0604020202020204" pitchFamily="34" charset="0"/>
              <a:ea typeface="仿宋" panose="02010609060101010101" pitchFamily="49" charset="-122"/>
            </a:endParaRPr>
          </a:p>
        </p:txBody>
      </p:sp>
      <p:sp>
        <p:nvSpPr>
          <p:cNvPr id="76049" name="Rectangle 273"/>
          <p:cNvSpPr>
            <a:spLocks noChangeArrowheads="1"/>
          </p:cNvSpPr>
          <p:nvPr/>
        </p:nvSpPr>
        <p:spPr bwMode="auto">
          <a:xfrm>
            <a:off x="8253413" y="3884613"/>
            <a:ext cx="3111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6050" name="Rectangle 274"/>
          <p:cNvSpPr>
            <a:spLocks noChangeArrowheads="1"/>
          </p:cNvSpPr>
          <p:nvPr/>
        </p:nvSpPr>
        <p:spPr bwMode="auto">
          <a:xfrm>
            <a:off x="9648667" y="387191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9</a:t>
            </a:r>
            <a:endParaRPr lang="zh-CN" altLang="zh-CN">
              <a:latin typeface="Arial" panose="020B0604020202020204" pitchFamily="34" charset="0"/>
              <a:ea typeface="仿宋" panose="02010609060101010101" pitchFamily="49" charset="-122"/>
            </a:endParaRPr>
          </a:p>
        </p:txBody>
      </p:sp>
      <p:sp>
        <p:nvSpPr>
          <p:cNvPr id="76051" name="Rectangle 275"/>
          <p:cNvSpPr>
            <a:spLocks noChangeArrowheads="1"/>
          </p:cNvSpPr>
          <p:nvPr/>
        </p:nvSpPr>
        <p:spPr bwMode="auto">
          <a:xfrm>
            <a:off x="1860550" y="4252913"/>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（1，0，0）</a:t>
            </a:r>
            <a:endParaRPr lang="zh-CN" altLang="zh-CN">
              <a:latin typeface="Arial" panose="020B0604020202020204" pitchFamily="34" charset="0"/>
              <a:ea typeface="仿宋" panose="02010609060101010101" pitchFamily="49" charset="-122"/>
            </a:endParaRPr>
          </a:p>
        </p:txBody>
      </p:sp>
      <p:sp>
        <p:nvSpPr>
          <p:cNvPr id="76052" name="Rectangle 276"/>
          <p:cNvSpPr>
            <a:spLocks noChangeArrowheads="1"/>
          </p:cNvSpPr>
          <p:nvPr/>
        </p:nvSpPr>
        <p:spPr bwMode="auto">
          <a:xfrm>
            <a:off x="3528854" y="422592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4</a:t>
            </a:r>
            <a:endParaRPr lang="zh-CN" altLang="zh-CN">
              <a:latin typeface="Arial" panose="020B0604020202020204" pitchFamily="34" charset="0"/>
              <a:ea typeface="仿宋" panose="02010609060101010101" pitchFamily="49" charset="-122"/>
            </a:endParaRPr>
          </a:p>
        </p:txBody>
      </p:sp>
      <p:sp>
        <p:nvSpPr>
          <p:cNvPr id="76053" name="Rectangle 277"/>
          <p:cNvSpPr>
            <a:spLocks noChangeArrowheads="1"/>
          </p:cNvSpPr>
          <p:nvPr/>
        </p:nvSpPr>
        <p:spPr bwMode="auto">
          <a:xfrm>
            <a:off x="1847850" y="4568825"/>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（0，1，1）</a:t>
            </a:r>
            <a:endParaRPr lang="zh-CN" altLang="zh-CN">
              <a:latin typeface="Arial" panose="020B0604020202020204" pitchFamily="34" charset="0"/>
              <a:ea typeface="仿宋" panose="02010609060101010101" pitchFamily="49" charset="-122"/>
            </a:endParaRPr>
          </a:p>
        </p:txBody>
      </p:sp>
      <p:sp>
        <p:nvSpPr>
          <p:cNvPr id="76054" name="Rectangle 278"/>
          <p:cNvSpPr>
            <a:spLocks noChangeArrowheads="1"/>
          </p:cNvSpPr>
          <p:nvPr/>
        </p:nvSpPr>
        <p:spPr bwMode="auto">
          <a:xfrm>
            <a:off x="3527266" y="456882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6</a:t>
            </a:r>
            <a:endParaRPr lang="zh-CN" altLang="zh-CN">
              <a:latin typeface="Arial" panose="020B0604020202020204" pitchFamily="34" charset="0"/>
              <a:ea typeface="仿宋" panose="02010609060101010101" pitchFamily="49" charset="-122"/>
            </a:endParaRPr>
          </a:p>
        </p:txBody>
      </p:sp>
      <p:sp>
        <p:nvSpPr>
          <p:cNvPr id="76055" name="Rectangle 279"/>
          <p:cNvSpPr>
            <a:spLocks noChangeArrowheads="1"/>
          </p:cNvSpPr>
          <p:nvPr/>
        </p:nvSpPr>
        <p:spPr bwMode="auto">
          <a:xfrm>
            <a:off x="1833563" y="4937125"/>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（0，1，0）</a:t>
            </a:r>
            <a:endParaRPr lang="zh-CN" altLang="zh-CN">
              <a:latin typeface="Arial" panose="020B0604020202020204" pitchFamily="34" charset="0"/>
              <a:ea typeface="仿宋" panose="02010609060101010101" pitchFamily="49" charset="-122"/>
            </a:endParaRPr>
          </a:p>
        </p:txBody>
      </p:sp>
      <p:sp>
        <p:nvSpPr>
          <p:cNvPr id="76056" name="Rectangle 280"/>
          <p:cNvSpPr>
            <a:spLocks noChangeArrowheads="1"/>
          </p:cNvSpPr>
          <p:nvPr/>
        </p:nvSpPr>
        <p:spPr bwMode="auto">
          <a:xfrm>
            <a:off x="3527266" y="495617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a:t>
            </a:r>
            <a:endParaRPr lang="zh-CN" altLang="zh-CN">
              <a:latin typeface="Arial" panose="020B0604020202020204" pitchFamily="34" charset="0"/>
              <a:ea typeface="仿宋" panose="02010609060101010101" pitchFamily="49" charset="-122"/>
            </a:endParaRPr>
          </a:p>
        </p:txBody>
      </p:sp>
      <p:sp>
        <p:nvSpPr>
          <p:cNvPr id="76057" name="Rectangle 281"/>
          <p:cNvSpPr>
            <a:spLocks noChangeArrowheads="1"/>
          </p:cNvSpPr>
          <p:nvPr/>
        </p:nvSpPr>
        <p:spPr bwMode="auto">
          <a:xfrm>
            <a:off x="1847850" y="5253038"/>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（0，0，1）</a:t>
            </a:r>
            <a:endParaRPr lang="zh-CN" altLang="zh-CN">
              <a:latin typeface="Arial" panose="020B0604020202020204" pitchFamily="34" charset="0"/>
              <a:ea typeface="仿宋" panose="02010609060101010101" pitchFamily="49" charset="-122"/>
            </a:endParaRPr>
          </a:p>
        </p:txBody>
      </p:sp>
      <p:sp>
        <p:nvSpPr>
          <p:cNvPr id="76058" name="Rectangle 282"/>
          <p:cNvSpPr>
            <a:spLocks noChangeArrowheads="1"/>
          </p:cNvSpPr>
          <p:nvPr/>
        </p:nvSpPr>
        <p:spPr bwMode="auto">
          <a:xfrm>
            <a:off x="3500279" y="5253038"/>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5</a:t>
            </a:r>
            <a:endParaRPr lang="zh-CN" altLang="zh-CN">
              <a:latin typeface="Arial" panose="020B0604020202020204" pitchFamily="34" charset="0"/>
              <a:ea typeface="仿宋" panose="02010609060101010101" pitchFamily="49" charset="-122"/>
            </a:endParaRPr>
          </a:p>
        </p:txBody>
      </p:sp>
      <p:sp>
        <p:nvSpPr>
          <p:cNvPr id="76059" name="Rectangle 283"/>
          <p:cNvSpPr>
            <a:spLocks noChangeArrowheads="1"/>
          </p:cNvSpPr>
          <p:nvPr/>
        </p:nvSpPr>
        <p:spPr bwMode="auto">
          <a:xfrm>
            <a:off x="1847850" y="5592763"/>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（0，0，0）</a:t>
            </a:r>
            <a:endParaRPr lang="zh-CN" altLang="zh-CN">
              <a:latin typeface="Arial" panose="020B0604020202020204" pitchFamily="34" charset="0"/>
              <a:ea typeface="仿宋" panose="02010609060101010101" pitchFamily="49" charset="-122"/>
            </a:endParaRPr>
          </a:p>
        </p:txBody>
      </p:sp>
      <p:sp>
        <p:nvSpPr>
          <p:cNvPr id="76060" name="Rectangle 284"/>
          <p:cNvSpPr>
            <a:spLocks noChangeArrowheads="1"/>
          </p:cNvSpPr>
          <p:nvPr/>
        </p:nvSpPr>
        <p:spPr bwMode="auto">
          <a:xfrm>
            <a:off x="3500279" y="560546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a:t>
            </a:r>
            <a:endParaRPr lang="zh-CN" altLang="zh-CN">
              <a:latin typeface="Arial" panose="020B0604020202020204" pitchFamily="34" charset="0"/>
              <a:ea typeface="仿宋" panose="02010609060101010101" pitchFamily="49" charset="-122"/>
            </a:endParaRPr>
          </a:p>
        </p:txBody>
      </p:sp>
      <p:sp>
        <p:nvSpPr>
          <p:cNvPr id="76061" name="Rectangle 285"/>
          <p:cNvSpPr>
            <a:spLocks noChangeArrowheads="1"/>
          </p:cNvSpPr>
          <p:nvPr/>
        </p:nvSpPr>
        <p:spPr bwMode="auto">
          <a:xfrm>
            <a:off x="8234204" y="4205288"/>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6062" name="Rectangle 286"/>
          <p:cNvSpPr>
            <a:spLocks noChangeArrowheads="1"/>
          </p:cNvSpPr>
          <p:nvPr/>
        </p:nvSpPr>
        <p:spPr bwMode="auto">
          <a:xfrm>
            <a:off x="8221504" y="4595813"/>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6063" name="Rectangle 287"/>
          <p:cNvSpPr>
            <a:spLocks noChangeArrowheads="1"/>
          </p:cNvSpPr>
          <p:nvPr/>
        </p:nvSpPr>
        <p:spPr bwMode="auto">
          <a:xfrm>
            <a:off x="8196104" y="4883150"/>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6064" name="Rectangle 288"/>
          <p:cNvSpPr>
            <a:spLocks noChangeArrowheads="1"/>
          </p:cNvSpPr>
          <p:nvPr/>
        </p:nvSpPr>
        <p:spPr bwMode="auto">
          <a:xfrm>
            <a:off x="8194517" y="5233988"/>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6065" name="Rectangle 289"/>
          <p:cNvSpPr>
            <a:spLocks noChangeArrowheads="1"/>
          </p:cNvSpPr>
          <p:nvPr/>
        </p:nvSpPr>
        <p:spPr bwMode="auto">
          <a:xfrm>
            <a:off x="8194517" y="5651500"/>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036"/>
                                        </p:tgtEl>
                                        <p:attrNameLst>
                                          <p:attrName>style.visibility</p:attrName>
                                        </p:attrNameLst>
                                      </p:cBhvr>
                                      <p:to>
                                        <p:strVal val="visible"/>
                                      </p:to>
                                    </p:set>
                                    <p:anim calcmode="lin" valueType="num">
                                      <p:cBhvr additive="base">
                                        <p:cTn id="7" dur="500" fill="hold"/>
                                        <p:tgtEl>
                                          <p:spTgt spid="76036"/>
                                        </p:tgtEl>
                                        <p:attrNameLst>
                                          <p:attrName>ppt_x</p:attrName>
                                        </p:attrNameLst>
                                      </p:cBhvr>
                                      <p:tavLst>
                                        <p:tav tm="0">
                                          <p:val>
                                            <p:strVal val="ppt_x"/>
                                          </p:val>
                                        </p:tav>
                                        <p:tav tm="100000">
                                          <p:val>
                                            <p:strVal val="ppt_x"/>
                                          </p:val>
                                        </p:tav>
                                      </p:tavLst>
                                    </p:anim>
                                    <p:anim calcmode="lin" valueType="num">
                                      <p:cBhvr additive="base">
                                        <p:cTn id="8" dur="500" fill="hold"/>
                                        <p:tgtEl>
                                          <p:spTgt spid="760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6037"/>
                                        </p:tgtEl>
                                        <p:attrNameLst>
                                          <p:attrName>style.visibility</p:attrName>
                                        </p:attrNameLst>
                                      </p:cBhvr>
                                      <p:to>
                                        <p:strVal val="visible"/>
                                      </p:to>
                                    </p:set>
                                    <p:anim calcmode="lin" valueType="num">
                                      <p:cBhvr additive="base">
                                        <p:cTn id="13" dur="500" fill="hold"/>
                                        <p:tgtEl>
                                          <p:spTgt spid="76037"/>
                                        </p:tgtEl>
                                        <p:attrNameLst>
                                          <p:attrName>ppt_x</p:attrName>
                                        </p:attrNameLst>
                                      </p:cBhvr>
                                      <p:tavLst>
                                        <p:tav tm="0">
                                          <p:val>
                                            <p:strVal val="ppt_x"/>
                                          </p:val>
                                        </p:tav>
                                        <p:tav tm="100000">
                                          <p:val>
                                            <p:strVal val="ppt_x"/>
                                          </p:val>
                                        </p:tav>
                                      </p:tavLst>
                                    </p:anim>
                                    <p:anim calcmode="lin" valueType="num">
                                      <p:cBhvr additive="base">
                                        <p:cTn id="14" dur="500" fill="hold"/>
                                        <p:tgtEl>
                                          <p:spTgt spid="760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6035"/>
                                        </p:tgtEl>
                                        <p:attrNameLst>
                                          <p:attrName>style.visibility</p:attrName>
                                        </p:attrNameLst>
                                      </p:cBhvr>
                                      <p:to>
                                        <p:strVal val="visible"/>
                                      </p:to>
                                    </p:set>
                                    <p:anim calcmode="lin" valueType="num">
                                      <p:cBhvr additive="base">
                                        <p:cTn id="19" dur="500" fill="hold"/>
                                        <p:tgtEl>
                                          <p:spTgt spid="76035"/>
                                        </p:tgtEl>
                                        <p:attrNameLst>
                                          <p:attrName>ppt_x</p:attrName>
                                        </p:attrNameLst>
                                      </p:cBhvr>
                                      <p:tavLst>
                                        <p:tav tm="0">
                                          <p:val>
                                            <p:strVal val="ppt_x"/>
                                          </p:val>
                                        </p:tav>
                                        <p:tav tm="100000">
                                          <p:val>
                                            <p:strVal val="ppt_x"/>
                                          </p:val>
                                        </p:tav>
                                      </p:tavLst>
                                    </p:anim>
                                    <p:anim calcmode="lin" valueType="num">
                                      <p:cBhvr additive="base">
                                        <p:cTn id="20" dur="500" fill="hold"/>
                                        <p:tgtEl>
                                          <p:spTgt spid="7603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6038"/>
                                        </p:tgtEl>
                                        <p:attrNameLst>
                                          <p:attrName>style.visibility</p:attrName>
                                        </p:attrNameLst>
                                      </p:cBhvr>
                                      <p:to>
                                        <p:strVal val="visible"/>
                                      </p:to>
                                    </p:set>
                                    <p:anim calcmode="lin" valueType="num">
                                      <p:cBhvr additive="base">
                                        <p:cTn id="25" dur="500" fill="hold"/>
                                        <p:tgtEl>
                                          <p:spTgt spid="76038"/>
                                        </p:tgtEl>
                                        <p:attrNameLst>
                                          <p:attrName>ppt_x</p:attrName>
                                        </p:attrNameLst>
                                      </p:cBhvr>
                                      <p:tavLst>
                                        <p:tav tm="0">
                                          <p:val>
                                            <p:strVal val="ppt_x"/>
                                          </p:val>
                                        </p:tav>
                                        <p:tav tm="100000">
                                          <p:val>
                                            <p:strVal val="ppt_x"/>
                                          </p:val>
                                        </p:tav>
                                      </p:tavLst>
                                    </p:anim>
                                    <p:anim calcmode="lin" valueType="num">
                                      <p:cBhvr additive="base">
                                        <p:cTn id="26" dur="500" fill="hold"/>
                                        <p:tgtEl>
                                          <p:spTgt spid="7603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6039"/>
                                        </p:tgtEl>
                                        <p:attrNameLst>
                                          <p:attrName>style.visibility</p:attrName>
                                        </p:attrNameLst>
                                      </p:cBhvr>
                                      <p:to>
                                        <p:strVal val="visible"/>
                                      </p:to>
                                    </p:set>
                                    <p:anim calcmode="lin" valueType="num">
                                      <p:cBhvr additive="base">
                                        <p:cTn id="31" dur="500" fill="hold"/>
                                        <p:tgtEl>
                                          <p:spTgt spid="76039"/>
                                        </p:tgtEl>
                                        <p:attrNameLst>
                                          <p:attrName>ppt_x</p:attrName>
                                        </p:attrNameLst>
                                      </p:cBhvr>
                                      <p:tavLst>
                                        <p:tav tm="0">
                                          <p:val>
                                            <p:strVal val="ppt_x"/>
                                          </p:val>
                                        </p:tav>
                                        <p:tav tm="100000">
                                          <p:val>
                                            <p:strVal val="ppt_x"/>
                                          </p:val>
                                        </p:tav>
                                      </p:tavLst>
                                    </p:anim>
                                    <p:anim calcmode="lin" valueType="num">
                                      <p:cBhvr additive="base">
                                        <p:cTn id="32" dur="500" fill="hold"/>
                                        <p:tgtEl>
                                          <p:spTgt spid="7603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6040"/>
                                        </p:tgtEl>
                                        <p:attrNameLst>
                                          <p:attrName>style.visibility</p:attrName>
                                        </p:attrNameLst>
                                      </p:cBhvr>
                                      <p:to>
                                        <p:strVal val="visible"/>
                                      </p:to>
                                    </p:set>
                                    <p:anim calcmode="lin" valueType="num">
                                      <p:cBhvr additive="base">
                                        <p:cTn id="37" dur="500" fill="hold"/>
                                        <p:tgtEl>
                                          <p:spTgt spid="76040"/>
                                        </p:tgtEl>
                                        <p:attrNameLst>
                                          <p:attrName>ppt_x</p:attrName>
                                        </p:attrNameLst>
                                      </p:cBhvr>
                                      <p:tavLst>
                                        <p:tav tm="0">
                                          <p:val>
                                            <p:strVal val="ppt_x"/>
                                          </p:val>
                                        </p:tav>
                                        <p:tav tm="100000">
                                          <p:val>
                                            <p:strVal val="ppt_x"/>
                                          </p:val>
                                        </p:tav>
                                      </p:tavLst>
                                    </p:anim>
                                    <p:anim calcmode="lin" valueType="num">
                                      <p:cBhvr additive="base">
                                        <p:cTn id="38" dur="500" fill="hold"/>
                                        <p:tgtEl>
                                          <p:spTgt spid="7604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6041"/>
                                        </p:tgtEl>
                                        <p:attrNameLst>
                                          <p:attrName>style.visibility</p:attrName>
                                        </p:attrNameLst>
                                      </p:cBhvr>
                                      <p:to>
                                        <p:strVal val="visible"/>
                                      </p:to>
                                    </p:set>
                                    <p:anim calcmode="lin" valueType="num">
                                      <p:cBhvr additive="base">
                                        <p:cTn id="43" dur="500" fill="hold"/>
                                        <p:tgtEl>
                                          <p:spTgt spid="76041"/>
                                        </p:tgtEl>
                                        <p:attrNameLst>
                                          <p:attrName>ppt_x</p:attrName>
                                        </p:attrNameLst>
                                      </p:cBhvr>
                                      <p:tavLst>
                                        <p:tav tm="0">
                                          <p:val>
                                            <p:strVal val="ppt_x"/>
                                          </p:val>
                                        </p:tav>
                                        <p:tav tm="100000">
                                          <p:val>
                                            <p:strVal val="ppt_x"/>
                                          </p:val>
                                        </p:tav>
                                      </p:tavLst>
                                    </p:anim>
                                    <p:anim calcmode="lin" valueType="num">
                                      <p:cBhvr additive="base">
                                        <p:cTn id="44" dur="500" fill="hold"/>
                                        <p:tgtEl>
                                          <p:spTgt spid="7604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6042"/>
                                        </p:tgtEl>
                                        <p:attrNameLst>
                                          <p:attrName>style.visibility</p:attrName>
                                        </p:attrNameLst>
                                      </p:cBhvr>
                                      <p:to>
                                        <p:strVal val="visible"/>
                                      </p:to>
                                    </p:set>
                                    <p:anim calcmode="lin" valueType="num">
                                      <p:cBhvr additive="base">
                                        <p:cTn id="49" dur="500" fill="hold"/>
                                        <p:tgtEl>
                                          <p:spTgt spid="76042"/>
                                        </p:tgtEl>
                                        <p:attrNameLst>
                                          <p:attrName>ppt_x</p:attrName>
                                        </p:attrNameLst>
                                      </p:cBhvr>
                                      <p:tavLst>
                                        <p:tav tm="0">
                                          <p:val>
                                            <p:strVal val="ppt_x"/>
                                          </p:val>
                                        </p:tav>
                                        <p:tav tm="100000">
                                          <p:val>
                                            <p:strVal val="ppt_x"/>
                                          </p:val>
                                        </p:tav>
                                      </p:tavLst>
                                    </p:anim>
                                    <p:anim calcmode="lin" valueType="num">
                                      <p:cBhvr additive="base">
                                        <p:cTn id="50" dur="500" fill="hold"/>
                                        <p:tgtEl>
                                          <p:spTgt spid="7604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6043"/>
                                        </p:tgtEl>
                                        <p:attrNameLst>
                                          <p:attrName>style.visibility</p:attrName>
                                        </p:attrNameLst>
                                      </p:cBhvr>
                                      <p:to>
                                        <p:strVal val="visible"/>
                                      </p:to>
                                    </p:set>
                                    <p:anim calcmode="lin" valueType="num">
                                      <p:cBhvr additive="base">
                                        <p:cTn id="55" dur="500" fill="hold"/>
                                        <p:tgtEl>
                                          <p:spTgt spid="76043"/>
                                        </p:tgtEl>
                                        <p:attrNameLst>
                                          <p:attrName>ppt_x</p:attrName>
                                        </p:attrNameLst>
                                      </p:cBhvr>
                                      <p:tavLst>
                                        <p:tav tm="0">
                                          <p:val>
                                            <p:strVal val="ppt_x"/>
                                          </p:val>
                                        </p:tav>
                                        <p:tav tm="100000">
                                          <p:val>
                                            <p:strVal val="ppt_x"/>
                                          </p:val>
                                        </p:tav>
                                      </p:tavLst>
                                    </p:anim>
                                    <p:anim calcmode="lin" valueType="num">
                                      <p:cBhvr additive="base">
                                        <p:cTn id="56" dur="500" fill="hold"/>
                                        <p:tgtEl>
                                          <p:spTgt spid="7604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76044"/>
                                        </p:tgtEl>
                                        <p:attrNameLst>
                                          <p:attrName>style.visibility</p:attrName>
                                        </p:attrNameLst>
                                      </p:cBhvr>
                                      <p:to>
                                        <p:strVal val="visible"/>
                                      </p:to>
                                    </p:set>
                                    <p:anim calcmode="lin" valueType="num">
                                      <p:cBhvr additive="base">
                                        <p:cTn id="61" dur="500" fill="hold"/>
                                        <p:tgtEl>
                                          <p:spTgt spid="76044"/>
                                        </p:tgtEl>
                                        <p:attrNameLst>
                                          <p:attrName>ppt_x</p:attrName>
                                        </p:attrNameLst>
                                      </p:cBhvr>
                                      <p:tavLst>
                                        <p:tav tm="0">
                                          <p:val>
                                            <p:strVal val="ppt_x"/>
                                          </p:val>
                                        </p:tav>
                                        <p:tav tm="100000">
                                          <p:val>
                                            <p:strVal val="ppt_x"/>
                                          </p:val>
                                        </p:tav>
                                      </p:tavLst>
                                    </p:anim>
                                    <p:anim calcmode="lin" valueType="num">
                                      <p:cBhvr additive="base">
                                        <p:cTn id="62" dur="500" fill="hold"/>
                                        <p:tgtEl>
                                          <p:spTgt spid="7604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76045"/>
                                        </p:tgtEl>
                                        <p:attrNameLst>
                                          <p:attrName>style.visibility</p:attrName>
                                        </p:attrNameLst>
                                      </p:cBhvr>
                                      <p:to>
                                        <p:strVal val="visible"/>
                                      </p:to>
                                    </p:set>
                                    <p:anim calcmode="lin" valueType="num">
                                      <p:cBhvr additive="base">
                                        <p:cTn id="67" dur="500" fill="hold"/>
                                        <p:tgtEl>
                                          <p:spTgt spid="76045"/>
                                        </p:tgtEl>
                                        <p:attrNameLst>
                                          <p:attrName>ppt_x</p:attrName>
                                        </p:attrNameLst>
                                      </p:cBhvr>
                                      <p:tavLst>
                                        <p:tav tm="0">
                                          <p:val>
                                            <p:strVal val="ppt_x"/>
                                          </p:val>
                                        </p:tav>
                                        <p:tav tm="100000">
                                          <p:val>
                                            <p:strVal val="ppt_x"/>
                                          </p:val>
                                        </p:tav>
                                      </p:tavLst>
                                    </p:anim>
                                    <p:anim calcmode="lin" valueType="num">
                                      <p:cBhvr additive="base">
                                        <p:cTn id="68" dur="500" fill="hold"/>
                                        <p:tgtEl>
                                          <p:spTgt spid="7604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76046"/>
                                        </p:tgtEl>
                                        <p:attrNameLst>
                                          <p:attrName>style.visibility</p:attrName>
                                        </p:attrNameLst>
                                      </p:cBhvr>
                                      <p:to>
                                        <p:strVal val="visible"/>
                                      </p:to>
                                    </p:set>
                                    <p:anim calcmode="lin" valueType="num">
                                      <p:cBhvr additive="base">
                                        <p:cTn id="73" dur="500" fill="hold"/>
                                        <p:tgtEl>
                                          <p:spTgt spid="76046"/>
                                        </p:tgtEl>
                                        <p:attrNameLst>
                                          <p:attrName>ppt_x</p:attrName>
                                        </p:attrNameLst>
                                      </p:cBhvr>
                                      <p:tavLst>
                                        <p:tav tm="0">
                                          <p:val>
                                            <p:strVal val="ppt_x"/>
                                          </p:val>
                                        </p:tav>
                                        <p:tav tm="100000">
                                          <p:val>
                                            <p:strVal val="ppt_x"/>
                                          </p:val>
                                        </p:tav>
                                      </p:tavLst>
                                    </p:anim>
                                    <p:anim calcmode="lin" valueType="num">
                                      <p:cBhvr additive="base">
                                        <p:cTn id="74" dur="500" fill="hold"/>
                                        <p:tgtEl>
                                          <p:spTgt spid="7604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76047"/>
                                        </p:tgtEl>
                                        <p:attrNameLst>
                                          <p:attrName>style.visibility</p:attrName>
                                        </p:attrNameLst>
                                      </p:cBhvr>
                                      <p:to>
                                        <p:strVal val="visible"/>
                                      </p:to>
                                    </p:set>
                                    <p:anim calcmode="lin" valueType="num">
                                      <p:cBhvr additive="base">
                                        <p:cTn id="79" dur="500" fill="hold"/>
                                        <p:tgtEl>
                                          <p:spTgt spid="76047"/>
                                        </p:tgtEl>
                                        <p:attrNameLst>
                                          <p:attrName>ppt_x</p:attrName>
                                        </p:attrNameLst>
                                      </p:cBhvr>
                                      <p:tavLst>
                                        <p:tav tm="0">
                                          <p:val>
                                            <p:strVal val="ppt_x"/>
                                          </p:val>
                                        </p:tav>
                                        <p:tav tm="100000">
                                          <p:val>
                                            <p:strVal val="ppt_x"/>
                                          </p:val>
                                        </p:tav>
                                      </p:tavLst>
                                    </p:anim>
                                    <p:anim calcmode="lin" valueType="num">
                                      <p:cBhvr additive="base">
                                        <p:cTn id="80" dur="500" fill="hold"/>
                                        <p:tgtEl>
                                          <p:spTgt spid="76047"/>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76048"/>
                                        </p:tgtEl>
                                        <p:attrNameLst>
                                          <p:attrName>style.visibility</p:attrName>
                                        </p:attrNameLst>
                                      </p:cBhvr>
                                      <p:to>
                                        <p:strVal val="visible"/>
                                      </p:to>
                                    </p:set>
                                    <p:anim calcmode="lin" valueType="num">
                                      <p:cBhvr additive="base">
                                        <p:cTn id="85" dur="500" fill="hold"/>
                                        <p:tgtEl>
                                          <p:spTgt spid="76048"/>
                                        </p:tgtEl>
                                        <p:attrNameLst>
                                          <p:attrName>ppt_x</p:attrName>
                                        </p:attrNameLst>
                                      </p:cBhvr>
                                      <p:tavLst>
                                        <p:tav tm="0">
                                          <p:val>
                                            <p:strVal val="ppt_x"/>
                                          </p:val>
                                        </p:tav>
                                        <p:tav tm="100000">
                                          <p:val>
                                            <p:strVal val="ppt_x"/>
                                          </p:val>
                                        </p:tav>
                                      </p:tavLst>
                                    </p:anim>
                                    <p:anim calcmode="lin" valueType="num">
                                      <p:cBhvr additive="base">
                                        <p:cTn id="86" dur="500" fill="hold"/>
                                        <p:tgtEl>
                                          <p:spTgt spid="76048"/>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76049"/>
                                        </p:tgtEl>
                                        <p:attrNameLst>
                                          <p:attrName>style.visibility</p:attrName>
                                        </p:attrNameLst>
                                      </p:cBhvr>
                                      <p:to>
                                        <p:strVal val="visible"/>
                                      </p:to>
                                    </p:set>
                                    <p:anim calcmode="lin" valueType="num">
                                      <p:cBhvr additive="base">
                                        <p:cTn id="91" dur="500" fill="hold"/>
                                        <p:tgtEl>
                                          <p:spTgt spid="76049"/>
                                        </p:tgtEl>
                                        <p:attrNameLst>
                                          <p:attrName>ppt_x</p:attrName>
                                        </p:attrNameLst>
                                      </p:cBhvr>
                                      <p:tavLst>
                                        <p:tav tm="0">
                                          <p:val>
                                            <p:strVal val="ppt_x"/>
                                          </p:val>
                                        </p:tav>
                                        <p:tav tm="100000">
                                          <p:val>
                                            <p:strVal val="ppt_x"/>
                                          </p:val>
                                        </p:tav>
                                      </p:tavLst>
                                    </p:anim>
                                    <p:anim calcmode="lin" valueType="num">
                                      <p:cBhvr additive="base">
                                        <p:cTn id="92" dur="500" fill="hold"/>
                                        <p:tgtEl>
                                          <p:spTgt spid="76049"/>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76050"/>
                                        </p:tgtEl>
                                        <p:attrNameLst>
                                          <p:attrName>style.visibility</p:attrName>
                                        </p:attrNameLst>
                                      </p:cBhvr>
                                      <p:to>
                                        <p:strVal val="visible"/>
                                      </p:to>
                                    </p:set>
                                    <p:anim calcmode="lin" valueType="num">
                                      <p:cBhvr additive="base">
                                        <p:cTn id="97" dur="500" fill="hold"/>
                                        <p:tgtEl>
                                          <p:spTgt spid="76050"/>
                                        </p:tgtEl>
                                        <p:attrNameLst>
                                          <p:attrName>ppt_x</p:attrName>
                                        </p:attrNameLst>
                                      </p:cBhvr>
                                      <p:tavLst>
                                        <p:tav tm="0">
                                          <p:val>
                                            <p:strVal val="ppt_x"/>
                                          </p:val>
                                        </p:tav>
                                        <p:tav tm="100000">
                                          <p:val>
                                            <p:strVal val="ppt_x"/>
                                          </p:val>
                                        </p:tav>
                                      </p:tavLst>
                                    </p:anim>
                                    <p:anim calcmode="lin" valueType="num">
                                      <p:cBhvr additive="base">
                                        <p:cTn id="98" dur="500" fill="hold"/>
                                        <p:tgtEl>
                                          <p:spTgt spid="76050"/>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xit" presetSubtype="4" fill="hold" grpId="1" nodeType="clickEffect">
                                  <p:stCondLst>
                                    <p:cond delay="0"/>
                                  </p:stCondLst>
                                  <p:childTnLst>
                                    <p:anim calcmode="lin" valueType="num">
                                      <p:cBhvr additive="base">
                                        <p:cTn id="102" dur="500" fill="hold"/>
                                        <p:tgtEl>
                                          <p:spTgt spid="76035"/>
                                        </p:tgtEl>
                                        <p:attrNameLst>
                                          <p:attrName>ppt_x</p:attrName>
                                        </p:attrNameLst>
                                      </p:cBhvr>
                                      <p:tavLst>
                                        <p:tav tm="0">
                                          <p:val>
                                            <p:strVal val="ppt_x"/>
                                          </p:val>
                                        </p:tav>
                                        <p:tav tm="100000">
                                          <p:val>
                                            <p:strVal val="ppt_x"/>
                                          </p:val>
                                        </p:tav>
                                      </p:tavLst>
                                    </p:anim>
                                    <p:anim calcmode="lin" valueType="num">
                                      <p:cBhvr additive="base">
                                        <p:cTn id="103" dur="500" fill="hold"/>
                                        <p:tgtEl>
                                          <p:spTgt spid="76035"/>
                                        </p:tgtEl>
                                        <p:attrNameLst>
                                          <p:attrName>ppt_y</p:attrName>
                                        </p:attrNameLst>
                                      </p:cBhvr>
                                      <p:tavLst>
                                        <p:tav tm="0">
                                          <p:val>
                                            <p:strVal val="ppt_x"/>
                                          </p:val>
                                        </p:tav>
                                        <p:tav tm="100000">
                                          <p:val>
                                            <p:strVal val="1+ppt_h/2"/>
                                          </p:val>
                                        </p:tav>
                                      </p:tavLst>
                                    </p:anim>
                                    <p:set>
                                      <p:cBhvr>
                                        <p:cTn id="104" dur="1" fill="hold">
                                          <p:stCondLst>
                                            <p:cond delay="499"/>
                                          </p:stCondLst>
                                        </p:cTn>
                                        <p:tgtEl>
                                          <p:spTgt spid="76035"/>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76034"/>
                                        </p:tgtEl>
                                        <p:attrNameLst>
                                          <p:attrName>style.visibility</p:attrName>
                                        </p:attrNameLst>
                                      </p:cBhvr>
                                      <p:to>
                                        <p:strVal val="visible"/>
                                      </p:to>
                                    </p:set>
                                    <p:anim calcmode="lin" valueType="num">
                                      <p:cBhvr additive="base">
                                        <p:cTn id="109" dur="500" fill="hold"/>
                                        <p:tgtEl>
                                          <p:spTgt spid="76034"/>
                                        </p:tgtEl>
                                        <p:attrNameLst>
                                          <p:attrName>ppt_x</p:attrName>
                                        </p:attrNameLst>
                                      </p:cBhvr>
                                      <p:tavLst>
                                        <p:tav tm="0">
                                          <p:val>
                                            <p:strVal val="ppt_x"/>
                                          </p:val>
                                        </p:tav>
                                        <p:tav tm="100000">
                                          <p:val>
                                            <p:strVal val="ppt_x"/>
                                          </p:val>
                                        </p:tav>
                                      </p:tavLst>
                                    </p:anim>
                                    <p:anim calcmode="lin" valueType="num">
                                      <p:cBhvr additive="base">
                                        <p:cTn id="110" dur="500" fill="hold"/>
                                        <p:tgtEl>
                                          <p:spTgt spid="76034"/>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76051"/>
                                        </p:tgtEl>
                                        <p:attrNameLst>
                                          <p:attrName>style.visibility</p:attrName>
                                        </p:attrNameLst>
                                      </p:cBhvr>
                                      <p:to>
                                        <p:strVal val="visible"/>
                                      </p:to>
                                    </p:set>
                                    <p:anim calcmode="lin" valueType="num">
                                      <p:cBhvr additive="base">
                                        <p:cTn id="115" dur="500" fill="hold"/>
                                        <p:tgtEl>
                                          <p:spTgt spid="76051"/>
                                        </p:tgtEl>
                                        <p:attrNameLst>
                                          <p:attrName>ppt_x</p:attrName>
                                        </p:attrNameLst>
                                      </p:cBhvr>
                                      <p:tavLst>
                                        <p:tav tm="0">
                                          <p:val>
                                            <p:strVal val="ppt_x"/>
                                          </p:val>
                                        </p:tav>
                                        <p:tav tm="100000">
                                          <p:val>
                                            <p:strVal val="ppt_x"/>
                                          </p:val>
                                        </p:tav>
                                      </p:tavLst>
                                    </p:anim>
                                    <p:anim calcmode="lin" valueType="num">
                                      <p:cBhvr additive="base">
                                        <p:cTn id="116" dur="500" fill="hold"/>
                                        <p:tgtEl>
                                          <p:spTgt spid="76051"/>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76052"/>
                                        </p:tgtEl>
                                        <p:attrNameLst>
                                          <p:attrName>style.visibility</p:attrName>
                                        </p:attrNameLst>
                                      </p:cBhvr>
                                      <p:to>
                                        <p:strVal val="visible"/>
                                      </p:to>
                                    </p:set>
                                    <p:anim calcmode="lin" valueType="num">
                                      <p:cBhvr additive="base">
                                        <p:cTn id="121" dur="500" fill="hold"/>
                                        <p:tgtEl>
                                          <p:spTgt spid="76052"/>
                                        </p:tgtEl>
                                        <p:attrNameLst>
                                          <p:attrName>ppt_x</p:attrName>
                                        </p:attrNameLst>
                                      </p:cBhvr>
                                      <p:tavLst>
                                        <p:tav tm="0">
                                          <p:val>
                                            <p:strVal val="ppt_x"/>
                                          </p:val>
                                        </p:tav>
                                        <p:tav tm="100000">
                                          <p:val>
                                            <p:strVal val="ppt_x"/>
                                          </p:val>
                                        </p:tav>
                                      </p:tavLst>
                                    </p:anim>
                                    <p:anim calcmode="lin" valueType="num">
                                      <p:cBhvr additive="base">
                                        <p:cTn id="122" dur="500" fill="hold"/>
                                        <p:tgtEl>
                                          <p:spTgt spid="76052"/>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76061"/>
                                        </p:tgtEl>
                                        <p:attrNameLst>
                                          <p:attrName>style.visibility</p:attrName>
                                        </p:attrNameLst>
                                      </p:cBhvr>
                                      <p:to>
                                        <p:strVal val="visible"/>
                                      </p:to>
                                    </p:set>
                                    <p:anim calcmode="lin" valueType="num">
                                      <p:cBhvr additive="base">
                                        <p:cTn id="127" dur="500" fill="hold"/>
                                        <p:tgtEl>
                                          <p:spTgt spid="76061"/>
                                        </p:tgtEl>
                                        <p:attrNameLst>
                                          <p:attrName>ppt_x</p:attrName>
                                        </p:attrNameLst>
                                      </p:cBhvr>
                                      <p:tavLst>
                                        <p:tav tm="0">
                                          <p:val>
                                            <p:strVal val="ppt_x"/>
                                          </p:val>
                                        </p:tav>
                                        <p:tav tm="100000">
                                          <p:val>
                                            <p:strVal val="ppt_x"/>
                                          </p:val>
                                        </p:tav>
                                      </p:tavLst>
                                    </p:anim>
                                    <p:anim calcmode="lin" valueType="num">
                                      <p:cBhvr additive="base">
                                        <p:cTn id="128" dur="500" fill="hold"/>
                                        <p:tgtEl>
                                          <p:spTgt spid="76061"/>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76053"/>
                                        </p:tgtEl>
                                        <p:attrNameLst>
                                          <p:attrName>style.visibility</p:attrName>
                                        </p:attrNameLst>
                                      </p:cBhvr>
                                      <p:to>
                                        <p:strVal val="visible"/>
                                      </p:to>
                                    </p:set>
                                    <p:anim calcmode="lin" valueType="num">
                                      <p:cBhvr additive="base">
                                        <p:cTn id="133" dur="500" fill="hold"/>
                                        <p:tgtEl>
                                          <p:spTgt spid="76053"/>
                                        </p:tgtEl>
                                        <p:attrNameLst>
                                          <p:attrName>ppt_x</p:attrName>
                                        </p:attrNameLst>
                                      </p:cBhvr>
                                      <p:tavLst>
                                        <p:tav tm="0">
                                          <p:val>
                                            <p:strVal val="ppt_x"/>
                                          </p:val>
                                        </p:tav>
                                        <p:tav tm="100000">
                                          <p:val>
                                            <p:strVal val="ppt_x"/>
                                          </p:val>
                                        </p:tav>
                                      </p:tavLst>
                                    </p:anim>
                                    <p:anim calcmode="lin" valueType="num">
                                      <p:cBhvr additive="base">
                                        <p:cTn id="134" dur="500" fill="hold"/>
                                        <p:tgtEl>
                                          <p:spTgt spid="76053"/>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76054"/>
                                        </p:tgtEl>
                                        <p:attrNameLst>
                                          <p:attrName>style.visibility</p:attrName>
                                        </p:attrNameLst>
                                      </p:cBhvr>
                                      <p:to>
                                        <p:strVal val="visible"/>
                                      </p:to>
                                    </p:set>
                                    <p:anim calcmode="lin" valueType="num">
                                      <p:cBhvr additive="base">
                                        <p:cTn id="139" dur="500" fill="hold"/>
                                        <p:tgtEl>
                                          <p:spTgt spid="76054"/>
                                        </p:tgtEl>
                                        <p:attrNameLst>
                                          <p:attrName>ppt_x</p:attrName>
                                        </p:attrNameLst>
                                      </p:cBhvr>
                                      <p:tavLst>
                                        <p:tav tm="0">
                                          <p:val>
                                            <p:strVal val="ppt_x"/>
                                          </p:val>
                                        </p:tav>
                                        <p:tav tm="100000">
                                          <p:val>
                                            <p:strVal val="ppt_x"/>
                                          </p:val>
                                        </p:tav>
                                      </p:tavLst>
                                    </p:anim>
                                    <p:anim calcmode="lin" valueType="num">
                                      <p:cBhvr additive="base">
                                        <p:cTn id="140" dur="500" fill="hold"/>
                                        <p:tgtEl>
                                          <p:spTgt spid="76054"/>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76062"/>
                                        </p:tgtEl>
                                        <p:attrNameLst>
                                          <p:attrName>style.visibility</p:attrName>
                                        </p:attrNameLst>
                                      </p:cBhvr>
                                      <p:to>
                                        <p:strVal val="visible"/>
                                      </p:to>
                                    </p:set>
                                    <p:anim calcmode="lin" valueType="num">
                                      <p:cBhvr additive="base">
                                        <p:cTn id="145" dur="500" fill="hold"/>
                                        <p:tgtEl>
                                          <p:spTgt spid="76062"/>
                                        </p:tgtEl>
                                        <p:attrNameLst>
                                          <p:attrName>ppt_x</p:attrName>
                                        </p:attrNameLst>
                                      </p:cBhvr>
                                      <p:tavLst>
                                        <p:tav tm="0">
                                          <p:val>
                                            <p:strVal val="ppt_x"/>
                                          </p:val>
                                        </p:tav>
                                        <p:tav tm="100000">
                                          <p:val>
                                            <p:strVal val="ppt_x"/>
                                          </p:val>
                                        </p:tav>
                                      </p:tavLst>
                                    </p:anim>
                                    <p:anim calcmode="lin" valueType="num">
                                      <p:cBhvr additive="base">
                                        <p:cTn id="146" dur="500" fill="hold"/>
                                        <p:tgtEl>
                                          <p:spTgt spid="76062"/>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76055"/>
                                        </p:tgtEl>
                                        <p:attrNameLst>
                                          <p:attrName>style.visibility</p:attrName>
                                        </p:attrNameLst>
                                      </p:cBhvr>
                                      <p:to>
                                        <p:strVal val="visible"/>
                                      </p:to>
                                    </p:set>
                                    <p:anim calcmode="lin" valueType="num">
                                      <p:cBhvr additive="base">
                                        <p:cTn id="151" dur="500" fill="hold"/>
                                        <p:tgtEl>
                                          <p:spTgt spid="76055"/>
                                        </p:tgtEl>
                                        <p:attrNameLst>
                                          <p:attrName>ppt_x</p:attrName>
                                        </p:attrNameLst>
                                      </p:cBhvr>
                                      <p:tavLst>
                                        <p:tav tm="0">
                                          <p:val>
                                            <p:strVal val="ppt_x"/>
                                          </p:val>
                                        </p:tav>
                                        <p:tav tm="100000">
                                          <p:val>
                                            <p:strVal val="ppt_x"/>
                                          </p:val>
                                        </p:tav>
                                      </p:tavLst>
                                    </p:anim>
                                    <p:anim calcmode="lin" valueType="num">
                                      <p:cBhvr additive="base">
                                        <p:cTn id="152" dur="500" fill="hold"/>
                                        <p:tgtEl>
                                          <p:spTgt spid="76055"/>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76056"/>
                                        </p:tgtEl>
                                        <p:attrNameLst>
                                          <p:attrName>style.visibility</p:attrName>
                                        </p:attrNameLst>
                                      </p:cBhvr>
                                      <p:to>
                                        <p:strVal val="visible"/>
                                      </p:to>
                                    </p:set>
                                    <p:anim calcmode="lin" valueType="num">
                                      <p:cBhvr additive="base">
                                        <p:cTn id="157" dur="500" fill="hold"/>
                                        <p:tgtEl>
                                          <p:spTgt spid="76056"/>
                                        </p:tgtEl>
                                        <p:attrNameLst>
                                          <p:attrName>ppt_x</p:attrName>
                                        </p:attrNameLst>
                                      </p:cBhvr>
                                      <p:tavLst>
                                        <p:tav tm="0">
                                          <p:val>
                                            <p:strVal val="ppt_x"/>
                                          </p:val>
                                        </p:tav>
                                        <p:tav tm="100000">
                                          <p:val>
                                            <p:strVal val="ppt_x"/>
                                          </p:val>
                                        </p:tav>
                                      </p:tavLst>
                                    </p:anim>
                                    <p:anim calcmode="lin" valueType="num">
                                      <p:cBhvr additive="base">
                                        <p:cTn id="158" dur="500" fill="hold"/>
                                        <p:tgtEl>
                                          <p:spTgt spid="76056"/>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76063"/>
                                        </p:tgtEl>
                                        <p:attrNameLst>
                                          <p:attrName>style.visibility</p:attrName>
                                        </p:attrNameLst>
                                      </p:cBhvr>
                                      <p:to>
                                        <p:strVal val="visible"/>
                                      </p:to>
                                    </p:set>
                                    <p:anim calcmode="lin" valueType="num">
                                      <p:cBhvr additive="base">
                                        <p:cTn id="163" dur="500" fill="hold"/>
                                        <p:tgtEl>
                                          <p:spTgt spid="76063"/>
                                        </p:tgtEl>
                                        <p:attrNameLst>
                                          <p:attrName>ppt_x</p:attrName>
                                        </p:attrNameLst>
                                      </p:cBhvr>
                                      <p:tavLst>
                                        <p:tav tm="0">
                                          <p:val>
                                            <p:strVal val="ppt_x"/>
                                          </p:val>
                                        </p:tav>
                                        <p:tav tm="100000">
                                          <p:val>
                                            <p:strVal val="ppt_x"/>
                                          </p:val>
                                        </p:tav>
                                      </p:tavLst>
                                    </p:anim>
                                    <p:anim calcmode="lin" valueType="num">
                                      <p:cBhvr additive="base">
                                        <p:cTn id="164" dur="500" fill="hold"/>
                                        <p:tgtEl>
                                          <p:spTgt spid="76063"/>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grpId="0" nodeType="clickEffect">
                                  <p:stCondLst>
                                    <p:cond delay="0"/>
                                  </p:stCondLst>
                                  <p:childTnLst>
                                    <p:set>
                                      <p:cBhvr>
                                        <p:cTn id="168" dur="1" fill="hold">
                                          <p:stCondLst>
                                            <p:cond delay="0"/>
                                          </p:stCondLst>
                                        </p:cTn>
                                        <p:tgtEl>
                                          <p:spTgt spid="76057"/>
                                        </p:tgtEl>
                                        <p:attrNameLst>
                                          <p:attrName>style.visibility</p:attrName>
                                        </p:attrNameLst>
                                      </p:cBhvr>
                                      <p:to>
                                        <p:strVal val="visible"/>
                                      </p:to>
                                    </p:set>
                                    <p:anim calcmode="lin" valueType="num">
                                      <p:cBhvr additive="base">
                                        <p:cTn id="169" dur="500" fill="hold"/>
                                        <p:tgtEl>
                                          <p:spTgt spid="76057"/>
                                        </p:tgtEl>
                                        <p:attrNameLst>
                                          <p:attrName>ppt_x</p:attrName>
                                        </p:attrNameLst>
                                      </p:cBhvr>
                                      <p:tavLst>
                                        <p:tav tm="0">
                                          <p:val>
                                            <p:strVal val="ppt_x"/>
                                          </p:val>
                                        </p:tav>
                                        <p:tav tm="100000">
                                          <p:val>
                                            <p:strVal val="ppt_x"/>
                                          </p:val>
                                        </p:tav>
                                      </p:tavLst>
                                    </p:anim>
                                    <p:anim calcmode="lin" valueType="num">
                                      <p:cBhvr additive="base">
                                        <p:cTn id="170" dur="500" fill="hold"/>
                                        <p:tgtEl>
                                          <p:spTgt spid="76057"/>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grpId="0" nodeType="clickEffect">
                                  <p:stCondLst>
                                    <p:cond delay="0"/>
                                  </p:stCondLst>
                                  <p:childTnLst>
                                    <p:set>
                                      <p:cBhvr>
                                        <p:cTn id="174" dur="1" fill="hold">
                                          <p:stCondLst>
                                            <p:cond delay="0"/>
                                          </p:stCondLst>
                                        </p:cTn>
                                        <p:tgtEl>
                                          <p:spTgt spid="76058"/>
                                        </p:tgtEl>
                                        <p:attrNameLst>
                                          <p:attrName>style.visibility</p:attrName>
                                        </p:attrNameLst>
                                      </p:cBhvr>
                                      <p:to>
                                        <p:strVal val="visible"/>
                                      </p:to>
                                    </p:set>
                                    <p:anim calcmode="lin" valueType="num">
                                      <p:cBhvr additive="base">
                                        <p:cTn id="175" dur="500" fill="hold"/>
                                        <p:tgtEl>
                                          <p:spTgt spid="76058"/>
                                        </p:tgtEl>
                                        <p:attrNameLst>
                                          <p:attrName>ppt_x</p:attrName>
                                        </p:attrNameLst>
                                      </p:cBhvr>
                                      <p:tavLst>
                                        <p:tav tm="0">
                                          <p:val>
                                            <p:strVal val="ppt_x"/>
                                          </p:val>
                                        </p:tav>
                                        <p:tav tm="100000">
                                          <p:val>
                                            <p:strVal val="ppt_x"/>
                                          </p:val>
                                        </p:tav>
                                      </p:tavLst>
                                    </p:anim>
                                    <p:anim calcmode="lin" valueType="num">
                                      <p:cBhvr additive="base">
                                        <p:cTn id="176" dur="500" fill="hold"/>
                                        <p:tgtEl>
                                          <p:spTgt spid="76058"/>
                                        </p:tgtEl>
                                        <p:attrNameLst>
                                          <p:attrName>ppt_y</p:attrName>
                                        </p:attrNameLst>
                                      </p:cBhvr>
                                      <p:tavLst>
                                        <p:tav tm="0">
                                          <p:val>
                                            <p:strVal val="1+#ppt_h/2"/>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4" fill="hold" grpId="0" nodeType="clickEffect">
                                  <p:stCondLst>
                                    <p:cond delay="0"/>
                                  </p:stCondLst>
                                  <p:childTnLst>
                                    <p:set>
                                      <p:cBhvr>
                                        <p:cTn id="180" dur="1" fill="hold">
                                          <p:stCondLst>
                                            <p:cond delay="0"/>
                                          </p:stCondLst>
                                        </p:cTn>
                                        <p:tgtEl>
                                          <p:spTgt spid="76064"/>
                                        </p:tgtEl>
                                        <p:attrNameLst>
                                          <p:attrName>style.visibility</p:attrName>
                                        </p:attrNameLst>
                                      </p:cBhvr>
                                      <p:to>
                                        <p:strVal val="visible"/>
                                      </p:to>
                                    </p:set>
                                    <p:anim calcmode="lin" valueType="num">
                                      <p:cBhvr additive="base">
                                        <p:cTn id="181" dur="500" fill="hold"/>
                                        <p:tgtEl>
                                          <p:spTgt spid="76064"/>
                                        </p:tgtEl>
                                        <p:attrNameLst>
                                          <p:attrName>ppt_x</p:attrName>
                                        </p:attrNameLst>
                                      </p:cBhvr>
                                      <p:tavLst>
                                        <p:tav tm="0">
                                          <p:val>
                                            <p:strVal val="ppt_x"/>
                                          </p:val>
                                        </p:tav>
                                        <p:tav tm="100000">
                                          <p:val>
                                            <p:strVal val="ppt_x"/>
                                          </p:val>
                                        </p:tav>
                                      </p:tavLst>
                                    </p:anim>
                                    <p:anim calcmode="lin" valueType="num">
                                      <p:cBhvr additive="base">
                                        <p:cTn id="182" dur="500" fill="hold"/>
                                        <p:tgtEl>
                                          <p:spTgt spid="76064"/>
                                        </p:tgtEl>
                                        <p:attrNameLst>
                                          <p:attrName>ppt_y</p:attrName>
                                        </p:attrNameLst>
                                      </p:cBhvr>
                                      <p:tavLst>
                                        <p:tav tm="0">
                                          <p:val>
                                            <p:strVal val="1+#ppt_h/2"/>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4" fill="hold" grpId="0" nodeType="clickEffect">
                                  <p:stCondLst>
                                    <p:cond delay="0"/>
                                  </p:stCondLst>
                                  <p:childTnLst>
                                    <p:set>
                                      <p:cBhvr>
                                        <p:cTn id="186" dur="1" fill="hold">
                                          <p:stCondLst>
                                            <p:cond delay="0"/>
                                          </p:stCondLst>
                                        </p:cTn>
                                        <p:tgtEl>
                                          <p:spTgt spid="76059"/>
                                        </p:tgtEl>
                                        <p:attrNameLst>
                                          <p:attrName>style.visibility</p:attrName>
                                        </p:attrNameLst>
                                      </p:cBhvr>
                                      <p:to>
                                        <p:strVal val="visible"/>
                                      </p:to>
                                    </p:set>
                                    <p:anim calcmode="lin" valueType="num">
                                      <p:cBhvr additive="base">
                                        <p:cTn id="187" dur="500" fill="hold"/>
                                        <p:tgtEl>
                                          <p:spTgt spid="76059"/>
                                        </p:tgtEl>
                                        <p:attrNameLst>
                                          <p:attrName>ppt_x</p:attrName>
                                        </p:attrNameLst>
                                      </p:cBhvr>
                                      <p:tavLst>
                                        <p:tav tm="0">
                                          <p:val>
                                            <p:strVal val="ppt_x"/>
                                          </p:val>
                                        </p:tav>
                                        <p:tav tm="100000">
                                          <p:val>
                                            <p:strVal val="ppt_x"/>
                                          </p:val>
                                        </p:tav>
                                      </p:tavLst>
                                    </p:anim>
                                    <p:anim calcmode="lin" valueType="num">
                                      <p:cBhvr additive="base">
                                        <p:cTn id="188" dur="500" fill="hold"/>
                                        <p:tgtEl>
                                          <p:spTgt spid="76059"/>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4" fill="hold" grpId="0" nodeType="clickEffect">
                                  <p:stCondLst>
                                    <p:cond delay="0"/>
                                  </p:stCondLst>
                                  <p:childTnLst>
                                    <p:set>
                                      <p:cBhvr>
                                        <p:cTn id="192" dur="1" fill="hold">
                                          <p:stCondLst>
                                            <p:cond delay="0"/>
                                          </p:stCondLst>
                                        </p:cTn>
                                        <p:tgtEl>
                                          <p:spTgt spid="76060"/>
                                        </p:tgtEl>
                                        <p:attrNameLst>
                                          <p:attrName>style.visibility</p:attrName>
                                        </p:attrNameLst>
                                      </p:cBhvr>
                                      <p:to>
                                        <p:strVal val="visible"/>
                                      </p:to>
                                    </p:set>
                                    <p:anim calcmode="lin" valueType="num">
                                      <p:cBhvr additive="base">
                                        <p:cTn id="193" dur="500" fill="hold"/>
                                        <p:tgtEl>
                                          <p:spTgt spid="76060"/>
                                        </p:tgtEl>
                                        <p:attrNameLst>
                                          <p:attrName>ppt_x</p:attrName>
                                        </p:attrNameLst>
                                      </p:cBhvr>
                                      <p:tavLst>
                                        <p:tav tm="0">
                                          <p:val>
                                            <p:strVal val="ppt_x"/>
                                          </p:val>
                                        </p:tav>
                                        <p:tav tm="100000">
                                          <p:val>
                                            <p:strVal val="ppt_x"/>
                                          </p:val>
                                        </p:tav>
                                      </p:tavLst>
                                    </p:anim>
                                    <p:anim calcmode="lin" valueType="num">
                                      <p:cBhvr additive="base">
                                        <p:cTn id="194" dur="500" fill="hold"/>
                                        <p:tgtEl>
                                          <p:spTgt spid="76060"/>
                                        </p:tgtEl>
                                        <p:attrNameLst>
                                          <p:attrName>ppt_y</p:attrName>
                                        </p:attrNameLst>
                                      </p:cBhvr>
                                      <p:tavLst>
                                        <p:tav tm="0">
                                          <p:val>
                                            <p:strVal val="1+#ppt_h/2"/>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4" fill="hold" grpId="0" nodeType="clickEffect">
                                  <p:stCondLst>
                                    <p:cond delay="0"/>
                                  </p:stCondLst>
                                  <p:childTnLst>
                                    <p:set>
                                      <p:cBhvr>
                                        <p:cTn id="198" dur="1" fill="hold">
                                          <p:stCondLst>
                                            <p:cond delay="0"/>
                                          </p:stCondLst>
                                        </p:cTn>
                                        <p:tgtEl>
                                          <p:spTgt spid="76065"/>
                                        </p:tgtEl>
                                        <p:attrNameLst>
                                          <p:attrName>style.visibility</p:attrName>
                                        </p:attrNameLst>
                                      </p:cBhvr>
                                      <p:to>
                                        <p:strVal val="visible"/>
                                      </p:to>
                                    </p:set>
                                    <p:anim calcmode="lin" valueType="num">
                                      <p:cBhvr additive="base">
                                        <p:cTn id="199" dur="500" fill="hold"/>
                                        <p:tgtEl>
                                          <p:spTgt spid="76065"/>
                                        </p:tgtEl>
                                        <p:attrNameLst>
                                          <p:attrName>ppt_x</p:attrName>
                                        </p:attrNameLst>
                                      </p:cBhvr>
                                      <p:tavLst>
                                        <p:tav tm="0">
                                          <p:val>
                                            <p:strVal val="ppt_x"/>
                                          </p:val>
                                        </p:tav>
                                        <p:tav tm="100000">
                                          <p:val>
                                            <p:strVal val="ppt_x"/>
                                          </p:val>
                                        </p:tav>
                                      </p:tavLst>
                                    </p:anim>
                                    <p:anim calcmode="lin" valueType="num">
                                      <p:cBhvr additive="base">
                                        <p:cTn id="200" dur="500" fill="hold"/>
                                        <p:tgtEl>
                                          <p:spTgt spid="760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034" grpId="0" bldLvl="0" animBg="1"/>
      <p:bldP spid="76035" grpId="0" bldLvl="0" animBg="1"/>
      <p:bldP spid="76035" grpId="1" bldLvl="0" animBg="1"/>
      <p:bldP spid="76036" grpId="0" bldLvl="0" animBg="1"/>
      <p:bldP spid="76037" grpId="0" bldLvl="0" animBg="1"/>
      <p:bldP spid="76038" grpId="0" bldLvl="0" animBg="1"/>
      <p:bldP spid="76039" grpId="0" bldLvl="0" animBg="1"/>
      <p:bldP spid="76040" grpId="0" bldLvl="0" animBg="1"/>
      <p:bldP spid="76041" grpId="0" bldLvl="0" animBg="1"/>
      <p:bldP spid="76042" grpId="0" bldLvl="0" animBg="1"/>
      <p:bldP spid="76043" grpId="0" bldLvl="0" animBg="1"/>
      <p:bldP spid="76044" grpId="0" bldLvl="0" animBg="1"/>
      <p:bldP spid="76045" grpId="0" bldLvl="0" animBg="1"/>
      <p:bldP spid="76046" grpId="0" bldLvl="0" animBg="1"/>
      <p:bldP spid="76047" grpId="0" bldLvl="0" animBg="1"/>
      <p:bldP spid="76048" grpId="0" bldLvl="0" animBg="1"/>
      <p:bldP spid="76049" grpId="0" bldLvl="0" animBg="1"/>
      <p:bldP spid="76050" grpId="0" bldLvl="0" animBg="1"/>
      <p:bldP spid="76051" grpId="0" bldLvl="0" animBg="1"/>
      <p:bldP spid="76052" grpId="0" bldLvl="0" animBg="1"/>
      <p:bldP spid="76053" grpId="0" bldLvl="0" animBg="1"/>
      <p:bldP spid="76054" grpId="0" bldLvl="0" animBg="1"/>
      <p:bldP spid="76055" grpId="0" bldLvl="0" animBg="1"/>
      <p:bldP spid="76056" grpId="0" bldLvl="0" animBg="1"/>
      <p:bldP spid="76057" grpId="0" bldLvl="0" animBg="1"/>
      <p:bldP spid="76058" grpId="0" bldLvl="0" animBg="1"/>
      <p:bldP spid="76059" grpId="0" bldLvl="0" animBg="1"/>
      <p:bldP spid="76060" grpId="0" bldLvl="0" animBg="1"/>
      <p:bldP spid="76061" grpId="0" bldLvl="0" animBg="1"/>
      <p:bldP spid="76062" grpId="0" bldLvl="0" animBg="1"/>
      <p:bldP spid="76063" grpId="0" bldLvl="0" animBg="1"/>
      <p:bldP spid="76064" grpId="0" bldLvl="0" animBg="1"/>
      <p:bldP spid="76065"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3" name="Rectangle 5"/>
          <p:cNvSpPr>
            <a:spLocks noChangeArrowheads="1"/>
          </p:cNvSpPr>
          <p:nvPr/>
        </p:nvSpPr>
        <p:spPr bwMode="auto">
          <a:xfrm>
            <a:off x="1651000" y="1557338"/>
            <a:ext cx="8893175" cy="2808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000">
                <a:latin typeface="Arial" panose="020B0604020202020204" pitchFamily="34" charset="0"/>
                <a:ea typeface="楷体" panose="02010609060101010101" pitchFamily="49" charset="-122"/>
              </a:rPr>
              <a:t>      </a:t>
            </a:r>
            <a:endParaRPr lang="zh-CN" altLang="zh-CN" sz="20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0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求最大值问题时，可按目标函数系数的大小依次递减排列。</a:t>
            </a:r>
            <a:endParaRPr lang="zh-CN" altLang="zh-CN" sz="2800">
              <a:latin typeface="Arial" panose="020B0604020202020204" pitchFamily="34" charset="0"/>
              <a:ea typeface="楷体" panose="02010609060101010101" pitchFamily="49" charset="-122"/>
            </a:endParaRPr>
          </a:p>
        </p:txBody>
      </p:sp>
      <p:sp>
        <p:nvSpPr>
          <p:cNvPr id="140294"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9" name="Rectangle 5"/>
          <p:cNvSpPr>
            <a:spLocks noChangeArrowheads="1"/>
          </p:cNvSpPr>
          <p:nvPr/>
        </p:nvSpPr>
        <p:spPr bwMode="auto">
          <a:xfrm>
            <a:off x="1651000" y="1557338"/>
            <a:ext cx="8893175" cy="664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endParaRPr lang="zh-CN" altLang="zh-CN" sz="2800" baseline="-250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144390"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78856" name="Group 8"/>
          <p:cNvGraphicFramePr>
            <a:graphicFrameLocks noGrp="1"/>
          </p:cNvGraphicFramePr>
          <p:nvPr/>
        </p:nvGraphicFramePr>
        <p:xfrm>
          <a:off x="1987550" y="2417763"/>
          <a:ext cx="8272145" cy="2471420"/>
        </p:xfrm>
        <a:graphic>
          <a:graphicData uri="http://schemas.openxmlformats.org/drawingml/2006/table">
            <a:tbl>
              <a:tblPr/>
              <a:tblGrid>
                <a:gridCol w="1633855"/>
                <a:gridCol w="883920"/>
                <a:gridCol w="744855"/>
                <a:gridCol w="717550"/>
                <a:gridCol w="772160"/>
                <a:gridCol w="786130"/>
                <a:gridCol w="993775"/>
                <a:gridCol w="928370"/>
                <a:gridCol w="811530"/>
              </a:tblGrid>
              <a:tr h="58928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解</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5">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约束条件左边值</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hMerge="1">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是否满足条件</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z值</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62230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20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3</a:t>
                      </a: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20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1</a:t>
                      </a: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20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2</a:t>
                      </a: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(0)</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(3)</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(4)</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是（√）</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否（×）</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62484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635000">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8956" name="Rectangle 108"/>
          <p:cNvSpPr>
            <a:spLocks noChangeArrowheads="1"/>
          </p:cNvSpPr>
          <p:nvPr/>
        </p:nvSpPr>
        <p:spPr bwMode="auto">
          <a:xfrm>
            <a:off x="1992313" y="3748088"/>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（1，1，1）</a:t>
            </a:r>
            <a:endParaRPr lang="zh-CN" altLang="zh-CN">
              <a:latin typeface="Arial" panose="020B0604020202020204" pitchFamily="34" charset="0"/>
              <a:ea typeface="仿宋" panose="02010609060101010101" pitchFamily="49" charset="-122"/>
            </a:endParaRPr>
          </a:p>
        </p:txBody>
      </p:sp>
      <p:sp>
        <p:nvSpPr>
          <p:cNvPr id="78957" name="Rectangle 109"/>
          <p:cNvSpPr>
            <a:spLocks noChangeArrowheads="1"/>
          </p:cNvSpPr>
          <p:nvPr/>
        </p:nvSpPr>
        <p:spPr bwMode="auto">
          <a:xfrm>
            <a:off x="2011363" y="4398963"/>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（1，1，0）</a:t>
            </a:r>
            <a:endParaRPr lang="zh-CN" altLang="zh-CN">
              <a:latin typeface="Arial" panose="020B0604020202020204" pitchFamily="34" charset="0"/>
              <a:ea typeface="仿宋" panose="02010609060101010101" pitchFamily="49" charset="-122"/>
            </a:endParaRPr>
          </a:p>
        </p:txBody>
      </p:sp>
      <p:sp>
        <p:nvSpPr>
          <p:cNvPr id="78958" name="Rectangle 110"/>
          <p:cNvSpPr>
            <a:spLocks noChangeArrowheads="1"/>
          </p:cNvSpPr>
          <p:nvPr/>
        </p:nvSpPr>
        <p:spPr bwMode="auto">
          <a:xfrm>
            <a:off x="3841591" y="3748088"/>
            <a:ext cx="436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10</a:t>
            </a:r>
            <a:endParaRPr lang="zh-CN" altLang="zh-CN">
              <a:latin typeface="Arial" panose="020B0604020202020204" pitchFamily="34" charset="0"/>
              <a:ea typeface="仿宋" panose="02010609060101010101" pitchFamily="49" charset="-122"/>
            </a:endParaRPr>
          </a:p>
        </p:txBody>
      </p:sp>
      <p:sp>
        <p:nvSpPr>
          <p:cNvPr id="78959" name="Rectangle 111"/>
          <p:cNvSpPr>
            <a:spLocks noChangeArrowheads="1"/>
          </p:cNvSpPr>
          <p:nvPr/>
        </p:nvSpPr>
        <p:spPr bwMode="auto">
          <a:xfrm>
            <a:off x="4732179" y="3748088"/>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4</a:t>
            </a:r>
            <a:endParaRPr lang="zh-CN" altLang="zh-CN">
              <a:latin typeface="Arial" panose="020B0604020202020204" pitchFamily="34" charset="0"/>
              <a:ea typeface="仿宋" panose="02010609060101010101" pitchFamily="49" charset="-122"/>
            </a:endParaRPr>
          </a:p>
        </p:txBody>
      </p:sp>
      <p:sp>
        <p:nvSpPr>
          <p:cNvPr id="78960" name="Rectangle 112"/>
          <p:cNvSpPr>
            <a:spLocks noChangeArrowheads="1"/>
          </p:cNvSpPr>
          <p:nvPr/>
        </p:nvSpPr>
        <p:spPr bwMode="auto">
          <a:xfrm>
            <a:off x="3905091" y="435292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9</a:t>
            </a:r>
            <a:endParaRPr lang="zh-CN" altLang="zh-CN">
              <a:latin typeface="Arial" panose="020B0604020202020204" pitchFamily="34" charset="0"/>
              <a:ea typeface="仿宋" panose="02010609060101010101" pitchFamily="49" charset="-122"/>
            </a:endParaRPr>
          </a:p>
        </p:txBody>
      </p:sp>
      <p:sp>
        <p:nvSpPr>
          <p:cNvPr id="78961" name="Rectangle 113"/>
          <p:cNvSpPr>
            <a:spLocks noChangeArrowheads="1"/>
          </p:cNvSpPr>
          <p:nvPr/>
        </p:nvSpPr>
        <p:spPr bwMode="auto">
          <a:xfrm>
            <a:off x="4732179" y="439896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a:t>
            </a:r>
            <a:endParaRPr lang="zh-CN" altLang="zh-CN">
              <a:latin typeface="Arial" panose="020B0604020202020204" pitchFamily="34" charset="0"/>
              <a:ea typeface="仿宋" panose="02010609060101010101" pitchFamily="49" charset="-122"/>
            </a:endParaRPr>
          </a:p>
        </p:txBody>
      </p:sp>
      <p:sp>
        <p:nvSpPr>
          <p:cNvPr id="78962" name="Rectangle 114"/>
          <p:cNvSpPr>
            <a:spLocks noChangeArrowheads="1"/>
          </p:cNvSpPr>
          <p:nvPr/>
        </p:nvSpPr>
        <p:spPr bwMode="auto">
          <a:xfrm>
            <a:off x="5448142" y="437197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3</a:t>
            </a:r>
            <a:endParaRPr lang="zh-CN" altLang="zh-CN">
              <a:latin typeface="Arial" panose="020B0604020202020204" pitchFamily="34" charset="0"/>
              <a:ea typeface="仿宋" panose="02010609060101010101" pitchFamily="49" charset="-122"/>
            </a:endParaRPr>
          </a:p>
        </p:txBody>
      </p:sp>
      <p:sp>
        <p:nvSpPr>
          <p:cNvPr id="78963" name="Rectangle 115"/>
          <p:cNvSpPr>
            <a:spLocks noChangeArrowheads="1"/>
          </p:cNvSpPr>
          <p:nvPr/>
        </p:nvSpPr>
        <p:spPr bwMode="auto">
          <a:xfrm>
            <a:off x="6219667" y="436562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a:t>
            </a:r>
            <a:endParaRPr lang="zh-CN" altLang="zh-CN">
              <a:latin typeface="Arial" panose="020B0604020202020204" pitchFamily="34" charset="0"/>
              <a:ea typeface="仿宋" panose="02010609060101010101" pitchFamily="49" charset="-122"/>
            </a:endParaRPr>
          </a:p>
        </p:txBody>
      </p:sp>
      <p:sp>
        <p:nvSpPr>
          <p:cNvPr id="78964" name="Rectangle 116"/>
          <p:cNvSpPr>
            <a:spLocks noChangeArrowheads="1"/>
          </p:cNvSpPr>
          <p:nvPr/>
        </p:nvSpPr>
        <p:spPr bwMode="auto">
          <a:xfrm>
            <a:off x="6970554" y="438626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4</a:t>
            </a:r>
            <a:endParaRPr lang="zh-CN" altLang="zh-CN">
              <a:latin typeface="Arial" panose="020B0604020202020204" pitchFamily="34" charset="0"/>
              <a:ea typeface="仿宋" panose="02010609060101010101" pitchFamily="49" charset="-122"/>
            </a:endParaRPr>
          </a:p>
        </p:txBody>
      </p:sp>
      <p:sp>
        <p:nvSpPr>
          <p:cNvPr id="78965" name="Rectangle 117"/>
          <p:cNvSpPr>
            <a:spLocks noChangeArrowheads="1"/>
          </p:cNvSpPr>
          <p:nvPr/>
        </p:nvSpPr>
        <p:spPr bwMode="auto">
          <a:xfrm>
            <a:off x="8332629" y="3781425"/>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8966" name="Rectangle 118"/>
          <p:cNvSpPr>
            <a:spLocks noChangeArrowheads="1"/>
          </p:cNvSpPr>
          <p:nvPr/>
        </p:nvSpPr>
        <p:spPr bwMode="auto">
          <a:xfrm>
            <a:off x="8381683" y="4398963"/>
            <a:ext cx="30861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78967" name="Rectangle 119"/>
          <p:cNvSpPr>
            <a:spLocks noChangeArrowheads="1"/>
          </p:cNvSpPr>
          <p:nvPr/>
        </p:nvSpPr>
        <p:spPr bwMode="auto">
          <a:xfrm>
            <a:off x="9747092" y="439737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9</a:t>
            </a:r>
            <a:endParaRPr lang="zh-CN" altLang="zh-CN">
              <a:latin typeface="Arial" panose="020B0604020202020204" pitchFamily="34" charset="0"/>
              <a:ea typeface="仿宋" panose="02010609060101010101" pitchFamily="49" charset="-122"/>
            </a:endParaRPr>
          </a:p>
        </p:txBody>
      </p:sp>
      <p:sp>
        <p:nvSpPr>
          <p:cNvPr id="78968" name="AutoShape 120"/>
          <p:cNvSpPr/>
          <p:nvPr/>
        </p:nvSpPr>
        <p:spPr bwMode="auto">
          <a:xfrm>
            <a:off x="5089525" y="5305425"/>
            <a:ext cx="3440113" cy="384175"/>
          </a:xfrm>
          <a:prstGeom prst="borderCallout1">
            <a:avLst>
              <a:gd name="adj1" fmla="val 45949"/>
              <a:gd name="adj2" fmla="val -736"/>
              <a:gd name="adj3" fmla="val -529866"/>
              <a:gd name="adj4" fmla="val -2888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dirty="0">
                <a:solidFill>
                  <a:schemeClr val="bg1"/>
                </a:solidFill>
                <a:latin typeface="Arial" panose="020B0604020202020204" pitchFamily="34" charset="0"/>
                <a:ea typeface="楷体" panose="02010609060101010101" pitchFamily="49" charset="-122"/>
              </a:rPr>
              <a:t>4x</a:t>
            </a:r>
            <a:r>
              <a:rPr lang="zh-CN" altLang="zh-CN" b="1" baseline="-25000" dirty="0">
                <a:solidFill>
                  <a:schemeClr val="bg1"/>
                </a:solidFill>
                <a:latin typeface="Arial" panose="020B0604020202020204" pitchFamily="34" charset="0"/>
                <a:ea typeface="楷体" panose="02010609060101010101" pitchFamily="49" charset="-122"/>
              </a:rPr>
              <a:t>1</a:t>
            </a:r>
            <a:r>
              <a:rPr lang="zh-CN" altLang="zh-CN" b="1" dirty="0">
                <a:solidFill>
                  <a:schemeClr val="bg1"/>
                </a:solidFill>
                <a:latin typeface="Arial" panose="020B0604020202020204" pitchFamily="34" charset="0"/>
                <a:ea typeface="楷体" panose="02010609060101010101" pitchFamily="49" charset="-122"/>
              </a:rPr>
              <a:t>+x</a:t>
            </a:r>
            <a:r>
              <a:rPr lang="zh-CN" altLang="zh-CN" b="1" baseline="-25000" dirty="0">
                <a:solidFill>
                  <a:schemeClr val="bg1"/>
                </a:solidFill>
                <a:latin typeface="Arial" panose="020B0604020202020204" pitchFamily="34" charset="0"/>
                <a:ea typeface="楷体" panose="02010609060101010101" pitchFamily="49" charset="-122"/>
              </a:rPr>
              <a:t>2</a:t>
            </a:r>
            <a:r>
              <a:rPr lang="zh-CN" altLang="zh-CN" b="1" dirty="0">
                <a:solidFill>
                  <a:schemeClr val="bg1"/>
                </a:solidFill>
                <a:latin typeface="Arial" panose="020B0604020202020204" pitchFamily="34" charset="0"/>
                <a:ea typeface="楷体" panose="02010609060101010101" pitchFamily="49" charset="-122"/>
              </a:rPr>
              <a:t>+5x</a:t>
            </a:r>
            <a:r>
              <a:rPr lang="zh-CN" altLang="zh-CN" b="1" baseline="-25000" dirty="0">
                <a:solidFill>
                  <a:schemeClr val="bg1"/>
                </a:solidFill>
                <a:latin typeface="Arial" panose="020B0604020202020204" pitchFamily="34" charset="0"/>
                <a:ea typeface="楷体" panose="02010609060101010101" pitchFamily="49" charset="-122"/>
              </a:rPr>
              <a:t>3</a:t>
            </a:r>
            <a:r>
              <a:rPr lang="zh-CN" altLang="zh-CN" b="1" dirty="0">
                <a:solidFill>
                  <a:schemeClr val="bg1"/>
                </a:solidFill>
                <a:latin typeface="Arial" panose="020B0604020202020204" pitchFamily="34" charset="0"/>
                <a:ea typeface="楷体" panose="02010609060101010101" pitchFamily="49" charset="-122"/>
              </a:rPr>
              <a:t>≥6  （0）(过滤条件)</a:t>
            </a:r>
            <a:endParaRPr lang="zh-CN" altLang="zh-CN" b="1" dirty="0">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dirty="0">
              <a:solidFill>
                <a:schemeClr val="bg1"/>
              </a:solidFill>
            </a:endParaRPr>
          </a:p>
        </p:txBody>
      </p:sp>
      <p:sp>
        <p:nvSpPr>
          <p:cNvPr id="78969" name="AutoShape 121"/>
          <p:cNvSpPr/>
          <p:nvPr/>
        </p:nvSpPr>
        <p:spPr bwMode="auto">
          <a:xfrm>
            <a:off x="6069013" y="5959475"/>
            <a:ext cx="3440112" cy="384175"/>
          </a:xfrm>
          <a:prstGeom prst="borderCallout1">
            <a:avLst>
              <a:gd name="adj1" fmla="val 45949"/>
              <a:gd name="adj2" fmla="val -736"/>
              <a:gd name="adj3" fmla="val -689676"/>
              <a:gd name="adj4" fmla="val -31171"/>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dirty="0">
                <a:solidFill>
                  <a:schemeClr val="bg1"/>
                </a:solidFill>
                <a:latin typeface="Arial" panose="020B0604020202020204" pitchFamily="34" charset="0"/>
                <a:ea typeface="楷体" panose="02010609060101010101" pitchFamily="49" charset="-122"/>
              </a:rPr>
              <a:t>-x</a:t>
            </a:r>
            <a:r>
              <a:rPr lang="zh-CN" altLang="zh-CN" b="1" baseline="-25000" dirty="0">
                <a:solidFill>
                  <a:schemeClr val="bg1"/>
                </a:solidFill>
                <a:latin typeface="Arial" panose="020B0604020202020204" pitchFamily="34" charset="0"/>
                <a:ea typeface="楷体" panose="02010609060101010101" pitchFamily="49" charset="-122"/>
              </a:rPr>
              <a:t>3</a:t>
            </a:r>
            <a:r>
              <a:rPr lang="zh-CN" altLang="zh-CN" b="1" dirty="0">
                <a:solidFill>
                  <a:schemeClr val="bg1"/>
                </a:solidFill>
                <a:latin typeface="Arial" panose="020B0604020202020204" pitchFamily="34" charset="0"/>
                <a:ea typeface="楷体" panose="02010609060101010101" pitchFamily="49" charset="-122"/>
              </a:rPr>
              <a:t>+2x</a:t>
            </a:r>
            <a:r>
              <a:rPr lang="zh-CN" altLang="zh-CN" b="1" baseline="-25000" dirty="0">
                <a:solidFill>
                  <a:schemeClr val="bg1"/>
                </a:solidFill>
                <a:latin typeface="Arial" panose="020B0604020202020204" pitchFamily="34" charset="0"/>
                <a:ea typeface="楷体" panose="02010609060101010101" pitchFamily="49" charset="-122"/>
              </a:rPr>
              <a:t>1</a:t>
            </a:r>
            <a:r>
              <a:rPr lang="zh-CN" altLang="zh-CN" b="1" dirty="0">
                <a:solidFill>
                  <a:schemeClr val="bg1"/>
                </a:solidFill>
                <a:latin typeface="Arial" panose="020B0604020202020204" pitchFamily="34" charset="0"/>
                <a:ea typeface="楷体" panose="02010609060101010101" pitchFamily="49" charset="-122"/>
              </a:rPr>
              <a:t>+3x</a:t>
            </a:r>
            <a:r>
              <a:rPr lang="zh-CN" altLang="zh-CN" b="1" baseline="-25000" dirty="0">
                <a:solidFill>
                  <a:schemeClr val="bg1"/>
                </a:solidFill>
                <a:latin typeface="Arial" panose="020B0604020202020204" pitchFamily="34" charset="0"/>
                <a:ea typeface="楷体" panose="02010609060101010101" pitchFamily="49" charset="-122"/>
              </a:rPr>
              <a:t>2</a:t>
            </a:r>
            <a:r>
              <a:rPr lang="zh-CN" altLang="zh-CN" b="1" dirty="0">
                <a:solidFill>
                  <a:schemeClr val="bg1"/>
                </a:solidFill>
                <a:latin typeface="Arial" panose="020B0604020202020204" pitchFamily="34" charset="0"/>
                <a:ea typeface="楷体" panose="02010609060101010101" pitchFamily="49" charset="-122"/>
              </a:rPr>
              <a:t>≤3      （1）</a:t>
            </a:r>
            <a:endParaRPr lang="zh-CN" altLang="zh-CN" b="1" dirty="0">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dirty="0">
              <a:solidFill>
                <a:schemeClr val="bg1"/>
              </a:solidFill>
            </a:endParaRPr>
          </a:p>
        </p:txBody>
      </p:sp>
      <p:sp>
        <p:nvSpPr>
          <p:cNvPr id="78970" name="AutoShape 122"/>
          <p:cNvSpPr/>
          <p:nvPr/>
        </p:nvSpPr>
        <p:spPr bwMode="auto">
          <a:xfrm>
            <a:off x="2997200" y="1963738"/>
            <a:ext cx="2120900" cy="365125"/>
          </a:xfrm>
          <a:prstGeom prst="borderCallout1">
            <a:avLst>
              <a:gd name="adj1" fmla="val 45949"/>
              <a:gd name="adj2" fmla="val -736"/>
              <a:gd name="adj3" fmla="val 306718"/>
              <a:gd name="adj4" fmla="val -13926"/>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dirty="0">
                <a:solidFill>
                  <a:schemeClr val="bg1"/>
                </a:solidFill>
                <a:latin typeface="Arial" panose="020B0604020202020204" pitchFamily="34" charset="0"/>
                <a:ea typeface="楷体" panose="02010609060101010101" pitchFamily="49" charset="-122"/>
              </a:rPr>
              <a:t>从最大值点开始取</a:t>
            </a:r>
            <a:endParaRPr lang="zh-CN" altLang="zh-CN" b="1" dirty="0">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dirty="0">
              <a:solidFill>
                <a:schemeClr val="bg1"/>
              </a:solidFill>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8968"/>
                                        </p:tgtEl>
                                        <p:attrNameLst>
                                          <p:attrName>style.visibility</p:attrName>
                                        </p:attrNameLst>
                                      </p:cBhvr>
                                      <p:to>
                                        <p:strVal val="visible"/>
                                      </p:to>
                                    </p:set>
                                    <p:anim calcmode="lin" valueType="num">
                                      <p:cBhvr additive="base">
                                        <p:cTn id="7" dur="500" fill="hold"/>
                                        <p:tgtEl>
                                          <p:spTgt spid="78968"/>
                                        </p:tgtEl>
                                        <p:attrNameLst>
                                          <p:attrName>ppt_x</p:attrName>
                                        </p:attrNameLst>
                                      </p:cBhvr>
                                      <p:tavLst>
                                        <p:tav tm="0">
                                          <p:val>
                                            <p:strVal val="ppt_x"/>
                                          </p:val>
                                        </p:tav>
                                        <p:tav tm="100000">
                                          <p:val>
                                            <p:strVal val="ppt_x"/>
                                          </p:val>
                                        </p:tav>
                                      </p:tavLst>
                                    </p:anim>
                                    <p:anim calcmode="lin" valueType="num">
                                      <p:cBhvr additive="base">
                                        <p:cTn id="8" dur="500" fill="hold"/>
                                        <p:tgtEl>
                                          <p:spTgt spid="7896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8969"/>
                                        </p:tgtEl>
                                        <p:attrNameLst>
                                          <p:attrName>style.visibility</p:attrName>
                                        </p:attrNameLst>
                                      </p:cBhvr>
                                      <p:to>
                                        <p:strVal val="visible"/>
                                      </p:to>
                                    </p:set>
                                    <p:anim calcmode="lin" valueType="num">
                                      <p:cBhvr additive="base">
                                        <p:cTn id="13" dur="500" fill="hold"/>
                                        <p:tgtEl>
                                          <p:spTgt spid="78969"/>
                                        </p:tgtEl>
                                        <p:attrNameLst>
                                          <p:attrName>ppt_x</p:attrName>
                                        </p:attrNameLst>
                                      </p:cBhvr>
                                      <p:tavLst>
                                        <p:tav tm="0">
                                          <p:val>
                                            <p:strVal val="ppt_x"/>
                                          </p:val>
                                        </p:tav>
                                        <p:tav tm="100000">
                                          <p:val>
                                            <p:strVal val="ppt_x"/>
                                          </p:val>
                                        </p:tav>
                                      </p:tavLst>
                                    </p:anim>
                                    <p:anim calcmode="lin" valueType="num">
                                      <p:cBhvr additive="base">
                                        <p:cTn id="14" dur="500" fill="hold"/>
                                        <p:tgtEl>
                                          <p:spTgt spid="7896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8970"/>
                                        </p:tgtEl>
                                        <p:attrNameLst>
                                          <p:attrName>style.visibility</p:attrName>
                                        </p:attrNameLst>
                                      </p:cBhvr>
                                      <p:to>
                                        <p:strVal val="visible"/>
                                      </p:to>
                                    </p:set>
                                    <p:anim calcmode="lin" valueType="num">
                                      <p:cBhvr additive="base">
                                        <p:cTn id="19" dur="500" fill="hold"/>
                                        <p:tgtEl>
                                          <p:spTgt spid="78970"/>
                                        </p:tgtEl>
                                        <p:attrNameLst>
                                          <p:attrName>ppt_x</p:attrName>
                                        </p:attrNameLst>
                                      </p:cBhvr>
                                      <p:tavLst>
                                        <p:tav tm="0">
                                          <p:val>
                                            <p:strVal val="ppt_x"/>
                                          </p:val>
                                        </p:tav>
                                        <p:tav tm="100000">
                                          <p:val>
                                            <p:strVal val="ppt_x"/>
                                          </p:val>
                                        </p:tav>
                                      </p:tavLst>
                                    </p:anim>
                                    <p:anim calcmode="lin" valueType="num">
                                      <p:cBhvr additive="base">
                                        <p:cTn id="20" dur="500" fill="hold"/>
                                        <p:tgtEl>
                                          <p:spTgt spid="7897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8956"/>
                                        </p:tgtEl>
                                        <p:attrNameLst>
                                          <p:attrName>style.visibility</p:attrName>
                                        </p:attrNameLst>
                                      </p:cBhvr>
                                      <p:to>
                                        <p:strVal val="visible"/>
                                      </p:to>
                                    </p:set>
                                    <p:anim calcmode="lin" valueType="num">
                                      <p:cBhvr additive="base">
                                        <p:cTn id="25" dur="500" fill="hold"/>
                                        <p:tgtEl>
                                          <p:spTgt spid="78956"/>
                                        </p:tgtEl>
                                        <p:attrNameLst>
                                          <p:attrName>ppt_x</p:attrName>
                                        </p:attrNameLst>
                                      </p:cBhvr>
                                      <p:tavLst>
                                        <p:tav tm="0">
                                          <p:val>
                                            <p:strVal val="ppt_x"/>
                                          </p:val>
                                        </p:tav>
                                        <p:tav tm="100000">
                                          <p:val>
                                            <p:strVal val="ppt_x"/>
                                          </p:val>
                                        </p:tav>
                                      </p:tavLst>
                                    </p:anim>
                                    <p:anim calcmode="lin" valueType="num">
                                      <p:cBhvr additive="base">
                                        <p:cTn id="26" dur="500" fill="hold"/>
                                        <p:tgtEl>
                                          <p:spTgt spid="7895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8958"/>
                                        </p:tgtEl>
                                        <p:attrNameLst>
                                          <p:attrName>style.visibility</p:attrName>
                                        </p:attrNameLst>
                                      </p:cBhvr>
                                      <p:to>
                                        <p:strVal val="visible"/>
                                      </p:to>
                                    </p:set>
                                    <p:anim calcmode="lin" valueType="num">
                                      <p:cBhvr additive="base">
                                        <p:cTn id="31" dur="500" fill="hold"/>
                                        <p:tgtEl>
                                          <p:spTgt spid="78958"/>
                                        </p:tgtEl>
                                        <p:attrNameLst>
                                          <p:attrName>ppt_x</p:attrName>
                                        </p:attrNameLst>
                                      </p:cBhvr>
                                      <p:tavLst>
                                        <p:tav tm="0">
                                          <p:val>
                                            <p:strVal val="ppt_x"/>
                                          </p:val>
                                        </p:tav>
                                        <p:tav tm="100000">
                                          <p:val>
                                            <p:strVal val="ppt_x"/>
                                          </p:val>
                                        </p:tav>
                                      </p:tavLst>
                                    </p:anim>
                                    <p:anim calcmode="lin" valueType="num">
                                      <p:cBhvr additive="base">
                                        <p:cTn id="32" dur="500" fill="hold"/>
                                        <p:tgtEl>
                                          <p:spTgt spid="7895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8959"/>
                                        </p:tgtEl>
                                        <p:attrNameLst>
                                          <p:attrName>style.visibility</p:attrName>
                                        </p:attrNameLst>
                                      </p:cBhvr>
                                      <p:to>
                                        <p:strVal val="visible"/>
                                      </p:to>
                                    </p:set>
                                    <p:anim calcmode="lin" valueType="num">
                                      <p:cBhvr additive="base">
                                        <p:cTn id="37" dur="500" fill="hold"/>
                                        <p:tgtEl>
                                          <p:spTgt spid="78959"/>
                                        </p:tgtEl>
                                        <p:attrNameLst>
                                          <p:attrName>ppt_x</p:attrName>
                                        </p:attrNameLst>
                                      </p:cBhvr>
                                      <p:tavLst>
                                        <p:tav tm="0">
                                          <p:val>
                                            <p:strVal val="ppt_x"/>
                                          </p:val>
                                        </p:tav>
                                        <p:tav tm="100000">
                                          <p:val>
                                            <p:strVal val="ppt_x"/>
                                          </p:val>
                                        </p:tav>
                                      </p:tavLst>
                                    </p:anim>
                                    <p:anim calcmode="lin" valueType="num">
                                      <p:cBhvr additive="base">
                                        <p:cTn id="38" dur="500" fill="hold"/>
                                        <p:tgtEl>
                                          <p:spTgt spid="7895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8965"/>
                                        </p:tgtEl>
                                        <p:attrNameLst>
                                          <p:attrName>style.visibility</p:attrName>
                                        </p:attrNameLst>
                                      </p:cBhvr>
                                      <p:to>
                                        <p:strVal val="visible"/>
                                      </p:to>
                                    </p:set>
                                    <p:anim calcmode="lin" valueType="num">
                                      <p:cBhvr additive="base">
                                        <p:cTn id="43" dur="500" fill="hold"/>
                                        <p:tgtEl>
                                          <p:spTgt spid="78965"/>
                                        </p:tgtEl>
                                        <p:attrNameLst>
                                          <p:attrName>ppt_x</p:attrName>
                                        </p:attrNameLst>
                                      </p:cBhvr>
                                      <p:tavLst>
                                        <p:tav tm="0">
                                          <p:val>
                                            <p:strVal val="ppt_x"/>
                                          </p:val>
                                        </p:tav>
                                        <p:tav tm="100000">
                                          <p:val>
                                            <p:strVal val="ppt_x"/>
                                          </p:val>
                                        </p:tav>
                                      </p:tavLst>
                                    </p:anim>
                                    <p:anim calcmode="lin" valueType="num">
                                      <p:cBhvr additive="base">
                                        <p:cTn id="44" dur="500" fill="hold"/>
                                        <p:tgtEl>
                                          <p:spTgt spid="7896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8957"/>
                                        </p:tgtEl>
                                        <p:attrNameLst>
                                          <p:attrName>style.visibility</p:attrName>
                                        </p:attrNameLst>
                                      </p:cBhvr>
                                      <p:to>
                                        <p:strVal val="visible"/>
                                      </p:to>
                                    </p:set>
                                    <p:anim calcmode="lin" valueType="num">
                                      <p:cBhvr additive="base">
                                        <p:cTn id="49" dur="500" fill="hold"/>
                                        <p:tgtEl>
                                          <p:spTgt spid="78957"/>
                                        </p:tgtEl>
                                        <p:attrNameLst>
                                          <p:attrName>ppt_x</p:attrName>
                                        </p:attrNameLst>
                                      </p:cBhvr>
                                      <p:tavLst>
                                        <p:tav tm="0">
                                          <p:val>
                                            <p:strVal val="ppt_x"/>
                                          </p:val>
                                        </p:tav>
                                        <p:tav tm="100000">
                                          <p:val>
                                            <p:strVal val="ppt_x"/>
                                          </p:val>
                                        </p:tav>
                                      </p:tavLst>
                                    </p:anim>
                                    <p:anim calcmode="lin" valueType="num">
                                      <p:cBhvr additive="base">
                                        <p:cTn id="50" dur="500" fill="hold"/>
                                        <p:tgtEl>
                                          <p:spTgt spid="7895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78960"/>
                                        </p:tgtEl>
                                        <p:attrNameLst>
                                          <p:attrName>style.visibility</p:attrName>
                                        </p:attrNameLst>
                                      </p:cBhvr>
                                      <p:to>
                                        <p:strVal val="visible"/>
                                      </p:to>
                                    </p:set>
                                    <p:anim calcmode="lin" valueType="num">
                                      <p:cBhvr additive="base">
                                        <p:cTn id="55" dur="500" fill="hold"/>
                                        <p:tgtEl>
                                          <p:spTgt spid="78960"/>
                                        </p:tgtEl>
                                        <p:attrNameLst>
                                          <p:attrName>ppt_x</p:attrName>
                                        </p:attrNameLst>
                                      </p:cBhvr>
                                      <p:tavLst>
                                        <p:tav tm="0">
                                          <p:val>
                                            <p:strVal val="ppt_x"/>
                                          </p:val>
                                        </p:tav>
                                        <p:tav tm="100000">
                                          <p:val>
                                            <p:strVal val="ppt_x"/>
                                          </p:val>
                                        </p:tav>
                                      </p:tavLst>
                                    </p:anim>
                                    <p:anim calcmode="lin" valueType="num">
                                      <p:cBhvr additive="base">
                                        <p:cTn id="56" dur="500" fill="hold"/>
                                        <p:tgtEl>
                                          <p:spTgt spid="7896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78961"/>
                                        </p:tgtEl>
                                        <p:attrNameLst>
                                          <p:attrName>style.visibility</p:attrName>
                                        </p:attrNameLst>
                                      </p:cBhvr>
                                      <p:to>
                                        <p:strVal val="visible"/>
                                      </p:to>
                                    </p:set>
                                    <p:anim calcmode="lin" valueType="num">
                                      <p:cBhvr additive="base">
                                        <p:cTn id="61" dur="500" fill="hold"/>
                                        <p:tgtEl>
                                          <p:spTgt spid="78961"/>
                                        </p:tgtEl>
                                        <p:attrNameLst>
                                          <p:attrName>ppt_x</p:attrName>
                                        </p:attrNameLst>
                                      </p:cBhvr>
                                      <p:tavLst>
                                        <p:tav tm="0">
                                          <p:val>
                                            <p:strVal val="ppt_x"/>
                                          </p:val>
                                        </p:tav>
                                        <p:tav tm="100000">
                                          <p:val>
                                            <p:strVal val="ppt_x"/>
                                          </p:val>
                                        </p:tav>
                                      </p:tavLst>
                                    </p:anim>
                                    <p:anim calcmode="lin" valueType="num">
                                      <p:cBhvr additive="base">
                                        <p:cTn id="62" dur="500" fill="hold"/>
                                        <p:tgtEl>
                                          <p:spTgt spid="7896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78962"/>
                                        </p:tgtEl>
                                        <p:attrNameLst>
                                          <p:attrName>style.visibility</p:attrName>
                                        </p:attrNameLst>
                                      </p:cBhvr>
                                      <p:to>
                                        <p:strVal val="visible"/>
                                      </p:to>
                                    </p:set>
                                    <p:anim calcmode="lin" valueType="num">
                                      <p:cBhvr additive="base">
                                        <p:cTn id="67" dur="500" fill="hold"/>
                                        <p:tgtEl>
                                          <p:spTgt spid="78962"/>
                                        </p:tgtEl>
                                        <p:attrNameLst>
                                          <p:attrName>ppt_x</p:attrName>
                                        </p:attrNameLst>
                                      </p:cBhvr>
                                      <p:tavLst>
                                        <p:tav tm="0">
                                          <p:val>
                                            <p:strVal val="ppt_x"/>
                                          </p:val>
                                        </p:tav>
                                        <p:tav tm="100000">
                                          <p:val>
                                            <p:strVal val="ppt_x"/>
                                          </p:val>
                                        </p:tav>
                                      </p:tavLst>
                                    </p:anim>
                                    <p:anim calcmode="lin" valueType="num">
                                      <p:cBhvr additive="base">
                                        <p:cTn id="68" dur="500" fill="hold"/>
                                        <p:tgtEl>
                                          <p:spTgt spid="78962"/>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78963"/>
                                        </p:tgtEl>
                                        <p:attrNameLst>
                                          <p:attrName>style.visibility</p:attrName>
                                        </p:attrNameLst>
                                      </p:cBhvr>
                                      <p:to>
                                        <p:strVal val="visible"/>
                                      </p:to>
                                    </p:set>
                                    <p:anim calcmode="lin" valueType="num">
                                      <p:cBhvr additive="base">
                                        <p:cTn id="73" dur="500" fill="hold"/>
                                        <p:tgtEl>
                                          <p:spTgt spid="78963"/>
                                        </p:tgtEl>
                                        <p:attrNameLst>
                                          <p:attrName>ppt_x</p:attrName>
                                        </p:attrNameLst>
                                      </p:cBhvr>
                                      <p:tavLst>
                                        <p:tav tm="0">
                                          <p:val>
                                            <p:strVal val="ppt_x"/>
                                          </p:val>
                                        </p:tav>
                                        <p:tav tm="100000">
                                          <p:val>
                                            <p:strVal val="ppt_x"/>
                                          </p:val>
                                        </p:tav>
                                      </p:tavLst>
                                    </p:anim>
                                    <p:anim calcmode="lin" valueType="num">
                                      <p:cBhvr additive="base">
                                        <p:cTn id="74" dur="500" fill="hold"/>
                                        <p:tgtEl>
                                          <p:spTgt spid="78963"/>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78964"/>
                                        </p:tgtEl>
                                        <p:attrNameLst>
                                          <p:attrName>style.visibility</p:attrName>
                                        </p:attrNameLst>
                                      </p:cBhvr>
                                      <p:to>
                                        <p:strVal val="visible"/>
                                      </p:to>
                                    </p:set>
                                    <p:anim calcmode="lin" valueType="num">
                                      <p:cBhvr additive="base">
                                        <p:cTn id="79" dur="500" fill="hold"/>
                                        <p:tgtEl>
                                          <p:spTgt spid="78964"/>
                                        </p:tgtEl>
                                        <p:attrNameLst>
                                          <p:attrName>ppt_x</p:attrName>
                                        </p:attrNameLst>
                                      </p:cBhvr>
                                      <p:tavLst>
                                        <p:tav tm="0">
                                          <p:val>
                                            <p:strVal val="ppt_x"/>
                                          </p:val>
                                        </p:tav>
                                        <p:tav tm="100000">
                                          <p:val>
                                            <p:strVal val="ppt_x"/>
                                          </p:val>
                                        </p:tav>
                                      </p:tavLst>
                                    </p:anim>
                                    <p:anim calcmode="lin" valueType="num">
                                      <p:cBhvr additive="base">
                                        <p:cTn id="80" dur="500" fill="hold"/>
                                        <p:tgtEl>
                                          <p:spTgt spid="78964"/>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78966"/>
                                        </p:tgtEl>
                                        <p:attrNameLst>
                                          <p:attrName>style.visibility</p:attrName>
                                        </p:attrNameLst>
                                      </p:cBhvr>
                                      <p:to>
                                        <p:strVal val="visible"/>
                                      </p:to>
                                    </p:set>
                                    <p:anim calcmode="lin" valueType="num">
                                      <p:cBhvr additive="base">
                                        <p:cTn id="85" dur="500" fill="hold"/>
                                        <p:tgtEl>
                                          <p:spTgt spid="78966"/>
                                        </p:tgtEl>
                                        <p:attrNameLst>
                                          <p:attrName>ppt_x</p:attrName>
                                        </p:attrNameLst>
                                      </p:cBhvr>
                                      <p:tavLst>
                                        <p:tav tm="0">
                                          <p:val>
                                            <p:strVal val="ppt_x"/>
                                          </p:val>
                                        </p:tav>
                                        <p:tav tm="100000">
                                          <p:val>
                                            <p:strVal val="ppt_x"/>
                                          </p:val>
                                        </p:tav>
                                      </p:tavLst>
                                    </p:anim>
                                    <p:anim calcmode="lin" valueType="num">
                                      <p:cBhvr additive="base">
                                        <p:cTn id="86" dur="500" fill="hold"/>
                                        <p:tgtEl>
                                          <p:spTgt spid="78966"/>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78967"/>
                                        </p:tgtEl>
                                        <p:attrNameLst>
                                          <p:attrName>style.visibility</p:attrName>
                                        </p:attrNameLst>
                                      </p:cBhvr>
                                      <p:to>
                                        <p:strVal val="visible"/>
                                      </p:to>
                                    </p:set>
                                    <p:anim calcmode="lin" valueType="num">
                                      <p:cBhvr additive="base">
                                        <p:cTn id="91" dur="500" fill="hold"/>
                                        <p:tgtEl>
                                          <p:spTgt spid="78967"/>
                                        </p:tgtEl>
                                        <p:attrNameLst>
                                          <p:attrName>ppt_x</p:attrName>
                                        </p:attrNameLst>
                                      </p:cBhvr>
                                      <p:tavLst>
                                        <p:tav tm="0">
                                          <p:val>
                                            <p:strVal val="ppt_x"/>
                                          </p:val>
                                        </p:tav>
                                        <p:tav tm="100000">
                                          <p:val>
                                            <p:strVal val="ppt_x"/>
                                          </p:val>
                                        </p:tav>
                                      </p:tavLst>
                                    </p:anim>
                                    <p:anim calcmode="lin" valueType="num">
                                      <p:cBhvr additive="base">
                                        <p:cTn id="92" dur="500" fill="hold"/>
                                        <p:tgtEl>
                                          <p:spTgt spid="789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6" grpId="0" bldLvl="0" animBg="1"/>
      <p:bldP spid="78957" grpId="0" bldLvl="0" animBg="1"/>
      <p:bldP spid="78958" grpId="0" bldLvl="0" animBg="1"/>
      <p:bldP spid="78959" grpId="0" bldLvl="0" animBg="1"/>
      <p:bldP spid="78960" grpId="0" bldLvl="0" animBg="1"/>
      <p:bldP spid="78961" grpId="0" bldLvl="0" animBg="1"/>
      <p:bldP spid="78962" grpId="0" bldLvl="0" animBg="1"/>
      <p:bldP spid="78963" grpId="0" bldLvl="0" animBg="1"/>
      <p:bldP spid="78964" grpId="0" bldLvl="0" animBg="1"/>
      <p:bldP spid="78965" grpId="0" bldLvl="0" animBg="1"/>
      <p:bldP spid="78966" grpId="0" bldLvl="0" animBg="1"/>
      <p:bldP spid="78967" grpId="0" bldLvl="0" animBg="1"/>
      <p:bldP spid="78968" grpId="0" bldLvl="0" animBg="1"/>
      <p:bldP spid="78969" grpId="0" bldLvl="0" animBg="1"/>
      <p:bldP spid="78970"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7" name="Rectangle 5"/>
          <p:cNvSpPr>
            <a:spLocks noChangeArrowheads="1"/>
          </p:cNvSpPr>
          <p:nvPr/>
        </p:nvSpPr>
        <p:spPr bwMode="auto">
          <a:xfrm>
            <a:off x="1651000" y="1557338"/>
            <a:ext cx="8893175" cy="664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000">
                <a:latin typeface="Arial" panose="020B0604020202020204" pitchFamily="34" charset="0"/>
                <a:ea typeface="楷体" panose="02010609060101010101" pitchFamily="49" charset="-122"/>
              </a:rPr>
              <a:t> </a:t>
            </a:r>
            <a:r>
              <a:rPr lang="zh-CN" altLang="zh-CN" sz="2800">
                <a:latin typeface="Arial" panose="020B0604020202020204" pitchFamily="34" charset="0"/>
                <a:ea typeface="楷体" panose="02010609060101010101" pitchFamily="49" charset="-122"/>
              </a:rPr>
              <a:t>例11.   有以下0-1规划</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min z=5x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+3x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+x</a:t>
            </a:r>
            <a:r>
              <a:rPr lang="zh-CN" altLang="zh-CN" sz="2800" baseline="-25000">
                <a:latin typeface="Arial" panose="020B0604020202020204" pitchFamily="34" charset="0"/>
                <a:ea typeface="楷体" panose="02010609060101010101" pitchFamily="49" charset="-122"/>
              </a:rPr>
              <a:t>3</a:t>
            </a:r>
            <a:endParaRPr lang="zh-CN" altLang="zh-CN" sz="2800" baseline="-250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约束条件： 3x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-2x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+5x</a:t>
            </a:r>
            <a:r>
              <a:rPr lang="zh-CN" altLang="zh-CN" sz="2800" baseline="-25000">
                <a:latin typeface="Arial" panose="020B0604020202020204" pitchFamily="34" charset="0"/>
                <a:ea typeface="楷体" panose="02010609060101010101" pitchFamily="49" charset="-122"/>
              </a:rPr>
              <a:t>3</a:t>
            </a:r>
            <a:r>
              <a:rPr lang="zh-CN" altLang="zh-CN" sz="2800">
                <a:latin typeface="Arial" panose="020B0604020202020204" pitchFamily="34" charset="0"/>
                <a:ea typeface="楷体" panose="02010609060101010101" pitchFamily="49" charset="-122"/>
              </a:rPr>
              <a:t>≤6       （1）</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4x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+4x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+3x</a:t>
            </a:r>
            <a:r>
              <a:rPr lang="zh-CN" altLang="zh-CN" sz="2800" baseline="-25000">
                <a:latin typeface="Arial" panose="020B0604020202020204" pitchFamily="34" charset="0"/>
                <a:ea typeface="楷体" panose="02010609060101010101" pitchFamily="49" charset="-122"/>
              </a:rPr>
              <a:t>3</a:t>
            </a:r>
            <a:r>
              <a:rPr lang="zh-CN" altLang="zh-CN" sz="2800">
                <a:latin typeface="Arial" panose="020B0604020202020204" pitchFamily="34" charset="0"/>
                <a:ea typeface="楷体" panose="02010609060101010101" pitchFamily="49" charset="-122"/>
              </a:rPr>
              <a:t>≥3       （2）</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2x</a:t>
            </a:r>
            <a:r>
              <a:rPr lang="zh-CN" altLang="zh-CN" sz="2800" baseline="-25000">
                <a:latin typeface="Arial" panose="020B0604020202020204" pitchFamily="34" charset="0"/>
                <a:ea typeface="楷体" panose="02010609060101010101" pitchFamily="49" charset="-122"/>
              </a:rPr>
              <a:t>1</a:t>
            </a:r>
            <a:r>
              <a:rPr lang="zh-CN" altLang="zh-CN" sz="2800">
                <a:latin typeface="Arial" panose="020B0604020202020204" pitchFamily="34" charset="0"/>
                <a:ea typeface="楷体" panose="02010609060101010101" pitchFamily="49" charset="-122"/>
              </a:rPr>
              <a:t>+x</a:t>
            </a:r>
            <a:r>
              <a:rPr lang="zh-CN" altLang="zh-CN" sz="2800" baseline="-25000">
                <a:latin typeface="Arial" panose="020B0604020202020204" pitchFamily="34" charset="0"/>
                <a:ea typeface="楷体" panose="02010609060101010101" pitchFamily="49" charset="-122"/>
              </a:rPr>
              <a:t>2</a:t>
            </a:r>
            <a:r>
              <a:rPr lang="zh-CN" altLang="zh-CN" sz="2800">
                <a:latin typeface="Arial" panose="020B0604020202020204" pitchFamily="34" charset="0"/>
                <a:ea typeface="楷体" panose="02010609060101010101" pitchFamily="49" charset="-122"/>
              </a:rPr>
              <a:t>+x</a:t>
            </a:r>
            <a:r>
              <a:rPr lang="zh-CN" altLang="zh-CN" sz="2800" baseline="-25000">
                <a:latin typeface="Arial" panose="020B0604020202020204" pitchFamily="34" charset="0"/>
                <a:ea typeface="楷体" panose="02010609060101010101" pitchFamily="49" charset="-122"/>
              </a:rPr>
              <a:t>3</a:t>
            </a:r>
            <a:r>
              <a:rPr lang="zh-CN" altLang="zh-CN" sz="2800">
                <a:latin typeface="Arial" panose="020B0604020202020204" pitchFamily="34" charset="0"/>
                <a:ea typeface="楷体" panose="02010609060101010101" pitchFamily="49" charset="-122"/>
              </a:rPr>
              <a:t>≥2          （3）</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x</a:t>
            </a:r>
            <a:r>
              <a:rPr lang="zh-CN" altLang="zh-CN" sz="2800" baseline="-25000">
                <a:latin typeface="Arial" panose="020B0604020202020204" pitchFamily="34" charset="0"/>
                <a:ea typeface="楷体" panose="02010609060101010101" pitchFamily="49" charset="-122"/>
              </a:rPr>
              <a:t>i</a:t>
            </a:r>
            <a:r>
              <a:rPr lang="zh-CN" altLang="zh-CN" sz="2800">
                <a:latin typeface="Arial" panose="020B0604020202020204" pitchFamily="34" charset="0"/>
                <a:ea typeface="楷体" panose="02010609060101010101" pitchFamily="49" charset="-122"/>
              </a:rPr>
              <a:t>=1或0,i=1,2,3.</a:t>
            </a:r>
            <a:endParaRPr lang="zh-CN" altLang="zh-CN" sz="2800">
              <a:latin typeface="Arial" panose="020B0604020202020204" pitchFamily="34" charset="0"/>
              <a:ea typeface="楷体" panose="02010609060101010101" pitchFamily="49" charset="-122"/>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5" name="Rectangle 5"/>
          <p:cNvSpPr>
            <a:spLocks noChangeArrowheads="1"/>
          </p:cNvSpPr>
          <p:nvPr/>
        </p:nvSpPr>
        <p:spPr bwMode="auto">
          <a:xfrm>
            <a:off x="1651000" y="1557338"/>
            <a:ext cx="8893175" cy="1300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000">
                <a:latin typeface="Arial" panose="020B0604020202020204" pitchFamily="34" charset="0"/>
                <a:ea typeface="楷体" panose="02010609060101010101" pitchFamily="49" charset="-122"/>
              </a:rPr>
              <a:t> </a:t>
            </a:r>
            <a:r>
              <a:rPr lang="zh-CN" altLang="zh-CN" sz="2800">
                <a:latin typeface="Arial" panose="020B0604020202020204" pitchFamily="34" charset="0"/>
                <a:ea typeface="楷体" panose="02010609060101010101" pitchFamily="49" charset="-122"/>
              </a:rPr>
              <a:t>解：</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目标函数的最小值。 </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按照目标函数系数的大小依次递减排列。</a:t>
            </a:r>
            <a:endParaRPr lang="zh-CN" altLang="zh-CN" sz="2800">
              <a:latin typeface="Arial" panose="020B0604020202020204" pitchFamily="34" charset="0"/>
              <a:ea typeface="楷体" panose="02010609060101010101" pitchFamily="49" charset="-122"/>
            </a:endParaRPr>
          </a:p>
        </p:txBody>
      </p:sp>
      <p:sp>
        <p:nvSpPr>
          <p:cNvPr id="148486"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0904" name="Rectangle 8"/>
          <p:cNvSpPr>
            <a:spLocks noChangeArrowheads="1"/>
          </p:cNvSpPr>
          <p:nvPr/>
        </p:nvSpPr>
        <p:spPr bwMode="auto">
          <a:xfrm>
            <a:off x="1595438" y="2786063"/>
            <a:ext cx="8893175"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目标函数下限为z=0</a:t>
            </a:r>
            <a:endParaRPr lang="zh-CN" altLang="zh-CN" sz="2800">
              <a:latin typeface="Arial" panose="020B0604020202020204" pitchFamily="34" charset="0"/>
              <a:ea typeface="楷体" panose="02010609060101010101" pitchFamily="49" charset="-122"/>
            </a:endParaRPr>
          </a:p>
        </p:txBody>
      </p:sp>
      <p:sp>
        <p:nvSpPr>
          <p:cNvPr id="80905" name="Rectangle 9"/>
          <p:cNvSpPr>
            <a:spLocks noChangeArrowheads="1"/>
          </p:cNvSpPr>
          <p:nvPr/>
        </p:nvSpPr>
        <p:spPr bwMode="auto">
          <a:xfrm>
            <a:off x="1595438" y="3500438"/>
            <a:ext cx="8893175"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逐渐增加过滤条件的右边值，只要找到可行解，该解即为最优解。</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904"/>
                                        </p:tgtEl>
                                        <p:attrNameLst>
                                          <p:attrName>style.visibility</p:attrName>
                                        </p:attrNameLst>
                                      </p:cBhvr>
                                      <p:to>
                                        <p:strVal val="visible"/>
                                      </p:to>
                                    </p:set>
                                    <p:anim calcmode="lin" valueType="num">
                                      <p:cBhvr additive="base">
                                        <p:cTn id="7" dur="500" fill="hold"/>
                                        <p:tgtEl>
                                          <p:spTgt spid="80904"/>
                                        </p:tgtEl>
                                        <p:attrNameLst>
                                          <p:attrName>ppt_x</p:attrName>
                                        </p:attrNameLst>
                                      </p:cBhvr>
                                      <p:tavLst>
                                        <p:tav tm="0">
                                          <p:val>
                                            <p:strVal val="ppt_x"/>
                                          </p:val>
                                        </p:tav>
                                        <p:tav tm="100000">
                                          <p:val>
                                            <p:strVal val="ppt_x"/>
                                          </p:val>
                                        </p:tav>
                                      </p:tavLst>
                                    </p:anim>
                                    <p:anim calcmode="lin" valueType="num">
                                      <p:cBhvr additive="base">
                                        <p:cTn id="8" dur="500" fill="hold"/>
                                        <p:tgtEl>
                                          <p:spTgt spid="809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0905"/>
                                        </p:tgtEl>
                                        <p:attrNameLst>
                                          <p:attrName>style.visibility</p:attrName>
                                        </p:attrNameLst>
                                      </p:cBhvr>
                                      <p:to>
                                        <p:strVal val="visible"/>
                                      </p:to>
                                    </p:set>
                                    <p:anim calcmode="lin" valueType="num">
                                      <p:cBhvr additive="base">
                                        <p:cTn id="13" dur="500" fill="hold"/>
                                        <p:tgtEl>
                                          <p:spTgt spid="80905"/>
                                        </p:tgtEl>
                                        <p:attrNameLst>
                                          <p:attrName>ppt_x</p:attrName>
                                        </p:attrNameLst>
                                      </p:cBhvr>
                                      <p:tavLst>
                                        <p:tav tm="0">
                                          <p:val>
                                            <p:strVal val="ppt_x"/>
                                          </p:val>
                                        </p:tav>
                                        <p:tav tm="100000">
                                          <p:val>
                                            <p:strVal val="ppt_x"/>
                                          </p:val>
                                        </p:tav>
                                      </p:tavLst>
                                    </p:anim>
                                    <p:anim calcmode="lin" valueType="num">
                                      <p:cBhvr additive="base">
                                        <p:cTn id="14" dur="500" fill="hold"/>
                                        <p:tgtEl>
                                          <p:spTgt spid="809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4" grpId="0" bldLvl="0" animBg="1"/>
      <p:bldP spid="80905"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3" name="Rectangle 5"/>
          <p:cNvSpPr>
            <a:spLocks noChangeArrowheads="1"/>
          </p:cNvSpPr>
          <p:nvPr/>
        </p:nvSpPr>
        <p:spPr bwMode="auto">
          <a:xfrm>
            <a:off x="1651000" y="1557338"/>
            <a:ext cx="8893175" cy="6646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algn="ct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    </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150534"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81928" name="Group 8"/>
          <p:cNvGraphicFramePr>
            <a:graphicFrameLocks noGrp="1"/>
          </p:cNvGraphicFramePr>
          <p:nvPr/>
        </p:nvGraphicFramePr>
        <p:xfrm>
          <a:off x="1979613" y="2420938"/>
          <a:ext cx="7750175" cy="2673352"/>
        </p:xfrm>
        <a:graphic>
          <a:graphicData uri="http://schemas.openxmlformats.org/drawingml/2006/table">
            <a:tbl>
              <a:tblPr/>
              <a:tblGrid>
                <a:gridCol w="1549400"/>
                <a:gridCol w="787400"/>
                <a:gridCol w="730250"/>
                <a:gridCol w="828675"/>
                <a:gridCol w="800100"/>
                <a:gridCol w="1172845"/>
                <a:gridCol w="1214755"/>
                <a:gridCol w="666750"/>
              </a:tblGrid>
              <a:tr h="40957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解</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4">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约束条件左边值</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是否满足条件</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z值</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509588">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20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1</a:t>
                      </a: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20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2</a:t>
                      </a: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,x</a:t>
                      </a:r>
                      <a:r>
                        <a:rPr kumimoji="0" lang="zh-CN" altLang="zh-CN" sz="2000" b="0" i="0" u="none" strike="noStrike" cap="none" normalizeH="0" baseline="-25000">
                          <a:ln>
                            <a:noFill/>
                          </a:ln>
                          <a:solidFill>
                            <a:schemeClr val="tx1"/>
                          </a:solidFill>
                          <a:effectLst/>
                          <a:latin typeface="Arial" panose="020B0604020202020204" pitchFamily="34" charset="0"/>
                          <a:ea typeface="仿宋" panose="02010609060101010101" pitchFamily="49" charset="-122"/>
                        </a:rPr>
                        <a:t>3</a:t>
                      </a: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(0)</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(3)</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是（√）</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否（×）</a:t>
                      </a: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33388">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36563">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34975">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r h="449263">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lvl1pPr eaLnBrk="0" hangingPunct="0">
                        <a:spcBef>
                          <a:spcPct val="20000"/>
                        </a:spcBef>
                        <a:defRPr sz="2800">
                          <a:solidFill>
                            <a:schemeClr val="tx1"/>
                          </a:solidFill>
                          <a:latin typeface="Calibri" panose="020F0502020204030204" pitchFamily="3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pitchFamily="3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pitchFamily="3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pitchFamily="3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pitchFamily="3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endParaRPr kumimoji="0" lang="zh-CN"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endParaRPr>
                    </a:p>
                  </a:txBody>
                  <a:tcPr marL="68580" marR="68580" marT="0" marB="0"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2062" name="AutoShape 142"/>
          <p:cNvSpPr/>
          <p:nvPr/>
        </p:nvSpPr>
        <p:spPr bwMode="auto">
          <a:xfrm>
            <a:off x="2997200" y="1963738"/>
            <a:ext cx="2120900" cy="365125"/>
          </a:xfrm>
          <a:prstGeom prst="borderCallout1">
            <a:avLst>
              <a:gd name="adj1" fmla="val 45949"/>
              <a:gd name="adj2" fmla="val -736"/>
              <a:gd name="adj3" fmla="val 306718"/>
              <a:gd name="adj4" fmla="val -13926"/>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dirty="0">
                <a:solidFill>
                  <a:schemeClr val="bg1"/>
                </a:solidFill>
                <a:latin typeface="Arial" panose="020B0604020202020204" pitchFamily="34" charset="0"/>
                <a:ea typeface="楷体" panose="02010609060101010101" pitchFamily="49" charset="-122"/>
              </a:rPr>
              <a:t>从最小值点开始取</a:t>
            </a:r>
            <a:endParaRPr lang="zh-CN" altLang="zh-CN" b="1" dirty="0">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dirty="0">
              <a:solidFill>
                <a:schemeClr val="bg1"/>
              </a:solidFill>
            </a:endParaRPr>
          </a:p>
        </p:txBody>
      </p:sp>
      <p:sp>
        <p:nvSpPr>
          <p:cNvPr id="82063" name="AutoShape 143"/>
          <p:cNvSpPr/>
          <p:nvPr/>
        </p:nvSpPr>
        <p:spPr bwMode="auto">
          <a:xfrm>
            <a:off x="5089525" y="5305425"/>
            <a:ext cx="3440113" cy="384175"/>
          </a:xfrm>
          <a:prstGeom prst="borderCallout1">
            <a:avLst>
              <a:gd name="adj1" fmla="val 45949"/>
              <a:gd name="adj2" fmla="val -736"/>
              <a:gd name="adj3" fmla="val -529866"/>
              <a:gd name="adj4" fmla="val -2888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a:solidFill>
                  <a:schemeClr val="bg1"/>
                </a:solidFill>
                <a:latin typeface="Arial" panose="020B0604020202020204" pitchFamily="34" charset="0"/>
                <a:ea typeface="楷体" panose="02010609060101010101" pitchFamily="49" charset="-122"/>
              </a:rPr>
              <a:t>5x</a:t>
            </a:r>
            <a:r>
              <a:rPr lang="zh-CN" altLang="zh-CN" b="1" baseline="-25000">
                <a:solidFill>
                  <a:schemeClr val="bg1"/>
                </a:solidFill>
                <a:latin typeface="Arial" panose="020B0604020202020204" pitchFamily="34" charset="0"/>
                <a:ea typeface="楷体" panose="02010609060101010101" pitchFamily="49" charset="-122"/>
              </a:rPr>
              <a:t>1</a:t>
            </a:r>
            <a:r>
              <a:rPr lang="zh-CN" altLang="zh-CN" b="1">
                <a:solidFill>
                  <a:schemeClr val="bg1"/>
                </a:solidFill>
                <a:latin typeface="Arial" panose="020B0604020202020204" pitchFamily="34" charset="0"/>
                <a:ea typeface="楷体" panose="02010609060101010101" pitchFamily="49" charset="-122"/>
              </a:rPr>
              <a:t>+3x</a:t>
            </a:r>
            <a:r>
              <a:rPr lang="zh-CN" altLang="zh-CN" b="1" baseline="-25000">
                <a:solidFill>
                  <a:schemeClr val="bg1"/>
                </a:solidFill>
                <a:latin typeface="Arial" panose="020B0604020202020204" pitchFamily="34" charset="0"/>
                <a:ea typeface="楷体" panose="02010609060101010101" pitchFamily="49" charset="-122"/>
              </a:rPr>
              <a:t>2</a:t>
            </a:r>
            <a:r>
              <a:rPr lang="zh-CN" altLang="zh-CN" b="1">
                <a:solidFill>
                  <a:schemeClr val="bg1"/>
                </a:solidFill>
                <a:latin typeface="Arial" panose="020B0604020202020204" pitchFamily="34" charset="0"/>
                <a:ea typeface="楷体" panose="02010609060101010101" pitchFamily="49" charset="-122"/>
              </a:rPr>
              <a:t>+x</a:t>
            </a:r>
            <a:r>
              <a:rPr lang="zh-CN" altLang="zh-CN" b="1" baseline="-25000">
                <a:solidFill>
                  <a:schemeClr val="bg1"/>
                </a:solidFill>
                <a:latin typeface="Arial" panose="020B0604020202020204" pitchFamily="34" charset="0"/>
                <a:ea typeface="楷体" panose="02010609060101010101" pitchFamily="49" charset="-122"/>
              </a:rPr>
              <a:t>3 </a:t>
            </a:r>
            <a:r>
              <a:rPr lang="zh-CN" altLang="zh-CN" b="1">
                <a:solidFill>
                  <a:schemeClr val="bg1"/>
                </a:solidFill>
                <a:latin typeface="Arial" panose="020B0604020202020204" pitchFamily="34" charset="0"/>
                <a:ea typeface="楷体" panose="02010609060101010101" pitchFamily="49" charset="-122"/>
              </a:rPr>
              <a:t>≥0 （0）(过滤条件)</a:t>
            </a:r>
            <a:endParaRPr lang="zh-CN" altLang="zh-CN" b="1">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a:solidFill>
                <a:schemeClr val="bg1"/>
              </a:solidFill>
            </a:endParaRPr>
          </a:p>
        </p:txBody>
      </p:sp>
      <p:sp>
        <p:nvSpPr>
          <p:cNvPr id="82064" name="AutoShape 144"/>
          <p:cNvSpPr/>
          <p:nvPr/>
        </p:nvSpPr>
        <p:spPr bwMode="auto">
          <a:xfrm>
            <a:off x="5803900" y="5795963"/>
            <a:ext cx="2725738" cy="384175"/>
          </a:xfrm>
          <a:prstGeom prst="borderCallout1">
            <a:avLst>
              <a:gd name="adj1" fmla="val 45949"/>
              <a:gd name="adj2" fmla="val -736"/>
              <a:gd name="adj3" fmla="val -696477"/>
              <a:gd name="adj4" fmla="val -3845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a:solidFill>
                  <a:schemeClr val="bg1"/>
                </a:solidFill>
                <a:latin typeface="Arial" panose="020B0604020202020204" pitchFamily="34" charset="0"/>
                <a:ea typeface="楷体" panose="02010609060101010101" pitchFamily="49" charset="-122"/>
              </a:rPr>
              <a:t>3x</a:t>
            </a:r>
            <a:r>
              <a:rPr lang="zh-CN" altLang="zh-CN" b="1" baseline="-25000">
                <a:solidFill>
                  <a:schemeClr val="bg1"/>
                </a:solidFill>
                <a:latin typeface="Arial" panose="020B0604020202020204" pitchFamily="34" charset="0"/>
                <a:ea typeface="楷体" panose="02010609060101010101" pitchFamily="49" charset="-122"/>
              </a:rPr>
              <a:t>1</a:t>
            </a:r>
            <a:r>
              <a:rPr lang="zh-CN" altLang="zh-CN" b="1">
                <a:solidFill>
                  <a:schemeClr val="bg1"/>
                </a:solidFill>
                <a:latin typeface="Arial" panose="020B0604020202020204" pitchFamily="34" charset="0"/>
                <a:ea typeface="楷体" panose="02010609060101010101" pitchFamily="49" charset="-122"/>
              </a:rPr>
              <a:t>-2x</a:t>
            </a:r>
            <a:r>
              <a:rPr lang="zh-CN" altLang="zh-CN" b="1" baseline="-25000">
                <a:solidFill>
                  <a:schemeClr val="bg1"/>
                </a:solidFill>
                <a:latin typeface="Arial" panose="020B0604020202020204" pitchFamily="34" charset="0"/>
                <a:ea typeface="楷体" panose="02010609060101010101" pitchFamily="49" charset="-122"/>
              </a:rPr>
              <a:t>2</a:t>
            </a:r>
            <a:r>
              <a:rPr lang="zh-CN" altLang="zh-CN" b="1">
                <a:solidFill>
                  <a:schemeClr val="bg1"/>
                </a:solidFill>
                <a:latin typeface="Arial" panose="020B0604020202020204" pitchFamily="34" charset="0"/>
                <a:ea typeface="楷体" panose="02010609060101010101" pitchFamily="49" charset="-122"/>
              </a:rPr>
              <a:t>+5x</a:t>
            </a:r>
            <a:r>
              <a:rPr lang="zh-CN" altLang="zh-CN" b="1" baseline="-25000">
                <a:solidFill>
                  <a:schemeClr val="bg1"/>
                </a:solidFill>
                <a:latin typeface="Arial" panose="020B0604020202020204" pitchFamily="34" charset="0"/>
                <a:ea typeface="楷体" panose="02010609060101010101" pitchFamily="49" charset="-122"/>
              </a:rPr>
              <a:t>3</a:t>
            </a:r>
            <a:r>
              <a:rPr lang="zh-CN" altLang="zh-CN" b="1">
                <a:solidFill>
                  <a:schemeClr val="bg1"/>
                </a:solidFill>
                <a:latin typeface="Arial" panose="020B0604020202020204" pitchFamily="34" charset="0"/>
                <a:ea typeface="楷体" panose="02010609060101010101" pitchFamily="49" charset="-122"/>
              </a:rPr>
              <a:t>≤6       （1）</a:t>
            </a:r>
            <a:endParaRPr lang="zh-CN" altLang="zh-CN" b="1">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a:solidFill>
                <a:schemeClr val="bg1"/>
              </a:solidFill>
            </a:endParaRPr>
          </a:p>
        </p:txBody>
      </p:sp>
      <p:sp>
        <p:nvSpPr>
          <p:cNvPr id="82065" name="AutoShape 145"/>
          <p:cNvSpPr/>
          <p:nvPr/>
        </p:nvSpPr>
        <p:spPr bwMode="auto">
          <a:xfrm>
            <a:off x="6289675" y="6251575"/>
            <a:ext cx="2686050" cy="384175"/>
          </a:xfrm>
          <a:prstGeom prst="borderCallout1">
            <a:avLst>
              <a:gd name="adj1" fmla="val 45949"/>
              <a:gd name="adj2" fmla="val -736"/>
              <a:gd name="adj3" fmla="val -812088"/>
              <a:gd name="adj4" fmla="val -27935"/>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a:solidFill>
                  <a:schemeClr val="bg1"/>
                </a:solidFill>
                <a:latin typeface="Arial" panose="020B0604020202020204" pitchFamily="34" charset="0"/>
                <a:ea typeface="楷体" panose="02010609060101010101" pitchFamily="49" charset="-122"/>
              </a:rPr>
              <a:t>4x</a:t>
            </a:r>
            <a:r>
              <a:rPr lang="zh-CN" altLang="zh-CN" b="1" baseline="-25000">
                <a:solidFill>
                  <a:schemeClr val="bg1"/>
                </a:solidFill>
                <a:latin typeface="Arial" panose="020B0604020202020204" pitchFamily="34" charset="0"/>
                <a:ea typeface="楷体" panose="02010609060101010101" pitchFamily="49" charset="-122"/>
              </a:rPr>
              <a:t>1</a:t>
            </a:r>
            <a:r>
              <a:rPr lang="zh-CN" altLang="zh-CN" b="1">
                <a:solidFill>
                  <a:schemeClr val="bg1"/>
                </a:solidFill>
                <a:latin typeface="Arial" panose="020B0604020202020204" pitchFamily="34" charset="0"/>
                <a:ea typeface="楷体" panose="02010609060101010101" pitchFamily="49" charset="-122"/>
              </a:rPr>
              <a:t>+4x</a:t>
            </a:r>
            <a:r>
              <a:rPr lang="zh-CN" altLang="zh-CN" b="1" baseline="-25000">
                <a:solidFill>
                  <a:schemeClr val="bg1"/>
                </a:solidFill>
                <a:latin typeface="Arial" panose="020B0604020202020204" pitchFamily="34" charset="0"/>
                <a:ea typeface="楷体" panose="02010609060101010101" pitchFamily="49" charset="-122"/>
              </a:rPr>
              <a:t>2</a:t>
            </a:r>
            <a:r>
              <a:rPr lang="zh-CN" altLang="zh-CN" b="1">
                <a:solidFill>
                  <a:schemeClr val="bg1"/>
                </a:solidFill>
                <a:latin typeface="Arial" panose="020B0604020202020204" pitchFamily="34" charset="0"/>
                <a:ea typeface="楷体" panose="02010609060101010101" pitchFamily="49" charset="-122"/>
              </a:rPr>
              <a:t>+3x</a:t>
            </a:r>
            <a:r>
              <a:rPr lang="zh-CN" altLang="zh-CN" b="1" baseline="-25000">
                <a:solidFill>
                  <a:schemeClr val="bg1"/>
                </a:solidFill>
                <a:latin typeface="Arial" panose="020B0604020202020204" pitchFamily="34" charset="0"/>
                <a:ea typeface="楷体" panose="02010609060101010101" pitchFamily="49" charset="-122"/>
              </a:rPr>
              <a:t>3</a:t>
            </a:r>
            <a:r>
              <a:rPr lang="zh-CN" altLang="zh-CN" b="1">
                <a:solidFill>
                  <a:schemeClr val="bg1"/>
                </a:solidFill>
                <a:latin typeface="Arial" panose="020B0604020202020204" pitchFamily="34" charset="0"/>
                <a:ea typeface="楷体" panose="02010609060101010101" pitchFamily="49" charset="-122"/>
              </a:rPr>
              <a:t>≥3       （2）</a:t>
            </a:r>
            <a:endParaRPr lang="zh-CN" altLang="zh-CN" b="1">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a:solidFill>
                <a:schemeClr val="bg1"/>
              </a:solidFill>
            </a:endParaRPr>
          </a:p>
        </p:txBody>
      </p:sp>
      <p:sp>
        <p:nvSpPr>
          <p:cNvPr id="82066" name="AutoShape 146"/>
          <p:cNvSpPr/>
          <p:nvPr/>
        </p:nvSpPr>
        <p:spPr bwMode="auto">
          <a:xfrm>
            <a:off x="6416675" y="1944688"/>
            <a:ext cx="2559050" cy="384175"/>
          </a:xfrm>
          <a:prstGeom prst="borderCallout1">
            <a:avLst>
              <a:gd name="adj1" fmla="val 45949"/>
              <a:gd name="adj2" fmla="val -736"/>
              <a:gd name="adj3" fmla="val 245384"/>
              <a:gd name="adj4" fmla="val -8009"/>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b="1">
                <a:solidFill>
                  <a:schemeClr val="bg1"/>
                </a:solidFill>
                <a:latin typeface="Arial" panose="020B0604020202020204" pitchFamily="34" charset="0"/>
                <a:ea typeface="楷体" panose="02010609060101010101" pitchFamily="49" charset="-122"/>
              </a:rPr>
              <a:t>2x</a:t>
            </a:r>
            <a:r>
              <a:rPr lang="zh-CN" altLang="zh-CN" b="1" baseline="-25000">
                <a:solidFill>
                  <a:schemeClr val="bg1"/>
                </a:solidFill>
                <a:latin typeface="Arial" panose="020B0604020202020204" pitchFamily="34" charset="0"/>
                <a:ea typeface="楷体" panose="02010609060101010101" pitchFamily="49" charset="-122"/>
              </a:rPr>
              <a:t>1</a:t>
            </a:r>
            <a:r>
              <a:rPr lang="zh-CN" altLang="zh-CN" b="1">
                <a:solidFill>
                  <a:schemeClr val="bg1"/>
                </a:solidFill>
                <a:latin typeface="Arial" panose="020B0604020202020204" pitchFamily="34" charset="0"/>
                <a:ea typeface="楷体" panose="02010609060101010101" pitchFamily="49" charset="-122"/>
              </a:rPr>
              <a:t>+x</a:t>
            </a:r>
            <a:r>
              <a:rPr lang="zh-CN" altLang="zh-CN" b="1" baseline="-25000">
                <a:solidFill>
                  <a:schemeClr val="bg1"/>
                </a:solidFill>
                <a:latin typeface="Arial" panose="020B0604020202020204" pitchFamily="34" charset="0"/>
                <a:ea typeface="楷体" panose="02010609060101010101" pitchFamily="49" charset="-122"/>
              </a:rPr>
              <a:t>2</a:t>
            </a:r>
            <a:r>
              <a:rPr lang="zh-CN" altLang="zh-CN" b="1">
                <a:solidFill>
                  <a:schemeClr val="bg1"/>
                </a:solidFill>
                <a:latin typeface="Arial" panose="020B0604020202020204" pitchFamily="34" charset="0"/>
                <a:ea typeface="楷体" panose="02010609060101010101" pitchFamily="49" charset="-122"/>
              </a:rPr>
              <a:t>+x</a:t>
            </a:r>
            <a:r>
              <a:rPr lang="zh-CN" altLang="zh-CN" b="1" baseline="-25000">
                <a:solidFill>
                  <a:schemeClr val="bg1"/>
                </a:solidFill>
                <a:latin typeface="Arial" panose="020B0604020202020204" pitchFamily="34" charset="0"/>
                <a:ea typeface="楷体" panose="02010609060101010101" pitchFamily="49" charset="-122"/>
              </a:rPr>
              <a:t>3</a:t>
            </a:r>
            <a:r>
              <a:rPr lang="zh-CN" altLang="zh-CN" b="1">
                <a:solidFill>
                  <a:schemeClr val="bg1"/>
                </a:solidFill>
                <a:latin typeface="Arial" panose="020B0604020202020204" pitchFamily="34" charset="0"/>
                <a:ea typeface="楷体" panose="02010609060101010101" pitchFamily="49" charset="-122"/>
              </a:rPr>
              <a:t>≥2          （3）</a:t>
            </a:r>
            <a:endParaRPr lang="zh-CN" altLang="zh-CN" b="1">
              <a:solidFill>
                <a:schemeClr val="bg1"/>
              </a:solidFill>
              <a:latin typeface="Arial" panose="020B0604020202020204" pitchFamily="34" charset="0"/>
              <a:ea typeface="楷体" panose="02010609060101010101" pitchFamily="49" charset="-122"/>
            </a:endParaRPr>
          </a:p>
          <a:p>
            <a:pPr eaLnBrk="1" hangingPunct="1">
              <a:buClr>
                <a:srgbClr val="000000"/>
              </a:buClr>
              <a:buSzPct val="100000"/>
            </a:pPr>
            <a:endParaRPr lang="zh-CN" altLang="zh-CN" b="1">
              <a:solidFill>
                <a:schemeClr val="bg1"/>
              </a:solidFill>
            </a:endParaRPr>
          </a:p>
        </p:txBody>
      </p:sp>
      <p:sp>
        <p:nvSpPr>
          <p:cNvPr id="82067" name="Rectangle 147"/>
          <p:cNvSpPr>
            <a:spLocks noChangeArrowheads="1"/>
          </p:cNvSpPr>
          <p:nvPr/>
        </p:nvSpPr>
        <p:spPr bwMode="auto">
          <a:xfrm>
            <a:off x="1992313" y="3389313"/>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（0，0，0）</a:t>
            </a:r>
            <a:endParaRPr lang="zh-CN" altLang="zh-CN">
              <a:latin typeface="Arial" panose="020B0604020202020204" pitchFamily="34" charset="0"/>
              <a:ea typeface="仿宋" panose="02010609060101010101" pitchFamily="49" charset="-122"/>
            </a:endParaRPr>
          </a:p>
        </p:txBody>
      </p:sp>
      <p:sp>
        <p:nvSpPr>
          <p:cNvPr id="82068" name="Rectangle 148"/>
          <p:cNvSpPr>
            <a:spLocks noChangeArrowheads="1"/>
          </p:cNvSpPr>
          <p:nvPr/>
        </p:nvSpPr>
        <p:spPr bwMode="auto">
          <a:xfrm>
            <a:off x="1992313" y="3792538"/>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（0，0，1）</a:t>
            </a:r>
            <a:endParaRPr lang="zh-CN" altLang="zh-CN">
              <a:latin typeface="Arial" panose="020B0604020202020204" pitchFamily="34" charset="0"/>
              <a:ea typeface="仿宋" panose="02010609060101010101" pitchFamily="49" charset="-122"/>
            </a:endParaRPr>
          </a:p>
        </p:txBody>
      </p:sp>
      <p:sp>
        <p:nvSpPr>
          <p:cNvPr id="82069" name="Rectangle 149"/>
          <p:cNvSpPr>
            <a:spLocks noChangeArrowheads="1"/>
          </p:cNvSpPr>
          <p:nvPr/>
        </p:nvSpPr>
        <p:spPr bwMode="auto">
          <a:xfrm>
            <a:off x="1992313" y="4268788"/>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（0，1，0）</a:t>
            </a:r>
            <a:endParaRPr lang="zh-CN" altLang="zh-CN">
              <a:latin typeface="Arial" panose="020B0604020202020204" pitchFamily="34" charset="0"/>
              <a:ea typeface="仿宋" panose="02010609060101010101" pitchFamily="49" charset="-122"/>
            </a:endParaRPr>
          </a:p>
        </p:txBody>
      </p:sp>
      <p:sp>
        <p:nvSpPr>
          <p:cNvPr id="82070" name="Rectangle 150"/>
          <p:cNvSpPr>
            <a:spLocks noChangeArrowheads="1"/>
          </p:cNvSpPr>
          <p:nvPr/>
        </p:nvSpPr>
        <p:spPr bwMode="auto">
          <a:xfrm>
            <a:off x="1920875" y="4727575"/>
            <a:ext cx="14782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（0，1，1）</a:t>
            </a:r>
            <a:endParaRPr lang="zh-CN" altLang="zh-CN">
              <a:latin typeface="Arial" panose="020B0604020202020204" pitchFamily="34" charset="0"/>
              <a:ea typeface="仿宋" panose="02010609060101010101" pitchFamily="49" charset="-122"/>
            </a:endParaRPr>
          </a:p>
        </p:txBody>
      </p:sp>
      <p:sp>
        <p:nvSpPr>
          <p:cNvPr id="82071" name="Rectangle 151"/>
          <p:cNvSpPr>
            <a:spLocks noChangeArrowheads="1"/>
          </p:cNvSpPr>
          <p:nvPr/>
        </p:nvSpPr>
        <p:spPr bwMode="auto">
          <a:xfrm>
            <a:off x="3828891" y="338931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a:t>
            </a:r>
            <a:endParaRPr lang="zh-CN" altLang="zh-CN">
              <a:latin typeface="Arial" panose="020B0604020202020204" pitchFamily="34" charset="0"/>
              <a:ea typeface="仿宋" panose="02010609060101010101" pitchFamily="49" charset="-122"/>
            </a:endParaRPr>
          </a:p>
        </p:txBody>
      </p:sp>
      <p:sp>
        <p:nvSpPr>
          <p:cNvPr id="82072" name="Rectangle 152"/>
          <p:cNvSpPr>
            <a:spLocks noChangeArrowheads="1"/>
          </p:cNvSpPr>
          <p:nvPr/>
        </p:nvSpPr>
        <p:spPr bwMode="auto">
          <a:xfrm>
            <a:off x="4482942" y="3403600"/>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a:t>
            </a:r>
            <a:endParaRPr lang="zh-CN" altLang="zh-CN">
              <a:latin typeface="Arial" panose="020B0604020202020204" pitchFamily="34" charset="0"/>
              <a:ea typeface="仿宋" panose="02010609060101010101" pitchFamily="49" charset="-122"/>
            </a:endParaRPr>
          </a:p>
        </p:txBody>
      </p:sp>
      <p:sp>
        <p:nvSpPr>
          <p:cNvPr id="82073" name="Rectangle 153"/>
          <p:cNvSpPr>
            <a:spLocks noChangeArrowheads="1"/>
          </p:cNvSpPr>
          <p:nvPr/>
        </p:nvSpPr>
        <p:spPr bwMode="auto">
          <a:xfrm>
            <a:off x="5313204" y="338931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0</a:t>
            </a:r>
            <a:endParaRPr lang="zh-CN" altLang="zh-CN">
              <a:latin typeface="Arial" panose="020B0604020202020204" pitchFamily="34" charset="0"/>
              <a:ea typeface="仿宋" panose="02010609060101010101" pitchFamily="49" charset="-122"/>
            </a:endParaRPr>
          </a:p>
        </p:txBody>
      </p:sp>
      <p:sp>
        <p:nvSpPr>
          <p:cNvPr id="82074" name="Rectangle 154"/>
          <p:cNvSpPr>
            <a:spLocks noChangeArrowheads="1"/>
          </p:cNvSpPr>
          <p:nvPr/>
        </p:nvSpPr>
        <p:spPr bwMode="auto">
          <a:xfrm>
            <a:off x="3828891" y="383381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a:t>
            </a:r>
            <a:endParaRPr lang="zh-CN" altLang="zh-CN">
              <a:latin typeface="Arial" panose="020B0604020202020204" pitchFamily="34" charset="0"/>
              <a:ea typeface="仿宋" panose="02010609060101010101" pitchFamily="49" charset="-122"/>
            </a:endParaRPr>
          </a:p>
        </p:txBody>
      </p:sp>
      <p:sp>
        <p:nvSpPr>
          <p:cNvPr id="82075" name="Rectangle 155"/>
          <p:cNvSpPr>
            <a:spLocks noChangeArrowheads="1"/>
          </p:cNvSpPr>
          <p:nvPr/>
        </p:nvSpPr>
        <p:spPr bwMode="auto">
          <a:xfrm>
            <a:off x="4482942" y="383381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5</a:t>
            </a:r>
            <a:endParaRPr lang="zh-CN" altLang="zh-CN">
              <a:latin typeface="Arial" panose="020B0604020202020204" pitchFamily="34" charset="0"/>
              <a:ea typeface="仿宋" panose="02010609060101010101" pitchFamily="49" charset="-122"/>
            </a:endParaRPr>
          </a:p>
        </p:txBody>
      </p:sp>
      <p:sp>
        <p:nvSpPr>
          <p:cNvPr id="82076" name="Rectangle 156"/>
          <p:cNvSpPr>
            <a:spLocks noChangeArrowheads="1"/>
          </p:cNvSpPr>
          <p:nvPr/>
        </p:nvSpPr>
        <p:spPr bwMode="auto">
          <a:xfrm>
            <a:off x="5313204" y="385127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3</a:t>
            </a:r>
            <a:endParaRPr lang="zh-CN" altLang="zh-CN">
              <a:latin typeface="Arial" panose="020B0604020202020204" pitchFamily="34" charset="0"/>
              <a:ea typeface="仿宋" panose="02010609060101010101" pitchFamily="49" charset="-122"/>
            </a:endParaRPr>
          </a:p>
        </p:txBody>
      </p:sp>
      <p:sp>
        <p:nvSpPr>
          <p:cNvPr id="82077" name="Rectangle 157"/>
          <p:cNvSpPr>
            <a:spLocks noChangeArrowheads="1"/>
          </p:cNvSpPr>
          <p:nvPr/>
        </p:nvSpPr>
        <p:spPr bwMode="auto">
          <a:xfrm>
            <a:off x="6108542" y="3841750"/>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a:t>
            </a:r>
            <a:endParaRPr lang="zh-CN" altLang="zh-CN">
              <a:latin typeface="Arial" panose="020B0604020202020204" pitchFamily="34" charset="0"/>
              <a:ea typeface="仿宋" panose="02010609060101010101" pitchFamily="49" charset="-122"/>
            </a:endParaRPr>
          </a:p>
        </p:txBody>
      </p:sp>
      <p:sp>
        <p:nvSpPr>
          <p:cNvPr id="82078" name="Rectangle 158"/>
          <p:cNvSpPr>
            <a:spLocks noChangeArrowheads="1"/>
          </p:cNvSpPr>
          <p:nvPr/>
        </p:nvSpPr>
        <p:spPr bwMode="auto">
          <a:xfrm>
            <a:off x="3828891" y="4292600"/>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3</a:t>
            </a:r>
            <a:endParaRPr lang="zh-CN" altLang="zh-CN">
              <a:latin typeface="Arial" panose="020B0604020202020204" pitchFamily="34" charset="0"/>
              <a:ea typeface="仿宋" panose="02010609060101010101" pitchFamily="49" charset="-122"/>
            </a:endParaRPr>
          </a:p>
        </p:txBody>
      </p:sp>
      <p:sp>
        <p:nvSpPr>
          <p:cNvPr id="82079" name="Rectangle 159"/>
          <p:cNvSpPr>
            <a:spLocks noChangeArrowheads="1"/>
          </p:cNvSpPr>
          <p:nvPr/>
        </p:nvSpPr>
        <p:spPr bwMode="auto">
          <a:xfrm>
            <a:off x="4444842" y="4265613"/>
            <a:ext cx="3860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-2</a:t>
            </a:r>
            <a:endParaRPr lang="zh-CN" altLang="zh-CN">
              <a:latin typeface="Arial" panose="020B0604020202020204" pitchFamily="34" charset="0"/>
              <a:ea typeface="仿宋" panose="02010609060101010101" pitchFamily="49" charset="-122"/>
            </a:endParaRPr>
          </a:p>
        </p:txBody>
      </p:sp>
      <p:sp>
        <p:nvSpPr>
          <p:cNvPr id="82080" name="Rectangle 160"/>
          <p:cNvSpPr>
            <a:spLocks noChangeArrowheads="1"/>
          </p:cNvSpPr>
          <p:nvPr/>
        </p:nvSpPr>
        <p:spPr bwMode="auto">
          <a:xfrm>
            <a:off x="5313204" y="4292600"/>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4</a:t>
            </a:r>
            <a:endParaRPr lang="zh-CN" altLang="zh-CN">
              <a:latin typeface="Arial" panose="020B0604020202020204" pitchFamily="34" charset="0"/>
              <a:ea typeface="仿宋" panose="02010609060101010101" pitchFamily="49" charset="-122"/>
            </a:endParaRPr>
          </a:p>
        </p:txBody>
      </p:sp>
      <p:sp>
        <p:nvSpPr>
          <p:cNvPr id="82081" name="Rectangle 161"/>
          <p:cNvSpPr>
            <a:spLocks noChangeArrowheads="1"/>
          </p:cNvSpPr>
          <p:nvPr/>
        </p:nvSpPr>
        <p:spPr bwMode="auto">
          <a:xfrm>
            <a:off x="6102192" y="4292600"/>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1</a:t>
            </a:r>
            <a:endParaRPr lang="zh-CN" altLang="zh-CN">
              <a:latin typeface="Arial" panose="020B0604020202020204" pitchFamily="34" charset="0"/>
              <a:ea typeface="仿宋" panose="02010609060101010101" pitchFamily="49" charset="-122"/>
            </a:endParaRPr>
          </a:p>
        </p:txBody>
      </p:sp>
      <p:sp>
        <p:nvSpPr>
          <p:cNvPr id="82082" name="Rectangle 162"/>
          <p:cNvSpPr>
            <a:spLocks noChangeArrowheads="1"/>
          </p:cNvSpPr>
          <p:nvPr/>
        </p:nvSpPr>
        <p:spPr bwMode="auto">
          <a:xfrm>
            <a:off x="3816191" y="4713288"/>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4</a:t>
            </a:r>
            <a:endParaRPr lang="zh-CN" altLang="zh-CN">
              <a:latin typeface="Arial" panose="020B0604020202020204" pitchFamily="34" charset="0"/>
              <a:ea typeface="仿宋" panose="02010609060101010101" pitchFamily="49" charset="-122"/>
            </a:endParaRPr>
          </a:p>
        </p:txBody>
      </p:sp>
      <p:sp>
        <p:nvSpPr>
          <p:cNvPr id="82083" name="Rectangle 163"/>
          <p:cNvSpPr>
            <a:spLocks noChangeArrowheads="1"/>
          </p:cNvSpPr>
          <p:nvPr/>
        </p:nvSpPr>
        <p:spPr bwMode="auto">
          <a:xfrm>
            <a:off x="4509929" y="4695825"/>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3</a:t>
            </a:r>
            <a:endParaRPr lang="zh-CN" altLang="zh-CN">
              <a:latin typeface="Arial" panose="020B0604020202020204" pitchFamily="34" charset="0"/>
              <a:ea typeface="仿宋" panose="02010609060101010101" pitchFamily="49" charset="-122"/>
            </a:endParaRPr>
          </a:p>
        </p:txBody>
      </p:sp>
      <p:sp>
        <p:nvSpPr>
          <p:cNvPr id="82084" name="Rectangle 164"/>
          <p:cNvSpPr>
            <a:spLocks noChangeArrowheads="1"/>
          </p:cNvSpPr>
          <p:nvPr/>
        </p:nvSpPr>
        <p:spPr bwMode="auto">
          <a:xfrm>
            <a:off x="5327492" y="470376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7</a:t>
            </a:r>
            <a:endParaRPr lang="zh-CN" altLang="zh-CN">
              <a:latin typeface="Arial" panose="020B0604020202020204" pitchFamily="34" charset="0"/>
              <a:ea typeface="仿宋" panose="02010609060101010101" pitchFamily="49" charset="-122"/>
            </a:endParaRPr>
          </a:p>
        </p:txBody>
      </p:sp>
      <p:sp>
        <p:nvSpPr>
          <p:cNvPr id="82085" name="Rectangle 165"/>
          <p:cNvSpPr>
            <a:spLocks noChangeArrowheads="1"/>
          </p:cNvSpPr>
          <p:nvPr/>
        </p:nvSpPr>
        <p:spPr bwMode="auto">
          <a:xfrm>
            <a:off x="6113304" y="4732338"/>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2</a:t>
            </a:r>
            <a:endParaRPr lang="zh-CN" altLang="zh-CN">
              <a:latin typeface="Arial" panose="020B0604020202020204" pitchFamily="34" charset="0"/>
              <a:ea typeface="仿宋" panose="02010609060101010101" pitchFamily="49" charset="-122"/>
            </a:endParaRPr>
          </a:p>
        </p:txBody>
      </p:sp>
      <p:sp>
        <p:nvSpPr>
          <p:cNvPr id="82086" name="Rectangle 166"/>
          <p:cNvSpPr>
            <a:spLocks noChangeArrowheads="1"/>
          </p:cNvSpPr>
          <p:nvPr/>
        </p:nvSpPr>
        <p:spPr bwMode="auto">
          <a:xfrm>
            <a:off x="7629367" y="3346450"/>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82087" name="Rectangle 167"/>
          <p:cNvSpPr>
            <a:spLocks noChangeArrowheads="1"/>
          </p:cNvSpPr>
          <p:nvPr/>
        </p:nvSpPr>
        <p:spPr bwMode="auto">
          <a:xfrm>
            <a:off x="7629367" y="3792538"/>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82088" name="Rectangle 168"/>
          <p:cNvSpPr>
            <a:spLocks noChangeArrowheads="1"/>
          </p:cNvSpPr>
          <p:nvPr/>
        </p:nvSpPr>
        <p:spPr bwMode="auto">
          <a:xfrm>
            <a:off x="7629367" y="4278313"/>
            <a:ext cx="4114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82089" name="Rectangle 169"/>
          <p:cNvSpPr>
            <a:spLocks noChangeArrowheads="1"/>
          </p:cNvSpPr>
          <p:nvPr/>
        </p:nvSpPr>
        <p:spPr bwMode="auto">
          <a:xfrm>
            <a:off x="7692708" y="4757738"/>
            <a:ext cx="30861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a:t>
            </a:r>
            <a:endParaRPr lang="zh-CN" altLang="zh-CN">
              <a:latin typeface="Arial" panose="020B0604020202020204" pitchFamily="34" charset="0"/>
              <a:ea typeface="仿宋" panose="02010609060101010101" pitchFamily="49" charset="-122"/>
            </a:endParaRPr>
          </a:p>
        </p:txBody>
      </p:sp>
      <p:sp>
        <p:nvSpPr>
          <p:cNvPr id="82090" name="Rectangle 170"/>
          <p:cNvSpPr>
            <a:spLocks noChangeArrowheads="1"/>
          </p:cNvSpPr>
          <p:nvPr/>
        </p:nvSpPr>
        <p:spPr bwMode="auto">
          <a:xfrm>
            <a:off x="9248617" y="4703763"/>
            <a:ext cx="30988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eaLnBrk="1" hangingPunct="1">
              <a:spcBef>
                <a:spcPct val="20000"/>
              </a:spcBef>
              <a:buClr>
                <a:srgbClr val="000000"/>
              </a:buClr>
              <a:buSzPct val="100000"/>
            </a:pPr>
            <a:r>
              <a:rPr lang="zh-CN" altLang="zh-CN">
                <a:latin typeface="Arial" panose="020B0604020202020204" pitchFamily="34" charset="0"/>
                <a:ea typeface="仿宋" panose="02010609060101010101" pitchFamily="49" charset="-122"/>
              </a:rPr>
              <a:t>4</a:t>
            </a:r>
            <a:endParaRPr lang="zh-CN" altLang="zh-CN">
              <a:latin typeface="Arial" panose="020B0604020202020204" pitchFamily="34" charset="0"/>
              <a:ea typeface="仿宋" panose="02010609060101010101" pitchFamily="49" charset="-122"/>
            </a:endParaRPr>
          </a:p>
        </p:txBody>
      </p:sp>
      <p:sp>
        <p:nvSpPr>
          <p:cNvPr id="82091" name="Rectangle 171"/>
          <p:cNvSpPr>
            <a:spLocks noChangeArrowheads="1"/>
          </p:cNvSpPr>
          <p:nvPr/>
        </p:nvSpPr>
        <p:spPr bwMode="auto">
          <a:xfrm>
            <a:off x="1884363" y="5734050"/>
            <a:ext cx="355282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1" hangingPunct="1">
              <a:buClr>
                <a:srgbClr val="000000"/>
              </a:buClr>
              <a:buSzPct val="100000"/>
            </a:pPr>
            <a:r>
              <a:rPr lang="zh-CN" altLang="zh-CN" sz="2400">
                <a:latin typeface="Arial" panose="020B0604020202020204" pitchFamily="34" charset="0"/>
                <a:ea typeface="楷体" panose="02010609060101010101" pitchFamily="49" charset="-122"/>
              </a:rPr>
              <a:t>最优解为X=(0,1,1)，z=4.</a:t>
            </a:r>
            <a:endParaRPr lang="zh-CN" altLang="zh-CN" sz="2400">
              <a:latin typeface="Arial" panose="020B0604020202020204" pitchFamily="34" charset="0"/>
              <a:ea typeface="楷体" panose="02010609060101010101" pitchFamily="49" charset="-122"/>
            </a:endParaRPr>
          </a:p>
        </p:txBody>
      </p:sp>
      <p:sp>
        <p:nvSpPr>
          <p:cNvPr id="3"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a:t>
            </a:r>
            <a:r>
              <a:rPr lang="zh-CN" altLang="en-US" dirty="0">
                <a:latin typeface="楷体" panose="02010609060101010101" pitchFamily="49" charset="-122"/>
                <a:ea typeface="楷体" panose="02010609060101010101" pitchFamily="49" charset="-122"/>
              </a:rPr>
              <a:t>解法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062"/>
                                        </p:tgtEl>
                                        <p:attrNameLst>
                                          <p:attrName>style.visibility</p:attrName>
                                        </p:attrNameLst>
                                      </p:cBhvr>
                                      <p:to>
                                        <p:strVal val="visible"/>
                                      </p:to>
                                    </p:set>
                                    <p:anim calcmode="lin" valueType="num">
                                      <p:cBhvr additive="base">
                                        <p:cTn id="7" dur="500" fill="hold"/>
                                        <p:tgtEl>
                                          <p:spTgt spid="82062"/>
                                        </p:tgtEl>
                                        <p:attrNameLst>
                                          <p:attrName>ppt_x</p:attrName>
                                        </p:attrNameLst>
                                      </p:cBhvr>
                                      <p:tavLst>
                                        <p:tav tm="0">
                                          <p:val>
                                            <p:strVal val="ppt_x"/>
                                          </p:val>
                                        </p:tav>
                                        <p:tav tm="100000">
                                          <p:val>
                                            <p:strVal val="ppt_x"/>
                                          </p:val>
                                        </p:tav>
                                      </p:tavLst>
                                    </p:anim>
                                    <p:anim calcmode="lin" valueType="num">
                                      <p:cBhvr additive="base">
                                        <p:cTn id="8" dur="500" fill="hold"/>
                                        <p:tgtEl>
                                          <p:spTgt spid="820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2063"/>
                                        </p:tgtEl>
                                        <p:attrNameLst>
                                          <p:attrName>style.visibility</p:attrName>
                                        </p:attrNameLst>
                                      </p:cBhvr>
                                      <p:to>
                                        <p:strVal val="visible"/>
                                      </p:to>
                                    </p:set>
                                    <p:anim calcmode="lin" valueType="num">
                                      <p:cBhvr additive="base">
                                        <p:cTn id="13" dur="500" fill="hold"/>
                                        <p:tgtEl>
                                          <p:spTgt spid="82063"/>
                                        </p:tgtEl>
                                        <p:attrNameLst>
                                          <p:attrName>ppt_x</p:attrName>
                                        </p:attrNameLst>
                                      </p:cBhvr>
                                      <p:tavLst>
                                        <p:tav tm="0">
                                          <p:val>
                                            <p:strVal val="ppt_x"/>
                                          </p:val>
                                        </p:tav>
                                        <p:tav tm="100000">
                                          <p:val>
                                            <p:strVal val="ppt_x"/>
                                          </p:val>
                                        </p:tav>
                                      </p:tavLst>
                                    </p:anim>
                                    <p:anim calcmode="lin" valueType="num">
                                      <p:cBhvr additive="base">
                                        <p:cTn id="14" dur="500" fill="hold"/>
                                        <p:tgtEl>
                                          <p:spTgt spid="8206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2064"/>
                                        </p:tgtEl>
                                        <p:attrNameLst>
                                          <p:attrName>style.visibility</p:attrName>
                                        </p:attrNameLst>
                                      </p:cBhvr>
                                      <p:to>
                                        <p:strVal val="visible"/>
                                      </p:to>
                                    </p:set>
                                    <p:anim calcmode="lin" valueType="num">
                                      <p:cBhvr additive="base">
                                        <p:cTn id="19" dur="500" fill="hold"/>
                                        <p:tgtEl>
                                          <p:spTgt spid="82064"/>
                                        </p:tgtEl>
                                        <p:attrNameLst>
                                          <p:attrName>ppt_x</p:attrName>
                                        </p:attrNameLst>
                                      </p:cBhvr>
                                      <p:tavLst>
                                        <p:tav tm="0">
                                          <p:val>
                                            <p:strVal val="ppt_x"/>
                                          </p:val>
                                        </p:tav>
                                        <p:tav tm="100000">
                                          <p:val>
                                            <p:strVal val="ppt_x"/>
                                          </p:val>
                                        </p:tav>
                                      </p:tavLst>
                                    </p:anim>
                                    <p:anim calcmode="lin" valueType="num">
                                      <p:cBhvr additive="base">
                                        <p:cTn id="20" dur="500" fill="hold"/>
                                        <p:tgtEl>
                                          <p:spTgt spid="8206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2065"/>
                                        </p:tgtEl>
                                        <p:attrNameLst>
                                          <p:attrName>style.visibility</p:attrName>
                                        </p:attrNameLst>
                                      </p:cBhvr>
                                      <p:to>
                                        <p:strVal val="visible"/>
                                      </p:to>
                                    </p:set>
                                    <p:anim calcmode="lin" valueType="num">
                                      <p:cBhvr additive="base">
                                        <p:cTn id="25" dur="500" fill="hold"/>
                                        <p:tgtEl>
                                          <p:spTgt spid="82065"/>
                                        </p:tgtEl>
                                        <p:attrNameLst>
                                          <p:attrName>ppt_x</p:attrName>
                                        </p:attrNameLst>
                                      </p:cBhvr>
                                      <p:tavLst>
                                        <p:tav tm="0">
                                          <p:val>
                                            <p:strVal val="ppt_x"/>
                                          </p:val>
                                        </p:tav>
                                        <p:tav tm="100000">
                                          <p:val>
                                            <p:strVal val="ppt_x"/>
                                          </p:val>
                                        </p:tav>
                                      </p:tavLst>
                                    </p:anim>
                                    <p:anim calcmode="lin" valueType="num">
                                      <p:cBhvr additive="base">
                                        <p:cTn id="26" dur="500" fill="hold"/>
                                        <p:tgtEl>
                                          <p:spTgt spid="8206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2066"/>
                                        </p:tgtEl>
                                        <p:attrNameLst>
                                          <p:attrName>style.visibility</p:attrName>
                                        </p:attrNameLst>
                                      </p:cBhvr>
                                      <p:to>
                                        <p:strVal val="visible"/>
                                      </p:to>
                                    </p:set>
                                    <p:anim calcmode="lin" valueType="num">
                                      <p:cBhvr additive="base">
                                        <p:cTn id="31" dur="500" fill="hold"/>
                                        <p:tgtEl>
                                          <p:spTgt spid="82066"/>
                                        </p:tgtEl>
                                        <p:attrNameLst>
                                          <p:attrName>ppt_x</p:attrName>
                                        </p:attrNameLst>
                                      </p:cBhvr>
                                      <p:tavLst>
                                        <p:tav tm="0">
                                          <p:val>
                                            <p:strVal val="ppt_x"/>
                                          </p:val>
                                        </p:tav>
                                        <p:tav tm="100000">
                                          <p:val>
                                            <p:strVal val="ppt_x"/>
                                          </p:val>
                                        </p:tav>
                                      </p:tavLst>
                                    </p:anim>
                                    <p:anim calcmode="lin" valueType="num">
                                      <p:cBhvr additive="base">
                                        <p:cTn id="32" dur="500" fill="hold"/>
                                        <p:tgtEl>
                                          <p:spTgt spid="8206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2067"/>
                                        </p:tgtEl>
                                        <p:attrNameLst>
                                          <p:attrName>style.visibility</p:attrName>
                                        </p:attrNameLst>
                                      </p:cBhvr>
                                      <p:to>
                                        <p:strVal val="visible"/>
                                      </p:to>
                                    </p:set>
                                    <p:anim calcmode="lin" valueType="num">
                                      <p:cBhvr additive="base">
                                        <p:cTn id="37" dur="500" fill="hold"/>
                                        <p:tgtEl>
                                          <p:spTgt spid="82067"/>
                                        </p:tgtEl>
                                        <p:attrNameLst>
                                          <p:attrName>ppt_x</p:attrName>
                                        </p:attrNameLst>
                                      </p:cBhvr>
                                      <p:tavLst>
                                        <p:tav tm="0">
                                          <p:val>
                                            <p:strVal val="ppt_x"/>
                                          </p:val>
                                        </p:tav>
                                        <p:tav tm="100000">
                                          <p:val>
                                            <p:strVal val="ppt_x"/>
                                          </p:val>
                                        </p:tav>
                                      </p:tavLst>
                                    </p:anim>
                                    <p:anim calcmode="lin" valueType="num">
                                      <p:cBhvr additive="base">
                                        <p:cTn id="38" dur="500" fill="hold"/>
                                        <p:tgtEl>
                                          <p:spTgt spid="8206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2071"/>
                                        </p:tgtEl>
                                        <p:attrNameLst>
                                          <p:attrName>style.visibility</p:attrName>
                                        </p:attrNameLst>
                                      </p:cBhvr>
                                      <p:to>
                                        <p:strVal val="visible"/>
                                      </p:to>
                                    </p:set>
                                    <p:anim calcmode="lin" valueType="num">
                                      <p:cBhvr additive="base">
                                        <p:cTn id="43" dur="500" fill="hold"/>
                                        <p:tgtEl>
                                          <p:spTgt spid="82071"/>
                                        </p:tgtEl>
                                        <p:attrNameLst>
                                          <p:attrName>ppt_x</p:attrName>
                                        </p:attrNameLst>
                                      </p:cBhvr>
                                      <p:tavLst>
                                        <p:tav tm="0">
                                          <p:val>
                                            <p:strVal val="ppt_x"/>
                                          </p:val>
                                        </p:tav>
                                        <p:tav tm="100000">
                                          <p:val>
                                            <p:strVal val="ppt_x"/>
                                          </p:val>
                                        </p:tav>
                                      </p:tavLst>
                                    </p:anim>
                                    <p:anim calcmode="lin" valueType="num">
                                      <p:cBhvr additive="base">
                                        <p:cTn id="44" dur="500" fill="hold"/>
                                        <p:tgtEl>
                                          <p:spTgt spid="8207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2072"/>
                                        </p:tgtEl>
                                        <p:attrNameLst>
                                          <p:attrName>style.visibility</p:attrName>
                                        </p:attrNameLst>
                                      </p:cBhvr>
                                      <p:to>
                                        <p:strVal val="visible"/>
                                      </p:to>
                                    </p:set>
                                    <p:anim calcmode="lin" valueType="num">
                                      <p:cBhvr additive="base">
                                        <p:cTn id="49" dur="500" fill="hold"/>
                                        <p:tgtEl>
                                          <p:spTgt spid="82072"/>
                                        </p:tgtEl>
                                        <p:attrNameLst>
                                          <p:attrName>ppt_x</p:attrName>
                                        </p:attrNameLst>
                                      </p:cBhvr>
                                      <p:tavLst>
                                        <p:tav tm="0">
                                          <p:val>
                                            <p:strVal val="ppt_x"/>
                                          </p:val>
                                        </p:tav>
                                        <p:tav tm="100000">
                                          <p:val>
                                            <p:strVal val="ppt_x"/>
                                          </p:val>
                                        </p:tav>
                                      </p:tavLst>
                                    </p:anim>
                                    <p:anim calcmode="lin" valueType="num">
                                      <p:cBhvr additive="base">
                                        <p:cTn id="50" dur="500" fill="hold"/>
                                        <p:tgtEl>
                                          <p:spTgt spid="8207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2073"/>
                                        </p:tgtEl>
                                        <p:attrNameLst>
                                          <p:attrName>style.visibility</p:attrName>
                                        </p:attrNameLst>
                                      </p:cBhvr>
                                      <p:to>
                                        <p:strVal val="visible"/>
                                      </p:to>
                                    </p:set>
                                    <p:anim calcmode="lin" valueType="num">
                                      <p:cBhvr additive="base">
                                        <p:cTn id="55" dur="500" fill="hold"/>
                                        <p:tgtEl>
                                          <p:spTgt spid="82073"/>
                                        </p:tgtEl>
                                        <p:attrNameLst>
                                          <p:attrName>ppt_x</p:attrName>
                                        </p:attrNameLst>
                                      </p:cBhvr>
                                      <p:tavLst>
                                        <p:tav tm="0">
                                          <p:val>
                                            <p:strVal val="ppt_x"/>
                                          </p:val>
                                        </p:tav>
                                        <p:tav tm="100000">
                                          <p:val>
                                            <p:strVal val="ppt_x"/>
                                          </p:val>
                                        </p:tav>
                                      </p:tavLst>
                                    </p:anim>
                                    <p:anim calcmode="lin" valueType="num">
                                      <p:cBhvr additive="base">
                                        <p:cTn id="56" dur="500" fill="hold"/>
                                        <p:tgtEl>
                                          <p:spTgt spid="8207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2086"/>
                                        </p:tgtEl>
                                        <p:attrNameLst>
                                          <p:attrName>style.visibility</p:attrName>
                                        </p:attrNameLst>
                                      </p:cBhvr>
                                      <p:to>
                                        <p:strVal val="visible"/>
                                      </p:to>
                                    </p:set>
                                    <p:anim calcmode="lin" valueType="num">
                                      <p:cBhvr additive="base">
                                        <p:cTn id="61" dur="500" fill="hold"/>
                                        <p:tgtEl>
                                          <p:spTgt spid="82086"/>
                                        </p:tgtEl>
                                        <p:attrNameLst>
                                          <p:attrName>ppt_x</p:attrName>
                                        </p:attrNameLst>
                                      </p:cBhvr>
                                      <p:tavLst>
                                        <p:tav tm="0">
                                          <p:val>
                                            <p:strVal val="ppt_x"/>
                                          </p:val>
                                        </p:tav>
                                        <p:tav tm="100000">
                                          <p:val>
                                            <p:strVal val="ppt_x"/>
                                          </p:val>
                                        </p:tav>
                                      </p:tavLst>
                                    </p:anim>
                                    <p:anim calcmode="lin" valueType="num">
                                      <p:cBhvr additive="base">
                                        <p:cTn id="62" dur="500" fill="hold"/>
                                        <p:tgtEl>
                                          <p:spTgt spid="8208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82068"/>
                                        </p:tgtEl>
                                        <p:attrNameLst>
                                          <p:attrName>style.visibility</p:attrName>
                                        </p:attrNameLst>
                                      </p:cBhvr>
                                      <p:to>
                                        <p:strVal val="visible"/>
                                      </p:to>
                                    </p:set>
                                    <p:anim calcmode="lin" valueType="num">
                                      <p:cBhvr additive="base">
                                        <p:cTn id="67" dur="500" fill="hold"/>
                                        <p:tgtEl>
                                          <p:spTgt spid="82068"/>
                                        </p:tgtEl>
                                        <p:attrNameLst>
                                          <p:attrName>ppt_x</p:attrName>
                                        </p:attrNameLst>
                                      </p:cBhvr>
                                      <p:tavLst>
                                        <p:tav tm="0">
                                          <p:val>
                                            <p:strVal val="ppt_x"/>
                                          </p:val>
                                        </p:tav>
                                        <p:tav tm="100000">
                                          <p:val>
                                            <p:strVal val="ppt_x"/>
                                          </p:val>
                                        </p:tav>
                                      </p:tavLst>
                                    </p:anim>
                                    <p:anim calcmode="lin" valueType="num">
                                      <p:cBhvr additive="base">
                                        <p:cTn id="68" dur="500" fill="hold"/>
                                        <p:tgtEl>
                                          <p:spTgt spid="8206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82074"/>
                                        </p:tgtEl>
                                        <p:attrNameLst>
                                          <p:attrName>style.visibility</p:attrName>
                                        </p:attrNameLst>
                                      </p:cBhvr>
                                      <p:to>
                                        <p:strVal val="visible"/>
                                      </p:to>
                                    </p:set>
                                    <p:anim calcmode="lin" valueType="num">
                                      <p:cBhvr additive="base">
                                        <p:cTn id="73" dur="500" fill="hold"/>
                                        <p:tgtEl>
                                          <p:spTgt spid="82074"/>
                                        </p:tgtEl>
                                        <p:attrNameLst>
                                          <p:attrName>ppt_x</p:attrName>
                                        </p:attrNameLst>
                                      </p:cBhvr>
                                      <p:tavLst>
                                        <p:tav tm="0">
                                          <p:val>
                                            <p:strVal val="ppt_x"/>
                                          </p:val>
                                        </p:tav>
                                        <p:tav tm="100000">
                                          <p:val>
                                            <p:strVal val="ppt_x"/>
                                          </p:val>
                                        </p:tav>
                                      </p:tavLst>
                                    </p:anim>
                                    <p:anim calcmode="lin" valueType="num">
                                      <p:cBhvr additive="base">
                                        <p:cTn id="74" dur="500" fill="hold"/>
                                        <p:tgtEl>
                                          <p:spTgt spid="8207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82075"/>
                                        </p:tgtEl>
                                        <p:attrNameLst>
                                          <p:attrName>style.visibility</p:attrName>
                                        </p:attrNameLst>
                                      </p:cBhvr>
                                      <p:to>
                                        <p:strVal val="visible"/>
                                      </p:to>
                                    </p:set>
                                    <p:anim calcmode="lin" valueType="num">
                                      <p:cBhvr additive="base">
                                        <p:cTn id="79" dur="500" fill="hold"/>
                                        <p:tgtEl>
                                          <p:spTgt spid="82075"/>
                                        </p:tgtEl>
                                        <p:attrNameLst>
                                          <p:attrName>ppt_x</p:attrName>
                                        </p:attrNameLst>
                                      </p:cBhvr>
                                      <p:tavLst>
                                        <p:tav tm="0">
                                          <p:val>
                                            <p:strVal val="ppt_x"/>
                                          </p:val>
                                        </p:tav>
                                        <p:tav tm="100000">
                                          <p:val>
                                            <p:strVal val="ppt_x"/>
                                          </p:val>
                                        </p:tav>
                                      </p:tavLst>
                                    </p:anim>
                                    <p:anim calcmode="lin" valueType="num">
                                      <p:cBhvr additive="base">
                                        <p:cTn id="80" dur="500" fill="hold"/>
                                        <p:tgtEl>
                                          <p:spTgt spid="82075"/>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82076"/>
                                        </p:tgtEl>
                                        <p:attrNameLst>
                                          <p:attrName>style.visibility</p:attrName>
                                        </p:attrNameLst>
                                      </p:cBhvr>
                                      <p:to>
                                        <p:strVal val="visible"/>
                                      </p:to>
                                    </p:set>
                                    <p:anim calcmode="lin" valueType="num">
                                      <p:cBhvr additive="base">
                                        <p:cTn id="85" dur="500" fill="hold"/>
                                        <p:tgtEl>
                                          <p:spTgt spid="82076"/>
                                        </p:tgtEl>
                                        <p:attrNameLst>
                                          <p:attrName>ppt_x</p:attrName>
                                        </p:attrNameLst>
                                      </p:cBhvr>
                                      <p:tavLst>
                                        <p:tav tm="0">
                                          <p:val>
                                            <p:strVal val="ppt_x"/>
                                          </p:val>
                                        </p:tav>
                                        <p:tav tm="100000">
                                          <p:val>
                                            <p:strVal val="ppt_x"/>
                                          </p:val>
                                        </p:tav>
                                      </p:tavLst>
                                    </p:anim>
                                    <p:anim calcmode="lin" valueType="num">
                                      <p:cBhvr additive="base">
                                        <p:cTn id="86" dur="500" fill="hold"/>
                                        <p:tgtEl>
                                          <p:spTgt spid="82076"/>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82077"/>
                                        </p:tgtEl>
                                        <p:attrNameLst>
                                          <p:attrName>style.visibility</p:attrName>
                                        </p:attrNameLst>
                                      </p:cBhvr>
                                      <p:to>
                                        <p:strVal val="visible"/>
                                      </p:to>
                                    </p:set>
                                    <p:anim calcmode="lin" valueType="num">
                                      <p:cBhvr additive="base">
                                        <p:cTn id="91" dur="500" fill="hold"/>
                                        <p:tgtEl>
                                          <p:spTgt spid="82077"/>
                                        </p:tgtEl>
                                        <p:attrNameLst>
                                          <p:attrName>ppt_x</p:attrName>
                                        </p:attrNameLst>
                                      </p:cBhvr>
                                      <p:tavLst>
                                        <p:tav tm="0">
                                          <p:val>
                                            <p:strVal val="ppt_x"/>
                                          </p:val>
                                        </p:tav>
                                        <p:tav tm="100000">
                                          <p:val>
                                            <p:strVal val="ppt_x"/>
                                          </p:val>
                                        </p:tav>
                                      </p:tavLst>
                                    </p:anim>
                                    <p:anim calcmode="lin" valueType="num">
                                      <p:cBhvr additive="base">
                                        <p:cTn id="92" dur="500" fill="hold"/>
                                        <p:tgtEl>
                                          <p:spTgt spid="8207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82087"/>
                                        </p:tgtEl>
                                        <p:attrNameLst>
                                          <p:attrName>style.visibility</p:attrName>
                                        </p:attrNameLst>
                                      </p:cBhvr>
                                      <p:to>
                                        <p:strVal val="visible"/>
                                      </p:to>
                                    </p:set>
                                    <p:anim calcmode="lin" valueType="num">
                                      <p:cBhvr additive="base">
                                        <p:cTn id="97" dur="500" fill="hold"/>
                                        <p:tgtEl>
                                          <p:spTgt spid="82087"/>
                                        </p:tgtEl>
                                        <p:attrNameLst>
                                          <p:attrName>ppt_x</p:attrName>
                                        </p:attrNameLst>
                                      </p:cBhvr>
                                      <p:tavLst>
                                        <p:tav tm="0">
                                          <p:val>
                                            <p:strVal val="ppt_x"/>
                                          </p:val>
                                        </p:tav>
                                        <p:tav tm="100000">
                                          <p:val>
                                            <p:strVal val="ppt_x"/>
                                          </p:val>
                                        </p:tav>
                                      </p:tavLst>
                                    </p:anim>
                                    <p:anim calcmode="lin" valueType="num">
                                      <p:cBhvr additive="base">
                                        <p:cTn id="98" dur="500" fill="hold"/>
                                        <p:tgtEl>
                                          <p:spTgt spid="82087"/>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82069"/>
                                        </p:tgtEl>
                                        <p:attrNameLst>
                                          <p:attrName>style.visibility</p:attrName>
                                        </p:attrNameLst>
                                      </p:cBhvr>
                                      <p:to>
                                        <p:strVal val="visible"/>
                                      </p:to>
                                    </p:set>
                                    <p:anim calcmode="lin" valueType="num">
                                      <p:cBhvr additive="base">
                                        <p:cTn id="103" dur="500" fill="hold"/>
                                        <p:tgtEl>
                                          <p:spTgt spid="82069"/>
                                        </p:tgtEl>
                                        <p:attrNameLst>
                                          <p:attrName>ppt_x</p:attrName>
                                        </p:attrNameLst>
                                      </p:cBhvr>
                                      <p:tavLst>
                                        <p:tav tm="0">
                                          <p:val>
                                            <p:strVal val="ppt_x"/>
                                          </p:val>
                                        </p:tav>
                                        <p:tav tm="100000">
                                          <p:val>
                                            <p:strVal val="ppt_x"/>
                                          </p:val>
                                        </p:tav>
                                      </p:tavLst>
                                    </p:anim>
                                    <p:anim calcmode="lin" valueType="num">
                                      <p:cBhvr additive="base">
                                        <p:cTn id="104" dur="500" fill="hold"/>
                                        <p:tgtEl>
                                          <p:spTgt spid="82069"/>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82078"/>
                                        </p:tgtEl>
                                        <p:attrNameLst>
                                          <p:attrName>style.visibility</p:attrName>
                                        </p:attrNameLst>
                                      </p:cBhvr>
                                      <p:to>
                                        <p:strVal val="visible"/>
                                      </p:to>
                                    </p:set>
                                    <p:anim calcmode="lin" valueType="num">
                                      <p:cBhvr additive="base">
                                        <p:cTn id="109" dur="500" fill="hold"/>
                                        <p:tgtEl>
                                          <p:spTgt spid="82078"/>
                                        </p:tgtEl>
                                        <p:attrNameLst>
                                          <p:attrName>ppt_x</p:attrName>
                                        </p:attrNameLst>
                                      </p:cBhvr>
                                      <p:tavLst>
                                        <p:tav tm="0">
                                          <p:val>
                                            <p:strVal val="ppt_x"/>
                                          </p:val>
                                        </p:tav>
                                        <p:tav tm="100000">
                                          <p:val>
                                            <p:strVal val="ppt_x"/>
                                          </p:val>
                                        </p:tav>
                                      </p:tavLst>
                                    </p:anim>
                                    <p:anim calcmode="lin" valueType="num">
                                      <p:cBhvr additive="base">
                                        <p:cTn id="110" dur="500" fill="hold"/>
                                        <p:tgtEl>
                                          <p:spTgt spid="82078"/>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82079"/>
                                        </p:tgtEl>
                                        <p:attrNameLst>
                                          <p:attrName>style.visibility</p:attrName>
                                        </p:attrNameLst>
                                      </p:cBhvr>
                                      <p:to>
                                        <p:strVal val="visible"/>
                                      </p:to>
                                    </p:set>
                                    <p:anim calcmode="lin" valueType="num">
                                      <p:cBhvr additive="base">
                                        <p:cTn id="115" dur="500" fill="hold"/>
                                        <p:tgtEl>
                                          <p:spTgt spid="82079"/>
                                        </p:tgtEl>
                                        <p:attrNameLst>
                                          <p:attrName>ppt_x</p:attrName>
                                        </p:attrNameLst>
                                      </p:cBhvr>
                                      <p:tavLst>
                                        <p:tav tm="0">
                                          <p:val>
                                            <p:strVal val="ppt_x"/>
                                          </p:val>
                                        </p:tav>
                                        <p:tav tm="100000">
                                          <p:val>
                                            <p:strVal val="ppt_x"/>
                                          </p:val>
                                        </p:tav>
                                      </p:tavLst>
                                    </p:anim>
                                    <p:anim calcmode="lin" valueType="num">
                                      <p:cBhvr additive="base">
                                        <p:cTn id="116" dur="500" fill="hold"/>
                                        <p:tgtEl>
                                          <p:spTgt spid="82079"/>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82080"/>
                                        </p:tgtEl>
                                        <p:attrNameLst>
                                          <p:attrName>style.visibility</p:attrName>
                                        </p:attrNameLst>
                                      </p:cBhvr>
                                      <p:to>
                                        <p:strVal val="visible"/>
                                      </p:to>
                                    </p:set>
                                    <p:anim calcmode="lin" valueType="num">
                                      <p:cBhvr additive="base">
                                        <p:cTn id="121" dur="500" fill="hold"/>
                                        <p:tgtEl>
                                          <p:spTgt spid="82080"/>
                                        </p:tgtEl>
                                        <p:attrNameLst>
                                          <p:attrName>ppt_x</p:attrName>
                                        </p:attrNameLst>
                                      </p:cBhvr>
                                      <p:tavLst>
                                        <p:tav tm="0">
                                          <p:val>
                                            <p:strVal val="ppt_x"/>
                                          </p:val>
                                        </p:tav>
                                        <p:tav tm="100000">
                                          <p:val>
                                            <p:strVal val="ppt_x"/>
                                          </p:val>
                                        </p:tav>
                                      </p:tavLst>
                                    </p:anim>
                                    <p:anim calcmode="lin" valueType="num">
                                      <p:cBhvr additive="base">
                                        <p:cTn id="122" dur="500" fill="hold"/>
                                        <p:tgtEl>
                                          <p:spTgt spid="82080"/>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82081"/>
                                        </p:tgtEl>
                                        <p:attrNameLst>
                                          <p:attrName>style.visibility</p:attrName>
                                        </p:attrNameLst>
                                      </p:cBhvr>
                                      <p:to>
                                        <p:strVal val="visible"/>
                                      </p:to>
                                    </p:set>
                                    <p:anim calcmode="lin" valueType="num">
                                      <p:cBhvr additive="base">
                                        <p:cTn id="127" dur="500" fill="hold"/>
                                        <p:tgtEl>
                                          <p:spTgt spid="82081"/>
                                        </p:tgtEl>
                                        <p:attrNameLst>
                                          <p:attrName>ppt_x</p:attrName>
                                        </p:attrNameLst>
                                      </p:cBhvr>
                                      <p:tavLst>
                                        <p:tav tm="0">
                                          <p:val>
                                            <p:strVal val="ppt_x"/>
                                          </p:val>
                                        </p:tav>
                                        <p:tav tm="100000">
                                          <p:val>
                                            <p:strVal val="ppt_x"/>
                                          </p:val>
                                        </p:tav>
                                      </p:tavLst>
                                    </p:anim>
                                    <p:anim calcmode="lin" valueType="num">
                                      <p:cBhvr additive="base">
                                        <p:cTn id="128" dur="500" fill="hold"/>
                                        <p:tgtEl>
                                          <p:spTgt spid="82081"/>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82088"/>
                                        </p:tgtEl>
                                        <p:attrNameLst>
                                          <p:attrName>style.visibility</p:attrName>
                                        </p:attrNameLst>
                                      </p:cBhvr>
                                      <p:to>
                                        <p:strVal val="visible"/>
                                      </p:to>
                                    </p:set>
                                    <p:anim calcmode="lin" valueType="num">
                                      <p:cBhvr additive="base">
                                        <p:cTn id="133" dur="500" fill="hold"/>
                                        <p:tgtEl>
                                          <p:spTgt spid="82088"/>
                                        </p:tgtEl>
                                        <p:attrNameLst>
                                          <p:attrName>ppt_x</p:attrName>
                                        </p:attrNameLst>
                                      </p:cBhvr>
                                      <p:tavLst>
                                        <p:tav tm="0">
                                          <p:val>
                                            <p:strVal val="ppt_x"/>
                                          </p:val>
                                        </p:tav>
                                        <p:tav tm="100000">
                                          <p:val>
                                            <p:strVal val="ppt_x"/>
                                          </p:val>
                                        </p:tav>
                                      </p:tavLst>
                                    </p:anim>
                                    <p:anim calcmode="lin" valueType="num">
                                      <p:cBhvr additive="base">
                                        <p:cTn id="134" dur="500" fill="hold"/>
                                        <p:tgtEl>
                                          <p:spTgt spid="82088"/>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82070"/>
                                        </p:tgtEl>
                                        <p:attrNameLst>
                                          <p:attrName>style.visibility</p:attrName>
                                        </p:attrNameLst>
                                      </p:cBhvr>
                                      <p:to>
                                        <p:strVal val="visible"/>
                                      </p:to>
                                    </p:set>
                                    <p:anim calcmode="lin" valueType="num">
                                      <p:cBhvr additive="base">
                                        <p:cTn id="139" dur="500" fill="hold"/>
                                        <p:tgtEl>
                                          <p:spTgt spid="82070"/>
                                        </p:tgtEl>
                                        <p:attrNameLst>
                                          <p:attrName>ppt_x</p:attrName>
                                        </p:attrNameLst>
                                      </p:cBhvr>
                                      <p:tavLst>
                                        <p:tav tm="0">
                                          <p:val>
                                            <p:strVal val="ppt_x"/>
                                          </p:val>
                                        </p:tav>
                                        <p:tav tm="100000">
                                          <p:val>
                                            <p:strVal val="ppt_x"/>
                                          </p:val>
                                        </p:tav>
                                      </p:tavLst>
                                    </p:anim>
                                    <p:anim calcmode="lin" valueType="num">
                                      <p:cBhvr additive="base">
                                        <p:cTn id="140" dur="500" fill="hold"/>
                                        <p:tgtEl>
                                          <p:spTgt spid="82070"/>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82082"/>
                                        </p:tgtEl>
                                        <p:attrNameLst>
                                          <p:attrName>style.visibility</p:attrName>
                                        </p:attrNameLst>
                                      </p:cBhvr>
                                      <p:to>
                                        <p:strVal val="visible"/>
                                      </p:to>
                                    </p:set>
                                    <p:anim calcmode="lin" valueType="num">
                                      <p:cBhvr additive="base">
                                        <p:cTn id="145" dur="500" fill="hold"/>
                                        <p:tgtEl>
                                          <p:spTgt spid="82082"/>
                                        </p:tgtEl>
                                        <p:attrNameLst>
                                          <p:attrName>ppt_x</p:attrName>
                                        </p:attrNameLst>
                                      </p:cBhvr>
                                      <p:tavLst>
                                        <p:tav tm="0">
                                          <p:val>
                                            <p:strVal val="ppt_x"/>
                                          </p:val>
                                        </p:tav>
                                        <p:tav tm="100000">
                                          <p:val>
                                            <p:strVal val="ppt_x"/>
                                          </p:val>
                                        </p:tav>
                                      </p:tavLst>
                                    </p:anim>
                                    <p:anim calcmode="lin" valueType="num">
                                      <p:cBhvr additive="base">
                                        <p:cTn id="146" dur="500" fill="hold"/>
                                        <p:tgtEl>
                                          <p:spTgt spid="82082"/>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grpId="0" nodeType="clickEffect">
                                  <p:stCondLst>
                                    <p:cond delay="0"/>
                                  </p:stCondLst>
                                  <p:childTnLst>
                                    <p:set>
                                      <p:cBhvr>
                                        <p:cTn id="150" dur="1" fill="hold">
                                          <p:stCondLst>
                                            <p:cond delay="0"/>
                                          </p:stCondLst>
                                        </p:cTn>
                                        <p:tgtEl>
                                          <p:spTgt spid="82083"/>
                                        </p:tgtEl>
                                        <p:attrNameLst>
                                          <p:attrName>style.visibility</p:attrName>
                                        </p:attrNameLst>
                                      </p:cBhvr>
                                      <p:to>
                                        <p:strVal val="visible"/>
                                      </p:to>
                                    </p:set>
                                    <p:anim calcmode="lin" valueType="num">
                                      <p:cBhvr additive="base">
                                        <p:cTn id="151" dur="500" fill="hold"/>
                                        <p:tgtEl>
                                          <p:spTgt spid="82083"/>
                                        </p:tgtEl>
                                        <p:attrNameLst>
                                          <p:attrName>ppt_x</p:attrName>
                                        </p:attrNameLst>
                                      </p:cBhvr>
                                      <p:tavLst>
                                        <p:tav tm="0">
                                          <p:val>
                                            <p:strVal val="ppt_x"/>
                                          </p:val>
                                        </p:tav>
                                        <p:tav tm="100000">
                                          <p:val>
                                            <p:strVal val="ppt_x"/>
                                          </p:val>
                                        </p:tav>
                                      </p:tavLst>
                                    </p:anim>
                                    <p:anim calcmode="lin" valueType="num">
                                      <p:cBhvr additive="base">
                                        <p:cTn id="152" dur="500" fill="hold"/>
                                        <p:tgtEl>
                                          <p:spTgt spid="82083"/>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grpId="0" nodeType="clickEffect">
                                  <p:stCondLst>
                                    <p:cond delay="0"/>
                                  </p:stCondLst>
                                  <p:childTnLst>
                                    <p:set>
                                      <p:cBhvr>
                                        <p:cTn id="156" dur="1" fill="hold">
                                          <p:stCondLst>
                                            <p:cond delay="0"/>
                                          </p:stCondLst>
                                        </p:cTn>
                                        <p:tgtEl>
                                          <p:spTgt spid="82084"/>
                                        </p:tgtEl>
                                        <p:attrNameLst>
                                          <p:attrName>style.visibility</p:attrName>
                                        </p:attrNameLst>
                                      </p:cBhvr>
                                      <p:to>
                                        <p:strVal val="visible"/>
                                      </p:to>
                                    </p:set>
                                    <p:anim calcmode="lin" valueType="num">
                                      <p:cBhvr additive="base">
                                        <p:cTn id="157" dur="500" fill="hold"/>
                                        <p:tgtEl>
                                          <p:spTgt spid="82084"/>
                                        </p:tgtEl>
                                        <p:attrNameLst>
                                          <p:attrName>ppt_x</p:attrName>
                                        </p:attrNameLst>
                                      </p:cBhvr>
                                      <p:tavLst>
                                        <p:tav tm="0">
                                          <p:val>
                                            <p:strVal val="ppt_x"/>
                                          </p:val>
                                        </p:tav>
                                        <p:tav tm="100000">
                                          <p:val>
                                            <p:strVal val="ppt_x"/>
                                          </p:val>
                                        </p:tav>
                                      </p:tavLst>
                                    </p:anim>
                                    <p:anim calcmode="lin" valueType="num">
                                      <p:cBhvr additive="base">
                                        <p:cTn id="158" dur="500" fill="hold"/>
                                        <p:tgtEl>
                                          <p:spTgt spid="82084"/>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82085"/>
                                        </p:tgtEl>
                                        <p:attrNameLst>
                                          <p:attrName>style.visibility</p:attrName>
                                        </p:attrNameLst>
                                      </p:cBhvr>
                                      <p:to>
                                        <p:strVal val="visible"/>
                                      </p:to>
                                    </p:set>
                                    <p:anim calcmode="lin" valueType="num">
                                      <p:cBhvr additive="base">
                                        <p:cTn id="163" dur="500" fill="hold"/>
                                        <p:tgtEl>
                                          <p:spTgt spid="82085"/>
                                        </p:tgtEl>
                                        <p:attrNameLst>
                                          <p:attrName>ppt_x</p:attrName>
                                        </p:attrNameLst>
                                      </p:cBhvr>
                                      <p:tavLst>
                                        <p:tav tm="0">
                                          <p:val>
                                            <p:strVal val="ppt_x"/>
                                          </p:val>
                                        </p:tav>
                                        <p:tav tm="100000">
                                          <p:val>
                                            <p:strVal val="ppt_x"/>
                                          </p:val>
                                        </p:tav>
                                      </p:tavLst>
                                    </p:anim>
                                    <p:anim calcmode="lin" valueType="num">
                                      <p:cBhvr additive="base">
                                        <p:cTn id="164" dur="500" fill="hold"/>
                                        <p:tgtEl>
                                          <p:spTgt spid="82085"/>
                                        </p:tgtEl>
                                        <p:attrNameLst>
                                          <p:attrName>ppt_y</p:attrName>
                                        </p:attrNameLst>
                                      </p:cBhvr>
                                      <p:tavLst>
                                        <p:tav tm="0">
                                          <p:val>
                                            <p:strVal val="1+#ppt_h/2"/>
                                          </p:val>
                                        </p:tav>
                                        <p:tav tm="100000">
                                          <p:val>
                                            <p:strVal val="ppt_y"/>
                                          </p:val>
                                        </p:tav>
                                      </p:tavLst>
                                    </p:anim>
                                  </p:childTnLst>
                                </p:cTn>
                              </p:par>
                            </p:childTnLst>
                          </p:cTn>
                        </p:par>
                      </p:childTnLst>
                    </p:cTn>
                  </p:par>
                  <p:par>
                    <p:cTn id="165" fill="hold">
                      <p:stCondLst>
                        <p:cond delay="indefinite"/>
                      </p:stCondLst>
                      <p:childTnLst>
                        <p:par>
                          <p:cTn id="166" fill="hold">
                            <p:stCondLst>
                              <p:cond delay="0"/>
                            </p:stCondLst>
                            <p:childTnLst>
                              <p:par>
                                <p:cTn id="167" presetID="2" presetClass="entr" presetSubtype="4" fill="hold" grpId="0" nodeType="clickEffect">
                                  <p:stCondLst>
                                    <p:cond delay="0"/>
                                  </p:stCondLst>
                                  <p:childTnLst>
                                    <p:set>
                                      <p:cBhvr>
                                        <p:cTn id="168" dur="1" fill="hold">
                                          <p:stCondLst>
                                            <p:cond delay="0"/>
                                          </p:stCondLst>
                                        </p:cTn>
                                        <p:tgtEl>
                                          <p:spTgt spid="82089"/>
                                        </p:tgtEl>
                                        <p:attrNameLst>
                                          <p:attrName>style.visibility</p:attrName>
                                        </p:attrNameLst>
                                      </p:cBhvr>
                                      <p:to>
                                        <p:strVal val="visible"/>
                                      </p:to>
                                    </p:set>
                                    <p:anim calcmode="lin" valueType="num">
                                      <p:cBhvr additive="base">
                                        <p:cTn id="169" dur="500" fill="hold"/>
                                        <p:tgtEl>
                                          <p:spTgt spid="82089"/>
                                        </p:tgtEl>
                                        <p:attrNameLst>
                                          <p:attrName>ppt_x</p:attrName>
                                        </p:attrNameLst>
                                      </p:cBhvr>
                                      <p:tavLst>
                                        <p:tav tm="0">
                                          <p:val>
                                            <p:strVal val="ppt_x"/>
                                          </p:val>
                                        </p:tav>
                                        <p:tav tm="100000">
                                          <p:val>
                                            <p:strVal val="ppt_x"/>
                                          </p:val>
                                        </p:tav>
                                      </p:tavLst>
                                    </p:anim>
                                    <p:anim calcmode="lin" valueType="num">
                                      <p:cBhvr additive="base">
                                        <p:cTn id="170" dur="500" fill="hold"/>
                                        <p:tgtEl>
                                          <p:spTgt spid="82089"/>
                                        </p:tgtEl>
                                        <p:attrNameLst>
                                          <p:attrName>ppt_y</p:attrName>
                                        </p:attrNameLst>
                                      </p:cBhvr>
                                      <p:tavLst>
                                        <p:tav tm="0">
                                          <p:val>
                                            <p:strVal val="1+#ppt_h/2"/>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2" presetClass="entr" presetSubtype="4" fill="hold" grpId="0" nodeType="clickEffect">
                                  <p:stCondLst>
                                    <p:cond delay="0"/>
                                  </p:stCondLst>
                                  <p:childTnLst>
                                    <p:set>
                                      <p:cBhvr>
                                        <p:cTn id="174" dur="1" fill="hold">
                                          <p:stCondLst>
                                            <p:cond delay="0"/>
                                          </p:stCondLst>
                                        </p:cTn>
                                        <p:tgtEl>
                                          <p:spTgt spid="82090"/>
                                        </p:tgtEl>
                                        <p:attrNameLst>
                                          <p:attrName>style.visibility</p:attrName>
                                        </p:attrNameLst>
                                      </p:cBhvr>
                                      <p:to>
                                        <p:strVal val="visible"/>
                                      </p:to>
                                    </p:set>
                                    <p:anim calcmode="lin" valueType="num">
                                      <p:cBhvr additive="base">
                                        <p:cTn id="175" dur="500" fill="hold"/>
                                        <p:tgtEl>
                                          <p:spTgt spid="82090"/>
                                        </p:tgtEl>
                                        <p:attrNameLst>
                                          <p:attrName>ppt_x</p:attrName>
                                        </p:attrNameLst>
                                      </p:cBhvr>
                                      <p:tavLst>
                                        <p:tav tm="0">
                                          <p:val>
                                            <p:strVal val="ppt_x"/>
                                          </p:val>
                                        </p:tav>
                                        <p:tav tm="100000">
                                          <p:val>
                                            <p:strVal val="ppt_x"/>
                                          </p:val>
                                        </p:tav>
                                      </p:tavLst>
                                    </p:anim>
                                    <p:anim calcmode="lin" valueType="num">
                                      <p:cBhvr additive="base">
                                        <p:cTn id="176" dur="500" fill="hold"/>
                                        <p:tgtEl>
                                          <p:spTgt spid="82090"/>
                                        </p:tgtEl>
                                        <p:attrNameLst>
                                          <p:attrName>ppt_y</p:attrName>
                                        </p:attrNameLst>
                                      </p:cBhvr>
                                      <p:tavLst>
                                        <p:tav tm="0">
                                          <p:val>
                                            <p:strVal val="1+#ppt_h/2"/>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2" presetClass="entr" presetSubtype="4" fill="hold" grpId="0" nodeType="clickEffect">
                                  <p:stCondLst>
                                    <p:cond delay="0"/>
                                  </p:stCondLst>
                                  <p:childTnLst>
                                    <p:set>
                                      <p:cBhvr>
                                        <p:cTn id="180" dur="1" fill="hold">
                                          <p:stCondLst>
                                            <p:cond delay="0"/>
                                          </p:stCondLst>
                                        </p:cTn>
                                        <p:tgtEl>
                                          <p:spTgt spid="82091"/>
                                        </p:tgtEl>
                                        <p:attrNameLst>
                                          <p:attrName>style.visibility</p:attrName>
                                        </p:attrNameLst>
                                      </p:cBhvr>
                                      <p:to>
                                        <p:strVal val="visible"/>
                                      </p:to>
                                    </p:set>
                                    <p:anim calcmode="lin" valueType="num">
                                      <p:cBhvr additive="base">
                                        <p:cTn id="181" dur="500" fill="hold"/>
                                        <p:tgtEl>
                                          <p:spTgt spid="82091"/>
                                        </p:tgtEl>
                                        <p:attrNameLst>
                                          <p:attrName>ppt_x</p:attrName>
                                        </p:attrNameLst>
                                      </p:cBhvr>
                                      <p:tavLst>
                                        <p:tav tm="0">
                                          <p:val>
                                            <p:strVal val="ppt_x"/>
                                          </p:val>
                                        </p:tav>
                                        <p:tav tm="100000">
                                          <p:val>
                                            <p:strVal val="ppt_x"/>
                                          </p:val>
                                        </p:tav>
                                      </p:tavLst>
                                    </p:anim>
                                    <p:anim calcmode="lin" valueType="num">
                                      <p:cBhvr additive="base">
                                        <p:cTn id="182" dur="500" fill="hold"/>
                                        <p:tgtEl>
                                          <p:spTgt spid="820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62" grpId="0" bldLvl="0" animBg="1"/>
      <p:bldP spid="82063" grpId="0" bldLvl="0" animBg="1"/>
      <p:bldP spid="82064" grpId="0" bldLvl="0" animBg="1"/>
      <p:bldP spid="82065" grpId="0" bldLvl="0" animBg="1"/>
      <p:bldP spid="82066" grpId="0" bldLvl="0" animBg="1"/>
      <p:bldP spid="82067" grpId="0" bldLvl="0" animBg="1"/>
      <p:bldP spid="82068" grpId="0" bldLvl="0" animBg="1"/>
      <p:bldP spid="82069" grpId="0" bldLvl="0" animBg="1"/>
      <p:bldP spid="82070" grpId="0" bldLvl="0" animBg="1"/>
      <p:bldP spid="82071" grpId="0" bldLvl="0" animBg="1"/>
      <p:bldP spid="82072" grpId="0" bldLvl="0" animBg="1"/>
      <p:bldP spid="82073" grpId="0" bldLvl="0" animBg="1"/>
      <p:bldP spid="82074" grpId="0" bldLvl="0" animBg="1"/>
      <p:bldP spid="82075" grpId="0" bldLvl="0" animBg="1"/>
      <p:bldP spid="82076" grpId="0" bldLvl="0" animBg="1"/>
      <p:bldP spid="82077" grpId="0" bldLvl="0" animBg="1"/>
      <p:bldP spid="82078" grpId="0" bldLvl="0" animBg="1"/>
      <p:bldP spid="82079" grpId="0" bldLvl="0" animBg="1"/>
      <p:bldP spid="82080" grpId="0" bldLvl="0" animBg="1"/>
      <p:bldP spid="82081" grpId="0" bldLvl="0" animBg="1"/>
      <p:bldP spid="82082" grpId="0" bldLvl="0" animBg="1"/>
      <p:bldP spid="82083" grpId="0" bldLvl="0" animBg="1"/>
      <p:bldP spid="82084" grpId="0" bldLvl="0" animBg="1"/>
      <p:bldP spid="82085" grpId="0" bldLvl="0" animBg="1"/>
      <p:bldP spid="82086" grpId="0" bldLvl="0" animBg="1"/>
      <p:bldP spid="82087" grpId="0" bldLvl="0" animBg="1"/>
      <p:bldP spid="82088" grpId="0" bldLvl="0" animBg="1"/>
      <p:bldP spid="82089" grpId="0" bldLvl="0" animBg="1"/>
      <p:bldP spid="82090" grpId="0" bldLvl="0" animBg="1"/>
      <p:bldP spid="82091"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8"/>
          <p:cNvSpPr>
            <a:spLocks noChangeArrowheads="1"/>
          </p:cNvSpPr>
          <p:nvPr/>
        </p:nvSpPr>
        <p:spPr bwMode="auto">
          <a:xfrm>
            <a:off x="1524000" y="2589213"/>
            <a:ext cx="3098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Title 1"/>
          <p:cNvSpPr>
            <a:spLocks noGrp="1"/>
          </p:cNvSpPr>
          <p:nvPr/>
        </p:nvSpPr>
        <p:spPr>
          <a:xfrm>
            <a:off x="838200" y="365125"/>
            <a:ext cx="10515600" cy="897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err="1">
                <a:latin typeface="华文楷体" panose="02010600040101010101" charset="-122"/>
                <a:ea typeface="华文楷体" panose="02010600040101010101" charset="-122"/>
              </a:rPr>
              <a:t>课堂练习</a:t>
            </a:r>
            <a:r>
              <a:rPr lang="en-US" altLang="zh-CN" dirty="0" err="1">
                <a:latin typeface="华文楷体" panose="02010600040101010101" charset="-122"/>
                <a:ea typeface="华文楷体" panose="02010600040101010101" charset="-122"/>
              </a:rPr>
              <a:t>6</a:t>
            </a:r>
            <a:endParaRPr lang="en-US" altLang="zh-CN" dirty="0" err="1">
              <a:latin typeface="华文楷体" panose="02010600040101010101" charset="-122"/>
              <a:ea typeface="华文楷体" panose="02010600040101010101" charset="-122"/>
            </a:endParaRPr>
          </a:p>
        </p:txBody>
      </p:sp>
      <p:sp>
        <p:nvSpPr>
          <p:cNvPr id="3" name="文本框 2"/>
          <p:cNvSpPr txBox="1"/>
          <p:nvPr/>
        </p:nvSpPr>
        <p:spPr>
          <a:xfrm>
            <a:off x="515620" y="1388110"/>
            <a:ext cx="9409430" cy="3707765"/>
          </a:xfrm>
          <a:prstGeom prst="rect">
            <a:avLst/>
          </a:prstGeom>
          <a:noFill/>
        </p:spPr>
        <p:txBody>
          <a:bodyPr wrap="square" rtlCol="0">
            <a:noAutofit/>
          </a:bodyPr>
          <a:p>
            <a:r>
              <a:rPr lang="zh-CN" altLang="en-US" sz="2400">
                <a:latin typeface="仿宋" panose="02010609060101010101" pitchFamily="49" charset="-122"/>
                <a:ea typeface="仿宋" panose="02010609060101010101" pitchFamily="49" charset="-122"/>
                <a:cs typeface="仿宋" panose="02010609060101010101" pitchFamily="49" charset="-122"/>
              </a:rPr>
              <a:t>用隐枚举法求解下列</a:t>
            </a:r>
            <a:r>
              <a:rPr lang="en-US" altLang="zh-CN" sz="2400">
                <a:latin typeface="仿宋" panose="02010609060101010101" pitchFamily="49" charset="-122"/>
                <a:ea typeface="仿宋" panose="02010609060101010101" pitchFamily="49" charset="-122"/>
                <a:cs typeface="仿宋" panose="02010609060101010101" pitchFamily="49" charset="-122"/>
              </a:rPr>
              <a:t>0-1</a:t>
            </a:r>
            <a:r>
              <a:rPr lang="zh-CN" altLang="en-US" sz="2400">
                <a:latin typeface="仿宋" panose="02010609060101010101" pitchFamily="49" charset="-122"/>
                <a:ea typeface="仿宋" panose="02010609060101010101" pitchFamily="49" charset="-122"/>
                <a:cs typeface="仿宋" panose="02010609060101010101" pitchFamily="49" charset="-122"/>
              </a:rPr>
              <a:t>整数规划</a:t>
            </a:r>
            <a:endParaRPr lang="zh-CN" altLang="en-US" sz="2400">
              <a:latin typeface="仿宋" panose="02010609060101010101" pitchFamily="49" charset="-122"/>
              <a:ea typeface="仿宋" panose="02010609060101010101" pitchFamily="49" charset="-122"/>
              <a:cs typeface="仿宋" panose="02010609060101010101" pitchFamily="49" charset="-122"/>
            </a:endParaRPr>
          </a:p>
          <a:p>
            <a:endParaRPr lang="zh-CN" altLang="en-US"/>
          </a:p>
          <a:p>
            <a:pPr algn="ctr"/>
            <a:r>
              <a:rPr lang="en-US" altLang="zh-CN" sz="3200">
                <a:latin typeface="Times New Roman" panose="02020603050405020304" pitchFamily="18" charset="0"/>
                <a:cs typeface="Times New Roman" panose="02020603050405020304" pitchFamily="18" charset="0"/>
              </a:rPr>
              <a:t>min z=5x</a:t>
            </a:r>
            <a:r>
              <a:rPr lang="en-US" altLang="zh-CN" sz="3200" baseline="-25000">
                <a:latin typeface="Times New Roman" panose="02020603050405020304" pitchFamily="18" charset="0"/>
                <a:cs typeface="Times New Roman" panose="02020603050405020304" pitchFamily="18" charset="0"/>
              </a:rPr>
              <a:t>1</a:t>
            </a:r>
            <a:r>
              <a:rPr lang="en-US" altLang="zh-CN" sz="3200">
                <a:latin typeface="Times New Roman" panose="02020603050405020304" pitchFamily="18" charset="0"/>
                <a:cs typeface="Times New Roman" panose="02020603050405020304" pitchFamily="18" charset="0"/>
              </a:rPr>
              <a:t>+6x</a:t>
            </a:r>
            <a:r>
              <a:rPr lang="en-US" altLang="zh-CN" sz="3200" baseline="-25000">
                <a:latin typeface="Times New Roman" panose="02020603050405020304" pitchFamily="18" charset="0"/>
                <a:cs typeface="Times New Roman" panose="02020603050405020304" pitchFamily="18" charset="0"/>
              </a:rPr>
              <a:t>2</a:t>
            </a:r>
            <a:r>
              <a:rPr lang="en-US" altLang="zh-CN" sz="3200">
                <a:latin typeface="Times New Roman" panose="02020603050405020304" pitchFamily="18" charset="0"/>
                <a:cs typeface="Times New Roman" panose="02020603050405020304" pitchFamily="18" charset="0"/>
              </a:rPr>
              <a:t>+7x</a:t>
            </a:r>
            <a:r>
              <a:rPr lang="en-US" altLang="zh-CN" sz="3200" baseline="-25000">
                <a:latin typeface="Times New Roman" panose="02020603050405020304" pitchFamily="18" charset="0"/>
                <a:cs typeface="Times New Roman" panose="02020603050405020304" pitchFamily="18" charset="0"/>
              </a:rPr>
              <a:t>3</a:t>
            </a:r>
            <a:r>
              <a:rPr lang="en-US" altLang="zh-CN" sz="3200">
                <a:latin typeface="Times New Roman" panose="02020603050405020304" pitchFamily="18" charset="0"/>
                <a:cs typeface="Times New Roman" panose="02020603050405020304" pitchFamily="18" charset="0"/>
              </a:rPr>
              <a:t>+8x</a:t>
            </a:r>
            <a:r>
              <a:rPr lang="en-US" altLang="zh-CN" sz="3200" baseline="-25000">
                <a:latin typeface="Times New Roman" panose="02020603050405020304" pitchFamily="18" charset="0"/>
                <a:cs typeface="Times New Roman" panose="02020603050405020304" pitchFamily="18" charset="0"/>
              </a:rPr>
              <a:t>4</a:t>
            </a:r>
            <a:r>
              <a:rPr lang="en-US" altLang="zh-CN" sz="3200">
                <a:latin typeface="Times New Roman" panose="02020603050405020304" pitchFamily="18" charset="0"/>
                <a:cs typeface="Times New Roman" panose="02020603050405020304" pitchFamily="18" charset="0"/>
              </a:rPr>
              <a:t>+9x</a:t>
            </a:r>
            <a:r>
              <a:rPr lang="en-US" altLang="zh-CN" sz="3200" baseline="-25000">
                <a:latin typeface="Times New Roman" panose="02020603050405020304" pitchFamily="18" charset="0"/>
                <a:cs typeface="Times New Roman" panose="02020603050405020304" pitchFamily="18" charset="0"/>
              </a:rPr>
              <a:t>5</a:t>
            </a:r>
            <a:endParaRPr lang="en-US" altLang="zh-CN" sz="3200" baseline="-25000">
              <a:latin typeface="Times New Roman" panose="02020603050405020304" pitchFamily="18" charset="0"/>
              <a:cs typeface="Times New Roman" panose="02020603050405020304" pitchFamily="18" charset="0"/>
            </a:endParaRPr>
          </a:p>
          <a:p>
            <a:pPr algn="l"/>
            <a:r>
              <a:rPr lang="en-US" altLang="zh-CN" sz="3200" baseline="-250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约束条件：</a:t>
            </a:r>
            <a:r>
              <a:rPr lang="en-US" altLang="zh-CN" sz="3200">
                <a:latin typeface="Times New Roman" panose="02020603050405020304" pitchFamily="18" charset="0"/>
                <a:cs typeface="Times New Roman" panose="02020603050405020304" pitchFamily="18" charset="0"/>
                <a:sym typeface="+mn-ea"/>
              </a:rPr>
              <a:t>3x</a:t>
            </a:r>
            <a:r>
              <a:rPr lang="en-US" altLang="zh-CN" sz="3200" baseline="-25000">
                <a:latin typeface="Times New Roman" panose="02020603050405020304" pitchFamily="18" charset="0"/>
                <a:cs typeface="Times New Roman" panose="02020603050405020304" pitchFamily="18" charset="0"/>
                <a:sym typeface="+mn-ea"/>
              </a:rPr>
              <a:t>1</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2</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3</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4</a:t>
            </a:r>
            <a:r>
              <a:rPr lang="en-US" altLang="zh-CN" sz="3200">
                <a:latin typeface="Times New Roman" panose="02020603050405020304" pitchFamily="18" charset="0"/>
                <a:cs typeface="Times New Roman" panose="02020603050405020304" pitchFamily="18" charset="0"/>
                <a:sym typeface="+mn-ea"/>
              </a:rPr>
              <a:t>-2x</a:t>
            </a:r>
            <a:r>
              <a:rPr lang="en-US" altLang="zh-CN" sz="3200" baseline="-25000">
                <a:latin typeface="Times New Roman" panose="02020603050405020304" pitchFamily="18" charset="0"/>
                <a:cs typeface="Times New Roman" panose="02020603050405020304" pitchFamily="18" charset="0"/>
                <a:sym typeface="+mn-ea"/>
              </a:rPr>
              <a:t>5</a:t>
            </a:r>
            <a:r>
              <a:rPr lang="zh-CN" altLang="zh-CN" sz="320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3200">
                <a:latin typeface="Times New Roman" panose="02020603050405020304" pitchFamily="18" charset="0"/>
                <a:ea typeface="楷体" panose="02010609060101010101" pitchFamily="49" charset="-122"/>
                <a:cs typeface="Times New Roman" panose="02020603050405020304" pitchFamily="18" charset="0"/>
                <a:sym typeface="+mn-ea"/>
              </a:rPr>
              <a:t>2</a:t>
            </a:r>
            <a:endParaRPr lang="en-US" altLang="zh-CN" sz="3200">
              <a:latin typeface="Times New Roman" panose="02020603050405020304" pitchFamily="18" charset="0"/>
              <a:ea typeface="楷体" panose="02010609060101010101" pitchFamily="49" charset="-122"/>
              <a:cs typeface="Times New Roman" panose="02020603050405020304" pitchFamily="18" charset="0"/>
              <a:sym typeface="+mn-ea"/>
            </a:endParaRPr>
          </a:p>
          <a:p>
            <a:pPr algn="l"/>
            <a:r>
              <a:rPr lang="en-US" altLang="zh-CN" sz="3200">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1</a:t>
            </a:r>
            <a:r>
              <a:rPr lang="en-US" altLang="zh-CN" sz="3200">
                <a:latin typeface="Times New Roman" panose="02020603050405020304" pitchFamily="18" charset="0"/>
                <a:cs typeface="Times New Roman" panose="02020603050405020304" pitchFamily="18" charset="0"/>
                <a:sym typeface="+mn-ea"/>
              </a:rPr>
              <a:t>+3x</a:t>
            </a:r>
            <a:r>
              <a:rPr lang="en-US" altLang="zh-CN" sz="3200" baseline="-25000">
                <a:latin typeface="Times New Roman" panose="02020603050405020304" pitchFamily="18" charset="0"/>
                <a:cs typeface="Times New Roman" panose="02020603050405020304" pitchFamily="18" charset="0"/>
                <a:sym typeface="+mn-ea"/>
              </a:rPr>
              <a:t>2</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3</a:t>
            </a:r>
            <a:r>
              <a:rPr lang="en-US" altLang="zh-CN" sz="3200">
                <a:latin typeface="Times New Roman" panose="02020603050405020304" pitchFamily="18" charset="0"/>
                <a:cs typeface="Times New Roman" panose="02020603050405020304" pitchFamily="18" charset="0"/>
                <a:sym typeface="+mn-ea"/>
              </a:rPr>
              <a:t>-2x</a:t>
            </a:r>
            <a:r>
              <a:rPr lang="en-US" altLang="zh-CN" sz="3200" baseline="-25000">
                <a:latin typeface="Times New Roman" panose="02020603050405020304" pitchFamily="18" charset="0"/>
                <a:cs typeface="Times New Roman" panose="02020603050405020304" pitchFamily="18" charset="0"/>
                <a:sym typeface="+mn-ea"/>
              </a:rPr>
              <a:t>4</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5</a:t>
            </a:r>
            <a:r>
              <a:rPr lang="zh-CN" altLang="zh-CN" sz="320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3200">
                <a:latin typeface="Times New Roman" panose="02020603050405020304" pitchFamily="18" charset="0"/>
                <a:ea typeface="楷体" panose="02010609060101010101" pitchFamily="49" charset="-122"/>
                <a:cs typeface="Times New Roman" panose="02020603050405020304" pitchFamily="18" charset="0"/>
                <a:sym typeface="+mn-ea"/>
              </a:rPr>
              <a:t>0</a:t>
            </a:r>
            <a:endParaRPr lang="en-US" altLang="zh-CN" sz="3200">
              <a:latin typeface="Times New Roman" panose="02020603050405020304" pitchFamily="18" charset="0"/>
              <a:ea typeface="楷体" panose="02010609060101010101" pitchFamily="49" charset="-122"/>
              <a:cs typeface="Times New Roman" panose="02020603050405020304" pitchFamily="18" charset="0"/>
              <a:sym typeface="+mn-ea"/>
            </a:endParaRPr>
          </a:p>
          <a:p>
            <a:pPr algn="l"/>
            <a:r>
              <a:rPr lang="en-US" altLang="zh-CN" sz="3200">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1</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2</a:t>
            </a:r>
            <a:r>
              <a:rPr lang="en-US" altLang="zh-CN" sz="3200">
                <a:latin typeface="Times New Roman" panose="02020603050405020304" pitchFamily="18" charset="0"/>
                <a:cs typeface="Times New Roman" panose="02020603050405020304" pitchFamily="18" charset="0"/>
                <a:sym typeface="+mn-ea"/>
              </a:rPr>
              <a:t>+3x</a:t>
            </a:r>
            <a:r>
              <a:rPr lang="en-US" altLang="zh-CN" sz="3200" baseline="-25000">
                <a:latin typeface="Times New Roman" panose="02020603050405020304" pitchFamily="18" charset="0"/>
                <a:cs typeface="Times New Roman" panose="02020603050405020304" pitchFamily="18" charset="0"/>
                <a:sym typeface="+mn-ea"/>
              </a:rPr>
              <a:t>3</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4</a:t>
            </a:r>
            <a:r>
              <a:rPr lang="en-US" altLang="zh-CN" sz="3200">
                <a:latin typeface="Times New Roman" panose="02020603050405020304" pitchFamily="18" charset="0"/>
                <a:cs typeface="Times New Roman" panose="02020603050405020304" pitchFamily="18" charset="0"/>
                <a:sym typeface="+mn-ea"/>
              </a:rPr>
              <a:t>+x</a:t>
            </a:r>
            <a:r>
              <a:rPr lang="en-US" altLang="zh-CN" sz="3200" baseline="-25000">
                <a:latin typeface="Times New Roman" panose="02020603050405020304" pitchFamily="18" charset="0"/>
                <a:cs typeface="Times New Roman" panose="02020603050405020304" pitchFamily="18" charset="0"/>
                <a:sym typeface="+mn-ea"/>
              </a:rPr>
              <a:t>5</a:t>
            </a:r>
            <a:r>
              <a:rPr lang="zh-CN" altLang="zh-CN" sz="3200">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3200">
                <a:latin typeface="Times New Roman" panose="02020603050405020304" pitchFamily="18" charset="0"/>
                <a:ea typeface="楷体" panose="02010609060101010101" pitchFamily="49" charset="-122"/>
                <a:cs typeface="Times New Roman" panose="02020603050405020304" pitchFamily="18" charset="0"/>
                <a:sym typeface="+mn-ea"/>
              </a:rPr>
              <a:t>1</a:t>
            </a:r>
            <a:endParaRPr kumimoji="1" lang="en-US" altLang="zh-CN" sz="320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a:p>
            <a:pPr algn="ctr"/>
            <a:r>
              <a:rPr lang="en-US" altLang="zh-CN" sz="3200">
                <a:latin typeface="Times New Roman" panose="02020603050405020304" pitchFamily="18" charset="0"/>
                <a:cs typeface="Times New Roman" panose="02020603050405020304" pitchFamily="18" charset="0"/>
                <a:sym typeface="+mn-ea"/>
              </a:rPr>
              <a:t>                x</a:t>
            </a:r>
            <a:r>
              <a:rPr lang="en-US" altLang="zh-CN" sz="3200" baseline="-25000">
                <a:latin typeface="Times New Roman" panose="02020603050405020304" pitchFamily="18" charset="0"/>
                <a:cs typeface="Times New Roman" panose="02020603050405020304" pitchFamily="18" charset="0"/>
                <a:sym typeface="+mn-ea"/>
              </a:rPr>
              <a:t>j</a:t>
            </a:r>
            <a:r>
              <a:rPr lang="en-US" altLang="zh-CN" sz="3200">
                <a:latin typeface="Times New Roman" panose="02020603050405020304" pitchFamily="18" charset="0"/>
                <a:cs typeface="Times New Roman" panose="02020603050405020304" pitchFamily="18" charset="0"/>
                <a:sym typeface="+mn-ea"/>
              </a:rPr>
              <a:t>=0 </a:t>
            </a:r>
            <a:r>
              <a:rPr lang="zh-CN" altLang="en-US" sz="3200">
                <a:latin typeface="Times New Roman" panose="02020603050405020304" pitchFamily="18" charset="0"/>
                <a:cs typeface="Times New Roman" panose="02020603050405020304" pitchFamily="18" charset="0"/>
                <a:sym typeface="+mn-ea"/>
              </a:rPr>
              <a:t>或</a:t>
            </a:r>
            <a:r>
              <a:rPr lang="en-US" altLang="zh-CN" sz="3200">
                <a:latin typeface="Times New Roman" panose="02020603050405020304" pitchFamily="18" charset="0"/>
                <a:cs typeface="Times New Roman" panose="02020603050405020304" pitchFamily="18" charset="0"/>
                <a:sym typeface="+mn-ea"/>
              </a:rPr>
              <a:t>1</a:t>
            </a:r>
            <a:endParaRPr lang="en-US" altLang="zh-CN" sz="3200" baseline="-25000">
              <a:latin typeface="Times New Roman" panose="02020603050405020304" pitchFamily="18" charset="0"/>
              <a:cs typeface="Times New Roman" panose="02020603050405020304" pitchFamily="18" charset="0"/>
              <a:sym typeface="+mn-ea"/>
            </a:endParaRPr>
          </a:p>
          <a:p>
            <a:pPr algn="ctr"/>
            <a:endParaRPr lang="en-US" altLang="zh-CN" sz="3200">
              <a:latin typeface="Times New Roman" panose="02020603050405020304" pitchFamily="18" charset="0"/>
              <a:cs typeface="Times New Roman" panose="02020603050405020304" pitchFamily="18" charset="0"/>
            </a:endParaRPr>
          </a:p>
        </p:txBody>
      </p:sp>
    </p:spTree>
  </p:cSld>
  <p:clrMapOvr>
    <a:masterClrMapping/>
  </p:clrMapOvr>
  <p:transition spd="slow">
    <p:zo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楷体" panose="02010609060101010101" pitchFamily="49" charset="-122"/>
                <a:ea typeface="楷体" panose="02010609060101010101" pitchFamily="49" charset="-122"/>
              </a:rPr>
              <a:t>本章总结</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p:txBody>
          <a:bodyPr>
            <a:normAutofit fontScale="92500" lnSpcReduction="20000"/>
          </a:bodyPr>
          <a:lstStyle/>
          <a:p>
            <a:r>
              <a:rPr lang="zh-CN" altLang="en-US" dirty="0">
                <a:latin typeface="楷体" panose="02010609060101010101" pitchFamily="49" charset="-122"/>
                <a:ea typeface="楷体" panose="02010609060101010101" pitchFamily="49" charset="-122"/>
              </a:rPr>
              <a:t>整数规划的定义</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什么是整数规划问题的定义？</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整数规划问题包含哪些类型？</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整数规划问题的最优解能否通过相应线性规划最优解取整或四舍五入得到？</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整数规划的图解法</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整数规划问题的性质</a:t>
            </a:r>
            <a:r>
              <a:rPr lang="en-US" altLang="zh-CN" dirty="0">
                <a:latin typeface="楷体" panose="02010609060101010101" pitchFamily="49" charset="-122"/>
                <a:ea typeface="楷体" panose="02010609060101010101" pitchFamily="49" charset="-122"/>
              </a:rPr>
              <a:t>1</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整数规划的分</a:t>
            </a:r>
            <a:r>
              <a:rPr lang="zh-CN" altLang="en-US" dirty="0">
                <a:latin typeface="楷体" panose="02010609060101010101" pitchFamily="49" charset="-122"/>
                <a:ea typeface="楷体" panose="02010609060101010101" pitchFamily="49" charset="-122"/>
              </a:rPr>
              <a:t>枝定</a:t>
            </a:r>
            <a:r>
              <a:rPr lang="zh-CN" altLang="en-US" dirty="0">
                <a:latin typeface="楷体" panose="02010609060101010101" pitchFamily="49" charset="-122"/>
                <a:ea typeface="楷体" panose="02010609060101010101" pitchFamily="49" charset="-122"/>
                <a:sym typeface="+mn-ea"/>
              </a:rPr>
              <a:t>界</a:t>
            </a:r>
            <a:r>
              <a:rPr lang="zh-CN" altLang="en-US" dirty="0">
                <a:latin typeface="楷体" panose="02010609060101010101" pitchFamily="49" charset="-122"/>
                <a:ea typeface="楷体" panose="02010609060101010101" pitchFamily="49" charset="-122"/>
              </a:rPr>
              <a:t>法</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当整数规划相应的线性规划问题最优解为何种情况时，我们可以使用分</a:t>
            </a:r>
            <a:r>
              <a:rPr lang="zh-CN" altLang="en-US" dirty="0">
                <a:latin typeface="楷体" panose="02010609060101010101" pitchFamily="49" charset="-122"/>
                <a:ea typeface="楷体" panose="02010609060101010101" pitchFamily="49" charset="-122"/>
              </a:rPr>
              <a:t>枝定界法求解？</a:t>
            </a:r>
            <a:endParaRPr lang="en-US" altLang="zh-CN" dirty="0">
              <a:latin typeface="楷体" panose="02010609060101010101" pitchFamily="49" charset="-122"/>
              <a:ea typeface="楷体" panose="02010609060101010101" pitchFamily="49" charset="-122"/>
            </a:endParaRPr>
          </a:p>
          <a:p>
            <a:pPr lvl="1"/>
            <a:r>
              <a:rPr lang="zh-CN" altLang="en-US" dirty="0">
                <a:latin typeface="楷体" panose="02010609060101010101" pitchFamily="49" charset="-122"/>
                <a:ea typeface="楷体" panose="02010609060101010101" pitchFamily="49" charset="-122"/>
              </a:rPr>
              <a:t>整数规划的分</a:t>
            </a:r>
            <a:r>
              <a:rPr lang="zh-CN" altLang="en-US" dirty="0">
                <a:latin typeface="楷体" panose="02010609060101010101" pitchFamily="49" charset="-122"/>
                <a:ea typeface="楷体" panose="02010609060101010101" pitchFamily="49" charset="-122"/>
              </a:rPr>
              <a:t>枝定</a:t>
            </a:r>
            <a:r>
              <a:rPr lang="zh-CN" altLang="en-US" dirty="0">
                <a:latin typeface="楷体" panose="02010609060101010101" pitchFamily="49" charset="-122"/>
                <a:ea typeface="楷体" panose="02010609060101010101" pitchFamily="49" charset="-122"/>
              </a:rPr>
              <a:t>界法中所提到的性质</a:t>
            </a:r>
            <a:r>
              <a:rPr lang="en-US" altLang="zh-CN" dirty="0">
                <a:latin typeface="楷体" panose="02010609060101010101" pitchFamily="49" charset="-122"/>
                <a:ea typeface="楷体" panose="02010609060101010101" pitchFamily="49" charset="-122"/>
              </a:rPr>
              <a:t>2</a:t>
            </a:r>
            <a:endParaRPr lang="en-US" altLang="zh-CN" dirty="0">
              <a:latin typeface="楷体" panose="02010609060101010101" pitchFamily="49" charset="-122"/>
              <a:ea typeface="楷体" panose="02010609060101010101" pitchFamily="49" charset="-122"/>
            </a:endParaRPr>
          </a:p>
          <a:p>
            <a:r>
              <a:rPr lang="zh-CN" altLang="en-US" dirty="0">
                <a:latin typeface="楷体" panose="02010609060101010101" pitchFamily="49" charset="-122"/>
                <a:ea typeface="楷体" panose="02010609060101010101" pitchFamily="49" charset="-122"/>
              </a:rPr>
              <a:t>整数规划的应用</a:t>
            </a:r>
            <a:endParaRPr lang="zh-CN" altLang="en-US" dirty="0">
              <a:latin typeface="楷体" panose="02010609060101010101" pitchFamily="49" charset="-122"/>
              <a:ea typeface="楷体" panose="02010609060101010101" pitchFamily="49" charset="-122"/>
            </a:endParaRPr>
          </a:p>
          <a:p>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规划的解法</a:t>
            </a:r>
            <a:endParaRPr lang="en-US" altLang="zh-CN" dirty="0">
              <a:latin typeface="楷体" panose="02010609060101010101" pitchFamily="49" charset="-122"/>
              <a:ea typeface="楷体" panose="02010609060101010101" pitchFamily="49" charset="-122"/>
            </a:endParaRPr>
          </a:p>
          <a:p>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整数规划的最优解是先求相应的线性规划的最优解然后取整得到的</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TextBox 12"/>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正确</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TextBox 13"/>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错误</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Oval 16"/>
          <p:cNvSpPr>
            <a:spLocks noChangeAspect="1"/>
          </p:cNvSpPr>
          <p:nvPr>
            <p:custDataLst>
              <p:tags r:id="rId4"/>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Group 10"/>
          <p:cNvGrpSpPr/>
          <p:nvPr>
            <p:custDataLst>
              <p:tags r:id="rId5"/>
            </p:custDataLst>
          </p:nvPr>
        </p:nvGrpSpPr>
        <p:grpSpPr>
          <a:xfrm>
            <a:off x="0" y="0"/>
            <a:ext cx="12192000" cy="635000"/>
            <a:chOff x="0" y="0"/>
            <a:chExt cx="12192000" cy="635000"/>
          </a:xfrm>
        </p:grpSpPr>
        <p:sp>
          <p:nvSpPr>
            <p:cNvPr id="7" name="TitleBackground"/>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lorBlock"/>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ja-JP"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3" name="Oval 16"/>
          <p:cNvSpPr>
            <a:spLocks noChangeAspect="1"/>
          </p:cNvSpPr>
          <p:nvPr>
            <p:custDataLst>
              <p:tags r:id="rId10"/>
            </p:custDataLst>
          </p:nvPr>
        </p:nvSpPr>
        <p:spPr>
          <a:xfrm>
            <a:off x="1574800" y="376983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部分变量要求是整数的规划问题称为纯整数规划</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extBox 9"/>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正确</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TextBox 10"/>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错误</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Oval 13"/>
          <p:cNvSpPr>
            <a:spLocks noChangeAspect="1"/>
          </p:cNvSpPr>
          <p:nvPr>
            <p:custDataLst>
              <p:tags r:id="rId4"/>
            </p:custDataLst>
          </p:nvPr>
        </p:nvSpPr>
        <p:spPr>
          <a:xfrm>
            <a:off x="15716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8" name="Group 7"/>
          <p:cNvGrpSpPr/>
          <p:nvPr>
            <p:custDataLst>
              <p:tags r:id="rId5"/>
            </p:custDataLst>
          </p:nvPr>
        </p:nvGrpSpPr>
        <p:grpSpPr>
          <a:xfrm>
            <a:off x="0" y="0"/>
            <a:ext cx="12192000" cy="635000"/>
            <a:chOff x="0" y="0"/>
            <a:chExt cx="12192000" cy="635000"/>
          </a:xfrm>
        </p:grpSpPr>
        <p:sp>
          <p:nvSpPr>
            <p:cNvPr id="4" name="TitleBackground"/>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lorBlock"/>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ja-JP"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 name="Oval 13"/>
          <p:cNvSpPr>
            <a:spLocks noChangeAspect="1"/>
          </p:cNvSpPr>
          <p:nvPr>
            <p:custDataLst>
              <p:tags r:id="rId10"/>
            </p:custDataLst>
          </p:nvPr>
        </p:nvSpPr>
        <p:spPr>
          <a:xfrm>
            <a:off x="1574800" y="378634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变量取</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0</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或</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的规划是整数规划</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extBox 9"/>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正确</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TextBox 10"/>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错误</a:t>
            </a:r>
            <a:endParaRPr 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Oval 14"/>
          <p:cNvSpPr>
            <a:spLocks noChangeAspect="1"/>
          </p:cNvSpPr>
          <p:nvPr>
            <p:custDataLst>
              <p:tags r:id="rId4"/>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8" name="Group 7"/>
          <p:cNvGrpSpPr/>
          <p:nvPr>
            <p:custDataLst>
              <p:tags r:id="rId5"/>
            </p:custDataLst>
          </p:nvPr>
        </p:nvGrpSpPr>
        <p:grpSpPr>
          <a:xfrm>
            <a:off x="0" y="0"/>
            <a:ext cx="12192000" cy="635000"/>
            <a:chOff x="0" y="0"/>
            <a:chExt cx="12192000" cy="635000"/>
          </a:xfrm>
        </p:grpSpPr>
        <p:sp>
          <p:nvSpPr>
            <p:cNvPr id="4" name="TitleBackground"/>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lorBlock"/>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15000"/>
                    </a:schemeClr>
                  </a:solidFill>
                  <a:prstDash val="solid"/>
                  <a:miter lim="800000"/>
                  <a:headEnd/>
                  <a:tailEn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ja-JP"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ja-JP"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ja-JP"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 name="Oval 14"/>
          <p:cNvSpPr>
            <a:spLocks noChangeAspect="1"/>
          </p:cNvSpPr>
          <p:nvPr>
            <p:custDataLst>
              <p:tags r:id="rId10"/>
            </p:custDataLst>
          </p:nvPr>
        </p:nvSpPr>
        <p:spPr>
          <a:xfrm>
            <a:off x="1566545" y="2819241"/>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p>
            <a:pPr algn="ctr"/>
            <a:r>
              <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ustDataLst>
      <p:tags r:id="rId1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err="1">
                <a:latin typeface="华文楷体" panose="02010600040101010101" charset="-122"/>
                <a:ea typeface="华文楷体" panose="02010600040101010101" charset="-122"/>
              </a:rPr>
              <a:t>课后作业（仅写出整数规划</a:t>
            </a:r>
            <a:r>
              <a:rPr lang="zh-CN" altLang="en-US" dirty="0" err="1">
                <a:latin typeface="华文楷体" panose="02010600040101010101" charset="-122"/>
                <a:ea typeface="华文楷体" panose="02010600040101010101" charset="-122"/>
              </a:rPr>
              <a:t>模型）</a:t>
            </a:r>
            <a:endParaRPr lang="zh-CN" altLang="en-US" dirty="0" err="1">
              <a:latin typeface="华文楷体" panose="02010600040101010101" charset="-122"/>
              <a:ea typeface="华文楷体" panose="02010600040101010101" charset="-122"/>
            </a:endParaRPr>
          </a:p>
        </p:txBody>
      </p:sp>
      <p:sp>
        <p:nvSpPr>
          <p:cNvPr id="3" name="Content Placeholder 2"/>
          <p:cNvSpPr>
            <a:spLocks noGrp="1"/>
          </p:cNvSpPr>
          <p:nvPr>
            <p:ph idx="1"/>
          </p:nvPr>
        </p:nvSpPr>
        <p:spPr/>
        <p:txBody>
          <a:bodyPr>
            <a:normAutofit/>
          </a:bodyPr>
          <a:lstStyle/>
          <a:p>
            <a:r>
              <a:rPr lang="zh-CN" altLang="en-US" dirty="0">
                <a:latin typeface="华文楷体" panose="02010600040101010101" charset="-122"/>
                <a:ea typeface="华文楷体" panose="02010600040101010101" charset="-122"/>
                <a:cs typeface="华文楷体" panose="02010600040101010101" charset="-122"/>
              </a:rPr>
              <a:t>第八章课后习题</a:t>
            </a:r>
            <a:r>
              <a:rPr lang="en-US" dirty="0">
                <a:latin typeface="华文楷体" panose="02010600040101010101" charset="-122"/>
                <a:ea typeface="华文楷体" panose="02010600040101010101" charset="-122"/>
                <a:cs typeface="华文楷体" panose="02010600040101010101" charset="-122"/>
              </a:rPr>
              <a:t>8</a:t>
            </a:r>
            <a:r>
              <a:rPr lang="zh-CN" altLang="en-US" dirty="0">
                <a:latin typeface="华文楷体" panose="02010600040101010101" charset="-122"/>
                <a:ea typeface="华文楷体" panose="02010600040101010101" charset="-122"/>
                <a:cs typeface="华文楷体" panose="02010600040101010101" charset="-122"/>
              </a:rPr>
              <a:t>，</a:t>
            </a:r>
            <a:r>
              <a:rPr lang="en-US" altLang="zh-CN" dirty="0">
                <a:latin typeface="华文楷体" panose="02010600040101010101" charset="-122"/>
                <a:ea typeface="华文楷体" panose="02010600040101010101" charset="-122"/>
                <a:cs typeface="华文楷体" panose="02010600040101010101" charset="-122"/>
              </a:rPr>
              <a:t>1</a:t>
            </a:r>
            <a:r>
              <a:rPr lang="en-US" dirty="0">
                <a:latin typeface="华文楷体" panose="02010600040101010101" charset="-122"/>
                <a:ea typeface="华文楷体" panose="02010600040101010101" charset="-122"/>
                <a:cs typeface="华文楷体" panose="02010600040101010101" charset="-122"/>
              </a:rPr>
              <a:t>0</a:t>
            </a:r>
            <a:r>
              <a:rPr lang="en-US" altLang="zh-CN" dirty="0">
                <a:latin typeface="华文楷体" panose="02010600040101010101" charset="-122"/>
                <a:ea typeface="华文楷体" panose="02010600040101010101" charset="-122"/>
                <a:cs typeface="华文楷体" panose="02010600040101010101" charset="-122"/>
              </a:rPr>
              <a:t>  </a:t>
            </a:r>
            <a:r>
              <a:rPr lang="zh-CN" altLang="en-US" dirty="0">
                <a:latin typeface="华文楷体" panose="02010600040101010101" charset="-122"/>
                <a:ea typeface="华文楷体" panose="02010600040101010101" charset="-122"/>
                <a:cs typeface="华文楷体" panose="02010600040101010101" charset="-122"/>
              </a:rPr>
              <a:t>（第五版）</a:t>
            </a:r>
            <a:endParaRPr lang="zh-CN" altLang="en-US" dirty="0">
              <a:latin typeface="华文楷体" panose="02010600040101010101" charset="-122"/>
              <a:ea typeface="华文楷体" panose="02010600040101010101" charset="-122"/>
              <a:cs typeface="华文楷体" panose="02010600040101010101" charset="-122"/>
            </a:endParaRPr>
          </a:p>
          <a:p>
            <a:r>
              <a:rPr lang="zh-CN" altLang="en-US" dirty="0">
                <a:latin typeface="华文楷体" panose="02010600040101010101" charset="-122"/>
                <a:ea typeface="华文楷体" panose="02010600040101010101" charset="-122"/>
                <a:cs typeface="华文楷体" panose="02010600040101010101" charset="-122"/>
              </a:rPr>
              <a:t>或</a:t>
            </a:r>
            <a:r>
              <a:rPr lang="zh-CN" altLang="en-US" dirty="0">
                <a:latin typeface="华文楷体" panose="02010600040101010101" charset="-122"/>
                <a:ea typeface="华文楷体" panose="02010600040101010101" charset="-122"/>
                <a:cs typeface="华文楷体" panose="02010600040101010101" charset="-122"/>
                <a:sym typeface="+mn-ea"/>
              </a:rPr>
              <a:t>第</a:t>
            </a:r>
            <a:r>
              <a:rPr lang="zh-CN" altLang="en-US" dirty="0">
                <a:latin typeface="华文楷体" panose="02010600040101010101" charset="-122"/>
                <a:ea typeface="华文楷体" panose="02010600040101010101" charset="-122"/>
                <a:cs typeface="华文楷体" panose="02010600040101010101" charset="-122"/>
                <a:sym typeface="+mn-ea"/>
              </a:rPr>
              <a:t>八</a:t>
            </a:r>
            <a:r>
              <a:rPr lang="zh-CN" altLang="en-US" dirty="0">
                <a:latin typeface="华文楷体" panose="02010600040101010101" charset="-122"/>
                <a:ea typeface="华文楷体" panose="02010600040101010101" charset="-122"/>
                <a:cs typeface="华文楷体" panose="02010600040101010101" charset="-122"/>
                <a:sym typeface="+mn-ea"/>
              </a:rPr>
              <a:t>章课后习题</a:t>
            </a:r>
            <a:r>
              <a:rPr lang="en-US" altLang="zh-CN" dirty="0">
                <a:latin typeface="华文楷体" panose="02010600040101010101" charset="-122"/>
                <a:ea typeface="华文楷体" panose="02010600040101010101" charset="-122"/>
                <a:cs typeface="华文楷体" panose="02010600040101010101" charset="-122"/>
                <a:sym typeface="+mn-ea"/>
              </a:rPr>
              <a:t>5</a:t>
            </a:r>
            <a:r>
              <a:rPr lang="zh-CN" altLang="en-US" dirty="0">
                <a:latin typeface="华文楷体" panose="02010600040101010101" charset="-122"/>
                <a:ea typeface="华文楷体" panose="02010600040101010101" charset="-122"/>
                <a:cs typeface="华文楷体" panose="02010600040101010101" charset="-122"/>
                <a:sym typeface="+mn-ea"/>
              </a:rPr>
              <a:t>，</a:t>
            </a:r>
            <a:r>
              <a:rPr lang="en-US" altLang="zh-CN" dirty="0">
                <a:latin typeface="华文楷体" panose="02010600040101010101" charset="-122"/>
                <a:ea typeface="华文楷体" panose="02010600040101010101" charset="-122"/>
                <a:cs typeface="华文楷体" panose="02010600040101010101" charset="-122"/>
                <a:sym typeface="+mn-ea"/>
              </a:rPr>
              <a:t>6</a:t>
            </a:r>
            <a:r>
              <a:rPr lang="zh-CN" altLang="en-US" dirty="0">
                <a:latin typeface="华文楷体" panose="02010600040101010101" charset="-122"/>
                <a:ea typeface="华文楷体" panose="02010600040101010101" charset="-122"/>
                <a:cs typeface="华文楷体" panose="02010600040101010101" charset="-122"/>
                <a:sym typeface="+mn-ea"/>
              </a:rPr>
              <a:t>（第四版）</a:t>
            </a:r>
            <a:endParaRPr lang="en-US" altLang="zh-CN" dirty="0">
              <a:latin typeface="华文楷体" panose="02010600040101010101" charset="-122"/>
              <a:ea typeface="华文楷体" panose="02010600040101010101" charset="-122"/>
              <a:cs typeface="华文楷体" panose="02010600040101010101" charset="-122"/>
              <a:sym typeface="+mn-ea"/>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687*225"/>
  <p:tag name="TABLE_ENDDRAG_RECT" val="152*303*687*225"/>
</p:tagLst>
</file>

<file path=ppt/tags/tag2.xml><?xml version="1.0" encoding="utf-8"?>
<p:tagLst xmlns:p="http://schemas.openxmlformats.org/presentationml/2006/main">
  <p:tag name="TABLE_ENDDRAG_ORIGIN_RECT" val="687*225"/>
  <p:tag name="TABLE_ENDDRAG_RECT" val="152*303*687*225"/>
</p:tagLst>
</file>

<file path=ppt/tags/tag3.xml><?xml version="1.0" encoding="utf-8"?>
<p:tagLst xmlns:p="http://schemas.openxmlformats.org/presentationml/2006/main">
  <p:tag name="TABLE_ENDDRAG_ORIGIN_RECT" val="822*233"/>
  <p:tag name="TABLE_ENDDRAG_RECT" val="71*238*822*233"/>
</p:tagLst>
</file>

<file path=ppt/tags/tag4.xml><?xml version="1.0" encoding="utf-8"?>
<p:tagLst xmlns:p="http://schemas.openxmlformats.org/presentationml/2006/main">
  <p:tag name="RAINPROBLEM" val="ProblemBody"/>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TYPE" val="ProblemTypeMarker"/>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 val="ProblemBullet"/>
  <p:tag name="RAINPROBLEMTYPE" val="MultipleChoice"/>
  <p:tag name="RAINBULLET" val="Wrong"/>
</p:tagLst>
</file>

<file path=ppt/tags/tag14.xml><?xml version="1.0" encoding="utf-8"?>
<p:tagLst xmlns:p="http://schemas.openxmlformats.org/presentationml/2006/main">
  <p:tag name="RAINPROBLEM" val="MultipleChoice"/>
  <p:tag name="PROBLEMSCORE" val="1"/>
</p:tagLst>
</file>

<file path=ppt/tags/tag15.xml><?xml version="1.0" encoding="utf-8"?>
<p:tagLst xmlns:p="http://schemas.openxmlformats.org/presentationml/2006/main">
  <p:tag name="RAINPROBLEM" val="ProblemBody"/>
</p:tagLst>
</file>

<file path=ppt/tags/tag16.xml><?xml version="1.0" encoding="utf-8"?>
<p:tagLst xmlns:p="http://schemas.openxmlformats.org/presentationml/2006/main">
  <p:tag name="RAINPROBLEM" val="ProblemItem"/>
</p:tagLst>
</file>

<file path=ppt/tags/tag17.xml><?xml version="1.0" encoding="utf-8"?>
<p:tagLst xmlns:p="http://schemas.openxmlformats.org/presentationml/2006/main">
  <p:tag name="RAINPROBLEM" val="ProblemItem"/>
</p:tagLst>
</file>

<file path=ppt/tags/tag18.xml><?xml version="1.0" encoding="utf-8"?>
<p:tagLst xmlns:p="http://schemas.openxmlformats.org/presentationml/2006/main">
  <p:tag name="RAINPROBLEM" val="ProblemBullet"/>
  <p:tag name="RAINPROBLEMTYPE" val="MultipleChoice"/>
  <p:tag name="RAINBULLET" val="Wrong"/>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 val="ProblemBullet"/>
  <p:tag name="RAINPROBLEMTYPE" val="MultipleChoice"/>
  <p:tag name="RAINBULLET" val="Wrong"/>
</p:tagLst>
</file>

<file path=ppt/tags/tag25.xml><?xml version="1.0" encoding="utf-8"?>
<p:tagLst xmlns:p="http://schemas.openxmlformats.org/presentationml/2006/main">
  <p:tag name="RAINPROBLEM" val="MultipleChoice"/>
  <p:tag name="PROBLEMSCORE" val="1"/>
</p:tagLst>
</file>

<file path=ppt/tags/tag26.xml><?xml version="1.0" encoding="utf-8"?>
<p:tagLst xmlns:p="http://schemas.openxmlformats.org/presentationml/2006/main">
  <p:tag name="RAINPROBLEM" val="ProblemBody"/>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Bullet"/>
  <p:tag name="RAINPROBLEMTYPE" val="MultipleChoice"/>
  <p:tag name="RAINBULLET" val="Wrong"/>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TYPE" val="ProblemTypeMarker"/>
</p:tagLst>
</file>

<file path=ppt/tags/tag35.xml><?xml version="1.0" encoding="utf-8"?>
<p:tagLst xmlns:p="http://schemas.openxmlformats.org/presentationml/2006/main">
  <p:tag name="RAINPROBLEM" val="ProblemBullet"/>
  <p:tag name="RAINPROBLEMTYPE" val="MultipleChoice"/>
  <p:tag name="RAINBULLET" val="Wrong"/>
</p:tagLst>
</file>

<file path=ppt/tags/tag36.xml><?xml version="1.0" encoding="utf-8"?>
<p:tagLst xmlns:p="http://schemas.openxmlformats.org/presentationml/2006/main">
  <p:tag name="RAINPROBLEM" val="MultipleChoice"/>
  <p:tag name="PROBLEMSCORE" val="1"/>
</p:tagLst>
</file>

<file path=ppt/theme/theme1.xml><?xml version="1.0" encoding="utf-8"?>
<a:theme xmlns:a="http://schemas.openxmlformats.org/drawingml/2006/main" name="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14854</Words>
  <Application>WPS 演示</Application>
  <PresentationFormat>宽屏</PresentationFormat>
  <Paragraphs>1503</Paragraphs>
  <Slides>70</Slides>
  <Notes>0</Notes>
  <HiddenSlides>0</HiddenSlides>
  <MMClips>0</MMClips>
  <ScaleCrop>false</ScaleCrop>
  <HeadingPairs>
    <vt:vector size="8" baseType="variant">
      <vt:variant>
        <vt:lpstr>已用的字体</vt:lpstr>
      </vt:variant>
      <vt:variant>
        <vt:i4>17</vt:i4>
      </vt:variant>
      <vt:variant>
        <vt:lpstr>主题</vt:lpstr>
      </vt:variant>
      <vt:variant>
        <vt:i4>4</vt:i4>
      </vt:variant>
      <vt:variant>
        <vt:lpstr>嵌入 OLE 服务器</vt:lpstr>
      </vt:variant>
      <vt:variant>
        <vt:i4>2</vt:i4>
      </vt:variant>
      <vt:variant>
        <vt:lpstr>幻灯片标题</vt:lpstr>
      </vt:variant>
      <vt:variant>
        <vt:i4>70</vt:i4>
      </vt:variant>
    </vt:vector>
  </HeadingPairs>
  <TitlesOfParts>
    <vt:vector size="93" baseType="lpstr">
      <vt:lpstr>Arial</vt:lpstr>
      <vt:lpstr>宋体</vt:lpstr>
      <vt:lpstr>Wingdings</vt:lpstr>
      <vt:lpstr>微软雅黑</vt:lpstr>
      <vt:lpstr>DIN Light</vt:lpstr>
      <vt:lpstr>微软雅黑 Light</vt:lpstr>
      <vt:lpstr>等线</vt:lpstr>
      <vt:lpstr>Segoe UI Light</vt:lpstr>
      <vt:lpstr>楷体</vt:lpstr>
      <vt:lpstr>Times New Roman</vt:lpstr>
      <vt:lpstr>华文楷体</vt:lpstr>
      <vt:lpstr>Cambria Math</vt:lpstr>
      <vt:lpstr>Calibri</vt:lpstr>
      <vt:lpstr>仿宋</vt:lpstr>
      <vt:lpstr>Courant</vt:lpstr>
      <vt:lpstr>Arial Unicode MS</vt:lpstr>
      <vt:lpstr>等线 Light</vt:lpstr>
      <vt:lpstr>主题1</vt:lpstr>
      <vt:lpstr>自定义设计方案</vt:lpstr>
      <vt:lpstr>1_Office 主题​​</vt:lpstr>
      <vt:lpstr>1_主题1</vt:lpstr>
      <vt:lpstr>Word.Document.8</vt:lpstr>
      <vt:lpstr>Word.Document.8</vt:lpstr>
      <vt:lpstr>PowerPoint 演示文稿</vt:lpstr>
      <vt:lpstr>章节内容</vt:lpstr>
      <vt:lpstr>整数规划的定义</vt:lpstr>
      <vt:lpstr>整数规划的定义</vt:lpstr>
      <vt:lpstr>PowerPoint 演示文稿</vt:lpstr>
      <vt:lpstr>PowerPoint 演示文稿</vt:lpstr>
      <vt:lpstr>PowerPoint 演示文稿</vt:lpstr>
      <vt:lpstr>PowerPoint 演示文稿</vt:lpstr>
      <vt:lpstr>整数规划的图解法</vt:lpstr>
      <vt:lpstr>整数规划的图解法</vt:lpstr>
      <vt:lpstr>PowerPoint 演示文稿</vt:lpstr>
      <vt:lpstr>整数规划的图解法</vt:lpstr>
      <vt:lpstr>整数规划最优值的性质</vt:lpstr>
      <vt:lpstr>整数规划的分枝定界法</vt:lpstr>
      <vt:lpstr>整数规划的分枝定界法 – 流程图</vt:lpstr>
      <vt:lpstr>整数规划的分支定界法</vt:lpstr>
      <vt:lpstr>整数规划的分枝定界法求解思路图</vt:lpstr>
      <vt:lpstr>PowerPoint 演示文稿</vt:lpstr>
      <vt:lpstr>整数规划的应用</vt:lpstr>
      <vt:lpstr>整数规划的应用-投资场所的选择</vt:lpstr>
      <vt:lpstr>PowerPoint 演示文稿</vt:lpstr>
      <vt:lpstr>PowerPoint 演示文稿</vt:lpstr>
      <vt:lpstr>PowerPoint 演示文稿</vt:lpstr>
      <vt:lpstr>PowerPoint 演示文稿</vt:lpstr>
      <vt:lpstr>整数规划的应用-指派问题</vt:lpstr>
      <vt:lpstr>整数规划的应用-指派问题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本章总结</vt:lpstr>
      <vt:lpstr>PowerPoint 演示文稿</vt:lpstr>
      <vt:lpstr>PowerPoint 演示文稿</vt:lpstr>
      <vt:lpstr>PowerPoint 演示文稿</vt:lpstr>
      <vt:lpstr>课后作业（仅写出整数规划模型）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Siyu Bian</dc:creator>
  <cp:lastModifiedBy>world</cp:lastModifiedBy>
  <cp:revision>53</cp:revision>
  <dcterms:created xsi:type="dcterms:W3CDTF">2023-05-24T06:11:00Z</dcterms:created>
  <dcterms:modified xsi:type="dcterms:W3CDTF">2026-04-14T04:24:03Z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D6B1CF3B90F44F77B74E8707B9CC8364_12</vt:lpwstr>
  </property>
  <property fmtid="{D5CDD505-2E9C-101B-9397-08002B2CF9AE}" pid="3" name="KSOProductBuildVer">
    <vt:lpwstr>2052-12.1.0.25225</vt:lpwstr>
  </property>
</Properties>
</file>