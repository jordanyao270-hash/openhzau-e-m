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11"/>
  </p:notesMasterIdLst>
  <p:sldIdLst>
    <p:sldId id="258" r:id="rId6"/>
    <p:sldId id="257" r:id="rId7"/>
    <p:sldId id="259" r:id="rId8"/>
    <p:sldId id="291" r:id="rId9"/>
    <p:sldId id="347" r:id="rId10"/>
    <p:sldId id="348" r:id="rId12"/>
    <p:sldId id="349" r:id="rId13"/>
    <p:sldId id="260" r:id="rId14"/>
    <p:sldId id="261" r:id="rId15"/>
    <p:sldId id="262" r:id="rId16"/>
    <p:sldId id="354" r:id="rId17"/>
    <p:sldId id="355" r:id="rId18"/>
    <p:sldId id="357" r:id="rId19"/>
    <p:sldId id="358" r:id="rId20"/>
    <p:sldId id="351" r:id="rId21"/>
    <p:sldId id="266" r:id="rId22"/>
    <p:sldId id="267" r:id="rId23"/>
    <p:sldId id="356" r:id="rId24"/>
    <p:sldId id="268" r:id="rId25"/>
    <p:sldId id="360" r:id="rId26"/>
    <p:sldId id="361" r:id="rId27"/>
    <p:sldId id="323" r:id="rId28"/>
    <p:sldId id="269" r:id="rId29"/>
    <p:sldId id="270" r:id="rId30"/>
    <p:sldId id="271" r:id="rId31"/>
    <p:sldId id="272" r:id="rId32"/>
    <p:sldId id="273" r:id="rId33"/>
    <p:sldId id="362" r:id="rId34"/>
    <p:sldId id="363" r:id="rId35"/>
    <p:sldId id="415" r:id="rId36"/>
    <p:sldId id="364" r:id="rId37"/>
    <p:sldId id="365" r:id="rId38"/>
    <p:sldId id="366" r:id="rId39"/>
    <p:sldId id="367" r:id="rId40"/>
    <p:sldId id="276" r:id="rId41"/>
    <p:sldId id="369" r:id="rId42"/>
    <p:sldId id="370" r:id="rId43"/>
    <p:sldId id="371" r:id="rId44"/>
    <p:sldId id="372" r:id="rId45"/>
    <p:sldId id="373" r:id="rId46"/>
    <p:sldId id="277" r:id="rId47"/>
    <p:sldId id="278" r:id="rId48"/>
    <p:sldId id="376" r:id="rId49"/>
    <p:sldId id="374" r:id="rId50"/>
    <p:sldId id="375" r:id="rId51"/>
    <p:sldId id="280" r:id="rId52"/>
    <p:sldId id="281" r:id="rId53"/>
    <p:sldId id="282" r:id="rId54"/>
    <p:sldId id="377" r:id="rId55"/>
    <p:sldId id="378" r:id="rId56"/>
    <p:sldId id="379" r:id="rId57"/>
    <p:sldId id="380" r:id="rId58"/>
    <p:sldId id="381" r:id="rId59"/>
    <p:sldId id="382" r:id="rId60"/>
    <p:sldId id="283" r:id="rId61"/>
    <p:sldId id="285" r:id="rId62"/>
    <p:sldId id="383" r:id="rId63"/>
    <p:sldId id="394" r:id="rId64"/>
    <p:sldId id="395" r:id="rId65"/>
    <p:sldId id="385" r:id="rId66"/>
    <p:sldId id="386" r:id="rId67"/>
    <p:sldId id="387" r:id="rId68"/>
    <p:sldId id="388" r:id="rId69"/>
    <p:sldId id="389" r:id="rId70"/>
    <p:sldId id="390" r:id="rId71"/>
    <p:sldId id="391" r:id="rId72"/>
    <p:sldId id="392" r:id="rId73"/>
    <p:sldId id="393" r:id="rId74"/>
    <p:sldId id="289" r:id="rId7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微软用户"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414" autoAdjust="0"/>
    <p:restoredTop sz="94660"/>
  </p:normalViewPr>
  <p:slideViewPr>
    <p:cSldViewPr snapToGrid="0">
      <p:cViewPr>
        <p:scale>
          <a:sx n="155" d="100"/>
          <a:sy n="155" d="100"/>
        </p:scale>
        <p:origin x="1400"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9" Type="http://schemas.openxmlformats.org/officeDocument/2006/relationships/commentAuthors" Target="commentAuthors.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slide" Target="slides/slide2.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notesMaster" Target="notesMasters/notesMaster1.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p:cNvSpPr>
          <p:nvPr>
            <p:ph type="sldImg"/>
          </p:nvPr>
        </p:nvSpPr>
        <p:spPr bwMode="auto">
          <a:noFill/>
          <a:ln>
            <a:solidFill>
              <a:srgbClr val="000000"/>
            </a:solidFill>
            <a:miter lim="800000"/>
          </a:ln>
        </p:spPr>
      </p:sp>
      <p:sp>
        <p:nvSpPr>
          <p:cNvPr id="3174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3174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10074C65-67D3-4D64-AB9C-502834EDE5A4}" type="slidenum">
              <a:rPr lang="zh-CN" altLang="en-US"/>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p:cNvSpPr>
            <a:spLocks noGrp="1" noRot="1" noChangeAspect="1"/>
          </p:cNvSpPr>
          <p:nvPr>
            <p:ph type="sldImg"/>
          </p:nvPr>
        </p:nvSpPr>
        <p:spPr bwMode="auto">
          <a:noFill/>
          <a:ln>
            <a:solidFill>
              <a:srgbClr val="000000"/>
            </a:solidFill>
            <a:miter lim="800000"/>
          </a:ln>
        </p:spPr>
      </p:sp>
      <p:sp>
        <p:nvSpPr>
          <p:cNvPr id="3379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3379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AC2A0F6E-5F30-4679-994A-E2AA77DE3257}" type="slidenum">
              <a:rPr lang="zh-CN" altLang="en-US"/>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p:cNvSpPr>
            <a:spLocks noGrp="1" noRot="1" noChangeAspect="1"/>
          </p:cNvSpPr>
          <p:nvPr>
            <p:ph type="sldImg"/>
          </p:nvPr>
        </p:nvSpPr>
        <p:spPr bwMode="auto">
          <a:noFill/>
          <a:ln>
            <a:solidFill>
              <a:srgbClr val="000000"/>
            </a:solidFill>
            <a:miter lim="800000"/>
          </a:ln>
        </p:spPr>
      </p:sp>
      <p:sp>
        <p:nvSpPr>
          <p:cNvPr id="35842" name="备注占位符 2"/>
          <p:cNvSpPr>
            <a:spLocks noGrp="1"/>
          </p:cNvSpPr>
          <p:nvPr>
            <p:ph type="body" idx="1"/>
          </p:nvPr>
        </p:nvSpPr>
        <p:spPr bwMode="auto">
          <a:noFill/>
        </p:spPr>
        <p:txBody>
          <a:bodyPr wrap="square" numCol="1" anchor="t" anchorCtr="0" compatLnSpc="1"/>
          <a:lstStyle/>
          <a:p>
            <a:pPr>
              <a:spcBef>
                <a:spcPct val="0"/>
              </a:spcBef>
            </a:pPr>
            <a:r>
              <a:rPr lang="en-US" altLang="zh-CN"/>
              <a:t>1</a:t>
            </a:r>
            <a:r>
              <a:rPr lang="zh-CN" altLang="en-US"/>
              <a:t>、相互认识关系用两条反向的弧表示。（）</a:t>
            </a:r>
            <a:endParaRPr lang="en-US" altLang="zh-CN"/>
          </a:p>
          <a:p>
            <a:pPr>
              <a:spcBef>
                <a:spcPct val="0"/>
              </a:spcBef>
            </a:pPr>
            <a:r>
              <a:rPr lang="en-US" altLang="zh-CN"/>
              <a:t>A</a:t>
            </a:r>
            <a:r>
              <a:rPr lang="zh-CN" altLang="en-US"/>
              <a:t>、对</a:t>
            </a:r>
            <a:endParaRPr lang="en-US" altLang="zh-CN"/>
          </a:p>
          <a:p>
            <a:pPr>
              <a:spcBef>
                <a:spcPct val="0"/>
              </a:spcBef>
            </a:pPr>
            <a:r>
              <a:rPr lang="en-US" altLang="zh-CN"/>
              <a:t>B</a:t>
            </a:r>
            <a:r>
              <a:rPr lang="zh-CN" altLang="en-US"/>
              <a:t>、错</a:t>
            </a:r>
            <a:endParaRPr lang="zh-CN" altLang="en-US"/>
          </a:p>
        </p:txBody>
      </p:sp>
      <p:sp>
        <p:nvSpPr>
          <p:cNvPr id="3584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5B69785A-2B8E-4106-BD08-8BA9E4A10AB7}" type="slidenum">
              <a:rPr lang="zh-CN" altLang="en-US"/>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p:cNvSpPr>
          <p:nvPr>
            <p:ph type="sldImg"/>
          </p:nvPr>
        </p:nvSpPr>
        <p:spPr bwMode="auto">
          <a:noFill/>
          <a:ln>
            <a:solidFill>
              <a:srgbClr val="000000"/>
            </a:solidFill>
            <a:miter lim="800000"/>
          </a:ln>
        </p:spPr>
      </p:sp>
      <p:sp>
        <p:nvSpPr>
          <p:cNvPr id="3789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3789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75875F4E-E79D-43D3-B60F-D6D2CB4A23DD}" type="slidenum">
              <a:rPr lang="zh-CN" altLang="en-US"/>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幻灯片图像占位符 1"/>
          <p:cNvSpPr>
            <a:spLocks noGrp="1" noRot="1" noChangeAspect="1"/>
          </p:cNvSpPr>
          <p:nvPr>
            <p:ph type="sldImg"/>
          </p:nvPr>
        </p:nvSpPr>
        <p:spPr bwMode="auto">
          <a:noFill/>
          <a:ln>
            <a:solidFill>
              <a:srgbClr val="000000"/>
            </a:solidFill>
            <a:miter lim="800000"/>
          </a:ln>
        </p:spPr>
      </p:sp>
      <p:sp>
        <p:nvSpPr>
          <p:cNvPr id="4608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4608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1CE70815-2B73-44CE-AF78-36B50B1CFCF0}" type="slidenum">
              <a:rPr lang="zh-CN" altLang="en-US"/>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幻灯片图像占位符 1"/>
          <p:cNvSpPr>
            <a:spLocks noGrp="1" noRot="1" noChangeAspect="1"/>
          </p:cNvSpPr>
          <p:nvPr>
            <p:ph type="sldImg"/>
          </p:nvPr>
        </p:nvSpPr>
        <p:spPr bwMode="auto">
          <a:noFill/>
          <a:ln>
            <a:solidFill>
              <a:srgbClr val="000000"/>
            </a:solidFill>
            <a:miter lim="800000"/>
          </a:ln>
        </p:spPr>
      </p:sp>
      <p:sp>
        <p:nvSpPr>
          <p:cNvPr id="4608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4608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1CE70815-2B73-44CE-AF78-36B50B1CFCF0}" type="slidenum">
              <a:rPr lang="zh-CN" altLang="en-US"/>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幻灯片图像占位符 1"/>
          <p:cNvSpPr>
            <a:spLocks noGrp="1" noRot="1" noChangeAspect="1"/>
          </p:cNvSpPr>
          <p:nvPr>
            <p:ph type="sldImg"/>
          </p:nvPr>
        </p:nvSpPr>
        <p:spPr bwMode="auto">
          <a:noFill/>
          <a:ln>
            <a:solidFill>
              <a:srgbClr val="000000"/>
            </a:solidFill>
            <a:miter lim="800000"/>
          </a:ln>
        </p:spPr>
      </p:sp>
      <p:sp>
        <p:nvSpPr>
          <p:cNvPr id="4813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4813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3C3DFF01-DEB6-414C-96AB-95888F2AEC87}" type="slidenum">
              <a:rPr lang="zh-CN" altLang="en-US"/>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幻灯片图像占位符 1"/>
          <p:cNvSpPr>
            <a:spLocks noGrp="1" noRot="1" noChangeAspect="1"/>
          </p:cNvSpPr>
          <p:nvPr>
            <p:ph type="sldImg"/>
          </p:nvPr>
        </p:nvSpPr>
        <p:spPr bwMode="auto">
          <a:noFill/>
          <a:ln>
            <a:solidFill>
              <a:srgbClr val="000000"/>
            </a:solidFill>
            <a:miter lim="800000"/>
          </a:ln>
        </p:spPr>
      </p:sp>
      <p:sp>
        <p:nvSpPr>
          <p:cNvPr id="5017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5017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32DE7868-27FB-4919-B2AC-B44F75EF971F}" type="slidenum">
              <a:rPr lang="zh-CN" altLang="en-US"/>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幻灯片图像占位符 1"/>
          <p:cNvSpPr>
            <a:spLocks noGrp="1" noRot="1" noChangeAspect="1"/>
          </p:cNvSpPr>
          <p:nvPr>
            <p:ph type="sldImg"/>
          </p:nvPr>
        </p:nvSpPr>
        <p:spPr bwMode="auto">
          <a:noFill/>
          <a:ln>
            <a:solidFill>
              <a:srgbClr val="000000"/>
            </a:solidFill>
            <a:miter lim="800000"/>
          </a:ln>
        </p:spPr>
      </p:sp>
      <p:sp>
        <p:nvSpPr>
          <p:cNvPr id="5222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5222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88E0AB1E-96AA-4C7A-9A23-2071F507C678}" type="slidenum">
              <a:rPr lang="zh-CN" altLang="en-US"/>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幻灯片图像占位符 1"/>
          <p:cNvSpPr>
            <a:spLocks noGrp="1" noRot="1" noChangeAspect="1"/>
          </p:cNvSpPr>
          <p:nvPr>
            <p:ph type="sldImg"/>
          </p:nvPr>
        </p:nvSpPr>
        <p:spPr bwMode="auto">
          <a:noFill/>
          <a:ln>
            <a:solidFill>
              <a:srgbClr val="000000"/>
            </a:solidFill>
            <a:miter lim="800000"/>
          </a:ln>
        </p:spPr>
      </p:sp>
      <p:sp>
        <p:nvSpPr>
          <p:cNvPr id="5222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5222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88E0AB1E-96AA-4C7A-9A23-2071F507C678}" type="slidenum">
              <a:rPr lang="zh-CN" altLang="en-US"/>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p:cNvSpPr>
          <p:nvPr>
            <p:ph type="sldImg"/>
          </p:nvPr>
        </p:nvSpPr>
        <p:spPr bwMode="auto">
          <a:noFill/>
          <a:ln>
            <a:solidFill>
              <a:srgbClr val="000000"/>
            </a:solidFill>
            <a:miter lim="800000"/>
          </a:ln>
        </p:spPr>
      </p:sp>
      <p:sp>
        <p:nvSpPr>
          <p:cNvPr id="5632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5632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B40D7BEE-529D-41DB-96EE-0758C5FEB8ED}" type="slidenum">
              <a:rPr lang="zh-CN" altLang="en-US"/>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幻灯片图像占位符 1"/>
          <p:cNvSpPr>
            <a:spLocks noGrp="1" noRot="1" noChangeAspect="1"/>
          </p:cNvSpPr>
          <p:nvPr>
            <p:ph type="sldImg"/>
          </p:nvPr>
        </p:nvSpPr>
        <p:spPr bwMode="auto">
          <a:noFill/>
          <a:ln>
            <a:solidFill>
              <a:srgbClr val="000000"/>
            </a:solidFill>
            <a:miter lim="800000"/>
          </a:ln>
        </p:spPr>
      </p:sp>
      <p:sp>
        <p:nvSpPr>
          <p:cNvPr id="5837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5837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93738A9D-3C04-46C4-91D3-82978914C2FD}" type="slidenum">
              <a:rPr lang="zh-CN" altLang="en-US"/>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幻灯片图像占位符 1"/>
          <p:cNvSpPr>
            <a:spLocks noGrp="1" noRot="1" noChangeAspect="1"/>
          </p:cNvSpPr>
          <p:nvPr>
            <p:ph type="sldImg"/>
          </p:nvPr>
        </p:nvSpPr>
        <p:spPr bwMode="auto">
          <a:noFill/>
          <a:ln>
            <a:solidFill>
              <a:srgbClr val="000000"/>
            </a:solidFill>
            <a:miter lim="800000"/>
          </a:ln>
        </p:spPr>
      </p:sp>
      <p:sp>
        <p:nvSpPr>
          <p:cNvPr id="5837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5837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93738A9D-3C04-46C4-91D3-82978914C2FD}" type="slidenum">
              <a:rPr lang="zh-CN" altLang="en-US"/>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p:cNvSpPr>
            <a:spLocks noGrp="1" noRot="1" noChangeAspect="1"/>
          </p:cNvSpPr>
          <p:nvPr>
            <p:ph type="sldImg"/>
          </p:nvPr>
        </p:nvSpPr>
        <p:spPr bwMode="auto">
          <a:noFill/>
          <a:ln>
            <a:solidFill>
              <a:srgbClr val="000000"/>
            </a:solidFill>
            <a:miter lim="800000"/>
          </a:ln>
        </p:spPr>
      </p:sp>
      <p:sp>
        <p:nvSpPr>
          <p:cNvPr id="60418" name="备注占位符 2"/>
          <p:cNvSpPr>
            <a:spLocks noGrp="1"/>
          </p:cNvSpPr>
          <p:nvPr>
            <p:ph type="body" idx="1"/>
          </p:nvPr>
        </p:nvSpPr>
        <p:spPr bwMode="auto">
          <a:noFill/>
        </p:spPr>
        <p:txBody>
          <a:bodyPr wrap="square" numCol="1" anchor="t" anchorCtr="0" compatLnSpc="1"/>
          <a:lstStyle/>
          <a:p>
            <a:pPr>
              <a:spcBef>
                <a:spcPct val="0"/>
              </a:spcBef>
            </a:pPr>
            <a:r>
              <a:rPr lang="en-US" altLang="zh-CN"/>
              <a:t>2</a:t>
            </a:r>
            <a:r>
              <a:rPr lang="zh-CN" altLang="en-US"/>
              <a:t>、</a:t>
            </a:r>
            <a:r>
              <a:rPr lang="zh-CN" altLang="en-US">
                <a:latin typeface="Arial" panose="020B0604020202020204" pitchFamily="34" charset="0"/>
                <a:cs typeface="Arial" panose="020B0604020202020204" pitchFamily="34" charset="0"/>
              </a:rPr>
              <a:t>对于</a:t>
            </a:r>
            <a:r>
              <a:rPr lang="en-US" altLang="zh-CN">
                <a:latin typeface="Arial" panose="020B0604020202020204" pitchFamily="34" charset="0"/>
                <a:cs typeface="Arial" panose="020B0604020202020204" pitchFamily="34" charset="0"/>
              </a:rPr>
              <a:t>Dijkstra</a:t>
            </a:r>
            <a:r>
              <a:rPr lang="zh-CN" altLang="en-US">
                <a:latin typeface="Arial" panose="020B0604020202020204" pitchFamily="34" charset="0"/>
                <a:cs typeface="Arial" panose="020B0604020202020204" pitchFamily="34" charset="0"/>
              </a:rPr>
              <a:t>算法，下列叙述正确的是？（）（多选）</a:t>
            </a:r>
            <a:endParaRPr lang="en-US" altLang="zh-CN">
              <a:latin typeface="Arial" panose="020B0604020202020204" pitchFamily="34" charset="0"/>
              <a:cs typeface="Arial" panose="020B0604020202020204" pitchFamily="34" charset="0"/>
            </a:endParaRPr>
          </a:p>
          <a:p>
            <a:pPr>
              <a:spcBef>
                <a:spcPct val="0"/>
              </a:spcBef>
            </a:pPr>
            <a:r>
              <a:rPr lang="en-US" altLang="zh-CN">
                <a:latin typeface="Arial" panose="020B0604020202020204" pitchFamily="34" charset="0"/>
                <a:cs typeface="Arial" panose="020B0604020202020204" pitchFamily="34" charset="0"/>
              </a:rPr>
              <a:t>A</a:t>
            </a:r>
            <a:r>
              <a:rPr lang="zh-CN" altLang="en-US">
                <a:latin typeface="Arial" panose="020B0604020202020204" pitchFamily="34" charset="0"/>
                <a:cs typeface="Arial" panose="020B0604020202020204" pitchFamily="34" charset="0"/>
              </a:rPr>
              <a:t>、适用于每条弧的赋权数都小于等于零的情况。</a:t>
            </a:r>
            <a:endParaRPr lang="en-US" altLang="zh-CN">
              <a:latin typeface="Arial" panose="020B0604020202020204" pitchFamily="34" charset="0"/>
              <a:cs typeface="Arial" panose="020B0604020202020204" pitchFamily="34" charset="0"/>
            </a:endParaRPr>
          </a:p>
          <a:p>
            <a:pPr>
              <a:spcBef>
                <a:spcPct val="0"/>
              </a:spcBef>
            </a:pPr>
            <a:r>
              <a:rPr lang="en-US" altLang="zh-CN">
                <a:latin typeface="Arial" panose="020B0604020202020204" pitchFamily="34" charset="0"/>
                <a:cs typeface="Arial" panose="020B0604020202020204" pitchFamily="34" charset="0"/>
              </a:rPr>
              <a:t>B</a:t>
            </a:r>
            <a:r>
              <a:rPr lang="zh-CN" altLang="en-US">
                <a:latin typeface="Arial" panose="020B0604020202020204" pitchFamily="34" charset="0"/>
                <a:cs typeface="Arial" panose="020B0604020202020204" pitchFamily="34" charset="0"/>
              </a:rPr>
              <a:t>、适用于每条弧的赋权数都大于等于零的情况。</a:t>
            </a:r>
            <a:endParaRPr lang="en-US" altLang="zh-CN">
              <a:latin typeface="Arial" panose="020B0604020202020204" pitchFamily="34" charset="0"/>
              <a:cs typeface="Arial" panose="020B0604020202020204" pitchFamily="34" charset="0"/>
            </a:endParaRPr>
          </a:p>
          <a:p>
            <a:pPr>
              <a:spcBef>
                <a:spcPct val="0"/>
              </a:spcBef>
            </a:pPr>
            <a:r>
              <a:rPr lang="en-US" altLang="zh-CN">
                <a:latin typeface="Arial" panose="020B0604020202020204" pitchFamily="34" charset="0"/>
                <a:cs typeface="Arial" panose="020B0604020202020204" pitchFamily="34" charset="0"/>
              </a:rPr>
              <a:t>C</a:t>
            </a:r>
            <a:r>
              <a:rPr lang="zh-CN" altLang="en-US">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Dijkstra</a:t>
            </a:r>
            <a:r>
              <a:rPr lang="zh-CN" altLang="en-US">
                <a:latin typeface="Arial" panose="020B0604020202020204" pitchFamily="34" charset="0"/>
                <a:cs typeface="Arial" panose="020B0604020202020204" pitchFamily="34" charset="0"/>
              </a:rPr>
              <a:t>算法也称为双标号法。</a:t>
            </a:r>
            <a:endParaRPr lang="en-US" altLang="zh-CN">
              <a:latin typeface="Arial" panose="020B0604020202020204" pitchFamily="34" charset="0"/>
              <a:cs typeface="Arial" panose="020B0604020202020204" pitchFamily="34" charset="0"/>
            </a:endParaRPr>
          </a:p>
          <a:p>
            <a:pPr>
              <a:spcBef>
                <a:spcPct val="0"/>
              </a:spcBef>
            </a:pPr>
            <a:r>
              <a:rPr lang="en-US" altLang="zh-CN">
                <a:latin typeface="Arial" panose="020B0604020202020204" pitchFamily="34" charset="0"/>
                <a:cs typeface="Arial" panose="020B0604020202020204" pitchFamily="34" charset="0"/>
              </a:rPr>
              <a:t>D</a:t>
            </a:r>
            <a:r>
              <a:rPr lang="zh-CN" altLang="en-US">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Dijkstra</a:t>
            </a:r>
            <a:r>
              <a:rPr lang="zh-CN" altLang="en-US">
                <a:latin typeface="Arial" panose="020B0604020202020204" pitchFamily="34" charset="0"/>
                <a:cs typeface="Arial" panose="020B0604020202020204" pitchFamily="34" charset="0"/>
              </a:rPr>
              <a:t>算法也称为单标号法。</a:t>
            </a:r>
            <a:endParaRPr lang="zh-CN" altLang="en-US">
              <a:latin typeface="Arial" panose="020B0604020202020204" pitchFamily="34" charset="0"/>
              <a:cs typeface="Arial" panose="020B0604020202020204" pitchFamily="34" charset="0"/>
            </a:endParaRPr>
          </a:p>
          <a:p>
            <a:pPr>
              <a:spcBef>
                <a:spcPct val="0"/>
              </a:spcBef>
            </a:pPr>
            <a:endParaRPr lang="en-US" altLang="zh-CN"/>
          </a:p>
        </p:txBody>
      </p:sp>
      <p:sp>
        <p:nvSpPr>
          <p:cNvPr id="6041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D70D6EA3-2E3B-4ECB-BBFE-C1E9814631AE}" type="slidenum">
              <a:rPr lang="zh-CN" altLang="en-US"/>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幻灯片图像占位符 1"/>
          <p:cNvSpPr>
            <a:spLocks noGrp="1" noRot="1" noChangeAspect="1"/>
          </p:cNvSpPr>
          <p:nvPr>
            <p:ph type="sldImg"/>
          </p:nvPr>
        </p:nvSpPr>
        <p:spPr bwMode="auto">
          <a:noFill/>
          <a:ln>
            <a:solidFill>
              <a:srgbClr val="000000"/>
            </a:solidFill>
            <a:miter lim="800000"/>
          </a:ln>
        </p:spPr>
      </p:sp>
      <p:sp>
        <p:nvSpPr>
          <p:cNvPr id="8089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8089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481B06A5-3EC6-4272-A52C-A02AFCD51303}" type="slidenum">
              <a:rPr lang="zh-CN" altLang="en-US"/>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幻灯片图像占位符 1"/>
          <p:cNvSpPr>
            <a:spLocks noGrp="1" noRot="1" noChangeAspect="1"/>
          </p:cNvSpPr>
          <p:nvPr>
            <p:ph type="sldImg"/>
          </p:nvPr>
        </p:nvSpPr>
        <p:spPr bwMode="auto">
          <a:noFill/>
          <a:ln>
            <a:solidFill>
              <a:srgbClr val="000000"/>
            </a:solidFill>
            <a:miter lim="800000"/>
          </a:ln>
        </p:spPr>
      </p:sp>
      <p:sp>
        <p:nvSpPr>
          <p:cNvPr id="82946" name="备注占位符 2"/>
          <p:cNvSpPr>
            <a:spLocks noGrp="1"/>
          </p:cNvSpPr>
          <p:nvPr>
            <p:ph type="body" idx="1"/>
          </p:nvPr>
        </p:nvSpPr>
        <p:spPr bwMode="auto">
          <a:noFill/>
        </p:spPr>
        <p:txBody>
          <a:bodyPr wrap="square" numCol="1" anchor="t" anchorCtr="0" compatLnSpc="1"/>
          <a:lstStyle/>
          <a:p>
            <a:pPr>
              <a:spcBef>
                <a:spcPct val="0"/>
              </a:spcBef>
            </a:pPr>
            <a:r>
              <a:rPr lang="zh-CN" altLang="en-US"/>
              <a:t>下列关于可行流说法正确的是？（）</a:t>
            </a:r>
            <a:endParaRPr lang="en-US" altLang="zh-CN"/>
          </a:p>
          <a:p>
            <a:pPr>
              <a:spcBef>
                <a:spcPct val="0"/>
              </a:spcBef>
            </a:pPr>
            <a:r>
              <a:rPr lang="en-US" altLang="zh-CN"/>
              <a:t>A</a:t>
            </a:r>
            <a:r>
              <a:rPr lang="zh-CN" altLang="en-US"/>
              <a:t>、满足守恒条件的一组网络流。</a:t>
            </a:r>
            <a:endParaRPr lang="en-US" altLang="zh-CN"/>
          </a:p>
          <a:p>
            <a:pPr>
              <a:spcBef>
                <a:spcPct val="0"/>
              </a:spcBef>
            </a:pPr>
            <a:r>
              <a:rPr lang="en-US" altLang="zh-CN"/>
              <a:t>B</a:t>
            </a:r>
            <a:r>
              <a:rPr lang="zh-CN" altLang="en-US"/>
              <a:t>、满足流量可行条件的一组网络流。</a:t>
            </a:r>
            <a:endParaRPr lang="en-US" altLang="zh-CN"/>
          </a:p>
          <a:p>
            <a:pPr>
              <a:spcBef>
                <a:spcPct val="0"/>
              </a:spcBef>
            </a:pPr>
            <a:r>
              <a:rPr lang="en-US" altLang="zh-CN"/>
              <a:t>C</a:t>
            </a:r>
            <a:r>
              <a:rPr lang="zh-CN" altLang="en-US"/>
              <a:t>、满足守恒条件及流量可行条件的一组网络流。</a:t>
            </a:r>
            <a:endParaRPr lang="en-US" altLang="zh-CN"/>
          </a:p>
          <a:p>
            <a:pPr>
              <a:spcBef>
                <a:spcPct val="0"/>
              </a:spcBef>
            </a:pPr>
            <a:endParaRPr lang="zh-CN" altLang="en-US"/>
          </a:p>
        </p:txBody>
      </p:sp>
      <p:sp>
        <p:nvSpPr>
          <p:cNvPr id="8294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1D27E7F2-23ED-494F-ACFC-3A14E8E773BE}" type="slidenum">
              <a:rPr lang="zh-CN" altLang="en-US"/>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p:cNvSpPr>
          <p:nvPr>
            <p:ph type="sldImg"/>
          </p:nvPr>
        </p:nvSpPr>
        <p:spPr bwMode="auto">
          <a:noFill/>
          <a:ln>
            <a:solidFill>
              <a:srgbClr val="000000"/>
            </a:solidFill>
            <a:miter lim="800000"/>
          </a:ln>
        </p:spPr>
      </p:sp>
      <p:sp>
        <p:nvSpPr>
          <p:cNvPr id="8704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8704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BEB3E670-6BED-4534-9DA7-0858BC4BAA05}" type="slidenum">
              <a:rPr lang="zh-CN" altLang="en-US"/>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幻灯片图像占位符 1"/>
          <p:cNvSpPr>
            <a:spLocks noGrp="1" noRot="1" noChangeAspect="1"/>
          </p:cNvSpPr>
          <p:nvPr>
            <p:ph type="sldImg"/>
          </p:nvPr>
        </p:nvSpPr>
        <p:spPr bwMode="auto">
          <a:noFill/>
          <a:ln>
            <a:solidFill>
              <a:srgbClr val="000000"/>
            </a:solidFill>
            <a:miter lim="800000"/>
          </a:ln>
        </p:spPr>
      </p:sp>
      <p:sp>
        <p:nvSpPr>
          <p:cNvPr id="8909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8909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F72316BC-B188-43FC-B584-14E089D745A1}" type="slidenum">
              <a:rPr lang="zh-CN" altLang="en-US"/>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p:cNvSpPr>
            <a:spLocks noGrp="1" noRot="1" noChangeAspect="1"/>
          </p:cNvSpPr>
          <p:nvPr>
            <p:ph type="sldImg"/>
          </p:nvPr>
        </p:nvSpPr>
        <p:spPr bwMode="auto">
          <a:noFill/>
          <a:ln>
            <a:solidFill>
              <a:srgbClr val="000000"/>
            </a:solidFill>
            <a:miter lim="800000"/>
          </a:ln>
        </p:spPr>
      </p:sp>
      <p:sp>
        <p:nvSpPr>
          <p:cNvPr id="9113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9113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6B5CB33E-EF72-41DA-A0E0-B7737EBC60B5}" type="slidenum">
              <a:rPr lang="zh-CN" altLang="en-US"/>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p:cNvSpPr>
            <a:spLocks noGrp="1" noRot="1" noChangeAspect="1"/>
          </p:cNvSpPr>
          <p:nvPr>
            <p:ph type="sldImg"/>
          </p:nvPr>
        </p:nvSpPr>
        <p:spPr bwMode="auto">
          <a:noFill/>
          <a:ln>
            <a:solidFill>
              <a:srgbClr val="000000"/>
            </a:solidFill>
            <a:miter lim="800000"/>
          </a:ln>
        </p:spPr>
      </p:sp>
      <p:sp>
        <p:nvSpPr>
          <p:cNvPr id="9318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9318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6DB81F0F-A2DB-4DFF-A76C-0B1A3081B9ED}" type="slidenum">
              <a:rPr lang="zh-CN" altLang="en-US"/>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p:cNvSpPr>
          <p:nvPr>
            <p:ph type="sldImg"/>
          </p:nvPr>
        </p:nvSpPr>
        <p:spPr bwMode="auto">
          <a:noFill/>
          <a:ln>
            <a:solidFill>
              <a:srgbClr val="000000"/>
            </a:solidFill>
            <a:miter lim="800000"/>
          </a:ln>
        </p:spPr>
      </p:sp>
      <p:sp>
        <p:nvSpPr>
          <p:cNvPr id="9523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9523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D1C4A364-3E57-4D2F-BA8D-9F974D2CBB2D}" type="slidenum">
              <a:rPr lang="zh-CN" altLang="en-US"/>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幻灯片图像占位符 1"/>
          <p:cNvSpPr>
            <a:spLocks noGrp="1" noRot="1" noChangeAspect="1"/>
          </p:cNvSpPr>
          <p:nvPr>
            <p:ph type="sldImg"/>
          </p:nvPr>
        </p:nvSpPr>
        <p:spPr bwMode="auto">
          <a:noFill/>
          <a:ln>
            <a:solidFill>
              <a:srgbClr val="000000"/>
            </a:solidFill>
            <a:miter lim="800000"/>
          </a:ln>
        </p:spPr>
      </p:sp>
      <p:sp>
        <p:nvSpPr>
          <p:cNvPr id="9728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9728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211F20C1-86EF-4D9D-8B3C-88F55660CDA0}" type="slidenum">
              <a:rPr lang="zh-CN" altLang="en-US"/>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幻灯片图像占位符 1"/>
          <p:cNvSpPr>
            <a:spLocks noGrp="1" noRot="1" noChangeAspect="1"/>
          </p:cNvSpPr>
          <p:nvPr>
            <p:ph type="sldImg"/>
          </p:nvPr>
        </p:nvSpPr>
        <p:spPr bwMode="auto">
          <a:noFill/>
          <a:ln>
            <a:solidFill>
              <a:srgbClr val="000000"/>
            </a:solidFill>
            <a:miter lim="800000"/>
          </a:ln>
        </p:spPr>
      </p:sp>
      <p:sp>
        <p:nvSpPr>
          <p:cNvPr id="10957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0957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7277F3BF-7EA8-40F0-86F3-831EE3B0AD5F}" type="slidenum">
              <a:rPr lang="zh-CN" altLang="en-US"/>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幻灯片图像占位符 1"/>
          <p:cNvSpPr>
            <a:spLocks noGrp="1" noRot="1" noChangeAspect="1"/>
          </p:cNvSpPr>
          <p:nvPr>
            <p:ph type="sldImg"/>
          </p:nvPr>
        </p:nvSpPr>
        <p:spPr bwMode="auto">
          <a:noFill/>
          <a:ln>
            <a:solidFill>
              <a:srgbClr val="000000"/>
            </a:solidFill>
            <a:miter lim="800000"/>
          </a:ln>
        </p:spPr>
      </p:sp>
      <p:sp>
        <p:nvSpPr>
          <p:cNvPr id="11366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366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38BC4261-F16C-47FA-80C1-017423199E58}" type="slidenum">
              <a:rPr lang="zh-CN" altLang="en-US"/>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幻灯片图像占位符 1"/>
          <p:cNvSpPr>
            <a:spLocks noGrp="1" noRot="1" noChangeAspect="1"/>
          </p:cNvSpPr>
          <p:nvPr>
            <p:ph type="sldImg"/>
          </p:nvPr>
        </p:nvSpPr>
        <p:spPr bwMode="auto">
          <a:noFill/>
          <a:ln>
            <a:solidFill>
              <a:srgbClr val="000000"/>
            </a:solidFill>
            <a:miter lim="800000"/>
          </a:ln>
        </p:spPr>
      </p:sp>
      <p:sp>
        <p:nvSpPr>
          <p:cNvPr id="11571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571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61B6FA8D-B74D-43E1-A68A-9BADBDC20116}" type="slidenum">
              <a:rPr lang="zh-CN" altLang="en-US"/>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p:cNvSpPr>
            <a:spLocks noGrp="1" noRot="1" noChangeAspect="1"/>
          </p:cNvSpPr>
          <p:nvPr>
            <p:ph type="sldImg"/>
          </p:nvPr>
        </p:nvSpPr>
        <p:spPr bwMode="auto">
          <a:noFill/>
          <a:ln>
            <a:solidFill>
              <a:srgbClr val="000000"/>
            </a:solidFill>
            <a:miter lim="800000"/>
          </a:ln>
        </p:spPr>
      </p:sp>
      <p:sp>
        <p:nvSpPr>
          <p:cNvPr id="11776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776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F84389DE-DAEC-4533-85C9-6BF51F69EB11}" type="slidenum">
              <a:rPr lang="zh-CN" altLang="en-US"/>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幻灯片图像占位符 1"/>
          <p:cNvSpPr>
            <a:spLocks noGrp="1" noRot="1" noChangeAspect="1"/>
          </p:cNvSpPr>
          <p:nvPr>
            <p:ph type="sldImg"/>
          </p:nvPr>
        </p:nvSpPr>
        <p:spPr bwMode="auto">
          <a:noFill/>
          <a:ln>
            <a:solidFill>
              <a:srgbClr val="000000"/>
            </a:solidFill>
            <a:miter lim="800000"/>
          </a:ln>
        </p:spPr>
      </p:sp>
      <p:sp>
        <p:nvSpPr>
          <p:cNvPr id="11981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981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E23889DA-B046-4DC6-852B-97CD93BA5D93}" type="slidenum">
              <a:rPr lang="zh-CN" altLang="en-US"/>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幻灯片图像占位符 1"/>
          <p:cNvSpPr>
            <a:spLocks noGrp="1" noRot="1" noChangeAspect="1"/>
          </p:cNvSpPr>
          <p:nvPr>
            <p:ph type="sldImg"/>
          </p:nvPr>
        </p:nvSpPr>
        <p:spPr bwMode="auto">
          <a:noFill/>
          <a:ln>
            <a:solidFill>
              <a:srgbClr val="000000"/>
            </a:solidFill>
            <a:miter lim="800000"/>
          </a:ln>
        </p:spPr>
      </p:sp>
      <p:sp>
        <p:nvSpPr>
          <p:cNvPr id="12185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2185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C20FDF89-91AA-46ED-AA04-3289E8A333D7}" type="slidenum">
              <a:rPr lang="zh-CN" altLang="en-US"/>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幻灯片图像占位符 1"/>
          <p:cNvSpPr>
            <a:spLocks noGrp="1" noRot="1" noChangeAspect="1"/>
          </p:cNvSpPr>
          <p:nvPr>
            <p:ph type="sldImg"/>
          </p:nvPr>
        </p:nvSpPr>
        <p:spPr bwMode="auto">
          <a:noFill/>
          <a:ln>
            <a:solidFill>
              <a:srgbClr val="000000"/>
            </a:solidFill>
            <a:miter lim="800000"/>
          </a:ln>
        </p:spPr>
      </p:sp>
      <p:sp>
        <p:nvSpPr>
          <p:cNvPr id="12390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2390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52EC93D2-C71B-46C5-9095-7881068F8328}" type="slidenum">
              <a:rPr lang="zh-CN" altLang="en-US"/>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幻灯片图像占位符 1"/>
          <p:cNvSpPr>
            <a:spLocks noGrp="1" noRot="1" noChangeAspect="1"/>
          </p:cNvSpPr>
          <p:nvPr>
            <p:ph type="sldImg"/>
          </p:nvPr>
        </p:nvSpPr>
        <p:spPr bwMode="auto">
          <a:noFill/>
          <a:ln>
            <a:solidFill>
              <a:srgbClr val="000000"/>
            </a:solidFill>
            <a:miter lim="800000"/>
          </a:ln>
        </p:spPr>
      </p:sp>
      <p:sp>
        <p:nvSpPr>
          <p:cNvPr id="12595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2595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BADA8000-744B-4AF0-AA0C-2212F45AAC7D}" type="slidenum">
              <a:rPr lang="zh-CN" altLang="en-US"/>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幻灯片图像占位符 1"/>
          <p:cNvSpPr>
            <a:spLocks noGrp="1" noRot="1" noChangeAspect="1"/>
          </p:cNvSpPr>
          <p:nvPr>
            <p:ph type="sldImg"/>
          </p:nvPr>
        </p:nvSpPr>
        <p:spPr bwMode="auto">
          <a:noFill/>
          <a:ln>
            <a:solidFill>
              <a:srgbClr val="000000"/>
            </a:solidFill>
            <a:miter lim="800000"/>
          </a:ln>
        </p:spPr>
      </p:sp>
      <p:sp>
        <p:nvSpPr>
          <p:cNvPr id="12800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2800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389AFFB-5072-4C4A-A2F2-B06D0CDB2296}" type="slidenum">
              <a:rPr lang="zh-CN" altLang="en-US"/>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幻灯片图像占位符 1"/>
          <p:cNvSpPr>
            <a:spLocks noGrp="1" noRot="1" noChangeAspect="1"/>
          </p:cNvSpPr>
          <p:nvPr>
            <p:ph type="sldImg"/>
          </p:nvPr>
        </p:nvSpPr>
        <p:spPr bwMode="auto">
          <a:noFill/>
          <a:ln>
            <a:solidFill>
              <a:srgbClr val="000000"/>
            </a:solidFill>
            <a:miter lim="800000"/>
          </a:ln>
        </p:spPr>
      </p:sp>
      <p:sp>
        <p:nvSpPr>
          <p:cNvPr id="13005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3005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E9DCE3B2-78C5-4562-AB66-7BCFA033FC5D}" type="slidenum">
              <a:rPr lang="zh-CN" altLang="en-US"/>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6948E83B-1B9F-4B94-85A9-ACEC33A4244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6948E83B-1B9F-4B94-85A9-ACEC33A42448}"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6618ED6-CA2D-4B69-8281-AFE0E32FC43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948E83B-1B9F-4B94-85A9-ACEC33A4244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618ED6-CA2D-4B69-8281-AFE0E32FC43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6948E83B-1B9F-4B94-85A9-ACEC33A42448}" type="slidenum">
              <a:rPr lang="zh-CN" altLang="en-US" smtClean="0"/>
            </a:fld>
            <a:endParaRPr lang="zh-CN" altLang="en-US"/>
          </a:p>
        </p:txBody>
      </p:sp>
      <p:grpSp>
        <p:nvGrpSpPr>
          <p:cNvPr id="7" name="组合 6"/>
          <p:cNvGrpSpPr/>
          <p:nvPr userDrawn="1"/>
        </p:nvGrpSpPr>
        <p:grpSpPr>
          <a:xfrm>
            <a:off x="0" y="6239607"/>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88684"/>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47308"/>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14444"/>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83875"/>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48E83B-1B9F-4B94-85A9-ACEC33A4244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A68B94-C734-4FAA-BA75-57D48D0BD3C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29AAA6-52A7-41A3-AAC3-F7EE0809863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3FAB52-0D75-4FB4-963F-CFC9BE82CFA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3E8295-D660-4793-94DB-7FA6302251F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618ED6-CA2D-4B69-8281-AFE0E32FC43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6948E83B-1B9F-4B94-85A9-ACEC33A42448}" type="slidenum">
              <a:rPr lang="zh-CN" altLang="en-US" smtClean="0"/>
            </a:fld>
            <a:endParaRPr lang="zh-CN" altLang="en-US"/>
          </a:p>
        </p:txBody>
      </p:sp>
      <p:grpSp>
        <p:nvGrpSpPr>
          <p:cNvPr id="7" name="组合 6"/>
          <p:cNvGrpSpPr/>
          <p:nvPr userDrawn="1"/>
        </p:nvGrpSpPr>
        <p:grpSpPr>
          <a:xfrm>
            <a:off x="0" y="6239607"/>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88684"/>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47308"/>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14444"/>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83875"/>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48E83B-1B9F-4B94-85A9-ACEC33A4244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40.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tags" Target="../tags/tag7.xml"/><Relationship Id="rId3" Type="http://schemas.openxmlformats.org/officeDocument/2006/relationships/image" Target="../media/image20.png"/><Relationship Id="rId2" Type="http://schemas.openxmlformats.org/officeDocument/2006/relationships/tags" Target="../tags/tag6.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image" Target="../media/image30.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4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42.png"/><Relationship Id="rId1"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48.png"/><Relationship Id="rId1" Type="http://schemas.openxmlformats.org/officeDocument/2006/relationships/image" Target="../media/image47.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50.png"/><Relationship Id="rId1" Type="http://schemas.openxmlformats.org/officeDocument/2006/relationships/image" Target="../media/image49.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52.png"/><Relationship Id="rId1" Type="http://schemas.openxmlformats.org/officeDocument/2006/relationships/image" Target="../media/image51.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54.png"/><Relationship Id="rId1" Type="http://schemas.openxmlformats.org/officeDocument/2006/relationships/image" Target="../media/image53.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7.xml"/><Relationship Id="rId2" Type="http://schemas.openxmlformats.org/officeDocument/2006/relationships/image" Target="../media/image56.png"/><Relationship Id="rId1" Type="http://schemas.openxmlformats.org/officeDocument/2006/relationships/image" Target="../media/image55.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57.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7.xml"/><Relationship Id="rId2" Type="http://schemas.openxmlformats.org/officeDocument/2006/relationships/image" Target="../media/image61.png"/><Relationship Id="rId1" Type="http://schemas.openxmlformats.org/officeDocument/2006/relationships/image" Target="../media/image6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7.xml"/><Relationship Id="rId2" Type="http://schemas.openxmlformats.org/officeDocument/2006/relationships/image" Target="../media/image63.png"/><Relationship Id="rId1" Type="http://schemas.openxmlformats.org/officeDocument/2006/relationships/image" Target="../media/image62.pn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65.png"/><Relationship Id="rId1" Type="http://schemas.openxmlformats.org/officeDocument/2006/relationships/image" Target="../media/image64.pn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7.xml"/><Relationship Id="rId2" Type="http://schemas.openxmlformats.org/officeDocument/2006/relationships/image" Target="../media/image67.png"/><Relationship Id="rId1" Type="http://schemas.openxmlformats.org/officeDocument/2006/relationships/image" Target="../media/image66.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7.xml"/><Relationship Id="rId2" Type="http://schemas.openxmlformats.org/officeDocument/2006/relationships/image" Target="../media/image69.png"/><Relationship Id="rId1" Type="http://schemas.openxmlformats.org/officeDocument/2006/relationships/image" Target="../media/image68.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7.xml"/><Relationship Id="rId2" Type="http://schemas.openxmlformats.org/officeDocument/2006/relationships/image" Target="../media/image71.png"/><Relationship Id="rId1" Type="http://schemas.openxmlformats.org/officeDocument/2006/relationships/image" Target="../media/image70.pn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7.xml"/><Relationship Id="rId2" Type="http://schemas.openxmlformats.org/officeDocument/2006/relationships/image" Target="../media/image73.png"/><Relationship Id="rId1" Type="http://schemas.openxmlformats.org/officeDocument/2006/relationships/image" Target="../media/image72.pn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7.xml"/><Relationship Id="rId2" Type="http://schemas.openxmlformats.org/officeDocument/2006/relationships/image" Target="../media/image75.png"/><Relationship Id="rId1" Type="http://schemas.openxmlformats.org/officeDocument/2006/relationships/image" Target="../media/image74.pn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7.xml"/><Relationship Id="rId2" Type="http://schemas.openxmlformats.org/officeDocument/2006/relationships/image" Target="../media/image77.png"/><Relationship Id="rId1" Type="http://schemas.openxmlformats.org/officeDocument/2006/relationships/image" Target="../media/image76.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image" Target="../media/image7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9375" t="39498" r="10496" b="1702"/>
          <a:stretch>
            <a:fillRect/>
          </a:stretch>
        </p:blipFill>
        <p:spPr>
          <a:xfrm>
            <a:off x="0" y="0"/>
            <a:ext cx="12192000" cy="3349519"/>
          </a:xfrm>
          <a:prstGeom prst="rect">
            <a:avLst/>
          </a:prstGeom>
        </p:spPr>
      </p:pic>
      <p:sp>
        <p:nvSpPr>
          <p:cNvPr id="5" name="文本框 4"/>
          <p:cNvSpPr txBox="1"/>
          <p:nvPr/>
        </p:nvSpPr>
        <p:spPr>
          <a:xfrm>
            <a:off x="1007712" y="4042399"/>
            <a:ext cx="10176573" cy="706755"/>
          </a:xfrm>
          <a:prstGeom prst="rect">
            <a:avLst/>
          </a:prstGeom>
          <a:noFill/>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第</a:t>
            </a:r>
            <a:r>
              <a:rPr lang="zh-CN" altLang="en-US" sz="4000" b="1" spc="600" dirty="0">
                <a:solidFill>
                  <a:schemeClr val="accent1"/>
                </a:solidFill>
                <a:latin typeface="微软雅黑" panose="020B0503020204020204" pitchFamily="34" charset="-122"/>
                <a:ea typeface="微软雅黑" panose="020B0503020204020204" pitchFamily="34" charset="-122"/>
              </a:rPr>
              <a:t>九章：图与网络</a:t>
            </a:r>
            <a:endParaRPr lang="zh-CN" altLang="en-US" sz="4000" b="1" spc="600" dirty="0">
              <a:solidFill>
                <a:schemeClr val="accent1"/>
              </a:solidFill>
              <a:latin typeface="微软雅黑" panose="020B0503020204020204" pitchFamily="34" charset="-122"/>
              <a:ea typeface="微软雅黑" panose="020B0503020204020204" pitchFamily="34" charset="-122"/>
            </a:endParaRPr>
          </a:p>
        </p:txBody>
      </p:sp>
      <p:sp>
        <p:nvSpPr>
          <p:cNvPr id="6" name="矩形 5"/>
          <p:cNvSpPr/>
          <p:nvPr/>
        </p:nvSpPr>
        <p:spPr>
          <a:xfrm>
            <a:off x="0" y="3339894"/>
            <a:ext cx="12192000" cy="1290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270038"/>
            <a:ext cx="12192000" cy="12904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3025540" y="4869708"/>
            <a:ext cx="6140919" cy="338554"/>
          </a:xfrm>
          <a:prstGeom prst="rect">
            <a:avLst/>
          </a:prstGeom>
          <a:noFill/>
        </p:spPr>
        <p:txBody>
          <a:bodyPr wrap="square" rtlCol="0">
            <a:spAutoFit/>
          </a:bodyPr>
          <a:lstStyle/>
          <a:p>
            <a:pPr algn="dist"/>
            <a:r>
              <a:rPr lang="en-US" altLang="zh-CN" sz="1600" dirty="0">
                <a:solidFill>
                  <a:schemeClr val="bg1">
                    <a:lumMod val="65000"/>
                  </a:schemeClr>
                </a:solidFill>
                <a:latin typeface="Segoe UI Light" panose="020B0502040204020203" pitchFamily="34" charset="0"/>
                <a:cs typeface="Segoe UI Light" panose="020B0502040204020203" pitchFamily="34" charset="0"/>
              </a:rPr>
              <a:t>HUAZHONG AGRICULTURAL UNIVERSITY</a:t>
            </a:r>
            <a:endParaRPr lang="zh-CN" altLang="en-US" sz="1600" dirty="0">
              <a:solidFill>
                <a:schemeClr val="bg1">
                  <a:lumMod val="65000"/>
                </a:schemeClr>
              </a:solidFill>
              <a:latin typeface="Segoe UI Light" panose="020B0502040204020203" pitchFamily="34" charset="0"/>
              <a:cs typeface="Segoe UI Light" panose="020B0502040204020203" pitchFamily="34" charset="0"/>
            </a:endParaRPr>
          </a:p>
        </p:txBody>
      </p:sp>
      <p:grpSp>
        <p:nvGrpSpPr>
          <p:cNvPr id="12" name="组合 11"/>
          <p:cNvGrpSpPr/>
          <p:nvPr/>
        </p:nvGrpSpPr>
        <p:grpSpPr>
          <a:xfrm>
            <a:off x="9214084" y="5016125"/>
            <a:ext cx="1999647" cy="45719"/>
            <a:chOff x="9458460" y="4956809"/>
            <a:chExt cx="1999647" cy="45719"/>
          </a:xfrm>
        </p:grpSpPr>
        <p:cxnSp>
          <p:nvCxnSpPr>
            <p:cNvPr id="10" name="直接连接符 9"/>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flipH="1">
            <a:off x="980174" y="5016125"/>
            <a:ext cx="1999647" cy="45719"/>
            <a:chOff x="9458460" y="4956809"/>
            <a:chExt cx="1999647" cy="45719"/>
          </a:xfrm>
        </p:grpSpPr>
        <p:cxnSp>
          <p:nvCxnSpPr>
            <p:cNvPr id="14" name="直接连接符 13"/>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本章内容</a:t>
            </a:r>
            <a:endParaRPr lang="zh-CN" altLang="en-US" dirty="0"/>
          </a:p>
        </p:txBody>
      </p:sp>
      <p:sp>
        <p:nvSpPr>
          <p:cNvPr id="3" name="内容占位符 2"/>
          <p:cNvSpPr>
            <a:spLocks noGrp="1"/>
          </p:cNvSpPr>
          <p:nvPr>
            <p:ph idx="1"/>
          </p:nvPr>
        </p:nvSpPr>
        <p:spPr/>
        <p:txBody>
          <a:bodyPr/>
          <a:lstStyle/>
          <a:p>
            <a:r>
              <a:rPr lang="zh-CN" altLang="en-US" dirty="0"/>
              <a:t>图与网络的基本概念</a:t>
            </a:r>
            <a:endParaRPr lang="en-US" altLang="zh-CN" dirty="0"/>
          </a:p>
          <a:p>
            <a:r>
              <a:rPr lang="zh-CN" altLang="en-US" dirty="0"/>
              <a:t>最小生成树问题</a:t>
            </a:r>
            <a:endParaRPr lang="en-US" altLang="zh-CN" dirty="0"/>
          </a:p>
          <a:p>
            <a:r>
              <a:rPr lang="zh-CN" altLang="en-US" dirty="0"/>
              <a:t>最短路径问题</a:t>
            </a:r>
            <a:endParaRPr lang="en-US" altLang="zh-CN" dirty="0"/>
          </a:p>
          <a:p>
            <a:r>
              <a:rPr lang="zh-CN" altLang="en-US" dirty="0"/>
              <a:t>最大流问题</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nchor="ctr">
            <a:normAutofit/>
          </a:bodyPr>
          <a:lstStyle/>
          <a:p>
            <a:r>
              <a:rPr lang="zh-CN" altLang="en-US" dirty="0"/>
              <a:t>图与网络的基本概念</a:t>
            </a:r>
            <a:endParaRPr lang="zh-CN" altLang="en-US" dirty="0"/>
          </a:p>
        </p:txBody>
      </p:sp>
      <p:sp>
        <p:nvSpPr>
          <p:cNvPr id="3" name="内容占位符 2"/>
          <p:cNvSpPr>
            <a:spLocks noGrp="1"/>
          </p:cNvSpPr>
          <p:nvPr>
            <p:ph sz="half" idx="1"/>
          </p:nvPr>
        </p:nvSpPr>
        <p:spPr>
          <a:xfrm>
            <a:off x="838200" y="1825625"/>
            <a:ext cx="5181600" cy="4351338"/>
          </a:xfrm>
        </p:spPr>
        <p:txBody>
          <a:bodyPr>
            <a:normAutofit/>
          </a:bodyPr>
          <a:lstStyle/>
          <a:p>
            <a:pPr marL="0" indent="0">
              <a:buNone/>
            </a:pPr>
            <a:r>
              <a:rPr lang="zh-CN" altLang="en-US" dirty="0">
                <a:sym typeface="+mn-ea"/>
              </a:rPr>
              <a:t>哥</a:t>
            </a:r>
            <a:r>
              <a:rPr lang="zh-CN" altLang="en-US" dirty="0"/>
              <a:t>尼斯堡七桥问题</a:t>
            </a:r>
            <a:endParaRPr lang="en-US" altLang="zh-CN" dirty="0"/>
          </a:p>
          <a:p>
            <a:r>
              <a:rPr lang="zh-CN" altLang="en-US" dirty="0"/>
              <a:t>哥尼斯堡（现名加里宁格勒）是欧洲一个城市，有条河把该城分成两部分，河中有两个小岛，十八世纪时，河两边及小岛之间共有七座桥，当时人们提出这样的问题：有没有办法从某处（如</a:t>
            </a:r>
            <a:r>
              <a:rPr lang="en-US" altLang="zh-CN" dirty="0"/>
              <a:t>A</a:t>
            </a:r>
            <a:r>
              <a:rPr lang="zh-CN" altLang="en-US" dirty="0"/>
              <a:t>）出发，经过各桥一次且仅一次最后回到原地呢？</a:t>
            </a:r>
            <a:endParaRPr lang="en-US" altLang="zh-CN" dirty="0"/>
          </a:p>
        </p:txBody>
      </p:sp>
      <p:pic>
        <p:nvPicPr>
          <p:cNvPr id="1026" name="Picture 2" descr="undefined"/>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6172200" y="1959538"/>
            <a:ext cx="5181600" cy="4083512"/>
          </a:xfrm>
          <a:prstGeom prst="rect">
            <a:avLst/>
          </a:prstGeom>
          <a:solidFill>
            <a:srgbClr val="FFFFFF"/>
          </a:solid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七桥问题</a:t>
            </a:r>
            <a:endParaRPr kumimoji="1" lang="zh-CN" altLang="en-US" dirty="0"/>
          </a:p>
        </p:txBody>
      </p:sp>
      <p:sp>
        <p:nvSpPr>
          <p:cNvPr id="3" name="内容占位符 2"/>
          <p:cNvSpPr>
            <a:spLocks noGrp="1"/>
          </p:cNvSpPr>
          <p:nvPr>
            <p:ph idx="1"/>
          </p:nvPr>
        </p:nvSpPr>
        <p:spPr/>
        <p:txBody>
          <a:bodyPr/>
          <a:lstStyle/>
          <a:p>
            <a:r>
              <a:rPr lang="zh-CN" altLang="en-US" dirty="0"/>
              <a:t>数学家</a:t>
            </a:r>
            <a:r>
              <a:rPr lang="en-US" altLang="zh-CN" dirty="0"/>
              <a:t>Euler</a:t>
            </a:r>
            <a:r>
              <a:rPr lang="zh-CN" altLang="en-US" dirty="0"/>
              <a:t>（欧拉）在</a:t>
            </a:r>
            <a:r>
              <a:rPr lang="en-US" altLang="zh-CN" dirty="0"/>
              <a:t>1736</a:t>
            </a:r>
            <a:r>
              <a:rPr lang="zh-CN" altLang="en-US" dirty="0"/>
              <a:t>年巧妙地给出了这个问题的答案，并因此奠定了图论的基础，</a:t>
            </a:r>
            <a:r>
              <a:rPr lang="en-US" altLang="zh-CN" dirty="0"/>
              <a:t>Euler</a:t>
            </a:r>
            <a:r>
              <a:rPr lang="zh-CN" altLang="en-US" dirty="0"/>
              <a:t>把</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四块陆地分别收缩成四个顶点，把桥表示成连接对应顶点之间的边，问题转化为从任意一点出发，能不能经过各边一次且仅一次，最后返回该点。这就是著名的</a:t>
            </a:r>
            <a:r>
              <a:rPr lang="en-US" altLang="zh-CN" dirty="0"/>
              <a:t>Euler</a:t>
            </a:r>
            <a:r>
              <a:rPr lang="zh-CN" altLang="en-US" dirty="0"/>
              <a:t>问题。</a:t>
            </a:r>
            <a:endParaRPr lang="zh-CN" altLang="en-US" dirty="0"/>
          </a:p>
          <a:p>
            <a:endParaRPr kumimoji="1" lang="zh-CN" altLang="en-US" dirty="0"/>
          </a:p>
        </p:txBody>
      </p:sp>
      <p:pic>
        <p:nvPicPr>
          <p:cNvPr id="4" name="图片 3"/>
          <p:cNvPicPr>
            <a:picLocks noChangeAspect="1"/>
          </p:cNvPicPr>
          <p:nvPr/>
        </p:nvPicPr>
        <p:blipFill>
          <a:blip r:embed="rId1"/>
          <a:stretch>
            <a:fillRect/>
          </a:stretch>
        </p:blipFill>
        <p:spPr>
          <a:xfrm>
            <a:off x="1099225" y="4269223"/>
            <a:ext cx="1917700" cy="1511300"/>
          </a:xfrm>
          <a:prstGeom prst="rect">
            <a:avLst/>
          </a:prstGeom>
        </p:spPr>
      </p:pic>
      <p:pic>
        <p:nvPicPr>
          <p:cNvPr id="5" name="图片 4"/>
          <p:cNvPicPr>
            <a:picLocks noChangeAspect="1"/>
          </p:cNvPicPr>
          <p:nvPr/>
        </p:nvPicPr>
        <p:blipFill>
          <a:blip r:embed="rId2"/>
          <a:stretch>
            <a:fillRect/>
          </a:stretch>
        </p:blipFill>
        <p:spPr>
          <a:xfrm>
            <a:off x="4681158" y="4123173"/>
            <a:ext cx="2273300" cy="1816100"/>
          </a:xfrm>
          <a:prstGeom prst="rect">
            <a:avLst/>
          </a:prstGeom>
        </p:spPr>
      </p:pic>
      <p:pic>
        <p:nvPicPr>
          <p:cNvPr id="6" name="图片 5"/>
          <p:cNvPicPr>
            <a:picLocks noChangeAspect="1"/>
          </p:cNvPicPr>
          <p:nvPr/>
        </p:nvPicPr>
        <p:blipFill>
          <a:blip r:embed="rId3"/>
          <a:stretch>
            <a:fillRect/>
          </a:stretch>
        </p:blipFill>
        <p:spPr>
          <a:xfrm>
            <a:off x="8618692" y="4116823"/>
            <a:ext cx="2286000" cy="1828800"/>
          </a:xfrm>
          <a:prstGeom prst="rect">
            <a:avLst/>
          </a:prstGeom>
        </p:spPr>
      </p:pic>
      <p:sp>
        <p:nvSpPr>
          <p:cNvPr id="7" name="右箭头 6"/>
          <p:cNvSpPr/>
          <p:nvPr/>
        </p:nvSpPr>
        <p:spPr>
          <a:xfrm>
            <a:off x="3568588" y="4847129"/>
            <a:ext cx="825387" cy="3074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右箭头 7"/>
          <p:cNvSpPr/>
          <p:nvPr/>
        </p:nvSpPr>
        <p:spPr>
          <a:xfrm>
            <a:off x="7499969" y="4877474"/>
            <a:ext cx="825387" cy="3074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nvSpPr>
        <p:spPr>
          <a:xfrm>
            <a:off x="5575412" y="4353515"/>
            <a:ext cx="436970" cy="369332"/>
          </a:xfrm>
          <a:prstGeom prst="rect">
            <a:avLst/>
          </a:prstGeom>
          <a:noFill/>
        </p:spPr>
        <p:txBody>
          <a:bodyPr wrap="square" rtlCol="0">
            <a:spAutoFit/>
          </a:bodyPr>
          <a:lstStyle/>
          <a:p>
            <a:r>
              <a:rPr kumimoji="1" lang="en-US" altLang="zh-CN" dirty="0"/>
              <a:t>A</a:t>
            </a:r>
            <a:endParaRPr kumimoji="1" lang="zh-CN" altLang="en-US" dirty="0"/>
          </a:p>
        </p:txBody>
      </p:sp>
      <p:sp>
        <p:nvSpPr>
          <p:cNvPr id="11" name="文本框 10"/>
          <p:cNvSpPr txBox="1"/>
          <p:nvPr/>
        </p:nvSpPr>
        <p:spPr>
          <a:xfrm>
            <a:off x="5493143" y="4867359"/>
            <a:ext cx="436970" cy="369332"/>
          </a:xfrm>
          <a:prstGeom prst="rect">
            <a:avLst/>
          </a:prstGeom>
          <a:noFill/>
        </p:spPr>
        <p:txBody>
          <a:bodyPr wrap="square" rtlCol="0">
            <a:spAutoFit/>
          </a:bodyPr>
          <a:lstStyle/>
          <a:p>
            <a:r>
              <a:rPr kumimoji="1" lang="en-US" altLang="zh-CN" dirty="0"/>
              <a:t>B</a:t>
            </a:r>
            <a:endParaRPr kumimoji="1" lang="zh-CN" altLang="en-US" dirty="0"/>
          </a:p>
        </p:txBody>
      </p:sp>
      <p:sp>
        <p:nvSpPr>
          <p:cNvPr id="12" name="文本框 11"/>
          <p:cNvSpPr txBox="1"/>
          <p:nvPr/>
        </p:nvSpPr>
        <p:spPr>
          <a:xfrm>
            <a:off x="5574063" y="5401152"/>
            <a:ext cx="436970" cy="369332"/>
          </a:xfrm>
          <a:prstGeom prst="rect">
            <a:avLst/>
          </a:prstGeom>
          <a:noFill/>
        </p:spPr>
        <p:txBody>
          <a:bodyPr wrap="square" rtlCol="0">
            <a:spAutoFit/>
          </a:bodyPr>
          <a:lstStyle/>
          <a:p>
            <a:r>
              <a:rPr kumimoji="1" lang="en-US" altLang="zh-CN" dirty="0"/>
              <a:t>C</a:t>
            </a:r>
            <a:endParaRPr kumimoji="1" lang="zh-CN" altLang="en-US" dirty="0"/>
          </a:p>
        </p:txBody>
      </p:sp>
      <p:sp>
        <p:nvSpPr>
          <p:cNvPr id="13" name="文本框 12"/>
          <p:cNvSpPr txBox="1"/>
          <p:nvPr/>
        </p:nvSpPr>
        <p:spPr>
          <a:xfrm>
            <a:off x="6475624" y="4865594"/>
            <a:ext cx="436970" cy="369332"/>
          </a:xfrm>
          <a:prstGeom prst="rect">
            <a:avLst/>
          </a:prstGeom>
          <a:noFill/>
        </p:spPr>
        <p:txBody>
          <a:bodyPr wrap="square" rtlCol="0">
            <a:spAutoFit/>
          </a:bodyPr>
          <a:lstStyle/>
          <a:p>
            <a:r>
              <a:rPr kumimoji="1" lang="en-US" altLang="zh-CN" dirty="0"/>
              <a:t>D</a:t>
            </a:r>
            <a:endParaRPr kumimoji="1" lang="zh-CN" altLang="en-US" dirty="0"/>
          </a:p>
        </p:txBody>
      </p:sp>
      <p:sp>
        <p:nvSpPr>
          <p:cNvPr id="14" name="文本框 13"/>
          <p:cNvSpPr txBox="1"/>
          <p:nvPr/>
        </p:nvSpPr>
        <p:spPr>
          <a:xfrm>
            <a:off x="9621431" y="3785008"/>
            <a:ext cx="436970" cy="369332"/>
          </a:xfrm>
          <a:prstGeom prst="rect">
            <a:avLst/>
          </a:prstGeom>
          <a:noFill/>
        </p:spPr>
        <p:txBody>
          <a:bodyPr wrap="square" rtlCol="0">
            <a:spAutoFit/>
          </a:bodyPr>
          <a:lstStyle/>
          <a:p>
            <a:r>
              <a:rPr kumimoji="1" lang="en-US" altLang="zh-CN" dirty="0"/>
              <a:t>A</a:t>
            </a:r>
            <a:endParaRPr kumimoji="1" lang="zh-CN" altLang="en-US" dirty="0"/>
          </a:p>
        </p:txBody>
      </p:sp>
      <p:sp>
        <p:nvSpPr>
          <p:cNvPr id="15" name="文本框 14"/>
          <p:cNvSpPr txBox="1"/>
          <p:nvPr/>
        </p:nvSpPr>
        <p:spPr>
          <a:xfrm>
            <a:off x="8388705" y="4851531"/>
            <a:ext cx="436970" cy="369332"/>
          </a:xfrm>
          <a:prstGeom prst="rect">
            <a:avLst/>
          </a:prstGeom>
          <a:noFill/>
        </p:spPr>
        <p:txBody>
          <a:bodyPr wrap="square" rtlCol="0">
            <a:spAutoFit/>
          </a:bodyPr>
          <a:lstStyle/>
          <a:p>
            <a:r>
              <a:rPr kumimoji="1" lang="en-US" altLang="zh-CN" dirty="0"/>
              <a:t>B</a:t>
            </a:r>
            <a:endParaRPr kumimoji="1" lang="zh-CN" altLang="en-US" dirty="0"/>
          </a:p>
        </p:txBody>
      </p:sp>
      <p:sp>
        <p:nvSpPr>
          <p:cNvPr id="16" name="文本框 15"/>
          <p:cNvSpPr txBox="1"/>
          <p:nvPr/>
        </p:nvSpPr>
        <p:spPr>
          <a:xfrm>
            <a:off x="9621431" y="5945623"/>
            <a:ext cx="436970" cy="369332"/>
          </a:xfrm>
          <a:prstGeom prst="rect">
            <a:avLst/>
          </a:prstGeom>
          <a:noFill/>
        </p:spPr>
        <p:txBody>
          <a:bodyPr wrap="square" rtlCol="0">
            <a:spAutoFit/>
          </a:bodyPr>
          <a:lstStyle/>
          <a:p>
            <a:r>
              <a:rPr kumimoji="1" lang="en-US" altLang="zh-CN" dirty="0"/>
              <a:t>C</a:t>
            </a:r>
            <a:endParaRPr kumimoji="1" lang="zh-CN" altLang="en-US" dirty="0"/>
          </a:p>
        </p:txBody>
      </p:sp>
      <p:sp>
        <p:nvSpPr>
          <p:cNvPr id="17" name="文本框 16"/>
          <p:cNvSpPr txBox="1"/>
          <p:nvPr/>
        </p:nvSpPr>
        <p:spPr>
          <a:xfrm>
            <a:off x="10841937" y="4833059"/>
            <a:ext cx="436970" cy="369332"/>
          </a:xfrm>
          <a:prstGeom prst="rect">
            <a:avLst/>
          </a:prstGeom>
          <a:noFill/>
        </p:spPr>
        <p:txBody>
          <a:bodyPr wrap="square" rtlCol="0">
            <a:spAutoFit/>
          </a:bodyPr>
          <a:lstStyle/>
          <a:p>
            <a:r>
              <a:rPr kumimoji="1" lang="en-US" altLang="zh-CN" dirty="0"/>
              <a:t>D</a:t>
            </a:r>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p:cNvSpPr txBox="1">
            <a:spLocks noChangeArrowheads="1"/>
          </p:cNvSpPr>
          <p:nvPr/>
        </p:nvSpPr>
        <p:spPr bwMode="auto">
          <a:xfrm>
            <a:off x="985520" y="1428750"/>
            <a:ext cx="9502775" cy="1107440"/>
          </a:xfrm>
          <a:prstGeom prst="rect">
            <a:avLst/>
          </a:prstGeom>
          <a:noFill/>
          <a:ln>
            <a:noFill/>
          </a:ln>
          <a:effectLst/>
        </p:spPr>
        <p:txBody>
          <a:bodyPr wrap="square" lIns="0" tIns="0" rIns="0" bIns="0">
            <a:spAutoFit/>
          </a:bodyPr>
          <a:lstStyle>
            <a:lvl1pPr>
              <a:tabLst>
                <a:tab pos="254000" algn="l"/>
                <a:tab pos="266700" algn="l"/>
              </a:tabLst>
              <a:defRPr>
                <a:solidFill>
                  <a:schemeClr val="tx1"/>
                </a:solidFill>
                <a:latin typeface="Arial" panose="020B0604020202020204" pitchFamily="34" charset="0"/>
                <a:ea typeface="宋体" panose="02010600030101010101" pitchFamily="2" charset="-122"/>
              </a:defRPr>
            </a:lvl1pPr>
            <a:lvl2pPr>
              <a:tabLst>
                <a:tab pos="254000" algn="l"/>
                <a:tab pos="266700" algn="l"/>
              </a:tabLst>
              <a:defRPr>
                <a:solidFill>
                  <a:schemeClr val="tx1"/>
                </a:solidFill>
                <a:latin typeface="Arial" panose="020B0604020202020204" pitchFamily="34" charset="0"/>
                <a:ea typeface="宋体" panose="02010600030101010101" pitchFamily="2" charset="-122"/>
              </a:defRPr>
            </a:lvl2pPr>
            <a:lvl3pPr>
              <a:tabLst>
                <a:tab pos="254000" algn="l"/>
                <a:tab pos="266700" algn="l"/>
              </a:tabLst>
              <a:defRPr>
                <a:solidFill>
                  <a:schemeClr val="tx1"/>
                </a:solidFill>
                <a:latin typeface="Arial" panose="020B0604020202020204" pitchFamily="34" charset="0"/>
                <a:ea typeface="宋体" panose="02010600030101010101" pitchFamily="2" charset="-122"/>
              </a:defRPr>
            </a:lvl3pPr>
            <a:lvl4pPr>
              <a:tabLst>
                <a:tab pos="254000" algn="l"/>
                <a:tab pos="266700" algn="l"/>
              </a:tabLst>
              <a:defRPr>
                <a:solidFill>
                  <a:schemeClr val="tx1"/>
                </a:solidFill>
                <a:latin typeface="Arial" panose="020B0604020202020204" pitchFamily="34" charset="0"/>
                <a:ea typeface="宋体" panose="02010600030101010101" pitchFamily="2" charset="-122"/>
              </a:defRPr>
            </a:lvl4pPr>
            <a:lvl5pPr>
              <a:tabLst>
                <a:tab pos="254000" algn="l"/>
                <a:tab pos="2667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9pPr>
          </a:lstStyle>
          <a:p>
            <a:pPr indent="457200" algn="just" fontAlgn="auto">
              <a:lnSpc>
                <a:spcPct val="150000"/>
              </a:lnSpc>
              <a:spcBef>
                <a:spcPts val="0"/>
              </a:spcBef>
              <a:spcAft>
                <a:spcPts val="0"/>
              </a:spcAft>
              <a:defRPr/>
            </a:pPr>
            <a:r>
              <a:rPr lang="en-US" altLang="zh-CN" sz="1200" dirty="0">
                <a:solidFill>
                  <a:srgbClr val="000000"/>
                </a:solidFill>
                <a:latin typeface="Times New Roman" panose="02020603050405020304" pitchFamily="18" charset="0"/>
                <a:ea typeface="隶书" panose="02010509060101010101" pitchFamily="49"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图论中图是由点</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(Vertex)</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和边</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(edges)</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构成，可以反映一些对象之间的关系。例如：一个人群中，</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相互认识关系</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可以用图表示，如图所示。</a:t>
            </a:r>
            <a:endParaRPr lang="zh-CN" altLang="en-US" sz="2400" dirty="0">
              <a:solidFill>
                <a:srgbClr val="000000"/>
              </a:solidFill>
              <a:latin typeface="Times New Roman" panose="02020603050405020304" pitchFamily="18" charset="0"/>
              <a:ea typeface="+mn-ea"/>
              <a:cs typeface="Times New Roman" panose="02020603050405020304" pitchFamily="18" charset="0"/>
            </a:endParaRPr>
          </a:p>
        </p:txBody>
      </p:sp>
      <p:pic>
        <p:nvPicPr>
          <p:cNvPr id="1026" name="Picture 2"/>
          <p:cNvPicPr>
            <a:picLocks noChangeAspect="1" noChangeArrowheads="1"/>
          </p:cNvPicPr>
          <p:nvPr/>
        </p:nvPicPr>
        <p:blipFill>
          <a:blip r:embed="rId1"/>
          <a:srcRect/>
          <a:stretch>
            <a:fillRect/>
          </a:stretch>
        </p:blipFill>
        <p:spPr bwMode="auto">
          <a:xfrm>
            <a:off x="3270641" y="3062871"/>
            <a:ext cx="5650718" cy="3739445"/>
          </a:xfrm>
          <a:prstGeom prst="rect">
            <a:avLst/>
          </a:prstGeom>
          <a:noFill/>
          <a:ln w="9525">
            <a:noFill/>
            <a:miter lim="800000"/>
            <a:headEnd/>
            <a:tailEnd/>
          </a:ln>
        </p:spPr>
      </p:pic>
      <p:sp>
        <p:nvSpPr>
          <p:cNvPr id="4" name="标题 1"/>
          <p:cNvSpPr>
            <a:spLocks noGrp="1"/>
          </p:cNvSpPr>
          <p:nvPr/>
        </p:nvSpPr>
        <p:spPr>
          <a:xfrm>
            <a:off x="838200" y="356235"/>
            <a:ext cx="10515600" cy="13347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图与网络的基本概念</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a:spLocks noChangeArrowheads="1"/>
          </p:cNvSpPr>
          <p:nvPr/>
        </p:nvSpPr>
        <p:spPr bwMode="auto">
          <a:xfrm>
            <a:off x="1002665" y="1416685"/>
            <a:ext cx="9575165" cy="2306955"/>
          </a:xfrm>
          <a:prstGeom prst="rect">
            <a:avLst/>
          </a:prstGeom>
          <a:noFill/>
          <a:ln w="9525">
            <a:noFill/>
            <a:miter lim="800000"/>
          </a:ln>
        </p:spPr>
        <p:txBody>
          <a:bodyPr wrap="square">
            <a:spAutoFit/>
          </a:bodyPr>
          <a:lstStyle/>
          <a:p>
            <a:pPr algn="just">
              <a:lnSpc>
                <a:spcPct val="150000"/>
              </a:lnSpc>
              <a:tabLst>
                <a:tab pos="266700" algn="l"/>
                <a:tab pos="1917700" algn="l"/>
              </a:tabLst>
            </a:pP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图论不仅描述</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对象之间关系</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，还研究特定关系之间的</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内在规律</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，一般情况下图中点的</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相对位置如何</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、点与点之间连线的</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长短曲直</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，对于反映对象之间的关系并不重要，如对赵等七人的相互认识关系可用图 表示，可见图论的图与几何图、工程图是不一样的。</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050" name="Picture 2"/>
          <p:cNvPicPr>
            <a:picLocks noChangeAspect="1" noChangeArrowheads="1"/>
          </p:cNvPicPr>
          <p:nvPr/>
        </p:nvPicPr>
        <p:blipFill>
          <a:blip r:embed="rId1"/>
          <a:srcRect/>
          <a:stretch>
            <a:fillRect/>
          </a:stretch>
        </p:blipFill>
        <p:spPr bwMode="auto">
          <a:xfrm>
            <a:off x="2214587" y="3789040"/>
            <a:ext cx="7762825" cy="2700113"/>
          </a:xfrm>
          <a:prstGeom prst="rect">
            <a:avLst/>
          </a:prstGeom>
          <a:noFill/>
          <a:ln w="9525">
            <a:noFill/>
            <a:miter lim="800000"/>
            <a:headEnd/>
            <a:tailEnd/>
          </a:ln>
        </p:spPr>
      </p:pic>
      <p:sp>
        <p:nvSpPr>
          <p:cNvPr id="4" name="标题 1"/>
          <p:cNvSpPr>
            <a:spLocks noGrp="1"/>
          </p:cNvSpPr>
          <p:nvPr/>
        </p:nvSpPr>
        <p:spPr>
          <a:xfrm>
            <a:off x="838200" y="356235"/>
            <a:ext cx="10515600" cy="13347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图与网络的基本概念</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anim calcmode="lin" valueType="num">
                                      <p:cBhvr additive="base">
                                        <p:cTn id="13" dur="500" fill="hold"/>
                                        <p:tgtEl>
                                          <p:spTgt spid="2050"/>
                                        </p:tgtEl>
                                        <p:attrNameLst>
                                          <p:attrName>ppt_x</p:attrName>
                                        </p:attrNameLst>
                                      </p:cBhvr>
                                      <p:tavLst>
                                        <p:tav tm="0">
                                          <p:val>
                                            <p:strVal val="#ppt_x"/>
                                          </p:val>
                                        </p:tav>
                                        <p:tav tm="100000">
                                          <p:val>
                                            <p:strVal val="#ppt_x"/>
                                          </p:val>
                                        </p:tav>
                                      </p:tavLst>
                                    </p:anim>
                                    <p:anim calcmode="lin" valueType="num">
                                      <p:cBhvr additive="base">
                                        <p:cTn id="14"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p:cNvSpPr txBox="1">
            <a:spLocks noChangeArrowheads="1"/>
          </p:cNvSpPr>
          <p:nvPr/>
        </p:nvSpPr>
        <p:spPr bwMode="auto">
          <a:xfrm>
            <a:off x="1685764" y="1283092"/>
            <a:ext cx="8820472" cy="2215515"/>
          </a:xfrm>
          <a:prstGeom prst="rect">
            <a:avLst/>
          </a:prstGeom>
          <a:noFill/>
          <a:ln>
            <a:noFill/>
          </a:ln>
          <a:effectLst/>
        </p:spPr>
        <p:txBody>
          <a:bodyPr wrap="square" lIns="0" tIns="0" rIns="0" bIns="0">
            <a:spAutoFit/>
          </a:bodyPr>
          <a:lstStyle>
            <a:lvl1pPr>
              <a:tabLst>
                <a:tab pos="254000" algn="l"/>
                <a:tab pos="266700" algn="l"/>
              </a:tabLst>
              <a:defRPr>
                <a:solidFill>
                  <a:schemeClr val="tx1"/>
                </a:solidFill>
                <a:latin typeface="Arial" panose="020B0604020202020204" pitchFamily="34" charset="0"/>
                <a:ea typeface="宋体" panose="02010600030101010101" pitchFamily="2" charset="-122"/>
              </a:defRPr>
            </a:lvl1pPr>
            <a:lvl2pPr>
              <a:tabLst>
                <a:tab pos="254000" algn="l"/>
                <a:tab pos="266700" algn="l"/>
              </a:tabLst>
              <a:defRPr>
                <a:solidFill>
                  <a:schemeClr val="tx1"/>
                </a:solidFill>
                <a:latin typeface="Arial" panose="020B0604020202020204" pitchFamily="34" charset="0"/>
                <a:ea typeface="宋体" panose="02010600030101010101" pitchFamily="2" charset="-122"/>
              </a:defRPr>
            </a:lvl2pPr>
            <a:lvl3pPr>
              <a:tabLst>
                <a:tab pos="254000" algn="l"/>
                <a:tab pos="266700" algn="l"/>
              </a:tabLst>
              <a:defRPr>
                <a:solidFill>
                  <a:schemeClr val="tx1"/>
                </a:solidFill>
                <a:latin typeface="Arial" panose="020B0604020202020204" pitchFamily="34" charset="0"/>
                <a:ea typeface="宋体" panose="02010600030101010101" pitchFamily="2" charset="-122"/>
              </a:defRPr>
            </a:lvl3pPr>
            <a:lvl4pPr>
              <a:tabLst>
                <a:tab pos="254000" algn="l"/>
                <a:tab pos="266700" algn="l"/>
              </a:tabLst>
              <a:defRPr>
                <a:solidFill>
                  <a:schemeClr val="tx1"/>
                </a:solidFill>
                <a:latin typeface="Arial" panose="020B0604020202020204" pitchFamily="34" charset="0"/>
                <a:ea typeface="宋体" panose="02010600030101010101" pitchFamily="2" charset="-122"/>
              </a:defRPr>
            </a:lvl4pPr>
            <a:lvl5pPr>
              <a:tabLst>
                <a:tab pos="254000" algn="l"/>
                <a:tab pos="2667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9pPr>
          </a:lstStyle>
          <a:p>
            <a:pPr algn="just" fontAlgn="auto">
              <a:lnSpc>
                <a:spcPct val="150000"/>
              </a:lnSpc>
              <a:spcBef>
                <a:spcPts val="0"/>
              </a:spcBef>
              <a:spcAft>
                <a:spcPts val="0"/>
              </a:spcAft>
              <a:defRPr/>
            </a:pP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如果把上例中的“相互认识”关系改为“</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认识</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”关系，那么用两点之间的连线很难刻画他们之间关系，这时引入一个带箭头的连线，称为弧。图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11-3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就是一个反映这七人“认识”关系的图。相互认识用两条反向的弧表示。</a:t>
            </a:r>
            <a:endParaRPr lang="zh-CN" altLang="en-US" sz="2800" dirty="0">
              <a:solidFill>
                <a:srgbClr val="000000"/>
              </a:solidFill>
              <a:latin typeface="Times New Roman" panose="02020603050405020304" pitchFamily="18" charset="0"/>
              <a:ea typeface="+mn-ea"/>
              <a:cs typeface="Times New Roman" panose="02020603050405020304" pitchFamily="18" charset="0"/>
            </a:endParaRPr>
          </a:p>
        </p:txBody>
      </p:sp>
      <p:sp>
        <p:nvSpPr>
          <p:cNvPr id="34821"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pic>
        <p:nvPicPr>
          <p:cNvPr id="3074" name="Picture 2"/>
          <p:cNvPicPr>
            <a:picLocks noChangeAspect="1" noChangeArrowheads="1"/>
          </p:cNvPicPr>
          <p:nvPr/>
        </p:nvPicPr>
        <p:blipFill>
          <a:blip r:embed="rId1"/>
          <a:srcRect/>
          <a:stretch>
            <a:fillRect/>
          </a:stretch>
        </p:blipFill>
        <p:spPr bwMode="auto">
          <a:xfrm>
            <a:off x="3667125" y="3386137"/>
            <a:ext cx="4857750" cy="3375025"/>
          </a:xfrm>
          <a:prstGeom prst="rect">
            <a:avLst/>
          </a:prstGeom>
          <a:noFill/>
          <a:ln w="9525">
            <a:noFill/>
            <a:miter lim="800000"/>
            <a:headEnd/>
            <a:tailEnd/>
          </a:ln>
        </p:spPr>
      </p:pic>
      <p:sp>
        <p:nvSpPr>
          <p:cNvPr id="4" name="标题 1"/>
          <p:cNvSpPr>
            <a:spLocks noGrp="1"/>
          </p:cNvSpPr>
          <p:nvPr/>
        </p:nvSpPr>
        <p:spPr>
          <a:xfrm>
            <a:off x="838200" y="356235"/>
            <a:ext cx="10515600" cy="13347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图与网络的基本概念</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1+#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4"/>
                                        </p:tgtEl>
                                        <p:attrNameLst>
                                          <p:attrName>style.visibility</p:attrName>
                                        </p:attrNameLst>
                                      </p:cBhvr>
                                      <p:to>
                                        <p:strVal val="visible"/>
                                      </p:to>
                                    </p:set>
                                    <p:anim calcmode="lin" valueType="num">
                                      <p:cBhvr additive="base">
                                        <p:cTn id="13" dur="500" fill="hold"/>
                                        <p:tgtEl>
                                          <p:spTgt spid="3074"/>
                                        </p:tgtEl>
                                        <p:attrNameLst>
                                          <p:attrName>ppt_x</p:attrName>
                                        </p:attrNameLst>
                                      </p:cBhvr>
                                      <p:tavLst>
                                        <p:tav tm="0">
                                          <p:val>
                                            <p:strVal val="#ppt_x"/>
                                          </p:val>
                                        </p:tav>
                                        <p:tav tm="100000">
                                          <p:val>
                                            <p:strVal val="#ppt_x"/>
                                          </p:val>
                                        </p:tav>
                                      </p:tavLst>
                                    </p:anim>
                                    <p:anim calcmode="lin" valueType="num">
                                      <p:cBhvr additive="base">
                                        <p:cTn id="14"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56235"/>
            <a:ext cx="10515600" cy="1334770"/>
          </a:xfrm>
        </p:spPr>
        <p:txBody>
          <a:bodyPr/>
          <a:lstStyle/>
          <a:p>
            <a:r>
              <a:rPr lang="zh-CN" altLang="en-US" dirty="0"/>
              <a:t>图与网络的基本概念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zh-CN" altLang="en-US" dirty="0"/>
                  <a:t>图的定义：图论中的图是由点和连线构成的，可以反映一些对象之间的关系。</a:t>
                </a:r>
                <a:endParaRPr lang="en-US" altLang="zh-CN" dirty="0"/>
              </a:p>
              <a:p>
                <a:pPr lvl="1"/>
                <a:r>
                  <a:rPr lang="zh-CN" altLang="en-US" dirty="0"/>
                  <a:t>点（</a:t>
                </a:r>
                <a:r>
                  <a:rPr lang="en-US" altLang="zh-CN" dirty="0"/>
                  <a:t>v</a:t>
                </a:r>
                <a:r>
                  <a:rPr lang="zh-CN" altLang="en-US" dirty="0"/>
                  <a:t>）：表示某一具体事物</a:t>
                </a:r>
                <a:endParaRPr lang="en-US" altLang="zh-CN" dirty="0"/>
              </a:p>
              <a:p>
                <a:pPr lvl="1"/>
                <a:r>
                  <a:rPr lang="zh-CN" altLang="en-US" dirty="0"/>
                  <a:t>连线分为两种：</a:t>
                </a:r>
                <a:endParaRPr lang="en-US" altLang="zh-CN" dirty="0"/>
              </a:p>
              <a:p>
                <a:pPr lvl="2"/>
                <a:r>
                  <a:rPr lang="zh-CN" altLang="en-US" dirty="0"/>
                  <a:t>边（</a:t>
                </a:r>
                <a:r>
                  <a:rPr lang="en-US" altLang="zh-CN" dirty="0"/>
                  <a:t>e</a:t>
                </a:r>
                <a:r>
                  <a:rPr lang="zh-CN" altLang="en-US" dirty="0"/>
                  <a:t>）：无指向性的点间连线</a:t>
                </a:r>
                <a:endParaRPr lang="en-US" altLang="zh-CN" dirty="0"/>
              </a:p>
              <a:p>
                <a:pPr lvl="2"/>
                <a:r>
                  <a:rPr lang="zh-CN" altLang="en-US" dirty="0"/>
                  <a:t>弧（</a:t>
                </a:r>
                <a:r>
                  <a:rPr lang="en-US" altLang="zh-CN" dirty="0"/>
                  <a:t>a</a:t>
                </a:r>
                <a:r>
                  <a:rPr lang="zh-CN" altLang="en-US" dirty="0"/>
                  <a:t>）：有指向性的点间连线</a:t>
                </a:r>
                <a:endParaRPr lang="en-US" altLang="zh-CN" dirty="0"/>
              </a:p>
              <a:p>
                <a:pPr marL="0" indent="0">
                  <a:buNone/>
                </a:pPr>
                <a:r>
                  <a:rPr lang="zh-CN" altLang="en-US" dirty="0"/>
                  <a:t>图分为以下两种：</a:t>
                </a:r>
                <a:endParaRPr lang="en-US" altLang="zh-CN" dirty="0"/>
              </a:p>
              <a:p>
                <a:pPr lvl="1"/>
                <a:r>
                  <a:rPr lang="zh-CN" altLang="en-US" dirty="0"/>
                  <a:t>无向图（</a:t>
                </a:r>
                <a:r>
                  <a:rPr lang="en-US" altLang="zh-CN" dirty="0"/>
                  <a:t>Undirected Graph</a:t>
                </a:r>
                <a:r>
                  <a:rPr lang="zh-CN" altLang="en-US" dirty="0"/>
                  <a:t>）：点</a:t>
                </a:r>
                <a:r>
                  <a:rPr lang="en-US" altLang="zh-CN" dirty="0"/>
                  <a:t>+</a:t>
                </a:r>
                <a:r>
                  <a:rPr lang="zh-CN" altLang="en-US" dirty="0"/>
                  <a:t>边</a:t>
                </a:r>
                <a:endParaRPr lang="en-US" altLang="zh-CN" dirty="0"/>
              </a:p>
              <a:p>
                <a:pPr lvl="1"/>
                <a:r>
                  <a:rPr lang="zh-CN" altLang="en-US" dirty="0"/>
                  <a:t>有向图（</a:t>
                </a:r>
                <a:r>
                  <a:rPr lang="en-US" altLang="zh-CN" dirty="0"/>
                  <a:t>Directed Graph</a:t>
                </a:r>
                <a:r>
                  <a:rPr lang="zh-CN" altLang="en-US" dirty="0"/>
                  <a:t>）：点</a:t>
                </a:r>
                <a:r>
                  <a:rPr lang="en-US" altLang="zh-CN" dirty="0"/>
                  <a:t>+</a:t>
                </a:r>
                <a:r>
                  <a:rPr lang="zh-CN" altLang="en-US" dirty="0"/>
                  <a:t>弧</a:t>
                </a:r>
                <a:endParaRPr lang="en-US" altLang="zh-CN" dirty="0"/>
              </a:p>
              <a:p>
                <a:pPr lvl="1"/>
                <a:r>
                  <a:rPr lang="zh-CN" altLang="en-US" dirty="0"/>
                  <a:t>弧和边上分别用</a:t>
                </a:r>
                <a:r>
                  <a:rPr lang="en-US" altLang="zh-CN" dirty="0"/>
                  <a:t>c</a:t>
                </a:r>
                <a14:m>
                  <m:oMath xmlns:m="http://schemas.openxmlformats.org/officeDocument/2006/math">
                    <m:r>
                      <a:rPr lang="zh-CN" altLang="en-US" i="1" dirty="0">
                        <a:latin typeface="Cambria Math" panose="02040503050406030204" pitchFamily="18" charset="0"/>
                      </a:rPr>
                      <m:t>和</m:t>
                    </m:r>
                    <m:r>
                      <a:rPr lang="en-US" altLang="zh-CN" b="0" i="1" smtClean="0">
                        <a:latin typeface="Cambria Math" panose="02040503050406030204" pitchFamily="18" charset="0"/>
                      </a:rPr>
                      <m:t>𝜔</m:t>
                    </m:r>
                  </m:oMath>
                </a14:m>
                <a:r>
                  <a:rPr lang="zh-CN" altLang="en-US" dirty="0"/>
                  <a:t>代表对应的权数，而相应的有向图和无向图则均被成为赋权图。</a:t>
                </a:r>
                <a:endParaRPr lang="en-US" altLang="zh-CN" dirty="0"/>
              </a:p>
              <a:p>
                <a:pPr lvl="2"/>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6633"/>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72390"/>
            <a:ext cx="10515600" cy="1325563"/>
          </a:xfrm>
        </p:spPr>
        <p:txBody>
          <a:bodyPr/>
          <a:lstStyle/>
          <a:p>
            <a:r>
              <a:rPr lang="zh-CN" altLang="en-US" dirty="0"/>
              <a:t>图与网络的基本概念</a:t>
            </a:r>
            <a:endParaRPr lang="zh-CN" altLang="en-US" dirty="0"/>
          </a:p>
        </p:txBody>
      </p:sp>
      <p:sp>
        <p:nvSpPr>
          <p:cNvPr id="3" name="内容占位符 2"/>
          <p:cNvSpPr>
            <a:spLocks noGrp="1"/>
          </p:cNvSpPr>
          <p:nvPr>
            <p:ph idx="1"/>
          </p:nvPr>
        </p:nvSpPr>
        <p:spPr/>
        <p:txBody>
          <a:bodyPr>
            <a:normAutofit fontScale="90000" lnSpcReduction="20000"/>
          </a:bodyPr>
          <a:lstStyle/>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a:spcBef>
                <a:spcPct val="20000"/>
              </a:spcBef>
            </a:pPr>
            <a:r>
              <a:rPr lang="zh-CN" altLang="en-US" dirty="0"/>
              <a:t>无向图 </a:t>
            </a:r>
            <a:r>
              <a:rPr lang="en-US" altLang="zh-CN" dirty="0"/>
              <a:t>G</a:t>
            </a:r>
            <a:r>
              <a:rPr lang="zh-CN" altLang="en-US" dirty="0"/>
              <a:t>（</a:t>
            </a:r>
            <a:r>
              <a:rPr lang="en-US" altLang="zh-CN" dirty="0"/>
              <a:t>V</a:t>
            </a:r>
            <a:r>
              <a:rPr lang="zh-CN" altLang="en-US" dirty="0"/>
              <a:t>，</a:t>
            </a:r>
            <a:r>
              <a:rPr lang="en-US" altLang="zh-CN" dirty="0"/>
              <a:t>E</a:t>
            </a:r>
            <a:r>
              <a:rPr lang="zh-CN" altLang="en-US" dirty="0"/>
              <a:t>）：</a:t>
            </a:r>
            <a:endParaRPr lang="zh-CN" altLang="en-US" dirty="0"/>
          </a:p>
          <a:p>
            <a:pPr>
              <a:spcBef>
                <a:spcPct val="10000"/>
              </a:spcBef>
            </a:pPr>
            <a:r>
              <a:rPr lang="en-US" altLang="zh-CN" dirty="0"/>
              <a:t>V</a:t>
            </a:r>
            <a:r>
              <a:rPr lang="zh-CN" altLang="en-US" dirty="0"/>
              <a:t>是顶点集合</a:t>
            </a:r>
            <a:r>
              <a:rPr lang="en-US" altLang="zh-CN" dirty="0"/>
              <a:t>,V={</a:t>
            </a:r>
            <a:r>
              <a:rPr lang="en-US" altLang="zh-CN" i="1" dirty="0" err="1"/>
              <a:t>v</a:t>
            </a:r>
            <a:r>
              <a:rPr lang="en-US" altLang="zh-CN" baseline="-25000" dirty="0" err="1"/>
              <a:t>i</a:t>
            </a:r>
            <a:r>
              <a:rPr lang="en-US" altLang="zh-CN" dirty="0" err="1"/>
              <a:t>|i</a:t>
            </a:r>
            <a:r>
              <a:rPr lang="en-US" altLang="zh-CN" dirty="0"/>
              <a:t>=1,…,n}</a:t>
            </a:r>
            <a:r>
              <a:rPr lang="zh-CN" altLang="en-US" dirty="0"/>
              <a:t>，</a:t>
            </a:r>
            <a:r>
              <a:rPr lang="en-US" altLang="zh-CN" dirty="0"/>
              <a:t>E</a:t>
            </a:r>
            <a:r>
              <a:rPr lang="zh-CN" altLang="en-US" dirty="0"/>
              <a:t>是边的集合</a:t>
            </a:r>
            <a:r>
              <a:rPr lang="en-US" altLang="zh-CN" dirty="0"/>
              <a:t>,E={</a:t>
            </a:r>
            <a:r>
              <a:rPr lang="en-US" altLang="zh-CN" i="1" dirty="0" err="1"/>
              <a:t>e</a:t>
            </a:r>
            <a:r>
              <a:rPr lang="en-US" altLang="zh-CN" baseline="-25000" dirty="0" err="1"/>
              <a:t>j</a:t>
            </a:r>
            <a:r>
              <a:rPr lang="en-US" altLang="zh-CN" baseline="-25000" dirty="0"/>
              <a:t> </a:t>
            </a:r>
            <a:r>
              <a:rPr lang="en-US" altLang="zh-CN" dirty="0"/>
              <a:t>| j=1,…,m}</a:t>
            </a:r>
            <a:endParaRPr lang="en-US" altLang="zh-CN" dirty="0"/>
          </a:p>
          <a:p>
            <a:pPr algn="just">
              <a:spcBef>
                <a:spcPct val="10000"/>
              </a:spcBef>
              <a:buNone/>
            </a:pPr>
            <a:r>
              <a:rPr lang="zh-CN" altLang="en-US" dirty="0"/>
              <a:t>对于边</a:t>
            </a:r>
            <a:r>
              <a:rPr lang="zh-CN" altLang="en-US" i="1" dirty="0"/>
              <a:t> </a:t>
            </a:r>
            <a:r>
              <a:rPr lang="en-US" altLang="zh-CN" i="1" dirty="0"/>
              <a:t>e</a:t>
            </a:r>
            <a:r>
              <a:rPr lang="en-US" altLang="zh-CN" baseline="-25000" dirty="0"/>
              <a:t>3 </a:t>
            </a:r>
            <a:r>
              <a:rPr lang="en-US" altLang="zh-CN" dirty="0"/>
              <a:t>=[</a:t>
            </a:r>
            <a:r>
              <a:rPr lang="en-US" altLang="zh-CN" i="1" dirty="0"/>
              <a:t>v</a:t>
            </a:r>
            <a:r>
              <a:rPr lang="en-US" altLang="zh-CN" baseline="-25000" dirty="0"/>
              <a:t>1</a:t>
            </a:r>
            <a:r>
              <a:rPr lang="en-US" altLang="zh-CN" dirty="0"/>
              <a:t>, </a:t>
            </a:r>
            <a:r>
              <a:rPr lang="en-US" altLang="zh-CN" i="1" dirty="0"/>
              <a:t>v</a:t>
            </a:r>
            <a:r>
              <a:rPr lang="en-US" altLang="zh-CN" baseline="-25000" dirty="0"/>
              <a:t>4 </a:t>
            </a:r>
            <a:r>
              <a:rPr lang="en-US" altLang="zh-CN" dirty="0"/>
              <a:t>]</a:t>
            </a:r>
            <a:r>
              <a:rPr lang="zh-CN" altLang="en-US" dirty="0"/>
              <a:t>，</a:t>
            </a:r>
            <a:r>
              <a:rPr lang="en-US" altLang="zh-CN" i="1" dirty="0"/>
              <a:t>v</a:t>
            </a:r>
            <a:r>
              <a:rPr lang="en-US" altLang="zh-CN" baseline="-25000" dirty="0"/>
              <a:t>1</a:t>
            </a:r>
            <a:r>
              <a:rPr lang="en-US" altLang="zh-CN" dirty="0"/>
              <a:t>,</a:t>
            </a:r>
            <a:r>
              <a:rPr lang="en-US" altLang="zh-CN" i="1" dirty="0"/>
              <a:t> v</a:t>
            </a:r>
            <a:r>
              <a:rPr lang="en-US" altLang="zh-CN" baseline="-25000" dirty="0"/>
              <a:t>4</a:t>
            </a:r>
            <a:r>
              <a:rPr lang="zh-CN" altLang="en-US" dirty="0"/>
              <a:t>是</a:t>
            </a:r>
            <a:r>
              <a:rPr lang="en-US" altLang="zh-CN" i="1" dirty="0"/>
              <a:t>e</a:t>
            </a:r>
            <a:r>
              <a:rPr lang="en-US" altLang="zh-CN" baseline="-25000" dirty="0"/>
              <a:t>3</a:t>
            </a:r>
            <a:r>
              <a:rPr lang="zh-CN" altLang="en-US" dirty="0"/>
              <a:t>的端点，</a:t>
            </a:r>
            <a:r>
              <a:rPr lang="en-US" altLang="zh-CN" i="1" dirty="0"/>
              <a:t>e</a:t>
            </a:r>
            <a:r>
              <a:rPr lang="en-US" altLang="zh-CN" baseline="-25000" dirty="0"/>
              <a:t>3 </a:t>
            </a:r>
            <a:r>
              <a:rPr lang="zh-CN" altLang="en-US" dirty="0"/>
              <a:t>是</a:t>
            </a:r>
            <a:r>
              <a:rPr lang="en-US" altLang="zh-CN" i="1" dirty="0"/>
              <a:t>v</a:t>
            </a:r>
            <a:r>
              <a:rPr lang="en-US" altLang="zh-CN" baseline="-25000" dirty="0"/>
              <a:t>1</a:t>
            </a:r>
            <a:r>
              <a:rPr lang="en-US" altLang="zh-CN" dirty="0"/>
              <a:t>,</a:t>
            </a:r>
            <a:r>
              <a:rPr lang="en-US" altLang="zh-CN" i="1" dirty="0"/>
              <a:t> v</a:t>
            </a:r>
            <a:r>
              <a:rPr lang="en-US" altLang="zh-CN" baseline="-25000" dirty="0"/>
              <a:t>4</a:t>
            </a:r>
            <a:r>
              <a:rPr lang="zh-CN" altLang="en-US" dirty="0"/>
              <a:t>的关联边。</a:t>
            </a:r>
            <a:endParaRPr lang="zh-CN" altLang="en-US" dirty="0"/>
          </a:p>
          <a:p>
            <a:pPr lvl="0" algn="just">
              <a:spcBef>
                <a:spcPct val="10000"/>
              </a:spcBef>
            </a:pPr>
            <a:r>
              <a:rPr lang="zh-CN" altLang="en-US" dirty="0">
                <a:solidFill>
                  <a:schemeClr val="tx1"/>
                </a:solidFill>
              </a:rPr>
              <a:t>环：边的两个端点</a:t>
            </a:r>
            <a:r>
              <a:rPr lang="zh-CN" altLang="en-US" dirty="0">
                <a:solidFill>
                  <a:schemeClr val="tx1"/>
                </a:solidFill>
              </a:rPr>
              <a:t>相同</a:t>
            </a:r>
            <a:endParaRPr lang="zh-CN" altLang="en-US" dirty="0">
              <a:solidFill>
                <a:schemeClr val="tx1"/>
              </a:solidFill>
            </a:endParaRPr>
          </a:p>
          <a:p>
            <a:pPr lvl="0" algn="just">
              <a:spcBef>
                <a:spcPct val="10000"/>
              </a:spcBef>
            </a:pPr>
            <a:r>
              <a:rPr lang="zh-CN" altLang="en-US" dirty="0">
                <a:solidFill>
                  <a:schemeClr val="tx1"/>
                </a:solidFill>
              </a:rPr>
              <a:t>多重边（平行边）：两个端点之间有超过一条的</a:t>
            </a:r>
            <a:r>
              <a:rPr lang="zh-CN" altLang="en-US" dirty="0">
                <a:solidFill>
                  <a:schemeClr val="tx1"/>
                </a:solidFill>
              </a:rPr>
              <a:t>边</a:t>
            </a:r>
            <a:endParaRPr lang="zh-CN" altLang="en-US" dirty="0">
              <a:solidFill>
                <a:schemeClr val="tx1"/>
              </a:solidFill>
            </a:endParaRPr>
          </a:p>
          <a:p>
            <a:pPr lvl="0" algn="just">
              <a:spcBef>
                <a:spcPct val="10000"/>
              </a:spcBef>
            </a:pPr>
            <a:r>
              <a:rPr lang="zh-CN" altLang="en-US" dirty="0">
                <a:solidFill>
                  <a:schemeClr val="tx1"/>
                </a:solidFill>
              </a:rPr>
              <a:t>简单图：无环、无多重边的</a:t>
            </a:r>
            <a:r>
              <a:rPr lang="zh-CN" altLang="en-US" dirty="0">
                <a:solidFill>
                  <a:schemeClr val="tx1"/>
                </a:solidFill>
              </a:rPr>
              <a:t>图</a:t>
            </a:r>
            <a:endParaRPr lang="zh-CN" altLang="en-US" dirty="0">
              <a:solidFill>
                <a:schemeClr val="tx1"/>
              </a:solidFill>
            </a:endParaRPr>
          </a:p>
          <a:p>
            <a:pPr marL="0" indent="0">
              <a:buNone/>
            </a:pPr>
            <a:endParaRPr lang="zh-CN" altLang="en-US" dirty="0">
              <a:solidFill>
                <a:schemeClr val="tx1"/>
              </a:solidFill>
            </a:endParaRPr>
          </a:p>
        </p:txBody>
      </p:sp>
      <p:grpSp>
        <p:nvGrpSpPr>
          <p:cNvPr id="4" name="Group 3"/>
          <p:cNvGrpSpPr/>
          <p:nvPr/>
        </p:nvGrpSpPr>
        <p:grpSpPr bwMode="auto">
          <a:xfrm>
            <a:off x="2357948" y="851267"/>
            <a:ext cx="7772400" cy="3429000"/>
            <a:chOff x="0" y="0"/>
            <a:chExt cx="4560" cy="1996"/>
          </a:xfrm>
        </p:grpSpPr>
        <p:sp>
          <p:nvSpPr>
            <p:cNvPr id="5" name="Line 4"/>
            <p:cNvSpPr>
              <a:spLocks noChangeShapeType="1"/>
            </p:cNvSpPr>
            <p:nvPr/>
          </p:nvSpPr>
          <p:spPr bwMode="auto">
            <a:xfrm flipV="1">
              <a:off x="296" y="276"/>
              <a:ext cx="694" cy="6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Line 5"/>
            <p:cNvSpPr>
              <a:spLocks noChangeShapeType="1"/>
            </p:cNvSpPr>
            <p:nvPr/>
          </p:nvSpPr>
          <p:spPr bwMode="auto">
            <a:xfrm flipV="1">
              <a:off x="346" y="976"/>
              <a:ext cx="644" cy="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Line 6"/>
            <p:cNvSpPr>
              <a:spLocks noChangeShapeType="1"/>
            </p:cNvSpPr>
            <p:nvPr/>
          </p:nvSpPr>
          <p:spPr bwMode="auto">
            <a:xfrm>
              <a:off x="1336" y="976"/>
              <a:ext cx="857" cy="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 name="Line 7"/>
            <p:cNvSpPr>
              <a:spLocks noChangeShapeType="1"/>
            </p:cNvSpPr>
            <p:nvPr/>
          </p:nvSpPr>
          <p:spPr bwMode="auto">
            <a:xfrm>
              <a:off x="296" y="1098"/>
              <a:ext cx="694" cy="57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Line 8"/>
            <p:cNvSpPr>
              <a:spLocks noChangeShapeType="1"/>
            </p:cNvSpPr>
            <p:nvPr/>
          </p:nvSpPr>
          <p:spPr bwMode="auto">
            <a:xfrm flipV="1">
              <a:off x="1336" y="164"/>
              <a:ext cx="840" cy="1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Line 9"/>
            <p:cNvSpPr>
              <a:spLocks noChangeShapeType="1"/>
            </p:cNvSpPr>
            <p:nvPr/>
          </p:nvSpPr>
          <p:spPr bwMode="auto">
            <a:xfrm>
              <a:off x="1336" y="1777"/>
              <a:ext cx="873" cy="4"/>
            </a:xfrm>
            <a:prstGeom prst="line">
              <a:avLst/>
            </a:prstGeom>
            <a:noFill/>
            <a:ln w="28575">
              <a:solidFill>
                <a:srgbClr val="6699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 name="Line 10"/>
            <p:cNvSpPr>
              <a:spLocks noChangeShapeType="1"/>
            </p:cNvSpPr>
            <p:nvPr/>
          </p:nvSpPr>
          <p:spPr bwMode="auto">
            <a:xfrm>
              <a:off x="2539" y="180"/>
              <a:ext cx="758" cy="33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11"/>
            <p:cNvSpPr>
              <a:spLocks noChangeShapeType="1"/>
            </p:cNvSpPr>
            <p:nvPr/>
          </p:nvSpPr>
          <p:spPr bwMode="auto">
            <a:xfrm>
              <a:off x="3626" y="647"/>
              <a:ext cx="611" cy="28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2"/>
            <p:cNvSpPr>
              <a:spLocks noChangeShapeType="1"/>
            </p:cNvSpPr>
            <p:nvPr/>
          </p:nvSpPr>
          <p:spPr bwMode="auto">
            <a:xfrm flipV="1">
              <a:off x="2539" y="1448"/>
              <a:ext cx="774" cy="26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13"/>
            <p:cNvSpPr>
              <a:spLocks noChangeShapeType="1"/>
            </p:cNvSpPr>
            <p:nvPr/>
          </p:nvSpPr>
          <p:spPr bwMode="auto">
            <a:xfrm flipV="1">
              <a:off x="3626" y="1064"/>
              <a:ext cx="627" cy="25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14"/>
            <p:cNvSpPr>
              <a:spLocks noChangeShapeType="1"/>
            </p:cNvSpPr>
            <p:nvPr/>
          </p:nvSpPr>
          <p:spPr bwMode="auto">
            <a:xfrm flipV="1">
              <a:off x="2522" y="613"/>
              <a:ext cx="775" cy="26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15"/>
            <p:cNvSpPr>
              <a:spLocks noChangeShapeType="1"/>
            </p:cNvSpPr>
            <p:nvPr/>
          </p:nvSpPr>
          <p:spPr bwMode="auto">
            <a:xfrm>
              <a:off x="2506" y="1047"/>
              <a:ext cx="758" cy="3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16"/>
            <p:cNvSpPr>
              <a:spLocks noChangeShapeType="1"/>
            </p:cNvSpPr>
            <p:nvPr/>
          </p:nvSpPr>
          <p:spPr bwMode="auto">
            <a:xfrm>
              <a:off x="1286" y="264"/>
              <a:ext cx="940" cy="6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17"/>
            <p:cNvSpPr>
              <a:spLocks noChangeShapeType="1"/>
            </p:cNvSpPr>
            <p:nvPr/>
          </p:nvSpPr>
          <p:spPr bwMode="auto">
            <a:xfrm>
              <a:off x="1253" y="347"/>
              <a:ext cx="973" cy="128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18"/>
            <p:cNvSpPr>
              <a:spLocks noChangeShapeType="1"/>
            </p:cNvSpPr>
            <p:nvPr/>
          </p:nvSpPr>
          <p:spPr bwMode="auto">
            <a:xfrm flipV="1">
              <a:off x="1286" y="264"/>
              <a:ext cx="907" cy="61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19"/>
            <p:cNvSpPr>
              <a:spLocks noChangeShapeType="1"/>
            </p:cNvSpPr>
            <p:nvPr/>
          </p:nvSpPr>
          <p:spPr bwMode="auto">
            <a:xfrm>
              <a:off x="1302" y="1081"/>
              <a:ext cx="907" cy="6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20"/>
            <p:cNvSpPr>
              <a:spLocks noChangeShapeType="1"/>
            </p:cNvSpPr>
            <p:nvPr/>
          </p:nvSpPr>
          <p:spPr bwMode="auto">
            <a:xfrm flipV="1">
              <a:off x="1269" y="326"/>
              <a:ext cx="1007" cy="127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21"/>
            <p:cNvSpPr>
              <a:spLocks noChangeShapeType="1"/>
            </p:cNvSpPr>
            <p:nvPr/>
          </p:nvSpPr>
          <p:spPr bwMode="auto">
            <a:xfrm flipV="1">
              <a:off x="1336" y="1031"/>
              <a:ext cx="890" cy="64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22"/>
            <p:cNvSpPr>
              <a:spLocks noChangeShapeType="1"/>
            </p:cNvSpPr>
            <p:nvPr/>
          </p:nvSpPr>
          <p:spPr bwMode="auto">
            <a:xfrm>
              <a:off x="2489" y="297"/>
              <a:ext cx="874" cy="92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23"/>
            <p:cNvSpPr>
              <a:spLocks noChangeShapeType="1"/>
            </p:cNvSpPr>
            <p:nvPr/>
          </p:nvSpPr>
          <p:spPr bwMode="auto">
            <a:xfrm flipV="1">
              <a:off x="2506" y="713"/>
              <a:ext cx="841" cy="9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Text Box 24"/>
            <p:cNvSpPr txBox="1">
              <a:spLocks noChangeArrowheads="1"/>
            </p:cNvSpPr>
            <p:nvPr/>
          </p:nvSpPr>
          <p:spPr bwMode="auto">
            <a:xfrm>
              <a:off x="485" y="460"/>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t>e</a:t>
              </a:r>
              <a:r>
                <a:rPr lang="en-US" altLang="zh-CN" sz="2600" b="1" baseline="-25000"/>
                <a:t>1</a:t>
              </a:r>
              <a:endParaRPr lang="en-US" altLang="zh-CN" sz="2600" b="1" baseline="-25000"/>
            </a:p>
          </p:txBody>
        </p:sp>
        <p:sp>
          <p:nvSpPr>
            <p:cNvPr id="26" name="Text Box 25"/>
            <p:cNvSpPr txBox="1">
              <a:spLocks noChangeArrowheads="1"/>
            </p:cNvSpPr>
            <p:nvPr/>
          </p:nvSpPr>
          <p:spPr bwMode="auto">
            <a:xfrm>
              <a:off x="544" y="846"/>
              <a:ext cx="1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t>e</a:t>
              </a:r>
              <a:r>
                <a:rPr lang="en-US" altLang="zh-CN" sz="2600" b="1" baseline="-25000"/>
                <a:t>2</a:t>
              </a:r>
              <a:endParaRPr lang="en-US" altLang="zh-CN" sz="2600" b="1" baseline="-25000"/>
            </a:p>
          </p:txBody>
        </p:sp>
        <p:sp>
          <p:nvSpPr>
            <p:cNvPr id="27" name="Text Box 26"/>
            <p:cNvSpPr txBox="1">
              <a:spLocks noChangeArrowheads="1"/>
            </p:cNvSpPr>
            <p:nvPr/>
          </p:nvSpPr>
          <p:spPr bwMode="auto">
            <a:xfrm>
              <a:off x="485" y="1372"/>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t>e</a:t>
              </a:r>
              <a:r>
                <a:rPr lang="en-US" altLang="zh-CN" sz="2600" b="1" baseline="-25000"/>
                <a:t>3</a:t>
              </a:r>
              <a:endParaRPr lang="en-US" altLang="zh-CN" sz="2600" b="1" baseline="-25000"/>
            </a:p>
          </p:txBody>
        </p:sp>
        <p:sp>
          <p:nvSpPr>
            <p:cNvPr id="28" name="Text Box 27"/>
            <p:cNvSpPr txBox="1">
              <a:spLocks noChangeArrowheads="1"/>
            </p:cNvSpPr>
            <p:nvPr/>
          </p:nvSpPr>
          <p:spPr bwMode="auto">
            <a:xfrm>
              <a:off x="1440" y="28"/>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12</a:t>
              </a:r>
              <a:endParaRPr lang="en-US" altLang="zh-CN" sz="1600" b="1"/>
            </a:p>
          </p:txBody>
        </p:sp>
        <p:sp>
          <p:nvSpPr>
            <p:cNvPr id="29" name="Text Box 28"/>
            <p:cNvSpPr txBox="1">
              <a:spLocks noChangeArrowheads="1"/>
            </p:cNvSpPr>
            <p:nvPr/>
          </p:nvSpPr>
          <p:spPr bwMode="auto">
            <a:xfrm>
              <a:off x="1445" y="268"/>
              <a:ext cx="1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14</a:t>
              </a:r>
              <a:endParaRPr lang="en-US" altLang="zh-CN" sz="1600" b="1"/>
            </a:p>
          </p:txBody>
        </p:sp>
        <p:sp>
          <p:nvSpPr>
            <p:cNvPr id="30" name="Text Box 29"/>
            <p:cNvSpPr txBox="1">
              <a:spLocks noChangeArrowheads="1"/>
            </p:cNvSpPr>
            <p:nvPr/>
          </p:nvSpPr>
          <p:spPr bwMode="auto">
            <a:xfrm>
              <a:off x="1152" y="460"/>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10</a:t>
              </a:r>
              <a:endParaRPr lang="en-US" altLang="zh-CN" sz="1600" b="1"/>
            </a:p>
          </p:txBody>
        </p:sp>
        <p:sp>
          <p:nvSpPr>
            <p:cNvPr id="31" name="Text Box 30"/>
            <p:cNvSpPr txBox="1">
              <a:spLocks noChangeArrowheads="1"/>
            </p:cNvSpPr>
            <p:nvPr/>
          </p:nvSpPr>
          <p:spPr bwMode="auto">
            <a:xfrm>
              <a:off x="1296" y="655"/>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6</a:t>
              </a:r>
              <a:endParaRPr lang="en-US" altLang="zh-CN" sz="1600" b="1"/>
            </a:p>
          </p:txBody>
        </p:sp>
        <p:sp>
          <p:nvSpPr>
            <p:cNvPr id="32" name="Text Box 31"/>
            <p:cNvSpPr txBox="1">
              <a:spLocks noChangeArrowheads="1"/>
            </p:cNvSpPr>
            <p:nvPr/>
          </p:nvSpPr>
          <p:spPr bwMode="auto">
            <a:xfrm>
              <a:off x="1429" y="844"/>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10</a:t>
              </a:r>
              <a:endParaRPr lang="en-US" altLang="zh-CN" sz="1600" b="1"/>
            </a:p>
          </p:txBody>
        </p:sp>
        <p:sp>
          <p:nvSpPr>
            <p:cNvPr id="33" name="Text Box 32"/>
            <p:cNvSpPr txBox="1">
              <a:spLocks noChangeArrowheads="1"/>
            </p:cNvSpPr>
            <p:nvPr/>
          </p:nvSpPr>
          <p:spPr bwMode="auto">
            <a:xfrm>
              <a:off x="1301" y="1183"/>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4</a:t>
              </a:r>
              <a:endParaRPr lang="en-US" altLang="zh-CN" sz="1600" b="1"/>
            </a:p>
          </p:txBody>
        </p:sp>
        <p:sp>
          <p:nvSpPr>
            <p:cNvPr id="34" name="Text Box 33"/>
            <p:cNvSpPr txBox="1">
              <a:spLocks noChangeArrowheads="1"/>
            </p:cNvSpPr>
            <p:nvPr/>
          </p:nvSpPr>
          <p:spPr bwMode="auto">
            <a:xfrm>
              <a:off x="1248" y="1342"/>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just"/>
              <a:r>
                <a:rPr lang="en-US" altLang="zh-CN" sz="1600" b="1"/>
                <a:t>13</a:t>
              </a:r>
              <a:endParaRPr lang="en-US" altLang="zh-CN" sz="1600" b="1"/>
            </a:p>
          </p:txBody>
        </p:sp>
        <p:sp>
          <p:nvSpPr>
            <p:cNvPr id="35" name="Text Box 34"/>
            <p:cNvSpPr txBox="1">
              <a:spLocks noChangeArrowheads="1"/>
            </p:cNvSpPr>
            <p:nvPr/>
          </p:nvSpPr>
          <p:spPr bwMode="auto">
            <a:xfrm>
              <a:off x="1493" y="1807"/>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11</a:t>
              </a:r>
              <a:endParaRPr lang="en-US" altLang="zh-CN" sz="1600" b="1"/>
            </a:p>
          </p:txBody>
        </p:sp>
        <p:sp>
          <p:nvSpPr>
            <p:cNvPr id="36" name="Text Box 35"/>
            <p:cNvSpPr txBox="1">
              <a:spLocks noChangeArrowheads="1"/>
            </p:cNvSpPr>
            <p:nvPr/>
          </p:nvSpPr>
          <p:spPr bwMode="auto">
            <a:xfrm>
              <a:off x="1493" y="1564"/>
              <a:ext cx="1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12</a:t>
              </a:r>
              <a:endParaRPr lang="en-US" altLang="zh-CN" sz="1600" b="1"/>
            </a:p>
          </p:txBody>
        </p:sp>
        <p:sp>
          <p:nvSpPr>
            <p:cNvPr id="37" name="Text Box 36"/>
            <p:cNvSpPr txBox="1">
              <a:spLocks noChangeArrowheads="1"/>
            </p:cNvSpPr>
            <p:nvPr/>
          </p:nvSpPr>
          <p:spPr bwMode="auto">
            <a:xfrm>
              <a:off x="2832" y="175"/>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3</a:t>
              </a:r>
              <a:endParaRPr lang="en-US" altLang="zh-CN" sz="1600" b="1"/>
            </a:p>
          </p:txBody>
        </p:sp>
        <p:sp>
          <p:nvSpPr>
            <p:cNvPr id="38" name="Text Box 37"/>
            <p:cNvSpPr txBox="1">
              <a:spLocks noChangeArrowheads="1"/>
            </p:cNvSpPr>
            <p:nvPr/>
          </p:nvSpPr>
          <p:spPr bwMode="auto">
            <a:xfrm>
              <a:off x="2693" y="415"/>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9</a:t>
              </a:r>
              <a:endParaRPr lang="en-US" altLang="zh-CN" sz="1600" b="1"/>
            </a:p>
          </p:txBody>
        </p:sp>
        <p:sp>
          <p:nvSpPr>
            <p:cNvPr id="39" name="Text Box 38"/>
            <p:cNvSpPr txBox="1">
              <a:spLocks noChangeArrowheads="1"/>
            </p:cNvSpPr>
            <p:nvPr/>
          </p:nvSpPr>
          <p:spPr bwMode="auto">
            <a:xfrm>
              <a:off x="2605" y="652"/>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6</a:t>
              </a:r>
              <a:endParaRPr lang="en-US" altLang="zh-CN" sz="1600" b="1"/>
            </a:p>
          </p:txBody>
        </p:sp>
        <p:sp>
          <p:nvSpPr>
            <p:cNvPr id="40" name="Text Box 39"/>
            <p:cNvSpPr txBox="1">
              <a:spLocks noChangeArrowheads="1"/>
            </p:cNvSpPr>
            <p:nvPr/>
          </p:nvSpPr>
          <p:spPr bwMode="auto">
            <a:xfrm>
              <a:off x="2605" y="1136"/>
              <a:ext cx="187"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5</a:t>
              </a:r>
              <a:endParaRPr lang="en-US" altLang="zh-CN" sz="1600" b="1"/>
            </a:p>
          </p:txBody>
        </p:sp>
        <p:sp>
          <p:nvSpPr>
            <p:cNvPr id="41" name="Text Box 40"/>
            <p:cNvSpPr txBox="1">
              <a:spLocks noChangeArrowheads="1"/>
            </p:cNvSpPr>
            <p:nvPr/>
          </p:nvSpPr>
          <p:spPr bwMode="auto">
            <a:xfrm>
              <a:off x="2693" y="1359"/>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8</a:t>
              </a:r>
              <a:endParaRPr lang="en-US" altLang="zh-CN" sz="1600" b="1"/>
            </a:p>
          </p:txBody>
        </p:sp>
        <p:sp>
          <p:nvSpPr>
            <p:cNvPr id="42" name="Text Box 41"/>
            <p:cNvSpPr txBox="1">
              <a:spLocks noChangeArrowheads="1"/>
            </p:cNvSpPr>
            <p:nvPr/>
          </p:nvSpPr>
          <p:spPr bwMode="auto">
            <a:xfrm>
              <a:off x="2784" y="1612"/>
              <a:ext cx="187"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10</a:t>
              </a:r>
              <a:endParaRPr lang="en-US" altLang="zh-CN" sz="1600" b="1"/>
            </a:p>
          </p:txBody>
        </p:sp>
        <p:sp>
          <p:nvSpPr>
            <p:cNvPr id="43" name="Text Box 42"/>
            <p:cNvSpPr txBox="1">
              <a:spLocks noChangeArrowheads="1"/>
            </p:cNvSpPr>
            <p:nvPr/>
          </p:nvSpPr>
          <p:spPr bwMode="auto">
            <a:xfrm>
              <a:off x="3841" y="604"/>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5</a:t>
              </a:r>
              <a:endParaRPr lang="en-US" altLang="zh-CN" sz="1600" b="1"/>
            </a:p>
          </p:txBody>
        </p:sp>
        <p:sp>
          <p:nvSpPr>
            <p:cNvPr id="44" name="Text Box 43"/>
            <p:cNvSpPr txBox="1">
              <a:spLocks noChangeArrowheads="1"/>
            </p:cNvSpPr>
            <p:nvPr/>
          </p:nvSpPr>
          <p:spPr bwMode="auto">
            <a:xfrm>
              <a:off x="3836" y="1230"/>
              <a:ext cx="1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2</a:t>
              </a:r>
              <a:endParaRPr lang="en-US" altLang="zh-CN" sz="1600" b="1"/>
            </a:p>
          </p:txBody>
        </p:sp>
        <p:sp>
          <p:nvSpPr>
            <p:cNvPr id="45" name="Oval 44"/>
            <p:cNvSpPr>
              <a:spLocks noChangeArrowheads="1"/>
            </p:cNvSpPr>
            <p:nvPr/>
          </p:nvSpPr>
          <p:spPr bwMode="auto">
            <a:xfrm>
              <a:off x="2193" y="0"/>
              <a:ext cx="346" cy="351"/>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5</a:t>
              </a:r>
              <a:endParaRPr lang="en-US" altLang="zh-CN" sz="2600" b="1" baseline="-25000">
                <a:solidFill>
                  <a:schemeClr val="bg1"/>
                </a:solidFill>
              </a:endParaRPr>
            </a:p>
          </p:txBody>
        </p:sp>
        <p:sp>
          <p:nvSpPr>
            <p:cNvPr id="46" name="Oval 45"/>
            <p:cNvSpPr>
              <a:spLocks noChangeArrowheads="1"/>
            </p:cNvSpPr>
            <p:nvPr/>
          </p:nvSpPr>
          <p:spPr bwMode="auto">
            <a:xfrm>
              <a:off x="2209" y="1582"/>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7</a:t>
              </a:r>
              <a:endParaRPr lang="en-US" altLang="zh-CN" sz="2600" b="1" baseline="-25000">
                <a:solidFill>
                  <a:schemeClr val="bg1"/>
                </a:solidFill>
              </a:endParaRPr>
            </a:p>
          </p:txBody>
        </p:sp>
        <p:sp>
          <p:nvSpPr>
            <p:cNvPr id="47" name="Oval 46"/>
            <p:cNvSpPr>
              <a:spLocks noChangeArrowheads="1"/>
            </p:cNvSpPr>
            <p:nvPr/>
          </p:nvSpPr>
          <p:spPr bwMode="auto">
            <a:xfrm>
              <a:off x="3289" y="401"/>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8</a:t>
              </a:r>
              <a:endParaRPr lang="en-US" altLang="zh-CN" sz="2600" b="1" baseline="-25000">
                <a:solidFill>
                  <a:schemeClr val="bg1"/>
                </a:solidFill>
              </a:endParaRPr>
            </a:p>
          </p:txBody>
        </p:sp>
        <p:sp>
          <p:nvSpPr>
            <p:cNvPr id="48" name="Oval 47"/>
            <p:cNvSpPr>
              <a:spLocks noChangeArrowheads="1"/>
            </p:cNvSpPr>
            <p:nvPr/>
          </p:nvSpPr>
          <p:spPr bwMode="auto">
            <a:xfrm>
              <a:off x="0" y="801"/>
              <a:ext cx="346" cy="351"/>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1</a:t>
              </a:r>
              <a:endParaRPr lang="en-US" altLang="zh-CN" sz="2600" b="1" baseline="-25000">
                <a:solidFill>
                  <a:schemeClr val="bg1"/>
                </a:solidFill>
              </a:endParaRPr>
            </a:p>
          </p:txBody>
        </p:sp>
        <p:sp>
          <p:nvSpPr>
            <p:cNvPr id="49" name="Oval 48"/>
            <p:cNvSpPr>
              <a:spLocks noChangeArrowheads="1"/>
            </p:cNvSpPr>
            <p:nvPr/>
          </p:nvSpPr>
          <p:spPr bwMode="auto">
            <a:xfrm>
              <a:off x="969" y="26"/>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2</a:t>
              </a:r>
              <a:endParaRPr lang="en-US" altLang="zh-CN" sz="2600" b="1" baseline="-25000">
                <a:solidFill>
                  <a:schemeClr val="bg1"/>
                </a:solidFill>
              </a:endParaRPr>
            </a:p>
          </p:txBody>
        </p:sp>
        <p:sp>
          <p:nvSpPr>
            <p:cNvPr id="50" name="Oval 49"/>
            <p:cNvSpPr>
              <a:spLocks noChangeArrowheads="1"/>
            </p:cNvSpPr>
            <p:nvPr/>
          </p:nvSpPr>
          <p:spPr bwMode="auto">
            <a:xfrm>
              <a:off x="982" y="1576"/>
              <a:ext cx="346" cy="351"/>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4</a:t>
              </a:r>
              <a:endParaRPr lang="en-US" altLang="zh-CN" sz="2600" b="1" baseline="-25000">
                <a:solidFill>
                  <a:schemeClr val="bg1"/>
                </a:solidFill>
              </a:endParaRPr>
            </a:p>
          </p:txBody>
        </p:sp>
        <p:sp>
          <p:nvSpPr>
            <p:cNvPr id="51" name="Oval 50"/>
            <p:cNvSpPr>
              <a:spLocks noChangeArrowheads="1"/>
            </p:cNvSpPr>
            <p:nvPr/>
          </p:nvSpPr>
          <p:spPr bwMode="auto">
            <a:xfrm>
              <a:off x="982" y="801"/>
              <a:ext cx="346" cy="351"/>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3</a:t>
              </a:r>
              <a:endParaRPr lang="en-US" altLang="zh-CN" sz="2600" b="1" baseline="-25000">
                <a:solidFill>
                  <a:schemeClr val="bg1"/>
                </a:solidFill>
              </a:endParaRPr>
            </a:p>
          </p:txBody>
        </p:sp>
        <p:sp>
          <p:nvSpPr>
            <p:cNvPr id="52" name="Oval 51"/>
            <p:cNvSpPr>
              <a:spLocks noChangeArrowheads="1"/>
            </p:cNvSpPr>
            <p:nvPr/>
          </p:nvSpPr>
          <p:spPr bwMode="auto">
            <a:xfrm>
              <a:off x="3297" y="1198"/>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9</a:t>
              </a:r>
              <a:endParaRPr lang="en-US" altLang="zh-CN" sz="2600" b="1" baseline="-25000">
                <a:solidFill>
                  <a:schemeClr val="bg1"/>
                </a:solidFill>
              </a:endParaRPr>
            </a:p>
          </p:txBody>
        </p:sp>
        <p:sp>
          <p:nvSpPr>
            <p:cNvPr id="53" name="Oval 52"/>
            <p:cNvSpPr>
              <a:spLocks noChangeArrowheads="1"/>
            </p:cNvSpPr>
            <p:nvPr/>
          </p:nvSpPr>
          <p:spPr bwMode="auto">
            <a:xfrm>
              <a:off x="4214" y="796"/>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10</a:t>
              </a:r>
              <a:endParaRPr lang="en-US" altLang="zh-CN" sz="2600" b="1" baseline="-25000">
                <a:solidFill>
                  <a:schemeClr val="bg1"/>
                </a:solidFill>
              </a:endParaRPr>
            </a:p>
          </p:txBody>
        </p:sp>
        <p:sp>
          <p:nvSpPr>
            <p:cNvPr id="54" name="Oval 53"/>
            <p:cNvSpPr>
              <a:spLocks noChangeArrowheads="1"/>
            </p:cNvSpPr>
            <p:nvPr/>
          </p:nvSpPr>
          <p:spPr bwMode="auto">
            <a:xfrm>
              <a:off x="2193" y="781"/>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6</a:t>
              </a:r>
              <a:endParaRPr lang="en-US" altLang="zh-CN" sz="2600" b="1" baseline="-25000">
                <a:solidFill>
                  <a:schemeClr val="bg1"/>
                </a:solidFill>
              </a:endParaRPr>
            </a:p>
          </p:txBody>
        </p:sp>
      </p:grpSp>
      <p:grpSp>
        <p:nvGrpSpPr>
          <p:cNvPr id="55" name="Group 54"/>
          <p:cNvGrpSpPr/>
          <p:nvPr/>
        </p:nvGrpSpPr>
        <p:grpSpPr bwMode="auto">
          <a:xfrm>
            <a:off x="2357948" y="851267"/>
            <a:ext cx="7772400" cy="3429000"/>
            <a:chOff x="0" y="0"/>
            <a:chExt cx="4560" cy="1996"/>
          </a:xfrm>
        </p:grpSpPr>
        <p:sp>
          <p:nvSpPr>
            <p:cNvPr id="56" name="Line 55"/>
            <p:cNvSpPr>
              <a:spLocks noChangeShapeType="1"/>
            </p:cNvSpPr>
            <p:nvPr/>
          </p:nvSpPr>
          <p:spPr bwMode="auto">
            <a:xfrm flipV="1">
              <a:off x="296" y="276"/>
              <a:ext cx="694" cy="6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7" name="Line 56"/>
            <p:cNvSpPr>
              <a:spLocks noChangeShapeType="1"/>
            </p:cNvSpPr>
            <p:nvPr/>
          </p:nvSpPr>
          <p:spPr bwMode="auto">
            <a:xfrm flipV="1">
              <a:off x="346" y="976"/>
              <a:ext cx="644" cy="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 name="Line 57"/>
            <p:cNvSpPr>
              <a:spLocks noChangeShapeType="1"/>
            </p:cNvSpPr>
            <p:nvPr/>
          </p:nvSpPr>
          <p:spPr bwMode="auto">
            <a:xfrm>
              <a:off x="1336" y="976"/>
              <a:ext cx="857" cy="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 name="Line 58"/>
            <p:cNvSpPr>
              <a:spLocks noChangeShapeType="1"/>
            </p:cNvSpPr>
            <p:nvPr/>
          </p:nvSpPr>
          <p:spPr bwMode="auto">
            <a:xfrm>
              <a:off x="296" y="1098"/>
              <a:ext cx="694" cy="57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 name="Line 59"/>
            <p:cNvSpPr>
              <a:spLocks noChangeShapeType="1"/>
            </p:cNvSpPr>
            <p:nvPr/>
          </p:nvSpPr>
          <p:spPr bwMode="auto">
            <a:xfrm flipV="1">
              <a:off x="1336" y="164"/>
              <a:ext cx="840" cy="1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 name="Line 60"/>
            <p:cNvSpPr>
              <a:spLocks noChangeShapeType="1"/>
            </p:cNvSpPr>
            <p:nvPr/>
          </p:nvSpPr>
          <p:spPr bwMode="auto">
            <a:xfrm>
              <a:off x="1336" y="1777"/>
              <a:ext cx="873" cy="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 name="Line 61"/>
            <p:cNvSpPr>
              <a:spLocks noChangeShapeType="1"/>
            </p:cNvSpPr>
            <p:nvPr/>
          </p:nvSpPr>
          <p:spPr bwMode="auto">
            <a:xfrm>
              <a:off x="2539" y="180"/>
              <a:ext cx="758" cy="33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 name="Line 62"/>
            <p:cNvSpPr>
              <a:spLocks noChangeShapeType="1"/>
            </p:cNvSpPr>
            <p:nvPr/>
          </p:nvSpPr>
          <p:spPr bwMode="auto">
            <a:xfrm>
              <a:off x="3626" y="647"/>
              <a:ext cx="611" cy="28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 name="Line 63"/>
            <p:cNvSpPr>
              <a:spLocks noChangeShapeType="1"/>
            </p:cNvSpPr>
            <p:nvPr/>
          </p:nvSpPr>
          <p:spPr bwMode="auto">
            <a:xfrm flipV="1">
              <a:off x="2539" y="1448"/>
              <a:ext cx="774" cy="26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 name="Line 64"/>
            <p:cNvSpPr>
              <a:spLocks noChangeShapeType="1"/>
            </p:cNvSpPr>
            <p:nvPr/>
          </p:nvSpPr>
          <p:spPr bwMode="auto">
            <a:xfrm flipV="1">
              <a:off x="3626" y="1064"/>
              <a:ext cx="627" cy="25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 name="Line 65"/>
            <p:cNvSpPr>
              <a:spLocks noChangeShapeType="1"/>
            </p:cNvSpPr>
            <p:nvPr/>
          </p:nvSpPr>
          <p:spPr bwMode="auto">
            <a:xfrm flipV="1">
              <a:off x="2522" y="613"/>
              <a:ext cx="775" cy="26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 name="Line 66"/>
            <p:cNvSpPr>
              <a:spLocks noChangeShapeType="1"/>
            </p:cNvSpPr>
            <p:nvPr/>
          </p:nvSpPr>
          <p:spPr bwMode="auto">
            <a:xfrm>
              <a:off x="2506" y="1047"/>
              <a:ext cx="758" cy="3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 name="Line 67"/>
            <p:cNvSpPr>
              <a:spLocks noChangeShapeType="1"/>
            </p:cNvSpPr>
            <p:nvPr/>
          </p:nvSpPr>
          <p:spPr bwMode="auto">
            <a:xfrm>
              <a:off x="1286" y="264"/>
              <a:ext cx="940" cy="6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Line 68"/>
            <p:cNvSpPr>
              <a:spLocks noChangeShapeType="1"/>
            </p:cNvSpPr>
            <p:nvPr/>
          </p:nvSpPr>
          <p:spPr bwMode="auto">
            <a:xfrm>
              <a:off x="1253" y="347"/>
              <a:ext cx="973" cy="128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 name="Line 69"/>
            <p:cNvSpPr>
              <a:spLocks noChangeShapeType="1"/>
            </p:cNvSpPr>
            <p:nvPr/>
          </p:nvSpPr>
          <p:spPr bwMode="auto">
            <a:xfrm flipV="1">
              <a:off x="1286" y="264"/>
              <a:ext cx="907" cy="61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 name="Line 70"/>
            <p:cNvSpPr>
              <a:spLocks noChangeShapeType="1"/>
            </p:cNvSpPr>
            <p:nvPr/>
          </p:nvSpPr>
          <p:spPr bwMode="auto">
            <a:xfrm>
              <a:off x="1302" y="1081"/>
              <a:ext cx="907" cy="6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 name="Line 71"/>
            <p:cNvSpPr>
              <a:spLocks noChangeShapeType="1"/>
            </p:cNvSpPr>
            <p:nvPr/>
          </p:nvSpPr>
          <p:spPr bwMode="auto">
            <a:xfrm flipV="1">
              <a:off x="1269" y="326"/>
              <a:ext cx="1007" cy="127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 name="Line 72"/>
            <p:cNvSpPr>
              <a:spLocks noChangeShapeType="1"/>
            </p:cNvSpPr>
            <p:nvPr/>
          </p:nvSpPr>
          <p:spPr bwMode="auto">
            <a:xfrm flipV="1">
              <a:off x="1336" y="1031"/>
              <a:ext cx="890" cy="64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4" name="Line 73"/>
            <p:cNvSpPr>
              <a:spLocks noChangeShapeType="1"/>
            </p:cNvSpPr>
            <p:nvPr/>
          </p:nvSpPr>
          <p:spPr bwMode="auto">
            <a:xfrm>
              <a:off x="2489" y="297"/>
              <a:ext cx="874" cy="92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 name="Line 74"/>
            <p:cNvSpPr>
              <a:spLocks noChangeShapeType="1"/>
            </p:cNvSpPr>
            <p:nvPr/>
          </p:nvSpPr>
          <p:spPr bwMode="auto">
            <a:xfrm flipV="1">
              <a:off x="2506" y="713"/>
              <a:ext cx="841" cy="9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 name="Text Box 75"/>
            <p:cNvSpPr txBox="1">
              <a:spLocks noChangeArrowheads="1"/>
            </p:cNvSpPr>
            <p:nvPr/>
          </p:nvSpPr>
          <p:spPr bwMode="auto">
            <a:xfrm>
              <a:off x="485" y="460"/>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dirty="0"/>
                <a:t>e</a:t>
              </a:r>
              <a:r>
                <a:rPr lang="en-US" altLang="zh-CN" sz="2600" b="1" baseline="-25000" dirty="0"/>
                <a:t>1</a:t>
              </a:r>
              <a:endParaRPr lang="en-US" altLang="zh-CN" sz="2600" b="1" baseline="-25000" dirty="0"/>
            </a:p>
          </p:txBody>
        </p:sp>
        <p:sp>
          <p:nvSpPr>
            <p:cNvPr id="77" name="Text Box 76"/>
            <p:cNvSpPr txBox="1">
              <a:spLocks noChangeArrowheads="1"/>
            </p:cNvSpPr>
            <p:nvPr/>
          </p:nvSpPr>
          <p:spPr bwMode="auto">
            <a:xfrm>
              <a:off x="544" y="846"/>
              <a:ext cx="1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t>e</a:t>
              </a:r>
              <a:r>
                <a:rPr lang="en-US" altLang="zh-CN" sz="2600" b="1" baseline="-25000"/>
                <a:t>2</a:t>
              </a:r>
              <a:endParaRPr lang="en-US" altLang="zh-CN" sz="2600" b="1" baseline="-25000"/>
            </a:p>
          </p:txBody>
        </p:sp>
        <p:sp>
          <p:nvSpPr>
            <p:cNvPr id="78" name="Text Box 77"/>
            <p:cNvSpPr txBox="1">
              <a:spLocks noChangeArrowheads="1"/>
            </p:cNvSpPr>
            <p:nvPr/>
          </p:nvSpPr>
          <p:spPr bwMode="auto">
            <a:xfrm>
              <a:off x="485" y="1372"/>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t>e</a:t>
              </a:r>
              <a:r>
                <a:rPr lang="en-US" altLang="zh-CN" sz="2600" b="1" baseline="-25000"/>
                <a:t>3</a:t>
              </a:r>
              <a:endParaRPr lang="en-US" altLang="zh-CN" sz="2600" b="1" baseline="-25000"/>
            </a:p>
          </p:txBody>
        </p:sp>
        <p:sp>
          <p:nvSpPr>
            <p:cNvPr id="79" name="Text Box 78"/>
            <p:cNvSpPr txBox="1">
              <a:spLocks noChangeArrowheads="1"/>
            </p:cNvSpPr>
            <p:nvPr/>
          </p:nvSpPr>
          <p:spPr bwMode="auto">
            <a:xfrm>
              <a:off x="1440" y="28"/>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12</a:t>
              </a:r>
              <a:endParaRPr lang="en-US" altLang="zh-CN" sz="1600" b="1"/>
            </a:p>
          </p:txBody>
        </p:sp>
        <p:sp>
          <p:nvSpPr>
            <p:cNvPr id="80" name="Text Box 79"/>
            <p:cNvSpPr txBox="1">
              <a:spLocks noChangeArrowheads="1"/>
            </p:cNvSpPr>
            <p:nvPr/>
          </p:nvSpPr>
          <p:spPr bwMode="auto">
            <a:xfrm>
              <a:off x="1445" y="268"/>
              <a:ext cx="1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14</a:t>
              </a:r>
              <a:endParaRPr lang="en-US" altLang="zh-CN" sz="1600" b="1"/>
            </a:p>
          </p:txBody>
        </p:sp>
        <p:sp>
          <p:nvSpPr>
            <p:cNvPr id="81" name="Text Box 80"/>
            <p:cNvSpPr txBox="1">
              <a:spLocks noChangeArrowheads="1"/>
            </p:cNvSpPr>
            <p:nvPr/>
          </p:nvSpPr>
          <p:spPr bwMode="auto">
            <a:xfrm>
              <a:off x="1152" y="460"/>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10</a:t>
              </a:r>
              <a:endParaRPr lang="en-US" altLang="zh-CN" sz="1600" b="1"/>
            </a:p>
          </p:txBody>
        </p:sp>
        <p:sp>
          <p:nvSpPr>
            <p:cNvPr id="82" name="Text Box 81"/>
            <p:cNvSpPr txBox="1">
              <a:spLocks noChangeArrowheads="1"/>
            </p:cNvSpPr>
            <p:nvPr/>
          </p:nvSpPr>
          <p:spPr bwMode="auto">
            <a:xfrm>
              <a:off x="1296" y="655"/>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6</a:t>
              </a:r>
              <a:endParaRPr lang="en-US" altLang="zh-CN" sz="1600" b="1"/>
            </a:p>
          </p:txBody>
        </p:sp>
        <p:sp>
          <p:nvSpPr>
            <p:cNvPr id="83" name="Text Box 82"/>
            <p:cNvSpPr txBox="1">
              <a:spLocks noChangeArrowheads="1"/>
            </p:cNvSpPr>
            <p:nvPr/>
          </p:nvSpPr>
          <p:spPr bwMode="auto">
            <a:xfrm>
              <a:off x="1429" y="844"/>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10</a:t>
              </a:r>
              <a:endParaRPr lang="en-US" altLang="zh-CN" sz="1600" b="1"/>
            </a:p>
          </p:txBody>
        </p:sp>
        <p:sp>
          <p:nvSpPr>
            <p:cNvPr id="84" name="Text Box 83"/>
            <p:cNvSpPr txBox="1">
              <a:spLocks noChangeArrowheads="1"/>
            </p:cNvSpPr>
            <p:nvPr/>
          </p:nvSpPr>
          <p:spPr bwMode="auto">
            <a:xfrm>
              <a:off x="1301" y="1183"/>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4</a:t>
              </a:r>
              <a:endParaRPr lang="en-US" altLang="zh-CN" sz="1600" b="1"/>
            </a:p>
          </p:txBody>
        </p:sp>
        <p:sp>
          <p:nvSpPr>
            <p:cNvPr id="85" name="Text Box 84"/>
            <p:cNvSpPr txBox="1">
              <a:spLocks noChangeArrowheads="1"/>
            </p:cNvSpPr>
            <p:nvPr/>
          </p:nvSpPr>
          <p:spPr bwMode="auto">
            <a:xfrm>
              <a:off x="1248" y="1342"/>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just"/>
              <a:r>
                <a:rPr lang="en-US" altLang="zh-CN" sz="1600" b="1"/>
                <a:t>13</a:t>
              </a:r>
              <a:endParaRPr lang="en-US" altLang="zh-CN" sz="1600" b="1"/>
            </a:p>
          </p:txBody>
        </p:sp>
        <p:sp>
          <p:nvSpPr>
            <p:cNvPr id="86" name="Text Box 85"/>
            <p:cNvSpPr txBox="1">
              <a:spLocks noChangeArrowheads="1"/>
            </p:cNvSpPr>
            <p:nvPr/>
          </p:nvSpPr>
          <p:spPr bwMode="auto">
            <a:xfrm>
              <a:off x="1493" y="1807"/>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11</a:t>
              </a:r>
              <a:endParaRPr lang="en-US" altLang="zh-CN" sz="1600" b="1"/>
            </a:p>
          </p:txBody>
        </p:sp>
        <p:sp>
          <p:nvSpPr>
            <p:cNvPr id="87" name="Text Box 86"/>
            <p:cNvSpPr txBox="1">
              <a:spLocks noChangeArrowheads="1"/>
            </p:cNvSpPr>
            <p:nvPr/>
          </p:nvSpPr>
          <p:spPr bwMode="auto">
            <a:xfrm>
              <a:off x="1493" y="1564"/>
              <a:ext cx="1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12</a:t>
              </a:r>
              <a:endParaRPr lang="en-US" altLang="zh-CN" sz="1600" b="1"/>
            </a:p>
          </p:txBody>
        </p:sp>
        <p:sp>
          <p:nvSpPr>
            <p:cNvPr id="88" name="Text Box 87"/>
            <p:cNvSpPr txBox="1">
              <a:spLocks noChangeArrowheads="1"/>
            </p:cNvSpPr>
            <p:nvPr/>
          </p:nvSpPr>
          <p:spPr bwMode="auto">
            <a:xfrm>
              <a:off x="2832" y="175"/>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3</a:t>
              </a:r>
              <a:endParaRPr lang="en-US" altLang="zh-CN" sz="1600" b="1"/>
            </a:p>
          </p:txBody>
        </p:sp>
        <p:sp>
          <p:nvSpPr>
            <p:cNvPr id="89" name="Text Box 88"/>
            <p:cNvSpPr txBox="1">
              <a:spLocks noChangeArrowheads="1"/>
            </p:cNvSpPr>
            <p:nvPr/>
          </p:nvSpPr>
          <p:spPr bwMode="auto">
            <a:xfrm>
              <a:off x="2693" y="415"/>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9</a:t>
              </a:r>
              <a:endParaRPr lang="en-US" altLang="zh-CN" sz="1600" b="1"/>
            </a:p>
          </p:txBody>
        </p:sp>
        <p:sp>
          <p:nvSpPr>
            <p:cNvPr id="90" name="Text Box 89"/>
            <p:cNvSpPr txBox="1">
              <a:spLocks noChangeArrowheads="1"/>
            </p:cNvSpPr>
            <p:nvPr/>
          </p:nvSpPr>
          <p:spPr bwMode="auto">
            <a:xfrm>
              <a:off x="2605" y="652"/>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6</a:t>
              </a:r>
              <a:endParaRPr lang="en-US" altLang="zh-CN" sz="1600" b="1"/>
            </a:p>
          </p:txBody>
        </p:sp>
        <p:sp>
          <p:nvSpPr>
            <p:cNvPr id="91" name="Text Box 90"/>
            <p:cNvSpPr txBox="1">
              <a:spLocks noChangeArrowheads="1"/>
            </p:cNvSpPr>
            <p:nvPr/>
          </p:nvSpPr>
          <p:spPr bwMode="auto">
            <a:xfrm>
              <a:off x="2605" y="1136"/>
              <a:ext cx="187"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5</a:t>
              </a:r>
              <a:endParaRPr lang="en-US" altLang="zh-CN" sz="1600" b="1"/>
            </a:p>
          </p:txBody>
        </p:sp>
        <p:sp>
          <p:nvSpPr>
            <p:cNvPr id="92" name="Text Box 91"/>
            <p:cNvSpPr txBox="1">
              <a:spLocks noChangeArrowheads="1"/>
            </p:cNvSpPr>
            <p:nvPr/>
          </p:nvSpPr>
          <p:spPr bwMode="auto">
            <a:xfrm>
              <a:off x="2693" y="1359"/>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8</a:t>
              </a:r>
              <a:endParaRPr lang="en-US" altLang="zh-CN" sz="1600" b="1"/>
            </a:p>
          </p:txBody>
        </p:sp>
        <p:sp>
          <p:nvSpPr>
            <p:cNvPr id="93" name="Text Box 92"/>
            <p:cNvSpPr txBox="1">
              <a:spLocks noChangeArrowheads="1"/>
            </p:cNvSpPr>
            <p:nvPr/>
          </p:nvSpPr>
          <p:spPr bwMode="auto">
            <a:xfrm>
              <a:off x="2784" y="1612"/>
              <a:ext cx="187"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10</a:t>
              </a:r>
              <a:endParaRPr lang="en-US" altLang="zh-CN" sz="1600" b="1"/>
            </a:p>
          </p:txBody>
        </p:sp>
        <p:sp>
          <p:nvSpPr>
            <p:cNvPr id="94" name="Text Box 93"/>
            <p:cNvSpPr txBox="1">
              <a:spLocks noChangeArrowheads="1"/>
            </p:cNvSpPr>
            <p:nvPr/>
          </p:nvSpPr>
          <p:spPr bwMode="auto">
            <a:xfrm>
              <a:off x="3841" y="604"/>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5</a:t>
              </a:r>
              <a:endParaRPr lang="en-US" altLang="zh-CN" sz="1600" b="1"/>
            </a:p>
          </p:txBody>
        </p:sp>
        <p:sp>
          <p:nvSpPr>
            <p:cNvPr id="95" name="Text Box 94"/>
            <p:cNvSpPr txBox="1">
              <a:spLocks noChangeArrowheads="1"/>
            </p:cNvSpPr>
            <p:nvPr/>
          </p:nvSpPr>
          <p:spPr bwMode="auto">
            <a:xfrm>
              <a:off x="3836" y="1230"/>
              <a:ext cx="1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1600" b="1"/>
                <a:t>2</a:t>
              </a:r>
              <a:endParaRPr lang="en-US" altLang="zh-CN" sz="1600" b="1"/>
            </a:p>
          </p:txBody>
        </p:sp>
        <p:sp>
          <p:nvSpPr>
            <p:cNvPr id="96" name="Oval 95"/>
            <p:cNvSpPr>
              <a:spLocks noChangeArrowheads="1"/>
            </p:cNvSpPr>
            <p:nvPr/>
          </p:nvSpPr>
          <p:spPr bwMode="auto">
            <a:xfrm>
              <a:off x="2193" y="0"/>
              <a:ext cx="346" cy="351"/>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5</a:t>
              </a:r>
              <a:endParaRPr lang="en-US" altLang="zh-CN" sz="2600" b="1" baseline="-25000">
                <a:solidFill>
                  <a:schemeClr val="bg1"/>
                </a:solidFill>
              </a:endParaRPr>
            </a:p>
          </p:txBody>
        </p:sp>
        <p:sp>
          <p:nvSpPr>
            <p:cNvPr id="97" name="Oval 96"/>
            <p:cNvSpPr>
              <a:spLocks noChangeArrowheads="1"/>
            </p:cNvSpPr>
            <p:nvPr/>
          </p:nvSpPr>
          <p:spPr bwMode="auto">
            <a:xfrm>
              <a:off x="2209" y="1582"/>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7</a:t>
              </a:r>
              <a:endParaRPr lang="en-US" altLang="zh-CN" sz="2600" b="1" baseline="-25000">
                <a:solidFill>
                  <a:schemeClr val="bg1"/>
                </a:solidFill>
              </a:endParaRPr>
            </a:p>
          </p:txBody>
        </p:sp>
        <p:sp>
          <p:nvSpPr>
            <p:cNvPr id="98" name="Oval 97"/>
            <p:cNvSpPr>
              <a:spLocks noChangeArrowheads="1"/>
            </p:cNvSpPr>
            <p:nvPr/>
          </p:nvSpPr>
          <p:spPr bwMode="auto">
            <a:xfrm>
              <a:off x="3289" y="401"/>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8</a:t>
              </a:r>
              <a:endParaRPr lang="en-US" altLang="zh-CN" sz="2600" b="1" baseline="-25000">
                <a:solidFill>
                  <a:schemeClr val="bg1"/>
                </a:solidFill>
              </a:endParaRPr>
            </a:p>
          </p:txBody>
        </p:sp>
        <p:sp>
          <p:nvSpPr>
            <p:cNvPr id="99" name="Oval 98"/>
            <p:cNvSpPr>
              <a:spLocks noChangeArrowheads="1"/>
            </p:cNvSpPr>
            <p:nvPr/>
          </p:nvSpPr>
          <p:spPr bwMode="auto">
            <a:xfrm>
              <a:off x="0" y="801"/>
              <a:ext cx="346" cy="351"/>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1</a:t>
              </a:r>
              <a:endParaRPr lang="en-US" altLang="zh-CN" sz="2600" b="1" baseline="-25000">
                <a:solidFill>
                  <a:schemeClr val="bg1"/>
                </a:solidFill>
              </a:endParaRPr>
            </a:p>
          </p:txBody>
        </p:sp>
        <p:sp>
          <p:nvSpPr>
            <p:cNvPr id="100" name="Oval 99"/>
            <p:cNvSpPr>
              <a:spLocks noChangeArrowheads="1"/>
            </p:cNvSpPr>
            <p:nvPr/>
          </p:nvSpPr>
          <p:spPr bwMode="auto">
            <a:xfrm>
              <a:off x="969" y="26"/>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2</a:t>
              </a:r>
              <a:endParaRPr lang="en-US" altLang="zh-CN" sz="2600" b="1" baseline="-25000">
                <a:solidFill>
                  <a:schemeClr val="bg1"/>
                </a:solidFill>
              </a:endParaRPr>
            </a:p>
          </p:txBody>
        </p:sp>
        <p:sp>
          <p:nvSpPr>
            <p:cNvPr id="101" name="Oval 100"/>
            <p:cNvSpPr>
              <a:spLocks noChangeArrowheads="1"/>
            </p:cNvSpPr>
            <p:nvPr/>
          </p:nvSpPr>
          <p:spPr bwMode="auto">
            <a:xfrm>
              <a:off x="982" y="1576"/>
              <a:ext cx="346" cy="351"/>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4</a:t>
              </a:r>
              <a:endParaRPr lang="en-US" altLang="zh-CN" sz="2600" b="1" baseline="-25000">
                <a:solidFill>
                  <a:schemeClr val="bg1"/>
                </a:solidFill>
              </a:endParaRPr>
            </a:p>
          </p:txBody>
        </p:sp>
        <p:sp>
          <p:nvSpPr>
            <p:cNvPr id="102" name="Oval 101"/>
            <p:cNvSpPr>
              <a:spLocks noChangeArrowheads="1"/>
            </p:cNvSpPr>
            <p:nvPr/>
          </p:nvSpPr>
          <p:spPr bwMode="auto">
            <a:xfrm>
              <a:off x="982" y="801"/>
              <a:ext cx="346" cy="351"/>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3</a:t>
              </a:r>
              <a:endParaRPr lang="en-US" altLang="zh-CN" sz="2600" b="1" baseline="-25000">
                <a:solidFill>
                  <a:schemeClr val="bg1"/>
                </a:solidFill>
              </a:endParaRPr>
            </a:p>
          </p:txBody>
        </p:sp>
        <p:sp>
          <p:nvSpPr>
            <p:cNvPr id="103" name="Oval 102"/>
            <p:cNvSpPr>
              <a:spLocks noChangeArrowheads="1"/>
            </p:cNvSpPr>
            <p:nvPr/>
          </p:nvSpPr>
          <p:spPr bwMode="auto">
            <a:xfrm>
              <a:off x="3297" y="1198"/>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9</a:t>
              </a:r>
              <a:endParaRPr lang="en-US" altLang="zh-CN" sz="2600" b="1" baseline="-25000">
                <a:solidFill>
                  <a:schemeClr val="bg1"/>
                </a:solidFill>
              </a:endParaRPr>
            </a:p>
          </p:txBody>
        </p:sp>
        <p:sp>
          <p:nvSpPr>
            <p:cNvPr id="104" name="Oval 103"/>
            <p:cNvSpPr>
              <a:spLocks noChangeArrowheads="1"/>
            </p:cNvSpPr>
            <p:nvPr/>
          </p:nvSpPr>
          <p:spPr bwMode="auto">
            <a:xfrm>
              <a:off x="4214" y="796"/>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10</a:t>
              </a:r>
              <a:endParaRPr lang="en-US" altLang="zh-CN" sz="2600" b="1" baseline="-25000">
                <a:solidFill>
                  <a:schemeClr val="bg1"/>
                </a:solidFill>
              </a:endParaRPr>
            </a:p>
          </p:txBody>
        </p:sp>
        <p:sp>
          <p:nvSpPr>
            <p:cNvPr id="105" name="Oval 104"/>
            <p:cNvSpPr>
              <a:spLocks noChangeArrowheads="1"/>
            </p:cNvSpPr>
            <p:nvPr/>
          </p:nvSpPr>
          <p:spPr bwMode="auto">
            <a:xfrm>
              <a:off x="2193" y="781"/>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6</a:t>
              </a:r>
              <a:endParaRPr lang="en-US" altLang="zh-CN" sz="2600" b="1" baseline="-25000">
                <a:solidFill>
                  <a:schemeClr val="bg1"/>
                </a:solidFil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图与网络的基本概念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908050" y="2578861"/>
                <a:ext cx="10515600" cy="4351338"/>
              </a:xfrm>
            </p:spPr>
            <p:txBody>
              <a:bodyPr>
                <a:normAutofit fontScale="62500" lnSpcReduction="20000"/>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lgn="just">
                  <a:spcBef>
                    <a:spcPct val="20000"/>
                  </a:spcBef>
                  <a:buFontTx/>
                  <a:buChar char="•"/>
                </a:pPr>
                <a:endParaRPr lang="en-US" altLang="zh-CN" b="1" dirty="0">
                  <a:solidFill>
                    <a:srgbClr val="FF0000"/>
                  </a:solidFill>
                </a:endParaRPr>
              </a:p>
              <a:p>
                <a:pPr algn="just">
                  <a:spcBef>
                    <a:spcPct val="20000"/>
                  </a:spcBef>
                  <a:buFontTx/>
                  <a:buChar char="•"/>
                </a:pPr>
                <a:endParaRPr lang="en-US" altLang="zh-CN" b="1" dirty="0">
                  <a:solidFill>
                    <a:srgbClr val="FF0000"/>
                  </a:solidFill>
                </a:endParaRPr>
              </a:p>
              <a:p>
                <a:pPr algn="just">
                  <a:spcBef>
                    <a:spcPct val="20000"/>
                  </a:spcBef>
                  <a:buFontTx/>
                  <a:buChar char="•"/>
                </a:pPr>
                <a:endParaRPr lang="en-US" altLang="zh-CN" b="1" dirty="0">
                  <a:solidFill>
                    <a:srgbClr val="FF0000"/>
                  </a:solidFill>
                </a:endParaRPr>
              </a:p>
              <a:p>
                <a:pPr algn="just">
                  <a:spcBef>
                    <a:spcPct val="20000"/>
                  </a:spcBef>
                  <a:buFontTx/>
                  <a:buChar char="•"/>
                </a:pPr>
                <a:endParaRPr lang="en-US" altLang="zh-CN" b="1" dirty="0">
                  <a:solidFill>
                    <a:srgbClr val="FF0000"/>
                  </a:solidFill>
                </a:endParaRPr>
              </a:p>
              <a:p>
                <a:pPr algn="just">
                  <a:spcBef>
                    <a:spcPct val="20000"/>
                  </a:spcBef>
                  <a:buFontTx/>
                  <a:buChar char="•"/>
                </a:pPr>
                <a:r>
                  <a:rPr lang="zh-CN" altLang="en-US" b="1" dirty="0">
                    <a:solidFill>
                      <a:srgbClr val="FF0000"/>
                    </a:solidFill>
                  </a:rPr>
                  <a:t>链：</a:t>
                </a:r>
                <a:r>
                  <a:rPr lang="zh-CN" altLang="en-US" b="1" dirty="0"/>
                  <a:t>由两两相邻的点及其相关联的边构成的点边序列，</a:t>
                </a:r>
                <a14:m>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𝒗</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𝒆</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𝒗</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𝒆</m:t>
                        </m:r>
                      </m:e>
                      <m:sub>
                        <m:r>
                          <a:rPr lang="en-US" altLang="zh-CN" b="1" i="1" smtClean="0">
                            <a:latin typeface="Cambria Math" panose="02040503050406030204" pitchFamily="18" charset="0"/>
                          </a:rPr>
                          <m:t>𝟒</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𝒗</m:t>
                        </m:r>
                      </m:e>
                      <m:sub>
                        <m:r>
                          <a:rPr lang="en-US" altLang="zh-CN" b="1" i="1" smtClean="0">
                            <a:latin typeface="Cambria Math" panose="02040503050406030204" pitchFamily="18" charset="0"/>
                          </a:rPr>
                          <m:t>𝟓</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𝒆</m:t>
                        </m:r>
                      </m:e>
                      <m:sub>
                        <m:r>
                          <a:rPr lang="en-US" altLang="zh-CN" b="1" i="1" smtClean="0">
                            <a:latin typeface="Cambria Math" panose="02040503050406030204" pitchFamily="18" charset="0"/>
                          </a:rPr>
                          <m:t>𝟕</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𝒗</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𝒆</m:t>
                        </m:r>
                      </m:e>
                      <m:sub>
                        <m:r>
                          <a:rPr lang="en-US" altLang="zh-CN" b="1" i="1" smtClean="0">
                            <a:latin typeface="Cambria Math" panose="02040503050406030204" pitchFamily="18" charset="0"/>
                          </a:rPr>
                          <m:t>𝟗</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𝒗</m:t>
                        </m:r>
                      </m:e>
                      <m:sub>
                        <m:r>
                          <a:rPr lang="en-US" altLang="zh-CN" b="1" i="1" smtClean="0">
                            <a:latin typeface="Cambria Math" panose="02040503050406030204" pitchFamily="18" charset="0"/>
                          </a:rPr>
                          <m:t>𝟕</m:t>
                        </m:r>
                      </m:sub>
                    </m:sSub>
                  </m:oMath>
                </a14:m>
                <a:r>
                  <a:rPr lang="zh-CN" altLang="en-US" b="1" dirty="0"/>
                  <a:t>是一条链，</a:t>
                </a:r>
                <a14:m>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𝒗</m:t>
                        </m:r>
                      </m:e>
                      <m:sub>
                        <m:r>
                          <a:rPr lang="en-US" altLang="zh-CN" b="1" i="1" smtClean="0">
                            <a:latin typeface="Cambria Math" panose="02040503050406030204" pitchFamily="18" charset="0"/>
                          </a:rPr>
                          <m:t>𝟏</m:t>
                        </m:r>
                      </m:sub>
                    </m:sSub>
                    <m:r>
                      <a:rPr lang="zh-CN" altLang="en-US" b="1" i="1">
                        <a:latin typeface="Cambria Math" panose="02040503050406030204" pitchFamily="18" charset="0"/>
                      </a:rPr>
                      <m:t>和</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𝒗</m:t>
                        </m:r>
                      </m:e>
                      <m:sub>
                        <m:r>
                          <a:rPr lang="en-US" altLang="zh-CN" b="1" i="1" smtClean="0">
                            <a:latin typeface="Cambria Math" panose="02040503050406030204" pitchFamily="18" charset="0"/>
                          </a:rPr>
                          <m:t>𝟕</m:t>
                        </m:r>
                      </m:sub>
                    </m:sSub>
                  </m:oMath>
                </a14:m>
                <a:r>
                  <a:rPr lang="zh-CN" altLang="en-US" b="1" dirty="0"/>
                  <a:t>是该链的起点与终点</a:t>
                </a:r>
                <a:endParaRPr lang="en-US" altLang="zh-CN" b="1" dirty="0"/>
              </a:p>
              <a:p>
                <a:pPr algn="just">
                  <a:spcBef>
                    <a:spcPct val="20000"/>
                  </a:spcBef>
                  <a:buFontTx/>
                  <a:buChar char="•"/>
                </a:pPr>
                <a:r>
                  <a:rPr lang="zh-CN" altLang="en-US" b="1" dirty="0"/>
                  <a:t>同时，我们把起点与终点相同的链称为</a:t>
                </a:r>
                <a:r>
                  <a:rPr lang="zh-CN" altLang="en-US" b="1" dirty="0">
                    <a:solidFill>
                      <a:srgbClr val="FF0000"/>
                    </a:solidFill>
                  </a:rPr>
                  <a:t>圈</a:t>
                </a:r>
                <a:r>
                  <a:rPr lang="en-US" altLang="zh-CN" b="1" dirty="0">
                    <a:solidFill>
                      <a:srgbClr val="FF0000"/>
                    </a:solidFill>
                  </a:rPr>
                  <a:t>,</a:t>
                </a:r>
                <a:r>
                  <a:rPr lang="en-US" altLang="zh-CN" b="1" dirty="0"/>
                  <a:t> </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𝒗</m:t>
                        </m:r>
                      </m:e>
                      <m:sub>
                        <m:r>
                          <a:rPr lang="en-US" altLang="zh-CN" b="1" i="1">
                            <a:latin typeface="Cambria Math" panose="02040503050406030204" pitchFamily="18" charset="0"/>
                          </a:rPr>
                          <m:t>𝟏</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𝒆</m:t>
                        </m:r>
                      </m:e>
                      <m:sub>
                        <m:r>
                          <a:rPr lang="en-US" altLang="zh-CN" b="1" i="1">
                            <a:latin typeface="Cambria Math" panose="02040503050406030204" pitchFamily="18" charset="0"/>
                          </a:rPr>
                          <m:t>𝟏</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𝒗</m:t>
                        </m:r>
                      </m:e>
                      <m:sub>
                        <m:r>
                          <a:rPr lang="en-US" altLang="zh-CN" b="1" i="1">
                            <a:latin typeface="Cambria Math" panose="02040503050406030204" pitchFamily="18" charset="0"/>
                          </a:rPr>
                          <m:t>𝟐</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𝒆</m:t>
                        </m:r>
                      </m:e>
                      <m:sub>
                        <m:r>
                          <a:rPr lang="en-US" altLang="zh-CN" b="1" i="1" smtClean="0">
                            <a:latin typeface="Cambria Math" panose="02040503050406030204" pitchFamily="18" charset="0"/>
                          </a:rPr>
                          <m:t>𝟒</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𝒗</m:t>
                        </m:r>
                      </m:e>
                      <m:sub>
                        <m:r>
                          <a:rPr lang="en-US" altLang="zh-CN" b="1" i="1">
                            <a:latin typeface="Cambria Math" panose="02040503050406030204" pitchFamily="18" charset="0"/>
                          </a:rPr>
                          <m:t>𝟓</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𝒆</m:t>
                        </m:r>
                      </m:e>
                      <m:sub>
                        <m:r>
                          <a:rPr lang="en-US" altLang="zh-CN" b="1" i="1">
                            <a:latin typeface="Cambria Math" panose="02040503050406030204" pitchFamily="18" charset="0"/>
                          </a:rPr>
                          <m:t>𝟕</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𝒗</m:t>
                        </m:r>
                      </m:e>
                      <m:sub>
                        <m:r>
                          <a:rPr lang="en-US" altLang="zh-CN" b="1" i="1">
                            <a:latin typeface="Cambria Math" panose="02040503050406030204" pitchFamily="18" charset="0"/>
                          </a:rPr>
                          <m:t>𝟑</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𝒆</m:t>
                        </m:r>
                      </m:e>
                      <m:sub>
                        <m:r>
                          <a:rPr lang="en-US" altLang="zh-CN" b="1" i="1" smtClean="0">
                            <a:latin typeface="Cambria Math" panose="02040503050406030204" pitchFamily="18" charset="0"/>
                          </a:rPr>
                          <m:t>𝟐</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𝒗</m:t>
                        </m:r>
                      </m:e>
                      <m:sub>
                        <m:r>
                          <a:rPr lang="en-US" altLang="zh-CN" b="1" i="1" smtClean="0">
                            <a:latin typeface="Cambria Math" panose="02040503050406030204" pitchFamily="18" charset="0"/>
                          </a:rPr>
                          <m:t>𝟏</m:t>
                        </m:r>
                      </m:sub>
                    </m:sSub>
                  </m:oMath>
                </a14:m>
                <a:r>
                  <a:rPr lang="zh-CN" altLang="en-US" b="1" dirty="0"/>
                  <a:t>是一个圈。</a:t>
                </a:r>
                <a:endParaRPr lang="en-US" altLang="zh-CN" b="1" dirty="0"/>
              </a:p>
              <a:p>
                <a:pPr algn="just">
                  <a:spcBef>
                    <a:spcPct val="20000"/>
                  </a:spcBef>
                  <a:buFontTx/>
                  <a:buChar char="•"/>
                </a:pPr>
                <a:r>
                  <a:rPr lang="zh-CN" altLang="en-US" b="1" dirty="0"/>
                  <a:t>对一个无向图来说，如果图中任何两个不同点之间，至少存在一条链，则称该无向图为</a:t>
                </a:r>
                <a:r>
                  <a:rPr lang="zh-CN" altLang="en-US" b="1" dirty="0">
                    <a:solidFill>
                      <a:srgbClr val="FF0000"/>
                    </a:solidFill>
                  </a:rPr>
                  <a:t>连通图</a:t>
                </a:r>
                <a:endParaRPr lang="en-US" altLang="zh-CN" b="1" dirty="0">
                  <a:solidFill>
                    <a:srgbClr val="FF0000"/>
                  </a:solidFill>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908050" y="2578861"/>
                <a:ext cx="10515600" cy="4351338"/>
              </a:xfrm>
              <a:blipFill rotWithShape="1">
                <a:blip r:embed="rId1"/>
                <a:stretch>
                  <a:fillRect t="-339" b="10"/>
                </a:stretch>
              </a:blipFill>
            </p:spPr>
            <p:txBody>
              <a:bodyPr/>
              <a:lstStyle/>
              <a:p>
                <a:r>
                  <a:rPr lang="zh-CN" altLang="en-US">
                    <a:noFill/>
                  </a:rPr>
                  <a:t> </a:t>
                </a:r>
              </a:p>
            </p:txBody>
          </p:sp>
        </mc:Fallback>
      </mc:AlternateContent>
      <p:grpSp>
        <p:nvGrpSpPr>
          <p:cNvPr id="4" name="Group 4"/>
          <p:cNvGrpSpPr/>
          <p:nvPr/>
        </p:nvGrpSpPr>
        <p:grpSpPr bwMode="auto">
          <a:xfrm>
            <a:off x="2209800" y="1690688"/>
            <a:ext cx="7772400" cy="3429000"/>
            <a:chOff x="0" y="0"/>
            <a:chExt cx="4560" cy="1996"/>
          </a:xfrm>
        </p:grpSpPr>
        <p:sp>
          <p:nvSpPr>
            <p:cNvPr id="5" name="Line 5"/>
            <p:cNvSpPr>
              <a:spLocks noChangeShapeType="1"/>
            </p:cNvSpPr>
            <p:nvPr/>
          </p:nvSpPr>
          <p:spPr bwMode="auto">
            <a:xfrm flipV="1">
              <a:off x="296" y="276"/>
              <a:ext cx="694" cy="6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Line 6"/>
            <p:cNvSpPr>
              <a:spLocks noChangeShapeType="1"/>
            </p:cNvSpPr>
            <p:nvPr/>
          </p:nvSpPr>
          <p:spPr bwMode="auto">
            <a:xfrm flipV="1">
              <a:off x="346" y="976"/>
              <a:ext cx="644" cy="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Line 7"/>
            <p:cNvSpPr>
              <a:spLocks noChangeShapeType="1"/>
            </p:cNvSpPr>
            <p:nvPr/>
          </p:nvSpPr>
          <p:spPr bwMode="auto">
            <a:xfrm>
              <a:off x="1336" y="976"/>
              <a:ext cx="857" cy="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 name="Line 8"/>
            <p:cNvSpPr>
              <a:spLocks noChangeShapeType="1"/>
            </p:cNvSpPr>
            <p:nvPr/>
          </p:nvSpPr>
          <p:spPr bwMode="auto">
            <a:xfrm>
              <a:off x="296" y="1098"/>
              <a:ext cx="694" cy="57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Line 9"/>
            <p:cNvSpPr>
              <a:spLocks noChangeShapeType="1"/>
            </p:cNvSpPr>
            <p:nvPr/>
          </p:nvSpPr>
          <p:spPr bwMode="auto">
            <a:xfrm flipV="1">
              <a:off x="1336" y="164"/>
              <a:ext cx="840" cy="1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Line 10"/>
            <p:cNvSpPr>
              <a:spLocks noChangeShapeType="1"/>
            </p:cNvSpPr>
            <p:nvPr/>
          </p:nvSpPr>
          <p:spPr bwMode="auto">
            <a:xfrm>
              <a:off x="1336" y="1777"/>
              <a:ext cx="873" cy="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 name="Line 11"/>
            <p:cNvSpPr>
              <a:spLocks noChangeShapeType="1"/>
            </p:cNvSpPr>
            <p:nvPr/>
          </p:nvSpPr>
          <p:spPr bwMode="auto">
            <a:xfrm>
              <a:off x="2539" y="180"/>
              <a:ext cx="758" cy="33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12"/>
            <p:cNvSpPr>
              <a:spLocks noChangeShapeType="1"/>
            </p:cNvSpPr>
            <p:nvPr/>
          </p:nvSpPr>
          <p:spPr bwMode="auto">
            <a:xfrm>
              <a:off x="3626" y="647"/>
              <a:ext cx="611" cy="28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3"/>
            <p:cNvSpPr>
              <a:spLocks noChangeShapeType="1"/>
            </p:cNvSpPr>
            <p:nvPr/>
          </p:nvSpPr>
          <p:spPr bwMode="auto">
            <a:xfrm flipV="1">
              <a:off x="2539" y="1448"/>
              <a:ext cx="774" cy="26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14"/>
            <p:cNvSpPr>
              <a:spLocks noChangeShapeType="1"/>
            </p:cNvSpPr>
            <p:nvPr/>
          </p:nvSpPr>
          <p:spPr bwMode="auto">
            <a:xfrm flipV="1">
              <a:off x="3626" y="1064"/>
              <a:ext cx="627" cy="25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15"/>
            <p:cNvSpPr>
              <a:spLocks noChangeShapeType="1"/>
            </p:cNvSpPr>
            <p:nvPr/>
          </p:nvSpPr>
          <p:spPr bwMode="auto">
            <a:xfrm flipV="1">
              <a:off x="2522" y="613"/>
              <a:ext cx="775" cy="26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16"/>
            <p:cNvSpPr>
              <a:spLocks noChangeShapeType="1"/>
            </p:cNvSpPr>
            <p:nvPr/>
          </p:nvSpPr>
          <p:spPr bwMode="auto">
            <a:xfrm>
              <a:off x="2506" y="1047"/>
              <a:ext cx="758" cy="3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17"/>
            <p:cNvSpPr>
              <a:spLocks noChangeShapeType="1"/>
            </p:cNvSpPr>
            <p:nvPr/>
          </p:nvSpPr>
          <p:spPr bwMode="auto">
            <a:xfrm>
              <a:off x="1286" y="264"/>
              <a:ext cx="940" cy="6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18"/>
            <p:cNvSpPr>
              <a:spLocks noChangeShapeType="1"/>
            </p:cNvSpPr>
            <p:nvPr/>
          </p:nvSpPr>
          <p:spPr bwMode="auto">
            <a:xfrm>
              <a:off x="1253" y="347"/>
              <a:ext cx="973" cy="128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19"/>
            <p:cNvSpPr>
              <a:spLocks noChangeShapeType="1"/>
            </p:cNvSpPr>
            <p:nvPr/>
          </p:nvSpPr>
          <p:spPr bwMode="auto">
            <a:xfrm flipV="1">
              <a:off x="1286" y="264"/>
              <a:ext cx="907" cy="61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20"/>
            <p:cNvSpPr>
              <a:spLocks noChangeShapeType="1"/>
            </p:cNvSpPr>
            <p:nvPr/>
          </p:nvSpPr>
          <p:spPr bwMode="auto">
            <a:xfrm>
              <a:off x="1302" y="1081"/>
              <a:ext cx="907" cy="61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21"/>
            <p:cNvSpPr>
              <a:spLocks noChangeShapeType="1"/>
            </p:cNvSpPr>
            <p:nvPr/>
          </p:nvSpPr>
          <p:spPr bwMode="auto">
            <a:xfrm flipV="1">
              <a:off x="1269" y="326"/>
              <a:ext cx="1007" cy="127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Line 22"/>
            <p:cNvSpPr>
              <a:spLocks noChangeShapeType="1"/>
            </p:cNvSpPr>
            <p:nvPr/>
          </p:nvSpPr>
          <p:spPr bwMode="auto">
            <a:xfrm flipV="1">
              <a:off x="1336" y="1031"/>
              <a:ext cx="890" cy="64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23"/>
            <p:cNvSpPr>
              <a:spLocks noChangeShapeType="1"/>
            </p:cNvSpPr>
            <p:nvPr/>
          </p:nvSpPr>
          <p:spPr bwMode="auto">
            <a:xfrm>
              <a:off x="2489" y="297"/>
              <a:ext cx="874" cy="92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24"/>
            <p:cNvSpPr>
              <a:spLocks noChangeShapeType="1"/>
            </p:cNvSpPr>
            <p:nvPr/>
          </p:nvSpPr>
          <p:spPr bwMode="auto">
            <a:xfrm flipV="1">
              <a:off x="2506" y="713"/>
              <a:ext cx="841" cy="90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Text Box 25"/>
            <p:cNvSpPr txBox="1">
              <a:spLocks noChangeArrowheads="1"/>
            </p:cNvSpPr>
            <p:nvPr/>
          </p:nvSpPr>
          <p:spPr bwMode="auto">
            <a:xfrm>
              <a:off x="485" y="460"/>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2600" b="1" baseline="-25000"/>
            </a:p>
          </p:txBody>
        </p:sp>
        <p:sp>
          <p:nvSpPr>
            <p:cNvPr id="26" name="Text Box 26"/>
            <p:cNvSpPr txBox="1">
              <a:spLocks noChangeArrowheads="1"/>
            </p:cNvSpPr>
            <p:nvPr/>
          </p:nvSpPr>
          <p:spPr bwMode="auto">
            <a:xfrm>
              <a:off x="544" y="846"/>
              <a:ext cx="1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2600" b="1" baseline="-25000"/>
            </a:p>
          </p:txBody>
        </p:sp>
        <p:sp>
          <p:nvSpPr>
            <p:cNvPr id="27" name="Text Box 27"/>
            <p:cNvSpPr txBox="1">
              <a:spLocks noChangeArrowheads="1"/>
            </p:cNvSpPr>
            <p:nvPr/>
          </p:nvSpPr>
          <p:spPr bwMode="auto">
            <a:xfrm>
              <a:off x="485" y="1372"/>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t>e</a:t>
              </a:r>
              <a:r>
                <a:rPr lang="en-US" altLang="zh-CN" sz="2600" b="1" baseline="-25000"/>
                <a:t>3</a:t>
              </a:r>
              <a:endParaRPr lang="en-US" altLang="zh-CN" sz="2600" b="1" baseline="-25000"/>
            </a:p>
          </p:txBody>
        </p:sp>
        <p:sp>
          <p:nvSpPr>
            <p:cNvPr id="28" name="Text Box 28"/>
            <p:cNvSpPr txBox="1">
              <a:spLocks noChangeArrowheads="1"/>
            </p:cNvSpPr>
            <p:nvPr/>
          </p:nvSpPr>
          <p:spPr bwMode="auto">
            <a:xfrm>
              <a:off x="1440" y="28"/>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nSpc>
                  <a:spcPct val="85000"/>
                </a:lnSpc>
              </a:pPr>
              <a:endParaRPr lang="zh-CN" altLang="en-US" sz="2400" b="1" baseline="-25000"/>
            </a:p>
          </p:txBody>
        </p:sp>
        <p:sp>
          <p:nvSpPr>
            <p:cNvPr id="29" name="Text Box 29"/>
            <p:cNvSpPr txBox="1">
              <a:spLocks noChangeArrowheads="1"/>
            </p:cNvSpPr>
            <p:nvPr/>
          </p:nvSpPr>
          <p:spPr bwMode="auto">
            <a:xfrm>
              <a:off x="1445" y="268"/>
              <a:ext cx="1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30" name="Text Box 30"/>
            <p:cNvSpPr txBox="1">
              <a:spLocks noChangeArrowheads="1"/>
            </p:cNvSpPr>
            <p:nvPr/>
          </p:nvSpPr>
          <p:spPr bwMode="auto">
            <a:xfrm>
              <a:off x="1152" y="460"/>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31" name="Text Box 31"/>
            <p:cNvSpPr txBox="1">
              <a:spLocks noChangeArrowheads="1"/>
            </p:cNvSpPr>
            <p:nvPr/>
          </p:nvSpPr>
          <p:spPr bwMode="auto">
            <a:xfrm>
              <a:off x="1296" y="655"/>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32" name="Text Box 32"/>
            <p:cNvSpPr txBox="1">
              <a:spLocks noChangeArrowheads="1"/>
            </p:cNvSpPr>
            <p:nvPr/>
          </p:nvSpPr>
          <p:spPr bwMode="auto">
            <a:xfrm>
              <a:off x="1429" y="844"/>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33" name="Text Box 33"/>
            <p:cNvSpPr txBox="1">
              <a:spLocks noChangeArrowheads="1"/>
            </p:cNvSpPr>
            <p:nvPr/>
          </p:nvSpPr>
          <p:spPr bwMode="auto">
            <a:xfrm>
              <a:off x="1301" y="1183"/>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34" name="Text Box 34"/>
            <p:cNvSpPr txBox="1">
              <a:spLocks noChangeArrowheads="1"/>
            </p:cNvSpPr>
            <p:nvPr/>
          </p:nvSpPr>
          <p:spPr bwMode="auto">
            <a:xfrm>
              <a:off x="1248" y="1342"/>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just"/>
              <a:endParaRPr lang="zh-CN" altLang="en-US" sz="1600" b="1"/>
            </a:p>
          </p:txBody>
        </p:sp>
        <p:sp>
          <p:nvSpPr>
            <p:cNvPr id="35" name="Text Box 35"/>
            <p:cNvSpPr txBox="1">
              <a:spLocks noChangeArrowheads="1"/>
            </p:cNvSpPr>
            <p:nvPr/>
          </p:nvSpPr>
          <p:spPr bwMode="auto">
            <a:xfrm>
              <a:off x="1493" y="1807"/>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36" name="Text Box 36"/>
            <p:cNvSpPr txBox="1">
              <a:spLocks noChangeArrowheads="1"/>
            </p:cNvSpPr>
            <p:nvPr/>
          </p:nvSpPr>
          <p:spPr bwMode="auto">
            <a:xfrm>
              <a:off x="1493" y="1564"/>
              <a:ext cx="1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37" name="Text Box 37"/>
            <p:cNvSpPr txBox="1">
              <a:spLocks noChangeArrowheads="1"/>
            </p:cNvSpPr>
            <p:nvPr/>
          </p:nvSpPr>
          <p:spPr bwMode="auto">
            <a:xfrm>
              <a:off x="2832" y="175"/>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38" name="Text Box 38"/>
            <p:cNvSpPr txBox="1">
              <a:spLocks noChangeArrowheads="1"/>
            </p:cNvSpPr>
            <p:nvPr/>
          </p:nvSpPr>
          <p:spPr bwMode="auto">
            <a:xfrm>
              <a:off x="2693" y="415"/>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39" name="Text Box 39"/>
            <p:cNvSpPr txBox="1">
              <a:spLocks noChangeArrowheads="1"/>
            </p:cNvSpPr>
            <p:nvPr/>
          </p:nvSpPr>
          <p:spPr bwMode="auto">
            <a:xfrm>
              <a:off x="2605" y="652"/>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40" name="Text Box 40"/>
            <p:cNvSpPr txBox="1">
              <a:spLocks noChangeArrowheads="1"/>
            </p:cNvSpPr>
            <p:nvPr/>
          </p:nvSpPr>
          <p:spPr bwMode="auto">
            <a:xfrm>
              <a:off x="2605" y="1136"/>
              <a:ext cx="187"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41" name="Text Box 41"/>
            <p:cNvSpPr txBox="1">
              <a:spLocks noChangeArrowheads="1"/>
            </p:cNvSpPr>
            <p:nvPr/>
          </p:nvSpPr>
          <p:spPr bwMode="auto">
            <a:xfrm>
              <a:off x="2693" y="1359"/>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42" name="Text Box 42"/>
            <p:cNvSpPr txBox="1">
              <a:spLocks noChangeArrowheads="1"/>
            </p:cNvSpPr>
            <p:nvPr/>
          </p:nvSpPr>
          <p:spPr bwMode="auto">
            <a:xfrm>
              <a:off x="2784" y="1612"/>
              <a:ext cx="187"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43" name="Text Box 43"/>
            <p:cNvSpPr txBox="1">
              <a:spLocks noChangeArrowheads="1"/>
            </p:cNvSpPr>
            <p:nvPr/>
          </p:nvSpPr>
          <p:spPr bwMode="auto">
            <a:xfrm>
              <a:off x="3841" y="604"/>
              <a:ext cx="18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44" name="Text Box 44"/>
            <p:cNvSpPr txBox="1">
              <a:spLocks noChangeArrowheads="1"/>
            </p:cNvSpPr>
            <p:nvPr/>
          </p:nvSpPr>
          <p:spPr bwMode="auto">
            <a:xfrm>
              <a:off x="3836" y="1230"/>
              <a:ext cx="187"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endParaRPr lang="zh-CN" altLang="en-US" sz="1600" b="1"/>
            </a:p>
          </p:txBody>
        </p:sp>
        <p:sp>
          <p:nvSpPr>
            <p:cNvPr id="45" name="Oval 45"/>
            <p:cNvSpPr>
              <a:spLocks noChangeArrowheads="1"/>
            </p:cNvSpPr>
            <p:nvPr/>
          </p:nvSpPr>
          <p:spPr bwMode="auto">
            <a:xfrm>
              <a:off x="2193" y="0"/>
              <a:ext cx="346" cy="351"/>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5</a:t>
              </a:r>
              <a:endParaRPr lang="en-US" altLang="zh-CN" sz="2600" b="1" baseline="-25000">
                <a:solidFill>
                  <a:schemeClr val="bg1"/>
                </a:solidFill>
              </a:endParaRPr>
            </a:p>
          </p:txBody>
        </p:sp>
        <p:sp>
          <p:nvSpPr>
            <p:cNvPr id="46" name="Oval 46"/>
            <p:cNvSpPr>
              <a:spLocks noChangeArrowheads="1"/>
            </p:cNvSpPr>
            <p:nvPr/>
          </p:nvSpPr>
          <p:spPr bwMode="auto">
            <a:xfrm>
              <a:off x="2209" y="1582"/>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7</a:t>
              </a:r>
              <a:endParaRPr lang="en-US" altLang="zh-CN" sz="2600" b="1" baseline="-25000">
                <a:solidFill>
                  <a:schemeClr val="bg1"/>
                </a:solidFill>
              </a:endParaRPr>
            </a:p>
          </p:txBody>
        </p:sp>
        <p:sp>
          <p:nvSpPr>
            <p:cNvPr id="47" name="Oval 47"/>
            <p:cNvSpPr>
              <a:spLocks noChangeArrowheads="1"/>
            </p:cNvSpPr>
            <p:nvPr/>
          </p:nvSpPr>
          <p:spPr bwMode="auto">
            <a:xfrm>
              <a:off x="3289" y="401"/>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8</a:t>
              </a:r>
              <a:endParaRPr lang="en-US" altLang="zh-CN" sz="2600" b="1" baseline="-25000">
                <a:solidFill>
                  <a:schemeClr val="bg1"/>
                </a:solidFill>
              </a:endParaRPr>
            </a:p>
          </p:txBody>
        </p:sp>
        <p:sp>
          <p:nvSpPr>
            <p:cNvPr id="48" name="Oval 48"/>
            <p:cNvSpPr>
              <a:spLocks noChangeArrowheads="1"/>
            </p:cNvSpPr>
            <p:nvPr/>
          </p:nvSpPr>
          <p:spPr bwMode="auto">
            <a:xfrm>
              <a:off x="0" y="801"/>
              <a:ext cx="346" cy="351"/>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1</a:t>
              </a:r>
              <a:endParaRPr lang="en-US" altLang="zh-CN" sz="2600" b="1" baseline="-25000">
                <a:solidFill>
                  <a:schemeClr val="bg1"/>
                </a:solidFill>
              </a:endParaRPr>
            </a:p>
          </p:txBody>
        </p:sp>
        <p:sp>
          <p:nvSpPr>
            <p:cNvPr id="49" name="Oval 49"/>
            <p:cNvSpPr>
              <a:spLocks noChangeArrowheads="1"/>
            </p:cNvSpPr>
            <p:nvPr/>
          </p:nvSpPr>
          <p:spPr bwMode="auto">
            <a:xfrm>
              <a:off x="969" y="26"/>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2</a:t>
              </a:r>
              <a:endParaRPr lang="en-US" altLang="zh-CN" sz="2600" b="1" baseline="-25000">
                <a:solidFill>
                  <a:schemeClr val="bg1"/>
                </a:solidFill>
              </a:endParaRPr>
            </a:p>
          </p:txBody>
        </p:sp>
        <p:sp>
          <p:nvSpPr>
            <p:cNvPr id="50" name="Oval 50"/>
            <p:cNvSpPr>
              <a:spLocks noChangeArrowheads="1"/>
            </p:cNvSpPr>
            <p:nvPr/>
          </p:nvSpPr>
          <p:spPr bwMode="auto">
            <a:xfrm>
              <a:off x="982" y="1576"/>
              <a:ext cx="346" cy="351"/>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4</a:t>
              </a:r>
              <a:endParaRPr lang="en-US" altLang="zh-CN" sz="2600" b="1" baseline="-25000">
                <a:solidFill>
                  <a:schemeClr val="bg1"/>
                </a:solidFill>
              </a:endParaRPr>
            </a:p>
          </p:txBody>
        </p:sp>
        <p:sp>
          <p:nvSpPr>
            <p:cNvPr id="51" name="Oval 51"/>
            <p:cNvSpPr>
              <a:spLocks noChangeArrowheads="1"/>
            </p:cNvSpPr>
            <p:nvPr/>
          </p:nvSpPr>
          <p:spPr bwMode="auto">
            <a:xfrm>
              <a:off x="982" y="801"/>
              <a:ext cx="346" cy="351"/>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3</a:t>
              </a:r>
              <a:endParaRPr lang="en-US" altLang="zh-CN" sz="2600" b="1" baseline="-25000">
                <a:solidFill>
                  <a:schemeClr val="bg1"/>
                </a:solidFill>
              </a:endParaRPr>
            </a:p>
          </p:txBody>
        </p:sp>
        <p:sp>
          <p:nvSpPr>
            <p:cNvPr id="52" name="Oval 52"/>
            <p:cNvSpPr>
              <a:spLocks noChangeArrowheads="1"/>
            </p:cNvSpPr>
            <p:nvPr/>
          </p:nvSpPr>
          <p:spPr bwMode="auto">
            <a:xfrm>
              <a:off x="3297" y="1198"/>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9</a:t>
              </a:r>
              <a:endParaRPr lang="en-US" altLang="zh-CN" sz="2600" b="1" baseline="-25000">
                <a:solidFill>
                  <a:schemeClr val="bg1"/>
                </a:solidFill>
              </a:endParaRPr>
            </a:p>
          </p:txBody>
        </p:sp>
        <p:sp>
          <p:nvSpPr>
            <p:cNvPr id="53" name="Oval 53"/>
            <p:cNvSpPr>
              <a:spLocks noChangeArrowheads="1"/>
            </p:cNvSpPr>
            <p:nvPr/>
          </p:nvSpPr>
          <p:spPr bwMode="auto">
            <a:xfrm>
              <a:off x="4214" y="796"/>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10</a:t>
              </a:r>
              <a:endParaRPr lang="en-US" altLang="zh-CN" sz="2600" b="1" baseline="-25000">
                <a:solidFill>
                  <a:schemeClr val="bg1"/>
                </a:solidFill>
              </a:endParaRPr>
            </a:p>
          </p:txBody>
        </p:sp>
        <p:sp>
          <p:nvSpPr>
            <p:cNvPr id="54" name="Oval 54"/>
            <p:cNvSpPr>
              <a:spLocks noChangeArrowheads="1"/>
            </p:cNvSpPr>
            <p:nvPr/>
          </p:nvSpPr>
          <p:spPr bwMode="auto">
            <a:xfrm>
              <a:off x="2193" y="781"/>
              <a:ext cx="346" cy="350"/>
            </a:xfrm>
            <a:prstGeom prst="ellipse">
              <a:avLst/>
            </a:prstGeom>
            <a:solidFill>
              <a:srgbClr val="3366FF"/>
            </a:solidFill>
            <a:ln w="28575">
              <a:solidFill>
                <a:srgbClr val="00CCFF"/>
              </a:solidFill>
              <a:round/>
            </a:ln>
          </p:spPr>
          <p:txBody>
            <a:bodyPr lIns="0" tIns="0" rIns="0" bIns="0"/>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600" b="1" i="1">
                  <a:solidFill>
                    <a:schemeClr val="bg1"/>
                  </a:solidFill>
                </a:rPr>
                <a:t>v</a:t>
              </a:r>
              <a:r>
                <a:rPr lang="en-US" altLang="zh-CN" sz="2600" b="1" baseline="-25000">
                  <a:solidFill>
                    <a:schemeClr val="bg1"/>
                  </a:solidFill>
                </a:rPr>
                <a:t>6</a:t>
              </a:r>
              <a:endParaRPr lang="en-US" altLang="zh-CN" sz="2600" b="1" baseline="-25000">
                <a:solidFill>
                  <a:schemeClr val="bg1"/>
                </a:solidFill>
              </a:endParaRPr>
            </a:p>
          </p:txBody>
        </p:sp>
      </p:grpSp>
      <p:sp>
        <p:nvSpPr>
          <p:cNvPr id="55" name="Rectangle 55"/>
          <p:cNvSpPr>
            <a:spLocks noChangeArrowheads="1"/>
          </p:cNvSpPr>
          <p:nvPr/>
        </p:nvSpPr>
        <p:spPr bwMode="auto">
          <a:xfrm>
            <a:off x="2781300" y="2297113"/>
            <a:ext cx="4587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1</a:t>
            </a:r>
            <a:endParaRPr lang="en-US" altLang="zh-CN" sz="2800" b="1" baseline="-25000"/>
          </a:p>
        </p:txBody>
      </p:sp>
      <p:sp>
        <p:nvSpPr>
          <p:cNvPr id="56" name="Rectangle 56"/>
          <p:cNvSpPr>
            <a:spLocks noChangeArrowheads="1"/>
          </p:cNvSpPr>
          <p:nvPr/>
        </p:nvSpPr>
        <p:spPr bwMode="auto">
          <a:xfrm>
            <a:off x="3114675" y="2816225"/>
            <a:ext cx="4587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2</a:t>
            </a:r>
            <a:endParaRPr lang="en-US" altLang="zh-CN" sz="2800" b="1" baseline="-25000"/>
          </a:p>
        </p:txBody>
      </p:sp>
      <p:sp>
        <p:nvSpPr>
          <p:cNvPr id="57" name="Rectangle 58"/>
          <p:cNvSpPr>
            <a:spLocks noChangeArrowheads="1"/>
          </p:cNvSpPr>
          <p:nvPr/>
        </p:nvSpPr>
        <p:spPr bwMode="auto">
          <a:xfrm>
            <a:off x="4725987" y="1951038"/>
            <a:ext cx="4587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dirty="0"/>
              <a:t>e</a:t>
            </a:r>
            <a:r>
              <a:rPr lang="en-US" altLang="zh-CN" sz="2800" b="1" baseline="-25000" dirty="0"/>
              <a:t>5</a:t>
            </a:r>
            <a:endParaRPr lang="en-US" altLang="zh-CN" sz="2800" b="1" baseline="-25000" dirty="0"/>
          </a:p>
        </p:txBody>
      </p:sp>
      <p:sp>
        <p:nvSpPr>
          <p:cNvPr id="58" name="Rectangle 59"/>
          <p:cNvSpPr>
            <a:spLocks noChangeArrowheads="1"/>
          </p:cNvSpPr>
          <p:nvPr/>
        </p:nvSpPr>
        <p:spPr bwMode="auto">
          <a:xfrm>
            <a:off x="4221162" y="2297113"/>
            <a:ext cx="4587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6</a:t>
            </a:r>
            <a:endParaRPr lang="en-US" altLang="zh-CN" sz="2800" b="1" baseline="-25000"/>
          </a:p>
        </p:txBody>
      </p:sp>
      <p:sp>
        <p:nvSpPr>
          <p:cNvPr id="59" name="Rectangle 60"/>
          <p:cNvSpPr>
            <a:spLocks noChangeArrowheads="1"/>
          </p:cNvSpPr>
          <p:nvPr/>
        </p:nvSpPr>
        <p:spPr bwMode="auto">
          <a:xfrm>
            <a:off x="4267200" y="2584450"/>
            <a:ext cx="4587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7</a:t>
            </a:r>
            <a:endParaRPr lang="en-US" altLang="zh-CN" sz="2800" b="1" baseline="-25000"/>
          </a:p>
        </p:txBody>
      </p:sp>
      <p:sp>
        <p:nvSpPr>
          <p:cNvPr id="60" name="Rectangle 61"/>
          <p:cNvSpPr>
            <a:spLocks noChangeArrowheads="1"/>
          </p:cNvSpPr>
          <p:nvPr/>
        </p:nvSpPr>
        <p:spPr bwMode="auto">
          <a:xfrm>
            <a:off x="4554537" y="2887663"/>
            <a:ext cx="4587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8</a:t>
            </a:r>
            <a:endParaRPr lang="en-US" altLang="zh-CN" sz="2800" b="1" baseline="-25000"/>
          </a:p>
        </p:txBody>
      </p:sp>
      <p:sp>
        <p:nvSpPr>
          <p:cNvPr id="61" name="Rectangle 62"/>
          <p:cNvSpPr>
            <a:spLocks noChangeArrowheads="1"/>
          </p:cNvSpPr>
          <p:nvPr/>
        </p:nvSpPr>
        <p:spPr bwMode="auto">
          <a:xfrm>
            <a:off x="4483100" y="3232150"/>
            <a:ext cx="4587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9</a:t>
            </a:r>
            <a:endParaRPr lang="en-US" altLang="zh-CN" sz="2800" b="1" baseline="-25000"/>
          </a:p>
        </p:txBody>
      </p:sp>
      <p:sp>
        <p:nvSpPr>
          <p:cNvPr id="62" name="Rectangle 63"/>
          <p:cNvSpPr>
            <a:spLocks noChangeArrowheads="1"/>
          </p:cNvSpPr>
          <p:nvPr/>
        </p:nvSpPr>
        <p:spPr bwMode="auto">
          <a:xfrm>
            <a:off x="4076700" y="3736975"/>
            <a:ext cx="5794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10</a:t>
            </a:r>
            <a:endParaRPr lang="en-US" altLang="zh-CN" sz="2800" b="1" baseline="-25000"/>
          </a:p>
        </p:txBody>
      </p:sp>
      <p:sp>
        <p:nvSpPr>
          <p:cNvPr id="63" name="Rectangle 64"/>
          <p:cNvSpPr>
            <a:spLocks noChangeArrowheads="1"/>
          </p:cNvSpPr>
          <p:nvPr/>
        </p:nvSpPr>
        <p:spPr bwMode="auto">
          <a:xfrm>
            <a:off x="4794250" y="4097338"/>
            <a:ext cx="5794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11</a:t>
            </a:r>
            <a:endParaRPr lang="en-US" altLang="zh-CN" sz="2800" b="1" baseline="-25000"/>
          </a:p>
        </p:txBody>
      </p:sp>
      <p:sp>
        <p:nvSpPr>
          <p:cNvPr id="64" name="Rectangle 65"/>
          <p:cNvSpPr>
            <a:spLocks noChangeArrowheads="1"/>
          </p:cNvSpPr>
          <p:nvPr/>
        </p:nvSpPr>
        <p:spPr bwMode="auto">
          <a:xfrm>
            <a:off x="4941887" y="4600575"/>
            <a:ext cx="5794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12</a:t>
            </a:r>
            <a:endParaRPr lang="en-US" altLang="zh-CN" sz="2800" b="1" baseline="-25000"/>
          </a:p>
        </p:txBody>
      </p:sp>
      <p:sp>
        <p:nvSpPr>
          <p:cNvPr id="65" name="Rectangle 67"/>
          <p:cNvSpPr>
            <a:spLocks noChangeArrowheads="1"/>
          </p:cNvSpPr>
          <p:nvPr/>
        </p:nvSpPr>
        <p:spPr bwMode="auto">
          <a:xfrm>
            <a:off x="6594475" y="2081213"/>
            <a:ext cx="5794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dirty="0"/>
              <a:t>e</a:t>
            </a:r>
            <a:r>
              <a:rPr lang="en-US" altLang="zh-CN" sz="2800" b="1" baseline="-25000" dirty="0"/>
              <a:t>14</a:t>
            </a:r>
            <a:endParaRPr lang="en-US" altLang="zh-CN" sz="2800" b="1" baseline="-25000" dirty="0"/>
          </a:p>
        </p:txBody>
      </p:sp>
      <p:sp>
        <p:nvSpPr>
          <p:cNvPr id="66" name="Rectangle 68"/>
          <p:cNvSpPr>
            <a:spLocks noChangeArrowheads="1"/>
          </p:cNvSpPr>
          <p:nvPr/>
        </p:nvSpPr>
        <p:spPr bwMode="auto">
          <a:xfrm>
            <a:off x="6381750" y="2584450"/>
            <a:ext cx="5794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15</a:t>
            </a:r>
            <a:endParaRPr lang="en-US" altLang="zh-CN" sz="2800" b="1" baseline="-25000"/>
          </a:p>
        </p:txBody>
      </p:sp>
      <p:sp>
        <p:nvSpPr>
          <p:cNvPr id="67" name="Rectangle 69"/>
          <p:cNvSpPr>
            <a:spLocks noChangeArrowheads="1"/>
          </p:cNvSpPr>
          <p:nvPr/>
        </p:nvSpPr>
        <p:spPr bwMode="auto">
          <a:xfrm>
            <a:off x="6526212" y="3103563"/>
            <a:ext cx="5794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16</a:t>
            </a:r>
            <a:endParaRPr lang="en-US" altLang="zh-CN" sz="2800" b="1" baseline="-25000"/>
          </a:p>
        </p:txBody>
      </p:sp>
      <p:sp>
        <p:nvSpPr>
          <p:cNvPr id="68" name="Rectangle 70"/>
          <p:cNvSpPr>
            <a:spLocks noChangeArrowheads="1"/>
          </p:cNvSpPr>
          <p:nvPr/>
        </p:nvSpPr>
        <p:spPr bwMode="auto">
          <a:xfrm>
            <a:off x="6165850" y="3751263"/>
            <a:ext cx="5794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17</a:t>
            </a:r>
            <a:endParaRPr lang="en-US" altLang="zh-CN" sz="2800" b="1" baseline="-25000"/>
          </a:p>
        </p:txBody>
      </p:sp>
      <p:sp>
        <p:nvSpPr>
          <p:cNvPr id="69" name="Rectangle 71"/>
          <p:cNvSpPr>
            <a:spLocks noChangeArrowheads="1"/>
          </p:cNvSpPr>
          <p:nvPr/>
        </p:nvSpPr>
        <p:spPr bwMode="auto">
          <a:xfrm>
            <a:off x="6594475" y="4384675"/>
            <a:ext cx="5794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18</a:t>
            </a:r>
            <a:endParaRPr lang="en-US" altLang="zh-CN" sz="2800" b="1" baseline="-25000"/>
          </a:p>
        </p:txBody>
      </p:sp>
      <p:sp>
        <p:nvSpPr>
          <p:cNvPr id="70" name="Rectangle 72"/>
          <p:cNvSpPr>
            <a:spLocks noChangeArrowheads="1"/>
          </p:cNvSpPr>
          <p:nvPr/>
        </p:nvSpPr>
        <p:spPr bwMode="auto">
          <a:xfrm>
            <a:off x="8610600" y="2455863"/>
            <a:ext cx="5794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19</a:t>
            </a:r>
            <a:endParaRPr lang="en-US" altLang="zh-CN" sz="2800" b="1" baseline="-25000"/>
          </a:p>
        </p:txBody>
      </p:sp>
      <p:sp>
        <p:nvSpPr>
          <p:cNvPr id="71" name="Rectangle 73"/>
          <p:cNvSpPr>
            <a:spLocks noChangeArrowheads="1"/>
          </p:cNvSpPr>
          <p:nvPr/>
        </p:nvSpPr>
        <p:spPr bwMode="auto">
          <a:xfrm>
            <a:off x="8613775" y="3608388"/>
            <a:ext cx="5794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a:t>e</a:t>
            </a:r>
            <a:r>
              <a:rPr lang="en-US" altLang="zh-CN" sz="2800" b="1" baseline="-25000"/>
              <a:t>20</a:t>
            </a:r>
            <a:endParaRPr lang="en-US" altLang="zh-CN" sz="2800" b="1" baseline="-25000"/>
          </a:p>
        </p:txBody>
      </p:sp>
      <p:sp>
        <p:nvSpPr>
          <p:cNvPr id="72" name="Line 74"/>
          <p:cNvSpPr>
            <a:spLocks noChangeShapeType="1"/>
          </p:cNvSpPr>
          <p:nvPr/>
        </p:nvSpPr>
        <p:spPr bwMode="auto">
          <a:xfrm flipV="1">
            <a:off x="2671762" y="2166938"/>
            <a:ext cx="1225550" cy="1081087"/>
          </a:xfrm>
          <a:prstGeom prst="line">
            <a:avLst/>
          </a:prstGeom>
          <a:noFill/>
          <a:ln w="38100">
            <a:solidFill>
              <a:srgbClr val="FF33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73" name="Line 75"/>
          <p:cNvSpPr>
            <a:spLocks noChangeShapeType="1"/>
          </p:cNvSpPr>
          <p:nvPr/>
        </p:nvSpPr>
        <p:spPr bwMode="auto">
          <a:xfrm>
            <a:off x="4508500" y="1984375"/>
            <a:ext cx="1441450" cy="0"/>
          </a:xfrm>
          <a:prstGeom prst="line">
            <a:avLst/>
          </a:prstGeom>
          <a:noFill/>
          <a:ln w="38100">
            <a:solidFill>
              <a:srgbClr val="FF33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74" name="Line 76"/>
          <p:cNvSpPr>
            <a:spLocks noChangeShapeType="1"/>
          </p:cNvSpPr>
          <p:nvPr/>
        </p:nvSpPr>
        <p:spPr bwMode="auto">
          <a:xfrm flipH="1">
            <a:off x="4437062" y="2095500"/>
            <a:ext cx="1584325" cy="1079500"/>
          </a:xfrm>
          <a:prstGeom prst="line">
            <a:avLst/>
          </a:prstGeom>
          <a:noFill/>
          <a:ln w="38100">
            <a:solidFill>
              <a:srgbClr val="FF33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75" name="Line 77"/>
          <p:cNvSpPr>
            <a:spLocks noChangeShapeType="1"/>
          </p:cNvSpPr>
          <p:nvPr/>
        </p:nvSpPr>
        <p:spPr bwMode="auto">
          <a:xfrm>
            <a:off x="4398962" y="3535363"/>
            <a:ext cx="1655763" cy="1152525"/>
          </a:xfrm>
          <a:prstGeom prst="line">
            <a:avLst/>
          </a:prstGeom>
          <a:noFill/>
          <a:ln w="38100">
            <a:solidFill>
              <a:srgbClr val="FF3300"/>
            </a:solidFill>
            <a:round/>
          </a:ln>
          <a:extLst>
            <a:ext uri="{909E8E84-426E-40DD-AFC4-6F175D3DCCD1}">
              <a14:hiddenFill xmlns:a14="http://schemas.microsoft.com/office/drawing/2010/main">
                <a:noFill/>
              </a14:hiddenFill>
            </a:ext>
          </a:extLst>
        </p:spPr>
        <p:txBody>
          <a:bodyPr lIns="90000" tIns="46800" rIns="90000" bIns="46800">
            <a:spAutoFit/>
          </a:bodyPr>
          <a:lstStyle/>
          <a:p>
            <a:endParaRPr lang="zh-CN" altLang="en-US"/>
          </a:p>
        </p:txBody>
      </p:sp>
      <p:sp>
        <p:nvSpPr>
          <p:cNvPr id="77" name="Line 75"/>
          <p:cNvSpPr>
            <a:spLocks noChangeShapeType="1"/>
          </p:cNvSpPr>
          <p:nvPr/>
        </p:nvSpPr>
        <p:spPr bwMode="auto">
          <a:xfrm flipV="1">
            <a:off x="2781300" y="3367393"/>
            <a:ext cx="1075021" cy="8590"/>
          </a:xfrm>
          <a:prstGeom prst="line">
            <a:avLst/>
          </a:prstGeom>
          <a:noFill/>
          <a:ln w="38100">
            <a:solidFill>
              <a:srgbClr val="FF3300"/>
            </a:solidFill>
            <a:round/>
          </a:ln>
          <a:extLst>
            <a:ext uri="{909E8E84-426E-40DD-AFC4-6F175D3DCCD1}">
              <a14:hiddenFill xmlns:a14="http://schemas.microsoft.com/office/drawing/2010/main">
                <a:noFill/>
              </a14:hiddenFill>
            </a:ext>
          </a:extLst>
        </p:spPr>
        <p:txBody>
          <a:bodyPr wrap="square" lIns="90000" tIns="46800" rIns="90000" bIns="46800">
            <a:spAutoFit/>
          </a:bodyPr>
          <a:lstStyle/>
          <a:p>
            <a:endParaRPr lang="zh-CN" altLang="en-US"/>
          </a:p>
        </p:txBody>
      </p:sp>
      <p:sp>
        <p:nvSpPr>
          <p:cNvPr id="78" name="Rectangle 58"/>
          <p:cNvSpPr>
            <a:spLocks noChangeArrowheads="1"/>
          </p:cNvSpPr>
          <p:nvPr/>
        </p:nvSpPr>
        <p:spPr bwMode="auto">
          <a:xfrm>
            <a:off x="4891171" y="1442945"/>
            <a:ext cx="46068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r>
              <a:rPr lang="en-US" altLang="zh-CN" sz="2800" b="1" i="1" dirty="0"/>
              <a:t>e</a:t>
            </a:r>
            <a:r>
              <a:rPr lang="en-US" altLang="zh-CN" sz="2800" b="1" i="1" baseline="-25000" dirty="0"/>
              <a:t>4</a:t>
            </a:r>
            <a:endParaRPr lang="en-US" altLang="zh-CN" sz="2800" b="1" baseline="-25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72"/>
                                        </p:tgtEl>
                                        <p:attrNameLst>
                                          <p:attrName>style.visibility</p:attrName>
                                        </p:attrNameLst>
                                      </p:cBhvr>
                                      <p:to>
                                        <p:strVal val="visible"/>
                                      </p:to>
                                    </p:set>
                                    <p:animEffect transition="in" filter="wipe(left)">
                                      <p:cBhvr>
                                        <p:cTn id="10" dur="500"/>
                                        <p:tgtEl>
                                          <p:spTgt spid="72"/>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73"/>
                                        </p:tgtEl>
                                        <p:attrNameLst>
                                          <p:attrName>style.visibility</p:attrName>
                                        </p:attrNameLst>
                                      </p:cBhvr>
                                      <p:to>
                                        <p:strVal val="visible"/>
                                      </p:to>
                                    </p:set>
                                    <p:animEffect transition="in" filter="wipe(left)">
                                      <p:cBhvr>
                                        <p:cTn id="14" dur="500"/>
                                        <p:tgtEl>
                                          <p:spTgt spid="73"/>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74"/>
                                        </p:tgtEl>
                                        <p:attrNameLst>
                                          <p:attrName>style.visibility</p:attrName>
                                        </p:attrNameLst>
                                      </p:cBhvr>
                                      <p:to>
                                        <p:strVal val="visible"/>
                                      </p:to>
                                    </p:set>
                                    <p:animEffect transition="in" filter="wipe(up)">
                                      <p:cBhvr>
                                        <p:cTn id="18" dur="500"/>
                                        <p:tgtEl>
                                          <p:spTgt spid="74"/>
                                        </p:tgtEl>
                                      </p:cBhvr>
                                    </p:animEffect>
                                  </p:childTnLst>
                                </p:cTn>
                              </p:par>
                            </p:childTnLst>
                          </p:cTn>
                        </p:par>
                        <p:par>
                          <p:cTn id="19" fill="hold">
                            <p:stCondLst>
                              <p:cond delay="1500"/>
                            </p:stCondLst>
                            <p:childTnLst>
                              <p:par>
                                <p:cTn id="20" presetID="22" presetClass="entr" presetSubtype="1" fill="hold" nodeType="after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wipe(up)">
                                      <p:cBhvr>
                                        <p:cTn id="22" dur="500"/>
                                        <p:tgtEl>
                                          <p:spTgt spid="7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par>
                          <p:cTn id="27" fill="hold">
                            <p:stCondLst>
                              <p:cond delay="0"/>
                            </p:stCondLst>
                            <p:childTnLst>
                              <p:par>
                                <p:cTn id="28" presetID="1" presetClass="exit" presetSubtype="0" fill="hold" grpId="0" nodeType="afterEffect">
                                  <p:stCondLst>
                                    <p:cond delay="0"/>
                                  </p:stCondLst>
                                  <p:childTnLst>
                                    <p:set>
                                      <p:cBhvr>
                                        <p:cTn id="29" dur="1" fill="hold">
                                          <p:stCondLst>
                                            <p:cond delay="0"/>
                                          </p:stCondLst>
                                        </p:cTn>
                                        <p:tgtEl>
                                          <p:spTgt spid="75"/>
                                        </p:tgtEl>
                                        <p:attrNameLst>
                                          <p:attrName>style.visibility</p:attrName>
                                        </p:attrNameLst>
                                      </p:cBhvr>
                                      <p:to>
                                        <p:strVal val="hidden"/>
                                      </p:to>
                                    </p:set>
                                  </p:childTnLst>
                                </p:cTn>
                              </p:par>
                            </p:childTnLst>
                          </p:cTn>
                        </p:par>
                        <p:par>
                          <p:cTn id="30" fill="hold">
                            <p:stCondLst>
                              <p:cond delay="0"/>
                            </p:stCondLst>
                            <p:childTnLst>
                              <p:par>
                                <p:cTn id="31" presetID="22" presetClass="entr" presetSubtype="8" fill="hold" nodeType="afterEffect">
                                  <p:stCondLst>
                                    <p:cond delay="0"/>
                                  </p:stCondLst>
                                  <p:childTnLst>
                                    <p:set>
                                      <p:cBhvr>
                                        <p:cTn id="32" dur="1" fill="hold">
                                          <p:stCondLst>
                                            <p:cond delay="0"/>
                                          </p:stCondLst>
                                        </p:cTn>
                                        <p:tgtEl>
                                          <p:spTgt spid="77"/>
                                        </p:tgtEl>
                                        <p:attrNameLst>
                                          <p:attrName>style.visibility</p:attrName>
                                        </p:attrNameLst>
                                      </p:cBhvr>
                                      <p:to>
                                        <p:strVal val="visible"/>
                                      </p:to>
                                    </p:set>
                                    <p:animEffect transition="in" filter="wipe(left)">
                                      <p:cBhvr>
                                        <p:cTn id="33" dur="500"/>
                                        <p:tgtEl>
                                          <p:spTgt spid="77"/>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图与网络的基本概念</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lnSpcReduction="10000"/>
              </a:bodyPr>
              <a:lstStyle/>
              <a:p>
                <a:endParaRPr lang="en-US" altLang="zh-CN" dirty="0"/>
              </a:p>
              <a:p>
                <a:endParaRPr lang="en-US" altLang="zh-CN" dirty="0"/>
              </a:p>
              <a:p>
                <a:endParaRPr lang="en-US" altLang="zh-CN" dirty="0"/>
              </a:p>
              <a:p>
                <a:endParaRPr lang="en-US" altLang="zh-CN" dirty="0"/>
              </a:p>
              <a:p>
                <a:endParaRPr lang="en-US" altLang="zh-CN" dirty="0"/>
              </a:p>
              <a:p>
                <a:r>
                  <a:rPr lang="zh-CN" altLang="en-US" dirty="0"/>
                  <a:t>有向图：</a:t>
                </a:r>
                <a:r>
                  <a:rPr lang="en-US" altLang="zh-CN" dirty="0"/>
                  <a:t>D(V,A)</a:t>
                </a:r>
                <a:endParaRPr lang="en-US" altLang="zh-CN" dirty="0"/>
              </a:p>
              <a:p>
                <a:r>
                  <a:rPr lang="en-US" altLang="zh-CN" dirty="0"/>
                  <a:t>V</a:t>
                </a:r>
                <a:r>
                  <a:rPr lang="zh-CN" altLang="en-US" dirty="0"/>
                  <a:t>是顶点集合</a:t>
                </a:r>
                <a:r>
                  <a:rPr lang="en-US" altLang="zh-CN" dirty="0"/>
                  <a:t>,V={</a:t>
                </a:r>
                <a:r>
                  <a:rPr lang="en-US" altLang="zh-CN" i="1" dirty="0" err="1"/>
                  <a:t>v</a:t>
                </a:r>
                <a:r>
                  <a:rPr lang="en-US" altLang="zh-CN" baseline="-25000" dirty="0" err="1"/>
                  <a:t>i</a:t>
                </a:r>
                <a:r>
                  <a:rPr lang="en-US" altLang="zh-CN" dirty="0" err="1"/>
                  <a:t>|i</a:t>
                </a:r>
                <a:r>
                  <a:rPr lang="en-US" altLang="zh-CN" dirty="0"/>
                  <a:t>=1,…,n}</a:t>
                </a:r>
                <a:r>
                  <a:rPr lang="zh-CN" altLang="en-US" dirty="0"/>
                  <a:t>，</a:t>
                </a:r>
                <a:r>
                  <a:rPr lang="en-US" altLang="zh-CN" dirty="0"/>
                  <a:t>A</a:t>
                </a:r>
                <a:r>
                  <a:rPr lang="zh-CN" altLang="en-US" dirty="0"/>
                  <a:t>是弧集合</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zh-CN" altLang="en-US" i="1">
                        <a:latin typeface="Cambria Math" panose="02040503050406030204" pitchFamily="18" charset="0"/>
                      </a:rPr>
                      <m:t>，</m:t>
                    </m:r>
                  </m:oMath>
                </a14:m>
                <a:r>
                  <a:rPr lang="zh-CN" altLang="en-US" dirty="0"/>
                  <a:t>其中</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𝑎</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𝑉</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𝑉</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oMath>
                </a14:m>
                <a:r>
                  <a:rPr lang="zh-CN" altLang="en-US" b="1" dirty="0"/>
                  <a:t>，起点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 </m:t>
                    </m:r>
                  </m:oMath>
                </a14:m>
                <a:r>
                  <a:rPr lang="zh-CN" altLang="en-US" b="1" dirty="0"/>
                  <a:t>，终点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 </m:t>
                    </m:r>
                  </m:oMath>
                </a14:m>
                <a:r>
                  <a:rPr lang="zh-CN" altLang="en-US" b="1" dirty="0"/>
                  <a:t>；</a:t>
                </a:r>
                <a:endParaRPr lang="en-US" altLang="zh-CN" b="1" dirty="0"/>
              </a:p>
              <a:p>
                <a:r>
                  <a:rPr lang="zh-CN" altLang="en-US" b="1" dirty="0"/>
                  <a:t>若有从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𝑖</m:t>
                        </m:r>
                      </m:sub>
                    </m:sSub>
                  </m:oMath>
                </a14:m>
                <a:r>
                  <a:rPr lang="en-US" altLang="zh-CN" b="1" dirty="0"/>
                  <a:t> </a:t>
                </a:r>
                <a:r>
                  <a:rPr lang="zh-CN" altLang="en-US" b="1" dirty="0"/>
                  <a:t>到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𝑗</m:t>
                        </m:r>
                      </m:sub>
                    </m:sSub>
                  </m:oMath>
                </a14:m>
                <a:r>
                  <a:rPr lang="en-US" altLang="zh-CN" b="1" dirty="0"/>
                  <a:t> </a:t>
                </a:r>
                <a:r>
                  <a:rPr lang="zh-CN" altLang="en-US" b="1" dirty="0"/>
                  <a:t>的链，且各方向一致，则称之为从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𝑖</m:t>
                        </m:r>
                      </m:sub>
                    </m:sSub>
                  </m:oMath>
                </a14:m>
                <a:r>
                  <a:rPr lang="en-US" altLang="zh-CN" b="1" dirty="0"/>
                  <a:t> </a:t>
                </a:r>
                <a:r>
                  <a:rPr lang="zh-CN" altLang="en-US" b="1" dirty="0"/>
                  <a:t>到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𝑗</m:t>
                        </m:r>
                      </m:sub>
                    </m:sSub>
                  </m:oMath>
                </a14:m>
                <a:r>
                  <a:rPr lang="en-US" altLang="zh-CN" b="1" dirty="0"/>
                  <a:t> </a:t>
                </a:r>
                <a:r>
                  <a:rPr lang="zh-CN" altLang="en-US" b="1" dirty="0"/>
                  <a:t>的</a:t>
                </a:r>
                <a:r>
                  <a:rPr lang="zh-CN" altLang="en-US" b="1" dirty="0">
                    <a:solidFill>
                      <a:srgbClr val="FF0000"/>
                    </a:solidFill>
                  </a:rPr>
                  <a:t>路</a:t>
                </a:r>
                <a:endParaRPr lang="en-US" altLang="zh-CN" b="1" dirty="0">
                  <a:solidFill>
                    <a:srgbClr val="FF0000"/>
                  </a:solidFill>
                </a:endParaRPr>
              </a:p>
              <a:p>
                <a:r>
                  <a:rPr lang="zh-CN" altLang="en-US" b="1" dirty="0"/>
                  <a:t>同时，我们把起点与终点相同的路称为</a:t>
                </a:r>
                <a:r>
                  <a:rPr lang="zh-CN" altLang="en-US" b="1" dirty="0">
                    <a:solidFill>
                      <a:srgbClr val="FF0000"/>
                    </a:solidFill>
                  </a:rPr>
                  <a:t>回路</a:t>
                </a:r>
                <a:r>
                  <a:rPr lang="zh-CN" altLang="en-US" b="1" dirty="0"/>
                  <a:t>。</a:t>
                </a:r>
                <a:endParaRPr lang="zh-CN" altLang="en-US" b="1" i="1"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75" b="-7479"/>
                </a:stretch>
              </a:blipFill>
            </p:spPr>
            <p:txBody>
              <a:bodyPr/>
              <a:lstStyle/>
              <a:p>
                <a:r>
                  <a:rPr lang="zh-CN" altLang="en-US">
                    <a:noFill/>
                  </a:rPr>
                  <a:t> </a:t>
                </a:r>
              </a:p>
            </p:txBody>
          </p:sp>
        </mc:Fallback>
      </mc:AlternateContent>
      <p:sp>
        <p:nvSpPr>
          <p:cNvPr id="4" name="Line 2"/>
          <p:cNvSpPr>
            <a:spLocks noChangeShapeType="1"/>
          </p:cNvSpPr>
          <p:nvPr/>
        </p:nvSpPr>
        <p:spPr bwMode="auto">
          <a:xfrm>
            <a:off x="5767431" y="1449897"/>
            <a:ext cx="1600200" cy="2590800"/>
          </a:xfrm>
          <a:prstGeom prst="line">
            <a:avLst/>
          </a:prstGeom>
          <a:noFill/>
          <a:ln w="31750">
            <a:solidFill>
              <a:srgbClr val="FF0000"/>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 name="Rectangle 4"/>
          <p:cNvSpPr>
            <a:spLocks noChangeArrowheads="1"/>
          </p:cNvSpPr>
          <p:nvPr/>
        </p:nvSpPr>
        <p:spPr bwMode="auto">
          <a:xfrm>
            <a:off x="4243431" y="2592897"/>
            <a:ext cx="3124200" cy="1447800"/>
          </a:xfrm>
          <a:prstGeom prst="rect">
            <a:avLst/>
          </a:prstGeom>
          <a:noFill/>
          <a:ln w="3175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 name="Line 5"/>
          <p:cNvSpPr>
            <a:spLocks noChangeShapeType="1"/>
          </p:cNvSpPr>
          <p:nvPr/>
        </p:nvSpPr>
        <p:spPr bwMode="auto">
          <a:xfrm flipH="1">
            <a:off x="4243431" y="1449897"/>
            <a:ext cx="1524000" cy="1143000"/>
          </a:xfrm>
          <a:prstGeom prst="line">
            <a:avLst/>
          </a:prstGeom>
          <a:noFill/>
          <a:ln w="31750">
            <a:solidFill>
              <a:srgbClr val="FF0000"/>
            </a:solidFill>
            <a:round/>
            <a:tailEnd type="triangle" w="lg"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 name="Line 6"/>
          <p:cNvSpPr>
            <a:spLocks noChangeShapeType="1"/>
          </p:cNvSpPr>
          <p:nvPr/>
        </p:nvSpPr>
        <p:spPr bwMode="auto">
          <a:xfrm>
            <a:off x="4548231" y="2592897"/>
            <a:ext cx="2514600" cy="0"/>
          </a:xfrm>
          <a:prstGeom prst="line">
            <a:avLst/>
          </a:prstGeom>
          <a:noFill/>
          <a:ln w="31750">
            <a:solidFill>
              <a:srgbClr val="FF0000"/>
            </a:solidFill>
            <a:rou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8" name="Line 7"/>
          <p:cNvSpPr>
            <a:spLocks noChangeShapeType="1"/>
          </p:cNvSpPr>
          <p:nvPr/>
        </p:nvSpPr>
        <p:spPr bwMode="auto">
          <a:xfrm>
            <a:off x="5767431" y="1449897"/>
            <a:ext cx="1447800" cy="2362200"/>
          </a:xfrm>
          <a:prstGeom prst="line">
            <a:avLst/>
          </a:prstGeom>
          <a:noFill/>
          <a:ln w="31750">
            <a:solidFill>
              <a:srgbClr val="FF0000"/>
            </a:solidFill>
            <a:rou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9" name="Line 8"/>
          <p:cNvSpPr>
            <a:spLocks noChangeShapeType="1"/>
          </p:cNvSpPr>
          <p:nvPr/>
        </p:nvSpPr>
        <p:spPr bwMode="auto">
          <a:xfrm>
            <a:off x="4243431" y="259289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wrap="none" anchor="ctr">
            <a:spAutoFit/>
          </a:bodyPr>
          <a:lstStyle/>
          <a:p>
            <a:endParaRPr lang="zh-CN" altLang="en-US"/>
          </a:p>
        </p:txBody>
      </p:sp>
      <p:sp>
        <p:nvSpPr>
          <p:cNvPr id="10" name="Line 9"/>
          <p:cNvSpPr>
            <a:spLocks noChangeShapeType="1"/>
          </p:cNvSpPr>
          <p:nvPr/>
        </p:nvSpPr>
        <p:spPr bwMode="auto">
          <a:xfrm flipV="1">
            <a:off x="4243431" y="4040697"/>
            <a:ext cx="2971800" cy="0"/>
          </a:xfrm>
          <a:prstGeom prst="line">
            <a:avLst/>
          </a:prstGeom>
          <a:noFill/>
          <a:ln w="31750">
            <a:solidFill>
              <a:srgbClr val="FF0000"/>
            </a:solidFill>
            <a:rou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 name="Line 10"/>
          <p:cNvSpPr>
            <a:spLocks noChangeShapeType="1"/>
          </p:cNvSpPr>
          <p:nvPr/>
        </p:nvSpPr>
        <p:spPr bwMode="auto">
          <a:xfrm flipV="1">
            <a:off x="7367631" y="2745297"/>
            <a:ext cx="0" cy="1143000"/>
          </a:xfrm>
          <a:prstGeom prst="line">
            <a:avLst/>
          </a:prstGeom>
          <a:noFill/>
          <a:ln w="31750">
            <a:solidFill>
              <a:srgbClr val="FF0000"/>
            </a:solidFill>
            <a:round/>
            <a:tailEnd type="triangle" w="lg"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2" name="Line 11"/>
          <p:cNvSpPr>
            <a:spLocks noChangeShapeType="1"/>
          </p:cNvSpPr>
          <p:nvPr/>
        </p:nvSpPr>
        <p:spPr bwMode="auto">
          <a:xfrm>
            <a:off x="4243431" y="2669097"/>
            <a:ext cx="0" cy="1219200"/>
          </a:xfrm>
          <a:prstGeom prst="line">
            <a:avLst/>
          </a:prstGeom>
          <a:noFill/>
          <a:ln w="31750">
            <a:solidFill>
              <a:srgbClr val="FF0000"/>
            </a:solidFill>
            <a:round/>
            <a:tailEnd type="triangle" w="lg" len="lg"/>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3" name="Line 12"/>
          <p:cNvSpPr>
            <a:spLocks noChangeShapeType="1"/>
          </p:cNvSpPr>
          <p:nvPr/>
        </p:nvSpPr>
        <p:spPr bwMode="auto">
          <a:xfrm flipH="1">
            <a:off x="4237081" y="2592897"/>
            <a:ext cx="3130550" cy="1444625"/>
          </a:xfrm>
          <a:prstGeom prst="line">
            <a:avLst/>
          </a:prstGeom>
          <a:noFill/>
          <a:ln w="31750">
            <a:solidFill>
              <a:srgbClr val="FF0000"/>
            </a:solidFill>
            <a:rou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4" name="Line 13"/>
          <p:cNvSpPr>
            <a:spLocks noChangeShapeType="1"/>
          </p:cNvSpPr>
          <p:nvPr/>
        </p:nvSpPr>
        <p:spPr bwMode="auto">
          <a:xfrm>
            <a:off x="5749969" y="1445135"/>
            <a:ext cx="1600200" cy="1143000"/>
          </a:xfrm>
          <a:prstGeom prst="line">
            <a:avLst/>
          </a:prstGeom>
          <a:noFill/>
          <a:ln w="31750">
            <a:solidFill>
              <a:srgbClr val="FF0000"/>
            </a:solidFill>
            <a:rou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Line 14"/>
          <p:cNvSpPr>
            <a:spLocks noChangeShapeType="1"/>
          </p:cNvSpPr>
          <p:nvPr/>
        </p:nvSpPr>
        <p:spPr bwMode="auto">
          <a:xfrm>
            <a:off x="5732506" y="1445135"/>
            <a:ext cx="1600200" cy="1143000"/>
          </a:xfrm>
          <a:prstGeom prst="line">
            <a:avLst/>
          </a:prstGeom>
          <a:noFill/>
          <a:ln w="31750">
            <a:solidFill>
              <a:srgbClr val="0000CC"/>
            </a:solidFill>
            <a:rou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 name="Line 15"/>
          <p:cNvSpPr>
            <a:spLocks noChangeShapeType="1"/>
          </p:cNvSpPr>
          <p:nvPr/>
        </p:nvSpPr>
        <p:spPr bwMode="auto">
          <a:xfrm flipH="1">
            <a:off x="4237081" y="2597660"/>
            <a:ext cx="3130550" cy="1444625"/>
          </a:xfrm>
          <a:prstGeom prst="line">
            <a:avLst/>
          </a:prstGeom>
          <a:noFill/>
          <a:ln w="31750">
            <a:solidFill>
              <a:srgbClr val="0000CC"/>
            </a:solidFill>
            <a:rou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 name="Line 16"/>
          <p:cNvSpPr>
            <a:spLocks noChangeShapeType="1"/>
          </p:cNvSpPr>
          <p:nvPr/>
        </p:nvSpPr>
        <p:spPr bwMode="auto">
          <a:xfrm flipV="1">
            <a:off x="4237081" y="4037522"/>
            <a:ext cx="2971800" cy="0"/>
          </a:xfrm>
          <a:prstGeom prst="line">
            <a:avLst/>
          </a:prstGeom>
          <a:noFill/>
          <a:ln w="31750">
            <a:solidFill>
              <a:srgbClr val="0000CC"/>
            </a:solidFill>
            <a:rou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 name="Rectangle 18"/>
          <p:cNvSpPr>
            <a:spLocks noChangeArrowheads="1"/>
          </p:cNvSpPr>
          <p:nvPr/>
        </p:nvSpPr>
        <p:spPr bwMode="auto">
          <a:xfrm>
            <a:off x="7259681" y="2135697"/>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dirty="0"/>
              <a:t>v</a:t>
            </a:r>
            <a:endParaRPr lang="en-US" altLang="zh-CN" sz="2400" b="1" dirty="0"/>
          </a:p>
        </p:txBody>
      </p:sp>
      <p:sp>
        <p:nvSpPr>
          <p:cNvPr id="19" name="Rectangle 19"/>
          <p:cNvSpPr>
            <a:spLocks noChangeArrowheads="1"/>
          </p:cNvSpPr>
          <p:nvPr/>
        </p:nvSpPr>
        <p:spPr bwMode="auto">
          <a:xfrm>
            <a:off x="7302544" y="3888297"/>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t>w</a:t>
            </a:r>
            <a:endParaRPr lang="en-US" altLang="zh-CN" sz="2400" b="1"/>
          </a:p>
        </p:txBody>
      </p:sp>
      <p:sp>
        <p:nvSpPr>
          <p:cNvPr id="20" name="Line 20"/>
          <p:cNvSpPr>
            <a:spLocks noChangeShapeType="1"/>
          </p:cNvSpPr>
          <p:nvPr/>
        </p:nvSpPr>
        <p:spPr bwMode="auto">
          <a:xfrm>
            <a:off x="5749969" y="1445135"/>
            <a:ext cx="1600200" cy="1143000"/>
          </a:xfrm>
          <a:prstGeom prst="line">
            <a:avLst/>
          </a:prstGeom>
          <a:noFill/>
          <a:ln w="38100">
            <a:solidFill>
              <a:srgbClr val="FF3300"/>
            </a:solidFill>
            <a:rou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 name="Line 21"/>
          <p:cNvSpPr>
            <a:spLocks noChangeShapeType="1"/>
          </p:cNvSpPr>
          <p:nvPr/>
        </p:nvSpPr>
        <p:spPr bwMode="auto">
          <a:xfrm flipV="1">
            <a:off x="7367631" y="2742122"/>
            <a:ext cx="0" cy="1295400"/>
          </a:xfrm>
          <a:prstGeom prst="line">
            <a:avLst/>
          </a:prstGeom>
          <a:noFill/>
          <a:ln w="31750">
            <a:solidFill>
              <a:srgbClr val="0000CC"/>
            </a:solidFill>
            <a:round/>
            <a:tailEnd type="triangle" w="lg"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2" name="Line 22"/>
          <p:cNvSpPr>
            <a:spLocks noChangeShapeType="1"/>
          </p:cNvSpPr>
          <p:nvPr/>
        </p:nvSpPr>
        <p:spPr bwMode="auto">
          <a:xfrm flipV="1">
            <a:off x="4360906" y="4037522"/>
            <a:ext cx="2971800" cy="0"/>
          </a:xfrm>
          <a:prstGeom prst="line">
            <a:avLst/>
          </a:prstGeom>
          <a:noFill/>
          <a:ln w="31750">
            <a:solidFill>
              <a:srgbClr val="0000CC"/>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3" name="Line 23"/>
          <p:cNvSpPr>
            <a:spLocks noChangeShapeType="1"/>
          </p:cNvSpPr>
          <p:nvPr/>
        </p:nvSpPr>
        <p:spPr bwMode="auto">
          <a:xfrm flipV="1">
            <a:off x="7367631" y="2597660"/>
            <a:ext cx="0" cy="1295400"/>
          </a:xfrm>
          <a:prstGeom prst="line">
            <a:avLst/>
          </a:prstGeom>
          <a:noFill/>
          <a:ln w="31750">
            <a:solidFill>
              <a:srgbClr val="0000CC"/>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4" name="Rectangle 24"/>
          <p:cNvSpPr>
            <a:spLocks noChangeArrowheads="1"/>
          </p:cNvSpPr>
          <p:nvPr/>
        </p:nvSpPr>
        <p:spPr bwMode="auto">
          <a:xfrm>
            <a:off x="3949744" y="231032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t>x</a:t>
            </a:r>
            <a:endParaRPr lang="en-US" altLang="zh-CN" sz="2400" b="1"/>
          </a:p>
        </p:txBody>
      </p:sp>
      <p:sp>
        <p:nvSpPr>
          <p:cNvPr id="25" name="Rectangle 25"/>
          <p:cNvSpPr>
            <a:spLocks noChangeArrowheads="1"/>
          </p:cNvSpPr>
          <p:nvPr/>
        </p:nvSpPr>
        <p:spPr bwMode="auto">
          <a:xfrm>
            <a:off x="3884656" y="382162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t>y</a:t>
            </a:r>
            <a:endParaRPr lang="en-US" altLang="zh-CN" sz="2400" b="1"/>
          </a:p>
        </p:txBody>
      </p:sp>
      <p:sp>
        <p:nvSpPr>
          <p:cNvPr id="26" name="Rectangle 18"/>
          <p:cNvSpPr>
            <a:spLocks noChangeArrowheads="1"/>
          </p:cNvSpPr>
          <p:nvPr/>
        </p:nvSpPr>
        <p:spPr bwMode="auto">
          <a:xfrm>
            <a:off x="5720379" y="1088212"/>
            <a:ext cx="356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dirty="0"/>
              <a:t>u</a:t>
            </a:r>
            <a:endParaRPr lang="en-US" altLang="zh-CN"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499"/>
                                          </p:stCondLst>
                                        </p:cTn>
                                        <p:tgtEl>
                                          <p:spTgt spid="1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7" end="7"/>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499"/>
                                          </p:stCondLst>
                                        </p:cTn>
                                        <p:tgtEl>
                                          <p:spTgt spid="16"/>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499"/>
                                          </p:stCondLst>
                                        </p:cTn>
                                        <p:tgtEl>
                                          <p:spTgt spid="17"/>
                                        </p:tgtEl>
                                        <p:attrNameLst>
                                          <p:attrName>style.visibility</p:attrName>
                                        </p:attrNameLst>
                                      </p:cBhvr>
                                      <p:to>
                                        <p:strVal val="visible"/>
                                      </p:to>
                                    </p:set>
                                  </p:childTnLst>
                                </p:cTn>
                              </p:par>
                            </p:childTnLst>
                          </p:cTn>
                        </p:par>
                        <p:par>
                          <p:cTn id="20" fill="hold">
                            <p:stCondLst>
                              <p:cond delay="1000"/>
                            </p:stCondLst>
                            <p:childTnLst>
                              <p:par>
                                <p:cTn id="21" presetID="1" presetClass="entr" presetSubtype="0" fill="hold" nodeType="afterEffect">
                                  <p:stCondLst>
                                    <p:cond delay="0"/>
                                  </p:stCondLst>
                                  <p:childTnLst>
                                    <p:set>
                                      <p:cBhvr>
                                        <p:cTn id="22" dur="1" fill="hold">
                                          <p:stCondLst>
                                            <p:cond delay="499"/>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499"/>
                                          </p:stCondLst>
                                        </p:cTn>
                                        <p:tgtEl>
                                          <p:spTgt spid="20"/>
                                        </p:tgtEl>
                                        <p:attrNameLst>
                                          <p:attrName>style.visibility</p:attrName>
                                        </p:attrNameLst>
                                      </p:cBhvr>
                                      <p:to>
                                        <p:strVal val="visible"/>
                                      </p:to>
                                    </p:set>
                                  </p:childTnLst>
                                </p:cTn>
                              </p:par>
                            </p:childTnLst>
                          </p:cTn>
                        </p:par>
                        <p:par>
                          <p:cTn id="30" fill="hold">
                            <p:stCondLst>
                              <p:cond delay="500"/>
                            </p:stCondLst>
                            <p:childTnLst>
                              <p:par>
                                <p:cTn id="31" presetID="1" presetClass="entr" presetSubtype="0" fill="hold" nodeType="afterEffect">
                                  <p:stCondLst>
                                    <p:cond delay="0"/>
                                  </p:stCondLst>
                                  <p:childTnLst>
                                    <p:set>
                                      <p:cBhvr>
                                        <p:cTn id="32" dur="1" fill="hold">
                                          <p:stCondLst>
                                            <p:cond delay="499"/>
                                          </p:stCondLst>
                                        </p:cTn>
                                        <p:tgtEl>
                                          <p:spTgt spid="21"/>
                                        </p:tgtEl>
                                        <p:attrNameLst>
                                          <p:attrName>style.visibility</p:attrName>
                                        </p:attrNameLst>
                                      </p:cBhvr>
                                      <p:to>
                                        <p:strVal val="visible"/>
                                      </p:to>
                                    </p:set>
                                  </p:childTnLst>
                                </p:cTn>
                              </p:par>
                            </p:childTnLst>
                          </p:cTn>
                        </p:par>
                        <p:par>
                          <p:cTn id="33" fill="hold">
                            <p:stCondLst>
                              <p:cond delay="1000"/>
                            </p:stCondLst>
                            <p:childTnLst>
                              <p:par>
                                <p:cTn id="34" presetID="1" presetClass="entr" presetSubtype="0" fill="hold" nodeType="afterEffect">
                                  <p:stCondLst>
                                    <p:cond delay="0"/>
                                  </p:stCondLst>
                                  <p:childTnLst>
                                    <p:set>
                                      <p:cBhvr>
                                        <p:cTn id="35" dur="1" fill="hold">
                                          <p:stCondLst>
                                            <p:cond delay="499"/>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p:cNvSpPr txBox="1">
            <a:spLocks noChangeArrowheads="1"/>
          </p:cNvSpPr>
          <p:nvPr/>
        </p:nvSpPr>
        <p:spPr bwMode="auto">
          <a:xfrm>
            <a:off x="1992313" y="1557338"/>
            <a:ext cx="7704137" cy="1969770"/>
          </a:xfrm>
          <a:prstGeom prst="rect">
            <a:avLst/>
          </a:prstGeom>
          <a:noFill/>
          <a:ln>
            <a:noFill/>
          </a:ln>
          <a:effectLst/>
        </p:spPr>
        <p:txBody>
          <a:bodyPr lIns="0" tIns="0" rIns="0" bIns="0">
            <a:spAutoFit/>
          </a:bodyPr>
          <a:lstStyle>
            <a:lvl1pPr>
              <a:tabLst>
                <a:tab pos="254000" algn="l"/>
                <a:tab pos="266700" algn="l"/>
              </a:tabLst>
              <a:defRPr>
                <a:solidFill>
                  <a:schemeClr val="tx1"/>
                </a:solidFill>
                <a:latin typeface="Arial" panose="020B0604020202020204" pitchFamily="34" charset="0"/>
                <a:ea typeface="宋体" panose="02010600030101010101" pitchFamily="2" charset="-122"/>
              </a:defRPr>
            </a:lvl1pPr>
            <a:lvl2pPr>
              <a:tabLst>
                <a:tab pos="254000" algn="l"/>
                <a:tab pos="266700" algn="l"/>
              </a:tabLst>
              <a:defRPr>
                <a:solidFill>
                  <a:schemeClr val="tx1"/>
                </a:solidFill>
                <a:latin typeface="Arial" panose="020B0604020202020204" pitchFamily="34" charset="0"/>
                <a:ea typeface="宋体" panose="02010600030101010101" pitchFamily="2" charset="-122"/>
              </a:defRPr>
            </a:lvl2pPr>
            <a:lvl3pPr>
              <a:tabLst>
                <a:tab pos="254000" algn="l"/>
                <a:tab pos="266700" algn="l"/>
              </a:tabLst>
              <a:defRPr>
                <a:solidFill>
                  <a:schemeClr val="tx1"/>
                </a:solidFill>
                <a:latin typeface="Arial" panose="020B0604020202020204" pitchFamily="34" charset="0"/>
                <a:ea typeface="宋体" panose="02010600030101010101" pitchFamily="2" charset="-122"/>
              </a:defRPr>
            </a:lvl3pPr>
            <a:lvl4pPr>
              <a:tabLst>
                <a:tab pos="254000" algn="l"/>
                <a:tab pos="266700" algn="l"/>
              </a:tabLst>
              <a:defRPr>
                <a:solidFill>
                  <a:schemeClr val="tx1"/>
                </a:solidFill>
                <a:latin typeface="Arial" panose="020B0604020202020204" pitchFamily="34" charset="0"/>
                <a:ea typeface="宋体" panose="02010600030101010101" pitchFamily="2" charset="-122"/>
              </a:defRPr>
            </a:lvl4pPr>
            <a:lvl5pPr>
              <a:tabLst>
                <a:tab pos="254000" algn="l"/>
                <a:tab pos="2667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54000" algn="l"/>
                <a:tab pos="266700" algn="l"/>
              </a:tabLst>
              <a:defRPr>
                <a:solidFill>
                  <a:schemeClr val="tx1"/>
                </a:solidFill>
                <a:latin typeface="Arial" panose="020B0604020202020204" pitchFamily="34" charset="0"/>
                <a:ea typeface="宋体" panose="02010600030101010101" pitchFamily="2" charset="-122"/>
              </a:defRPr>
            </a:lvl9pPr>
          </a:lstStyle>
          <a:p>
            <a:pPr fontAlgn="auto">
              <a:lnSpc>
                <a:spcPct val="150000"/>
              </a:lnSpc>
              <a:spcBef>
                <a:spcPts val="0"/>
              </a:spcBef>
              <a:spcAft>
                <a:spcPts val="0"/>
              </a:spcAft>
              <a:defRPr/>
            </a:pPr>
            <a:r>
              <a:rPr lang="en-US" altLang="zh-CN" sz="1200" dirty="0">
                <a:solidFill>
                  <a:srgbClr val="000000"/>
                </a:solidFill>
                <a:latin typeface="隶书" panose="02010509060101010101" pitchFamily="49" charset="-122"/>
                <a:ea typeface="隶书" panose="02010509060101010101" pitchFamily="49" charset="-122"/>
              </a:rPr>
              <a:t>  </a:t>
            </a:r>
            <a:endParaRPr lang="en-US" altLang="zh-CN" sz="1200" dirty="0">
              <a:solidFill>
                <a:srgbClr val="000000"/>
              </a:solidFill>
              <a:latin typeface="隶书" panose="02010509060101010101" pitchFamily="49" charset="-122"/>
              <a:ea typeface="隶书" panose="02010509060101010101" pitchFamily="49" charset="-122"/>
            </a:endParaRPr>
          </a:p>
          <a:p>
            <a:pPr fontAlgn="auto">
              <a:spcBef>
                <a:spcPts val="0"/>
              </a:spcBef>
              <a:spcAft>
                <a:spcPts val="0"/>
              </a:spcAft>
              <a:defRPr/>
            </a:pPr>
            <a:r>
              <a:rPr lang="zh-CN" altLang="en-US" sz="2400" dirty="0">
                <a:solidFill>
                  <a:srgbClr val="000000"/>
                </a:solidFill>
                <a:latin typeface="隶书" panose="02010509060101010101" pitchFamily="49" charset="-122"/>
                <a:ea typeface="隶书" panose="02010509060101010101" pitchFamily="49" charset="-122"/>
              </a:rPr>
              <a:t>   </a:t>
            </a:r>
            <a:endParaRPr lang="zh-CN" altLang="en-US" sz="2400" dirty="0">
              <a:solidFill>
                <a:srgbClr val="000000"/>
              </a:solidFill>
              <a:ea typeface="楷体" panose="02010609060101010101" pitchFamily="49" charset="-122"/>
            </a:endParaRPr>
          </a:p>
          <a:p>
            <a:pPr fontAlgn="auto">
              <a:spcBef>
                <a:spcPts val="600"/>
              </a:spcBef>
              <a:spcAft>
                <a:spcPts val="600"/>
              </a:spcAft>
              <a:defRPr/>
            </a:pPr>
            <a:endParaRPr lang="zh-CN" altLang="en-US" sz="2800" dirty="0">
              <a:solidFill>
                <a:srgbClr val="000000"/>
              </a:solidFill>
              <a:latin typeface="Times New Roman" panose="02020603050405020304" pitchFamily="18" charset="0"/>
              <a:ea typeface="+mn-ea"/>
            </a:endParaRPr>
          </a:p>
          <a:p>
            <a:pPr fontAlgn="auto">
              <a:spcBef>
                <a:spcPts val="0"/>
              </a:spcBef>
              <a:spcAft>
                <a:spcPts val="0"/>
              </a:spcAft>
              <a:defRPr/>
            </a:pPr>
            <a:r>
              <a:rPr lang="zh-CN" altLang="en-US" sz="2400" dirty="0">
                <a:solidFill>
                  <a:srgbClr val="000000"/>
                </a:solidFill>
                <a:latin typeface="Times New Roman" panose="02020603050405020304" pitchFamily="18" charset="0"/>
                <a:ea typeface="+mn-ea"/>
              </a:rPr>
              <a:t>       </a:t>
            </a:r>
            <a:endParaRPr lang="zh-CN" altLang="en-US" sz="2400" dirty="0">
              <a:solidFill>
                <a:srgbClr val="000000"/>
              </a:solidFill>
              <a:latin typeface="Times New Roman" panose="02020603050405020304" pitchFamily="18" charset="0"/>
              <a:ea typeface="+mn-ea"/>
            </a:endParaRPr>
          </a:p>
          <a:p>
            <a:pPr fontAlgn="auto">
              <a:spcBef>
                <a:spcPts val="0"/>
              </a:spcBef>
              <a:spcAft>
                <a:spcPts val="0"/>
              </a:spcAft>
              <a:defRPr/>
            </a:pPr>
            <a:r>
              <a:rPr lang="zh-CN" altLang="en-US" sz="2400" dirty="0">
                <a:solidFill>
                  <a:srgbClr val="000000"/>
                </a:solidFill>
                <a:latin typeface="Times New Roman" panose="02020603050405020304" pitchFamily="18" charset="0"/>
                <a:ea typeface="+mn-ea"/>
              </a:rPr>
              <a:t>       </a:t>
            </a:r>
            <a:endParaRPr lang="zh-CN" altLang="en-US" sz="2400" dirty="0">
              <a:solidFill>
                <a:srgbClr val="000000"/>
              </a:solidFill>
              <a:latin typeface="Times New Roman" panose="02020603050405020304" pitchFamily="18" charset="0"/>
              <a:ea typeface="+mn-ea"/>
            </a:endParaRPr>
          </a:p>
        </p:txBody>
      </p:sp>
      <p:sp>
        <p:nvSpPr>
          <p:cNvPr id="36869" name="文本框 4"/>
          <p:cNvSpPr txBox="1">
            <a:spLocks noChangeArrowheads="1"/>
          </p:cNvSpPr>
          <p:nvPr/>
        </p:nvSpPr>
        <p:spPr bwMode="auto">
          <a:xfrm>
            <a:off x="5238750" y="5143500"/>
            <a:ext cx="3292475" cy="368300"/>
          </a:xfrm>
          <a:prstGeom prst="rect">
            <a:avLst/>
          </a:prstGeom>
          <a:noFill/>
          <a:ln w="9525">
            <a:noFill/>
            <a:miter lim="800000"/>
          </a:ln>
        </p:spPr>
        <p:txBody>
          <a:bodyPr>
            <a:spAutoFit/>
          </a:bodyPr>
          <a:lstStyle/>
          <a:p>
            <a:r>
              <a:rPr lang="zh-CN" altLang="en-US">
                <a:latin typeface="楷体" panose="02010609060101010101" pitchFamily="49" charset="-122"/>
                <a:ea typeface="楷体" panose="02010609060101010101" pitchFamily="49" charset="-122"/>
              </a:rPr>
              <a:t>                                       </a:t>
            </a:r>
            <a:endParaRPr lang="zh-CN" altLang="en-US">
              <a:ea typeface="微软雅黑" panose="020B0503020204020204" pitchFamily="34" charset="-122"/>
              <a:cs typeface="Arial" panose="020B0604020202020204" pitchFamily="34" charset="0"/>
            </a:endParaRPr>
          </a:p>
        </p:txBody>
      </p:sp>
      <mc:AlternateContent xmlns:mc="http://schemas.openxmlformats.org/markup-compatibility/2006">
        <mc:Choice xmlns:a14="http://schemas.microsoft.com/office/drawing/2010/main" Requires="a14">
          <p:sp>
            <p:nvSpPr>
              <p:cNvPr id="12" name="矩形 11"/>
              <p:cNvSpPr>
                <a:spLocks noChangeArrowheads="1"/>
              </p:cNvSpPr>
              <p:nvPr/>
            </p:nvSpPr>
            <p:spPr bwMode="auto">
              <a:xfrm>
                <a:off x="759460" y="1557655"/>
                <a:ext cx="10192385" cy="4421505"/>
              </a:xfrm>
              <a:prstGeom prst="rect">
                <a:avLst/>
              </a:prstGeom>
              <a:noFill/>
              <a:ln w="9525">
                <a:noFill/>
                <a:miter lim="800000"/>
              </a:ln>
            </p:spPr>
            <p:txBody>
              <a:bodyPr wrap="square">
                <a:spAutoFit/>
              </a:bodyPr>
              <a:lstStyle/>
              <a:p>
                <a:pPr algn="just">
                  <a:lnSpc>
                    <a:spcPct val="150000"/>
                  </a:lnSpc>
                  <a:tabLst>
                    <a:tab pos="190500" algn="l"/>
                    <a:tab pos="203200" algn="l"/>
                    <a:tab pos="266700" algn="l"/>
                  </a:tabLst>
                </a:pPr>
                <a:r>
                  <a:rPr lang="zh-CN" altLang="en-US" sz="3200" b="1" dirty="0">
                    <a:solidFill>
                      <a:srgbClr val="000000"/>
                    </a:solidFill>
                    <a:ea typeface="楷体" panose="02010609060101010101" pitchFamily="49" charset="-122"/>
                  </a:rPr>
                  <a:t>赋权图：</a:t>
                </a:r>
                <a:endParaRPr lang="zh-CN" altLang="en-US" sz="3200" b="1" dirty="0">
                  <a:solidFill>
                    <a:srgbClr val="000000"/>
                  </a:solidFill>
                  <a:ea typeface="楷体" panose="02010609060101010101" pitchFamily="49" charset="-122"/>
                </a:endParaRPr>
              </a:p>
              <a:p>
                <a:pPr algn="just">
                  <a:lnSpc>
                    <a:spcPct val="150000"/>
                  </a:lnSpc>
                  <a:tabLst>
                    <a:tab pos="190500" algn="l"/>
                    <a:tab pos="203200" algn="l"/>
                    <a:tab pos="266700" algn="l"/>
                  </a:tabLst>
                </a:pPr>
                <a:r>
                  <a:rPr lang="zh-CN" altLang="en-US" sz="2400" dirty="0">
                    <a:solidFill>
                      <a:srgbClr val="000000"/>
                    </a:solidFill>
                    <a:ea typeface="楷体" panose="02010609060101010101" pitchFamily="49" charset="-122"/>
                  </a:rPr>
                  <a:t>	  对无向图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𝐺</m:t>
                    </m:r>
                  </m:oMath>
                </a14:m>
                <a:r>
                  <a:rPr lang="en-US" altLang="zh-CN" sz="2400" i="1" dirty="0">
                    <a:solidFill>
                      <a:srgbClr val="000000"/>
                    </a:solidFill>
                    <a:ea typeface="楷体" panose="02010609060101010101" pitchFamily="49" charset="-122"/>
                  </a:rPr>
                  <a:t> </a:t>
                </a:r>
                <a:r>
                  <a:rPr lang="zh-CN" altLang="en-US" sz="2400" dirty="0">
                    <a:solidFill>
                      <a:srgbClr val="000000"/>
                    </a:solidFill>
                    <a:ea typeface="楷体" panose="02010609060101010101" pitchFamily="49" charset="-122"/>
                  </a:rPr>
                  <a:t>的每一条边</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m:t>
                    </m:r>
                    <m:sSub>
                      <m:sSubPr>
                        <m:ctrlPr>
                          <a:rPr lang="en-US" altLang="zh-CN" sz="2400" i="1" dirty="0">
                            <a:solidFill>
                              <a:srgbClr val="000000"/>
                            </a:solidFill>
                            <a:latin typeface="Cambria Math" panose="02040503050406030204" pitchFamily="18" charset="0"/>
                            <a:ea typeface="楷体" panose="02010609060101010101" pitchFamily="49" charset="-122"/>
                          </a:rPr>
                        </m:ctrlPr>
                      </m:sSubPr>
                      <m:e>
                        <m:r>
                          <a:rPr lang="en-US" altLang="zh-CN" sz="2400" i="1" dirty="0" err="1">
                            <a:solidFill>
                              <a:srgbClr val="000000"/>
                            </a:solidFill>
                            <a:latin typeface="Cambria Math" panose="02040503050406030204" pitchFamily="18" charset="0"/>
                            <a:ea typeface="楷体" panose="02010609060101010101" pitchFamily="49" charset="-122"/>
                          </a:rPr>
                          <m:t>𝑣</m:t>
                        </m:r>
                      </m:e>
                      <m:sub>
                        <m:r>
                          <a:rPr lang="en-US" altLang="zh-CN" sz="2400" i="1" dirty="0">
                            <a:solidFill>
                              <a:srgbClr val="000000"/>
                            </a:solidFill>
                            <a:latin typeface="Cambria Math" panose="02040503050406030204" pitchFamily="18" charset="0"/>
                            <a:ea typeface="楷体" panose="02010609060101010101" pitchFamily="49" charset="-122"/>
                          </a:rPr>
                          <m:t>𝑖</m:t>
                        </m:r>
                      </m:sub>
                    </m:sSub>
                    <m:r>
                      <a:rPr lang="en-US" altLang="zh-CN" sz="2400" i="1" dirty="0">
                        <a:solidFill>
                          <a:srgbClr val="000000"/>
                        </a:solidFill>
                        <a:latin typeface="Cambria Math" panose="02040503050406030204" pitchFamily="18" charset="0"/>
                        <a:ea typeface="楷体" panose="02010609060101010101" pitchFamily="49" charset="-122"/>
                      </a:rPr>
                      <m:t>,</m:t>
                    </m:r>
                    <m:sSub>
                      <m:sSubPr>
                        <m:ctrlPr>
                          <a:rPr lang="en-US" altLang="zh-CN" sz="2400" i="1" dirty="0">
                            <a:solidFill>
                              <a:srgbClr val="000000"/>
                            </a:solidFill>
                            <a:latin typeface="Cambria Math" panose="02040503050406030204" pitchFamily="18" charset="0"/>
                            <a:ea typeface="楷体" panose="02010609060101010101" pitchFamily="49" charset="-122"/>
                          </a:rPr>
                        </m:ctrlPr>
                      </m:sSubPr>
                      <m:e>
                        <m:r>
                          <a:rPr lang="en-US" altLang="zh-CN" sz="2400" i="1" dirty="0" err="1">
                            <a:solidFill>
                              <a:srgbClr val="000000"/>
                            </a:solidFill>
                            <a:latin typeface="Cambria Math" panose="02040503050406030204" pitchFamily="18" charset="0"/>
                            <a:ea typeface="楷体" panose="02010609060101010101" pitchFamily="49" charset="-122"/>
                          </a:rPr>
                          <m:t>𝑣</m:t>
                        </m:r>
                      </m:e>
                      <m:sub>
                        <m:r>
                          <a:rPr lang="en-US" altLang="zh-CN" sz="2400" i="1" dirty="0">
                            <a:solidFill>
                              <a:srgbClr val="000000"/>
                            </a:solidFill>
                            <a:latin typeface="Cambria Math" panose="02040503050406030204" pitchFamily="18" charset="0"/>
                            <a:ea typeface="楷体" panose="02010609060101010101" pitchFamily="49" charset="-122"/>
                          </a:rPr>
                          <m:t>𝑗</m:t>
                        </m:r>
                      </m:sub>
                    </m:sSub>
                    <m:r>
                      <a:rPr lang="en-US" altLang="zh-CN" sz="2400" i="1" dirty="0">
                        <a:solidFill>
                          <a:srgbClr val="000000"/>
                        </a:solidFill>
                        <a:latin typeface="Cambria Math" panose="02040503050406030204" pitchFamily="18" charset="0"/>
                        <a:ea typeface="楷体" panose="02010609060101010101" pitchFamily="49" charset="-122"/>
                      </a:rPr>
                      <m:t>)</m:t>
                    </m:r>
                  </m:oMath>
                </a14:m>
                <a:r>
                  <a:rPr lang="zh-CN" altLang="en-US" sz="2400" dirty="0">
                    <a:solidFill>
                      <a:srgbClr val="000000"/>
                    </a:solidFill>
                    <a:ea typeface="楷体" panose="02010609060101010101" pitchFamily="49" charset="-122"/>
                  </a:rPr>
                  <a:t>，相应有一个数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𝑤</m:t>
                    </m:r>
                    <m:r>
                      <a:rPr lang="en-US" altLang="zh-CN" sz="2400" i="1" baseline="-25000" dirty="0" err="1">
                        <a:solidFill>
                          <a:srgbClr val="000000"/>
                        </a:solidFill>
                        <a:latin typeface="Cambria Math" panose="02040503050406030204" pitchFamily="18" charset="0"/>
                        <a:ea typeface="楷体" panose="02010609060101010101" pitchFamily="49" charset="-122"/>
                      </a:rPr>
                      <m:t>𝑖𝑗</m:t>
                    </m:r>
                  </m:oMath>
                </a14:m>
                <a:r>
                  <a:rPr lang="zh-CN" altLang="en-US" sz="2400" dirty="0">
                    <a:solidFill>
                      <a:srgbClr val="000000"/>
                    </a:solidFill>
                    <a:ea typeface="楷体" panose="02010609060101010101" pitchFamily="49" charset="-122"/>
                  </a:rPr>
                  <a:t>，则称图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𝐺</m:t>
                    </m:r>
                  </m:oMath>
                </a14:m>
                <a:r>
                  <a:rPr lang="en-US" altLang="zh-CN" sz="2400" i="1" dirty="0">
                    <a:solidFill>
                      <a:srgbClr val="000000"/>
                    </a:solidFill>
                    <a:ea typeface="楷体" panose="02010609060101010101" pitchFamily="49" charset="-122"/>
                  </a:rPr>
                  <a:t> </a:t>
                </a:r>
                <a:r>
                  <a:rPr lang="zh-CN" altLang="en-US" sz="2400" dirty="0">
                    <a:solidFill>
                      <a:srgbClr val="000000"/>
                    </a:solidFill>
                    <a:ea typeface="楷体" panose="02010609060101010101" pitchFamily="49" charset="-122"/>
                  </a:rPr>
                  <a:t>为</a:t>
                </a:r>
                <a:r>
                  <a:rPr lang="zh-CN" altLang="en-US" sz="2400" dirty="0">
                    <a:solidFill>
                      <a:srgbClr val="FF0000"/>
                    </a:solidFill>
                    <a:ea typeface="楷体" panose="02010609060101010101" pitchFamily="49" charset="-122"/>
                  </a:rPr>
                  <a:t>赋权图</a:t>
                </a:r>
                <a:r>
                  <a:rPr lang="zh-CN" altLang="en-US" sz="2400" dirty="0">
                    <a:solidFill>
                      <a:srgbClr val="000000"/>
                    </a:solidFill>
                    <a:ea typeface="楷体" panose="02010609060101010101" pitchFamily="49" charset="-122"/>
                  </a:rPr>
                  <a:t>，</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𝑤</m:t>
                    </m:r>
                    <m:r>
                      <a:rPr lang="en-US" altLang="zh-CN" sz="2400" i="1" baseline="-25000" dirty="0" err="1">
                        <a:solidFill>
                          <a:srgbClr val="000000"/>
                        </a:solidFill>
                        <a:latin typeface="Cambria Math" panose="02040503050406030204" pitchFamily="18" charset="0"/>
                        <a:ea typeface="楷体" panose="02010609060101010101" pitchFamily="49" charset="-122"/>
                      </a:rPr>
                      <m:t>𝑖𝑗</m:t>
                    </m:r>
                    <m:r>
                      <a:rPr lang="en-US" altLang="zh-CN" sz="2400" i="1" baseline="-25000" dirty="0">
                        <a:solidFill>
                          <a:srgbClr val="000000"/>
                        </a:solidFill>
                        <a:latin typeface="Cambria Math" panose="02040503050406030204" pitchFamily="18" charset="0"/>
                        <a:ea typeface="楷体" panose="02010609060101010101" pitchFamily="49" charset="-122"/>
                      </a:rPr>
                      <m:t> </m:t>
                    </m:r>
                  </m:oMath>
                </a14:m>
                <a:r>
                  <a:rPr lang="zh-CN" altLang="en-US" sz="2400" dirty="0">
                    <a:solidFill>
                      <a:srgbClr val="000000"/>
                    </a:solidFill>
                    <a:ea typeface="楷体" panose="02010609060101010101" pitchFamily="49" charset="-122"/>
                  </a:rPr>
                  <a:t>称为边</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m:t>
                    </m:r>
                    <m:sSub>
                      <m:sSubPr>
                        <m:ctrlPr>
                          <a:rPr lang="en-US" altLang="zh-CN" sz="2400" b="0" i="1" dirty="0" smtClean="0">
                            <a:solidFill>
                              <a:srgbClr val="000000"/>
                            </a:solidFill>
                            <a:latin typeface="Cambria Math" panose="02040503050406030204" pitchFamily="18" charset="0"/>
                            <a:ea typeface="楷体" panose="02010609060101010101" pitchFamily="49" charset="-122"/>
                          </a:rPr>
                        </m:ctrlPr>
                      </m:sSubPr>
                      <m:e>
                        <m:r>
                          <a:rPr lang="en-US" altLang="zh-CN" sz="2400" i="1" dirty="0" err="1">
                            <a:solidFill>
                              <a:srgbClr val="000000"/>
                            </a:solidFill>
                            <a:latin typeface="Cambria Math" panose="02040503050406030204" pitchFamily="18" charset="0"/>
                            <a:ea typeface="楷体" panose="02010609060101010101" pitchFamily="49" charset="-122"/>
                          </a:rPr>
                          <m:t>𝑣</m:t>
                        </m:r>
                      </m:e>
                      <m:sub>
                        <m:r>
                          <a:rPr lang="en-US" altLang="zh-CN" sz="2400" b="0" i="1" dirty="0" smtClean="0">
                            <a:solidFill>
                              <a:srgbClr val="000000"/>
                            </a:solidFill>
                            <a:latin typeface="Cambria Math" panose="02040503050406030204" pitchFamily="18" charset="0"/>
                            <a:ea typeface="楷体" panose="02010609060101010101" pitchFamily="49" charset="-122"/>
                          </a:rPr>
                          <m:t>𝑖</m:t>
                        </m:r>
                      </m:sub>
                    </m:sSub>
                    <m:r>
                      <a:rPr lang="en-US" altLang="zh-CN" sz="2400" b="0" i="1" dirty="0" smtClean="0">
                        <a:solidFill>
                          <a:srgbClr val="000000"/>
                        </a:solidFill>
                        <a:latin typeface="Cambria Math" panose="02040503050406030204" pitchFamily="18" charset="0"/>
                        <a:ea typeface="楷体" panose="02010609060101010101" pitchFamily="49" charset="-122"/>
                      </a:rPr>
                      <m:t>,</m:t>
                    </m:r>
                    <m:sSub>
                      <m:sSubPr>
                        <m:ctrlPr>
                          <a:rPr lang="en-US" altLang="zh-CN" sz="2400" b="0" i="1" dirty="0" smtClean="0">
                            <a:solidFill>
                              <a:srgbClr val="000000"/>
                            </a:solidFill>
                            <a:latin typeface="Cambria Math" panose="02040503050406030204" pitchFamily="18" charset="0"/>
                            <a:ea typeface="楷体" panose="02010609060101010101" pitchFamily="49" charset="-122"/>
                          </a:rPr>
                        </m:ctrlPr>
                      </m:sSubPr>
                      <m:e>
                        <m:r>
                          <a:rPr lang="en-US" altLang="zh-CN" sz="2400" i="1" dirty="0" err="1">
                            <a:solidFill>
                              <a:srgbClr val="000000"/>
                            </a:solidFill>
                            <a:latin typeface="Cambria Math" panose="02040503050406030204" pitchFamily="18" charset="0"/>
                            <a:ea typeface="楷体" panose="02010609060101010101" pitchFamily="49" charset="-122"/>
                          </a:rPr>
                          <m:t>𝑣</m:t>
                        </m:r>
                      </m:e>
                      <m:sub>
                        <m:r>
                          <a:rPr lang="en-US" altLang="zh-CN" sz="2400" b="0" i="1" dirty="0" smtClean="0">
                            <a:solidFill>
                              <a:srgbClr val="000000"/>
                            </a:solidFill>
                            <a:latin typeface="Cambria Math" panose="02040503050406030204" pitchFamily="18" charset="0"/>
                            <a:ea typeface="楷体" panose="02010609060101010101" pitchFamily="49" charset="-122"/>
                          </a:rPr>
                          <m:t>𝑗</m:t>
                        </m:r>
                      </m:sub>
                    </m:sSub>
                    <m:r>
                      <a:rPr lang="en-US" altLang="zh-CN" sz="2400" i="1" dirty="0">
                        <a:solidFill>
                          <a:srgbClr val="000000"/>
                        </a:solidFill>
                        <a:latin typeface="Cambria Math" panose="02040503050406030204" pitchFamily="18" charset="0"/>
                        <a:ea typeface="楷体" panose="02010609060101010101" pitchFamily="49" charset="-122"/>
                      </a:rPr>
                      <m:t>)</m:t>
                    </m:r>
                  </m:oMath>
                </a14:m>
                <a:r>
                  <a:rPr lang="zh-CN" altLang="en-US" sz="2400" dirty="0">
                    <a:solidFill>
                      <a:srgbClr val="000000"/>
                    </a:solidFill>
                    <a:ea typeface="楷体" panose="02010609060101010101" pitchFamily="49" charset="-122"/>
                  </a:rPr>
                  <a:t>上的</a:t>
                </a:r>
                <a:r>
                  <a:rPr lang="zh-CN" altLang="en-US" sz="2400" dirty="0">
                    <a:solidFill>
                      <a:srgbClr val="FF0000"/>
                    </a:solidFill>
                    <a:ea typeface="楷体" panose="02010609060101010101" pitchFamily="49" charset="-122"/>
                  </a:rPr>
                  <a:t>权</a:t>
                </a:r>
                <a:r>
                  <a:rPr lang="zh-CN" altLang="en-US" sz="2400" dirty="0">
                    <a:solidFill>
                      <a:srgbClr val="000000"/>
                    </a:solidFill>
                    <a:ea typeface="楷体" panose="02010609060101010101" pitchFamily="49" charset="-122"/>
                  </a:rPr>
                  <a:t>。</a:t>
                </a:r>
                <a:endParaRPr lang="zh-CN" altLang="en-US" sz="2400" dirty="0">
                  <a:solidFill>
                    <a:srgbClr val="000000"/>
                  </a:solidFill>
                  <a:ea typeface="楷体" panose="02010609060101010101" pitchFamily="49" charset="-122"/>
                </a:endParaRPr>
              </a:p>
              <a:p>
                <a:pPr algn="just">
                  <a:lnSpc>
                    <a:spcPct val="150000"/>
                  </a:lnSpc>
                  <a:tabLst>
                    <a:tab pos="190500" algn="l"/>
                    <a:tab pos="203200" algn="l"/>
                    <a:tab pos="266700" algn="l"/>
                  </a:tabLst>
                </a:pPr>
                <a:r>
                  <a:rPr lang="zh-CN" altLang="en-US" sz="3200" b="1" dirty="0">
                    <a:solidFill>
                      <a:srgbClr val="000000"/>
                    </a:solidFill>
                    <a:ea typeface="楷体" panose="02010609060101010101" pitchFamily="49" charset="-122"/>
                  </a:rPr>
                  <a:t>网络：</a:t>
                </a:r>
                <a:endParaRPr lang="zh-CN" altLang="en-US" sz="3200" b="1" dirty="0">
                  <a:solidFill>
                    <a:srgbClr val="000000"/>
                  </a:solidFill>
                  <a:ea typeface="楷体" panose="02010609060101010101" pitchFamily="49" charset="-122"/>
                </a:endParaRPr>
              </a:p>
              <a:p>
                <a:pPr algn="just">
                  <a:lnSpc>
                    <a:spcPct val="150000"/>
                  </a:lnSpc>
                  <a:tabLst>
                    <a:tab pos="190500" algn="l"/>
                    <a:tab pos="203200" algn="l"/>
                    <a:tab pos="266700" algn="l"/>
                  </a:tabLst>
                </a:pPr>
                <a:r>
                  <a:rPr lang="zh-CN" altLang="en-US" sz="2400" dirty="0">
                    <a:solidFill>
                      <a:srgbClr val="000000"/>
                    </a:solidFill>
                    <a:ea typeface="楷体" panose="02010609060101010101" pitchFamily="49" charset="-122"/>
                  </a:rPr>
                  <a:t>	  在赋权的有向图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𝐷</m:t>
                    </m:r>
                    <m:r>
                      <a:rPr lang="en-US" altLang="zh-CN" sz="2400" i="1" dirty="0" smtClean="0">
                        <a:solidFill>
                          <a:srgbClr val="000000"/>
                        </a:solidFill>
                        <a:latin typeface="Cambria Math" panose="02040503050406030204" pitchFamily="18" charset="0"/>
                        <a:ea typeface="楷体" panose="02010609060101010101" pitchFamily="49" charset="-122"/>
                      </a:rPr>
                      <m:t> </m:t>
                    </m:r>
                  </m:oMath>
                </a14:m>
                <a:r>
                  <a:rPr lang="zh-CN" altLang="en-US" sz="2400" dirty="0">
                    <a:solidFill>
                      <a:srgbClr val="000000"/>
                    </a:solidFill>
                    <a:ea typeface="楷体" panose="02010609060101010101" pitchFamily="49" charset="-122"/>
                  </a:rPr>
                  <a:t>中指定一点，称为</a:t>
                </a:r>
                <a:r>
                  <a:rPr lang="zh-CN" altLang="en-US" sz="2400" dirty="0">
                    <a:solidFill>
                      <a:srgbClr val="FF0000"/>
                    </a:solidFill>
                    <a:ea typeface="楷体" panose="02010609060101010101" pitchFamily="49" charset="-122"/>
                  </a:rPr>
                  <a:t>发点</a:t>
                </a:r>
                <a:r>
                  <a:rPr lang="en-US" altLang="zh-CN" sz="2400" dirty="0">
                    <a:solidFill>
                      <a:srgbClr val="000000"/>
                    </a:solidFill>
                    <a:ea typeface="楷体" panose="02010609060101010101" pitchFamily="49" charset="-122"/>
                  </a:rPr>
                  <a:t>(</a:t>
                </a:r>
                <a:r>
                  <a:rPr lang="zh-CN" altLang="en-US" sz="2400" dirty="0">
                    <a:solidFill>
                      <a:srgbClr val="000000"/>
                    </a:solidFill>
                    <a:ea typeface="楷体" panose="02010609060101010101" pitchFamily="49" charset="-122"/>
                  </a:rPr>
                  <a:t>记为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𝑣</m:t>
                    </m:r>
                    <m:r>
                      <a:rPr lang="en-US" altLang="zh-CN" sz="2400" i="1" baseline="-25000" dirty="0">
                        <a:solidFill>
                          <a:srgbClr val="000000"/>
                        </a:solidFill>
                        <a:latin typeface="Cambria Math" panose="02040503050406030204" pitchFamily="18" charset="0"/>
                        <a:ea typeface="楷体" panose="02010609060101010101" pitchFamily="49" charset="-122"/>
                      </a:rPr>
                      <m:t>𝑠</m:t>
                    </m:r>
                  </m:oMath>
                </a14:m>
                <a:r>
                  <a:rPr lang="en-US" altLang="zh-CN" sz="2400" dirty="0">
                    <a:solidFill>
                      <a:srgbClr val="000000"/>
                    </a:solidFill>
                    <a:ea typeface="楷体" panose="02010609060101010101" pitchFamily="49" charset="-122"/>
                  </a:rPr>
                  <a:t>)</a:t>
                </a:r>
                <a:r>
                  <a:rPr lang="zh-CN" altLang="en-US" sz="2400" dirty="0">
                    <a:solidFill>
                      <a:srgbClr val="000000"/>
                    </a:solidFill>
                    <a:ea typeface="楷体" panose="02010609060101010101" pitchFamily="49" charset="-122"/>
                  </a:rPr>
                  <a:t>，指定另一点为</a:t>
                </a:r>
                <a:r>
                  <a:rPr lang="zh-CN" altLang="en-US" sz="2400" dirty="0">
                    <a:solidFill>
                      <a:srgbClr val="FF0000"/>
                    </a:solidFill>
                    <a:ea typeface="楷体" panose="02010609060101010101" pitchFamily="49" charset="-122"/>
                  </a:rPr>
                  <a:t>收点</a:t>
                </a:r>
                <a:r>
                  <a:rPr lang="en-US" altLang="zh-CN" sz="2400" dirty="0">
                    <a:solidFill>
                      <a:srgbClr val="000000"/>
                    </a:solidFill>
                    <a:ea typeface="楷体" panose="02010609060101010101" pitchFamily="49" charset="-122"/>
                  </a:rPr>
                  <a:t>(</a:t>
                </a:r>
                <a:r>
                  <a:rPr lang="zh-CN" altLang="en-US" sz="2400" dirty="0">
                    <a:solidFill>
                      <a:srgbClr val="000000"/>
                    </a:solidFill>
                    <a:ea typeface="楷体" panose="02010609060101010101" pitchFamily="49" charset="-122"/>
                  </a:rPr>
                  <a:t>记为</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𝑣</m:t>
                    </m:r>
                    <m:r>
                      <a:rPr lang="en-US" altLang="zh-CN" sz="2400" i="1" baseline="-25000" dirty="0" err="1">
                        <a:solidFill>
                          <a:srgbClr val="000000"/>
                        </a:solidFill>
                        <a:latin typeface="Cambria Math" panose="02040503050406030204" pitchFamily="18" charset="0"/>
                        <a:ea typeface="楷体" panose="02010609060101010101" pitchFamily="49" charset="-122"/>
                      </a:rPr>
                      <m:t>𝑡</m:t>
                    </m:r>
                  </m:oMath>
                </a14:m>
                <a:r>
                  <a:rPr lang="en-US" altLang="zh-CN" sz="2400" dirty="0">
                    <a:solidFill>
                      <a:srgbClr val="000000"/>
                    </a:solidFill>
                    <a:ea typeface="楷体" panose="02010609060101010101" pitchFamily="49" charset="-122"/>
                  </a:rPr>
                  <a:t>)</a:t>
                </a:r>
                <a:r>
                  <a:rPr lang="zh-CN" altLang="en-US" sz="2400" dirty="0">
                    <a:solidFill>
                      <a:srgbClr val="000000"/>
                    </a:solidFill>
                    <a:ea typeface="楷体" panose="02010609060101010101" pitchFamily="49" charset="-122"/>
                  </a:rPr>
                  <a:t>，其余点称为中间点，并把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𝐷</m:t>
                    </m:r>
                  </m:oMath>
                </a14:m>
                <a:r>
                  <a:rPr lang="en-US" altLang="zh-CN" sz="2400" i="1" dirty="0">
                    <a:solidFill>
                      <a:srgbClr val="000000"/>
                    </a:solidFill>
                    <a:ea typeface="楷体" panose="02010609060101010101" pitchFamily="49" charset="-122"/>
                  </a:rPr>
                  <a:t> </a:t>
                </a:r>
                <a:r>
                  <a:rPr lang="zh-CN" altLang="en-US" sz="2400" dirty="0">
                    <a:solidFill>
                      <a:srgbClr val="000000"/>
                    </a:solidFill>
                    <a:ea typeface="楷体" panose="02010609060101010101" pitchFamily="49" charset="-122"/>
                  </a:rPr>
                  <a:t>中的每一条弧的赋权数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𝑐</m:t>
                    </m:r>
                    <m:r>
                      <a:rPr lang="en-US" altLang="zh-CN" sz="2400" i="1" baseline="-25000" dirty="0" err="1">
                        <a:solidFill>
                          <a:srgbClr val="000000"/>
                        </a:solidFill>
                        <a:latin typeface="Cambria Math" panose="02040503050406030204" pitchFamily="18" charset="0"/>
                        <a:ea typeface="楷体" panose="02010609060101010101" pitchFamily="49" charset="-122"/>
                      </a:rPr>
                      <m:t>𝑖𝑗</m:t>
                    </m:r>
                  </m:oMath>
                </a14:m>
                <a:r>
                  <a:rPr lang="en-US" altLang="zh-CN" sz="2400" i="1" dirty="0">
                    <a:solidFill>
                      <a:srgbClr val="000000"/>
                    </a:solidFill>
                    <a:ea typeface="楷体" panose="02010609060101010101" pitchFamily="49" charset="-122"/>
                  </a:rPr>
                  <a:t> </a:t>
                </a:r>
                <a:r>
                  <a:rPr lang="zh-CN" altLang="en-US" sz="2400" dirty="0">
                    <a:solidFill>
                      <a:srgbClr val="000000"/>
                    </a:solidFill>
                    <a:ea typeface="楷体" panose="02010609060101010101" pitchFamily="49" charset="-122"/>
                  </a:rPr>
                  <a:t>称为弧</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m:t>
                    </m:r>
                    <m:sSub>
                      <m:sSubPr>
                        <m:ctrlPr>
                          <a:rPr lang="en-US" altLang="zh-CN" sz="2400" i="1" dirty="0">
                            <a:solidFill>
                              <a:srgbClr val="000000"/>
                            </a:solidFill>
                            <a:latin typeface="Cambria Math" panose="02040503050406030204" pitchFamily="18" charset="0"/>
                            <a:ea typeface="楷体" panose="02010609060101010101" pitchFamily="49" charset="-122"/>
                          </a:rPr>
                        </m:ctrlPr>
                      </m:sSubPr>
                      <m:e>
                        <m:r>
                          <a:rPr lang="en-US" altLang="zh-CN" sz="2400" i="1" dirty="0" err="1">
                            <a:solidFill>
                              <a:srgbClr val="000000"/>
                            </a:solidFill>
                            <a:latin typeface="Cambria Math" panose="02040503050406030204" pitchFamily="18" charset="0"/>
                            <a:ea typeface="楷体" panose="02010609060101010101" pitchFamily="49" charset="-122"/>
                          </a:rPr>
                          <m:t>𝑣</m:t>
                        </m:r>
                      </m:e>
                      <m:sub>
                        <m:r>
                          <a:rPr lang="en-US" altLang="zh-CN" sz="2400" i="1" dirty="0">
                            <a:solidFill>
                              <a:srgbClr val="000000"/>
                            </a:solidFill>
                            <a:latin typeface="Cambria Math" panose="02040503050406030204" pitchFamily="18" charset="0"/>
                            <a:ea typeface="楷体" panose="02010609060101010101" pitchFamily="49" charset="-122"/>
                          </a:rPr>
                          <m:t>𝑖</m:t>
                        </m:r>
                      </m:sub>
                    </m:sSub>
                    <m:r>
                      <a:rPr lang="en-US" altLang="zh-CN" sz="2400" i="1" dirty="0">
                        <a:solidFill>
                          <a:srgbClr val="000000"/>
                        </a:solidFill>
                        <a:latin typeface="Cambria Math" panose="02040503050406030204" pitchFamily="18" charset="0"/>
                        <a:ea typeface="楷体" panose="02010609060101010101" pitchFamily="49" charset="-122"/>
                      </a:rPr>
                      <m:t>,</m:t>
                    </m:r>
                    <m:sSub>
                      <m:sSubPr>
                        <m:ctrlPr>
                          <a:rPr lang="en-US" altLang="zh-CN" sz="2400" i="1" dirty="0">
                            <a:solidFill>
                              <a:srgbClr val="000000"/>
                            </a:solidFill>
                            <a:latin typeface="Cambria Math" panose="02040503050406030204" pitchFamily="18" charset="0"/>
                            <a:ea typeface="楷体" panose="02010609060101010101" pitchFamily="49" charset="-122"/>
                          </a:rPr>
                        </m:ctrlPr>
                      </m:sSubPr>
                      <m:e>
                        <m:r>
                          <a:rPr lang="en-US" altLang="zh-CN" sz="2400" i="1" dirty="0" err="1">
                            <a:solidFill>
                              <a:srgbClr val="000000"/>
                            </a:solidFill>
                            <a:latin typeface="Cambria Math" panose="02040503050406030204" pitchFamily="18" charset="0"/>
                            <a:ea typeface="楷体" panose="02010609060101010101" pitchFamily="49" charset="-122"/>
                          </a:rPr>
                          <m:t>𝑣</m:t>
                        </m:r>
                      </m:e>
                      <m:sub>
                        <m:r>
                          <a:rPr lang="en-US" altLang="zh-CN" sz="2400" i="1" dirty="0">
                            <a:solidFill>
                              <a:srgbClr val="000000"/>
                            </a:solidFill>
                            <a:latin typeface="Cambria Math" panose="02040503050406030204" pitchFamily="18" charset="0"/>
                            <a:ea typeface="楷体" panose="02010609060101010101" pitchFamily="49" charset="-122"/>
                          </a:rPr>
                          <m:t>𝑗</m:t>
                        </m:r>
                      </m:sub>
                    </m:sSub>
                    <m:r>
                      <a:rPr lang="en-US" altLang="zh-CN" sz="2400" i="1" dirty="0">
                        <a:solidFill>
                          <a:srgbClr val="000000"/>
                        </a:solidFill>
                        <a:latin typeface="Cambria Math" panose="02040503050406030204" pitchFamily="18" charset="0"/>
                        <a:ea typeface="楷体" panose="02010609060101010101" pitchFamily="49" charset="-122"/>
                      </a:rPr>
                      <m:t>)</m:t>
                    </m:r>
                  </m:oMath>
                </a14:m>
                <a:r>
                  <a:rPr lang="zh-CN" altLang="en-US" sz="2400" dirty="0">
                    <a:solidFill>
                      <a:srgbClr val="000000"/>
                    </a:solidFill>
                    <a:ea typeface="楷体" panose="02010609060101010101" pitchFamily="49" charset="-122"/>
                  </a:rPr>
                  <a:t>的容量，这样的赋权有向图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rPr>
                      <m:t>𝐷</m:t>
                    </m:r>
                    <m:r>
                      <a:rPr lang="en-US" altLang="zh-CN" sz="2400" i="1" dirty="0" smtClean="0">
                        <a:solidFill>
                          <a:srgbClr val="000000"/>
                        </a:solidFill>
                        <a:latin typeface="Cambria Math" panose="02040503050406030204" pitchFamily="18" charset="0"/>
                        <a:ea typeface="楷体" panose="02010609060101010101" pitchFamily="49" charset="-122"/>
                      </a:rPr>
                      <m:t> </m:t>
                    </m:r>
                  </m:oMath>
                </a14:m>
                <a:r>
                  <a:rPr lang="zh-CN" altLang="en-US" sz="2400" dirty="0">
                    <a:solidFill>
                      <a:srgbClr val="000000"/>
                    </a:solidFill>
                    <a:ea typeface="楷体" panose="02010609060101010101" pitchFamily="49" charset="-122"/>
                  </a:rPr>
                  <a:t>称为网络。</a:t>
                </a:r>
                <a:endParaRPr lang="zh-CN" altLang="en-US" sz="2400" dirty="0">
                  <a:solidFill>
                    <a:srgbClr val="000000"/>
                  </a:solidFill>
                  <a:ea typeface="楷体" panose="02010609060101010101" pitchFamily="49" charset="-122"/>
                </a:endParaRPr>
              </a:p>
            </p:txBody>
          </p:sp>
        </mc:Choice>
        <mc:Fallback>
          <p:sp>
            <p:nvSpPr>
              <p:cNvPr id="12" name="矩形 11"/>
              <p:cNvSpPr>
                <a:spLocks noRot="1" noChangeAspect="1" noMove="1" noResize="1" noEditPoints="1" noAdjustHandles="1" noChangeArrowheads="1" noChangeShapeType="1" noTextEdit="1"/>
              </p:cNvSpPr>
              <p:nvPr/>
            </p:nvSpPr>
            <p:spPr bwMode="auto">
              <a:xfrm>
                <a:off x="759460" y="1557655"/>
                <a:ext cx="10192385" cy="4421505"/>
              </a:xfrm>
              <a:prstGeom prst="rect">
                <a:avLst/>
              </a:prstGeom>
              <a:blipFill rotWithShape="1">
                <a:blip r:embed="rId1"/>
                <a:stretch>
                  <a:fillRect/>
                </a:stretch>
              </a:blipFill>
              <a:ln w="9525">
                <a:noFill/>
                <a:miter lim="800000"/>
              </a:ln>
            </p:spPr>
            <p:txBody>
              <a:bodyPr/>
              <a:lstStyle/>
              <a:p>
                <a:r>
                  <a:rPr lang="zh-CN" altLang="en-US">
                    <a:noFill/>
                  </a:rPr>
                  <a:t> </a:t>
                </a:r>
              </a:p>
            </p:txBody>
          </p:sp>
        </mc:Fallback>
      </mc:AlternateContent>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图与网络的基本概念</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 calcmode="lin" valueType="num">
                                      <p:cBhvr additive="base">
                                        <p:cTn id="13" dur="500" fill="hold"/>
                                        <p:tgtEl>
                                          <p:spTgt spid="1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anim calcmode="lin" valueType="num">
                                      <p:cBhvr additive="base">
                                        <p:cTn id="19" dur="500" fill="hold"/>
                                        <p:tgtEl>
                                          <p:spTgt spid="1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anim calcmode="lin" valueType="num">
                                      <p:cBhvr additive="base">
                                        <p:cTn id="25" dur="500" fill="hold"/>
                                        <p:tgtEl>
                                          <p:spTgt spid="1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最小生成树问题</a:t>
            </a:r>
            <a:endParaRPr lang="zh-CN" altLang="en-US" dirty="0"/>
          </a:p>
        </p:txBody>
      </p:sp>
      <p:sp>
        <p:nvSpPr>
          <p:cNvPr id="3" name="内容占位符 2"/>
          <p:cNvSpPr>
            <a:spLocks noGrp="1"/>
          </p:cNvSpPr>
          <p:nvPr>
            <p:ph idx="1"/>
          </p:nvPr>
        </p:nvSpPr>
        <p:spPr>
          <a:xfrm>
            <a:off x="838200" y="1362075"/>
            <a:ext cx="10515600" cy="4518025"/>
          </a:xfrm>
        </p:spPr>
        <p:txBody>
          <a:bodyPr>
            <a:normAutofit lnSpcReduction="20000"/>
          </a:bodyPr>
          <a:lstStyle/>
          <a:p>
            <a:r>
              <a:rPr lang="zh-CN" altLang="en-US" dirty="0"/>
              <a:t>树是一种无圈连通图，记为</a:t>
            </a:r>
            <a:r>
              <a:rPr lang="en-US" altLang="zh-CN" dirty="0"/>
              <a:t>T(V,E)</a:t>
            </a:r>
            <a:endParaRPr lang="en-US" altLang="zh-CN" dirty="0"/>
          </a:p>
          <a:p>
            <a:pPr marL="228600" lvl="0" indent="-228600">
              <a:buFont typeface="Arial" panose="020B0604020202020204" pitchFamily="34" charset="0"/>
              <a:buChar char="•"/>
            </a:pPr>
            <a:r>
              <a:rPr lang="zh-CN" altLang="en-US" sz="2800" dirty="0">
                <a:sym typeface="+mn-ea"/>
              </a:rPr>
              <a:t>树的性质与判定：</a:t>
            </a:r>
            <a:endParaRPr lang="zh-CN" altLang="en-US" sz="2800" dirty="0">
              <a:solidFill>
                <a:schemeClr val="tx1"/>
              </a:solidFill>
            </a:endParaRPr>
          </a:p>
          <a:p>
            <a:pPr marL="685800" lvl="1" indent="-228600">
              <a:buFont typeface="Arial" panose="020B0604020202020204" pitchFamily="34" charset="0"/>
              <a:buChar char="•"/>
            </a:pPr>
            <a:r>
              <a:rPr lang="zh-CN" altLang="en-US" sz="2800" dirty="0">
                <a:sym typeface="+mn-ea"/>
              </a:rPr>
              <a:t>无圈图，且边数</a:t>
            </a:r>
            <a:r>
              <a:rPr lang="en-US" altLang="zh-CN" sz="2800" dirty="0">
                <a:sym typeface="+mn-ea"/>
              </a:rPr>
              <a:t>=</a:t>
            </a:r>
            <a:r>
              <a:rPr lang="zh-CN" altLang="en-US" sz="2800" dirty="0">
                <a:sym typeface="+mn-ea"/>
              </a:rPr>
              <a:t>顶点数</a:t>
            </a:r>
            <a:r>
              <a:rPr lang="en-US" altLang="zh-CN" sz="2800" dirty="0">
                <a:sym typeface="+mn-ea"/>
              </a:rPr>
              <a:t>-1</a:t>
            </a:r>
            <a:endParaRPr lang="en-US" altLang="zh-CN" sz="2800" dirty="0">
              <a:solidFill>
                <a:schemeClr val="tx1"/>
              </a:solidFill>
            </a:endParaRPr>
          </a:p>
          <a:p>
            <a:pPr marL="685800" lvl="1" indent="-228600">
              <a:buFont typeface="Arial" panose="020B0604020202020204" pitchFamily="34" charset="0"/>
              <a:buChar char="•"/>
            </a:pPr>
            <a:r>
              <a:rPr lang="zh-CN" altLang="en-US" sz="2800" dirty="0">
                <a:sym typeface="+mn-ea"/>
              </a:rPr>
              <a:t>连通图，</a:t>
            </a:r>
            <a:r>
              <a:rPr lang="zh-CN" altLang="en-US" sz="2800" dirty="0">
                <a:sym typeface="+mn-ea"/>
              </a:rPr>
              <a:t>且边数</a:t>
            </a:r>
            <a:r>
              <a:rPr lang="en-US" altLang="zh-CN" sz="2800" dirty="0">
                <a:sym typeface="+mn-ea"/>
              </a:rPr>
              <a:t>=</a:t>
            </a:r>
            <a:r>
              <a:rPr lang="zh-CN" altLang="en-US" sz="2800" dirty="0">
                <a:sym typeface="+mn-ea"/>
              </a:rPr>
              <a:t>顶点数</a:t>
            </a:r>
            <a:r>
              <a:rPr lang="en-US" altLang="zh-CN" sz="2800" dirty="0">
                <a:sym typeface="+mn-ea"/>
              </a:rPr>
              <a:t>-1</a:t>
            </a:r>
            <a:endParaRPr lang="en-US" altLang="zh-CN" sz="2800" dirty="0">
              <a:sym typeface="+mn-ea"/>
            </a:endParaRPr>
          </a:p>
          <a:p>
            <a:pPr marL="685800" lvl="1" indent="-228600">
              <a:buFont typeface="Arial" panose="020B0604020202020204" pitchFamily="34" charset="0"/>
              <a:buChar char="•"/>
            </a:pPr>
            <a:r>
              <a:rPr lang="zh-CN" altLang="en-US" sz="2800" dirty="0">
                <a:sym typeface="+mn-ea"/>
              </a:rPr>
              <a:t>任意两个顶点之间有且仅有一条链</a:t>
            </a:r>
            <a:endParaRPr lang="zh-CN" altLang="en-US" sz="2800" dirty="0">
              <a:sym typeface="+mn-ea"/>
            </a:endParaRPr>
          </a:p>
          <a:p>
            <a:endParaRPr lang="en-US" altLang="zh-CN" dirty="0"/>
          </a:p>
          <a:p>
            <a:pPr marL="0" lvl="0" indent="0">
              <a:buFont typeface="Arial" panose="020B0604020202020204" pitchFamily="34" charset="0"/>
              <a:buNone/>
            </a:pPr>
            <a:endParaRPr lang="en-US" altLang="zh-CN" dirty="0"/>
          </a:p>
        </p:txBody>
      </p:sp>
      <p:pic>
        <p:nvPicPr>
          <p:cNvPr id="10242" name="Picture 2"/>
          <p:cNvPicPr>
            <a:picLocks noChangeAspect="1" noChangeArrowheads="1"/>
          </p:cNvPicPr>
          <p:nvPr/>
        </p:nvPicPr>
        <p:blipFill>
          <a:blip r:embed="rId1"/>
          <a:srcRect/>
          <a:stretch>
            <a:fillRect/>
          </a:stretch>
        </p:blipFill>
        <p:spPr bwMode="auto">
          <a:xfrm>
            <a:off x="7267575" y="1097280"/>
            <a:ext cx="4775835" cy="2713355"/>
          </a:xfrm>
          <a:prstGeom prst="rect">
            <a:avLst/>
          </a:prstGeom>
          <a:noFill/>
          <a:ln w="9525">
            <a:noFill/>
            <a:miter lim="800000"/>
            <a:headEnd/>
            <a:tailEnd/>
          </a:ln>
        </p:spPr>
      </p:pic>
      <p:sp>
        <p:nvSpPr>
          <p:cNvPr id="4" name="文本框 3"/>
          <p:cNvSpPr txBox="1"/>
          <p:nvPr/>
        </p:nvSpPr>
        <p:spPr>
          <a:xfrm>
            <a:off x="1041400" y="4026535"/>
            <a:ext cx="8558530" cy="1082675"/>
          </a:xfrm>
          <a:prstGeom prst="rect">
            <a:avLst/>
          </a:prstGeom>
          <a:noFill/>
        </p:spPr>
        <p:txBody>
          <a:bodyPr wrap="square" rtlCol="0" anchor="t">
            <a:noAutofit/>
          </a:bodyPr>
          <a:p>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n-ea"/>
              </a:rPr>
              <a:t>a</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n-ea"/>
              </a:rPr>
              <a:t>）就是一个树，而（</a:t>
            </a: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n-ea"/>
              </a:rPr>
              <a:t>b</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n-ea"/>
              </a:rPr>
              <a:t>）因为图中有圈</a:t>
            </a: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n-ea"/>
              </a:rPr>
              <a:t>,</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n-ea"/>
              </a:rPr>
              <a:t>所以就不是树，（</a:t>
            </a: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n-ea"/>
              </a:rPr>
              <a:t>c</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n-ea"/>
              </a:rPr>
              <a:t>）因为不连通所以也不是树。</a:t>
            </a:r>
            <a:endPar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additive="base">
                                        <p:cTn id="7" dur="500" fill="hold"/>
                                        <p:tgtEl>
                                          <p:spTgt spid="10242"/>
                                        </p:tgtEl>
                                        <p:attrNameLst>
                                          <p:attrName>ppt_x</p:attrName>
                                        </p:attrNameLst>
                                      </p:cBhvr>
                                      <p:tavLst>
                                        <p:tav tm="0">
                                          <p:val>
                                            <p:strVal val="1+#ppt_w/2"/>
                                          </p:val>
                                        </p:tav>
                                        <p:tav tm="100000">
                                          <p:val>
                                            <p:strVal val="#ppt_x"/>
                                          </p:val>
                                        </p:tav>
                                      </p:tavLst>
                                    </p:anim>
                                    <p:anim calcmode="lin" valueType="num">
                                      <p:cBhvr additive="base">
                                        <p:cTn id="8" dur="500" fill="hold"/>
                                        <p:tgtEl>
                                          <p:spTgt spid="102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最小生成树问题</a:t>
            </a:r>
            <a:endParaRPr lang="zh-CN" altLang="en-US" dirty="0"/>
          </a:p>
        </p:txBody>
      </p:sp>
      <p:sp>
        <p:nvSpPr>
          <p:cNvPr id="3" name="内容占位符 2"/>
          <p:cNvSpPr>
            <a:spLocks noGrp="1"/>
          </p:cNvSpPr>
          <p:nvPr>
            <p:ph idx="1"/>
          </p:nvPr>
        </p:nvSpPr>
        <p:spPr>
          <a:xfrm>
            <a:off x="838200" y="1363345"/>
            <a:ext cx="10515600" cy="4813935"/>
          </a:xfrm>
        </p:spPr>
        <p:txBody>
          <a:bodyPr>
            <a:normAutofit lnSpcReduction="20000"/>
          </a:bodyPr>
          <a:lstStyle/>
          <a:p>
            <a:pPr marL="228600" lvl="0" indent="-228600">
              <a:buFont typeface="Arial" panose="020B0604020202020204" pitchFamily="34" charset="0"/>
              <a:buChar char="•"/>
            </a:pPr>
            <a:r>
              <a:rPr lang="zh-CN" altLang="en-US" sz="2800" dirty="0">
                <a:sym typeface="+mn-ea"/>
              </a:rPr>
              <a:t>生成图：给定一个无向图</a:t>
            </a:r>
            <a:r>
              <a:rPr lang="en-US" altLang="zh-CN" sz="2800" dirty="0">
                <a:sym typeface="+mn-ea"/>
              </a:rPr>
              <a:t>G(V,E)</a:t>
            </a:r>
            <a:r>
              <a:rPr lang="zh-CN" altLang="en-US" sz="2800" dirty="0">
                <a:sym typeface="+mn-ea"/>
              </a:rPr>
              <a:t>，保留所有点，删掉部分</a:t>
            </a:r>
            <a:r>
              <a:rPr lang="en-US" altLang="zh-CN" sz="2800" dirty="0">
                <a:sym typeface="+mn-ea"/>
              </a:rPr>
              <a:t>G</a:t>
            </a:r>
            <a:r>
              <a:rPr lang="zh-CN" altLang="en-US" sz="2800" dirty="0">
                <a:sym typeface="+mn-ea"/>
              </a:rPr>
              <a:t>的边所获得的新图被称为图</a:t>
            </a:r>
            <a:r>
              <a:rPr lang="en-US" altLang="zh-CN" sz="2800" dirty="0">
                <a:sym typeface="+mn-ea"/>
              </a:rPr>
              <a:t>G</a:t>
            </a:r>
            <a:r>
              <a:rPr lang="zh-CN" altLang="en-US" sz="2800" dirty="0">
                <a:sym typeface="+mn-ea"/>
              </a:rPr>
              <a:t>的生成图。</a:t>
            </a:r>
            <a:r>
              <a:rPr lang="zh-CN" altLang="en-US" dirty="0">
                <a:solidFill>
                  <a:srgbClr val="000000"/>
                </a:solidFill>
                <a:latin typeface="Times New Roman" panose="02020603050405020304" pitchFamily="18" charset="0"/>
                <a:cs typeface="Times New Roman" panose="02020603050405020304" pitchFamily="18" charset="0"/>
                <a:sym typeface="+mn-ea"/>
              </a:rPr>
              <a:t>在</a:t>
            </a:r>
            <a:r>
              <a:rPr lang="zh-CN" altLang="en-US" dirty="0">
                <a:solidFill>
                  <a:srgbClr val="000000"/>
                </a:solidFill>
                <a:latin typeface="Times New Roman" panose="02020603050405020304" pitchFamily="18" charset="0"/>
                <a:cs typeface="Times New Roman" panose="02020603050405020304" pitchFamily="18" charset="0"/>
                <a:sym typeface="+mn-ea"/>
              </a:rPr>
              <a:t>下图中，（</a:t>
            </a:r>
            <a:r>
              <a:rPr lang="en-US" altLang="zh-CN" dirty="0">
                <a:solidFill>
                  <a:srgbClr val="000000"/>
                </a:solidFill>
                <a:latin typeface="Times New Roman" panose="02020603050405020304" pitchFamily="18" charset="0"/>
                <a:cs typeface="Times New Roman" panose="02020603050405020304" pitchFamily="18" charset="0"/>
                <a:sym typeface="+mn-ea"/>
              </a:rPr>
              <a:t>b</a:t>
            </a:r>
            <a:r>
              <a:rPr lang="zh-CN" altLang="en-US" dirty="0">
                <a:solidFill>
                  <a:srgbClr val="000000"/>
                </a:solidFill>
                <a:latin typeface="Times New Roman" panose="02020603050405020304" pitchFamily="18" charset="0"/>
                <a:cs typeface="Times New Roman" panose="02020603050405020304" pitchFamily="18" charset="0"/>
                <a:sym typeface="+mn-ea"/>
              </a:rPr>
              <a:t>）和（</a:t>
            </a:r>
            <a:r>
              <a:rPr lang="en-US" altLang="zh-CN" dirty="0">
                <a:solidFill>
                  <a:srgbClr val="000000"/>
                </a:solidFill>
                <a:latin typeface="Times New Roman" panose="02020603050405020304" pitchFamily="18" charset="0"/>
                <a:cs typeface="Times New Roman" panose="02020603050405020304" pitchFamily="18" charset="0"/>
                <a:sym typeface="+mn-ea"/>
              </a:rPr>
              <a:t>c</a:t>
            </a:r>
            <a:r>
              <a:rPr lang="zh-CN" altLang="en-US" dirty="0">
                <a:solidFill>
                  <a:srgbClr val="000000"/>
                </a:solidFill>
                <a:latin typeface="Times New Roman" panose="02020603050405020304" pitchFamily="18" charset="0"/>
                <a:cs typeface="Times New Roman" panose="02020603050405020304" pitchFamily="18" charset="0"/>
                <a:sym typeface="+mn-ea"/>
              </a:rPr>
              <a:t>）都是（</a:t>
            </a:r>
            <a:r>
              <a:rPr lang="en-US" altLang="zh-CN" dirty="0">
                <a:solidFill>
                  <a:srgbClr val="000000"/>
                </a:solidFill>
                <a:latin typeface="Times New Roman" panose="02020603050405020304" pitchFamily="18" charset="0"/>
                <a:cs typeface="Times New Roman" panose="02020603050405020304" pitchFamily="18" charset="0"/>
                <a:sym typeface="+mn-ea"/>
              </a:rPr>
              <a:t>a</a:t>
            </a:r>
            <a:r>
              <a:rPr lang="zh-CN" altLang="en-US" dirty="0">
                <a:solidFill>
                  <a:srgbClr val="000000"/>
                </a:solidFill>
                <a:latin typeface="Times New Roman" panose="02020603050405020304" pitchFamily="18" charset="0"/>
                <a:cs typeface="Times New Roman" panose="02020603050405020304" pitchFamily="18" charset="0"/>
                <a:sym typeface="+mn-ea"/>
              </a:rPr>
              <a:t>）的生成图。</a:t>
            </a:r>
            <a:endParaRPr lang="en-US" altLang="zh-CN" sz="2800" dirty="0"/>
          </a:p>
          <a:p>
            <a:pPr lvl="1"/>
            <a:r>
              <a:rPr lang="zh-CN" altLang="en-US" sz="2800" dirty="0">
                <a:sym typeface="+mn-ea"/>
              </a:rPr>
              <a:t>若生成图还是一个树则被称为图</a:t>
            </a:r>
            <a:r>
              <a:rPr lang="en-US" altLang="zh-CN" sz="2800" dirty="0">
                <a:sym typeface="+mn-ea"/>
              </a:rPr>
              <a:t>G</a:t>
            </a:r>
            <a:r>
              <a:rPr lang="zh-CN" altLang="en-US" sz="2800" dirty="0">
                <a:sym typeface="+mn-ea"/>
              </a:rPr>
              <a:t>的生成树。</a:t>
            </a:r>
            <a:r>
              <a:rPr lang="zh-CN" altLang="en-US"/>
              <a:t>在图中（</a:t>
            </a:r>
            <a:r>
              <a:rPr lang="en-US" altLang="zh-CN"/>
              <a:t>c</a:t>
            </a:r>
            <a:r>
              <a:rPr lang="zh-CN" altLang="en-US"/>
              <a:t>）就是（</a:t>
            </a:r>
            <a:r>
              <a:rPr lang="en-US" altLang="zh-CN"/>
              <a:t>a</a:t>
            </a:r>
            <a:r>
              <a:rPr lang="zh-CN" altLang="en-US"/>
              <a:t>）的生成树</a:t>
            </a:r>
            <a:endParaRPr lang="zh-CN" altLang="en-US"/>
          </a:p>
          <a:p>
            <a:r>
              <a:rPr lang="zh-CN" altLang="en-US" dirty="0">
                <a:solidFill>
                  <a:srgbClr val="FF0000"/>
                </a:solidFill>
              </a:rPr>
              <a:t>最小生成树：在一个赋权的连通图中找出一个生成树，并使得这个生成树的所有边的权数之和最小。</a:t>
            </a:r>
            <a:endParaRPr lang="en-US" altLang="zh-CN" dirty="0"/>
          </a:p>
        </p:txBody>
      </p:sp>
      <p:pic>
        <p:nvPicPr>
          <p:cNvPr id="11266" name="Picture 2"/>
          <p:cNvPicPr>
            <a:picLocks noChangeAspect="1" noChangeArrowheads="1"/>
          </p:cNvPicPr>
          <p:nvPr/>
        </p:nvPicPr>
        <p:blipFill>
          <a:blip r:embed="rId1"/>
          <a:srcRect/>
          <a:stretch>
            <a:fillRect/>
          </a:stretch>
        </p:blipFill>
        <p:spPr bwMode="auto">
          <a:xfrm>
            <a:off x="2517140" y="3731895"/>
            <a:ext cx="5926455" cy="264096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1+#ppt_w/2"/>
                                          </p:val>
                                        </p:tav>
                                        <p:tav tm="100000">
                                          <p:val>
                                            <p:strVal val="#ppt_x"/>
                                          </p:val>
                                        </p:tav>
                                      </p:tavLst>
                                    </p:anim>
                                    <p:anim calcmode="lin" valueType="num">
                                      <p:cBhvr additive="base">
                                        <p:cTn id="8" dur="500" fill="hold"/>
                                        <p:tgtEl>
                                          <p:spTgt spid="112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生成树的破圈法和避圈</a:t>
            </a:r>
            <a:r>
              <a:rPr lang="zh-CN" altLang="en-US" dirty="0"/>
              <a:t>法</a:t>
            </a:r>
            <a:endParaRPr lang="zh-CN" altLang="en-US" dirty="0"/>
          </a:p>
        </p:txBody>
      </p:sp>
      <p:sp>
        <p:nvSpPr>
          <p:cNvPr id="3" name="内容占位符 2"/>
          <p:cNvSpPr>
            <a:spLocks noGrp="1"/>
          </p:cNvSpPr>
          <p:nvPr>
            <p:ph idx="1"/>
          </p:nvPr>
        </p:nvSpPr>
        <p:spPr/>
        <p:txBody>
          <a:bodyPr/>
          <a:lstStyle/>
          <a:p>
            <a:pPr marL="0" indent="0">
              <a:buNone/>
            </a:pPr>
            <a:r>
              <a:rPr lang="zh-CN" altLang="en-US" dirty="0"/>
              <a:t>破圈法：任取一个圈，从圈中去掉一边，重复上述步骤直到不含圈</a:t>
            </a:r>
            <a:r>
              <a:rPr lang="zh-CN" altLang="en-US" dirty="0"/>
              <a:t>为止。</a:t>
            </a:r>
            <a:endParaRPr lang="zh-CN" altLang="en-US" dirty="0"/>
          </a:p>
          <a:p>
            <a:pPr marL="0" indent="0">
              <a:buNone/>
            </a:pPr>
            <a:endParaRPr lang="zh-CN" altLang="en-US" dirty="0"/>
          </a:p>
          <a:p>
            <a:pPr marL="0" indent="0">
              <a:buNone/>
            </a:pPr>
            <a:r>
              <a:rPr lang="zh-CN" altLang="en-US" dirty="0"/>
              <a:t>避圈法：在图中任取一边</a:t>
            </a:r>
            <a:r>
              <a:rPr lang="en-US" altLang="zh-CN" dirty="0"/>
              <a:t>ei</a:t>
            </a:r>
            <a:r>
              <a:rPr lang="zh-CN" altLang="en-US" dirty="0"/>
              <a:t>，找不与</a:t>
            </a:r>
            <a:r>
              <a:rPr lang="zh-CN" altLang="en-US" dirty="0">
                <a:sym typeface="+mn-ea"/>
              </a:rPr>
              <a:t>边</a:t>
            </a:r>
            <a:r>
              <a:rPr lang="en-US" altLang="zh-CN" dirty="0">
                <a:sym typeface="+mn-ea"/>
              </a:rPr>
              <a:t>ei</a:t>
            </a:r>
            <a:r>
              <a:rPr lang="zh-CN" altLang="en-US" dirty="0">
                <a:sym typeface="+mn-ea"/>
              </a:rPr>
              <a:t>构成圈的边</a:t>
            </a:r>
            <a:r>
              <a:rPr lang="en-US" altLang="zh-CN" dirty="0">
                <a:sym typeface="+mn-ea"/>
              </a:rPr>
              <a:t>ej,</a:t>
            </a:r>
            <a:r>
              <a:rPr lang="zh-CN" altLang="en-US" dirty="0">
                <a:sym typeface="+mn-ea"/>
              </a:rPr>
              <a:t>再找不与边</a:t>
            </a:r>
            <a:r>
              <a:rPr lang="en-US" altLang="zh-CN" dirty="0">
                <a:sym typeface="+mn-ea"/>
              </a:rPr>
              <a:t>ei</a:t>
            </a:r>
            <a:r>
              <a:rPr lang="zh-CN" altLang="en-US" dirty="0">
                <a:sym typeface="+mn-ea"/>
              </a:rPr>
              <a:t>和边</a:t>
            </a:r>
            <a:r>
              <a:rPr lang="en-US" altLang="zh-CN" dirty="0">
                <a:sym typeface="+mn-ea"/>
              </a:rPr>
              <a:t>ej</a:t>
            </a:r>
            <a:r>
              <a:rPr lang="zh-CN" altLang="en-US" dirty="0">
                <a:sym typeface="+mn-ea"/>
              </a:rPr>
              <a:t>构成圈的边</a:t>
            </a:r>
            <a:r>
              <a:rPr lang="en-US" altLang="zh-CN" dirty="0">
                <a:sym typeface="+mn-ea"/>
              </a:rPr>
              <a:t>ek,</a:t>
            </a:r>
            <a:r>
              <a:rPr lang="zh-CN" altLang="en-US" dirty="0">
                <a:sym typeface="+mn-ea"/>
              </a:rPr>
              <a:t>如此反复进行，直到不能进行</a:t>
            </a:r>
            <a:r>
              <a:rPr lang="zh-CN" altLang="en-US" dirty="0">
                <a:sym typeface="+mn-ea"/>
              </a:rPr>
              <a:t>为止。</a:t>
            </a:r>
            <a:endParaRPr lang="zh-CN" altLang="en-US" dirty="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最小生成树问题</a:t>
            </a:r>
            <a:endParaRPr lang="zh-CN" altLang="en-US" dirty="0"/>
          </a:p>
        </p:txBody>
      </p:sp>
      <p:sp>
        <p:nvSpPr>
          <p:cNvPr id="3" name="内容占位符 2"/>
          <p:cNvSpPr>
            <a:spLocks noGrp="1"/>
          </p:cNvSpPr>
          <p:nvPr>
            <p:ph idx="1"/>
          </p:nvPr>
        </p:nvSpPr>
        <p:spPr/>
        <p:txBody>
          <a:bodyPr/>
          <a:lstStyle/>
          <a:p>
            <a:pPr marL="0" indent="0">
              <a:buNone/>
            </a:pPr>
            <a:r>
              <a:rPr lang="zh-CN" altLang="en-US" dirty="0"/>
              <a:t>寻找最小生成树的破圈算法</a:t>
            </a:r>
            <a:endParaRPr lang="en-US" altLang="zh-CN" dirty="0"/>
          </a:p>
          <a:p>
            <a:pPr marL="514350" indent="-514350">
              <a:buFont typeface="+mj-lt"/>
              <a:buAutoNum type="arabicPeriod"/>
            </a:pPr>
            <a:r>
              <a:rPr lang="zh-CN" altLang="en-US" dirty="0"/>
              <a:t>在网络图中寻找一个圈。若不存在圈，则已经得到最小生成树，或网络中不存在生成树；</a:t>
            </a:r>
            <a:endParaRPr lang="zh-CN" altLang="en-US" dirty="0"/>
          </a:p>
          <a:p>
            <a:pPr marL="514350" indent="-514350">
              <a:buFont typeface="+mj-lt"/>
              <a:buAutoNum type="arabicPeriod"/>
            </a:pPr>
            <a:r>
              <a:rPr lang="zh-CN" altLang="en-US" dirty="0"/>
              <a:t>去掉该圈中权数最大的边；</a:t>
            </a:r>
            <a:endParaRPr lang="zh-CN" altLang="en-US" dirty="0"/>
          </a:p>
          <a:p>
            <a:pPr marL="0" indent="0">
              <a:buNone/>
            </a:pPr>
            <a:r>
              <a:rPr lang="zh-CN" altLang="en-US" dirty="0"/>
              <a:t>反复重复以上两步，直到求出最小生成树</a:t>
            </a:r>
            <a:endParaRPr lang="en-US" altLang="zh-CN" dirty="0"/>
          </a:p>
          <a:p>
            <a:pPr marL="0" indent="0">
              <a:buNone/>
            </a:pPr>
            <a:r>
              <a:rPr lang="zh-CN" altLang="en-US" dirty="0"/>
              <a:t>我们用教材中的例</a:t>
            </a:r>
            <a:r>
              <a:rPr lang="en-US" altLang="zh-CN" dirty="0"/>
              <a:t>5</a:t>
            </a:r>
            <a:r>
              <a:rPr lang="zh-CN" altLang="en-US" dirty="0"/>
              <a:t>来演示破圈算法如何确定最小生成树以及最小生成树的应用</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最小生成树问题</a:t>
            </a:r>
            <a:endParaRPr lang="zh-CN" altLang="en-US" dirty="0"/>
          </a:p>
        </p:txBody>
      </p:sp>
      <p:sp>
        <p:nvSpPr>
          <p:cNvPr id="3" name="内容占位符 2"/>
          <p:cNvSpPr>
            <a:spLocks noGrp="1"/>
          </p:cNvSpPr>
          <p:nvPr>
            <p:ph idx="1"/>
          </p:nvPr>
        </p:nvSpPr>
        <p:spPr>
          <a:xfrm>
            <a:off x="838200" y="1825625"/>
            <a:ext cx="10515600" cy="4351338"/>
          </a:xfrm>
        </p:spPr>
        <p:txBody>
          <a:bodyPr/>
          <a:lstStyle/>
          <a:p>
            <a:pPr marL="0" indent="0">
              <a:buNone/>
            </a:pPr>
            <a:r>
              <a:rPr lang="zh-CN" altLang="en-US" b="1" dirty="0"/>
              <a:t>某大学准备对其所属的</a:t>
            </a:r>
            <a:r>
              <a:rPr lang="en-US" altLang="zh-CN" b="1" dirty="0"/>
              <a:t>7</a:t>
            </a:r>
            <a:r>
              <a:rPr lang="zh-CN" altLang="en-US" b="1" dirty="0"/>
              <a:t>个学院办公室计算机联网，图中</a:t>
            </a:r>
            <a:r>
              <a:rPr lang="en-US" altLang="zh-CN" b="1" dirty="0"/>
              <a:t>v1,…,v7  </a:t>
            </a:r>
            <a:r>
              <a:rPr lang="zh-CN" altLang="en-US" b="1" dirty="0"/>
              <a:t>表示</a:t>
            </a:r>
            <a:r>
              <a:rPr lang="en-US" altLang="zh-CN" b="1" dirty="0"/>
              <a:t>7</a:t>
            </a:r>
            <a:r>
              <a:rPr lang="zh-CN" altLang="en-US" b="1" dirty="0"/>
              <a:t>个学院办公室，这个网络的可能联通的途径如下图，请设计一个网络能联通</a:t>
            </a:r>
            <a:r>
              <a:rPr lang="en-US" altLang="zh-CN" b="1" dirty="0"/>
              <a:t>7</a:t>
            </a:r>
            <a:r>
              <a:rPr lang="zh-CN" altLang="en-US" b="1" dirty="0"/>
              <a:t>个学院办公室，并使总的线路长度为最短。</a:t>
            </a:r>
            <a:endParaRPr lang="zh-CN" altLang="en-US" dirty="0"/>
          </a:p>
        </p:txBody>
      </p:sp>
      <p:grpSp>
        <p:nvGrpSpPr>
          <p:cNvPr id="36" name="Group 4"/>
          <p:cNvGrpSpPr/>
          <p:nvPr/>
        </p:nvGrpSpPr>
        <p:grpSpPr bwMode="auto">
          <a:xfrm>
            <a:off x="2151819" y="3006055"/>
            <a:ext cx="6048375" cy="2822575"/>
            <a:chOff x="0" y="0"/>
            <a:chExt cx="2818" cy="1419"/>
          </a:xfrm>
        </p:grpSpPr>
        <p:sp>
          <p:nvSpPr>
            <p:cNvPr id="37" name="Line 5"/>
            <p:cNvSpPr>
              <a:spLocks noChangeShapeType="1"/>
            </p:cNvSpPr>
            <p:nvPr/>
          </p:nvSpPr>
          <p:spPr bwMode="auto">
            <a:xfrm>
              <a:off x="1025" y="670"/>
              <a:ext cx="271" cy="5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 name="Line 6"/>
            <p:cNvSpPr>
              <a:spLocks noChangeShapeType="1"/>
            </p:cNvSpPr>
            <p:nvPr/>
          </p:nvSpPr>
          <p:spPr bwMode="auto">
            <a:xfrm>
              <a:off x="1296" y="1218"/>
              <a:ext cx="74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Line 7"/>
            <p:cNvSpPr>
              <a:spLocks noChangeShapeType="1"/>
            </p:cNvSpPr>
            <p:nvPr/>
          </p:nvSpPr>
          <p:spPr bwMode="auto">
            <a:xfrm>
              <a:off x="1025" y="670"/>
              <a:ext cx="6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0" name="Line 8"/>
            <p:cNvSpPr>
              <a:spLocks noChangeShapeType="1"/>
            </p:cNvSpPr>
            <p:nvPr/>
          </p:nvSpPr>
          <p:spPr bwMode="auto">
            <a:xfrm flipH="1">
              <a:off x="1296" y="190"/>
              <a:ext cx="746" cy="102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 name="Line 9"/>
            <p:cNvSpPr>
              <a:spLocks noChangeShapeType="1"/>
            </p:cNvSpPr>
            <p:nvPr/>
          </p:nvSpPr>
          <p:spPr bwMode="auto">
            <a:xfrm>
              <a:off x="1432" y="190"/>
              <a:ext cx="610" cy="102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 name="Line 10"/>
            <p:cNvSpPr>
              <a:spLocks noChangeShapeType="1"/>
            </p:cNvSpPr>
            <p:nvPr/>
          </p:nvSpPr>
          <p:spPr bwMode="auto">
            <a:xfrm>
              <a:off x="1432" y="190"/>
              <a:ext cx="61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 name="Line 11"/>
            <p:cNvSpPr>
              <a:spLocks noChangeShapeType="1"/>
            </p:cNvSpPr>
            <p:nvPr/>
          </p:nvSpPr>
          <p:spPr bwMode="auto">
            <a:xfrm flipH="1">
              <a:off x="2042" y="190"/>
              <a:ext cx="0" cy="102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 name="Line 12"/>
            <p:cNvSpPr>
              <a:spLocks noChangeShapeType="1"/>
            </p:cNvSpPr>
            <p:nvPr/>
          </p:nvSpPr>
          <p:spPr bwMode="auto">
            <a:xfrm flipV="1">
              <a:off x="2042" y="670"/>
              <a:ext cx="475" cy="5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 name="Line 13"/>
            <p:cNvSpPr>
              <a:spLocks noChangeShapeType="1"/>
            </p:cNvSpPr>
            <p:nvPr/>
          </p:nvSpPr>
          <p:spPr bwMode="auto">
            <a:xfrm>
              <a:off x="2042" y="190"/>
              <a:ext cx="475" cy="4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 name="Text Box 14"/>
            <p:cNvSpPr txBox="1">
              <a:spLocks noChangeArrowheads="1"/>
            </p:cNvSpPr>
            <p:nvPr/>
          </p:nvSpPr>
          <p:spPr bwMode="auto">
            <a:xfrm>
              <a:off x="855" y="481"/>
              <a:ext cx="47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1</a:t>
              </a:r>
              <a:endParaRPr lang="en-US" altLang="zh-CN" sz="2400" b="1" baseline="-25000"/>
            </a:p>
          </p:txBody>
        </p:sp>
        <p:sp>
          <p:nvSpPr>
            <p:cNvPr id="47" name="Text Box 15"/>
            <p:cNvSpPr txBox="1">
              <a:spLocks noChangeArrowheads="1"/>
            </p:cNvSpPr>
            <p:nvPr/>
          </p:nvSpPr>
          <p:spPr bwMode="auto">
            <a:xfrm>
              <a:off x="1229" y="480"/>
              <a:ext cx="2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3</a:t>
              </a:r>
              <a:endParaRPr lang="en-US" altLang="zh-CN" sz="2400" b="1"/>
            </a:p>
          </p:txBody>
        </p:sp>
        <p:sp>
          <p:nvSpPr>
            <p:cNvPr id="48" name="Text Box 16"/>
            <p:cNvSpPr txBox="1">
              <a:spLocks noChangeArrowheads="1"/>
            </p:cNvSpPr>
            <p:nvPr/>
          </p:nvSpPr>
          <p:spPr bwMode="auto">
            <a:xfrm>
              <a:off x="1520" y="289"/>
              <a:ext cx="2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3</a:t>
              </a:r>
              <a:endParaRPr lang="en-US" altLang="zh-CN" sz="2400" b="1"/>
            </a:p>
          </p:txBody>
        </p:sp>
        <p:sp>
          <p:nvSpPr>
            <p:cNvPr id="49" name="Text Box 17"/>
            <p:cNvSpPr txBox="1">
              <a:spLocks noChangeArrowheads="1"/>
            </p:cNvSpPr>
            <p:nvPr/>
          </p:nvSpPr>
          <p:spPr bwMode="auto">
            <a:xfrm>
              <a:off x="1636" y="1"/>
              <a:ext cx="2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1</a:t>
              </a:r>
              <a:endParaRPr lang="en-US" altLang="zh-CN" sz="2400" b="1"/>
            </a:p>
          </p:txBody>
        </p:sp>
        <p:sp>
          <p:nvSpPr>
            <p:cNvPr id="50" name="Text Box 18"/>
            <p:cNvSpPr txBox="1">
              <a:spLocks noChangeArrowheads="1"/>
            </p:cNvSpPr>
            <p:nvPr/>
          </p:nvSpPr>
          <p:spPr bwMode="auto">
            <a:xfrm>
              <a:off x="2178" y="190"/>
              <a:ext cx="2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7</a:t>
              </a:r>
              <a:endParaRPr lang="en-US" altLang="zh-CN" sz="2400" b="1"/>
            </a:p>
          </p:txBody>
        </p:sp>
        <p:sp>
          <p:nvSpPr>
            <p:cNvPr id="51" name="Text Box 19"/>
            <p:cNvSpPr txBox="1">
              <a:spLocks noChangeArrowheads="1"/>
            </p:cNvSpPr>
            <p:nvPr/>
          </p:nvSpPr>
          <p:spPr bwMode="auto">
            <a:xfrm>
              <a:off x="2018" y="533"/>
              <a:ext cx="27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2</a:t>
              </a:r>
              <a:endParaRPr lang="en-US" altLang="zh-CN" sz="2400" b="1"/>
            </a:p>
          </p:txBody>
        </p:sp>
        <p:sp>
          <p:nvSpPr>
            <p:cNvPr id="52" name="Text Box 20"/>
            <p:cNvSpPr txBox="1">
              <a:spLocks noChangeArrowheads="1"/>
            </p:cNvSpPr>
            <p:nvPr/>
          </p:nvSpPr>
          <p:spPr bwMode="auto">
            <a:xfrm>
              <a:off x="2259" y="865"/>
              <a:ext cx="2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8</a:t>
              </a:r>
              <a:endParaRPr lang="en-US" altLang="zh-CN" sz="2400" b="1"/>
            </a:p>
          </p:txBody>
        </p:sp>
        <p:sp>
          <p:nvSpPr>
            <p:cNvPr id="53" name="Text Box 21"/>
            <p:cNvSpPr txBox="1">
              <a:spLocks noChangeArrowheads="1"/>
            </p:cNvSpPr>
            <p:nvPr/>
          </p:nvSpPr>
          <p:spPr bwMode="auto">
            <a:xfrm>
              <a:off x="1714" y="807"/>
              <a:ext cx="2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5</a:t>
              </a:r>
              <a:endParaRPr lang="en-US" altLang="zh-CN" sz="2400" b="1"/>
            </a:p>
          </p:txBody>
        </p:sp>
        <p:sp>
          <p:nvSpPr>
            <p:cNvPr id="54" name="Text Box 22"/>
            <p:cNvSpPr txBox="1">
              <a:spLocks noChangeArrowheads="1"/>
            </p:cNvSpPr>
            <p:nvPr/>
          </p:nvSpPr>
          <p:spPr bwMode="auto">
            <a:xfrm>
              <a:off x="1570" y="1173"/>
              <a:ext cx="2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4</a:t>
              </a:r>
              <a:endParaRPr lang="en-US" altLang="zh-CN" sz="2400" b="1"/>
            </a:p>
          </p:txBody>
        </p:sp>
        <p:sp>
          <p:nvSpPr>
            <p:cNvPr id="55" name="Text Box 23"/>
            <p:cNvSpPr txBox="1">
              <a:spLocks noChangeArrowheads="1"/>
            </p:cNvSpPr>
            <p:nvPr/>
          </p:nvSpPr>
          <p:spPr bwMode="auto">
            <a:xfrm>
              <a:off x="958" y="868"/>
              <a:ext cx="40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10</a:t>
              </a:r>
              <a:endParaRPr lang="en-US" altLang="zh-CN" sz="2400" b="1"/>
            </a:p>
          </p:txBody>
        </p:sp>
        <p:sp>
          <p:nvSpPr>
            <p:cNvPr id="56" name="Text Box 24"/>
            <p:cNvSpPr txBox="1">
              <a:spLocks noChangeArrowheads="1"/>
            </p:cNvSpPr>
            <p:nvPr/>
          </p:nvSpPr>
          <p:spPr bwMode="auto">
            <a:xfrm>
              <a:off x="1346" y="819"/>
              <a:ext cx="27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3</a:t>
              </a:r>
              <a:endParaRPr lang="en-US" altLang="zh-CN" sz="2400" b="1"/>
            </a:p>
          </p:txBody>
        </p:sp>
        <p:sp>
          <p:nvSpPr>
            <p:cNvPr id="57" name="Text Box 25"/>
            <p:cNvSpPr txBox="1">
              <a:spLocks noChangeArrowheads="1"/>
            </p:cNvSpPr>
            <p:nvPr/>
          </p:nvSpPr>
          <p:spPr bwMode="auto">
            <a:xfrm>
              <a:off x="1763" y="261"/>
              <a:ext cx="2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4</a:t>
              </a:r>
              <a:endParaRPr lang="en-US" altLang="zh-CN" sz="2400" b="1"/>
            </a:p>
          </p:txBody>
        </p:sp>
        <p:sp>
          <p:nvSpPr>
            <p:cNvPr id="58" name="Text Box 26"/>
            <p:cNvSpPr txBox="1">
              <a:spLocks noChangeArrowheads="1"/>
            </p:cNvSpPr>
            <p:nvPr/>
          </p:nvSpPr>
          <p:spPr bwMode="auto">
            <a:xfrm>
              <a:off x="1703" y="523"/>
              <a:ext cx="33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7</a:t>
              </a:r>
              <a:endParaRPr lang="en-US" altLang="zh-CN" sz="2400" b="1" baseline="-25000"/>
            </a:p>
          </p:txBody>
        </p:sp>
        <p:sp>
          <p:nvSpPr>
            <p:cNvPr id="59" name="Text Box 27"/>
            <p:cNvSpPr txBox="1">
              <a:spLocks noChangeArrowheads="1"/>
            </p:cNvSpPr>
            <p:nvPr/>
          </p:nvSpPr>
          <p:spPr bwMode="auto">
            <a:xfrm>
              <a:off x="1197" y="1168"/>
              <a:ext cx="33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6</a:t>
              </a:r>
              <a:endParaRPr lang="en-US" altLang="zh-CN" sz="2400" b="1" baseline="-25000"/>
            </a:p>
          </p:txBody>
        </p:sp>
        <p:sp>
          <p:nvSpPr>
            <p:cNvPr id="60" name="Text Box 28"/>
            <p:cNvSpPr txBox="1">
              <a:spLocks noChangeArrowheads="1"/>
            </p:cNvSpPr>
            <p:nvPr/>
          </p:nvSpPr>
          <p:spPr bwMode="auto">
            <a:xfrm>
              <a:off x="1951" y="1189"/>
              <a:ext cx="33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5</a:t>
              </a:r>
              <a:endParaRPr lang="en-US" altLang="zh-CN" sz="2400" b="1" baseline="-25000"/>
            </a:p>
          </p:txBody>
        </p:sp>
        <p:sp>
          <p:nvSpPr>
            <p:cNvPr id="61" name="Text Box 29"/>
            <p:cNvSpPr txBox="1">
              <a:spLocks noChangeArrowheads="1"/>
            </p:cNvSpPr>
            <p:nvPr/>
          </p:nvSpPr>
          <p:spPr bwMode="auto">
            <a:xfrm>
              <a:off x="2479" y="523"/>
              <a:ext cx="33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4</a:t>
              </a:r>
              <a:endParaRPr lang="en-US" altLang="zh-CN" sz="2400" b="1" baseline="-25000"/>
            </a:p>
          </p:txBody>
        </p:sp>
        <p:sp>
          <p:nvSpPr>
            <p:cNvPr id="62" name="Text Box 30"/>
            <p:cNvSpPr txBox="1">
              <a:spLocks noChangeArrowheads="1"/>
            </p:cNvSpPr>
            <p:nvPr/>
          </p:nvSpPr>
          <p:spPr bwMode="auto">
            <a:xfrm>
              <a:off x="1279" y="1"/>
              <a:ext cx="33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2</a:t>
              </a:r>
              <a:endParaRPr lang="en-US" altLang="zh-CN" sz="2400" b="1" baseline="-25000"/>
            </a:p>
          </p:txBody>
        </p:sp>
        <p:sp>
          <p:nvSpPr>
            <p:cNvPr id="63" name="Text Box 31"/>
            <p:cNvSpPr txBox="1">
              <a:spLocks noChangeArrowheads="1"/>
            </p:cNvSpPr>
            <p:nvPr/>
          </p:nvSpPr>
          <p:spPr bwMode="auto">
            <a:xfrm>
              <a:off x="1951" y="0"/>
              <a:ext cx="33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3</a:t>
              </a:r>
              <a:endParaRPr lang="en-US" altLang="zh-CN" sz="2400" b="1" baseline="-25000"/>
            </a:p>
          </p:txBody>
        </p:sp>
        <p:sp>
          <p:nvSpPr>
            <p:cNvPr id="64" name="Text Box 32"/>
            <p:cNvSpPr txBox="1">
              <a:spLocks noChangeArrowheads="1"/>
            </p:cNvSpPr>
            <p:nvPr/>
          </p:nvSpPr>
          <p:spPr bwMode="auto">
            <a:xfrm>
              <a:off x="0" y="499"/>
              <a:ext cx="68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endParaRPr lang="zh-CN" altLang="en-US" sz="2400" b="1"/>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最小生成树问题</a:t>
            </a:r>
            <a:endParaRPr lang="zh-CN" altLang="en-US" dirty="0"/>
          </a:p>
        </p:txBody>
      </p:sp>
      <p:sp>
        <p:nvSpPr>
          <p:cNvPr id="3" name="内容占位符 2"/>
          <p:cNvSpPr>
            <a:spLocks noGrp="1"/>
          </p:cNvSpPr>
          <p:nvPr>
            <p:ph idx="1"/>
          </p:nvPr>
        </p:nvSpPr>
        <p:spPr/>
        <p:txBody>
          <a:bodyPr/>
          <a:lstStyle/>
          <a:p>
            <a:pPr marL="0" indent="0">
              <a:buNone/>
            </a:pPr>
            <a:r>
              <a:rPr lang="zh-CN" altLang="en-US" dirty="0"/>
              <a:t>寻找最小生成树的</a:t>
            </a:r>
            <a:r>
              <a:rPr lang="zh-CN" altLang="en-US" dirty="0"/>
              <a:t>避圈算法</a:t>
            </a:r>
            <a:endParaRPr lang="en-US" altLang="zh-CN" dirty="0"/>
          </a:p>
          <a:p>
            <a:r>
              <a:rPr lang="zh-CN" altLang="en-US" dirty="0"/>
              <a:t>从图中选一条权最小的边，以后每一步中从与已知边不构成圈的未选边中选一条权最小的边，直到不能进行</a:t>
            </a:r>
            <a:r>
              <a:rPr lang="zh-CN" altLang="en-US" dirty="0"/>
              <a:t>为止。</a:t>
            </a:r>
            <a:endParaRPr lang="zh-CN" altLang="en-US" dirty="0"/>
          </a:p>
          <a:p>
            <a:pPr marL="0" indent="0">
              <a:buNone/>
            </a:pPr>
            <a:endParaRPr lang="zh-CN" altLang="en-US" dirty="0"/>
          </a:p>
          <a:p>
            <a:pPr marL="0" indent="0">
              <a:buNone/>
            </a:pPr>
            <a:r>
              <a:rPr lang="zh-CN" altLang="en-US" dirty="0"/>
              <a:t>我们用教材中的例</a:t>
            </a:r>
            <a:r>
              <a:rPr lang="en-US" altLang="zh-CN" dirty="0"/>
              <a:t>5</a:t>
            </a:r>
            <a:r>
              <a:rPr lang="zh-CN" altLang="en-US" dirty="0"/>
              <a:t>来演示</a:t>
            </a:r>
            <a:r>
              <a:rPr lang="zh-CN" altLang="en-US" dirty="0"/>
              <a:t>避圈算法如何确定最小生成树以及最小生成树的应用</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以下网络中的最小生成树长度为</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9991" name="Group 119"/>
          <p:cNvGrpSpPr/>
          <p:nvPr/>
        </p:nvGrpSpPr>
        <p:grpSpPr bwMode="auto">
          <a:xfrm>
            <a:off x="3074670" y="2689225"/>
            <a:ext cx="5180330" cy="2156713"/>
            <a:chOff x="4105" y="1434"/>
            <a:chExt cx="1634" cy="1094"/>
          </a:xfrm>
        </p:grpSpPr>
        <p:sp>
          <p:nvSpPr>
            <p:cNvPr id="79974" name="Text Box 102"/>
            <p:cNvSpPr txBox="1">
              <a:spLocks noChangeArrowheads="1"/>
            </p:cNvSpPr>
            <p:nvPr/>
          </p:nvSpPr>
          <p:spPr bwMode="auto">
            <a:xfrm>
              <a:off x="4105" y="1480"/>
              <a:ext cx="22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i="1"/>
                <a:t>v</a:t>
              </a:r>
              <a:r>
                <a:rPr lang="en-US" altLang="zh-CN" sz="1800" b="0" baseline="-25000"/>
                <a:t>1</a:t>
              </a:r>
              <a:endParaRPr lang="en-US" altLang="zh-CN" sz="1800" b="0" baseline="-25000"/>
            </a:p>
          </p:txBody>
        </p:sp>
        <p:sp>
          <p:nvSpPr>
            <p:cNvPr id="79976" name="Text Box 104"/>
            <p:cNvSpPr txBox="1">
              <a:spLocks noChangeArrowheads="1"/>
            </p:cNvSpPr>
            <p:nvPr/>
          </p:nvSpPr>
          <p:spPr bwMode="auto">
            <a:xfrm>
              <a:off x="4740" y="1480"/>
              <a:ext cx="22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i="1"/>
                <a:t>v</a:t>
              </a:r>
              <a:r>
                <a:rPr lang="en-US" altLang="zh-CN" sz="1800" b="0" baseline="-25000"/>
                <a:t>3</a:t>
              </a:r>
              <a:endParaRPr lang="en-US" altLang="zh-CN" sz="1800" b="0" baseline="-25000"/>
            </a:p>
          </p:txBody>
        </p:sp>
        <p:sp>
          <p:nvSpPr>
            <p:cNvPr id="79978" name="Text Box 106"/>
            <p:cNvSpPr txBox="1">
              <a:spLocks noChangeArrowheads="1"/>
            </p:cNvSpPr>
            <p:nvPr/>
          </p:nvSpPr>
          <p:spPr bwMode="auto">
            <a:xfrm>
              <a:off x="5329" y="1434"/>
              <a:ext cx="31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r>
                <a:rPr lang="en-US" altLang="zh-CN" sz="1800" b="0" i="1"/>
                <a:t>v</a:t>
              </a:r>
              <a:r>
                <a:rPr lang="en-US" altLang="zh-CN" sz="1800" b="0" i="1" baseline="-25000"/>
                <a:t>5</a:t>
              </a:r>
              <a:endParaRPr lang="en-US" altLang="zh-CN" sz="1800" b="0" i="1" baseline="-25000"/>
            </a:p>
          </p:txBody>
        </p:sp>
        <p:sp>
          <p:nvSpPr>
            <p:cNvPr id="79987" name="Text Box 115"/>
            <p:cNvSpPr txBox="1">
              <a:spLocks noChangeArrowheads="1"/>
            </p:cNvSpPr>
            <p:nvPr/>
          </p:nvSpPr>
          <p:spPr bwMode="auto">
            <a:xfrm>
              <a:off x="5551" y="1987"/>
              <a:ext cx="18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a:t>1</a:t>
              </a:r>
              <a:endParaRPr lang="en-US" altLang="zh-CN" sz="1800" b="0"/>
            </a:p>
          </p:txBody>
        </p:sp>
        <p:sp>
          <p:nvSpPr>
            <p:cNvPr id="79957" name="Line 85"/>
            <p:cNvSpPr>
              <a:spLocks noChangeShapeType="1"/>
            </p:cNvSpPr>
            <p:nvPr/>
          </p:nvSpPr>
          <p:spPr bwMode="auto">
            <a:xfrm>
              <a:off x="4204" y="1714"/>
              <a:ext cx="0" cy="62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79958" name="Oval 86"/>
            <p:cNvSpPr>
              <a:spLocks noChangeArrowheads="1"/>
            </p:cNvSpPr>
            <p:nvPr/>
          </p:nvSpPr>
          <p:spPr bwMode="auto">
            <a:xfrm>
              <a:off x="4194" y="1696"/>
              <a:ext cx="21" cy="3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9959" name="Oval 87"/>
            <p:cNvSpPr>
              <a:spLocks noChangeArrowheads="1"/>
            </p:cNvSpPr>
            <p:nvPr/>
          </p:nvSpPr>
          <p:spPr bwMode="auto">
            <a:xfrm>
              <a:off x="4194" y="2338"/>
              <a:ext cx="21" cy="3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9960" name="Text Box 88"/>
            <p:cNvSpPr txBox="1">
              <a:spLocks noChangeArrowheads="1"/>
            </p:cNvSpPr>
            <p:nvPr/>
          </p:nvSpPr>
          <p:spPr bwMode="auto">
            <a:xfrm>
              <a:off x="4195" y="1933"/>
              <a:ext cx="18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a:t>5</a:t>
              </a:r>
              <a:endParaRPr lang="en-US" altLang="zh-CN" sz="1800" b="0"/>
            </a:p>
          </p:txBody>
        </p:sp>
        <p:sp>
          <p:nvSpPr>
            <p:cNvPr id="79961" name="Line 89"/>
            <p:cNvSpPr>
              <a:spLocks noChangeShapeType="1"/>
            </p:cNvSpPr>
            <p:nvPr/>
          </p:nvSpPr>
          <p:spPr bwMode="auto">
            <a:xfrm>
              <a:off x="4215" y="1714"/>
              <a:ext cx="76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79962" name="Line 90"/>
            <p:cNvSpPr>
              <a:spLocks noChangeShapeType="1"/>
            </p:cNvSpPr>
            <p:nvPr/>
          </p:nvSpPr>
          <p:spPr bwMode="auto">
            <a:xfrm>
              <a:off x="4215" y="2356"/>
              <a:ext cx="758"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79963" name="Line 91"/>
            <p:cNvSpPr>
              <a:spLocks noChangeShapeType="1"/>
            </p:cNvSpPr>
            <p:nvPr/>
          </p:nvSpPr>
          <p:spPr bwMode="auto">
            <a:xfrm>
              <a:off x="4215" y="1714"/>
              <a:ext cx="762" cy="65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79964" name="Line 92"/>
            <p:cNvSpPr>
              <a:spLocks noChangeShapeType="1"/>
            </p:cNvSpPr>
            <p:nvPr/>
          </p:nvSpPr>
          <p:spPr bwMode="auto">
            <a:xfrm>
              <a:off x="4977" y="1714"/>
              <a:ext cx="0" cy="65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79965" name="Line 93"/>
            <p:cNvSpPr>
              <a:spLocks noChangeShapeType="1"/>
            </p:cNvSpPr>
            <p:nvPr/>
          </p:nvSpPr>
          <p:spPr bwMode="auto">
            <a:xfrm>
              <a:off x="4977" y="1714"/>
              <a:ext cx="59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79966" name="Line 94"/>
            <p:cNvSpPr>
              <a:spLocks noChangeShapeType="1"/>
            </p:cNvSpPr>
            <p:nvPr/>
          </p:nvSpPr>
          <p:spPr bwMode="auto">
            <a:xfrm flipH="1">
              <a:off x="4973" y="1714"/>
              <a:ext cx="596" cy="6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79967" name="Line 95"/>
            <p:cNvSpPr>
              <a:spLocks noChangeShapeType="1"/>
            </p:cNvSpPr>
            <p:nvPr/>
          </p:nvSpPr>
          <p:spPr bwMode="auto">
            <a:xfrm>
              <a:off x="4977" y="1714"/>
              <a:ext cx="592" cy="65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79968" name="Line 96"/>
            <p:cNvSpPr>
              <a:spLocks noChangeShapeType="1"/>
            </p:cNvSpPr>
            <p:nvPr/>
          </p:nvSpPr>
          <p:spPr bwMode="auto">
            <a:xfrm>
              <a:off x="4977" y="2356"/>
              <a:ext cx="59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79969" name="Line 97"/>
            <p:cNvSpPr>
              <a:spLocks noChangeShapeType="1"/>
            </p:cNvSpPr>
            <p:nvPr/>
          </p:nvSpPr>
          <p:spPr bwMode="auto">
            <a:xfrm>
              <a:off x="5569" y="1714"/>
              <a:ext cx="0" cy="65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79970" name="Oval 98"/>
            <p:cNvSpPr>
              <a:spLocks noChangeArrowheads="1"/>
            </p:cNvSpPr>
            <p:nvPr/>
          </p:nvSpPr>
          <p:spPr bwMode="auto">
            <a:xfrm>
              <a:off x="4968" y="1698"/>
              <a:ext cx="20" cy="34"/>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9971" name="Oval 99"/>
            <p:cNvSpPr>
              <a:spLocks noChangeArrowheads="1"/>
            </p:cNvSpPr>
            <p:nvPr/>
          </p:nvSpPr>
          <p:spPr bwMode="auto">
            <a:xfrm>
              <a:off x="4956" y="2338"/>
              <a:ext cx="21" cy="3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9972" name="Oval 100"/>
            <p:cNvSpPr>
              <a:spLocks noChangeArrowheads="1"/>
            </p:cNvSpPr>
            <p:nvPr/>
          </p:nvSpPr>
          <p:spPr bwMode="auto">
            <a:xfrm>
              <a:off x="5558" y="1698"/>
              <a:ext cx="21" cy="34"/>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9973" name="Oval 101"/>
            <p:cNvSpPr>
              <a:spLocks noChangeArrowheads="1"/>
            </p:cNvSpPr>
            <p:nvPr/>
          </p:nvSpPr>
          <p:spPr bwMode="auto">
            <a:xfrm>
              <a:off x="5549" y="2338"/>
              <a:ext cx="20" cy="3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79975" name="Text Box 103"/>
            <p:cNvSpPr txBox="1">
              <a:spLocks noChangeArrowheads="1"/>
            </p:cNvSpPr>
            <p:nvPr/>
          </p:nvSpPr>
          <p:spPr bwMode="auto">
            <a:xfrm>
              <a:off x="4150" y="2296"/>
              <a:ext cx="22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i="1"/>
                <a:t>v</a:t>
              </a:r>
              <a:r>
                <a:rPr lang="en-US" altLang="zh-CN" sz="1800" b="0" baseline="-25000"/>
                <a:t>2</a:t>
              </a:r>
              <a:endParaRPr lang="en-US" altLang="zh-CN" sz="1800" b="0" baseline="-25000"/>
            </a:p>
          </p:txBody>
        </p:sp>
        <p:sp>
          <p:nvSpPr>
            <p:cNvPr id="79977" name="Text Box 105"/>
            <p:cNvSpPr txBox="1">
              <a:spLocks noChangeArrowheads="1"/>
            </p:cNvSpPr>
            <p:nvPr/>
          </p:nvSpPr>
          <p:spPr bwMode="auto">
            <a:xfrm>
              <a:off x="4907" y="2341"/>
              <a:ext cx="22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i="1"/>
                <a:t>v</a:t>
              </a:r>
              <a:r>
                <a:rPr lang="en-US" altLang="zh-CN" sz="1800" b="0" baseline="-25000"/>
                <a:t>4</a:t>
              </a:r>
              <a:endParaRPr lang="en-US" altLang="zh-CN" sz="1800" b="0" baseline="-25000"/>
            </a:p>
          </p:txBody>
        </p:sp>
        <p:sp>
          <p:nvSpPr>
            <p:cNvPr id="79979" name="Text Box 107"/>
            <p:cNvSpPr txBox="1">
              <a:spLocks noChangeArrowheads="1"/>
            </p:cNvSpPr>
            <p:nvPr/>
          </p:nvSpPr>
          <p:spPr bwMode="auto">
            <a:xfrm>
              <a:off x="5452" y="2341"/>
              <a:ext cx="22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i="1"/>
                <a:t>v</a:t>
              </a:r>
              <a:r>
                <a:rPr lang="en-US" altLang="zh-CN" sz="1800" b="0" baseline="-25000"/>
                <a:t>6</a:t>
              </a:r>
              <a:endParaRPr lang="en-US" altLang="zh-CN" sz="1800" b="0" baseline="-25000"/>
            </a:p>
          </p:txBody>
        </p:sp>
        <p:sp>
          <p:nvSpPr>
            <p:cNvPr id="79980" name="Text Box 108"/>
            <p:cNvSpPr txBox="1">
              <a:spLocks noChangeArrowheads="1"/>
            </p:cNvSpPr>
            <p:nvPr/>
          </p:nvSpPr>
          <p:spPr bwMode="auto">
            <a:xfrm>
              <a:off x="4422" y="1525"/>
              <a:ext cx="18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a:t>8</a:t>
              </a:r>
              <a:endParaRPr lang="en-US" altLang="zh-CN" sz="1800" b="0"/>
            </a:p>
          </p:txBody>
        </p:sp>
        <p:sp>
          <p:nvSpPr>
            <p:cNvPr id="79981" name="Text Box 109"/>
            <p:cNvSpPr txBox="1">
              <a:spLocks noChangeArrowheads="1"/>
            </p:cNvSpPr>
            <p:nvPr/>
          </p:nvSpPr>
          <p:spPr bwMode="auto">
            <a:xfrm>
              <a:off x="4549" y="1883"/>
              <a:ext cx="18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a:t>4</a:t>
              </a:r>
              <a:endParaRPr lang="en-US" altLang="zh-CN" sz="1800" b="0"/>
            </a:p>
          </p:txBody>
        </p:sp>
        <p:sp>
          <p:nvSpPr>
            <p:cNvPr id="79982" name="Text Box 110"/>
            <p:cNvSpPr txBox="1">
              <a:spLocks noChangeArrowheads="1"/>
            </p:cNvSpPr>
            <p:nvPr/>
          </p:nvSpPr>
          <p:spPr bwMode="auto">
            <a:xfrm>
              <a:off x="4517" y="2341"/>
              <a:ext cx="18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a:t>3</a:t>
              </a:r>
              <a:endParaRPr lang="en-US" altLang="zh-CN" sz="1800" b="0"/>
            </a:p>
          </p:txBody>
        </p:sp>
        <p:sp>
          <p:nvSpPr>
            <p:cNvPr id="79983" name="Text Box 111"/>
            <p:cNvSpPr txBox="1">
              <a:spLocks noChangeArrowheads="1"/>
            </p:cNvSpPr>
            <p:nvPr/>
          </p:nvSpPr>
          <p:spPr bwMode="auto">
            <a:xfrm>
              <a:off x="5180" y="1525"/>
              <a:ext cx="18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a:t>7</a:t>
              </a:r>
              <a:endParaRPr lang="en-US" altLang="zh-CN" sz="1800" b="0"/>
            </a:p>
          </p:txBody>
        </p:sp>
        <p:sp>
          <p:nvSpPr>
            <p:cNvPr id="79984" name="Text Box 112"/>
            <p:cNvSpPr txBox="1">
              <a:spLocks noChangeArrowheads="1"/>
            </p:cNvSpPr>
            <p:nvPr/>
          </p:nvSpPr>
          <p:spPr bwMode="auto">
            <a:xfrm>
              <a:off x="5121" y="1779"/>
              <a:ext cx="18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a:t>5</a:t>
              </a:r>
              <a:endParaRPr lang="en-US" altLang="zh-CN" sz="1800" b="0"/>
            </a:p>
          </p:txBody>
        </p:sp>
        <p:sp>
          <p:nvSpPr>
            <p:cNvPr id="79985" name="Text Box 113"/>
            <p:cNvSpPr txBox="1">
              <a:spLocks noChangeArrowheads="1"/>
            </p:cNvSpPr>
            <p:nvPr/>
          </p:nvSpPr>
          <p:spPr bwMode="auto">
            <a:xfrm>
              <a:off x="5024" y="1979"/>
              <a:ext cx="187"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a:t>2</a:t>
              </a:r>
              <a:endParaRPr lang="en-US" altLang="zh-CN" sz="1800" b="0"/>
            </a:p>
          </p:txBody>
        </p:sp>
        <p:sp>
          <p:nvSpPr>
            <p:cNvPr id="79986" name="Text Box 114"/>
            <p:cNvSpPr txBox="1">
              <a:spLocks noChangeArrowheads="1"/>
            </p:cNvSpPr>
            <p:nvPr/>
          </p:nvSpPr>
          <p:spPr bwMode="auto">
            <a:xfrm>
              <a:off x="5257" y="2296"/>
              <a:ext cx="188"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r>
                <a:rPr lang="en-US" altLang="zh-CN" sz="1800" b="0"/>
                <a:t>6</a:t>
              </a:r>
              <a:endParaRPr lang="en-US" altLang="zh-CN" sz="1800" b="0"/>
            </a:p>
          </p:txBody>
        </p:sp>
        <p:sp>
          <p:nvSpPr>
            <p:cNvPr id="79988" name="Text Box 116"/>
            <p:cNvSpPr txBox="1">
              <a:spLocks noChangeArrowheads="1"/>
            </p:cNvSpPr>
            <p:nvPr/>
          </p:nvSpPr>
          <p:spPr bwMode="auto">
            <a:xfrm>
              <a:off x="4785" y="1933"/>
              <a:ext cx="151"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spcBef>
                  <a:spcPct val="50000"/>
                </a:spcBef>
              </a:pPr>
              <a:r>
                <a:rPr lang="en-US" altLang="zh-CN" sz="1800" b="0"/>
                <a:t>8</a:t>
              </a:r>
              <a:endParaRPr lang="en-US" altLang="zh-CN" sz="1800" b="0"/>
            </a:p>
          </p:txBody>
        </p:sp>
      </p:gr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Line 3"/>
          <p:cNvSpPr>
            <a:spLocks noChangeShapeType="1"/>
          </p:cNvSpPr>
          <p:nvPr/>
        </p:nvSpPr>
        <p:spPr bwMode="auto">
          <a:xfrm>
            <a:off x="3213100" y="2057400"/>
            <a:ext cx="0" cy="1371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20" name="Oval 4"/>
          <p:cNvSpPr>
            <a:spLocks noChangeArrowheads="1"/>
          </p:cNvSpPr>
          <p:nvPr/>
        </p:nvSpPr>
        <p:spPr bwMode="auto">
          <a:xfrm>
            <a:off x="3178175" y="2017713"/>
            <a:ext cx="76200" cy="76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1" name="Oval 5"/>
          <p:cNvSpPr>
            <a:spLocks noChangeArrowheads="1"/>
          </p:cNvSpPr>
          <p:nvPr/>
        </p:nvSpPr>
        <p:spPr bwMode="auto">
          <a:xfrm>
            <a:off x="3178175" y="3429000"/>
            <a:ext cx="76200" cy="76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22" name="Text Box 6"/>
          <p:cNvSpPr txBox="1">
            <a:spLocks noChangeArrowheads="1"/>
          </p:cNvSpPr>
          <p:nvPr/>
        </p:nvSpPr>
        <p:spPr bwMode="auto">
          <a:xfrm>
            <a:off x="2857500" y="2479675"/>
            <a:ext cx="30353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a:t>5</a:t>
            </a:r>
            <a:endParaRPr lang="en-US" altLang="zh-CN" b="0"/>
          </a:p>
        </p:txBody>
      </p:sp>
      <p:sp>
        <p:nvSpPr>
          <p:cNvPr id="111623" name="Line 7"/>
          <p:cNvSpPr>
            <a:spLocks noChangeShapeType="1"/>
          </p:cNvSpPr>
          <p:nvPr/>
        </p:nvSpPr>
        <p:spPr bwMode="auto">
          <a:xfrm>
            <a:off x="3254375" y="2057400"/>
            <a:ext cx="2743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24" name="Line 8"/>
          <p:cNvSpPr>
            <a:spLocks noChangeShapeType="1"/>
          </p:cNvSpPr>
          <p:nvPr/>
        </p:nvSpPr>
        <p:spPr bwMode="auto">
          <a:xfrm>
            <a:off x="3254375" y="3468688"/>
            <a:ext cx="2727325" cy="15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25" name="Line 9"/>
          <p:cNvSpPr>
            <a:spLocks noChangeShapeType="1"/>
          </p:cNvSpPr>
          <p:nvPr/>
        </p:nvSpPr>
        <p:spPr bwMode="auto">
          <a:xfrm>
            <a:off x="3254375" y="2057400"/>
            <a:ext cx="2743200" cy="1447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26" name="Line 10"/>
          <p:cNvSpPr>
            <a:spLocks noChangeShapeType="1"/>
          </p:cNvSpPr>
          <p:nvPr/>
        </p:nvSpPr>
        <p:spPr bwMode="auto">
          <a:xfrm>
            <a:off x="5997575" y="2057400"/>
            <a:ext cx="0" cy="1447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27" name="Line 11"/>
          <p:cNvSpPr>
            <a:spLocks noChangeShapeType="1"/>
          </p:cNvSpPr>
          <p:nvPr/>
        </p:nvSpPr>
        <p:spPr bwMode="auto">
          <a:xfrm>
            <a:off x="5997575" y="2057400"/>
            <a:ext cx="2133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28" name="Line 12"/>
          <p:cNvSpPr>
            <a:spLocks noChangeShapeType="1"/>
          </p:cNvSpPr>
          <p:nvPr/>
        </p:nvSpPr>
        <p:spPr bwMode="auto">
          <a:xfrm flipH="1">
            <a:off x="5981700" y="2057400"/>
            <a:ext cx="2149475" cy="141287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29" name="Line 13"/>
          <p:cNvSpPr>
            <a:spLocks noChangeShapeType="1"/>
          </p:cNvSpPr>
          <p:nvPr/>
        </p:nvSpPr>
        <p:spPr bwMode="auto">
          <a:xfrm>
            <a:off x="5997575" y="2057400"/>
            <a:ext cx="2133600" cy="1447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30" name="Line 14"/>
          <p:cNvSpPr>
            <a:spLocks noChangeShapeType="1"/>
          </p:cNvSpPr>
          <p:nvPr/>
        </p:nvSpPr>
        <p:spPr bwMode="auto">
          <a:xfrm>
            <a:off x="5997575" y="3468688"/>
            <a:ext cx="2133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31" name="Line 15"/>
          <p:cNvSpPr>
            <a:spLocks noChangeShapeType="1"/>
          </p:cNvSpPr>
          <p:nvPr/>
        </p:nvSpPr>
        <p:spPr bwMode="auto">
          <a:xfrm>
            <a:off x="8131175" y="2057400"/>
            <a:ext cx="0" cy="1447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32" name="Oval 16"/>
          <p:cNvSpPr>
            <a:spLocks noChangeArrowheads="1"/>
          </p:cNvSpPr>
          <p:nvPr/>
        </p:nvSpPr>
        <p:spPr bwMode="auto">
          <a:xfrm>
            <a:off x="5962650" y="2020888"/>
            <a:ext cx="76200" cy="76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3" name="Oval 17"/>
          <p:cNvSpPr>
            <a:spLocks noChangeArrowheads="1"/>
          </p:cNvSpPr>
          <p:nvPr/>
        </p:nvSpPr>
        <p:spPr bwMode="auto">
          <a:xfrm>
            <a:off x="5921375" y="3429000"/>
            <a:ext cx="76200" cy="76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4" name="Oval 18"/>
          <p:cNvSpPr>
            <a:spLocks noChangeArrowheads="1"/>
          </p:cNvSpPr>
          <p:nvPr/>
        </p:nvSpPr>
        <p:spPr bwMode="auto">
          <a:xfrm>
            <a:off x="8089900" y="2020888"/>
            <a:ext cx="76200" cy="76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5" name="Oval 19"/>
          <p:cNvSpPr>
            <a:spLocks noChangeArrowheads="1"/>
          </p:cNvSpPr>
          <p:nvPr/>
        </p:nvSpPr>
        <p:spPr bwMode="auto">
          <a:xfrm>
            <a:off x="8054975" y="3429000"/>
            <a:ext cx="76200" cy="76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36" name="Text Box 20"/>
          <p:cNvSpPr txBox="1">
            <a:spLocks noChangeArrowheads="1"/>
          </p:cNvSpPr>
          <p:nvPr/>
        </p:nvSpPr>
        <p:spPr bwMode="auto">
          <a:xfrm>
            <a:off x="3086100" y="1565275"/>
            <a:ext cx="36766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i="1"/>
              <a:t>v</a:t>
            </a:r>
            <a:r>
              <a:rPr lang="en-US" altLang="zh-CN" b="0" baseline="-25000"/>
              <a:t>1</a:t>
            </a:r>
            <a:endParaRPr lang="en-US" altLang="zh-CN" b="0" baseline="-25000"/>
          </a:p>
        </p:txBody>
      </p:sp>
      <p:sp>
        <p:nvSpPr>
          <p:cNvPr id="111637" name="Text Box 21"/>
          <p:cNvSpPr txBox="1">
            <a:spLocks noChangeArrowheads="1"/>
          </p:cNvSpPr>
          <p:nvPr/>
        </p:nvSpPr>
        <p:spPr bwMode="auto">
          <a:xfrm>
            <a:off x="2949575" y="3429000"/>
            <a:ext cx="36766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i="1"/>
              <a:t>v</a:t>
            </a:r>
            <a:r>
              <a:rPr lang="en-US" altLang="zh-CN" b="0" baseline="-25000"/>
              <a:t>2</a:t>
            </a:r>
            <a:endParaRPr lang="en-US" altLang="zh-CN" b="0" baseline="-25000"/>
          </a:p>
        </p:txBody>
      </p:sp>
      <p:sp>
        <p:nvSpPr>
          <p:cNvPr id="111638" name="Text Box 22"/>
          <p:cNvSpPr txBox="1">
            <a:spLocks noChangeArrowheads="1"/>
          </p:cNvSpPr>
          <p:nvPr/>
        </p:nvSpPr>
        <p:spPr bwMode="auto">
          <a:xfrm>
            <a:off x="5768975" y="1600200"/>
            <a:ext cx="36766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i="1"/>
              <a:t>v</a:t>
            </a:r>
            <a:r>
              <a:rPr lang="en-US" altLang="zh-CN" b="0" baseline="-25000"/>
              <a:t>3</a:t>
            </a:r>
            <a:endParaRPr lang="en-US" altLang="zh-CN" b="0" baseline="-25000"/>
          </a:p>
        </p:txBody>
      </p:sp>
      <p:sp>
        <p:nvSpPr>
          <p:cNvPr id="111639" name="Text Box 23"/>
          <p:cNvSpPr txBox="1">
            <a:spLocks noChangeArrowheads="1"/>
          </p:cNvSpPr>
          <p:nvPr/>
        </p:nvSpPr>
        <p:spPr bwMode="auto">
          <a:xfrm>
            <a:off x="5768975" y="3505200"/>
            <a:ext cx="36766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i="1"/>
              <a:t>v</a:t>
            </a:r>
            <a:r>
              <a:rPr lang="en-US" altLang="zh-CN" b="0" baseline="-25000"/>
              <a:t>4</a:t>
            </a:r>
            <a:endParaRPr lang="en-US" altLang="zh-CN" b="0" baseline="-25000"/>
          </a:p>
        </p:txBody>
      </p:sp>
      <p:sp>
        <p:nvSpPr>
          <p:cNvPr id="111640" name="Text Box 24"/>
          <p:cNvSpPr txBox="1">
            <a:spLocks noChangeArrowheads="1"/>
          </p:cNvSpPr>
          <p:nvPr/>
        </p:nvSpPr>
        <p:spPr bwMode="auto">
          <a:xfrm>
            <a:off x="8115300" y="1641475"/>
            <a:ext cx="36766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i="1"/>
              <a:t>v</a:t>
            </a:r>
            <a:r>
              <a:rPr lang="en-US" altLang="zh-CN" b="0" baseline="-25000"/>
              <a:t>5</a:t>
            </a:r>
            <a:endParaRPr lang="en-US" altLang="zh-CN" b="0" baseline="-25000"/>
          </a:p>
        </p:txBody>
      </p:sp>
      <p:sp>
        <p:nvSpPr>
          <p:cNvPr id="111641" name="Text Box 25"/>
          <p:cNvSpPr txBox="1">
            <a:spLocks noChangeArrowheads="1"/>
          </p:cNvSpPr>
          <p:nvPr/>
        </p:nvSpPr>
        <p:spPr bwMode="auto">
          <a:xfrm>
            <a:off x="8054975" y="3429000"/>
            <a:ext cx="36766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i="1"/>
              <a:t>v</a:t>
            </a:r>
            <a:r>
              <a:rPr lang="en-US" altLang="zh-CN" b="0" baseline="-25000"/>
              <a:t>6</a:t>
            </a:r>
            <a:endParaRPr lang="en-US" altLang="zh-CN" b="0" baseline="-25000"/>
          </a:p>
        </p:txBody>
      </p:sp>
      <p:sp>
        <p:nvSpPr>
          <p:cNvPr id="111642" name="Text Box 26"/>
          <p:cNvSpPr txBox="1">
            <a:spLocks noChangeArrowheads="1"/>
          </p:cNvSpPr>
          <p:nvPr/>
        </p:nvSpPr>
        <p:spPr bwMode="auto">
          <a:xfrm>
            <a:off x="4457700" y="1641475"/>
            <a:ext cx="30353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a:t>8</a:t>
            </a:r>
            <a:endParaRPr lang="en-US" altLang="zh-CN" b="0"/>
          </a:p>
        </p:txBody>
      </p:sp>
      <p:sp>
        <p:nvSpPr>
          <p:cNvPr id="111643" name="Text Box 27"/>
          <p:cNvSpPr txBox="1">
            <a:spLocks noChangeArrowheads="1"/>
          </p:cNvSpPr>
          <p:nvPr/>
        </p:nvSpPr>
        <p:spPr bwMode="auto">
          <a:xfrm>
            <a:off x="4457700" y="2327275"/>
            <a:ext cx="30353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a:t>4</a:t>
            </a:r>
            <a:endParaRPr lang="en-US" altLang="zh-CN" b="0"/>
          </a:p>
        </p:txBody>
      </p:sp>
      <p:sp>
        <p:nvSpPr>
          <p:cNvPr id="111644" name="Text Box 28"/>
          <p:cNvSpPr txBox="1">
            <a:spLocks noChangeArrowheads="1"/>
          </p:cNvSpPr>
          <p:nvPr/>
        </p:nvSpPr>
        <p:spPr bwMode="auto">
          <a:xfrm>
            <a:off x="4152900" y="3429000"/>
            <a:ext cx="30353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a:t>3</a:t>
            </a:r>
            <a:endParaRPr lang="en-US" altLang="zh-CN" b="0"/>
          </a:p>
        </p:txBody>
      </p:sp>
      <p:sp>
        <p:nvSpPr>
          <p:cNvPr id="111645" name="Text Box 29"/>
          <p:cNvSpPr txBox="1">
            <a:spLocks noChangeArrowheads="1"/>
          </p:cNvSpPr>
          <p:nvPr/>
        </p:nvSpPr>
        <p:spPr bwMode="auto">
          <a:xfrm>
            <a:off x="6743700" y="1641475"/>
            <a:ext cx="30353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a:t>7</a:t>
            </a:r>
            <a:endParaRPr lang="en-US" altLang="zh-CN" b="0"/>
          </a:p>
        </p:txBody>
      </p:sp>
      <p:sp>
        <p:nvSpPr>
          <p:cNvPr id="111646" name="Text Box 30"/>
          <p:cNvSpPr txBox="1">
            <a:spLocks noChangeArrowheads="1"/>
          </p:cNvSpPr>
          <p:nvPr/>
        </p:nvSpPr>
        <p:spPr bwMode="auto">
          <a:xfrm>
            <a:off x="6515100" y="2098675"/>
            <a:ext cx="30353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a:t>5</a:t>
            </a:r>
            <a:endParaRPr lang="en-US" altLang="zh-CN" b="0"/>
          </a:p>
        </p:txBody>
      </p:sp>
      <p:sp>
        <p:nvSpPr>
          <p:cNvPr id="111647" name="Text Box 31"/>
          <p:cNvSpPr txBox="1">
            <a:spLocks noChangeArrowheads="1"/>
          </p:cNvSpPr>
          <p:nvPr/>
        </p:nvSpPr>
        <p:spPr bwMode="auto">
          <a:xfrm>
            <a:off x="6286500" y="2784475"/>
            <a:ext cx="30353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a:t>2</a:t>
            </a:r>
            <a:endParaRPr lang="en-US" altLang="zh-CN" b="0"/>
          </a:p>
        </p:txBody>
      </p:sp>
      <p:sp>
        <p:nvSpPr>
          <p:cNvPr id="111648" name="Text Box 32"/>
          <p:cNvSpPr txBox="1">
            <a:spLocks noChangeArrowheads="1"/>
          </p:cNvSpPr>
          <p:nvPr/>
        </p:nvSpPr>
        <p:spPr bwMode="auto">
          <a:xfrm>
            <a:off x="6743700" y="3429000"/>
            <a:ext cx="30353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a:t>6</a:t>
            </a:r>
            <a:endParaRPr lang="en-US" altLang="zh-CN" b="0"/>
          </a:p>
        </p:txBody>
      </p:sp>
      <p:sp>
        <p:nvSpPr>
          <p:cNvPr id="111649" name="Text Box 33"/>
          <p:cNvSpPr txBox="1">
            <a:spLocks noChangeArrowheads="1"/>
          </p:cNvSpPr>
          <p:nvPr/>
        </p:nvSpPr>
        <p:spPr bwMode="auto">
          <a:xfrm>
            <a:off x="8115300" y="2555875"/>
            <a:ext cx="30353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a:t>1</a:t>
            </a:r>
            <a:endParaRPr lang="en-US" altLang="zh-CN" b="0"/>
          </a:p>
        </p:txBody>
      </p:sp>
      <p:sp>
        <p:nvSpPr>
          <p:cNvPr id="111650" name="Text Box 34"/>
          <p:cNvSpPr txBox="1">
            <a:spLocks noChangeArrowheads="1"/>
          </p:cNvSpPr>
          <p:nvPr/>
        </p:nvSpPr>
        <p:spPr bwMode="auto">
          <a:xfrm>
            <a:off x="5676900" y="2479675"/>
            <a:ext cx="3810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0"/>
              <a:t>8</a:t>
            </a:r>
            <a:endParaRPr lang="en-US" altLang="zh-CN" b="0"/>
          </a:p>
        </p:txBody>
      </p:sp>
      <p:sp>
        <p:nvSpPr>
          <p:cNvPr id="111652" name="Text Box 36"/>
          <p:cNvSpPr txBox="1">
            <a:spLocks noChangeArrowheads="1"/>
          </p:cNvSpPr>
          <p:nvPr/>
        </p:nvSpPr>
        <p:spPr bwMode="auto">
          <a:xfrm>
            <a:off x="1736725" y="857250"/>
            <a:ext cx="25831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楷体" panose="02010609060101010101" pitchFamily="49" charset="-122"/>
                <a:ea typeface="楷体" panose="02010609060101010101" pitchFamily="49" charset="-122"/>
                <a:cs typeface="楷体" panose="02010609060101010101" pitchFamily="49" charset="-122"/>
              </a:rPr>
              <a:t>用破圈法求最小</a:t>
            </a:r>
            <a:r>
              <a:rPr lang="zh-CN" altLang="en-US" dirty="0">
                <a:latin typeface="楷体" panose="02010609060101010101" pitchFamily="49" charset="-122"/>
                <a:ea typeface="楷体" panose="02010609060101010101" pitchFamily="49" charset="-122"/>
                <a:cs typeface="楷体" panose="02010609060101010101" pitchFamily="49" charset="-122"/>
              </a:rPr>
              <a:t>生成树 </a:t>
            </a: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
        <p:nvSpPr>
          <p:cNvPr id="111654" name="AutoShape 38"/>
          <p:cNvSpPr>
            <a:spLocks noChangeArrowheads="1"/>
          </p:cNvSpPr>
          <p:nvPr/>
        </p:nvSpPr>
        <p:spPr bwMode="auto">
          <a:xfrm rot="10800000">
            <a:off x="3767138" y="2136775"/>
            <a:ext cx="2016125" cy="1079500"/>
          </a:xfrm>
          <a:prstGeom prst="rtTriangle">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55" name="Rectangle 39"/>
          <p:cNvSpPr>
            <a:spLocks noChangeArrowheads="1"/>
          </p:cNvSpPr>
          <p:nvPr/>
        </p:nvSpPr>
        <p:spPr bwMode="auto">
          <a:xfrm>
            <a:off x="6167438" y="2276475"/>
            <a:ext cx="1800225" cy="1008063"/>
          </a:xfrm>
          <a:prstGeom prst="rect">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56" name="AutoShape 40"/>
          <p:cNvSpPr>
            <a:spLocks noChangeArrowheads="1"/>
          </p:cNvSpPr>
          <p:nvPr/>
        </p:nvSpPr>
        <p:spPr bwMode="auto">
          <a:xfrm>
            <a:off x="3287713" y="2205038"/>
            <a:ext cx="2159000" cy="1152525"/>
          </a:xfrm>
          <a:prstGeom prst="rtTriangle">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57" name="AutoShape 41"/>
          <p:cNvSpPr>
            <a:spLocks noChangeArrowheads="1"/>
          </p:cNvSpPr>
          <p:nvPr/>
        </p:nvSpPr>
        <p:spPr bwMode="auto">
          <a:xfrm rot="10800000">
            <a:off x="6240463" y="2133600"/>
            <a:ext cx="1727200" cy="1152525"/>
          </a:xfrm>
          <a:prstGeom prst="rtTriangle">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58" name="AutoShape 42"/>
          <p:cNvSpPr>
            <a:spLocks noChangeArrowheads="1"/>
          </p:cNvSpPr>
          <p:nvPr/>
        </p:nvSpPr>
        <p:spPr bwMode="auto">
          <a:xfrm rot="16200000">
            <a:off x="6600032" y="1916906"/>
            <a:ext cx="1081088" cy="1800225"/>
          </a:xfrm>
          <a:prstGeom prst="rtTriangle">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60" name="Rectangle 44"/>
          <p:cNvSpPr>
            <a:spLocks noChangeArrowheads="1"/>
          </p:cNvSpPr>
          <p:nvPr/>
        </p:nvSpPr>
        <p:spPr bwMode="auto">
          <a:xfrm>
            <a:off x="1828800" y="5006340"/>
            <a:ext cx="8515350" cy="922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dirty="0">
                <a:latin typeface="楷体" panose="02010609060101010101" pitchFamily="49" charset="-122"/>
                <a:ea typeface="楷体" panose="02010609060101010101" pitchFamily="49" charset="-122"/>
                <a:cs typeface="楷体" panose="02010609060101010101" pitchFamily="49" charset="-122"/>
              </a:rPr>
              <a:t>最小树长为</a:t>
            </a:r>
            <a:r>
              <a:rPr lang="en-US" altLang="zh-CN" dirty="0">
                <a:latin typeface="楷体" panose="02010609060101010101" pitchFamily="49" charset="-122"/>
                <a:ea typeface="楷体" panose="02010609060101010101" pitchFamily="49" charset="-122"/>
                <a:cs typeface="楷体" panose="02010609060101010101" pitchFamily="49" charset="-122"/>
              </a:rPr>
              <a:t> C(T)=4+3+5+2+1=15</a:t>
            </a:r>
            <a:r>
              <a:rPr lang="zh-CN" altLang="en-US" dirty="0">
                <a:latin typeface="楷体" panose="02010609060101010101" pitchFamily="49" charset="-122"/>
                <a:ea typeface="楷体" panose="02010609060101010101" pitchFamily="49" charset="-122"/>
                <a:cs typeface="楷体" panose="02010609060101010101" pitchFamily="49" charset="-122"/>
              </a:rPr>
              <a:t>。</a:t>
            </a:r>
            <a:endParaRPr lang="zh-CN" altLang="en-US" dirty="0">
              <a:latin typeface="楷体" panose="02010609060101010101" pitchFamily="49" charset="-122"/>
              <a:ea typeface="楷体" panose="02010609060101010101" pitchFamily="49" charset="-122"/>
              <a:cs typeface="楷体" panose="02010609060101010101" pitchFamily="49" charset="-122"/>
            </a:endParaRPr>
          </a:p>
          <a:p>
            <a:r>
              <a:rPr lang="zh-CN" altLang="en-US" dirty="0">
                <a:latin typeface="楷体" panose="02010609060101010101" pitchFamily="49" charset="-122"/>
                <a:ea typeface="楷体" panose="02010609060101010101" pitchFamily="49" charset="-122"/>
                <a:cs typeface="楷体" panose="02010609060101010101" pitchFamily="49" charset="-122"/>
              </a:rPr>
              <a:t>当一个圈中有多个相同的最长边时，不能同时都去掉，只能去掉其中任意一条边。最小部分树有可能不唯一，但最小树的长度相同 </a:t>
            </a: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1652"/>
                                        </p:tgtEl>
                                        <p:attrNameLst>
                                          <p:attrName>style.visibility</p:attrName>
                                        </p:attrNameLst>
                                      </p:cBhvr>
                                      <p:to>
                                        <p:strVal val="visible"/>
                                      </p:to>
                                    </p:set>
                                    <p:animEffect transition="in" filter="wipe(left)">
                                      <p:cBhvr>
                                        <p:cTn id="7" dur="2000"/>
                                        <p:tgtEl>
                                          <p:spTgt spid="11165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11654"/>
                                        </p:tgtEl>
                                        <p:attrNameLst>
                                          <p:attrName>style.visibility</p:attrName>
                                        </p:attrNameLst>
                                      </p:cBhvr>
                                      <p:to>
                                        <p:strVal val="visible"/>
                                      </p:to>
                                    </p:set>
                                    <p:animEffect transition="in" filter="diamond(in)">
                                      <p:cBhvr>
                                        <p:cTn id="12" dur="2000"/>
                                        <p:tgtEl>
                                          <p:spTgt spid="111654"/>
                                        </p:tgtEl>
                                      </p:cBhvr>
                                    </p:animEffect>
                                  </p:childTnLst>
                                </p:cTn>
                              </p:par>
                            </p:childTnLst>
                          </p:cTn>
                        </p:par>
                        <p:par>
                          <p:cTn id="13" fill="hold">
                            <p:stCondLst>
                              <p:cond delay="2000"/>
                            </p:stCondLst>
                            <p:childTnLst>
                              <p:par>
                                <p:cTn id="14" presetID="8" presetClass="emph" presetSubtype="0" fill="hold" nodeType="afterEffect">
                                  <p:stCondLst>
                                    <p:cond delay="0"/>
                                  </p:stCondLst>
                                  <p:childTnLst>
                                    <p:animRot by="21600000">
                                      <p:cBhvr>
                                        <p:cTn id="15" dur="2000" fill="hold"/>
                                        <p:tgtEl>
                                          <p:spTgt spid="111654"/>
                                        </p:tgtEl>
                                        <p:attrNameLst>
                                          <p:attrName>r</p:attrName>
                                        </p:attrNameLst>
                                      </p:cBhvr>
                                    </p:animRot>
                                  </p:childTnLst>
                                </p:cTn>
                              </p:par>
                            </p:childTnLst>
                          </p:cTn>
                        </p:par>
                        <p:par>
                          <p:cTn id="16" fill="hold">
                            <p:stCondLst>
                              <p:cond delay="4000"/>
                            </p:stCondLst>
                            <p:childTnLst>
                              <p:par>
                                <p:cTn id="17" presetID="8" presetClass="exit" presetSubtype="16" fill="hold" nodeType="afterEffect">
                                  <p:stCondLst>
                                    <p:cond delay="0"/>
                                  </p:stCondLst>
                                  <p:childTnLst>
                                    <p:animEffect transition="out" filter="diamond(in)">
                                      <p:cBhvr>
                                        <p:cTn id="18" dur="2000"/>
                                        <p:tgtEl>
                                          <p:spTgt spid="111654"/>
                                        </p:tgtEl>
                                      </p:cBhvr>
                                    </p:animEffect>
                                    <p:set>
                                      <p:cBhvr>
                                        <p:cTn id="19" dur="1" fill="hold">
                                          <p:stCondLst>
                                            <p:cond delay="1999"/>
                                          </p:stCondLst>
                                        </p:cTn>
                                        <p:tgtEl>
                                          <p:spTgt spid="111654"/>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7" presetClass="emph" presetSubtype="2" fill="hold" nodeType="clickEffect">
                                  <p:stCondLst>
                                    <p:cond delay="0"/>
                                  </p:stCondLst>
                                  <p:childTnLst>
                                    <p:animClr clrSpc="rgb" dir="cw">
                                      <p:cBhvr>
                                        <p:cTn id="23" dur="2000" fill="hold"/>
                                        <p:tgtEl>
                                          <p:spTgt spid="111623"/>
                                        </p:tgtEl>
                                        <p:attrNameLst>
                                          <p:attrName>stroke.color</p:attrName>
                                        </p:attrNameLst>
                                      </p:cBhvr>
                                      <p:to>
                                        <a:srgbClr val="FF3300"/>
                                      </p:to>
                                    </p:animClr>
                                    <p:set>
                                      <p:cBhvr>
                                        <p:cTn id="24" dur="2000" fill="hold"/>
                                        <p:tgtEl>
                                          <p:spTgt spid="111623"/>
                                        </p:tgtEl>
                                        <p:attrNameLst>
                                          <p:attrName>stroke.on</p:attrName>
                                        </p:attrNameLst>
                                      </p:cBhvr>
                                      <p:to>
                                        <p:strVal val="true"/>
                                      </p:to>
                                    </p:set>
                                  </p:childTnLst>
                                </p:cTn>
                              </p:par>
                            </p:childTnLst>
                          </p:cTn>
                        </p:par>
                      </p:childTnLst>
                    </p:cTn>
                  </p:par>
                  <p:par>
                    <p:cTn id="25" fill="hold">
                      <p:stCondLst>
                        <p:cond delay="indefinite"/>
                      </p:stCondLst>
                      <p:childTnLst>
                        <p:par>
                          <p:cTn id="26" fill="hold">
                            <p:stCondLst>
                              <p:cond delay="0"/>
                            </p:stCondLst>
                            <p:childTnLst>
                              <p:par>
                                <p:cTn id="27" presetID="22" presetClass="exit" presetSubtype="8" fill="hold" nodeType="clickEffect">
                                  <p:stCondLst>
                                    <p:cond delay="0"/>
                                  </p:stCondLst>
                                  <p:childTnLst>
                                    <p:animEffect transition="out" filter="wipe(left)">
                                      <p:cBhvr>
                                        <p:cTn id="28" dur="2000"/>
                                        <p:tgtEl>
                                          <p:spTgt spid="111623"/>
                                        </p:tgtEl>
                                      </p:cBhvr>
                                    </p:animEffect>
                                    <p:set>
                                      <p:cBhvr>
                                        <p:cTn id="29" dur="1" fill="hold">
                                          <p:stCondLst>
                                            <p:cond delay="1999"/>
                                          </p:stCondLst>
                                        </p:cTn>
                                        <p:tgtEl>
                                          <p:spTgt spid="111623"/>
                                        </p:tgtEl>
                                        <p:attrNameLst>
                                          <p:attrName>style.visibility</p:attrName>
                                        </p:attrNameLst>
                                      </p:cBhvr>
                                      <p:to>
                                        <p:strVal val="hidden"/>
                                      </p:to>
                                    </p:set>
                                  </p:childTnLst>
                                </p:cTn>
                              </p:par>
                            </p:childTnLst>
                          </p:cTn>
                        </p:par>
                        <p:par>
                          <p:cTn id="30" fill="hold">
                            <p:stCondLst>
                              <p:cond delay="2000"/>
                            </p:stCondLst>
                            <p:childTnLst>
                              <p:par>
                                <p:cTn id="31" presetID="22" presetClass="exit" presetSubtype="8" fill="hold" grpId="0" nodeType="afterEffect">
                                  <p:stCondLst>
                                    <p:cond delay="0"/>
                                  </p:stCondLst>
                                  <p:childTnLst>
                                    <p:animEffect transition="out" filter="wipe(left)">
                                      <p:cBhvr>
                                        <p:cTn id="32" dur="2000"/>
                                        <p:tgtEl>
                                          <p:spTgt spid="111642"/>
                                        </p:tgtEl>
                                      </p:cBhvr>
                                    </p:animEffect>
                                    <p:set>
                                      <p:cBhvr>
                                        <p:cTn id="33" dur="1" fill="hold">
                                          <p:stCondLst>
                                            <p:cond delay="1999"/>
                                          </p:stCondLst>
                                        </p:cTn>
                                        <p:tgtEl>
                                          <p:spTgt spid="111642"/>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0" presetClass="entr" presetSubtype="0" fill="hold" nodeType="clickEffect">
                                  <p:stCondLst>
                                    <p:cond delay="0"/>
                                  </p:stCondLst>
                                  <p:childTnLst>
                                    <p:set>
                                      <p:cBhvr>
                                        <p:cTn id="37" dur="1" fill="hold">
                                          <p:stCondLst>
                                            <p:cond delay="0"/>
                                          </p:stCondLst>
                                        </p:cTn>
                                        <p:tgtEl>
                                          <p:spTgt spid="111655"/>
                                        </p:tgtEl>
                                        <p:attrNameLst>
                                          <p:attrName>style.visibility</p:attrName>
                                        </p:attrNameLst>
                                      </p:cBhvr>
                                      <p:to>
                                        <p:strVal val="visible"/>
                                      </p:to>
                                    </p:set>
                                    <p:animEffect transition="in" filter="wedge">
                                      <p:cBhvr>
                                        <p:cTn id="38" dur="2000"/>
                                        <p:tgtEl>
                                          <p:spTgt spid="111655"/>
                                        </p:tgtEl>
                                      </p:cBhvr>
                                    </p:animEffect>
                                  </p:childTnLst>
                                </p:cTn>
                              </p:par>
                            </p:childTnLst>
                          </p:cTn>
                        </p:par>
                        <p:par>
                          <p:cTn id="39" fill="hold">
                            <p:stCondLst>
                              <p:cond delay="2000"/>
                            </p:stCondLst>
                            <p:childTnLst>
                              <p:par>
                                <p:cTn id="40" presetID="8" presetClass="emph" presetSubtype="0" fill="hold" nodeType="afterEffect">
                                  <p:stCondLst>
                                    <p:cond delay="0"/>
                                  </p:stCondLst>
                                  <p:childTnLst>
                                    <p:animRot by="21600000">
                                      <p:cBhvr>
                                        <p:cTn id="41" dur="2000" fill="hold"/>
                                        <p:tgtEl>
                                          <p:spTgt spid="111655"/>
                                        </p:tgtEl>
                                        <p:attrNameLst>
                                          <p:attrName>r</p:attrName>
                                        </p:attrNameLst>
                                      </p:cBhvr>
                                    </p:animRot>
                                  </p:childTnLst>
                                </p:cTn>
                              </p:par>
                            </p:childTnLst>
                          </p:cTn>
                        </p:par>
                        <p:par>
                          <p:cTn id="42" fill="hold">
                            <p:stCondLst>
                              <p:cond delay="4000"/>
                            </p:stCondLst>
                            <p:childTnLst>
                              <p:par>
                                <p:cTn id="43" presetID="8" presetClass="exit" presetSubtype="16" fill="hold" nodeType="afterEffect">
                                  <p:stCondLst>
                                    <p:cond delay="0"/>
                                  </p:stCondLst>
                                  <p:childTnLst>
                                    <p:animEffect transition="out" filter="diamond(in)">
                                      <p:cBhvr>
                                        <p:cTn id="44" dur="2000"/>
                                        <p:tgtEl>
                                          <p:spTgt spid="111655"/>
                                        </p:tgtEl>
                                      </p:cBhvr>
                                    </p:animEffect>
                                    <p:set>
                                      <p:cBhvr>
                                        <p:cTn id="45" dur="1" fill="hold">
                                          <p:stCondLst>
                                            <p:cond delay="1999"/>
                                          </p:stCondLst>
                                        </p:cTn>
                                        <p:tgtEl>
                                          <p:spTgt spid="111655"/>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22" presetClass="exit" presetSubtype="4" fill="hold" nodeType="clickEffect">
                                  <p:stCondLst>
                                    <p:cond delay="0"/>
                                  </p:stCondLst>
                                  <p:childTnLst>
                                    <p:animEffect transition="out" filter="wipe(down)">
                                      <p:cBhvr>
                                        <p:cTn id="49" dur="3000"/>
                                        <p:tgtEl>
                                          <p:spTgt spid="111626"/>
                                        </p:tgtEl>
                                      </p:cBhvr>
                                    </p:animEffect>
                                    <p:set>
                                      <p:cBhvr>
                                        <p:cTn id="50" dur="1" fill="hold">
                                          <p:stCondLst>
                                            <p:cond delay="2999"/>
                                          </p:stCondLst>
                                        </p:cTn>
                                        <p:tgtEl>
                                          <p:spTgt spid="111626"/>
                                        </p:tgtEl>
                                        <p:attrNameLst>
                                          <p:attrName>style.visibility</p:attrName>
                                        </p:attrNameLst>
                                      </p:cBhvr>
                                      <p:to>
                                        <p:strVal val="hidden"/>
                                      </p:to>
                                    </p:set>
                                  </p:childTnLst>
                                </p:cTn>
                              </p:par>
                            </p:childTnLst>
                          </p:cTn>
                        </p:par>
                        <p:par>
                          <p:cTn id="51" fill="hold">
                            <p:stCondLst>
                              <p:cond delay="3000"/>
                            </p:stCondLst>
                            <p:childTnLst>
                              <p:par>
                                <p:cTn id="52" presetID="22" presetClass="exit" presetSubtype="8" fill="hold" grpId="0" nodeType="afterEffect">
                                  <p:stCondLst>
                                    <p:cond delay="0"/>
                                  </p:stCondLst>
                                  <p:childTnLst>
                                    <p:animEffect transition="out" filter="wipe(left)">
                                      <p:cBhvr>
                                        <p:cTn id="53" dur="2000"/>
                                        <p:tgtEl>
                                          <p:spTgt spid="111650"/>
                                        </p:tgtEl>
                                      </p:cBhvr>
                                    </p:animEffect>
                                    <p:set>
                                      <p:cBhvr>
                                        <p:cTn id="54" dur="1" fill="hold">
                                          <p:stCondLst>
                                            <p:cond delay="1999"/>
                                          </p:stCondLst>
                                        </p:cTn>
                                        <p:tgtEl>
                                          <p:spTgt spid="111650"/>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0" presetClass="entr" presetSubtype="0" fill="hold" nodeType="clickEffect">
                                  <p:stCondLst>
                                    <p:cond delay="0"/>
                                  </p:stCondLst>
                                  <p:childTnLst>
                                    <p:set>
                                      <p:cBhvr>
                                        <p:cTn id="58" dur="1" fill="hold">
                                          <p:stCondLst>
                                            <p:cond delay="0"/>
                                          </p:stCondLst>
                                        </p:cTn>
                                        <p:tgtEl>
                                          <p:spTgt spid="111656"/>
                                        </p:tgtEl>
                                        <p:attrNameLst>
                                          <p:attrName>style.visibility</p:attrName>
                                        </p:attrNameLst>
                                      </p:cBhvr>
                                      <p:to>
                                        <p:strVal val="visible"/>
                                      </p:to>
                                    </p:set>
                                    <p:animEffect transition="in" filter="wedge">
                                      <p:cBhvr>
                                        <p:cTn id="59" dur="2000"/>
                                        <p:tgtEl>
                                          <p:spTgt spid="111656"/>
                                        </p:tgtEl>
                                      </p:cBhvr>
                                    </p:animEffect>
                                  </p:childTnLst>
                                </p:cTn>
                              </p:par>
                            </p:childTnLst>
                          </p:cTn>
                        </p:par>
                        <p:par>
                          <p:cTn id="60" fill="hold">
                            <p:stCondLst>
                              <p:cond delay="2000"/>
                            </p:stCondLst>
                            <p:childTnLst>
                              <p:par>
                                <p:cTn id="61" presetID="8" presetClass="emph" presetSubtype="0" fill="hold" nodeType="afterEffect">
                                  <p:stCondLst>
                                    <p:cond delay="0"/>
                                  </p:stCondLst>
                                  <p:childTnLst>
                                    <p:animRot by="21600000">
                                      <p:cBhvr>
                                        <p:cTn id="62" dur="2000" fill="hold"/>
                                        <p:tgtEl>
                                          <p:spTgt spid="111656"/>
                                        </p:tgtEl>
                                        <p:attrNameLst>
                                          <p:attrName>r</p:attrName>
                                        </p:attrNameLst>
                                      </p:cBhvr>
                                    </p:animRot>
                                  </p:childTnLst>
                                </p:cTn>
                              </p:par>
                            </p:childTnLst>
                          </p:cTn>
                        </p:par>
                        <p:par>
                          <p:cTn id="63" fill="hold">
                            <p:stCondLst>
                              <p:cond delay="4000"/>
                            </p:stCondLst>
                            <p:childTnLst>
                              <p:par>
                                <p:cTn id="64" presetID="22" presetClass="exit" presetSubtype="1" fill="hold" nodeType="afterEffect">
                                  <p:stCondLst>
                                    <p:cond delay="0"/>
                                  </p:stCondLst>
                                  <p:childTnLst>
                                    <p:animEffect transition="out" filter="wipe(up)">
                                      <p:cBhvr>
                                        <p:cTn id="65" dur="3000"/>
                                        <p:tgtEl>
                                          <p:spTgt spid="111656"/>
                                        </p:tgtEl>
                                      </p:cBhvr>
                                    </p:animEffect>
                                    <p:set>
                                      <p:cBhvr>
                                        <p:cTn id="66" dur="1" fill="hold">
                                          <p:stCondLst>
                                            <p:cond delay="2999"/>
                                          </p:stCondLst>
                                        </p:cTn>
                                        <p:tgtEl>
                                          <p:spTgt spid="111656"/>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22" presetClass="exit" presetSubtype="1" fill="hold" nodeType="clickEffect">
                                  <p:stCondLst>
                                    <p:cond delay="0"/>
                                  </p:stCondLst>
                                  <p:childTnLst>
                                    <p:animEffect transition="out" filter="wipe(up)">
                                      <p:cBhvr>
                                        <p:cTn id="70" dur="3000"/>
                                        <p:tgtEl>
                                          <p:spTgt spid="111619"/>
                                        </p:tgtEl>
                                      </p:cBhvr>
                                    </p:animEffect>
                                    <p:set>
                                      <p:cBhvr>
                                        <p:cTn id="71" dur="1" fill="hold">
                                          <p:stCondLst>
                                            <p:cond delay="2999"/>
                                          </p:stCondLst>
                                        </p:cTn>
                                        <p:tgtEl>
                                          <p:spTgt spid="111619"/>
                                        </p:tgtEl>
                                        <p:attrNameLst>
                                          <p:attrName>style.visibility</p:attrName>
                                        </p:attrNameLst>
                                      </p:cBhvr>
                                      <p:to>
                                        <p:strVal val="hidden"/>
                                      </p:to>
                                    </p:set>
                                  </p:childTnLst>
                                </p:cTn>
                              </p:par>
                            </p:childTnLst>
                          </p:cTn>
                        </p:par>
                        <p:par>
                          <p:cTn id="72" fill="hold">
                            <p:stCondLst>
                              <p:cond delay="3000"/>
                            </p:stCondLst>
                            <p:childTnLst>
                              <p:par>
                                <p:cTn id="73" presetID="22" presetClass="exit" presetSubtype="8" fill="hold" grpId="0" nodeType="afterEffect">
                                  <p:stCondLst>
                                    <p:cond delay="0"/>
                                  </p:stCondLst>
                                  <p:childTnLst>
                                    <p:animEffect transition="out" filter="wipe(left)">
                                      <p:cBhvr>
                                        <p:cTn id="74" dur="2000"/>
                                        <p:tgtEl>
                                          <p:spTgt spid="111622"/>
                                        </p:tgtEl>
                                      </p:cBhvr>
                                    </p:animEffect>
                                    <p:set>
                                      <p:cBhvr>
                                        <p:cTn id="75" dur="1" fill="hold">
                                          <p:stCondLst>
                                            <p:cond delay="1999"/>
                                          </p:stCondLst>
                                        </p:cTn>
                                        <p:tgtEl>
                                          <p:spTgt spid="111622"/>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20" presetClass="entr" presetSubtype="0" fill="hold" nodeType="clickEffect">
                                  <p:stCondLst>
                                    <p:cond delay="0"/>
                                  </p:stCondLst>
                                  <p:childTnLst>
                                    <p:set>
                                      <p:cBhvr>
                                        <p:cTn id="79" dur="1" fill="hold">
                                          <p:stCondLst>
                                            <p:cond delay="0"/>
                                          </p:stCondLst>
                                        </p:cTn>
                                        <p:tgtEl>
                                          <p:spTgt spid="111657"/>
                                        </p:tgtEl>
                                        <p:attrNameLst>
                                          <p:attrName>style.visibility</p:attrName>
                                        </p:attrNameLst>
                                      </p:cBhvr>
                                      <p:to>
                                        <p:strVal val="visible"/>
                                      </p:to>
                                    </p:set>
                                    <p:animEffect transition="in" filter="wedge">
                                      <p:cBhvr>
                                        <p:cTn id="80" dur="2000"/>
                                        <p:tgtEl>
                                          <p:spTgt spid="111657"/>
                                        </p:tgtEl>
                                      </p:cBhvr>
                                    </p:animEffect>
                                  </p:childTnLst>
                                </p:cTn>
                              </p:par>
                            </p:childTnLst>
                          </p:cTn>
                        </p:par>
                        <p:par>
                          <p:cTn id="81" fill="hold">
                            <p:stCondLst>
                              <p:cond delay="2000"/>
                            </p:stCondLst>
                            <p:childTnLst>
                              <p:par>
                                <p:cTn id="82" presetID="8" presetClass="emph" presetSubtype="0" fill="hold" nodeType="afterEffect">
                                  <p:stCondLst>
                                    <p:cond delay="0"/>
                                  </p:stCondLst>
                                  <p:childTnLst>
                                    <p:animRot by="21600000">
                                      <p:cBhvr>
                                        <p:cTn id="83" dur="2000" fill="hold"/>
                                        <p:tgtEl>
                                          <p:spTgt spid="111657"/>
                                        </p:tgtEl>
                                        <p:attrNameLst>
                                          <p:attrName>r</p:attrName>
                                        </p:attrNameLst>
                                      </p:cBhvr>
                                    </p:animRot>
                                  </p:childTnLst>
                                </p:cTn>
                              </p:par>
                            </p:childTnLst>
                          </p:cTn>
                        </p:par>
                        <p:par>
                          <p:cTn id="84" fill="hold">
                            <p:stCondLst>
                              <p:cond delay="4000"/>
                            </p:stCondLst>
                            <p:childTnLst>
                              <p:par>
                                <p:cTn id="85" presetID="22" presetClass="exit" presetSubtype="4" fill="hold" nodeType="afterEffect">
                                  <p:stCondLst>
                                    <p:cond delay="0"/>
                                  </p:stCondLst>
                                  <p:childTnLst>
                                    <p:animEffect transition="out" filter="wipe(down)">
                                      <p:cBhvr>
                                        <p:cTn id="86" dur="2000"/>
                                        <p:tgtEl>
                                          <p:spTgt spid="111657"/>
                                        </p:tgtEl>
                                      </p:cBhvr>
                                    </p:animEffect>
                                    <p:set>
                                      <p:cBhvr>
                                        <p:cTn id="87" dur="1" fill="hold">
                                          <p:stCondLst>
                                            <p:cond delay="1999"/>
                                          </p:stCondLst>
                                        </p:cTn>
                                        <p:tgtEl>
                                          <p:spTgt spid="111657"/>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22" presetClass="exit" presetSubtype="8" fill="hold" nodeType="clickEffect">
                                  <p:stCondLst>
                                    <p:cond delay="0"/>
                                  </p:stCondLst>
                                  <p:childTnLst>
                                    <p:animEffect transition="out" filter="wipe(left)">
                                      <p:cBhvr>
                                        <p:cTn id="91" dur="3000"/>
                                        <p:tgtEl>
                                          <p:spTgt spid="111627"/>
                                        </p:tgtEl>
                                      </p:cBhvr>
                                    </p:animEffect>
                                    <p:set>
                                      <p:cBhvr>
                                        <p:cTn id="92" dur="1" fill="hold">
                                          <p:stCondLst>
                                            <p:cond delay="2999"/>
                                          </p:stCondLst>
                                        </p:cTn>
                                        <p:tgtEl>
                                          <p:spTgt spid="111627"/>
                                        </p:tgtEl>
                                        <p:attrNameLst>
                                          <p:attrName>style.visibility</p:attrName>
                                        </p:attrNameLst>
                                      </p:cBhvr>
                                      <p:to>
                                        <p:strVal val="hidden"/>
                                      </p:to>
                                    </p:set>
                                  </p:childTnLst>
                                </p:cTn>
                              </p:par>
                            </p:childTnLst>
                          </p:cTn>
                        </p:par>
                        <p:par>
                          <p:cTn id="93" fill="hold">
                            <p:stCondLst>
                              <p:cond delay="3000"/>
                            </p:stCondLst>
                            <p:childTnLst>
                              <p:par>
                                <p:cTn id="94" presetID="22" presetClass="exit" presetSubtype="8" fill="hold" grpId="0" nodeType="afterEffect">
                                  <p:stCondLst>
                                    <p:cond delay="0"/>
                                  </p:stCondLst>
                                  <p:childTnLst>
                                    <p:animEffect transition="out" filter="wipe(left)">
                                      <p:cBhvr>
                                        <p:cTn id="95" dur="2000"/>
                                        <p:tgtEl>
                                          <p:spTgt spid="111645"/>
                                        </p:tgtEl>
                                      </p:cBhvr>
                                    </p:animEffect>
                                    <p:set>
                                      <p:cBhvr>
                                        <p:cTn id="96" dur="1" fill="hold">
                                          <p:stCondLst>
                                            <p:cond delay="1999"/>
                                          </p:stCondLst>
                                        </p:cTn>
                                        <p:tgtEl>
                                          <p:spTgt spid="111645"/>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111658"/>
                                        </p:tgtEl>
                                        <p:attrNameLst>
                                          <p:attrName>style.visibility</p:attrName>
                                        </p:attrNameLst>
                                      </p:cBhvr>
                                      <p:to>
                                        <p:strVal val="visible"/>
                                      </p:to>
                                    </p:set>
                                    <p:animEffect transition="in" filter="wipe(left)">
                                      <p:cBhvr>
                                        <p:cTn id="101" dur="500"/>
                                        <p:tgtEl>
                                          <p:spTgt spid="111658"/>
                                        </p:tgtEl>
                                      </p:cBhvr>
                                    </p:animEffect>
                                  </p:childTnLst>
                                </p:cTn>
                              </p:par>
                            </p:childTnLst>
                          </p:cTn>
                        </p:par>
                        <p:par>
                          <p:cTn id="102" fill="hold">
                            <p:stCondLst>
                              <p:cond delay="500"/>
                            </p:stCondLst>
                            <p:childTnLst>
                              <p:par>
                                <p:cTn id="103" presetID="8" presetClass="emph" presetSubtype="0" fill="hold" nodeType="afterEffect">
                                  <p:stCondLst>
                                    <p:cond delay="0"/>
                                  </p:stCondLst>
                                  <p:childTnLst>
                                    <p:animRot by="21600000">
                                      <p:cBhvr>
                                        <p:cTn id="104" dur="2000" fill="hold"/>
                                        <p:tgtEl>
                                          <p:spTgt spid="111658"/>
                                        </p:tgtEl>
                                        <p:attrNameLst>
                                          <p:attrName>r</p:attrName>
                                        </p:attrNameLst>
                                      </p:cBhvr>
                                    </p:animRot>
                                  </p:childTnLst>
                                </p:cTn>
                              </p:par>
                            </p:childTnLst>
                          </p:cTn>
                        </p:par>
                        <p:par>
                          <p:cTn id="105" fill="hold">
                            <p:stCondLst>
                              <p:cond delay="2500"/>
                            </p:stCondLst>
                            <p:childTnLst>
                              <p:par>
                                <p:cTn id="106" presetID="22" presetClass="exit" presetSubtype="8" fill="hold" nodeType="afterEffect">
                                  <p:stCondLst>
                                    <p:cond delay="0"/>
                                  </p:stCondLst>
                                  <p:childTnLst>
                                    <p:animEffect transition="out" filter="wipe(left)">
                                      <p:cBhvr>
                                        <p:cTn id="107" dur="2000"/>
                                        <p:tgtEl>
                                          <p:spTgt spid="111658"/>
                                        </p:tgtEl>
                                      </p:cBhvr>
                                    </p:animEffect>
                                    <p:set>
                                      <p:cBhvr>
                                        <p:cTn id="108" dur="1" fill="hold">
                                          <p:stCondLst>
                                            <p:cond delay="1999"/>
                                          </p:stCondLst>
                                        </p:cTn>
                                        <p:tgtEl>
                                          <p:spTgt spid="111658"/>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22" presetClass="exit" presetSubtype="8" fill="hold" nodeType="clickEffect">
                                  <p:stCondLst>
                                    <p:cond delay="0"/>
                                  </p:stCondLst>
                                  <p:childTnLst>
                                    <p:animEffect transition="out" filter="wipe(left)">
                                      <p:cBhvr>
                                        <p:cTn id="112" dur="3000"/>
                                        <p:tgtEl>
                                          <p:spTgt spid="111630"/>
                                        </p:tgtEl>
                                      </p:cBhvr>
                                    </p:animEffect>
                                    <p:set>
                                      <p:cBhvr>
                                        <p:cTn id="113" dur="1" fill="hold">
                                          <p:stCondLst>
                                            <p:cond delay="2999"/>
                                          </p:stCondLst>
                                        </p:cTn>
                                        <p:tgtEl>
                                          <p:spTgt spid="111630"/>
                                        </p:tgtEl>
                                        <p:attrNameLst>
                                          <p:attrName>style.visibility</p:attrName>
                                        </p:attrNameLst>
                                      </p:cBhvr>
                                      <p:to>
                                        <p:strVal val="hidden"/>
                                      </p:to>
                                    </p:set>
                                  </p:childTnLst>
                                </p:cTn>
                              </p:par>
                            </p:childTnLst>
                          </p:cTn>
                        </p:par>
                        <p:par>
                          <p:cTn id="114" fill="hold">
                            <p:stCondLst>
                              <p:cond delay="3000"/>
                            </p:stCondLst>
                            <p:childTnLst>
                              <p:par>
                                <p:cTn id="115" presetID="22" presetClass="exit" presetSubtype="8" fill="hold" grpId="0" nodeType="afterEffect">
                                  <p:stCondLst>
                                    <p:cond delay="0"/>
                                  </p:stCondLst>
                                  <p:childTnLst>
                                    <p:animEffect transition="out" filter="wipe(left)">
                                      <p:cBhvr>
                                        <p:cTn id="116" dur="2000"/>
                                        <p:tgtEl>
                                          <p:spTgt spid="111648"/>
                                        </p:tgtEl>
                                      </p:cBhvr>
                                    </p:animEffect>
                                    <p:set>
                                      <p:cBhvr>
                                        <p:cTn id="117" dur="1" fill="hold">
                                          <p:stCondLst>
                                            <p:cond delay="1999"/>
                                          </p:stCondLst>
                                        </p:cTn>
                                        <p:tgtEl>
                                          <p:spTgt spid="111648"/>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grpId="0" nodeType="clickEffect">
                                  <p:stCondLst>
                                    <p:cond delay="0"/>
                                  </p:stCondLst>
                                  <p:childTnLst>
                                    <p:set>
                                      <p:cBhvr>
                                        <p:cTn id="121" dur="1" fill="hold">
                                          <p:stCondLst>
                                            <p:cond delay="0"/>
                                          </p:stCondLst>
                                        </p:cTn>
                                        <p:tgtEl>
                                          <p:spTgt spid="111660"/>
                                        </p:tgtEl>
                                        <p:attrNameLst>
                                          <p:attrName>style.visibility</p:attrName>
                                        </p:attrNameLst>
                                      </p:cBhvr>
                                      <p:to>
                                        <p:strVal val="visible"/>
                                      </p:to>
                                    </p:set>
                                    <p:animEffect transition="in" filter="wipe(up)">
                                      <p:cBhvr>
                                        <p:cTn id="122" dur="2000"/>
                                        <p:tgtEl>
                                          <p:spTgt spid="111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2" grpId="0" bldLvl="0" animBg="1"/>
      <p:bldP spid="111642" grpId="0" bldLvl="0" animBg="1"/>
      <p:bldP spid="111645" grpId="0" bldLvl="0" animBg="1"/>
      <p:bldP spid="111648" grpId="0" bldLvl="0" animBg="1"/>
      <p:bldP spid="111650" grpId="0" bldLvl="0" animBg="1"/>
      <p:bldP spid="111652" grpId="0" bldLvl="0" animBg="1"/>
      <p:bldP spid="111660"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81" name="Oval 9"/>
          <p:cNvSpPr>
            <a:spLocks noChangeArrowheads="1"/>
          </p:cNvSpPr>
          <p:nvPr/>
        </p:nvSpPr>
        <p:spPr bwMode="auto">
          <a:xfrm>
            <a:off x="2117725" y="2881313"/>
            <a:ext cx="76200" cy="76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2" name="Oval 10"/>
          <p:cNvSpPr>
            <a:spLocks noChangeArrowheads="1"/>
          </p:cNvSpPr>
          <p:nvPr/>
        </p:nvSpPr>
        <p:spPr bwMode="auto">
          <a:xfrm>
            <a:off x="2117725" y="4292600"/>
            <a:ext cx="76200" cy="76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3" name="Oval 21"/>
          <p:cNvSpPr>
            <a:spLocks noChangeArrowheads="1"/>
          </p:cNvSpPr>
          <p:nvPr/>
        </p:nvSpPr>
        <p:spPr bwMode="auto">
          <a:xfrm>
            <a:off x="4852988" y="2852738"/>
            <a:ext cx="76200" cy="76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4" name="Oval 22"/>
          <p:cNvSpPr>
            <a:spLocks noChangeArrowheads="1"/>
          </p:cNvSpPr>
          <p:nvPr/>
        </p:nvSpPr>
        <p:spPr bwMode="auto">
          <a:xfrm>
            <a:off x="4860925" y="4292600"/>
            <a:ext cx="76200" cy="76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5" name="Oval 23"/>
          <p:cNvSpPr>
            <a:spLocks noChangeArrowheads="1"/>
          </p:cNvSpPr>
          <p:nvPr/>
        </p:nvSpPr>
        <p:spPr bwMode="auto">
          <a:xfrm>
            <a:off x="7029450" y="2884488"/>
            <a:ext cx="76200" cy="76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6" name="Oval 24"/>
          <p:cNvSpPr>
            <a:spLocks noChangeArrowheads="1"/>
          </p:cNvSpPr>
          <p:nvPr/>
        </p:nvSpPr>
        <p:spPr bwMode="auto">
          <a:xfrm>
            <a:off x="7029450" y="4292600"/>
            <a:ext cx="76200" cy="762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7" name="Text Box 25"/>
          <p:cNvSpPr txBox="1">
            <a:spLocks noChangeArrowheads="1"/>
          </p:cNvSpPr>
          <p:nvPr/>
        </p:nvSpPr>
        <p:spPr bwMode="auto">
          <a:xfrm>
            <a:off x="2052162" y="2428875"/>
            <a:ext cx="36766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b="0" i="1"/>
              <a:t>v</a:t>
            </a:r>
            <a:r>
              <a:rPr lang="en-US" altLang="zh-CN" b="0" baseline="-25000"/>
              <a:t>1</a:t>
            </a:r>
            <a:endParaRPr lang="en-US" altLang="zh-CN" b="0"/>
          </a:p>
        </p:txBody>
      </p:sp>
      <p:sp>
        <p:nvSpPr>
          <p:cNvPr id="79898" name="Text Box 26"/>
          <p:cNvSpPr txBox="1">
            <a:spLocks noChangeArrowheads="1"/>
          </p:cNvSpPr>
          <p:nvPr/>
        </p:nvSpPr>
        <p:spPr bwMode="auto">
          <a:xfrm>
            <a:off x="1915637" y="4292600"/>
            <a:ext cx="36766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b="0" i="1"/>
              <a:t>v</a:t>
            </a:r>
            <a:r>
              <a:rPr lang="en-US" altLang="zh-CN" b="0" baseline="-25000"/>
              <a:t>2</a:t>
            </a:r>
            <a:endParaRPr lang="en-US" altLang="zh-CN" b="0"/>
          </a:p>
        </p:txBody>
      </p:sp>
      <p:sp>
        <p:nvSpPr>
          <p:cNvPr id="79899" name="Text Box 27"/>
          <p:cNvSpPr txBox="1">
            <a:spLocks noChangeArrowheads="1"/>
          </p:cNvSpPr>
          <p:nvPr/>
        </p:nvSpPr>
        <p:spPr bwMode="auto">
          <a:xfrm>
            <a:off x="4701699" y="2420938"/>
            <a:ext cx="36766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b="0" i="1"/>
              <a:t>v</a:t>
            </a:r>
            <a:r>
              <a:rPr lang="en-US" altLang="zh-CN" b="0" baseline="-25000"/>
              <a:t>3</a:t>
            </a:r>
            <a:endParaRPr lang="en-US" altLang="zh-CN" b="0"/>
          </a:p>
        </p:txBody>
      </p:sp>
      <p:sp>
        <p:nvSpPr>
          <p:cNvPr id="79900" name="Text Box 28"/>
          <p:cNvSpPr txBox="1">
            <a:spLocks noChangeArrowheads="1"/>
          </p:cNvSpPr>
          <p:nvPr/>
        </p:nvSpPr>
        <p:spPr bwMode="auto">
          <a:xfrm>
            <a:off x="4735037" y="4368800"/>
            <a:ext cx="36766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b="0" i="1"/>
              <a:t>v</a:t>
            </a:r>
            <a:r>
              <a:rPr lang="en-US" altLang="zh-CN" b="0" baseline="-25000"/>
              <a:t>4</a:t>
            </a:r>
            <a:endParaRPr lang="en-US" altLang="zh-CN" b="0"/>
          </a:p>
        </p:txBody>
      </p:sp>
      <p:sp>
        <p:nvSpPr>
          <p:cNvPr id="79901" name="Text Box 29"/>
          <p:cNvSpPr txBox="1">
            <a:spLocks noChangeArrowheads="1"/>
          </p:cNvSpPr>
          <p:nvPr/>
        </p:nvSpPr>
        <p:spPr bwMode="auto">
          <a:xfrm>
            <a:off x="7081362" y="2505075"/>
            <a:ext cx="36766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b="0" i="1"/>
              <a:t>v</a:t>
            </a:r>
            <a:r>
              <a:rPr lang="en-US" altLang="zh-CN" b="0" baseline="-25000"/>
              <a:t>5</a:t>
            </a:r>
            <a:endParaRPr lang="en-US" altLang="zh-CN" b="0"/>
          </a:p>
        </p:txBody>
      </p:sp>
      <p:sp>
        <p:nvSpPr>
          <p:cNvPr id="79902" name="Text Box 30"/>
          <p:cNvSpPr txBox="1">
            <a:spLocks noChangeArrowheads="1"/>
          </p:cNvSpPr>
          <p:nvPr/>
        </p:nvSpPr>
        <p:spPr bwMode="auto">
          <a:xfrm>
            <a:off x="6933724" y="4292600"/>
            <a:ext cx="36766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b="0" i="1"/>
              <a:t>v</a:t>
            </a:r>
            <a:r>
              <a:rPr lang="en-US" altLang="zh-CN" b="0" baseline="-25000"/>
              <a:t>6</a:t>
            </a:r>
            <a:endParaRPr lang="en-US" altLang="zh-CN" b="0"/>
          </a:p>
        </p:txBody>
      </p:sp>
      <p:grpSp>
        <p:nvGrpSpPr>
          <p:cNvPr id="79916" name="Group 44"/>
          <p:cNvGrpSpPr/>
          <p:nvPr/>
        </p:nvGrpSpPr>
        <p:grpSpPr bwMode="auto">
          <a:xfrm>
            <a:off x="2193925" y="2921000"/>
            <a:ext cx="2676525" cy="1384300"/>
            <a:chOff x="1317" y="1568"/>
            <a:chExt cx="1728" cy="912"/>
          </a:xfrm>
        </p:grpSpPr>
        <p:sp>
          <p:nvSpPr>
            <p:cNvPr id="79886" name="Line 14"/>
            <p:cNvSpPr>
              <a:spLocks noChangeShapeType="1"/>
            </p:cNvSpPr>
            <p:nvPr/>
          </p:nvSpPr>
          <p:spPr bwMode="auto">
            <a:xfrm>
              <a:off x="1317" y="1568"/>
              <a:ext cx="1728" cy="9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4" name="Text Box 32"/>
            <p:cNvSpPr txBox="1">
              <a:spLocks noChangeArrowheads="1"/>
            </p:cNvSpPr>
            <p:nvPr/>
          </p:nvSpPr>
          <p:spPr bwMode="auto">
            <a:xfrm>
              <a:off x="2083" y="1738"/>
              <a:ext cx="196"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b="0"/>
                <a:t>4</a:t>
              </a:r>
              <a:endParaRPr lang="en-US" altLang="zh-CN" b="0"/>
            </a:p>
          </p:txBody>
        </p:sp>
      </p:grpSp>
      <p:grpSp>
        <p:nvGrpSpPr>
          <p:cNvPr id="79915" name="Group 43"/>
          <p:cNvGrpSpPr/>
          <p:nvPr/>
        </p:nvGrpSpPr>
        <p:grpSpPr bwMode="auto">
          <a:xfrm>
            <a:off x="2193925" y="4292600"/>
            <a:ext cx="2727325" cy="368300"/>
            <a:chOff x="1317" y="2432"/>
            <a:chExt cx="1718" cy="232"/>
          </a:xfrm>
        </p:grpSpPr>
        <p:sp>
          <p:nvSpPr>
            <p:cNvPr id="79885" name="Line 13"/>
            <p:cNvSpPr>
              <a:spLocks noChangeShapeType="1"/>
            </p:cNvSpPr>
            <p:nvPr/>
          </p:nvSpPr>
          <p:spPr bwMode="auto">
            <a:xfrm>
              <a:off x="1317" y="2457"/>
              <a:ext cx="1718"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5" name="Text Box 33"/>
            <p:cNvSpPr txBox="1">
              <a:spLocks noChangeArrowheads="1"/>
            </p:cNvSpPr>
            <p:nvPr/>
          </p:nvSpPr>
          <p:spPr bwMode="auto">
            <a:xfrm>
              <a:off x="1893" y="2432"/>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b="0"/>
                <a:t>3</a:t>
              </a:r>
              <a:endParaRPr lang="en-US" altLang="zh-CN" b="0"/>
            </a:p>
          </p:txBody>
        </p:sp>
      </p:grpSp>
      <p:grpSp>
        <p:nvGrpSpPr>
          <p:cNvPr id="79917" name="Group 45"/>
          <p:cNvGrpSpPr/>
          <p:nvPr/>
        </p:nvGrpSpPr>
        <p:grpSpPr bwMode="auto">
          <a:xfrm>
            <a:off x="4891088" y="2889250"/>
            <a:ext cx="2133600" cy="1447800"/>
            <a:chOff x="3045" y="1568"/>
            <a:chExt cx="1344" cy="912"/>
          </a:xfrm>
        </p:grpSpPr>
        <p:sp>
          <p:nvSpPr>
            <p:cNvPr id="79890" name="Line 18"/>
            <p:cNvSpPr>
              <a:spLocks noChangeShapeType="1"/>
            </p:cNvSpPr>
            <p:nvPr/>
          </p:nvSpPr>
          <p:spPr bwMode="auto">
            <a:xfrm>
              <a:off x="3045" y="1568"/>
              <a:ext cx="1344" cy="9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7" name="Text Box 35"/>
            <p:cNvSpPr txBox="1">
              <a:spLocks noChangeArrowheads="1"/>
            </p:cNvSpPr>
            <p:nvPr/>
          </p:nvSpPr>
          <p:spPr bwMode="auto">
            <a:xfrm>
              <a:off x="3381" y="1594"/>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b="0"/>
                <a:t>5</a:t>
              </a:r>
              <a:endParaRPr lang="en-US" altLang="zh-CN" b="0"/>
            </a:p>
          </p:txBody>
        </p:sp>
      </p:grpSp>
      <p:grpSp>
        <p:nvGrpSpPr>
          <p:cNvPr id="79914" name="Group 42"/>
          <p:cNvGrpSpPr/>
          <p:nvPr/>
        </p:nvGrpSpPr>
        <p:grpSpPr bwMode="auto">
          <a:xfrm>
            <a:off x="4921250" y="2921000"/>
            <a:ext cx="2149475" cy="1412875"/>
            <a:chOff x="3035" y="1568"/>
            <a:chExt cx="1354" cy="890"/>
          </a:xfrm>
        </p:grpSpPr>
        <p:sp>
          <p:nvSpPr>
            <p:cNvPr id="79889" name="Line 17"/>
            <p:cNvSpPr>
              <a:spLocks noChangeShapeType="1"/>
            </p:cNvSpPr>
            <p:nvPr/>
          </p:nvSpPr>
          <p:spPr bwMode="auto">
            <a:xfrm flipH="1">
              <a:off x="3035" y="1568"/>
              <a:ext cx="1354" cy="8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08" name="Text Box 36"/>
            <p:cNvSpPr txBox="1">
              <a:spLocks noChangeArrowheads="1"/>
            </p:cNvSpPr>
            <p:nvPr/>
          </p:nvSpPr>
          <p:spPr bwMode="auto">
            <a:xfrm>
              <a:off x="3237" y="2026"/>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b="0"/>
                <a:t>2</a:t>
              </a:r>
              <a:endParaRPr lang="en-US" altLang="zh-CN" b="0"/>
            </a:p>
          </p:txBody>
        </p:sp>
      </p:grpSp>
      <p:grpSp>
        <p:nvGrpSpPr>
          <p:cNvPr id="79913" name="Group 41"/>
          <p:cNvGrpSpPr/>
          <p:nvPr/>
        </p:nvGrpSpPr>
        <p:grpSpPr bwMode="auto">
          <a:xfrm>
            <a:off x="7067550" y="2924175"/>
            <a:ext cx="303213" cy="1447800"/>
            <a:chOff x="4389" y="1568"/>
            <a:chExt cx="191" cy="912"/>
          </a:xfrm>
        </p:grpSpPr>
        <p:sp>
          <p:nvSpPr>
            <p:cNvPr id="79892" name="Line 20"/>
            <p:cNvSpPr>
              <a:spLocks noChangeShapeType="1"/>
            </p:cNvSpPr>
            <p:nvPr/>
          </p:nvSpPr>
          <p:spPr bwMode="auto">
            <a:xfrm>
              <a:off x="4389" y="1568"/>
              <a:ext cx="0" cy="9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10" name="Text Box 38"/>
            <p:cNvSpPr txBox="1">
              <a:spLocks noChangeArrowheads="1"/>
            </p:cNvSpPr>
            <p:nvPr/>
          </p:nvSpPr>
          <p:spPr bwMode="auto">
            <a:xfrm>
              <a:off x="4389" y="1882"/>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b="0"/>
                <a:t>1</a:t>
              </a:r>
              <a:endParaRPr lang="en-US" altLang="zh-CN" b="0"/>
            </a:p>
          </p:txBody>
        </p:sp>
      </p:grpSp>
      <p:sp>
        <p:nvSpPr>
          <p:cNvPr id="79919" name="Text Box 47"/>
          <p:cNvSpPr txBox="1">
            <a:spLocks noChangeArrowheads="1"/>
          </p:cNvSpPr>
          <p:nvPr/>
        </p:nvSpPr>
        <p:spPr bwMode="auto">
          <a:xfrm>
            <a:off x="1774825" y="5300663"/>
            <a:ext cx="8661400" cy="922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dirty="0">
                <a:latin typeface="楷体" panose="02010609060101010101" pitchFamily="49" charset="-122"/>
                <a:ea typeface="楷体" panose="02010609060101010101" pitchFamily="49" charset="-122"/>
                <a:cs typeface="楷体" panose="02010609060101010101" pitchFamily="49" charset="-122"/>
              </a:rPr>
              <a:t>在图中，如果添加边</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en-US" altLang="zh-CN" i="1" dirty="0">
                <a:latin typeface="楷体" panose="02010609060101010101" pitchFamily="49" charset="-122"/>
                <a:ea typeface="楷体" panose="02010609060101010101" pitchFamily="49" charset="-122"/>
                <a:cs typeface="楷体" panose="02010609060101010101" pitchFamily="49" charset="-122"/>
              </a:rPr>
              <a:t>v</a:t>
            </a:r>
            <a:r>
              <a:rPr lang="en-US" altLang="zh-CN" baseline="-25000" dirty="0">
                <a:latin typeface="楷体" panose="02010609060101010101" pitchFamily="49" charset="-122"/>
                <a:ea typeface="楷体" panose="02010609060101010101" pitchFamily="49" charset="-122"/>
                <a:cs typeface="楷体" panose="02010609060101010101" pitchFamily="49" charset="-122"/>
              </a:rPr>
              <a:t>1</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en-US" altLang="zh-CN" i="1" dirty="0">
                <a:latin typeface="楷体" panose="02010609060101010101" pitchFamily="49" charset="-122"/>
                <a:ea typeface="楷体" panose="02010609060101010101" pitchFamily="49" charset="-122"/>
                <a:cs typeface="楷体" panose="02010609060101010101" pitchFamily="49" charset="-122"/>
              </a:rPr>
              <a:t> v</a:t>
            </a:r>
            <a:r>
              <a:rPr lang="en-US" altLang="zh-CN" baseline="-25000" dirty="0">
                <a:latin typeface="楷体" panose="02010609060101010101" pitchFamily="49" charset="-122"/>
                <a:ea typeface="楷体" panose="02010609060101010101" pitchFamily="49" charset="-122"/>
                <a:cs typeface="楷体" panose="02010609060101010101" pitchFamily="49" charset="-122"/>
              </a:rPr>
              <a:t>2</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就形成圈｛</a:t>
            </a:r>
            <a:r>
              <a:rPr lang="en-US" altLang="zh-CN" i="1" dirty="0">
                <a:latin typeface="楷体" panose="02010609060101010101" pitchFamily="49" charset="-122"/>
                <a:ea typeface="楷体" panose="02010609060101010101" pitchFamily="49" charset="-122"/>
                <a:cs typeface="楷体" panose="02010609060101010101" pitchFamily="49" charset="-122"/>
              </a:rPr>
              <a:t>v</a:t>
            </a:r>
            <a:r>
              <a:rPr lang="en-US" altLang="zh-CN" baseline="-25000" dirty="0">
                <a:latin typeface="楷体" panose="02010609060101010101" pitchFamily="49" charset="-122"/>
                <a:ea typeface="楷体" panose="02010609060101010101" pitchFamily="49" charset="-122"/>
                <a:cs typeface="楷体" panose="02010609060101010101" pitchFamily="49" charset="-122"/>
              </a:rPr>
              <a:t>1</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en-US" altLang="zh-CN" i="1" dirty="0">
                <a:latin typeface="楷体" panose="02010609060101010101" pitchFamily="49" charset="-122"/>
                <a:ea typeface="楷体" panose="02010609060101010101" pitchFamily="49" charset="-122"/>
                <a:cs typeface="楷体" panose="02010609060101010101" pitchFamily="49" charset="-122"/>
              </a:rPr>
              <a:t> v</a:t>
            </a:r>
            <a:r>
              <a:rPr lang="en-US" altLang="zh-CN" baseline="-25000" dirty="0">
                <a:latin typeface="楷体" panose="02010609060101010101" pitchFamily="49" charset="-122"/>
                <a:ea typeface="楷体" panose="02010609060101010101" pitchFamily="49" charset="-122"/>
                <a:cs typeface="楷体" panose="02010609060101010101" pitchFamily="49" charset="-122"/>
              </a:rPr>
              <a:t>2</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en-US" altLang="zh-CN" i="1" dirty="0">
                <a:latin typeface="楷体" panose="02010609060101010101" pitchFamily="49" charset="-122"/>
                <a:ea typeface="楷体" panose="02010609060101010101" pitchFamily="49" charset="-122"/>
                <a:cs typeface="楷体" panose="02010609060101010101" pitchFamily="49" charset="-122"/>
              </a:rPr>
              <a:t> v</a:t>
            </a:r>
            <a:r>
              <a:rPr lang="en-US" altLang="zh-CN" baseline="-25000" dirty="0">
                <a:latin typeface="楷体" panose="02010609060101010101" pitchFamily="49" charset="-122"/>
                <a:ea typeface="楷体" panose="02010609060101010101" pitchFamily="49" charset="-122"/>
                <a:cs typeface="楷体" panose="02010609060101010101" pitchFamily="49" charset="-122"/>
              </a:rPr>
              <a:t>4</a:t>
            </a:r>
            <a:r>
              <a:rPr lang="zh-CN" altLang="en-US" dirty="0">
                <a:latin typeface="楷体" panose="02010609060101010101" pitchFamily="49" charset="-122"/>
                <a:ea typeface="楷体" panose="02010609060101010101" pitchFamily="49" charset="-122"/>
                <a:cs typeface="楷体" panose="02010609060101010101" pitchFamily="49" charset="-122"/>
              </a:rPr>
              <a:t>｝，这时就应避开添加边</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en-US" altLang="zh-CN" i="1" dirty="0">
                <a:latin typeface="楷体" panose="02010609060101010101" pitchFamily="49" charset="-122"/>
                <a:ea typeface="楷体" panose="02010609060101010101" pitchFamily="49" charset="-122"/>
                <a:cs typeface="楷体" panose="02010609060101010101" pitchFamily="49" charset="-122"/>
              </a:rPr>
              <a:t>v</a:t>
            </a:r>
            <a:r>
              <a:rPr lang="en-US" altLang="zh-CN" baseline="-25000" dirty="0">
                <a:latin typeface="楷体" panose="02010609060101010101" pitchFamily="49" charset="-122"/>
                <a:ea typeface="楷体" panose="02010609060101010101" pitchFamily="49" charset="-122"/>
                <a:cs typeface="楷体" panose="02010609060101010101" pitchFamily="49" charset="-122"/>
              </a:rPr>
              <a:t>1</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en-US" altLang="zh-CN" i="1" dirty="0">
                <a:latin typeface="楷体" panose="02010609060101010101" pitchFamily="49" charset="-122"/>
                <a:ea typeface="楷体" panose="02010609060101010101" pitchFamily="49" charset="-122"/>
                <a:cs typeface="楷体" panose="02010609060101010101" pitchFamily="49" charset="-122"/>
              </a:rPr>
              <a:t> v</a:t>
            </a:r>
            <a:r>
              <a:rPr lang="en-US" altLang="zh-CN" baseline="-25000" dirty="0">
                <a:latin typeface="楷体" panose="02010609060101010101" pitchFamily="49" charset="-122"/>
                <a:ea typeface="楷体" panose="02010609060101010101" pitchFamily="49" charset="-122"/>
                <a:cs typeface="楷体" panose="02010609060101010101" pitchFamily="49" charset="-122"/>
              </a:rPr>
              <a:t>2</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，添加下一条最短边</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en-US" altLang="zh-CN" i="1" dirty="0">
                <a:latin typeface="楷体" panose="02010609060101010101" pitchFamily="49" charset="-122"/>
                <a:ea typeface="楷体" panose="02010609060101010101" pitchFamily="49" charset="-122"/>
                <a:cs typeface="楷体" panose="02010609060101010101" pitchFamily="49" charset="-122"/>
              </a:rPr>
              <a:t>v</a:t>
            </a:r>
            <a:r>
              <a:rPr lang="en-US" altLang="zh-CN" baseline="-25000" dirty="0">
                <a:latin typeface="楷体" panose="02010609060101010101" pitchFamily="49" charset="-122"/>
                <a:ea typeface="楷体" panose="02010609060101010101" pitchFamily="49" charset="-122"/>
                <a:cs typeface="楷体" panose="02010609060101010101" pitchFamily="49" charset="-122"/>
              </a:rPr>
              <a:t>3</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en-US" altLang="zh-CN" i="1" dirty="0">
                <a:latin typeface="楷体" panose="02010609060101010101" pitchFamily="49" charset="-122"/>
                <a:ea typeface="楷体" panose="02010609060101010101" pitchFamily="49" charset="-122"/>
                <a:cs typeface="楷体" panose="02010609060101010101" pitchFamily="49" charset="-122"/>
              </a:rPr>
              <a:t> v</a:t>
            </a:r>
            <a:r>
              <a:rPr lang="en-US" altLang="zh-CN" baseline="-25000" dirty="0">
                <a:latin typeface="楷体" panose="02010609060101010101" pitchFamily="49" charset="-122"/>
                <a:ea typeface="楷体" panose="02010609060101010101" pitchFamily="49" charset="-122"/>
                <a:cs typeface="楷体" panose="02010609060101010101" pitchFamily="49" charset="-122"/>
              </a:rPr>
              <a:t>6</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。破圈法和加边法得到树的形状可能不一样，但最小树的长度相等 </a:t>
            </a: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grpSp>
        <p:nvGrpSpPr>
          <p:cNvPr id="79922" name="Group 50"/>
          <p:cNvGrpSpPr/>
          <p:nvPr/>
        </p:nvGrpSpPr>
        <p:grpSpPr bwMode="auto">
          <a:xfrm>
            <a:off x="1774825" y="2924175"/>
            <a:ext cx="379413" cy="1368425"/>
            <a:chOff x="1053" y="1570"/>
            <a:chExt cx="239" cy="862"/>
          </a:xfrm>
        </p:grpSpPr>
        <p:sp>
          <p:nvSpPr>
            <p:cNvPr id="79920" name="Line 48"/>
            <p:cNvSpPr>
              <a:spLocks noChangeShapeType="1"/>
            </p:cNvSpPr>
            <p:nvPr/>
          </p:nvSpPr>
          <p:spPr bwMode="auto">
            <a:xfrm>
              <a:off x="1292" y="1570"/>
              <a:ext cx="0" cy="8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21" name="Text Box 49"/>
            <p:cNvSpPr txBox="1">
              <a:spLocks noChangeArrowheads="1"/>
            </p:cNvSpPr>
            <p:nvPr/>
          </p:nvSpPr>
          <p:spPr bwMode="auto">
            <a:xfrm>
              <a:off x="1053" y="1901"/>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0"/>
                <a:t>5</a:t>
              </a:r>
              <a:endParaRPr lang="en-US" altLang="zh-CN" b="0"/>
            </a:p>
          </p:txBody>
        </p:sp>
      </p:grpSp>
      <p:sp>
        <p:nvSpPr>
          <p:cNvPr id="79923" name="AutoShape 51"/>
          <p:cNvSpPr>
            <a:spLocks noChangeArrowheads="1"/>
          </p:cNvSpPr>
          <p:nvPr/>
        </p:nvSpPr>
        <p:spPr bwMode="auto">
          <a:xfrm>
            <a:off x="2227263" y="3140075"/>
            <a:ext cx="2016125" cy="1081088"/>
          </a:xfrm>
          <a:prstGeom prst="rtTriangle">
            <a:avLst/>
          </a:prstGeom>
          <a:noFill/>
          <a:ln w="9525">
            <a:solidFill>
              <a:srgbClr val="FF33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9991" name="Group 119"/>
          <p:cNvGrpSpPr/>
          <p:nvPr/>
        </p:nvGrpSpPr>
        <p:grpSpPr bwMode="auto">
          <a:xfrm>
            <a:off x="8040688" y="2276475"/>
            <a:ext cx="2598738" cy="1808163"/>
            <a:chOff x="4105" y="1434"/>
            <a:chExt cx="1637" cy="1139"/>
          </a:xfrm>
        </p:grpSpPr>
        <p:sp>
          <p:nvSpPr>
            <p:cNvPr id="79974" name="Text Box 102"/>
            <p:cNvSpPr txBox="1">
              <a:spLocks noChangeArrowheads="1"/>
            </p:cNvSpPr>
            <p:nvPr/>
          </p:nvSpPr>
          <p:spPr bwMode="auto">
            <a:xfrm>
              <a:off x="4105" y="1480"/>
              <a:ext cx="232"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i="1"/>
                <a:t>v</a:t>
              </a:r>
              <a:r>
                <a:rPr lang="en-US" altLang="zh-CN" sz="1800" b="0" baseline="-25000"/>
                <a:t>1</a:t>
              </a:r>
              <a:endParaRPr lang="en-US" altLang="zh-CN" sz="1800" b="0" baseline="-25000"/>
            </a:p>
          </p:txBody>
        </p:sp>
        <p:sp>
          <p:nvSpPr>
            <p:cNvPr id="79976" name="Text Box 104"/>
            <p:cNvSpPr txBox="1">
              <a:spLocks noChangeArrowheads="1"/>
            </p:cNvSpPr>
            <p:nvPr/>
          </p:nvSpPr>
          <p:spPr bwMode="auto">
            <a:xfrm>
              <a:off x="4740" y="1480"/>
              <a:ext cx="232"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i="1"/>
                <a:t>v</a:t>
              </a:r>
              <a:r>
                <a:rPr lang="en-US" altLang="zh-CN" sz="1800" b="0" baseline="-25000"/>
                <a:t>3</a:t>
              </a:r>
              <a:endParaRPr lang="en-US" altLang="zh-CN" sz="1800" b="0" baseline="-25000"/>
            </a:p>
          </p:txBody>
        </p:sp>
        <p:sp>
          <p:nvSpPr>
            <p:cNvPr id="79978" name="Text Box 106"/>
            <p:cNvSpPr txBox="1">
              <a:spLocks noChangeArrowheads="1"/>
            </p:cNvSpPr>
            <p:nvPr/>
          </p:nvSpPr>
          <p:spPr bwMode="auto">
            <a:xfrm>
              <a:off x="5329" y="1434"/>
              <a:ext cx="318"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800" b="0" i="1"/>
                <a:t>v</a:t>
              </a:r>
              <a:r>
                <a:rPr lang="en-US" altLang="zh-CN" sz="1800" b="0" i="1" baseline="-25000"/>
                <a:t>5</a:t>
              </a:r>
              <a:endParaRPr lang="en-US" altLang="zh-CN" sz="1800" b="0" i="1" baseline="-25000"/>
            </a:p>
          </p:txBody>
        </p:sp>
        <p:sp>
          <p:nvSpPr>
            <p:cNvPr id="79987" name="Text Box 115"/>
            <p:cNvSpPr txBox="1">
              <a:spLocks noChangeArrowheads="1"/>
            </p:cNvSpPr>
            <p:nvPr/>
          </p:nvSpPr>
          <p:spPr bwMode="auto">
            <a:xfrm>
              <a:off x="5551" y="1987"/>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a:t>1</a:t>
              </a:r>
              <a:endParaRPr lang="en-US" altLang="zh-CN" sz="1800" b="0"/>
            </a:p>
          </p:txBody>
        </p:sp>
        <p:sp>
          <p:nvSpPr>
            <p:cNvPr id="79957" name="Line 85"/>
            <p:cNvSpPr>
              <a:spLocks noChangeShapeType="1"/>
            </p:cNvSpPr>
            <p:nvPr/>
          </p:nvSpPr>
          <p:spPr bwMode="auto">
            <a:xfrm>
              <a:off x="4204" y="1714"/>
              <a:ext cx="0" cy="62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58" name="Oval 86"/>
            <p:cNvSpPr>
              <a:spLocks noChangeArrowheads="1"/>
            </p:cNvSpPr>
            <p:nvPr/>
          </p:nvSpPr>
          <p:spPr bwMode="auto">
            <a:xfrm>
              <a:off x="4194" y="1696"/>
              <a:ext cx="21" cy="3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59" name="Oval 87"/>
            <p:cNvSpPr>
              <a:spLocks noChangeArrowheads="1"/>
            </p:cNvSpPr>
            <p:nvPr/>
          </p:nvSpPr>
          <p:spPr bwMode="auto">
            <a:xfrm>
              <a:off x="4194" y="2338"/>
              <a:ext cx="21" cy="3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60" name="Text Box 88"/>
            <p:cNvSpPr txBox="1">
              <a:spLocks noChangeArrowheads="1"/>
            </p:cNvSpPr>
            <p:nvPr/>
          </p:nvSpPr>
          <p:spPr bwMode="auto">
            <a:xfrm>
              <a:off x="4195" y="1933"/>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a:t>5</a:t>
              </a:r>
              <a:endParaRPr lang="en-US" altLang="zh-CN" sz="1800" b="0"/>
            </a:p>
          </p:txBody>
        </p:sp>
        <p:sp>
          <p:nvSpPr>
            <p:cNvPr id="79961" name="Line 89"/>
            <p:cNvSpPr>
              <a:spLocks noChangeShapeType="1"/>
            </p:cNvSpPr>
            <p:nvPr/>
          </p:nvSpPr>
          <p:spPr bwMode="auto">
            <a:xfrm>
              <a:off x="4215" y="1714"/>
              <a:ext cx="76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2" name="Line 90"/>
            <p:cNvSpPr>
              <a:spLocks noChangeShapeType="1"/>
            </p:cNvSpPr>
            <p:nvPr/>
          </p:nvSpPr>
          <p:spPr bwMode="auto">
            <a:xfrm>
              <a:off x="4215" y="2356"/>
              <a:ext cx="758"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3" name="Line 91"/>
            <p:cNvSpPr>
              <a:spLocks noChangeShapeType="1"/>
            </p:cNvSpPr>
            <p:nvPr/>
          </p:nvSpPr>
          <p:spPr bwMode="auto">
            <a:xfrm>
              <a:off x="4215" y="1714"/>
              <a:ext cx="762" cy="65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4" name="Line 92"/>
            <p:cNvSpPr>
              <a:spLocks noChangeShapeType="1"/>
            </p:cNvSpPr>
            <p:nvPr/>
          </p:nvSpPr>
          <p:spPr bwMode="auto">
            <a:xfrm>
              <a:off x="4977" y="1714"/>
              <a:ext cx="0" cy="65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5" name="Line 93"/>
            <p:cNvSpPr>
              <a:spLocks noChangeShapeType="1"/>
            </p:cNvSpPr>
            <p:nvPr/>
          </p:nvSpPr>
          <p:spPr bwMode="auto">
            <a:xfrm>
              <a:off x="4977" y="1714"/>
              <a:ext cx="59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6" name="Line 94"/>
            <p:cNvSpPr>
              <a:spLocks noChangeShapeType="1"/>
            </p:cNvSpPr>
            <p:nvPr/>
          </p:nvSpPr>
          <p:spPr bwMode="auto">
            <a:xfrm flipH="1">
              <a:off x="4973" y="1714"/>
              <a:ext cx="596" cy="6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7" name="Line 95"/>
            <p:cNvSpPr>
              <a:spLocks noChangeShapeType="1"/>
            </p:cNvSpPr>
            <p:nvPr/>
          </p:nvSpPr>
          <p:spPr bwMode="auto">
            <a:xfrm>
              <a:off x="4977" y="1714"/>
              <a:ext cx="592" cy="65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8" name="Line 96"/>
            <p:cNvSpPr>
              <a:spLocks noChangeShapeType="1"/>
            </p:cNvSpPr>
            <p:nvPr/>
          </p:nvSpPr>
          <p:spPr bwMode="auto">
            <a:xfrm>
              <a:off x="4977" y="2356"/>
              <a:ext cx="59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69" name="Line 97"/>
            <p:cNvSpPr>
              <a:spLocks noChangeShapeType="1"/>
            </p:cNvSpPr>
            <p:nvPr/>
          </p:nvSpPr>
          <p:spPr bwMode="auto">
            <a:xfrm>
              <a:off x="5569" y="1714"/>
              <a:ext cx="0" cy="65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970" name="Oval 98"/>
            <p:cNvSpPr>
              <a:spLocks noChangeArrowheads="1"/>
            </p:cNvSpPr>
            <p:nvPr/>
          </p:nvSpPr>
          <p:spPr bwMode="auto">
            <a:xfrm>
              <a:off x="4968" y="1698"/>
              <a:ext cx="20" cy="34"/>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71" name="Oval 99"/>
            <p:cNvSpPr>
              <a:spLocks noChangeArrowheads="1"/>
            </p:cNvSpPr>
            <p:nvPr/>
          </p:nvSpPr>
          <p:spPr bwMode="auto">
            <a:xfrm>
              <a:off x="4956" y="2338"/>
              <a:ext cx="21" cy="3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72" name="Oval 100"/>
            <p:cNvSpPr>
              <a:spLocks noChangeArrowheads="1"/>
            </p:cNvSpPr>
            <p:nvPr/>
          </p:nvSpPr>
          <p:spPr bwMode="auto">
            <a:xfrm>
              <a:off x="5558" y="1698"/>
              <a:ext cx="21" cy="34"/>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73" name="Oval 101"/>
            <p:cNvSpPr>
              <a:spLocks noChangeArrowheads="1"/>
            </p:cNvSpPr>
            <p:nvPr/>
          </p:nvSpPr>
          <p:spPr bwMode="auto">
            <a:xfrm>
              <a:off x="5549" y="2338"/>
              <a:ext cx="20" cy="3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75" name="Text Box 103"/>
            <p:cNvSpPr txBox="1">
              <a:spLocks noChangeArrowheads="1"/>
            </p:cNvSpPr>
            <p:nvPr/>
          </p:nvSpPr>
          <p:spPr bwMode="auto">
            <a:xfrm>
              <a:off x="4150" y="2296"/>
              <a:ext cx="232"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i="1"/>
                <a:t>v</a:t>
              </a:r>
              <a:r>
                <a:rPr lang="en-US" altLang="zh-CN" sz="1800" b="0" baseline="-25000"/>
                <a:t>2</a:t>
              </a:r>
              <a:endParaRPr lang="en-US" altLang="zh-CN" sz="1800" b="0" baseline="-25000"/>
            </a:p>
          </p:txBody>
        </p:sp>
        <p:sp>
          <p:nvSpPr>
            <p:cNvPr id="79977" name="Text Box 105"/>
            <p:cNvSpPr txBox="1">
              <a:spLocks noChangeArrowheads="1"/>
            </p:cNvSpPr>
            <p:nvPr/>
          </p:nvSpPr>
          <p:spPr bwMode="auto">
            <a:xfrm>
              <a:off x="4907" y="2341"/>
              <a:ext cx="232"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i="1"/>
                <a:t>v</a:t>
              </a:r>
              <a:r>
                <a:rPr lang="en-US" altLang="zh-CN" sz="1800" b="0" baseline="-25000"/>
                <a:t>4</a:t>
              </a:r>
              <a:endParaRPr lang="en-US" altLang="zh-CN" sz="1800" b="0" baseline="-25000"/>
            </a:p>
          </p:txBody>
        </p:sp>
        <p:sp>
          <p:nvSpPr>
            <p:cNvPr id="79979" name="Text Box 107"/>
            <p:cNvSpPr txBox="1">
              <a:spLocks noChangeArrowheads="1"/>
            </p:cNvSpPr>
            <p:nvPr/>
          </p:nvSpPr>
          <p:spPr bwMode="auto">
            <a:xfrm>
              <a:off x="5452" y="2341"/>
              <a:ext cx="232"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i="1"/>
                <a:t>v</a:t>
              </a:r>
              <a:r>
                <a:rPr lang="en-US" altLang="zh-CN" sz="1800" b="0" baseline="-25000"/>
                <a:t>6</a:t>
              </a:r>
              <a:endParaRPr lang="en-US" altLang="zh-CN" sz="1800" b="0" baseline="-25000"/>
            </a:p>
          </p:txBody>
        </p:sp>
        <p:sp>
          <p:nvSpPr>
            <p:cNvPr id="79980" name="Text Box 108"/>
            <p:cNvSpPr txBox="1">
              <a:spLocks noChangeArrowheads="1"/>
            </p:cNvSpPr>
            <p:nvPr/>
          </p:nvSpPr>
          <p:spPr bwMode="auto">
            <a:xfrm>
              <a:off x="4422" y="1525"/>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a:t>8</a:t>
              </a:r>
              <a:endParaRPr lang="en-US" altLang="zh-CN" sz="1800" b="0"/>
            </a:p>
          </p:txBody>
        </p:sp>
        <p:sp>
          <p:nvSpPr>
            <p:cNvPr id="79981" name="Text Box 109"/>
            <p:cNvSpPr txBox="1">
              <a:spLocks noChangeArrowheads="1"/>
            </p:cNvSpPr>
            <p:nvPr/>
          </p:nvSpPr>
          <p:spPr bwMode="auto">
            <a:xfrm>
              <a:off x="4549" y="1883"/>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a:t>4</a:t>
              </a:r>
              <a:endParaRPr lang="en-US" altLang="zh-CN" sz="1800" b="0"/>
            </a:p>
          </p:txBody>
        </p:sp>
        <p:sp>
          <p:nvSpPr>
            <p:cNvPr id="79982" name="Text Box 110"/>
            <p:cNvSpPr txBox="1">
              <a:spLocks noChangeArrowheads="1"/>
            </p:cNvSpPr>
            <p:nvPr/>
          </p:nvSpPr>
          <p:spPr bwMode="auto">
            <a:xfrm>
              <a:off x="4517" y="2341"/>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a:t>3</a:t>
              </a:r>
              <a:endParaRPr lang="en-US" altLang="zh-CN" sz="1800" b="0"/>
            </a:p>
          </p:txBody>
        </p:sp>
        <p:sp>
          <p:nvSpPr>
            <p:cNvPr id="79983" name="Text Box 111"/>
            <p:cNvSpPr txBox="1">
              <a:spLocks noChangeArrowheads="1"/>
            </p:cNvSpPr>
            <p:nvPr/>
          </p:nvSpPr>
          <p:spPr bwMode="auto">
            <a:xfrm>
              <a:off x="5180" y="1525"/>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a:t>7</a:t>
              </a:r>
              <a:endParaRPr lang="en-US" altLang="zh-CN" sz="1800" b="0"/>
            </a:p>
          </p:txBody>
        </p:sp>
        <p:sp>
          <p:nvSpPr>
            <p:cNvPr id="79984" name="Text Box 112"/>
            <p:cNvSpPr txBox="1">
              <a:spLocks noChangeArrowheads="1"/>
            </p:cNvSpPr>
            <p:nvPr/>
          </p:nvSpPr>
          <p:spPr bwMode="auto">
            <a:xfrm>
              <a:off x="5121" y="1779"/>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a:t>5</a:t>
              </a:r>
              <a:endParaRPr lang="en-US" altLang="zh-CN" sz="1800" b="0"/>
            </a:p>
          </p:txBody>
        </p:sp>
        <p:sp>
          <p:nvSpPr>
            <p:cNvPr id="79985" name="Text Box 113"/>
            <p:cNvSpPr txBox="1">
              <a:spLocks noChangeArrowheads="1"/>
            </p:cNvSpPr>
            <p:nvPr/>
          </p:nvSpPr>
          <p:spPr bwMode="auto">
            <a:xfrm>
              <a:off x="5024" y="1979"/>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a:t>2</a:t>
              </a:r>
              <a:endParaRPr lang="en-US" altLang="zh-CN" sz="1800" b="0"/>
            </a:p>
          </p:txBody>
        </p:sp>
        <p:sp>
          <p:nvSpPr>
            <p:cNvPr id="79986" name="Text Box 114"/>
            <p:cNvSpPr txBox="1">
              <a:spLocks noChangeArrowheads="1"/>
            </p:cNvSpPr>
            <p:nvPr/>
          </p:nvSpPr>
          <p:spPr bwMode="auto">
            <a:xfrm>
              <a:off x="5257" y="2296"/>
              <a:ext cx="19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0"/>
                <a:t>6</a:t>
              </a:r>
              <a:endParaRPr lang="en-US" altLang="zh-CN" sz="1800" b="0"/>
            </a:p>
          </p:txBody>
        </p:sp>
        <p:sp>
          <p:nvSpPr>
            <p:cNvPr id="79988" name="Text Box 116"/>
            <p:cNvSpPr txBox="1">
              <a:spLocks noChangeArrowheads="1"/>
            </p:cNvSpPr>
            <p:nvPr/>
          </p:nvSpPr>
          <p:spPr bwMode="auto">
            <a:xfrm>
              <a:off x="4785" y="1933"/>
              <a:ext cx="15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0"/>
                <a:t>8</a:t>
              </a:r>
              <a:endParaRPr lang="en-US" altLang="zh-CN" sz="1800" b="0"/>
            </a:p>
          </p:txBody>
        </p:sp>
      </p:grpSp>
      <p:sp>
        <p:nvSpPr>
          <p:cNvPr id="79992" name="Text Box 120"/>
          <p:cNvSpPr txBox="1">
            <a:spLocks noChangeArrowheads="1"/>
          </p:cNvSpPr>
          <p:nvPr/>
        </p:nvSpPr>
        <p:spPr bwMode="auto">
          <a:xfrm>
            <a:off x="1882775" y="3513138"/>
            <a:ext cx="42037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a:solidFill>
                  <a:srgbClr val="FF3300"/>
                </a:solidFill>
              </a:rPr>
              <a:t>×</a:t>
            </a:r>
            <a:endParaRPr lang="en-US" altLang="zh-CN" sz="2800">
              <a:solidFill>
                <a:srgbClr val="FF3300"/>
              </a:solidFill>
            </a:endParaRPr>
          </a:p>
        </p:txBody>
      </p:sp>
      <p:sp>
        <p:nvSpPr>
          <p:cNvPr id="79993" name="Text Box 121"/>
          <p:cNvSpPr txBox="1">
            <a:spLocks noChangeArrowheads="1"/>
          </p:cNvSpPr>
          <p:nvPr/>
        </p:nvSpPr>
        <p:spPr bwMode="auto">
          <a:xfrm>
            <a:off x="5951538" y="4868863"/>
            <a:ext cx="29495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Min  C(T)=15</a:t>
            </a:r>
            <a:endParaRPr lang="en-US" altLang="zh-CN"/>
          </a:p>
        </p:txBody>
      </p:sp>
      <p:sp>
        <p:nvSpPr>
          <p:cNvPr id="79996" name="Text Box 124"/>
          <p:cNvSpPr txBox="1">
            <a:spLocks noChangeArrowheads="1"/>
          </p:cNvSpPr>
          <p:nvPr/>
        </p:nvSpPr>
        <p:spPr bwMode="auto">
          <a:xfrm>
            <a:off x="1900238" y="1287463"/>
            <a:ext cx="2468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楷体" panose="02010609060101010101" pitchFamily="49" charset="-122"/>
                <a:ea typeface="楷体" panose="02010609060101010101" pitchFamily="49" charset="-122"/>
              </a:rPr>
              <a:t>用避圈法求最小</a:t>
            </a:r>
            <a:r>
              <a:rPr lang="zh-CN" altLang="en-US" dirty="0">
                <a:latin typeface="楷体" panose="02010609060101010101" pitchFamily="49" charset="-122"/>
                <a:ea typeface="楷体" panose="02010609060101010101" pitchFamily="49" charset="-122"/>
              </a:rPr>
              <a:t>生成树</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9913"/>
                                        </p:tgtEl>
                                        <p:attrNameLst>
                                          <p:attrName>style.visibility</p:attrName>
                                        </p:attrNameLst>
                                      </p:cBhvr>
                                      <p:to>
                                        <p:strVal val="visible"/>
                                      </p:to>
                                    </p:set>
                                    <p:animEffect transition="in" filter="wipe(up)">
                                      <p:cBhvr>
                                        <p:cTn id="7" dur="3000"/>
                                        <p:tgtEl>
                                          <p:spTgt spid="799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9914"/>
                                        </p:tgtEl>
                                        <p:attrNameLst>
                                          <p:attrName>style.visibility</p:attrName>
                                        </p:attrNameLst>
                                      </p:cBhvr>
                                      <p:to>
                                        <p:strVal val="visible"/>
                                      </p:to>
                                    </p:set>
                                    <p:animEffect transition="in" filter="wipe(left)">
                                      <p:cBhvr>
                                        <p:cTn id="12" dur="2000"/>
                                        <p:tgtEl>
                                          <p:spTgt spid="799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9915"/>
                                        </p:tgtEl>
                                        <p:attrNameLst>
                                          <p:attrName>style.visibility</p:attrName>
                                        </p:attrNameLst>
                                      </p:cBhvr>
                                      <p:to>
                                        <p:strVal val="visible"/>
                                      </p:to>
                                    </p:set>
                                    <p:animEffect transition="in" filter="wipe(left)">
                                      <p:cBhvr>
                                        <p:cTn id="17" dur="2000"/>
                                        <p:tgtEl>
                                          <p:spTgt spid="799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9916"/>
                                        </p:tgtEl>
                                        <p:attrNameLst>
                                          <p:attrName>style.visibility</p:attrName>
                                        </p:attrNameLst>
                                      </p:cBhvr>
                                      <p:to>
                                        <p:strVal val="visible"/>
                                      </p:to>
                                    </p:set>
                                    <p:animEffect transition="in" filter="wipe(left)">
                                      <p:cBhvr>
                                        <p:cTn id="22" dur="2000"/>
                                        <p:tgtEl>
                                          <p:spTgt spid="799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9922"/>
                                        </p:tgtEl>
                                        <p:attrNameLst>
                                          <p:attrName>style.visibility</p:attrName>
                                        </p:attrNameLst>
                                      </p:cBhvr>
                                      <p:to>
                                        <p:strVal val="visible"/>
                                      </p:to>
                                    </p:set>
                                    <p:animEffect transition="in" filter="wipe(up)">
                                      <p:cBhvr>
                                        <p:cTn id="27" dur="2000"/>
                                        <p:tgtEl>
                                          <p:spTgt spid="79922"/>
                                        </p:tgtEl>
                                      </p:cBhvr>
                                    </p:animEffect>
                                  </p:childTnLst>
                                </p:cTn>
                              </p:par>
                            </p:childTnLst>
                          </p:cTn>
                        </p:par>
                        <p:par>
                          <p:cTn id="28" fill="hold">
                            <p:stCondLst>
                              <p:cond delay="2000"/>
                            </p:stCondLst>
                            <p:childTnLst>
                              <p:par>
                                <p:cTn id="29" presetID="22" presetClass="entr" presetSubtype="8" fill="hold" nodeType="afterEffect">
                                  <p:stCondLst>
                                    <p:cond delay="0"/>
                                  </p:stCondLst>
                                  <p:childTnLst>
                                    <p:set>
                                      <p:cBhvr>
                                        <p:cTn id="30" dur="1" fill="hold">
                                          <p:stCondLst>
                                            <p:cond delay="0"/>
                                          </p:stCondLst>
                                        </p:cTn>
                                        <p:tgtEl>
                                          <p:spTgt spid="79923"/>
                                        </p:tgtEl>
                                        <p:attrNameLst>
                                          <p:attrName>style.visibility</p:attrName>
                                        </p:attrNameLst>
                                      </p:cBhvr>
                                      <p:to>
                                        <p:strVal val="visible"/>
                                      </p:to>
                                    </p:set>
                                    <p:animEffect transition="in" filter="wipe(left)">
                                      <p:cBhvr>
                                        <p:cTn id="31" dur="3000"/>
                                        <p:tgtEl>
                                          <p:spTgt spid="79923"/>
                                        </p:tgtEl>
                                      </p:cBhvr>
                                    </p:animEffect>
                                  </p:childTnLst>
                                </p:cTn>
                              </p:par>
                            </p:childTnLst>
                          </p:cTn>
                        </p:par>
                        <p:par>
                          <p:cTn id="32" fill="hold">
                            <p:stCondLst>
                              <p:cond delay="5000"/>
                            </p:stCondLst>
                            <p:childTnLst>
                              <p:par>
                                <p:cTn id="33" presetID="8" presetClass="emph" presetSubtype="0" fill="hold" nodeType="afterEffect">
                                  <p:stCondLst>
                                    <p:cond delay="0"/>
                                  </p:stCondLst>
                                  <p:childTnLst>
                                    <p:animRot by="21600000">
                                      <p:cBhvr>
                                        <p:cTn id="34" dur="2000" fill="hold"/>
                                        <p:tgtEl>
                                          <p:spTgt spid="79923"/>
                                        </p:tgtEl>
                                        <p:attrNameLst>
                                          <p:attrName>r</p:attrName>
                                        </p:attrNameLst>
                                      </p:cBhvr>
                                    </p:animRot>
                                  </p:childTnLst>
                                </p:cTn>
                              </p:par>
                            </p:childTnLst>
                          </p:cTn>
                        </p:par>
                        <p:par>
                          <p:cTn id="35" fill="hold">
                            <p:stCondLst>
                              <p:cond delay="7000"/>
                            </p:stCondLst>
                            <p:childTnLst>
                              <p:par>
                                <p:cTn id="36" presetID="2" presetClass="exit" presetSubtype="4" fill="hold" nodeType="afterEffect">
                                  <p:stCondLst>
                                    <p:cond delay="0"/>
                                  </p:stCondLst>
                                  <p:childTnLst>
                                    <p:anim calcmode="lin" valueType="num">
                                      <p:cBhvr additive="base">
                                        <p:cTn id="37" dur="500"/>
                                        <p:tgtEl>
                                          <p:spTgt spid="79923"/>
                                        </p:tgtEl>
                                        <p:attrNameLst>
                                          <p:attrName>ppt_x</p:attrName>
                                        </p:attrNameLst>
                                      </p:cBhvr>
                                      <p:tavLst>
                                        <p:tav tm="0">
                                          <p:val>
                                            <p:strVal val="ppt_x"/>
                                          </p:val>
                                        </p:tav>
                                        <p:tav tm="100000">
                                          <p:val>
                                            <p:strVal val="ppt_x"/>
                                          </p:val>
                                        </p:tav>
                                      </p:tavLst>
                                    </p:anim>
                                    <p:anim calcmode="lin" valueType="num">
                                      <p:cBhvr additive="base">
                                        <p:cTn id="38" dur="500"/>
                                        <p:tgtEl>
                                          <p:spTgt spid="79923"/>
                                        </p:tgtEl>
                                        <p:attrNameLst>
                                          <p:attrName>ppt_y</p:attrName>
                                        </p:attrNameLst>
                                      </p:cBhvr>
                                      <p:tavLst>
                                        <p:tav tm="0">
                                          <p:val>
                                            <p:strVal val="ppt_y"/>
                                          </p:val>
                                        </p:tav>
                                        <p:tav tm="100000">
                                          <p:val>
                                            <p:strVal val="1+ppt_h/2"/>
                                          </p:val>
                                        </p:tav>
                                      </p:tavLst>
                                    </p:anim>
                                    <p:set>
                                      <p:cBhvr>
                                        <p:cTn id="39" dur="1" fill="hold">
                                          <p:stCondLst>
                                            <p:cond delay="499"/>
                                          </p:stCondLst>
                                        </p:cTn>
                                        <p:tgtEl>
                                          <p:spTgt spid="79923"/>
                                        </p:tgtEl>
                                        <p:attrNameLst>
                                          <p:attrName>style.visibility</p:attrName>
                                        </p:attrNameLst>
                                      </p:cBhvr>
                                      <p:to>
                                        <p:strVal val="hidden"/>
                                      </p:to>
                                    </p:set>
                                  </p:childTnLst>
                                </p:cTn>
                              </p:par>
                            </p:childTnLst>
                          </p:cTn>
                        </p:par>
                        <p:par>
                          <p:cTn id="40" fill="hold">
                            <p:stCondLst>
                              <p:cond delay="7500"/>
                            </p:stCondLst>
                            <p:childTnLst>
                              <p:par>
                                <p:cTn id="41" presetID="22" presetClass="entr" presetSubtype="8" fill="hold" grpId="0" nodeType="afterEffect">
                                  <p:stCondLst>
                                    <p:cond delay="0"/>
                                  </p:stCondLst>
                                  <p:childTnLst>
                                    <p:set>
                                      <p:cBhvr>
                                        <p:cTn id="42" dur="1" fill="hold">
                                          <p:stCondLst>
                                            <p:cond delay="0"/>
                                          </p:stCondLst>
                                        </p:cTn>
                                        <p:tgtEl>
                                          <p:spTgt spid="79992"/>
                                        </p:tgtEl>
                                        <p:attrNameLst>
                                          <p:attrName>style.visibility</p:attrName>
                                        </p:attrNameLst>
                                      </p:cBhvr>
                                      <p:to>
                                        <p:strVal val="visible"/>
                                      </p:to>
                                    </p:set>
                                    <p:animEffect transition="in" filter="wipe(left)">
                                      <p:cBhvr>
                                        <p:cTn id="43" dur="500"/>
                                        <p:tgtEl>
                                          <p:spTgt spid="79992"/>
                                        </p:tgtEl>
                                      </p:cBhvr>
                                    </p:animEffect>
                                  </p:childTnLst>
                                </p:cTn>
                              </p:par>
                            </p:childTnLst>
                          </p:cTn>
                        </p:par>
                        <p:par>
                          <p:cTn id="44" fill="hold">
                            <p:stCondLst>
                              <p:cond delay="8000"/>
                            </p:stCondLst>
                            <p:childTnLst>
                              <p:par>
                                <p:cTn id="45" presetID="22" presetClass="exit" presetSubtype="8" fill="hold" grpId="1" nodeType="afterEffect">
                                  <p:stCondLst>
                                    <p:cond delay="0"/>
                                  </p:stCondLst>
                                  <p:childTnLst>
                                    <p:animEffect transition="out" filter="wipe(left)">
                                      <p:cBhvr>
                                        <p:cTn id="46" dur="2000"/>
                                        <p:tgtEl>
                                          <p:spTgt spid="79992"/>
                                        </p:tgtEl>
                                      </p:cBhvr>
                                    </p:animEffect>
                                    <p:set>
                                      <p:cBhvr>
                                        <p:cTn id="47" dur="1" fill="hold">
                                          <p:stCondLst>
                                            <p:cond delay="1999"/>
                                          </p:stCondLst>
                                        </p:cTn>
                                        <p:tgtEl>
                                          <p:spTgt spid="79992"/>
                                        </p:tgtEl>
                                        <p:attrNameLst>
                                          <p:attrName>style.visibility</p:attrName>
                                        </p:attrNameLst>
                                      </p:cBhvr>
                                      <p:to>
                                        <p:strVal val="hidden"/>
                                      </p:to>
                                    </p:set>
                                  </p:childTnLst>
                                </p:cTn>
                              </p:par>
                            </p:childTnLst>
                          </p:cTn>
                        </p:par>
                        <p:par>
                          <p:cTn id="48" fill="hold">
                            <p:stCondLst>
                              <p:cond delay="10000"/>
                            </p:stCondLst>
                            <p:childTnLst>
                              <p:par>
                                <p:cTn id="49" presetID="22" presetClass="exit" presetSubtype="4" fill="hold" nodeType="afterEffect">
                                  <p:stCondLst>
                                    <p:cond delay="0"/>
                                  </p:stCondLst>
                                  <p:childTnLst>
                                    <p:animEffect transition="out" filter="wipe(down)">
                                      <p:cBhvr>
                                        <p:cTn id="50" dur="2000"/>
                                        <p:tgtEl>
                                          <p:spTgt spid="79922"/>
                                        </p:tgtEl>
                                      </p:cBhvr>
                                    </p:animEffect>
                                    <p:set>
                                      <p:cBhvr>
                                        <p:cTn id="51" dur="1" fill="hold">
                                          <p:stCondLst>
                                            <p:cond delay="1999"/>
                                          </p:stCondLst>
                                        </p:cTn>
                                        <p:tgtEl>
                                          <p:spTgt spid="79922"/>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79917"/>
                                        </p:tgtEl>
                                        <p:attrNameLst>
                                          <p:attrName>style.visibility</p:attrName>
                                        </p:attrNameLst>
                                      </p:cBhvr>
                                      <p:to>
                                        <p:strVal val="visible"/>
                                      </p:to>
                                    </p:set>
                                    <p:animEffect transition="in" filter="wipe(left)">
                                      <p:cBhvr>
                                        <p:cTn id="56" dur="2000"/>
                                        <p:tgtEl>
                                          <p:spTgt spid="7991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79993"/>
                                        </p:tgtEl>
                                        <p:attrNameLst>
                                          <p:attrName>style.visibility</p:attrName>
                                        </p:attrNameLst>
                                      </p:cBhvr>
                                      <p:to>
                                        <p:strVal val="visible"/>
                                      </p:to>
                                    </p:set>
                                    <p:animEffect transition="in" filter="wipe(left)">
                                      <p:cBhvr>
                                        <p:cTn id="61" dur="2000"/>
                                        <p:tgtEl>
                                          <p:spTgt spid="7999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79919"/>
                                        </p:tgtEl>
                                        <p:attrNameLst>
                                          <p:attrName>style.visibility</p:attrName>
                                        </p:attrNameLst>
                                      </p:cBhvr>
                                      <p:to>
                                        <p:strVal val="visible"/>
                                      </p:to>
                                    </p:set>
                                    <p:animEffect transition="in" filter="wipe(up)">
                                      <p:cBhvr>
                                        <p:cTn id="66" dur="2000"/>
                                        <p:tgtEl>
                                          <p:spTgt spid="79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19" grpId="0" bldLvl="0" animBg="1"/>
      <p:bldP spid="79992" grpId="0" bldLvl="0" animBg="1"/>
      <p:bldP spid="79992" grpId="1" bldLvl="0" animBg="1"/>
      <p:bldP spid="7999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05485" y="635000"/>
            <a:ext cx="10267315" cy="1649095"/>
          </a:xfrm>
          <a:prstGeom prst="rect">
            <a:avLst/>
          </a:prstGeom>
          <a:noFill/>
        </p:spPr>
        <p:txBody>
          <a:bodyPr vert="horz" wrap="square" rtlCol="0" anchor="ctr" anchorCtr="0">
            <a:noAutofit/>
          </a:bodyPr>
          <a:lstStyle/>
          <a:p>
            <a:r>
              <a:rPr lang="zh-CN" altLang="en-US"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已知武汉市洪山区有</a:t>
            </a:r>
            <a:r>
              <a:rPr lang="en-US" altLang="zh-CN"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6</a:t>
            </a:r>
            <a:r>
              <a:rPr lang="zh-CN" altLang="en-US"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处住宅小区：</a:t>
            </a:r>
            <a:r>
              <a:rPr lang="en-US" altLang="zh-CN"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A</a:t>
            </a:r>
            <a:r>
              <a:rPr lang="zh-CN" altLang="en-US"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a:t>
            </a:r>
            <a:r>
              <a:rPr lang="en-US" altLang="zh-CN"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B</a:t>
            </a:r>
            <a:r>
              <a:rPr lang="zh-CN" altLang="en-US"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a:t>
            </a:r>
            <a:r>
              <a:rPr lang="en-US" altLang="zh-CN"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C</a:t>
            </a:r>
            <a:r>
              <a:rPr lang="zh-CN" altLang="en-US"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a:t>
            </a:r>
            <a:r>
              <a:rPr lang="en-US" altLang="zh-CN"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D</a:t>
            </a:r>
            <a:r>
              <a:rPr lang="zh-CN" altLang="en-US"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a:t>
            </a:r>
            <a:r>
              <a:rPr lang="en-US" altLang="zh-CN"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E</a:t>
            </a:r>
            <a:r>
              <a:rPr lang="zh-CN" altLang="en-US"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a:t>
            </a:r>
            <a:r>
              <a:rPr lang="en-US" altLang="zh-CN"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F</a:t>
            </a:r>
            <a:r>
              <a:rPr lang="zh-CN" altLang="en-US"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，试在由表</a:t>
            </a:r>
            <a:r>
              <a:rPr lang="en-US" altLang="zh-CN"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4</a:t>
            </a:r>
            <a:r>
              <a:rPr lang="zh-CN" altLang="en-US"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rPr>
              <a:t>所示的各小区之间距离的数据中确定最小生成树和总权重。</a:t>
            </a:r>
            <a:endParaRPr lang="zh-CN" altLang="en-US" sz="2600" dirty="0">
              <a:solidFill>
                <a:srgbClr val="000000"/>
              </a:solidFill>
              <a:latin typeface="楷体" panose="02010609060101010101" pitchFamily="49" charset="-122"/>
              <a:ea typeface="楷体" panose="02010609060101010101" pitchFamily="49" charset="-122"/>
              <a:cs typeface="楷体" panose="02010609060101010101" pitchFamily="49" charset="-122"/>
              <a:sym typeface="微软雅黑" panose="020B0503020204020204" pitchFamily="34" charset="-122"/>
            </a:endParaRPr>
          </a:p>
        </p:txBody>
      </p:sp>
      <p:graphicFrame>
        <p:nvGraphicFramePr>
          <p:cNvPr id="8" name="表格 7"/>
          <p:cNvGraphicFramePr/>
          <p:nvPr>
            <p:custDataLst>
              <p:tags r:id="rId2"/>
            </p:custDataLst>
          </p:nvPr>
        </p:nvGraphicFramePr>
        <p:xfrm>
          <a:off x="1140460" y="2046605"/>
          <a:ext cx="9285605" cy="3444875"/>
        </p:xfrm>
        <a:graphic>
          <a:graphicData uri="http://schemas.openxmlformats.org/drawingml/2006/table">
            <a:tbl>
              <a:tblPr/>
              <a:tblGrid>
                <a:gridCol w="1326515"/>
                <a:gridCol w="1326515"/>
                <a:gridCol w="1326515"/>
                <a:gridCol w="1326515"/>
                <a:gridCol w="1326515"/>
                <a:gridCol w="1326515"/>
                <a:gridCol w="1326515"/>
              </a:tblGrid>
              <a:tr h="492125">
                <a:tc>
                  <a:txBody>
                    <a:bodyPr/>
                    <a:p>
                      <a:pPr marL="133350" indent="0" algn="ctr">
                        <a:lnSpc>
                          <a:spcPts val="2200"/>
                        </a:lnSpc>
                        <a:spcBef>
                          <a:spcPct val="0"/>
                        </a:spcBef>
                        <a:spcAft>
                          <a:spcPct val="0"/>
                        </a:spcAft>
                      </a:pPr>
                      <a:endParaRPr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A</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B</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C</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D</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E</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F</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92125">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A</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13</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51</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77</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68</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50</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492125">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B</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60</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70</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67</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59</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r>
              <a:tr h="492125">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C</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57</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36</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2</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r>
              <a:tr h="492125">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D</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20</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55</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r>
              <a:tr h="492125">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E</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34</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a:noFill/>
                    </a:lnB>
                    <a:noFill/>
                  </a:tcPr>
                </a:tc>
              </a:tr>
              <a:tr h="492125">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F</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c>
                  <a:txBody>
                    <a:bodyPr/>
                    <a:p>
                      <a:pPr marL="133350" indent="0" algn="ctr">
                        <a:lnSpc>
                          <a:spcPts val="2200"/>
                        </a:lnSpc>
                        <a:spcBef>
                          <a:spcPct val="0"/>
                        </a:spcBef>
                        <a:spcAft>
                          <a:spcPct val="0"/>
                        </a:spcAft>
                      </a:pPr>
                      <a:r>
                        <a:rPr lang="en-US" altLang="zh-CN" sz="1200">
                          <a:latin typeface="宋体" panose="02010600030101010101" pitchFamily="2" charset="-122"/>
                          <a:ea typeface="宋体" panose="02010600030101010101" pitchFamily="2" charset="-122"/>
                        </a:rPr>
                        <a:t>—</a:t>
                      </a:r>
                      <a:endParaRPr lang="en-US" altLang="zh-CN" sz="1200">
                        <a:latin typeface="宋体" panose="02010600030101010101" pitchFamily="2" charset="-122"/>
                        <a:ea typeface="宋体" panose="02010600030101010101" pitchFamily="2" charset="-122"/>
                      </a:endParaRPr>
                    </a:p>
                  </a:txBody>
                  <a:tcPr marL="68580" marR="68580" marT="0" marB="0" anchor="ctr" anchorCtr="0">
                    <a:lnL>
                      <a:noFill/>
                    </a:lnL>
                    <a:lnR>
                      <a:noFill/>
                    </a:lnR>
                    <a:lnT>
                      <a:noFill/>
                    </a:lnT>
                    <a:lnB w="6350" cap="flat" cmpd="sng">
                      <a:solidFill>
                        <a:srgbClr val="000008"/>
                      </a:solidFill>
                      <a:prstDash val="solid"/>
                      <a:headEnd type="none" w="med" len="med"/>
                      <a:tailEnd type="none" w="med" len="med"/>
                    </a:lnB>
                    <a:noFill/>
                  </a:tcPr>
                </a:tc>
              </a:tr>
            </a:tbl>
          </a:graphicData>
        </a:graphic>
      </p:graphicFrame>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最短路径问题</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err="1"/>
                  <a:t>在一个</a:t>
                </a:r>
                <a:r>
                  <a:rPr lang="en-US" dirty="0" err="1">
                    <a:solidFill>
                      <a:srgbClr val="FF0000"/>
                    </a:solidFill>
                  </a:rPr>
                  <a:t>赋权的有向图</a:t>
                </a:r>
                <a:r>
                  <a:rPr lang="en-US" dirty="0" err="1"/>
                  <a:t>DG中指定的两个点</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𝑠</m:t>
                        </m:r>
                      </m:sub>
                    </m:sSub>
                    <m:r>
                      <a:rPr lang="zh-CN" altLang="en-US" i="1">
                        <a:latin typeface="Cambria Math" panose="02040503050406030204" pitchFamily="18" charset="0"/>
                      </a:rPr>
                      <m:t>和</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𝑡</m:t>
                        </m:r>
                      </m:sub>
                    </m:sSub>
                  </m:oMath>
                </a14:m>
                <a:r>
                  <a:rPr lang="en-US" dirty="0"/>
                  <a:t>间找到一条从</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𝑠</m:t>
                        </m:r>
                      </m:sub>
                    </m:sSub>
                    <m:r>
                      <a:rPr lang="zh-CN" altLang="en-US" i="1" smtClean="0">
                        <a:latin typeface="Cambria Math" panose="02040503050406030204" pitchFamily="18" charset="0"/>
                      </a:rPr>
                      <m:t>到</m:t>
                    </m:r>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𝑡</m:t>
                        </m:r>
                      </m:sub>
                    </m:sSub>
                  </m:oMath>
                </a14:m>
                <a:r>
                  <a:rPr lang="en-US" dirty="0" err="1"/>
                  <a:t>的路</a:t>
                </a:r>
                <a:r>
                  <a:rPr lang="zh-CN" altLang="en-US" dirty="0"/>
                  <a:t>，使得这条路上所有弧的权数的总和最小。</a:t>
                </a:r>
                <a:endParaRPr lang="en-US" altLang="zh-CN" dirty="0"/>
              </a:p>
              <a:p>
                <a:pPr lvl="1"/>
                <a:r>
                  <a:rPr lang="zh-CN" altLang="en-US" dirty="0"/>
                  <a:t>这条路被称为最短路</a:t>
                </a:r>
                <a:endParaRPr lang="en-US" altLang="zh-CN" dirty="0"/>
              </a:p>
              <a:p>
                <a:pPr lvl="1"/>
                <a:r>
                  <a:rPr lang="zh-CN" altLang="en-US" dirty="0"/>
                  <a:t>所有权数的总和被称为两点间的距离</a:t>
                </a: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求解最短路径的算法</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solidFill>
                      <a:srgbClr val="FF0000"/>
                    </a:solidFill>
                  </a:rPr>
                  <a:t>迪</a:t>
                </a:r>
                <a:r>
                  <a:rPr lang="zh-CN" altLang="en-US" dirty="0">
                    <a:solidFill>
                      <a:srgbClr val="FF0000"/>
                    </a:solidFill>
                  </a:rPr>
                  <a:t>杰斯特拉</a:t>
                </a:r>
                <a:r>
                  <a:rPr lang="en-US" altLang="zh-CN" dirty="0">
                    <a:solidFill>
                      <a:srgbClr val="FF0000"/>
                    </a:solidFill>
                  </a:rPr>
                  <a:t>(Dijkstra)</a:t>
                </a:r>
                <a:r>
                  <a:rPr lang="zh-CN" altLang="en-US" dirty="0">
                    <a:solidFill>
                      <a:srgbClr val="FF0000"/>
                    </a:solidFill>
                  </a:rPr>
                  <a:t>算法</a:t>
                </a:r>
                <a:r>
                  <a:rPr lang="zh-CN" altLang="en-US" dirty="0"/>
                  <a:t>：适用于每条弧的赋权数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0</m:t>
                    </m:r>
                  </m:oMath>
                </a14:m>
                <a:r>
                  <a:rPr lang="en-US" dirty="0"/>
                  <a:t>的情况</a:t>
                </a:r>
                <a:r>
                  <a:rPr lang="zh-CN" altLang="en-US" dirty="0"/>
                  <a:t>，也被称为双标号法</a:t>
                </a:r>
                <a:endParaRPr lang="en-US" altLang="zh-CN" dirty="0"/>
              </a:p>
              <a:p>
                <a:r>
                  <a:rPr lang="en-US" dirty="0" err="1"/>
                  <a:t>福特</a:t>
                </a:r>
                <a:r>
                  <a:rPr lang="en-US" altLang="zh-CN" dirty="0"/>
                  <a:t>(Ford)</a:t>
                </a:r>
                <a:r>
                  <a:rPr lang="zh-CN" altLang="en-US" dirty="0"/>
                  <a:t>算法：适用于存在弧的赋权数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&lt;</m:t>
                    </m:r>
                    <m:r>
                      <a:rPr lang="en-US" altLang="zh-CN" b="0" i="1" smtClean="0">
                        <a:latin typeface="Cambria Math" panose="02040503050406030204" pitchFamily="18" charset="0"/>
                      </a:rPr>
                      <m:t>0</m:t>
                    </m:r>
                  </m:oMath>
                </a14:m>
                <a:r>
                  <a:rPr lang="en-US" dirty="0" err="1"/>
                  <a:t>的情况</a:t>
                </a:r>
                <a:r>
                  <a:rPr lang="zh-CN" altLang="en-US" dirty="0"/>
                  <a:t>（忽略）</a:t>
                </a:r>
                <a:endParaRPr lang="en-US" altLang="zh-CN" dirty="0"/>
              </a:p>
              <a:p>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t="-73" b="7"/>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最短路径问题</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迪</a:t>
                </a:r>
                <a:r>
                  <a:rPr lang="en-US" dirty="0">
                    <a:sym typeface="+mn-ea"/>
                  </a:rPr>
                  <a:t>杰斯特拉</a:t>
                </a:r>
                <a:r>
                  <a:rPr lang="en-US" dirty="0"/>
                  <a:t>算法</a:t>
                </a:r>
                <a:r>
                  <a:rPr lang="zh-CN" altLang="en-US" dirty="0"/>
                  <a:t>：对图中每个点赋予两个标号</a:t>
                </a:r>
                <a14:m>
                  <m:oMath xmlns:m="http://schemas.openxmlformats.org/officeDocument/2006/math">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𝑙</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𝑗</m:t>
                            </m:r>
                          </m:sub>
                        </m:sSub>
                      </m:e>
                    </m:d>
                    <m:r>
                      <a:rPr lang="zh-CN" altLang="en-US" i="1">
                        <a:latin typeface="Cambria Math" panose="02040503050406030204" pitchFamily="18" charset="0"/>
                      </a:rPr>
                      <m:t>（</m:t>
                    </m:r>
                    <m:r>
                      <a:rPr lang="zh-CN" altLang="en-US" i="1" smtClean="0">
                        <a:latin typeface="Cambria Math" panose="02040503050406030204" pitchFamily="18" charset="0"/>
                      </a:rPr>
                      <m:t>双标号</m:t>
                    </m:r>
                    <m:r>
                      <a:rPr lang="zh-CN" altLang="en-US" i="1">
                        <a:latin typeface="Cambria Math" panose="02040503050406030204" pitchFamily="18" charset="0"/>
                      </a:rPr>
                      <m:t>法）</m:t>
                    </m:r>
                  </m:oMath>
                </a14:m>
                <a:endParaRPr lang="en-US" altLang="zh-CN" dirty="0"/>
              </a:p>
              <a:p>
                <a:pPr lvl="1"/>
                <a:r>
                  <a:rPr lang="zh-CN" altLang="en-US" dirty="0"/>
                  <a:t>其中</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𝑙</m:t>
                        </m:r>
                      </m:e>
                      <m:sub>
                        <m:r>
                          <a:rPr lang="en-US" altLang="zh-CN" i="1">
                            <a:latin typeface="Cambria Math" panose="02040503050406030204" pitchFamily="18" charset="0"/>
                          </a:rPr>
                          <m:t>𝑗</m:t>
                        </m:r>
                      </m:sub>
                    </m:sSub>
                  </m:oMath>
                </a14:m>
                <a:r>
                  <a:rPr lang="en-US" dirty="0"/>
                  <a:t>代表从</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b="0" i="1" dirty="0" smtClean="0">
                            <a:latin typeface="Cambria Math" panose="02040503050406030204" pitchFamily="18" charset="0"/>
                          </a:rPr>
                          <m:t>𝑠</m:t>
                        </m:r>
                      </m:sub>
                    </m:sSub>
                  </m:oMath>
                </a14:m>
                <a:r>
                  <a:rPr lang="en-US" dirty="0"/>
                  <a:t>到</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b="0" i="1" dirty="0" smtClean="0">
                            <a:latin typeface="Cambria Math" panose="02040503050406030204" pitchFamily="18" charset="0"/>
                          </a:rPr>
                          <m:t>𝑗</m:t>
                        </m:r>
                      </m:sub>
                    </m:sSub>
                  </m:oMath>
                </a14:m>
                <a:r>
                  <a:rPr lang="en-US" dirty="0" err="1"/>
                  <a:t>点的</a:t>
                </a:r>
                <a:r>
                  <a:rPr lang="en-US" dirty="0" err="1">
                    <a:solidFill>
                      <a:srgbClr val="FF0000"/>
                    </a:solidFill>
                  </a:rPr>
                  <a:t>距离</a:t>
                </a:r>
                <a:endParaRPr lang="en-US" dirty="0">
                  <a:solidFill>
                    <a:srgbClr val="FF0000"/>
                  </a:solidFill>
                </a:endParaRPr>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𝑗</m:t>
                        </m:r>
                      </m:sub>
                    </m:sSub>
                    <m:r>
                      <a:rPr lang="zh-CN" altLang="en-US" i="1">
                        <a:latin typeface="Cambria Math" panose="02040503050406030204" pitchFamily="18" charset="0"/>
                      </a:rPr>
                      <m:t>表示</m:t>
                    </m:r>
                  </m:oMath>
                </a14:m>
                <a:r>
                  <a:rPr lang="zh-CN" altLang="en-US" dirty="0"/>
                  <a:t>在</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𝑠</m:t>
                        </m:r>
                      </m:sub>
                    </m:sSub>
                  </m:oMath>
                </a14:m>
                <a:r>
                  <a:rPr lang="en-US" altLang="zh-CN" dirty="0"/>
                  <a:t>到</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𝑗</m:t>
                        </m:r>
                      </m:sub>
                    </m:sSub>
                  </m:oMath>
                </a14:m>
                <a:r>
                  <a:rPr lang="en-US" altLang="zh-CN" dirty="0"/>
                  <a:t>点的</a:t>
                </a:r>
                <a:r>
                  <a:rPr lang="zh-CN" altLang="en-US" dirty="0"/>
                  <a:t>最短路上位于</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𝑣</m:t>
                        </m:r>
                      </m:e>
                      <m:sub>
                        <m:r>
                          <a:rPr lang="en-US" altLang="zh-CN" i="1" dirty="0">
                            <a:latin typeface="Cambria Math" panose="02040503050406030204" pitchFamily="18" charset="0"/>
                          </a:rPr>
                          <m:t>𝑗</m:t>
                        </m:r>
                      </m:sub>
                    </m:sSub>
                  </m:oMath>
                </a14:m>
                <a:r>
                  <a:rPr lang="zh-CN" altLang="en-US" dirty="0"/>
                  <a:t>点</a:t>
                </a:r>
                <a:r>
                  <a:rPr lang="zh-CN" altLang="en-US" dirty="0">
                    <a:solidFill>
                      <a:srgbClr val="FF0000"/>
                    </a:solidFill>
                  </a:rPr>
                  <a:t>前面一个临点的下角标</a:t>
                </a:r>
                <a:r>
                  <a:rPr lang="zh-CN" altLang="en-US" dirty="0"/>
                  <a:t>，即</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𝑗</m:t>
                            </m:r>
                          </m:sub>
                        </m:sSub>
                      </m:sub>
                    </m:sSub>
                  </m:oMath>
                </a14:m>
                <a:r>
                  <a:rPr lang="zh-CN" altLang="en-US" dirty="0"/>
                  <a:t>。</a:t>
                </a:r>
                <a:endParaRPr lang="en-US" altLang="zh-CN" dirty="0"/>
              </a:p>
              <a:p>
                <a:r>
                  <a:rPr lang="zh-CN" altLang="en-US" dirty="0"/>
                  <a:t>双标号法的意义在于我们可以利用双标号从</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𝑡</m:t>
                        </m:r>
                      </m:sub>
                    </m:sSub>
                    <m:r>
                      <a:rPr lang="zh-CN" altLang="en-US" i="1">
                        <a:latin typeface="Cambria Math" panose="02040503050406030204" pitchFamily="18" charset="0"/>
                      </a:rPr>
                      <m:t>开始</m:t>
                    </m:r>
                  </m:oMath>
                </a14:m>
                <a:r>
                  <a:rPr lang="zh-CN" altLang="en-US" dirty="0"/>
                  <a:t>追溯整个最短路径的长度和途径的每个节点</a:t>
                </a:r>
                <a:endParaRPr lang="en-US" dirty="0"/>
              </a:p>
              <a:p>
                <a:pPr marL="0" indent="0">
                  <a:buNone/>
                </a:pP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最短路径问题</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85000" lnSpcReduction="20000"/>
              </a:bodyPr>
              <a:lstStyle/>
              <a:p>
                <a:pPr marL="0" indent="0">
                  <a:buNone/>
                </a:pPr>
                <a:r>
                  <a:rPr lang="en-US" dirty="0">
                    <a:sym typeface="+mn-ea"/>
                  </a:rPr>
                  <a:t>迪</a:t>
                </a:r>
                <a:r>
                  <a:rPr lang="en-US" dirty="0">
                    <a:sym typeface="+mn-ea"/>
                  </a:rPr>
                  <a:t>杰斯特拉</a:t>
                </a:r>
                <a:r>
                  <a:rPr lang="zh-CN" altLang="en-US" dirty="0"/>
                  <a:t>算法的基本步骤：假设我们需要寻找从</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𝑠</m:t>
                        </m:r>
                      </m:sub>
                    </m:sSub>
                    <m:r>
                      <a:rPr lang="zh-CN" altLang="en-US" i="1">
                        <a:latin typeface="Cambria Math" panose="02040503050406030204" pitchFamily="18" charset="0"/>
                      </a:rPr>
                      <m:t>到</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𝑡</m:t>
                        </m:r>
                      </m:sub>
                    </m:sSub>
                    <m:r>
                      <a:rPr lang="zh-CN" altLang="en-US" i="1">
                        <a:latin typeface="Cambria Math" panose="02040503050406030204" pitchFamily="18" charset="0"/>
                      </a:rPr>
                      <m:t>的</m:t>
                    </m:r>
                  </m:oMath>
                </a14:m>
                <a:r>
                  <a:rPr lang="zh-CN" altLang="en-US" dirty="0"/>
                  <a:t>最短路径</a:t>
                </a:r>
                <a:endParaRPr lang="en-US" altLang="zh-CN" dirty="0"/>
              </a:p>
              <a:p>
                <a:pPr marL="514350" indent="-514350">
                  <a:buFont typeface="+mj-lt"/>
                  <a:buAutoNum type="arabicPeriod"/>
                </a:pPr>
                <a:r>
                  <a:rPr lang="zh-CN" altLang="en-US" dirty="0"/>
                  <a:t>给起点</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𝑠</m:t>
                        </m:r>
                      </m:sub>
                    </m:sSub>
                  </m:oMath>
                </a14:m>
                <a:r>
                  <a:rPr lang="zh-CN" altLang="en-US" dirty="0"/>
                  <a:t>以标号</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oMath>
                </a14:m>
                <a:r>
                  <a:rPr lang="zh-CN" altLang="en-US" dirty="0"/>
                  <a:t>，以表示从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𝑠</m:t>
                        </m:r>
                      </m:sub>
                    </m:sSub>
                  </m:oMath>
                </a14:m>
                <a:r>
                  <a:rPr lang="zh-CN" altLang="en-US" dirty="0"/>
                  <a:t>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𝑠</m:t>
                        </m:r>
                      </m:sub>
                    </m:sSub>
                  </m:oMath>
                </a14:m>
                <a:r>
                  <a:rPr lang="zh-CN" altLang="en-US" dirty="0"/>
                  <a:t>的距离为</a:t>
                </a:r>
                <a:r>
                  <a:rPr lang="en-US" altLang="zh-CN" dirty="0"/>
                  <a:t>0</a:t>
                </a:r>
                <a:r>
                  <a:rPr lang="zh-CN" altLang="en-US"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𝑠</m:t>
                        </m:r>
                      </m:sub>
                    </m:sSub>
                  </m:oMath>
                </a14:m>
                <a:r>
                  <a:rPr lang="zh-CN" altLang="en-US" dirty="0"/>
                  <a:t>为起点</a:t>
                </a:r>
                <a:endParaRPr lang="en-US" altLang="zh-CN" dirty="0"/>
              </a:p>
              <a:p>
                <a:pPr marL="514350" indent="-514350">
                  <a:buFont typeface="+mj-lt"/>
                  <a:buAutoNum type="arabicPeriod"/>
                </a:pPr>
                <a:r>
                  <a:rPr lang="zh-CN" altLang="en-US" dirty="0"/>
                  <a:t>找出已标号的点的集合</a:t>
                </a:r>
                <a:r>
                  <a:rPr lang="en-US" altLang="zh-CN" dirty="0"/>
                  <a:t>I</a:t>
                </a:r>
                <a:r>
                  <a:rPr lang="zh-CN" altLang="en-US" dirty="0"/>
                  <a:t>和未标号点的集合</a:t>
                </a:r>
                <a:r>
                  <a:rPr lang="en-US" altLang="zh-CN" dirty="0"/>
                  <a:t>J</a:t>
                </a:r>
                <a:r>
                  <a:rPr lang="zh-CN" altLang="en-US" dirty="0"/>
                  <a:t>，以及二者间弧的集合</a:t>
                </a:r>
                <a14:m>
                  <m:oMath xmlns:m="http://schemas.openxmlformats.org/officeDocument/2006/math">
                    <m:d>
                      <m:dPr>
                        <m:begChr m:val="{"/>
                        <m:endChr m:val="|"/>
                        <m:ctrlPr>
                          <a:rPr lang="en-US" altLang="zh-CN" b="0" i="1" smtClean="0">
                            <a:latin typeface="Cambria Math" panose="02040503050406030204" pitchFamily="18" charset="0"/>
                          </a:rPr>
                        </m:ctrlPr>
                      </m:dPr>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𝑗</m:t>
                                </m:r>
                              </m:sub>
                            </m:sSub>
                          </m:e>
                        </m:d>
                      </m:e>
                    </m:d>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𝐽</m:t>
                    </m:r>
                    <m:r>
                      <a:rPr lang="en-US" altLang="zh-CN" b="0" i="1" smtClean="0">
                        <a:latin typeface="Cambria Math" panose="02040503050406030204" pitchFamily="18" charset="0"/>
                      </a:rPr>
                      <m:t>}</m:t>
                    </m:r>
                  </m:oMath>
                </a14:m>
                <a:endParaRPr lang="en-US" altLang="zh-CN" dirty="0"/>
              </a:p>
              <a:p>
                <a:pPr lvl="1"/>
                <a:r>
                  <a:rPr lang="zh-CN" altLang="en-US" dirty="0">
                    <a:solidFill>
                      <a:srgbClr val="FF0000"/>
                    </a:solidFill>
                  </a:rPr>
                  <a:t>如果上述弧集合为空集，计算结束。此时需要区分</a:t>
                </a:r>
                <a14:m>
                  <m:oMath xmlns:m="http://schemas.openxmlformats.org/officeDocument/2006/math">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𝑣</m:t>
                        </m:r>
                      </m:e>
                      <m:sub>
                        <m:r>
                          <a:rPr lang="en-US" altLang="zh-CN" b="0" i="1" smtClean="0">
                            <a:solidFill>
                              <a:srgbClr val="FF0000"/>
                            </a:solidFill>
                            <a:latin typeface="Cambria Math" panose="02040503050406030204" pitchFamily="18" charset="0"/>
                          </a:rPr>
                          <m:t>𝑡</m:t>
                        </m:r>
                      </m:sub>
                    </m:sSub>
                  </m:oMath>
                </a14:m>
                <a:r>
                  <a:rPr lang="zh-CN" altLang="en-US" dirty="0">
                    <a:solidFill>
                      <a:srgbClr val="FF0000"/>
                    </a:solidFill>
                  </a:rPr>
                  <a:t>是否已经标号：</a:t>
                </a:r>
                <a:endParaRPr lang="en-US" altLang="zh-CN" dirty="0">
                  <a:solidFill>
                    <a:srgbClr val="FF0000"/>
                  </a:solidFill>
                </a:endParaRPr>
              </a:p>
              <a:p>
                <a:pPr lvl="2"/>
                <a:r>
                  <a:rPr lang="zh-CN" altLang="en-US" dirty="0"/>
                  <a:t>如果</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𝑡</m:t>
                        </m:r>
                      </m:sub>
                    </m:sSub>
                  </m:oMath>
                </a14:m>
                <a:r>
                  <a:rPr lang="zh-CN" altLang="en-US" dirty="0"/>
                  <a:t>已标号</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𝑙</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oMath>
                </a14:m>
                <a:r>
                  <a:rPr lang="zh-CN" altLang="en-US" dirty="0"/>
                  <a:t>，则最短路径长度为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𝑙</m:t>
                        </m:r>
                      </m:e>
                      <m:sub>
                        <m:r>
                          <a:rPr lang="en-US" altLang="zh-CN" b="0" i="1" smtClean="0">
                            <a:latin typeface="Cambria Math" panose="02040503050406030204" pitchFamily="18" charset="0"/>
                          </a:rPr>
                          <m:t>𝑡</m:t>
                        </m:r>
                      </m:sub>
                    </m:sSub>
                  </m:oMath>
                </a14:m>
                <a:r>
                  <a:rPr lang="zh-CN" altLang="en-US" b="0" dirty="0"/>
                  <a:t>。</a:t>
                </a:r>
                <a:endParaRPr lang="en-US" altLang="zh-CN" b="0" dirty="0"/>
              </a:p>
              <a:p>
                <a:pPr lvl="2"/>
                <a:r>
                  <a:rPr lang="zh-CN" altLang="en-US" dirty="0"/>
                  <a:t>如果</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𝑡</m:t>
                        </m:r>
                      </m:sub>
                    </m:sSub>
                    <m:r>
                      <a:rPr lang="zh-CN" altLang="en-US" i="1">
                        <a:latin typeface="Cambria Math" panose="02040503050406030204" pitchFamily="18" charset="0"/>
                      </a:rPr>
                      <m:t>未</m:t>
                    </m:r>
                  </m:oMath>
                </a14:m>
                <a:r>
                  <a:rPr lang="zh-CN" altLang="en-US" dirty="0"/>
                  <a:t>标号，则可以断言不存在从</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𝑠</m:t>
                        </m:r>
                      </m:sub>
                    </m:sSub>
                  </m:oMath>
                </a14:m>
                <a:r>
                  <a:rPr lang="zh-CN" altLang="en-US" dirty="0"/>
                  <a:t>到</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b="0" i="1" dirty="0" smtClean="0">
                            <a:latin typeface="Cambria Math" panose="02040503050406030204" pitchFamily="18" charset="0"/>
                          </a:rPr>
                          <m:t>𝑡</m:t>
                        </m:r>
                      </m:sub>
                    </m:sSub>
                    <m:r>
                      <a:rPr lang="zh-CN" altLang="en-US" i="1" dirty="0">
                        <a:latin typeface="Cambria Math" panose="02040503050406030204" pitchFamily="18" charset="0"/>
                      </a:rPr>
                      <m:t>的</m:t>
                    </m:r>
                  </m:oMath>
                </a14:m>
                <a:r>
                  <a:rPr lang="zh-CN" altLang="en-US" dirty="0"/>
                  <a:t>最短路径。</a:t>
                </a:r>
                <a:endParaRPr lang="en-US" altLang="zh-CN" dirty="0"/>
              </a:p>
              <a:p>
                <a:pPr marL="514350" indent="-514350">
                  <a:buFont typeface="+mj-lt"/>
                  <a:buAutoNum type="arabicPeriod"/>
                </a:pPr>
                <a:r>
                  <a:rPr lang="zh-CN" altLang="en-US" dirty="0"/>
                  <a:t>对上述弧集合中的每一条弧计算：</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𝑙</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𝑖𝑗</m:t>
                        </m:r>
                      </m:sub>
                    </m:sSub>
                    <m:r>
                      <a:rPr lang="zh-CN" altLang="en-US" i="1">
                        <a:latin typeface="Cambria Math" panose="02040503050406030204" pitchFamily="18" charset="0"/>
                      </a:rPr>
                      <m:t>；</m:t>
                    </m:r>
                  </m:oMath>
                </a14:m>
                <a:r>
                  <a:rPr lang="zh-CN" altLang="en-US" dirty="0"/>
                  <a:t>在所有弧的计算结果中找出最小值，假设最小值对应的弧为</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𝑐</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𝑑</m:t>
                        </m:r>
                      </m:sub>
                    </m:sSub>
                    <m:r>
                      <a:rPr lang="en-US" altLang="zh-CN" b="0" i="1" smtClean="0">
                        <a:latin typeface="Cambria Math" panose="02040503050406030204" pitchFamily="18" charset="0"/>
                      </a:rPr>
                      <m:t>)</m:t>
                    </m:r>
                  </m:oMath>
                </a14:m>
                <a:r>
                  <a:rPr lang="zh-CN" altLang="en-US" dirty="0"/>
                  <a:t>，则：</a:t>
                </a:r>
                <a:endParaRPr lang="en-US" altLang="zh-CN" dirty="0"/>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𝑙</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min</m:t>
                        </m:r>
                      </m:fName>
                      <m:e>
                        <m:d>
                          <m:dPr>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𝑖𝑗</m:t>
                                    </m:r>
                                  </m:sub>
                                </m:sSub>
                              </m:e>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𝐽</m:t>
                                </m:r>
                              </m:e>
                            </m:d>
                          </m:e>
                        </m:d>
                      </m:e>
                    </m:func>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𝑐𝑑</m:t>
                        </m:r>
                      </m:sub>
                    </m:sSub>
                  </m:oMath>
                </a14:m>
                <a:endParaRPr lang="en-US" altLang="zh-CN" dirty="0"/>
              </a:p>
              <a:p>
                <a:pPr lvl="1"/>
                <a:r>
                  <a:rPr lang="zh-CN" altLang="en-US" dirty="0"/>
                  <a:t>对此弧的终点</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𝑑</m:t>
                        </m:r>
                      </m:sub>
                    </m:sSub>
                    <m:r>
                      <a:rPr lang="zh-CN" altLang="en-US" i="1">
                        <a:latin typeface="Cambria Math" panose="02040503050406030204" pitchFamily="18" charset="0"/>
                      </a:rPr>
                      <m:t>用</m:t>
                    </m:r>
                  </m:oMath>
                </a14:m>
                <a:r>
                  <a:rPr lang="zh-CN" altLang="en-US" dirty="0"/>
                  <a:t>双标号法记为</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𝑙</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oMath>
                </a14:m>
                <a:r>
                  <a:rPr lang="zh-CN" altLang="en-US" dirty="0"/>
                  <a:t>。</a:t>
                </a:r>
                <a:endParaRPr lang="en-US" altLang="zh-CN" dirty="0"/>
              </a:p>
              <a:p>
                <a:pPr lvl="1"/>
                <a:r>
                  <a:rPr lang="zh-CN" altLang="en-US" dirty="0"/>
                  <a:t>若此处得到的最小弧为多条，可随机任选终点进行标记。</a:t>
                </a:r>
                <a:endParaRPr lang="en-US" altLang="zh-CN" dirty="0"/>
              </a:p>
              <a:p>
                <a:pPr lvl="1"/>
                <a:r>
                  <a:rPr lang="zh-CN" altLang="en-US" dirty="0"/>
                  <a:t>若这些</a:t>
                </a:r>
                <a:r>
                  <a:rPr lang="zh-CN" altLang="en-US" dirty="0">
                    <a:solidFill>
                      <a:srgbClr val="FF0000"/>
                    </a:solidFill>
                  </a:rPr>
                  <a:t>最小弧的终点为同一点，则需在该终点标记多个双标号</a:t>
                </a:r>
                <a:r>
                  <a:rPr lang="zh-CN" altLang="en-US" dirty="0"/>
                  <a:t>，便于我们以后可以找到多条最短路径。</a:t>
                </a:r>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642" b="7"/>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最短路径问题</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例</a:t>
                </a:r>
                <a:r>
                  <a:rPr lang="en-US" altLang="zh-CN" dirty="0"/>
                  <a:t>1 </a:t>
                </a:r>
                <a:r>
                  <a:rPr lang="zh-CN" altLang="en-US" dirty="0"/>
                  <a:t>求图中</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1</m:t>
                        </m:r>
                      </m:sub>
                    </m:sSub>
                    <m:r>
                      <a:rPr lang="zh-CN" altLang="en-US" i="1">
                        <a:latin typeface="Cambria Math" panose="02040503050406030204" pitchFamily="18" charset="0"/>
                      </a:rPr>
                      <m:t>到</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6</m:t>
                        </m:r>
                      </m:sub>
                    </m:sSub>
                    <m:r>
                      <a:rPr lang="zh-CN" altLang="en-US" i="1">
                        <a:latin typeface="Cambria Math" panose="02040503050406030204" pitchFamily="18" charset="0"/>
                      </a:rPr>
                      <m:t>间</m:t>
                    </m:r>
                  </m:oMath>
                </a14:m>
                <a:r>
                  <a:rPr lang="zh-CN" altLang="en-US" dirty="0"/>
                  <a:t>的最短路径</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pic>
        <p:nvPicPr>
          <p:cNvPr id="4098" name="Picture 2"/>
          <p:cNvPicPr>
            <a:picLocks noChangeAspect="1" noChangeArrowheads="1"/>
          </p:cNvPicPr>
          <p:nvPr>
            <p:custDataLst>
              <p:tags r:id="rId2"/>
            </p:custDataLst>
          </p:nvPr>
        </p:nvPicPr>
        <p:blipFill>
          <a:blip r:embed="rId3"/>
          <a:srcRect/>
          <a:stretch>
            <a:fillRect/>
          </a:stretch>
        </p:blipFill>
        <p:spPr bwMode="auto">
          <a:xfrm>
            <a:off x="1118167" y="2606358"/>
            <a:ext cx="3857625" cy="2533650"/>
          </a:xfrm>
          <a:prstGeom prst="rect">
            <a:avLst/>
          </a:prstGeom>
          <a:noFill/>
          <a:ln w="9525">
            <a:noFill/>
            <a:miter lim="800000"/>
            <a:headEnd/>
            <a:tailEnd/>
          </a:ln>
        </p:spPr>
      </p:pic>
      <p:pic>
        <p:nvPicPr>
          <p:cNvPr id="4100" name="Picture 4"/>
          <p:cNvPicPr>
            <a:picLocks noChangeAspect="1" noChangeArrowheads="1"/>
          </p:cNvPicPr>
          <p:nvPr>
            <p:custDataLst>
              <p:tags r:id="rId4"/>
            </p:custDataLst>
          </p:nvPr>
        </p:nvPicPr>
        <p:blipFill>
          <a:blip r:embed="rId5"/>
          <a:srcRect/>
          <a:stretch>
            <a:fillRect/>
          </a:stretch>
        </p:blipFill>
        <p:spPr bwMode="auto">
          <a:xfrm>
            <a:off x="6322220" y="2722404"/>
            <a:ext cx="3786188" cy="27955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additive="base">
                                        <p:cTn id="7" dur="500" fill="hold"/>
                                        <p:tgtEl>
                                          <p:spTgt spid="4098"/>
                                        </p:tgtEl>
                                        <p:attrNameLst>
                                          <p:attrName>ppt_x</p:attrName>
                                        </p:attrNameLst>
                                      </p:cBhvr>
                                      <p:tavLst>
                                        <p:tav tm="0">
                                          <p:val>
                                            <p:strVal val="1+#ppt_w/2"/>
                                          </p:val>
                                        </p:tav>
                                        <p:tav tm="100000">
                                          <p:val>
                                            <p:strVal val="#ppt_x"/>
                                          </p:val>
                                        </p:tav>
                                      </p:tavLst>
                                    </p:anim>
                                    <p:anim calcmode="lin" valueType="num">
                                      <p:cBhvr additive="base">
                                        <p:cTn id="8" dur="500" fill="hold"/>
                                        <p:tgtEl>
                                          <p:spTgt spid="40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100"/>
                                        </p:tgtEl>
                                        <p:attrNameLst>
                                          <p:attrName>style.visibility</p:attrName>
                                        </p:attrNameLst>
                                      </p:cBhvr>
                                      <p:to>
                                        <p:strVal val="visible"/>
                                      </p:to>
                                    </p:set>
                                    <p:anim calcmode="lin" valueType="num">
                                      <p:cBhvr additive="base">
                                        <p:cTn id="13" dur="500" fill="hold"/>
                                        <p:tgtEl>
                                          <p:spTgt spid="4100"/>
                                        </p:tgtEl>
                                        <p:attrNameLst>
                                          <p:attrName>ppt_x</p:attrName>
                                        </p:attrNameLst>
                                      </p:cBhvr>
                                      <p:tavLst>
                                        <p:tav tm="0">
                                          <p:val>
                                            <p:strVal val="1+#ppt_w/2"/>
                                          </p:val>
                                        </p:tav>
                                        <p:tav tm="100000">
                                          <p:val>
                                            <p:strVal val="#ppt_x"/>
                                          </p:val>
                                        </p:tav>
                                      </p:tavLst>
                                    </p:anim>
                                    <p:anim calcmode="lin" valueType="num">
                                      <p:cBhvr additive="base">
                                        <p:cTn id="14" dur="500" fill="hold"/>
                                        <p:tgtEl>
                                          <p:spTgt spid="41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3" name="矩形 2"/>
              <p:cNvSpPr>
                <a:spLocks noChangeArrowheads="1"/>
              </p:cNvSpPr>
              <p:nvPr/>
            </p:nvSpPr>
            <p:spPr bwMode="auto">
              <a:xfrm>
                <a:off x="1666875" y="1214438"/>
                <a:ext cx="8893621" cy="5282565"/>
              </a:xfrm>
              <a:prstGeom prst="rect">
                <a:avLst/>
              </a:prstGeom>
              <a:noFill/>
              <a:ln w="9525">
                <a:noFill/>
                <a:miter lim="800000"/>
              </a:ln>
            </p:spPr>
            <p:txBody>
              <a:bodyPr wrap="square">
                <a:spAutoFit/>
              </a:bodyPr>
              <a:lstStyle/>
              <a:p>
                <a:pPr algn="just"/>
                <a:r>
                  <a:rPr lang="zh-CN" altLang="en-US" sz="22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求解过程如下：</a:t>
                </a:r>
                <a:endPar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pP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给定起始</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点</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标以</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0</m:t>
                    </m:r>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从</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到</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的距离为</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0</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为起始点。</a:t>
                </a:r>
                <a:endPar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pP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这时已标定点集合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，未标定点的集合</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，弧集合</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d>
                      <m:dPr>
                        <m:ctrlP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dPr>
                      <m:e>
                        <m:sSub>
                          <m:sSubPr>
                            <m:ctrlP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e>
                          <m:sub>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m:t>
                            </m:r>
                          </m:sub>
                        </m:sSub>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sSub>
                          <m:sSubPr>
                            <m:ctrlP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e>
                          <m:sub>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𝑗</m:t>
                            </m:r>
                          </m:sub>
                        </m:sSub>
                      </m:e>
                    </m:d>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e>
                      <m:sub>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m:t>
                        </m:r>
                      </m:sub>
                    </m:sSub>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sSub>
                      <m:sSubPr>
                        <m:ctrlP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e>
                      <m:sub>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𝑗</m:t>
                        </m:r>
                      </m:sub>
                    </m:sSub>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 {</m:t>
                    </m:r>
                    <m:d>
                      <m:dPr>
                        <m:ctrlP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e>
                    </m:d>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d>
                      <m:dPr>
                        <m:ctrlP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e>
                    </m:d>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d>
                      <m:dPr>
                        <m:ctrlP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e>
                    </m:d>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则有 </a:t>
                </a:r>
                <a14:m>
                  <m:oMath xmlns:m="http://schemas.openxmlformats.org/officeDocument/2006/math">
                    <m:r>
                      <m:rPr>
                        <m:sty m:val="p"/>
                      </m:rP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min</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oMath>
                </a14:m>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这样，给弧</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的终点</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标以（</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表示从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到</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的距离为</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oMath>
                </a14:m>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pP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这时</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，则</m:t>
                    </m:r>
                    <m:r>
                      <m:rPr>
                        <m:sty m:val="p"/>
                      </m:rP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min</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。给弧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的终点</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标以</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从</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到</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的距离为</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；我们给弧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的终点</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标以</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从</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到</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的距离为</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oMath>
                </a14:m>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bwMode="auto">
              <a:xfrm>
                <a:off x="1666875" y="1214438"/>
                <a:ext cx="8893621" cy="5282565"/>
              </a:xfrm>
              <a:prstGeom prst="rect">
                <a:avLst/>
              </a:prstGeom>
              <a:blipFill rotWithShape="1">
                <a:blip r:embed="rId1"/>
                <a:stretch>
                  <a:fillRect t="-6" r="5" b="6"/>
                </a:stretch>
              </a:blipFill>
              <a:ln w="9525">
                <a:noFill/>
                <a:miter lim="800000"/>
              </a:ln>
            </p:spPr>
            <p:txBody>
              <a:bodyPr/>
              <a:lstStyle/>
              <a:p>
                <a:r>
                  <a:rPr lang="zh-CN" altLang="en-US">
                    <a:noFill/>
                  </a:rPr>
                  <a:t> </a:t>
                </a:r>
              </a:p>
            </p:txBody>
          </p:sp>
        </mc:Fallback>
      </mc:AlternateContent>
      <p:sp>
        <p:nvSpPr>
          <p:cNvPr id="2" name="标题 1"/>
          <p:cNvSpPr>
            <a:spLocks noGrp="1"/>
          </p:cNvSpPr>
          <p:nvPr/>
        </p:nvSpPr>
        <p:spPr>
          <a:xfrm>
            <a:off x="838200" y="10096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最短路径问题</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3" name="矩形 2"/>
              <p:cNvSpPr>
                <a:spLocks noChangeArrowheads="1"/>
              </p:cNvSpPr>
              <p:nvPr/>
            </p:nvSpPr>
            <p:spPr bwMode="auto">
              <a:xfrm>
                <a:off x="1666875" y="1214438"/>
                <a:ext cx="8893621" cy="3174365"/>
              </a:xfrm>
              <a:prstGeom prst="rect">
                <a:avLst/>
              </a:prstGeom>
              <a:noFill/>
              <a:ln w="9525">
                <a:noFill/>
                <a:miter lim="800000"/>
              </a:ln>
            </p:spPr>
            <p:txBody>
              <a:bodyPr wrap="square">
                <a:spAutoFit/>
              </a:bodyPr>
              <a:lstStyle/>
              <a:p>
                <a:pPr algn="just">
                  <a:lnSpc>
                    <a:spcPct val="150000"/>
                  </a:lnSpc>
                </a:pP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4</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）这时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，则有 </a:t>
                </a:r>
                <a14:m>
                  <m:oMath xmlns:m="http://schemas.openxmlformats.org/officeDocument/2006/math">
                    <m:r>
                      <m:rPr>
                        <m:sty m:val="p"/>
                      </m:rP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min</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8</m:t>
                    </m:r>
                  </m:oMath>
                </a14:m>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这样给</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点</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标以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8</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，表示从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oMath>
                </a14:m>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的距离是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8</m:t>
                    </m:r>
                  </m:oMath>
                </a14:m>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pP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5</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）这时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，而弧集合为空，计算结束。也即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oMath>
                </a14:m>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还未标号，说明从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到</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没有有向路</a:t>
                </a: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pP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6</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）得到一组最优结果。从</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终点</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的标号倒推到</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起点</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，得到此最短路径为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bwMode="auto">
              <a:xfrm>
                <a:off x="1666875" y="1214438"/>
                <a:ext cx="8893621" cy="3174365"/>
              </a:xfrm>
              <a:prstGeom prst="rect">
                <a:avLst/>
              </a:prstGeom>
              <a:blipFill rotWithShape="1">
                <a:blip r:embed="rId1"/>
                <a:stretch>
                  <a:fillRect t="-10" r="5" b="10"/>
                </a:stretch>
              </a:blipFill>
              <a:ln w="9525">
                <a:noFill/>
                <a:miter lim="800000"/>
              </a:ln>
            </p:spPr>
            <p:txBody>
              <a:bodyPr/>
              <a:lstStyle/>
              <a:p>
                <a:r>
                  <a:rPr lang="zh-CN" altLang="en-US">
                    <a:noFill/>
                  </a:rPr>
                  <a:t> </a:t>
                </a:r>
              </a:p>
            </p:txBody>
          </p:sp>
        </mc:Fallback>
      </mc:AlternateContent>
      <p:sp>
        <p:nvSpPr>
          <p:cNvPr id="2" name="标题 1"/>
          <p:cNvSpPr>
            <a:spLocks noGrp="1"/>
          </p:cNvSpPr>
          <p:nvPr/>
        </p:nvSpPr>
        <p:spPr>
          <a:xfrm>
            <a:off x="838200" y="13398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最短路径问题</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最短路径问题 </a:t>
            </a:r>
            <a:r>
              <a:rPr lang="en-US" altLang="zh-CN" dirty="0"/>
              <a:t>– </a:t>
            </a:r>
            <a:r>
              <a:rPr lang="zh-CN" altLang="en-US" dirty="0"/>
              <a:t>计算无向图中的最短路径</a:t>
            </a:r>
            <a:endParaRPr lang="zh-CN" altLang="en-US" dirty="0"/>
          </a:p>
        </p:txBody>
      </p:sp>
      <p:sp>
        <p:nvSpPr>
          <p:cNvPr id="3" name="内容占位符 2"/>
          <p:cNvSpPr>
            <a:spLocks noGrp="1"/>
          </p:cNvSpPr>
          <p:nvPr>
            <p:ph idx="1"/>
          </p:nvPr>
        </p:nvSpPr>
        <p:spPr/>
        <p:txBody>
          <a:bodyPr/>
          <a:lstStyle/>
          <a:p>
            <a:r>
              <a:rPr lang="zh-CN" altLang="en-US" dirty="0"/>
              <a:t>迪杰斯</a:t>
            </a:r>
            <a:r>
              <a:rPr lang="zh-CN" altLang="en-US" dirty="0"/>
              <a:t>特拉算法也可以用于解决无向图中的最短路径问题，只要把两点间的弧集合换成边集合即可。</a:t>
            </a:r>
            <a:endParaRPr lang="en-US" altLang="zh-CN" dirty="0"/>
          </a:p>
          <a:p>
            <a:r>
              <a:rPr lang="zh-CN" altLang="en-US" dirty="0"/>
              <a:t>与弧集合不同，边集合中的边没有指向性，因此只要两个端点间存在链接就需要验证其是不是在最短路径上。</a:t>
            </a:r>
            <a:endParaRPr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sp>
        <p:nvSpPr>
          <p:cNvPr id="4" name="矩形 3"/>
          <p:cNvSpPr>
            <a:spLocks noChangeArrowheads="1"/>
          </p:cNvSpPr>
          <p:nvPr/>
        </p:nvSpPr>
        <p:spPr bwMode="auto">
          <a:xfrm>
            <a:off x="1524000" y="1268413"/>
            <a:ext cx="9143999" cy="2122805"/>
          </a:xfrm>
          <a:prstGeom prst="rect">
            <a:avLst/>
          </a:prstGeom>
          <a:noFill/>
          <a:ln w="9525">
            <a:noFill/>
            <a:miter lim="800000"/>
          </a:ln>
        </p:spPr>
        <p:txBody>
          <a:bodyPr wrap="square">
            <a:spAutoFit/>
          </a:bodyPr>
          <a:lstStyle/>
          <a:p>
            <a:pPr algn="just">
              <a:lnSpc>
                <a:spcPct val="150000"/>
              </a:lnSpc>
            </a:pP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例 </a:t>
            </a:r>
            <a:r>
              <a:rPr lang="en-US" altLang="zh-CN" sz="22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．电信公司准备在甲、乙两地沿路架设一条光缆线，问如何架设使其光缆线路最短？下图给出了甲乙两地间的交通图。权数表示两地间公路的长度（单位：</a:t>
            </a: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km</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pPr>
            <a:endPar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122" name="Picture 2"/>
          <p:cNvPicPr>
            <a:picLocks noChangeAspect="1" noChangeArrowheads="1"/>
          </p:cNvPicPr>
          <p:nvPr/>
        </p:nvPicPr>
        <p:blipFill rotWithShape="1">
          <a:blip r:embed="rId1"/>
          <a:srcRect t="4669" b="3675"/>
          <a:stretch>
            <a:fillRect/>
          </a:stretch>
        </p:blipFill>
        <p:spPr bwMode="auto">
          <a:xfrm>
            <a:off x="3478270" y="2769393"/>
            <a:ext cx="5235458" cy="2304257"/>
          </a:xfrm>
          <a:prstGeom prst="rect">
            <a:avLst/>
          </a:prstGeom>
          <a:noFill/>
          <a:ln w="9525">
            <a:noFill/>
            <a:miter lim="800000"/>
            <a:headEnd/>
            <a:tailEnd/>
          </a:ln>
        </p:spPr>
      </p:pic>
      <p:sp>
        <p:nvSpPr>
          <p:cNvPr id="2" name="标题 1"/>
          <p:cNvSpPr>
            <a:spLocks noGrp="1"/>
          </p:cNvSpPr>
          <p:nvPr/>
        </p:nvSpPr>
        <p:spPr>
          <a:xfrm>
            <a:off x="838200" y="2165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最短路径问题应用</a:t>
            </a:r>
            <a:endParaRPr lang="zh-CN" altLang="en-US" dirty="0"/>
          </a:p>
        </p:txBody>
      </p:sp>
    </p:spTree>
  </p:cSld>
  <p:clrMapOvr>
    <a:masterClrMapping/>
  </p:clrMapOvr>
  <p:transition spd="med">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4" name="矩形 3"/>
              <p:cNvSpPr>
                <a:spLocks noChangeArrowheads="1"/>
              </p:cNvSpPr>
              <p:nvPr/>
            </p:nvSpPr>
            <p:spPr bwMode="auto">
              <a:xfrm>
                <a:off x="1595437" y="1185106"/>
                <a:ext cx="9001125" cy="5602605"/>
              </a:xfrm>
              <a:prstGeom prst="rect">
                <a:avLst/>
              </a:prstGeom>
              <a:noFill/>
              <a:ln w="9525">
                <a:noFill/>
                <a:miter lim="800000"/>
              </a:ln>
            </p:spPr>
            <p:txBody>
              <a:bodyPr wrap="square">
                <a:spAutoFit/>
              </a:bodyPr>
              <a:lstStyle/>
              <a:p>
                <a:r>
                  <a:rPr lang="zh-CN" altLang="en-US" sz="2200" b="1" dirty="0">
                    <a:solidFill>
                      <a:srgbClr val="000000"/>
                    </a:solidFill>
                    <a:ea typeface="楷体" panose="02010609060101010101" pitchFamily="49" charset="-122"/>
                    <a:cs typeface="Times New Roman" panose="02020603050405020304" pitchFamily="18" charset="0"/>
                  </a:rPr>
                  <a:t>例 </a:t>
                </a:r>
                <a:r>
                  <a:rPr lang="en-US" altLang="zh-CN" sz="2200" b="1" dirty="0">
                    <a:solidFill>
                      <a:srgbClr val="000000"/>
                    </a:solidFill>
                    <a:ea typeface="楷体" panose="02010609060101010101" pitchFamily="49" charset="-122"/>
                    <a:cs typeface="Times New Roman" panose="02020603050405020304" pitchFamily="18" charset="0"/>
                  </a:rPr>
                  <a:t>2 </a:t>
                </a:r>
                <a:r>
                  <a:rPr lang="zh-CN" altLang="en-US" sz="2200" b="1" dirty="0">
                    <a:solidFill>
                      <a:srgbClr val="000000"/>
                    </a:solidFill>
                    <a:ea typeface="楷体" panose="02010609060101010101" pitchFamily="49" charset="-122"/>
                    <a:cs typeface="Times New Roman" panose="02020603050405020304" pitchFamily="18" charset="0"/>
                  </a:rPr>
                  <a:t>求解过程如下</a:t>
                </a:r>
                <a:endParaRPr lang="zh-CN" altLang="en-US" sz="2200" b="1" dirty="0">
                  <a:solidFill>
                    <a:srgbClr val="000000"/>
                  </a:solidFill>
                  <a:ea typeface="楷体" panose="02010609060101010101" pitchFamily="49" charset="-122"/>
                  <a:cs typeface="Times New Roman" panose="02020603050405020304" pitchFamily="18" charset="0"/>
                </a:endParaRPr>
              </a:p>
              <a:p>
                <a:pPr>
                  <a:lnSpc>
                    <a:spcPct val="150000"/>
                  </a:lnSpc>
                </a:pPr>
                <a:r>
                  <a:rPr lang="zh-CN" altLang="en-US" sz="2200" dirty="0">
                    <a:solidFill>
                      <a:srgbClr val="000000"/>
                    </a:solidFill>
                    <a:ea typeface="楷体" panose="02010609060101010101" pitchFamily="49" charset="-122"/>
                    <a:cs typeface="Times New Roman" panose="02020603050405020304" pitchFamily="18" charset="0"/>
                  </a:rPr>
                  <a:t>（</a:t>
                </a:r>
                <a:r>
                  <a:rPr lang="en-US" altLang="zh-CN" sz="2200" dirty="0">
                    <a:solidFill>
                      <a:srgbClr val="000000"/>
                    </a:solidFill>
                    <a:ea typeface="楷体" panose="02010609060101010101" pitchFamily="49" charset="-122"/>
                    <a:cs typeface="Times New Roman" panose="02020603050405020304" pitchFamily="18" charset="0"/>
                  </a:rPr>
                  <a:t>1</a:t>
                </a:r>
                <a:r>
                  <a:rPr lang="zh-CN" altLang="en-US" sz="2200" dirty="0">
                    <a:solidFill>
                      <a:srgbClr val="000000"/>
                    </a:solidFill>
                    <a:ea typeface="楷体" panose="02010609060101010101" pitchFamily="49" charset="-122"/>
                    <a:cs typeface="Times New Roman" panose="02020603050405020304" pitchFamily="18" charset="0"/>
                  </a:rPr>
                  <a:t>）给起始点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oMath>
                </a14:m>
                <a:r>
                  <a:rPr lang="zh-CN" altLang="en-US" sz="2200" dirty="0">
                    <a:solidFill>
                      <a:srgbClr val="000000"/>
                    </a:solidFill>
                    <a:ea typeface="楷体" panose="02010609060101010101" pitchFamily="49" charset="-122"/>
                    <a:cs typeface="Times New Roman" panose="02020603050405020304" pitchFamily="18" charset="0"/>
                  </a:rPr>
                  <a:t>，标号为</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0</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a:t>
                </a:r>
                <a:endParaRPr lang="zh-CN" altLang="en-US" sz="2200" dirty="0">
                  <a:solidFill>
                    <a:srgbClr val="000000"/>
                  </a:solidFill>
                  <a:ea typeface="楷体" panose="02010609060101010101" pitchFamily="49" charset="-122"/>
                  <a:cs typeface="Times New Roman" panose="02020603050405020304" pitchFamily="18" charset="0"/>
                </a:endParaRPr>
              </a:p>
              <a:p>
                <a:pPr>
                  <a:lnSpc>
                    <a:spcPct val="150000"/>
                  </a:lnSpc>
                </a:pPr>
                <a:r>
                  <a:rPr lang="zh-CN" altLang="en-US" sz="2200" dirty="0">
                    <a:solidFill>
                      <a:srgbClr val="000000"/>
                    </a:solidFill>
                    <a:ea typeface="楷体" panose="02010609060101010101" pitchFamily="49" charset="-122"/>
                    <a:cs typeface="Times New Roman" panose="02020603050405020304" pitchFamily="18" charset="0"/>
                  </a:rPr>
                  <a:t>（</a:t>
                </a:r>
                <a:r>
                  <a:rPr lang="en-US" altLang="zh-CN" sz="2200" dirty="0">
                    <a:solidFill>
                      <a:srgbClr val="000000"/>
                    </a:solidFill>
                    <a:ea typeface="楷体" panose="02010609060101010101" pitchFamily="49" charset="-122"/>
                    <a:cs typeface="Times New Roman" panose="02020603050405020304" pitchFamily="18" charset="0"/>
                  </a:rPr>
                  <a:t>2</a:t>
                </a:r>
                <a:r>
                  <a:rPr lang="zh-CN" altLang="en-US" sz="2200" dirty="0">
                    <a:solidFill>
                      <a:srgbClr val="000000"/>
                    </a:solidFill>
                    <a:ea typeface="楷体" panose="02010609060101010101" pitchFamily="49" charset="-122"/>
                    <a:cs typeface="Times New Roman" panose="02020603050405020304" pitchFamily="18" charset="0"/>
                  </a:rPr>
                  <a:t>）</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。边的集合为</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，则</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10</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min</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10</m:t>
                    </m:r>
                  </m:oMath>
                </a14:m>
                <a:r>
                  <a:rPr lang="zh-CN" altLang="en-US" sz="2200" dirty="0">
                    <a:solidFill>
                      <a:srgbClr val="000000"/>
                    </a:solidFill>
                    <a:ea typeface="楷体" panose="02010609060101010101" pitchFamily="49" charset="-122"/>
                    <a:cs typeface="Times New Roman" panose="02020603050405020304" pitchFamily="18" charset="0"/>
                  </a:rPr>
                  <a:t>。给边</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中未标号点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oMath>
                </a14:m>
                <a:r>
                  <a:rPr lang="en-US" altLang="zh-CN" sz="2200" dirty="0">
                    <a:solidFill>
                      <a:srgbClr val="000000"/>
                    </a:solidFill>
                    <a:ea typeface="楷体" panose="02010609060101010101" pitchFamily="49" charset="-122"/>
                    <a:cs typeface="Times New Roman" panose="02020603050405020304" pitchFamily="18" charset="0"/>
                  </a:rPr>
                  <a:t> </a:t>
                </a:r>
                <a:r>
                  <a:rPr lang="zh-CN" altLang="en-US" sz="2200" dirty="0">
                    <a:solidFill>
                      <a:srgbClr val="000000"/>
                    </a:solidFill>
                    <a:ea typeface="楷体" panose="02010609060101010101" pitchFamily="49" charset="-122"/>
                    <a:cs typeface="Times New Roman" panose="02020603050405020304" pitchFamily="18" charset="0"/>
                  </a:rPr>
                  <a:t>标以</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10</m:t>
                    </m:r>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表示从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到</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200" dirty="0">
                    <a:solidFill>
                      <a:srgbClr val="000000"/>
                    </a:solidFill>
                    <a:ea typeface="楷体" panose="02010609060101010101" pitchFamily="49" charset="-122"/>
                    <a:cs typeface="Times New Roman" panose="02020603050405020304" pitchFamily="18" charset="0"/>
                  </a:rPr>
                  <a:t>的距离为 </a:t>
                </a:r>
                <a:r>
                  <a:rPr lang="en-US" altLang="zh-CN" sz="2200" dirty="0">
                    <a:solidFill>
                      <a:srgbClr val="000000"/>
                    </a:solidFill>
                    <a:ea typeface="楷体" panose="02010609060101010101" pitchFamily="49" charset="-122"/>
                    <a:cs typeface="Times New Roman" panose="02020603050405020304" pitchFamily="18" charset="0"/>
                  </a:rPr>
                  <a:t>10</a:t>
                </a:r>
                <a:r>
                  <a:rPr lang="zh-CN" altLang="en-US" sz="2200" dirty="0">
                    <a:solidFill>
                      <a:srgbClr val="000000"/>
                    </a:solidFill>
                    <a:ea typeface="楷体" panose="02010609060101010101" pitchFamily="49" charset="-122"/>
                    <a:cs typeface="Times New Roman" panose="02020603050405020304" pitchFamily="18" charset="0"/>
                  </a:rPr>
                  <a:t>。</a:t>
                </a:r>
                <a:endParaRPr lang="zh-CN" altLang="en-US" sz="2200" dirty="0">
                  <a:solidFill>
                    <a:srgbClr val="000000"/>
                  </a:solidFill>
                  <a:ea typeface="楷体" panose="02010609060101010101" pitchFamily="49" charset="-122"/>
                  <a:cs typeface="Times New Roman" panose="02020603050405020304" pitchFamily="18" charset="0"/>
                </a:endParaRPr>
              </a:p>
              <a:p>
                <a:pPr>
                  <a:lnSpc>
                    <a:spcPct val="150000"/>
                  </a:lnSpc>
                </a:pPr>
                <a:r>
                  <a:rPr lang="zh-CN" altLang="en-US" sz="2200" dirty="0">
                    <a:solidFill>
                      <a:srgbClr val="000000"/>
                    </a:solidFill>
                    <a:ea typeface="楷体" panose="02010609060101010101" pitchFamily="49" charset="-122"/>
                    <a:cs typeface="Times New Roman" panose="02020603050405020304" pitchFamily="18" charset="0"/>
                  </a:rPr>
                  <a:t>（</a:t>
                </a:r>
                <a:r>
                  <a:rPr lang="en-US" altLang="zh-CN" sz="2200" dirty="0">
                    <a:solidFill>
                      <a:srgbClr val="000000"/>
                    </a:solidFill>
                    <a:ea typeface="楷体" panose="02010609060101010101" pitchFamily="49" charset="-122"/>
                    <a:cs typeface="Times New Roman" panose="02020603050405020304" pitchFamily="18" charset="0"/>
                  </a:rPr>
                  <a:t>3</a:t>
                </a:r>
                <a:r>
                  <a:rPr lang="zh-CN" altLang="en-US" sz="2200" dirty="0">
                    <a:solidFill>
                      <a:srgbClr val="000000"/>
                    </a:solidFill>
                    <a:ea typeface="楷体" panose="02010609060101010101" pitchFamily="49" charset="-122"/>
                    <a:cs typeface="Times New Roman" panose="02020603050405020304" pitchFamily="18" charset="0"/>
                  </a:rPr>
                  <a:t>）这时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。边集合为</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，则有</a:t>
                </a:r>
                <a14:m>
                  <m:oMath xmlns:m="http://schemas.openxmlformats.org/officeDocument/2006/math">
                    <m:r>
                      <m:rPr>
                        <m:sty m:val="p"/>
                      </m:rP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min</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13</m:t>
                    </m:r>
                  </m:oMath>
                </a14:m>
                <a:r>
                  <a:rPr lang="zh-CN" altLang="en-US" sz="2200" dirty="0">
                    <a:solidFill>
                      <a:srgbClr val="000000"/>
                    </a:solidFill>
                    <a:ea typeface="楷体" panose="02010609060101010101" pitchFamily="49" charset="-122"/>
                    <a:cs typeface="Times New Roman" panose="02020603050405020304" pitchFamily="18" charset="0"/>
                  </a:rPr>
                  <a:t>。给边</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中未标号点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oMath>
                </a14:m>
                <a:r>
                  <a:rPr lang="en-US" altLang="zh-CN" sz="2200" baseline="-25000" dirty="0">
                    <a:solidFill>
                      <a:srgbClr val="000000"/>
                    </a:solidFill>
                    <a:ea typeface="楷体" panose="02010609060101010101" pitchFamily="49" charset="-122"/>
                    <a:cs typeface="Times New Roman" panose="02020603050405020304" pitchFamily="18" charset="0"/>
                  </a:rPr>
                  <a:t> </a:t>
                </a:r>
                <a:r>
                  <a:rPr lang="zh-CN" altLang="en-US" sz="2200" dirty="0">
                    <a:solidFill>
                      <a:srgbClr val="000000"/>
                    </a:solidFill>
                    <a:ea typeface="楷体" panose="02010609060101010101" pitchFamily="49" charset="-122"/>
                    <a:cs typeface="Times New Roman" panose="02020603050405020304" pitchFamily="18" charset="0"/>
                  </a:rPr>
                  <a:t>标以</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a:t>
                </a:r>
                <a:endParaRPr lang="zh-CN" altLang="en-US" sz="2200" dirty="0">
                  <a:solidFill>
                    <a:srgbClr val="000000"/>
                  </a:solidFill>
                  <a:ea typeface="楷体" panose="02010609060101010101" pitchFamily="49" charset="-122"/>
                  <a:cs typeface="Times New Roman" panose="02020603050405020304" pitchFamily="18" charset="0"/>
                </a:endParaRPr>
              </a:p>
              <a:p>
                <a:pPr>
                  <a:lnSpc>
                    <a:spcPct val="150000"/>
                  </a:lnSpc>
                </a:pPr>
                <a:r>
                  <a:rPr lang="zh-CN" altLang="en-US" sz="2200" dirty="0">
                    <a:solidFill>
                      <a:srgbClr val="000000"/>
                    </a:solidFill>
                    <a:ea typeface="楷体" panose="02010609060101010101" pitchFamily="49" charset="-122"/>
                    <a:cs typeface="Times New Roman" panose="02020603050405020304" pitchFamily="18" charset="0"/>
                  </a:rPr>
                  <a:t>（</a:t>
                </a:r>
                <a:r>
                  <a:rPr lang="en-US" altLang="zh-CN" sz="2200" dirty="0">
                    <a:solidFill>
                      <a:srgbClr val="000000"/>
                    </a:solidFill>
                    <a:ea typeface="楷体" panose="02010609060101010101" pitchFamily="49" charset="-122"/>
                    <a:cs typeface="Times New Roman" panose="02020603050405020304" pitchFamily="18" charset="0"/>
                  </a:rPr>
                  <a:t>4</a:t>
                </a:r>
                <a:r>
                  <a:rPr lang="zh-CN" altLang="en-US" sz="2200" dirty="0">
                    <a:solidFill>
                      <a:srgbClr val="000000"/>
                    </a:solidFill>
                    <a:ea typeface="楷体" panose="02010609060101010101" pitchFamily="49" charset="-122"/>
                    <a:cs typeface="Times New Roman" panose="02020603050405020304" pitchFamily="18" charset="0"/>
                  </a:rPr>
                  <a:t>）这时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边集合为</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，则有</a:t>
                </a:r>
                <a14:m>
                  <m:oMath xmlns:m="http://schemas.openxmlformats.org/officeDocument/2006/math">
                    <m:func>
                      <m:funcPr>
                        <m:ctrlP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funcPr>
                      <m:fName>
                        <m:r>
                          <m:rPr>
                            <m:sty m:val="p"/>
                          </m:rPr>
                          <a:rPr lang="en-US" altLang="zh-CN" sz="2200" i="0"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min</m:t>
                        </m:r>
                      </m:fName>
                      <m:e>
                        <m:d>
                          <m:dPr>
                            <m:ctrlP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dPr>
                          <m:e>
                            <m:sSub>
                              <m:sSubPr>
                                <m:ctrlP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e>
                              <m:sub>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35</m:t>
                                </m:r>
                              </m:sub>
                            </m:sSub>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e>
                              <m:sub>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24</m:t>
                                </m:r>
                              </m:sub>
                            </m:sSub>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e>
                              <m:sub>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27</m:t>
                                </m:r>
                              </m:sub>
                            </m:sSub>
                            <m:r>
                              <a:rPr lang="en-US" altLang="zh-CN" sz="2200" b="0" i="1" baseline="-25000"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e>
                        </m:d>
                      </m:e>
                    </m:func>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14</m:t>
                    </m:r>
                  </m:oMath>
                </a14:m>
                <a:r>
                  <a:rPr lang="zh-CN" altLang="en-US" sz="2200" dirty="0">
                    <a:solidFill>
                      <a:srgbClr val="000000"/>
                    </a:solidFill>
                    <a:ea typeface="楷体" panose="02010609060101010101" pitchFamily="49" charset="-122"/>
                    <a:cs typeface="Times New Roman" panose="02020603050405020304" pitchFamily="18" charset="0"/>
                  </a:rPr>
                  <a:t>。给边</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中未标号点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200" dirty="0">
                    <a:solidFill>
                      <a:srgbClr val="000000"/>
                    </a:solidFill>
                    <a:ea typeface="楷体" panose="02010609060101010101" pitchFamily="49" charset="-122"/>
                    <a:cs typeface="Times New Roman" panose="02020603050405020304" pitchFamily="18" charset="0"/>
                  </a:rPr>
                  <a:t>标</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以</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14</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a:t>
                </a:r>
                <a:endParaRPr lang="zh-CN" altLang="en-US" sz="2200" dirty="0">
                  <a:solidFill>
                    <a:srgbClr val="000000"/>
                  </a:solidFill>
                  <a:ea typeface="楷体" panose="02010609060101010101" pitchFamily="49"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bwMode="auto">
              <a:xfrm>
                <a:off x="1595437" y="1185106"/>
                <a:ext cx="9001125" cy="5602605"/>
              </a:xfrm>
              <a:prstGeom prst="rect">
                <a:avLst/>
              </a:prstGeom>
              <a:blipFill rotWithShape="1">
                <a:blip r:embed="rId1"/>
                <a:stretch>
                  <a:fillRect l="-4" t="-3" r="4" b="3"/>
                </a:stretch>
              </a:blipFill>
              <a:ln w="9525">
                <a:noFill/>
                <a:miter lim="800000"/>
              </a:ln>
            </p:spPr>
            <p:txBody>
              <a:bodyPr/>
              <a:lstStyle/>
              <a:p>
                <a:r>
                  <a:rPr lang="zh-CN" altLang="en-US">
                    <a:noFill/>
                  </a:rPr>
                  <a:t> </a:t>
                </a:r>
              </a:p>
            </p:txBody>
          </p:sp>
        </mc:Fallback>
      </mc:AlternateContent>
      <p:sp>
        <p:nvSpPr>
          <p:cNvPr id="2" name="标题 1"/>
          <p:cNvSpPr>
            <a:spLocks noGrp="1"/>
          </p:cNvSpPr>
          <p:nvPr/>
        </p:nvSpPr>
        <p:spPr>
          <a:xfrm>
            <a:off x="838200" y="12573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最短路径问题应用</a:t>
            </a:r>
            <a:endParaRPr lang="zh-CN" altLang="en-US" dirty="0"/>
          </a:p>
        </p:txBody>
      </p:sp>
    </p:spTree>
  </p:cSld>
  <p:clrMapOvr>
    <a:masterClrMapping/>
  </p:clrMapOvr>
  <p:transition spd="med">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8" name="Text Box 21"/>
              <p:cNvSpPr txBox="1">
                <a:spLocks noChangeArrowheads="1"/>
              </p:cNvSpPr>
              <p:nvPr/>
            </p:nvSpPr>
            <p:spPr bwMode="auto">
              <a:xfrm>
                <a:off x="1524000" y="1209675"/>
                <a:ext cx="9144000" cy="5098415"/>
              </a:xfrm>
              <a:prstGeom prst="rect">
                <a:avLst/>
              </a:prstGeom>
              <a:noFill/>
              <a:ln w="9525">
                <a:noFill/>
                <a:miter lim="800000"/>
              </a:ln>
            </p:spPr>
            <p:txBody>
              <a:bodyPr wrap="square" lIns="0" tIns="0" rIns="0" bIns="0">
                <a:spAutoFit/>
              </a:bodyPr>
              <a:lstStyle/>
              <a:p>
                <a:pPr>
                  <a:lnSpc>
                    <a:spcPct val="150000"/>
                  </a:lnSpc>
                </a:pP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5</a:t>
                </a: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）这时 </a:t>
                </a:r>
                <a14:m>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边集合为</a:t>
                </a:r>
                <a14:m>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则有</a:t>
                </a:r>
                <a14:m>
                  <m:oMath xmlns:m="http://schemas.openxmlformats.org/officeDocument/2006/math">
                    <m:r>
                      <m:rPr>
                        <m:sty m:val="p"/>
                      </m:rP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min</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16</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。给边</a:t>
                </a:r>
                <a14:m>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中未标号点</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标以</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16</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6</a:t>
                </a: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）这时 </a:t>
                </a:r>
                <a14:m>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。边集合为</a:t>
                </a:r>
                <a14:m>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，则有</a:t>
                </a:r>
                <a14:m>
                  <m:oMath xmlns:m="http://schemas.openxmlformats.org/officeDocument/2006/math">
                    <m:func>
                      <m:funcPr>
                        <m:ctrlP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funcPr>
                      <m:fName>
                        <m:r>
                          <m:rPr>
                            <m:sty m:val="p"/>
                          </m:rPr>
                          <a:rPr lang="en-US" altLang="zh-CN" sz="2000" i="0"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min</m:t>
                        </m:r>
                      </m:fName>
                      <m:e>
                        <m:d>
                          <m:dPr>
                            <m:ctrlP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24</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67</m:t>
                            </m:r>
                          </m:e>
                        </m:d>
                      </m:e>
                    </m:func>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18</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。给边</a:t>
                </a:r>
                <a14:m>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中未标号点</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标以</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18</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7</a:t>
                </a: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）这时 </a:t>
                </a:r>
                <a14:m>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。边集合为</a:t>
                </a:r>
                <a14:m>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，并有 </a:t>
                </a:r>
                <a14:m>
                  <m:oMath xmlns:m="http://schemas.openxmlformats.org/officeDocument/2006/math">
                    <m:r>
                      <m:rPr>
                        <m:sty m:val="p"/>
                      </m:rP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min</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22</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。给边</a:t>
                </a:r>
                <a14:m>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中未标号点</a:t>
                </a:r>
                <a14:m>
                  <m:oMath xmlns:m="http://schemas.openxmlformats.org/officeDocument/2006/math">
                    <m:r>
                      <a:rPr lang="zh-CN" altLang="en-US"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标以</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(22,6)</a:t>
                </a: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8</a:t>
                </a: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）此时 </a:t>
                </a:r>
                <a14:m>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为空集</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计算结束。</a:t>
                </a:r>
                <a:endPar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9</a:t>
                </a: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）得到最短路。最短路径 </a:t>
                </a:r>
                <a14:m>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oMath>
                </a14:m>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，每点的标号如图 </a:t>
                </a:r>
                <a:r>
                  <a:rPr lang="en-US" altLang="zh-CN"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11-7 </a:t>
                </a:r>
                <a:r>
                  <a:rPr lang="zh-CN" altLang="en-US" sz="2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所示。</a:t>
                </a:r>
                <a:r>
                  <a:rPr lang="zh-CN" altLang="en-US" sz="2000" dirty="0">
                    <a:solidFill>
                      <a:srgbClr val="000000"/>
                    </a:solidFill>
                    <a:latin typeface="Times New Roman" panose="02020603050405020304" pitchFamily="18" charset="0"/>
                    <a:cs typeface="Times New Roman" panose="02020603050405020304" pitchFamily="18" charset="0"/>
                  </a:rPr>
                  <a:t>			</a:t>
                </a:r>
                <a:endParaRPr lang="en-US" altLang="zh-CN" sz="2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8" name="Text Box 21"/>
              <p:cNvSpPr txBox="1">
                <a:spLocks noRot="1" noChangeAspect="1" noMove="1" noResize="1" noEditPoints="1" noAdjustHandles="1" noChangeArrowheads="1" noChangeShapeType="1" noTextEdit="1"/>
              </p:cNvSpPr>
              <p:nvPr/>
            </p:nvSpPr>
            <p:spPr bwMode="auto">
              <a:xfrm>
                <a:off x="1524000" y="1209675"/>
                <a:ext cx="9144000" cy="5098415"/>
              </a:xfrm>
              <a:prstGeom prst="rect">
                <a:avLst/>
              </a:prstGeom>
              <a:blipFill rotWithShape="1">
                <a:blip r:embed="rId1"/>
                <a:stretch>
                  <a:fillRect r="-444"/>
                </a:stretch>
              </a:blipFill>
              <a:ln w="9525">
                <a:noFill/>
                <a:miter lim="800000"/>
              </a:ln>
            </p:spPr>
            <p:txBody>
              <a:bodyPr/>
              <a:lstStyle/>
              <a:p>
                <a:r>
                  <a:rPr lang="zh-CN" altLang="en-US">
                    <a:noFill/>
                  </a:rPr>
                  <a:t> </a:t>
                </a:r>
              </a:p>
            </p:txBody>
          </p:sp>
        </mc:Fallback>
      </mc:AlternateContent>
      <p:sp>
        <p:nvSpPr>
          <p:cNvPr id="2" name="标题 1"/>
          <p:cNvSpPr>
            <a:spLocks noGrp="1"/>
          </p:cNvSpPr>
          <p:nvPr/>
        </p:nvSpPr>
        <p:spPr>
          <a:xfrm>
            <a:off x="838200" y="12573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最短路径问题应用</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pic>
        <p:nvPicPr>
          <p:cNvPr id="6146" name="Picture 2"/>
          <p:cNvPicPr>
            <a:picLocks noChangeAspect="1" noChangeArrowheads="1"/>
          </p:cNvPicPr>
          <p:nvPr/>
        </p:nvPicPr>
        <p:blipFill>
          <a:blip r:embed="rId1"/>
          <a:srcRect/>
          <a:stretch>
            <a:fillRect/>
          </a:stretch>
        </p:blipFill>
        <p:spPr bwMode="auto">
          <a:xfrm>
            <a:off x="2544258" y="1967352"/>
            <a:ext cx="6815452" cy="3126865"/>
          </a:xfrm>
          <a:prstGeom prst="rect">
            <a:avLst/>
          </a:prstGeom>
          <a:noFill/>
          <a:ln w="9525">
            <a:noFill/>
            <a:miter lim="800000"/>
            <a:headEnd/>
            <a:tailEnd/>
          </a:ln>
        </p:spPr>
      </p:pic>
      <p:sp>
        <p:nvSpPr>
          <p:cNvPr id="2" name="标题 1"/>
          <p:cNvSpPr>
            <a:spLocks noGrp="1"/>
          </p:cNvSpPr>
          <p:nvPr/>
        </p:nvSpPr>
        <p:spPr>
          <a:xfrm>
            <a:off x="838200" y="12573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最短路径问题应用</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ppt_x"/>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最短路径问题应用</a:t>
            </a:r>
            <a:endParaRPr lang="zh-CN" altLang="en-US" dirty="0"/>
          </a:p>
        </p:txBody>
      </p:sp>
      <p:sp>
        <p:nvSpPr>
          <p:cNvPr id="3" name="内容占位符 2"/>
          <p:cNvSpPr>
            <a:spLocks noGrp="1"/>
          </p:cNvSpPr>
          <p:nvPr>
            <p:ph idx="1"/>
          </p:nvPr>
        </p:nvSpPr>
        <p:spPr/>
        <p:txBody>
          <a:bodyPr/>
          <a:lstStyle/>
          <a:p>
            <a:pPr marL="0" indent="0">
              <a:buNone/>
            </a:pPr>
            <a:r>
              <a:rPr lang="zh-CN" altLang="en-US" sz="2400" b="1" dirty="0"/>
              <a:t>例</a:t>
            </a:r>
            <a:r>
              <a:rPr lang="en-US" altLang="zh-CN" sz="2400" b="1" dirty="0"/>
              <a:t>3  </a:t>
            </a:r>
            <a:r>
              <a:rPr lang="zh-CN" altLang="en-US" sz="2400" b="1" dirty="0"/>
              <a:t>设备更新问题。某公司使用一台设备，在每年年初，公司就要决定是购买新的设备还是继续使用旧设备。如果购置新设备，就要支付一定的购置费，当然新设备的维修费用就低。如果继续使用旧设备，可以省去购置费，但维修费用就高了。请设计一个五年之内的更新设备的计划，使得五年内购置费用和维修费用总的支付费用最小。</a:t>
            </a:r>
            <a:endParaRPr lang="en-US" altLang="zh-CN" sz="2400" b="1" dirty="0"/>
          </a:p>
          <a:p>
            <a:pPr marL="0" indent="0">
              <a:buNone/>
            </a:pPr>
            <a:r>
              <a:rPr lang="zh-CN" altLang="en-US" sz="2400" b="1" dirty="0"/>
              <a:t>已知：设备每年年初的价格表</a:t>
            </a:r>
            <a:endParaRPr lang="en-US" altLang="zh-CN" sz="2400" b="1" dirty="0"/>
          </a:p>
          <a:p>
            <a:pPr marL="0" indent="0">
              <a:buNone/>
            </a:pPr>
            <a:endParaRPr lang="en-US" altLang="zh-CN" sz="2400" b="1" dirty="0"/>
          </a:p>
          <a:p>
            <a:pPr marL="0" indent="0">
              <a:buNone/>
            </a:pPr>
            <a:endParaRPr lang="en-US" altLang="zh-CN" sz="2400" b="1" dirty="0"/>
          </a:p>
          <a:p>
            <a:pPr marL="0" indent="0">
              <a:buNone/>
            </a:pPr>
            <a:r>
              <a:rPr lang="zh-CN" altLang="en-US" sz="2400" b="1" dirty="0"/>
              <a:t>设备维修费如下表</a:t>
            </a:r>
            <a:endParaRPr lang="zh-CN" altLang="en-US" sz="2400" b="1" dirty="0"/>
          </a:p>
          <a:p>
            <a:pPr marL="0" indent="0">
              <a:buNone/>
            </a:pPr>
            <a:endParaRPr lang="zh-CN" altLang="en-US" dirty="0"/>
          </a:p>
        </p:txBody>
      </p:sp>
      <p:graphicFrame>
        <p:nvGraphicFramePr>
          <p:cNvPr id="4" name="Group 4"/>
          <p:cNvGraphicFramePr>
            <a:graphicFrameLocks noGrp="1"/>
          </p:cNvGraphicFramePr>
          <p:nvPr/>
        </p:nvGraphicFramePr>
        <p:xfrm>
          <a:off x="1508810" y="4001294"/>
          <a:ext cx="7924800" cy="841376"/>
        </p:xfrm>
        <a:graphic>
          <a:graphicData uri="http://schemas.openxmlformats.org/drawingml/2006/table">
            <a:tbl>
              <a:tblPr/>
              <a:tblGrid>
                <a:gridCol w="1517650"/>
                <a:gridCol w="1123950"/>
                <a:gridCol w="1320800"/>
                <a:gridCol w="1320800"/>
                <a:gridCol w="1320800"/>
                <a:gridCol w="1320800"/>
              </a:tblGrid>
              <a:tr h="420688">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年份</a:t>
                      </a: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0688">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年初价格</a:t>
                      </a: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13</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 name="Group 27"/>
          <p:cNvGraphicFramePr>
            <a:graphicFrameLocks noGrp="1"/>
          </p:cNvGraphicFramePr>
          <p:nvPr/>
        </p:nvGraphicFramePr>
        <p:xfrm>
          <a:off x="1511985" y="5397500"/>
          <a:ext cx="7921625" cy="914400"/>
        </p:xfrm>
        <a:graphic>
          <a:graphicData uri="http://schemas.openxmlformats.org/drawingml/2006/table">
            <a:tbl>
              <a:tblPr/>
              <a:tblGrid>
                <a:gridCol w="2089150"/>
                <a:gridCol w="1223962"/>
                <a:gridCol w="1225550"/>
                <a:gridCol w="1079500"/>
                <a:gridCol w="1152525"/>
                <a:gridCol w="1150938"/>
              </a:tblGrid>
              <a:tr h="457200">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使用年数</a:t>
                      </a: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2-3</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3-4</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4-5</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每年维修费用</a:t>
                      </a: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18</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8" name="Text Box 21"/>
              <p:cNvSpPr txBox="1">
                <a:spLocks noChangeArrowheads="1"/>
              </p:cNvSpPr>
              <p:nvPr/>
            </p:nvSpPr>
            <p:spPr bwMode="auto">
              <a:xfrm>
                <a:off x="1631156" y="1243076"/>
                <a:ext cx="8929687" cy="1594485"/>
              </a:xfrm>
              <a:prstGeom prst="rect">
                <a:avLst/>
              </a:prstGeom>
              <a:noFill/>
              <a:ln w="9525">
                <a:noFill/>
                <a:miter lim="800000"/>
              </a:ln>
            </p:spPr>
            <p:txBody>
              <a:bodyPr wrap="square" lIns="0" tIns="0" rIns="0" bIns="0">
                <a:spAutoFit/>
              </a:bodyPr>
              <a:lstStyle/>
              <a:p>
                <a:pPr>
                  <a:lnSpc>
                    <a:spcPct val="150000"/>
                  </a:lnSpc>
                  <a:tabLst>
                    <a:tab pos="203200" algn="l"/>
                    <a:tab pos="266700" algn="l"/>
                    <a:tab pos="1917700" algn="l"/>
                  </a:tabLst>
                </a:pPr>
                <a:r>
                  <a:rPr lang="zh-CN" altLang="en-US" sz="22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例 </a:t>
                </a:r>
                <a:r>
                  <a:rPr lang="en-US" altLang="zh-CN" sz="22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 </a:t>
                </a:r>
                <a:r>
                  <a:rPr lang="zh-CN" altLang="en-US" sz="22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求解如下</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：将问题转化为最短路问题，如图 </a:t>
                </a: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11-8 </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所示。</a:t>
                </a:r>
                <a:endPar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用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表示“第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m:t>
                    </m:r>
                  </m:oMath>
                </a14:m>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年年初购进一台新设备”，弧</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200" i="1" dirty="0" err="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e>
                      <m:sub>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m:t>
                        </m:r>
                      </m:sub>
                    </m:sSub>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e>
                      <m:sub>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𝑗</m:t>
                        </m:r>
                      </m:sub>
                    </m:sSub>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表示第</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err="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年年初购进的设备一直使用到第</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𝑗</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年年初。</a:t>
                </a:r>
                <a:endParaRPr lang="en-US" altLang="zh-CN" sz="22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8" name="Text Box 21"/>
              <p:cNvSpPr txBox="1">
                <a:spLocks noRot="1" noChangeAspect="1" noMove="1" noResize="1" noEditPoints="1" noAdjustHandles="1" noChangeArrowheads="1" noChangeShapeType="1" noTextEdit="1"/>
              </p:cNvSpPr>
              <p:nvPr/>
            </p:nvSpPr>
            <p:spPr bwMode="auto">
              <a:xfrm>
                <a:off x="1631156" y="1243076"/>
                <a:ext cx="8929687" cy="1594485"/>
              </a:xfrm>
              <a:prstGeom prst="rect">
                <a:avLst/>
              </a:prstGeom>
              <a:blipFill rotWithShape="1">
                <a:blip r:embed="rId1"/>
                <a:stretch>
                  <a:fillRect l="-5" t="-24" r="2" b="24"/>
                </a:stretch>
              </a:blipFill>
              <a:ln w="9525">
                <a:noFill/>
                <a:miter lim="800000"/>
              </a:ln>
            </p:spPr>
            <p:txBody>
              <a:bodyPr/>
              <a:lstStyle/>
              <a:p>
                <a:r>
                  <a:rPr lang="zh-CN" altLang="en-US">
                    <a:noFill/>
                  </a:rPr>
                  <a:t> </a:t>
                </a:r>
              </a:p>
            </p:txBody>
          </p:sp>
        </mc:Fallback>
      </mc:AlternateContent>
      <p:pic>
        <p:nvPicPr>
          <p:cNvPr id="7170" name="Picture 2"/>
          <p:cNvPicPr>
            <a:picLocks noChangeAspect="1" noChangeArrowheads="1"/>
          </p:cNvPicPr>
          <p:nvPr/>
        </p:nvPicPr>
        <p:blipFill>
          <a:blip r:embed="rId2"/>
          <a:srcRect/>
          <a:stretch>
            <a:fillRect/>
          </a:stretch>
        </p:blipFill>
        <p:spPr bwMode="auto">
          <a:xfrm>
            <a:off x="3166229" y="2805316"/>
            <a:ext cx="5859541" cy="1747366"/>
          </a:xfrm>
          <a:prstGeom prst="rect">
            <a:avLst/>
          </a:prstGeom>
          <a:noFill/>
          <a:ln w="9525">
            <a:noFill/>
            <a:miter lim="800000"/>
            <a:headEnd/>
            <a:tailEnd/>
          </a:ln>
        </p:spPr>
      </p:pic>
      <p:graphicFrame>
        <p:nvGraphicFramePr>
          <p:cNvPr id="76" name="Table 75"/>
          <p:cNvGraphicFramePr>
            <a:graphicFrameLocks noGrp="1"/>
          </p:cNvGraphicFramePr>
          <p:nvPr/>
        </p:nvGraphicFramePr>
        <p:xfrm>
          <a:off x="1732724" y="4443474"/>
          <a:ext cx="8391444" cy="365760"/>
        </p:xfrm>
        <a:graphic>
          <a:graphicData uri="http://schemas.openxmlformats.org/drawingml/2006/table">
            <a:tbl>
              <a:tblPr firstRow="1" bandRow="1">
                <a:tableStyleId>{5C22544A-7EE6-4342-B048-85BDC9FD1C3A}</a:tableStyleId>
              </a:tblPr>
              <a:tblGrid>
                <a:gridCol w="356049"/>
                <a:gridCol w="930584"/>
                <a:gridCol w="890124"/>
                <a:gridCol w="817296"/>
                <a:gridCol w="776835"/>
                <a:gridCol w="1068149"/>
                <a:gridCol w="3552407"/>
              </a:tblGrid>
              <a:tr h="279801">
                <a:tc>
                  <a:txBody>
                    <a:bodyPr/>
                    <a:p>
                      <a:endParaRPr lang="en-US" dirty="0"/>
                    </a:p>
                  </a:txBody>
                  <a:tcPr/>
                </a:tc>
                <a:tc>
                  <a:txBody>
                    <a:bodyPr/>
                    <a:p>
                      <a:pPr algn="ctr"/>
                      <a:r>
                        <a:rPr lang="en-US" altLang="zh-CN" dirty="0"/>
                        <a:t>1-2</a:t>
                      </a:r>
                      <a:endParaRPr lang="en-US" dirty="0"/>
                    </a:p>
                  </a:txBody>
                  <a:tcPr/>
                </a:tc>
                <a:tc>
                  <a:txBody>
                    <a:bodyPr/>
                    <a:p>
                      <a:pPr algn="ctr"/>
                      <a:r>
                        <a:rPr lang="en-US" altLang="zh-CN" dirty="0"/>
                        <a:t>2-3</a:t>
                      </a:r>
                      <a:endParaRPr lang="en-US" dirty="0"/>
                    </a:p>
                  </a:txBody>
                  <a:tcPr/>
                </a:tc>
                <a:tc>
                  <a:txBody>
                    <a:bodyPr/>
                    <a:p>
                      <a:pPr algn="ctr"/>
                      <a:r>
                        <a:rPr lang="en-US" altLang="zh-CN" dirty="0"/>
                        <a:t>3-4</a:t>
                      </a:r>
                      <a:endParaRPr lang="en-US" dirty="0"/>
                    </a:p>
                  </a:txBody>
                  <a:tcPr/>
                </a:tc>
                <a:tc>
                  <a:txBody>
                    <a:bodyPr/>
                    <a:p>
                      <a:pPr algn="ctr"/>
                      <a:r>
                        <a:rPr lang="en-US" altLang="zh-CN" dirty="0"/>
                        <a:t>4-5</a:t>
                      </a:r>
                      <a:endParaRPr lang="en-US" dirty="0"/>
                    </a:p>
                  </a:txBody>
                  <a:tcPr/>
                </a:tc>
                <a:tc>
                  <a:txBody>
                    <a:bodyPr/>
                    <a:p>
                      <a:pPr algn="ctr"/>
                      <a:r>
                        <a:rPr lang="en-US" altLang="zh-CN" dirty="0"/>
                        <a:t>5-6</a:t>
                      </a:r>
                      <a:endParaRPr lang="en-US" dirty="0"/>
                    </a:p>
                  </a:txBody>
                  <a:tcPr/>
                </a:tc>
                <a:tc>
                  <a:txBody>
                    <a:bodyPr/>
                    <a:p>
                      <a:pPr algn="ctr"/>
                      <a:r>
                        <a:rPr lang="en-US" dirty="0" err="1"/>
                        <a:t>计算公式</a:t>
                      </a:r>
                      <a:endParaRPr lang="en-US" dirty="0"/>
                    </a:p>
                  </a:txBody>
                  <a:tcPr/>
                </a:tc>
              </a:tr>
            </a:tbl>
          </a:graphicData>
        </a:graphic>
      </p:graphicFrame>
      <p:graphicFrame>
        <p:nvGraphicFramePr>
          <p:cNvPr id="77" name="Table 76"/>
          <p:cNvGraphicFramePr>
            <a:graphicFrameLocks noGrp="1"/>
          </p:cNvGraphicFramePr>
          <p:nvPr/>
        </p:nvGraphicFramePr>
        <p:xfrm>
          <a:off x="1732724" y="4781844"/>
          <a:ext cx="8391444" cy="365760"/>
        </p:xfrm>
        <a:graphic>
          <a:graphicData uri="http://schemas.openxmlformats.org/drawingml/2006/table">
            <a:tbl>
              <a:tblPr firstRow="1" bandRow="1">
                <a:tableStyleId>{5C22544A-7EE6-4342-B048-85BDC9FD1C3A}</a:tableStyleId>
              </a:tblPr>
              <a:tblGrid>
                <a:gridCol w="356049"/>
                <a:gridCol w="930584"/>
                <a:gridCol w="890124"/>
                <a:gridCol w="817296"/>
                <a:gridCol w="776835"/>
                <a:gridCol w="1068149"/>
                <a:gridCol w="3552407"/>
              </a:tblGrid>
              <a:tr h="266952">
                <a:tc>
                  <a:txBody>
                    <a:bodyPr/>
                    <a:p>
                      <a:r>
                        <a:rPr lang="en-US" altLang="zh-CN" dirty="0"/>
                        <a:t>1</a:t>
                      </a:r>
                      <a:endParaRPr lang="en-US" dirty="0"/>
                    </a:p>
                  </a:txBody>
                  <a:tcPr/>
                </a:tc>
                <a:tc>
                  <a:txBody>
                    <a:bodyPr/>
                    <a:p>
                      <a:pPr algn="ctr"/>
                      <a:r>
                        <a:rPr lang="en-US" altLang="zh-CN" dirty="0"/>
                        <a:t>16</a:t>
                      </a:r>
                      <a:endParaRPr lang="en-US" dirty="0"/>
                    </a:p>
                  </a:txBody>
                  <a:tcPr/>
                </a:tc>
                <a:tc>
                  <a:txBody>
                    <a:bodyPr/>
                    <a:p>
                      <a:pPr algn="ctr"/>
                      <a:r>
                        <a:rPr lang="en-US" altLang="zh-CN" dirty="0"/>
                        <a:t>22</a:t>
                      </a:r>
                      <a:endParaRPr lang="en-US" dirty="0"/>
                    </a:p>
                  </a:txBody>
                  <a:tcPr/>
                </a:tc>
                <a:tc>
                  <a:txBody>
                    <a:bodyPr/>
                    <a:p>
                      <a:pPr algn="ctr"/>
                      <a:r>
                        <a:rPr lang="en-US" altLang="zh-CN" dirty="0"/>
                        <a:t>30</a:t>
                      </a:r>
                      <a:endParaRPr lang="en-US" dirty="0"/>
                    </a:p>
                  </a:txBody>
                  <a:tcPr/>
                </a:tc>
                <a:tc>
                  <a:txBody>
                    <a:bodyPr/>
                    <a:p>
                      <a:pPr algn="ctr"/>
                      <a:r>
                        <a:rPr lang="en-US" altLang="zh-CN" dirty="0"/>
                        <a:t>41</a:t>
                      </a:r>
                      <a:endParaRPr lang="en-US" dirty="0"/>
                    </a:p>
                  </a:txBody>
                  <a:tcPr/>
                </a:tc>
                <a:tc>
                  <a:txBody>
                    <a:bodyPr/>
                    <a:p>
                      <a:pPr algn="ctr"/>
                      <a:r>
                        <a:rPr lang="en-US" altLang="zh-CN" dirty="0"/>
                        <a:t>59</a:t>
                      </a:r>
                      <a:endParaRPr lang="en-US" dirty="0"/>
                    </a:p>
                  </a:txBody>
                  <a:tcPr/>
                </a:tc>
                <a:tc>
                  <a:txBody>
                    <a:bodyPr/>
                    <a:p>
                      <a:pPr algn="ctr"/>
                      <a:r>
                        <a:rPr lang="en-US" altLang="zh-CN" dirty="0"/>
                        <a:t>11+5+6+8+11+18</a:t>
                      </a:r>
                      <a:endParaRPr lang="en-US" dirty="0"/>
                    </a:p>
                  </a:txBody>
                  <a:tcPr/>
                </a:tc>
              </a:tr>
            </a:tbl>
          </a:graphicData>
        </a:graphic>
      </p:graphicFrame>
      <p:graphicFrame>
        <p:nvGraphicFramePr>
          <p:cNvPr id="78" name="Table 77"/>
          <p:cNvGraphicFramePr>
            <a:graphicFrameLocks noGrp="1"/>
          </p:cNvGraphicFramePr>
          <p:nvPr/>
        </p:nvGraphicFramePr>
        <p:xfrm>
          <a:off x="1732724" y="5126569"/>
          <a:ext cx="8391444" cy="365760"/>
        </p:xfrm>
        <a:graphic>
          <a:graphicData uri="http://schemas.openxmlformats.org/drawingml/2006/table">
            <a:tbl>
              <a:tblPr firstRow="1" bandRow="1">
                <a:tableStyleId>{5C22544A-7EE6-4342-B048-85BDC9FD1C3A}</a:tableStyleId>
              </a:tblPr>
              <a:tblGrid>
                <a:gridCol w="356049"/>
                <a:gridCol w="930584"/>
                <a:gridCol w="890124"/>
                <a:gridCol w="817296"/>
                <a:gridCol w="776835"/>
                <a:gridCol w="1068149"/>
                <a:gridCol w="3552407"/>
              </a:tblGrid>
              <a:tr h="266952">
                <a:tc>
                  <a:txBody>
                    <a:bodyPr/>
                    <a:p>
                      <a:r>
                        <a:rPr lang="en-US" altLang="zh-CN" dirty="0"/>
                        <a:t>2</a:t>
                      </a:r>
                      <a:endParaRPr lang="en-US" dirty="0"/>
                    </a:p>
                  </a:txBody>
                  <a:tcPr/>
                </a:tc>
                <a:tc>
                  <a:txBody>
                    <a:bodyPr/>
                    <a:p>
                      <a:pPr algn="ctr"/>
                      <a:r>
                        <a:rPr lang="en-US" altLang="zh-CN" dirty="0"/>
                        <a:t>-</a:t>
                      </a:r>
                      <a:endParaRPr lang="en-US" dirty="0"/>
                    </a:p>
                  </a:txBody>
                  <a:tcPr/>
                </a:tc>
                <a:tc>
                  <a:txBody>
                    <a:bodyPr/>
                    <a:p>
                      <a:pPr algn="ctr"/>
                      <a:r>
                        <a:rPr lang="en-US" altLang="zh-CN" dirty="0"/>
                        <a:t>16</a:t>
                      </a:r>
                      <a:endParaRPr lang="en-US" dirty="0"/>
                    </a:p>
                  </a:txBody>
                  <a:tcPr/>
                </a:tc>
                <a:tc>
                  <a:txBody>
                    <a:bodyPr/>
                    <a:p>
                      <a:pPr algn="ctr"/>
                      <a:r>
                        <a:rPr lang="en-US" altLang="zh-CN" dirty="0"/>
                        <a:t>22</a:t>
                      </a:r>
                      <a:endParaRPr lang="en-US" dirty="0"/>
                    </a:p>
                  </a:txBody>
                  <a:tcPr/>
                </a:tc>
                <a:tc>
                  <a:txBody>
                    <a:bodyPr/>
                    <a:p>
                      <a:pPr algn="ctr"/>
                      <a:r>
                        <a:rPr lang="en-US" altLang="zh-CN" dirty="0"/>
                        <a:t>30</a:t>
                      </a:r>
                      <a:endParaRPr lang="en-US" dirty="0"/>
                    </a:p>
                  </a:txBody>
                  <a:tcPr/>
                </a:tc>
                <a:tc>
                  <a:txBody>
                    <a:bodyPr/>
                    <a:p>
                      <a:pPr algn="ctr"/>
                      <a:r>
                        <a:rPr lang="en-US" altLang="zh-CN" dirty="0"/>
                        <a:t>41</a:t>
                      </a:r>
                      <a:endParaRPr lang="en-US" dirty="0"/>
                    </a:p>
                  </a:txBody>
                  <a:tcPr/>
                </a:tc>
                <a:tc>
                  <a:txBody>
                    <a:bodyPr/>
                    <a:p>
                      <a:pPr algn="ctr"/>
                      <a:r>
                        <a:rPr lang="en-US" altLang="zh-CN" dirty="0"/>
                        <a:t>11+5+6+8+11</a:t>
                      </a:r>
                      <a:endParaRPr lang="en-US" dirty="0"/>
                    </a:p>
                  </a:txBody>
                  <a:tcPr/>
                </a:tc>
              </a:tr>
            </a:tbl>
          </a:graphicData>
        </a:graphic>
      </p:graphicFrame>
      <p:graphicFrame>
        <p:nvGraphicFramePr>
          <p:cNvPr id="79" name="Table 78"/>
          <p:cNvGraphicFramePr>
            <a:graphicFrameLocks noGrp="1"/>
          </p:cNvGraphicFramePr>
          <p:nvPr/>
        </p:nvGraphicFramePr>
        <p:xfrm>
          <a:off x="1732724" y="5485974"/>
          <a:ext cx="8391444" cy="365760"/>
        </p:xfrm>
        <a:graphic>
          <a:graphicData uri="http://schemas.openxmlformats.org/drawingml/2006/table">
            <a:tbl>
              <a:tblPr firstRow="1" bandRow="1">
                <a:tableStyleId>{5C22544A-7EE6-4342-B048-85BDC9FD1C3A}</a:tableStyleId>
              </a:tblPr>
              <a:tblGrid>
                <a:gridCol w="356049"/>
                <a:gridCol w="930584"/>
                <a:gridCol w="890124"/>
                <a:gridCol w="817296"/>
                <a:gridCol w="776835"/>
                <a:gridCol w="1068149"/>
                <a:gridCol w="3552407"/>
              </a:tblGrid>
              <a:tr h="266952">
                <a:tc>
                  <a:txBody>
                    <a:bodyPr/>
                    <a:p>
                      <a:r>
                        <a:rPr lang="en-US" altLang="zh-CN" dirty="0"/>
                        <a:t>3</a:t>
                      </a:r>
                      <a:endParaRPr lang="en-US" dirty="0"/>
                    </a:p>
                  </a:txBody>
                  <a:tcPr/>
                </a:tc>
                <a:tc>
                  <a:txBody>
                    <a:bodyPr/>
                    <a:p>
                      <a:pPr algn="ctr"/>
                      <a:r>
                        <a:rPr lang="en-US" dirty="0"/>
                        <a:t>-</a:t>
                      </a:r>
                      <a:endParaRPr lang="en-US" dirty="0"/>
                    </a:p>
                  </a:txBody>
                  <a:tcPr/>
                </a:tc>
                <a:tc>
                  <a:txBody>
                    <a:bodyPr/>
                    <a:p>
                      <a:pPr algn="ctr"/>
                      <a:r>
                        <a:rPr lang="en-US" altLang="zh-CN" dirty="0"/>
                        <a:t>-</a:t>
                      </a:r>
                      <a:endParaRPr lang="en-US" dirty="0"/>
                    </a:p>
                  </a:txBody>
                  <a:tcPr/>
                </a:tc>
                <a:tc>
                  <a:txBody>
                    <a:bodyPr/>
                    <a:p>
                      <a:pPr algn="ctr"/>
                      <a:r>
                        <a:rPr lang="en-US" altLang="zh-CN" dirty="0"/>
                        <a:t>17</a:t>
                      </a:r>
                      <a:endParaRPr lang="en-US" dirty="0"/>
                    </a:p>
                  </a:txBody>
                  <a:tcPr/>
                </a:tc>
                <a:tc>
                  <a:txBody>
                    <a:bodyPr/>
                    <a:p>
                      <a:pPr algn="ctr"/>
                      <a:r>
                        <a:rPr lang="en-US" altLang="zh-CN" dirty="0"/>
                        <a:t>23</a:t>
                      </a:r>
                      <a:endParaRPr lang="en-US" dirty="0"/>
                    </a:p>
                  </a:txBody>
                  <a:tcPr/>
                </a:tc>
                <a:tc>
                  <a:txBody>
                    <a:bodyPr/>
                    <a:p>
                      <a:pPr algn="ctr"/>
                      <a:r>
                        <a:rPr lang="en-US" altLang="zh-CN" dirty="0"/>
                        <a:t>31</a:t>
                      </a:r>
                      <a:endParaRPr lang="en-US" dirty="0"/>
                    </a:p>
                  </a:txBody>
                  <a:tcPr/>
                </a:tc>
                <a:tc>
                  <a:txBody>
                    <a:bodyPr/>
                    <a:p>
                      <a:pPr algn="ctr"/>
                      <a:r>
                        <a:rPr lang="en-US" altLang="zh-CN" dirty="0"/>
                        <a:t>12+5+6+8</a:t>
                      </a:r>
                      <a:endParaRPr lang="en-US" dirty="0"/>
                    </a:p>
                  </a:txBody>
                  <a:tcPr/>
                </a:tc>
              </a:tr>
            </a:tbl>
          </a:graphicData>
        </a:graphic>
      </p:graphicFrame>
      <p:graphicFrame>
        <p:nvGraphicFramePr>
          <p:cNvPr id="80" name="Table 79"/>
          <p:cNvGraphicFramePr>
            <a:graphicFrameLocks noGrp="1"/>
          </p:cNvGraphicFramePr>
          <p:nvPr/>
        </p:nvGraphicFramePr>
        <p:xfrm>
          <a:off x="1732724" y="5842021"/>
          <a:ext cx="8391444" cy="365760"/>
        </p:xfrm>
        <a:graphic>
          <a:graphicData uri="http://schemas.openxmlformats.org/drawingml/2006/table">
            <a:tbl>
              <a:tblPr firstRow="1" bandRow="1">
                <a:tableStyleId>{5C22544A-7EE6-4342-B048-85BDC9FD1C3A}</a:tableStyleId>
              </a:tblPr>
              <a:tblGrid>
                <a:gridCol w="356049"/>
                <a:gridCol w="930584"/>
                <a:gridCol w="890124"/>
                <a:gridCol w="817296"/>
                <a:gridCol w="776835"/>
                <a:gridCol w="1068149"/>
                <a:gridCol w="3552407"/>
              </a:tblGrid>
              <a:tr h="266952">
                <a:tc>
                  <a:txBody>
                    <a:bodyPr/>
                    <a:p>
                      <a:r>
                        <a:rPr lang="en-US" altLang="zh-CN" dirty="0"/>
                        <a:t>4</a:t>
                      </a:r>
                      <a:endParaRPr lang="en-US" dirty="0"/>
                    </a:p>
                  </a:txBody>
                  <a:tcPr/>
                </a:tc>
                <a:tc>
                  <a:txBody>
                    <a:bodyPr/>
                    <a:p>
                      <a:pPr algn="ctr"/>
                      <a:r>
                        <a:rPr lang="en-US" dirty="0"/>
                        <a:t>-</a:t>
                      </a:r>
                      <a:endParaRPr lang="en-US" dirty="0"/>
                    </a:p>
                  </a:txBody>
                  <a:tcPr/>
                </a:tc>
                <a:tc>
                  <a:txBody>
                    <a:bodyPr/>
                    <a:p>
                      <a:pPr algn="ctr"/>
                      <a:r>
                        <a:rPr lang="en-US" dirty="0"/>
                        <a:t>-</a:t>
                      </a:r>
                      <a:endParaRPr lang="en-US" dirty="0"/>
                    </a:p>
                  </a:txBody>
                  <a:tcPr/>
                </a:tc>
                <a:tc>
                  <a:txBody>
                    <a:bodyPr/>
                    <a:p>
                      <a:pPr algn="ctr"/>
                      <a:r>
                        <a:rPr lang="en-US" altLang="zh-CN" dirty="0"/>
                        <a:t>-</a:t>
                      </a:r>
                      <a:endParaRPr lang="en-US" dirty="0"/>
                    </a:p>
                  </a:txBody>
                  <a:tcPr/>
                </a:tc>
                <a:tc>
                  <a:txBody>
                    <a:bodyPr/>
                    <a:p>
                      <a:pPr algn="ctr"/>
                      <a:r>
                        <a:rPr lang="en-US" altLang="zh-CN" dirty="0"/>
                        <a:t>17</a:t>
                      </a:r>
                      <a:endParaRPr lang="en-US" dirty="0"/>
                    </a:p>
                  </a:txBody>
                  <a:tcPr/>
                </a:tc>
                <a:tc>
                  <a:txBody>
                    <a:bodyPr/>
                    <a:p>
                      <a:pPr algn="ctr"/>
                      <a:r>
                        <a:rPr lang="en-US" altLang="zh-CN" dirty="0"/>
                        <a:t>23</a:t>
                      </a:r>
                      <a:endParaRPr lang="en-US" dirty="0"/>
                    </a:p>
                  </a:txBody>
                  <a:tcPr/>
                </a:tc>
                <a:tc>
                  <a:txBody>
                    <a:bodyPr/>
                    <a:p>
                      <a:pPr algn="ctr"/>
                      <a:r>
                        <a:rPr lang="en-US" altLang="zh-CN" dirty="0"/>
                        <a:t>12+5+6</a:t>
                      </a:r>
                      <a:endParaRPr lang="en-US" dirty="0"/>
                    </a:p>
                  </a:txBody>
                  <a:tcPr/>
                </a:tc>
              </a:tr>
            </a:tbl>
          </a:graphicData>
        </a:graphic>
      </p:graphicFrame>
      <p:graphicFrame>
        <p:nvGraphicFramePr>
          <p:cNvPr id="81" name="Table 80"/>
          <p:cNvGraphicFramePr>
            <a:graphicFrameLocks noGrp="1"/>
          </p:cNvGraphicFramePr>
          <p:nvPr/>
        </p:nvGraphicFramePr>
        <p:xfrm>
          <a:off x="1732724" y="6192231"/>
          <a:ext cx="8391444" cy="365760"/>
        </p:xfrm>
        <a:graphic>
          <a:graphicData uri="http://schemas.openxmlformats.org/drawingml/2006/table">
            <a:tbl>
              <a:tblPr firstRow="1" bandRow="1">
                <a:tableStyleId>{5C22544A-7EE6-4342-B048-85BDC9FD1C3A}</a:tableStyleId>
              </a:tblPr>
              <a:tblGrid>
                <a:gridCol w="356049"/>
                <a:gridCol w="930584"/>
                <a:gridCol w="890124"/>
                <a:gridCol w="817296"/>
                <a:gridCol w="776835"/>
                <a:gridCol w="1068149"/>
                <a:gridCol w="3552407"/>
              </a:tblGrid>
              <a:tr h="266952">
                <a:tc>
                  <a:txBody>
                    <a:bodyPr/>
                    <a:p>
                      <a:r>
                        <a:rPr lang="en-US" altLang="zh-CN" dirty="0"/>
                        <a:t>5</a:t>
                      </a:r>
                      <a:endParaRPr lang="en-US" dirty="0"/>
                    </a:p>
                  </a:txBody>
                  <a:tcPr/>
                </a:tc>
                <a:tc>
                  <a:txBody>
                    <a:bodyPr/>
                    <a:p>
                      <a:pPr algn="ctr"/>
                      <a:r>
                        <a:rPr lang="en-US" dirty="0"/>
                        <a:t>-</a:t>
                      </a:r>
                      <a:endParaRPr lang="en-US" dirty="0"/>
                    </a:p>
                  </a:txBody>
                  <a:tcPr/>
                </a:tc>
                <a:tc>
                  <a:txBody>
                    <a:bodyPr/>
                    <a:p>
                      <a:pPr algn="ctr"/>
                      <a:r>
                        <a:rPr lang="en-US" dirty="0"/>
                        <a:t>-</a:t>
                      </a:r>
                      <a:endParaRPr lang="en-US" dirty="0"/>
                    </a:p>
                  </a:txBody>
                  <a:tcPr/>
                </a:tc>
                <a:tc>
                  <a:txBody>
                    <a:bodyPr/>
                    <a:p>
                      <a:pPr algn="ctr"/>
                      <a:r>
                        <a:rPr lang="en-US" dirty="0"/>
                        <a:t>-</a:t>
                      </a:r>
                      <a:endParaRPr lang="en-US" dirty="0"/>
                    </a:p>
                  </a:txBody>
                  <a:tcPr/>
                </a:tc>
                <a:tc>
                  <a:txBody>
                    <a:bodyPr/>
                    <a:p>
                      <a:pPr algn="ctr"/>
                      <a:r>
                        <a:rPr lang="en-US" altLang="zh-CN" dirty="0"/>
                        <a:t>-</a:t>
                      </a:r>
                      <a:endParaRPr lang="en-US" dirty="0"/>
                    </a:p>
                  </a:txBody>
                  <a:tcPr/>
                </a:tc>
                <a:tc>
                  <a:txBody>
                    <a:bodyPr/>
                    <a:p>
                      <a:pPr algn="ctr"/>
                      <a:r>
                        <a:rPr lang="en-US" altLang="zh-CN" dirty="0"/>
                        <a:t>18</a:t>
                      </a:r>
                      <a:endParaRPr lang="en-US" dirty="0"/>
                    </a:p>
                  </a:txBody>
                  <a:tcPr/>
                </a:tc>
                <a:tc>
                  <a:txBody>
                    <a:bodyPr/>
                    <a:p>
                      <a:pPr algn="ctr"/>
                      <a:r>
                        <a:rPr lang="en-US" altLang="zh-CN" dirty="0"/>
                        <a:t>13+5</a:t>
                      </a:r>
                      <a:endParaRPr lang="en-US" dirty="0"/>
                    </a:p>
                  </a:txBody>
                  <a:tcPr/>
                </a:tc>
              </a:tr>
            </a:tbl>
          </a:graphicData>
        </a:graphic>
      </p:graphicFrame>
      <p:sp>
        <p:nvSpPr>
          <p:cNvPr id="2" name="标题 1"/>
          <p:cNvSpPr>
            <a:spLocks noGrp="1"/>
          </p:cNvSpPr>
          <p:nvPr/>
        </p:nvSpPr>
        <p:spPr>
          <a:xfrm>
            <a:off x="838200" y="10922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最短路径问题应用</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1+#ppt_w/2"/>
                                          </p:val>
                                        </p:tav>
                                        <p:tav tm="100000">
                                          <p:val>
                                            <p:strVal val="#ppt_x"/>
                                          </p:val>
                                        </p:tav>
                                      </p:tavLst>
                                    </p:anim>
                                    <p:anim calcmode="lin" valueType="num">
                                      <p:cBhvr additive="base">
                                        <p:cTn id="8" dur="500" fill="hold"/>
                                        <p:tgtEl>
                                          <p:spTgt spid="7170"/>
                                        </p:tgtEl>
                                        <p:attrNameLst>
                                          <p:attrName>ppt_y</p:attrName>
                                        </p:attrNameLst>
                                      </p:cBhvr>
                                      <p:tavLst>
                                        <p:tav tm="0">
                                          <p:val>
                                            <p:strVal val="#ppt_y"/>
                                          </p:val>
                                        </p:tav>
                                        <p:tav tm="100000">
                                          <p:val>
                                            <p:strVal val="#ppt_y"/>
                                          </p:val>
                                        </p:tav>
                                      </p:tavLst>
                                    </p:anim>
                                  </p:childTnLst>
                                </p:cTn>
                              </p:par>
                              <p:par>
                                <p:cTn id="9" presetID="2" presetClass="entr" presetSubtype="2" fill="hold" grpId="1"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7"/>
                                        </p:tgtEl>
                                        <p:attrNameLst>
                                          <p:attrName>style.visibility</p:attrName>
                                        </p:attrNameLst>
                                      </p:cBhvr>
                                      <p:to>
                                        <p:strVal val="visible"/>
                                      </p:to>
                                    </p:set>
                                    <p:animEffect transition="in" filter="blinds(horizontal)">
                                      <p:cBhvr>
                                        <p:cTn id="17" dur="500"/>
                                        <p:tgtEl>
                                          <p:spTgt spid="7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sp>
        <p:nvSpPr>
          <p:cNvPr id="8" name="Text Box 21"/>
          <p:cNvSpPr txBox="1">
            <a:spLocks noChangeArrowheads="1"/>
          </p:cNvSpPr>
          <p:nvPr/>
        </p:nvSpPr>
        <p:spPr bwMode="auto">
          <a:xfrm>
            <a:off x="1738313" y="1229218"/>
            <a:ext cx="8643937" cy="1801495"/>
          </a:xfrm>
          <a:prstGeom prst="rect">
            <a:avLst/>
          </a:prstGeom>
          <a:noFill/>
          <a:ln w="9525">
            <a:noFill/>
            <a:miter lim="800000"/>
          </a:ln>
        </p:spPr>
        <p:txBody>
          <a:bodyPr wrap="square" lIns="0" tIns="0" rIns="0" bIns="0">
            <a:spAutoFit/>
          </a:bodyPr>
          <a:lstStyle/>
          <a:p>
            <a:pPr>
              <a:lnSpc>
                <a:spcPts val="1000"/>
              </a:lnSpc>
              <a:tabLst>
                <a:tab pos="203200" algn="l"/>
                <a:tab pos="266700" algn="l"/>
                <a:tab pos="1917700" algn="l"/>
              </a:tabLst>
            </a:pPr>
            <a:r>
              <a:rPr lang="zh-CN" altLang="en-US" sz="1600" dirty="0">
                <a:solidFill>
                  <a:srgbClr val="000000"/>
                </a:solidFill>
                <a:latin typeface="Times New Roman" panose="02020603050405020304" pitchFamily="18" charset="0"/>
                <a:cs typeface="Times New Roman" panose="02020603050405020304" pitchFamily="18" charset="0"/>
              </a:rPr>
              <a:t>  </a:t>
            </a:r>
            <a:endParaRPr lang="en-US" altLang="zh-CN" sz="2000" dirty="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r>
              <a:rPr lang="en-US" altLang="zh-CN" sz="2000" dirty="0">
                <a:solidFill>
                  <a:srgbClr val="000000"/>
                </a:solidFill>
                <a:ea typeface="楷体" panose="02010609060101010101" pitchFamily="49" charset="-122"/>
                <a:cs typeface="Times New Roman" panose="02020603050405020304" pitchFamily="18" charset="0"/>
              </a:rPr>
              <a:t>(</a:t>
            </a:r>
            <a:r>
              <a:rPr lang="zh-CN" altLang="en-US" sz="2000" dirty="0">
                <a:solidFill>
                  <a:srgbClr val="000000"/>
                </a:solidFill>
                <a:ea typeface="楷体" panose="02010609060101010101" pitchFamily="49" charset="-122"/>
                <a:cs typeface="Times New Roman" panose="02020603050405020304" pitchFamily="18" charset="0"/>
              </a:rPr>
              <a:t>继上页）把权数赋到图</a:t>
            </a:r>
            <a:r>
              <a:rPr lang="en-US" altLang="zh-CN" sz="2000" dirty="0">
                <a:solidFill>
                  <a:srgbClr val="000000"/>
                </a:solidFill>
                <a:ea typeface="楷体" panose="02010609060101010101" pitchFamily="49" charset="-122"/>
                <a:cs typeface="Times New Roman" panose="02020603050405020304" pitchFamily="18" charset="0"/>
              </a:rPr>
              <a:t>11-18</a:t>
            </a:r>
            <a:r>
              <a:rPr lang="zh-CN" altLang="en-US" sz="2000" dirty="0">
                <a:solidFill>
                  <a:srgbClr val="000000"/>
                </a:solidFill>
                <a:ea typeface="楷体" panose="02010609060101010101" pitchFamily="49" charset="-122"/>
                <a:cs typeface="Times New Roman" panose="02020603050405020304" pitchFamily="18" charset="0"/>
              </a:rPr>
              <a:t>中，得图</a:t>
            </a:r>
            <a:r>
              <a:rPr lang="en-US" altLang="zh-CN" sz="2000" dirty="0">
                <a:solidFill>
                  <a:srgbClr val="000000"/>
                </a:solidFill>
                <a:ea typeface="楷体" panose="02010609060101010101" pitchFamily="49" charset="-122"/>
                <a:cs typeface="Times New Roman" panose="02020603050405020304" pitchFamily="18" charset="0"/>
              </a:rPr>
              <a:t>11-19</a:t>
            </a:r>
            <a:r>
              <a:rPr lang="zh-CN" altLang="en-US" sz="2000" dirty="0">
                <a:solidFill>
                  <a:srgbClr val="000000"/>
                </a:solidFill>
                <a:ea typeface="楷体" panose="02010609060101010101" pitchFamily="49" charset="-122"/>
                <a:cs typeface="Times New Roman" panose="02020603050405020304" pitchFamily="18" charset="0"/>
              </a:rPr>
              <a:t>，再用 </a:t>
            </a:r>
            <a:r>
              <a:rPr lang="en-US" altLang="zh-CN" sz="2000" dirty="0">
                <a:solidFill>
                  <a:srgbClr val="000000"/>
                </a:solidFill>
                <a:ea typeface="楷体" panose="02010609060101010101" pitchFamily="49" charset="-122"/>
                <a:cs typeface="Times New Roman" panose="02020603050405020304" pitchFamily="18" charset="0"/>
              </a:rPr>
              <a:t>Dijkstra </a:t>
            </a:r>
            <a:r>
              <a:rPr lang="zh-CN" altLang="en-US" sz="2000" dirty="0">
                <a:solidFill>
                  <a:srgbClr val="000000"/>
                </a:solidFill>
                <a:ea typeface="楷体" panose="02010609060101010101" pitchFamily="49" charset="-122"/>
                <a:cs typeface="Times New Roman" panose="02020603050405020304" pitchFamily="18" charset="0"/>
              </a:rPr>
              <a:t>算法求最短路。</a:t>
            </a:r>
            <a:endParaRPr lang="zh-CN" altLang="en-US" sz="2000" dirty="0">
              <a:solidFill>
                <a:srgbClr val="000000"/>
              </a:solidFill>
              <a:ea typeface="楷体" panose="02010609060101010101" pitchFamily="49" charset="-122"/>
              <a:cs typeface="Times New Roman" panose="02020603050405020304" pitchFamily="18" charset="0"/>
            </a:endParaRPr>
          </a:p>
          <a:p>
            <a:pPr>
              <a:lnSpc>
                <a:spcPts val="1000"/>
              </a:lnSpc>
              <a:tabLst>
                <a:tab pos="203200" algn="l"/>
                <a:tab pos="266700" algn="l"/>
                <a:tab pos="1917700" algn="l"/>
              </a:tabLst>
            </a:pPr>
            <a:endParaRPr lang="zh-CN" altLang="en-US" sz="14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4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4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4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4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4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1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1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100" dirty="0">
              <a:solidFill>
                <a:srgbClr val="000000"/>
              </a:solidFill>
              <a:latin typeface="Times New Roman" panose="02020603050405020304" pitchFamily="18" charset="0"/>
            </a:endParaRPr>
          </a:p>
          <a:p>
            <a:pPr>
              <a:lnSpc>
                <a:spcPts val="1525"/>
              </a:lnSpc>
              <a:tabLst>
                <a:tab pos="203200" algn="l"/>
                <a:tab pos="266700" algn="l"/>
                <a:tab pos="1917700" algn="l"/>
              </a:tabLst>
            </a:pPr>
            <a:r>
              <a:rPr lang="zh-CN" altLang="en-US" sz="1100" dirty="0">
                <a:solidFill>
                  <a:srgbClr val="000000"/>
                </a:solidFill>
                <a:latin typeface="Times New Roman" panose="02020603050405020304" pitchFamily="18" charset="0"/>
              </a:rPr>
              <a:t>			</a:t>
            </a:r>
            <a:r>
              <a:rPr lang="en-US" altLang="zh-CN" sz="900" dirty="0">
                <a:solidFill>
                  <a:srgbClr val="000000"/>
                </a:solidFill>
                <a:latin typeface="Times New Roman" panose="02020603050405020304" pitchFamily="18" charset="0"/>
                <a:ea typeface="黑体" panose="02010609060101010101" pitchFamily="49" charset="-122"/>
              </a:rPr>
              <a:t>	</a:t>
            </a:r>
            <a:endParaRPr lang="en-US" altLang="zh-CN" sz="900" dirty="0">
              <a:solidFill>
                <a:srgbClr val="000000"/>
              </a:solidFill>
              <a:latin typeface="Times New Roman" panose="02020603050405020304" pitchFamily="18" charset="0"/>
              <a:ea typeface="黑体" panose="02010609060101010101" pitchFamily="49" charset="-122"/>
            </a:endParaRPr>
          </a:p>
          <a:p>
            <a:pPr>
              <a:lnSpc>
                <a:spcPts val="1525"/>
              </a:lnSpc>
              <a:tabLst>
                <a:tab pos="203200" algn="l"/>
                <a:tab pos="266700" algn="l"/>
                <a:tab pos="1917700" algn="l"/>
              </a:tabLst>
            </a:pPr>
            <a:r>
              <a:rPr lang="en-US" altLang="zh-CN" sz="900" dirty="0">
                <a:solidFill>
                  <a:srgbClr val="000000"/>
                </a:solidFill>
                <a:latin typeface="Times New Roman" panose="02020603050405020304" pitchFamily="18" charset="0"/>
                <a:ea typeface="黑体" panose="02010609060101010101" pitchFamily="49" charset="-122"/>
              </a:rPr>
              <a:t>                                                                                                                         </a:t>
            </a:r>
            <a:endParaRPr lang="en-US" altLang="zh-CN" sz="900" dirty="0">
              <a:solidFill>
                <a:srgbClr val="000000"/>
              </a:solidFill>
              <a:latin typeface="Times New Roman" panose="02020603050405020304" pitchFamily="18"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4" name="矩形 3"/>
              <p:cNvSpPr>
                <a:spLocks noChangeArrowheads="1"/>
              </p:cNvSpPr>
              <p:nvPr/>
            </p:nvSpPr>
            <p:spPr bwMode="auto">
              <a:xfrm>
                <a:off x="1593304" y="3895648"/>
                <a:ext cx="9005392" cy="3004820"/>
              </a:xfrm>
              <a:prstGeom prst="rect">
                <a:avLst/>
              </a:prstGeom>
              <a:noFill/>
              <a:ln w="9525">
                <a:noFill/>
                <a:miter lim="800000"/>
              </a:ln>
            </p:spPr>
            <p:txBody>
              <a:bodyPr wrap="square">
                <a:spAutoFit/>
              </a:bodyPr>
              <a:lstStyle/>
              <a:p>
                <a:pPr algn="just"/>
                <a:r>
                  <a:rPr lang="zh-CN" altLang="en-US" sz="2200" b="1" dirty="0">
                    <a:solidFill>
                      <a:srgbClr val="000000"/>
                    </a:solidFill>
                    <a:ea typeface="楷体" panose="02010609060101010101" pitchFamily="49" charset="-122"/>
                    <a:cs typeface="Times New Roman" panose="02020603050405020304" pitchFamily="18" charset="0"/>
                  </a:rPr>
                  <a:t>求解过程如下：</a:t>
                </a:r>
                <a:endParaRPr lang="en-US" altLang="zh-CN" sz="2200" b="1" dirty="0">
                  <a:solidFill>
                    <a:srgbClr val="000000"/>
                  </a:solidFill>
                  <a:ea typeface="楷体" panose="02010609060101010101" pitchFamily="49" charset="-122"/>
                </a:endParaRPr>
              </a:p>
              <a:p>
                <a:pPr algn="just">
                  <a:lnSpc>
                    <a:spcPct val="150000"/>
                  </a:lnSpc>
                </a:pPr>
                <a:r>
                  <a:rPr lang="en-US" altLang="zh-CN" sz="2200" dirty="0">
                    <a:solidFill>
                      <a:srgbClr val="000000"/>
                    </a:solidFill>
                    <a:ea typeface="楷体" panose="02010609060101010101" pitchFamily="49" charset="-122"/>
                  </a:rPr>
                  <a:t>(1) </a:t>
                </a:r>
                <a:r>
                  <a:rPr lang="zh-CN" altLang="en-US" sz="2200" dirty="0">
                    <a:solidFill>
                      <a:srgbClr val="000000"/>
                    </a:solidFill>
                    <a:ea typeface="楷体" panose="02010609060101010101" pitchFamily="49" charset="-122"/>
                  </a:rPr>
                  <a:t>给定起始点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1</m:t>
                    </m:r>
                  </m:oMath>
                </a14:m>
                <a:r>
                  <a:rPr lang="en-US" altLang="zh-CN" sz="2200" dirty="0">
                    <a:solidFill>
                      <a:srgbClr val="000000"/>
                    </a:solidFill>
                    <a:ea typeface="楷体" panose="02010609060101010101" pitchFamily="49" charset="-122"/>
                  </a:rPr>
                  <a:t> </a:t>
                </a:r>
                <a:r>
                  <a:rPr lang="zh-CN" altLang="en-US" sz="2200" dirty="0">
                    <a:solidFill>
                      <a:srgbClr val="000000"/>
                    </a:solidFill>
                    <a:ea typeface="楷体" panose="02010609060101010101" pitchFamily="49" charset="-122"/>
                  </a:rPr>
                  <a:t>标以</a:t>
                </a:r>
                <a14:m>
                  <m:oMath xmlns:m="http://schemas.openxmlformats.org/officeDocument/2006/math">
                    <m:r>
                      <a:rPr lang="en-US" altLang="zh-CN" sz="2200" b="0" i="0" dirty="0" smtClean="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0</m:t>
                    </m:r>
                    <m:r>
                      <a:rPr lang="en-US" altLang="zh-CN" sz="2200" b="0" i="1" dirty="0" smtClean="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b="0" i="1" dirty="0" smtClean="0">
                        <a:solidFill>
                          <a:srgbClr val="000000"/>
                        </a:solidFill>
                        <a:latin typeface="Cambria Math" panose="02040503050406030204" pitchFamily="18" charset="0"/>
                        <a:ea typeface="楷体" panose="02010609060101010101" pitchFamily="49" charset="-122"/>
                      </a:rPr>
                      <m:t>)</m:t>
                    </m:r>
                  </m:oMath>
                </a14:m>
                <a:r>
                  <a:rPr lang="zh-CN" altLang="en-US" sz="2200" dirty="0">
                    <a:solidFill>
                      <a:srgbClr val="000000"/>
                    </a:solidFill>
                    <a:ea typeface="楷体" panose="02010609060101010101" pitchFamily="49" charset="-122"/>
                  </a:rPr>
                  <a:t>。</a:t>
                </a:r>
                <a:endParaRPr lang="zh-CN" altLang="en-US" sz="2200" dirty="0">
                  <a:solidFill>
                    <a:srgbClr val="000000"/>
                  </a:solidFill>
                  <a:ea typeface="楷体" panose="02010609060101010101" pitchFamily="49" charset="-122"/>
                </a:endParaRPr>
              </a:p>
              <a:p>
                <a:pPr algn="just">
                  <a:lnSpc>
                    <a:spcPct val="150000"/>
                  </a:lnSpc>
                </a:pPr>
                <a:r>
                  <a:rPr lang="en-US" altLang="zh-CN" sz="2200" dirty="0">
                    <a:solidFill>
                      <a:srgbClr val="000000"/>
                    </a:solidFill>
                    <a:ea typeface="楷体" panose="02010609060101010101" pitchFamily="49" charset="-122"/>
                  </a:rPr>
                  <a:t>(2)</a:t>
                </a:r>
                <a:r>
                  <a:rPr lang="zh-CN" altLang="en-US" sz="2200" dirty="0">
                    <a:solidFill>
                      <a:srgbClr val="000000"/>
                    </a:solidFill>
                    <a:ea typeface="楷体" panose="02010609060101010101" pitchFamily="49" charset="-122"/>
                  </a:rPr>
                  <a:t>这时</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rPr>
                      <m:t>𝐼</m:t>
                    </m:r>
                    <m:r>
                      <a:rPr lang="en-US" altLang="zh-CN" sz="2200" i="1" dirty="0" smtClean="0">
                        <a:solidFill>
                          <a:srgbClr val="000000"/>
                        </a:solidFill>
                        <a:latin typeface="Cambria Math" panose="02040503050406030204" pitchFamily="18" charset="0"/>
                        <a:ea typeface="楷体" panose="02010609060101010101" pitchFamily="49" charset="-122"/>
                      </a:rPr>
                      <m:t>={</m:t>
                    </m:r>
                    <m:r>
                      <a:rPr lang="en-US" altLang="zh-CN" sz="2200" i="1" dirty="0" smtClean="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1</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𝐽</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2</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3</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4</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5</m:t>
                    </m:r>
                    <m:r>
                      <a:rPr lang="en-US" altLang="zh-CN" sz="2200" i="1" dirty="0">
                        <a:solidFill>
                          <a:srgbClr val="000000"/>
                        </a:solidFill>
                        <a:latin typeface="Cambria Math" panose="02040503050406030204" pitchFamily="18" charset="0"/>
                        <a:ea typeface="楷体" panose="02010609060101010101" pitchFamily="49" charset="-122"/>
                      </a:rPr>
                      <m:t> ,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6</m:t>
                    </m:r>
                    <m:r>
                      <a:rPr lang="en-US" altLang="zh-CN" sz="2200" i="1" dirty="0">
                        <a:solidFill>
                          <a:srgbClr val="000000"/>
                        </a:solidFill>
                        <a:latin typeface="Cambria Math" panose="02040503050406030204" pitchFamily="18" charset="0"/>
                        <a:ea typeface="楷体" panose="02010609060101010101" pitchFamily="49" charset="-122"/>
                      </a:rPr>
                      <m:t>}</m:t>
                    </m:r>
                  </m:oMath>
                </a14:m>
                <a:r>
                  <a:rPr lang="zh-CN" altLang="en-US" sz="2200" dirty="0">
                    <a:solidFill>
                      <a:srgbClr val="000000"/>
                    </a:solidFill>
                    <a:ea typeface="楷体" panose="02010609060101010101" pitchFamily="49" charset="-122"/>
                  </a:rPr>
                  <a:t>。弧集合为</a:t>
                </a:r>
                <a14:m>
                  <m:oMath xmlns:m="http://schemas.openxmlformats.org/officeDocument/2006/math">
                    <m:r>
                      <a:rPr lang="en-US" altLang="zh-CN" sz="2200" b="0" i="1" dirty="0" smtClean="0">
                        <a:solidFill>
                          <a:srgbClr val="000000"/>
                        </a:solidFill>
                        <a:latin typeface="Cambria Math" panose="02040503050406030204" pitchFamily="18" charset="0"/>
                        <a:ea typeface="楷体" panose="02010609060101010101" pitchFamily="49" charset="-122"/>
                      </a:rPr>
                      <m:t>{(</m:t>
                    </m:r>
                    <m:sSub>
                      <m:sSubPr>
                        <m:ctrlPr>
                          <a:rPr lang="en-US" altLang="zh-CN" sz="2200" b="0" i="1" dirty="0" smtClean="0">
                            <a:solidFill>
                              <a:srgbClr val="000000"/>
                            </a:solidFill>
                            <a:latin typeface="Cambria Math" panose="02040503050406030204" pitchFamily="18" charset="0"/>
                            <a:ea typeface="楷体" panose="02010609060101010101" pitchFamily="49" charset="-122"/>
                          </a:rPr>
                        </m:ctrlPr>
                      </m:sSubPr>
                      <m:e>
                        <m:r>
                          <a:rPr lang="en-US" altLang="zh-CN" sz="2200" b="0" i="1" dirty="0" smtClean="0">
                            <a:solidFill>
                              <a:srgbClr val="000000"/>
                            </a:solidFill>
                            <a:latin typeface="Cambria Math" panose="02040503050406030204" pitchFamily="18" charset="0"/>
                            <a:ea typeface="楷体" panose="02010609060101010101" pitchFamily="49" charset="-122"/>
                          </a:rPr>
                          <m:t>𝑣</m:t>
                        </m:r>
                      </m:e>
                      <m:sub>
                        <m:r>
                          <a:rPr lang="en-US" altLang="zh-CN" sz="2200" b="0" i="1" dirty="0" smtClean="0">
                            <a:solidFill>
                              <a:srgbClr val="000000"/>
                            </a:solidFill>
                            <a:latin typeface="Cambria Math" panose="02040503050406030204" pitchFamily="18" charset="0"/>
                            <a:ea typeface="楷体" panose="02010609060101010101" pitchFamily="49" charset="-122"/>
                          </a:rPr>
                          <m:t>1</m:t>
                        </m:r>
                      </m:sub>
                    </m:sSub>
                    <m:r>
                      <a:rPr lang="en-US" altLang="zh-CN" sz="2200" b="0" i="1" dirty="0" smtClean="0">
                        <a:solidFill>
                          <a:srgbClr val="000000"/>
                        </a:solidFill>
                        <a:latin typeface="Cambria Math" panose="02040503050406030204" pitchFamily="18" charset="0"/>
                        <a:ea typeface="楷体" panose="02010609060101010101" pitchFamily="49" charset="-122"/>
                      </a:rPr>
                      <m:t>,</m:t>
                    </m:r>
                    <m:sSub>
                      <m:sSubPr>
                        <m:ctrlPr>
                          <a:rPr lang="en-US" altLang="zh-CN" sz="2200" b="0" i="1" dirty="0" smtClean="0">
                            <a:solidFill>
                              <a:srgbClr val="000000"/>
                            </a:solidFill>
                            <a:latin typeface="Cambria Math" panose="02040503050406030204" pitchFamily="18" charset="0"/>
                            <a:ea typeface="楷体" panose="02010609060101010101" pitchFamily="49" charset="-122"/>
                          </a:rPr>
                        </m:ctrlPr>
                      </m:sSubPr>
                      <m:e>
                        <m:r>
                          <a:rPr lang="en-US" altLang="zh-CN" sz="2200" b="0" i="1" dirty="0" smtClean="0">
                            <a:solidFill>
                              <a:srgbClr val="000000"/>
                            </a:solidFill>
                            <a:latin typeface="Cambria Math" panose="02040503050406030204" pitchFamily="18" charset="0"/>
                            <a:ea typeface="楷体" panose="02010609060101010101" pitchFamily="49" charset="-122"/>
                          </a:rPr>
                          <m:t>𝑣</m:t>
                        </m:r>
                      </m:e>
                      <m:sub>
                        <m:r>
                          <a:rPr lang="en-US" altLang="zh-CN" sz="2200" b="0" i="1" dirty="0" smtClean="0">
                            <a:solidFill>
                              <a:srgbClr val="000000"/>
                            </a:solidFill>
                            <a:latin typeface="Cambria Math" panose="02040503050406030204" pitchFamily="18" charset="0"/>
                            <a:ea typeface="楷体" panose="02010609060101010101" pitchFamily="49" charset="-122"/>
                          </a:rPr>
                          <m:t>2</m:t>
                        </m:r>
                      </m:sub>
                    </m:sSub>
                    <m:r>
                      <a:rPr lang="en-US" altLang="zh-CN" sz="2200" b="0" i="1" dirty="0" smtClean="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m:t>
                    </m:r>
                    <m:sSub>
                      <m:sSubPr>
                        <m:ctrlPr>
                          <a:rPr lang="en-US" altLang="zh-CN" sz="2200" b="0" i="1" dirty="0" smtClean="0">
                            <a:solidFill>
                              <a:srgbClr val="000000"/>
                            </a:solidFill>
                            <a:latin typeface="Cambria Math" panose="02040503050406030204" pitchFamily="18" charset="0"/>
                            <a:ea typeface="楷体" panose="02010609060101010101" pitchFamily="49" charset="-122"/>
                          </a:rPr>
                        </m:ctrlPr>
                      </m:sSubPr>
                      <m:e>
                        <m:r>
                          <a:rPr lang="en-US" altLang="zh-CN" sz="2200" b="0" i="1" dirty="0" smtClean="0">
                            <a:solidFill>
                              <a:srgbClr val="000000"/>
                            </a:solidFill>
                            <a:latin typeface="Cambria Math" panose="02040503050406030204" pitchFamily="18" charset="0"/>
                            <a:ea typeface="楷体" panose="02010609060101010101" pitchFamily="49" charset="-122"/>
                          </a:rPr>
                          <m:t>(</m:t>
                        </m:r>
                        <m:r>
                          <a:rPr lang="en-US" altLang="zh-CN" sz="2200" b="0" i="1" dirty="0" smtClean="0">
                            <a:solidFill>
                              <a:srgbClr val="000000"/>
                            </a:solidFill>
                            <a:latin typeface="Cambria Math" panose="02040503050406030204" pitchFamily="18" charset="0"/>
                            <a:ea typeface="楷体" panose="02010609060101010101" pitchFamily="49" charset="-122"/>
                          </a:rPr>
                          <m:t>𝑣</m:t>
                        </m:r>
                      </m:e>
                      <m:sub>
                        <m:r>
                          <a:rPr lang="en-US" altLang="zh-CN" sz="2200" b="0" i="1" dirty="0" smtClean="0">
                            <a:solidFill>
                              <a:srgbClr val="000000"/>
                            </a:solidFill>
                            <a:latin typeface="Cambria Math" panose="02040503050406030204" pitchFamily="18" charset="0"/>
                            <a:ea typeface="楷体" panose="02010609060101010101" pitchFamily="49" charset="-122"/>
                          </a:rPr>
                          <m:t>1</m:t>
                        </m:r>
                      </m:sub>
                    </m:sSub>
                    <m:r>
                      <a:rPr lang="en-US" altLang="zh-CN" sz="2200" b="0" i="1" dirty="0" smtClean="0">
                        <a:solidFill>
                          <a:srgbClr val="000000"/>
                        </a:solidFill>
                        <a:latin typeface="Cambria Math" panose="02040503050406030204" pitchFamily="18" charset="0"/>
                        <a:ea typeface="楷体" panose="02010609060101010101" pitchFamily="49" charset="-122"/>
                      </a:rPr>
                      <m:t>,</m:t>
                    </m:r>
                    <m:sSub>
                      <m:sSubPr>
                        <m:ctrlPr>
                          <a:rPr lang="en-US" altLang="zh-CN" sz="2200" b="0" i="1" dirty="0" smtClean="0">
                            <a:solidFill>
                              <a:srgbClr val="000000"/>
                            </a:solidFill>
                            <a:latin typeface="Cambria Math" panose="02040503050406030204" pitchFamily="18" charset="0"/>
                            <a:ea typeface="楷体" panose="02010609060101010101" pitchFamily="49" charset="-122"/>
                          </a:rPr>
                        </m:ctrlPr>
                      </m:sSubPr>
                      <m:e>
                        <m:r>
                          <a:rPr lang="zh-CN" altLang="en-US" sz="2200" i="1" dirty="0">
                            <a:solidFill>
                              <a:srgbClr val="000000"/>
                            </a:solidFill>
                            <a:latin typeface="Cambria Math" panose="02040503050406030204" pitchFamily="18" charset="0"/>
                            <a:ea typeface="楷体" panose="02010609060101010101" pitchFamily="49" charset="-122"/>
                          </a:rPr>
                          <m:t>𝑣</m:t>
                        </m:r>
                      </m:e>
                      <m:sub>
                        <m:r>
                          <a:rPr lang="en-US" altLang="zh-CN" sz="2200" b="0" i="1" dirty="0" smtClean="0">
                            <a:solidFill>
                              <a:srgbClr val="000000"/>
                            </a:solidFill>
                            <a:latin typeface="Cambria Math" panose="02040503050406030204" pitchFamily="18" charset="0"/>
                            <a:ea typeface="楷体" panose="02010609060101010101" pitchFamily="49" charset="-122"/>
                          </a:rPr>
                          <m:t>3</m:t>
                        </m:r>
                      </m:sub>
                    </m:sSub>
                    <m:r>
                      <a:rPr lang="en-US" altLang="zh-CN" sz="2200" i="1" dirty="0">
                        <a:solidFill>
                          <a:srgbClr val="000000"/>
                        </a:solidFill>
                        <a:latin typeface="Cambria Math" panose="02040503050406030204" pitchFamily="18" charset="0"/>
                        <a:ea typeface="楷体" panose="02010609060101010101" pitchFamily="49" charset="-122"/>
                      </a:rPr>
                      <m:t>),(</m:t>
                    </m:r>
                    <m:sSub>
                      <m:sSubPr>
                        <m:ctrlPr>
                          <a:rPr lang="en-US" altLang="zh-CN" sz="2200" b="0" i="1" dirty="0" smtClean="0">
                            <a:solidFill>
                              <a:srgbClr val="000000"/>
                            </a:solidFill>
                            <a:latin typeface="Cambria Math" panose="02040503050406030204" pitchFamily="18" charset="0"/>
                            <a:ea typeface="楷体" panose="02010609060101010101" pitchFamily="49" charset="-122"/>
                          </a:rPr>
                        </m:ctrlPr>
                      </m:sSubPr>
                      <m:e>
                        <m:r>
                          <a:rPr lang="zh-CN" altLang="en-US" sz="2200" i="1" dirty="0">
                            <a:solidFill>
                              <a:srgbClr val="000000"/>
                            </a:solidFill>
                            <a:latin typeface="Cambria Math" panose="02040503050406030204" pitchFamily="18" charset="0"/>
                            <a:ea typeface="楷体" panose="02010609060101010101" pitchFamily="49" charset="-122"/>
                          </a:rPr>
                          <m:t>𝑣</m:t>
                        </m:r>
                      </m:e>
                      <m:sub>
                        <m:r>
                          <a:rPr lang="en-US" altLang="zh-CN" sz="2200" b="0" i="1" dirty="0" smtClean="0">
                            <a:solidFill>
                              <a:srgbClr val="000000"/>
                            </a:solidFill>
                            <a:latin typeface="Cambria Math" panose="02040503050406030204" pitchFamily="18" charset="0"/>
                            <a:ea typeface="楷体" panose="02010609060101010101" pitchFamily="49" charset="-122"/>
                          </a:rPr>
                          <m:t>1</m:t>
                        </m:r>
                      </m:sub>
                    </m:sSub>
                    <m:r>
                      <a:rPr lang="en-US" altLang="zh-CN" sz="2200" i="1" dirty="0">
                        <a:solidFill>
                          <a:srgbClr val="000000"/>
                        </a:solidFill>
                        <a:latin typeface="Cambria Math" panose="02040503050406030204" pitchFamily="18" charset="0"/>
                        <a:ea typeface="楷体" panose="02010609060101010101" pitchFamily="49" charset="-122"/>
                      </a:rPr>
                      <m:t> ,</m:t>
                    </m:r>
                    <m:sSub>
                      <m:sSubPr>
                        <m:ctrlPr>
                          <a:rPr lang="en-US" altLang="zh-CN" sz="2200" b="0" i="1" dirty="0" smtClean="0">
                            <a:solidFill>
                              <a:srgbClr val="000000"/>
                            </a:solidFill>
                            <a:latin typeface="Cambria Math" panose="02040503050406030204" pitchFamily="18" charset="0"/>
                            <a:ea typeface="楷体" panose="02010609060101010101" pitchFamily="49" charset="-122"/>
                          </a:rPr>
                        </m:ctrlPr>
                      </m:sSubPr>
                      <m:e>
                        <m:r>
                          <a:rPr lang="zh-CN" altLang="en-US" sz="2200" i="1" dirty="0">
                            <a:solidFill>
                              <a:srgbClr val="000000"/>
                            </a:solidFill>
                            <a:latin typeface="Cambria Math" panose="02040503050406030204" pitchFamily="18" charset="0"/>
                            <a:ea typeface="楷体" panose="02010609060101010101" pitchFamily="49" charset="-122"/>
                          </a:rPr>
                          <m:t>𝑣</m:t>
                        </m:r>
                      </m:e>
                      <m:sub>
                        <m:r>
                          <a:rPr lang="en-US" altLang="zh-CN" sz="2200" b="0" i="1" dirty="0" smtClean="0">
                            <a:solidFill>
                              <a:srgbClr val="000000"/>
                            </a:solidFill>
                            <a:latin typeface="Cambria Math" panose="02040503050406030204" pitchFamily="18" charset="0"/>
                            <a:ea typeface="楷体" panose="02010609060101010101" pitchFamily="49" charset="-122"/>
                          </a:rPr>
                          <m:t>4</m:t>
                        </m:r>
                      </m:sub>
                    </m:sSub>
                    <m:r>
                      <a:rPr lang="en-US" altLang="zh-CN" sz="2200" i="1" dirty="0">
                        <a:solidFill>
                          <a:srgbClr val="000000"/>
                        </a:solidFill>
                        <a:latin typeface="Cambria Math" panose="02040503050406030204" pitchFamily="18" charset="0"/>
                        <a:ea typeface="楷体" panose="02010609060101010101" pitchFamily="49" charset="-122"/>
                      </a:rPr>
                      <m:t>),(</m:t>
                    </m:r>
                    <m:sSub>
                      <m:sSubPr>
                        <m:ctrlPr>
                          <a:rPr lang="en-US" altLang="zh-CN" sz="2200" b="0" i="1" dirty="0" smtClean="0">
                            <a:solidFill>
                              <a:srgbClr val="000000"/>
                            </a:solidFill>
                            <a:latin typeface="Cambria Math" panose="02040503050406030204" pitchFamily="18" charset="0"/>
                            <a:ea typeface="楷体" panose="02010609060101010101" pitchFamily="49" charset="-122"/>
                          </a:rPr>
                        </m:ctrlPr>
                      </m:sSubPr>
                      <m:e>
                        <m:r>
                          <a:rPr lang="zh-CN" altLang="en-US" sz="2200" i="1" dirty="0">
                            <a:solidFill>
                              <a:srgbClr val="000000"/>
                            </a:solidFill>
                            <a:latin typeface="Cambria Math" panose="02040503050406030204" pitchFamily="18" charset="0"/>
                            <a:ea typeface="楷体" panose="02010609060101010101" pitchFamily="49" charset="-122"/>
                          </a:rPr>
                          <m:t>𝑣</m:t>
                        </m:r>
                      </m:e>
                      <m:sub>
                        <m:r>
                          <a:rPr lang="en-US" altLang="zh-CN" sz="2200" b="0" i="1" dirty="0" smtClean="0">
                            <a:solidFill>
                              <a:srgbClr val="000000"/>
                            </a:solidFill>
                            <a:latin typeface="Cambria Math" panose="02040503050406030204" pitchFamily="18" charset="0"/>
                            <a:ea typeface="楷体" panose="02010609060101010101" pitchFamily="49" charset="-122"/>
                          </a:rPr>
                          <m:t>1</m:t>
                        </m:r>
                      </m:sub>
                    </m:sSub>
                    <m:r>
                      <a:rPr lang="en-US" altLang="zh-CN" sz="2200" i="1" dirty="0">
                        <a:solidFill>
                          <a:srgbClr val="000000"/>
                        </a:solidFill>
                        <a:latin typeface="Cambria Math" panose="02040503050406030204" pitchFamily="18" charset="0"/>
                        <a:ea typeface="楷体" panose="02010609060101010101" pitchFamily="49" charset="-122"/>
                      </a:rPr>
                      <m:t> , </m:t>
                    </m:r>
                    <m:sSub>
                      <m:sSubPr>
                        <m:ctrlPr>
                          <a:rPr lang="en-US" altLang="zh-CN" sz="2200" b="0" i="1" dirty="0" smtClean="0">
                            <a:solidFill>
                              <a:srgbClr val="000000"/>
                            </a:solidFill>
                            <a:latin typeface="Cambria Math" panose="02040503050406030204" pitchFamily="18" charset="0"/>
                            <a:ea typeface="楷体" panose="02010609060101010101" pitchFamily="49" charset="-122"/>
                          </a:rPr>
                        </m:ctrlPr>
                      </m:sSubPr>
                      <m:e>
                        <m:r>
                          <a:rPr lang="zh-CN" altLang="en-US" sz="2200" i="1" dirty="0">
                            <a:solidFill>
                              <a:srgbClr val="000000"/>
                            </a:solidFill>
                            <a:latin typeface="Cambria Math" panose="02040503050406030204" pitchFamily="18" charset="0"/>
                            <a:ea typeface="楷体" panose="02010609060101010101" pitchFamily="49" charset="-122"/>
                          </a:rPr>
                          <m:t>𝑣</m:t>
                        </m:r>
                      </m:e>
                      <m:sub>
                        <m:r>
                          <a:rPr lang="en-US" altLang="zh-CN" sz="2200" b="0" i="1" dirty="0" smtClean="0">
                            <a:solidFill>
                              <a:srgbClr val="000000"/>
                            </a:solidFill>
                            <a:latin typeface="Cambria Math" panose="02040503050406030204" pitchFamily="18" charset="0"/>
                            <a:ea typeface="楷体" panose="02010609060101010101" pitchFamily="49" charset="-122"/>
                          </a:rPr>
                          <m:t>5</m:t>
                        </m:r>
                      </m:sub>
                    </m:sSub>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b="0" i="1" dirty="0" smtClean="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1</m:t>
                    </m:r>
                    <m:r>
                      <a:rPr lang="en-US" altLang="zh-CN" sz="2200" i="1" dirty="0">
                        <a:solidFill>
                          <a:srgbClr val="000000"/>
                        </a:solidFill>
                        <a:latin typeface="Cambria Math" panose="02040503050406030204" pitchFamily="18" charset="0"/>
                        <a:ea typeface="楷体" panose="02010609060101010101" pitchFamily="49" charset="-122"/>
                      </a:rPr>
                      <m:t> ,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6</m:t>
                    </m:r>
                    <m:r>
                      <a:rPr lang="en-US" altLang="zh-CN" sz="2200" i="1" baseline="-25000"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 }</m:t>
                    </m:r>
                  </m:oMath>
                </a14:m>
                <a:r>
                  <a:rPr lang="zh-CN" altLang="en-US" sz="2200" dirty="0">
                    <a:solidFill>
                      <a:srgbClr val="000000"/>
                    </a:solidFill>
                    <a:ea typeface="楷体" panose="02010609060101010101" pitchFamily="49" charset="-122"/>
                  </a:rPr>
                  <a:t>，则 </a:t>
                </a:r>
                <a14:m>
                  <m:oMath xmlns:m="http://schemas.openxmlformats.org/officeDocument/2006/math">
                    <m:r>
                      <m:rPr>
                        <m:sty m:val="p"/>
                      </m:rPr>
                      <a:rPr lang="en-US" altLang="zh-CN" sz="2200" i="1" dirty="0" smtClean="0">
                        <a:solidFill>
                          <a:srgbClr val="000000"/>
                        </a:solidFill>
                        <a:latin typeface="Cambria Math" panose="02040503050406030204" pitchFamily="18" charset="0"/>
                        <a:ea typeface="楷体" panose="02010609060101010101" pitchFamily="49" charset="-122"/>
                      </a:rPr>
                      <m:t>min</m:t>
                    </m:r>
                    <m:r>
                      <a:rPr lang="en-US" altLang="zh-CN" sz="2200" i="1" dirty="0" smtClean="0">
                        <a:solidFill>
                          <a:srgbClr val="000000"/>
                        </a:solidFill>
                        <a:latin typeface="Cambria Math" panose="02040503050406030204" pitchFamily="18" charset="0"/>
                        <a:ea typeface="楷体" panose="02010609060101010101" pitchFamily="49" charset="-122"/>
                      </a:rPr>
                      <m:t>⁡(</m:t>
                    </m:r>
                    <m:r>
                      <a:rPr lang="en-US" altLang="zh-CN" sz="2200" i="1" dirty="0" smtClean="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12</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13</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14</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15</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16</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12</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16</m:t>
                    </m:r>
                  </m:oMath>
                </a14:m>
                <a:r>
                  <a:rPr lang="zh-CN" altLang="en-US" sz="2200" dirty="0">
                    <a:solidFill>
                      <a:srgbClr val="000000"/>
                    </a:solidFill>
                    <a:ea typeface="楷体" panose="02010609060101010101" pitchFamily="49" charset="-122"/>
                  </a:rPr>
                  <a:t>，给弧</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1</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2</m:t>
                    </m:r>
                    <m:r>
                      <a:rPr lang="zh-CN" altLang="en-US" sz="2200" i="1" dirty="0">
                        <a:solidFill>
                          <a:srgbClr val="000000"/>
                        </a:solidFill>
                        <a:latin typeface="Cambria Math" panose="02040503050406030204" pitchFamily="18" charset="0"/>
                        <a:ea typeface="楷体" panose="02010609060101010101" pitchFamily="49" charset="-122"/>
                      </a:rPr>
                      <m:t>）</m:t>
                    </m:r>
                  </m:oMath>
                </a14:m>
                <a:r>
                  <a:rPr lang="zh-CN" altLang="en-US" sz="2200" dirty="0">
                    <a:solidFill>
                      <a:srgbClr val="000000"/>
                    </a:solidFill>
                    <a:ea typeface="楷体" panose="02010609060101010101" pitchFamily="49" charset="-122"/>
                  </a:rPr>
                  <a:t>的</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rPr>
                      <m:t>终点</m:t>
                    </m:r>
                    <m:r>
                      <a:rPr lang="zh-CN" altLang="en-US" sz="2200" i="1" dirty="0" smtClean="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2</m:t>
                    </m:r>
                    <m:r>
                      <a:rPr lang="en-US" altLang="zh-CN" sz="2200" i="1" dirty="0">
                        <a:solidFill>
                          <a:srgbClr val="000000"/>
                        </a:solidFill>
                        <a:latin typeface="Cambria Math" panose="02040503050406030204" pitchFamily="18" charset="0"/>
                        <a:ea typeface="楷体" panose="02010609060101010101" pitchFamily="49" charset="-122"/>
                      </a:rPr>
                      <m:t> </m:t>
                    </m:r>
                  </m:oMath>
                </a14:m>
                <a:r>
                  <a:rPr lang="zh-CN" altLang="en-US" sz="2200" dirty="0">
                    <a:solidFill>
                      <a:srgbClr val="000000"/>
                    </a:solidFill>
                    <a:ea typeface="楷体" panose="02010609060101010101" pitchFamily="49" charset="-122"/>
                  </a:rPr>
                  <a:t>标以</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16</m:t>
                    </m:r>
                    <m:r>
                      <a:rPr lang="zh-CN" altLang="en-US"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1</m:t>
                    </m:r>
                    <m:r>
                      <a:rPr lang="zh-CN" altLang="en-US" sz="2200" i="1" dirty="0">
                        <a:solidFill>
                          <a:srgbClr val="000000"/>
                        </a:solidFill>
                        <a:latin typeface="Cambria Math" panose="02040503050406030204" pitchFamily="18" charset="0"/>
                        <a:ea typeface="楷体" panose="02010609060101010101" pitchFamily="49" charset="-122"/>
                      </a:rPr>
                      <m:t>）</m:t>
                    </m:r>
                  </m:oMath>
                </a14:m>
                <a:r>
                  <a:rPr lang="zh-CN" altLang="en-US" sz="2200" dirty="0">
                    <a:solidFill>
                      <a:srgbClr val="000000"/>
                    </a:solidFill>
                    <a:ea typeface="楷体" panose="02010609060101010101" pitchFamily="49" charset="-122"/>
                  </a:rPr>
                  <a:t>。</a:t>
                </a:r>
                <a:endParaRPr lang="zh-CN" altLang="en-US" sz="2200" dirty="0">
                  <a:solidFill>
                    <a:srgbClr val="000000"/>
                  </a:solidFill>
                  <a:ea typeface="楷体" panose="02010609060101010101" pitchFamily="49" charset="-122"/>
                </a:endParaRPr>
              </a:p>
            </p:txBody>
          </p:sp>
        </mc:Choice>
        <mc:Fallback>
          <p:sp>
            <p:nvSpPr>
              <p:cNvPr id="4" name="矩形 3"/>
              <p:cNvSpPr>
                <a:spLocks noRot="1" noChangeAspect="1" noMove="1" noResize="1" noEditPoints="1" noAdjustHandles="1" noChangeArrowheads="1" noChangeShapeType="1" noTextEdit="1"/>
              </p:cNvSpPr>
              <p:nvPr/>
            </p:nvSpPr>
            <p:spPr bwMode="auto">
              <a:xfrm>
                <a:off x="1593304" y="3895648"/>
                <a:ext cx="9005392" cy="3004820"/>
              </a:xfrm>
              <a:prstGeom prst="rect">
                <a:avLst/>
              </a:prstGeom>
              <a:blipFill rotWithShape="1">
                <a:blip r:embed="rId1"/>
                <a:stretch>
                  <a:fillRect l="-1" t="-19" r="6" b="19"/>
                </a:stretch>
              </a:blipFill>
              <a:ln w="9525">
                <a:noFill/>
                <a:miter lim="800000"/>
              </a:ln>
            </p:spPr>
            <p:txBody>
              <a:bodyPr/>
              <a:lstStyle/>
              <a:p>
                <a:r>
                  <a:rPr lang="zh-CN" altLang="en-US">
                    <a:noFill/>
                  </a:rPr>
                  <a:t> </a:t>
                </a:r>
              </a:p>
            </p:txBody>
          </p:sp>
        </mc:Fallback>
      </mc:AlternateContent>
      <p:pic>
        <p:nvPicPr>
          <p:cNvPr id="8194" name="Picture 2"/>
          <p:cNvPicPr>
            <a:picLocks noChangeAspect="1" noChangeArrowheads="1"/>
          </p:cNvPicPr>
          <p:nvPr/>
        </p:nvPicPr>
        <p:blipFill>
          <a:blip r:embed="rId2"/>
          <a:srcRect/>
          <a:stretch>
            <a:fillRect/>
          </a:stretch>
        </p:blipFill>
        <p:spPr bwMode="auto">
          <a:xfrm>
            <a:off x="2783632" y="1599809"/>
            <a:ext cx="6143625" cy="2286000"/>
          </a:xfrm>
          <a:prstGeom prst="rect">
            <a:avLst/>
          </a:prstGeom>
          <a:noFill/>
          <a:ln w="9525">
            <a:noFill/>
            <a:miter lim="800000"/>
            <a:headEnd/>
            <a:tailEnd/>
          </a:ln>
        </p:spPr>
      </p:pic>
      <p:sp>
        <p:nvSpPr>
          <p:cNvPr id="2" name="标题 1"/>
          <p:cNvSpPr>
            <a:spLocks noGrp="1"/>
          </p:cNvSpPr>
          <p:nvPr/>
        </p:nvSpPr>
        <p:spPr>
          <a:xfrm>
            <a:off x="838200" y="17526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最短路径问题应用</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1"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8194"/>
                                        </p:tgtEl>
                                        <p:attrNameLst>
                                          <p:attrName>style.visibility</p:attrName>
                                        </p:attrNameLst>
                                      </p:cBhvr>
                                      <p:to>
                                        <p:strVal val="visible"/>
                                      </p:to>
                                    </p:set>
                                    <p:anim calcmode="lin" valueType="num">
                                      <p:cBhvr additive="base">
                                        <p:cTn id="11" dur="500" fill="hold"/>
                                        <p:tgtEl>
                                          <p:spTgt spid="8194"/>
                                        </p:tgtEl>
                                        <p:attrNameLst>
                                          <p:attrName>ppt_x</p:attrName>
                                        </p:attrNameLst>
                                      </p:cBhvr>
                                      <p:tavLst>
                                        <p:tav tm="0">
                                          <p:val>
                                            <p:strVal val="1+#ppt_w/2"/>
                                          </p:val>
                                        </p:tav>
                                        <p:tav tm="100000">
                                          <p:val>
                                            <p:strVal val="#ppt_x"/>
                                          </p:val>
                                        </p:tav>
                                      </p:tavLst>
                                    </p:anim>
                                    <p:anim calcmode="lin" valueType="num">
                                      <p:cBhvr additive="base">
                                        <p:cTn id="12" dur="500" fill="hold"/>
                                        <p:tgtEl>
                                          <p:spTgt spid="819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 calcmode="lin" valueType="num">
                                      <p:cBhvr additive="base">
                                        <p:cTn id="23" dur="500" fill="hold"/>
                                        <p:tgtEl>
                                          <p:spTgt spid="4">
                                            <p:txEl>
                                              <p:pRg st="1" end="1"/>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anim calcmode="lin" valueType="num">
                                      <p:cBhvr additive="base">
                                        <p:cTn id="29" dur="500" fill="hold"/>
                                        <p:tgtEl>
                                          <p:spTgt spid="4">
                                            <p:txEl>
                                              <p:pRg st="2" end="2"/>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sp>
        <p:nvSpPr>
          <p:cNvPr id="8" name="Text Box 21"/>
          <p:cNvSpPr txBox="1">
            <a:spLocks noChangeArrowheads="1"/>
          </p:cNvSpPr>
          <p:nvPr/>
        </p:nvSpPr>
        <p:spPr bwMode="auto">
          <a:xfrm>
            <a:off x="1738313" y="1229218"/>
            <a:ext cx="8643937" cy="1801495"/>
          </a:xfrm>
          <a:prstGeom prst="rect">
            <a:avLst/>
          </a:prstGeom>
          <a:noFill/>
          <a:ln w="9525">
            <a:noFill/>
            <a:miter lim="800000"/>
          </a:ln>
        </p:spPr>
        <p:txBody>
          <a:bodyPr wrap="square" lIns="0" tIns="0" rIns="0" bIns="0">
            <a:spAutoFit/>
          </a:bodyPr>
          <a:lstStyle/>
          <a:p>
            <a:pPr>
              <a:lnSpc>
                <a:spcPts val="1000"/>
              </a:lnSpc>
              <a:tabLst>
                <a:tab pos="203200" algn="l"/>
                <a:tab pos="266700" algn="l"/>
                <a:tab pos="1917700" algn="l"/>
              </a:tabLst>
            </a:pPr>
            <a:r>
              <a:rPr lang="zh-CN" altLang="en-US" sz="1600" dirty="0">
                <a:solidFill>
                  <a:srgbClr val="000000"/>
                </a:solidFill>
                <a:latin typeface="Times New Roman" panose="02020603050405020304" pitchFamily="18" charset="0"/>
                <a:cs typeface="Times New Roman" panose="02020603050405020304" pitchFamily="18" charset="0"/>
              </a:rPr>
              <a:t>  </a:t>
            </a:r>
            <a:endParaRPr lang="en-US" altLang="zh-CN" sz="2000" dirty="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r>
              <a:rPr lang="en-US" altLang="zh-CN" sz="2000" dirty="0">
                <a:solidFill>
                  <a:srgbClr val="000000"/>
                </a:solidFill>
                <a:ea typeface="楷体" panose="02010609060101010101" pitchFamily="49" charset="-122"/>
                <a:cs typeface="Times New Roman" panose="02020603050405020304" pitchFamily="18" charset="0"/>
              </a:rPr>
              <a:t>(</a:t>
            </a:r>
            <a:r>
              <a:rPr lang="zh-CN" altLang="en-US" sz="2000" dirty="0">
                <a:solidFill>
                  <a:srgbClr val="000000"/>
                </a:solidFill>
                <a:ea typeface="楷体" panose="02010609060101010101" pitchFamily="49" charset="-122"/>
                <a:cs typeface="Times New Roman" panose="02020603050405020304" pitchFamily="18" charset="0"/>
              </a:rPr>
              <a:t>继上页）把权数赋到图</a:t>
            </a:r>
            <a:r>
              <a:rPr lang="en-US" altLang="zh-CN" sz="2000" dirty="0">
                <a:solidFill>
                  <a:srgbClr val="000000"/>
                </a:solidFill>
                <a:ea typeface="楷体" panose="02010609060101010101" pitchFamily="49" charset="-122"/>
                <a:cs typeface="Times New Roman" panose="02020603050405020304" pitchFamily="18" charset="0"/>
              </a:rPr>
              <a:t>11-18</a:t>
            </a:r>
            <a:r>
              <a:rPr lang="zh-CN" altLang="en-US" sz="2000" dirty="0">
                <a:solidFill>
                  <a:srgbClr val="000000"/>
                </a:solidFill>
                <a:ea typeface="楷体" panose="02010609060101010101" pitchFamily="49" charset="-122"/>
                <a:cs typeface="Times New Roman" panose="02020603050405020304" pitchFamily="18" charset="0"/>
              </a:rPr>
              <a:t>中，得图</a:t>
            </a:r>
            <a:r>
              <a:rPr lang="en-US" altLang="zh-CN" sz="2000" dirty="0">
                <a:solidFill>
                  <a:srgbClr val="000000"/>
                </a:solidFill>
                <a:ea typeface="楷体" panose="02010609060101010101" pitchFamily="49" charset="-122"/>
                <a:cs typeface="Times New Roman" panose="02020603050405020304" pitchFamily="18" charset="0"/>
              </a:rPr>
              <a:t>11-19</a:t>
            </a:r>
            <a:r>
              <a:rPr lang="zh-CN" altLang="en-US" sz="2000" dirty="0">
                <a:solidFill>
                  <a:srgbClr val="000000"/>
                </a:solidFill>
                <a:ea typeface="楷体" panose="02010609060101010101" pitchFamily="49" charset="-122"/>
                <a:cs typeface="Times New Roman" panose="02020603050405020304" pitchFamily="18" charset="0"/>
              </a:rPr>
              <a:t>，再用 </a:t>
            </a:r>
            <a:r>
              <a:rPr lang="en-US" altLang="zh-CN" sz="2000" dirty="0">
                <a:solidFill>
                  <a:srgbClr val="000000"/>
                </a:solidFill>
                <a:ea typeface="楷体" panose="02010609060101010101" pitchFamily="49" charset="-122"/>
                <a:cs typeface="Times New Roman" panose="02020603050405020304" pitchFamily="18" charset="0"/>
              </a:rPr>
              <a:t>Dijkstra </a:t>
            </a:r>
            <a:r>
              <a:rPr lang="zh-CN" altLang="en-US" sz="2000" dirty="0">
                <a:solidFill>
                  <a:srgbClr val="000000"/>
                </a:solidFill>
                <a:ea typeface="楷体" panose="02010609060101010101" pitchFamily="49" charset="-122"/>
                <a:cs typeface="Times New Roman" panose="02020603050405020304" pitchFamily="18" charset="0"/>
              </a:rPr>
              <a:t>算法求最短路。</a:t>
            </a:r>
            <a:endParaRPr lang="zh-CN" altLang="en-US" sz="2000" dirty="0">
              <a:solidFill>
                <a:srgbClr val="000000"/>
              </a:solidFill>
              <a:ea typeface="楷体" panose="02010609060101010101" pitchFamily="49" charset="-122"/>
              <a:cs typeface="Times New Roman" panose="02020603050405020304" pitchFamily="18" charset="0"/>
            </a:endParaRPr>
          </a:p>
          <a:p>
            <a:pPr>
              <a:lnSpc>
                <a:spcPts val="1000"/>
              </a:lnSpc>
              <a:tabLst>
                <a:tab pos="203200" algn="l"/>
                <a:tab pos="266700" algn="l"/>
                <a:tab pos="1917700" algn="l"/>
              </a:tabLst>
            </a:pPr>
            <a:endParaRPr lang="zh-CN" altLang="en-US" sz="14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4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4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4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4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4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1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100" dirty="0">
              <a:solidFill>
                <a:srgbClr val="000000"/>
              </a:solidFill>
              <a:latin typeface="Times New Roman" panose="02020603050405020304" pitchFamily="18" charset="0"/>
            </a:endParaRPr>
          </a:p>
          <a:p>
            <a:pPr>
              <a:lnSpc>
                <a:spcPts val="1000"/>
              </a:lnSpc>
              <a:tabLst>
                <a:tab pos="203200" algn="l"/>
                <a:tab pos="266700" algn="l"/>
                <a:tab pos="1917700" algn="l"/>
              </a:tabLst>
            </a:pPr>
            <a:endParaRPr lang="zh-CN" altLang="en-US" sz="1100" dirty="0">
              <a:solidFill>
                <a:srgbClr val="000000"/>
              </a:solidFill>
              <a:latin typeface="Times New Roman" panose="02020603050405020304" pitchFamily="18" charset="0"/>
            </a:endParaRPr>
          </a:p>
          <a:p>
            <a:pPr>
              <a:lnSpc>
                <a:spcPts val="1525"/>
              </a:lnSpc>
              <a:tabLst>
                <a:tab pos="203200" algn="l"/>
                <a:tab pos="266700" algn="l"/>
                <a:tab pos="1917700" algn="l"/>
              </a:tabLst>
            </a:pPr>
            <a:r>
              <a:rPr lang="zh-CN" altLang="en-US" sz="1100" dirty="0">
                <a:solidFill>
                  <a:srgbClr val="000000"/>
                </a:solidFill>
                <a:latin typeface="Times New Roman" panose="02020603050405020304" pitchFamily="18" charset="0"/>
              </a:rPr>
              <a:t>			</a:t>
            </a:r>
            <a:r>
              <a:rPr lang="en-US" altLang="zh-CN" sz="900" dirty="0">
                <a:solidFill>
                  <a:srgbClr val="000000"/>
                </a:solidFill>
                <a:latin typeface="Times New Roman" panose="02020603050405020304" pitchFamily="18" charset="0"/>
                <a:ea typeface="黑体" panose="02010609060101010101" pitchFamily="49" charset="-122"/>
              </a:rPr>
              <a:t>	</a:t>
            </a:r>
            <a:endParaRPr lang="en-US" altLang="zh-CN" sz="900" dirty="0">
              <a:solidFill>
                <a:srgbClr val="000000"/>
              </a:solidFill>
              <a:latin typeface="Times New Roman" panose="02020603050405020304" pitchFamily="18" charset="0"/>
              <a:ea typeface="黑体" panose="02010609060101010101" pitchFamily="49" charset="-122"/>
            </a:endParaRPr>
          </a:p>
          <a:p>
            <a:pPr>
              <a:lnSpc>
                <a:spcPts val="1525"/>
              </a:lnSpc>
              <a:tabLst>
                <a:tab pos="203200" algn="l"/>
                <a:tab pos="266700" algn="l"/>
                <a:tab pos="1917700" algn="l"/>
              </a:tabLst>
            </a:pPr>
            <a:r>
              <a:rPr lang="en-US" altLang="zh-CN" sz="900" dirty="0">
                <a:solidFill>
                  <a:srgbClr val="000000"/>
                </a:solidFill>
                <a:latin typeface="Times New Roman" panose="02020603050405020304" pitchFamily="18" charset="0"/>
                <a:ea typeface="黑体" panose="02010609060101010101" pitchFamily="49" charset="-122"/>
              </a:rPr>
              <a:t>                                                                                                                         </a:t>
            </a:r>
            <a:endParaRPr lang="en-US" altLang="zh-CN" sz="900" dirty="0">
              <a:solidFill>
                <a:srgbClr val="000000"/>
              </a:solidFill>
              <a:latin typeface="Times New Roman" panose="02020603050405020304" pitchFamily="18" charset="0"/>
              <a:ea typeface="黑体" panose="02010609060101010101" pitchFamily="49" charset="-122"/>
            </a:endParaRPr>
          </a:p>
        </p:txBody>
      </p:sp>
      <mc:AlternateContent xmlns:mc="http://schemas.openxmlformats.org/markup-compatibility/2006">
        <mc:Choice xmlns:a14="http://schemas.microsoft.com/office/drawing/2010/main" Requires="a14">
          <p:sp>
            <p:nvSpPr>
              <p:cNvPr id="4" name="矩形 3"/>
              <p:cNvSpPr>
                <a:spLocks noChangeArrowheads="1"/>
              </p:cNvSpPr>
              <p:nvPr/>
            </p:nvSpPr>
            <p:spPr bwMode="auto">
              <a:xfrm>
                <a:off x="1577752" y="3875437"/>
                <a:ext cx="9036496" cy="2461260"/>
              </a:xfrm>
              <a:prstGeom prst="rect">
                <a:avLst/>
              </a:prstGeom>
              <a:noFill/>
              <a:ln w="9525">
                <a:noFill/>
                <a:miter lim="800000"/>
              </a:ln>
            </p:spPr>
            <p:txBody>
              <a:bodyPr wrap="square">
                <a:spAutoFit/>
              </a:bodyPr>
              <a:lstStyle/>
              <a:p>
                <a:endParaRPr lang="en-US" altLang="zh-CN" sz="22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这时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rPr>
                      <m:t>𝐼</m:t>
                    </m:r>
                    <m:r>
                      <a:rPr lang="en-US" altLang="zh-CN" sz="2200" i="1" dirty="0" smtClean="0">
                        <a:solidFill>
                          <a:srgbClr val="000000"/>
                        </a:solidFill>
                        <a:latin typeface="Cambria Math" panose="02040503050406030204" pitchFamily="18" charset="0"/>
                        <a:ea typeface="楷体" panose="02010609060101010101" pitchFamily="49" charset="-122"/>
                      </a:rPr>
                      <m:t>={</m:t>
                    </m:r>
                    <m:r>
                      <a:rPr lang="en-US" altLang="zh-CN" sz="2200" i="1" dirty="0" smtClean="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1</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2</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𝐽</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3</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4</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5</m:t>
                    </m:r>
                    <m:r>
                      <a:rPr lang="en-US" altLang="zh-CN" sz="2200" i="1" dirty="0">
                        <a:solidFill>
                          <a:srgbClr val="000000"/>
                        </a:solidFill>
                        <a:latin typeface="Cambria Math" panose="02040503050406030204" pitchFamily="18" charset="0"/>
                        <a:ea typeface="楷体" panose="02010609060101010101" pitchFamily="49" charset="-122"/>
                      </a:rPr>
                      <m:t> ,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6</m:t>
                    </m:r>
                    <m:r>
                      <a:rPr lang="en-US" altLang="zh-CN" sz="2200" i="1" dirty="0">
                        <a:solidFill>
                          <a:srgbClr val="000000"/>
                        </a:solidFill>
                        <a:latin typeface="Cambria Math" panose="02040503050406030204" pitchFamily="18" charset="0"/>
                        <a:ea typeface="楷体" panose="02010609060101010101" pitchFamily="49" charset="-122"/>
                      </a:rPr>
                      <m:t>}</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。弧集合为</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rPr>
                      <m:t>{(</m:t>
                    </m:r>
                    <m:r>
                      <a:rPr lang="en-US" altLang="zh-CN" sz="2200" i="1" dirty="0" smtClean="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1</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3</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1</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4</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1</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5</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1</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6</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2</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3</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2</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4</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2</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5</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2</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6</m:t>
                    </m:r>
                    <m:r>
                      <a:rPr lang="en-US" altLang="zh-CN" sz="2200" i="1" dirty="0">
                        <a:solidFill>
                          <a:srgbClr val="000000"/>
                        </a:solidFill>
                        <a:latin typeface="Cambria Math" panose="02040503050406030204" pitchFamily="18" charset="0"/>
                        <a:ea typeface="楷体" panose="02010609060101010101" pitchFamily="49" charset="-122"/>
                      </a:rPr>
                      <m:t>)}</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14:m>
                  <m:oMath xmlns:m="http://schemas.openxmlformats.org/officeDocument/2006/math">
                    <m:r>
                      <m:rPr>
                        <m:sty m:val="p"/>
                      </m:rPr>
                      <a:rPr lang="en-US" altLang="zh-CN" sz="2200" i="1" dirty="0" smtClean="0">
                        <a:solidFill>
                          <a:srgbClr val="000000"/>
                        </a:solidFill>
                        <a:latin typeface="Cambria Math" panose="02040503050406030204" pitchFamily="18" charset="0"/>
                        <a:ea typeface="楷体" panose="02010609060101010101" pitchFamily="49" charset="-122"/>
                      </a:rPr>
                      <m:t>min</m:t>
                    </m:r>
                    <m:r>
                      <a:rPr lang="en-US" altLang="zh-CN" sz="2200" i="1" dirty="0" smtClean="0">
                        <a:solidFill>
                          <a:srgbClr val="000000"/>
                        </a:solidFill>
                        <a:latin typeface="Cambria Math" panose="02040503050406030204" pitchFamily="18" charset="0"/>
                        <a:ea typeface="楷体" panose="02010609060101010101" pitchFamily="49" charset="-122"/>
                      </a:rPr>
                      <m:t>⁡(</m:t>
                    </m:r>
                    <m:r>
                      <a:rPr lang="en-US" altLang="zh-CN" sz="2200" i="1" dirty="0" smtClean="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13</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14</m:t>
                    </m:r>
                    <m:r>
                      <a:rPr lang="en-US" altLang="zh-CN" sz="2200" i="1" baseline="-25000"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15</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16</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23</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24</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25</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26</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𝑠</m:t>
                    </m:r>
                    <m:r>
                      <a:rPr lang="en-US" altLang="zh-CN" sz="2200" i="1" baseline="-25000" dirty="0">
                        <a:solidFill>
                          <a:srgbClr val="000000"/>
                        </a:solidFill>
                        <a:latin typeface="Cambria Math" panose="02040503050406030204" pitchFamily="18" charset="0"/>
                        <a:ea typeface="楷体" panose="02010609060101010101" pitchFamily="49" charset="-122"/>
                      </a:rPr>
                      <m:t>13</m:t>
                    </m:r>
                    <m:r>
                      <a:rPr lang="en-US" altLang="zh-CN" sz="2200" i="1" dirty="0">
                        <a:solidFill>
                          <a:srgbClr val="000000"/>
                        </a:solidFill>
                        <a:latin typeface="Cambria Math" panose="02040503050406030204" pitchFamily="18" charset="0"/>
                        <a:ea typeface="楷体" panose="02010609060101010101" pitchFamily="49" charset="-122"/>
                      </a:rPr>
                      <m:t>=</m:t>
                    </m:r>
                    <m:r>
                      <a:rPr lang="en-US" altLang="zh-CN" sz="2200" i="1" dirty="0">
                        <a:solidFill>
                          <a:srgbClr val="000000"/>
                        </a:solidFill>
                        <a:latin typeface="Cambria Math" panose="02040503050406030204" pitchFamily="18" charset="0"/>
                        <a:ea typeface="楷体" panose="02010609060101010101" pitchFamily="49" charset="-122"/>
                      </a:rPr>
                      <m:t>22</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，给弧</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rPr>
                      <m:t>(</m:t>
                    </m:r>
                    <m:r>
                      <a:rPr lang="en-US" altLang="zh-CN" sz="2200" i="1" dirty="0" smtClean="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1</m:t>
                    </m:r>
                    <m:r>
                      <a:rPr lang="en-US" altLang="zh-CN" sz="2200" i="1" dirty="0">
                        <a:solidFill>
                          <a:srgbClr val="000000"/>
                        </a:solidFill>
                        <a:latin typeface="Cambria Math" panose="02040503050406030204" pitchFamily="18" charset="0"/>
                        <a:ea typeface="楷体" panose="02010609060101010101" pitchFamily="49" charset="-122"/>
                      </a:rPr>
                      <m:t>, </m:t>
                    </m:r>
                    <m:r>
                      <a:rPr lang="en-US" altLang="zh-CN" sz="2200" i="1" dirty="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3</m:t>
                    </m:r>
                    <m:r>
                      <a:rPr lang="en-US" altLang="zh-CN" sz="2200" i="1" dirty="0">
                        <a:solidFill>
                          <a:srgbClr val="000000"/>
                        </a:solidFill>
                        <a:latin typeface="Cambria Math" panose="02040503050406030204" pitchFamily="18" charset="0"/>
                        <a:ea typeface="楷体" panose="02010609060101010101" pitchFamily="49" charset="-122"/>
                      </a:rPr>
                      <m:t>)</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的终点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rPr>
                      <m:t>𝑣</m:t>
                    </m:r>
                    <m:r>
                      <a:rPr lang="en-US" altLang="zh-CN" sz="2200" i="1" baseline="-25000" dirty="0">
                        <a:solidFill>
                          <a:srgbClr val="000000"/>
                        </a:solidFill>
                        <a:latin typeface="Cambria Math" panose="02040503050406030204" pitchFamily="18" charset="0"/>
                        <a:ea typeface="楷体" panose="02010609060101010101" pitchFamily="49" charset="-122"/>
                      </a:rPr>
                      <m:t>3</m:t>
                    </m:r>
                  </m:oMath>
                </a14:m>
                <a:r>
                  <a:rPr lang="en-US" altLang="zh-CN"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标以</a:t>
                </a:r>
                <a14:m>
                  <m:oMath xmlns:m="http://schemas.openxmlformats.org/officeDocument/2006/math">
                    <m:r>
                      <a:rPr lang="en-US" altLang="zh-CN" sz="2200" b="0" i="1" dirty="0" smtClean="0">
                        <a:solidFill>
                          <a:srgbClr val="000000"/>
                        </a:solidFill>
                        <a:latin typeface="Cambria Math" panose="02040503050406030204" pitchFamily="18" charset="0"/>
                        <a:ea typeface="楷体" panose="02010609060101010101" pitchFamily="49" charset="-122"/>
                      </a:rPr>
                      <m:t>(</m:t>
                    </m:r>
                    <m:r>
                      <a:rPr lang="en-US" altLang="zh-CN" sz="2200" b="0" i="1" dirty="0" smtClean="0">
                        <a:solidFill>
                          <a:srgbClr val="000000"/>
                        </a:solidFill>
                        <a:latin typeface="Cambria Math" panose="02040503050406030204" pitchFamily="18" charset="0"/>
                        <a:ea typeface="楷体" panose="02010609060101010101" pitchFamily="49" charset="-122"/>
                      </a:rPr>
                      <m:t>22</m:t>
                    </m:r>
                    <m:r>
                      <a:rPr lang="en-US" altLang="zh-CN" sz="2200" b="0" i="1" dirty="0" smtClean="0">
                        <a:solidFill>
                          <a:srgbClr val="000000"/>
                        </a:solidFill>
                        <a:latin typeface="Cambria Math" panose="02040503050406030204" pitchFamily="18" charset="0"/>
                        <a:ea typeface="楷体" panose="02010609060101010101" pitchFamily="49" charset="-122"/>
                      </a:rPr>
                      <m:t>,</m:t>
                    </m:r>
                    <m:r>
                      <a:rPr lang="en-US" altLang="zh-CN" sz="2200" b="0" i="1" dirty="0" smtClean="0">
                        <a:solidFill>
                          <a:srgbClr val="000000"/>
                        </a:solidFill>
                        <a:latin typeface="Cambria Math" panose="02040503050406030204" pitchFamily="18" charset="0"/>
                        <a:ea typeface="楷体" panose="02010609060101010101" pitchFamily="49" charset="-122"/>
                      </a:rPr>
                      <m:t>1</m:t>
                    </m:r>
                    <m:r>
                      <a:rPr lang="en-US" altLang="zh-CN" sz="2200" b="0" i="1" dirty="0" smtClean="0">
                        <a:solidFill>
                          <a:srgbClr val="000000"/>
                        </a:solidFill>
                        <a:latin typeface="Cambria Math" panose="02040503050406030204" pitchFamily="18" charset="0"/>
                        <a:ea typeface="楷体" panose="02010609060101010101" pitchFamily="49" charset="-122"/>
                      </a:rPr>
                      <m:t>)</m:t>
                    </m:r>
                  </m:oMath>
                </a14:m>
                <a:r>
                  <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bwMode="auto">
              <a:xfrm>
                <a:off x="1577752" y="3875437"/>
                <a:ext cx="9036496" cy="2461260"/>
              </a:xfrm>
              <a:prstGeom prst="rect">
                <a:avLst/>
              </a:prstGeom>
              <a:blipFill rotWithShape="1">
                <a:blip r:embed="rId1"/>
                <a:stretch>
                  <a:fillRect l="-5" t="-1" r="-4087" b="1"/>
                </a:stretch>
              </a:blipFill>
              <a:ln w="9525">
                <a:noFill/>
                <a:miter lim="800000"/>
              </a:ln>
            </p:spPr>
            <p:txBody>
              <a:bodyPr/>
              <a:lstStyle/>
              <a:p>
                <a:r>
                  <a:rPr lang="zh-CN" altLang="en-US">
                    <a:noFill/>
                  </a:rPr>
                  <a:t> </a:t>
                </a:r>
              </a:p>
            </p:txBody>
          </p:sp>
        </mc:Fallback>
      </mc:AlternateContent>
      <p:pic>
        <p:nvPicPr>
          <p:cNvPr id="8194" name="Picture 2"/>
          <p:cNvPicPr>
            <a:picLocks noChangeAspect="1" noChangeArrowheads="1"/>
          </p:cNvPicPr>
          <p:nvPr/>
        </p:nvPicPr>
        <p:blipFill>
          <a:blip r:embed="rId2"/>
          <a:srcRect/>
          <a:stretch>
            <a:fillRect/>
          </a:stretch>
        </p:blipFill>
        <p:spPr bwMode="auto">
          <a:xfrm>
            <a:off x="2855640" y="1784350"/>
            <a:ext cx="6143625" cy="2286000"/>
          </a:xfrm>
          <a:prstGeom prst="rect">
            <a:avLst/>
          </a:prstGeom>
          <a:noFill/>
          <a:ln w="9525">
            <a:noFill/>
            <a:miter lim="800000"/>
            <a:headEnd/>
            <a:tailEnd/>
          </a:ln>
        </p:spPr>
      </p:pic>
      <p:sp>
        <p:nvSpPr>
          <p:cNvPr id="2" name="标题 1"/>
          <p:cNvSpPr>
            <a:spLocks noGrp="1"/>
          </p:cNvSpPr>
          <p:nvPr/>
        </p:nvSpPr>
        <p:spPr>
          <a:xfrm>
            <a:off x="838200" y="8445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最短路径问题应用</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8194"/>
                                        </p:tgtEl>
                                        <p:attrNameLst>
                                          <p:attrName>style.visibility</p:attrName>
                                        </p:attrNameLst>
                                      </p:cBhvr>
                                      <p:to>
                                        <p:strVal val="visible"/>
                                      </p:to>
                                    </p:set>
                                    <p:anim calcmode="lin" valueType="num">
                                      <p:cBhvr additive="base">
                                        <p:cTn id="11" dur="500" fill="hold"/>
                                        <p:tgtEl>
                                          <p:spTgt spid="8194"/>
                                        </p:tgtEl>
                                        <p:attrNameLst>
                                          <p:attrName>ppt_x</p:attrName>
                                        </p:attrNameLst>
                                      </p:cBhvr>
                                      <p:tavLst>
                                        <p:tav tm="0">
                                          <p:val>
                                            <p:strVal val="1+#ppt_w/2"/>
                                          </p:val>
                                        </p:tav>
                                        <p:tav tm="100000">
                                          <p:val>
                                            <p:strVal val="#ppt_x"/>
                                          </p:val>
                                        </p:tav>
                                      </p:tavLst>
                                    </p:anim>
                                    <p:anim calcmode="lin" valueType="num">
                                      <p:cBhvr additive="base">
                                        <p:cTn id="12" dur="500" fill="hold"/>
                                        <p:tgtEl>
                                          <p:spTgt spid="81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Text Box 21"/>
              <p:cNvSpPr txBox="1">
                <a:spLocks noChangeArrowheads="1"/>
              </p:cNvSpPr>
              <p:nvPr/>
            </p:nvSpPr>
            <p:spPr bwMode="auto">
              <a:xfrm>
                <a:off x="1669827" y="1345411"/>
                <a:ext cx="8852346" cy="5186045"/>
              </a:xfrm>
              <a:prstGeom prst="rect">
                <a:avLst/>
              </a:prstGeom>
              <a:noFill/>
              <a:ln w="9525">
                <a:noFill/>
                <a:miter lim="800000"/>
              </a:ln>
            </p:spPr>
            <p:txBody>
              <a:bodyPr wrap="square" lIns="0" tIns="0" rIns="0" bIns="0">
                <a:spAutoFit/>
              </a:bodyPr>
              <a:lstStyle/>
              <a:p>
                <a:pPr>
                  <a:lnSpc>
                    <a:spcPct val="150000"/>
                  </a:lnSpc>
                  <a:tabLst>
                    <a:tab pos="203200" algn="l"/>
                    <a:tab pos="266700" algn="l"/>
                    <a:tab pos="1917700" algn="l"/>
                  </a:tabLst>
                </a:pPr>
                <a:r>
                  <a:rPr lang="zh-CN" altLang="en-US" sz="2200" dirty="0">
                    <a:solidFill>
                      <a:srgbClr val="000000"/>
                    </a:solidFill>
                    <a:ea typeface="楷体" panose="02010609060101010101" pitchFamily="49" charset="-122"/>
                    <a:cs typeface="Times New Roman" panose="02020603050405020304" pitchFamily="18" charset="0"/>
                  </a:rPr>
                  <a:t>（</a:t>
                </a:r>
                <a:r>
                  <a:rPr lang="en-US" altLang="zh-CN" sz="2200" dirty="0">
                    <a:solidFill>
                      <a:srgbClr val="000000"/>
                    </a:solidFill>
                    <a:ea typeface="楷体" panose="02010609060101010101" pitchFamily="49" charset="-122"/>
                    <a:cs typeface="Times New Roman" panose="02020603050405020304" pitchFamily="18" charset="0"/>
                  </a:rPr>
                  <a:t>4</a:t>
                </a:r>
                <a:r>
                  <a:rPr lang="zh-CN" altLang="en-US" sz="2200" dirty="0">
                    <a:solidFill>
                      <a:srgbClr val="000000"/>
                    </a:solidFill>
                    <a:ea typeface="楷体" panose="02010609060101010101" pitchFamily="49" charset="-122"/>
                    <a:cs typeface="Times New Roman" panose="02020603050405020304" pitchFamily="18" charset="0"/>
                  </a:rPr>
                  <a:t>）这时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。则</a:t>
                </a:r>
                <a14:m>
                  <m:oMath xmlns:m="http://schemas.openxmlformats.org/officeDocument/2006/math">
                    <m:r>
                      <m:rPr>
                        <m:sty m:val="p"/>
                      </m:rP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min</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15</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24</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25</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34</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30</m:t>
                    </m:r>
                  </m:oMath>
                </a14:m>
                <a:r>
                  <a:rPr lang="zh-CN" altLang="en-US" sz="2200" dirty="0">
                    <a:solidFill>
                      <a:srgbClr val="000000"/>
                    </a:solidFill>
                    <a:ea typeface="楷体" panose="02010609060101010101" pitchFamily="49" charset="-122"/>
                    <a:cs typeface="Times New Roman" panose="02020603050405020304" pitchFamily="18" charset="0"/>
                  </a:rPr>
                  <a:t>。给弧</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的终点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oMath>
                </a14:m>
                <a:r>
                  <a:rPr lang="en-US" altLang="zh-CN" sz="2200" dirty="0">
                    <a:solidFill>
                      <a:srgbClr val="000000"/>
                    </a:solidFill>
                    <a:ea typeface="楷体" panose="02010609060101010101" pitchFamily="49" charset="-122"/>
                    <a:cs typeface="Times New Roman" panose="02020603050405020304" pitchFamily="18" charset="0"/>
                  </a:rPr>
                  <a:t> </a:t>
                </a:r>
                <a:r>
                  <a:rPr lang="zh-CN" altLang="en-US" sz="2200" dirty="0">
                    <a:solidFill>
                      <a:srgbClr val="000000"/>
                    </a:solidFill>
                    <a:ea typeface="楷体" panose="02010609060101010101" pitchFamily="49" charset="-122"/>
                    <a:cs typeface="Times New Roman" panose="02020603050405020304" pitchFamily="18" charset="0"/>
                  </a:rPr>
                  <a:t>标以</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30</m:t>
                    </m:r>
                    <m:r>
                      <a:rPr lang="en-US" altLang="zh-CN" sz="22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a:t>
                </a:r>
                <a:endParaRPr lang="zh-CN" altLang="en-US" sz="2200" dirty="0">
                  <a:solidFill>
                    <a:srgbClr val="000000"/>
                  </a:solidFill>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r>
                  <a:rPr lang="zh-CN" altLang="en-US" sz="2200" dirty="0">
                    <a:solidFill>
                      <a:srgbClr val="000000"/>
                    </a:solidFill>
                    <a:ea typeface="楷体" panose="02010609060101010101" pitchFamily="49" charset="-122"/>
                    <a:cs typeface="Times New Roman" panose="02020603050405020304" pitchFamily="18" charset="0"/>
                  </a:rPr>
                  <a:t>（</a:t>
                </a:r>
                <a:r>
                  <a:rPr lang="en-US" altLang="zh-CN" sz="2200" dirty="0">
                    <a:solidFill>
                      <a:srgbClr val="000000"/>
                    </a:solidFill>
                    <a:ea typeface="楷体" panose="02010609060101010101" pitchFamily="49" charset="-122"/>
                    <a:cs typeface="Times New Roman" panose="02020603050405020304" pitchFamily="18" charset="0"/>
                  </a:rPr>
                  <a:t>5</a:t>
                </a:r>
                <a:r>
                  <a:rPr lang="zh-CN" altLang="en-US" sz="2200" dirty="0">
                    <a:solidFill>
                      <a:srgbClr val="000000"/>
                    </a:solidFill>
                    <a:ea typeface="楷体" panose="02010609060101010101" pitchFamily="49" charset="-122"/>
                    <a:cs typeface="Times New Roman" panose="02020603050405020304" pitchFamily="18" charset="0"/>
                  </a:rPr>
                  <a:t>）这时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。则</a:t>
                </a:r>
                <a14:m>
                  <m:oMath xmlns:m="http://schemas.openxmlformats.org/officeDocument/2006/math">
                    <m:r>
                      <m:rPr>
                        <m:sty m:val="p"/>
                      </m:rP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min</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45</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41</m:t>
                    </m:r>
                  </m:oMath>
                </a14:m>
                <a:r>
                  <a:rPr lang="zh-CN" altLang="en-US" sz="2200" dirty="0">
                    <a:solidFill>
                      <a:srgbClr val="000000"/>
                    </a:solidFill>
                    <a:ea typeface="楷体" panose="02010609060101010101" pitchFamily="49" charset="-122"/>
                    <a:cs typeface="Times New Roman" panose="02020603050405020304" pitchFamily="18" charset="0"/>
                  </a:rPr>
                  <a:t>。给弧</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的终点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a14:m>
                <a:r>
                  <a:rPr lang="zh-CN" altLang="en-US" sz="2200" dirty="0">
                    <a:solidFill>
                      <a:srgbClr val="000000"/>
                    </a:solidFill>
                    <a:ea typeface="楷体" panose="02010609060101010101" pitchFamily="49" charset="-122"/>
                    <a:cs typeface="Times New Roman" panose="02020603050405020304" pitchFamily="18" charset="0"/>
                  </a:rPr>
                  <a:t>标以</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41</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a:t>
                </a:r>
                <a:endParaRPr lang="zh-CN" altLang="en-US" sz="2200" dirty="0">
                  <a:solidFill>
                    <a:srgbClr val="000000"/>
                  </a:solidFill>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r>
                  <a:rPr lang="zh-CN" altLang="en-US" sz="2200" dirty="0">
                    <a:solidFill>
                      <a:srgbClr val="000000"/>
                    </a:solidFill>
                    <a:ea typeface="楷体" panose="02010609060101010101" pitchFamily="49" charset="-122"/>
                    <a:cs typeface="Times New Roman" panose="02020603050405020304" pitchFamily="18" charset="0"/>
                  </a:rPr>
                  <a:t>（</a:t>
                </a:r>
                <a:r>
                  <a:rPr lang="en-US" altLang="zh-CN" sz="2200" dirty="0">
                    <a:solidFill>
                      <a:srgbClr val="000000"/>
                    </a:solidFill>
                    <a:ea typeface="楷体" panose="02010609060101010101" pitchFamily="49" charset="-122"/>
                    <a:cs typeface="Times New Roman" panose="02020603050405020304" pitchFamily="18" charset="0"/>
                  </a:rPr>
                  <a:t>6</a:t>
                </a:r>
                <a:r>
                  <a:rPr lang="zh-CN" altLang="en-US" sz="2200" dirty="0">
                    <a:solidFill>
                      <a:srgbClr val="000000"/>
                    </a:solidFill>
                    <a:ea typeface="楷体" panose="02010609060101010101" pitchFamily="49" charset="-122"/>
                    <a:cs typeface="Times New Roman" panose="02020603050405020304" pitchFamily="18" charset="0"/>
                  </a:rPr>
                  <a:t>）这时 </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𝐽</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。则</a:t>
                </a:r>
                <a14:m>
                  <m:oMath xmlns:m="http://schemas.openxmlformats.org/officeDocument/2006/math">
                    <m:r>
                      <m:rPr>
                        <m:sty m:val="p"/>
                      </m:rP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min</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36</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53</m:t>
                    </m:r>
                  </m:oMath>
                </a14:m>
                <a:r>
                  <a:rPr lang="zh-CN" altLang="en-US" sz="2200" dirty="0">
                    <a:solidFill>
                      <a:srgbClr val="000000"/>
                    </a:solidFill>
                    <a:ea typeface="楷体" panose="02010609060101010101" pitchFamily="49" charset="-122"/>
                    <a:cs typeface="Times New Roman" panose="02020603050405020304" pitchFamily="18" charset="0"/>
                  </a:rPr>
                  <a:t>。给弧</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）和（</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的终点</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oMath>
                </a14:m>
                <a:r>
                  <a:rPr lang="zh-CN" altLang="en-US" sz="2200" dirty="0">
                    <a:solidFill>
                      <a:srgbClr val="000000"/>
                    </a:solidFill>
                    <a:ea typeface="楷体" panose="02010609060101010101" pitchFamily="49" charset="-122"/>
                    <a:cs typeface="Times New Roman" panose="02020603050405020304" pitchFamily="18" charset="0"/>
                  </a:rPr>
                  <a:t>标以</a:t>
                </a:r>
                <a14:m>
                  <m:oMath xmlns:m="http://schemas.openxmlformats.org/officeDocument/2006/math">
                    <m:r>
                      <a:rPr lang="zh-CN" altLang="en-US"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）和（</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200" dirty="0">
                    <a:solidFill>
                      <a:srgbClr val="000000"/>
                    </a:solidFill>
                    <a:ea typeface="楷体" panose="02010609060101010101" pitchFamily="49" charset="-122"/>
                    <a:cs typeface="Times New Roman" panose="02020603050405020304" pitchFamily="18" charset="0"/>
                  </a:rPr>
                  <a:t>最终得到图 </a:t>
                </a:r>
                <a:r>
                  <a:rPr lang="en-US" altLang="zh-CN" sz="2200" dirty="0">
                    <a:solidFill>
                      <a:srgbClr val="000000"/>
                    </a:solidFill>
                    <a:ea typeface="楷体" panose="02010609060101010101" pitchFamily="49" charset="-122"/>
                    <a:cs typeface="Times New Roman" panose="02020603050405020304" pitchFamily="18" charset="0"/>
                  </a:rPr>
                  <a:t>11-10</a:t>
                </a:r>
                <a:r>
                  <a:rPr lang="zh-CN" altLang="en-US" sz="2200" dirty="0">
                    <a:solidFill>
                      <a:srgbClr val="000000"/>
                    </a:solidFill>
                    <a:ea typeface="楷体" panose="02010609060101010101" pitchFamily="49" charset="-122"/>
                    <a:cs typeface="Times New Roman" panose="02020603050405020304" pitchFamily="18" charset="0"/>
                  </a:rPr>
                  <a:t>，可知，</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到</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的距离是</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53</m:t>
                    </m:r>
                  </m:oMath>
                </a14:m>
                <a:r>
                  <a:rPr lang="zh-CN" altLang="en-US" sz="2200" dirty="0">
                    <a:solidFill>
                      <a:srgbClr val="000000"/>
                    </a:solidFill>
                    <a:ea typeface="楷体" panose="02010609060101010101" pitchFamily="49" charset="-122"/>
                    <a:cs typeface="Times New Roman" panose="02020603050405020304" pitchFamily="18" charset="0"/>
                  </a:rPr>
                  <a:t>，最短路径有两条：</a:t>
                </a:r>
                <a14:m>
                  <m:oMath xmlns:m="http://schemas.openxmlformats.org/officeDocument/2006/math">
                    <m:r>
                      <a:rPr lang="en-US" altLang="zh-CN" sz="22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和</m:t>
                    </m:r>
                    <m:r>
                      <a:rPr lang="zh-CN" altLang="en-US"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2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2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oMath>
                </a14:m>
                <a:r>
                  <a:rPr lang="zh-CN" altLang="en-US" sz="2200" dirty="0">
                    <a:solidFill>
                      <a:srgbClr val="000000"/>
                    </a:solidFill>
                    <a:ea typeface="楷体" panose="02010609060101010101" pitchFamily="49" charset="-122"/>
                    <a:cs typeface="Times New Roman" panose="02020603050405020304" pitchFamily="18" charset="0"/>
                  </a:rPr>
                  <a:t>。</a:t>
                </a:r>
                <a:endParaRPr lang="zh-CN" altLang="en-US" sz="2200" dirty="0">
                  <a:solidFill>
                    <a:srgbClr val="000000"/>
                  </a:solidFill>
                  <a:ea typeface="楷体" panose="02010609060101010101" pitchFamily="49" charset="-122"/>
                  <a:cs typeface="Times New Roman" panose="02020603050405020304" pitchFamily="18" charset="0"/>
                </a:endParaRPr>
              </a:p>
            </p:txBody>
          </p:sp>
        </mc:Choice>
        <mc:Fallback>
          <p:sp>
            <p:nvSpPr>
              <p:cNvPr id="8" name="Text Box 21"/>
              <p:cNvSpPr txBox="1">
                <a:spLocks noRot="1" noChangeAspect="1" noMove="1" noResize="1" noEditPoints="1" noAdjustHandles="1" noChangeArrowheads="1" noChangeShapeType="1" noTextEdit="1"/>
              </p:cNvSpPr>
              <p:nvPr/>
            </p:nvSpPr>
            <p:spPr bwMode="auto">
              <a:xfrm>
                <a:off x="1669827" y="1345411"/>
                <a:ext cx="8852346" cy="5186045"/>
              </a:xfrm>
              <a:prstGeom prst="rect">
                <a:avLst/>
              </a:prstGeom>
              <a:blipFill rotWithShape="1">
                <a:blip r:embed="rId1"/>
                <a:stretch>
                  <a:fillRect l="-5" t="-9" r="3" b="-101"/>
                </a:stretch>
              </a:blipFill>
              <a:ln w="9525">
                <a:noFill/>
                <a:miter lim="800000"/>
              </a:ln>
            </p:spPr>
            <p:txBody>
              <a:bodyPr/>
              <a:lstStyle/>
              <a:p>
                <a:r>
                  <a:rPr lang="zh-CN" altLang="en-US">
                    <a:noFill/>
                  </a:rPr>
                  <a:t> </a:t>
                </a:r>
              </a:p>
            </p:txBody>
          </p:sp>
        </mc:Fallback>
      </mc:AlternateContent>
      <p:sp>
        <p:nvSpPr>
          <p:cNvPr id="2" name="标题 1"/>
          <p:cNvSpPr>
            <a:spLocks noGrp="1"/>
          </p:cNvSpPr>
          <p:nvPr/>
        </p:nvSpPr>
        <p:spPr>
          <a:xfrm>
            <a:off x="838200" y="2082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zh-CN" altLang="en-US" dirty="0"/>
              <a:t>最短路径问题应用</a:t>
            </a:r>
            <a:endParaRPr lang="zh-CN" alt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val 21"/>
          <p:cNvSpPr/>
          <p:nvPr/>
        </p:nvSpPr>
        <p:spPr>
          <a:xfrm>
            <a:off x="914400" y="4450338"/>
            <a:ext cx="307498" cy="323682"/>
          </a:xfrm>
          <a:prstGeom prst="ellipse">
            <a:avLst/>
          </a:prstGeom>
          <a:solidFill>
            <a:srgbClr val="FFC00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en-US" dirty="0"/>
          </a:p>
        </p:txBody>
      </p:sp>
      <p:sp>
        <p:nvSpPr>
          <p:cNvPr id="23" name="Oval 22"/>
          <p:cNvSpPr/>
          <p:nvPr/>
        </p:nvSpPr>
        <p:spPr>
          <a:xfrm>
            <a:off x="2911784" y="4450338"/>
            <a:ext cx="307498" cy="323682"/>
          </a:xfrm>
          <a:prstGeom prst="ellipse">
            <a:avLst/>
          </a:prstGeom>
          <a:solidFill>
            <a:srgbClr val="FF000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en-US" dirty="0"/>
          </a:p>
        </p:txBody>
      </p:sp>
      <p:sp>
        <p:nvSpPr>
          <p:cNvPr id="24" name="Oval 23"/>
          <p:cNvSpPr/>
          <p:nvPr/>
        </p:nvSpPr>
        <p:spPr>
          <a:xfrm>
            <a:off x="4909168" y="4450338"/>
            <a:ext cx="307498" cy="323682"/>
          </a:xfrm>
          <a:prstGeom prst="ellipse">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en-US" dirty="0"/>
          </a:p>
        </p:txBody>
      </p:sp>
      <p:cxnSp>
        <p:nvCxnSpPr>
          <p:cNvPr id="28" name="Straight Arrow Connector 27"/>
          <p:cNvCxnSpPr>
            <a:stCxn id="22" idx="6"/>
            <a:endCxn id="23" idx="2"/>
          </p:cNvCxnSpPr>
          <p:nvPr/>
        </p:nvCxnSpPr>
        <p:spPr>
          <a:xfrm>
            <a:off x="1221898" y="4612179"/>
            <a:ext cx="1689886" cy="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urved Connector 29"/>
          <p:cNvCxnSpPr>
            <a:stCxn id="22" idx="0"/>
            <a:endCxn id="24" idx="0"/>
          </p:cNvCxnSpPr>
          <p:nvPr/>
        </p:nvCxnSpPr>
        <p:spPr>
          <a:xfrm rot="5400000" flipH="1" flipV="1">
            <a:off x="3065533" y="2452954"/>
            <a:ext cx="12700" cy="3994768"/>
          </a:xfrm>
          <a:prstGeom prst="curvedConnector3">
            <a:avLst>
              <a:gd name="adj1" fmla="val 1800000"/>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6906552" y="4456689"/>
            <a:ext cx="307498" cy="323682"/>
          </a:xfrm>
          <a:prstGeom prst="ellipse">
            <a:avLst/>
          </a:prstGeom>
          <a:solidFill>
            <a:srgbClr val="0070C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en-US" dirty="0"/>
          </a:p>
        </p:txBody>
      </p:sp>
      <p:cxnSp>
        <p:nvCxnSpPr>
          <p:cNvPr id="33" name="Curved Connector 32"/>
          <p:cNvCxnSpPr>
            <a:stCxn id="22" idx="0"/>
            <a:endCxn id="31" idx="0"/>
          </p:cNvCxnSpPr>
          <p:nvPr/>
        </p:nvCxnSpPr>
        <p:spPr>
          <a:xfrm rot="16200000" flipH="1">
            <a:off x="4061049" y="1457437"/>
            <a:ext cx="6351" cy="5992152"/>
          </a:xfrm>
          <a:prstGeom prst="curvedConnector3">
            <a:avLst>
              <a:gd name="adj1" fmla="val -11881310"/>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8750187" y="4443988"/>
            <a:ext cx="307498" cy="323682"/>
          </a:xfrm>
          <a:prstGeom prst="ellipse">
            <a:avLst/>
          </a:prstGeom>
          <a:solidFill>
            <a:srgbClr val="7030A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en-US" dirty="0"/>
          </a:p>
        </p:txBody>
      </p:sp>
      <p:sp>
        <p:nvSpPr>
          <p:cNvPr id="37" name="Oval 36"/>
          <p:cNvSpPr/>
          <p:nvPr/>
        </p:nvSpPr>
        <p:spPr>
          <a:xfrm>
            <a:off x="10901320" y="4456689"/>
            <a:ext cx="307498" cy="323682"/>
          </a:xfrm>
          <a:prstGeom prst="ellipse">
            <a:avLst/>
          </a:prstGeom>
          <a:solidFill>
            <a:schemeClr val="tx1"/>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en-US" dirty="0"/>
          </a:p>
        </p:txBody>
      </p:sp>
      <p:cxnSp>
        <p:nvCxnSpPr>
          <p:cNvPr id="39" name="Curved Connector 38"/>
          <p:cNvCxnSpPr>
            <a:stCxn id="22" idx="0"/>
            <a:endCxn id="36" idx="0"/>
          </p:cNvCxnSpPr>
          <p:nvPr/>
        </p:nvCxnSpPr>
        <p:spPr>
          <a:xfrm rot="5400000" flipH="1" flipV="1">
            <a:off x="4982867" y="529270"/>
            <a:ext cx="6350" cy="7835787"/>
          </a:xfrm>
          <a:prstGeom prst="curvedConnector3">
            <a:avLst>
              <a:gd name="adj1" fmla="val 20521244"/>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41"/>
          <p:cNvCxnSpPr>
            <a:stCxn id="22" idx="0"/>
            <a:endCxn id="37" idx="0"/>
          </p:cNvCxnSpPr>
          <p:nvPr/>
        </p:nvCxnSpPr>
        <p:spPr>
          <a:xfrm rot="16200000" flipH="1">
            <a:off x="6058433" y="-539947"/>
            <a:ext cx="6351" cy="9986920"/>
          </a:xfrm>
          <a:prstGeom prst="curvedConnector3">
            <a:avLst>
              <a:gd name="adj1" fmla="val -29336986"/>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3" idx="6"/>
            <a:endCxn id="24" idx="2"/>
          </p:cNvCxnSpPr>
          <p:nvPr/>
        </p:nvCxnSpPr>
        <p:spPr>
          <a:xfrm>
            <a:off x="3219282" y="4612179"/>
            <a:ext cx="168988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urved Connector 46"/>
          <p:cNvCxnSpPr>
            <a:stCxn id="23" idx="4"/>
            <a:endCxn id="31" idx="4"/>
          </p:cNvCxnSpPr>
          <p:nvPr/>
        </p:nvCxnSpPr>
        <p:spPr>
          <a:xfrm rot="16200000" flipH="1">
            <a:off x="5059742" y="2779811"/>
            <a:ext cx="6351" cy="3994768"/>
          </a:xfrm>
          <a:prstGeom prst="curvedConnector3">
            <a:avLst>
              <a:gd name="adj1" fmla="val 369943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urved Connector 48"/>
          <p:cNvCxnSpPr>
            <a:stCxn id="23" idx="4"/>
            <a:endCxn id="36" idx="4"/>
          </p:cNvCxnSpPr>
          <p:nvPr/>
        </p:nvCxnSpPr>
        <p:spPr>
          <a:xfrm rot="5400000" flipH="1" flipV="1">
            <a:off x="5981559" y="1851643"/>
            <a:ext cx="6350" cy="5838403"/>
          </a:xfrm>
          <a:prstGeom prst="curvedConnector3">
            <a:avLst>
              <a:gd name="adj1" fmla="val -1099118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urved Connector 52"/>
          <p:cNvCxnSpPr>
            <a:stCxn id="23" idx="4"/>
            <a:endCxn id="37" idx="4"/>
          </p:cNvCxnSpPr>
          <p:nvPr/>
        </p:nvCxnSpPr>
        <p:spPr>
          <a:xfrm rot="16200000" flipH="1">
            <a:off x="7057126" y="782427"/>
            <a:ext cx="6351" cy="7989536"/>
          </a:xfrm>
          <a:prstGeom prst="curvedConnector3">
            <a:avLst>
              <a:gd name="adj1" fmla="val 22174398"/>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24" idx="6"/>
            <a:endCxn id="31" idx="2"/>
          </p:cNvCxnSpPr>
          <p:nvPr/>
        </p:nvCxnSpPr>
        <p:spPr>
          <a:xfrm>
            <a:off x="5216666" y="4612179"/>
            <a:ext cx="1689886" cy="63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8" name="Curved Connector 57"/>
          <p:cNvCxnSpPr>
            <a:stCxn id="24" idx="4"/>
            <a:endCxn id="36" idx="4"/>
          </p:cNvCxnSpPr>
          <p:nvPr/>
        </p:nvCxnSpPr>
        <p:spPr>
          <a:xfrm rot="5400000" flipH="1" flipV="1">
            <a:off x="6980251" y="2850335"/>
            <a:ext cx="6350" cy="3841019"/>
          </a:xfrm>
          <a:prstGeom prst="curvedConnector3">
            <a:avLst>
              <a:gd name="adj1" fmla="val -7295606"/>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1" name="Curved Connector 60"/>
          <p:cNvCxnSpPr>
            <a:stCxn id="24" idx="4"/>
            <a:endCxn id="37" idx="4"/>
          </p:cNvCxnSpPr>
          <p:nvPr/>
        </p:nvCxnSpPr>
        <p:spPr>
          <a:xfrm rot="16200000" flipH="1">
            <a:off x="8055818" y="1781119"/>
            <a:ext cx="6351" cy="5992152"/>
          </a:xfrm>
          <a:prstGeom prst="curvedConnector3">
            <a:avLst>
              <a:gd name="adj1" fmla="val 14529617"/>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31" idx="6"/>
            <a:endCxn id="36" idx="2"/>
          </p:cNvCxnSpPr>
          <p:nvPr/>
        </p:nvCxnSpPr>
        <p:spPr>
          <a:xfrm flipV="1">
            <a:off x="7214050" y="4605829"/>
            <a:ext cx="1536137" cy="12701"/>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urved Connector 65"/>
          <p:cNvCxnSpPr>
            <a:stCxn id="31" idx="4"/>
            <a:endCxn id="37" idx="4"/>
          </p:cNvCxnSpPr>
          <p:nvPr/>
        </p:nvCxnSpPr>
        <p:spPr>
          <a:xfrm rot="16200000" flipH="1">
            <a:off x="9057685" y="2782987"/>
            <a:ext cx="12700" cy="3994768"/>
          </a:xfrm>
          <a:prstGeom prst="curvedConnector3">
            <a:avLst>
              <a:gd name="adj1" fmla="val 4157520"/>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36" idx="6"/>
            <a:endCxn id="37" idx="2"/>
          </p:cNvCxnSpPr>
          <p:nvPr/>
        </p:nvCxnSpPr>
        <p:spPr>
          <a:xfrm>
            <a:off x="9057685" y="4605829"/>
            <a:ext cx="1843635" cy="12701"/>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1750243" y="4312459"/>
            <a:ext cx="448894" cy="369332"/>
          </a:xfrm>
          <a:prstGeom prst="rect">
            <a:avLst/>
          </a:prstGeom>
          <a:noFill/>
        </p:spPr>
        <p:txBody>
          <a:bodyPr wrap="square" rtlCol="0">
            <a:spAutoFit/>
          </a:bodyPr>
          <a:lstStyle/>
          <a:p>
            <a:r>
              <a:rPr lang="en-US" altLang="zh-CN" dirty="0">
                <a:solidFill>
                  <a:srgbClr val="FFC000"/>
                </a:solidFill>
              </a:rPr>
              <a:t>16</a:t>
            </a:r>
            <a:endParaRPr lang="en-US" dirty="0">
              <a:solidFill>
                <a:srgbClr val="FFC000"/>
              </a:solidFill>
            </a:endParaRPr>
          </a:p>
        </p:txBody>
      </p:sp>
      <p:sp>
        <p:nvSpPr>
          <p:cNvPr id="83" name="TextBox 82"/>
          <p:cNvSpPr txBox="1"/>
          <p:nvPr/>
        </p:nvSpPr>
        <p:spPr>
          <a:xfrm>
            <a:off x="2462890" y="3912816"/>
            <a:ext cx="448894" cy="369332"/>
          </a:xfrm>
          <a:prstGeom prst="rect">
            <a:avLst/>
          </a:prstGeom>
          <a:noFill/>
        </p:spPr>
        <p:txBody>
          <a:bodyPr wrap="square" rtlCol="0">
            <a:spAutoFit/>
          </a:bodyPr>
          <a:lstStyle/>
          <a:p>
            <a:r>
              <a:rPr lang="en-US" altLang="zh-CN" dirty="0">
                <a:solidFill>
                  <a:srgbClr val="FFC000"/>
                </a:solidFill>
              </a:rPr>
              <a:t>22</a:t>
            </a:r>
            <a:endParaRPr lang="en-US" dirty="0">
              <a:solidFill>
                <a:srgbClr val="FFC000"/>
              </a:solidFill>
            </a:endParaRPr>
          </a:p>
        </p:txBody>
      </p:sp>
      <p:sp>
        <p:nvSpPr>
          <p:cNvPr id="84" name="TextBox 83"/>
          <p:cNvSpPr txBox="1"/>
          <p:nvPr/>
        </p:nvSpPr>
        <p:spPr>
          <a:xfrm>
            <a:off x="2911784" y="3417169"/>
            <a:ext cx="448894" cy="369332"/>
          </a:xfrm>
          <a:prstGeom prst="rect">
            <a:avLst/>
          </a:prstGeom>
          <a:noFill/>
        </p:spPr>
        <p:txBody>
          <a:bodyPr wrap="square" rtlCol="0">
            <a:spAutoFit/>
          </a:bodyPr>
          <a:lstStyle/>
          <a:p>
            <a:r>
              <a:rPr lang="en-US" altLang="zh-CN" dirty="0">
                <a:solidFill>
                  <a:srgbClr val="FFC000"/>
                </a:solidFill>
              </a:rPr>
              <a:t>30</a:t>
            </a:r>
            <a:endParaRPr lang="en-US" dirty="0">
              <a:solidFill>
                <a:srgbClr val="FFC000"/>
              </a:solidFill>
            </a:endParaRPr>
          </a:p>
        </p:txBody>
      </p:sp>
      <p:sp>
        <p:nvSpPr>
          <p:cNvPr id="85" name="TextBox 84"/>
          <p:cNvSpPr txBox="1"/>
          <p:nvPr/>
        </p:nvSpPr>
        <p:spPr>
          <a:xfrm>
            <a:off x="3559627" y="2899307"/>
            <a:ext cx="448894" cy="369332"/>
          </a:xfrm>
          <a:prstGeom prst="rect">
            <a:avLst/>
          </a:prstGeom>
          <a:noFill/>
        </p:spPr>
        <p:txBody>
          <a:bodyPr wrap="square" rtlCol="0">
            <a:spAutoFit/>
          </a:bodyPr>
          <a:lstStyle/>
          <a:p>
            <a:r>
              <a:rPr lang="en-US" altLang="zh-CN" dirty="0">
                <a:solidFill>
                  <a:srgbClr val="FFC000"/>
                </a:solidFill>
              </a:rPr>
              <a:t>41</a:t>
            </a:r>
            <a:endParaRPr lang="en-US" dirty="0">
              <a:solidFill>
                <a:srgbClr val="FFC000"/>
              </a:solidFill>
            </a:endParaRPr>
          </a:p>
        </p:txBody>
      </p:sp>
      <p:sp>
        <p:nvSpPr>
          <p:cNvPr id="86" name="TextBox 85"/>
          <p:cNvSpPr txBox="1"/>
          <p:nvPr/>
        </p:nvSpPr>
        <p:spPr>
          <a:xfrm>
            <a:off x="4133539" y="2397708"/>
            <a:ext cx="448894" cy="369332"/>
          </a:xfrm>
          <a:prstGeom prst="rect">
            <a:avLst/>
          </a:prstGeom>
          <a:noFill/>
        </p:spPr>
        <p:txBody>
          <a:bodyPr wrap="square" rtlCol="0">
            <a:spAutoFit/>
          </a:bodyPr>
          <a:lstStyle/>
          <a:p>
            <a:r>
              <a:rPr lang="en-US" altLang="zh-CN" dirty="0">
                <a:solidFill>
                  <a:srgbClr val="FFC000"/>
                </a:solidFill>
              </a:rPr>
              <a:t>59</a:t>
            </a:r>
            <a:endParaRPr lang="en-US" dirty="0">
              <a:solidFill>
                <a:srgbClr val="FFC000"/>
              </a:solidFill>
            </a:endParaRPr>
          </a:p>
        </p:txBody>
      </p:sp>
      <p:sp>
        <p:nvSpPr>
          <p:cNvPr id="87" name="TextBox 86"/>
          <p:cNvSpPr txBox="1"/>
          <p:nvPr/>
        </p:nvSpPr>
        <p:spPr>
          <a:xfrm>
            <a:off x="3360678" y="4312459"/>
            <a:ext cx="572967" cy="369332"/>
          </a:xfrm>
          <a:prstGeom prst="rect">
            <a:avLst/>
          </a:prstGeom>
          <a:noFill/>
        </p:spPr>
        <p:txBody>
          <a:bodyPr wrap="square" rtlCol="0">
            <a:spAutoFit/>
          </a:bodyPr>
          <a:lstStyle/>
          <a:p>
            <a:r>
              <a:rPr lang="en-US" altLang="zh-CN" dirty="0">
                <a:solidFill>
                  <a:srgbClr val="FF0000"/>
                </a:solidFill>
              </a:rPr>
              <a:t>16</a:t>
            </a:r>
            <a:endParaRPr lang="en-US" dirty="0">
              <a:solidFill>
                <a:srgbClr val="FF0000"/>
              </a:solidFill>
            </a:endParaRPr>
          </a:p>
        </p:txBody>
      </p:sp>
      <p:sp>
        <p:nvSpPr>
          <p:cNvPr id="88" name="TextBox 87"/>
          <p:cNvSpPr txBox="1"/>
          <p:nvPr/>
        </p:nvSpPr>
        <p:spPr>
          <a:xfrm>
            <a:off x="3440129" y="4571475"/>
            <a:ext cx="572967" cy="369332"/>
          </a:xfrm>
          <a:prstGeom prst="rect">
            <a:avLst/>
          </a:prstGeom>
          <a:noFill/>
        </p:spPr>
        <p:txBody>
          <a:bodyPr wrap="square" rtlCol="0">
            <a:spAutoFit/>
          </a:bodyPr>
          <a:lstStyle/>
          <a:p>
            <a:r>
              <a:rPr lang="en-US" altLang="zh-CN" dirty="0">
                <a:solidFill>
                  <a:srgbClr val="FF0000"/>
                </a:solidFill>
              </a:rPr>
              <a:t>22</a:t>
            </a:r>
            <a:endParaRPr lang="en-US" dirty="0">
              <a:solidFill>
                <a:srgbClr val="FF0000"/>
              </a:solidFill>
            </a:endParaRPr>
          </a:p>
        </p:txBody>
      </p:sp>
      <p:sp>
        <p:nvSpPr>
          <p:cNvPr id="89" name="TextBox 88"/>
          <p:cNvSpPr txBox="1"/>
          <p:nvPr/>
        </p:nvSpPr>
        <p:spPr>
          <a:xfrm>
            <a:off x="3560572" y="4882455"/>
            <a:ext cx="572967" cy="369332"/>
          </a:xfrm>
          <a:prstGeom prst="rect">
            <a:avLst/>
          </a:prstGeom>
          <a:noFill/>
        </p:spPr>
        <p:txBody>
          <a:bodyPr wrap="square" rtlCol="0">
            <a:spAutoFit/>
          </a:bodyPr>
          <a:lstStyle/>
          <a:p>
            <a:r>
              <a:rPr lang="en-US" altLang="zh-CN" dirty="0">
                <a:solidFill>
                  <a:srgbClr val="FF0000"/>
                </a:solidFill>
              </a:rPr>
              <a:t>30</a:t>
            </a:r>
            <a:endParaRPr lang="en-US" dirty="0">
              <a:solidFill>
                <a:srgbClr val="FF0000"/>
              </a:solidFill>
            </a:endParaRPr>
          </a:p>
        </p:txBody>
      </p:sp>
      <p:sp>
        <p:nvSpPr>
          <p:cNvPr id="90" name="TextBox 89"/>
          <p:cNvSpPr txBox="1"/>
          <p:nvPr/>
        </p:nvSpPr>
        <p:spPr>
          <a:xfrm>
            <a:off x="3647161" y="5207749"/>
            <a:ext cx="572967" cy="369332"/>
          </a:xfrm>
          <a:prstGeom prst="rect">
            <a:avLst/>
          </a:prstGeom>
          <a:noFill/>
        </p:spPr>
        <p:txBody>
          <a:bodyPr wrap="square" rtlCol="0">
            <a:spAutoFit/>
          </a:bodyPr>
          <a:lstStyle/>
          <a:p>
            <a:r>
              <a:rPr lang="en-US" altLang="zh-CN" dirty="0">
                <a:solidFill>
                  <a:srgbClr val="FF0000"/>
                </a:solidFill>
              </a:rPr>
              <a:t>41</a:t>
            </a:r>
            <a:endParaRPr lang="en-US" dirty="0">
              <a:solidFill>
                <a:srgbClr val="FF0000"/>
              </a:solidFill>
            </a:endParaRPr>
          </a:p>
        </p:txBody>
      </p:sp>
      <p:sp>
        <p:nvSpPr>
          <p:cNvPr id="91" name="TextBox 90"/>
          <p:cNvSpPr txBox="1"/>
          <p:nvPr/>
        </p:nvSpPr>
        <p:spPr>
          <a:xfrm>
            <a:off x="5417389" y="4312459"/>
            <a:ext cx="448573" cy="369332"/>
          </a:xfrm>
          <a:prstGeom prst="rect">
            <a:avLst/>
          </a:prstGeom>
          <a:noFill/>
        </p:spPr>
        <p:txBody>
          <a:bodyPr wrap="square" rtlCol="0">
            <a:spAutoFit/>
          </a:bodyPr>
          <a:lstStyle/>
          <a:p>
            <a:r>
              <a:rPr lang="en-US" altLang="zh-CN" dirty="0">
                <a:solidFill>
                  <a:srgbClr val="00B050"/>
                </a:solidFill>
              </a:rPr>
              <a:t>17</a:t>
            </a:r>
            <a:endParaRPr lang="en-US" dirty="0">
              <a:solidFill>
                <a:srgbClr val="00B050"/>
              </a:solidFill>
            </a:endParaRPr>
          </a:p>
        </p:txBody>
      </p:sp>
      <p:sp>
        <p:nvSpPr>
          <p:cNvPr id="92" name="TextBox 91"/>
          <p:cNvSpPr txBox="1"/>
          <p:nvPr/>
        </p:nvSpPr>
        <p:spPr>
          <a:xfrm>
            <a:off x="5413096" y="4681571"/>
            <a:ext cx="448573" cy="369332"/>
          </a:xfrm>
          <a:prstGeom prst="rect">
            <a:avLst/>
          </a:prstGeom>
          <a:noFill/>
        </p:spPr>
        <p:txBody>
          <a:bodyPr wrap="square" rtlCol="0">
            <a:spAutoFit/>
          </a:bodyPr>
          <a:lstStyle/>
          <a:p>
            <a:r>
              <a:rPr lang="en-US" altLang="zh-CN" dirty="0">
                <a:solidFill>
                  <a:srgbClr val="00B050"/>
                </a:solidFill>
              </a:rPr>
              <a:t>23</a:t>
            </a:r>
            <a:endParaRPr lang="en-US" dirty="0">
              <a:solidFill>
                <a:srgbClr val="00B050"/>
              </a:solidFill>
            </a:endParaRPr>
          </a:p>
        </p:txBody>
      </p:sp>
      <p:sp>
        <p:nvSpPr>
          <p:cNvPr id="93" name="TextBox 92"/>
          <p:cNvSpPr txBox="1"/>
          <p:nvPr/>
        </p:nvSpPr>
        <p:spPr>
          <a:xfrm>
            <a:off x="5861669" y="5120665"/>
            <a:ext cx="448573" cy="369332"/>
          </a:xfrm>
          <a:prstGeom prst="rect">
            <a:avLst/>
          </a:prstGeom>
          <a:noFill/>
        </p:spPr>
        <p:txBody>
          <a:bodyPr wrap="square" rtlCol="0">
            <a:spAutoFit/>
          </a:bodyPr>
          <a:lstStyle/>
          <a:p>
            <a:r>
              <a:rPr lang="en-US" altLang="zh-CN" dirty="0">
                <a:solidFill>
                  <a:srgbClr val="00B050"/>
                </a:solidFill>
              </a:rPr>
              <a:t>31</a:t>
            </a:r>
            <a:endParaRPr lang="en-US" dirty="0">
              <a:solidFill>
                <a:srgbClr val="00B050"/>
              </a:solidFill>
            </a:endParaRPr>
          </a:p>
        </p:txBody>
      </p:sp>
      <p:sp>
        <p:nvSpPr>
          <p:cNvPr id="94" name="TextBox 93"/>
          <p:cNvSpPr txBox="1"/>
          <p:nvPr/>
        </p:nvSpPr>
        <p:spPr>
          <a:xfrm>
            <a:off x="7453223" y="4282148"/>
            <a:ext cx="605770" cy="369332"/>
          </a:xfrm>
          <a:prstGeom prst="rect">
            <a:avLst/>
          </a:prstGeom>
          <a:noFill/>
        </p:spPr>
        <p:txBody>
          <a:bodyPr wrap="square" rtlCol="0">
            <a:spAutoFit/>
          </a:bodyPr>
          <a:lstStyle/>
          <a:p>
            <a:r>
              <a:rPr lang="en-US" altLang="zh-CN" dirty="0">
                <a:solidFill>
                  <a:srgbClr val="0070C0"/>
                </a:solidFill>
              </a:rPr>
              <a:t>17</a:t>
            </a:r>
            <a:endParaRPr lang="en-US" dirty="0">
              <a:solidFill>
                <a:srgbClr val="0070C0"/>
              </a:solidFill>
            </a:endParaRPr>
          </a:p>
        </p:txBody>
      </p:sp>
      <p:sp>
        <p:nvSpPr>
          <p:cNvPr id="95" name="TextBox 94"/>
          <p:cNvSpPr txBox="1"/>
          <p:nvPr/>
        </p:nvSpPr>
        <p:spPr>
          <a:xfrm>
            <a:off x="7350604" y="4738494"/>
            <a:ext cx="605770" cy="369332"/>
          </a:xfrm>
          <a:prstGeom prst="rect">
            <a:avLst/>
          </a:prstGeom>
          <a:noFill/>
        </p:spPr>
        <p:txBody>
          <a:bodyPr wrap="square" rtlCol="0">
            <a:spAutoFit/>
          </a:bodyPr>
          <a:lstStyle/>
          <a:p>
            <a:r>
              <a:rPr lang="en-US" altLang="zh-CN" dirty="0">
                <a:solidFill>
                  <a:srgbClr val="0070C0"/>
                </a:solidFill>
              </a:rPr>
              <a:t>23</a:t>
            </a:r>
            <a:endParaRPr lang="en-US" dirty="0">
              <a:solidFill>
                <a:srgbClr val="0070C0"/>
              </a:solidFill>
            </a:endParaRPr>
          </a:p>
        </p:txBody>
      </p:sp>
      <p:sp>
        <p:nvSpPr>
          <p:cNvPr id="96" name="TextBox 95"/>
          <p:cNvSpPr txBox="1"/>
          <p:nvPr/>
        </p:nvSpPr>
        <p:spPr>
          <a:xfrm>
            <a:off x="9390883" y="4226374"/>
            <a:ext cx="715992" cy="369332"/>
          </a:xfrm>
          <a:prstGeom prst="rect">
            <a:avLst/>
          </a:prstGeom>
          <a:noFill/>
        </p:spPr>
        <p:txBody>
          <a:bodyPr wrap="square" rtlCol="0">
            <a:spAutoFit/>
          </a:bodyPr>
          <a:lstStyle/>
          <a:p>
            <a:r>
              <a:rPr lang="en-US" altLang="zh-CN" dirty="0">
                <a:solidFill>
                  <a:srgbClr val="7030A0"/>
                </a:solidFill>
              </a:rPr>
              <a:t>18</a:t>
            </a:r>
            <a:endParaRPr lang="en-US" dirty="0">
              <a:solidFill>
                <a:srgbClr val="7030A0"/>
              </a:solidFill>
            </a:endParaRPr>
          </a:p>
        </p:txBody>
      </p:sp>
      <p:sp>
        <p:nvSpPr>
          <p:cNvPr id="98" name="TextBox 97"/>
          <p:cNvSpPr txBox="1"/>
          <p:nvPr/>
        </p:nvSpPr>
        <p:spPr>
          <a:xfrm>
            <a:off x="2627685" y="4196174"/>
            <a:ext cx="848634" cy="369332"/>
          </a:xfrm>
          <a:prstGeom prst="rect">
            <a:avLst/>
          </a:prstGeom>
          <a:noFill/>
        </p:spPr>
        <p:txBody>
          <a:bodyPr wrap="square" rtlCol="0">
            <a:spAutoFit/>
          </a:bodyPr>
          <a:lstStyle/>
          <a:p>
            <a:r>
              <a:rPr lang="en-US" dirty="0"/>
              <a:t>(16,1)</a:t>
            </a:r>
            <a:endParaRPr lang="en-US" dirty="0"/>
          </a:p>
        </p:txBody>
      </p:sp>
      <p:sp>
        <p:nvSpPr>
          <p:cNvPr id="99" name="TextBox 98"/>
          <p:cNvSpPr txBox="1"/>
          <p:nvPr/>
        </p:nvSpPr>
        <p:spPr>
          <a:xfrm>
            <a:off x="4651301" y="4116194"/>
            <a:ext cx="848634" cy="369332"/>
          </a:xfrm>
          <a:prstGeom prst="rect">
            <a:avLst/>
          </a:prstGeom>
          <a:noFill/>
        </p:spPr>
        <p:txBody>
          <a:bodyPr wrap="square" rtlCol="0">
            <a:spAutoFit/>
          </a:bodyPr>
          <a:lstStyle/>
          <a:p>
            <a:r>
              <a:rPr lang="en-US" dirty="0"/>
              <a:t>(22,1)</a:t>
            </a:r>
            <a:endParaRPr lang="en-US" dirty="0"/>
          </a:p>
        </p:txBody>
      </p:sp>
      <p:sp>
        <p:nvSpPr>
          <p:cNvPr id="100" name="TextBox 99"/>
          <p:cNvSpPr txBox="1"/>
          <p:nvPr/>
        </p:nvSpPr>
        <p:spPr>
          <a:xfrm>
            <a:off x="6657108" y="4089605"/>
            <a:ext cx="848634" cy="369332"/>
          </a:xfrm>
          <a:prstGeom prst="rect">
            <a:avLst/>
          </a:prstGeom>
          <a:noFill/>
        </p:spPr>
        <p:txBody>
          <a:bodyPr wrap="square" rtlCol="0">
            <a:spAutoFit/>
          </a:bodyPr>
          <a:lstStyle/>
          <a:p>
            <a:r>
              <a:rPr lang="en-US" dirty="0"/>
              <a:t>(30,1)</a:t>
            </a:r>
            <a:endParaRPr lang="en-US" dirty="0"/>
          </a:p>
        </p:txBody>
      </p:sp>
      <p:sp>
        <p:nvSpPr>
          <p:cNvPr id="101" name="TextBox 100"/>
          <p:cNvSpPr txBox="1"/>
          <p:nvPr/>
        </p:nvSpPr>
        <p:spPr>
          <a:xfrm>
            <a:off x="8474815" y="4114411"/>
            <a:ext cx="848634" cy="369332"/>
          </a:xfrm>
          <a:prstGeom prst="rect">
            <a:avLst/>
          </a:prstGeom>
          <a:noFill/>
        </p:spPr>
        <p:txBody>
          <a:bodyPr wrap="square" rtlCol="0">
            <a:spAutoFit/>
          </a:bodyPr>
          <a:lstStyle/>
          <a:p>
            <a:r>
              <a:rPr lang="en-US" dirty="0"/>
              <a:t>(41,1)</a:t>
            </a:r>
            <a:endParaRPr lang="en-US" dirty="0"/>
          </a:p>
        </p:txBody>
      </p:sp>
      <p:sp>
        <p:nvSpPr>
          <p:cNvPr id="102" name="TextBox 101"/>
          <p:cNvSpPr txBox="1"/>
          <p:nvPr/>
        </p:nvSpPr>
        <p:spPr>
          <a:xfrm>
            <a:off x="11110375" y="4697789"/>
            <a:ext cx="848634" cy="369332"/>
          </a:xfrm>
          <a:prstGeom prst="rect">
            <a:avLst/>
          </a:prstGeom>
          <a:noFill/>
        </p:spPr>
        <p:txBody>
          <a:bodyPr wrap="square" rtlCol="0">
            <a:spAutoFit/>
          </a:bodyPr>
          <a:lstStyle/>
          <a:p>
            <a:r>
              <a:rPr lang="en-US" dirty="0"/>
              <a:t>(53,4)</a:t>
            </a:r>
            <a:endParaRPr lang="en-US" dirty="0"/>
          </a:p>
        </p:txBody>
      </p:sp>
      <p:sp>
        <p:nvSpPr>
          <p:cNvPr id="103" name="TextBox 102"/>
          <p:cNvSpPr txBox="1"/>
          <p:nvPr/>
        </p:nvSpPr>
        <p:spPr>
          <a:xfrm>
            <a:off x="11063535" y="4114866"/>
            <a:ext cx="848634" cy="369332"/>
          </a:xfrm>
          <a:prstGeom prst="rect">
            <a:avLst/>
          </a:prstGeom>
          <a:noFill/>
        </p:spPr>
        <p:txBody>
          <a:bodyPr wrap="square" rtlCol="0">
            <a:spAutoFit/>
          </a:bodyPr>
          <a:lstStyle/>
          <a:p>
            <a:r>
              <a:rPr lang="en-US" dirty="0"/>
              <a:t>(53,3)</a:t>
            </a:r>
            <a:endParaRPr lang="en-US" dirty="0"/>
          </a:p>
        </p:txBody>
      </p:sp>
      <p:sp>
        <p:nvSpPr>
          <p:cNvPr id="51" name="TextBox 97"/>
          <p:cNvSpPr txBox="1"/>
          <p:nvPr/>
        </p:nvSpPr>
        <p:spPr>
          <a:xfrm>
            <a:off x="683624" y="4114411"/>
            <a:ext cx="848634" cy="369332"/>
          </a:xfrm>
          <a:prstGeom prst="rect">
            <a:avLst/>
          </a:prstGeom>
          <a:noFill/>
        </p:spPr>
        <p:txBody>
          <a:bodyPr wrap="square" rtlCol="0">
            <a:spAutoFit/>
          </a:bodyPr>
          <a:lstStyle/>
          <a:p>
            <a:r>
              <a:rPr lang="en-US" dirty="0"/>
              <a:t>(0,1)</a:t>
            </a:r>
            <a:endParaRPr lang="en-US" dirty="0"/>
          </a:p>
        </p:txBody>
      </p:sp>
      <p:sp>
        <p:nvSpPr>
          <p:cNvPr id="2" name="标题 1"/>
          <p:cNvSpPr>
            <a:spLocks noGrp="1"/>
          </p:cNvSpPr>
          <p:nvPr>
            <p:ph type="title"/>
          </p:nvPr>
        </p:nvSpPr>
        <p:spPr/>
        <p:txBody>
          <a:bodyPr/>
          <a:lstStyle/>
          <a:p>
            <a:r>
              <a:rPr lang="zh-CN" altLang="en-US" dirty="0"/>
              <a:t>最短路径问题应用</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par>
                                <p:cTn id="8" presetID="9"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dissolve">
                                      <p:cBhvr>
                                        <p:cTn id="10" dur="500"/>
                                        <p:tgtEl>
                                          <p:spTgt spid="28"/>
                                        </p:tgtEl>
                                      </p:cBhvr>
                                    </p:animEffect>
                                  </p:childTnLst>
                                </p:cTn>
                              </p:par>
                              <p:par>
                                <p:cTn id="11" presetID="9"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dissolve">
                                      <p:cBhvr>
                                        <p:cTn id="13" dur="500"/>
                                        <p:tgtEl>
                                          <p:spTgt spid="30"/>
                                        </p:tgtEl>
                                      </p:cBhvr>
                                    </p:animEffect>
                                  </p:childTnLst>
                                </p:cTn>
                              </p:par>
                              <p:par>
                                <p:cTn id="14" presetID="9"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dissolve">
                                      <p:cBhvr>
                                        <p:cTn id="16" dur="500"/>
                                        <p:tgtEl>
                                          <p:spTgt spid="33"/>
                                        </p:tgtEl>
                                      </p:cBhvr>
                                    </p:animEffect>
                                  </p:childTnLst>
                                </p:cTn>
                              </p:par>
                              <p:par>
                                <p:cTn id="17" presetID="9" presetClass="entr" presetSubtype="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dissolve">
                                      <p:cBhvr>
                                        <p:cTn id="19" dur="500"/>
                                        <p:tgtEl>
                                          <p:spTgt spid="39"/>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83"/>
                                        </p:tgtEl>
                                        <p:attrNameLst>
                                          <p:attrName>style.visibility</p:attrName>
                                        </p:attrNameLst>
                                      </p:cBhvr>
                                      <p:to>
                                        <p:strVal val="visible"/>
                                      </p:to>
                                    </p:set>
                                    <p:animEffect transition="in" filter="blinds(horizontal)">
                                      <p:cBhvr>
                                        <p:cTn id="22" dur="500"/>
                                        <p:tgtEl>
                                          <p:spTgt spid="8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82"/>
                                        </p:tgtEl>
                                        <p:attrNameLst>
                                          <p:attrName>style.visibility</p:attrName>
                                        </p:attrNameLst>
                                      </p:cBhvr>
                                      <p:to>
                                        <p:strVal val="visible"/>
                                      </p:to>
                                    </p:set>
                                    <p:animEffect transition="in" filter="blinds(horizontal)">
                                      <p:cBhvr>
                                        <p:cTn id="25" dur="500"/>
                                        <p:tgtEl>
                                          <p:spTgt spid="8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84"/>
                                        </p:tgtEl>
                                        <p:attrNameLst>
                                          <p:attrName>style.visibility</p:attrName>
                                        </p:attrNameLst>
                                      </p:cBhvr>
                                      <p:to>
                                        <p:strVal val="visible"/>
                                      </p:to>
                                    </p:set>
                                    <p:animEffect transition="in" filter="blinds(horizontal)">
                                      <p:cBhvr>
                                        <p:cTn id="28" dur="500"/>
                                        <p:tgtEl>
                                          <p:spTgt spid="84"/>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animEffect transition="in" filter="blinds(horizontal)">
                                      <p:cBhvr>
                                        <p:cTn id="31" dur="500"/>
                                        <p:tgtEl>
                                          <p:spTgt spid="85"/>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86"/>
                                        </p:tgtEl>
                                        <p:attrNameLst>
                                          <p:attrName>style.visibility</p:attrName>
                                        </p:attrNameLst>
                                      </p:cBhvr>
                                      <p:to>
                                        <p:strVal val="visible"/>
                                      </p:to>
                                    </p:set>
                                    <p:animEffect transition="in" filter="blinds(horizontal)">
                                      <p:cBhvr>
                                        <p:cTn id="34" dur="500"/>
                                        <p:tgtEl>
                                          <p:spTgt spid="86"/>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87"/>
                                        </p:tgtEl>
                                        <p:attrNameLst>
                                          <p:attrName>style.visibility</p:attrName>
                                        </p:attrNameLst>
                                      </p:cBhvr>
                                      <p:to>
                                        <p:strVal val="visible"/>
                                      </p:to>
                                    </p:set>
                                    <p:animEffect transition="in" filter="dissolve">
                                      <p:cBhvr>
                                        <p:cTn id="37" dur="500"/>
                                        <p:tgtEl>
                                          <p:spTgt spid="87"/>
                                        </p:tgtEl>
                                      </p:cBhvr>
                                    </p:animEffect>
                                  </p:childTnLst>
                                </p:cTn>
                              </p:par>
                              <p:par>
                                <p:cTn id="38" presetID="9" presetClass="entr" presetSubtype="0" fill="hold"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dissolve">
                                      <p:cBhvr>
                                        <p:cTn id="40" dur="500"/>
                                        <p:tgtEl>
                                          <p:spTgt spid="45"/>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88"/>
                                        </p:tgtEl>
                                        <p:attrNameLst>
                                          <p:attrName>style.visibility</p:attrName>
                                        </p:attrNameLst>
                                      </p:cBhvr>
                                      <p:to>
                                        <p:strVal val="visible"/>
                                      </p:to>
                                    </p:set>
                                    <p:animEffect transition="in" filter="dissolve">
                                      <p:cBhvr>
                                        <p:cTn id="43" dur="500"/>
                                        <p:tgtEl>
                                          <p:spTgt spid="88"/>
                                        </p:tgtEl>
                                      </p:cBhvr>
                                    </p:animEffect>
                                  </p:childTnLst>
                                </p:cTn>
                              </p:par>
                              <p:par>
                                <p:cTn id="44" presetID="9" presetClass="entr" presetSubtype="0" fill="hold" nodeType="with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dissolve">
                                      <p:cBhvr>
                                        <p:cTn id="46" dur="500"/>
                                        <p:tgtEl>
                                          <p:spTgt spid="47"/>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89"/>
                                        </p:tgtEl>
                                        <p:attrNameLst>
                                          <p:attrName>style.visibility</p:attrName>
                                        </p:attrNameLst>
                                      </p:cBhvr>
                                      <p:to>
                                        <p:strVal val="visible"/>
                                      </p:to>
                                    </p:set>
                                    <p:animEffect transition="in" filter="dissolve">
                                      <p:cBhvr>
                                        <p:cTn id="49" dur="500"/>
                                        <p:tgtEl>
                                          <p:spTgt spid="89"/>
                                        </p:tgtEl>
                                      </p:cBhvr>
                                    </p:animEffect>
                                  </p:childTnLst>
                                </p:cTn>
                              </p:par>
                              <p:par>
                                <p:cTn id="50" presetID="9" presetClass="entr" presetSubtype="0" fill="hold" nodeType="with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dissolve">
                                      <p:cBhvr>
                                        <p:cTn id="52" dur="500"/>
                                        <p:tgtEl>
                                          <p:spTgt spid="49"/>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90"/>
                                        </p:tgtEl>
                                        <p:attrNameLst>
                                          <p:attrName>style.visibility</p:attrName>
                                        </p:attrNameLst>
                                      </p:cBhvr>
                                      <p:to>
                                        <p:strVal val="visible"/>
                                      </p:to>
                                    </p:set>
                                    <p:animEffect transition="in" filter="dissolve">
                                      <p:cBhvr>
                                        <p:cTn id="55" dur="500"/>
                                        <p:tgtEl>
                                          <p:spTgt spid="90"/>
                                        </p:tgtEl>
                                      </p:cBhvr>
                                    </p:animEffect>
                                  </p:childTnLst>
                                </p:cTn>
                              </p:par>
                              <p:par>
                                <p:cTn id="56" presetID="9" presetClass="entr" presetSubtype="0" fill="hold" nodeType="with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dissolve">
                                      <p:cBhvr>
                                        <p:cTn id="58" dur="500"/>
                                        <p:tgtEl>
                                          <p:spTgt spid="53"/>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93"/>
                                        </p:tgtEl>
                                        <p:attrNameLst>
                                          <p:attrName>style.visibility</p:attrName>
                                        </p:attrNameLst>
                                      </p:cBhvr>
                                      <p:to>
                                        <p:strVal val="visible"/>
                                      </p:to>
                                    </p:set>
                                    <p:animEffect transition="in" filter="dissolve">
                                      <p:cBhvr>
                                        <p:cTn id="61" dur="500"/>
                                        <p:tgtEl>
                                          <p:spTgt spid="93"/>
                                        </p:tgtEl>
                                      </p:cBhvr>
                                    </p:animEffect>
                                  </p:childTnLst>
                                </p:cTn>
                              </p:par>
                              <p:par>
                                <p:cTn id="62" presetID="9" presetClass="entr" presetSubtype="0" fill="hold" nodeType="with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dissolve">
                                      <p:cBhvr>
                                        <p:cTn id="64" dur="500"/>
                                        <p:tgtEl>
                                          <p:spTgt spid="61"/>
                                        </p:tgtEl>
                                      </p:cBhvr>
                                    </p:animEffect>
                                  </p:childTnLst>
                                </p:cTn>
                              </p:par>
                              <p:par>
                                <p:cTn id="65" presetID="9" presetClass="entr" presetSubtype="0" fill="hold" nodeType="withEffect">
                                  <p:stCondLst>
                                    <p:cond delay="0"/>
                                  </p:stCondLst>
                                  <p:childTnLst>
                                    <p:set>
                                      <p:cBhvr>
                                        <p:cTn id="66" dur="1" fill="hold">
                                          <p:stCondLst>
                                            <p:cond delay="0"/>
                                          </p:stCondLst>
                                        </p:cTn>
                                        <p:tgtEl>
                                          <p:spTgt spid="58"/>
                                        </p:tgtEl>
                                        <p:attrNameLst>
                                          <p:attrName>style.visibility</p:attrName>
                                        </p:attrNameLst>
                                      </p:cBhvr>
                                      <p:to>
                                        <p:strVal val="visible"/>
                                      </p:to>
                                    </p:set>
                                    <p:animEffect transition="in" filter="dissolve">
                                      <p:cBhvr>
                                        <p:cTn id="67" dur="500"/>
                                        <p:tgtEl>
                                          <p:spTgt spid="58"/>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92"/>
                                        </p:tgtEl>
                                        <p:attrNameLst>
                                          <p:attrName>style.visibility</p:attrName>
                                        </p:attrNameLst>
                                      </p:cBhvr>
                                      <p:to>
                                        <p:strVal val="visible"/>
                                      </p:to>
                                    </p:set>
                                    <p:animEffect transition="in" filter="dissolve">
                                      <p:cBhvr>
                                        <p:cTn id="70" dur="500"/>
                                        <p:tgtEl>
                                          <p:spTgt spid="92"/>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91"/>
                                        </p:tgtEl>
                                        <p:attrNameLst>
                                          <p:attrName>style.visibility</p:attrName>
                                        </p:attrNameLst>
                                      </p:cBhvr>
                                      <p:to>
                                        <p:strVal val="visible"/>
                                      </p:to>
                                    </p:set>
                                    <p:animEffect transition="in" filter="dissolve">
                                      <p:cBhvr>
                                        <p:cTn id="73" dur="500"/>
                                        <p:tgtEl>
                                          <p:spTgt spid="91"/>
                                        </p:tgtEl>
                                      </p:cBhvr>
                                    </p:animEffect>
                                  </p:childTnLst>
                                </p:cTn>
                              </p:par>
                              <p:par>
                                <p:cTn id="74" presetID="9" presetClass="entr" presetSubtype="0" fill="hold" nodeType="withEffect">
                                  <p:stCondLst>
                                    <p:cond delay="0"/>
                                  </p:stCondLst>
                                  <p:childTnLst>
                                    <p:set>
                                      <p:cBhvr>
                                        <p:cTn id="75" dur="1" fill="hold">
                                          <p:stCondLst>
                                            <p:cond delay="0"/>
                                          </p:stCondLst>
                                        </p:cTn>
                                        <p:tgtEl>
                                          <p:spTgt spid="56"/>
                                        </p:tgtEl>
                                        <p:attrNameLst>
                                          <p:attrName>style.visibility</p:attrName>
                                        </p:attrNameLst>
                                      </p:cBhvr>
                                      <p:to>
                                        <p:strVal val="visible"/>
                                      </p:to>
                                    </p:set>
                                    <p:animEffect transition="in" filter="dissolve">
                                      <p:cBhvr>
                                        <p:cTn id="76" dur="500"/>
                                        <p:tgtEl>
                                          <p:spTgt spid="56"/>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94"/>
                                        </p:tgtEl>
                                        <p:attrNameLst>
                                          <p:attrName>style.visibility</p:attrName>
                                        </p:attrNameLst>
                                      </p:cBhvr>
                                      <p:to>
                                        <p:strVal val="visible"/>
                                      </p:to>
                                    </p:set>
                                    <p:animEffect transition="in" filter="dissolve">
                                      <p:cBhvr>
                                        <p:cTn id="79" dur="500"/>
                                        <p:tgtEl>
                                          <p:spTgt spid="94"/>
                                        </p:tgtEl>
                                      </p:cBhvr>
                                    </p:animEffect>
                                  </p:childTnLst>
                                </p:cTn>
                              </p:par>
                              <p:par>
                                <p:cTn id="80" presetID="9" presetClass="entr" presetSubtype="0" fill="hold" nodeType="withEffect">
                                  <p:stCondLst>
                                    <p:cond delay="0"/>
                                  </p:stCondLst>
                                  <p:childTnLst>
                                    <p:set>
                                      <p:cBhvr>
                                        <p:cTn id="81" dur="1" fill="hold">
                                          <p:stCondLst>
                                            <p:cond delay="0"/>
                                          </p:stCondLst>
                                        </p:cTn>
                                        <p:tgtEl>
                                          <p:spTgt spid="64"/>
                                        </p:tgtEl>
                                        <p:attrNameLst>
                                          <p:attrName>style.visibility</p:attrName>
                                        </p:attrNameLst>
                                      </p:cBhvr>
                                      <p:to>
                                        <p:strVal val="visible"/>
                                      </p:to>
                                    </p:set>
                                    <p:animEffect transition="in" filter="dissolve">
                                      <p:cBhvr>
                                        <p:cTn id="82" dur="500"/>
                                        <p:tgtEl>
                                          <p:spTgt spid="64"/>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95"/>
                                        </p:tgtEl>
                                        <p:attrNameLst>
                                          <p:attrName>style.visibility</p:attrName>
                                        </p:attrNameLst>
                                      </p:cBhvr>
                                      <p:to>
                                        <p:strVal val="visible"/>
                                      </p:to>
                                    </p:set>
                                    <p:animEffect transition="in" filter="dissolve">
                                      <p:cBhvr>
                                        <p:cTn id="85" dur="500"/>
                                        <p:tgtEl>
                                          <p:spTgt spid="95"/>
                                        </p:tgtEl>
                                      </p:cBhvr>
                                    </p:animEffect>
                                  </p:childTnLst>
                                </p:cTn>
                              </p:par>
                              <p:par>
                                <p:cTn id="86" presetID="9" presetClass="entr" presetSubtype="0" fill="hold" nodeType="withEffect">
                                  <p:stCondLst>
                                    <p:cond delay="0"/>
                                  </p:stCondLst>
                                  <p:childTnLst>
                                    <p:set>
                                      <p:cBhvr>
                                        <p:cTn id="87" dur="1" fill="hold">
                                          <p:stCondLst>
                                            <p:cond delay="0"/>
                                          </p:stCondLst>
                                        </p:cTn>
                                        <p:tgtEl>
                                          <p:spTgt spid="66"/>
                                        </p:tgtEl>
                                        <p:attrNameLst>
                                          <p:attrName>style.visibility</p:attrName>
                                        </p:attrNameLst>
                                      </p:cBhvr>
                                      <p:to>
                                        <p:strVal val="visible"/>
                                      </p:to>
                                    </p:set>
                                    <p:animEffect transition="in" filter="dissolve">
                                      <p:cBhvr>
                                        <p:cTn id="88" dur="500"/>
                                        <p:tgtEl>
                                          <p:spTgt spid="66"/>
                                        </p:tgtEl>
                                      </p:cBhvr>
                                    </p:animEffect>
                                  </p:childTnLst>
                                </p:cTn>
                              </p:par>
                              <p:par>
                                <p:cTn id="89" presetID="9" presetClass="entr" presetSubtype="0" fill="hold" nodeType="withEffect">
                                  <p:stCondLst>
                                    <p:cond delay="0"/>
                                  </p:stCondLst>
                                  <p:childTnLst>
                                    <p:set>
                                      <p:cBhvr>
                                        <p:cTn id="90" dur="1" fill="hold">
                                          <p:stCondLst>
                                            <p:cond delay="0"/>
                                          </p:stCondLst>
                                        </p:cTn>
                                        <p:tgtEl>
                                          <p:spTgt spid="69"/>
                                        </p:tgtEl>
                                        <p:attrNameLst>
                                          <p:attrName>style.visibility</p:attrName>
                                        </p:attrNameLst>
                                      </p:cBhvr>
                                      <p:to>
                                        <p:strVal val="visible"/>
                                      </p:to>
                                    </p:set>
                                    <p:animEffect transition="in" filter="dissolve">
                                      <p:cBhvr>
                                        <p:cTn id="91" dur="500"/>
                                        <p:tgtEl>
                                          <p:spTgt spid="69"/>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96"/>
                                        </p:tgtEl>
                                        <p:attrNameLst>
                                          <p:attrName>style.visibility</p:attrName>
                                        </p:attrNameLst>
                                      </p:cBhvr>
                                      <p:to>
                                        <p:strVal val="visible"/>
                                      </p:to>
                                    </p:set>
                                    <p:animEffect transition="in" filter="dissolve">
                                      <p:cBhvr>
                                        <p:cTn id="94" dur="500"/>
                                        <p:tgtEl>
                                          <p:spTgt spid="96"/>
                                        </p:tgtEl>
                                      </p:cBhvr>
                                    </p:animEffect>
                                  </p:childTnLst>
                                </p:cTn>
                              </p:par>
                            </p:childTnLst>
                          </p:cTn>
                        </p:par>
                      </p:childTnLst>
                    </p:cTn>
                  </p:par>
                  <p:par>
                    <p:cTn id="95" fill="hold">
                      <p:stCondLst>
                        <p:cond delay="indefinite"/>
                      </p:stCondLst>
                      <p:childTnLst>
                        <p:par>
                          <p:cTn id="96" fill="hold">
                            <p:stCondLst>
                              <p:cond delay="0"/>
                            </p:stCondLst>
                            <p:childTnLst>
                              <p:par>
                                <p:cTn id="97" presetID="9" presetClass="entr" presetSubtype="0" fill="hold" grpId="0" nodeType="clickEffect">
                                  <p:stCondLst>
                                    <p:cond delay="0"/>
                                  </p:stCondLst>
                                  <p:childTnLst>
                                    <p:set>
                                      <p:cBhvr>
                                        <p:cTn id="98" dur="1" fill="hold">
                                          <p:stCondLst>
                                            <p:cond delay="0"/>
                                          </p:stCondLst>
                                        </p:cTn>
                                        <p:tgtEl>
                                          <p:spTgt spid="51"/>
                                        </p:tgtEl>
                                        <p:attrNameLst>
                                          <p:attrName>style.visibility</p:attrName>
                                        </p:attrNameLst>
                                      </p:cBhvr>
                                      <p:to>
                                        <p:strVal val="visible"/>
                                      </p:to>
                                    </p:set>
                                    <p:animEffect transition="in" filter="dissolve">
                                      <p:cBhvr>
                                        <p:cTn id="99" dur="500"/>
                                        <p:tgtEl>
                                          <p:spTgt spid="51"/>
                                        </p:tgtEl>
                                      </p:cBhvr>
                                    </p:animEffect>
                                  </p:childTnLst>
                                </p:cTn>
                              </p:par>
                            </p:childTnLst>
                          </p:cTn>
                        </p:par>
                      </p:childTnLst>
                    </p:cTn>
                  </p:par>
                  <p:par>
                    <p:cTn id="100" fill="hold">
                      <p:stCondLst>
                        <p:cond delay="indefinite"/>
                      </p:stCondLst>
                      <p:childTnLst>
                        <p:par>
                          <p:cTn id="101" fill="hold">
                            <p:stCondLst>
                              <p:cond delay="0"/>
                            </p:stCondLst>
                            <p:childTnLst>
                              <p:par>
                                <p:cTn id="102" presetID="9" presetClass="entr" presetSubtype="0" fill="hold" grpId="0" nodeType="clickEffect">
                                  <p:stCondLst>
                                    <p:cond delay="0"/>
                                  </p:stCondLst>
                                  <p:childTnLst>
                                    <p:set>
                                      <p:cBhvr>
                                        <p:cTn id="103" dur="1" fill="hold">
                                          <p:stCondLst>
                                            <p:cond delay="0"/>
                                          </p:stCondLst>
                                        </p:cTn>
                                        <p:tgtEl>
                                          <p:spTgt spid="98"/>
                                        </p:tgtEl>
                                        <p:attrNameLst>
                                          <p:attrName>style.visibility</p:attrName>
                                        </p:attrNameLst>
                                      </p:cBhvr>
                                      <p:to>
                                        <p:strVal val="visible"/>
                                      </p:to>
                                    </p:set>
                                    <p:animEffect transition="in" filter="dissolve">
                                      <p:cBhvr>
                                        <p:cTn id="104" dur="500"/>
                                        <p:tgtEl>
                                          <p:spTgt spid="98"/>
                                        </p:tgtEl>
                                      </p:cBhvr>
                                    </p:animEffect>
                                  </p:childTnLst>
                                </p:cTn>
                              </p:par>
                            </p:childTnLst>
                          </p:cTn>
                        </p:par>
                      </p:childTnLst>
                    </p:cTn>
                  </p:par>
                  <p:par>
                    <p:cTn id="105" fill="hold">
                      <p:stCondLst>
                        <p:cond delay="indefinite"/>
                      </p:stCondLst>
                      <p:childTnLst>
                        <p:par>
                          <p:cTn id="106" fill="hold">
                            <p:stCondLst>
                              <p:cond delay="0"/>
                            </p:stCondLst>
                            <p:childTnLst>
                              <p:par>
                                <p:cTn id="107" presetID="9" presetClass="entr" presetSubtype="0" fill="hold" grpId="0" nodeType="clickEffect">
                                  <p:stCondLst>
                                    <p:cond delay="0"/>
                                  </p:stCondLst>
                                  <p:childTnLst>
                                    <p:set>
                                      <p:cBhvr>
                                        <p:cTn id="108" dur="1" fill="hold">
                                          <p:stCondLst>
                                            <p:cond delay="0"/>
                                          </p:stCondLst>
                                        </p:cTn>
                                        <p:tgtEl>
                                          <p:spTgt spid="99"/>
                                        </p:tgtEl>
                                        <p:attrNameLst>
                                          <p:attrName>style.visibility</p:attrName>
                                        </p:attrNameLst>
                                      </p:cBhvr>
                                      <p:to>
                                        <p:strVal val="visible"/>
                                      </p:to>
                                    </p:set>
                                    <p:animEffect transition="in" filter="dissolve">
                                      <p:cBhvr>
                                        <p:cTn id="109" dur="500"/>
                                        <p:tgtEl>
                                          <p:spTgt spid="99"/>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grpId="0" nodeType="clickEffect">
                                  <p:stCondLst>
                                    <p:cond delay="0"/>
                                  </p:stCondLst>
                                  <p:childTnLst>
                                    <p:set>
                                      <p:cBhvr>
                                        <p:cTn id="113" dur="1" fill="hold">
                                          <p:stCondLst>
                                            <p:cond delay="0"/>
                                          </p:stCondLst>
                                        </p:cTn>
                                        <p:tgtEl>
                                          <p:spTgt spid="100"/>
                                        </p:tgtEl>
                                        <p:attrNameLst>
                                          <p:attrName>style.visibility</p:attrName>
                                        </p:attrNameLst>
                                      </p:cBhvr>
                                      <p:to>
                                        <p:strVal val="visible"/>
                                      </p:to>
                                    </p:set>
                                    <p:animEffect transition="in" filter="dissolve">
                                      <p:cBhvr>
                                        <p:cTn id="114" dur="500"/>
                                        <p:tgtEl>
                                          <p:spTgt spid="100"/>
                                        </p:tgtEl>
                                      </p:cBhvr>
                                    </p:animEffect>
                                  </p:childTnLst>
                                </p:cTn>
                              </p:par>
                            </p:childTnLst>
                          </p:cTn>
                        </p:par>
                      </p:childTnLst>
                    </p:cTn>
                  </p:par>
                  <p:par>
                    <p:cTn id="115" fill="hold">
                      <p:stCondLst>
                        <p:cond delay="indefinite"/>
                      </p:stCondLst>
                      <p:childTnLst>
                        <p:par>
                          <p:cTn id="116" fill="hold">
                            <p:stCondLst>
                              <p:cond delay="0"/>
                            </p:stCondLst>
                            <p:childTnLst>
                              <p:par>
                                <p:cTn id="117" presetID="9" presetClass="entr" presetSubtype="0" fill="hold" grpId="0" nodeType="clickEffect">
                                  <p:stCondLst>
                                    <p:cond delay="0"/>
                                  </p:stCondLst>
                                  <p:childTnLst>
                                    <p:set>
                                      <p:cBhvr>
                                        <p:cTn id="118" dur="1" fill="hold">
                                          <p:stCondLst>
                                            <p:cond delay="0"/>
                                          </p:stCondLst>
                                        </p:cTn>
                                        <p:tgtEl>
                                          <p:spTgt spid="101"/>
                                        </p:tgtEl>
                                        <p:attrNameLst>
                                          <p:attrName>style.visibility</p:attrName>
                                        </p:attrNameLst>
                                      </p:cBhvr>
                                      <p:to>
                                        <p:strVal val="visible"/>
                                      </p:to>
                                    </p:set>
                                    <p:animEffect transition="in" filter="dissolve">
                                      <p:cBhvr>
                                        <p:cTn id="119" dur="500"/>
                                        <p:tgtEl>
                                          <p:spTgt spid="101"/>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ntr" presetSubtype="0" fill="hold" grpId="0" nodeType="clickEffect">
                                  <p:stCondLst>
                                    <p:cond delay="0"/>
                                  </p:stCondLst>
                                  <p:childTnLst>
                                    <p:set>
                                      <p:cBhvr>
                                        <p:cTn id="123" dur="1" fill="hold">
                                          <p:stCondLst>
                                            <p:cond delay="0"/>
                                          </p:stCondLst>
                                        </p:cTn>
                                        <p:tgtEl>
                                          <p:spTgt spid="102"/>
                                        </p:tgtEl>
                                        <p:attrNameLst>
                                          <p:attrName>style.visibility</p:attrName>
                                        </p:attrNameLst>
                                      </p:cBhvr>
                                      <p:to>
                                        <p:strVal val="visible"/>
                                      </p:to>
                                    </p:set>
                                    <p:animEffect transition="in" filter="dissolve">
                                      <p:cBhvr>
                                        <p:cTn id="124" dur="500"/>
                                        <p:tgtEl>
                                          <p:spTgt spid="102"/>
                                        </p:tgtEl>
                                      </p:cBhvr>
                                    </p:animEffect>
                                  </p:childTnLst>
                                </p:cTn>
                              </p:par>
                              <p:par>
                                <p:cTn id="125" presetID="9" presetClass="entr" presetSubtype="0" fill="hold" grpId="0" nodeType="withEffect">
                                  <p:stCondLst>
                                    <p:cond delay="0"/>
                                  </p:stCondLst>
                                  <p:childTnLst>
                                    <p:set>
                                      <p:cBhvr>
                                        <p:cTn id="126" dur="1" fill="hold">
                                          <p:stCondLst>
                                            <p:cond delay="0"/>
                                          </p:stCondLst>
                                        </p:cTn>
                                        <p:tgtEl>
                                          <p:spTgt spid="103"/>
                                        </p:tgtEl>
                                        <p:attrNameLst>
                                          <p:attrName>style.visibility</p:attrName>
                                        </p:attrNameLst>
                                      </p:cBhvr>
                                      <p:to>
                                        <p:strVal val="visible"/>
                                      </p:to>
                                    </p:set>
                                    <p:animEffect transition="in" filter="dissolve">
                                      <p:cBhvr>
                                        <p:cTn id="127"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3" grpId="0"/>
      <p:bldP spid="84" grpId="0"/>
      <p:bldP spid="85" grpId="0"/>
      <p:bldP spid="86" grpId="0"/>
      <p:bldP spid="87" grpId="0"/>
      <p:bldP spid="88" grpId="0"/>
      <p:bldP spid="89" grpId="0"/>
      <p:bldP spid="90" grpId="0"/>
      <p:bldP spid="91" grpId="0"/>
      <p:bldP spid="92" grpId="0"/>
      <p:bldP spid="93" grpId="0"/>
      <p:bldP spid="94" grpId="0"/>
      <p:bldP spid="95" grpId="0"/>
      <p:bldP spid="96" grpId="0"/>
      <p:bldP spid="98" grpId="0"/>
      <p:bldP spid="99" grpId="0"/>
      <p:bldP spid="100" grpId="0"/>
      <p:bldP spid="101" grpId="0"/>
      <p:bldP spid="102" grpId="0"/>
      <p:bldP spid="103" grpId="0"/>
      <p:bldP spid="5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最大流问题</a:t>
            </a:r>
            <a:endParaRPr lang="en-US" dirty="0"/>
          </a:p>
        </p:txBody>
      </p:sp>
      <p:sp>
        <p:nvSpPr>
          <p:cNvPr id="3" name="Content Placeholder 2"/>
          <p:cNvSpPr>
            <a:spLocks noGrp="1"/>
          </p:cNvSpPr>
          <p:nvPr>
            <p:ph idx="1"/>
          </p:nvPr>
        </p:nvSpPr>
        <p:spPr/>
        <p:txBody>
          <a:bodyPr/>
          <a:lstStyle/>
          <a:p>
            <a:r>
              <a:rPr lang="en-US" dirty="0" err="1"/>
              <a:t>针对一个带收发点的网络</a:t>
            </a:r>
            <a:r>
              <a:rPr lang="zh-CN" altLang="en-US" dirty="0"/>
              <a:t>，其每条弧的赋权称之为容量，在不超过每条弧的容量的前提下，求出出发点到收点的最大容量。</a:t>
            </a:r>
            <a:endParaRPr lang="en-US" altLang="zh-CN" dirty="0"/>
          </a:p>
          <a:p>
            <a:pPr lvl="1"/>
            <a:r>
              <a:rPr lang="zh-CN" altLang="en-US" dirty="0"/>
              <a:t>公路系统中的车流量</a:t>
            </a:r>
            <a:endParaRPr lang="en-US" altLang="zh-CN" dirty="0"/>
          </a:p>
          <a:p>
            <a:pPr lvl="1"/>
            <a:r>
              <a:rPr lang="zh-CN" altLang="en-US" dirty="0"/>
              <a:t>供水系统中的水流量</a:t>
            </a:r>
            <a:endParaRPr lang="en-US" altLang="zh-CN" dirty="0"/>
          </a:p>
          <a:p>
            <a:pPr lvl="1"/>
            <a:r>
              <a:rPr lang="zh-CN" altLang="en-US" dirty="0"/>
              <a:t>金融系统中的现金流</a:t>
            </a:r>
            <a:endParaRPr lang="en-US" altLang="zh-CN" dirty="0"/>
          </a:p>
          <a:p>
            <a:pPr lvl="1"/>
            <a:r>
              <a:rPr lang="zh-CN" altLang="en-US" dirty="0"/>
              <a:t>。。。</a:t>
            </a:r>
            <a:endParaRPr lang="en-US" altLang="zh-CN" dirty="0"/>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最大流问题</a:t>
            </a:r>
            <a:r>
              <a:rPr lang="zh-CN" altLang="en-US" dirty="0"/>
              <a:t> </a:t>
            </a:r>
            <a:r>
              <a:rPr lang="en-US" altLang="zh-CN" dirty="0"/>
              <a:t>–</a:t>
            </a:r>
            <a:r>
              <a:rPr lang="zh-CN" altLang="en-US" dirty="0"/>
              <a:t> 最大流的数学模型</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r>
                  <a:rPr lang="ja-JP" altLang="en-US" dirty="0"/>
                  <a:t>例</a:t>
                </a:r>
                <a:r>
                  <a:rPr lang="en-US" altLang="ja-JP" dirty="0"/>
                  <a:t>6  </a:t>
                </a:r>
                <a:r>
                  <a:rPr lang="ja-JP" altLang="en-US" dirty="0"/>
                  <a:t>某石油公司拥有一个管道网络，使用这个网络可以把石油从采地运送到一些销售点，这个网络的一部分如下图所示。由于管道的直径的变化，它的各段管道（</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𝑖</m:t>
                        </m:r>
                      </m:sub>
                    </m:sSub>
                    <m:r>
                      <a:rPr lang="en-US" i="1" dirty="0" smtClean="0">
                        <a:latin typeface="Cambria Math" panose="02040503050406030204" pitchFamily="18" charset="0"/>
                      </a:rPr>
                      <m:t> </m:t>
                    </m:r>
                  </m:oMath>
                </a14:m>
                <a:r>
                  <a:rPr lang="en-US" dirty="0"/>
                  <a:t>,</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𝑗</m:t>
                        </m:r>
                      </m:sub>
                    </m:sSub>
                  </m:oMath>
                </a14:m>
                <a:r>
                  <a:rPr lang="en-US" dirty="0"/>
                  <a:t>）</a:t>
                </a:r>
                <a:r>
                  <a:rPr lang="ja-JP" altLang="en-US" dirty="0"/>
                  <a:t>的流量</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𝑐</m:t>
                        </m:r>
                      </m:e>
                      <m:sub>
                        <m:r>
                          <a:rPr lang="en-US" altLang="ja-JP" b="0" i="1" smtClean="0">
                            <a:latin typeface="Cambria Math" panose="02040503050406030204" pitchFamily="18" charset="0"/>
                          </a:rPr>
                          <m:t>𝑖𝑗</m:t>
                        </m:r>
                      </m:sub>
                    </m:sSub>
                  </m:oMath>
                </a14:m>
                <a:r>
                  <a:rPr lang="en-US" dirty="0"/>
                  <a:t>（</a:t>
                </a:r>
                <a:r>
                  <a:rPr lang="ja-JP" altLang="en-US" dirty="0"/>
                  <a:t>容量）也是不一样的。</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𝑐</m:t>
                        </m:r>
                      </m:e>
                      <m:sub>
                        <m:r>
                          <a:rPr lang="en-US" altLang="ja-JP" b="0" i="1" smtClean="0">
                            <a:latin typeface="Cambria Math" panose="02040503050406030204" pitchFamily="18" charset="0"/>
                          </a:rPr>
                          <m:t>𝑖𝑗</m:t>
                        </m:r>
                      </m:sub>
                    </m:sSub>
                  </m:oMath>
                </a14:m>
                <a:r>
                  <a:rPr lang="ja-JP" altLang="en-US" dirty="0"/>
                  <a:t>的单位为万加仑</a:t>
                </a:r>
                <a:r>
                  <a:rPr lang="en-US" altLang="ja-JP" dirty="0"/>
                  <a:t>/</a:t>
                </a:r>
                <a:r>
                  <a:rPr lang="ja-JP" altLang="en-US" dirty="0"/>
                  <a:t>小时。如果使用这个网络系统从采地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1</m:t>
                        </m:r>
                      </m:sub>
                    </m:sSub>
                  </m:oMath>
                </a14:m>
                <a:r>
                  <a:rPr lang="ja-JP" altLang="en-US" dirty="0"/>
                  <a:t>向销地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𝑣</m:t>
                        </m:r>
                      </m:e>
                      <m:sub>
                        <m:r>
                          <a:rPr lang="en-US" altLang="ja-JP" b="0" i="1" smtClean="0">
                            <a:latin typeface="Cambria Math" panose="02040503050406030204" pitchFamily="18" charset="0"/>
                          </a:rPr>
                          <m:t>7</m:t>
                        </m:r>
                      </m:sub>
                    </m:sSub>
                  </m:oMath>
                </a14:m>
                <a:r>
                  <a:rPr lang="ja-JP" altLang="en-US" dirty="0"/>
                  <a:t>运送石油，问每小时能运送多少加仑石油？</a:t>
                </a:r>
                <a:endParaRPr lang="ja-JP" altLang="en-US" dirty="0"/>
              </a:p>
              <a:p>
                <a:pPr marL="0" indent="0">
                  <a:buNone/>
                </a:pPr>
                <a:endParaRPr lang="ja-JP" altLang="en-US" dirty="0"/>
              </a:p>
              <a:p>
                <a:pPr marL="0" indent="0">
                  <a:buNone/>
                </a:pP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3769845" y="3840023"/>
            <a:ext cx="4652309" cy="265285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最大流问题</a:t>
            </a:r>
            <a:r>
              <a:rPr lang="zh-CN" altLang="en-US" dirty="0"/>
              <a:t> </a:t>
            </a:r>
            <a:r>
              <a:rPr lang="en-US" altLang="zh-CN" dirty="0"/>
              <a:t>–</a:t>
            </a:r>
            <a:r>
              <a:rPr lang="zh-CN" altLang="en-US" dirty="0"/>
              <a:t>线性规划模型</a:t>
            </a:r>
            <a:endParaRPr lang="en-US" dirty="0"/>
          </a:p>
        </p:txBody>
      </p:sp>
      <p:grpSp>
        <p:nvGrpSpPr>
          <p:cNvPr id="4" name="Group 3"/>
          <p:cNvGrpSpPr/>
          <p:nvPr/>
        </p:nvGrpSpPr>
        <p:grpSpPr bwMode="auto">
          <a:xfrm>
            <a:off x="2713923" y="2009775"/>
            <a:ext cx="7848600" cy="4483100"/>
            <a:chOff x="0" y="0"/>
            <a:chExt cx="3888" cy="1709"/>
          </a:xfrm>
        </p:grpSpPr>
        <p:sp>
          <p:nvSpPr>
            <p:cNvPr id="5" name="Line 4"/>
            <p:cNvSpPr>
              <a:spLocks noChangeShapeType="1"/>
            </p:cNvSpPr>
            <p:nvPr/>
          </p:nvSpPr>
          <p:spPr bwMode="auto">
            <a:xfrm>
              <a:off x="192" y="816"/>
              <a:ext cx="672" cy="67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 name="Line 5"/>
            <p:cNvSpPr>
              <a:spLocks noChangeShapeType="1"/>
            </p:cNvSpPr>
            <p:nvPr/>
          </p:nvSpPr>
          <p:spPr bwMode="auto">
            <a:xfrm flipV="1">
              <a:off x="192" y="288"/>
              <a:ext cx="672" cy="528"/>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7" name="Line 6"/>
            <p:cNvSpPr>
              <a:spLocks noChangeShapeType="1"/>
            </p:cNvSpPr>
            <p:nvPr/>
          </p:nvSpPr>
          <p:spPr bwMode="auto">
            <a:xfrm flipV="1">
              <a:off x="864" y="816"/>
              <a:ext cx="672" cy="67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 name="Line 7"/>
            <p:cNvSpPr>
              <a:spLocks noChangeShapeType="1"/>
            </p:cNvSpPr>
            <p:nvPr/>
          </p:nvSpPr>
          <p:spPr bwMode="auto">
            <a:xfrm>
              <a:off x="864" y="288"/>
              <a:ext cx="672" cy="528"/>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 name="Line 8"/>
            <p:cNvSpPr>
              <a:spLocks noChangeShapeType="1"/>
            </p:cNvSpPr>
            <p:nvPr/>
          </p:nvSpPr>
          <p:spPr bwMode="auto">
            <a:xfrm flipV="1">
              <a:off x="864" y="144"/>
              <a:ext cx="1104" cy="144"/>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 name="Line 9"/>
            <p:cNvSpPr>
              <a:spLocks noChangeShapeType="1"/>
            </p:cNvSpPr>
            <p:nvPr/>
          </p:nvSpPr>
          <p:spPr bwMode="auto">
            <a:xfrm flipV="1">
              <a:off x="1536" y="144"/>
              <a:ext cx="432" cy="67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1" name="Line 10"/>
            <p:cNvSpPr>
              <a:spLocks noChangeShapeType="1"/>
            </p:cNvSpPr>
            <p:nvPr/>
          </p:nvSpPr>
          <p:spPr bwMode="auto">
            <a:xfrm flipV="1">
              <a:off x="1536" y="624"/>
              <a:ext cx="2064" cy="19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2" name="Line 11"/>
            <p:cNvSpPr>
              <a:spLocks noChangeShapeType="1"/>
            </p:cNvSpPr>
            <p:nvPr/>
          </p:nvSpPr>
          <p:spPr bwMode="auto">
            <a:xfrm flipV="1">
              <a:off x="864" y="624"/>
              <a:ext cx="2736" cy="864"/>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3" name="Line 12"/>
            <p:cNvSpPr>
              <a:spLocks noChangeShapeType="1"/>
            </p:cNvSpPr>
            <p:nvPr/>
          </p:nvSpPr>
          <p:spPr bwMode="auto">
            <a:xfrm>
              <a:off x="1968" y="144"/>
              <a:ext cx="1632" cy="480"/>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4" name="Line 13"/>
            <p:cNvSpPr>
              <a:spLocks noChangeShapeType="1"/>
            </p:cNvSpPr>
            <p:nvPr/>
          </p:nvSpPr>
          <p:spPr bwMode="auto">
            <a:xfrm flipV="1">
              <a:off x="864" y="720"/>
              <a:ext cx="1824" cy="768"/>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5" name="Text Box 14"/>
            <p:cNvSpPr txBox="1">
              <a:spLocks noChangeArrowheads="1"/>
            </p:cNvSpPr>
            <p:nvPr/>
          </p:nvSpPr>
          <p:spPr bwMode="auto">
            <a:xfrm>
              <a:off x="336" y="432"/>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6</a:t>
              </a:r>
              <a:endParaRPr lang="en-US" altLang="zh-CN" sz="2400" b="1"/>
            </a:p>
          </p:txBody>
        </p:sp>
        <p:sp>
          <p:nvSpPr>
            <p:cNvPr id="16" name="Text Box 15"/>
            <p:cNvSpPr txBox="1">
              <a:spLocks noChangeArrowheads="1"/>
            </p:cNvSpPr>
            <p:nvPr/>
          </p:nvSpPr>
          <p:spPr bwMode="auto">
            <a:xfrm>
              <a:off x="1296" y="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3</a:t>
              </a:r>
              <a:endParaRPr lang="en-US" altLang="zh-CN" sz="2400" b="1"/>
            </a:p>
          </p:txBody>
        </p:sp>
        <p:sp>
          <p:nvSpPr>
            <p:cNvPr id="17" name="Text Box 16"/>
            <p:cNvSpPr txBox="1">
              <a:spLocks noChangeArrowheads="1"/>
            </p:cNvSpPr>
            <p:nvPr/>
          </p:nvSpPr>
          <p:spPr bwMode="auto">
            <a:xfrm>
              <a:off x="2352" y="96"/>
              <a:ext cx="33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5</a:t>
              </a:r>
              <a:endParaRPr lang="en-US" altLang="zh-CN" sz="2400" b="1"/>
            </a:p>
          </p:txBody>
        </p:sp>
        <p:sp>
          <p:nvSpPr>
            <p:cNvPr id="18" name="Text Box 17"/>
            <p:cNvSpPr txBox="1">
              <a:spLocks noChangeArrowheads="1"/>
            </p:cNvSpPr>
            <p:nvPr/>
          </p:nvSpPr>
          <p:spPr bwMode="auto">
            <a:xfrm>
              <a:off x="1152" y="384"/>
              <a:ext cx="33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2</a:t>
              </a:r>
              <a:endParaRPr lang="en-US" altLang="zh-CN" sz="2400" b="1"/>
            </a:p>
          </p:txBody>
        </p:sp>
        <p:sp>
          <p:nvSpPr>
            <p:cNvPr id="19" name="Text Box 18"/>
            <p:cNvSpPr txBox="1">
              <a:spLocks noChangeArrowheads="1"/>
            </p:cNvSpPr>
            <p:nvPr/>
          </p:nvSpPr>
          <p:spPr bwMode="auto">
            <a:xfrm>
              <a:off x="1536" y="336"/>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2</a:t>
              </a:r>
              <a:endParaRPr lang="en-US" altLang="zh-CN" sz="2400" b="1"/>
            </a:p>
          </p:txBody>
        </p:sp>
        <p:sp>
          <p:nvSpPr>
            <p:cNvPr id="20" name="Text Box 19"/>
            <p:cNvSpPr txBox="1">
              <a:spLocks noChangeArrowheads="1"/>
            </p:cNvSpPr>
            <p:nvPr/>
          </p:nvSpPr>
          <p:spPr bwMode="auto">
            <a:xfrm>
              <a:off x="1920" y="576"/>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2</a:t>
              </a:r>
              <a:endParaRPr lang="en-US" altLang="zh-CN" sz="2400" b="1"/>
            </a:p>
          </p:txBody>
        </p:sp>
        <p:sp>
          <p:nvSpPr>
            <p:cNvPr id="21" name="Text Box 20"/>
            <p:cNvSpPr txBox="1">
              <a:spLocks noChangeArrowheads="1"/>
            </p:cNvSpPr>
            <p:nvPr/>
          </p:nvSpPr>
          <p:spPr bwMode="auto">
            <a:xfrm>
              <a:off x="2784" y="48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4</a:t>
              </a:r>
              <a:endParaRPr lang="en-US" altLang="zh-CN" sz="2400" b="1"/>
            </a:p>
          </p:txBody>
        </p:sp>
        <p:sp>
          <p:nvSpPr>
            <p:cNvPr id="22" name="Text Box 21"/>
            <p:cNvSpPr txBox="1">
              <a:spLocks noChangeArrowheads="1"/>
            </p:cNvSpPr>
            <p:nvPr/>
          </p:nvSpPr>
          <p:spPr bwMode="auto">
            <a:xfrm>
              <a:off x="1344" y="1056"/>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1</a:t>
              </a:r>
              <a:endParaRPr lang="en-US" altLang="zh-CN" sz="2400" b="1"/>
            </a:p>
          </p:txBody>
        </p:sp>
        <p:sp>
          <p:nvSpPr>
            <p:cNvPr id="23" name="Text Box 22"/>
            <p:cNvSpPr txBox="1">
              <a:spLocks noChangeArrowheads="1"/>
            </p:cNvSpPr>
            <p:nvPr/>
          </p:nvSpPr>
          <p:spPr bwMode="auto">
            <a:xfrm>
              <a:off x="1680" y="120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2</a:t>
              </a:r>
              <a:endParaRPr lang="en-US" altLang="zh-CN" sz="2400" b="1"/>
            </a:p>
          </p:txBody>
        </p:sp>
        <p:sp>
          <p:nvSpPr>
            <p:cNvPr id="24" name="Text Box 23"/>
            <p:cNvSpPr txBox="1">
              <a:spLocks noChangeArrowheads="1"/>
            </p:cNvSpPr>
            <p:nvPr/>
          </p:nvSpPr>
          <p:spPr bwMode="auto">
            <a:xfrm>
              <a:off x="192" y="96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6</a:t>
              </a:r>
              <a:endParaRPr lang="en-US" altLang="zh-CN" sz="2400" b="1"/>
            </a:p>
          </p:txBody>
        </p:sp>
        <p:sp>
          <p:nvSpPr>
            <p:cNvPr id="25" name="Text Box 24"/>
            <p:cNvSpPr txBox="1">
              <a:spLocks noChangeArrowheads="1"/>
            </p:cNvSpPr>
            <p:nvPr/>
          </p:nvSpPr>
          <p:spPr bwMode="auto">
            <a:xfrm>
              <a:off x="1008" y="96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3</a:t>
              </a:r>
              <a:endParaRPr lang="en-US" altLang="zh-CN" sz="2400" b="1"/>
            </a:p>
          </p:txBody>
        </p:sp>
        <p:sp>
          <p:nvSpPr>
            <p:cNvPr id="26" name="Text Box 25"/>
            <p:cNvSpPr txBox="1">
              <a:spLocks noChangeArrowheads="1"/>
            </p:cNvSpPr>
            <p:nvPr/>
          </p:nvSpPr>
          <p:spPr bwMode="auto">
            <a:xfrm>
              <a:off x="0" y="672"/>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1</a:t>
              </a:r>
              <a:endParaRPr lang="en-US" altLang="zh-CN" sz="2400" b="1" baseline="-25000"/>
            </a:p>
          </p:txBody>
        </p:sp>
        <p:sp>
          <p:nvSpPr>
            <p:cNvPr id="27" name="Text Box 26"/>
            <p:cNvSpPr txBox="1">
              <a:spLocks noChangeArrowheads="1"/>
            </p:cNvSpPr>
            <p:nvPr/>
          </p:nvSpPr>
          <p:spPr bwMode="auto">
            <a:xfrm>
              <a:off x="686" y="81"/>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v</a:t>
              </a:r>
              <a:r>
                <a:rPr lang="en-US" altLang="zh-CN" sz="2400" b="1" baseline="-25000" dirty="0"/>
                <a:t>2</a:t>
              </a:r>
              <a:endParaRPr lang="en-US" altLang="zh-CN" sz="2400" b="1" baseline="-25000" dirty="0"/>
            </a:p>
          </p:txBody>
        </p:sp>
        <p:sp>
          <p:nvSpPr>
            <p:cNvPr id="28" name="Text Box 27"/>
            <p:cNvSpPr txBox="1">
              <a:spLocks noChangeArrowheads="1"/>
            </p:cNvSpPr>
            <p:nvPr/>
          </p:nvSpPr>
          <p:spPr bwMode="auto">
            <a:xfrm>
              <a:off x="3552" y="48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7</a:t>
              </a:r>
              <a:endParaRPr lang="en-US" altLang="zh-CN" sz="2400" b="1" baseline="-25000"/>
            </a:p>
          </p:txBody>
        </p:sp>
        <p:sp>
          <p:nvSpPr>
            <p:cNvPr id="29" name="Text Box 28"/>
            <p:cNvSpPr txBox="1">
              <a:spLocks noChangeArrowheads="1"/>
            </p:cNvSpPr>
            <p:nvPr/>
          </p:nvSpPr>
          <p:spPr bwMode="auto">
            <a:xfrm>
              <a:off x="768" y="144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4</a:t>
              </a:r>
              <a:endParaRPr lang="en-US" altLang="zh-CN" sz="2400" b="1" baseline="-25000"/>
            </a:p>
          </p:txBody>
        </p:sp>
        <p:sp>
          <p:nvSpPr>
            <p:cNvPr id="30" name="Text Box 29"/>
            <p:cNvSpPr txBox="1">
              <a:spLocks noChangeArrowheads="1"/>
            </p:cNvSpPr>
            <p:nvPr/>
          </p:nvSpPr>
          <p:spPr bwMode="auto">
            <a:xfrm>
              <a:off x="1282" y="658"/>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3</a:t>
              </a:r>
              <a:endParaRPr lang="en-US" altLang="zh-CN" sz="2400" b="1" baseline="-25000"/>
            </a:p>
          </p:txBody>
        </p:sp>
        <p:sp>
          <p:nvSpPr>
            <p:cNvPr id="31" name="Text Box 30"/>
            <p:cNvSpPr txBox="1">
              <a:spLocks noChangeArrowheads="1"/>
            </p:cNvSpPr>
            <p:nvPr/>
          </p:nvSpPr>
          <p:spPr bwMode="auto">
            <a:xfrm>
              <a:off x="2544" y="48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6</a:t>
              </a:r>
              <a:endParaRPr lang="en-US" altLang="zh-CN" sz="2400" b="1" baseline="-25000"/>
            </a:p>
          </p:txBody>
        </p:sp>
        <p:sp>
          <p:nvSpPr>
            <p:cNvPr id="32" name="Line 31"/>
            <p:cNvSpPr>
              <a:spLocks noChangeShapeType="1"/>
            </p:cNvSpPr>
            <p:nvPr/>
          </p:nvSpPr>
          <p:spPr bwMode="auto">
            <a:xfrm flipV="1">
              <a:off x="545" y="401"/>
              <a:ext cx="181" cy="136"/>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3" name="Line 32"/>
            <p:cNvSpPr>
              <a:spLocks noChangeShapeType="1"/>
            </p:cNvSpPr>
            <p:nvPr/>
          </p:nvSpPr>
          <p:spPr bwMode="auto">
            <a:xfrm>
              <a:off x="499" y="1126"/>
              <a:ext cx="91" cy="9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Line 35"/>
            <p:cNvSpPr>
              <a:spLocks noChangeShapeType="1"/>
            </p:cNvSpPr>
            <p:nvPr/>
          </p:nvSpPr>
          <p:spPr bwMode="auto">
            <a:xfrm flipV="1">
              <a:off x="1089" y="1172"/>
              <a:ext cx="91" cy="9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 name="Line 36"/>
            <p:cNvSpPr>
              <a:spLocks noChangeShapeType="1"/>
            </p:cNvSpPr>
            <p:nvPr/>
          </p:nvSpPr>
          <p:spPr bwMode="auto">
            <a:xfrm flipV="1">
              <a:off x="1842" y="990"/>
              <a:ext cx="227" cy="9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 name="Line 37"/>
            <p:cNvSpPr>
              <a:spLocks noChangeShapeType="1"/>
            </p:cNvSpPr>
            <p:nvPr/>
          </p:nvSpPr>
          <p:spPr bwMode="auto">
            <a:xfrm flipV="1">
              <a:off x="2041" y="990"/>
              <a:ext cx="409" cy="13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 name="Line 38"/>
            <p:cNvSpPr>
              <a:spLocks noChangeShapeType="1"/>
            </p:cNvSpPr>
            <p:nvPr/>
          </p:nvSpPr>
          <p:spPr bwMode="auto">
            <a:xfrm flipV="1">
              <a:off x="2132" y="718"/>
              <a:ext cx="318" cy="4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 name="Line 39"/>
            <p:cNvSpPr>
              <a:spLocks noChangeShapeType="1"/>
            </p:cNvSpPr>
            <p:nvPr/>
          </p:nvSpPr>
          <p:spPr bwMode="auto">
            <a:xfrm>
              <a:off x="3057" y="664"/>
              <a:ext cx="272"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 name="Line 40"/>
            <p:cNvSpPr>
              <a:spLocks noChangeShapeType="1"/>
            </p:cNvSpPr>
            <p:nvPr/>
          </p:nvSpPr>
          <p:spPr bwMode="auto">
            <a:xfrm>
              <a:off x="2812" y="401"/>
              <a:ext cx="318" cy="9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 name="Line 41"/>
            <p:cNvSpPr>
              <a:spLocks noChangeShapeType="1"/>
            </p:cNvSpPr>
            <p:nvPr/>
          </p:nvSpPr>
          <p:spPr bwMode="auto">
            <a:xfrm flipV="1">
              <a:off x="1678" y="446"/>
              <a:ext cx="91" cy="13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 name="Text Box 42"/>
            <p:cNvSpPr txBox="1">
              <a:spLocks noChangeArrowheads="1"/>
            </p:cNvSpPr>
            <p:nvPr/>
          </p:nvSpPr>
          <p:spPr bwMode="auto">
            <a:xfrm>
              <a:off x="1678" y="1535"/>
              <a:ext cx="8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endParaRPr lang="zh-CN" altLang="en-US" sz="2400" b="1"/>
            </a:p>
          </p:txBody>
        </p:sp>
      </p:grpSp>
      <p:cxnSp>
        <p:nvCxnSpPr>
          <p:cNvPr id="45" name="Straight Arrow Connector 44"/>
          <p:cNvCxnSpPr/>
          <p:nvPr/>
        </p:nvCxnSpPr>
        <p:spPr>
          <a:xfrm>
            <a:off x="1545579" y="4150330"/>
            <a:ext cx="129472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10324089" y="3646670"/>
            <a:ext cx="129472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545579" y="3772586"/>
            <a:ext cx="1168344" cy="369332"/>
          </a:xfrm>
          <a:prstGeom prst="rect">
            <a:avLst/>
          </a:prstGeom>
          <a:noFill/>
        </p:spPr>
        <p:txBody>
          <a:bodyPr wrap="square" rtlCol="0">
            <a:spAutoFit/>
          </a:bodyPr>
          <a:lstStyle/>
          <a:p>
            <a:r>
              <a:rPr lang="en-US" dirty="0" err="1"/>
              <a:t>总流入量</a:t>
            </a:r>
            <a:endParaRPr lang="en-US" dirty="0"/>
          </a:p>
        </p:txBody>
      </p:sp>
      <p:sp>
        <p:nvSpPr>
          <p:cNvPr id="49" name="TextBox 48"/>
          <p:cNvSpPr txBox="1"/>
          <p:nvPr/>
        </p:nvSpPr>
        <p:spPr>
          <a:xfrm>
            <a:off x="10324089" y="3297781"/>
            <a:ext cx="1168344" cy="369332"/>
          </a:xfrm>
          <a:prstGeom prst="rect">
            <a:avLst/>
          </a:prstGeom>
          <a:noFill/>
        </p:spPr>
        <p:txBody>
          <a:bodyPr wrap="square" rtlCol="0">
            <a:spAutoFit/>
          </a:bodyPr>
          <a:lstStyle/>
          <a:p>
            <a:r>
              <a:rPr lang="en-US" dirty="0" err="1"/>
              <a:t>总流出量</a:t>
            </a:r>
            <a:endParaRPr lang="en-US" dirty="0"/>
          </a:p>
        </p:txBody>
      </p:sp>
      <mc:AlternateContent xmlns:mc="http://schemas.openxmlformats.org/markup-compatibility/2006">
        <mc:Choice xmlns:a14="http://schemas.microsoft.com/office/drawing/2010/main" Requires="a14">
          <p:sp>
            <p:nvSpPr>
              <p:cNvPr id="50" name="TextBox 49"/>
              <p:cNvSpPr txBox="1"/>
              <p:nvPr/>
            </p:nvSpPr>
            <p:spPr>
              <a:xfrm>
                <a:off x="582627" y="1497027"/>
                <a:ext cx="3148707"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Kaiti TC" panose="02010600040101010101" pitchFamily="2" charset="-120"/>
                    <a:ea typeface="Kaiti TC" panose="02010600040101010101" pitchFamily="2" charset="-120"/>
                  </a:rPr>
                  <a:t>总流入量</a:t>
                </a:r>
                <a:r>
                  <a:rPr lang="en-US" altLang="zh-CN" dirty="0">
                    <a:latin typeface="Kaiti TC" panose="02010600040101010101" pitchFamily="2" charset="-120"/>
                    <a:ea typeface="Kaiti TC" panose="02010600040101010101" pitchFamily="2" charset="-120"/>
                  </a:rPr>
                  <a:t>=</a:t>
                </a:r>
                <a:r>
                  <a:rPr lang="zh-CN" altLang="en-US" dirty="0">
                    <a:latin typeface="Kaiti TC" panose="02010600040101010101" pitchFamily="2" charset="-120"/>
                    <a:ea typeface="Kaiti TC" panose="02010600040101010101" pitchFamily="2" charset="-120"/>
                  </a:rPr>
                  <a:t>总流出量</a:t>
                </a:r>
                <a:endParaRPr lang="en-US" altLang="zh-CN" dirty="0">
                  <a:latin typeface="Kaiti TC" panose="02010600040101010101" pitchFamily="2" charset="-120"/>
                  <a:ea typeface="Kaiti TC" panose="02010600040101010101" pitchFamily="2" charset="-120"/>
                </a:endParaRPr>
              </a:p>
              <a:p>
                <a:pPr marL="285750" indent="-285750">
                  <a:buFont typeface="Arial" panose="020B0604020202020204" pitchFamily="34" charset="0"/>
                  <a:buChar char="•"/>
                </a:pPr>
                <a:r>
                  <a:rPr lang="zh-CN" altLang="en-US" dirty="0">
                    <a:latin typeface="Kaiti TC" panose="02010600040101010101" pitchFamily="2" charset="-120"/>
                    <a:ea typeface="Kaiti TC" panose="02010600040101010101" pitchFamily="2" charset="-120"/>
                  </a:rPr>
                  <a:t>各中间点：流入量</a:t>
                </a:r>
                <a:r>
                  <a:rPr lang="en-US" altLang="zh-CN" dirty="0">
                    <a:latin typeface="Kaiti TC" panose="02010600040101010101" pitchFamily="2" charset="-120"/>
                    <a:ea typeface="Kaiti TC" panose="02010600040101010101" pitchFamily="2" charset="-120"/>
                  </a:rPr>
                  <a:t>=</a:t>
                </a:r>
                <a:r>
                  <a:rPr lang="zh-CN" altLang="en-US" dirty="0">
                    <a:latin typeface="Kaiti TC" panose="02010600040101010101" pitchFamily="2" charset="-120"/>
                    <a:ea typeface="Kaiti TC" panose="02010600040101010101" pitchFamily="2" charset="-120"/>
                  </a:rPr>
                  <a:t>流出量</a:t>
                </a:r>
                <a:r>
                  <a:rPr lang="en-US" altLang="zh-CN" dirty="0">
                    <a:latin typeface="Kaiti TC" panose="02010600040101010101" pitchFamily="2" charset="-120"/>
                    <a:ea typeface="Kaiti TC" panose="02010600040101010101" pitchFamily="2" charset="-120"/>
                  </a:rPr>
                  <a:t>(</a:t>
                </a:r>
                <a14:m>
                  <m:oMath xmlns:m="http://schemas.openxmlformats.org/officeDocument/2006/math">
                    <m:sSub>
                      <m:sSubPr>
                        <m:ctrlPr>
                          <a:rPr lang="en-US" altLang="zh-CN" b="0" i="1" smtClean="0">
                            <a:latin typeface="Cambria Math" panose="02040503050406030204" pitchFamily="18" charset="0"/>
                            <a:ea typeface="Kaiti TC" panose="02010600040101010101" pitchFamily="2" charset="-120"/>
                          </a:rPr>
                        </m:ctrlPr>
                      </m:sSubPr>
                      <m:e>
                        <m:r>
                          <a:rPr lang="en-US" altLang="zh-CN" b="0" i="1" smtClean="0">
                            <a:latin typeface="Cambria Math" panose="02040503050406030204" pitchFamily="18" charset="0"/>
                            <a:ea typeface="Kaiti TC" panose="02010600040101010101" pitchFamily="2" charset="-120"/>
                          </a:rPr>
                          <m:t>𝑓</m:t>
                        </m:r>
                      </m:e>
                      <m:sub>
                        <m:r>
                          <a:rPr lang="en-US" altLang="zh-CN" b="0" i="1" smtClean="0">
                            <a:latin typeface="Cambria Math" panose="02040503050406030204" pitchFamily="18" charset="0"/>
                            <a:ea typeface="Kaiti TC" panose="02010600040101010101" pitchFamily="2" charset="-120"/>
                          </a:rPr>
                          <m:t>12</m:t>
                        </m:r>
                      </m:sub>
                    </m:sSub>
                    <m:r>
                      <a:rPr lang="en-US" altLang="zh-CN" b="0" i="1" smtClean="0">
                        <a:latin typeface="Cambria Math" panose="02040503050406030204" pitchFamily="18" charset="0"/>
                        <a:ea typeface="Kaiti TC" panose="02010600040101010101" pitchFamily="2" charset="-120"/>
                      </a:rPr>
                      <m:t>=</m:t>
                    </m:r>
                    <m:sSub>
                      <m:sSubPr>
                        <m:ctrlPr>
                          <a:rPr lang="en-US" altLang="zh-CN" b="0" i="1" smtClean="0">
                            <a:latin typeface="Cambria Math" panose="02040503050406030204" pitchFamily="18" charset="0"/>
                            <a:ea typeface="Kaiti TC" panose="02010600040101010101" pitchFamily="2" charset="-120"/>
                          </a:rPr>
                        </m:ctrlPr>
                      </m:sSubPr>
                      <m:e>
                        <m:r>
                          <a:rPr lang="en-US" altLang="zh-CN" b="0" i="1" smtClean="0">
                            <a:latin typeface="Cambria Math" panose="02040503050406030204" pitchFamily="18" charset="0"/>
                            <a:ea typeface="Kaiti TC" panose="02010600040101010101" pitchFamily="2" charset="-120"/>
                          </a:rPr>
                          <m:t>𝑓</m:t>
                        </m:r>
                      </m:e>
                      <m:sub>
                        <m:r>
                          <a:rPr lang="en-US" altLang="zh-CN" b="0" i="1" smtClean="0">
                            <a:latin typeface="Cambria Math" panose="02040503050406030204" pitchFamily="18" charset="0"/>
                            <a:ea typeface="Kaiti TC" panose="02010600040101010101" pitchFamily="2" charset="-120"/>
                          </a:rPr>
                          <m:t>23</m:t>
                        </m:r>
                      </m:sub>
                    </m:sSub>
                    <m:r>
                      <a:rPr lang="en-US" altLang="zh-CN" b="0" i="1" smtClean="0">
                        <a:latin typeface="Cambria Math" panose="02040503050406030204" pitchFamily="18" charset="0"/>
                        <a:ea typeface="Kaiti TC" panose="02010600040101010101" pitchFamily="2" charset="-120"/>
                      </a:rPr>
                      <m:t>+</m:t>
                    </m:r>
                    <m:sSub>
                      <m:sSubPr>
                        <m:ctrlPr>
                          <a:rPr lang="en-US" altLang="zh-CN" b="0" i="1" smtClean="0">
                            <a:latin typeface="Cambria Math" panose="02040503050406030204" pitchFamily="18" charset="0"/>
                            <a:ea typeface="Kaiti TC" panose="02010600040101010101" pitchFamily="2" charset="-120"/>
                          </a:rPr>
                        </m:ctrlPr>
                      </m:sSubPr>
                      <m:e>
                        <m:r>
                          <a:rPr lang="en-US" altLang="zh-CN" b="0" i="1" smtClean="0">
                            <a:latin typeface="Cambria Math" panose="02040503050406030204" pitchFamily="18" charset="0"/>
                            <a:ea typeface="Kaiti TC" panose="02010600040101010101" pitchFamily="2" charset="-120"/>
                          </a:rPr>
                          <m:t>𝑓</m:t>
                        </m:r>
                      </m:e>
                      <m:sub>
                        <m:r>
                          <a:rPr lang="en-US" altLang="zh-CN" b="0" i="1" smtClean="0">
                            <a:latin typeface="Cambria Math" panose="02040503050406030204" pitchFamily="18" charset="0"/>
                            <a:ea typeface="Kaiti TC" panose="02010600040101010101" pitchFamily="2" charset="-120"/>
                          </a:rPr>
                          <m:t>25</m:t>
                        </m:r>
                      </m:sub>
                    </m:sSub>
                  </m:oMath>
                </a14:m>
                <a:r>
                  <a:rPr lang="en-US" altLang="zh-CN" dirty="0">
                    <a:latin typeface="Kaiti TC" panose="02010600040101010101" pitchFamily="2" charset="-120"/>
                    <a:ea typeface="Kaiti TC" panose="02010600040101010101" pitchFamily="2" charset="-120"/>
                  </a:rPr>
                  <a:t>)</a:t>
                </a:r>
                <a:endParaRPr lang="en-US" altLang="zh-CN" dirty="0">
                  <a:latin typeface="Kaiti TC" panose="02010600040101010101" pitchFamily="2" charset="-120"/>
                  <a:ea typeface="Kaiti TC" panose="02010600040101010101" pitchFamily="2" charset="-120"/>
                </a:endParaRPr>
              </a:p>
              <a:p>
                <a:pPr marL="285750" indent="-285750">
                  <a:buFont typeface="Arial" panose="020B0604020202020204" pitchFamily="34" charset="0"/>
                  <a:buChar char="•"/>
                </a:pPr>
                <a:r>
                  <a:rPr lang="zh-CN" altLang="en-US" dirty="0">
                    <a:latin typeface="Kaiti TC" panose="02010600040101010101" pitchFamily="2" charset="-120"/>
                    <a:ea typeface="Kaiti TC" panose="02010600040101010101" pitchFamily="2" charset="-120"/>
                  </a:rPr>
                  <a:t>通过每条弧的流量不能超过容量</a:t>
                </a:r>
                <a:r>
                  <a:rPr lang="en-US" altLang="zh-CN" dirty="0">
                    <a:latin typeface="Kaiti TC" panose="02010600040101010101" pitchFamily="2" charset="-120"/>
                    <a:ea typeface="Kaiti TC" panose="02010600040101010101" pitchFamily="2" charset="-120"/>
                  </a:rPr>
                  <a:t>(</a:t>
                </a:r>
                <a14:m>
                  <m:oMath xmlns:m="http://schemas.openxmlformats.org/officeDocument/2006/math">
                    <m:r>
                      <a:rPr lang="en-US" altLang="zh-CN" b="0" i="1" smtClean="0">
                        <a:latin typeface="Cambria Math" panose="02040503050406030204" pitchFamily="18" charset="0"/>
                        <a:ea typeface="Kaiti TC" panose="02010600040101010101" pitchFamily="2" charset="-120"/>
                      </a:rPr>
                      <m:t>0</m:t>
                    </m:r>
                    <m:r>
                      <a:rPr lang="en-US" altLang="zh-CN" b="0" i="1" smtClean="0">
                        <a:latin typeface="Cambria Math" panose="02040503050406030204" pitchFamily="18" charset="0"/>
                        <a:ea typeface="Kaiti TC" panose="02010600040101010101" pitchFamily="2" charset="-120"/>
                      </a:rPr>
                      <m:t>≤</m:t>
                    </m:r>
                    <m:sSub>
                      <m:sSubPr>
                        <m:ctrlPr>
                          <a:rPr lang="en-US" altLang="zh-CN" b="0" i="1" smtClean="0">
                            <a:latin typeface="Cambria Math" panose="02040503050406030204" pitchFamily="18" charset="0"/>
                            <a:ea typeface="Kaiti TC" panose="02010600040101010101" pitchFamily="2" charset="-120"/>
                          </a:rPr>
                        </m:ctrlPr>
                      </m:sSubPr>
                      <m:e>
                        <m:r>
                          <a:rPr lang="en-US" altLang="zh-CN" b="0" i="1" smtClean="0">
                            <a:latin typeface="Cambria Math" panose="02040503050406030204" pitchFamily="18" charset="0"/>
                            <a:ea typeface="Kaiti TC" panose="02010600040101010101" pitchFamily="2" charset="-120"/>
                          </a:rPr>
                          <m:t>𝑓</m:t>
                        </m:r>
                      </m:e>
                      <m:sub>
                        <m:r>
                          <a:rPr lang="en-US" altLang="zh-CN" b="0" i="1" smtClean="0">
                            <a:latin typeface="Cambria Math" panose="02040503050406030204" pitchFamily="18" charset="0"/>
                            <a:ea typeface="Kaiti TC" panose="02010600040101010101" pitchFamily="2" charset="-120"/>
                          </a:rPr>
                          <m:t>12</m:t>
                        </m:r>
                      </m:sub>
                    </m:sSub>
                    <m:r>
                      <a:rPr lang="en-US" altLang="zh-CN" b="0" i="1" smtClean="0">
                        <a:latin typeface="Cambria Math" panose="02040503050406030204" pitchFamily="18" charset="0"/>
                        <a:ea typeface="Kaiti TC" panose="02010600040101010101" pitchFamily="2" charset="-120"/>
                      </a:rPr>
                      <m:t>≤</m:t>
                    </m:r>
                    <m:sSub>
                      <m:sSubPr>
                        <m:ctrlPr>
                          <a:rPr lang="en-US" altLang="zh-CN" b="0" i="1" smtClean="0">
                            <a:latin typeface="Cambria Math" panose="02040503050406030204" pitchFamily="18" charset="0"/>
                            <a:ea typeface="Kaiti TC" panose="02010600040101010101" pitchFamily="2" charset="-120"/>
                          </a:rPr>
                        </m:ctrlPr>
                      </m:sSubPr>
                      <m:e>
                        <m:r>
                          <a:rPr lang="en-US" altLang="zh-CN" b="0" i="1" smtClean="0">
                            <a:latin typeface="Cambria Math" panose="02040503050406030204" pitchFamily="18" charset="0"/>
                            <a:ea typeface="Kaiti TC" panose="02010600040101010101" pitchFamily="2" charset="-120"/>
                          </a:rPr>
                          <m:t>𝑐</m:t>
                        </m:r>
                      </m:e>
                      <m:sub>
                        <m:r>
                          <a:rPr lang="en-US" altLang="zh-CN" b="0" i="1" smtClean="0">
                            <a:latin typeface="Cambria Math" panose="02040503050406030204" pitchFamily="18" charset="0"/>
                            <a:ea typeface="Kaiti TC" panose="02010600040101010101" pitchFamily="2" charset="-120"/>
                          </a:rPr>
                          <m:t>12</m:t>
                        </m:r>
                      </m:sub>
                    </m:sSub>
                  </m:oMath>
                </a14:m>
                <a:r>
                  <a:rPr lang="en-US" altLang="zh-CN" dirty="0">
                    <a:latin typeface="Kaiti TC" panose="02010600040101010101" pitchFamily="2" charset="-120"/>
                    <a:ea typeface="Kaiti TC" panose="02010600040101010101" pitchFamily="2" charset="-120"/>
                  </a:rPr>
                  <a:t>)</a:t>
                </a:r>
                <a:endParaRPr lang="en-US" dirty="0">
                  <a:latin typeface="Kaiti TC" panose="02010600040101010101" pitchFamily="2" charset="-120"/>
                  <a:ea typeface="Kaiti TC" panose="02010600040101010101" pitchFamily="2" charset="-120"/>
                </a:endParaRPr>
              </a:p>
            </p:txBody>
          </p:sp>
        </mc:Choice>
        <mc:Fallback>
          <p:sp>
            <p:nvSpPr>
              <p:cNvPr id="50" name="TextBox 49"/>
              <p:cNvSpPr txBox="1">
                <a:spLocks noRot="1" noChangeAspect="1" noMove="1" noResize="1" noEditPoints="1" noAdjustHandles="1" noChangeArrowheads="1" noChangeShapeType="1" noTextEdit="1"/>
              </p:cNvSpPr>
              <p:nvPr/>
            </p:nvSpPr>
            <p:spPr>
              <a:xfrm>
                <a:off x="582627" y="1497027"/>
                <a:ext cx="3148707" cy="1477328"/>
              </a:xfrm>
              <a:prstGeom prst="rect">
                <a:avLst/>
              </a:prstGeom>
              <a:blipFill rotWithShape="1">
                <a:blip r:embed="rId1"/>
                <a:stretch>
                  <a:fillRect l="-11" t="-22" r="2"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1" name="TextBox 50"/>
              <p:cNvSpPr txBox="1"/>
              <p:nvPr/>
            </p:nvSpPr>
            <p:spPr>
              <a:xfrm>
                <a:off x="3212538" y="2891180"/>
                <a:ext cx="600552"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𝑐</m:t>
                          </m:r>
                        </m:e>
                        <m:sub>
                          <m:r>
                            <a:rPr lang="en-US" altLang="zh-CN" b="0" i="1" smtClean="0">
                              <a:solidFill>
                                <a:srgbClr val="FF0000"/>
                              </a:solidFill>
                              <a:latin typeface="Cambria Math" panose="02040503050406030204" pitchFamily="18" charset="0"/>
                            </a:rPr>
                            <m:t>12</m:t>
                          </m:r>
                        </m:sub>
                      </m:sSub>
                    </m:oMath>
                  </m:oMathPara>
                </a14:m>
                <a:endParaRPr lang="en-US" dirty="0"/>
              </a:p>
            </p:txBody>
          </p:sp>
        </mc:Choice>
        <mc:Fallback>
          <p:sp>
            <p:nvSpPr>
              <p:cNvPr id="51" name="TextBox 50"/>
              <p:cNvSpPr txBox="1">
                <a:spLocks noRot="1" noChangeAspect="1" noMove="1" noResize="1" noEditPoints="1" noAdjustHandles="1" noChangeArrowheads="1" noChangeShapeType="1" noTextEdit="1"/>
              </p:cNvSpPr>
              <p:nvPr/>
            </p:nvSpPr>
            <p:spPr>
              <a:xfrm>
                <a:off x="3212538" y="2891180"/>
                <a:ext cx="600552" cy="369332"/>
              </a:xfrm>
              <a:prstGeom prst="rect">
                <a:avLst/>
              </a:prstGeom>
              <a:blipFill rotWithShape="1">
                <a:blip r:embed="rId2"/>
                <a:stretch>
                  <a:fillRect l="-12" t="-7" r="92" b="114"/>
                </a:stretch>
              </a:blipFill>
            </p:spPr>
            <p:txBody>
              <a:bodyPr/>
              <a:lstStyle/>
              <a:p>
                <a:r>
                  <a:rPr lang="zh-CN" altLang="en-US">
                    <a:noFill/>
                  </a:rPr>
                  <a:t> </a:t>
                </a:r>
              </a:p>
            </p:txBody>
          </p:sp>
        </mc:Fallback>
      </mc:AlternateContent>
      <p:cxnSp>
        <p:nvCxnSpPr>
          <p:cNvPr id="53" name="Straight Arrow Connector 52"/>
          <p:cNvCxnSpPr/>
          <p:nvPr/>
        </p:nvCxnSpPr>
        <p:spPr>
          <a:xfrm flipV="1">
            <a:off x="3440645" y="3075846"/>
            <a:ext cx="997225" cy="106607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4" name="TextBox 53"/>
              <p:cNvSpPr txBox="1"/>
              <p:nvPr/>
            </p:nvSpPr>
            <p:spPr>
              <a:xfrm>
                <a:off x="3996790" y="3667113"/>
                <a:ext cx="60661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12</m:t>
                          </m:r>
                        </m:sub>
                      </m:sSub>
                    </m:oMath>
                  </m:oMathPara>
                </a14:m>
                <a:endParaRPr lang="en-US" dirty="0"/>
              </a:p>
            </p:txBody>
          </p:sp>
        </mc:Choice>
        <mc:Fallback>
          <p:sp>
            <p:nvSpPr>
              <p:cNvPr id="54" name="TextBox 53"/>
              <p:cNvSpPr txBox="1">
                <a:spLocks noRot="1" noChangeAspect="1" noMove="1" noResize="1" noEditPoints="1" noAdjustHandles="1" noChangeArrowheads="1" noChangeShapeType="1" noTextEdit="1"/>
              </p:cNvSpPr>
              <p:nvPr/>
            </p:nvSpPr>
            <p:spPr>
              <a:xfrm>
                <a:off x="3996790" y="3667113"/>
                <a:ext cx="606611" cy="369332"/>
              </a:xfrm>
              <a:prstGeom prst="rect">
                <a:avLst/>
              </a:prstGeom>
              <a:blipFill rotWithShape="1">
                <a:blip r:embed="rId3"/>
                <a:stretch>
                  <a:fillRect l="-16" t="-169" r="47" b="104"/>
                </a:stretch>
              </a:blipFill>
            </p:spPr>
            <p:txBody>
              <a:bodyPr/>
              <a:lstStyle/>
              <a:p>
                <a:r>
                  <a:rPr lang="zh-CN" altLang="en-US">
                    <a:noFill/>
                  </a:rPr>
                  <a:t> </a:t>
                </a:r>
              </a:p>
            </p:txBody>
          </p:sp>
        </mc:Fallback>
      </mc:AlternateContent>
      <p:cxnSp>
        <p:nvCxnSpPr>
          <p:cNvPr id="55" name="Straight Arrow Connector 54"/>
          <p:cNvCxnSpPr>
            <a:endCxn id="30" idx="1"/>
          </p:cNvCxnSpPr>
          <p:nvPr/>
        </p:nvCxnSpPr>
        <p:spPr>
          <a:xfrm>
            <a:off x="4557716" y="3194932"/>
            <a:ext cx="744146" cy="76914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6" name="TextBox 55"/>
              <p:cNvSpPr txBox="1"/>
              <p:nvPr/>
            </p:nvSpPr>
            <p:spPr>
              <a:xfrm>
                <a:off x="4578168" y="3642238"/>
                <a:ext cx="60661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23</m:t>
                          </m:r>
                        </m:sub>
                      </m:sSub>
                    </m:oMath>
                  </m:oMathPara>
                </a14:m>
                <a:endParaRPr lang="en-US" dirty="0"/>
              </a:p>
            </p:txBody>
          </p:sp>
        </mc:Choice>
        <mc:Fallback>
          <p:sp>
            <p:nvSpPr>
              <p:cNvPr id="56" name="TextBox 55"/>
              <p:cNvSpPr txBox="1">
                <a:spLocks noRot="1" noChangeAspect="1" noMove="1" noResize="1" noEditPoints="1" noAdjustHandles="1" noChangeArrowheads="1" noChangeShapeType="1" noTextEdit="1"/>
              </p:cNvSpPr>
              <p:nvPr/>
            </p:nvSpPr>
            <p:spPr>
              <a:xfrm>
                <a:off x="4578168" y="3642238"/>
                <a:ext cx="606611" cy="369332"/>
              </a:xfrm>
              <a:prstGeom prst="rect">
                <a:avLst/>
              </a:prstGeom>
              <a:blipFill rotWithShape="1">
                <a:blip r:embed="rId4"/>
                <a:stretch>
                  <a:fillRect l="-75" t="-139" r="1" b="74"/>
                </a:stretch>
              </a:blipFill>
            </p:spPr>
            <p:txBody>
              <a:bodyPr/>
              <a:lstStyle/>
              <a:p>
                <a:r>
                  <a:rPr lang="zh-CN" altLang="en-US">
                    <a:noFill/>
                  </a:rPr>
                  <a:t> </a:t>
                </a:r>
              </a:p>
            </p:txBody>
          </p:sp>
        </mc:Fallback>
      </mc:AlternateContent>
      <p:cxnSp>
        <p:nvCxnSpPr>
          <p:cNvPr id="57" name="Straight Arrow Connector 56"/>
          <p:cNvCxnSpPr/>
          <p:nvPr/>
        </p:nvCxnSpPr>
        <p:spPr>
          <a:xfrm flipV="1">
            <a:off x="4984513" y="2520101"/>
            <a:ext cx="1392885" cy="25420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8" name="TextBox 57"/>
              <p:cNvSpPr txBox="1"/>
              <p:nvPr/>
            </p:nvSpPr>
            <p:spPr>
              <a:xfrm>
                <a:off x="5422077" y="2628858"/>
                <a:ext cx="606611"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25</m:t>
                          </m:r>
                        </m:sub>
                      </m:sSub>
                    </m:oMath>
                  </m:oMathPara>
                </a14:m>
                <a:endParaRPr lang="en-US" dirty="0"/>
              </a:p>
            </p:txBody>
          </p:sp>
        </mc:Choice>
        <mc:Fallback>
          <p:sp>
            <p:nvSpPr>
              <p:cNvPr id="58" name="TextBox 57"/>
              <p:cNvSpPr txBox="1">
                <a:spLocks noRot="1" noChangeAspect="1" noMove="1" noResize="1" noEditPoints="1" noAdjustHandles="1" noChangeArrowheads="1" noChangeShapeType="1" noTextEdit="1"/>
              </p:cNvSpPr>
              <p:nvPr/>
            </p:nvSpPr>
            <p:spPr>
              <a:xfrm>
                <a:off x="5422077" y="2628858"/>
                <a:ext cx="606611" cy="369332"/>
              </a:xfrm>
              <a:prstGeom prst="rect">
                <a:avLst/>
              </a:prstGeom>
              <a:blipFill rotWithShape="1">
                <a:blip r:embed="rId5"/>
                <a:stretch>
                  <a:fillRect l="-74" t="-161" r="104" b="96"/>
                </a:stretch>
              </a:blipFill>
            </p:spPr>
            <p:txBody>
              <a:bodyPr/>
              <a:lstStyle/>
              <a:p>
                <a:r>
                  <a:rPr lang="zh-CN" altLang="en-US">
                    <a:noFill/>
                  </a:rPr>
                  <a:t> </a:t>
                </a:r>
              </a:p>
            </p:txBody>
          </p:sp>
        </mc:Fallback>
      </mc:AlternateContent>
      <p:sp>
        <p:nvSpPr>
          <p:cNvPr id="62" name="Text Box 26"/>
          <p:cNvSpPr txBox="1">
            <a:spLocks noChangeArrowheads="1"/>
          </p:cNvSpPr>
          <p:nvPr/>
        </p:nvSpPr>
        <p:spPr bwMode="auto">
          <a:xfrm>
            <a:off x="6447032" y="1895390"/>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v</a:t>
            </a:r>
            <a:r>
              <a:rPr lang="en-US" altLang="zh-CN" sz="2400" b="1" baseline="-25000" dirty="0"/>
              <a:t>5</a:t>
            </a:r>
            <a:endParaRPr lang="en-US" altLang="zh-CN" sz="2400" b="1" baseline="-25000" dirty="0"/>
          </a:p>
        </p:txBody>
      </p:sp>
      <p:sp>
        <p:nvSpPr>
          <p:cNvPr id="64" name="Line 31"/>
          <p:cNvSpPr>
            <a:spLocks noChangeShapeType="1"/>
          </p:cNvSpPr>
          <p:nvPr/>
        </p:nvSpPr>
        <p:spPr bwMode="auto">
          <a:xfrm flipV="1">
            <a:off x="5309714" y="2420417"/>
            <a:ext cx="920737" cy="211772"/>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65" name="Line 31"/>
          <p:cNvSpPr>
            <a:spLocks noChangeShapeType="1"/>
          </p:cNvSpPr>
          <p:nvPr/>
        </p:nvSpPr>
        <p:spPr bwMode="auto">
          <a:xfrm>
            <a:off x="4837686" y="3164952"/>
            <a:ext cx="645856" cy="586648"/>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ppt_x"/>
                                          </p:val>
                                        </p:tav>
                                        <p:tav tm="100000">
                                          <p:val>
                                            <p:strVal val="#ppt_x"/>
                                          </p:val>
                                        </p:tav>
                                      </p:tavLst>
                                    </p:anim>
                                    <p:anim calcmode="lin" valueType="num">
                                      <p:cBhvr additive="base">
                                        <p:cTn id="8" dur="500" fill="hold"/>
                                        <p:tgtEl>
                                          <p:spTgt spid="4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fill="hold"/>
                                        <p:tgtEl>
                                          <p:spTgt spid="45"/>
                                        </p:tgtEl>
                                        <p:attrNameLst>
                                          <p:attrName>ppt_x</p:attrName>
                                        </p:attrNameLst>
                                      </p:cBhvr>
                                      <p:tavLst>
                                        <p:tav tm="0">
                                          <p:val>
                                            <p:strVal val="#ppt_x"/>
                                          </p:val>
                                        </p:tav>
                                        <p:tav tm="100000">
                                          <p:val>
                                            <p:strVal val="#ppt_x"/>
                                          </p:val>
                                        </p:tav>
                                      </p:tavLst>
                                    </p:anim>
                                    <p:anim calcmode="lin" valueType="num">
                                      <p:cBhvr additive="base">
                                        <p:cTn id="12" dur="500" fill="hold"/>
                                        <p:tgtEl>
                                          <p:spTgt spid="4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anim calcmode="lin" valueType="num">
                                      <p:cBhvr additive="base">
                                        <p:cTn id="15" dur="500" fill="hold"/>
                                        <p:tgtEl>
                                          <p:spTgt spid="47"/>
                                        </p:tgtEl>
                                        <p:attrNameLst>
                                          <p:attrName>ppt_x</p:attrName>
                                        </p:attrNameLst>
                                      </p:cBhvr>
                                      <p:tavLst>
                                        <p:tav tm="0">
                                          <p:val>
                                            <p:strVal val="#ppt_x"/>
                                          </p:val>
                                        </p:tav>
                                        <p:tav tm="100000">
                                          <p:val>
                                            <p:strVal val="#ppt_x"/>
                                          </p:val>
                                        </p:tav>
                                      </p:tavLst>
                                    </p:anim>
                                    <p:anim calcmode="lin" valueType="num">
                                      <p:cBhvr additive="base">
                                        <p:cTn id="16" dur="500" fill="hold"/>
                                        <p:tgtEl>
                                          <p:spTgt spid="4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additive="base">
                                        <p:cTn id="19" dur="500" fill="hold"/>
                                        <p:tgtEl>
                                          <p:spTgt spid="49"/>
                                        </p:tgtEl>
                                        <p:attrNameLst>
                                          <p:attrName>ppt_x</p:attrName>
                                        </p:attrNameLst>
                                      </p:cBhvr>
                                      <p:tavLst>
                                        <p:tav tm="0">
                                          <p:val>
                                            <p:strVal val="#ppt_x"/>
                                          </p:val>
                                        </p:tav>
                                        <p:tav tm="100000">
                                          <p:val>
                                            <p:strVal val="#ppt_x"/>
                                          </p:val>
                                        </p:tav>
                                      </p:tavLst>
                                    </p:anim>
                                    <p:anim calcmode="lin" valueType="num">
                                      <p:cBhvr additive="base">
                                        <p:cTn id="20" dur="500" fill="hold"/>
                                        <p:tgtEl>
                                          <p:spTgt spid="49"/>
                                        </p:tgtEl>
                                        <p:attrNameLst>
                                          <p:attrName>ppt_y</p:attrName>
                                        </p:attrNameLst>
                                      </p:cBhvr>
                                      <p:tavLst>
                                        <p:tav tm="0">
                                          <p:val>
                                            <p:strVal val="1+#ppt_h/2"/>
                                          </p:val>
                                        </p:tav>
                                        <p:tav tm="100000">
                                          <p:val>
                                            <p:strVal val="#ppt_y"/>
                                          </p:val>
                                        </p:tav>
                                      </p:tavLst>
                                    </p:anim>
                                  </p:childTnLst>
                                </p:cTn>
                              </p:par>
                              <p:par>
                                <p:cTn id="21" presetID="1" presetClass="entr" presetSubtype="0" fill="hold" nodeType="withEffect">
                                  <p:stCondLst>
                                    <p:cond delay="0"/>
                                  </p:stCondLst>
                                  <p:childTnLst>
                                    <p:set>
                                      <p:cBhvr>
                                        <p:cTn id="22"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0">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1"/>
                                        </p:tgtEl>
                                        <p:attrNameLst>
                                          <p:attrName>style.visibility</p:attrName>
                                        </p:attrNameLst>
                                      </p:cBhvr>
                                      <p:to>
                                        <p:strVal val="visible"/>
                                      </p:to>
                                    </p:set>
                                    <p:anim calcmode="lin" valueType="num">
                                      <p:cBhvr additive="base">
                                        <p:cTn id="43" dur="500" fill="hold"/>
                                        <p:tgtEl>
                                          <p:spTgt spid="51"/>
                                        </p:tgtEl>
                                        <p:attrNameLst>
                                          <p:attrName>ppt_x</p:attrName>
                                        </p:attrNameLst>
                                      </p:cBhvr>
                                      <p:tavLst>
                                        <p:tav tm="0">
                                          <p:val>
                                            <p:strVal val="#ppt_x"/>
                                          </p:val>
                                        </p:tav>
                                        <p:tav tm="100000">
                                          <p:val>
                                            <p:strVal val="#ppt_x"/>
                                          </p:val>
                                        </p:tav>
                                      </p:tavLst>
                                    </p:anim>
                                    <p:anim calcmode="lin" valueType="num">
                                      <p:cBhvr additive="base">
                                        <p:cTn id="44" dur="500" fill="hold"/>
                                        <p:tgtEl>
                                          <p:spTgt spid="51"/>
                                        </p:tgtEl>
                                        <p:attrNameLst>
                                          <p:attrName>ppt_y</p:attrName>
                                        </p:attrNameLst>
                                      </p:cBhvr>
                                      <p:tavLst>
                                        <p:tav tm="0">
                                          <p:val>
                                            <p:strVal val="1+#ppt_h/2"/>
                                          </p:val>
                                        </p:tav>
                                        <p:tav tm="100000">
                                          <p:val>
                                            <p:strVal val="#ppt_y"/>
                                          </p:val>
                                        </p:tav>
                                      </p:tavLst>
                                    </p:anim>
                                  </p:childTnLst>
                                </p:cTn>
                              </p:par>
                              <p:par>
                                <p:cTn id="45" presetID="1" presetClass="entr" presetSubtype="0" fill="hold" nodeType="withEffect">
                                  <p:stCondLst>
                                    <p:cond delay="0"/>
                                  </p:stCondLst>
                                  <p:childTnLst>
                                    <p:set>
                                      <p:cBhvr>
                                        <p:cTn id="46" dur="1" fill="hold">
                                          <p:stCondLst>
                                            <p:cond delay="0"/>
                                          </p:stCondLst>
                                        </p:cTn>
                                        <p:tgtEl>
                                          <p:spTgt spid="5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1" grpId="0"/>
      <p:bldP spid="54" grpId="0"/>
      <p:bldP spid="56" grpId="0"/>
      <p:bldP spid="5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8" name="Text Box 21"/>
              <p:cNvSpPr txBox="1">
                <a:spLocks noChangeArrowheads="1"/>
              </p:cNvSpPr>
              <p:nvPr/>
            </p:nvSpPr>
            <p:spPr bwMode="auto">
              <a:xfrm>
                <a:off x="1774825" y="1377950"/>
                <a:ext cx="8569647" cy="5474335"/>
              </a:xfrm>
              <a:prstGeom prst="rect">
                <a:avLst/>
              </a:prstGeom>
              <a:noFill/>
              <a:ln w="9525">
                <a:noFill/>
                <a:miter lim="800000"/>
              </a:ln>
            </p:spPr>
            <p:txBody>
              <a:bodyPr wrap="square" lIns="0" tIns="0" rIns="0" bIns="0">
                <a:spAutoFit/>
              </a:bodyPr>
              <a:lstStyle/>
              <a:p>
                <a:pPr>
                  <a:lnSpc>
                    <a:spcPct val="150000"/>
                  </a:lnSpc>
                  <a:tabLst>
                    <a:tab pos="203200" algn="l"/>
                    <a:tab pos="266700" algn="l"/>
                    <a:tab pos="1917700" algn="l"/>
                  </a:tabLst>
                </a:pPr>
                <a:endParaRPr lang="zh-CN" altLang="en-US" dirty="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dirty="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dirty="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dirty="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dirty="0">
                  <a:solidFill>
                    <a:srgbClr val="000000"/>
                  </a:solidFill>
                  <a:latin typeface="Times New Roman" panose="02020603050405020304" pitchFamily="18" charset="0"/>
                  <a:cs typeface="Times New Roman" panose="02020603050405020304" pitchFamily="18" charset="0"/>
                </a:endParaRPr>
              </a:p>
              <a:p>
                <a:pPr>
                  <a:lnSpc>
                    <a:spcPct val="150000"/>
                  </a:lnSpc>
                  <a:tabLst>
                    <a:tab pos="203200" algn="l"/>
                    <a:tab pos="266700" algn="l"/>
                    <a:tab pos="1917700" algn="l"/>
                  </a:tabLst>
                </a:pPr>
                <a:r>
                  <a:rPr lang="zh-CN" altLang="en-US" sz="2000" dirty="0">
                    <a:solidFill>
                      <a:srgbClr val="000000"/>
                    </a:solidFill>
                    <a:latin typeface="Times New Roman" panose="02020603050405020304" pitchFamily="18" charset="0"/>
                    <a:ea typeface="隶书" panose="02010509060101010101" pitchFamily="49" charset="-122"/>
                    <a:cs typeface="Times New Roman" panose="02020603050405020304" pitchFamily="18" charset="0"/>
                  </a:rPr>
                  <a:t>    </a:t>
                </a:r>
                <a:r>
                  <a:rPr lang="zh-CN" altLang="en-US" sz="2000" dirty="0">
                    <a:solidFill>
                      <a:srgbClr val="000000"/>
                    </a:solidFill>
                    <a:ea typeface="楷体" panose="02010609060101010101" pitchFamily="49" charset="-122"/>
                    <a:cs typeface="Times New Roman" panose="02020603050405020304" pitchFamily="18" charset="0"/>
                  </a:rPr>
                  <a:t>目标函数：                 </a:t>
                </a:r>
                <a14:m>
                  <m:oMath xmlns:m="http://schemas.openxmlformats.org/officeDocument/2006/math">
                    <m:func>
                      <m:funcPr>
                        <m:ctrlP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funcPr>
                      <m:fName>
                        <m:r>
                          <m:rPr>
                            <m:sty m:val="p"/>
                          </m:rPr>
                          <a:rPr lang="en-US" altLang="zh-CN" sz="2000" i="0"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max</m:t>
                        </m:r>
                      </m:fName>
                      <m:e>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𝐹</m:t>
                        </m:r>
                      </m:e>
                    </m:func>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14</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zh-CN" altLang="en-US"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endPar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14:m>
                  <m:oMathPara xmlns:m="http://schemas.openxmlformats.org/officeDocument/2006/math">
                    <m:oMathParaPr>
                      <m:jc m:val="centerGroup"/>
                    </m:oMathParaPr>
                    <m:oMath xmlns:m="http://schemas.openxmlformats.org/officeDocument/2006/math">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23</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m:oMathPara>
                </a14:m>
                <a:endParaRPr lang="en-US" altLang="zh-CN" sz="2000" dirty="0">
                  <a:solidFill>
                    <a:srgbClr val="000000"/>
                  </a:solidFill>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14:m>
                  <m:oMathPara xmlns:m="http://schemas.openxmlformats.org/officeDocument/2006/math">
                    <m:oMathParaPr>
                      <m:jc m:val="centerGroup"/>
                    </m:oMathParaPr>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43</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m:oMathPara>
                </a14:m>
                <a:endParaRPr lang="en-US" altLang="zh-CN" sz="2000" dirty="0">
                  <a:solidFill>
                    <a:srgbClr val="000000"/>
                  </a:solidFill>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14:m>
                  <m:oMathPara xmlns:m="http://schemas.openxmlformats.org/officeDocument/2006/math">
                    <m:oMathParaPr>
                      <m:jc m:val="centerGroup"/>
                    </m:oMathParaPr>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23</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43</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m:oMathPara>
                </a14:m>
                <a:endParaRPr lang="en-US" altLang="zh-CN" sz="2000" dirty="0">
                  <a:solidFill>
                    <a:srgbClr val="000000"/>
                  </a:solidFill>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14:m>
                  <m:oMathPara xmlns:m="http://schemas.openxmlformats.org/officeDocument/2006/math">
                    <m:oMathParaPr>
                      <m:jc m:val="centerGroup"/>
                    </m:oMathParaPr>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35</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m:oMathPara>
                </a14:m>
                <a:endParaRPr lang="en-US" altLang="zh-CN" sz="2000" dirty="0">
                  <a:solidFill>
                    <a:srgbClr val="000000"/>
                  </a:solidFill>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14:m>
                  <m:oMathPara xmlns:m="http://schemas.openxmlformats.org/officeDocument/2006/math">
                    <m:oMathParaPr>
                      <m:jc m:val="centerGroup"/>
                    </m:oMathParaPr>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m:oMathPara>
                </a14:m>
                <a:endParaRPr lang="en-US" altLang="zh-CN" sz="2000" dirty="0">
                  <a:solidFill>
                    <a:srgbClr val="000000"/>
                  </a:solidFill>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14:m>
                  <m:oMathPara xmlns:m="http://schemas.openxmlformats.org/officeDocument/2006/math">
                    <m:oMathParaPr>
                      <m:jc m:val="centerGroup"/>
                    </m:oMathParaPr>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14</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oMath>
                  </m:oMathPara>
                </a14:m>
                <a:endParaRPr lang="en-US" altLang="zh-CN" sz="2000" dirty="0">
                  <a:solidFill>
                    <a:srgbClr val="000000"/>
                  </a:solidFill>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14:m>
                  <m:oMathPara xmlns:m="http://schemas.openxmlformats.org/officeDocument/2006/math">
                    <m:oMathParaPr>
                      <m:jc m:val="centerGroup"/>
                    </m:oMathParaPr>
                    <m:oMath xmlns:m="http://schemas.openxmlformats.org/officeDocument/2006/math">
                      <m:r>
                        <a:rPr lang="en-US" altLang="zh-CN" sz="2000" i="1" dirty="0" err="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000" i="1" baseline="-25000" dirty="0" err="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𝑖𝑗</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err="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𝑐</m:t>
                      </m:r>
                      <m:r>
                        <a:rPr lang="en-US" altLang="zh-CN" sz="2000" i="1" baseline="-25000" dirty="0" err="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𝑖𝑗</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err="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𝑗</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m:oMathPara>
                </a14:m>
                <a:endParaRPr lang="en-US" altLang="zh-CN" sz="2000" dirty="0">
                  <a:solidFill>
                    <a:srgbClr val="000000"/>
                  </a:solidFill>
                  <a:ea typeface="楷体" panose="02010609060101010101" pitchFamily="49" charset="-122"/>
                  <a:cs typeface="Times New Roman" panose="02020603050405020304" pitchFamily="18" charset="0"/>
                </a:endParaRPr>
              </a:p>
              <a:p>
                <a:pPr>
                  <a:lnSpc>
                    <a:spcPct val="150000"/>
                  </a:lnSpc>
                  <a:tabLst>
                    <a:tab pos="203200" algn="l"/>
                    <a:tab pos="266700" algn="l"/>
                    <a:tab pos="1917700" algn="l"/>
                  </a:tabLst>
                </a:pPr>
                <a14:m>
                  <m:oMathPara xmlns:m="http://schemas.openxmlformats.org/officeDocument/2006/math">
                    <m:oMathParaPr>
                      <m:jc m:val="centerGroup"/>
                    </m:oMathParaPr>
                    <m:oMath xmlns:m="http://schemas.openxmlformats.org/officeDocument/2006/math">
                      <m:r>
                        <a:rPr lang="en-US" altLang="zh-CN" sz="20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pl-PL" altLang="zh-CN" sz="20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𝑖𝑗</m:t>
                      </m:r>
                      <m:r>
                        <a:rPr lang="pl-PL"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pl-PL"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0</m:t>
                      </m:r>
                      <m:r>
                        <a:rPr lang="pl-PL"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pl-PL"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m:t>
                      </m:r>
                      <m:r>
                        <a:rPr lang="pl-PL"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pl-PL"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pl-PL"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pl-PL"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pl-PL"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pl-PL"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pl-PL"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𝑗</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 </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en-US" altLang="zh-CN" sz="20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m:oMathPara>
                </a14:m>
                <a:endParaRPr lang="zh-CN" altLang="en-US" sz="1100" dirty="0">
                  <a:solidFill>
                    <a:srgbClr val="000000"/>
                  </a:solidFill>
                  <a:latin typeface="Times New Roman" panose="02020603050405020304" pitchFamily="18" charset="0"/>
                </a:endParaRPr>
              </a:p>
              <a:p>
                <a:pPr>
                  <a:lnSpc>
                    <a:spcPts val="1525"/>
                  </a:lnSpc>
                  <a:tabLst>
                    <a:tab pos="203200" algn="l"/>
                    <a:tab pos="266700" algn="l"/>
                    <a:tab pos="1917700" algn="l"/>
                  </a:tabLst>
                </a:pPr>
                <a:r>
                  <a:rPr lang="zh-CN" altLang="en-US" sz="1100" dirty="0">
                    <a:solidFill>
                      <a:srgbClr val="000000"/>
                    </a:solidFill>
                    <a:latin typeface="Times New Roman" panose="02020603050405020304" pitchFamily="18" charset="0"/>
                  </a:rPr>
                  <a:t>			</a:t>
                </a:r>
                <a:r>
                  <a:rPr lang="en-US" altLang="zh-CN" sz="900" dirty="0">
                    <a:solidFill>
                      <a:srgbClr val="000000"/>
                    </a:solidFill>
                    <a:latin typeface="Times New Roman" panose="02020603050405020304" pitchFamily="18" charset="0"/>
                    <a:ea typeface="黑体" panose="02010609060101010101" pitchFamily="49" charset="-122"/>
                  </a:rPr>
                  <a:t>	</a:t>
                </a:r>
                <a:endParaRPr lang="en-US" altLang="zh-CN" sz="900" dirty="0">
                  <a:solidFill>
                    <a:srgbClr val="000000"/>
                  </a:solidFill>
                  <a:latin typeface="Times New Roman" panose="02020603050405020304" pitchFamily="18" charset="0"/>
                  <a:ea typeface="黑体" panose="02010609060101010101" pitchFamily="49" charset="-122"/>
                </a:endParaRPr>
              </a:p>
              <a:p>
                <a:pPr>
                  <a:lnSpc>
                    <a:spcPts val="1525"/>
                  </a:lnSpc>
                  <a:tabLst>
                    <a:tab pos="203200" algn="l"/>
                    <a:tab pos="266700" algn="l"/>
                    <a:tab pos="1917700" algn="l"/>
                  </a:tabLst>
                </a:pPr>
                <a:r>
                  <a:rPr lang="en-US" altLang="zh-CN" sz="900" dirty="0">
                    <a:solidFill>
                      <a:srgbClr val="000000"/>
                    </a:solidFill>
                    <a:latin typeface="Times New Roman" panose="02020603050405020304" pitchFamily="18" charset="0"/>
                    <a:ea typeface="黑体" panose="02010609060101010101" pitchFamily="49" charset="-122"/>
                  </a:rPr>
                  <a:t>                                                                                                                         </a:t>
                </a:r>
                <a:endParaRPr lang="en-US" altLang="zh-CN" sz="900" dirty="0">
                  <a:solidFill>
                    <a:srgbClr val="000000"/>
                  </a:solidFill>
                  <a:latin typeface="Times New Roman" panose="02020603050405020304" pitchFamily="18" charset="0"/>
                  <a:ea typeface="黑体" panose="02010609060101010101" pitchFamily="49" charset="-122"/>
                </a:endParaRPr>
              </a:p>
            </p:txBody>
          </p:sp>
        </mc:Choice>
        <mc:Fallback>
          <p:sp>
            <p:nvSpPr>
              <p:cNvPr id="8" name="Text Box 21"/>
              <p:cNvSpPr txBox="1">
                <a:spLocks noRot="1" noChangeAspect="1" noMove="1" noResize="1" noEditPoints="1" noAdjustHandles="1" noChangeArrowheads="1" noChangeShapeType="1" noTextEdit="1"/>
              </p:cNvSpPr>
              <p:nvPr/>
            </p:nvSpPr>
            <p:spPr bwMode="auto">
              <a:xfrm>
                <a:off x="1774825" y="1377950"/>
                <a:ext cx="8569647" cy="5474335"/>
              </a:xfrm>
              <a:prstGeom prst="rect">
                <a:avLst/>
              </a:prstGeom>
              <a:blipFill rotWithShape="1">
                <a:blip r:embed="rId1"/>
                <a:stretch>
                  <a:fillRect r="4"/>
                </a:stretch>
              </a:blipFill>
              <a:ln w="9525">
                <a:noFill/>
                <a:miter lim="800000"/>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Text Box 22"/>
              <p:cNvSpPr txBox="1">
                <a:spLocks noChangeArrowheads="1"/>
              </p:cNvSpPr>
              <p:nvPr/>
            </p:nvSpPr>
            <p:spPr bwMode="auto">
              <a:xfrm>
                <a:off x="2012950" y="1474788"/>
                <a:ext cx="7510463" cy="766445"/>
              </a:xfrm>
              <a:prstGeom prst="rect">
                <a:avLst/>
              </a:prstGeom>
              <a:noFill/>
              <a:ln w="9525">
                <a:noFill/>
                <a:miter lim="800000"/>
              </a:ln>
            </p:spPr>
            <p:txBody>
              <a:bodyPr lIns="0" tIns="0" rIns="0" bIns="0">
                <a:spAutoFit/>
              </a:bodyPr>
              <a:lstStyle/>
              <a:p>
                <a:r>
                  <a:rPr lang="zh-CN" altLang="en-US" sz="2400" dirty="0">
                    <a:solidFill>
                      <a:srgbClr val="000000"/>
                    </a:solidFill>
                    <a:ea typeface="楷体" panose="02010609060101010101" pitchFamily="49" charset="-122"/>
                    <a:cs typeface="Times New Roman" panose="02020603050405020304" pitchFamily="18" charset="0"/>
                  </a:rPr>
                  <a:t>以此例题建立线性规划数学模型：</a:t>
                </a:r>
                <a:endParaRPr lang="zh-CN" altLang="en-US" sz="2400" dirty="0">
                  <a:solidFill>
                    <a:srgbClr val="000000"/>
                  </a:solidFill>
                  <a:ea typeface="楷体" panose="02010609060101010101" pitchFamily="49" charset="-122"/>
                  <a:cs typeface="Times New Roman" panose="02020603050405020304" pitchFamily="18" charset="0"/>
                </a:endParaRPr>
              </a:p>
              <a:p>
                <a:r>
                  <a:rPr lang="zh-CN" altLang="en-US" sz="2400" dirty="0">
                    <a:solidFill>
                      <a:srgbClr val="000000"/>
                    </a:solidFill>
                    <a:ea typeface="楷体" panose="02010609060101010101" pitchFamily="49" charset="-122"/>
                    <a:cs typeface="Times New Roman" panose="02020603050405020304" pitchFamily="18" charset="0"/>
                  </a:rPr>
                  <a:t>设弧</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e>
                      <m:sub>
                        <m: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m:t>
                        </m:r>
                      </m:sub>
                    </m:sSub>
                    <m: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e>
                      <m:sub>
                        <m: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𝑗</m:t>
                        </m:r>
                      </m:sub>
                    </m:sSub>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400" dirty="0">
                    <a:solidFill>
                      <a:srgbClr val="000000"/>
                    </a:solidFill>
                    <a:ea typeface="楷体" panose="02010609060101010101" pitchFamily="49" charset="-122"/>
                    <a:cs typeface="Times New Roman" panose="02020603050405020304" pitchFamily="18" charset="0"/>
                  </a:rPr>
                  <a:t>上流量</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为</m:t>
                    </m:r>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err="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err="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𝑖𝑗</m:t>
                    </m:r>
                  </m:oMath>
                </a14:m>
                <a:r>
                  <a:rPr lang="zh-CN" altLang="en-US" sz="2400" dirty="0">
                    <a:solidFill>
                      <a:srgbClr val="000000"/>
                    </a:solidFill>
                    <a:ea typeface="楷体" panose="02010609060101010101" pitchFamily="49" charset="-122"/>
                    <a:cs typeface="Times New Roman" panose="02020603050405020304" pitchFamily="18" charset="0"/>
                  </a:rPr>
                  <a:t>，网络上的总的流量</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为</m:t>
                    </m:r>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𝐹</m:t>
                    </m:r>
                  </m:oMath>
                </a14:m>
                <a:endParaRPr lang="zh-CN" altLang="en-US" sz="2400" dirty="0">
                  <a:solidFill>
                    <a:srgbClr val="000000"/>
                  </a:solidFill>
                  <a:ea typeface="楷体" panose="02010609060101010101" pitchFamily="49" charset="-122"/>
                  <a:cs typeface="Times New Roman" panose="02020603050405020304" pitchFamily="18" charset="0"/>
                </a:endParaRPr>
              </a:p>
            </p:txBody>
          </p:sp>
        </mc:Choice>
        <mc:Fallback>
          <p:sp>
            <p:nvSpPr>
              <p:cNvPr id="13" name="Text Box 22"/>
              <p:cNvSpPr txBox="1">
                <a:spLocks noRot="1" noChangeAspect="1" noMove="1" noResize="1" noEditPoints="1" noAdjustHandles="1" noChangeArrowheads="1" noChangeShapeType="1" noTextEdit="1"/>
              </p:cNvSpPr>
              <p:nvPr/>
            </p:nvSpPr>
            <p:spPr bwMode="auto">
              <a:xfrm>
                <a:off x="2012950" y="1474788"/>
                <a:ext cx="7510463" cy="766445"/>
              </a:xfrm>
              <a:prstGeom prst="rect">
                <a:avLst/>
              </a:prstGeom>
              <a:blipFill rotWithShape="1">
                <a:blip r:embed="rId2"/>
                <a:stretch>
                  <a:fillRect t="-41" r="4" b="-7001"/>
                </a:stretch>
              </a:blipFill>
              <a:ln w="9525">
                <a:noFill/>
                <a:miter lim="800000"/>
              </a:ln>
            </p:spPr>
            <p:txBody>
              <a:bodyPr/>
              <a:lstStyle/>
              <a:p>
                <a:r>
                  <a:rPr lang="zh-CN" altLang="en-US">
                    <a:noFill/>
                  </a:rPr>
                  <a:t> </a:t>
                </a:r>
              </a:p>
            </p:txBody>
          </p:sp>
        </mc:Fallback>
      </mc:AlternateContent>
      <p:sp>
        <p:nvSpPr>
          <p:cNvPr id="2"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最大流问题</a:t>
            </a:r>
            <a:r>
              <a:rPr lang="zh-CN" altLang="en-US" dirty="0"/>
              <a:t> </a:t>
            </a:r>
            <a:r>
              <a:rPr lang="en-US" altLang="zh-CN" dirty="0"/>
              <a:t>–</a:t>
            </a:r>
            <a:r>
              <a:rPr lang="zh-CN" altLang="en-US" dirty="0">
                <a:sym typeface="+mn-ea"/>
              </a:rPr>
              <a:t>线性规划模型</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sp>
        <p:nvSpPr>
          <p:cNvPr id="81925" name="Text Box 21"/>
          <p:cNvSpPr txBox="1">
            <a:spLocks noChangeArrowheads="1"/>
          </p:cNvSpPr>
          <p:nvPr/>
        </p:nvSpPr>
        <p:spPr bwMode="auto">
          <a:xfrm>
            <a:off x="2039938" y="1244600"/>
            <a:ext cx="7510462" cy="1950085"/>
          </a:xfrm>
          <a:prstGeom prst="rect">
            <a:avLst/>
          </a:prstGeom>
          <a:noFill/>
          <a:ln w="9525">
            <a:noFill/>
            <a:miter lim="800000"/>
          </a:ln>
        </p:spPr>
        <p:txBody>
          <a:bodyPr lIns="0" tIns="0" rIns="0" bIns="0">
            <a:spAutoFit/>
          </a:bodyPr>
          <a:lstStyle/>
          <a:p>
            <a:pPr>
              <a:tabLst>
                <a:tab pos="203200" algn="l"/>
                <a:tab pos="266700" algn="l"/>
                <a:tab pos="1917700" algn="l"/>
              </a:tabLst>
            </a:pPr>
            <a:endParaRPr lang="zh-CN" altLang="en-US">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525"/>
              </a:lnSpc>
              <a:tabLst>
                <a:tab pos="203200" algn="l"/>
                <a:tab pos="266700" algn="l"/>
                <a:tab pos="1917700" algn="l"/>
              </a:tabLst>
            </a:pPr>
            <a:r>
              <a:rPr lang="zh-CN" altLang="en-US" sz="1100">
                <a:solidFill>
                  <a:srgbClr val="000000"/>
                </a:solidFill>
                <a:latin typeface="Times New Roman" panose="02020603050405020304" pitchFamily="18" charset="0"/>
                <a:cs typeface="Times New Roman" panose="02020603050405020304" pitchFamily="18" charset="0"/>
              </a:rPr>
              <a:t>			</a:t>
            </a: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525"/>
              </a:lnSpc>
              <a:tabLst>
                <a:tab pos="203200" algn="l"/>
                <a:tab pos="266700" algn="l"/>
                <a:tab pos="1917700" algn="l"/>
              </a:tabLst>
            </a:pP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3" name="Text Box 22"/>
              <p:cNvSpPr txBox="1">
                <a:spLocks noChangeArrowheads="1"/>
              </p:cNvSpPr>
              <p:nvPr/>
            </p:nvSpPr>
            <p:spPr bwMode="auto">
              <a:xfrm>
                <a:off x="1721197" y="1532263"/>
                <a:ext cx="8749605" cy="3877945"/>
              </a:xfrm>
              <a:prstGeom prst="rect">
                <a:avLst/>
              </a:prstGeom>
              <a:noFill/>
              <a:ln w="9525">
                <a:noFill/>
                <a:miter lim="800000"/>
              </a:ln>
            </p:spPr>
            <p:txBody>
              <a:bodyPr wrap="square" lIns="0" tIns="0" rIns="0" bIns="0">
                <a:spAutoFit/>
              </a:bodyPr>
              <a:lstStyle/>
              <a:p>
                <a:pPr algn="just">
                  <a:lnSpc>
                    <a:spcPct val="150000"/>
                  </a:lnSpc>
                </a:pP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满足守恒条件及流量可行条件的一组网络流</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err="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err="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𝑖𝑗</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称之为可行</a:t>
                </a:r>
                <a:r>
                  <a:rPr lang="zh-CN" altLang="en-US" sz="24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流，（即</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线性规划的可行解），可行流中一组流量最大（即发点总流出量最大）的称为最大流（即线性规划的最优解）。</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pP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例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的数据</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𝑐</m:t>
                    </m:r>
                    <m:r>
                      <a:rPr lang="en-US" altLang="zh-CN" sz="1400" i="1" dirty="0" err="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𝑖𝑗</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代入以上线性规划模型，用“管理运筹学”软件运算，得如下结果：</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12</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14</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23</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25</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43</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46</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47</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35</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36</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57</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67</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。最优值（最大流）</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10</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13" name="Text Box 22"/>
              <p:cNvSpPr txBox="1">
                <a:spLocks noRot="1" noChangeAspect="1" noMove="1" noResize="1" noEditPoints="1" noAdjustHandles="1" noChangeArrowheads="1" noChangeShapeType="1" noTextEdit="1"/>
              </p:cNvSpPr>
              <p:nvPr/>
            </p:nvSpPr>
            <p:spPr bwMode="auto">
              <a:xfrm>
                <a:off x="1721197" y="1532263"/>
                <a:ext cx="8749605" cy="3877945"/>
              </a:xfrm>
              <a:prstGeom prst="rect">
                <a:avLst/>
              </a:prstGeom>
              <a:blipFill rotWithShape="1">
                <a:blip r:embed="rId1"/>
                <a:stretch>
                  <a:fillRect l="-4" r="3"/>
                </a:stretch>
              </a:blipFill>
              <a:ln w="9525">
                <a:noFill/>
                <a:miter lim="800000"/>
              </a:ln>
            </p:spPr>
            <p:txBody>
              <a:bodyPr/>
              <a:lstStyle/>
              <a:p>
                <a:r>
                  <a:rPr lang="zh-CN" altLang="en-US">
                    <a:noFill/>
                  </a:rPr>
                  <a:t> </a:t>
                </a:r>
              </a:p>
            </p:txBody>
          </p:sp>
        </mc:Fallback>
      </mc:AlternateContent>
      <p:sp>
        <p:nvSpPr>
          <p:cNvPr id="81927" name="矩形 3"/>
          <p:cNvSpPr>
            <a:spLocks noChangeArrowheads="1"/>
          </p:cNvSpPr>
          <p:nvPr/>
        </p:nvSpPr>
        <p:spPr bwMode="auto">
          <a:xfrm>
            <a:off x="5145088" y="3848100"/>
            <a:ext cx="386080" cy="2553335"/>
          </a:xfrm>
          <a:prstGeom prst="rect">
            <a:avLst/>
          </a:prstGeom>
          <a:noFill/>
          <a:ln w="9525">
            <a:noFill/>
            <a:miter lim="800000"/>
          </a:ln>
        </p:spPr>
        <p:txBody>
          <a:bodyPr wrap="none">
            <a:spAutoFit/>
          </a:bodyPr>
          <a:lstStyle/>
          <a:p>
            <a:endParaRPr lang="en-US" altLang="zh-CN" sz="1600">
              <a:solidFill>
                <a:srgbClr val="000000"/>
              </a:solidFill>
              <a:latin typeface="黑体" panose="02010609060101010101" pitchFamily="49" charset="-122"/>
              <a:ea typeface="黑体" panose="02010609060101010101" pitchFamily="49" charset="-122"/>
            </a:endParaRPr>
          </a:p>
          <a:p>
            <a:endParaRPr lang="en-US" altLang="zh-CN" sz="1600">
              <a:solidFill>
                <a:srgbClr val="000000"/>
              </a:solidFill>
              <a:latin typeface="黑体" panose="02010609060101010101" pitchFamily="49" charset="-122"/>
              <a:ea typeface="黑体" panose="02010609060101010101" pitchFamily="49" charset="-122"/>
            </a:endParaRPr>
          </a:p>
          <a:p>
            <a:endParaRPr lang="en-US" altLang="zh-CN" sz="1600">
              <a:solidFill>
                <a:srgbClr val="000000"/>
              </a:solidFill>
              <a:latin typeface="黑体" panose="02010609060101010101" pitchFamily="49" charset="-122"/>
              <a:ea typeface="黑体" panose="02010609060101010101" pitchFamily="49" charset="-122"/>
            </a:endParaRPr>
          </a:p>
          <a:p>
            <a:r>
              <a:rPr lang="zh-CN" altLang="en-US" sz="1600">
                <a:solidFill>
                  <a:srgbClr val="000000"/>
                </a:solidFill>
                <a:latin typeface="黑体" panose="02010609060101010101" pitchFamily="49" charset="-122"/>
                <a:ea typeface="黑体" panose="02010609060101010101" pitchFamily="49" charset="-122"/>
              </a:rPr>
              <a:t>  </a:t>
            </a:r>
            <a:endParaRPr lang="en-US" altLang="zh-CN" sz="1600">
              <a:solidFill>
                <a:srgbClr val="000000"/>
              </a:solidFill>
              <a:latin typeface="黑体" panose="02010609060101010101" pitchFamily="49" charset="-122"/>
              <a:ea typeface="黑体" panose="02010609060101010101" pitchFamily="49" charset="-122"/>
            </a:endParaRPr>
          </a:p>
          <a:p>
            <a:endParaRPr lang="en-US" altLang="zh-CN" sz="1600">
              <a:solidFill>
                <a:srgbClr val="000000"/>
              </a:solidFill>
              <a:latin typeface="黑体" panose="02010609060101010101" pitchFamily="49" charset="-122"/>
              <a:ea typeface="黑体" panose="02010609060101010101" pitchFamily="49" charset="-122"/>
            </a:endParaRPr>
          </a:p>
          <a:p>
            <a:endParaRPr lang="en-US" altLang="zh-CN" sz="1600">
              <a:solidFill>
                <a:srgbClr val="000000"/>
              </a:solidFill>
              <a:latin typeface="黑体" panose="02010609060101010101" pitchFamily="49" charset="-122"/>
              <a:ea typeface="黑体" panose="02010609060101010101" pitchFamily="49" charset="-122"/>
            </a:endParaRPr>
          </a:p>
          <a:p>
            <a:endParaRPr lang="en-US" altLang="zh-CN" sz="1600">
              <a:solidFill>
                <a:srgbClr val="000000"/>
              </a:solidFill>
              <a:latin typeface="黑体" panose="02010609060101010101" pitchFamily="49" charset="-122"/>
              <a:ea typeface="黑体" panose="02010609060101010101" pitchFamily="49" charset="-122"/>
            </a:endParaRPr>
          </a:p>
          <a:p>
            <a:endParaRPr lang="en-US" altLang="zh-CN" sz="1600">
              <a:solidFill>
                <a:srgbClr val="000000"/>
              </a:solidFill>
              <a:latin typeface="黑体" panose="02010609060101010101" pitchFamily="49" charset="-122"/>
              <a:ea typeface="黑体" panose="02010609060101010101" pitchFamily="49" charset="-122"/>
            </a:endParaRPr>
          </a:p>
          <a:p>
            <a:r>
              <a:rPr lang="zh-CN" altLang="en-US" sz="1600">
                <a:solidFill>
                  <a:srgbClr val="000000"/>
                </a:solidFill>
                <a:latin typeface="黑体" panose="02010609060101010101" pitchFamily="49" charset="-122"/>
                <a:ea typeface="黑体" panose="02010609060101010101" pitchFamily="49" charset="-122"/>
              </a:rPr>
              <a:t> </a:t>
            </a:r>
            <a:endParaRPr lang="en-US" altLang="zh-CN" sz="1600">
              <a:solidFill>
                <a:srgbClr val="000000"/>
              </a:solidFill>
              <a:latin typeface="黑体" panose="02010609060101010101" pitchFamily="49" charset="-122"/>
              <a:ea typeface="黑体" panose="02010609060101010101" pitchFamily="49" charset="-122"/>
            </a:endParaRPr>
          </a:p>
          <a:p>
            <a:endParaRPr lang="en-US" altLang="zh-CN" sz="1600">
              <a:solidFill>
                <a:srgbClr val="000000"/>
              </a:solidFill>
              <a:latin typeface="黑体" panose="02010609060101010101" pitchFamily="49" charset="-122"/>
              <a:ea typeface="黑体" panose="02010609060101010101" pitchFamily="49" charset="-122"/>
            </a:endParaRPr>
          </a:p>
        </p:txBody>
      </p:sp>
      <p:sp>
        <p:nvSpPr>
          <p:cNvPr id="2"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最大流问题</a:t>
            </a:r>
            <a:r>
              <a:rPr lang="zh-CN" altLang="en-US" dirty="0"/>
              <a:t> </a:t>
            </a:r>
            <a:r>
              <a:rPr lang="en-US" altLang="zh-CN" dirty="0"/>
              <a:t>–</a:t>
            </a:r>
            <a:r>
              <a:rPr lang="zh-CN" altLang="en-US" dirty="0"/>
              <a:t> </a:t>
            </a:r>
            <a:r>
              <a:rPr lang="zh-CN" altLang="en-US" dirty="0">
                <a:sym typeface="+mn-ea"/>
              </a:rPr>
              <a:t>线性规划模型</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最大流问题</a:t>
            </a:r>
            <a:r>
              <a:rPr lang="zh-CN" altLang="en-US" dirty="0"/>
              <a:t> </a:t>
            </a:r>
            <a:r>
              <a:rPr lang="en-US" altLang="zh-CN" dirty="0"/>
              <a:t>–</a:t>
            </a:r>
            <a:r>
              <a:rPr lang="zh-CN" altLang="en-US" dirty="0"/>
              <a:t> 容量标号改进</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r>
                  <a:rPr lang="zh-CN" altLang="en-US" dirty="0"/>
                  <a:t>我们要</a:t>
                </a:r>
                <a:r>
                  <a:rPr lang="en-US" dirty="0" err="1"/>
                  <a:t>对网络上弧的容量表示方法进行改进</a:t>
                </a:r>
                <a:r>
                  <a:rPr lang="zh-CN" altLang="en-US" dirty="0"/>
                  <a:t>：</a:t>
                </a:r>
                <a:endParaRPr lang="en-US" altLang="zh-CN" dirty="0"/>
              </a:p>
              <a:p>
                <a:r>
                  <a:rPr lang="zh-CN" altLang="en-US" dirty="0"/>
                  <a:t>对一条弧（</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𝑗</m:t>
                        </m:r>
                      </m:sub>
                    </m:sSub>
                  </m:oMath>
                </a14:m>
                <a:r>
                  <a:rPr lang="zh-CN" altLang="en-US" dirty="0"/>
                  <a:t>）的容量我们用一对数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𝑖𝑗</m:t>
                        </m:r>
                      </m:sub>
                    </m:sSub>
                  </m:oMath>
                </a14:m>
                <a:r>
                  <a:rPr lang="zh-CN" altLang="en-US" dirty="0"/>
                  <a:t>，</a:t>
                </a:r>
                <a:r>
                  <a:rPr lang="en-US" altLang="zh-CN" dirty="0"/>
                  <a:t>0</a:t>
                </a:r>
                <a:r>
                  <a:rPr lang="zh-CN" altLang="en-US" dirty="0"/>
                  <a:t>标在弧（</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𝑗</m:t>
                        </m:r>
                      </m:sub>
                    </m:sSub>
                  </m:oMath>
                </a14:m>
                <a:r>
                  <a:rPr lang="zh-CN" altLang="en-US" dirty="0"/>
                  <a:t>）上</a:t>
                </a:r>
                <a:endParaRPr lang="en-US" altLang="zh-CN" dirty="0"/>
              </a:p>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𝑖𝑗</m:t>
                        </m:r>
                      </m:sub>
                    </m:sSub>
                  </m:oMath>
                </a14:m>
                <a:r>
                  <a:rPr lang="zh-CN" altLang="en-US" dirty="0"/>
                  <a:t>靠近</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b="0" i="1" dirty="0" smtClean="0">
                            <a:latin typeface="Cambria Math" panose="02040503050406030204" pitchFamily="18" charset="0"/>
                          </a:rPr>
                          <m:t>𝑖</m:t>
                        </m:r>
                      </m:sub>
                    </m:sSub>
                  </m:oMath>
                </a14:m>
                <a:r>
                  <a:rPr lang="zh-CN" altLang="en-US" dirty="0"/>
                  <a:t>点，</a:t>
                </a:r>
                <a:r>
                  <a:rPr lang="en-US" altLang="zh-CN" dirty="0"/>
                  <a:t>0</a:t>
                </a:r>
                <a:r>
                  <a:rPr lang="zh-CN" altLang="en-US" dirty="0"/>
                  <a:t>靠近</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𝑗</m:t>
                        </m:r>
                      </m:sub>
                    </m:sSub>
                  </m:oMath>
                </a14:m>
                <a:r>
                  <a:rPr lang="zh-CN" altLang="en-US" dirty="0"/>
                  <a:t>点表示从</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m:t>
                        </m:r>
                      </m:sub>
                    </m:sSub>
                  </m:oMath>
                </a14:m>
                <a:r>
                  <a:rPr lang="zh-CN" altLang="en-US" dirty="0"/>
                  <a:t>到</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b="0" i="1" dirty="0" smtClean="0">
                            <a:latin typeface="Cambria Math" panose="02040503050406030204" pitchFamily="18" charset="0"/>
                          </a:rPr>
                          <m:t>𝑗</m:t>
                        </m:r>
                      </m:sub>
                    </m:sSub>
                  </m:oMath>
                </a14:m>
                <a:r>
                  <a:rPr lang="zh-CN" altLang="en-US" dirty="0"/>
                  <a:t>容许通过的量为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𝑖𝑗</m:t>
                        </m:r>
                      </m:sub>
                    </m:sSub>
                  </m:oMath>
                </a14:m>
                <a:endParaRPr lang="en-US" altLang="zh-CN" dirty="0"/>
              </a:p>
              <a:p>
                <a:r>
                  <a:rPr lang="zh-CN" altLang="en-US" dirty="0"/>
                  <a:t>相反，从</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𝑗</m:t>
                        </m:r>
                      </m:sub>
                    </m:sSub>
                  </m:oMath>
                </a14:m>
                <a:r>
                  <a:rPr lang="zh-CN" altLang="en-US" dirty="0"/>
                  <a:t>到</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𝑣</m:t>
                        </m:r>
                      </m:e>
                      <m:sub>
                        <m:r>
                          <a:rPr lang="en-US" altLang="zh-CN" b="0" i="1" dirty="0" smtClean="0">
                            <a:latin typeface="Cambria Math" panose="02040503050406030204" pitchFamily="18" charset="0"/>
                          </a:rPr>
                          <m:t>𝑖</m:t>
                        </m:r>
                      </m:sub>
                    </m:sSub>
                  </m:oMath>
                </a14:m>
                <a:r>
                  <a:rPr lang="zh-CN" altLang="en-US" dirty="0"/>
                  <a:t>容许通过的量为</a:t>
                </a:r>
                <a:r>
                  <a:rPr lang="en-US" altLang="zh-CN" dirty="0"/>
                  <a:t>0</a:t>
                </a:r>
                <a:endParaRPr lang="en-US" altLang="zh-CN" dirty="0"/>
              </a:p>
              <a:p>
                <a:r>
                  <a:rPr lang="zh-CN" altLang="en-US" dirty="0"/>
                  <a:t>这样我们可以省去弧方向，将图</a:t>
                </a:r>
                <a:r>
                  <a:rPr lang="en-US" altLang="zh-CN" dirty="0"/>
                  <a:t>(a)</a:t>
                </a:r>
                <a:r>
                  <a:rPr lang="zh-CN" altLang="en-US" dirty="0"/>
                  <a:t>转化为图</a:t>
                </a:r>
                <a:r>
                  <a:rPr lang="en-US" altLang="zh-CN" dirty="0"/>
                  <a:t>(b)</a:t>
                </a:r>
                <a:r>
                  <a:rPr lang="zh-CN" altLang="en-US" dirty="0"/>
                  <a:t>的表达形式</a:t>
                </a:r>
                <a:endParaRPr lang="en-US"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pic>
        <p:nvPicPr>
          <p:cNvPr id="4" name="Picture 3"/>
          <p:cNvPicPr>
            <a:picLocks noChangeAspect="1"/>
          </p:cNvPicPr>
          <p:nvPr/>
        </p:nvPicPr>
        <p:blipFill>
          <a:blip r:embed="rId2"/>
          <a:stretch>
            <a:fillRect/>
          </a:stretch>
        </p:blipFill>
        <p:spPr>
          <a:xfrm>
            <a:off x="2279650" y="4538663"/>
            <a:ext cx="7632700" cy="1638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最大流问题</a:t>
            </a:r>
            <a:r>
              <a:rPr lang="zh-CN" altLang="en-US" dirty="0"/>
              <a:t> </a:t>
            </a:r>
            <a:r>
              <a:rPr lang="en-US" altLang="zh-CN" dirty="0"/>
              <a:t>–</a:t>
            </a:r>
            <a:r>
              <a:rPr lang="zh-CN" altLang="en-US" dirty="0"/>
              <a:t>网络图论解法的基本算法 </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dirty="0"/>
                  <a:t>找出一条出发点到收点的路</a:t>
                </a:r>
                <a:r>
                  <a:rPr lang="zh-CN" altLang="en-US" dirty="0"/>
                  <a:t>，在这条路上的每一条弧顺流方向的容量都大于零。如果不存在这样的路，则已求得最大流。</a:t>
                </a:r>
                <a:endParaRPr lang="en-US" altLang="zh-CN" dirty="0"/>
              </a:p>
              <a:p>
                <a:pPr marL="514350" indent="-514350">
                  <a:buFont typeface="+mj-lt"/>
                  <a:buAutoNum type="arabicPeriod"/>
                </a:pPr>
                <a:r>
                  <a:rPr lang="zh-CN" altLang="en-US" dirty="0"/>
                  <a:t>找出这条路上各条弧的最小的顺流容量</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𝑓</m:t>
                        </m:r>
                      </m:sub>
                    </m:sSub>
                  </m:oMath>
                </a14:m>
                <a:r>
                  <a:rPr lang="zh-CN" altLang="en-US" dirty="0"/>
                  <a:t>，通过这条路增加网络的容量</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𝑓</m:t>
                        </m:r>
                      </m:sub>
                    </m:sSub>
                  </m:oMath>
                </a14:m>
                <a:r>
                  <a:rPr lang="zh-CN" altLang="en-US" dirty="0"/>
                  <a:t>。</a:t>
                </a:r>
                <a:endParaRPr lang="en-US" altLang="zh-CN" dirty="0"/>
              </a:p>
              <a:p>
                <a:pPr marL="514350" indent="-514350">
                  <a:buFont typeface="+mj-lt"/>
                  <a:buAutoNum type="arabicPeriod"/>
                </a:pPr>
                <a:r>
                  <a:rPr lang="zh-CN" altLang="en-US" dirty="0"/>
                  <a:t>在这条路上，减少每一条弧的顺流容量</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𝑓</m:t>
                        </m:r>
                      </m:sub>
                    </m:sSub>
                  </m:oMath>
                </a14:m>
                <a:r>
                  <a:rPr lang="zh-CN" altLang="en-US" dirty="0"/>
                  <a:t>，同时增加这些弧的逆流容量</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𝑓</m:t>
                        </m:r>
                      </m:sub>
                    </m:sSub>
                  </m:oMath>
                </a14:m>
                <a:r>
                  <a:rPr lang="zh-CN" altLang="en-US" dirty="0"/>
                  <a:t>。</a:t>
                </a:r>
                <a:endParaRPr lang="en-US" altLang="zh-CN" dirty="0"/>
              </a:p>
              <a:p>
                <a:pPr marL="514350" indent="-514350">
                  <a:buFont typeface="+mj-lt"/>
                  <a:buAutoNum type="arabicPeriod"/>
                </a:pPr>
                <a:r>
                  <a:rPr lang="zh-CN" altLang="en-US" dirty="0"/>
                  <a:t>返回步骤</a:t>
                </a:r>
                <a:r>
                  <a:rPr lang="en-US" altLang="zh-CN" dirty="0"/>
                  <a:t>1</a:t>
                </a:r>
                <a:endParaRPr lang="en-US" altLang="zh-CN" dirty="0"/>
              </a:p>
              <a:p>
                <a:pPr marL="0" indent="0">
                  <a:buNone/>
                </a:pPr>
                <a:endParaRPr lang="en-US" altLang="zh-CN" dirty="0"/>
              </a:p>
              <a:p>
                <a:pPr marL="0" indent="0">
                  <a:buNone/>
                </a:pPr>
                <a:r>
                  <a:rPr lang="zh-CN" altLang="en-US" dirty="0"/>
                  <a:t>为了使算法更快捷有效，我们一般在步骤</a:t>
                </a:r>
                <a:r>
                  <a:rPr lang="en-US" altLang="zh-CN" dirty="0"/>
                  <a:t>1</a:t>
                </a:r>
                <a:r>
                  <a:rPr lang="zh-CN" altLang="en-US" dirty="0"/>
                  <a:t>中尽量选择包含弧数最少的路</a:t>
                </a:r>
                <a:endParaRPr lang="en-US"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最大流问题</a:t>
            </a:r>
            <a:r>
              <a:rPr lang="zh-CN" altLang="en-US" dirty="0"/>
              <a:t> </a:t>
            </a:r>
            <a:r>
              <a:rPr lang="en-US" altLang="zh-CN" dirty="0"/>
              <a:t>–</a:t>
            </a:r>
            <a:r>
              <a:rPr lang="zh-CN" altLang="en-US" dirty="0"/>
              <a:t> 经过流量标号改进的例</a:t>
            </a:r>
            <a:r>
              <a:rPr lang="en-US" altLang="zh-CN" dirty="0"/>
              <a:t>6</a:t>
            </a:r>
            <a:r>
              <a:rPr lang="zh-CN" altLang="en-US" dirty="0"/>
              <a:t> </a:t>
            </a:r>
            <a:endParaRPr lang="en-US" dirty="0"/>
          </a:p>
        </p:txBody>
      </p:sp>
      <p:grpSp>
        <p:nvGrpSpPr>
          <p:cNvPr id="4" name="Group 3"/>
          <p:cNvGrpSpPr/>
          <p:nvPr/>
        </p:nvGrpSpPr>
        <p:grpSpPr bwMode="auto">
          <a:xfrm>
            <a:off x="2236493" y="1855760"/>
            <a:ext cx="7848600" cy="4378170"/>
            <a:chOff x="0" y="40"/>
            <a:chExt cx="3888" cy="1669"/>
          </a:xfrm>
        </p:grpSpPr>
        <p:sp>
          <p:nvSpPr>
            <p:cNvPr id="5" name="Line 4"/>
            <p:cNvSpPr>
              <a:spLocks noChangeShapeType="1"/>
            </p:cNvSpPr>
            <p:nvPr/>
          </p:nvSpPr>
          <p:spPr bwMode="auto">
            <a:xfrm>
              <a:off x="192" y="816"/>
              <a:ext cx="672" cy="67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 name="Line 5"/>
            <p:cNvSpPr>
              <a:spLocks noChangeShapeType="1"/>
            </p:cNvSpPr>
            <p:nvPr/>
          </p:nvSpPr>
          <p:spPr bwMode="auto">
            <a:xfrm flipV="1">
              <a:off x="192" y="288"/>
              <a:ext cx="672" cy="528"/>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7" name="Line 6"/>
            <p:cNvSpPr>
              <a:spLocks noChangeShapeType="1"/>
            </p:cNvSpPr>
            <p:nvPr/>
          </p:nvSpPr>
          <p:spPr bwMode="auto">
            <a:xfrm flipV="1">
              <a:off x="864" y="816"/>
              <a:ext cx="672" cy="67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 name="Line 7"/>
            <p:cNvSpPr>
              <a:spLocks noChangeShapeType="1"/>
            </p:cNvSpPr>
            <p:nvPr/>
          </p:nvSpPr>
          <p:spPr bwMode="auto">
            <a:xfrm>
              <a:off x="864" y="288"/>
              <a:ext cx="672" cy="528"/>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 name="Line 8"/>
            <p:cNvSpPr>
              <a:spLocks noChangeShapeType="1"/>
            </p:cNvSpPr>
            <p:nvPr/>
          </p:nvSpPr>
          <p:spPr bwMode="auto">
            <a:xfrm flipV="1">
              <a:off x="864" y="144"/>
              <a:ext cx="1104" cy="144"/>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 name="Line 9"/>
            <p:cNvSpPr>
              <a:spLocks noChangeShapeType="1"/>
            </p:cNvSpPr>
            <p:nvPr/>
          </p:nvSpPr>
          <p:spPr bwMode="auto">
            <a:xfrm flipV="1">
              <a:off x="1536" y="144"/>
              <a:ext cx="432" cy="67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1" name="Line 10"/>
            <p:cNvSpPr>
              <a:spLocks noChangeShapeType="1"/>
            </p:cNvSpPr>
            <p:nvPr/>
          </p:nvSpPr>
          <p:spPr bwMode="auto">
            <a:xfrm flipV="1">
              <a:off x="1536" y="624"/>
              <a:ext cx="2064" cy="19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2" name="Line 11"/>
            <p:cNvSpPr>
              <a:spLocks noChangeShapeType="1"/>
            </p:cNvSpPr>
            <p:nvPr/>
          </p:nvSpPr>
          <p:spPr bwMode="auto">
            <a:xfrm flipV="1">
              <a:off x="864" y="624"/>
              <a:ext cx="2736" cy="864"/>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3" name="Line 12"/>
            <p:cNvSpPr>
              <a:spLocks noChangeShapeType="1"/>
            </p:cNvSpPr>
            <p:nvPr/>
          </p:nvSpPr>
          <p:spPr bwMode="auto">
            <a:xfrm>
              <a:off x="1968" y="144"/>
              <a:ext cx="1632" cy="480"/>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4" name="Line 13"/>
            <p:cNvSpPr>
              <a:spLocks noChangeShapeType="1"/>
            </p:cNvSpPr>
            <p:nvPr/>
          </p:nvSpPr>
          <p:spPr bwMode="auto">
            <a:xfrm flipV="1">
              <a:off x="864" y="720"/>
              <a:ext cx="1824" cy="768"/>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5" name="Text Box 14"/>
            <p:cNvSpPr txBox="1">
              <a:spLocks noChangeArrowheads="1"/>
            </p:cNvSpPr>
            <p:nvPr/>
          </p:nvSpPr>
          <p:spPr bwMode="auto">
            <a:xfrm>
              <a:off x="160" y="603"/>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6</a:t>
              </a:r>
              <a:endParaRPr lang="en-US" altLang="zh-CN" sz="2400" b="1" dirty="0"/>
            </a:p>
          </p:txBody>
        </p:sp>
        <p:sp>
          <p:nvSpPr>
            <p:cNvPr id="16" name="Text Box 15"/>
            <p:cNvSpPr txBox="1">
              <a:spLocks noChangeArrowheads="1"/>
            </p:cNvSpPr>
            <p:nvPr/>
          </p:nvSpPr>
          <p:spPr bwMode="auto">
            <a:xfrm>
              <a:off x="925" y="112"/>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3</a:t>
              </a:r>
              <a:endParaRPr lang="en-US" altLang="zh-CN" sz="2400" b="1" dirty="0"/>
            </a:p>
          </p:txBody>
        </p:sp>
        <p:sp>
          <p:nvSpPr>
            <p:cNvPr id="17" name="Text Box 16"/>
            <p:cNvSpPr txBox="1">
              <a:spLocks noChangeArrowheads="1"/>
            </p:cNvSpPr>
            <p:nvPr/>
          </p:nvSpPr>
          <p:spPr bwMode="auto">
            <a:xfrm>
              <a:off x="2040" y="40"/>
              <a:ext cx="33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5</a:t>
              </a:r>
              <a:endParaRPr lang="en-US" altLang="zh-CN" sz="2400" b="1" dirty="0"/>
            </a:p>
          </p:txBody>
        </p:sp>
        <p:sp>
          <p:nvSpPr>
            <p:cNvPr id="18" name="Text Box 17"/>
            <p:cNvSpPr txBox="1">
              <a:spLocks noChangeArrowheads="1"/>
            </p:cNvSpPr>
            <p:nvPr/>
          </p:nvSpPr>
          <p:spPr bwMode="auto">
            <a:xfrm>
              <a:off x="944" y="243"/>
              <a:ext cx="33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2</a:t>
              </a:r>
              <a:endParaRPr lang="en-US" altLang="zh-CN" sz="2400" b="1" dirty="0"/>
            </a:p>
          </p:txBody>
        </p:sp>
        <p:sp>
          <p:nvSpPr>
            <p:cNvPr id="19" name="Text Box 18"/>
            <p:cNvSpPr txBox="1">
              <a:spLocks noChangeArrowheads="1"/>
            </p:cNvSpPr>
            <p:nvPr/>
          </p:nvSpPr>
          <p:spPr bwMode="auto">
            <a:xfrm>
              <a:off x="1464" y="58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2</a:t>
              </a:r>
              <a:endParaRPr lang="en-US" altLang="zh-CN" sz="2400" b="1" dirty="0"/>
            </a:p>
          </p:txBody>
        </p:sp>
        <p:sp>
          <p:nvSpPr>
            <p:cNvPr id="20" name="Text Box 19"/>
            <p:cNvSpPr txBox="1">
              <a:spLocks noChangeArrowheads="1"/>
            </p:cNvSpPr>
            <p:nvPr/>
          </p:nvSpPr>
          <p:spPr bwMode="auto">
            <a:xfrm>
              <a:off x="1594" y="656"/>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2</a:t>
              </a:r>
              <a:endParaRPr lang="en-US" altLang="zh-CN" sz="2400" b="1"/>
            </a:p>
          </p:txBody>
        </p:sp>
        <p:sp>
          <p:nvSpPr>
            <p:cNvPr id="21" name="Text Box 20"/>
            <p:cNvSpPr txBox="1">
              <a:spLocks noChangeArrowheads="1"/>
            </p:cNvSpPr>
            <p:nvPr/>
          </p:nvSpPr>
          <p:spPr bwMode="auto">
            <a:xfrm>
              <a:off x="2712" y="544"/>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4</a:t>
              </a:r>
              <a:endParaRPr lang="en-US" altLang="zh-CN" sz="2400" b="1"/>
            </a:p>
          </p:txBody>
        </p:sp>
        <p:sp>
          <p:nvSpPr>
            <p:cNvPr id="22" name="Text Box 21"/>
            <p:cNvSpPr txBox="1">
              <a:spLocks noChangeArrowheads="1"/>
            </p:cNvSpPr>
            <p:nvPr/>
          </p:nvSpPr>
          <p:spPr bwMode="auto">
            <a:xfrm>
              <a:off x="1012" y="124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1</a:t>
              </a:r>
              <a:endParaRPr lang="en-US" altLang="zh-CN" sz="2400" b="1"/>
            </a:p>
          </p:txBody>
        </p:sp>
        <p:sp>
          <p:nvSpPr>
            <p:cNvPr id="23" name="Text Box 22"/>
            <p:cNvSpPr txBox="1">
              <a:spLocks noChangeArrowheads="1"/>
            </p:cNvSpPr>
            <p:nvPr/>
          </p:nvSpPr>
          <p:spPr bwMode="auto">
            <a:xfrm>
              <a:off x="936" y="1421"/>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2</a:t>
              </a:r>
              <a:endParaRPr lang="en-US" altLang="zh-CN" sz="2400" b="1" dirty="0"/>
            </a:p>
          </p:txBody>
        </p:sp>
        <p:sp>
          <p:nvSpPr>
            <p:cNvPr id="24" name="Text Box 23"/>
            <p:cNvSpPr txBox="1">
              <a:spLocks noChangeArrowheads="1"/>
            </p:cNvSpPr>
            <p:nvPr/>
          </p:nvSpPr>
          <p:spPr bwMode="auto">
            <a:xfrm>
              <a:off x="160" y="866"/>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6</a:t>
              </a:r>
              <a:endParaRPr lang="en-US" altLang="zh-CN" sz="2400" b="1" dirty="0"/>
            </a:p>
          </p:txBody>
        </p:sp>
        <p:sp>
          <p:nvSpPr>
            <p:cNvPr id="25" name="Text Box 24"/>
            <p:cNvSpPr txBox="1">
              <a:spLocks noChangeArrowheads="1"/>
            </p:cNvSpPr>
            <p:nvPr/>
          </p:nvSpPr>
          <p:spPr bwMode="auto">
            <a:xfrm>
              <a:off x="816" y="1264"/>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3</a:t>
              </a:r>
              <a:endParaRPr lang="en-US" altLang="zh-CN" sz="2400" b="1" dirty="0"/>
            </a:p>
          </p:txBody>
        </p:sp>
        <p:sp>
          <p:nvSpPr>
            <p:cNvPr id="26" name="Text Box 25"/>
            <p:cNvSpPr txBox="1">
              <a:spLocks noChangeArrowheads="1"/>
            </p:cNvSpPr>
            <p:nvPr/>
          </p:nvSpPr>
          <p:spPr bwMode="auto">
            <a:xfrm>
              <a:off x="0" y="672"/>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1</a:t>
              </a:r>
              <a:endParaRPr lang="en-US" altLang="zh-CN" sz="2400" b="1" baseline="-25000"/>
            </a:p>
          </p:txBody>
        </p:sp>
        <p:sp>
          <p:nvSpPr>
            <p:cNvPr id="27" name="Text Box 26"/>
            <p:cNvSpPr txBox="1">
              <a:spLocks noChangeArrowheads="1"/>
            </p:cNvSpPr>
            <p:nvPr/>
          </p:nvSpPr>
          <p:spPr bwMode="auto">
            <a:xfrm>
              <a:off x="686" y="81"/>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v</a:t>
              </a:r>
              <a:r>
                <a:rPr lang="en-US" altLang="zh-CN" sz="2400" b="1" baseline="-25000" dirty="0"/>
                <a:t>2</a:t>
              </a:r>
              <a:endParaRPr lang="en-US" altLang="zh-CN" sz="2400" b="1" baseline="-25000" dirty="0"/>
            </a:p>
          </p:txBody>
        </p:sp>
        <p:sp>
          <p:nvSpPr>
            <p:cNvPr id="28" name="Text Box 27"/>
            <p:cNvSpPr txBox="1">
              <a:spLocks noChangeArrowheads="1"/>
            </p:cNvSpPr>
            <p:nvPr/>
          </p:nvSpPr>
          <p:spPr bwMode="auto">
            <a:xfrm>
              <a:off x="3552" y="48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7</a:t>
              </a:r>
              <a:endParaRPr lang="en-US" altLang="zh-CN" sz="2400" b="1" baseline="-25000"/>
            </a:p>
          </p:txBody>
        </p:sp>
        <p:sp>
          <p:nvSpPr>
            <p:cNvPr id="29" name="Text Box 28"/>
            <p:cNvSpPr txBox="1">
              <a:spLocks noChangeArrowheads="1"/>
            </p:cNvSpPr>
            <p:nvPr/>
          </p:nvSpPr>
          <p:spPr bwMode="auto">
            <a:xfrm>
              <a:off x="768" y="144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4</a:t>
              </a:r>
              <a:endParaRPr lang="en-US" altLang="zh-CN" sz="2400" b="1" baseline="-25000"/>
            </a:p>
          </p:txBody>
        </p:sp>
        <p:sp>
          <p:nvSpPr>
            <p:cNvPr id="30" name="Text Box 29"/>
            <p:cNvSpPr txBox="1">
              <a:spLocks noChangeArrowheads="1"/>
            </p:cNvSpPr>
            <p:nvPr/>
          </p:nvSpPr>
          <p:spPr bwMode="auto">
            <a:xfrm>
              <a:off x="1282" y="658"/>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3</a:t>
              </a:r>
              <a:endParaRPr lang="en-US" altLang="zh-CN" sz="2400" b="1" baseline="-25000"/>
            </a:p>
          </p:txBody>
        </p:sp>
        <p:sp>
          <p:nvSpPr>
            <p:cNvPr id="31" name="Text Box 30"/>
            <p:cNvSpPr txBox="1">
              <a:spLocks noChangeArrowheads="1"/>
            </p:cNvSpPr>
            <p:nvPr/>
          </p:nvSpPr>
          <p:spPr bwMode="auto">
            <a:xfrm>
              <a:off x="2544" y="48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6</a:t>
              </a:r>
              <a:endParaRPr lang="en-US" altLang="zh-CN" sz="2400" b="1" baseline="-25000"/>
            </a:p>
          </p:txBody>
        </p:sp>
        <p:sp>
          <p:nvSpPr>
            <p:cNvPr id="41" name="Text Box 42"/>
            <p:cNvSpPr txBox="1">
              <a:spLocks noChangeArrowheads="1"/>
            </p:cNvSpPr>
            <p:nvPr/>
          </p:nvSpPr>
          <p:spPr bwMode="auto">
            <a:xfrm>
              <a:off x="1678" y="1535"/>
              <a:ext cx="8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endParaRPr lang="zh-CN" altLang="en-US" sz="2400" b="1"/>
            </a:p>
          </p:txBody>
        </p:sp>
      </p:grpSp>
      <p:sp>
        <p:nvSpPr>
          <p:cNvPr id="43" name="Text Box 15"/>
          <p:cNvSpPr txBox="1">
            <a:spLocks noChangeArrowheads="1"/>
          </p:cNvSpPr>
          <p:nvPr/>
        </p:nvSpPr>
        <p:spPr bwMode="auto">
          <a:xfrm>
            <a:off x="3527792" y="2280734"/>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a:t>
            </a:r>
            <a:endParaRPr lang="en-US" altLang="zh-CN" sz="2400" b="1" dirty="0"/>
          </a:p>
        </p:txBody>
      </p:sp>
      <p:sp>
        <p:nvSpPr>
          <p:cNvPr id="44" name="Text Box 15"/>
          <p:cNvSpPr txBox="1">
            <a:spLocks noChangeArrowheads="1"/>
          </p:cNvSpPr>
          <p:nvPr/>
        </p:nvSpPr>
        <p:spPr bwMode="auto">
          <a:xfrm>
            <a:off x="3560743" y="5355160"/>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a:t>
            </a:r>
            <a:endParaRPr lang="en-US" altLang="zh-CN" sz="2400" b="1" dirty="0"/>
          </a:p>
        </p:txBody>
      </p:sp>
      <p:sp>
        <p:nvSpPr>
          <p:cNvPr id="45" name="Text Box 15"/>
          <p:cNvSpPr txBox="1">
            <a:spLocks noChangeArrowheads="1"/>
          </p:cNvSpPr>
          <p:nvPr/>
        </p:nvSpPr>
        <p:spPr bwMode="auto">
          <a:xfrm>
            <a:off x="4925365" y="3217251"/>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a:t>
            </a:r>
            <a:endParaRPr lang="en-US" altLang="zh-CN" sz="2400" b="1" dirty="0"/>
          </a:p>
        </p:txBody>
      </p:sp>
      <p:sp>
        <p:nvSpPr>
          <p:cNvPr id="46" name="Text Box 15"/>
          <p:cNvSpPr txBox="1">
            <a:spLocks noChangeArrowheads="1"/>
          </p:cNvSpPr>
          <p:nvPr/>
        </p:nvSpPr>
        <p:spPr bwMode="auto">
          <a:xfrm>
            <a:off x="5802590" y="1769408"/>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a:t>
            </a:r>
            <a:endParaRPr lang="en-US" altLang="zh-CN" sz="2400" b="1" dirty="0"/>
          </a:p>
        </p:txBody>
      </p:sp>
      <p:sp>
        <p:nvSpPr>
          <p:cNvPr id="47" name="Text Box 15"/>
          <p:cNvSpPr txBox="1">
            <a:spLocks noChangeArrowheads="1"/>
          </p:cNvSpPr>
          <p:nvPr/>
        </p:nvSpPr>
        <p:spPr bwMode="auto">
          <a:xfrm>
            <a:off x="5773208" y="2125974"/>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a:t>
            </a:r>
            <a:endParaRPr lang="en-US" altLang="zh-CN" sz="2400" b="1" dirty="0"/>
          </a:p>
        </p:txBody>
      </p:sp>
      <p:sp>
        <p:nvSpPr>
          <p:cNvPr id="48" name="Text Box 15"/>
          <p:cNvSpPr txBox="1">
            <a:spLocks noChangeArrowheads="1"/>
          </p:cNvSpPr>
          <p:nvPr/>
        </p:nvSpPr>
        <p:spPr bwMode="auto">
          <a:xfrm>
            <a:off x="7149943" y="3225097"/>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a:t>
            </a:r>
            <a:endParaRPr lang="en-US" altLang="zh-CN" sz="2400" b="1" dirty="0"/>
          </a:p>
        </p:txBody>
      </p:sp>
      <p:sp>
        <p:nvSpPr>
          <p:cNvPr id="49" name="Text Box 15"/>
          <p:cNvSpPr txBox="1">
            <a:spLocks noChangeArrowheads="1"/>
          </p:cNvSpPr>
          <p:nvPr/>
        </p:nvSpPr>
        <p:spPr bwMode="auto">
          <a:xfrm>
            <a:off x="4852692" y="3795684"/>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a:t>
            </a:r>
            <a:endParaRPr lang="en-US" altLang="zh-CN" sz="2400" b="1" dirty="0"/>
          </a:p>
        </p:txBody>
      </p:sp>
      <p:sp>
        <p:nvSpPr>
          <p:cNvPr id="50" name="Text Box 15"/>
          <p:cNvSpPr txBox="1">
            <a:spLocks noChangeArrowheads="1"/>
          </p:cNvSpPr>
          <p:nvPr/>
        </p:nvSpPr>
        <p:spPr bwMode="auto">
          <a:xfrm>
            <a:off x="6947432" y="3581845"/>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a:t>
            </a:r>
            <a:endParaRPr lang="en-US" altLang="zh-CN" sz="2400" b="1" dirty="0"/>
          </a:p>
        </p:txBody>
      </p:sp>
      <p:sp>
        <p:nvSpPr>
          <p:cNvPr id="51" name="Text Box 15"/>
          <p:cNvSpPr txBox="1">
            <a:spLocks noChangeArrowheads="1"/>
          </p:cNvSpPr>
          <p:nvPr/>
        </p:nvSpPr>
        <p:spPr bwMode="auto">
          <a:xfrm>
            <a:off x="8400877" y="3403477"/>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a:t>
            </a:r>
            <a:endParaRPr lang="en-US" altLang="zh-CN" sz="2400" b="1" dirty="0"/>
          </a:p>
        </p:txBody>
      </p:sp>
      <p:sp>
        <p:nvSpPr>
          <p:cNvPr id="52" name="Text Box 15"/>
          <p:cNvSpPr txBox="1">
            <a:spLocks noChangeArrowheads="1"/>
          </p:cNvSpPr>
          <p:nvPr/>
        </p:nvSpPr>
        <p:spPr bwMode="auto">
          <a:xfrm>
            <a:off x="9184765" y="2876207"/>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a:t>
            </a:r>
            <a:endParaRPr lang="en-US" altLang="zh-CN" sz="2400" b="1" dirty="0"/>
          </a:p>
        </p:txBody>
      </p:sp>
      <p:sp>
        <p:nvSpPr>
          <p:cNvPr id="53" name="Text Box 15"/>
          <p:cNvSpPr txBox="1">
            <a:spLocks noChangeArrowheads="1"/>
          </p:cNvSpPr>
          <p:nvPr/>
        </p:nvSpPr>
        <p:spPr bwMode="auto">
          <a:xfrm>
            <a:off x="8776993" y="3066404"/>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a:t>
            </a:r>
            <a:endParaRPr lang="en-US" altLang="zh-CN" sz="2400" b="1" dirty="0"/>
          </a:p>
        </p:txBody>
      </p:sp>
      <p:sp>
        <p:nvSpPr>
          <p:cNvPr id="54" name="Text Box 26"/>
          <p:cNvSpPr txBox="1">
            <a:spLocks noChangeArrowheads="1"/>
          </p:cNvSpPr>
          <p:nvPr/>
        </p:nvSpPr>
        <p:spPr bwMode="auto">
          <a:xfrm>
            <a:off x="6020854" y="1522610"/>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v</a:t>
            </a:r>
            <a:r>
              <a:rPr lang="en-US" altLang="zh-CN" sz="2400" b="1" baseline="-25000" dirty="0"/>
              <a:t>5</a:t>
            </a:r>
            <a:endParaRPr lang="en-US" altLang="zh-CN" sz="2400" b="1" baseline="-25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Text Box 22"/>
              <p:cNvSpPr txBox="1">
                <a:spLocks noChangeArrowheads="1"/>
              </p:cNvSpPr>
              <p:nvPr/>
            </p:nvSpPr>
            <p:spPr bwMode="auto">
              <a:xfrm>
                <a:off x="1829780" y="1412776"/>
                <a:ext cx="8532440" cy="1682115"/>
              </a:xfrm>
              <a:prstGeom prst="rect">
                <a:avLst/>
              </a:prstGeom>
              <a:noFill/>
              <a:ln w="9525">
                <a:noFill/>
                <a:miter lim="800000"/>
              </a:ln>
            </p:spPr>
            <p:txBody>
              <a:bodyPr wrap="square" lIns="0" tIns="0" rIns="0" bIns="0">
                <a:spAutoFit/>
              </a:bodyPr>
              <a:lstStyle/>
              <a:p>
                <a:pPr algn="just">
                  <a:lnSpc>
                    <a:spcPct val="150000"/>
                  </a:lnSpc>
                </a:pPr>
                <a:r>
                  <a:rPr lang="zh-CN" altLang="en-US" sz="24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用此方法对例 </a:t>
                </a:r>
                <a:r>
                  <a:rPr lang="en-US" altLang="zh-CN" sz="24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24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求解：</a:t>
                </a:r>
                <a:endParaRPr lang="zh-CN" altLang="en-US" sz="24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pP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第一次迭代：选择路为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。弧</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的顺流容量为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，决定了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𝑝</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，改进的网络流量如图所示。</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13" name="Text Box 22"/>
              <p:cNvSpPr txBox="1">
                <a:spLocks noRot="1" noChangeAspect="1" noMove="1" noResize="1" noEditPoints="1" noAdjustHandles="1" noChangeArrowheads="1" noChangeShapeType="1" noTextEdit="1"/>
              </p:cNvSpPr>
              <p:nvPr/>
            </p:nvSpPr>
            <p:spPr bwMode="auto">
              <a:xfrm>
                <a:off x="1829780" y="1412776"/>
                <a:ext cx="8532440" cy="1682115"/>
              </a:xfrm>
              <a:prstGeom prst="rect">
                <a:avLst/>
              </a:prstGeom>
              <a:blipFill rotWithShape="1">
                <a:blip r:embed="rId1"/>
                <a:stretch>
                  <a:fillRect l="-4" t="-32" r="3" b="-2648"/>
                </a:stretch>
              </a:blipFill>
              <a:ln w="9525">
                <a:noFill/>
                <a:miter lim="800000"/>
              </a:ln>
            </p:spPr>
            <p:txBody>
              <a:bodyPr/>
              <a:lstStyle/>
              <a:p>
                <a:r>
                  <a:rPr lang="zh-CN" altLang="en-US">
                    <a:noFill/>
                  </a:rPr>
                  <a:t> </a:t>
                </a:r>
              </a:p>
            </p:txBody>
          </p:sp>
        </mc:Fallback>
      </mc:AlternateContent>
      <p:pic>
        <p:nvPicPr>
          <p:cNvPr id="16386" name="Picture 2"/>
          <p:cNvPicPr>
            <a:picLocks noChangeAspect="1" noChangeArrowheads="1"/>
          </p:cNvPicPr>
          <p:nvPr/>
        </p:nvPicPr>
        <p:blipFill>
          <a:blip r:embed="rId2"/>
          <a:srcRect/>
          <a:stretch>
            <a:fillRect/>
          </a:stretch>
        </p:blipFill>
        <p:spPr bwMode="auto">
          <a:xfrm>
            <a:off x="2578277" y="3308375"/>
            <a:ext cx="7035446" cy="3072953"/>
          </a:xfrm>
          <a:prstGeom prst="rect">
            <a:avLst/>
          </a:prstGeom>
          <a:noFill/>
          <a:ln w="9525">
            <a:noFill/>
            <a:miter lim="800000"/>
            <a:headEnd/>
            <a:tailEnd/>
          </a:ln>
        </p:spPr>
      </p:pic>
      <p:sp>
        <p:nvSpPr>
          <p:cNvPr id="2"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最大流问题</a:t>
            </a:r>
            <a:r>
              <a:rPr lang="zh-CN" altLang="en-US" dirty="0"/>
              <a:t> </a:t>
            </a:r>
            <a:r>
              <a:rPr lang="en-US" altLang="zh-CN" dirty="0"/>
              <a:t>–</a:t>
            </a:r>
            <a:r>
              <a:rPr lang="zh-CN" altLang="en-US" dirty="0"/>
              <a:t>网络图论解法 </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anim calcmode="lin" valueType="num">
                                      <p:cBhvr additive="base">
                                        <p:cTn id="11" dur="500" fill="hold"/>
                                        <p:tgtEl>
                                          <p:spTgt spid="1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386"/>
                                        </p:tgtEl>
                                        <p:attrNameLst>
                                          <p:attrName>style.visibility</p:attrName>
                                        </p:attrNameLst>
                                      </p:cBhvr>
                                      <p:to>
                                        <p:strVal val="visible"/>
                                      </p:to>
                                    </p:set>
                                    <p:anim calcmode="lin" valueType="num">
                                      <p:cBhvr additive="base">
                                        <p:cTn id="17" dur="500" fill="hold"/>
                                        <p:tgtEl>
                                          <p:spTgt spid="16386"/>
                                        </p:tgtEl>
                                        <p:attrNameLst>
                                          <p:attrName>ppt_x</p:attrName>
                                        </p:attrNameLst>
                                      </p:cBhvr>
                                      <p:tavLst>
                                        <p:tav tm="0">
                                          <p:val>
                                            <p:strVal val="#ppt_x"/>
                                          </p:val>
                                        </p:tav>
                                        <p:tav tm="100000">
                                          <p:val>
                                            <p:strVal val="#ppt_x"/>
                                          </p:val>
                                        </p:tav>
                                      </p:tavLst>
                                    </p:anim>
                                    <p:anim calcmode="lin" valueType="num">
                                      <p:cBhvr additive="base">
                                        <p:cTn id="18" dur="500" fill="hold"/>
                                        <p:tgtEl>
                                          <p:spTgt spid="163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文本框 4"/>
          <p:cNvSpPr txBox="1">
            <a:spLocks noChangeArrowheads="1"/>
          </p:cNvSpPr>
          <p:nvPr/>
        </p:nvSpPr>
        <p:spPr bwMode="auto">
          <a:xfrm>
            <a:off x="4152900" y="4894263"/>
            <a:ext cx="3290888"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sp>
        <p:nvSpPr>
          <p:cNvPr id="88069" name="Text Box 21"/>
          <p:cNvSpPr txBox="1">
            <a:spLocks noChangeArrowheads="1"/>
          </p:cNvSpPr>
          <p:nvPr/>
        </p:nvSpPr>
        <p:spPr bwMode="auto">
          <a:xfrm>
            <a:off x="2613025" y="1270000"/>
            <a:ext cx="7510463" cy="2088515"/>
          </a:xfrm>
          <a:prstGeom prst="rect">
            <a:avLst/>
          </a:prstGeom>
          <a:noFill/>
          <a:ln w="9525">
            <a:noFill/>
            <a:miter lim="800000"/>
          </a:ln>
        </p:spPr>
        <p:txBody>
          <a:bodyPr lIns="0" tIns="0" rIns="0" bIns="0">
            <a:spAutoFit/>
          </a:bodyPr>
          <a:lstStyle/>
          <a:p>
            <a:pPr>
              <a:lnSpc>
                <a:spcPct val="150000"/>
              </a:lnSpc>
              <a:tabLst>
                <a:tab pos="203200" algn="l"/>
                <a:tab pos="266700" algn="l"/>
                <a:tab pos="1917700" algn="l"/>
              </a:tabLst>
            </a:pPr>
            <a:endParaRPr lang="zh-CN" altLang="en-US">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525"/>
              </a:lnSpc>
              <a:tabLst>
                <a:tab pos="203200" algn="l"/>
                <a:tab pos="266700" algn="l"/>
                <a:tab pos="1917700" algn="l"/>
              </a:tabLst>
            </a:pPr>
            <a:r>
              <a:rPr lang="zh-CN" altLang="en-US" sz="1100">
                <a:solidFill>
                  <a:srgbClr val="000000"/>
                </a:solidFill>
                <a:latin typeface="Times New Roman" panose="02020603050405020304" pitchFamily="18" charset="0"/>
                <a:cs typeface="Times New Roman" panose="02020603050405020304" pitchFamily="18" charset="0"/>
              </a:rPr>
              <a:t>			</a:t>
            </a: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525"/>
              </a:lnSpc>
              <a:tabLst>
                <a:tab pos="203200" algn="l"/>
                <a:tab pos="266700" algn="l"/>
                <a:tab pos="1917700" algn="l"/>
              </a:tabLst>
            </a:pP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8070" name="矩形 3"/>
          <p:cNvSpPr>
            <a:spLocks noChangeArrowheads="1"/>
          </p:cNvSpPr>
          <p:nvPr/>
        </p:nvSpPr>
        <p:spPr bwMode="auto">
          <a:xfrm>
            <a:off x="5145088" y="3848100"/>
            <a:ext cx="386080" cy="1814830"/>
          </a:xfrm>
          <a:prstGeom prst="rect">
            <a:avLst/>
          </a:prstGeom>
          <a:noFill/>
          <a:ln w="9525">
            <a:noFill/>
            <a:miter lim="800000"/>
          </a:ln>
        </p:spPr>
        <p:txBody>
          <a:bodyPr wrap="none">
            <a:spAutoFit/>
          </a:bodyPr>
          <a:lstStyle/>
          <a:p>
            <a:endParaRPr lang="en-US" altLang="zh-CN" sz="1600">
              <a:solidFill>
                <a:srgbClr val="000000"/>
              </a:solidFill>
              <a:latin typeface="黑体" panose="02010609060101010101" pitchFamily="49" charset="-122"/>
              <a:ea typeface="黑体" panose="02010609060101010101" pitchFamily="49" charset="-122"/>
            </a:endParaRPr>
          </a:p>
          <a:p>
            <a:endParaRPr lang="en-US" altLang="zh-CN" sz="1600">
              <a:solidFill>
                <a:srgbClr val="000000"/>
              </a:solidFill>
              <a:latin typeface="黑体" panose="02010609060101010101" pitchFamily="49" charset="-122"/>
              <a:ea typeface="黑体" panose="02010609060101010101" pitchFamily="49" charset="-122"/>
            </a:endParaRPr>
          </a:p>
          <a:p>
            <a:endParaRPr lang="en-US" altLang="zh-CN" sz="1600">
              <a:solidFill>
                <a:srgbClr val="000000"/>
              </a:solidFill>
              <a:latin typeface="黑体" panose="02010609060101010101" pitchFamily="49" charset="-122"/>
              <a:ea typeface="黑体" panose="02010609060101010101" pitchFamily="49" charset="-122"/>
            </a:endParaRPr>
          </a:p>
          <a:p>
            <a:r>
              <a:rPr lang="zh-CN" altLang="en-US" sz="1600">
                <a:solidFill>
                  <a:srgbClr val="000000"/>
                </a:solidFill>
                <a:latin typeface="黑体" panose="02010609060101010101" pitchFamily="49" charset="-122"/>
                <a:ea typeface="黑体" panose="02010609060101010101" pitchFamily="49" charset="-122"/>
              </a:rPr>
              <a:t>  </a:t>
            </a:r>
            <a:endParaRPr lang="en-US" altLang="zh-CN" sz="1600">
              <a:solidFill>
                <a:srgbClr val="000000"/>
              </a:solidFill>
              <a:latin typeface="黑体" panose="02010609060101010101" pitchFamily="49" charset="-122"/>
              <a:ea typeface="黑体" panose="02010609060101010101" pitchFamily="49" charset="-122"/>
            </a:endParaRPr>
          </a:p>
          <a:p>
            <a:endParaRPr lang="en-US" altLang="zh-CN" sz="1600">
              <a:solidFill>
                <a:srgbClr val="000000"/>
              </a:solidFill>
              <a:latin typeface="黑体" panose="02010609060101010101" pitchFamily="49" charset="-122"/>
              <a:ea typeface="黑体" panose="02010609060101010101" pitchFamily="49" charset="-122"/>
            </a:endParaRPr>
          </a:p>
          <a:p>
            <a:endParaRPr lang="en-US" altLang="zh-CN" sz="1600">
              <a:solidFill>
                <a:srgbClr val="000000"/>
              </a:solidFill>
              <a:latin typeface="黑体" panose="02010609060101010101" pitchFamily="49" charset="-122"/>
              <a:ea typeface="黑体" panose="02010609060101010101" pitchFamily="49" charset="-122"/>
            </a:endParaRPr>
          </a:p>
          <a:p>
            <a:endParaRPr lang="en-US" altLang="zh-CN" sz="1600">
              <a:solidFill>
                <a:srgbClr val="000000"/>
              </a:solidFill>
              <a:latin typeface="黑体" panose="02010609060101010101" pitchFamily="49" charset="-122"/>
              <a:ea typeface="黑体" panose="02010609060101010101" pitchFamily="49" charset="-122"/>
            </a:endParaRPr>
          </a:p>
        </p:txBody>
      </p:sp>
      <p:sp>
        <p:nvSpPr>
          <p:cNvPr id="88071" name="矩形 5"/>
          <p:cNvSpPr>
            <a:spLocks noChangeArrowheads="1"/>
          </p:cNvSpPr>
          <p:nvPr/>
        </p:nvSpPr>
        <p:spPr bwMode="auto">
          <a:xfrm>
            <a:off x="2073275" y="4333875"/>
            <a:ext cx="7253288" cy="360680"/>
          </a:xfrm>
          <a:prstGeom prst="rect">
            <a:avLst/>
          </a:prstGeom>
          <a:noFill/>
          <a:ln w="9525">
            <a:noFill/>
            <a:miter lim="800000"/>
          </a:ln>
        </p:spPr>
        <p:txBody>
          <a:bodyPr>
            <a:spAutoFit/>
          </a:bodyPr>
          <a:lstStyle/>
          <a:p>
            <a:pPr>
              <a:lnSpc>
                <a:spcPts val="1100"/>
              </a:lnSpc>
            </a:pPr>
            <a:endParaRPr lang="zh-CN" altLang="en-US">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ts val="1000"/>
              </a:lnSpc>
            </a:pPr>
            <a:endParaRPr lang="zh-CN" altLang="en-US">
              <a:solidFill>
                <a:srgbClr val="000000"/>
              </a:solidFill>
              <a:latin typeface="Times New Roman" panose="02020603050405020304" pitchFamily="18"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16" name="Text Box 21"/>
              <p:cNvSpPr txBox="1">
                <a:spLocks noChangeArrowheads="1"/>
              </p:cNvSpPr>
              <p:nvPr/>
            </p:nvSpPr>
            <p:spPr bwMode="auto">
              <a:xfrm>
                <a:off x="1666876" y="1298575"/>
                <a:ext cx="8677596" cy="1720215"/>
              </a:xfrm>
              <a:prstGeom prst="rect">
                <a:avLst/>
              </a:prstGeom>
              <a:noFill/>
              <a:ln w="9525">
                <a:noFill/>
                <a:miter lim="800000"/>
              </a:ln>
            </p:spPr>
            <p:txBody>
              <a:bodyPr wrap="square" lIns="0" tIns="0" rIns="0" bIns="0">
                <a:spAutoFit/>
              </a:bodyPr>
              <a:lstStyle/>
              <a:p>
                <a:pPr algn="just">
                  <a:lnSpc>
                    <a:spcPct val="150000"/>
                  </a:lnSpc>
                  <a:tabLst>
                    <a:tab pos="266700" algn="l"/>
                    <a:tab pos="1892300" algn="l"/>
                  </a:tabLst>
                </a:pPr>
                <a:r>
                  <a:rPr lang="en-US" altLang="zh-CN" sz="2400" dirty="0">
                    <a:latin typeface="Times New Roman" panose="02020603050405020304" pitchFamily="18" charset="0"/>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第二次迭代：选择路</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为</m:t>
                    </m:r>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。弧</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的顺流容量为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，决定</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了</m:t>
                    </m:r>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𝑝</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，改进的网络流量图如图所示。</a:t>
                </a:r>
                <a:endParaRPr lang="zh-CN" altLang="en-US" sz="2400" dirty="0">
                  <a:solidFill>
                    <a:srgbClr val="000000"/>
                  </a:solidFill>
                  <a:latin typeface="Times New Roman" panose="02020603050405020304" pitchFamily="18" charset="0"/>
                  <a:cs typeface="Times New Roman" panose="02020603050405020304" pitchFamily="18" charset="0"/>
                </a:endParaRPr>
              </a:p>
              <a:p>
                <a:pPr algn="just">
                  <a:lnSpc>
                    <a:spcPct val="150000"/>
                  </a:lnSpc>
                  <a:tabLst>
                    <a:tab pos="266700" algn="l"/>
                    <a:tab pos="1892300" algn="l"/>
                  </a:tabLst>
                </a:pPr>
                <a:endParaRPr lang="zh-CN" altLang="en-US" sz="2400" dirty="0">
                  <a:solidFill>
                    <a:srgbClr val="000000"/>
                  </a:solidFill>
                  <a:latin typeface="Times New Roman" panose="02020603050405020304" pitchFamily="18" charset="0"/>
                  <a:cs typeface="Times New Roman" panose="02020603050405020304" pitchFamily="18" charset="0"/>
                </a:endParaRPr>
              </a:p>
            </p:txBody>
          </p:sp>
        </mc:Choice>
        <mc:Fallback>
          <p:sp>
            <p:nvSpPr>
              <p:cNvPr id="16" name="Text Box 21"/>
              <p:cNvSpPr txBox="1">
                <a:spLocks noRot="1" noChangeAspect="1" noMove="1" noResize="1" noEditPoints="1" noAdjustHandles="1" noChangeArrowheads="1" noChangeShapeType="1" noTextEdit="1"/>
              </p:cNvSpPr>
              <p:nvPr/>
            </p:nvSpPr>
            <p:spPr bwMode="auto">
              <a:xfrm>
                <a:off x="1666876" y="1298575"/>
                <a:ext cx="8677596" cy="1720215"/>
              </a:xfrm>
              <a:prstGeom prst="rect">
                <a:avLst/>
              </a:prstGeom>
              <a:blipFill rotWithShape="1">
                <a:blip r:embed="rId1"/>
                <a:stretch>
                  <a:fillRect r="4"/>
                </a:stretch>
              </a:blipFill>
              <a:ln w="9525">
                <a:noFill/>
                <a:miter lim="800000"/>
              </a:ln>
            </p:spPr>
            <p:txBody>
              <a:bodyPr/>
              <a:lstStyle/>
              <a:p>
                <a:r>
                  <a:rPr lang="zh-CN" altLang="en-US">
                    <a:noFill/>
                  </a:rPr>
                  <a:t> </a:t>
                </a:r>
              </a:p>
            </p:txBody>
          </p:sp>
        </mc:Fallback>
      </mc:AlternateContent>
      <p:pic>
        <p:nvPicPr>
          <p:cNvPr id="17411" name="Picture 3"/>
          <p:cNvPicPr>
            <a:picLocks noChangeAspect="1" noChangeArrowheads="1"/>
          </p:cNvPicPr>
          <p:nvPr/>
        </p:nvPicPr>
        <p:blipFill>
          <a:blip r:embed="rId2"/>
          <a:srcRect/>
          <a:stretch>
            <a:fillRect/>
          </a:stretch>
        </p:blipFill>
        <p:spPr bwMode="auto">
          <a:xfrm>
            <a:off x="2780317" y="2830255"/>
            <a:ext cx="7175878" cy="3551073"/>
          </a:xfrm>
          <a:prstGeom prst="rect">
            <a:avLst/>
          </a:prstGeom>
          <a:noFill/>
          <a:ln w="9525">
            <a:noFill/>
            <a:miter lim="800000"/>
            <a:headEnd/>
            <a:tailEnd/>
          </a:ln>
        </p:spPr>
      </p:pic>
      <p:sp>
        <p:nvSpPr>
          <p:cNvPr id="2"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最大流问题</a:t>
            </a:r>
            <a:r>
              <a:rPr lang="zh-CN" altLang="en-US" dirty="0"/>
              <a:t> </a:t>
            </a:r>
            <a:r>
              <a:rPr lang="en-US" altLang="zh-CN" dirty="0"/>
              <a:t>–</a:t>
            </a:r>
            <a:r>
              <a:rPr lang="zh-CN" altLang="en-US" dirty="0"/>
              <a:t>网络图论解法 </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1+#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1"/>
                                        </p:tgtEl>
                                        <p:attrNameLst>
                                          <p:attrName>style.visibility</p:attrName>
                                        </p:attrNameLst>
                                      </p:cBhvr>
                                      <p:to>
                                        <p:strVal val="visible"/>
                                      </p:to>
                                    </p:set>
                                    <p:anim calcmode="lin" valueType="num">
                                      <p:cBhvr additive="base">
                                        <p:cTn id="13" dur="500" fill="hold"/>
                                        <p:tgtEl>
                                          <p:spTgt spid="17411"/>
                                        </p:tgtEl>
                                        <p:attrNameLst>
                                          <p:attrName>ppt_x</p:attrName>
                                        </p:attrNameLst>
                                      </p:cBhvr>
                                      <p:tavLst>
                                        <p:tav tm="0">
                                          <p:val>
                                            <p:strVal val="#ppt_x"/>
                                          </p:val>
                                        </p:tav>
                                        <p:tav tm="100000">
                                          <p:val>
                                            <p:strVal val="#ppt_x"/>
                                          </p:val>
                                        </p:tav>
                                      </p:tavLst>
                                    </p:anim>
                                    <p:anim calcmode="lin" valueType="num">
                                      <p:cBhvr additive="base">
                                        <p:cTn id="14" dur="500" fill="hold"/>
                                        <p:tgtEl>
                                          <p:spTgt spid="174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文本框 4"/>
          <p:cNvSpPr txBox="1">
            <a:spLocks noChangeArrowheads="1"/>
          </p:cNvSpPr>
          <p:nvPr/>
        </p:nvSpPr>
        <p:spPr bwMode="auto">
          <a:xfrm>
            <a:off x="4273550" y="50482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13" name="Text Box 22"/>
              <p:cNvSpPr txBox="1">
                <a:spLocks noChangeArrowheads="1"/>
              </p:cNvSpPr>
              <p:nvPr/>
            </p:nvSpPr>
            <p:spPr bwMode="auto">
              <a:xfrm>
                <a:off x="1721197" y="1352572"/>
                <a:ext cx="8749604" cy="1165860"/>
              </a:xfrm>
              <a:prstGeom prst="rect">
                <a:avLst/>
              </a:prstGeom>
              <a:noFill/>
              <a:ln w="9525">
                <a:noFill/>
                <a:miter lim="800000"/>
              </a:ln>
            </p:spPr>
            <p:txBody>
              <a:bodyPr wrap="square" lIns="0" tIns="0" rIns="0" bIns="0">
                <a:spAutoFit/>
              </a:bodyPr>
              <a:lstStyle/>
              <a:p>
                <a:pPr algn="just">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第三次迭代：选择路</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为</m:t>
                    </m:r>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。弧</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的顺流容量为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，决定</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了</m:t>
                    </m:r>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𝑝</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，改进的网络流量图如图所示。</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13" name="Text Box 22"/>
              <p:cNvSpPr txBox="1">
                <a:spLocks noRot="1" noChangeAspect="1" noMove="1" noResize="1" noEditPoints="1" noAdjustHandles="1" noChangeArrowheads="1" noChangeShapeType="1" noTextEdit="1"/>
              </p:cNvSpPr>
              <p:nvPr/>
            </p:nvSpPr>
            <p:spPr bwMode="auto">
              <a:xfrm>
                <a:off x="1721197" y="1352572"/>
                <a:ext cx="8749604" cy="1165860"/>
              </a:xfrm>
              <a:prstGeom prst="rect">
                <a:avLst/>
              </a:prstGeom>
              <a:blipFill rotWithShape="1">
                <a:blip r:embed="rId1"/>
                <a:stretch>
                  <a:fillRect l="-4" t="-2" r="3" b="-4301"/>
                </a:stretch>
              </a:blipFill>
              <a:ln w="9525">
                <a:noFill/>
                <a:miter lim="800000"/>
              </a:ln>
            </p:spPr>
            <p:txBody>
              <a:bodyPr/>
              <a:lstStyle/>
              <a:p>
                <a:r>
                  <a:rPr lang="zh-CN" altLang="en-US">
                    <a:noFill/>
                  </a:rPr>
                  <a:t> </a:t>
                </a:r>
              </a:p>
            </p:txBody>
          </p:sp>
        </mc:Fallback>
      </mc:AlternateContent>
      <p:pic>
        <p:nvPicPr>
          <p:cNvPr id="18434" name="Picture 2"/>
          <p:cNvPicPr>
            <a:picLocks noChangeAspect="1" noChangeArrowheads="1"/>
          </p:cNvPicPr>
          <p:nvPr/>
        </p:nvPicPr>
        <p:blipFill>
          <a:blip r:embed="rId2"/>
          <a:srcRect/>
          <a:stretch>
            <a:fillRect/>
          </a:stretch>
        </p:blipFill>
        <p:spPr bwMode="auto">
          <a:xfrm>
            <a:off x="2647776" y="2492896"/>
            <a:ext cx="6896447" cy="3865041"/>
          </a:xfrm>
          <a:prstGeom prst="rect">
            <a:avLst/>
          </a:prstGeom>
          <a:noFill/>
          <a:ln w="9525">
            <a:noFill/>
            <a:miter lim="800000"/>
            <a:headEnd/>
            <a:tailEnd/>
          </a:ln>
        </p:spPr>
      </p:pic>
      <p:sp>
        <p:nvSpPr>
          <p:cNvPr id="2"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最大流问题</a:t>
            </a:r>
            <a:r>
              <a:rPr lang="zh-CN" altLang="en-US" dirty="0"/>
              <a:t> </a:t>
            </a:r>
            <a:r>
              <a:rPr lang="en-US" altLang="zh-CN" dirty="0"/>
              <a:t>–</a:t>
            </a:r>
            <a:r>
              <a:rPr lang="zh-CN" altLang="en-US" dirty="0"/>
              <a:t>网络图论解法 </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434"/>
                                        </p:tgtEl>
                                        <p:attrNameLst>
                                          <p:attrName>style.visibility</p:attrName>
                                        </p:attrNameLst>
                                      </p:cBhvr>
                                      <p:to>
                                        <p:strVal val="visible"/>
                                      </p:to>
                                    </p:set>
                                    <p:anim calcmode="lin" valueType="num">
                                      <p:cBhvr additive="base">
                                        <p:cTn id="13" dur="500" fill="hold"/>
                                        <p:tgtEl>
                                          <p:spTgt spid="18434"/>
                                        </p:tgtEl>
                                        <p:attrNameLst>
                                          <p:attrName>ppt_x</p:attrName>
                                        </p:attrNameLst>
                                      </p:cBhvr>
                                      <p:tavLst>
                                        <p:tav tm="0">
                                          <p:val>
                                            <p:strVal val="#ppt_x"/>
                                          </p:val>
                                        </p:tav>
                                        <p:tav tm="100000">
                                          <p:val>
                                            <p:strVal val="#ppt_x"/>
                                          </p:val>
                                        </p:tav>
                                      </p:tavLst>
                                    </p:anim>
                                    <p:anim calcmode="lin" valueType="num">
                                      <p:cBhvr additive="base">
                                        <p:cTn id="14" dur="500" fill="hold"/>
                                        <p:tgtEl>
                                          <p:spTgt spid="184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8" name="Text Box 21"/>
              <p:cNvSpPr txBox="1">
                <a:spLocks noChangeArrowheads="1"/>
              </p:cNvSpPr>
              <p:nvPr/>
            </p:nvSpPr>
            <p:spPr bwMode="auto">
              <a:xfrm>
                <a:off x="1757487" y="1307098"/>
                <a:ext cx="8677026" cy="1682115"/>
              </a:xfrm>
              <a:prstGeom prst="rect">
                <a:avLst/>
              </a:prstGeom>
              <a:noFill/>
              <a:ln w="9525">
                <a:noFill/>
                <a:miter lim="800000"/>
              </a:ln>
            </p:spPr>
            <p:txBody>
              <a:bodyPr wrap="square" lIns="0" tIns="0" rIns="0" bIns="0">
                <a:spAutoFit/>
              </a:bodyPr>
              <a:lstStyle/>
              <a:p>
                <a:pPr algn="just">
                  <a:lnSpc>
                    <a:spcPct val="150000"/>
                  </a:lnSpc>
                  <a:tabLst>
                    <a:tab pos="203200" algn="l"/>
                    <a:tab pos="266700" algn="l"/>
                    <a:tab pos="1917700" algn="l"/>
                  </a:tabLst>
                </a:pPr>
                <a:r>
                  <a:rPr lang="zh-CN" altLang="en-US" sz="2400" dirty="0">
                    <a:solidFill>
                      <a:srgbClr val="000000"/>
                    </a:solidFill>
                    <a:latin typeface="Times New Roman" panose="02020603050405020304" pitchFamily="18" charset="0"/>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第四次迭代：选择路为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。弧</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的顺流容量为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，决定了</a:t>
                </a:r>
                <a:r>
                  <a:rPr lang="zh-CN" altLang="en-US" sz="2400"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𝑝</m:t>
                        </m:r>
                      </m:e>
                      <m:sub>
                        <m: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sub>
                    </m:sSub>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，改进的网络流量图如图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11-22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所示。</a:t>
                </a:r>
                <a:endPar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8" name="Text Box 21"/>
              <p:cNvSpPr txBox="1">
                <a:spLocks noRot="1" noChangeAspect="1" noMove="1" noResize="1" noEditPoints="1" noAdjustHandles="1" noChangeArrowheads="1" noChangeShapeType="1" noTextEdit="1"/>
              </p:cNvSpPr>
              <p:nvPr/>
            </p:nvSpPr>
            <p:spPr bwMode="auto">
              <a:xfrm>
                <a:off x="1757487" y="1307098"/>
                <a:ext cx="8677026" cy="1682115"/>
              </a:xfrm>
              <a:prstGeom prst="rect">
                <a:avLst/>
              </a:prstGeom>
              <a:blipFill rotWithShape="1">
                <a:blip r:embed="rId1"/>
                <a:stretch>
                  <a:fillRect l="-5" t="-16" r="2" b="16"/>
                </a:stretch>
              </a:blipFill>
              <a:ln w="9525">
                <a:noFill/>
                <a:miter lim="800000"/>
              </a:ln>
            </p:spPr>
            <p:txBody>
              <a:bodyPr/>
              <a:lstStyle/>
              <a:p>
                <a:r>
                  <a:rPr lang="zh-CN" altLang="en-US">
                    <a:noFill/>
                  </a:rPr>
                  <a:t> </a:t>
                </a:r>
              </a:p>
            </p:txBody>
          </p:sp>
        </mc:Fallback>
      </mc:AlternateContent>
      <p:sp>
        <p:nvSpPr>
          <p:cNvPr id="92167" name="Text Box 22"/>
          <p:cNvSpPr txBox="1">
            <a:spLocks noChangeArrowheads="1"/>
          </p:cNvSpPr>
          <p:nvPr/>
        </p:nvSpPr>
        <p:spPr bwMode="auto">
          <a:xfrm>
            <a:off x="2244725" y="1927225"/>
            <a:ext cx="1330325" cy="247015"/>
          </a:xfrm>
          <a:prstGeom prst="rect">
            <a:avLst/>
          </a:prstGeom>
          <a:noFill/>
          <a:ln w="9525">
            <a:noFill/>
            <a:miter lim="800000"/>
          </a:ln>
        </p:spPr>
        <p:txBody>
          <a:bodyPr lIns="0" tIns="0" rIns="0" bIns="0">
            <a:spAutoFit/>
          </a:bodyPr>
          <a:lstStyle/>
          <a:p>
            <a:pPr>
              <a:lnSpc>
                <a:spcPts val="965"/>
              </a:lnSpc>
            </a:pPr>
            <a:endParaRPr lang="en-US" altLang="zh-CN" sz="900">
              <a:solidFill>
                <a:srgbClr val="000000"/>
              </a:solidFill>
              <a:latin typeface="Times New Roman" panose="02020603050405020304" pitchFamily="18" charset="0"/>
              <a:ea typeface="微软雅黑" panose="020B0503020204020204" pitchFamily="34" charset="-122"/>
            </a:endParaRPr>
          </a:p>
          <a:p>
            <a:pPr>
              <a:lnSpc>
                <a:spcPts val="965"/>
              </a:lnSpc>
            </a:pPr>
            <a:endParaRPr lang="zh-CN" altLang="en-US" sz="900">
              <a:solidFill>
                <a:srgbClr val="000000"/>
              </a:solidFill>
              <a:latin typeface="Times New Roman" panose="02020603050405020304" pitchFamily="18" charset="0"/>
              <a:ea typeface="微软雅黑" panose="020B0503020204020204" pitchFamily="34" charset="-122"/>
            </a:endParaRPr>
          </a:p>
        </p:txBody>
      </p:sp>
      <p:pic>
        <p:nvPicPr>
          <p:cNvPr id="19458" name="Picture 2"/>
          <p:cNvPicPr>
            <a:picLocks noChangeAspect="1" noChangeArrowheads="1"/>
          </p:cNvPicPr>
          <p:nvPr/>
        </p:nvPicPr>
        <p:blipFill>
          <a:blip r:embed="rId2"/>
          <a:srcRect/>
          <a:stretch>
            <a:fillRect/>
          </a:stretch>
        </p:blipFill>
        <p:spPr bwMode="auto">
          <a:xfrm>
            <a:off x="2702719" y="2943443"/>
            <a:ext cx="6786562" cy="3500438"/>
          </a:xfrm>
          <a:prstGeom prst="rect">
            <a:avLst/>
          </a:prstGeom>
          <a:noFill/>
          <a:ln w="9525">
            <a:noFill/>
            <a:miter lim="800000"/>
            <a:headEnd/>
            <a:tailEnd/>
          </a:ln>
        </p:spPr>
      </p:pic>
      <p:sp>
        <p:nvSpPr>
          <p:cNvPr id="2"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最大流问题</a:t>
            </a:r>
            <a:r>
              <a:rPr lang="zh-CN" altLang="en-US" dirty="0"/>
              <a:t> </a:t>
            </a:r>
            <a:r>
              <a:rPr lang="en-US" altLang="zh-CN" dirty="0"/>
              <a:t>–</a:t>
            </a:r>
            <a:r>
              <a:rPr lang="zh-CN" altLang="en-US" dirty="0"/>
              <a:t>网络图论解法 </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58"/>
                                        </p:tgtEl>
                                        <p:attrNameLst>
                                          <p:attrName>style.visibility</p:attrName>
                                        </p:attrNameLst>
                                      </p:cBhvr>
                                      <p:to>
                                        <p:strVal val="visible"/>
                                      </p:to>
                                    </p:set>
                                    <p:anim calcmode="lin" valueType="num">
                                      <p:cBhvr additive="base">
                                        <p:cTn id="13" dur="500" fill="hold"/>
                                        <p:tgtEl>
                                          <p:spTgt spid="19458"/>
                                        </p:tgtEl>
                                        <p:attrNameLst>
                                          <p:attrName>ppt_x</p:attrName>
                                        </p:attrNameLst>
                                      </p:cBhvr>
                                      <p:tavLst>
                                        <p:tav tm="0">
                                          <p:val>
                                            <p:strVal val="#ppt_x"/>
                                          </p:val>
                                        </p:tav>
                                        <p:tav tm="100000">
                                          <p:val>
                                            <p:strVal val="#ppt_x"/>
                                          </p:val>
                                        </p:tav>
                                      </p:tavLst>
                                    </p:anim>
                                    <p:anim calcmode="lin" valueType="num">
                                      <p:cBhvr additive="base">
                                        <p:cTn id="14" dur="500" fill="hold"/>
                                        <p:tgtEl>
                                          <p:spTgt spid="194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sp>
        <p:nvSpPr>
          <p:cNvPr id="94213" name="Text Box 21"/>
          <p:cNvSpPr txBox="1">
            <a:spLocks noChangeArrowheads="1"/>
          </p:cNvSpPr>
          <p:nvPr/>
        </p:nvSpPr>
        <p:spPr bwMode="auto">
          <a:xfrm>
            <a:off x="2613025" y="1270000"/>
            <a:ext cx="7510463" cy="2088515"/>
          </a:xfrm>
          <a:prstGeom prst="rect">
            <a:avLst/>
          </a:prstGeom>
          <a:noFill/>
          <a:ln w="9525">
            <a:noFill/>
            <a:miter lim="800000"/>
          </a:ln>
        </p:spPr>
        <p:txBody>
          <a:bodyPr lIns="0" tIns="0" rIns="0" bIns="0">
            <a:spAutoFit/>
          </a:bodyPr>
          <a:lstStyle/>
          <a:p>
            <a:pPr>
              <a:lnSpc>
                <a:spcPct val="150000"/>
              </a:lnSpc>
              <a:tabLst>
                <a:tab pos="203200" algn="l"/>
                <a:tab pos="266700" algn="l"/>
                <a:tab pos="1917700" algn="l"/>
              </a:tabLst>
            </a:pPr>
            <a:endParaRPr lang="zh-CN" altLang="en-US">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525"/>
              </a:lnSpc>
              <a:tabLst>
                <a:tab pos="203200" algn="l"/>
                <a:tab pos="266700" algn="l"/>
                <a:tab pos="1917700" algn="l"/>
              </a:tabLst>
            </a:pPr>
            <a:r>
              <a:rPr lang="zh-CN" altLang="en-US" sz="1100">
                <a:solidFill>
                  <a:srgbClr val="000000"/>
                </a:solidFill>
                <a:latin typeface="Times New Roman" panose="02020603050405020304" pitchFamily="18" charset="0"/>
                <a:cs typeface="Times New Roman" panose="02020603050405020304" pitchFamily="18" charset="0"/>
              </a:rPr>
              <a:t>			</a:t>
            </a: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525"/>
              </a:lnSpc>
              <a:tabLst>
                <a:tab pos="203200" algn="l"/>
                <a:tab pos="266700" algn="l"/>
                <a:tab pos="1917700" algn="l"/>
              </a:tabLst>
            </a:pP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3" name="Text Box 22"/>
              <p:cNvSpPr txBox="1">
                <a:spLocks noChangeArrowheads="1"/>
              </p:cNvSpPr>
              <p:nvPr/>
            </p:nvSpPr>
            <p:spPr bwMode="auto">
              <a:xfrm>
                <a:off x="1666876" y="1273175"/>
                <a:ext cx="8821612" cy="2245360"/>
              </a:xfrm>
              <a:prstGeom prst="rect">
                <a:avLst/>
              </a:prstGeom>
              <a:noFill/>
              <a:ln w="9525">
                <a:noFill/>
                <a:miter lim="800000"/>
              </a:ln>
            </p:spPr>
            <p:txBody>
              <a:bodyPr wrap="square" lIns="0" tIns="0" rIns="0" bIns="0">
                <a:spAutoFit/>
              </a:bodyPr>
              <a:lstStyle/>
              <a:p>
                <a:pPr algn="just">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第五次迭代：选择路为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。弧</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的顺流容量为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，决定了 </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𝑝</m:t>
                        </m:r>
                      </m:e>
                      <m:sub>
                        <m: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sub>
                    </m:sSub>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，改进的网络流量图如图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11-23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所示。</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pP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13" name="Text Box 22"/>
              <p:cNvSpPr txBox="1">
                <a:spLocks noRot="1" noChangeAspect="1" noMove="1" noResize="1" noEditPoints="1" noAdjustHandles="1" noChangeArrowheads="1" noChangeShapeType="1" noTextEdit="1"/>
              </p:cNvSpPr>
              <p:nvPr/>
            </p:nvSpPr>
            <p:spPr bwMode="auto">
              <a:xfrm>
                <a:off x="1666876" y="1273175"/>
                <a:ext cx="8821612" cy="2245360"/>
              </a:xfrm>
              <a:prstGeom prst="rect">
                <a:avLst/>
              </a:prstGeom>
              <a:blipFill rotWithShape="1">
                <a:blip r:embed="rId1"/>
                <a:stretch>
                  <a:fillRect r="2"/>
                </a:stretch>
              </a:blipFill>
              <a:ln w="9525">
                <a:noFill/>
                <a:miter lim="800000"/>
              </a:ln>
            </p:spPr>
            <p:txBody>
              <a:bodyPr/>
              <a:lstStyle/>
              <a:p>
                <a:r>
                  <a:rPr lang="zh-CN" altLang="en-US">
                    <a:noFill/>
                  </a:rPr>
                  <a:t> </a:t>
                </a:r>
              </a:p>
            </p:txBody>
          </p:sp>
        </mc:Fallback>
      </mc:AlternateContent>
      <p:sp>
        <p:nvSpPr>
          <p:cNvPr id="94216" name="Text Box 22"/>
          <p:cNvSpPr txBox="1">
            <a:spLocks noChangeArrowheads="1"/>
          </p:cNvSpPr>
          <p:nvPr/>
        </p:nvSpPr>
        <p:spPr bwMode="auto">
          <a:xfrm>
            <a:off x="2244725" y="1927225"/>
            <a:ext cx="538163" cy="247015"/>
          </a:xfrm>
          <a:prstGeom prst="rect">
            <a:avLst/>
          </a:prstGeom>
          <a:noFill/>
          <a:ln w="9525">
            <a:noFill/>
            <a:miter lim="800000"/>
          </a:ln>
        </p:spPr>
        <p:txBody>
          <a:bodyPr lIns="0" tIns="0" rIns="0" bIns="0">
            <a:spAutoFit/>
          </a:bodyPr>
          <a:lstStyle/>
          <a:p>
            <a:pPr>
              <a:lnSpc>
                <a:spcPts val="965"/>
              </a:lnSpc>
            </a:pPr>
            <a:endParaRPr lang="en-US" altLang="zh-CN" sz="900">
              <a:solidFill>
                <a:srgbClr val="000000"/>
              </a:solidFill>
              <a:latin typeface="Times New Roman" panose="02020603050405020304" pitchFamily="18" charset="0"/>
              <a:ea typeface="微软雅黑" panose="020B0503020204020204" pitchFamily="34" charset="-122"/>
            </a:endParaRPr>
          </a:p>
          <a:p>
            <a:pPr>
              <a:lnSpc>
                <a:spcPts val="965"/>
              </a:lnSpc>
            </a:pPr>
            <a:endParaRPr lang="zh-CN" altLang="en-US" sz="900">
              <a:solidFill>
                <a:srgbClr val="000000"/>
              </a:solidFill>
              <a:latin typeface="Times New Roman" panose="02020603050405020304" pitchFamily="18" charset="0"/>
              <a:ea typeface="微软雅黑" panose="020B0503020204020204" pitchFamily="34" charset="-122"/>
            </a:endParaRPr>
          </a:p>
        </p:txBody>
      </p:sp>
      <p:pic>
        <p:nvPicPr>
          <p:cNvPr id="20482" name="Picture 2"/>
          <p:cNvPicPr>
            <a:picLocks noChangeAspect="1" noChangeArrowheads="1"/>
          </p:cNvPicPr>
          <p:nvPr/>
        </p:nvPicPr>
        <p:blipFill>
          <a:blip r:embed="rId2"/>
          <a:srcRect/>
          <a:stretch>
            <a:fillRect/>
          </a:stretch>
        </p:blipFill>
        <p:spPr bwMode="auto">
          <a:xfrm>
            <a:off x="2702718" y="3140968"/>
            <a:ext cx="6786563" cy="3500438"/>
          </a:xfrm>
          <a:prstGeom prst="rect">
            <a:avLst/>
          </a:prstGeom>
          <a:noFill/>
          <a:ln w="9525">
            <a:noFill/>
            <a:miter lim="800000"/>
            <a:headEnd/>
            <a:tailEnd/>
          </a:ln>
        </p:spPr>
      </p:pic>
      <p:sp>
        <p:nvSpPr>
          <p:cNvPr id="2"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最大流问题</a:t>
            </a:r>
            <a:r>
              <a:rPr lang="zh-CN" altLang="en-US" dirty="0"/>
              <a:t> </a:t>
            </a:r>
            <a:r>
              <a:rPr lang="en-US" altLang="zh-CN" dirty="0"/>
              <a:t>–</a:t>
            </a:r>
            <a:r>
              <a:rPr lang="zh-CN" altLang="en-US" dirty="0"/>
              <a:t>网络图论解法 </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2"/>
                                        </p:tgtEl>
                                        <p:attrNameLst>
                                          <p:attrName>style.visibility</p:attrName>
                                        </p:attrNameLst>
                                      </p:cBhvr>
                                      <p:to>
                                        <p:strVal val="visible"/>
                                      </p:to>
                                    </p:set>
                                    <p:anim calcmode="lin" valueType="num">
                                      <p:cBhvr additive="base">
                                        <p:cTn id="13" dur="500" fill="hold"/>
                                        <p:tgtEl>
                                          <p:spTgt spid="20482"/>
                                        </p:tgtEl>
                                        <p:attrNameLst>
                                          <p:attrName>ppt_x</p:attrName>
                                        </p:attrNameLst>
                                      </p:cBhvr>
                                      <p:tavLst>
                                        <p:tav tm="0">
                                          <p:val>
                                            <p:strVal val="#ppt_x"/>
                                          </p:val>
                                        </p:tav>
                                        <p:tav tm="100000">
                                          <p:val>
                                            <p:strVal val="#ppt_x"/>
                                          </p:val>
                                        </p:tav>
                                      </p:tavLst>
                                    </p:anim>
                                    <p:anim calcmode="lin" valueType="num">
                                      <p:cBhvr additive="base">
                                        <p:cTn id="14" dur="500" fill="hold"/>
                                        <p:tgtEl>
                                          <p:spTgt spid="204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sp>
        <p:nvSpPr>
          <p:cNvPr id="96261" name="Text Box 21"/>
          <p:cNvSpPr txBox="1">
            <a:spLocks noChangeArrowheads="1"/>
          </p:cNvSpPr>
          <p:nvPr/>
        </p:nvSpPr>
        <p:spPr bwMode="auto">
          <a:xfrm>
            <a:off x="2613025" y="1270000"/>
            <a:ext cx="7510463" cy="2088515"/>
          </a:xfrm>
          <a:prstGeom prst="rect">
            <a:avLst/>
          </a:prstGeom>
          <a:noFill/>
          <a:ln w="9525">
            <a:noFill/>
            <a:miter lim="800000"/>
          </a:ln>
        </p:spPr>
        <p:txBody>
          <a:bodyPr lIns="0" tIns="0" rIns="0" bIns="0">
            <a:spAutoFit/>
          </a:bodyPr>
          <a:lstStyle/>
          <a:p>
            <a:pPr>
              <a:lnSpc>
                <a:spcPct val="150000"/>
              </a:lnSpc>
              <a:tabLst>
                <a:tab pos="203200" algn="l"/>
                <a:tab pos="266700" algn="l"/>
                <a:tab pos="1917700" algn="l"/>
              </a:tabLst>
            </a:pPr>
            <a:endParaRPr lang="zh-CN" altLang="en-US">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525"/>
              </a:lnSpc>
              <a:tabLst>
                <a:tab pos="203200" algn="l"/>
                <a:tab pos="266700" algn="l"/>
                <a:tab pos="1917700" algn="l"/>
              </a:tabLst>
            </a:pPr>
            <a:r>
              <a:rPr lang="zh-CN" altLang="en-US" sz="1100">
                <a:solidFill>
                  <a:srgbClr val="000000"/>
                </a:solidFill>
                <a:latin typeface="Times New Roman" panose="02020603050405020304" pitchFamily="18" charset="0"/>
                <a:cs typeface="Times New Roman" panose="02020603050405020304" pitchFamily="18" charset="0"/>
              </a:rPr>
              <a:t>			</a:t>
            </a: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525"/>
              </a:lnSpc>
              <a:tabLst>
                <a:tab pos="203200" algn="l"/>
                <a:tab pos="266700" algn="l"/>
                <a:tab pos="1917700" algn="l"/>
              </a:tabLst>
            </a:pP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Text Box 22"/>
          <p:cNvSpPr txBox="1">
            <a:spLocks noChangeArrowheads="1"/>
          </p:cNvSpPr>
          <p:nvPr/>
        </p:nvSpPr>
        <p:spPr bwMode="auto">
          <a:xfrm>
            <a:off x="1666876" y="1244600"/>
            <a:ext cx="8821612" cy="1661795"/>
          </a:xfrm>
          <a:prstGeom prst="rect">
            <a:avLst/>
          </a:prstGeom>
          <a:noFill/>
          <a:ln w="9525">
            <a:noFill/>
            <a:miter lim="800000"/>
          </a:ln>
        </p:spPr>
        <p:txBody>
          <a:bodyPr wrap="square" lIns="0" tIns="0" rIns="0" bIns="0">
            <a:spAutoFit/>
          </a:bodyPr>
          <a:lstStyle/>
          <a:p>
            <a:pPr algn="just">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经过第五次迭代后已经找不到从发点到收点的一条路上的每一条弧顺流容量都大于零，运算停止。最大流量为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10</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。最大流量图如图所示。</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1506" name="Picture 2"/>
          <p:cNvPicPr>
            <a:picLocks noChangeAspect="1" noChangeArrowheads="1"/>
          </p:cNvPicPr>
          <p:nvPr/>
        </p:nvPicPr>
        <p:blipFill>
          <a:blip r:embed="rId1"/>
          <a:srcRect/>
          <a:stretch>
            <a:fillRect/>
          </a:stretch>
        </p:blipFill>
        <p:spPr bwMode="auto">
          <a:xfrm>
            <a:off x="2609933" y="3068960"/>
            <a:ext cx="6928378" cy="3663280"/>
          </a:xfrm>
          <a:prstGeom prst="rect">
            <a:avLst/>
          </a:prstGeom>
          <a:noFill/>
          <a:ln w="9525">
            <a:noFill/>
            <a:miter lim="800000"/>
            <a:headEnd/>
            <a:tailEnd/>
          </a:ln>
        </p:spPr>
      </p:pic>
      <p:sp>
        <p:nvSpPr>
          <p:cNvPr id="2"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最大流问题</a:t>
            </a:r>
            <a:r>
              <a:rPr lang="zh-CN" altLang="en-US" dirty="0"/>
              <a:t> </a:t>
            </a:r>
            <a:r>
              <a:rPr lang="en-US" altLang="zh-CN" dirty="0"/>
              <a:t>–</a:t>
            </a:r>
            <a:r>
              <a:rPr lang="zh-CN" altLang="en-US" dirty="0"/>
              <a:t>网络图论解法 </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506"/>
                                        </p:tgtEl>
                                        <p:attrNameLst>
                                          <p:attrName>style.visibility</p:attrName>
                                        </p:attrNameLst>
                                      </p:cBhvr>
                                      <p:to>
                                        <p:strVal val="visible"/>
                                      </p:to>
                                    </p:set>
                                    <p:anim calcmode="lin" valueType="num">
                                      <p:cBhvr additive="base">
                                        <p:cTn id="13" dur="500" fill="hold"/>
                                        <p:tgtEl>
                                          <p:spTgt spid="21506"/>
                                        </p:tgtEl>
                                        <p:attrNameLst>
                                          <p:attrName>ppt_x</p:attrName>
                                        </p:attrNameLst>
                                      </p:cBhvr>
                                      <p:tavLst>
                                        <p:tav tm="0">
                                          <p:val>
                                            <p:strVal val="#ppt_x"/>
                                          </p:val>
                                        </p:tav>
                                        <p:tav tm="100000">
                                          <p:val>
                                            <p:strVal val="#ppt_x"/>
                                          </p:val>
                                        </p:tav>
                                      </p:tavLst>
                                    </p:anim>
                                    <p:anim calcmode="lin" valueType="num">
                                      <p:cBhvr additive="base">
                                        <p:cTn id="14" dur="500" fill="hold"/>
                                        <p:tgtEl>
                                          <p:spTgt spid="215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最小费用最大流问题</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77500" lnSpcReduction="20000"/>
              </a:bodyPr>
              <a:lstStyle/>
              <a:p>
                <a:pPr>
                  <a:lnSpc>
                    <a:spcPct val="170000"/>
                  </a:lnSpc>
                </a:pPr>
                <a:r>
                  <a:rPr lang="en-US" dirty="0"/>
                  <a:t>给出一个带收发点的网络</a:t>
                </a:r>
                <a:r>
                  <a:rPr lang="zh-CN" altLang="en-US" dirty="0"/>
                  <a:t>，对每一条弧</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oMath>
                </a14:m>
                <a:r>
                  <a:rPr lang="zh-CN" altLang="en-US" dirty="0"/>
                  <a:t>，除了给出容量</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𝑖𝑗</m:t>
                        </m:r>
                      </m:sub>
                    </m:sSub>
                  </m:oMath>
                </a14:m>
                <a:r>
                  <a:rPr lang="zh-CN" altLang="en-US" dirty="0"/>
                  <a:t>外，</a:t>
                </a:r>
                <a:r>
                  <a:rPr lang="zh-CN" altLang="en-US" dirty="0">
                    <a:solidFill>
                      <a:srgbClr val="FF0000"/>
                    </a:solidFill>
                  </a:rPr>
                  <a:t>还给出了这条弧的单位流量的费用</a:t>
                </a:r>
                <a14:m>
                  <m:oMath xmlns:m="http://schemas.openxmlformats.org/officeDocument/2006/math">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𝑏</m:t>
                        </m:r>
                      </m:e>
                      <m:sub>
                        <m:r>
                          <a:rPr lang="en-US" altLang="zh-CN" b="0" i="1" smtClean="0">
                            <a:solidFill>
                              <a:srgbClr val="FF0000"/>
                            </a:solidFill>
                            <a:latin typeface="Cambria Math" panose="02040503050406030204" pitchFamily="18" charset="0"/>
                          </a:rPr>
                          <m:t>𝑖𝑗</m:t>
                        </m:r>
                      </m:sub>
                    </m:sSub>
                  </m:oMath>
                </a14:m>
                <a:r>
                  <a:rPr lang="zh-CN" altLang="en-US" dirty="0"/>
                  <a:t>，要求一个最大流</a:t>
                </a:r>
                <a:r>
                  <a:rPr lang="en-US" altLang="zh-CN" dirty="0"/>
                  <a:t>F</a:t>
                </a:r>
                <a:r>
                  <a:rPr lang="zh-CN" altLang="en-US" dirty="0"/>
                  <a:t>，</a:t>
                </a:r>
                <a:r>
                  <a:rPr lang="zh-CN" altLang="en-US" dirty="0">
                    <a:solidFill>
                      <a:srgbClr val="FF0000"/>
                    </a:solidFill>
                  </a:rPr>
                  <a:t>并使得总运送费用最小</a:t>
                </a:r>
                <a:r>
                  <a:rPr lang="zh-CN" altLang="en-US" dirty="0"/>
                  <a:t>。</a:t>
                </a:r>
                <a:endParaRPr lang="en-US" altLang="zh-CN" dirty="0"/>
              </a:p>
              <a:p>
                <a:pPr>
                  <a:lnSpc>
                    <a:spcPct val="170000"/>
                  </a:lnSpc>
                </a:pPr>
                <a:r>
                  <a:rPr lang="en-US" dirty="0"/>
                  <a:t>通过在例</a:t>
                </a:r>
                <a:r>
                  <a:rPr lang="en-US" altLang="zh-CN" dirty="0"/>
                  <a:t>6</a:t>
                </a:r>
                <a:r>
                  <a:rPr lang="zh-CN" altLang="en-US" dirty="0"/>
                  <a:t>中添加条件，我们可以将其改造为一个最小费用最大流问题：</a:t>
                </a:r>
                <a:endParaRPr lang="en-US" altLang="zh-CN" dirty="0"/>
              </a:p>
              <a:p>
                <a:pPr marL="0" indent="0" algn="just">
                  <a:lnSpc>
                    <a:spcPct val="170000"/>
                  </a:lnSpc>
                  <a:buNone/>
                </a:pPr>
                <a:r>
                  <a:rPr lang="zh-CN" altLang="en-US" dirty="0"/>
                  <a:t>由于输油管道的长短不一，所以在例</a:t>
                </a:r>
                <a:r>
                  <a:rPr lang="en-US" altLang="zh-CN" dirty="0"/>
                  <a:t>6</a:t>
                </a:r>
                <a:r>
                  <a:rPr lang="zh-CN" altLang="en-US" dirty="0"/>
                  <a:t>中每段管道</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oMath>
                </a14:m>
                <a:r>
                  <a:rPr lang="zh-CN" altLang="en-US" dirty="0"/>
                  <a:t>除了有不同的流量限制</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𝑖𝑗</m:t>
                        </m:r>
                      </m:sub>
                    </m:sSub>
                  </m:oMath>
                </a14:m>
                <a:r>
                  <a:rPr lang="zh-CN" altLang="en-US" dirty="0"/>
                  <a:t>，还有</a:t>
                </a:r>
                <a:r>
                  <a:rPr lang="zh-CN" altLang="en-US" dirty="0">
                    <a:solidFill>
                      <a:srgbClr val="FF0000"/>
                    </a:solidFill>
                  </a:rPr>
                  <a:t>不同的单位流量费用</a:t>
                </a:r>
                <a14:m>
                  <m:oMath xmlns:m="http://schemas.openxmlformats.org/officeDocument/2006/math">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𝑏</m:t>
                        </m:r>
                      </m:e>
                      <m:sub>
                        <m:r>
                          <a:rPr lang="en-US" altLang="zh-CN" b="0" i="1" smtClean="0">
                            <a:solidFill>
                              <a:srgbClr val="FF0000"/>
                            </a:solidFill>
                            <a:latin typeface="Cambria Math" panose="02040503050406030204" pitchFamily="18" charset="0"/>
                          </a:rPr>
                          <m:t>𝑖𝑗</m:t>
                        </m:r>
                      </m:sub>
                    </m:sSub>
                  </m:oMath>
                </a14:m>
                <a:r>
                  <a:rPr lang="zh-CN" altLang="en-US" dirty="0"/>
                  <a:t>，</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𝑖𝑗</m:t>
                        </m:r>
                      </m:sub>
                    </m:sSub>
                  </m:oMath>
                </a14:m>
                <a:r>
                  <a:rPr lang="zh-CN" altLang="en-US" dirty="0"/>
                  <a:t>的单位是万加仑</a:t>
                </a:r>
                <a:r>
                  <a:rPr lang="en-US" altLang="zh-CN" dirty="0"/>
                  <a:t>/</a:t>
                </a:r>
                <a:r>
                  <a:rPr lang="zh-CN" altLang="en-US" dirty="0"/>
                  <a:t>小时，</a:t>
                </a:r>
                <a14:m>
                  <m:oMath xmlns:m="http://schemas.openxmlformats.org/officeDocument/2006/math">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𝑏</m:t>
                        </m:r>
                      </m:e>
                      <m:sub>
                        <m:r>
                          <a:rPr lang="en-US" altLang="zh-CN" b="0" i="1" smtClean="0">
                            <a:solidFill>
                              <a:srgbClr val="FF0000"/>
                            </a:solidFill>
                            <a:latin typeface="Cambria Math" panose="02040503050406030204" pitchFamily="18" charset="0"/>
                          </a:rPr>
                          <m:t>𝑖𝑗</m:t>
                        </m:r>
                      </m:sub>
                    </m:sSub>
                  </m:oMath>
                </a14:m>
                <a:r>
                  <a:rPr lang="zh-CN" altLang="en-US" dirty="0">
                    <a:solidFill>
                      <a:srgbClr val="FF0000"/>
                    </a:solidFill>
                  </a:rPr>
                  <a:t>的单位是百元万加仑</a:t>
                </a:r>
                <a:r>
                  <a:rPr lang="zh-CN" altLang="en-US" dirty="0"/>
                  <a:t>。如果使用这个网络系统从采地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1</m:t>
                        </m:r>
                      </m:sub>
                    </m:sSub>
                  </m:oMath>
                </a14:m>
                <a:r>
                  <a:rPr lang="zh-CN" altLang="en-US" dirty="0"/>
                  <a:t>向销地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7</m:t>
                        </m:r>
                      </m:sub>
                    </m:sSub>
                  </m:oMath>
                </a14:m>
                <a:r>
                  <a:rPr lang="zh-CN" altLang="en-US" dirty="0"/>
                  <a:t>运送石油，怎样运送才能</a:t>
                </a:r>
                <a:r>
                  <a:rPr lang="zh-CN" altLang="en-US" dirty="0">
                    <a:solidFill>
                      <a:srgbClr val="FF0000"/>
                    </a:solidFill>
                  </a:rPr>
                  <a:t>运送最多的石油并且使得总得运送费用最小</a:t>
                </a:r>
                <a:r>
                  <a:rPr lang="zh-CN" altLang="en-US" dirty="0"/>
                  <a:t>？</a:t>
                </a: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最小费用最大流</a:t>
            </a:r>
            <a:r>
              <a:rPr lang="zh-CN" altLang="en-US" dirty="0"/>
              <a:t> </a:t>
            </a:r>
            <a:r>
              <a:rPr lang="en-US" altLang="zh-CN" dirty="0"/>
              <a:t>-</a:t>
            </a:r>
            <a:r>
              <a:rPr lang="zh-CN" altLang="en-US" dirty="0"/>
              <a:t> 线性规划模型</a:t>
            </a:r>
            <a:endParaRPr lang="en-US" dirty="0"/>
          </a:p>
        </p:txBody>
      </p:sp>
      <p:grpSp>
        <p:nvGrpSpPr>
          <p:cNvPr id="4" name="Group 3"/>
          <p:cNvGrpSpPr/>
          <p:nvPr/>
        </p:nvGrpSpPr>
        <p:grpSpPr bwMode="auto">
          <a:xfrm>
            <a:off x="2374058" y="1807474"/>
            <a:ext cx="7848600" cy="4483100"/>
            <a:chOff x="0" y="0"/>
            <a:chExt cx="3888" cy="1709"/>
          </a:xfrm>
        </p:grpSpPr>
        <p:sp>
          <p:nvSpPr>
            <p:cNvPr id="5" name="Line 4"/>
            <p:cNvSpPr>
              <a:spLocks noChangeShapeType="1"/>
            </p:cNvSpPr>
            <p:nvPr/>
          </p:nvSpPr>
          <p:spPr bwMode="auto">
            <a:xfrm>
              <a:off x="192" y="816"/>
              <a:ext cx="672" cy="67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 name="Line 5"/>
            <p:cNvSpPr>
              <a:spLocks noChangeShapeType="1"/>
            </p:cNvSpPr>
            <p:nvPr/>
          </p:nvSpPr>
          <p:spPr bwMode="auto">
            <a:xfrm flipV="1">
              <a:off x="192" y="288"/>
              <a:ext cx="672" cy="528"/>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7" name="Line 6"/>
            <p:cNvSpPr>
              <a:spLocks noChangeShapeType="1"/>
            </p:cNvSpPr>
            <p:nvPr/>
          </p:nvSpPr>
          <p:spPr bwMode="auto">
            <a:xfrm flipV="1">
              <a:off x="864" y="816"/>
              <a:ext cx="672" cy="67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 name="Line 7"/>
            <p:cNvSpPr>
              <a:spLocks noChangeShapeType="1"/>
            </p:cNvSpPr>
            <p:nvPr/>
          </p:nvSpPr>
          <p:spPr bwMode="auto">
            <a:xfrm>
              <a:off x="864" y="288"/>
              <a:ext cx="672" cy="528"/>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 name="Line 8"/>
            <p:cNvSpPr>
              <a:spLocks noChangeShapeType="1"/>
            </p:cNvSpPr>
            <p:nvPr/>
          </p:nvSpPr>
          <p:spPr bwMode="auto">
            <a:xfrm flipV="1">
              <a:off x="864" y="144"/>
              <a:ext cx="1104" cy="144"/>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 name="Line 9"/>
            <p:cNvSpPr>
              <a:spLocks noChangeShapeType="1"/>
            </p:cNvSpPr>
            <p:nvPr/>
          </p:nvSpPr>
          <p:spPr bwMode="auto">
            <a:xfrm flipV="1">
              <a:off x="1536" y="144"/>
              <a:ext cx="432" cy="67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1" name="Line 10"/>
            <p:cNvSpPr>
              <a:spLocks noChangeShapeType="1"/>
            </p:cNvSpPr>
            <p:nvPr/>
          </p:nvSpPr>
          <p:spPr bwMode="auto">
            <a:xfrm flipV="1">
              <a:off x="1536" y="624"/>
              <a:ext cx="2064" cy="19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2" name="Line 11"/>
            <p:cNvSpPr>
              <a:spLocks noChangeShapeType="1"/>
            </p:cNvSpPr>
            <p:nvPr/>
          </p:nvSpPr>
          <p:spPr bwMode="auto">
            <a:xfrm flipV="1">
              <a:off x="864" y="624"/>
              <a:ext cx="2736" cy="864"/>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3" name="Line 12"/>
            <p:cNvSpPr>
              <a:spLocks noChangeShapeType="1"/>
            </p:cNvSpPr>
            <p:nvPr/>
          </p:nvSpPr>
          <p:spPr bwMode="auto">
            <a:xfrm>
              <a:off x="1968" y="144"/>
              <a:ext cx="1632" cy="480"/>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4" name="Line 13"/>
            <p:cNvSpPr>
              <a:spLocks noChangeShapeType="1"/>
            </p:cNvSpPr>
            <p:nvPr/>
          </p:nvSpPr>
          <p:spPr bwMode="auto">
            <a:xfrm flipV="1">
              <a:off x="864" y="720"/>
              <a:ext cx="1824" cy="768"/>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5" name="Text Box 14"/>
            <p:cNvSpPr txBox="1">
              <a:spLocks noChangeArrowheads="1"/>
            </p:cNvSpPr>
            <p:nvPr/>
          </p:nvSpPr>
          <p:spPr bwMode="auto">
            <a:xfrm>
              <a:off x="161" y="387"/>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(6,6)</a:t>
              </a:r>
              <a:endParaRPr lang="en-US" altLang="zh-CN" sz="2400" b="1" dirty="0"/>
            </a:p>
          </p:txBody>
        </p:sp>
        <p:sp>
          <p:nvSpPr>
            <p:cNvPr id="16" name="Text Box 15"/>
            <p:cNvSpPr txBox="1">
              <a:spLocks noChangeArrowheads="1"/>
            </p:cNvSpPr>
            <p:nvPr/>
          </p:nvSpPr>
          <p:spPr bwMode="auto">
            <a:xfrm>
              <a:off x="1296" y="0"/>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(3,4)</a:t>
              </a:r>
              <a:endParaRPr lang="en-US" altLang="zh-CN" sz="2400" b="1" dirty="0"/>
            </a:p>
          </p:txBody>
        </p:sp>
        <p:sp>
          <p:nvSpPr>
            <p:cNvPr id="17" name="Text Box 16"/>
            <p:cNvSpPr txBox="1">
              <a:spLocks noChangeArrowheads="1"/>
            </p:cNvSpPr>
            <p:nvPr/>
          </p:nvSpPr>
          <p:spPr bwMode="auto">
            <a:xfrm>
              <a:off x="2352" y="96"/>
              <a:ext cx="33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(5,7)</a:t>
              </a:r>
              <a:endParaRPr lang="en-US" altLang="zh-CN" sz="2400" b="1" dirty="0"/>
            </a:p>
          </p:txBody>
        </p:sp>
        <p:sp>
          <p:nvSpPr>
            <p:cNvPr id="18" name="Text Box 17"/>
            <p:cNvSpPr txBox="1">
              <a:spLocks noChangeArrowheads="1"/>
            </p:cNvSpPr>
            <p:nvPr/>
          </p:nvSpPr>
          <p:spPr bwMode="auto">
            <a:xfrm>
              <a:off x="768" y="475"/>
              <a:ext cx="33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(2,5)</a:t>
              </a:r>
              <a:endParaRPr lang="en-US" altLang="zh-CN" sz="2400" b="1" dirty="0"/>
            </a:p>
          </p:txBody>
        </p:sp>
        <p:sp>
          <p:nvSpPr>
            <p:cNvPr id="19" name="Text Box 18"/>
            <p:cNvSpPr txBox="1">
              <a:spLocks noChangeArrowheads="1"/>
            </p:cNvSpPr>
            <p:nvPr/>
          </p:nvSpPr>
          <p:spPr bwMode="auto">
            <a:xfrm>
              <a:off x="1392" y="342"/>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(2,4)</a:t>
              </a:r>
              <a:endParaRPr lang="en-US" altLang="zh-CN" sz="2400" b="1" dirty="0"/>
            </a:p>
          </p:txBody>
        </p:sp>
        <p:sp>
          <p:nvSpPr>
            <p:cNvPr id="20" name="Text Box 19"/>
            <p:cNvSpPr txBox="1">
              <a:spLocks noChangeArrowheads="1"/>
            </p:cNvSpPr>
            <p:nvPr/>
          </p:nvSpPr>
          <p:spPr bwMode="auto">
            <a:xfrm>
              <a:off x="1920" y="576"/>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(2,3)</a:t>
              </a:r>
              <a:endParaRPr lang="en-US" altLang="zh-CN" sz="2400" b="1" dirty="0"/>
            </a:p>
          </p:txBody>
        </p:sp>
        <p:sp>
          <p:nvSpPr>
            <p:cNvPr id="21" name="Text Box 20"/>
            <p:cNvSpPr txBox="1">
              <a:spLocks noChangeArrowheads="1"/>
            </p:cNvSpPr>
            <p:nvPr/>
          </p:nvSpPr>
          <p:spPr bwMode="auto">
            <a:xfrm>
              <a:off x="2738" y="494"/>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(4,4)</a:t>
              </a:r>
              <a:endParaRPr lang="en-US" altLang="zh-CN" sz="2400" b="1" dirty="0"/>
            </a:p>
          </p:txBody>
        </p:sp>
        <p:sp>
          <p:nvSpPr>
            <p:cNvPr id="22" name="Text Box 21"/>
            <p:cNvSpPr txBox="1">
              <a:spLocks noChangeArrowheads="1"/>
            </p:cNvSpPr>
            <p:nvPr/>
          </p:nvSpPr>
          <p:spPr bwMode="auto">
            <a:xfrm>
              <a:off x="1353" y="989"/>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(1,3)</a:t>
              </a:r>
              <a:endParaRPr lang="en-US" altLang="zh-CN" sz="2400" b="1" dirty="0"/>
            </a:p>
          </p:txBody>
        </p:sp>
        <p:sp>
          <p:nvSpPr>
            <p:cNvPr id="23" name="Text Box 22"/>
            <p:cNvSpPr txBox="1">
              <a:spLocks noChangeArrowheads="1"/>
            </p:cNvSpPr>
            <p:nvPr/>
          </p:nvSpPr>
          <p:spPr bwMode="auto">
            <a:xfrm>
              <a:off x="1680" y="1200"/>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(2,8)</a:t>
              </a:r>
              <a:endParaRPr lang="en-US" altLang="zh-CN" sz="2400" b="1" dirty="0"/>
            </a:p>
          </p:txBody>
        </p:sp>
        <p:sp>
          <p:nvSpPr>
            <p:cNvPr id="24" name="Text Box 23"/>
            <p:cNvSpPr txBox="1">
              <a:spLocks noChangeArrowheads="1"/>
            </p:cNvSpPr>
            <p:nvPr/>
          </p:nvSpPr>
          <p:spPr bwMode="auto">
            <a:xfrm>
              <a:off x="92" y="1016"/>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(6,3)</a:t>
              </a:r>
              <a:endParaRPr lang="en-US" altLang="zh-CN" sz="2400" b="1" dirty="0"/>
            </a:p>
          </p:txBody>
        </p:sp>
        <p:sp>
          <p:nvSpPr>
            <p:cNvPr id="25" name="Text Box 24"/>
            <p:cNvSpPr txBox="1">
              <a:spLocks noChangeArrowheads="1"/>
            </p:cNvSpPr>
            <p:nvPr/>
          </p:nvSpPr>
          <p:spPr bwMode="auto">
            <a:xfrm>
              <a:off x="912" y="936"/>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(3,2)</a:t>
              </a:r>
              <a:endParaRPr lang="en-US" altLang="zh-CN" sz="2400" b="1" dirty="0"/>
            </a:p>
          </p:txBody>
        </p:sp>
        <p:sp>
          <p:nvSpPr>
            <p:cNvPr id="26" name="Text Box 25"/>
            <p:cNvSpPr txBox="1">
              <a:spLocks noChangeArrowheads="1"/>
            </p:cNvSpPr>
            <p:nvPr/>
          </p:nvSpPr>
          <p:spPr bwMode="auto">
            <a:xfrm>
              <a:off x="0" y="672"/>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1</a:t>
              </a:r>
              <a:endParaRPr lang="en-US" altLang="zh-CN" sz="2400" b="1" baseline="-25000"/>
            </a:p>
          </p:txBody>
        </p:sp>
        <p:sp>
          <p:nvSpPr>
            <p:cNvPr id="27" name="Text Box 26"/>
            <p:cNvSpPr txBox="1">
              <a:spLocks noChangeArrowheads="1"/>
            </p:cNvSpPr>
            <p:nvPr/>
          </p:nvSpPr>
          <p:spPr bwMode="auto">
            <a:xfrm>
              <a:off x="686" y="81"/>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v</a:t>
              </a:r>
              <a:r>
                <a:rPr lang="en-US" altLang="zh-CN" sz="2400" b="1" baseline="-25000" dirty="0"/>
                <a:t>2</a:t>
              </a:r>
              <a:endParaRPr lang="en-US" altLang="zh-CN" sz="2400" b="1" baseline="-25000" dirty="0"/>
            </a:p>
          </p:txBody>
        </p:sp>
        <p:sp>
          <p:nvSpPr>
            <p:cNvPr id="28" name="Text Box 27"/>
            <p:cNvSpPr txBox="1">
              <a:spLocks noChangeArrowheads="1"/>
            </p:cNvSpPr>
            <p:nvPr/>
          </p:nvSpPr>
          <p:spPr bwMode="auto">
            <a:xfrm>
              <a:off x="3552" y="48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7</a:t>
              </a:r>
              <a:endParaRPr lang="en-US" altLang="zh-CN" sz="2400" b="1" baseline="-25000"/>
            </a:p>
          </p:txBody>
        </p:sp>
        <p:sp>
          <p:nvSpPr>
            <p:cNvPr id="29" name="Text Box 28"/>
            <p:cNvSpPr txBox="1">
              <a:spLocks noChangeArrowheads="1"/>
            </p:cNvSpPr>
            <p:nvPr/>
          </p:nvSpPr>
          <p:spPr bwMode="auto">
            <a:xfrm>
              <a:off x="768" y="144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4</a:t>
              </a:r>
              <a:endParaRPr lang="en-US" altLang="zh-CN" sz="2400" b="1" baseline="-25000"/>
            </a:p>
          </p:txBody>
        </p:sp>
        <p:sp>
          <p:nvSpPr>
            <p:cNvPr id="30" name="Text Box 29"/>
            <p:cNvSpPr txBox="1">
              <a:spLocks noChangeArrowheads="1"/>
            </p:cNvSpPr>
            <p:nvPr/>
          </p:nvSpPr>
          <p:spPr bwMode="auto">
            <a:xfrm>
              <a:off x="1282" y="658"/>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3</a:t>
              </a:r>
              <a:endParaRPr lang="en-US" altLang="zh-CN" sz="2400" b="1" baseline="-25000"/>
            </a:p>
          </p:txBody>
        </p:sp>
        <p:sp>
          <p:nvSpPr>
            <p:cNvPr id="31" name="Text Box 30"/>
            <p:cNvSpPr txBox="1">
              <a:spLocks noChangeArrowheads="1"/>
            </p:cNvSpPr>
            <p:nvPr/>
          </p:nvSpPr>
          <p:spPr bwMode="auto">
            <a:xfrm>
              <a:off x="2544" y="48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6</a:t>
              </a:r>
              <a:endParaRPr lang="en-US" altLang="zh-CN" sz="2400" b="1" baseline="-25000"/>
            </a:p>
          </p:txBody>
        </p:sp>
        <p:sp>
          <p:nvSpPr>
            <p:cNvPr id="32" name="Line 31"/>
            <p:cNvSpPr>
              <a:spLocks noChangeShapeType="1"/>
            </p:cNvSpPr>
            <p:nvPr/>
          </p:nvSpPr>
          <p:spPr bwMode="auto">
            <a:xfrm flipV="1">
              <a:off x="545" y="401"/>
              <a:ext cx="181" cy="136"/>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3" name="Line 32"/>
            <p:cNvSpPr>
              <a:spLocks noChangeShapeType="1"/>
            </p:cNvSpPr>
            <p:nvPr/>
          </p:nvSpPr>
          <p:spPr bwMode="auto">
            <a:xfrm>
              <a:off x="499" y="1126"/>
              <a:ext cx="91" cy="9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Line 35"/>
            <p:cNvSpPr>
              <a:spLocks noChangeShapeType="1"/>
            </p:cNvSpPr>
            <p:nvPr/>
          </p:nvSpPr>
          <p:spPr bwMode="auto">
            <a:xfrm flipV="1">
              <a:off x="1089" y="1172"/>
              <a:ext cx="91" cy="9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 name="Line 36"/>
            <p:cNvSpPr>
              <a:spLocks noChangeShapeType="1"/>
            </p:cNvSpPr>
            <p:nvPr/>
          </p:nvSpPr>
          <p:spPr bwMode="auto">
            <a:xfrm flipV="1">
              <a:off x="1842" y="990"/>
              <a:ext cx="227" cy="9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Line 37"/>
            <p:cNvSpPr>
              <a:spLocks noChangeShapeType="1"/>
            </p:cNvSpPr>
            <p:nvPr/>
          </p:nvSpPr>
          <p:spPr bwMode="auto">
            <a:xfrm flipV="1">
              <a:off x="2041" y="990"/>
              <a:ext cx="409" cy="13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 name="Line 38"/>
            <p:cNvSpPr>
              <a:spLocks noChangeShapeType="1"/>
            </p:cNvSpPr>
            <p:nvPr/>
          </p:nvSpPr>
          <p:spPr bwMode="auto">
            <a:xfrm flipV="1">
              <a:off x="2132" y="718"/>
              <a:ext cx="318" cy="4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 name="Line 39"/>
            <p:cNvSpPr>
              <a:spLocks noChangeShapeType="1"/>
            </p:cNvSpPr>
            <p:nvPr/>
          </p:nvSpPr>
          <p:spPr bwMode="auto">
            <a:xfrm>
              <a:off x="3057" y="664"/>
              <a:ext cx="272"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 name="Line 40"/>
            <p:cNvSpPr>
              <a:spLocks noChangeShapeType="1"/>
            </p:cNvSpPr>
            <p:nvPr/>
          </p:nvSpPr>
          <p:spPr bwMode="auto">
            <a:xfrm>
              <a:off x="2812" y="401"/>
              <a:ext cx="318" cy="9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 name="Line 41"/>
            <p:cNvSpPr>
              <a:spLocks noChangeShapeType="1"/>
            </p:cNvSpPr>
            <p:nvPr/>
          </p:nvSpPr>
          <p:spPr bwMode="auto">
            <a:xfrm flipV="1">
              <a:off x="1678" y="446"/>
              <a:ext cx="91" cy="13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 name="Text Box 42"/>
            <p:cNvSpPr txBox="1">
              <a:spLocks noChangeArrowheads="1"/>
            </p:cNvSpPr>
            <p:nvPr/>
          </p:nvSpPr>
          <p:spPr bwMode="auto">
            <a:xfrm>
              <a:off x="1678" y="1535"/>
              <a:ext cx="8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endParaRPr lang="zh-CN" altLang="en-US" sz="2400" b="1"/>
            </a:p>
          </p:txBody>
        </p:sp>
      </p:grpSp>
      <p:sp>
        <p:nvSpPr>
          <p:cNvPr id="42" name="Text Box 26"/>
          <p:cNvSpPr txBox="1">
            <a:spLocks noChangeArrowheads="1"/>
          </p:cNvSpPr>
          <p:nvPr/>
        </p:nvSpPr>
        <p:spPr bwMode="auto">
          <a:xfrm>
            <a:off x="6201461" y="1681558"/>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v</a:t>
            </a:r>
            <a:r>
              <a:rPr lang="en-US" altLang="zh-CN" sz="2400" b="1" baseline="-25000" dirty="0"/>
              <a:t>5</a:t>
            </a:r>
            <a:endParaRPr lang="en-US" altLang="zh-CN" sz="2400" b="1" baseline="-25000" dirty="0"/>
          </a:p>
        </p:txBody>
      </p:sp>
      <p:sp>
        <p:nvSpPr>
          <p:cNvPr id="43" name="TextBox 42"/>
          <p:cNvSpPr txBox="1"/>
          <p:nvPr/>
        </p:nvSpPr>
        <p:spPr>
          <a:xfrm>
            <a:off x="436970" y="1505119"/>
            <a:ext cx="3036255" cy="923330"/>
          </a:xfrm>
          <a:prstGeom prst="rect">
            <a:avLst/>
          </a:prstGeom>
          <a:noFill/>
        </p:spPr>
        <p:txBody>
          <a:bodyPr wrap="square" rtlCol="0">
            <a:spAutoFit/>
          </a:bodyPr>
          <a:lstStyle/>
          <a:p>
            <a:pPr marL="285750" indent="-285750">
              <a:buFont typeface="Arial" panose="020B0604020202020204" pitchFamily="34" charset="0"/>
              <a:buChar char="•"/>
            </a:pPr>
            <a:r>
              <a:rPr lang="en-US" dirty="0" err="1">
                <a:latin typeface="Kaiti TC" panose="02010600040101010101" pitchFamily="2" charset="-120"/>
                <a:ea typeface="Kaiti TC" panose="02010600040101010101" pitchFamily="2" charset="-120"/>
              </a:rPr>
              <a:t>先求出最大流量F</a:t>
            </a:r>
            <a:endParaRPr lang="en-US" dirty="0">
              <a:latin typeface="Kaiti TC" panose="02010600040101010101" pitchFamily="2" charset="-120"/>
              <a:ea typeface="Kaiti TC" panose="02010600040101010101" pitchFamily="2" charset="-120"/>
            </a:endParaRPr>
          </a:p>
          <a:p>
            <a:pPr marL="285750" indent="-285750">
              <a:buFont typeface="Arial" panose="020B0604020202020204" pitchFamily="34" charset="0"/>
              <a:buChar char="•"/>
            </a:pPr>
            <a:r>
              <a:rPr lang="en-US" dirty="0" err="1">
                <a:latin typeface="Kaiti TC" panose="02010600040101010101" pitchFamily="2" charset="-120"/>
                <a:ea typeface="Kaiti TC" panose="02010600040101010101" pitchFamily="2" charset="-120"/>
              </a:rPr>
              <a:t>在最大流量F的所有解中</a:t>
            </a:r>
            <a:r>
              <a:rPr lang="zh-CN" altLang="en-US" dirty="0">
                <a:latin typeface="Kaiti TC" panose="02010600040101010101" pitchFamily="2" charset="-120"/>
                <a:ea typeface="Kaiti TC" panose="02010600040101010101" pitchFamily="2" charset="-120"/>
              </a:rPr>
              <a:t>，找出最小费用的解</a:t>
            </a:r>
            <a:endParaRPr lang="en-US" dirty="0">
              <a:latin typeface="Kaiti TC" panose="02010600040101010101" pitchFamily="2" charset="-120"/>
              <a:ea typeface="Kaiti TC" panose="02010600040101010101" pitchFamily="2" charset="-120"/>
            </a:endParaRPr>
          </a:p>
        </p:txBody>
      </p:sp>
      <mc:AlternateContent xmlns:mc="http://schemas.openxmlformats.org/markup-compatibility/2006">
        <mc:Choice xmlns:a14="http://schemas.microsoft.com/office/drawing/2010/main" Requires="a14">
          <p:sp>
            <p:nvSpPr>
              <p:cNvPr id="45" name="TextBox 44"/>
              <p:cNvSpPr txBox="1"/>
              <p:nvPr/>
            </p:nvSpPr>
            <p:spPr>
              <a:xfrm>
                <a:off x="2629734" y="2487496"/>
                <a:ext cx="774161" cy="39164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b="0" i="1" smtClean="0">
                          <a:solidFill>
                            <a:srgbClr val="FF0000"/>
                          </a:solidFill>
                          <a:latin typeface="Cambria Math" panose="02040503050406030204" pitchFamily="18" charset="0"/>
                        </a:rPr>
                        <m:t>(</m:t>
                      </m:r>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𝑐</m:t>
                          </m:r>
                        </m:e>
                        <m:sub>
                          <m:r>
                            <a:rPr lang="en-US" altLang="zh-CN" b="0" i="1" smtClean="0">
                              <a:solidFill>
                                <a:srgbClr val="FF0000"/>
                              </a:solidFill>
                              <a:latin typeface="Cambria Math" panose="02040503050406030204" pitchFamily="18" charset="0"/>
                            </a:rPr>
                            <m:t>𝑖𝑗</m:t>
                          </m:r>
                        </m:sub>
                      </m:sSub>
                      <m:r>
                        <a:rPr lang="en-US" altLang="zh-CN" b="0" i="1" smtClean="0">
                          <a:solidFill>
                            <a:srgbClr val="FF0000"/>
                          </a:solidFill>
                          <a:latin typeface="Cambria Math" panose="02040503050406030204" pitchFamily="18" charset="0"/>
                        </a:rPr>
                        <m:t>,</m:t>
                      </m:r>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𝑏</m:t>
                          </m:r>
                        </m:e>
                        <m:sub>
                          <m:r>
                            <a:rPr lang="en-US" altLang="zh-CN" b="0" i="1" smtClean="0">
                              <a:solidFill>
                                <a:srgbClr val="FF0000"/>
                              </a:solidFill>
                              <a:latin typeface="Cambria Math" panose="02040503050406030204" pitchFamily="18" charset="0"/>
                            </a:rPr>
                            <m:t>𝑖𝑗</m:t>
                          </m:r>
                        </m:sub>
                      </m:sSub>
                      <m:r>
                        <a:rPr lang="en-US" altLang="zh-CN" b="0" i="1" smtClean="0">
                          <a:solidFill>
                            <a:srgbClr val="FF0000"/>
                          </a:solidFill>
                          <a:latin typeface="Cambria Math" panose="02040503050406030204" pitchFamily="18" charset="0"/>
                        </a:rPr>
                        <m:t>)</m:t>
                      </m:r>
                    </m:oMath>
                  </m:oMathPara>
                </a14:m>
                <a:endParaRPr lang="en-US" dirty="0">
                  <a:solidFill>
                    <a:srgbClr val="FF0000"/>
                  </a:solidFill>
                </a:endParaRPr>
              </a:p>
            </p:txBody>
          </p:sp>
        </mc:Choice>
        <mc:Fallback>
          <p:sp>
            <p:nvSpPr>
              <p:cNvPr id="45" name="TextBox 44"/>
              <p:cNvSpPr txBox="1">
                <a:spLocks noRot="1" noChangeAspect="1" noMove="1" noResize="1" noEditPoints="1" noAdjustHandles="1" noChangeArrowheads="1" noChangeShapeType="1" noTextEdit="1"/>
              </p:cNvSpPr>
              <p:nvPr/>
            </p:nvSpPr>
            <p:spPr>
              <a:xfrm>
                <a:off x="2629734" y="2487496"/>
                <a:ext cx="774161" cy="391646"/>
              </a:xfrm>
              <a:prstGeom prst="rect">
                <a:avLst/>
              </a:prstGeom>
              <a:blipFill rotWithShape="1">
                <a:blip r:embed="rId1"/>
                <a:stretch>
                  <a:fillRect l="-26" t="-51" r="-14070" b="13"/>
                </a:stretch>
              </a:blipFill>
            </p:spPr>
            <p:txBody>
              <a:bodyPr/>
              <a:lstStyle/>
              <a:p>
                <a:r>
                  <a:rPr lang="zh-CN" altLang="en-US">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8" name="文本框 4"/>
          <p:cNvSpPr txBox="1">
            <a:spLocks noChangeArrowheads="1"/>
          </p:cNvSpPr>
          <p:nvPr/>
        </p:nvSpPr>
        <p:spPr bwMode="auto">
          <a:xfrm>
            <a:off x="4086225" y="5073650"/>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sp>
        <p:nvSpPr>
          <p:cNvPr id="108549" name="Text Box 21"/>
          <p:cNvSpPr txBox="1">
            <a:spLocks noChangeArrowheads="1"/>
          </p:cNvSpPr>
          <p:nvPr/>
        </p:nvSpPr>
        <p:spPr bwMode="auto">
          <a:xfrm>
            <a:off x="2613025" y="1270000"/>
            <a:ext cx="7510463" cy="2088515"/>
          </a:xfrm>
          <a:prstGeom prst="rect">
            <a:avLst/>
          </a:prstGeom>
          <a:noFill/>
          <a:ln w="9525">
            <a:noFill/>
            <a:miter lim="800000"/>
          </a:ln>
        </p:spPr>
        <p:txBody>
          <a:bodyPr lIns="0" tIns="0" rIns="0" bIns="0">
            <a:spAutoFit/>
          </a:bodyPr>
          <a:lstStyle/>
          <a:p>
            <a:pPr>
              <a:lnSpc>
                <a:spcPct val="150000"/>
              </a:lnSpc>
              <a:tabLst>
                <a:tab pos="203200" algn="l"/>
                <a:tab pos="266700" algn="l"/>
                <a:tab pos="1917700" algn="l"/>
              </a:tabLst>
            </a:pPr>
            <a:endParaRPr lang="zh-CN" altLang="en-US">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525"/>
              </a:lnSpc>
              <a:tabLst>
                <a:tab pos="203200" algn="l"/>
                <a:tab pos="266700" algn="l"/>
                <a:tab pos="1917700" algn="l"/>
              </a:tabLst>
            </a:pPr>
            <a:r>
              <a:rPr lang="zh-CN" altLang="en-US" sz="1100">
                <a:solidFill>
                  <a:srgbClr val="000000"/>
                </a:solidFill>
                <a:latin typeface="Times New Roman" panose="02020603050405020304" pitchFamily="18" charset="0"/>
                <a:cs typeface="Times New Roman" panose="02020603050405020304" pitchFamily="18" charset="0"/>
              </a:rPr>
              <a:t>			</a:t>
            </a: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525"/>
              </a:lnSpc>
              <a:tabLst>
                <a:tab pos="203200" algn="l"/>
                <a:tab pos="266700" algn="l"/>
                <a:tab pos="1917700" algn="l"/>
              </a:tabLst>
            </a:pP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3" name="Text Box 22"/>
              <p:cNvSpPr txBox="1">
                <a:spLocks noChangeArrowheads="1"/>
              </p:cNvSpPr>
              <p:nvPr/>
            </p:nvSpPr>
            <p:spPr bwMode="auto">
              <a:xfrm>
                <a:off x="961390" y="1716405"/>
                <a:ext cx="10055225" cy="1259840"/>
              </a:xfrm>
              <a:prstGeom prst="rect">
                <a:avLst/>
              </a:prstGeom>
              <a:noFill/>
              <a:ln w="9525">
                <a:noFill/>
                <a:miter lim="800000"/>
              </a:ln>
            </p:spPr>
            <p:txBody>
              <a:bodyPr wrap="square" lIns="0" tIns="0" rIns="0" bIns="0">
                <a:noAutofit/>
              </a:bodyPr>
              <a:lstStyle/>
              <a:p>
                <a:pPr>
                  <a:lnSpc>
                    <a:spcPct val="150000"/>
                  </a:lnSpc>
                </a:pP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对网络上弧</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rPr>
                      <m:t>（</m:t>
                    </m:r>
                    <m:sSub>
                      <m:sSubPr>
                        <m:ctrlPr>
                          <a:rPr lang="en-US" altLang="zh-CN" sz="2400" b="0" i="1" dirty="0" smtClean="0">
                            <a:solidFill>
                              <a:srgbClr val="000000"/>
                            </a:solidFill>
                            <a:latin typeface="Cambria Math" panose="02040503050406030204" pitchFamily="18" charset="0"/>
                            <a:ea typeface="楷体" panose="02010609060101010101" pitchFamily="49" charset="-122"/>
                          </a:rPr>
                        </m:ctrlPr>
                      </m:sSubPr>
                      <m:e>
                        <m:r>
                          <a:rPr lang="en-US" altLang="zh-CN" sz="2400" i="1" dirty="0">
                            <a:solidFill>
                              <a:srgbClr val="000000"/>
                            </a:solidFill>
                            <a:latin typeface="Cambria Math" panose="02040503050406030204" pitchFamily="18" charset="0"/>
                            <a:ea typeface="楷体" panose="02010609060101010101" pitchFamily="49" charset="-122"/>
                          </a:rPr>
                          <m:t>𝑣</m:t>
                        </m:r>
                      </m:e>
                      <m:sub>
                        <m:r>
                          <a:rPr lang="en-US" altLang="zh-CN" sz="2400" b="0" i="1" dirty="0" smtClean="0">
                            <a:solidFill>
                              <a:srgbClr val="000000"/>
                            </a:solidFill>
                            <a:latin typeface="Cambria Math" panose="02040503050406030204" pitchFamily="18" charset="0"/>
                            <a:ea typeface="楷体" panose="02010609060101010101" pitchFamily="49" charset="-122"/>
                          </a:rPr>
                          <m:t>𝑖</m:t>
                        </m:r>
                      </m:sub>
                    </m:sSub>
                    <m:r>
                      <a:rPr lang="en-US" altLang="zh-CN" sz="2400" b="0" i="1" dirty="0" smtClean="0">
                        <a:solidFill>
                          <a:srgbClr val="000000"/>
                        </a:solidFill>
                        <a:latin typeface="Cambria Math" panose="02040503050406030204" pitchFamily="18" charset="0"/>
                        <a:ea typeface="楷体" panose="02010609060101010101" pitchFamily="49" charset="-122"/>
                      </a:rPr>
                      <m:t>,</m:t>
                    </m:r>
                    <m:sSub>
                      <m:sSubPr>
                        <m:ctrlPr>
                          <a:rPr lang="en-US" altLang="zh-CN" sz="2400" b="0" i="1" dirty="0" smtClean="0">
                            <a:solidFill>
                              <a:srgbClr val="000000"/>
                            </a:solidFill>
                            <a:latin typeface="Cambria Math" panose="02040503050406030204" pitchFamily="18" charset="0"/>
                            <a:ea typeface="楷体" panose="02010609060101010101" pitchFamily="49" charset="-122"/>
                          </a:rPr>
                        </m:ctrlPr>
                      </m:sSubPr>
                      <m:e>
                        <m:r>
                          <a:rPr lang="en-US" altLang="zh-CN" sz="2400" b="0" i="1" dirty="0" smtClean="0">
                            <a:solidFill>
                              <a:srgbClr val="000000"/>
                            </a:solidFill>
                            <a:latin typeface="Cambria Math" panose="02040503050406030204" pitchFamily="18" charset="0"/>
                            <a:ea typeface="楷体" panose="02010609060101010101" pitchFamily="49" charset="-122"/>
                          </a:rPr>
                          <m:t>𝑣</m:t>
                        </m:r>
                      </m:e>
                      <m:sub>
                        <m:r>
                          <a:rPr lang="en-US" altLang="zh-CN" sz="2400" b="0" i="1" dirty="0" smtClean="0">
                            <a:solidFill>
                              <a:srgbClr val="000000"/>
                            </a:solidFill>
                            <a:latin typeface="Cambria Math" panose="02040503050406030204" pitchFamily="18" charset="0"/>
                            <a:ea typeface="楷体" panose="02010609060101010101" pitchFamily="49" charset="-122"/>
                          </a:rPr>
                          <m:t>𝑗</m:t>
                        </m:r>
                      </m:sub>
                    </m:sSub>
                    <m:r>
                      <a:rPr lang="zh-CN" altLang="en-US" sz="2400" i="1" dirty="0">
                        <a:solidFill>
                          <a:srgbClr val="000000"/>
                        </a:solidFill>
                        <a:latin typeface="Cambria Math" panose="02040503050406030204" pitchFamily="18" charset="0"/>
                        <a:ea typeface="楷体" panose="02010609060101010101" pitchFamily="49" charset="-122"/>
                      </a:rPr>
                      <m:t>）</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a:t>
                </a:r>
                <a14:m>
                  <m:oMath xmlns:m="http://schemas.openxmlformats.org/officeDocument/2006/math">
                    <m:r>
                      <a:rPr lang="zh-CN" altLang="en-US" sz="2400" i="1" dirty="0" smtClean="0">
                        <a:solidFill>
                          <a:srgbClr val="000000"/>
                        </a:solidFill>
                        <a:latin typeface="Cambria Math" panose="02040503050406030204" pitchFamily="18" charset="0"/>
                        <a:ea typeface="楷体" panose="02010609060101010101" pitchFamily="49" charset="-122"/>
                      </a:rPr>
                      <m:t>（</m:t>
                    </m:r>
                    <m:sSub>
                      <m:sSubPr>
                        <m:ctrlPr>
                          <a:rPr lang="en-US" altLang="zh-CN" sz="2400" b="0" i="1" dirty="0" smtClean="0">
                            <a:solidFill>
                              <a:srgbClr val="000000"/>
                            </a:solidFill>
                            <a:latin typeface="Cambria Math" panose="02040503050406030204" pitchFamily="18" charset="0"/>
                            <a:ea typeface="楷体" panose="02010609060101010101" pitchFamily="49" charset="-122"/>
                          </a:rPr>
                        </m:ctrlPr>
                      </m:sSubPr>
                      <m:e>
                        <m:r>
                          <a:rPr lang="en-US" altLang="zh-CN" sz="2400" i="1" dirty="0" err="1">
                            <a:solidFill>
                              <a:srgbClr val="000000"/>
                            </a:solidFill>
                            <a:latin typeface="Cambria Math" panose="02040503050406030204" pitchFamily="18" charset="0"/>
                            <a:ea typeface="楷体" panose="02010609060101010101" pitchFamily="49" charset="-122"/>
                          </a:rPr>
                          <m:t>𝑐</m:t>
                        </m:r>
                      </m:e>
                      <m:sub>
                        <m:r>
                          <a:rPr lang="en-US" altLang="zh-CN" sz="2400" b="0" i="1" dirty="0" smtClean="0">
                            <a:solidFill>
                              <a:srgbClr val="000000"/>
                            </a:solidFill>
                            <a:latin typeface="Cambria Math" panose="02040503050406030204" pitchFamily="18" charset="0"/>
                            <a:ea typeface="楷体" panose="02010609060101010101" pitchFamily="49" charset="-122"/>
                          </a:rPr>
                          <m:t>𝑖𝑗</m:t>
                        </m:r>
                      </m:sub>
                    </m:sSub>
                    <m:r>
                      <a:rPr lang="en-US" altLang="zh-CN" sz="2400" i="1" dirty="0" err="1">
                        <a:solidFill>
                          <a:srgbClr val="000000"/>
                        </a:solidFill>
                        <a:latin typeface="Cambria Math" panose="02040503050406030204" pitchFamily="18" charset="0"/>
                        <a:ea typeface="楷体" panose="02010609060101010101" pitchFamily="49" charset="-122"/>
                      </a:rPr>
                      <m:t>,</m:t>
                    </m:r>
                    <m:sSub>
                      <m:sSubPr>
                        <m:ctrlPr>
                          <a:rPr lang="en-US" altLang="zh-CN" sz="2400" b="0" i="1" dirty="0" smtClean="0">
                            <a:solidFill>
                              <a:srgbClr val="000000"/>
                            </a:solidFill>
                            <a:latin typeface="Cambria Math" panose="02040503050406030204" pitchFamily="18" charset="0"/>
                            <a:ea typeface="楷体" panose="02010609060101010101" pitchFamily="49" charset="-122"/>
                          </a:rPr>
                        </m:ctrlPr>
                      </m:sSubPr>
                      <m:e>
                        <m:r>
                          <a:rPr lang="en-US" altLang="zh-CN" sz="2400" i="1" dirty="0" err="1">
                            <a:solidFill>
                              <a:srgbClr val="000000"/>
                            </a:solidFill>
                            <a:latin typeface="Cambria Math" panose="02040503050406030204" pitchFamily="18" charset="0"/>
                            <a:ea typeface="楷体" panose="02010609060101010101" pitchFamily="49" charset="-122"/>
                          </a:rPr>
                          <m:t>𝑏</m:t>
                        </m:r>
                      </m:e>
                      <m:sub>
                        <m:r>
                          <a:rPr lang="en-US" altLang="zh-CN" sz="2400" b="0" i="1" dirty="0" smtClean="0">
                            <a:solidFill>
                              <a:srgbClr val="000000"/>
                            </a:solidFill>
                            <a:latin typeface="Cambria Math" panose="02040503050406030204" pitchFamily="18" charset="0"/>
                            <a:ea typeface="楷体" panose="02010609060101010101" pitchFamily="49" charset="-122"/>
                          </a:rPr>
                          <m:t>𝑖𝑗</m:t>
                        </m:r>
                      </m:sub>
                    </m:sSub>
                    <m:r>
                      <a:rPr lang="zh-CN" altLang="en-US" sz="2400" i="1" dirty="0">
                        <a:solidFill>
                          <a:srgbClr val="000000"/>
                        </a:solidFill>
                        <a:latin typeface="Cambria Math" panose="02040503050406030204" pitchFamily="18" charset="0"/>
                        <a:ea typeface="楷体" panose="02010609060101010101" pitchFamily="49" charset="-122"/>
                      </a:rPr>
                      <m:t>）</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的表示作如下改进，用（</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）来表示（</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），用（</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）来表示（</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13" name="Text Box 22"/>
              <p:cNvSpPr txBox="1">
                <a:spLocks noRot="1" noChangeAspect="1" noMove="1" noResize="1" noEditPoints="1" noAdjustHandles="1" noChangeArrowheads="1" noChangeShapeType="1" noTextEdit="1"/>
              </p:cNvSpPr>
              <p:nvPr/>
            </p:nvSpPr>
            <p:spPr bwMode="auto">
              <a:xfrm>
                <a:off x="961390" y="1716405"/>
                <a:ext cx="10055225" cy="1259840"/>
              </a:xfrm>
              <a:prstGeom prst="rect">
                <a:avLst/>
              </a:prstGeom>
              <a:blipFill rotWithShape="1">
                <a:blip r:embed="rId1"/>
                <a:stretch>
                  <a:fillRect r="-2254"/>
                </a:stretch>
              </a:blipFill>
              <a:ln w="9525">
                <a:noFill/>
                <a:miter lim="800000"/>
              </a:ln>
            </p:spPr>
            <p:txBody>
              <a:bodyPr/>
              <a:lstStyle/>
              <a:p>
                <a:r>
                  <a:rPr lang="zh-CN" altLang="en-US">
                    <a:noFill/>
                  </a:rPr>
                  <a:t> </a:t>
                </a:r>
              </a:p>
            </p:txBody>
          </p:sp>
        </mc:Fallback>
      </mc:AlternateContent>
      <p:pic>
        <p:nvPicPr>
          <p:cNvPr id="23554" name="Picture 2"/>
          <p:cNvPicPr>
            <a:picLocks noChangeAspect="1" noChangeArrowheads="1"/>
          </p:cNvPicPr>
          <p:nvPr/>
        </p:nvPicPr>
        <p:blipFill>
          <a:blip r:embed="rId2"/>
          <a:srcRect/>
          <a:stretch>
            <a:fillRect/>
          </a:stretch>
        </p:blipFill>
        <p:spPr bwMode="auto">
          <a:xfrm>
            <a:off x="2927648" y="3352800"/>
            <a:ext cx="6000750" cy="3286125"/>
          </a:xfrm>
          <a:prstGeom prst="rect">
            <a:avLst/>
          </a:prstGeom>
          <a:noFill/>
          <a:ln w="9525">
            <a:noFill/>
            <a:miter lim="800000"/>
            <a:headEnd/>
            <a:tailEnd/>
          </a:ln>
        </p:spPr>
      </p:pic>
      <p:sp>
        <p:nvSpPr>
          <p:cNvPr id="2" name="Title 1"/>
          <p:cNvSpPr>
            <a:spLocks noGrp="1"/>
          </p:cNvSpPr>
          <p:nvPr/>
        </p:nvSpPr>
        <p:spPr>
          <a:xfrm>
            <a:off x="838200" y="1670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最小费用最大流</a:t>
            </a:r>
            <a:r>
              <a:rPr lang="zh-CN" altLang="en-US" dirty="0"/>
              <a:t> </a:t>
            </a:r>
            <a:r>
              <a:rPr lang="en-US" altLang="zh-CN" dirty="0"/>
              <a:t>–</a:t>
            </a:r>
            <a:r>
              <a:rPr lang="zh-CN" altLang="en-US" dirty="0"/>
              <a:t> 网络图解法</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3554"/>
                                        </p:tgtEl>
                                        <p:attrNameLst>
                                          <p:attrName>style.visibility</p:attrName>
                                        </p:attrNameLst>
                                      </p:cBhvr>
                                      <p:to>
                                        <p:strVal val="visible"/>
                                      </p:to>
                                    </p:set>
                                    <p:anim calcmode="lin" valueType="num">
                                      <p:cBhvr additive="base">
                                        <p:cTn id="11" dur="500" fill="hold"/>
                                        <p:tgtEl>
                                          <p:spTgt spid="23554"/>
                                        </p:tgtEl>
                                        <p:attrNameLst>
                                          <p:attrName>ppt_x</p:attrName>
                                        </p:attrNameLst>
                                      </p:cBhvr>
                                      <p:tavLst>
                                        <p:tav tm="0">
                                          <p:val>
                                            <p:strVal val="1+#ppt_w/2"/>
                                          </p:val>
                                        </p:tav>
                                        <p:tav tm="100000">
                                          <p:val>
                                            <p:strVal val="#ppt_x"/>
                                          </p:val>
                                        </p:tav>
                                      </p:tavLst>
                                    </p:anim>
                                    <p:anim calcmode="lin" valueType="num">
                                      <p:cBhvr additive="base">
                                        <p:cTn id="12" dur="500" fill="hold"/>
                                        <p:tgtEl>
                                          <p:spTgt spid="235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最小费用最大流</a:t>
            </a:r>
            <a:r>
              <a:rPr lang="zh-CN" altLang="en-US" dirty="0"/>
              <a:t> </a:t>
            </a:r>
            <a:r>
              <a:rPr lang="en-US" altLang="zh-CN" dirty="0"/>
              <a:t>–</a:t>
            </a:r>
            <a:r>
              <a:rPr lang="zh-CN" altLang="en-US" dirty="0"/>
              <a:t>经过标号改进的例</a:t>
            </a:r>
            <a:r>
              <a:rPr lang="en-US" altLang="zh-CN" dirty="0"/>
              <a:t>7</a:t>
            </a:r>
            <a:endParaRPr lang="en-US" dirty="0"/>
          </a:p>
        </p:txBody>
      </p:sp>
      <p:grpSp>
        <p:nvGrpSpPr>
          <p:cNvPr id="4" name="Group 3"/>
          <p:cNvGrpSpPr/>
          <p:nvPr/>
        </p:nvGrpSpPr>
        <p:grpSpPr bwMode="auto">
          <a:xfrm>
            <a:off x="2210545" y="1799605"/>
            <a:ext cx="8012113" cy="4490969"/>
            <a:chOff x="-81" y="-3"/>
            <a:chExt cx="3969" cy="1712"/>
          </a:xfrm>
        </p:grpSpPr>
        <p:sp>
          <p:nvSpPr>
            <p:cNvPr id="5" name="Line 4"/>
            <p:cNvSpPr>
              <a:spLocks noChangeShapeType="1"/>
            </p:cNvSpPr>
            <p:nvPr/>
          </p:nvSpPr>
          <p:spPr bwMode="auto">
            <a:xfrm>
              <a:off x="192" y="816"/>
              <a:ext cx="672" cy="67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 name="Line 5"/>
            <p:cNvSpPr>
              <a:spLocks noChangeShapeType="1"/>
            </p:cNvSpPr>
            <p:nvPr/>
          </p:nvSpPr>
          <p:spPr bwMode="auto">
            <a:xfrm flipV="1">
              <a:off x="192" y="288"/>
              <a:ext cx="672" cy="528"/>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7" name="Line 6"/>
            <p:cNvSpPr>
              <a:spLocks noChangeShapeType="1"/>
            </p:cNvSpPr>
            <p:nvPr/>
          </p:nvSpPr>
          <p:spPr bwMode="auto">
            <a:xfrm flipV="1">
              <a:off x="864" y="816"/>
              <a:ext cx="672" cy="67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8" name="Line 7"/>
            <p:cNvSpPr>
              <a:spLocks noChangeShapeType="1"/>
            </p:cNvSpPr>
            <p:nvPr/>
          </p:nvSpPr>
          <p:spPr bwMode="auto">
            <a:xfrm>
              <a:off x="864" y="288"/>
              <a:ext cx="672" cy="528"/>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 name="Line 8"/>
            <p:cNvSpPr>
              <a:spLocks noChangeShapeType="1"/>
            </p:cNvSpPr>
            <p:nvPr/>
          </p:nvSpPr>
          <p:spPr bwMode="auto">
            <a:xfrm flipV="1">
              <a:off x="864" y="144"/>
              <a:ext cx="1104" cy="144"/>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 name="Line 9"/>
            <p:cNvSpPr>
              <a:spLocks noChangeShapeType="1"/>
            </p:cNvSpPr>
            <p:nvPr/>
          </p:nvSpPr>
          <p:spPr bwMode="auto">
            <a:xfrm flipV="1">
              <a:off x="1536" y="144"/>
              <a:ext cx="432" cy="67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1" name="Line 10"/>
            <p:cNvSpPr>
              <a:spLocks noChangeShapeType="1"/>
            </p:cNvSpPr>
            <p:nvPr/>
          </p:nvSpPr>
          <p:spPr bwMode="auto">
            <a:xfrm flipV="1">
              <a:off x="1536" y="624"/>
              <a:ext cx="2064" cy="192"/>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2" name="Line 11"/>
            <p:cNvSpPr>
              <a:spLocks noChangeShapeType="1"/>
            </p:cNvSpPr>
            <p:nvPr/>
          </p:nvSpPr>
          <p:spPr bwMode="auto">
            <a:xfrm flipV="1">
              <a:off x="864" y="624"/>
              <a:ext cx="2736" cy="864"/>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3" name="Line 12"/>
            <p:cNvSpPr>
              <a:spLocks noChangeShapeType="1"/>
            </p:cNvSpPr>
            <p:nvPr/>
          </p:nvSpPr>
          <p:spPr bwMode="auto">
            <a:xfrm>
              <a:off x="1968" y="144"/>
              <a:ext cx="1632" cy="480"/>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4" name="Line 13"/>
            <p:cNvSpPr>
              <a:spLocks noChangeShapeType="1"/>
            </p:cNvSpPr>
            <p:nvPr/>
          </p:nvSpPr>
          <p:spPr bwMode="auto">
            <a:xfrm flipV="1">
              <a:off x="864" y="720"/>
              <a:ext cx="1824" cy="768"/>
            </a:xfrm>
            <a:prstGeom prst="line">
              <a:avLst/>
            </a:prstGeom>
            <a:noFill/>
            <a:ln w="38100">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5" name="Text Box 14"/>
            <p:cNvSpPr txBox="1">
              <a:spLocks noChangeArrowheads="1"/>
            </p:cNvSpPr>
            <p:nvPr/>
          </p:nvSpPr>
          <p:spPr bwMode="auto">
            <a:xfrm>
              <a:off x="7" y="509"/>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(6,6)</a:t>
              </a:r>
              <a:endParaRPr lang="en-US" altLang="zh-CN" sz="2400" b="1" dirty="0"/>
            </a:p>
          </p:txBody>
        </p:sp>
        <p:sp>
          <p:nvSpPr>
            <p:cNvPr id="16" name="Text Box 15"/>
            <p:cNvSpPr txBox="1">
              <a:spLocks noChangeArrowheads="1"/>
            </p:cNvSpPr>
            <p:nvPr/>
          </p:nvSpPr>
          <p:spPr bwMode="auto">
            <a:xfrm>
              <a:off x="846" y="95"/>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(3,4)</a:t>
              </a:r>
              <a:endParaRPr lang="en-US" altLang="zh-CN" sz="2400" b="1" dirty="0"/>
            </a:p>
          </p:txBody>
        </p:sp>
        <p:sp>
          <p:nvSpPr>
            <p:cNvPr id="17" name="Text Box 16"/>
            <p:cNvSpPr txBox="1">
              <a:spLocks noChangeArrowheads="1"/>
            </p:cNvSpPr>
            <p:nvPr/>
          </p:nvSpPr>
          <p:spPr bwMode="auto">
            <a:xfrm>
              <a:off x="1958" y="-3"/>
              <a:ext cx="33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(5,7)</a:t>
              </a:r>
              <a:endParaRPr lang="en-US" altLang="zh-CN" sz="2400" b="1" dirty="0"/>
            </a:p>
          </p:txBody>
        </p:sp>
        <p:sp>
          <p:nvSpPr>
            <p:cNvPr id="18" name="Text Box 17"/>
            <p:cNvSpPr txBox="1">
              <a:spLocks noChangeArrowheads="1"/>
            </p:cNvSpPr>
            <p:nvPr/>
          </p:nvSpPr>
          <p:spPr bwMode="auto">
            <a:xfrm>
              <a:off x="687" y="345"/>
              <a:ext cx="33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(2,5)</a:t>
              </a:r>
              <a:endParaRPr lang="en-US" altLang="zh-CN" sz="2400" b="1" dirty="0"/>
            </a:p>
          </p:txBody>
        </p:sp>
        <p:sp>
          <p:nvSpPr>
            <p:cNvPr id="19" name="Text Box 18"/>
            <p:cNvSpPr txBox="1">
              <a:spLocks noChangeArrowheads="1"/>
            </p:cNvSpPr>
            <p:nvPr/>
          </p:nvSpPr>
          <p:spPr bwMode="auto">
            <a:xfrm>
              <a:off x="1347" y="573"/>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(2,4)</a:t>
              </a:r>
              <a:endParaRPr lang="en-US" altLang="zh-CN" sz="2400" b="1" dirty="0"/>
            </a:p>
          </p:txBody>
        </p:sp>
        <p:sp>
          <p:nvSpPr>
            <p:cNvPr id="20" name="Text Box 19"/>
            <p:cNvSpPr txBox="1">
              <a:spLocks noChangeArrowheads="1"/>
            </p:cNvSpPr>
            <p:nvPr/>
          </p:nvSpPr>
          <p:spPr bwMode="auto">
            <a:xfrm>
              <a:off x="1679" y="600"/>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(2,3)</a:t>
              </a:r>
              <a:endParaRPr lang="en-US" altLang="zh-CN" sz="2400" b="1" dirty="0"/>
            </a:p>
          </p:txBody>
        </p:sp>
        <p:sp>
          <p:nvSpPr>
            <p:cNvPr id="21" name="Text Box 20"/>
            <p:cNvSpPr txBox="1">
              <a:spLocks noChangeArrowheads="1"/>
            </p:cNvSpPr>
            <p:nvPr/>
          </p:nvSpPr>
          <p:spPr bwMode="auto">
            <a:xfrm>
              <a:off x="2676" y="515"/>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(4,4)</a:t>
              </a:r>
              <a:endParaRPr lang="en-US" altLang="zh-CN" sz="2400" b="1" dirty="0"/>
            </a:p>
          </p:txBody>
        </p:sp>
        <p:sp>
          <p:nvSpPr>
            <p:cNvPr id="22" name="Text Box 21"/>
            <p:cNvSpPr txBox="1">
              <a:spLocks noChangeArrowheads="1"/>
            </p:cNvSpPr>
            <p:nvPr/>
          </p:nvSpPr>
          <p:spPr bwMode="auto">
            <a:xfrm>
              <a:off x="1138" y="1121"/>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(1,3)</a:t>
              </a:r>
              <a:endParaRPr lang="en-US" altLang="zh-CN" sz="2400" b="1" dirty="0"/>
            </a:p>
          </p:txBody>
        </p:sp>
        <p:sp>
          <p:nvSpPr>
            <p:cNvPr id="23" name="Text Box 22"/>
            <p:cNvSpPr txBox="1">
              <a:spLocks noChangeArrowheads="1"/>
            </p:cNvSpPr>
            <p:nvPr/>
          </p:nvSpPr>
          <p:spPr bwMode="auto">
            <a:xfrm>
              <a:off x="959" y="1419"/>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(2,8)</a:t>
              </a:r>
              <a:endParaRPr lang="en-US" altLang="zh-CN" sz="2400" b="1" dirty="0"/>
            </a:p>
          </p:txBody>
        </p:sp>
        <p:sp>
          <p:nvSpPr>
            <p:cNvPr id="24" name="Text Box 23"/>
            <p:cNvSpPr txBox="1">
              <a:spLocks noChangeArrowheads="1"/>
            </p:cNvSpPr>
            <p:nvPr/>
          </p:nvSpPr>
          <p:spPr bwMode="auto">
            <a:xfrm>
              <a:off x="-81" y="849"/>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(6,3)</a:t>
              </a:r>
              <a:endParaRPr lang="en-US" altLang="zh-CN" sz="2400" b="1" dirty="0"/>
            </a:p>
          </p:txBody>
        </p:sp>
        <p:sp>
          <p:nvSpPr>
            <p:cNvPr id="25" name="Text Box 24"/>
            <p:cNvSpPr txBox="1">
              <a:spLocks noChangeArrowheads="1"/>
            </p:cNvSpPr>
            <p:nvPr/>
          </p:nvSpPr>
          <p:spPr bwMode="auto">
            <a:xfrm>
              <a:off x="691" y="1208"/>
              <a:ext cx="33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(3,2)</a:t>
              </a:r>
              <a:endParaRPr lang="en-US" altLang="zh-CN" sz="2400" b="1" dirty="0"/>
            </a:p>
          </p:txBody>
        </p:sp>
        <p:sp>
          <p:nvSpPr>
            <p:cNvPr id="26" name="Text Box 25"/>
            <p:cNvSpPr txBox="1">
              <a:spLocks noChangeArrowheads="1"/>
            </p:cNvSpPr>
            <p:nvPr/>
          </p:nvSpPr>
          <p:spPr bwMode="auto">
            <a:xfrm>
              <a:off x="0" y="672"/>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1</a:t>
              </a:r>
              <a:endParaRPr lang="en-US" altLang="zh-CN" sz="2400" b="1" baseline="-25000"/>
            </a:p>
          </p:txBody>
        </p:sp>
        <p:sp>
          <p:nvSpPr>
            <p:cNvPr id="27" name="Text Box 26"/>
            <p:cNvSpPr txBox="1">
              <a:spLocks noChangeArrowheads="1"/>
            </p:cNvSpPr>
            <p:nvPr/>
          </p:nvSpPr>
          <p:spPr bwMode="auto">
            <a:xfrm>
              <a:off x="686" y="81"/>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v</a:t>
              </a:r>
              <a:r>
                <a:rPr lang="en-US" altLang="zh-CN" sz="2400" b="1" baseline="-25000" dirty="0"/>
                <a:t>2</a:t>
              </a:r>
              <a:endParaRPr lang="en-US" altLang="zh-CN" sz="2400" b="1" baseline="-25000" dirty="0"/>
            </a:p>
          </p:txBody>
        </p:sp>
        <p:sp>
          <p:nvSpPr>
            <p:cNvPr id="28" name="Text Box 27"/>
            <p:cNvSpPr txBox="1">
              <a:spLocks noChangeArrowheads="1"/>
            </p:cNvSpPr>
            <p:nvPr/>
          </p:nvSpPr>
          <p:spPr bwMode="auto">
            <a:xfrm>
              <a:off x="3552" y="48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7</a:t>
              </a:r>
              <a:endParaRPr lang="en-US" altLang="zh-CN" sz="2400" b="1" baseline="-25000"/>
            </a:p>
          </p:txBody>
        </p:sp>
        <p:sp>
          <p:nvSpPr>
            <p:cNvPr id="29" name="Text Box 28"/>
            <p:cNvSpPr txBox="1">
              <a:spLocks noChangeArrowheads="1"/>
            </p:cNvSpPr>
            <p:nvPr/>
          </p:nvSpPr>
          <p:spPr bwMode="auto">
            <a:xfrm>
              <a:off x="768" y="144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4</a:t>
              </a:r>
              <a:endParaRPr lang="en-US" altLang="zh-CN" sz="2400" b="1" baseline="-25000"/>
            </a:p>
          </p:txBody>
        </p:sp>
        <p:sp>
          <p:nvSpPr>
            <p:cNvPr id="30" name="Text Box 29"/>
            <p:cNvSpPr txBox="1">
              <a:spLocks noChangeArrowheads="1"/>
            </p:cNvSpPr>
            <p:nvPr/>
          </p:nvSpPr>
          <p:spPr bwMode="auto">
            <a:xfrm>
              <a:off x="1282" y="658"/>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3</a:t>
              </a:r>
              <a:endParaRPr lang="en-US" altLang="zh-CN" sz="2400" b="1" baseline="-25000"/>
            </a:p>
          </p:txBody>
        </p:sp>
        <p:sp>
          <p:nvSpPr>
            <p:cNvPr id="31" name="Text Box 30"/>
            <p:cNvSpPr txBox="1">
              <a:spLocks noChangeArrowheads="1"/>
            </p:cNvSpPr>
            <p:nvPr/>
          </p:nvSpPr>
          <p:spPr bwMode="auto">
            <a:xfrm>
              <a:off x="2544" y="480"/>
              <a:ext cx="33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a:t>v</a:t>
              </a:r>
              <a:r>
                <a:rPr lang="en-US" altLang="zh-CN" sz="2400" b="1" baseline="-25000"/>
                <a:t>6</a:t>
              </a:r>
              <a:endParaRPr lang="en-US" altLang="zh-CN" sz="2400" b="1" baseline="-25000"/>
            </a:p>
          </p:txBody>
        </p:sp>
        <p:sp>
          <p:nvSpPr>
            <p:cNvPr id="32" name="Line 31"/>
            <p:cNvSpPr>
              <a:spLocks noChangeShapeType="1"/>
            </p:cNvSpPr>
            <p:nvPr/>
          </p:nvSpPr>
          <p:spPr bwMode="auto">
            <a:xfrm flipV="1">
              <a:off x="545" y="401"/>
              <a:ext cx="181" cy="136"/>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33" name="Line 32"/>
            <p:cNvSpPr>
              <a:spLocks noChangeShapeType="1"/>
            </p:cNvSpPr>
            <p:nvPr/>
          </p:nvSpPr>
          <p:spPr bwMode="auto">
            <a:xfrm>
              <a:off x="499" y="1126"/>
              <a:ext cx="91" cy="9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Line 35"/>
            <p:cNvSpPr>
              <a:spLocks noChangeShapeType="1"/>
            </p:cNvSpPr>
            <p:nvPr/>
          </p:nvSpPr>
          <p:spPr bwMode="auto">
            <a:xfrm flipV="1">
              <a:off x="1089" y="1172"/>
              <a:ext cx="91" cy="9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 name="Line 36"/>
            <p:cNvSpPr>
              <a:spLocks noChangeShapeType="1"/>
            </p:cNvSpPr>
            <p:nvPr/>
          </p:nvSpPr>
          <p:spPr bwMode="auto">
            <a:xfrm flipV="1">
              <a:off x="1842" y="990"/>
              <a:ext cx="227" cy="9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Line 37"/>
            <p:cNvSpPr>
              <a:spLocks noChangeShapeType="1"/>
            </p:cNvSpPr>
            <p:nvPr/>
          </p:nvSpPr>
          <p:spPr bwMode="auto">
            <a:xfrm flipV="1">
              <a:off x="2041" y="990"/>
              <a:ext cx="409" cy="13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 name="Line 38"/>
            <p:cNvSpPr>
              <a:spLocks noChangeShapeType="1"/>
            </p:cNvSpPr>
            <p:nvPr/>
          </p:nvSpPr>
          <p:spPr bwMode="auto">
            <a:xfrm flipV="1">
              <a:off x="2132" y="718"/>
              <a:ext cx="318" cy="4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 name="Line 39"/>
            <p:cNvSpPr>
              <a:spLocks noChangeShapeType="1"/>
            </p:cNvSpPr>
            <p:nvPr/>
          </p:nvSpPr>
          <p:spPr bwMode="auto">
            <a:xfrm>
              <a:off x="3057" y="664"/>
              <a:ext cx="272"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9" name="Line 40"/>
            <p:cNvSpPr>
              <a:spLocks noChangeShapeType="1"/>
            </p:cNvSpPr>
            <p:nvPr/>
          </p:nvSpPr>
          <p:spPr bwMode="auto">
            <a:xfrm>
              <a:off x="2812" y="401"/>
              <a:ext cx="318" cy="9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 name="Line 41"/>
            <p:cNvSpPr>
              <a:spLocks noChangeShapeType="1"/>
            </p:cNvSpPr>
            <p:nvPr/>
          </p:nvSpPr>
          <p:spPr bwMode="auto">
            <a:xfrm flipV="1">
              <a:off x="1678" y="446"/>
              <a:ext cx="91" cy="13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 name="Text Box 42"/>
            <p:cNvSpPr txBox="1">
              <a:spLocks noChangeArrowheads="1"/>
            </p:cNvSpPr>
            <p:nvPr/>
          </p:nvSpPr>
          <p:spPr bwMode="auto">
            <a:xfrm>
              <a:off x="1678" y="1535"/>
              <a:ext cx="8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endParaRPr lang="zh-CN" altLang="en-US" sz="2400" b="1"/>
            </a:p>
          </p:txBody>
        </p:sp>
      </p:grpSp>
      <p:sp>
        <p:nvSpPr>
          <p:cNvPr id="42" name="Text Box 14"/>
          <p:cNvSpPr txBox="1">
            <a:spLocks noChangeArrowheads="1"/>
          </p:cNvSpPr>
          <p:nvPr/>
        </p:nvSpPr>
        <p:spPr bwMode="auto">
          <a:xfrm>
            <a:off x="3052332" y="2366222"/>
            <a:ext cx="8094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(0,-6)</a:t>
            </a:r>
            <a:endParaRPr lang="en-US" altLang="zh-CN" sz="2400" b="1" dirty="0"/>
          </a:p>
        </p:txBody>
      </p:sp>
      <p:sp>
        <p:nvSpPr>
          <p:cNvPr id="43" name="Text Box 23"/>
          <p:cNvSpPr txBox="1">
            <a:spLocks noChangeArrowheads="1"/>
          </p:cNvSpPr>
          <p:nvPr/>
        </p:nvSpPr>
        <p:spPr bwMode="auto">
          <a:xfrm>
            <a:off x="3098761" y="5348332"/>
            <a:ext cx="8380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(0,-3)</a:t>
            </a:r>
            <a:endParaRPr lang="en-US" altLang="zh-CN" sz="2400" b="1" dirty="0"/>
          </a:p>
        </p:txBody>
      </p:sp>
      <p:sp>
        <p:nvSpPr>
          <p:cNvPr id="44" name="Text Box 22"/>
          <p:cNvSpPr txBox="1">
            <a:spLocks noChangeArrowheads="1"/>
          </p:cNvSpPr>
          <p:nvPr/>
        </p:nvSpPr>
        <p:spPr bwMode="auto">
          <a:xfrm>
            <a:off x="8961366" y="3677294"/>
            <a:ext cx="8307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(0,-8)</a:t>
            </a:r>
            <a:endParaRPr lang="en-US" altLang="zh-CN" sz="2400" b="1" dirty="0"/>
          </a:p>
        </p:txBody>
      </p:sp>
      <p:sp>
        <p:nvSpPr>
          <p:cNvPr id="45" name="Text Box 21"/>
          <p:cNvSpPr txBox="1">
            <a:spLocks noChangeArrowheads="1"/>
          </p:cNvSpPr>
          <p:nvPr/>
        </p:nvSpPr>
        <p:spPr bwMode="auto">
          <a:xfrm>
            <a:off x="6469945" y="3688342"/>
            <a:ext cx="8851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(0,-3)</a:t>
            </a:r>
            <a:endParaRPr lang="en-US" altLang="zh-CN" sz="2400" b="1" dirty="0"/>
          </a:p>
        </p:txBody>
      </p:sp>
      <p:sp>
        <p:nvSpPr>
          <p:cNvPr id="46" name="Text Box 24"/>
          <p:cNvSpPr txBox="1">
            <a:spLocks noChangeArrowheads="1"/>
          </p:cNvSpPr>
          <p:nvPr/>
        </p:nvSpPr>
        <p:spPr bwMode="auto">
          <a:xfrm>
            <a:off x="4462874" y="3916529"/>
            <a:ext cx="7701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(0,-2)</a:t>
            </a:r>
            <a:endParaRPr lang="en-US" altLang="zh-CN" sz="2400" b="1" dirty="0"/>
          </a:p>
        </p:txBody>
      </p:sp>
      <p:sp>
        <p:nvSpPr>
          <p:cNvPr id="47" name="Text Box 17"/>
          <p:cNvSpPr txBox="1">
            <a:spLocks noChangeArrowheads="1"/>
          </p:cNvSpPr>
          <p:nvPr/>
        </p:nvSpPr>
        <p:spPr bwMode="auto">
          <a:xfrm>
            <a:off x="4289399" y="3365674"/>
            <a:ext cx="7883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(0,-5)</a:t>
            </a:r>
            <a:endParaRPr lang="en-US" altLang="zh-CN" sz="2400" b="1" dirty="0"/>
          </a:p>
        </p:txBody>
      </p:sp>
      <p:sp>
        <p:nvSpPr>
          <p:cNvPr id="48" name="Text Box 18"/>
          <p:cNvSpPr txBox="1">
            <a:spLocks noChangeArrowheads="1"/>
          </p:cNvSpPr>
          <p:nvPr/>
        </p:nvSpPr>
        <p:spPr bwMode="auto">
          <a:xfrm>
            <a:off x="5403510" y="2273692"/>
            <a:ext cx="7893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(0,-4)</a:t>
            </a:r>
            <a:endParaRPr lang="en-US" altLang="zh-CN" sz="2400" b="1" dirty="0"/>
          </a:p>
        </p:txBody>
      </p:sp>
      <p:sp>
        <p:nvSpPr>
          <p:cNvPr id="49" name="Text Box 15"/>
          <p:cNvSpPr txBox="1">
            <a:spLocks noChangeArrowheads="1"/>
          </p:cNvSpPr>
          <p:nvPr/>
        </p:nvSpPr>
        <p:spPr bwMode="auto">
          <a:xfrm>
            <a:off x="5531263" y="1761816"/>
            <a:ext cx="8357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(0,-4)</a:t>
            </a:r>
            <a:endParaRPr lang="en-US" altLang="zh-CN" sz="2400" b="1" dirty="0"/>
          </a:p>
        </p:txBody>
      </p:sp>
      <p:sp>
        <p:nvSpPr>
          <p:cNvPr id="50" name="Text Box 16"/>
          <p:cNvSpPr txBox="1">
            <a:spLocks noChangeArrowheads="1"/>
          </p:cNvSpPr>
          <p:nvPr/>
        </p:nvSpPr>
        <p:spPr bwMode="auto">
          <a:xfrm>
            <a:off x="8961984" y="2592767"/>
            <a:ext cx="8054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(0,-7)</a:t>
            </a:r>
            <a:endParaRPr lang="en-US" altLang="zh-CN" sz="2400" b="1" dirty="0"/>
          </a:p>
        </p:txBody>
      </p:sp>
      <p:sp>
        <p:nvSpPr>
          <p:cNvPr id="51" name="Text Box 19"/>
          <p:cNvSpPr txBox="1">
            <a:spLocks noChangeArrowheads="1"/>
          </p:cNvSpPr>
          <p:nvPr/>
        </p:nvSpPr>
        <p:spPr bwMode="auto">
          <a:xfrm>
            <a:off x="6902949" y="3267224"/>
            <a:ext cx="8730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(0,-3)</a:t>
            </a:r>
            <a:endParaRPr lang="en-US" altLang="zh-CN" sz="2400" b="1" dirty="0"/>
          </a:p>
        </p:txBody>
      </p:sp>
      <p:sp>
        <p:nvSpPr>
          <p:cNvPr id="52" name="Text Box 20"/>
          <p:cNvSpPr txBox="1">
            <a:spLocks noChangeArrowheads="1"/>
          </p:cNvSpPr>
          <p:nvPr/>
        </p:nvSpPr>
        <p:spPr bwMode="auto">
          <a:xfrm>
            <a:off x="8537066" y="3116490"/>
            <a:ext cx="8054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(0,-4)</a:t>
            </a:r>
            <a:endParaRPr lang="en-US" altLang="zh-CN" sz="2400" b="1" dirty="0"/>
          </a:p>
        </p:txBody>
      </p:sp>
      <p:sp>
        <p:nvSpPr>
          <p:cNvPr id="3" name="Text Box 26"/>
          <p:cNvSpPr txBox="1">
            <a:spLocks noChangeArrowheads="1"/>
          </p:cNvSpPr>
          <p:nvPr/>
        </p:nvSpPr>
        <p:spPr bwMode="auto">
          <a:xfrm>
            <a:off x="6130808" y="1479878"/>
            <a:ext cx="6782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sz="2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400" b="1" dirty="0"/>
              <a:t>v</a:t>
            </a:r>
            <a:r>
              <a:rPr lang="en-US" altLang="zh-CN" sz="2400" b="1" baseline="-25000" dirty="0"/>
              <a:t>5</a:t>
            </a:r>
            <a:endParaRPr lang="en-US" altLang="zh-CN" sz="2400" b="1" baseline="-25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最小费用最大流</a:t>
            </a:r>
            <a:r>
              <a:rPr lang="zh-CN" altLang="en-US" dirty="0"/>
              <a:t> </a:t>
            </a:r>
            <a:r>
              <a:rPr lang="en-US" altLang="zh-CN" dirty="0"/>
              <a:t>–</a:t>
            </a:r>
            <a:r>
              <a:rPr lang="zh-CN" altLang="en-US" dirty="0"/>
              <a:t> 网络图解法的基本算法</a:t>
            </a:r>
            <a:endParaRPr lang="en-US" dirty="0"/>
          </a:p>
        </p:txBody>
      </p:sp>
      <p:sp>
        <p:nvSpPr>
          <p:cNvPr id="3" name="Content Placeholder 2"/>
          <p:cNvSpPr>
            <a:spLocks noGrp="1"/>
          </p:cNvSpPr>
          <p:nvPr>
            <p:ph idx="1"/>
          </p:nvPr>
        </p:nvSpPr>
        <p:spPr/>
        <p:txBody>
          <a:bodyPr/>
          <a:lstStyle/>
          <a:p>
            <a:r>
              <a:rPr lang="en-US" dirty="0"/>
              <a:t>最小费用最大流与一般最大流的算法唯一区别是在步骤</a:t>
            </a:r>
            <a:r>
              <a:rPr lang="en-US" altLang="zh-CN" dirty="0"/>
              <a:t>1</a:t>
            </a:r>
            <a:r>
              <a:rPr lang="zh-CN" altLang="en-US" dirty="0"/>
              <a:t>时要选择总费用最小的路，而不是包含权数最少的路</a:t>
            </a:r>
            <a:endParaRPr lang="en-US" altLang="zh-CN" dirty="0"/>
          </a:p>
          <a:p>
            <a:r>
              <a:rPr lang="en-US" dirty="0" err="1"/>
              <a:t>如果我们把每条弧的单位费用看成弧的长度</a:t>
            </a:r>
            <a:r>
              <a:rPr lang="zh-CN" altLang="en-US" dirty="0"/>
              <a:t>，则我们要选择的是一条从发点到收点的最短路。</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4" name="文本框 4"/>
          <p:cNvSpPr txBox="1">
            <a:spLocks noChangeArrowheads="1"/>
          </p:cNvSpPr>
          <p:nvPr/>
        </p:nvSpPr>
        <p:spPr bwMode="auto">
          <a:xfrm>
            <a:off x="3994150" y="5129213"/>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sp>
        <p:nvSpPr>
          <p:cNvPr id="112645" name="Text Box 21"/>
          <p:cNvSpPr txBox="1">
            <a:spLocks noChangeArrowheads="1"/>
          </p:cNvSpPr>
          <p:nvPr/>
        </p:nvSpPr>
        <p:spPr bwMode="auto">
          <a:xfrm>
            <a:off x="2613025" y="1270000"/>
            <a:ext cx="7510463" cy="2088515"/>
          </a:xfrm>
          <a:prstGeom prst="rect">
            <a:avLst/>
          </a:prstGeom>
          <a:noFill/>
          <a:ln w="9525">
            <a:noFill/>
            <a:miter lim="800000"/>
          </a:ln>
        </p:spPr>
        <p:txBody>
          <a:bodyPr lIns="0" tIns="0" rIns="0" bIns="0">
            <a:spAutoFit/>
          </a:bodyPr>
          <a:lstStyle/>
          <a:p>
            <a:pPr>
              <a:lnSpc>
                <a:spcPct val="150000"/>
              </a:lnSpc>
              <a:tabLst>
                <a:tab pos="203200" algn="l"/>
                <a:tab pos="266700" algn="l"/>
                <a:tab pos="1917700" algn="l"/>
              </a:tabLst>
            </a:pPr>
            <a:endParaRPr lang="zh-CN" altLang="en-US">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525"/>
              </a:lnSpc>
              <a:tabLst>
                <a:tab pos="203200" algn="l"/>
                <a:tab pos="266700" algn="l"/>
                <a:tab pos="1917700" algn="l"/>
              </a:tabLst>
            </a:pPr>
            <a:r>
              <a:rPr lang="zh-CN" altLang="en-US" sz="1100">
                <a:solidFill>
                  <a:srgbClr val="000000"/>
                </a:solidFill>
                <a:latin typeface="Times New Roman" panose="02020603050405020304" pitchFamily="18" charset="0"/>
                <a:cs typeface="Times New Roman" panose="02020603050405020304" pitchFamily="18" charset="0"/>
              </a:rPr>
              <a:t>			</a:t>
            </a: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525"/>
              </a:lnSpc>
              <a:tabLst>
                <a:tab pos="203200" algn="l"/>
                <a:tab pos="266700" algn="l"/>
                <a:tab pos="1917700" algn="l"/>
              </a:tabLst>
            </a:pP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3" name="Text Box 22"/>
              <p:cNvSpPr txBox="1">
                <a:spLocks noChangeArrowheads="1"/>
              </p:cNvSpPr>
              <p:nvPr/>
            </p:nvSpPr>
            <p:spPr bwMode="auto">
              <a:xfrm>
                <a:off x="1775520" y="1244600"/>
                <a:ext cx="8784975" cy="1235710"/>
              </a:xfrm>
              <a:prstGeom prst="rect">
                <a:avLst/>
              </a:prstGeom>
              <a:noFill/>
              <a:ln w="9525">
                <a:noFill/>
                <a:miter lim="800000"/>
              </a:ln>
            </p:spPr>
            <p:txBody>
              <a:bodyPr wrap="square" lIns="0" tIns="0" rIns="0" bIns="0">
                <a:spAutoFit/>
              </a:bodyPr>
              <a:lstStyle/>
              <a:p>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用上述方法对例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求解：</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第一次迭代：最短路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。第一次迭代后总流量为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，总费用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10ⅹ1=10</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ts val="1000"/>
                  </a:lnSpc>
                </a:pPr>
                <a:endPar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p:sp>
            <p:nvSpPr>
              <p:cNvPr id="13" name="Text Box 22"/>
              <p:cNvSpPr txBox="1">
                <a:spLocks noRot="1" noChangeAspect="1" noMove="1" noResize="1" noEditPoints="1" noAdjustHandles="1" noChangeArrowheads="1" noChangeShapeType="1" noTextEdit="1"/>
              </p:cNvSpPr>
              <p:nvPr/>
            </p:nvSpPr>
            <p:spPr bwMode="auto">
              <a:xfrm>
                <a:off x="1775520" y="1244600"/>
                <a:ext cx="8784975" cy="1235710"/>
              </a:xfrm>
              <a:prstGeom prst="rect">
                <a:avLst/>
              </a:prstGeom>
              <a:blipFill rotWithShape="1">
                <a:blip r:embed="rId1"/>
                <a:stretch>
                  <a:fillRect l="-1" r="5"/>
                </a:stretch>
              </a:blipFill>
              <a:ln w="9525">
                <a:noFill/>
                <a:miter lim="800000"/>
              </a:ln>
            </p:spPr>
            <p:txBody>
              <a:bodyPr/>
              <a:lstStyle/>
              <a:p>
                <a:r>
                  <a:rPr lang="zh-CN" altLang="en-US">
                    <a:noFill/>
                  </a:rPr>
                  <a:t> </a:t>
                </a:r>
              </a:p>
            </p:txBody>
          </p:sp>
        </mc:Fallback>
      </mc:AlternateContent>
      <p:sp>
        <p:nvSpPr>
          <p:cNvPr id="112648" name="Text Box 22"/>
          <p:cNvSpPr txBox="1">
            <a:spLocks noChangeArrowheads="1"/>
          </p:cNvSpPr>
          <p:nvPr/>
        </p:nvSpPr>
        <p:spPr bwMode="auto">
          <a:xfrm>
            <a:off x="2244725" y="1927225"/>
            <a:ext cx="114300" cy="123190"/>
          </a:xfrm>
          <a:prstGeom prst="rect">
            <a:avLst/>
          </a:prstGeom>
          <a:noFill/>
          <a:ln w="9525">
            <a:noFill/>
            <a:miter lim="800000"/>
          </a:ln>
        </p:spPr>
        <p:txBody>
          <a:bodyPr wrap="none" lIns="0" tIns="0" rIns="0" bIns="0">
            <a:spAutoFit/>
          </a:bodyPr>
          <a:lstStyle/>
          <a:p>
            <a:pPr>
              <a:lnSpc>
                <a:spcPts val="965"/>
              </a:lnSpc>
            </a:pPr>
            <a:r>
              <a:rPr lang="zh-CN" altLang="en-US" sz="900">
                <a:solidFill>
                  <a:srgbClr val="000000"/>
                </a:solidFill>
                <a:latin typeface="Times New Roman" panose="02020603050405020304" pitchFamily="18" charset="0"/>
                <a:ea typeface="微软雅黑" panose="020B0503020204020204" pitchFamily="34" charset="-122"/>
              </a:rPr>
              <a:t>。</a:t>
            </a:r>
            <a:endParaRPr lang="zh-CN" altLang="en-US" sz="900">
              <a:solidFill>
                <a:srgbClr val="000000"/>
              </a:solidFill>
              <a:latin typeface="Times New Roman" panose="02020603050405020304" pitchFamily="18" charset="0"/>
              <a:ea typeface="微软雅黑" panose="020B0503020204020204" pitchFamily="34" charset="-122"/>
            </a:endParaRPr>
          </a:p>
        </p:txBody>
      </p:sp>
      <p:pic>
        <p:nvPicPr>
          <p:cNvPr id="25603" name="Picture 3"/>
          <p:cNvPicPr>
            <a:picLocks noChangeAspect="1" noChangeArrowheads="1"/>
          </p:cNvPicPr>
          <p:nvPr/>
        </p:nvPicPr>
        <p:blipFill>
          <a:blip r:embed="rId2"/>
          <a:srcRect/>
          <a:stretch>
            <a:fillRect/>
          </a:stretch>
        </p:blipFill>
        <p:spPr bwMode="auto">
          <a:xfrm>
            <a:off x="2702718" y="3071812"/>
            <a:ext cx="6786563" cy="3286125"/>
          </a:xfrm>
          <a:prstGeom prst="rect">
            <a:avLst/>
          </a:prstGeom>
          <a:noFill/>
          <a:ln w="9525">
            <a:noFill/>
            <a:miter lim="800000"/>
            <a:headEnd/>
            <a:tailEnd/>
          </a:ln>
        </p:spPr>
      </p:pic>
      <p:sp>
        <p:nvSpPr>
          <p:cNvPr id="2" name="Title 1"/>
          <p:cNvSpPr>
            <a:spLocks noGrp="1"/>
          </p:cNvSpPr>
          <p:nvPr/>
        </p:nvSpPr>
        <p:spPr>
          <a:xfrm>
            <a:off x="838200" y="1670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最小费用最大流</a:t>
            </a:r>
            <a:r>
              <a:rPr lang="zh-CN" altLang="en-US" dirty="0"/>
              <a:t> </a:t>
            </a:r>
            <a:r>
              <a:rPr lang="en-US" altLang="zh-CN" dirty="0"/>
              <a:t>–</a:t>
            </a:r>
            <a:r>
              <a:rPr lang="zh-CN" altLang="en-US" dirty="0"/>
              <a:t> 网络图解法</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5603"/>
                                        </p:tgtEl>
                                        <p:attrNameLst>
                                          <p:attrName>style.visibility</p:attrName>
                                        </p:attrNameLst>
                                      </p:cBhvr>
                                      <p:to>
                                        <p:strVal val="visible"/>
                                      </p:to>
                                    </p:set>
                                    <p:anim calcmode="lin" valueType="num">
                                      <p:cBhvr additive="base">
                                        <p:cTn id="11" dur="500" fill="hold"/>
                                        <p:tgtEl>
                                          <p:spTgt spid="25603"/>
                                        </p:tgtEl>
                                        <p:attrNameLst>
                                          <p:attrName>ppt_x</p:attrName>
                                        </p:attrNameLst>
                                      </p:cBhvr>
                                      <p:tavLst>
                                        <p:tav tm="0">
                                          <p:val>
                                            <p:strVal val="1+#ppt_w/2"/>
                                          </p:val>
                                        </p:tav>
                                        <p:tav tm="100000">
                                          <p:val>
                                            <p:strVal val="#ppt_x"/>
                                          </p:val>
                                        </p:tav>
                                      </p:tavLst>
                                    </p:anim>
                                    <p:anim calcmode="lin" valueType="num">
                                      <p:cBhvr additive="base">
                                        <p:cTn id="12" dur="500" fill="hold"/>
                                        <p:tgtEl>
                                          <p:spTgt spid="256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文本框 4"/>
          <p:cNvSpPr txBox="1">
            <a:spLocks noChangeArrowheads="1"/>
          </p:cNvSpPr>
          <p:nvPr/>
        </p:nvSpPr>
        <p:spPr bwMode="auto">
          <a:xfrm>
            <a:off x="3935413" y="5129213"/>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13" name="Text Box 22"/>
              <p:cNvSpPr txBox="1">
                <a:spLocks noChangeArrowheads="1"/>
              </p:cNvSpPr>
              <p:nvPr/>
            </p:nvSpPr>
            <p:spPr bwMode="auto">
              <a:xfrm>
                <a:off x="1992314" y="1371600"/>
                <a:ext cx="8131174" cy="738505"/>
              </a:xfrm>
              <a:prstGeom prst="rect">
                <a:avLst/>
              </a:prstGeom>
              <a:noFill/>
              <a:ln w="9525">
                <a:noFill/>
                <a:miter lim="800000"/>
              </a:ln>
            </p:spPr>
            <p:txBody>
              <a:bodyPr wrap="square" lIns="0" tIns="0" rIns="0" bIns="0">
                <a:spAutoFit/>
              </a:bodyPr>
              <a:lstStyle/>
              <a:p>
                <a:pPr algn="just"/>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第二次迭代：最短路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。第二次迭代后总流量为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，总费用</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10+11ⅹ2=</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32</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13" name="Text Box 22"/>
              <p:cNvSpPr txBox="1">
                <a:spLocks noRot="1" noChangeAspect="1" noMove="1" noResize="1" noEditPoints="1" noAdjustHandles="1" noChangeArrowheads="1" noChangeShapeType="1" noTextEdit="1"/>
              </p:cNvSpPr>
              <p:nvPr/>
            </p:nvSpPr>
            <p:spPr bwMode="auto">
              <a:xfrm>
                <a:off x="1992314" y="1371600"/>
                <a:ext cx="8131174" cy="738505"/>
              </a:xfrm>
              <a:prstGeom prst="rect">
                <a:avLst/>
              </a:prstGeom>
              <a:blipFill rotWithShape="1">
                <a:blip r:embed="rId1"/>
                <a:stretch>
                  <a:fillRect l="-4" r="4"/>
                </a:stretch>
              </a:blipFill>
              <a:ln w="9525">
                <a:noFill/>
                <a:miter lim="800000"/>
              </a:ln>
            </p:spPr>
            <p:txBody>
              <a:bodyPr/>
              <a:lstStyle/>
              <a:p>
                <a:r>
                  <a:rPr lang="zh-CN" altLang="en-US">
                    <a:noFill/>
                  </a:rPr>
                  <a:t> </a:t>
                </a:r>
              </a:p>
            </p:txBody>
          </p:sp>
        </mc:Fallback>
      </mc:AlternateContent>
      <p:pic>
        <p:nvPicPr>
          <p:cNvPr id="26627" name="Picture 3"/>
          <p:cNvPicPr>
            <a:picLocks noChangeAspect="1" noChangeArrowheads="1"/>
          </p:cNvPicPr>
          <p:nvPr/>
        </p:nvPicPr>
        <p:blipFill>
          <a:blip r:embed="rId2"/>
          <a:srcRect/>
          <a:stretch>
            <a:fillRect/>
          </a:stretch>
        </p:blipFill>
        <p:spPr bwMode="auto">
          <a:xfrm>
            <a:off x="2423592" y="2564904"/>
            <a:ext cx="6929438" cy="3571875"/>
          </a:xfrm>
          <a:prstGeom prst="rect">
            <a:avLst/>
          </a:prstGeom>
          <a:noFill/>
          <a:ln w="9525">
            <a:noFill/>
            <a:miter lim="800000"/>
            <a:headEnd/>
            <a:tailEnd/>
          </a:ln>
        </p:spPr>
      </p:pic>
      <p:sp>
        <p:nvSpPr>
          <p:cNvPr id="2" name="Title 1"/>
          <p:cNvSpPr>
            <a:spLocks noGrp="1"/>
          </p:cNvSpPr>
          <p:nvPr/>
        </p:nvSpPr>
        <p:spPr>
          <a:xfrm>
            <a:off x="838200" y="1670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最小费用最大流</a:t>
            </a:r>
            <a:r>
              <a:rPr lang="zh-CN" altLang="en-US" dirty="0"/>
              <a:t> </a:t>
            </a:r>
            <a:r>
              <a:rPr lang="en-US" altLang="zh-CN" dirty="0"/>
              <a:t>–</a:t>
            </a:r>
            <a:r>
              <a:rPr lang="zh-CN" altLang="en-US" dirty="0"/>
              <a:t> 网络图解法</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6627"/>
                                        </p:tgtEl>
                                        <p:attrNameLst>
                                          <p:attrName>style.visibility</p:attrName>
                                        </p:attrNameLst>
                                      </p:cBhvr>
                                      <p:to>
                                        <p:strVal val="visible"/>
                                      </p:to>
                                    </p:set>
                                    <p:anim calcmode="lin" valueType="num">
                                      <p:cBhvr additive="base">
                                        <p:cTn id="7" dur="500" fill="hold"/>
                                        <p:tgtEl>
                                          <p:spTgt spid="26627"/>
                                        </p:tgtEl>
                                        <p:attrNameLst>
                                          <p:attrName>ppt_x</p:attrName>
                                        </p:attrNameLst>
                                      </p:cBhvr>
                                      <p:tavLst>
                                        <p:tav tm="0">
                                          <p:val>
                                            <p:strVal val="1+#ppt_w/2"/>
                                          </p:val>
                                        </p:tav>
                                        <p:tav tm="100000">
                                          <p:val>
                                            <p:strVal val="#ppt_x"/>
                                          </p:val>
                                        </p:tav>
                                      </p:tavLst>
                                    </p:anim>
                                    <p:anim calcmode="lin" valueType="num">
                                      <p:cBhvr additive="base">
                                        <p:cTn id="8" dur="500" fill="hold"/>
                                        <p:tgtEl>
                                          <p:spTgt spid="26627"/>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1+#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文本框 4"/>
          <p:cNvSpPr txBox="1">
            <a:spLocks noChangeArrowheads="1"/>
          </p:cNvSpPr>
          <p:nvPr/>
        </p:nvSpPr>
        <p:spPr bwMode="auto">
          <a:xfrm>
            <a:off x="3994150" y="5129213"/>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13" name="Text Box 22"/>
              <p:cNvSpPr txBox="1">
                <a:spLocks noChangeArrowheads="1"/>
              </p:cNvSpPr>
              <p:nvPr/>
            </p:nvSpPr>
            <p:spPr bwMode="auto">
              <a:xfrm>
                <a:off x="1924397" y="1329997"/>
                <a:ext cx="8343205" cy="1107440"/>
              </a:xfrm>
              <a:prstGeom prst="rect">
                <a:avLst/>
              </a:prstGeom>
              <a:noFill/>
              <a:ln w="9525">
                <a:noFill/>
                <a:miter lim="800000"/>
              </a:ln>
            </p:spPr>
            <p:txBody>
              <a:bodyPr wrap="square" lIns="0" tIns="0" rIns="0" bIns="0">
                <a:spAutoFit/>
              </a:bodyPr>
              <a:lstStyle/>
              <a:p>
                <a:pPr algn="just">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第三次迭代：找到最短路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6</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。第三次迭代后总流量为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5</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，总费用</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32</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12</m:t>
                    </m:r>
                    <m: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56</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13" name="Text Box 22"/>
              <p:cNvSpPr txBox="1">
                <a:spLocks noRot="1" noChangeAspect="1" noMove="1" noResize="1" noEditPoints="1" noAdjustHandles="1" noChangeArrowheads="1" noChangeShapeType="1" noTextEdit="1"/>
              </p:cNvSpPr>
              <p:nvPr/>
            </p:nvSpPr>
            <p:spPr bwMode="auto">
              <a:xfrm>
                <a:off x="1924397" y="1329997"/>
                <a:ext cx="8343205" cy="1107440"/>
              </a:xfrm>
              <a:prstGeom prst="rect">
                <a:avLst/>
              </a:prstGeom>
              <a:blipFill rotWithShape="1">
                <a:blip r:embed="rId1"/>
                <a:stretch>
                  <a:fillRect l="-4" t="-28" r="3" b="28"/>
                </a:stretch>
              </a:blipFill>
              <a:ln w="9525">
                <a:noFill/>
                <a:miter lim="800000"/>
              </a:ln>
            </p:spPr>
            <p:txBody>
              <a:bodyPr/>
              <a:lstStyle/>
              <a:p>
                <a:r>
                  <a:rPr lang="zh-CN" altLang="en-US">
                    <a:noFill/>
                  </a:rPr>
                  <a:t> </a:t>
                </a:r>
              </a:p>
            </p:txBody>
          </p:sp>
        </mc:Fallback>
      </mc:AlternateContent>
      <p:pic>
        <p:nvPicPr>
          <p:cNvPr id="27651" name="Picture 3"/>
          <p:cNvPicPr>
            <a:picLocks noChangeAspect="1" noChangeArrowheads="1"/>
          </p:cNvPicPr>
          <p:nvPr/>
        </p:nvPicPr>
        <p:blipFill>
          <a:blip r:embed="rId2"/>
          <a:srcRect/>
          <a:stretch>
            <a:fillRect/>
          </a:stretch>
        </p:blipFill>
        <p:spPr bwMode="auto">
          <a:xfrm>
            <a:off x="2607468" y="2809453"/>
            <a:ext cx="6977062" cy="3571875"/>
          </a:xfrm>
          <a:prstGeom prst="rect">
            <a:avLst/>
          </a:prstGeom>
          <a:noFill/>
          <a:ln w="9525">
            <a:noFill/>
            <a:miter lim="800000"/>
            <a:headEnd/>
            <a:tailEnd/>
          </a:ln>
        </p:spPr>
      </p:pic>
      <p:sp>
        <p:nvSpPr>
          <p:cNvPr id="2" name="Title 1"/>
          <p:cNvSpPr>
            <a:spLocks noGrp="1"/>
          </p:cNvSpPr>
          <p:nvPr/>
        </p:nvSpPr>
        <p:spPr>
          <a:xfrm>
            <a:off x="838200" y="1670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最小费用最大流</a:t>
            </a:r>
            <a:r>
              <a:rPr lang="zh-CN" altLang="en-US" dirty="0"/>
              <a:t> </a:t>
            </a:r>
            <a:r>
              <a:rPr lang="en-US" altLang="zh-CN" dirty="0"/>
              <a:t>–</a:t>
            </a:r>
            <a:r>
              <a:rPr lang="zh-CN" altLang="en-US" dirty="0"/>
              <a:t> 网络图解法</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7651"/>
                                        </p:tgtEl>
                                        <p:attrNameLst>
                                          <p:attrName>style.visibility</p:attrName>
                                        </p:attrNameLst>
                                      </p:cBhvr>
                                      <p:to>
                                        <p:strVal val="visible"/>
                                      </p:to>
                                    </p:set>
                                    <p:anim calcmode="lin" valueType="num">
                                      <p:cBhvr additive="base">
                                        <p:cTn id="11" dur="500" fill="hold"/>
                                        <p:tgtEl>
                                          <p:spTgt spid="27651"/>
                                        </p:tgtEl>
                                        <p:attrNameLst>
                                          <p:attrName>ppt_x</p:attrName>
                                        </p:attrNameLst>
                                      </p:cBhvr>
                                      <p:tavLst>
                                        <p:tav tm="0">
                                          <p:val>
                                            <p:strVal val="1+#ppt_w/2"/>
                                          </p:val>
                                        </p:tav>
                                        <p:tav tm="100000">
                                          <p:val>
                                            <p:strVal val="#ppt_x"/>
                                          </p:val>
                                        </p:tav>
                                      </p:tavLst>
                                    </p:anim>
                                    <p:anim calcmode="lin" valueType="num">
                                      <p:cBhvr additive="base">
                                        <p:cTn id="12" dur="500" fill="hold"/>
                                        <p:tgtEl>
                                          <p:spTgt spid="276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8" name="文本框 4"/>
          <p:cNvSpPr txBox="1">
            <a:spLocks noChangeArrowheads="1"/>
          </p:cNvSpPr>
          <p:nvPr/>
        </p:nvSpPr>
        <p:spPr bwMode="auto">
          <a:xfrm>
            <a:off x="3994150" y="5129213"/>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13" name="Text Box 22"/>
              <p:cNvSpPr txBox="1">
                <a:spLocks noChangeArrowheads="1"/>
              </p:cNvSpPr>
              <p:nvPr/>
            </p:nvSpPr>
            <p:spPr bwMode="auto">
              <a:xfrm>
                <a:off x="1780381" y="1339924"/>
                <a:ext cx="8631237" cy="1107440"/>
              </a:xfrm>
              <a:prstGeom prst="rect">
                <a:avLst/>
              </a:prstGeom>
              <a:noFill/>
              <a:ln w="9525">
                <a:noFill/>
                <a:miter lim="800000"/>
              </a:ln>
            </p:spPr>
            <p:txBody>
              <a:bodyPr wrap="square" lIns="0" tIns="0" rIns="0" bIns="0">
                <a:spAutoFit/>
              </a:bodyPr>
              <a:lstStyle/>
              <a:p>
                <a:pPr algn="just">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第四次迭代：找到最短路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。第四次迭代后总流量为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6</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，总费用</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56</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16</m:t>
                    </m:r>
                    <m: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zh-CN" altLang="en-US"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72</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13" name="Text Box 22"/>
              <p:cNvSpPr txBox="1">
                <a:spLocks noRot="1" noChangeAspect="1" noMove="1" noResize="1" noEditPoints="1" noAdjustHandles="1" noChangeArrowheads="1" noChangeShapeType="1" noTextEdit="1"/>
              </p:cNvSpPr>
              <p:nvPr/>
            </p:nvSpPr>
            <p:spPr bwMode="auto">
              <a:xfrm>
                <a:off x="1780381" y="1339924"/>
                <a:ext cx="8631237" cy="1107440"/>
              </a:xfrm>
              <a:prstGeom prst="rect">
                <a:avLst/>
              </a:prstGeom>
              <a:blipFill rotWithShape="1">
                <a:blip r:embed="rId1"/>
                <a:stretch>
                  <a:fillRect l="-6" t="-7" r="2" b="7"/>
                </a:stretch>
              </a:blipFill>
              <a:ln w="9525">
                <a:noFill/>
                <a:miter lim="800000"/>
              </a:ln>
            </p:spPr>
            <p:txBody>
              <a:bodyPr/>
              <a:lstStyle/>
              <a:p>
                <a:r>
                  <a:rPr lang="zh-CN" altLang="en-US">
                    <a:noFill/>
                  </a:rPr>
                  <a:t> </a:t>
                </a:r>
              </a:p>
            </p:txBody>
          </p:sp>
        </mc:Fallback>
      </mc:AlternateContent>
      <p:pic>
        <p:nvPicPr>
          <p:cNvPr id="28675" name="Picture 3"/>
          <p:cNvPicPr>
            <a:picLocks noChangeAspect="1" noChangeArrowheads="1"/>
          </p:cNvPicPr>
          <p:nvPr/>
        </p:nvPicPr>
        <p:blipFill>
          <a:blip r:embed="rId2"/>
          <a:srcRect/>
          <a:stretch>
            <a:fillRect/>
          </a:stretch>
        </p:blipFill>
        <p:spPr bwMode="auto">
          <a:xfrm>
            <a:off x="2666999" y="2711619"/>
            <a:ext cx="6858000" cy="3643312"/>
          </a:xfrm>
          <a:prstGeom prst="rect">
            <a:avLst/>
          </a:prstGeom>
          <a:noFill/>
          <a:ln w="9525">
            <a:noFill/>
            <a:miter lim="800000"/>
            <a:headEnd/>
            <a:tailEnd/>
          </a:ln>
        </p:spPr>
      </p:pic>
      <p:sp>
        <p:nvSpPr>
          <p:cNvPr id="2" name="Title 1"/>
          <p:cNvSpPr>
            <a:spLocks noGrp="1"/>
          </p:cNvSpPr>
          <p:nvPr/>
        </p:nvSpPr>
        <p:spPr>
          <a:xfrm>
            <a:off x="838200" y="1670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最小费用最大流</a:t>
            </a:r>
            <a:r>
              <a:rPr lang="zh-CN" altLang="en-US" dirty="0"/>
              <a:t> </a:t>
            </a:r>
            <a:r>
              <a:rPr lang="en-US" altLang="zh-CN" dirty="0"/>
              <a:t>–</a:t>
            </a:r>
            <a:r>
              <a:rPr lang="zh-CN" altLang="en-US" dirty="0"/>
              <a:t> 网络图解法</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additive="base">
                                        <p:cTn id="7" dur="500" fill="hold"/>
                                        <p:tgtEl>
                                          <p:spTgt spid="28675"/>
                                        </p:tgtEl>
                                        <p:attrNameLst>
                                          <p:attrName>ppt_x</p:attrName>
                                        </p:attrNameLst>
                                      </p:cBhvr>
                                      <p:tavLst>
                                        <p:tav tm="0">
                                          <p:val>
                                            <p:strVal val="1+#ppt_w/2"/>
                                          </p:val>
                                        </p:tav>
                                        <p:tav tm="100000">
                                          <p:val>
                                            <p:strVal val="#ppt_x"/>
                                          </p:val>
                                        </p:tav>
                                      </p:tavLst>
                                    </p:anim>
                                    <p:anim calcmode="lin" valueType="num">
                                      <p:cBhvr additive="base">
                                        <p:cTn id="8" dur="500" fill="hold"/>
                                        <p:tgtEl>
                                          <p:spTgt spid="2867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1+#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6" name="文本框 4"/>
          <p:cNvSpPr txBox="1">
            <a:spLocks noChangeArrowheads="1"/>
          </p:cNvSpPr>
          <p:nvPr/>
        </p:nvSpPr>
        <p:spPr bwMode="auto">
          <a:xfrm>
            <a:off x="3719513" y="5292725"/>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6" name="矩形 5"/>
              <p:cNvSpPr>
                <a:spLocks noChangeArrowheads="1"/>
              </p:cNvSpPr>
              <p:nvPr/>
            </p:nvSpPr>
            <p:spPr bwMode="auto">
              <a:xfrm>
                <a:off x="1809142" y="1361634"/>
                <a:ext cx="8607338" cy="1198880"/>
              </a:xfrm>
              <a:prstGeom prst="rect">
                <a:avLst/>
              </a:prstGeom>
              <a:noFill/>
              <a:ln w="9525">
                <a:noFill/>
                <a:miter lim="800000"/>
              </a:ln>
            </p:spPr>
            <p:txBody>
              <a:bodyPr wrap="square">
                <a:spAutoFit/>
              </a:bodyPr>
              <a:lstStyle/>
              <a:p>
                <a:pPr algn="just">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第五次迭代：找到最短路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。第五次迭代后总流量为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9</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，总费用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72</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17</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123</m:t>
                    </m:r>
                  </m:oMath>
                </a14:m>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6" name="矩形 5"/>
              <p:cNvSpPr>
                <a:spLocks noRot="1" noChangeAspect="1" noMove="1" noResize="1" noEditPoints="1" noAdjustHandles="1" noChangeArrowheads="1" noChangeShapeType="1" noTextEdit="1"/>
              </p:cNvSpPr>
              <p:nvPr/>
            </p:nvSpPr>
            <p:spPr bwMode="auto">
              <a:xfrm>
                <a:off x="1809142" y="1361634"/>
                <a:ext cx="8607338" cy="1198880"/>
              </a:xfrm>
              <a:prstGeom prst="rect">
                <a:avLst/>
              </a:prstGeom>
              <a:blipFill rotWithShape="1">
                <a:blip r:embed="rId1"/>
                <a:stretch>
                  <a:fillRect t="-16" r="7" b="16"/>
                </a:stretch>
              </a:blipFill>
              <a:ln w="9525">
                <a:noFill/>
                <a:miter lim="800000"/>
              </a:ln>
            </p:spPr>
            <p:txBody>
              <a:bodyPr/>
              <a:lstStyle/>
              <a:p>
                <a:r>
                  <a:rPr lang="zh-CN" altLang="en-US">
                    <a:noFill/>
                  </a:rPr>
                  <a:t> </a:t>
                </a:r>
              </a:p>
            </p:txBody>
          </p:sp>
        </mc:Fallback>
      </mc:AlternateContent>
      <p:pic>
        <p:nvPicPr>
          <p:cNvPr id="13" name="Picture 2"/>
          <p:cNvPicPr>
            <a:picLocks noChangeAspect="1" noChangeArrowheads="1"/>
          </p:cNvPicPr>
          <p:nvPr/>
        </p:nvPicPr>
        <p:blipFill>
          <a:blip r:embed="rId2"/>
          <a:srcRect/>
          <a:stretch>
            <a:fillRect/>
          </a:stretch>
        </p:blipFill>
        <p:spPr bwMode="auto">
          <a:xfrm>
            <a:off x="2585244" y="2636912"/>
            <a:ext cx="6858000" cy="3500438"/>
          </a:xfrm>
          <a:prstGeom prst="rect">
            <a:avLst/>
          </a:prstGeom>
          <a:noFill/>
          <a:ln w="9525">
            <a:noFill/>
            <a:miter lim="800000"/>
            <a:headEnd/>
            <a:tailEnd/>
          </a:ln>
        </p:spPr>
      </p:pic>
      <p:sp>
        <p:nvSpPr>
          <p:cNvPr id="2" name="Title 1"/>
          <p:cNvSpPr>
            <a:spLocks noGrp="1"/>
          </p:cNvSpPr>
          <p:nvPr/>
        </p:nvSpPr>
        <p:spPr>
          <a:xfrm>
            <a:off x="838200" y="1670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最小费用最大流</a:t>
            </a:r>
            <a:r>
              <a:rPr lang="zh-CN" altLang="en-US" dirty="0"/>
              <a:t> </a:t>
            </a:r>
            <a:r>
              <a:rPr lang="en-US" altLang="zh-CN" dirty="0"/>
              <a:t>–</a:t>
            </a:r>
            <a:r>
              <a:rPr lang="zh-CN" altLang="en-US" dirty="0"/>
              <a:t> 网络图解法</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1+#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文本框 4"/>
          <p:cNvSpPr txBox="1">
            <a:spLocks noChangeArrowheads="1"/>
          </p:cNvSpPr>
          <p:nvPr/>
        </p:nvSpPr>
        <p:spPr bwMode="auto">
          <a:xfrm>
            <a:off x="3719513" y="5292725"/>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sp>
        <p:nvSpPr>
          <p:cNvPr id="122885" name="Text Box 21"/>
          <p:cNvSpPr txBox="1">
            <a:spLocks noChangeArrowheads="1"/>
          </p:cNvSpPr>
          <p:nvPr/>
        </p:nvSpPr>
        <p:spPr bwMode="auto">
          <a:xfrm>
            <a:off x="2613025" y="1270000"/>
            <a:ext cx="7510463" cy="2088515"/>
          </a:xfrm>
          <a:prstGeom prst="rect">
            <a:avLst/>
          </a:prstGeom>
          <a:noFill/>
          <a:ln w="9525">
            <a:noFill/>
            <a:miter lim="800000"/>
          </a:ln>
        </p:spPr>
        <p:txBody>
          <a:bodyPr lIns="0" tIns="0" rIns="0" bIns="0">
            <a:spAutoFit/>
          </a:bodyPr>
          <a:lstStyle/>
          <a:p>
            <a:pPr>
              <a:lnSpc>
                <a:spcPct val="150000"/>
              </a:lnSpc>
              <a:tabLst>
                <a:tab pos="203200" algn="l"/>
                <a:tab pos="266700" algn="l"/>
                <a:tab pos="1917700" algn="l"/>
              </a:tabLst>
            </a:pPr>
            <a:endParaRPr lang="zh-CN" altLang="en-US">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525"/>
              </a:lnSpc>
              <a:tabLst>
                <a:tab pos="203200" algn="l"/>
                <a:tab pos="266700" algn="l"/>
                <a:tab pos="1917700" algn="l"/>
              </a:tabLst>
            </a:pPr>
            <a:r>
              <a:rPr lang="zh-CN" altLang="en-US" sz="1100">
                <a:solidFill>
                  <a:srgbClr val="000000"/>
                </a:solidFill>
                <a:latin typeface="Times New Roman" panose="02020603050405020304" pitchFamily="18" charset="0"/>
                <a:cs typeface="Times New Roman" panose="02020603050405020304" pitchFamily="18" charset="0"/>
              </a:rPr>
              <a:t>			</a:t>
            </a: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525"/>
              </a:lnSpc>
              <a:tabLst>
                <a:tab pos="203200" algn="l"/>
                <a:tab pos="266700" algn="l"/>
                <a:tab pos="1917700" algn="l"/>
              </a:tabLst>
            </a:pP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a:spLocks noChangeArrowheads="1"/>
              </p:cNvSpPr>
              <p:nvPr/>
            </p:nvSpPr>
            <p:spPr bwMode="auto">
              <a:xfrm>
                <a:off x="1836130" y="1316891"/>
                <a:ext cx="8724366" cy="1198880"/>
              </a:xfrm>
              <a:prstGeom prst="rect">
                <a:avLst/>
              </a:prstGeom>
              <a:noFill/>
              <a:ln w="9525">
                <a:noFill/>
                <a:miter lim="800000"/>
              </a:ln>
            </p:spPr>
            <p:txBody>
              <a:bodyPr wrap="square">
                <a:spAutoFit/>
              </a:bodyPr>
              <a:lstStyle/>
              <a:p>
                <a:pPr algn="just">
                  <a:lnSpc>
                    <a:spcPct val="150000"/>
                  </a:lnSpc>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第六次迭代：找到最短路 </a:t>
                </a:r>
                <a14:m>
                  <m:oMath xmlns:m="http://schemas.openxmlformats.org/officeDocument/2006/math">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5</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400" i="1"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r>
                      <a:rPr lang="en-US" altLang="zh-CN" sz="2400" i="1" baseline="-25000" dirty="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。第六次迭代后总流量为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10</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，总费用</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123+22=</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145</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bwMode="auto">
              <a:xfrm>
                <a:off x="1836130" y="1316891"/>
                <a:ext cx="8724366" cy="1198880"/>
              </a:xfrm>
              <a:prstGeom prst="rect">
                <a:avLst/>
              </a:prstGeom>
              <a:blipFill rotWithShape="1">
                <a:blip r:embed="rId1"/>
                <a:stretch>
                  <a:fillRect l="-4" t="-45" r="5" b="45"/>
                </a:stretch>
              </a:blipFill>
              <a:ln w="9525">
                <a:noFill/>
                <a:miter lim="800000"/>
              </a:ln>
            </p:spPr>
            <p:txBody>
              <a:bodyPr/>
              <a:lstStyle/>
              <a:p>
                <a:r>
                  <a:rPr lang="zh-CN" altLang="en-US">
                    <a:noFill/>
                  </a:rPr>
                  <a:t> </a:t>
                </a:r>
              </a:p>
            </p:txBody>
          </p:sp>
        </mc:Fallback>
      </mc:AlternateContent>
      <p:pic>
        <p:nvPicPr>
          <p:cNvPr id="33794" name="Picture 2"/>
          <p:cNvPicPr>
            <a:picLocks noChangeAspect="1" noChangeArrowheads="1"/>
          </p:cNvPicPr>
          <p:nvPr/>
        </p:nvPicPr>
        <p:blipFill>
          <a:blip r:embed="rId2"/>
          <a:srcRect/>
          <a:stretch>
            <a:fillRect/>
          </a:stretch>
        </p:blipFill>
        <p:spPr bwMode="auto">
          <a:xfrm>
            <a:off x="2381249" y="2589256"/>
            <a:ext cx="6929438" cy="3424237"/>
          </a:xfrm>
          <a:prstGeom prst="rect">
            <a:avLst/>
          </a:prstGeom>
          <a:noFill/>
          <a:ln w="9525">
            <a:noFill/>
            <a:miter lim="800000"/>
            <a:headEnd/>
            <a:tailEnd/>
          </a:ln>
        </p:spPr>
      </p:pic>
      <p:sp>
        <p:nvSpPr>
          <p:cNvPr id="2" name="Title 1"/>
          <p:cNvSpPr>
            <a:spLocks noGrp="1"/>
          </p:cNvSpPr>
          <p:nvPr/>
        </p:nvSpPr>
        <p:spPr>
          <a:xfrm>
            <a:off x="838200" y="1670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最小费用最大流</a:t>
            </a:r>
            <a:r>
              <a:rPr lang="zh-CN" altLang="en-US" dirty="0"/>
              <a:t> </a:t>
            </a:r>
            <a:r>
              <a:rPr lang="en-US" altLang="zh-CN" dirty="0"/>
              <a:t>–</a:t>
            </a:r>
            <a:r>
              <a:rPr lang="zh-CN" altLang="en-US" dirty="0"/>
              <a:t> 网络图解法</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3794"/>
                                        </p:tgtEl>
                                        <p:attrNameLst>
                                          <p:attrName>style.visibility</p:attrName>
                                        </p:attrNameLst>
                                      </p:cBhvr>
                                      <p:to>
                                        <p:strVal val="visible"/>
                                      </p:to>
                                    </p:set>
                                    <p:anim calcmode="lin" valueType="num">
                                      <p:cBhvr additive="base">
                                        <p:cTn id="11" dur="500" fill="hold"/>
                                        <p:tgtEl>
                                          <p:spTgt spid="33794"/>
                                        </p:tgtEl>
                                        <p:attrNameLst>
                                          <p:attrName>ppt_x</p:attrName>
                                        </p:attrNameLst>
                                      </p:cBhvr>
                                      <p:tavLst>
                                        <p:tav tm="0">
                                          <p:val>
                                            <p:strVal val="1+#ppt_w/2"/>
                                          </p:val>
                                        </p:tav>
                                        <p:tav tm="100000">
                                          <p:val>
                                            <p:strVal val="#ppt_x"/>
                                          </p:val>
                                        </p:tav>
                                      </p:tavLst>
                                    </p:anim>
                                    <p:anim calcmode="lin" valueType="num">
                                      <p:cBhvr additive="base">
                                        <p:cTn id="12" dur="500" fill="hold"/>
                                        <p:tgtEl>
                                          <p:spTgt spid="337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文本框 4"/>
          <p:cNvSpPr txBox="1">
            <a:spLocks noChangeArrowheads="1"/>
          </p:cNvSpPr>
          <p:nvPr/>
        </p:nvSpPr>
        <p:spPr bwMode="auto">
          <a:xfrm>
            <a:off x="3719513" y="5292725"/>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p:sp>
        <p:nvSpPr>
          <p:cNvPr id="124933" name="Text Box 21"/>
          <p:cNvSpPr txBox="1">
            <a:spLocks noChangeArrowheads="1"/>
          </p:cNvSpPr>
          <p:nvPr/>
        </p:nvSpPr>
        <p:spPr bwMode="auto">
          <a:xfrm>
            <a:off x="2613025" y="1270000"/>
            <a:ext cx="7510463" cy="2088515"/>
          </a:xfrm>
          <a:prstGeom prst="rect">
            <a:avLst/>
          </a:prstGeom>
          <a:noFill/>
          <a:ln w="9525">
            <a:noFill/>
            <a:miter lim="800000"/>
          </a:ln>
        </p:spPr>
        <p:txBody>
          <a:bodyPr lIns="0" tIns="0" rIns="0" bIns="0">
            <a:spAutoFit/>
          </a:bodyPr>
          <a:lstStyle/>
          <a:p>
            <a:pPr>
              <a:lnSpc>
                <a:spcPct val="150000"/>
              </a:lnSpc>
              <a:tabLst>
                <a:tab pos="203200" algn="l"/>
                <a:tab pos="266700" algn="l"/>
                <a:tab pos="1917700" algn="l"/>
              </a:tabLst>
            </a:pPr>
            <a:endParaRPr lang="zh-CN" altLang="en-US">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000"/>
              </a:lnSpc>
              <a:tabLst>
                <a:tab pos="203200" algn="l"/>
                <a:tab pos="266700" algn="l"/>
                <a:tab pos="1917700" algn="l"/>
              </a:tabLst>
            </a:pPr>
            <a:endParaRPr lang="zh-CN" altLang="en-US" sz="1100">
              <a:solidFill>
                <a:srgbClr val="000000"/>
              </a:solidFill>
              <a:latin typeface="Times New Roman" panose="02020603050405020304" pitchFamily="18" charset="0"/>
              <a:cs typeface="Times New Roman" panose="02020603050405020304" pitchFamily="18" charset="0"/>
            </a:endParaRPr>
          </a:p>
          <a:p>
            <a:pPr>
              <a:lnSpc>
                <a:spcPts val="1525"/>
              </a:lnSpc>
              <a:tabLst>
                <a:tab pos="203200" algn="l"/>
                <a:tab pos="266700" algn="l"/>
                <a:tab pos="1917700" algn="l"/>
              </a:tabLst>
            </a:pPr>
            <a:r>
              <a:rPr lang="zh-CN" altLang="en-US" sz="1100">
                <a:solidFill>
                  <a:srgbClr val="000000"/>
                </a:solidFill>
                <a:latin typeface="Times New Roman" panose="02020603050405020304" pitchFamily="18" charset="0"/>
                <a:cs typeface="Times New Roman" panose="02020603050405020304" pitchFamily="18" charset="0"/>
              </a:rPr>
              <a:t>			</a:t>
            </a: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1525"/>
              </a:lnSpc>
              <a:tabLst>
                <a:tab pos="203200" algn="l"/>
                <a:tab pos="266700" algn="l"/>
                <a:tab pos="1917700" algn="l"/>
              </a:tabLst>
            </a:pPr>
            <a:r>
              <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90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a:spLocks noChangeArrowheads="1"/>
              </p:cNvSpPr>
              <p:nvPr/>
            </p:nvSpPr>
            <p:spPr bwMode="auto">
              <a:xfrm>
                <a:off x="1847528" y="1316038"/>
                <a:ext cx="8496943" cy="1568450"/>
              </a:xfrm>
              <a:prstGeom prst="rect">
                <a:avLst/>
              </a:prstGeom>
              <a:noFill/>
              <a:ln w="9525">
                <a:noFill/>
                <a:miter lim="800000"/>
              </a:ln>
            </p:spPr>
            <p:txBody>
              <a:bodyPr wrap="square">
                <a:spAutoFit/>
              </a:bodyPr>
              <a:lstStyle/>
              <a:p>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第六次迭代后，已找不到从</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e>
                      <m:sub>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sub>
                    </m:sSub>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e>
                      <m:sub>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sub>
                    </m:sSub>
                  </m:oMath>
                </a14:m>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的每条弧容量都大于零的路了，故求得最小费用最大流。得到其最小费用最大流的流量图如</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11-35</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所示。其总流量为</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10</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，即每小时最多运</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10</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万加仑石油，其最小总费用为</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145</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百元。</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bwMode="auto">
              <a:xfrm>
                <a:off x="1847528" y="1316038"/>
                <a:ext cx="8496943" cy="1568450"/>
              </a:xfrm>
              <a:prstGeom prst="rect">
                <a:avLst/>
              </a:prstGeom>
              <a:blipFill rotWithShape="1">
                <a:blip r:embed="rId1"/>
                <a:stretch>
                  <a:fillRect l="-4" t="-20" r="4" b="20"/>
                </a:stretch>
              </a:blipFill>
              <a:ln w="9525">
                <a:noFill/>
                <a:miter lim="800000"/>
              </a:ln>
            </p:spPr>
            <p:txBody>
              <a:bodyPr/>
              <a:lstStyle/>
              <a:p>
                <a:r>
                  <a:rPr lang="zh-CN" altLang="en-US">
                    <a:noFill/>
                  </a:rPr>
                  <a:t> </a:t>
                </a:r>
              </a:p>
            </p:txBody>
          </p:sp>
        </mc:Fallback>
      </mc:AlternateContent>
      <p:pic>
        <p:nvPicPr>
          <p:cNvPr id="30722" name="Picture 2"/>
          <p:cNvPicPr>
            <a:picLocks noChangeAspect="1" noChangeArrowheads="1"/>
          </p:cNvPicPr>
          <p:nvPr/>
        </p:nvPicPr>
        <p:blipFill>
          <a:blip r:embed="rId2"/>
          <a:srcRect/>
          <a:stretch>
            <a:fillRect/>
          </a:stretch>
        </p:blipFill>
        <p:spPr bwMode="auto">
          <a:xfrm>
            <a:off x="2613025" y="3106737"/>
            <a:ext cx="6500813" cy="3286125"/>
          </a:xfrm>
          <a:prstGeom prst="rect">
            <a:avLst/>
          </a:prstGeom>
          <a:noFill/>
          <a:ln w="9525">
            <a:noFill/>
            <a:miter lim="800000"/>
            <a:headEnd/>
            <a:tailEnd/>
          </a:ln>
        </p:spPr>
      </p:pic>
      <p:sp>
        <p:nvSpPr>
          <p:cNvPr id="2" name="Title 1"/>
          <p:cNvSpPr>
            <a:spLocks noGrp="1"/>
          </p:cNvSpPr>
          <p:nvPr/>
        </p:nvSpPr>
        <p:spPr>
          <a:xfrm>
            <a:off x="838200" y="1670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最小费用最大流</a:t>
            </a:r>
            <a:r>
              <a:rPr lang="zh-CN" altLang="en-US" dirty="0"/>
              <a:t> </a:t>
            </a:r>
            <a:r>
              <a:rPr lang="en-US" altLang="zh-CN" dirty="0"/>
              <a:t>–</a:t>
            </a:r>
            <a:r>
              <a:rPr lang="zh-CN" altLang="en-US" dirty="0"/>
              <a:t> 网络图解法</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0722"/>
                                        </p:tgtEl>
                                        <p:attrNameLst>
                                          <p:attrName>style.visibility</p:attrName>
                                        </p:attrNameLst>
                                      </p:cBhvr>
                                      <p:to>
                                        <p:strVal val="visible"/>
                                      </p:to>
                                    </p:set>
                                    <p:anim calcmode="lin" valueType="num">
                                      <p:cBhvr additive="base">
                                        <p:cTn id="11" dur="500" fill="hold"/>
                                        <p:tgtEl>
                                          <p:spTgt spid="30722"/>
                                        </p:tgtEl>
                                        <p:attrNameLst>
                                          <p:attrName>ppt_x</p:attrName>
                                        </p:attrNameLst>
                                      </p:cBhvr>
                                      <p:tavLst>
                                        <p:tav tm="0">
                                          <p:val>
                                            <p:strVal val="1+#ppt_w/2"/>
                                          </p:val>
                                        </p:tav>
                                        <p:tav tm="100000">
                                          <p:val>
                                            <p:strVal val="#ppt_x"/>
                                          </p:val>
                                        </p:tav>
                                      </p:tavLst>
                                    </p:anim>
                                    <p:anim calcmode="lin" valueType="num">
                                      <p:cBhvr additive="base">
                                        <p:cTn id="12" dur="500" fill="hold"/>
                                        <p:tgtEl>
                                          <p:spTgt spid="307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0" name="文本框 4"/>
          <p:cNvSpPr txBox="1">
            <a:spLocks noChangeArrowheads="1"/>
          </p:cNvSpPr>
          <p:nvPr/>
        </p:nvSpPr>
        <p:spPr bwMode="auto">
          <a:xfrm>
            <a:off x="3719513" y="5292725"/>
            <a:ext cx="3292475" cy="368300"/>
          </a:xfrm>
          <a:prstGeom prst="rect">
            <a:avLst/>
          </a:prstGeom>
          <a:noFill/>
          <a:ln w="9525">
            <a:noFill/>
            <a:miter lim="800000"/>
          </a:ln>
        </p:spPr>
        <p:txBody>
          <a:bodyPr>
            <a:spAutoFit/>
          </a:bodyPr>
          <a:lstStyle/>
          <a:p>
            <a:r>
              <a:rPr lang="zh-CN" altLang="en-US">
                <a:latin typeface="Calibri" panose="020F0502020204030204" charset="0"/>
                <a:ea typeface="微软雅黑" panose="020B0503020204020204" pitchFamily="34" charset="-122"/>
              </a:rPr>
              <a:t>                      </a:t>
            </a:r>
            <a:endParaRPr lang="zh-CN" altLang="en-US">
              <a:latin typeface="Calibri" panose="020F0502020204030204" charset="0"/>
              <a:ea typeface="微软雅黑" panose="020B0503020204020204" pitchFamily="34" charset="-122"/>
            </a:endParaRPr>
          </a:p>
        </p:txBody>
      </p:sp>
      <mc:AlternateContent xmlns:mc="http://schemas.openxmlformats.org/markup-compatibility/2006">
        <mc:Choice xmlns:a14="http://schemas.microsoft.com/office/drawing/2010/main" Requires="a14">
          <p:sp>
            <p:nvSpPr>
              <p:cNvPr id="3" name="矩形 2"/>
              <p:cNvSpPr>
                <a:spLocks noChangeArrowheads="1"/>
              </p:cNvSpPr>
              <p:nvPr/>
            </p:nvSpPr>
            <p:spPr bwMode="auto">
              <a:xfrm>
                <a:off x="1992314" y="1309688"/>
                <a:ext cx="8280150" cy="1568450"/>
              </a:xfrm>
              <a:prstGeom prst="rect">
                <a:avLst/>
              </a:prstGeom>
              <a:noFill/>
              <a:ln w="9525">
                <a:noFill/>
                <a:miter lim="800000"/>
              </a:ln>
            </p:spPr>
            <p:txBody>
              <a:bodyPr wrap="square">
                <a:spAutoFit/>
              </a:bodyPr>
              <a:lstStyle/>
              <a:p>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如果对例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求一个最小费用流的问题：每小时运送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6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万加仑石油从 </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e>
                      <m:sub>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sub>
                    </m:sSub>
                  </m:oMath>
                </a14:m>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 </a:t>
                </a:r>
                <a14:m>
                  <m:oMath xmlns:m="http://schemas.openxmlformats.org/officeDocument/2006/math">
                    <m:sSub>
                      <m:sSubPr>
                        <m:ctrlPr>
                          <a:rPr lang="en-US" altLang="zh-CN" sz="2400" b="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𝑣</m:t>
                        </m:r>
                      </m:e>
                      <m:sub>
                        <m:r>
                          <a:rPr lang="en-US" altLang="zh-CN" sz="2400" i="1" dirty="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7</m:t>
                        </m:r>
                      </m:sub>
                    </m:sSub>
                  </m:oMath>
                </a14:m>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的最小费用是多少？我们可以从第四次迭代及图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11-32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即可得到运送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6</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万加仑最小费用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72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百元，其运送方式如图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11-36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所示。</a:t>
                </a:r>
                <a:endPar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bwMode="auto">
              <a:xfrm>
                <a:off x="1992314" y="1309688"/>
                <a:ext cx="8280150" cy="1568450"/>
              </a:xfrm>
              <a:prstGeom prst="rect">
                <a:avLst/>
              </a:prstGeom>
              <a:blipFill rotWithShape="1">
                <a:blip r:embed="rId1"/>
                <a:stretch>
                  <a:fillRect l="-4" t="-20" r="1" b="20"/>
                </a:stretch>
              </a:blipFill>
              <a:ln w="9525">
                <a:noFill/>
                <a:miter lim="800000"/>
              </a:ln>
            </p:spPr>
            <p:txBody>
              <a:bodyPr/>
              <a:lstStyle/>
              <a:p>
                <a:r>
                  <a:rPr lang="zh-CN" altLang="en-US">
                    <a:noFill/>
                  </a:rPr>
                  <a:t> </a:t>
                </a:r>
              </a:p>
            </p:txBody>
          </p:sp>
        </mc:Fallback>
      </mc:AlternateContent>
      <p:pic>
        <p:nvPicPr>
          <p:cNvPr id="31747" name="Picture 3"/>
          <p:cNvPicPr>
            <a:picLocks noChangeAspect="1" noChangeArrowheads="1"/>
          </p:cNvPicPr>
          <p:nvPr/>
        </p:nvPicPr>
        <p:blipFill>
          <a:blip r:embed="rId2"/>
          <a:srcRect/>
          <a:stretch>
            <a:fillRect/>
          </a:stretch>
        </p:blipFill>
        <p:spPr bwMode="auto">
          <a:xfrm>
            <a:off x="2423592" y="3178174"/>
            <a:ext cx="6715125" cy="3214688"/>
          </a:xfrm>
          <a:prstGeom prst="rect">
            <a:avLst/>
          </a:prstGeom>
          <a:noFill/>
          <a:ln w="9525">
            <a:noFill/>
            <a:miter lim="800000"/>
            <a:headEnd/>
            <a:tailEnd/>
          </a:ln>
        </p:spPr>
      </p:pic>
      <p:sp>
        <p:nvSpPr>
          <p:cNvPr id="2" name="Title 1"/>
          <p:cNvSpPr>
            <a:spLocks noGrp="1"/>
          </p:cNvSpPr>
          <p:nvPr/>
        </p:nvSpPr>
        <p:spPr>
          <a:xfrm>
            <a:off x="838200" y="1670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最小费用最大流</a:t>
            </a:r>
            <a:r>
              <a:rPr lang="zh-CN" altLang="en-US" dirty="0"/>
              <a:t> </a:t>
            </a:r>
            <a:r>
              <a:rPr lang="en-US" altLang="zh-CN" dirty="0"/>
              <a:t>–</a:t>
            </a:r>
            <a:r>
              <a:rPr lang="zh-CN" altLang="en-US" dirty="0"/>
              <a:t> 网络图解法</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1747"/>
                                        </p:tgtEl>
                                        <p:attrNameLst>
                                          <p:attrName>style.visibility</p:attrName>
                                        </p:attrNameLst>
                                      </p:cBhvr>
                                      <p:to>
                                        <p:strVal val="visible"/>
                                      </p:to>
                                    </p:set>
                                    <p:anim calcmode="lin" valueType="num">
                                      <p:cBhvr additive="base">
                                        <p:cTn id="11" dur="500" fill="hold"/>
                                        <p:tgtEl>
                                          <p:spTgt spid="31747"/>
                                        </p:tgtEl>
                                        <p:attrNameLst>
                                          <p:attrName>ppt_x</p:attrName>
                                        </p:attrNameLst>
                                      </p:cBhvr>
                                      <p:tavLst>
                                        <p:tav tm="0">
                                          <p:val>
                                            <p:strVal val="1+#ppt_w/2"/>
                                          </p:val>
                                        </p:tav>
                                        <p:tav tm="100000">
                                          <p:val>
                                            <p:strVal val="#ppt_x"/>
                                          </p:val>
                                        </p:tav>
                                      </p:tavLst>
                                    </p:anim>
                                    <p:anim calcmode="lin" valueType="num">
                                      <p:cBhvr additive="base">
                                        <p:cTn id="12" dur="500" fill="hold"/>
                                        <p:tgtEl>
                                          <p:spTgt spid="317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31" name="矩形 15"/>
          <p:cNvSpPr>
            <a:spLocks noChangeArrowheads="1"/>
          </p:cNvSpPr>
          <p:nvPr/>
        </p:nvSpPr>
        <p:spPr bwMode="auto">
          <a:xfrm>
            <a:off x="5335588" y="3005138"/>
            <a:ext cx="294640" cy="337185"/>
          </a:xfrm>
          <a:prstGeom prst="rect">
            <a:avLst/>
          </a:prstGeom>
          <a:noFill/>
          <a:ln w="9525">
            <a:noFill/>
            <a:miter lim="800000"/>
          </a:ln>
        </p:spPr>
        <p:txBody>
          <a:bodyPr wrap="none">
            <a:spAutoFit/>
          </a:bodyPr>
          <a:lstStyle/>
          <a:p>
            <a:r>
              <a:rPr lang="zh-CN" altLang="en-US" sz="1600">
                <a:solidFill>
                  <a:srgbClr val="000000"/>
                </a:solidFill>
                <a:ea typeface="楷体" panose="02010609060101010101" pitchFamily="49" charset="-122"/>
              </a:rPr>
              <a:t>  </a:t>
            </a:r>
            <a:endParaRPr lang="en-US" altLang="zh-CN" sz="1600">
              <a:solidFill>
                <a:srgbClr val="000000"/>
              </a:solidFill>
              <a:ea typeface="楷体" panose="02010609060101010101" pitchFamily="49" charset="-122"/>
            </a:endParaRPr>
          </a:p>
        </p:txBody>
      </p:sp>
      <p:sp>
        <p:nvSpPr>
          <p:cNvPr id="17" name="矩形 16"/>
          <p:cNvSpPr>
            <a:spLocks noChangeArrowheads="1"/>
          </p:cNvSpPr>
          <p:nvPr/>
        </p:nvSpPr>
        <p:spPr bwMode="auto">
          <a:xfrm>
            <a:off x="1847528" y="1428750"/>
            <a:ext cx="8496944" cy="1198880"/>
          </a:xfrm>
          <a:prstGeom prst="rect">
            <a:avLst/>
          </a:prstGeom>
          <a:noFill/>
          <a:ln w="9525">
            <a:noFill/>
            <a:miter lim="800000"/>
          </a:ln>
        </p:spPr>
        <p:txBody>
          <a:bodyPr wrap="square">
            <a:spAutoFit/>
          </a:bodyPr>
          <a:lstStyle/>
          <a:p>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如果每小时运送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7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万加仑，我们可以在图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11-36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的基础上，</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再按</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第五次迭代所选的最短路运送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万加仑即得最小费用：</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72+1 × 17 = 89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百元，其运送方式如图 </a:t>
            </a:r>
            <a:r>
              <a:rPr lang="en-US" altLang="zh-CN"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11-37 </a:t>
            </a:r>
            <a:r>
              <a:rPr lang="zh-CN" altLang="en-US" sz="24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所示。</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32770" name="Picture 2"/>
          <p:cNvPicPr>
            <a:picLocks noChangeAspect="1" noChangeArrowheads="1"/>
          </p:cNvPicPr>
          <p:nvPr/>
        </p:nvPicPr>
        <p:blipFill>
          <a:blip r:embed="rId1"/>
          <a:srcRect/>
          <a:stretch>
            <a:fillRect/>
          </a:stretch>
        </p:blipFill>
        <p:spPr bwMode="auto">
          <a:xfrm>
            <a:off x="2783632" y="2994735"/>
            <a:ext cx="6357937" cy="3000375"/>
          </a:xfrm>
          <a:prstGeom prst="rect">
            <a:avLst/>
          </a:prstGeom>
          <a:noFill/>
          <a:ln w="9525">
            <a:noFill/>
            <a:miter lim="800000"/>
            <a:headEnd/>
            <a:tailEnd/>
          </a:ln>
        </p:spPr>
      </p:pic>
      <p:sp>
        <p:nvSpPr>
          <p:cNvPr id="2" name="Title 1"/>
          <p:cNvSpPr>
            <a:spLocks noGrp="1"/>
          </p:cNvSpPr>
          <p:nvPr/>
        </p:nvSpPr>
        <p:spPr>
          <a:xfrm>
            <a:off x="838200" y="16700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a:lstStyle>
          <a:p>
            <a:r>
              <a:rPr lang="en-US" dirty="0" err="1"/>
              <a:t>最小费用最大流</a:t>
            </a:r>
            <a:r>
              <a:rPr lang="zh-CN" altLang="en-US" dirty="0"/>
              <a:t> </a:t>
            </a:r>
            <a:r>
              <a:rPr lang="en-US" altLang="zh-CN" dirty="0"/>
              <a:t>–</a:t>
            </a:r>
            <a:r>
              <a:rPr lang="zh-CN" altLang="en-US" dirty="0"/>
              <a:t> 网络图解法</a:t>
            </a: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2770"/>
                                        </p:tgtEl>
                                        <p:attrNameLst>
                                          <p:attrName>style.visibility</p:attrName>
                                        </p:attrNameLst>
                                      </p:cBhvr>
                                      <p:to>
                                        <p:strVal val="visible"/>
                                      </p:to>
                                    </p:set>
                                    <p:anim calcmode="lin" valueType="num">
                                      <p:cBhvr additive="base">
                                        <p:cTn id="7" dur="500" fill="hold"/>
                                        <p:tgtEl>
                                          <p:spTgt spid="32770"/>
                                        </p:tgtEl>
                                        <p:attrNameLst>
                                          <p:attrName>ppt_x</p:attrName>
                                        </p:attrNameLst>
                                      </p:cBhvr>
                                      <p:tavLst>
                                        <p:tav tm="0">
                                          <p:val>
                                            <p:strVal val="1+#ppt_w/2"/>
                                          </p:val>
                                        </p:tav>
                                        <p:tav tm="100000">
                                          <p:val>
                                            <p:strVal val="#ppt_x"/>
                                          </p:val>
                                        </p:tav>
                                      </p:tavLst>
                                    </p:anim>
                                    <p:anim calcmode="lin" valueType="num">
                                      <p:cBhvr additive="base">
                                        <p:cTn id="8" dur="500" fill="hold"/>
                                        <p:tgtEl>
                                          <p:spTgt spid="32770"/>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本章总结</a:t>
            </a:r>
            <a:endParaRPr lang="en-US" dirty="0"/>
          </a:p>
        </p:txBody>
      </p:sp>
      <p:sp>
        <p:nvSpPr>
          <p:cNvPr id="3" name="Content Placeholder 2"/>
          <p:cNvSpPr>
            <a:spLocks noGrp="1"/>
          </p:cNvSpPr>
          <p:nvPr>
            <p:ph idx="1"/>
          </p:nvPr>
        </p:nvSpPr>
        <p:spPr/>
        <p:txBody>
          <a:bodyPr>
            <a:normAutofit fontScale="77500" lnSpcReduction="20000"/>
          </a:bodyPr>
          <a:lstStyle/>
          <a:p>
            <a:r>
              <a:rPr lang="zh-CN" altLang="en-US" dirty="0"/>
              <a:t>图与网络的基本概念</a:t>
            </a:r>
            <a:endParaRPr lang="en-US" altLang="zh-CN" dirty="0"/>
          </a:p>
          <a:p>
            <a:pPr lvl="1"/>
            <a:r>
              <a:rPr lang="zh-CN" altLang="en-US" dirty="0"/>
              <a:t>点，弧，边，链，路等概念</a:t>
            </a:r>
            <a:endParaRPr lang="en-US" altLang="zh-CN" dirty="0"/>
          </a:p>
          <a:p>
            <a:pPr lvl="1"/>
            <a:r>
              <a:rPr lang="zh-CN" altLang="en-US" dirty="0"/>
              <a:t>有向图和无向图的定义</a:t>
            </a:r>
            <a:endParaRPr lang="en-US" altLang="zh-CN" dirty="0"/>
          </a:p>
          <a:p>
            <a:pPr lvl="1"/>
            <a:r>
              <a:rPr lang="zh-CN" altLang="en-US" dirty="0"/>
              <a:t>圈和回路</a:t>
            </a:r>
            <a:endParaRPr lang="en-US" altLang="zh-CN" dirty="0"/>
          </a:p>
          <a:p>
            <a:pPr lvl="1"/>
            <a:r>
              <a:rPr lang="zh-CN" altLang="en-US" dirty="0"/>
              <a:t>什么是连通图</a:t>
            </a:r>
            <a:endParaRPr lang="en-US" altLang="zh-CN" dirty="0"/>
          </a:p>
          <a:p>
            <a:r>
              <a:rPr lang="zh-CN" altLang="en-US" dirty="0"/>
              <a:t>最小生成树问题</a:t>
            </a:r>
            <a:endParaRPr lang="en-US" altLang="zh-CN" dirty="0"/>
          </a:p>
          <a:p>
            <a:pPr lvl="1"/>
            <a:r>
              <a:rPr lang="zh-CN" altLang="en-US" dirty="0"/>
              <a:t>最小生成树定义</a:t>
            </a:r>
            <a:endParaRPr lang="en-US" altLang="zh-CN" dirty="0"/>
          </a:p>
          <a:p>
            <a:pPr lvl="1"/>
            <a:r>
              <a:rPr lang="zh-CN" altLang="en-US" dirty="0"/>
              <a:t>如何使用破圈法求解最小生成树问题</a:t>
            </a:r>
            <a:endParaRPr lang="en-US" altLang="zh-CN" dirty="0"/>
          </a:p>
          <a:p>
            <a:pPr lvl="1"/>
            <a:r>
              <a:rPr lang="zh-CN" altLang="en-US" dirty="0"/>
              <a:t>最小生成树的应用</a:t>
            </a:r>
            <a:endParaRPr lang="en-US" altLang="zh-CN" dirty="0"/>
          </a:p>
          <a:p>
            <a:r>
              <a:rPr lang="zh-CN" altLang="en-US" dirty="0"/>
              <a:t>最短路径问题</a:t>
            </a:r>
            <a:endParaRPr lang="en-US" altLang="zh-CN" dirty="0"/>
          </a:p>
          <a:p>
            <a:pPr lvl="1"/>
            <a:r>
              <a:rPr lang="zh-CN" altLang="en-US" dirty="0"/>
              <a:t>如何用迪克斯拉算法求解最短路径问题</a:t>
            </a:r>
            <a:endParaRPr lang="en-US" altLang="zh-CN" dirty="0"/>
          </a:p>
          <a:p>
            <a:pPr lvl="1"/>
            <a:r>
              <a:rPr lang="zh-CN" altLang="en-US" dirty="0"/>
              <a:t>如何利用最短路径解决最小设备费用问题</a:t>
            </a:r>
            <a:endParaRPr lang="en-US" altLang="zh-CN" dirty="0"/>
          </a:p>
          <a:p>
            <a:r>
              <a:rPr lang="zh-CN" altLang="en-US" dirty="0"/>
              <a:t>最大流问题</a:t>
            </a:r>
            <a:endParaRPr lang="en-US" altLang="zh-CN" dirty="0"/>
          </a:p>
          <a:p>
            <a:pPr lvl="1"/>
            <a:r>
              <a:rPr lang="zh-CN" altLang="en-US" dirty="0"/>
              <a:t>如何计算网络中的最大流</a:t>
            </a:r>
            <a:endParaRPr lang="en-US" altLang="zh-CN" dirty="0"/>
          </a:p>
          <a:p>
            <a:pPr lvl="1"/>
            <a:r>
              <a:rPr lang="zh-CN" altLang="en-US" dirty="0"/>
              <a:t>如何在给定最大流的前提下，找出运输网络中的最小费用路径</a:t>
            </a:r>
            <a:endParaRPr lang="zh-CN" altLang="en-US" dirty="0"/>
          </a:p>
          <a:p>
            <a:endParaRPr lang="en-US" dirty="0"/>
          </a:p>
        </p:txBody>
      </p:sp>
    </p:spTree>
  </p:cSld>
  <p:clrMapOvr>
    <a:masterClrMapping/>
  </p:clrMapOvr>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FillBlank"/>
  <p:tag name="PROBLEMBLANKKEYWORD" val="填空"/>
  <p:tag name="PROBLEMSCORE" val="1.0"/>
  <p:tag name="PROBLEMBLANK" val="[{&quot;num&quot;:1,&quot;caseSensitive&quot;:false,&quot;fuzzyMatch&quot;:false,&quot;Score&quot;:1.0,&quot;answers&quot;:[&quot;20&quot;]}]"/>
</p:tagLst>
</file>

<file path=ppt/tags/tag3.xml><?xml version="1.0" encoding="utf-8"?>
<p:tagLst xmlns:p="http://schemas.openxmlformats.org/presentationml/2006/main">
  <p:tag name="RAINPROBLEM" val="ProblemBody"/>
</p:tagLst>
</file>

<file path=ppt/tags/tag4.xml><?xml version="1.0" encoding="utf-8"?>
<p:tagLst xmlns:p="http://schemas.openxmlformats.org/presentationml/2006/main">
  <p:tag name="TABLE_ENDDRAG_ORIGIN_RECT" val="731*271"/>
  <p:tag name="TABLE_ENDDRAG_RECT" val="89*161*731*271"/>
</p:tagLst>
</file>

<file path=ppt/tags/tag5.xml><?xml version="1.0" encoding="utf-8"?>
<p:tagLst xmlns:p="http://schemas.openxmlformats.org/presentationml/2006/main">
  <p:tag name="RAINPROBLEM" val="FillBlank"/>
  <p:tag name="PROBLEMBLANKKEYWORD" val="填空"/>
  <p:tag name="PROBLEMSCORE" val="1.0"/>
  <p:tag name="PROBLEMBLANK" val="[{&quot;num&quot;:1,&quot;caseSensitive&quot;:false,&quot;fuzzyMatch&quot;:false,&quot;Score&quot;:1.0,&quot;answers&quot;:[&quot;20&quot;]}]"/>
</p:tagLst>
</file>

<file path=ppt/tags/tag6.xml><?xml version="1.0" encoding="utf-8"?>
<p:tagLst xmlns:p="http://schemas.openxmlformats.org/presentationml/2006/main">
  <p:tag name="KSO_WM_DIAGRAM_VIRTUALLY_FRAME" val="{&quot;height&quot;:256.12976377952754,&quot;left&quot;:28.84464566929134,&quot;top&quot;:214.3625196850394,&quot;width&quot;:613.3429921259842}"/>
</p:tagLst>
</file>

<file path=ppt/tags/tag7.xml><?xml version="1.0" encoding="utf-8"?>
<p:tagLst xmlns:p="http://schemas.openxmlformats.org/presentationml/2006/main">
  <p:tag name="KSO_WM_DIAGRAM_VIRTUALLY_FRAME" val="{&quot;height&quot;:256.12976377952754,&quot;left&quot;:28.84464566929134,&quot;top&quot;:214.3625196850394,&quot;width&quot;:613.3429921259842}"/>
</p:tagLst>
</file>

<file path=ppt/theme/theme1.xml><?xml version="1.0" encoding="utf-8"?>
<a:theme xmlns:a="http://schemas.openxmlformats.org/drawingml/2006/main" name="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13665</Words>
  <Application>WPS 演示</Application>
  <PresentationFormat>宽屏</PresentationFormat>
  <Paragraphs>1501</Paragraphs>
  <Slides>69</Slides>
  <Notes>0</Notes>
  <HiddenSlides>0</HiddenSlides>
  <MMClips>0</MMClips>
  <ScaleCrop>false</ScaleCrop>
  <HeadingPairs>
    <vt:vector size="6" baseType="variant">
      <vt:variant>
        <vt:lpstr>已用的字体</vt:lpstr>
      </vt:variant>
      <vt:variant>
        <vt:i4>18</vt:i4>
      </vt:variant>
      <vt:variant>
        <vt:lpstr>主题</vt:lpstr>
      </vt:variant>
      <vt:variant>
        <vt:i4>4</vt:i4>
      </vt:variant>
      <vt:variant>
        <vt:lpstr>幻灯片标题</vt:lpstr>
      </vt:variant>
      <vt:variant>
        <vt:i4>69</vt:i4>
      </vt:variant>
    </vt:vector>
  </HeadingPairs>
  <TitlesOfParts>
    <vt:vector size="91" baseType="lpstr">
      <vt:lpstr>Arial</vt:lpstr>
      <vt:lpstr>宋体</vt:lpstr>
      <vt:lpstr>Wingdings</vt:lpstr>
      <vt:lpstr>微软雅黑</vt:lpstr>
      <vt:lpstr>DIN Light</vt:lpstr>
      <vt:lpstr>微软雅黑 Light</vt:lpstr>
      <vt:lpstr>楷体</vt:lpstr>
      <vt:lpstr>等线</vt:lpstr>
      <vt:lpstr>Segoe UI Light</vt:lpstr>
      <vt:lpstr>Times New Roman</vt:lpstr>
      <vt:lpstr>隶书</vt:lpstr>
      <vt:lpstr>Calibri</vt:lpstr>
      <vt:lpstr>Cambria Math</vt:lpstr>
      <vt:lpstr>Courant</vt:lpstr>
      <vt:lpstr>Arial Unicode MS</vt:lpstr>
      <vt:lpstr>黑体</vt:lpstr>
      <vt:lpstr>Kaiti TC</vt:lpstr>
      <vt:lpstr>Microsoft JhengHei UI</vt:lpstr>
      <vt:lpstr>主题1</vt:lpstr>
      <vt:lpstr>自定义设计方案</vt:lpstr>
      <vt:lpstr>1_Office 主题​​</vt:lpstr>
      <vt:lpstr>1_主题1</vt:lpstr>
      <vt:lpstr>PowerPoint 演示文稿</vt:lpstr>
      <vt:lpstr>本章内容</vt:lpstr>
      <vt:lpstr>图与网络的基本概念</vt:lpstr>
      <vt:lpstr>七桥问题</vt:lpstr>
      <vt:lpstr>PowerPoint 演示文稿</vt:lpstr>
      <vt:lpstr>PowerPoint 演示文稿</vt:lpstr>
      <vt:lpstr>PowerPoint 演示文稿</vt:lpstr>
      <vt:lpstr>图与网络的基本概念</vt:lpstr>
      <vt:lpstr>图与网络的基本概念</vt:lpstr>
      <vt:lpstr>图与网络的基本概念</vt:lpstr>
      <vt:lpstr>图与网络的基本概念</vt:lpstr>
      <vt:lpstr>PowerPoint 演示文稿</vt:lpstr>
      <vt:lpstr>最小生成树问题</vt:lpstr>
      <vt:lpstr>最小生成树问题</vt:lpstr>
      <vt:lpstr>生成树的破圈法和避圈法</vt:lpstr>
      <vt:lpstr>最小生成树问题</vt:lpstr>
      <vt:lpstr>最小生成树问题</vt:lpstr>
      <vt:lpstr>最小生成树问题</vt:lpstr>
      <vt:lpstr>PowerPoint 演示文稿</vt:lpstr>
      <vt:lpstr>PowerPoint 演示文稿</vt:lpstr>
      <vt:lpstr>PowerPoint 演示文稿</vt:lpstr>
      <vt:lpstr>PowerPoint 演示文稿</vt:lpstr>
      <vt:lpstr>最短路径问题</vt:lpstr>
      <vt:lpstr>求解最短路径的算法</vt:lpstr>
      <vt:lpstr>最短路径问题</vt:lpstr>
      <vt:lpstr>最短路径问题</vt:lpstr>
      <vt:lpstr>最短路径问题</vt:lpstr>
      <vt:lpstr>PowerPoint 演示文稿</vt:lpstr>
      <vt:lpstr>PowerPoint 演示文稿</vt:lpstr>
      <vt:lpstr>最短路径问题 – 计算无向图中的最短路径</vt:lpstr>
      <vt:lpstr>PowerPoint 演示文稿</vt:lpstr>
      <vt:lpstr>PowerPoint 演示文稿</vt:lpstr>
      <vt:lpstr>PowerPoint 演示文稿</vt:lpstr>
      <vt:lpstr>PowerPoint 演示文稿</vt:lpstr>
      <vt:lpstr>最短路径问题应用</vt:lpstr>
      <vt:lpstr>PowerPoint 演示文稿</vt:lpstr>
      <vt:lpstr>PowerPoint 演示文稿</vt:lpstr>
      <vt:lpstr>PowerPoint 演示文稿</vt:lpstr>
      <vt:lpstr>PowerPoint 演示文稿</vt:lpstr>
      <vt:lpstr>最短路径问题应用</vt:lpstr>
      <vt:lpstr>最大流问题</vt:lpstr>
      <vt:lpstr>最大流问题 – 最大流的数学模型</vt:lpstr>
      <vt:lpstr>最大流问题 –线性规划模型</vt:lpstr>
      <vt:lpstr>PowerPoint 演示文稿</vt:lpstr>
      <vt:lpstr>PowerPoint 演示文稿</vt:lpstr>
      <vt:lpstr>最大流问题 – 容量标号改进</vt:lpstr>
      <vt:lpstr>最大流问题 –网络图论解法的基本算法 </vt:lpstr>
      <vt:lpstr>最大流问题 – 经过流量标号改进的例6 </vt:lpstr>
      <vt:lpstr>PowerPoint 演示文稿</vt:lpstr>
      <vt:lpstr>PowerPoint 演示文稿</vt:lpstr>
      <vt:lpstr>PowerPoint 演示文稿</vt:lpstr>
      <vt:lpstr>PowerPoint 演示文稿</vt:lpstr>
      <vt:lpstr>PowerPoint 演示文稿</vt:lpstr>
      <vt:lpstr>PowerPoint 演示文稿</vt:lpstr>
      <vt:lpstr>最小费用最大流问题</vt:lpstr>
      <vt:lpstr>最小费用最大流 - 线性规划模型</vt:lpstr>
      <vt:lpstr>PowerPoint 演示文稿</vt:lpstr>
      <vt:lpstr>最小费用最大流 –经过标号改进的例7</vt:lpstr>
      <vt:lpstr>最小费用最大流 – 网络图解法的基本算法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Siyu Bian</dc:creator>
  <cp:lastModifiedBy>Lee</cp:lastModifiedBy>
  <cp:revision>91</cp:revision>
  <dcterms:created xsi:type="dcterms:W3CDTF">2023-06-01T01:49:00Z</dcterms:created>
  <dcterms:modified xsi:type="dcterms:W3CDTF">2025-06-19T09:33:13Z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B04B0D86F136427DA846F16C3681D54A_12</vt:lpwstr>
  </property>
  <property fmtid="{D5CDD505-2E9C-101B-9397-08002B2CF9AE}" pid="3" name="KSOProductBuildVer">
    <vt:lpwstr>2052-12.1.0.19302</vt:lpwstr>
  </property>
</Properties>
</file>