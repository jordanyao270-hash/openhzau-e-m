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75" r:id="rId4"/>
    <p:sldMasterId id="2147483687" r:id="rId5"/>
  </p:sldMasterIdLst>
  <p:notesMasterIdLst>
    <p:notesMasterId r:id="rId9"/>
  </p:notesMasterIdLst>
  <p:sldIdLst>
    <p:sldId id="258" r:id="rId6"/>
    <p:sldId id="257" r:id="rId7"/>
    <p:sldId id="424" r:id="rId8"/>
    <p:sldId id="425" r:id="rId10"/>
    <p:sldId id="433" r:id="rId11"/>
    <p:sldId id="434" r:id="rId12"/>
    <p:sldId id="435" r:id="rId13"/>
    <p:sldId id="436" r:id="rId14"/>
    <p:sldId id="325" r:id="rId15"/>
    <p:sldId id="326" r:id="rId16"/>
    <p:sldId id="327" r:id="rId17"/>
    <p:sldId id="328" r:id="rId18"/>
    <p:sldId id="329" r:id="rId19"/>
    <p:sldId id="330" r:id="rId20"/>
    <p:sldId id="331" r:id="rId21"/>
    <p:sldId id="332" r:id="rId22"/>
    <p:sldId id="333" r:id="rId23"/>
    <p:sldId id="334" r:id="rId24"/>
    <p:sldId id="335" r:id="rId25"/>
    <p:sldId id="439" r:id="rId26"/>
    <p:sldId id="440" r:id="rId27"/>
    <p:sldId id="336" r:id="rId28"/>
    <p:sldId id="438" r:id="rId29"/>
    <p:sldId id="437" r:id="rId30"/>
    <p:sldId id="441" r:id="rId31"/>
    <p:sldId id="337" r:id="rId32"/>
    <p:sldId id="338" r:id="rId33"/>
    <p:sldId id="339" r:id="rId34"/>
    <p:sldId id="340" r:id="rId35"/>
    <p:sldId id="341" r:id="rId36"/>
    <p:sldId id="342" r:id="rId37"/>
    <p:sldId id="343" r:id="rId38"/>
    <p:sldId id="344" r:id="rId39"/>
    <p:sldId id="345" r:id="rId40"/>
    <p:sldId id="371" r:id="rId41"/>
    <p:sldId id="346" r:id="rId42"/>
    <p:sldId id="347" r:id="rId43"/>
    <p:sldId id="348" r:id="rId44"/>
    <p:sldId id="349" r:id="rId45"/>
    <p:sldId id="350" r:id="rId46"/>
    <p:sldId id="351" r:id="rId47"/>
    <p:sldId id="352" r:id="rId48"/>
    <p:sldId id="353" r:id="rId49"/>
    <p:sldId id="354" r:id="rId50"/>
    <p:sldId id="355" r:id="rId51"/>
    <p:sldId id="356" r:id="rId52"/>
    <p:sldId id="357" r:id="rId53"/>
    <p:sldId id="358" r:id="rId54"/>
    <p:sldId id="359" r:id="rId55"/>
    <p:sldId id="360" r:id="rId56"/>
    <p:sldId id="361" r:id="rId57"/>
    <p:sldId id="362" r:id="rId58"/>
    <p:sldId id="363" r:id="rId59"/>
    <p:sldId id="364" r:id="rId60"/>
    <p:sldId id="365" r:id="rId61"/>
    <p:sldId id="366" r:id="rId62"/>
    <p:sldId id="367" r:id="rId63"/>
    <p:sldId id="368" r:id="rId64"/>
    <p:sldId id="369" r:id="rId65"/>
    <p:sldId id="370" r:id="rId66"/>
    <p:sldId id="372"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 id="385" r:id="rId80"/>
    <p:sldId id="386" r:id="rId81"/>
    <p:sldId id="387" r:id="rId82"/>
    <p:sldId id="388" r:id="rId83"/>
    <p:sldId id="389" r:id="rId84"/>
    <p:sldId id="390" r:id="rId85"/>
    <p:sldId id="391" r:id="rId86"/>
    <p:sldId id="392" r:id="rId87"/>
    <p:sldId id="393" r:id="rId88"/>
    <p:sldId id="531" r:id="rId89"/>
    <p:sldId id="394" r:id="rId90"/>
    <p:sldId id="395" r:id="rId91"/>
    <p:sldId id="396" r:id="rId92"/>
    <p:sldId id="443" r:id="rId93"/>
    <p:sldId id="444" r:id="rId94"/>
    <p:sldId id="445" r:id="rId95"/>
    <p:sldId id="446" r:id="rId96"/>
    <p:sldId id="447" r:id="rId97"/>
    <p:sldId id="448" r:id="rId98"/>
    <p:sldId id="449" r:id="rId99"/>
    <p:sldId id="450" r:id="rId100"/>
    <p:sldId id="451" r:id="rId101"/>
    <p:sldId id="452" r:id="rId102"/>
    <p:sldId id="453" r:id="rId103"/>
    <p:sldId id="454" r:id="rId104"/>
    <p:sldId id="455" r:id="rId105"/>
    <p:sldId id="456" r:id="rId106"/>
    <p:sldId id="457" r:id="rId107"/>
    <p:sldId id="458" r:id="rId108"/>
    <p:sldId id="289" r:id="rId10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14" autoAdjust="0"/>
    <p:restoredTop sz="94660"/>
  </p:normalViewPr>
  <p:slideViewPr>
    <p:cSldViewPr snapToGrid="0">
      <p:cViewPr>
        <p:scale>
          <a:sx n="155" d="100"/>
          <a:sy n="155" d="100"/>
        </p:scale>
        <p:origin x="1400"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notesMaster" Target="notesMasters/notesMaster1.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3.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2" Type="http://schemas.openxmlformats.org/officeDocument/2006/relationships/tableStyles" Target="tableStyles.xml"/><Relationship Id="rId111" Type="http://schemas.openxmlformats.org/officeDocument/2006/relationships/viewProps" Target="viewProps.xml"/><Relationship Id="rId110" Type="http://schemas.openxmlformats.org/officeDocument/2006/relationships/presProps" Target="presProps.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6.w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16.vml.rels><?xml version="1.0" encoding="UTF-8" standalone="yes"?>
<Relationships xmlns="http://schemas.openxmlformats.org/package/2006/relationships"><Relationship Id="rId7" Type="http://schemas.openxmlformats.org/officeDocument/2006/relationships/image" Target="../media/image110.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117.wmf"/><Relationship Id="rId4" Type="http://schemas.openxmlformats.org/officeDocument/2006/relationships/image" Target="../media/image116.wmf"/><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s>
</file>

<file path=ppt/drawings/_rels/vmlDrawing19.vml.rels><?xml version="1.0" encoding="UTF-8" standalone="yes"?>
<Relationships xmlns="http://schemas.openxmlformats.org/package/2006/relationships"><Relationship Id="rId6" Type="http://schemas.openxmlformats.org/officeDocument/2006/relationships/image" Target="../media/image122.wmf"/><Relationship Id="rId5" Type="http://schemas.openxmlformats.org/officeDocument/2006/relationships/image" Target="../media/image121.wmf"/><Relationship Id="rId4" Type="http://schemas.openxmlformats.org/officeDocument/2006/relationships/image" Target="../media/image120.wmf"/><Relationship Id="rId3" Type="http://schemas.openxmlformats.org/officeDocument/2006/relationships/image" Target="../media/image100.wmf"/><Relationship Id="rId2" Type="http://schemas.openxmlformats.org/officeDocument/2006/relationships/image" Target="../media/image119.wmf"/><Relationship Id="rId1" Type="http://schemas.openxmlformats.org/officeDocument/2006/relationships/image" Target="../media/image118.w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128.wmf"/><Relationship Id="rId5" Type="http://schemas.openxmlformats.org/officeDocument/2006/relationships/image" Target="../media/image127.wmf"/><Relationship Id="rId4" Type="http://schemas.openxmlformats.org/officeDocument/2006/relationships/image" Target="../media/image126.wmf"/><Relationship Id="rId3" Type="http://schemas.openxmlformats.org/officeDocument/2006/relationships/image" Target="../media/image125.wmf"/><Relationship Id="rId2" Type="http://schemas.openxmlformats.org/officeDocument/2006/relationships/image" Target="../media/image124.wmf"/><Relationship Id="rId1" Type="http://schemas.openxmlformats.org/officeDocument/2006/relationships/image" Target="../media/image123.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41.wmf"/><Relationship Id="rId8" Type="http://schemas.openxmlformats.org/officeDocument/2006/relationships/image" Target="../media/image140.wmf"/><Relationship Id="rId7" Type="http://schemas.openxmlformats.org/officeDocument/2006/relationships/image" Target="../media/image139.wmf"/><Relationship Id="rId6" Type="http://schemas.openxmlformats.org/officeDocument/2006/relationships/image" Target="../media/image138.wmf"/><Relationship Id="rId5" Type="http://schemas.openxmlformats.org/officeDocument/2006/relationships/image" Target="../media/image137.wmf"/><Relationship Id="rId4" Type="http://schemas.openxmlformats.org/officeDocument/2006/relationships/image" Target="../media/image136.wmf"/><Relationship Id="rId3" Type="http://schemas.openxmlformats.org/officeDocument/2006/relationships/image" Target="../media/image135.wmf"/><Relationship Id="rId2" Type="http://schemas.openxmlformats.org/officeDocument/2006/relationships/image" Target="../media/image134.wmf"/><Relationship Id="rId10" Type="http://schemas.openxmlformats.org/officeDocument/2006/relationships/image" Target="../media/image142.wmf"/><Relationship Id="rId1" Type="http://schemas.openxmlformats.org/officeDocument/2006/relationships/image" Target="../media/image133.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146.wmf"/><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157.wmf"/><Relationship Id="rId6" Type="http://schemas.openxmlformats.org/officeDocument/2006/relationships/image" Target="../media/image156.wmf"/><Relationship Id="rId5" Type="http://schemas.openxmlformats.org/officeDocument/2006/relationships/image" Target="../media/image155.wmf"/><Relationship Id="rId4" Type="http://schemas.openxmlformats.org/officeDocument/2006/relationships/image" Target="../media/image154.wmf"/><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166.wmf"/><Relationship Id="rId8" Type="http://schemas.openxmlformats.org/officeDocument/2006/relationships/image" Target="../media/image165.wmf"/><Relationship Id="rId7" Type="http://schemas.openxmlformats.org/officeDocument/2006/relationships/image" Target="../media/image164.w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1" Type="http://schemas.openxmlformats.org/officeDocument/2006/relationships/image" Target="../media/image168.wmf"/><Relationship Id="rId10" Type="http://schemas.openxmlformats.org/officeDocument/2006/relationships/image" Target="../media/image167.wmf"/><Relationship Id="rId1" Type="http://schemas.openxmlformats.org/officeDocument/2006/relationships/image" Target="../media/image158.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172.wmf"/><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83.wmf"/><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188.wmf"/><Relationship Id="rId4" Type="http://schemas.openxmlformats.org/officeDocument/2006/relationships/image" Target="../media/image187.wmf"/><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4E29B3-EB3C-4416-9FE9-40144299545A}" type="slidenum">
              <a:rPr lang="zh-CN" altLang="en-US" smtClean="0">
                <a:latin typeface="Times New Roman" panose="02020603050405020304" pitchFamily="18" charset="0"/>
                <a:ea typeface="楷体" panose="02010609060101010101" pitchFamily="49" charset="-122"/>
              </a:rPr>
            </a:fld>
            <a:endParaRPr lang="zh-CN" altLang="en-US">
              <a:latin typeface="Times New Roman" panose="02020603050405020304" pitchFamily="18" charset="0"/>
              <a:ea typeface="楷体" panose="02010609060101010101"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4E29B3-EB3C-4416-9FE9-40144299545A}" type="slidenum">
              <a:rPr lang="zh-CN" altLang="en-US" smtClean="0">
                <a:latin typeface="Times New Roman" panose="02020603050405020304" pitchFamily="18" charset="0"/>
                <a:ea typeface="楷体" panose="02010609060101010101" pitchFamily="49" charset="-122"/>
              </a:rPr>
            </a:fld>
            <a:endParaRPr lang="zh-CN" altLang="en-US">
              <a:latin typeface="Times New Roman" panose="02020603050405020304" pitchFamily="18" charset="0"/>
              <a:ea typeface="楷体" panose="02010609060101010101"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59E6602-8BCC-46BC-ABCB-466D3C842A9B}"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 y="746125"/>
            <a:ext cx="6629400" cy="3730625"/>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59E6602-8BCC-46BC-ABCB-466D3C842A9B}"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lvl1pPr>
              <a:defRPr>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quarter" idx="1"/>
          </p:nvPr>
        </p:nvSpPr>
        <p:spPr>
          <a:xfrm>
            <a:off x="609600" y="1600200"/>
            <a:ext cx="53848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09600" y="3938588"/>
            <a:ext cx="53848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6197600" y="3938588"/>
            <a:ext cx="53848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19D35A26-1D68-4543-845F-81C59D9A32B3}" type="datetime1">
              <a:rPr lang="zh-CN" altLang="en-US" smtClean="0"/>
            </a:fld>
            <a:endParaRPr lang="en-US" altLang="zh-CN"/>
          </a:p>
        </p:txBody>
      </p:sp>
      <p:sp>
        <p:nvSpPr>
          <p:cNvPr id="8" name="页脚占位符 7"/>
          <p:cNvSpPr>
            <a:spLocks noGrp="1"/>
          </p:cNvSpPr>
          <p:nvPr>
            <p:ph type="ftr" sz="quarter" idx="11"/>
          </p:nvPr>
        </p:nvSpPr>
        <p:spPr>
          <a:xfrm>
            <a:off x="4165600" y="6245225"/>
            <a:ext cx="3860800" cy="476250"/>
          </a:xfrm>
        </p:spPr>
        <p:txBody>
          <a:bodyPr/>
          <a:lstStyle>
            <a:lvl1pPr>
              <a:defRPr>
                <a:latin typeface="楷体" panose="02010609060101010101" pitchFamily="49" charset="-122"/>
                <a:ea typeface="楷体" panose="02010609060101010101" pitchFamily="49" charset="-122"/>
              </a:defRPr>
            </a:lvl1pPr>
          </a:lstStyle>
          <a:p>
            <a:pPr>
              <a:defRPr/>
            </a:pPr>
            <a:endParaRPr lang="en-US" altLang="zh-CN"/>
          </a:p>
        </p:txBody>
      </p:sp>
      <p:sp>
        <p:nvSpPr>
          <p:cNvPr id="9" name="灯片编号占位符 8"/>
          <p:cNvSpPr>
            <a:spLocks noGrp="1"/>
          </p:cNvSpPr>
          <p:nvPr>
            <p:ph type="sldNum" sz="quarter" idx="12"/>
          </p:nvPr>
        </p:nvSpPr>
        <p:spPr>
          <a:xfrm>
            <a:off x="8737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9C84CEF3-FFE5-474F-A628-07957144E71A}" type="slidenum">
              <a:rPr lang="en-US" altLang="zh-CN"/>
            </a:fld>
            <a:endParaRPr lang="en-US" altLang="zh-CN" dirty="0"/>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5FE31B15-F3FB-4602-9AE5-8F906B60DDEF}" type="datetime1">
              <a:rPr lang="zh-CN" altLang="en-US" smtClean="0"/>
            </a:fld>
            <a:endParaRPr lang="en-US" altLang="zh-CN"/>
          </a:p>
        </p:txBody>
      </p:sp>
      <p:sp>
        <p:nvSpPr>
          <p:cNvPr id="6" name="页脚占位符 5"/>
          <p:cNvSpPr>
            <a:spLocks noGrp="1"/>
          </p:cNvSpPr>
          <p:nvPr>
            <p:ph type="ftr" sz="quarter" idx="11"/>
          </p:nvPr>
        </p:nvSpPr>
        <p:spPr>
          <a:xfrm>
            <a:off x="4165600" y="6245225"/>
            <a:ext cx="3860800" cy="476250"/>
          </a:xfrm>
        </p:spPr>
        <p:txBody>
          <a:bodyPr/>
          <a:lstStyle>
            <a:lvl1pPr>
              <a:defRPr>
                <a:latin typeface="楷体" panose="02010609060101010101" pitchFamily="49" charset="-122"/>
                <a:ea typeface="楷体" panose="02010609060101010101" pitchFamily="49" charset="-122"/>
              </a:defRPr>
            </a:lvl1pPr>
          </a:lstStyle>
          <a:p>
            <a:pPr>
              <a:defRPr/>
            </a:pPr>
            <a:endParaRPr lang="en-US" altLang="zh-CN"/>
          </a:p>
        </p:txBody>
      </p:sp>
      <p:sp>
        <p:nvSpPr>
          <p:cNvPr id="7" name="灯片编号占位符 6"/>
          <p:cNvSpPr>
            <a:spLocks noGrp="1"/>
          </p:cNvSpPr>
          <p:nvPr>
            <p:ph type="sldNum" sz="quarter" idx="12"/>
          </p:nvPr>
        </p:nvSpPr>
        <p:spPr>
          <a:xfrm>
            <a:off x="8737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E3D9166B-EE48-4D77-9692-3AA1F3A3163A}" type="slidenum">
              <a:rPr lang="en-US" altLang="zh-CN"/>
            </a:fld>
            <a:endParaRPr lang="en-US" altLang="zh-CN" dirty="0"/>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3938588"/>
            <a:ext cx="53848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a:xfrm>
            <a:off x="609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E7322237-7491-4DEF-8EF1-224C83E116A4}" type="datetime1">
              <a:rPr lang="zh-CN" altLang="en-US" smtClean="0"/>
            </a:fld>
            <a:endParaRPr lang="en-US" altLang="zh-CN"/>
          </a:p>
        </p:txBody>
      </p:sp>
      <p:sp>
        <p:nvSpPr>
          <p:cNvPr id="7" name="页脚占位符 6"/>
          <p:cNvSpPr>
            <a:spLocks noGrp="1"/>
          </p:cNvSpPr>
          <p:nvPr>
            <p:ph type="ftr" sz="quarter" idx="11"/>
          </p:nvPr>
        </p:nvSpPr>
        <p:spPr>
          <a:xfrm>
            <a:off x="4165600" y="6245225"/>
            <a:ext cx="3860800" cy="476250"/>
          </a:xfrm>
        </p:spPr>
        <p:txBody>
          <a:bodyPr/>
          <a:lstStyle>
            <a:lvl1pPr>
              <a:defRPr>
                <a:latin typeface="楷体" panose="02010609060101010101" pitchFamily="49" charset="-122"/>
                <a:ea typeface="楷体" panose="02010609060101010101" pitchFamily="49" charset="-122"/>
              </a:defRPr>
            </a:lvl1pPr>
          </a:lstStyle>
          <a:p>
            <a:pPr>
              <a:defRPr/>
            </a:pPr>
            <a:endParaRPr lang="en-US" altLang="zh-CN"/>
          </a:p>
        </p:txBody>
      </p:sp>
      <p:sp>
        <p:nvSpPr>
          <p:cNvPr id="8" name="灯片编号占位符 7"/>
          <p:cNvSpPr>
            <a:spLocks noGrp="1"/>
          </p:cNvSpPr>
          <p:nvPr>
            <p:ph type="sldNum" sz="quarter" idx="12"/>
          </p:nvPr>
        </p:nvSpPr>
        <p:spPr>
          <a:xfrm>
            <a:off x="8737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AA4DB2CF-4931-430D-A381-D75BFE935A65}" type="slidenum">
              <a:rPr lang="en-US" altLang="zh-CN"/>
            </a:fld>
            <a:endParaRPr lang="en-US" altLang="zh-CN" dirty="0"/>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lvl1pPr>
              <a:defRPr>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quarter" idx="1"/>
          </p:nvPr>
        </p:nvSpPr>
        <p:spPr>
          <a:xfrm>
            <a:off x="609600" y="1600200"/>
            <a:ext cx="53848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09600" y="3938588"/>
            <a:ext cx="53848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6197600" y="3938588"/>
            <a:ext cx="53848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19D35A26-1D68-4543-845F-81C59D9A32B3}" type="datetime1">
              <a:rPr lang="zh-CN" altLang="en-US" smtClean="0"/>
            </a:fld>
            <a:endParaRPr lang="en-US" altLang="zh-CN"/>
          </a:p>
        </p:txBody>
      </p:sp>
      <p:sp>
        <p:nvSpPr>
          <p:cNvPr id="8" name="页脚占位符 7"/>
          <p:cNvSpPr>
            <a:spLocks noGrp="1"/>
          </p:cNvSpPr>
          <p:nvPr>
            <p:ph type="ftr" sz="quarter" idx="11"/>
          </p:nvPr>
        </p:nvSpPr>
        <p:spPr>
          <a:xfrm>
            <a:off x="4165600" y="6245225"/>
            <a:ext cx="3860800" cy="476250"/>
          </a:xfrm>
        </p:spPr>
        <p:txBody>
          <a:bodyPr/>
          <a:lstStyle>
            <a:lvl1pPr>
              <a:defRPr>
                <a:latin typeface="楷体" panose="02010609060101010101" pitchFamily="49" charset="-122"/>
                <a:ea typeface="楷体" panose="02010609060101010101" pitchFamily="49" charset="-122"/>
              </a:defRPr>
            </a:lvl1pPr>
          </a:lstStyle>
          <a:p>
            <a:pPr>
              <a:defRPr/>
            </a:pPr>
            <a:endParaRPr lang="en-US" altLang="zh-CN"/>
          </a:p>
        </p:txBody>
      </p:sp>
      <p:sp>
        <p:nvSpPr>
          <p:cNvPr id="9" name="灯片编号占位符 8"/>
          <p:cNvSpPr>
            <a:spLocks noGrp="1"/>
          </p:cNvSpPr>
          <p:nvPr>
            <p:ph type="sldNum" sz="quarter" idx="12"/>
          </p:nvPr>
        </p:nvSpPr>
        <p:spPr>
          <a:xfrm>
            <a:off x="8737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9C84CEF3-FFE5-474F-A628-07957144E71A}" type="slidenum">
              <a:rPr lang="en-US" altLang="zh-CN"/>
            </a:fld>
            <a:endParaRPr lang="en-US" altLang="zh-CN" dirty="0"/>
          </a:p>
        </p:txBody>
      </p:sp>
    </p:spTree>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5FE31B15-F3FB-4602-9AE5-8F906B60DDEF}" type="datetime1">
              <a:rPr lang="zh-CN" altLang="en-US" smtClean="0"/>
            </a:fld>
            <a:endParaRPr lang="en-US" altLang="zh-CN"/>
          </a:p>
        </p:txBody>
      </p:sp>
      <p:sp>
        <p:nvSpPr>
          <p:cNvPr id="6" name="页脚占位符 5"/>
          <p:cNvSpPr>
            <a:spLocks noGrp="1"/>
          </p:cNvSpPr>
          <p:nvPr>
            <p:ph type="ftr" sz="quarter" idx="11"/>
          </p:nvPr>
        </p:nvSpPr>
        <p:spPr>
          <a:xfrm>
            <a:off x="4165600" y="6245225"/>
            <a:ext cx="3860800" cy="476250"/>
          </a:xfrm>
        </p:spPr>
        <p:txBody>
          <a:bodyPr/>
          <a:lstStyle>
            <a:lvl1pPr>
              <a:defRPr>
                <a:latin typeface="楷体" panose="02010609060101010101" pitchFamily="49" charset="-122"/>
                <a:ea typeface="楷体" panose="02010609060101010101" pitchFamily="49" charset="-122"/>
              </a:defRPr>
            </a:lvl1pPr>
          </a:lstStyle>
          <a:p>
            <a:pPr>
              <a:defRPr/>
            </a:pPr>
            <a:endParaRPr lang="en-US" altLang="zh-CN"/>
          </a:p>
        </p:txBody>
      </p:sp>
      <p:sp>
        <p:nvSpPr>
          <p:cNvPr id="7" name="灯片编号占位符 6"/>
          <p:cNvSpPr>
            <a:spLocks noGrp="1"/>
          </p:cNvSpPr>
          <p:nvPr>
            <p:ph type="sldNum" sz="quarter" idx="12"/>
          </p:nvPr>
        </p:nvSpPr>
        <p:spPr>
          <a:xfrm>
            <a:off x="8737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E3D9166B-EE48-4D77-9692-3AA1F3A3163A}" type="slidenum">
              <a:rPr lang="en-US" altLang="zh-CN"/>
            </a:fld>
            <a:endParaRPr lang="en-US" altLang="zh-CN" dirty="0"/>
          </a:p>
        </p:txBody>
      </p:sp>
    </p:spTree>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3938588"/>
            <a:ext cx="53848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a:xfrm>
            <a:off x="609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E7322237-7491-4DEF-8EF1-224C83E116A4}" type="datetime1">
              <a:rPr lang="zh-CN" altLang="en-US" smtClean="0"/>
            </a:fld>
            <a:endParaRPr lang="en-US" altLang="zh-CN"/>
          </a:p>
        </p:txBody>
      </p:sp>
      <p:sp>
        <p:nvSpPr>
          <p:cNvPr id="7" name="页脚占位符 6"/>
          <p:cNvSpPr>
            <a:spLocks noGrp="1"/>
          </p:cNvSpPr>
          <p:nvPr>
            <p:ph type="ftr" sz="quarter" idx="11"/>
          </p:nvPr>
        </p:nvSpPr>
        <p:spPr>
          <a:xfrm>
            <a:off x="4165600" y="6245225"/>
            <a:ext cx="3860800" cy="476250"/>
          </a:xfrm>
        </p:spPr>
        <p:txBody>
          <a:bodyPr/>
          <a:lstStyle>
            <a:lvl1pPr>
              <a:defRPr>
                <a:latin typeface="楷体" panose="02010609060101010101" pitchFamily="49" charset="-122"/>
                <a:ea typeface="楷体" panose="02010609060101010101" pitchFamily="49" charset="-122"/>
              </a:defRPr>
            </a:lvl1pPr>
          </a:lstStyle>
          <a:p>
            <a:pPr>
              <a:defRPr/>
            </a:pPr>
            <a:endParaRPr lang="en-US" altLang="zh-CN"/>
          </a:p>
        </p:txBody>
      </p:sp>
      <p:sp>
        <p:nvSpPr>
          <p:cNvPr id="8" name="灯片编号占位符 7"/>
          <p:cNvSpPr>
            <a:spLocks noGrp="1"/>
          </p:cNvSpPr>
          <p:nvPr>
            <p:ph type="sldNum" sz="quarter" idx="12"/>
          </p:nvPr>
        </p:nvSpPr>
        <p:spPr>
          <a:xfrm>
            <a:off x="8737600" y="6245225"/>
            <a:ext cx="2844800" cy="476250"/>
          </a:xfrm>
        </p:spPr>
        <p:txBody>
          <a:bodyPr/>
          <a:lstStyle>
            <a:lvl1pPr>
              <a:defRPr>
                <a:latin typeface="楷体" panose="02010609060101010101" pitchFamily="49" charset="-122"/>
                <a:ea typeface="楷体" panose="02010609060101010101" pitchFamily="49" charset="-122"/>
              </a:defRPr>
            </a:lvl1pPr>
          </a:lstStyle>
          <a:p>
            <a:pPr>
              <a:defRPr/>
            </a:pPr>
            <a:fld id="{AA4DB2CF-4931-430D-A381-D75BFE935A65}" type="slidenum">
              <a:rPr lang="en-US" altLang="zh-CN"/>
            </a:fld>
            <a:endParaRPr lang="en-US" altLang="zh-CN" dirty="0"/>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2" Type="http://schemas.openxmlformats.org/officeDocument/2006/relationships/theme" Target="../theme/theme2.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2" Type="http://schemas.openxmlformats.org/officeDocument/2006/relationships/theme" Target="../theme/theme3.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6" Type="http://schemas.openxmlformats.org/officeDocument/2006/relationships/theme" Target="../theme/theme4.xml"/><Relationship Id="rId15" Type="http://schemas.openxmlformats.org/officeDocument/2006/relationships/image" Target="../media/image1.jpeg"/><Relationship Id="rId14" Type="http://schemas.openxmlformats.org/officeDocument/2006/relationships/slideLayout" Target="../slideLayouts/slideLayout50.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18ED6-CA2D-4B69-8281-AFE0E32FC43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grpSp>
        <p:nvGrpSpPr>
          <p:cNvPr id="7" name="组合 6"/>
          <p:cNvGrpSpPr/>
          <p:nvPr userDrawn="1"/>
        </p:nvGrpSpPr>
        <p:grpSpPr>
          <a:xfrm>
            <a:off x="0" y="6239607"/>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88684"/>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47308"/>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14444"/>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83875"/>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48E83B-1B9F-4B94-85A9-ACEC33A4244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18ED6-CA2D-4B69-8281-AFE0E32FC43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grpSp>
        <p:nvGrpSpPr>
          <p:cNvPr id="7" name="组合 6"/>
          <p:cNvGrpSpPr/>
          <p:nvPr userDrawn="1"/>
        </p:nvGrpSpPr>
        <p:grpSpPr>
          <a:xfrm>
            <a:off x="0" y="6239607"/>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88684"/>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47308"/>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14444"/>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83875"/>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48E83B-1B9F-4B94-85A9-ACEC33A4244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txStyles>
    <p:title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3.wmf"/><Relationship Id="rId1"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3.wmf"/><Relationship Id="rId1"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8.bin"/><Relationship Id="rId4" Type="http://schemas.openxmlformats.org/officeDocument/2006/relationships/image" Target="../media/image23.wmf"/><Relationship Id="rId3" Type="http://schemas.openxmlformats.org/officeDocument/2006/relationships/oleObject" Target="../embeddings/oleObject7.bin"/><Relationship Id="rId2" Type="http://schemas.openxmlformats.org/officeDocument/2006/relationships/image" Target="../media/image22.wmf"/><Relationship Id="rId1"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2.png"/><Relationship Id="rId1" Type="http://schemas.openxmlformats.org/officeDocument/2006/relationships/image" Target="../media/image51.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53.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5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60.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67.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14.xml"/><Relationship Id="rId5" Type="http://schemas.openxmlformats.org/officeDocument/2006/relationships/image" Target="../media/image75.wmf"/><Relationship Id="rId4" Type="http://schemas.openxmlformats.org/officeDocument/2006/relationships/oleObject" Target="../embeddings/oleObject11.bin"/><Relationship Id="rId3" Type="http://schemas.openxmlformats.org/officeDocument/2006/relationships/oleObject" Target="../embeddings/oleObject10.bin"/><Relationship Id="rId2" Type="http://schemas.openxmlformats.org/officeDocument/2006/relationships/image" Target="../media/image74.wmf"/><Relationship Id="rId1" Type="http://schemas.openxmlformats.org/officeDocument/2006/relationships/oleObject" Target="../embeddings/oleObject9.bin"/></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79.wmf"/><Relationship Id="rId7" Type="http://schemas.openxmlformats.org/officeDocument/2006/relationships/oleObject" Target="../embeddings/oleObject15.bin"/><Relationship Id="rId6" Type="http://schemas.openxmlformats.org/officeDocument/2006/relationships/image" Target="../media/image78.wmf"/><Relationship Id="rId5" Type="http://schemas.openxmlformats.org/officeDocument/2006/relationships/oleObject" Target="../embeddings/oleObject14.bin"/><Relationship Id="rId4" Type="http://schemas.openxmlformats.org/officeDocument/2006/relationships/image" Target="../media/image77.wmf"/><Relationship Id="rId3" Type="http://schemas.openxmlformats.org/officeDocument/2006/relationships/oleObject" Target="../embeddings/oleObject13.bin"/><Relationship Id="rId2" Type="http://schemas.openxmlformats.org/officeDocument/2006/relationships/image" Target="../media/image76.wmf"/><Relationship Id="rId16" Type="http://schemas.openxmlformats.org/officeDocument/2006/relationships/vmlDrawing" Target="../drawings/vmlDrawing8.vml"/><Relationship Id="rId15" Type="http://schemas.openxmlformats.org/officeDocument/2006/relationships/slideLayout" Target="../slideLayouts/slideLayout2.xml"/><Relationship Id="rId14" Type="http://schemas.openxmlformats.org/officeDocument/2006/relationships/image" Target="../media/image81.wmf"/><Relationship Id="rId13" Type="http://schemas.openxmlformats.org/officeDocument/2006/relationships/oleObject" Target="../embeddings/oleObject19.bin"/><Relationship Id="rId12" Type="http://schemas.openxmlformats.org/officeDocument/2006/relationships/oleObject" Target="../embeddings/oleObject18.bin"/><Relationship Id="rId11" Type="http://schemas.openxmlformats.org/officeDocument/2006/relationships/image" Target="../media/image80.wmf"/><Relationship Id="rId10" Type="http://schemas.openxmlformats.org/officeDocument/2006/relationships/oleObject" Target="../embeddings/oleObject17.bin"/><Relationship Id="rId1" Type="http://schemas.openxmlformats.org/officeDocument/2006/relationships/oleObject" Target="../embeddings/oleObject12.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83.wmf"/><Relationship Id="rId3" Type="http://schemas.openxmlformats.org/officeDocument/2006/relationships/oleObject" Target="../embeddings/oleObject21.bin"/><Relationship Id="rId2" Type="http://schemas.openxmlformats.org/officeDocument/2006/relationships/image" Target="../media/image82.wmf"/><Relationship Id="rId1" Type="http://schemas.openxmlformats.org/officeDocument/2006/relationships/oleObject" Target="../embeddings/oleObject20.bin"/></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85.wmf"/><Relationship Id="rId3" Type="http://schemas.openxmlformats.org/officeDocument/2006/relationships/oleObject" Target="../embeddings/oleObject23.bin"/><Relationship Id="rId2" Type="http://schemas.openxmlformats.org/officeDocument/2006/relationships/image" Target="../media/image84.wmf"/><Relationship Id="rId1" Type="http://schemas.openxmlformats.org/officeDocument/2006/relationships/oleObject" Target="../embeddings/oleObject22.bin"/></Relationships>
</file>

<file path=ppt/slides/_rels/slide8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9.wmf"/><Relationship Id="rId7" Type="http://schemas.openxmlformats.org/officeDocument/2006/relationships/oleObject" Target="../embeddings/oleObject27.bin"/><Relationship Id="rId6" Type="http://schemas.openxmlformats.org/officeDocument/2006/relationships/image" Target="../media/image88.wmf"/><Relationship Id="rId5" Type="http://schemas.openxmlformats.org/officeDocument/2006/relationships/oleObject" Target="../embeddings/oleObject26.bin"/><Relationship Id="rId4" Type="http://schemas.openxmlformats.org/officeDocument/2006/relationships/image" Target="../media/image87.wmf"/><Relationship Id="rId3" Type="http://schemas.openxmlformats.org/officeDocument/2006/relationships/oleObject" Target="../embeddings/oleObject25.bin"/><Relationship Id="rId2" Type="http://schemas.openxmlformats.org/officeDocument/2006/relationships/image" Target="../media/image86.wmf"/><Relationship Id="rId10" Type="http://schemas.openxmlformats.org/officeDocument/2006/relationships/vmlDrawing" Target="../drawings/vmlDrawing11.vml"/><Relationship Id="rId1" Type="http://schemas.openxmlformats.org/officeDocument/2006/relationships/oleObject" Target="../embeddings/oleObject24.bin"/></Relationships>
</file>

<file path=ppt/slides/_rels/slide8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3.wmf"/><Relationship Id="rId7" Type="http://schemas.openxmlformats.org/officeDocument/2006/relationships/oleObject" Target="../embeddings/oleObject31.bin"/><Relationship Id="rId6" Type="http://schemas.openxmlformats.org/officeDocument/2006/relationships/image" Target="../media/image92.wmf"/><Relationship Id="rId5" Type="http://schemas.openxmlformats.org/officeDocument/2006/relationships/oleObject" Target="../embeddings/oleObject30.bin"/><Relationship Id="rId4" Type="http://schemas.openxmlformats.org/officeDocument/2006/relationships/image" Target="../media/image91.wmf"/><Relationship Id="rId3" Type="http://schemas.openxmlformats.org/officeDocument/2006/relationships/oleObject" Target="../embeddings/oleObject29.bin"/><Relationship Id="rId2" Type="http://schemas.openxmlformats.org/officeDocument/2006/relationships/image" Target="../media/image90.wmf"/><Relationship Id="rId10" Type="http://schemas.openxmlformats.org/officeDocument/2006/relationships/vmlDrawing" Target="../drawings/vmlDrawing12.vml"/><Relationship Id="rId1" Type="http://schemas.openxmlformats.org/officeDocument/2006/relationships/oleObject" Target="../embeddings/oleObject28.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95.wmf"/><Relationship Id="rId3" Type="http://schemas.openxmlformats.org/officeDocument/2006/relationships/oleObject" Target="../embeddings/oleObject33.bin"/><Relationship Id="rId2" Type="http://schemas.openxmlformats.org/officeDocument/2006/relationships/image" Target="../media/image94.wmf"/><Relationship Id="rId1" Type="http://schemas.openxmlformats.org/officeDocument/2006/relationships/oleObject" Target="../embeddings/oleObject32.bin"/></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97.wmf"/><Relationship Id="rId3" Type="http://schemas.openxmlformats.org/officeDocument/2006/relationships/oleObject" Target="../embeddings/oleObject35.bin"/><Relationship Id="rId2" Type="http://schemas.openxmlformats.org/officeDocument/2006/relationships/image" Target="../media/image96.wmf"/><Relationship Id="rId1" Type="http://schemas.openxmlformats.org/officeDocument/2006/relationships/oleObject" Target="../embeddings/oleObject34.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101.wmf"/><Relationship Id="rId7" Type="http://schemas.openxmlformats.org/officeDocument/2006/relationships/oleObject" Target="../embeddings/oleObject39.bin"/><Relationship Id="rId6" Type="http://schemas.openxmlformats.org/officeDocument/2006/relationships/image" Target="../media/image100.wmf"/><Relationship Id="rId5" Type="http://schemas.openxmlformats.org/officeDocument/2006/relationships/oleObject" Target="../embeddings/oleObject38.bin"/><Relationship Id="rId4" Type="http://schemas.openxmlformats.org/officeDocument/2006/relationships/image" Target="../media/image99.wmf"/><Relationship Id="rId3" Type="http://schemas.openxmlformats.org/officeDocument/2006/relationships/oleObject" Target="../embeddings/oleObject37.bin"/><Relationship Id="rId2" Type="http://schemas.openxmlformats.org/officeDocument/2006/relationships/image" Target="../media/image98.wmf"/><Relationship Id="rId15" Type="http://schemas.openxmlformats.org/officeDocument/2006/relationships/notesSlide" Target="../notesSlides/notesSlide3.xml"/><Relationship Id="rId14" Type="http://schemas.openxmlformats.org/officeDocument/2006/relationships/vmlDrawing" Target="../drawings/vmlDrawing15.vml"/><Relationship Id="rId13" Type="http://schemas.openxmlformats.org/officeDocument/2006/relationships/slideLayout" Target="../slideLayouts/slideLayout7.xml"/><Relationship Id="rId12" Type="http://schemas.openxmlformats.org/officeDocument/2006/relationships/image" Target="../media/image103.wmf"/><Relationship Id="rId11" Type="http://schemas.openxmlformats.org/officeDocument/2006/relationships/oleObject" Target="../embeddings/oleObject41.bin"/><Relationship Id="rId10" Type="http://schemas.openxmlformats.org/officeDocument/2006/relationships/image" Target="../media/image102.wmf"/><Relationship Id="rId1" Type="http://schemas.openxmlformats.org/officeDocument/2006/relationships/oleObject" Target="../embeddings/oleObject36.bin"/></Relationships>
</file>

<file path=ppt/slides/_rels/slide88.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image" Target="../media/image105.wmf"/><Relationship Id="rId5" Type="http://schemas.openxmlformats.org/officeDocument/2006/relationships/oleObject" Target="../embeddings/oleObject43.bin"/><Relationship Id="rId4" Type="http://schemas.openxmlformats.org/officeDocument/2006/relationships/tags" Target="../tags/tag2.xml"/><Relationship Id="rId3" Type="http://schemas.openxmlformats.org/officeDocument/2006/relationships/image" Target="../media/image104.wmf"/><Relationship Id="rId23" Type="http://schemas.openxmlformats.org/officeDocument/2006/relationships/vmlDrawing" Target="../drawings/vmlDrawing16.vml"/><Relationship Id="rId22" Type="http://schemas.openxmlformats.org/officeDocument/2006/relationships/slideLayout" Target="../slideLayouts/slideLayout7.xml"/><Relationship Id="rId21" Type="http://schemas.openxmlformats.org/officeDocument/2006/relationships/image" Target="../media/image110.wmf"/><Relationship Id="rId20" Type="http://schemas.openxmlformats.org/officeDocument/2006/relationships/oleObject" Target="../embeddings/oleObject48.bin"/><Relationship Id="rId2" Type="http://schemas.openxmlformats.org/officeDocument/2006/relationships/oleObject" Target="../embeddings/oleObject42.bin"/><Relationship Id="rId19" Type="http://schemas.openxmlformats.org/officeDocument/2006/relationships/tags" Target="../tags/tag7.xml"/><Relationship Id="rId18" Type="http://schemas.openxmlformats.org/officeDocument/2006/relationships/image" Target="../media/image109.wmf"/><Relationship Id="rId17" Type="http://schemas.openxmlformats.org/officeDocument/2006/relationships/oleObject" Target="../embeddings/oleObject47.bin"/><Relationship Id="rId16" Type="http://schemas.openxmlformats.org/officeDocument/2006/relationships/image" Target="../media/image108.wmf"/><Relationship Id="rId15" Type="http://schemas.openxmlformats.org/officeDocument/2006/relationships/oleObject" Target="../embeddings/oleObject46.bin"/><Relationship Id="rId14" Type="http://schemas.openxmlformats.org/officeDocument/2006/relationships/tags" Target="../tags/tag6.xml"/><Relationship Id="rId13" Type="http://schemas.openxmlformats.org/officeDocument/2006/relationships/tags" Target="../tags/tag5.xml"/><Relationship Id="rId12" Type="http://schemas.openxmlformats.org/officeDocument/2006/relationships/image" Target="../media/image107.wmf"/><Relationship Id="rId11" Type="http://schemas.openxmlformats.org/officeDocument/2006/relationships/oleObject" Target="../embeddings/oleObject45.bin"/><Relationship Id="rId10" Type="http://schemas.openxmlformats.org/officeDocument/2006/relationships/image" Target="../media/image106.wmf"/><Relationship Id="rId1" Type="http://schemas.openxmlformats.org/officeDocument/2006/relationships/tags" Target="../tags/tag1.xml"/></Relationships>
</file>

<file path=ppt/slides/_rels/slide89.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7.xml"/><Relationship Id="rId4" Type="http://schemas.openxmlformats.org/officeDocument/2006/relationships/image" Target="../media/image112.wmf"/><Relationship Id="rId3" Type="http://schemas.openxmlformats.org/officeDocument/2006/relationships/oleObject" Target="../embeddings/oleObject50.bin"/><Relationship Id="rId2" Type="http://schemas.openxmlformats.org/officeDocument/2006/relationships/image" Target="../media/image111.wmf"/><Relationship Id="rId1" Type="http://schemas.openxmlformats.org/officeDocument/2006/relationships/oleObject" Target="../embeddings/oleObject49.bin"/></Relationships>
</file>

<file path=ppt/slides/_rels/slide90.xml.rels><?xml version="1.0" encoding="UTF-8" standalone="yes"?>
<Relationships xmlns="http://schemas.openxmlformats.org/package/2006/relationships"><Relationship Id="rId9" Type="http://schemas.openxmlformats.org/officeDocument/2006/relationships/oleObject" Target="../embeddings/oleObject55.bin"/><Relationship Id="rId8" Type="http://schemas.openxmlformats.org/officeDocument/2006/relationships/image" Target="../media/image116.wmf"/><Relationship Id="rId7" Type="http://schemas.openxmlformats.org/officeDocument/2006/relationships/oleObject" Target="../embeddings/oleObject54.bin"/><Relationship Id="rId6" Type="http://schemas.openxmlformats.org/officeDocument/2006/relationships/image" Target="../media/image115.wmf"/><Relationship Id="rId5" Type="http://schemas.openxmlformats.org/officeDocument/2006/relationships/oleObject" Target="../embeddings/oleObject53.bin"/><Relationship Id="rId4" Type="http://schemas.openxmlformats.org/officeDocument/2006/relationships/image" Target="../media/image114.wmf"/><Relationship Id="rId3" Type="http://schemas.openxmlformats.org/officeDocument/2006/relationships/oleObject" Target="../embeddings/oleObject52.bin"/><Relationship Id="rId2" Type="http://schemas.openxmlformats.org/officeDocument/2006/relationships/image" Target="../media/image113.wmf"/><Relationship Id="rId12" Type="http://schemas.openxmlformats.org/officeDocument/2006/relationships/vmlDrawing" Target="../drawings/vmlDrawing18.vml"/><Relationship Id="rId11" Type="http://schemas.openxmlformats.org/officeDocument/2006/relationships/slideLayout" Target="../slideLayouts/slideLayout7.xml"/><Relationship Id="rId10" Type="http://schemas.openxmlformats.org/officeDocument/2006/relationships/image" Target="../media/image117.wmf"/><Relationship Id="rId1" Type="http://schemas.openxmlformats.org/officeDocument/2006/relationships/oleObject" Target="../embeddings/oleObject51.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120.wmf"/><Relationship Id="rId7" Type="http://schemas.openxmlformats.org/officeDocument/2006/relationships/oleObject" Target="../embeddings/oleObject59.bin"/><Relationship Id="rId6" Type="http://schemas.openxmlformats.org/officeDocument/2006/relationships/image" Target="../media/image100.wmf"/><Relationship Id="rId5" Type="http://schemas.openxmlformats.org/officeDocument/2006/relationships/oleObject" Target="../embeddings/oleObject58.bin"/><Relationship Id="rId4" Type="http://schemas.openxmlformats.org/officeDocument/2006/relationships/image" Target="../media/image119.wmf"/><Relationship Id="rId3" Type="http://schemas.openxmlformats.org/officeDocument/2006/relationships/oleObject" Target="../embeddings/oleObject57.bin"/><Relationship Id="rId2" Type="http://schemas.openxmlformats.org/officeDocument/2006/relationships/image" Target="../media/image118.wmf"/><Relationship Id="rId14" Type="http://schemas.openxmlformats.org/officeDocument/2006/relationships/vmlDrawing" Target="../drawings/vmlDrawing19.vml"/><Relationship Id="rId13" Type="http://schemas.openxmlformats.org/officeDocument/2006/relationships/slideLayout" Target="../slideLayouts/slideLayout7.xml"/><Relationship Id="rId12" Type="http://schemas.openxmlformats.org/officeDocument/2006/relationships/image" Target="../media/image122.wmf"/><Relationship Id="rId11" Type="http://schemas.openxmlformats.org/officeDocument/2006/relationships/oleObject" Target="../embeddings/oleObject61.bin"/><Relationship Id="rId10" Type="http://schemas.openxmlformats.org/officeDocument/2006/relationships/image" Target="../media/image121.wmf"/><Relationship Id="rId1" Type="http://schemas.openxmlformats.org/officeDocument/2006/relationships/oleObject" Target="../embeddings/oleObject56.bin"/></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126.wmf"/><Relationship Id="rId7" Type="http://schemas.openxmlformats.org/officeDocument/2006/relationships/oleObject" Target="../embeddings/oleObject65.bin"/><Relationship Id="rId6" Type="http://schemas.openxmlformats.org/officeDocument/2006/relationships/image" Target="../media/image125.wmf"/><Relationship Id="rId5" Type="http://schemas.openxmlformats.org/officeDocument/2006/relationships/oleObject" Target="../embeddings/oleObject64.bin"/><Relationship Id="rId4" Type="http://schemas.openxmlformats.org/officeDocument/2006/relationships/image" Target="../media/image124.wmf"/><Relationship Id="rId3" Type="http://schemas.openxmlformats.org/officeDocument/2006/relationships/oleObject" Target="../embeddings/oleObject63.bin"/><Relationship Id="rId2" Type="http://schemas.openxmlformats.org/officeDocument/2006/relationships/image" Target="../media/image123.wmf"/><Relationship Id="rId14" Type="http://schemas.openxmlformats.org/officeDocument/2006/relationships/vmlDrawing" Target="../drawings/vmlDrawing20.vml"/><Relationship Id="rId13" Type="http://schemas.openxmlformats.org/officeDocument/2006/relationships/slideLayout" Target="../slideLayouts/slideLayout7.xml"/><Relationship Id="rId12" Type="http://schemas.openxmlformats.org/officeDocument/2006/relationships/image" Target="../media/image128.wmf"/><Relationship Id="rId11" Type="http://schemas.openxmlformats.org/officeDocument/2006/relationships/oleObject" Target="../embeddings/oleObject67.bin"/><Relationship Id="rId10" Type="http://schemas.openxmlformats.org/officeDocument/2006/relationships/image" Target="../media/image127.wmf"/><Relationship Id="rId1" Type="http://schemas.openxmlformats.org/officeDocument/2006/relationships/oleObject" Target="../embeddings/oleObject62.bin"/></Relationships>
</file>

<file path=ppt/slides/_rels/slide9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32.wmf"/><Relationship Id="rId7" Type="http://schemas.openxmlformats.org/officeDocument/2006/relationships/oleObject" Target="../embeddings/oleObject71.bin"/><Relationship Id="rId6" Type="http://schemas.openxmlformats.org/officeDocument/2006/relationships/image" Target="../media/image131.wmf"/><Relationship Id="rId5" Type="http://schemas.openxmlformats.org/officeDocument/2006/relationships/oleObject" Target="../embeddings/oleObject70.bin"/><Relationship Id="rId4" Type="http://schemas.openxmlformats.org/officeDocument/2006/relationships/image" Target="../media/image130.wmf"/><Relationship Id="rId3" Type="http://schemas.openxmlformats.org/officeDocument/2006/relationships/oleObject" Target="../embeddings/oleObject69.bin"/><Relationship Id="rId2" Type="http://schemas.openxmlformats.org/officeDocument/2006/relationships/image" Target="../media/image129.wmf"/><Relationship Id="rId10" Type="http://schemas.openxmlformats.org/officeDocument/2006/relationships/vmlDrawing" Target="../drawings/vmlDrawing21.vml"/><Relationship Id="rId1" Type="http://schemas.openxmlformats.org/officeDocument/2006/relationships/oleObject" Target="../embeddings/oleObject68.bin"/></Relationships>
</file>

<file path=ppt/slides/_rels/slide94.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136.wmf"/><Relationship Id="rId7" Type="http://schemas.openxmlformats.org/officeDocument/2006/relationships/oleObject" Target="../embeddings/oleObject75.bin"/><Relationship Id="rId6" Type="http://schemas.openxmlformats.org/officeDocument/2006/relationships/image" Target="../media/image135.wmf"/><Relationship Id="rId5" Type="http://schemas.openxmlformats.org/officeDocument/2006/relationships/oleObject" Target="../embeddings/oleObject74.bin"/><Relationship Id="rId4" Type="http://schemas.openxmlformats.org/officeDocument/2006/relationships/image" Target="../media/image134.wmf"/><Relationship Id="rId3" Type="http://schemas.openxmlformats.org/officeDocument/2006/relationships/oleObject" Target="../embeddings/oleObject73.bin"/><Relationship Id="rId23" Type="http://schemas.openxmlformats.org/officeDocument/2006/relationships/vmlDrawing" Target="../drawings/vmlDrawing22.vml"/><Relationship Id="rId22" Type="http://schemas.openxmlformats.org/officeDocument/2006/relationships/slideLayout" Target="../slideLayouts/slideLayout7.xml"/><Relationship Id="rId21" Type="http://schemas.openxmlformats.org/officeDocument/2006/relationships/image" Target="../media/image142.wmf"/><Relationship Id="rId20" Type="http://schemas.openxmlformats.org/officeDocument/2006/relationships/oleObject" Target="../embeddings/oleObject82.bin"/><Relationship Id="rId2" Type="http://schemas.openxmlformats.org/officeDocument/2006/relationships/image" Target="../media/image133.wmf"/><Relationship Id="rId19" Type="http://schemas.openxmlformats.org/officeDocument/2006/relationships/image" Target="../media/image141.wmf"/><Relationship Id="rId18" Type="http://schemas.openxmlformats.org/officeDocument/2006/relationships/oleObject" Target="../embeddings/oleObject81.bin"/><Relationship Id="rId17" Type="http://schemas.openxmlformats.org/officeDocument/2006/relationships/image" Target="../media/image140.wmf"/><Relationship Id="rId16" Type="http://schemas.openxmlformats.org/officeDocument/2006/relationships/oleObject" Target="../embeddings/oleObject80.bin"/><Relationship Id="rId15" Type="http://schemas.openxmlformats.org/officeDocument/2006/relationships/oleObject" Target="../embeddings/oleObject79.bin"/><Relationship Id="rId14" Type="http://schemas.openxmlformats.org/officeDocument/2006/relationships/image" Target="../media/image139.wmf"/><Relationship Id="rId13" Type="http://schemas.openxmlformats.org/officeDocument/2006/relationships/oleObject" Target="../embeddings/oleObject78.bin"/><Relationship Id="rId12" Type="http://schemas.openxmlformats.org/officeDocument/2006/relationships/image" Target="../media/image138.wmf"/><Relationship Id="rId11" Type="http://schemas.openxmlformats.org/officeDocument/2006/relationships/oleObject" Target="../embeddings/oleObject77.bin"/><Relationship Id="rId10" Type="http://schemas.openxmlformats.org/officeDocument/2006/relationships/image" Target="../media/image137.wmf"/><Relationship Id="rId1" Type="http://schemas.openxmlformats.org/officeDocument/2006/relationships/oleObject" Target="../embeddings/oleObject72.bin"/></Relationships>
</file>

<file path=ppt/slides/_rels/slide9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6.wmf"/><Relationship Id="rId7" Type="http://schemas.openxmlformats.org/officeDocument/2006/relationships/oleObject" Target="../embeddings/oleObject86.bin"/><Relationship Id="rId6" Type="http://schemas.openxmlformats.org/officeDocument/2006/relationships/image" Target="../media/image145.wmf"/><Relationship Id="rId5" Type="http://schemas.openxmlformats.org/officeDocument/2006/relationships/oleObject" Target="../embeddings/oleObject85.bin"/><Relationship Id="rId4" Type="http://schemas.openxmlformats.org/officeDocument/2006/relationships/image" Target="../media/image144.wmf"/><Relationship Id="rId3" Type="http://schemas.openxmlformats.org/officeDocument/2006/relationships/oleObject" Target="../embeddings/oleObject84.bin"/><Relationship Id="rId2" Type="http://schemas.openxmlformats.org/officeDocument/2006/relationships/image" Target="../media/image143.wmf"/><Relationship Id="rId10" Type="http://schemas.openxmlformats.org/officeDocument/2006/relationships/vmlDrawing" Target="../drawings/vmlDrawing23.vml"/><Relationship Id="rId1" Type="http://schemas.openxmlformats.org/officeDocument/2006/relationships/oleObject" Target="../embeddings/oleObject83.bin"/></Relationships>
</file>

<file path=ppt/slides/_rels/slide9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0.wmf"/><Relationship Id="rId7" Type="http://schemas.openxmlformats.org/officeDocument/2006/relationships/oleObject" Target="../embeddings/oleObject90.bin"/><Relationship Id="rId6" Type="http://schemas.openxmlformats.org/officeDocument/2006/relationships/image" Target="../media/image149.wmf"/><Relationship Id="rId5" Type="http://schemas.openxmlformats.org/officeDocument/2006/relationships/oleObject" Target="../embeddings/oleObject89.bin"/><Relationship Id="rId4" Type="http://schemas.openxmlformats.org/officeDocument/2006/relationships/image" Target="../media/image148.wmf"/><Relationship Id="rId3" Type="http://schemas.openxmlformats.org/officeDocument/2006/relationships/oleObject" Target="../embeddings/oleObject88.bin"/><Relationship Id="rId2" Type="http://schemas.openxmlformats.org/officeDocument/2006/relationships/image" Target="../media/image147.wmf"/><Relationship Id="rId10" Type="http://schemas.openxmlformats.org/officeDocument/2006/relationships/vmlDrawing" Target="../drawings/vmlDrawing24.vml"/><Relationship Id="rId1" Type="http://schemas.openxmlformats.org/officeDocument/2006/relationships/oleObject" Target="../embeddings/oleObject87.bin"/></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tags" Target="../tags/tag11.xml"/><Relationship Id="rId7" Type="http://schemas.openxmlformats.org/officeDocument/2006/relationships/image" Target="../media/image152.wmf"/><Relationship Id="rId6" Type="http://schemas.openxmlformats.org/officeDocument/2006/relationships/oleObject" Target="../embeddings/oleObject92.bin"/><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9" Type="http://schemas.openxmlformats.org/officeDocument/2006/relationships/notesSlide" Target="../notesSlides/notesSlide4.xml"/><Relationship Id="rId28" Type="http://schemas.openxmlformats.org/officeDocument/2006/relationships/vmlDrawing" Target="../drawings/vmlDrawing25.vml"/><Relationship Id="rId27" Type="http://schemas.openxmlformats.org/officeDocument/2006/relationships/slideLayout" Target="../slideLayouts/slideLayout7.xml"/><Relationship Id="rId26" Type="http://schemas.openxmlformats.org/officeDocument/2006/relationships/image" Target="../media/image157.wmf"/><Relationship Id="rId25" Type="http://schemas.openxmlformats.org/officeDocument/2006/relationships/oleObject" Target="../embeddings/oleObject97.bin"/><Relationship Id="rId24" Type="http://schemas.openxmlformats.org/officeDocument/2006/relationships/tags" Target="../tags/tag19.xml"/><Relationship Id="rId23" Type="http://schemas.openxmlformats.org/officeDocument/2006/relationships/image" Target="../media/image156.wmf"/><Relationship Id="rId22" Type="http://schemas.openxmlformats.org/officeDocument/2006/relationships/oleObject" Target="../embeddings/oleObject96.bin"/><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image" Target="../media/image151.wmf"/><Relationship Id="rId19" Type="http://schemas.openxmlformats.org/officeDocument/2006/relationships/tags" Target="../tags/tag16.xml"/><Relationship Id="rId18" Type="http://schemas.openxmlformats.org/officeDocument/2006/relationships/image" Target="../media/image155.wmf"/><Relationship Id="rId17" Type="http://schemas.openxmlformats.org/officeDocument/2006/relationships/oleObject" Target="../embeddings/oleObject95.bin"/><Relationship Id="rId16" Type="http://schemas.openxmlformats.org/officeDocument/2006/relationships/tags" Target="../tags/tag15.xml"/><Relationship Id="rId15" Type="http://schemas.openxmlformats.org/officeDocument/2006/relationships/image" Target="../media/image154.wmf"/><Relationship Id="rId14" Type="http://schemas.openxmlformats.org/officeDocument/2006/relationships/oleObject" Target="../embeddings/oleObject94.bin"/><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image" Target="../media/image153.wmf"/><Relationship Id="rId1" Type="http://schemas.openxmlformats.org/officeDocument/2006/relationships/oleObject" Target="../embeddings/oleObject91.bin"/></Relationships>
</file>

<file path=ppt/slides/_rels/slide98.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161.wmf"/><Relationship Id="rId7" Type="http://schemas.openxmlformats.org/officeDocument/2006/relationships/oleObject" Target="../embeddings/oleObject101.bin"/><Relationship Id="rId6" Type="http://schemas.openxmlformats.org/officeDocument/2006/relationships/image" Target="../media/image160.wmf"/><Relationship Id="rId5" Type="http://schemas.openxmlformats.org/officeDocument/2006/relationships/oleObject" Target="../embeddings/oleObject100.bin"/><Relationship Id="rId4" Type="http://schemas.openxmlformats.org/officeDocument/2006/relationships/image" Target="../media/image159.wmf"/><Relationship Id="rId3" Type="http://schemas.openxmlformats.org/officeDocument/2006/relationships/oleObject" Target="../embeddings/oleObject99.bin"/><Relationship Id="rId24" Type="http://schemas.openxmlformats.org/officeDocument/2006/relationships/vmlDrawing" Target="../drawings/vmlDrawing26.vml"/><Relationship Id="rId23" Type="http://schemas.openxmlformats.org/officeDocument/2006/relationships/slideLayout" Target="../slideLayouts/slideLayout7.xml"/><Relationship Id="rId22" Type="http://schemas.openxmlformats.org/officeDocument/2006/relationships/image" Target="../media/image168.wmf"/><Relationship Id="rId21" Type="http://schemas.openxmlformats.org/officeDocument/2006/relationships/oleObject" Target="../embeddings/oleObject108.bin"/><Relationship Id="rId20" Type="http://schemas.openxmlformats.org/officeDocument/2006/relationships/image" Target="../media/image167.wmf"/><Relationship Id="rId2" Type="http://schemas.openxmlformats.org/officeDocument/2006/relationships/image" Target="../media/image158.wmf"/><Relationship Id="rId19" Type="http://schemas.openxmlformats.org/officeDocument/2006/relationships/oleObject" Target="../embeddings/oleObject107.bin"/><Relationship Id="rId18" Type="http://schemas.openxmlformats.org/officeDocument/2006/relationships/image" Target="../media/image166.wmf"/><Relationship Id="rId17" Type="http://schemas.openxmlformats.org/officeDocument/2006/relationships/oleObject" Target="../embeddings/oleObject106.bin"/><Relationship Id="rId16" Type="http://schemas.openxmlformats.org/officeDocument/2006/relationships/image" Target="../media/image165.wmf"/><Relationship Id="rId15" Type="http://schemas.openxmlformats.org/officeDocument/2006/relationships/oleObject" Target="../embeddings/oleObject105.bin"/><Relationship Id="rId14" Type="http://schemas.openxmlformats.org/officeDocument/2006/relationships/image" Target="../media/image164.wmf"/><Relationship Id="rId13" Type="http://schemas.openxmlformats.org/officeDocument/2006/relationships/oleObject" Target="../embeddings/oleObject104.bin"/><Relationship Id="rId12" Type="http://schemas.openxmlformats.org/officeDocument/2006/relationships/image" Target="../media/image163.wmf"/><Relationship Id="rId11" Type="http://schemas.openxmlformats.org/officeDocument/2006/relationships/oleObject" Target="../embeddings/oleObject103.bin"/><Relationship Id="rId10" Type="http://schemas.openxmlformats.org/officeDocument/2006/relationships/image" Target="../media/image162.wmf"/><Relationship Id="rId1" Type="http://schemas.openxmlformats.org/officeDocument/2006/relationships/oleObject" Target="../embeddings/oleObject98.bin"/></Relationships>
</file>

<file path=ppt/slides/_rels/slide9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2.wmf"/><Relationship Id="rId7" Type="http://schemas.openxmlformats.org/officeDocument/2006/relationships/oleObject" Target="../embeddings/oleObject112.bin"/><Relationship Id="rId6" Type="http://schemas.openxmlformats.org/officeDocument/2006/relationships/image" Target="../media/image171.wmf"/><Relationship Id="rId5" Type="http://schemas.openxmlformats.org/officeDocument/2006/relationships/oleObject" Target="../embeddings/oleObject111.bin"/><Relationship Id="rId4" Type="http://schemas.openxmlformats.org/officeDocument/2006/relationships/image" Target="../media/image170.wmf"/><Relationship Id="rId3" Type="http://schemas.openxmlformats.org/officeDocument/2006/relationships/oleObject" Target="../embeddings/oleObject110.bin"/><Relationship Id="rId2" Type="http://schemas.openxmlformats.org/officeDocument/2006/relationships/image" Target="../media/image169.wmf"/><Relationship Id="rId10" Type="http://schemas.openxmlformats.org/officeDocument/2006/relationships/vmlDrawing" Target="../drawings/vmlDrawing27.vml"/><Relationship Id="rId1" Type="http://schemas.openxmlformats.org/officeDocument/2006/relationships/oleObject" Target="../embeddings/oleObject109.bin"/></Relationships>
</file>

<file path=ppt/slides/_rels/slide100.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76.wmf"/><Relationship Id="rId7" Type="http://schemas.openxmlformats.org/officeDocument/2006/relationships/oleObject" Target="../embeddings/oleObject116.bin"/><Relationship Id="rId6" Type="http://schemas.openxmlformats.org/officeDocument/2006/relationships/image" Target="../media/image175.wmf"/><Relationship Id="rId5" Type="http://schemas.openxmlformats.org/officeDocument/2006/relationships/oleObject" Target="../embeddings/oleObject115.bin"/><Relationship Id="rId4" Type="http://schemas.openxmlformats.org/officeDocument/2006/relationships/image" Target="../media/image174.wmf"/><Relationship Id="rId3" Type="http://schemas.openxmlformats.org/officeDocument/2006/relationships/oleObject" Target="../embeddings/oleObject114.bin"/><Relationship Id="rId2" Type="http://schemas.openxmlformats.org/officeDocument/2006/relationships/image" Target="../media/image173.wmf"/><Relationship Id="rId14" Type="http://schemas.openxmlformats.org/officeDocument/2006/relationships/vmlDrawing" Target="../drawings/vmlDrawing28.vml"/><Relationship Id="rId13" Type="http://schemas.openxmlformats.org/officeDocument/2006/relationships/slideLayout" Target="../slideLayouts/slideLayout2.xml"/><Relationship Id="rId12" Type="http://schemas.openxmlformats.org/officeDocument/2006/relationships/image" Target="../media/image178.wmf"/><Relationship Id="rId11" Type="http://schemas.openxmlformats.org/officeDocument/2006/relationships/oleObject" Target="../embeddings/oleObject118.bin"/><Relationship Id="rId10" Type="http://schemas.openxmlformats.org/officeDocument/2006/relationships/image" Target="../media/image177.wmf"/><Relationship Id="rId1" Type="http://schemas.openxmlformats.org/officeDocument/2006/relationships/oleObject" Target="../embeddings/oleObject113.bin"/></Relationships>
</file>

<file path=ppt/slides/_rels/slide101.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82.wmf"/><Relationship Id="rId7" Type="http://schemas.openxmlformats.org/officeDocument/2006/relationships/oleObject" Target="../embeddings/oleObject122.bin"/><Relationship Id="rId6" Type="http://schemas.openxmlformats.org/officeDocument/2006/relationships/image" Target="../media/image181.wmf"/><Relationship Id="rId5" Type="http://schemas.openxmlformats.org/officeDocument/2006/relationships/oleObject" Target="../embeddings/oleObject121.bin"/><Relationship Id="rId4" Type="http://schemas.openxmlformats.org/officeDocument/2006/relationships/image" Target="../media/image180.wmf"/><Relationship Id="rId3" Type="http://schemas.openxmlformats.org/officeDocument/2006/relationships/oleObject" Target="../embeddings/oleObject120.bin"/><Relationship Id="rId2" Type="http://schemas.openxmlformats.org/officeDocument/2006/relationships/image" Target="../media/image179.wmf"/><Relationship Id="rId12" Type="http://schemas.openxmlformats.org/officeDocument/2006/relationships/vmlDrawing" Target="../drawings/vmlDrawing29.vml"/><Relationship Id="rId11" Type="http://schemas.openxmlformats.org/officeDocument/2006/relationships/slideLayout" Target="../slideLayouts/slideLayout2.xml"/><Relationship Id="rId10" Type="http://schemas.openxmlformats.org/officeDocument/2006/relationships/image" Target="../media/image183.wmf"/><Relationship Id="rId1" Type="http://schemas.openxmlformats.org/officeDocument/2006/relationships/oleObject" Target="../embeddings/oleObject119.bin"/></Relationships>
</file>

<file path=ppt/slides/_rels/slide102.xml.rels><?xml version="1.0" encoding="UTF-8" standalone="yes"?>
<Relationships xmlns="http://schemas.openxmlformats.org/package/2006/relationships"><Relationship Id="rId9" Type="http://schemas.openxmlformats.org/officeDocument/2006/relationships/oleObject" Target="../embeddings/oleObject128.bin"/><Relationship Id="rId8" Type="http://schemas.openxmlformats.org/officeDocument/2006/relationships/image" Target="../media/image187.wmf"/><Relationship Id="rId7" Type="http://schemas.openxmlformats.org/officeDocument/2006/relationships/oleObject" Target="../embeddings/oleObject127.bin"/><Relationship Id="rId6" Type="http://schemas.openxmlformats.org/officeDocument/2006/relationships/image" Target="../media/image186.wmf"/><Relationship Id="rId5" Type="http://schemas.openxmlformats.org/officeDocument/2006/relationships/oleObject" Target="../embeddings/oleObject126.bin"/><Relationship Id="rId4" Type="http://schemas.openxmlformats.org/officeDocument/2006/relationships/image" Target="../media/image185.wmf"/><Relationship Id="rId3" Type="http://schemas.openxmlformats.org/officeDocument/2006/relationships/oleObject" Target="../embeddings/oleObject125.bin"/><Relationship Id="rId2" Type="http://schemas.openxmlformats.org/officeDocument/2006/relationships/image" Target="../media/image184.wmf"/><Relationship Id="rId12" Type="http://schemas.openxmlformats.org/officeDocument/2006/relationships/vmlDrawing" Target="../drawings/vmlDrawing30.vml"/><Relationship Id="rId11" Type="http://schemas.openxmlformats.org/officeDocument/2006/relationships/slideLayout" Target="../slideLayouts/slideLayout2.xml"/><Relationship Id="rId10" Type="http://schemas.openxmlformats.org/officeDocument/2006/relationships/image" Target="../media/image188.wmf"/><Relationship Id="rId1" Type="http://schemas.openxmlformats.org/officeDocument/2006/relationships/oleObject" Target="../embeddings/oleObject124.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007712" y="4042399"/>
            <a:ext cx="10176573" cy="706755"/>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第八章：动态</a:t>
            </a:r>
            <a:r>
              <a:rPr lang="zh-CN" altLang="en-US" sz="4000" b="1" spc="600" dirty="0">
                <a:solidFill>
                  <a:schemeClr val="accent1"/>
                </a:solidFill>
                <a:latin typeface="微软雅黑" panose="020B0503020204020204" pitchFamily="34" charset="-122"/>
                <a:ea typeface="微软雅黑" panose="020B0503020204020204" pitchFamily="34" charset="-122"/>
              </a:rPr>
              <a:t>规划</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lang="zh-CN" altLang="en-US" dirty="0"/>
          </a:p>
        </p:txBody>
      </p:sp>
      <p:sp>
        <p:nvSpPr>
          <p:cNvPr id="3" name="内容占位符 2"/>
          <p:cNvSpPr>
            <a:spLocks noGrp="1"/>
          </p:cNvSpPr>
          <p:nvPr>
            <p:ph idx="1"/>
          </p:nvPr>
        </p:nvSpPr>
        <p:spPr/>
        <p:txBody>
          <a:bodyPr/>
          <a:lstStyle/>
          <a:p>
            <a:r>
              <a:rPr lang="zh-CN" altLang="en-US"/>
              <a:t>多阶段决策过程最优化问题举例</a:t>
            </a:r>
            <a:endParaRPr lang="zh-CN" altLang="en-US"/>
          </a:p>
          <a:p>
            <a:r>
              <a:rPr lang="zh-CN" altLang="en-US"/>
              <a:t>基本概念、基本方程与最优化原理</a:t>
            </a:r>
            <a:endParaRPr lang="zh-CN" altLang="en-US"/>
          </a:p>
          <a:p>
            <a:r>
              <a:rPr lang="zh-CN" altLang="en-US"/>
              <a:t>动态规划的应用</a:t>
            </a:r>
            <a:r>
              <a:rPr lang="en-US" altLang="zh-CN"/>
              <a:t>(1)</a:t>
            </a:r>
            <a:endParaRPr lang="en-US" altLang="zh-CN"/>
          </a:p>
          <a:p>
            <a:r>
              <a:rPr lang="zh-CN" altLang="en-US"/>
              <a:t>动态规划的应用</a:t>
            </a:r>
            <a:r>
              <a:rPr lang="en-US" altLang="zh-CN"/>
              <a:t>(2)</a:t>
            </a:r>
            <a:endParaRPr lang="en-US" altLang="zh-CN"/>
          </a:p>
          <a:p>
            <a:r>
              <a:rPr lang="zh-CN" altLang="en-US">
                <a:sym typeface="+mn-ea"/>
              </a:rPr>
              <a:t>动态规划的应用</a:t>
            </a:r>
            <a:r>
              <a:rPr lang="en-US" altLang="zh-CN">
                <a:sym typeface="+mn-ea"/>
              </a:rPr>
              <a:t>(3)</a:t>
            </a:r>
            <a:endParaRPr lang="en-US" altLang="zh-CN"/>
          </a:p>
          <a:p>
            <a:pPr marL="0" indent="0">
              <a:buNone/>
            </a:pP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TextBox 26"/>
          <p:cNvSpPr txBox="1">
            <a:spLocks noChangeArrowheads="1"/>
          </p:cNvSpPr>
          <p:nvPr/>
        </p:nvSpPr>
        <p:spPr bwMode="auto">
          <a:xfrm>
            <a:off x="200025" y="1428750"/>
            <a:ext cx="11264900" cy="4929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7194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dirty="0">
                <a:latin typeface="楷体" panose="02010609060101010101" pitchFamily="49" charset="-122"/>
                <a:ea typeface="楷体" panose="02010609060101010101" pitchFamily="49" charset="-122"/>
              </a:rPr>
              <a:t>动态规划是解决多阶段决策过程最优化问题的一种方法</a:t>
            </a:r>
            <a:r>
              <a:rPr lang="zh-CN" altLang="en-US" sz="2400" dirty="0">
                <a:latin typeface="楷体" panose="02010609060101010101" pitchFamily="49" charset="-122"/>
                <a:ea typeface="楷体" panose="02010609060101010101" pitchFamily="49" charset="-122"/>
              </a:rPr>
              <a:t>。它将困难的多阶段决策问题变换成一系列互相联系较容易的单阶段问题，解决了这一系列较容易的单阶段问题</a:t>
            </a:r>
            <a:r>
              <a:rPr lang="zh-CN" altLang="en-US" sz="2400" dirty="0">
                <a:solidFill>
                  <a:srgbClr val="FF0000"/>
                </a:solidFill>
                <a:latin typeface="楷体" panose="02010609060101010101" pitchFamily="49" charset="-122"/>
                <a:ea typeface="楷体" panose="02010609060101010101" pitchFamily="49" charset="-122"/>
              </a:rPr>
              <a:t>，也就解决了复杂的多阶段决策问题</a:t>
            </a:r>
            <a:r>
              <a:rPr lang="zh-CN" altLang="en-US" sz="2400"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a:p>
            <a:pPr eaLnBrk="1" hangingPunct="1">
              <a:lnSpc>
                <a:spcPct val="150000"/>
              </a:lnSpc>
            </a:pPr>
            <a:r>
              <a:rPr lang="zh-CN" altLang="en-US" sz="2400" dirty="0">
                <a:latin typeface="楷体" panose="02010609060101010101" pitchFamily="49" charset="-122"/>
                <a:ea typeface="楷体" panose="02010609060101010101" pitchFamily="49" charset="-122"/>
              </a:rPr>
              <a:t>虽然动态规划主要用于求解以</a:t>
            </a:r>
            <a:r>
              <a:rPr lang="zh-CN" altLang="en-US" sz="2400" dirty="0">
                <a:solidFill>
                  <a:srgbClr val="FF0000"/>
                </a:solidFill>
                <a:latin typeface="楷体" panose="02010609060101010101" pitchFamily="49" charset="-122"/>
                <a:ea typeface="楷体" panose="02010609060101010101" pitchFamily="49" charset="-122"/>
              </a:rPr>
              <a:t>时间划分阶段</a:t>
            </a:r>
            <a:r>
              <a:rPr lang="zh-CN" altLang="en-US" sz="2400" dirty="0">
                <a:latin typeface="楷体" panose="02010609060101010101" pitchFamily="49" charset="-122"/>
                <a:ea typeface="楷体" panose="02010609060101010101" pitchFamily="49" charset="-122"/>
              </a:rPr>
              <a:t>的动态过程的优化问题，但是一些与时间无关的静态规划</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如线性规划、非线性规划问题</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，只要</a:t>
            </a:r>
            <a:r>
              <a:rPr lang="zh-CN" altLang="en-US" sz="2400" dirty="0">
                <a:solidFill>
                  <a:srgbClr val="FF0000"/>
                </a:solidFill>
                <a:latin typeface="楷体" panose="02010609060101010101" pitchFamily="49" charset="-122"/>
                <a:ea typeface="楷体" panose="02010609060101010101" pitchFamily="49" charset="-122"/>
              </a:rPr>
              <a:t>人为地引进时间因</a:t>
            </a:r>
            <a:r>
              <a:rPr lang="zh-CN" altLang="en-US" sz="2400" dirty="0">
                <a:latin typeface="楷体" panose="02010609060101010101" pitchFamily="49" charset="-122"/>
                <a:ea typeface="楷体" panose="02010609060101010101" pitchFamily="49" charset="-122"/>
              </a:rPr>
              <a:t>素，把它视为多阶段决策过程，也可以用动态规划方法方便地求解。</a:t>
            </a:r>
            <a:endParaRPr lang="en-US" altLang="zh-CN" sz="2400" dirty="0">
              <a:latin typeface="楷体" panose="02010609060101010101" pitchFamily="49" charset="-122"/>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前</a:t>
            </a:r>
            <a:r>
              <a:rPr lang="zh-CN" altLang="en-US" dirty="0"/>
              <a:t>言</a:t>
            </a:r>
            <a:endParaRPr lang="zh-CN" altLang="en-US" dirty="0"/>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TextBox 26"/>
          <p:cNvSpPr txBox="1">
            <a:spLocks noChangeArrowheads="1"/>
          </p:cNvSpPr>
          <p:nvPr/>
        </p:nvSpPr>
        <p:spPr bwMode="auto">
          <a:xfrm>
            <a:off x="200025" y="1428750"/>
            <a:ext cx="11264900" cy="4929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71945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dirty="0">
                <a:latin typeface="楷体" panose="02010609060101010101" pitchFamily="49" charset="-122"/>
                <a:ea typeface="楷体" panose="02010609060101010101" pitchFamily="49" charset="-122"/>
              </a:rPr>
              <a:t>最初是由美国数学家</a:t>
            </a:r>
            <a:r>
              <a:rPr lang="en-US" altLang="zh-CN" sz="2400" dirty="0">
                <a:solidFill>
                  <a:srgbClr val="FF0000"/>
                </a:solidFill>
                <a:latin typeface="楷体" panose="02010609060101010101" pitchFamily="49" charset="-122"/>
                <a:ea typeface="楷体" panose="02010609060101010101" pitchFamily="49" charset="-122"/>
              </a:rPr>
              <a:t>Bellman</a:t>
            </a:r>
            <a:r>
              <a:rPr lang="zh-CN" altLang="en-US" sz="2400" dirty="0">
                <a:latin typeface="楷体" panose="02010609060101010101" pitchFamily="49" charset="-122"/>
                <a:ea typeface="楷体" panose="02010609060101010101" pitchFamily="49" charset="-122"/>
              </a:rPr>
              <a:t>等人根据一类多阶段决策问题的特性，提出了解决这类问题的最优化原理，并研究了许多实际问题而建立起来的。贝尔曼的名著</a:t>
            </a:r>
            <a:r>
              <a:rPr lang="zh-CN" altLang="en-US" sz="2400" dirty="0">
                <a:solidFill>
                  <a:srgbClr val="FF0000"/>
                </a:solidFill>
                <a:latin typeface="楷体" panose="02010609060101010101" pitchFamily="49" charset="-122"/>
                <a:ea typeface="楷体" panose="02010609060101010101" pitchFamily="49" charset="-122"/>
              </a:rPr>
              <a:t>《动态规划》</a:t>
            </a:r>
            <a:r>
              <a:rPr lang="zh-CN" altLang="en-US" sz="2400" dirty="0">
                <a:latin typeface="楷体" panose="02010609060101010101" pitchFamily="49" charset="-122"/>
                <a:ea typeface="楷体" panose="02010609060101010101" pitchFamily="49" charset="-122"/>
              </a:rPr>
              <a:t>于</a:t>
            </a:r>
            <a:r>
              <a:rPr lang="en-US" altLang="zh-CN" sz="2400" dirty="0">
                <a:latin typeface="楷体" panose="02010609060101010101" pitchFamily="49" charset="-122"/>
                <a:ea typeface="楷体" panose="02010609060101010101" pitchFamily="49" charset="-122"/>
              </a:rPr>
              <a:t>1957</a:t>
            </a:r>
            <a:r>
              <a:rPr lang="zh-CN" altLang="en-US" sz="2400" dirty="0">
                <a:latin typeface="楷体" panose="02010609060101010101" pitchFamily="49" charset="-122"/>
                <a:ea typeface="楷体" panose="02010609060101010101" pitchFamily="49" charset="-122"/>
              </a:rPr>
              <a:t>年出版，这成了动态规划的第一本著作。</a:t>
            </a:r>
            <a:endParaRPr lang="zh-CN" altLang="en-US" sz="2400" dirty="0">
              <a:latin typeface="楷体" panose="02010609060101010101" pitchFamily="49" charset="-122"/>
              <a:ea typeface="楷体" panose="02010609060101010101" pitchFamily="49" charset="-122"/>
            </a:endParaRPr>
          </a:p>
          <a:p>
            <a:pPr eaLnBrk="1" hangingPunct="1">
              <a:lnSpc>
                <a:spcPct val="150000"/>
              </a:lnSpc>
            </a:pPr>
            <a:r>
              <a:rPr lang="zh-CN" altLang="en-US" sz="2400" b="1" dirty="0">
                <a:latin typeface="楷体" panose="02010609060101010101" pitchFamily="49" charset="-122"/>
                <a:ea typeface="楷体" panose="02010609060101010101" pitchFamily="49" charset="-122"/>
              </a:rPr>
              <a:t>可以解决管理中的问题</a:t>
            </a:r>
            <a:r>
              <a:rPr lang="zh-CN" altLang="en-US" sz="2400" dirty="0">
                <a:latin typeface="楷体" panose="02010609060101010101" pitchFamily="49" charset="-122"/>
                <a:ea typeface="楷体" panose="02010609060101010101" pitchFamily="49" charset="-122"/>
              </a:rPr>
              <a:t>：最短路问题、装载问题、库存问题、资源分配问题、生产过程最优化问题等</a:t>
            </a:r>
            <a:endParaRPr lang="zh-CN" altLang="en-US" sz="2400" dirty="0">
              <a:latin typeface="楷体" panose="02010609060101010101" pitchFamily="49" charset="-122"/>
              <a:ea typeface="楷体" panose="02010609060101010101" pitchFamily="49" charset="-122"/>
            </a:endParaRPr>
          </a:p>
          <a:p>
            <a:pPr eaLnBrk="1" hangingPunct="1">
              <a:lnSpc>
                <a:spcPct val="150000"/>
              </a:lnSpc>
            </a:pPr>
            <a:r>
              <a:rPr lang="zh-CN" altLang="en-US" sz="2400" b="1" dirty="0">
                <a:latin typeface="楷体" panose="02010609060101010101" pitchFamily="49" charset="-122"/>
                <a:ea typeface="楷体" panose="02010609060101010101" pitchFamily="49" charset="-122"/>
              </a:rPr>
              <a:t>可以分为</a:t>
            </a:r>
            <a:r>
              <a:rPr lang="zh-CN" altLang="en-US"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离散确定性决策过程、离散随机性决策过程、连续确定性决策过程、连续随机性决策过程</a:t>
            </a:r>
            <a:endParaRPr lang="en-US" altLang="zh-CN" sz="2400" dirty="0">
              <a:latin typeface="楷体" panose="02010609060101010101" pitchFamily="49" charset="-122"/>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前</a:t>
            </a:r>
            <a:r>
              <a:rPr lang="zh-CN" altLang="en-US" dirty="0"/>
              <a:t>言</a:t>
            </a:r>
            <a:endParaRPr lang="zh-CN" altLang="en-US" dirty="0"/>
          </a:p>
        </p:txBody>
      </p:sp>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4"/>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Garamond" panose="02020404030301010803" pitchFamily="18" charset="0"/>
              </a:rPr>
            </a:fld>
            <a:endParaRPr lang="en-US" altLang="zh-CN" sz="1200" dirty="0">
              <a:latin typeface="Garamond" panose="02020404030301010803" pitchFamily="18" charset="0"/>
            </a:endParaRPr>
          </a:p>
        </p:txBody>
      </p:sp>
      <p:sp>
        <p:nvSpPr>
          <p:cNvPr id="15364" name="Rectangle 2"/>
          <p:cNvSpPr>
            <a:spLocks noGrp="1"/>
          </p:cNvSpPr>
          <p:nvPr>
            <p:ph type="title"/>
          </p:nvPr>
        </p:nvSpPr>
        <p:spPr>
          <a:xfrm>
            <a:off x="889000" y="411480"/>
            <a:ext cx="7835900" cy="641350"/>
          </a:xfrm>
        </p:spPr>
        <p:txBody>
          <a:bodyPr vert="horz" wrap="square" lIns="91440" tIns="45720" rIns="91440" bIns="45720" anchor="t" anchorCtr="0">
            <a:normAutofit fontScale="90000"/>
          </a:bodyPr>
          <a:p>
            <a:pPr eaLnBrk="1" hangingPunct="1"/>
            <a:r>
              <a:rPr lang="zh-CN" altLang="en-US" dirty="0">
                <a:sym typeface="+mn-ea"/>
              </a:rPr>
              <a:t>前言</a:t>
            </a:r>
            <a:r>
              <a:rPr lang="en-US" altLang="zh-CN" dirty="0">
                <a:sym typeface="+mn-ea"/>
              </a:rPr>
              <a:t>-</a:t>
            </a:r>
            <a:r>
              <a:rPr lang="zh-CN" altLang="en-US" sz="4400" dirty="0"/>
              <a:t>多阶段决策问题的典型例子</a:t>
            </a:r>
            <a:endParaRPr lang="zh-CN" altLang="en-US" sz="4400" dirty="0"/>
          </a:p>
        </p:txBody>
      </p:sp>
      <p:sp>
        <p:nvSpPr>
          <p:cNvPr id="439299" name="Rectangle 3"/>
          <p:cNvSpPr>
            <a:spLocks noGrp="1"/>
          </p:cNvSpPr>
          <p:nvPr>
            <p:ph idx="1"/>
          </p:nvPr>
        </p:nvSpPr>
        <p:spPr>
          <a:xfrm>
            <a:off x="516890" y="1143000"/>
            <a:ext cx="10745470" cy="5465445"/>
          </a:xfrm>
        </p:spPr>
        <p:txBody>
          <a:bodyPr vert="horz" wrap="square" lIns="91440" tIns="45720" rIns="91440" bIns="45720" anchor="t" anchorCtr="0">
            <a:noAutofit/>
          </a:bodyPr>
          <a:p>
            <a:pPr marL="0" indent="0" algn="just" fontAlgn="auto">
              <a:lnSpc>
                <a:spcPct val="150000"/>
              </a:lnSpc>
              <a:spcBef>
                <a:spcPts val="0"/>
              </a:spcBef>
              <a:buClr>
                <a:schemeClr val="hlink"/>
              </a:buClr>
              <a:buSzTx/>
              <a:buNone/>
            </a:pPr>
            <a:r>
              <a:rPr lang="zh-CN" altLang="en-US" sz="2400" dirty="0">
                <a:solidFill>
                  <a:schemeClr val="tx1"/>
                </a:solidFill>
              </a:rPr>
              <a:t>（</a:t>
            </a:r>
            <a:r>
              <a:rPr lang="en-US" altLang="zh-CN" sz="2400" dirty="0">
                <a:solidFill>
                  <a:schemeClr val="tx1"/>
                </a:solidFill>
              </a:rPr>
              <a:t>1</a:t>
            </a:r>
            <a:r>
              <a:rPr lang="zh-CN" altLang="en-US" sz="2400" dirty="0">
                <a:solidFill>
                  <a:schemeClr val="tx1"/>
                </a:solidFill>
              </a:rPr>
              <a:t>）企业在生产过程中，由于</a:t>
            </a:r>
            <a:r>
              <a:rPr lang="zh-CN" altLang="en-US" sz="2400" dirty="0">
                <a:solidFill>
                  <a:srgbClr val="FF0000"/>
                </a:solidFill>
              </a:rPr>
              <a:t>需求</a:t>
            </a:r>
            <a:r>
              <a:rPr lang="zh-CN" altLang="en-US" sz="2400" dirty="0">
                <a:solidFill>
                  <a:schemeClr val="tx1"/>
                </a:solidFill>
              </a:rPr>
              <a:t>是随着时间变化的因素，因此企业为了获得全年最佳经济效益，就要在整个生产过程中逐月或逐季的根据</a:t>
            </a:r>
            <a:r>
              <a:rPr lang="zh-CN" altLang="en-US" sz="2400" dirty="0">
                <a:solidFill>
                  <a:srgbClr val="FF0000"/>
                </a:solidFill>
              </a:rPr>
              <a:t>库存和需求</a:t>
            </a:r>
            <a:r>
              <a:rPr lang="zh-CN" altLang="en-US" sz="2400" dirty="0">
                <a:solidFill>
                  <a:schemeClr val="tx1"/>
                </a:solidFill>
              </a:rPr>
              <a:t>决定生产计划。</a:t>
            </a:r>
            <a:endParaRPr lang="zh-CN" altLang="en-US" sz="2400" dirty="0">
              <a:solidFill>
                <a:schemeClr val="tx1"/>
              </a:solidFill>
            </a:endParaRPr>
          </a:p>
          <a:p>
            <a:pPr marL="0" indent="0" algn="just" fontAlgn="auto">
              <a:lnSpc>
                <a:spcPct val="150000"/>
              </a:lnSpc>
              <a:spcBef>
                <a:spcPts val="0"/>
              </a:spcBef>
              <a:buClr>
                <a:schemeClr val="hlink"/>
              </a:buClr>
              <a:buSzTx/>
              <a:buNone/>
            </a:pPr>
            <a:r>
              <a:rPr lang="zh-CN" altLang="en-US" sz="2400" dirty="0">
                <a:solidFill>
                  <a:schemeClr val="tx1"/>
                </a:solidFill>
              </a:rPr>
              <a:t>（</a:t>
            </a:r>
            <a:r>
              <a:rPr lang="en-US" altLang="zh-CN" sz="2400" dirty="0">
                <a:solidFill>
                  <a:schemeClr val="tx1"/>
                </a:solidFill>
              </a:rPr>
              <a:t>2</a:t>
            </a:r>
            <a:r>
              <a:rPr lang="zh-CN" altLang="en-US" sz="2400" dirty="0">
                <a:solidFill>
                  <a:schemeClr val="tx1"/>
                </a:solidFill>
              </a:rPr>
              <a:t>）某种机器，可以在高、低两种负荷下生产。高负荷下生产的产量多，但每生产一个阶段后机器的完好率低；低负荷下生产时的情况则相反。现在需要安排该种机器在</a:t>
            </a:r>
            <a:r>
              <a:rPr lang="zh-CN" altLang="en-US" sz="2400" dirty="0">
                <a:solidFill>
                  <a:srgbClr val="FF0000"/>
                </a:solidFill>
              </a:rPr>
              <a:t>多个阶段内</a:t>
            </a:r>
            <a:r>
              <a:rPr lang="zh-CN" altLang="en-US" sz="2400" dirty="0">
                <a:solidFill>
                  <a:schemeClr val="tx1"/>
                </a:solidFill>
              </a:rPr>
              <a:t>的生产，问应该如何决定各阶段中机器的使用，使整个计划期内的总产量最大。</a:t>
            </a:r>
            <a:endParaRPr lang="zh-CN" altLang="en-US" sz="2400" dirty="0">
              <a:solidFill>
                <a:schemeClr val="tx1"/>
              </a:solidFill>
            </a:endParaRPr>
          </a:p>
          <a:p>
            <a:pPr marL="0" indent="0" algn="just" fontAlgn="auto">
              <a:lnSpc>
                <a:spcPct val="150000"/>
              </a:lnSpc>
              <a:spcBef>
                <a:spcPts val="0"/>
              </a:spcBef>
              <a:buClr>
                <a:schemeClr val="hlink"/>
              </a:buClr>
              <a:buSzTx/>
              <a:buNone/>
            </a:pPr>
            <a:r>
              <a:rPr lang="zh-CN" altLang="en-US" sz="2400" dirty="0">
                <a:solidFill>
                  <a:schemeClr val="tx1"/>
                </a:solidFill>
              </a:rPr>
              <a:t>（</a:t>
            </a:r>
            <a:r>
              <a:rPr lang="en-US" altLang="zh-CN" sz="2400" dirty="0">
                <a:solidFill>
                  <a:schemeClr val="tx1"/>
                </a:solidFill>
              </a:rPr>
              <a:t>3</a:t>
            </a:r>
            <a:r>
              <a:rPr lang="zh-CN" altLang="en-US" sz="2400" dirty="0">
                <a:solidFill>
                  <a:schemeClr val="tx1"/>
                </a:solidFill>
              </a:rPr>
              <a:t>）化工生产过程包含一系列的过程设备，如反应器、蒸馏塔、吸收器等等，</a:t>
            </a:r>
            <a:r>
              <a:rPr lang="zh-CN" altLang="en-US" sz="2400" dirty="0">
                <a:solidFill>
                  <a:srgbClr val="FF0000"/>
                </a:solidFill>
              </a:rPr>
              <a:t>前一设备的输出是后一设备的输入</a:t>
            </a:r>
            <a:r>
              <a:rPr lang="zh-CN" altLang="en-US" sz="2400" dirty="0">
                <a:solidFill>
                  <a:schemeClr val="tx1"/>
                </a:solidFill>
              </a:rPr>
              <a:t>。因此，应该如何控制生产过程中各个设备的输出和输入，使总产量最大。</a:t>
            </a:r>
            <a:endParaRPr lang="zh-CN" altLang="en-US" sz="2400" dirty="0">
              <a:solidFill>
                <a:schemeClr val="tx1"/>
              </a:solidFill>
            </a:endParaRPr>
          </a:p>
          <a:p>
            <a:pPr marL="0" algn="just" fontAlgn="auto">
              <a:lnSpc>
                <a:spcPct val="150000"/>
              </a:lnSpc>
              <a:spcBef>
                <a:spcPts val="0"/>
              </a:spcBef>
              <a:buClr>
                <a:schemeClr val="hlink"/>
              </a:buClr>
              <a:buSzTx/>
              <a:buNone/>
            </a:pPr>
            <a:endParaRPr lang="zh-CN" alt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9299">
                                            <p:txEl>
                                              <p:charRg st="0" end="72"/>
                                            </p:txEl>
                                          </p:spTgt>
                                        </p:tgtEl>
                                        <p:attrNameLst>
                                          <p:attrName>style.visibility</p:attrName>
                                        </p:attrNameLst>
                                      </p:cBhvr>
                                      <p:to>
                                        <p:strVal val="visible"/>
                                      </p:to>
                                    </p:set>
                                    <p:animEffect transition="in" filter="dissolve">
                                      <p:cBhvr>
                                        <p:cTn id="7" dur="500"/>
                                        <p:tgtEl>
                                          <p:spTgt spid="439299">
                                            <p:txEl>
                                              <p:charRg st="0" end="7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9299">
                                            <p:txEl>
                                              <p:charRg st="72" end="185"/>
                                            </p:txEl>
                                          </p:spTgt>
                                        </p:tgtEl>
                                        <p:attrNameLst>
                                          <p:attrName>style.visibility</p:attrName>
                                        </p:attrNameLst>
                                      </p:cBhvr>
                                      <p:to>
                                        <p:strVal val="visible"/>
                                      </p:to>
                                    </p:set>
                                    <p:animEffect transition="in" filter="dissolve">
                                      <p:cBhvr>
                                        <p:cTn id="12" dur="500"/>
                                        <p:tgtEl>
                                          <p:spTgt spid="439299">
                                            <p:txEl>
                                              <p:charRg st="72" end="1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9299">
                                            <p:txEl>
                                              <p:charRg st="185" end="266"/>
                                            </p:txEl>
                                          </p:spTgt>
                                        </p:tgtEl>
                                        <p:attrNameLst>
                                          <p:attrName>style.visibility</p:attrName>
                                        </p:attrNameLst>
                                      </p:cBhvr>
                                      <p:to>
                                        <p:strVal val="visible"/>
                                      </p:to>
                                    </p:set>
                                    <p:animEffect transition="in" filter="dissolve">
                                      <p:cBhvr>
                                        <p:cTn id="17" dur="500"/>
                                        <p:tgtEl>
                                          <p:spTgt spid="439299">
                                            <p:txEl>
                                              <p:charRg st="185" end="2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4"/>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Garamond" panose="02020404030301010803" pitchFamily="18" charset="0"/>
              </a:rPr>
            </a:fld>
            <a:endParaRPr lang="en-US" altLang="zh-CN" sz="1200" dirty="0">
              <a:latin typeface="Garamond" panose="02020404030301010803" pitchFamily="18" charset="0"/>
            </a:endParaRPr>
          </a:p>
        </p:txBody>
      </p:sp>
      <p:sp>
        <p:nvSpPr>
          <p:cNvPr id="15364" name="Rectangle 2"/>
          <p:cNvSpPr>
            <a:spLocks noGrp="1"/>
          </p:cNvSpPr>
          <p:nvPr>
            <p:ph type="title"/>
          </p:nvPr>
        </p:nvSpPr>
        <p:spPr>
          <a:xfrm>
            <a:off x="889000" y="411480"/>
            <a:ext cx="7835900" cy="641350"/>
          </a:xfrm>
        </p:spPr>
        <p:txBody>
          <a:bodyPr vert="horz" wrap="square" lIns="91440" tIns="45720" rIns="91440" bIns="45720" anchor="t" anchorCtr="0">
            <a:normAutofit fontScale="90000"/>
          </a:bodyPr>
          <a:p>
            <a:pPr eaLnBrk="1" hangingPunct="1"/>
            <a:r>
              <a:rPr lang="zh-CN" altLang="en-US" dirty="0">
                <a:sym typeface="+mn-ea"/>
              </a:rPr>
              <a:t>前言</a:t>
            </a:r>
            <a:r>
              <a:rPr lang="en-US" altLang="zh-CN" dirty="0">
                <a:sym typeface="+mn-ea"/>
              </a:rPr>
              <a:t>-</a:t>
            </a:r>
            <a:r>
              <a:rPr lang="zh-CN" altLang="en-US" sz="4400" dirty="0"/>
              <a:t>多阶段决策问题的典型例子</a:t>
            </a:r>
            <a:endParaRPr lang="zh-CN" altLang="en-US" sz="4400" dirty="0"/>
          </a:p>
        </p:txBody>
      </p:sp>
      <p:sp>
        <p:nvSpPr>
          <p:cNvPr id="439299" name="Rectangle 3"/>
          <p:cNvSpPr>
            <a:spLocks noGrp="1"/>
          </p:cNvSpPr>
          <p:nvPr>
            <p:ph idx="1"/>
          </p:nvPr>
        </p:nvSpPr>
        <p:spPr>
          <a:xfrm>
            <a:off x="516890" y="1143000"/>
            <a:ext cx="10745470" cy="5274310"/>
          </a:xfrm>
        </p:spPr>
        <p:txBody>
          <a:bodyPr vert="horz" wrap="square" lIns="91440" tIns="45720" rIns="91440" bIns="45720" anchor="t" anchorCtr="0">
            <a:noAutofit/>
          </a:bodyPr>
          <a:p>
            <a:pPr marL="0" algn="just" fontAlgn="auto">
              <a:lnSpc>
                <a:spcPct val="150000"/>
              </a:lnSpc>
              <a:spcBef>
                <a:spcPts val="0"/>
              </a:spcBef>
              <a:buClr>
                <a:schemeClr val="hlink"/>
              </a:buClr>
              <a:buSzTx/>
              <a:buNone/>
            </a:pPr>
            <a:r>
              <a:rPr lang="zh-CN" altLang="en-US" sz="2400" dirty="0">
                <a:sym typeface="+mn-ea"/>
              </a:rPr>
              <a:t>（4）某台设备，例如汽车，刚买来时故障少，耗油低，出车时间长，处理价值和经济效益高。随着</a:t>
            </a:r>
            <a:r>
              <a:rPr lang="zh-CN" altLang="en-US" sz="2400" dirty="0">
                <a:solidFill>
                  <a:srgbClr val="FF0000"/>
                </a:solidFill>
                <a:sym typeface="+mn-ea"/>
              </a:rPr>
              <a:t>使用时间的增加</a:t>
            </a:r>
            <a:r>
              <a:rPr lang="zh-CN" altLang="en-US" sz="2400" dirty="0">
                <a:sym typeface="+mn-ea"/>
              </a:rPr>
              <a:t>则变为故障多，耗油高，维修费用增加，经济效益差。使用时间愈长，处理价值也愈低。另外，</a:t>
            </a:r>
            <a:r>
              <a:rPr lang="zh-CN" altLang="en-US" sz="2400" dirty="0">
                <a:solidFill>
                  <a:srgbClr val="FF0000"/>
                </a:solidFill>
                <a:sym typeface="+mn-ea"/>
              </a:rPr>
              <a:t>每次更新都要付出更新费用</a:t>
            </a:r>
            <a:r>
              <a:rPr lang="zh-CN" altLang="en-US" sz="2400" dirty="0">
                <a:sym typeface="+mn-ea"/>
              </a:rPr>
              <a:t>。因此，应当如何决定设备的使用年限，使总的效益最佳。</a:t>
            </a:r>
            <a:endParaRPr lang="zh-CN" altLang="en-US" sz="2400" dirty="0"/>
          </a:p>
          <a:p>
            <a:pPr marL="0" algn="just" fontAlgn="auto">
              <a:lnSpc>
                <a:spcPct val="150000"/>
              </a:lnSpc>
              <a:spcBef>
                <a:spcPts val="0"/>
              </a:spcBef>
              <a:buClr>
                <a:schemeClr val="hlink"/>
              </a:buClr>
              <a:buSzTx/>
              <a:buNone/>
            </a:pPr>
            <a:r>
              <a:rPr lang="zh-CN" altLang="en-US" sz="2400" dirty="0">
                <a:sym typeface="+mn-ea"/>
              </a:rPr>
              <a:t>（5）发射一枚火箭去击中运动中的目标。由于</a:t>
            </a:r>
            <a:r>
              <a:rPr lang="zh-CN" altLang="en-US" sz="2400" dirty="0">
                <a:solidFill>
                  <a:srgbClr val="FF0000"/>
                </a:solidFill>
                <a:sym typeface="+mn-ea"/>
              </a:rPr>
              <a:t>目标的行动是不断改变的</a:t>
            </a:r>
            <a:r>
              <a:rPr lang="zh-CN" altLang="en-US" sz="2400" dirty="0">
                <a:sym typeface="+mn-ea"/>
              </a:rPr>
              <a:t>，因此应如何根据目标运动情况，不断调整火箭飞行的方向与速度，使之最快地命中目标，等等。</a:t>
            </a:r>
            <a:endParaRPr lang="zh-CN" altLang="en-US" sz="2400" dirty="0"/>
          </a:p>
          <a:p>
            <a:pPr marL="0" indent="0" algn="just" eaLnBrk="1" hangingPunct="1">
              <a:spcBef>
                <a:spcPct val="50000"/>
              </a:spcBef>
              <a:buClr>
                <a:schemeClr val="hlink"/>
              </a:buClr>
              <a:buSzTx/>
              <a:buNone/>
            </a:pPr>
            <a:endParaRPr lang="zh-CN" altLang="en-US" sz="2400" dirty="0">
              <a:solidFill>
                <a:schemeClr val="tx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4"/>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Garamond" panose="02020404030301010803" pitchFamily="18" charset="0"/>
              </a:rPr>
            </a:fld>
            <a:endParaRPr lang="en-US" altLang="zh-CN" sz="1200" dirty="0">
              <a:latin typeface="Garamond" panose="02020404030301010803" pitchFamily="18" charset="0"/>
            </a:endParaRPr>
          </a:p>
        </p:txBody>
      </p:sp>
      <p:sp>
        <p:nvSpPr>
          <p:cNvPr id="15364" name="Rectangle 2"/>
          <p:cNvSpPr>
            <a:spLocks noGrp="1"/>
          </p:cNvSpPr>
          <p:nvPr>
            <p:ph type="title"/>
          </p:nvPr>
        </p:nvSpPr>
        <p:spPr>
          <a:xfrm>
            <a:off x="889000" y="411480"/>
            <a:ext cx="7835900" cy="641350"/>
          </a:xfrm>
        </p:spPr>
        <p:txBody>
          <a:bodyPr vert="horz" wrap="square" lIns="91440" tIns="45720" rIns="91440" bIns="45720" anchor="t" anchorCtr="0">
            <a:normAutofit fontScale="90000"/>
          </a:bodyPr>
          <a:p>
            <a:pPr eaLnBrk="1" hangingPunct="1"/>
            <a:r>
              <a:rPr lang="zh-CN" altLang="en-US" dirty="0">
                <a:sym typeface="+mn-ea"/>
              </a:rPr>
              <a:t>前言</a:t>
            </a:r>
            <a:r>
              <a:rPr lang="en-US" altLang="zh-CN" dirty="0">
                <a:sym typeface="+mn-ea"/>
              </a:rPr>
              <a:t>-</a:t>
            </a:r>
            <a:r>
              <a:rPr lang="zh-CN" altLang="en-US" sz="4400" dirty="0"/>
              <a:t>动态规划方法的</a:t>
            </a:r>
            <a:r>
              <a:rPr lang="zh-CN" altLang="en-US" sz="4400" dirty="0"/>
              <a:t>特点</a:t>
            </a:r>
            <a:endParaRPr lang="zh-CN" altLang="en-US" sz="4400" dirty="0"/>
          </a:p>
        </p:txBody>
      </p:sp>
      <p:sp>
        <p:nvSpPr>
          <p:cNvPr id="439299" name="Rectangle 3"/>
          <p:cNvSpPr>
            <a:spLocks noGrp="1"/>
          </p:cNvSpPr>
          <p:nvPr>
            <p:ph idx="1"/>
          </p:nvPr>
        </p:nvSpPr>
        <p:spPr>
          <a:xfrm>
            <a:off x="516890" y="1143000"/>
            <a:ext cx="10745470" cy="5274310"/>
          </a:xfrm>
        </p:spPr>
        <p:txBody>
          <a:bodyPr vert="horz" wrap="square" lIns="91440" tIns="45720" rIns="91440" bIns="45720" anchor="t" anchorCtr="0">
            <a:noAutofit/>
          </a:bodyPr>
          <a:p>
            <a:pPr marL="0" indent="0" algn="just" fontAlgn="auto">
              <a:lnSpc>
                <a:spcPts val="2880"/>
              </a:lnSpc>
              <a:spcBef>
                <a:spcPts val="0"/>
              </a:spcBef>
              <a:buClr>
                <a:srgbClr val="FF3300"/>
              </a:buClr>
              <a:buSzPct val="150000"/>
              <a:buFont typeface="Wingdings" panose="05000000000000000000" pitchFamily="2" charset="2"/>
              <a:buNone/>
            </a:pPr>
            <a:r>
              <a:rPr lang="zh-CN" altLang="en-US" sz="2400" dirty="0">
                <a:solidFill>
                  <a:srgbClr val="FF0000"/>
                </a:solidFill>
                <a:cs typeface="楷体" panose="02010609060101010101" pitchFamily="49" charset="-122"/>
                <a:sym typeface="+mn-ea"/>
              </a:rPr>
              <a:t>优点</a:t>
            </a:r>
            <a:r>
              <a:rPr lang="zh-CN" altLang="en-US" sz="2400" dirty="0">
                <a:cs typeface="楷体" panose="02010609060101010101" pitchFamily="49" charset="-122"/>
                <a:sym typeface="+mn-ea"/>
              </a:rPr>
              <a:t>：</a:t>
            </a:r>
            <a:endParaRPr lang="zh-CN" altLang="en-US" sz="2400" dirty="0">
              <a:cs typeface="楷体" panose="02010609060101010101" pitchFamily="49" charset="-122"/>
            </a:endParaRPr>
          </a:p>
          <a:p>
            <a:pPr algn="just" fontAlgn="auto">
              <a:lnSpc>
                <a:spcPts val="2880"/>
              </a:lnSpc>
              <a:spcBef>
                <a:spcPts val="0"/>
              </a:spcBef>
              <a:buSzPct val="120000"/>
              <a:buNone/>
            </a:pPr>
            <a:r>
              <a:rPr lang="zh-CN" altLang="en-US" sz="2400" dirty="0">
                <a:cs typeface="楷体" panose="02010609060101010101" pitchFamily="49" charset="-122"/>
                <a:sym typeface="+mn-ea"/>
              </a:rPr>
              <a:t>    ①许多问题用动态规划研究求解比线性规划、非线性规划更有效，特别是</a:t>
            </a:r>
            <a:r>
              <a:rPr lang="zh-CN" altLang="en-US" sz="2400" dirty="0">
                <a:solidFill>
                  <a:srgbClr val="FF0000"/>
                </a:solidFill>
                <a:cs typeface="楷体" panose="02010609060101010101" pitchFamily="49" charset="-122"/>
                <a:sym typeface="+mn-ea"/>
              </a:rPr>
              <a:t>离散性</a:t>
            </a:r>
            <a:r>
              <a:rPr lang="zh-CN" altLang="en-US" sz="2400" dirty="0">
                <a:cs typeface="楷体" panose="02010609060101010101" pitchFamily="49" charset="-122"/>
                <a:sym typeface="+mn-ea"/>
              </a:rPr>
              <a:t>问题，解析数学无用武之地，而动态规划成为得力工具；</a:t>
            </a:r>
            <a:endParaRPr lang="zh-CN" altLang="en-US" sz="2400" dirty="0">
              <a:cs typeface="楷体" panose="02010609060101010101" pitchFamily="49" charset="-122"/>
            </a:endParaRPr>
          </a:p>
          <a:p>
            <a:pPr algn="just" fontAlgn="auto">
              <a:lnSpc>
                <a:spcPts val="2880"/>
              </a:lnSpc>
              <a:spcBef>
                <a:spcPts val="0"/>
              </a:spcBef>
              <a:buClrTx/>
              <a:buSzPct val="120000"/>
              <a:buNone/>
            </a:pPr>
            <a:r>
              <a:rPr lang="zh-CN" altLang="en-US" sz="2400" dirty="0">
                <a:cs typeface="楷体" panose="02010609060101010101" pitchFamily="49" charset="-122"/>
                <a:sym typeface="+mn-ea"/>
              </a:rPr>
              <a:t>    ②某些情况下，用动态规划处理不仅能作</a:t>
            </a:r>
            <a:r>
              <a:rPr lang="zh-CN" altLang="en-US" sz="2400" dirty="0">
                <a:solidFill>
                  <a:srgbClr val="FF0000"/>
                </a:solidFill>
                <a:cs typeface="楷体" panose="02010609060101010101" pitchFamily="49" charset="-122"/>
                <a:sym typeface="+mn-ea"/>
              </a:rPr>
              <a:t>定性描述分析</a:t>
            </a:r>
            <a:r>
              <a:rPr lang="zh-CN" altLang="en-US" sz="2400" dirty="0">
                <a:cs typeface="楷体" panose="02010609060101010101" pitchFamily="49" charset="-122"/>
                <a:sym typeface="+mn-ea"/>
              </a:rPr>
              <a:t>，且可利用计算</a:t>
            </a:r>
            <a:r>
              <a:rPr lang="zh-CN" altLang="en-US" sz="2400" dirty="0">
                <a:cs typeface="楷体" panose="02010609060101010101" pitchFamily="49" charset="-122"/>
                <a:sym typeface="+mn-ea"/>
              </a:rPr>
              <a:t>机给出求其</a:t>
            </a:r>
            <a:r>
              <a:rPr lang="zh-CN" altLang="en-US" sz="2400" dirty="0">
                <a:solidFill>
                  <a:srgbClr val="FF0000"/>
                </a:solidFill>
                <a:cs typeface="楷体" panose="02010609060101010101" pitchFamily="49" charset="-122"/>
                <a:sym typeface="+mn-ea"/>
              </a:rPr>
              <a:t>数值解</a:t>
            </a:r>
            <a:r>
              <a:rPr lang="zh-CN" altLang="en-US" sz="2400" dirty="0">
                <a:cs typeface="楷体" panose="02010609060101010101" pitchFamily="49" charset="-122"/>
                <a:sym typeface="+mn-ea"/>
              </a:rPr>
              <a:t>的方法。</a:t>
            </a:r>
            <a:endParaRPr lang="zh-CN" altLang="en-US" sz="2400" dirty="0">
              <a:cs typeface="楷体" panose="02010609060101010101" pitchFamily="49" charset="-122"/>
              <a:sym typeface="+mn-ea"/>
            </a:endParaRPr>
          </a:p>
          <a:p>
            <a:pPr marL="0" indent="0" algn="just" fontAlgn="auto">
              <a:lnSpc>
                <a:spcPts val="2880"/>
              </a:lnSpc>
              <a:spcBef>
                <a:spcPts val="0"/>
              </a:spcBef>
              <a:buClrTx/>
              <a:buSzPct val="120000"/>
              <a:buFont typeface="Wingdings" panose="05000000000000000000" pitchFamily="2" charset="2"/>
              <a:buNone/>
            </a:pPr>
            <a:r>
              <a:rPr lang="zh-CN" altLang="en-US" sz="2400" dirty="0">
                <a:solidFill>
                  <a:srgbClr val="FF0000"/>
                </a:solidFill>
                <a:cs typeface="楷体" panose="02010609060101010101" pitchFamily="49" charset="-122"/>
                <a:sym typeface="+mn-ea"/>
              </a:rPr>
              <a:t>缺点</a:t>
            </a:r>
            <a:r>
              <a:rPr lang="zh-CN" altLang="en-US" sz="2400" dirty="0">
                <a:cs typeface="楷体" panose="02010609060101010101" pitchFamily="49" charset="-122"/>
                <a:sym typeface="+mn-ea"/>
              </a:rPr>
              <a:t>：</a:t>
            </a:r>
            <a:endParaRPr lang="zh-CN" altLang="en-US" sz="2400" dirty="0">
              <a:cs typeface="楷体" panose="02010609060101010101" pitchFamily="49" charset="-122"/>
            </a:endParaRPr>
          </a:p>
          <a:p>
            <a:pPr marL="0" indent="0" algn="just" fontAlgn="auto">
              <a:lnSpc>
                <a:spcPts val="2880"/>
              </a:lnSpc>
              <a:spcBef>
                <a:spcPts val="0"/>
              </a:spcBef>
              <a:buClrTx/>
              <a:buSzPct val="120000"/>
              <a:buFont typeface="Wingdings" panose="05000000000000000000" pitchFamily="2" charset="2"/>
              <a:buNone/>
            </a:pPr>
            <a:r>
              <a:rPr lang="en-US" altLang="zh-CN" sz="2400" dirty="0">
                <a:cs typeface="楷体" panose="02010609060101010101" pitchFamily="49" charset="-122"/>
                <a:sym typeface="+mn-ea"/>
              </a:rPr>
              <a:t>    </a:t>
            </a:r>
            <a:r>
              <a:rPr lang="zh-CN" altLang="en-US" sz="2400" dirty="0">
                <a:cs typeface="楷体" panose="02010609060101010101" pitchFamily="49" charset="-122"/>
                <a:sym typeface="+mn-ea"/>
              </a:rPr>
              <a:t>①</a:t>
            </a:r>
            <a:r>
              <a:rPr lang="zh-CN" altLang="en-US" sz="2400" dirty="0">
                <a:solidFill>
                  <a:srgbClr val="FF0000"/>
                </a:solidFill>
                <a:cs typeface="楷体" panose="02010609060101010101" pitchFamily="49" charset="-122"/>
                <a:sym typeface="+mn-ea"/>
              </a:rPr>
              <a:t>没有统一的处理方法</a:t>
            </a:r>
            <a:r>
              <a:rPr lang="zh-CN" altLang="en-US" sz="2400" dirty="0">
                <a:cs typeface="楷体" panose="02010609060101010101" pitchFamily="49" charset="-122"/>
                <a:sym typeface="+mn-ea"/>
              </a:rPr>
              <a:t>，求解时要根据问题的性质，结合多种数学技巧。因此，实践经验及创造性思维将起重要的引导作用。</a:t>
            </a:r>
            <a:endParaRPr lang="zh-CN" altLang="en-US" sz="2400" dirty="0">
              <a:cs typeface="楷体" panose="02010609060101010101" pitchFamily="49" charset="-122"/>
              <a:sym typeface="+mn-ea"/>
            </a:endParaRPr>
          </a:p>
          <a:p>
            <a:pPr marL="0" indent="0" algn="just" fontAlgn="auto">
              <a:lnSpc>
                <a:spcPts val="2880"/>
              </a:lnSpc>
              <a:spcBef>
                <a:spcPts val="0"/>
              </a:spcBef>
              <a:buClrTx/>
              <a:buSzPct val="120000"/>
              <a:buFont typeface="Wingdings" panose="05000000000000000000" pitchFamily="2" charset="2"/>
              <a:buNone/>
            </a:pPr>
            <a:r>
              <a:rPr lang="zh-CN" altLang="en-US" sz="2400" dirty="0">
                <a:cs typeface="楷体" panose="02010609060101010101" pitchFamily="49" charset="-122"/>
                <a:sym typeface="+mn-ea"/>
              </a:rPr>
              <a:t> </a:t>
            </a:r>
            <a:r>
              <a:rPr lang="en-US" altLang="zh-CN" sz="2400" dirty="0">
                <a:cs typeface="楷体" panose="02010609060101010101" pitchFamily="49" charset="-122"/>
                <a:sym typeface="+mn-ea"/>
              </a:rPr>
              <a:t>   </a:t>
            </a:r>
            <a:r>
              <a:rPr lang="zh-CN" altLang="en-US" sz="2400" dirty="0">
                <a:cs typeface="楷体" panose="02010609060101010101" pitchFamily="49" charset="-122"/>
                <a:sym typeface="+mn-ea"/>
              </a:rPr>
              <a:t>②“维数障碍”：当</a:t>
            </a:r>
            <a:r>
              <a:rPr lang="zh-CN" altLang="en-US" sz="2400" dirty="0">
                <a:solidFill>
                  <a:srgbClr val="FF0000"/>
                </a:solidFill>
                <a:cs typeface="楷体" panose="02010609060101010101" pitchFamily="49" charset="-122"/>
                <a:sym typeface="+mn-ea"/>
              </a:rPr>
              <a:t>变量个数太多</a:t>
            </a:r>
            <a:r>
              <a:rPr lang="zh-CN" altLang="en-US" sz="2400" dirty="0">
                <a:cs typeface="楷体" panose="02010609060101010101" pitchFamily="49" charset="-122"/>
                <a:sym typeface="+mn-ea"/>
              </a:rPr>
              <a:t>时，由于计算机内存和速度的限制导致问题无法解决。有些问题由于涉及的函数没有理想的性质使问题只能用动态规划描述，而不能用动态规划方法求解。</a:t>
            </a:r>
            <a:endParaRPr lang="zh-CN" altLang="en-US" sz="2400" dirty="0">
              <a:cs typeface="楷体" panose="02010609060101010101" pitchFamily="49" charset="-122"/>
            </a:endParaRPr>
          </a:p>
          <a:p>
            <a:pPr algn="just" eaLnBrk="1" hangingPunct="1">
              <a:spcBef>
                <a:spcPct val="50000"/>
              </a:spcBef>
              <a:buClrTx/>
              <a:buSzPct val="120000"/>
              <a:buNone/>
            </a:pPr>
            <a:r>
              <a:rPr lang="zh-CN" altLang="en-US" sz="2400" dirty="0">
                <a:cs typeface="楷体" panose="02010609060101010101" pitchFamily="49" charset="-122"/>
                <a:sym typeface="+mn-ea"/>
              </a:rPr>
              <a:t> </a:t>
            </a:r>
            <a:endParaRPr lang="zh-CN" altLang="en-US" sz="2400" dirty="0">
              <a:cs typeface="楷体" panose="02010609060101010101" pitchFamily="49" charset="-122"/>
            </a:endParaRPr>
          </a:p>
          <a:p>
            <a:pPr marL="0" indent="0" algn="just" eaLnBrk="1" hangingPunct="1">
              <a:spcBef>
                <a:spcPct val="50000"/>
              </a:spcBef>
              <a:buClr>
                <a:schemeClr val="hlink"/>
              </a:buClr>
              <a:buSzTx/>
              <a:buNone/>
            </a:pPr>
            <a:endParaRPr lang="zh-CN" altLang="en-US" sz="2400" dirty="0">
              <a:solidFill>
                <a:schemeClr val="tx1"/>
              </a:solidFill>
              <a:cs typeface="楷体" panose="02010609060101010101" pitchFamily="49"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4"/>
          <p:cNvSpPr txBox="1">
            <a:spLocks noGrp="1"/>
          </p:cNvSpPr>
          <p:nvPr>
            <p:ph type="sldNum" sz="quarter" idx="11"/>
          </p:nvPr>
        </p:nvSpPr>
        <p:spPr bwMode="auto"/>
        <p:txBody>
          <a:bodyPr vert="horz" wrap="square" lIns="91440" tIns="45720" rIns="91440" bIns="45720" numCol="1" anchor="b"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latin typeface="Garamond" panose="02020404030301010803" pitchFamily="18" charset="0"/>
              </a:rPr>
            </a:fld>
            <a:endParaRPr lang="en-US" altLang="zh-CN" sz="1200" dirty="0">
              <a:latin typeface="Garamond" panose="02020404030301010803" pitchFamily="18" charset="0"/>
            </a:endParaRPr>
          </a:p>
        </p:txBody>
      </p:sp>
      <p:sp>
        <p:nvSpPr>
          <p:cNvPr id="15364" name="Rectangle 2"/>
          <p:cNvSpPr>
            <a:spLocks noGrp="1"/>
          </p:cNvSpPr>
          <p:nvPr>
            <p:ph type="title"/>
          </p:nvPr>
        </p:nvSpPr>
        <p:spPr>
          <a:xfrm>
            <a:off x="889000" y="411480"/>
            <a:ext cx="7835900" cy="641350"/>
          </a:xfrm>
        </p:spPr>
        <p:txBody>
          <a:bodyPr vert="horz" wrap="square" lIns="91440" tIns="45720" rIns="91440" bIns="45720" anchor="t" anchorCtr="0">
            <a:normAutofit fontScale="90000"/>
          </a:bodyPr>
          <a:p>
            <a:pPr eaLnBrk="1" hangingPunct="1"/>
            <a:r>
              <a:rPr lang="zh-CN" altLang="en-US" dirty="0">
                <a:sym typeface="+mn-ea"/>
              </a:rPr>
              <a:t>前言</a:t>
            </a:r>
            <a:r>
              <a:rPr lang="en-US" altLang="zh-CN" dirty="0">
                <a:sym typeface="+mn-ea"/>
              </a:rPr>
              <a:t>-</a:t>
            </a:r>
            <a:r>
              <a:rPr lang="zh-CN" altLang="en-US" sz="4400" dirty="0"/>
              <a:t>动态规划方法的</a:t>
            </a:r>
            <a:r>
              <a:rPr lang="zh-CN" altLang="en-US" sz="4400" dirty="0"/>
              <a:t>特点</a:t>
            </a:r>
            <a:endParaRPr lang="zh-CN" altLang="en-US" sz="4400" dirty="0"/>
          </a:p>
        </p:txBody>
      </p:sp>
      <p:sp>
        <p:nvSpPr>
          <p:cNvPr id="439299" name="Rectangle 3"/>
          <p:cNvSpPr>
            <a:spLocks noGrp="1"/>
          </p:cNvSpPr>
          <p:nvPr>
            <p:ph idx="1"/>
          </p:nvPr>
        </p:nvSpPr>
        <p:spPr>
          <a:xfrm>
            <a:off x="516890" y="1143000"/>
            <a:ext cx="10745470" cy="5274310"/>
          </a:xfrm>
        </p:spPr>
        <p:txBody>
          <a:bodyPr vert="horz" wrap="square" lIns="91440" tIns="45720" rIns="91440" bIns="45720" anchor="t" anchorCtr="0">
            <a:noAutofit/>
          </a:bodyPr>
          <a:p>
            <a:pPr algn="just" fontAlgn="auto">
              <a:lnSpc>
                <a:spcPct val="150000"/>
              </a:lnSpc>
              <a:spcBef>
                <a:spcPts val="0"/>
              </a:spcBef>
              <a:buClrTx/>
              <a:buSzPct val="120000"/>
              <a:buNone/>
            </a:pPr>
            <a:r>
              <a:rPr lang="en-US" altLang="zh-CN" sz="2400" b="1" dirty="0">
                <a:latin typeface="Times New Roman" panose="02020603050405020304" pitchFamily="18" charset="0"/>
                <a:ea typeface="楷体_GB2312" pitchFamily="49" charset="-122"/>
                <a:sym typeface="+mn-ea"/>
              </a:rPr>
              <a:t>         </a:t>
            </a:r>
            <a:r>
              <a:rPr lang="en-US" altLang="zh-CN" sz="2400" b="1" dirty="0">
                <a:cs typeface="楷体" panose="02010609060101010101" pitchFamily="49" charset="-122"/>
                <a:sym typeface="+mn-ea"/>
              </a:rPr>
              <a:t> </a:t>
            </a:r>
            <a:r>
              <a:rPr lang="zh-CN" altLang="en-US" sz="2400" dirty="0">
                <a:cs typeface="楷体" panose="02010609060101010101" pitchFamily="49" charset="-122"/>
                <a:sym typeface="+mn-ea"/>
              </a:rPr>
              <a:t>应特别指出的是，动态规划是解决某一类问题的一种方法，是</a:t>
            </a:r>
            <a:r>
              <a:rPr lang="zh-CN" altLang="en-US" sz="2400" dirty="0">
                <a:solidFill>
                  <a:srgbClr val="FF0000"/>
                </a:solidFill>
                <a:cs typeface="楷体" panose="02010609060101010101" pitchFamily="49" charset="-122"/>
                <a:sym typeface="+mn-ea"/>
              </a:rPr>
              <a:t>分析问题的一种途径</a:t>
            </a:r>
            <a:r>
              <a:rPr lang="zh-CN" altLang="en-US" sz="2400" dirty="0">
                <a:cs typeface="楷体" panose="02010609060101010101" pitchFamily="49" charset="-122"/>
                <a:sym typeface="+mn-ea"/>
              </a:rPr>
              <a:t>，而不是一种特殊算法</a:t>
            </a:r>
            <a:r>
              <a:rPr lang="en-US" altLang="zh-CN" sz="2400" dirty="0">
                <a:cs typeface="楷体" panose="02010609060101010101" pitchFamily="49" charset="-122"/>
                <a:sym typeface="+mn-ea"/>
              </a:rPr>
              <a:t>(</a:t>
            </a:r>
            <a:r>
              <a:rPr lang="zh-CN" altLang="en-US" sz="2400" dirty="0">
                <a:cs typeface="楷体" panose="02010609060101010101" pitchFamily="49" charset="-122"/>
                <a:sym typeface="+mn-ea"/>
              </a:rPr>
              <a:t>如线性规划是一种算法</a:t>
            </a:r>
            <a:r>
              <a:rPr lang="en-US" altLang="zh-CN" sz="2400" dirty="0">
                <a:cs typeface="楷体" panose="02010609060101010101" pitchFamily="49" charset="-122"/>
                <a:sym typeface="+mn-ea"/>
              </a:rPr>
              <a:t>)</a:t>
            </a:r>
            <a:r>
              <a:rPr lang="zh-CN" altLang="en-US" sz="2400" dirty="0">
                <a:cs typeface="楷体" panose="02010609060101010101" pitchFamily="49" charset="-122"/>
                <a:sym typeface="+mn-ea"/>
              </a:rPr>
              <a:t>。因而，它不象线性规划那样有一个</a:t>
            </a:r>
            <a:r>
              <a:rPr lang="zh-CN" altLang="en-US" sz="2400" dirty="0">
                <a:solidFill>
                  <a:srgbClr val="FF0000"/>
                </a:solidFill>
                <a:cs typeface="楷体" panose="02010609060101010101" pitchFamily="49" charset="-122"/>
                <a:sym typeface="+mn-ea"/>
              </a:rPr>
              <a:t>标准的数学表达式</a:t>
            </a:r>
            <a:r>
              <a:rPr lang="zh-CN" altLang="en-US" sz="2400" dirty="0">
                <a:cs typeface="楷体" panose="02010609060101010101" pitchFamily="49" charset="-122"/>
                <a:sym typeface="+mn-ea"/>
              </a:rPr>
              <a:t>和</a:t>
            </a:r>
            <a:r>
              <a:rPr lang="zh-CN" altLang="en-US" sz="2400" dirty="0">
                <a:solidFill>
                  <a:srgbClr val="FF0000"/>
                </a:solidFill>
                <a:cs typeface="楷体" panose="02010609060101010101" pitchFamily="49" charset="-122"/>
                <a:sym typeface="+mn-ea"/>
              </a:rPr>
              <a:t>明确定义的一组规则</a:t>
            </a:r>
            <a:r>
              <a:rPr lang="zh-CN" altLang="en-US" sz="2400" dirty="0">
                <a:cs typeface="楷体" panose="02010609060101010101" pitchFamily="49" charset="-122"/>
                <a:sym typeface="+mn-ea"/>
              </a:rPr>
              <a:t>，而必须对具体问题进行具体分析处理。因此，在学习动态规划时，除了对基本概念和方法正确地理解外，应以</a:t>
            </a:r>
            <a:r>
              <a:rPr lang="zh-CN" altLang="en-US" sz="2400" dirty="0">
                <a:solidFill>
                  <a:srgbClr val="FF0000"/>
                </a:solidFill>
                <a:cs typeface="楷体" panose="02010609060101010101" pitchFamily="49" charset="-122"/>
                <a:sym typeface="+mn-ea"/>
              </a:rPr>
              <a:t>丰富的想象力去建立模型</a:t>
            </a:r>
            <a:r>
              <a:rPr lang="zh-CN" altLang="en-US" sz="2400" dirty="0">
                <a:cs typeface="楷体" panose="02010609060101010101" pitchFamily="49" charset="-122"/>
                <a:sym typeface="+mn-ea"/>
              </a:rPr>
              <a:t>，用</a:t>
            </a:r>
            <a:r>
              <a:rPr lang="zh-CN" altLang="en-US" sz="2400" dirty="0">
                <a:solidFill>
                  <a:srgbClr val="FF0000"/>
                </a:solidFill>
                <a:cs typeface="楷体" panose="02010609060101010101" pitchFamily="49" charset="-122"/>
                <a:sym typeface="+mn-ea"/>
              </a:rPr>
              <a:t>创造性的技巧去求解</a:t>
            </a:r>
            <a:r>
              <a:rPr lang="zh-CN" altLang="en-US" sz="2400" dirty="0">
                <a:cs typeface="楷体" panose="02010609060101010101" pitchFamily="49" charset="-122"/>
                <a:sym typeface="+mn-ea"/>
              </a:rPr>
              <a:t>。正如贝尔曼本人所说：“由于动态规划的最优化原理仅仅是</a:t>
            </a:r>
            <a:r>
              <a:rPr lang="zh-CN" altLang="en-US" sz="2400" dirty="0">
                <a:solidFill>
                  <a:srgbClr val="FF0000"/>
                </a:solidFill>
                <a:cs typeface="楷体" panose="02010609060101010101" pitchFamily="49" charset="-122"/>
                <a:sym typeface="+mn-ea"/>
              </a:rPr>
              <a:t>一种基本原理</a:t>
            </a:r>
            <a:r>
              <a:rPr lang="zh-CN" altLang="en-US" sz="2400" dirty="0">
                <a:cs typeface="楷体" panose="02010609060101010101" pitchFamily="49" charset="-122"/>
                <a:sym typeface="+mn-ea"/>
              </a:rPr>
              <a:t>，正是它的</a:t>
            </a:r>
            <a:r>
              <a:rPr lang="zh-CN" altLang="en-US" sz="2400" dirty="0">
                <a:solidFill>
                  <a:srgbClr val="FF0000"/>
                </a:solidFill>
                <a:cs typeface="楷体" panose="02010609060101010101" pitchFamily="49" charset="-122"/>
                <a:sym typeface="+mn-ea"/>
              </a:rPr>
              <a:t>某种不确定性</a:t>
            </a:r>
            <a:r>
              <a:rPr lang="zh-CN" altLang="en-US" sz="2400" dirty="0">
                <a:cs typeface="楷体" panose="02010609060101010101" pitchFamily="49" charset="-122"/>
                <a:sym typeface="+mn-ea"/>
              </a:rPr>
              <a:t>为你提供了发挥你创造性思维的巨大空间</a:t>
            </a:r>
            <a:r>
              <a:rPr lang="en-US" altLang="zh-CN" sz="2400" dirty="0">
                <a:cs typeface="楷体" panose="02010609060101010101" pitchFamily="49" charset="-122"/>
                <a:sym typeface="+mn-ea"/>
              </a:rPr>
              <a:t>!</a:t>
            </a:r>
            <a:r>
              <a:rPr lang="zh-CN" altLang="en-US" sz="2400" dirty="0">
                <a:cs typeface="楷体" panose="02010609060101010101" pitchFamily="49" charset="-122"/>
                <a:sym typeface="+mn-ea"/>
              </a:rPr>
              <a:t> </a:t>
            </a:r>
            <a:endParaRPr lang="zh-CN" altLang="en-US" sz="2400" b="1" dirty="0">
              <a:cs typeface="楷体" panose="02010609060101010101" pitchFamily="49" charset="-122"/>
            </a:endParaRPr>
          </a:p>
          <a:p>
            <a:pPr marL="0" indent="0" algn="just" eaLnBrk="1" hangingPunct="1">
              <a:spcBef>
                <a:spcPct val="50000"/>
              </a:spcBef>
              <a:buClr>
                <a:schemeClr val="hlink"/>
              </a:buClr>
              <a:buSzTx/>
              <a:buNone/>
            </a:pPr>
            <a:endParaRPr lang="zh-CN" altLang="en-US" sz="2400" b="1" dirty="0">
              <a:solidFill>
                <a:schemeClr val="tx1"/>
              </a:solidFill>
              <a:cs typeface="楷体" panose="02010609060101010101" pitchFamily="49"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3"/>
          <p:cNvSpPr>
            <a:spLocks noGrp="1" noChangeArrowheads="1"/>
          </p:cNvSpPr>
          <p:nvPr>
            <p:ph idx="1"/>
          </p:nvPr>
        </p:nvSpPr>
        <p:spPr>
          <a:xfrm>
            <a:off x="2024063" y="1317625"/>
            <a:ext cx="8072437" cy="5111750"/>
          </a:xfrm>
        </p:spPr>
        <p:txBody>
          <a:bodyPr/>
          <a:lstStyle/>
          <a:p>
            <a:pPr marL="0" eaLnBrk="1" hangingPunct="1">
              <a:spcBef>
                <a:spcPts val="600"/>
              </a:spcBef>
              <a:spcAft>
                <a:spcPts val="600"/>
              </a:spcAft>
              <a:buFontTx/>
              <a:buNone/>
              <a:tabLst>
                <a:tab pos="254000" algn="l"/>
                <a:tab pos="266700" algn="l"/>
              </a:tabLst>
            </a:pPr>
            <a:r>
              <a:rPr lang="zh-CN" altLang="en-US" sz="2400" dirty="0">
                <a:latin typeface="楷体" panose="02010609060101010101" pitchFamily="49" charset="-122"/>
              </a:rPr>
              <a:t>例</a:t>
            </a:r>
            <a:r>
              <a:rPr lang="en-US" altLang="zh-CN" sz="2400" dirty="0">
                <a:latin typeface="楷体" panose="02010609060101010101" pitchFamily="49" charset="-122"/>
              </a:rPr>
              <a:t>1 </a:t>
            </a:r>
            <a:r>
              <a:rPr lang="zh-CN" altLang="en-US" sz="2400" b="1" dirty="0">
                <a:latin typeface="楷体" panose="02010609060101010101" pitchFamily="49" charset="-122"/>
              </a:rPr>
              <a:t>最短路径问题</a:t>
            </a:r>
            <a:endParaRPr lang="zh-CN" altLang="en-US" sz="2400" b="1" dirty="0">
              <a:latin typeface="楷体" panose="02010609060101010101" pitchFamily="49" charset="-122"/>
            </a:endParaRPr>
          </a:p>
          <a:p>
            <a:pPr marL="0" eaLnBrk="1" hangingPunct="1">
              <a:spcBef>
                <a:spcPts val="600"/>
              </a:spcBef>
              <a:spcAft>
                <a:spcPts val="600"/>
              </a:spcAft>
              <a:buFontTx/>
              <a:buNone/>
              <a:tabLst>
                <a:tab pos="254000" algn="l"/>
                <a:tab pos="266700" algn="l"/>
              </a:tabLst>
            </a:pPr>
            <a:r>
              <a:rPr lang="zh-CN" altLang="en-US" sz="2000" dirty="0">
                <a:latin typeface="楷体" panose="02010609060101010101" pitchFamily="49" charset="-122"/>
              </a:rPr>
              <a:t>    下图表示从起点</a:t>
            </a:r>
            <a:r>
              <a:rPr lang="en-US" altLang="zh-CN" sz="2000" dirty="0">
                <a:latin typeface="Arial" panose="020B0604020202020204" pitchFamily="34" charset="0"/>
                <a:cs typeface="Arial" panose="020B0604020202020204" pitchFamily="34" charset="0"/>
              </a:rPr>
              <a:t>A</a:t>
            </a:r>
            <a:r>
              <a:rPr lang="zh-CN" altLang="en-US" sz="2000" dirty="0">
                <a:latin typeface="楷体" panose="02010609060101010101" pitchFamily="49" charset="-122"/>
              </a:rPr>
              <a:t>到终点</a:t>
            </a:r>
            <a:r>
              <a:rPr lang="en-US" altLang="zh-CN" sz="2000" dirty="0">
                <a:latin typeface="Arial" panose="020B0604020202020204" pitchFamily="34" charset="0"/>
                <a:cs typeface="Arial" panose="020B0604020202020204" pitchFamily="34" charset="0"/>
              </a:rPr>
              <a:t>E</a:t>
            </a:r>
            <a:r>
              <a:rPr lang="zh-CN" altLang="en-US" sz="2000" dirty="0">
                <a:latin typeface="楷体" panose="02010609060101010101" pitchFamily="49" charset="-122"/>
              </a:rPr>
              <a:t>之间各点的距离。求</a:t>
            </a:r>
            <a:r>
              <a:rPr lang="en-US" altLang="zh-CN" sz="2000" dirty="0">
                <a:latin typeface="Arial" panose="020B0604020202020204" pitchFamily="34" charset="0"/>
                <a:cs typeface="Arial" panose="020B0604020202020204" pitchFamily="34" charset="0"/>
              </a:rPr>
              <a:t>A</a:t>
            </a:r>
            <a:r>
              <a:rPr lang="zh-CN" altLang="en-US" sz="2000" dirty="0">
                <a:latin typeface="楷体" panose="02010609060101010101" pitchFamily="49" charset="-122"/>
              </a:rPr>
              <a:t>到</a:t>
            </a:r>
            <a:r>
              <a:rPr lang="en-US" altLang="zh-CN" sz="2000" dirty="0">
                <a:latin typeface="Arial" panose="020B0604020202020204" pitchFamily="34" charset="0"/>
                <a:cs typeface="Arial" panose="020B0604020202020204" pitchFamily="34" charset="0"/>
              </a:rPr>
              <a:t>E</a:t>
            </a:r>
            <a:r>
              <a:rPr lang="zh-CN" altLang="en-US" sz="2000" dirty="0">
                <a:latin typeface="楷体" panose="02010609060101010101" pitchFamily="49" charset="-122"/>
              </a:rPr>
              <a:t>的最短路径。</a:t>
            </a:r>
            <a:endParaRPr lang="zh-CN" altLang="en-US" sz="2000" dirty="0">
              <a:latin typeface="楷体" panose="02010609060101010101" pitchFamily="49" charset="-122"/>
            </a:endParaRPr>
          </a:p>
        </p:txBody>
      </p:sp>
      <p:sp>
        <p:nvSpPr>
          <p:cNvPr id="1030" name="AutoShape 87"/>
          <p:cNvSpPr>
            <a:spLocks noChangeAspect="1" noChangeArrowheads="1" noTextEdit="1"/>
          </p:cNvSpPr>
          <p:nvPr/>
        </p:nvSpPr>
        <p:spPr bwMode="auto">
          <a:xfrm>
            <a:off x="2166938" y="2281238"/>
            <a:ext cx="8064500"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1" name="Oval 88"/>
          <p:cNvSpPr>
            <a:spLocks noChangeArrowheads="1"/>
          </p:cNvSpPr>
          <p:nvPr/>
        </p:nvSpPr>
        <p:spPr bwMode="auto">
          <a:xfrm>
            <a:off x="3949700"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2" name="Rectangle 89"/>
          <p:cNvSpPr>
            <a:spLocks noChangeArrowheads="1"/>
          </p:cNvSpPr>
          <p:nvPr/>
        </p:nvSpPr>
        <p:spPr bwMode="auto">
          <a:xfrm>
            <a:off x="4124325"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grpSp>
        <p:nvGrpSpPr>
          <p:cNvPr id="1033" name="Group 90"/>
          <p:cNvGrpSpPr/>
          <p:nvPr/>
        </p:nvGrpSpPr>
        <p:grpSpPr bwMode="auto">
          <a:xfrm>
            <a:off x="2130425" y="3522663"/>
            <a:ext cx="598488" cy="415925"/>
            <a:chOff x="382" y="2663"/>
            <a:chExt cx="377" cy="262"/>
          </a:xfrm>
        </p:grpSpPr>
        <p:sp>
          <p:nvSpPr>
            <p:cNvPr id="1111" name="Oval 91"/>
            <p:cNvSpPr>
              <a:spLocks noChangeArrowheads="1"/>
            </p:cNvSpPr>
            <p:nvPr/>
          </p:nvSpPr>
          <p:spPr bwMode="auto">
            <a:xfrm>
              <a:off x="382" y="2663"/>
              <a:ext cx="377" cy="26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12" name="Rectangle 92"/>
            <p:cNvSpPr>
              <a:spLocks noChangeArrowheads="1"/>
            </p:cNvSpPr>
            <p:nvPr/>
          </p:nvSpPr>
          <p:spPr bwMode="auto">
            <a:xfrm>
              <a:off x="492" y="2702"/>
              <a:ext cx="8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A</a:t>
              </a:r>
              <a:endParaRPr kumimoji="1" lang="en-US" altLang="zh-CN" sz="1400">
                <a:latin typeface="Times New Roman" panose="02020603050405020304" pitchFamily="18" charset="0"/>
                <a:ea typeface="楷体" panose="02010609060101010101" pitchFamily="49" charset="-122"/>
              </a:endParaRPr>
            </a:p>
          </p:txBody>
        </p:sp>
      </p:grpSp>
      <p:sp>
        <p:nvSpPr>
          <p:cNvPr id="1034" name="Oval 93"/>
          <p:cNvSpPr>
            <a:spLocks noChangeArrowheads="1"/>
          </p:cNvSpPr>
          <p:nvPr/>
        </p:nvSpPr>
        <p:spPr bwMode="auto">
          <a:xfrm>
            <a:off x="6119813" y="2235200"/>
            <a:ext cx="598487" cy="417513"/>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5" name="Rectangle 94"/>
          <p:cNvSpPr>
            <a:spLocks noChangeArrowheads="1"/>
          </p:cNvSpPr>
          <p:nvPr/>
        </p:nvSpPr>
        <p:spPr bwMode="auto">
          <a:xfrm>
            <a:off x="6294438" y="229870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036" name="Oval 95"/>
          <p:cNvSpPr>
            <a:spLocks noChangeArrowheads="1"/>
          </p:cNvSpPr>
          <p:nvPr/>
        </p:nvSpPr>
        <p:spPr bwMode="auto">
          <a:xfrm>
            <a:off x="3949700" y="2254250"/>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7" name="Rectangle 96"/>
          <p:cNvSpPr>
            <a:spLocks noChangeArrowheads="1"/>
          </p:cNvSpPr>
          <p:nvPr/>
        </p:nvSpPr>
        <p:spPr bwMode="auto">
          <a:xfrm>
            <a:off x="4124325" y="23177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1038" name="Oval 97"/>
          <p:cNvSpPr>
            <a:spLocks noChangeArrowheads="1"/>
          </p:cNvSpPr>
          <p:nvPr/>
        </p:nvSpPr>
        <p:spPr bwMode="auto">
          <a:xfrm>
            <a:off x="7939088" y="2887663"/>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9" name="Rectangle 98"/>
          <p:cNvSpPr>
            <a:spLocks noChangeArrowheads="1"/>
          </p:cNvSpPr>
          <p:nvPr/>
        </p:nvSpPr>
        <p:spPr bwMode="auto">
          <a:xfrm>
            <a:off x="8088313" y="2951163"/>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1040" name="Oval 99"/>
          <p:cNvSpPr>
            <a:spLocks noChangeArrowheads="1"/>
          </p:cNvSpPr>
          <p:nvPr/>
        </p:nvSpPr>
        <p:spPr bwMode="auto">
          <a:xfrm>
            <a:off x="3925888" y="4845050"/>
            <a:ext cx="596900"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1" name="Rectangle 100"/>
          <p:cNvSpPr>
            <a:spLocks noChangeArrowheads="1"/>
          </p:cNvSpPr>
          <p:nvPr/>
        </p:nvSpPr>
        <p:spPr bwMode="auto">
          <a:xfrm>
            <a:off x="4100513" y="49085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1042" name="Oval 101"/>
          <p:cNvSpPr>
            <a:spLocks noChangeArrowheads="1"/>
          </p:cNvSpPr>
          <p:nvPr/>
        </p:nvSpPr>
        <p:spPr bwMode="auto">
          <a:xfrm>
            <a:off x="6119813" y="354012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3" name="Rectangle 102"/>
          <p:cNvSpPr>
            <a:spLocks noChangeArrowheads="1"/>
          </p:cNvSpPr>
          <p:nvPr/>
        </p:nvSpPr>
        <p:spPr bwMode="auto">
          <a:xfrm>
            <a:off x="6294438"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044" name="Oval 103"/>
          <p:cNvSpPr>
            <a:spLocks noChangeArrowheads="1"/>
          </p:cNvSpPr>
          <p:nvPr/>
        </p:nvSpPr>
        <p:spPr bwMode="auto">
          <a:xfrm>
            <a:off x="7913688" y="428307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5" name="Rectangle 104"/>
          <p:cNvSpPr>
            <a:spLocks noChangeArrowheads="1"/>
          </p:cNvSpPr>
          <p:nvPr/>
        </p:nvSpPr>
        <p:spPr bwMode="auto">
          <a:xfrm>
            <a:off x="8039100" y="4346575"/>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1046" name="Oval 105"/>
          <p:cNvSpPr>
            <a:spLocks noChangeArrowheads="1"/>
          </p:cNvSpPr>
          <p:nvPr/>
        </p:nvSpPr>
        <p:spPr bwMode="auto">
          <a:xfrm>
            <a:off x="9534525"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7" name="Rectangle 106"/>
          <p:cNvSpPr>
            <a:spLocks noChangeArrowheads="1"/>
          </p:cNvSpPr>
          <p:nvPr/>
        </p:nvSpPr>
        <p:spPr bwMode="auto">
          <a:xfrm>
            <a:off x="9709150" y="3603625"/>
            <a:ext cx="10858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E</a:t>
            </a:r>
            <a:endParaRPr kumimoji="1" lang="en-US" altLang="zh-CN" sz="1400">
              <a:latin typeface="Times New Roman" panose="02020603050405020304" pitchFamily="18" charset="0"/>
              <a:ea typeface="楷体" panose="02010609060101010101" pitchFamily="49" charset="-122"/>
            </a:endParaRPr>
          </a:p>
        </p:txBody>
      </p:sp>
      <p:sp>
        <p:nvSpPr>
          <p:cNvPr id="1048" name="Oval 107"/>
          <p:cNvSpPr>
            <a:spLocks noChangeArrowheads="1"/>
          </p:cNvSpPr>
          <p:nvPr/>
        </p:nvSpPr>
        <p:spPr bwMode="auto">
          <a:xfrm>
            <a:off x="6143625" y="4862513"/>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9" name="Rectangle 108"/>
          <p:cNvSpPr>
            <a:spLocks noChangeArrowheads="1"/>
          </p:cNvSpPr>
          <p:nvPr/>
        </p:nvSpPr>
        <p:spPr bwMode="auto">
          <a:xfrm>
            <a:off x="6318250" y="4926013"/>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050" name="Line 109"/>
          <p:cNvSpPr>
            <a:spLocks noChangeShapeType="1"/>
          </p:cNvSpPr>
          <p:nvPr/>
        </p:nvSpPr>
        <p:spPr bwMode="auto">
          <a:xfrm flipV="1">
            <a:off x="2628900" y="2570163"/>
            <a:ext cx="1371600" cy="9969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1" name="Line 110"/>
          <p:cNvSpPr>
            <a:spLocks noChangeShapeType="1"/>
          </p:cNvSpPr>
          <p:nvPr/>
        </p:nvSpPr>
        <p:spPr bwMode="auto">
          <a:xfrm>
            <a:off x="2579688" y="3892550"/>
            <a:ext cx="1420812" cy="1033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2" name="Line 111"/>
          <p:cNvSpPr>
            <a:spLocks noChangeShapeType="1"/>
          </p:cNvSpPr>
          <p:nvPr/>
        </p:nvSpPr>
        <p:spPr bwMode="auto">
          <a:xfrm>
            <a:off x="4524375" y="505301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3" name="Line 112"/>
          <p:cNvSpPr>
            <a:spLocks noChangeShapeType="1"/>
          </p:cNvSpPr>
          <p:nvPr/>
        </p:nvSpPr>
        <p:spPr bwMode="auto">
          <a:xfrm>
            <a:off x="4524375" y="244316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4" name="Line 113"/>
          <p:cNvSpPr>
            <a:spLocks noChangeShapeType="1"/>
          </p:cNvSpPr>
          <p:nvPr/>
        </p:nvSpPr>
        <p:spPr bwMode="auto">
          <a:xfrm>
            <a:off x="4548188" y="3730625"/>
            <a:ext cx="15954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5" name="Line 114"/>
          <p:cNvSpPr>
            <a:spLocks noChangeShapeType="1"/>
          </p:cNvSpPr>
          <p:nvPr/>
        </p:nvSpPr>
        <p:spPr bwMode="auto">
          <a:xfrm>
            <a:off x="2703513" y="3730625"/>
            <a:ext cx="124618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6" name="Line 115"/>
          <p:cNvSpPr>
            <a:spLocks noChangeShapeType="1"/>
          </p:cNvSpPr>
          <p:nvPr/>
        </p:nvSpPr>
        <p:spPr bwMode="auto">
          <a:xfrm>
            <a:off x="6692900" y="2498725"/>
            <a:ext cx="1271588" cy="4699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7" name="Line 116"/>
          <p:cNvSpPr>
            <a:spLocks noChangeShapeType="1"/>
          </p:cNvSpPr>
          <p:nvPr/>
        </p:nvSpPr>
        <p:spPr bwMode="auto">
          <a:xfrm>
            <a:off x="8512175" y="3168650"/>
            <a:ext cx="1122363" cy="415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8" name="Line 117"/>
          <p:cNvSpPr>
            <a:spLocks noChangeShapeType="1"/>
          </p:cNvSpPr>
          <p:nvPr/>
        </p:nvSpPr>
        <p:spPr bwMode="auto">
          <a:xfrm flipV="1">
            <a:off x="6718300" y="4564063"/>
            <a:ext cx="1195388" cy="4524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9" name="Line 118"/>
          <p:cNvSpPr>
            <a:spLocks noChangeShapeType="1"/>
          </p:cNvSpPr>
          <p:nvPr/>
        </p:nvSpPr>
        <p:spPr bwMode="auto">
          <a:xfrm flipV="1">
            <a:off x="8462963" y="3929063"/>
            <a:ext cx="1246187" cy="4349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0" name="Line 119"/>
          <p:cNvSpPr>
            <a:spLocks noChangeShapeType="1"/>
          </p:cNvSpPr>
          <p:nvPr/>
        </p:nvSpPr>
        <p:spPr bwMode="auto">
          <a:xfrm>
            <a:off x="4473575" y="2589213"/>
            <a:ext cx="1720850" cy="9953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1" name="Line 120"/>
          <p:cNvSpPr>
            <a:spLocks noChangeShapeType="1"/>
          </p:cNvSpPr>
          <p:nvPr/>
        </p:nvSpPr>
        <p:spPr bwMode="auto">
          <a:xfrm flipV="1">
            <a:off x="4448175" y="2508250"/>
            <a:ext cx="1647825" cy="10763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2" name="Line 121"/>
          <p:cNvSpPr>
            <a:spLocks noChangeShapeType="1"/>
          </p:cNvSpPr>
          <p:nvPr/>
        </p:nvSpPr>
        <p:spPr bwMode="auto">
          <a:xfrm flipV="1">
            <a:off x="4424363" y="3892550"/>
            <a:ext cx="1770062" cy="10160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3" name="Line 122"/>
          <p:cNvSpPr>
            <a:spLocks noChangeShapeType="1"/>
          </p:cNvSpPr>
          <p:nvPr/>
        </p:nvSpPr>
        <p:spPr bwMode="auto">
          <a:xfrm>
            <a:off x="4473575" y="3875088"/>
            <a:ext cx="1720850" cy="1050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4" name="Line 123"/>
          <p:cNvSpPr>
            <a:spLocks noChangeShapeType="1"/>
          </p:cNvSpPr>
          <p:nvPr/>
        </p:nvSpPr>
        <p:spPr bwMode="auto">
          <a:xfrm>
            <a:off x="4373563" y="2643188"/>
            <a:ext cx="1995487" cy="22098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 name="Line 124"/>
          <p:cNvSpPr>
            <a:spLocks noChangeShapeType="1"/>
          </p:cNvSpPr>
          <p:nvPr/>
        </p:nvSpPr>
        <p:spPr bwMode="auto">
          <a:xfrm flipV="1">
            <a:off x="4349750" y="2652713"/>
            <a:ext cx="1890713" cy="22002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6" name="Line 125"/>
          <p:cNvSpPr>
            <a:spLocks noChangeShapeType="1"/>
          </p:cNvSpPr>
          <p:nvPr/>
        </p:nvSpPr>
        <p:spPr bwMode="auto">
          <a:xfrm>
            <a:off x="6618288" y="2589213"/>
            <a:ext cx="1520825" cy="17208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7" name="Line 126"/>
          <p:cNvSpPr>
            <a:spLocks noChangeShapeType="1"/>
          </p:cNvSpPr>
          <p:nvPr/>
        </p:nvSpPr>
        <p:spPr bwMode="auto">
          <a:xfrm flipV="1">
            <a:off x="6592888" y="3276600"/>
            <a:ext cx="1495425" cy="15954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8" name="Line 127"/>
          <p:cNvSpPr>
            <a:spLocks noChangeShapeType="1"/>
          </p:cNvSpPr>
          <p:nvPr/>
        </p:nvSpPr>
        <p:spPr bwMode="auto">
          <a:xfrm flipV="1">
            <a:off x="6667500" y="3186113"/>
            <a:ext cx="1296988" cy="4540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9" name="Line 128"/>
          <p:cNvSpPr>
            <a:spLocks noChangeShapeType="1"/>
          </p:cNvSpPr>
          <p:nvPr/>
        </p:nvSpPr>
        <p:spPr bwMode="auto">
          <a:xfrm>
            <a:off x="6667500" y="3857625"/>
            <a:ext cx="1296988" cy="525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0" name="Rectangle 129"/>
          <p:cNvSpPr>
            <a:spLocks noChangeArrowheads="1"/>
          </p:cNvSpPr>
          <p:nvPr/>
        </p:nvSpPr>
        <p:spPr bwMode="auto">
          <a:xfrm>
            <a:off x="3027363" y="28971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1071" name="Rectangle 130"/>
          <p:cNvSpPr>
            <a:spLocks noChangeArrowheads="1"/>
          </p:cNvSpPr>
          <p:nvPr/>
        </p:nvSpPr>
        <p:spPr bwMode="auto">
          <a:xfrm>
            <a:off x="4349750" y="24082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72" name="Rectangle 131"/>
          <p:cNvSpPr>
            <a:spLocks noChangeArrowheads="1"/>
          </p:cNvSpPr>
          <p:nvPr/>
        </p:nvSpPr>
        <p:spPr bwMode="auto">
          <a:xfrm>
            <a:off x="4298950"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73" name="Rectangle 132"/>
          <p:cNvSpPr>
            <a:spLocks noChangeArrowheads="1"/>
          </p:cNvSpPr>
          <p:nvPr/>
        </p:nvSpPr>
        <p:spPr bwMode="auto">
          <a:xfrm>
            <a:off x="4273550" y="49799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74" name="Rectangle 133"/>
          <p:cNvSpPr>
            <a:spLocks noChangeArrowheads="1"/>
          </p:cNvSpPr>
          <p:nvPr/>
        </p:nvSpPr>
        <p:spPr bwMode="auto">
          <a:xfrm>
            <a:off x="6492875" y="2352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75" name="Rectangle 134"/>
          <p:cNvSpPr>
            <a:spLocks noChangeArrowheads="1"/>
          </p:cNvSpPr>
          <p:nvPr/>
        </p:nvSpPr>
        <p:spPr bwMode="auto">
          <a:xfrm>
            <a:off x="6469063"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76" name="Rectangle 135"/>
          <p:cNvSpPr>
            <a:spLocks noChangeArrowheads="1"/>
          </p:cNvSpPr>
          <p:nvPr/>
        </p:nvSpPr>
        <p:spPr bwMode="auto">
          <a:xfrm>
            <a:off x="6492875" y="49990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77" name="Rectangle 136"/>
          <p:cNvSpPr>
            <a:spLocks noChangeArrowheads="1"/>
          </p:cNvSpPr>
          <p:nvPr/>
        </p:nvSpPr>
        <p:spPr bwMode="auto">
          <a:xfrm>
            <a:off x="8288338" y="3005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78" name="Rectangle 137"/>
          <p:cNvSpPr>
            <a:spLocks noChangeArrowheads="1"/>
          </p:cNvSpPr>
          <p:nvPr/>
        </p:nvSpPr>
        <p:spPr bwMode="auto">
          <a:xfrm>
            <a:off x="8262938" y="4400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79" name="Rectangle 138"/>
          <p:cNvSpPr>
            <a:spLocks noChangeArrowheads="1"/>
          </p:cNvSpPr>
          <p:nvPr/>
        </p:nvSpPr>
        <p:spPr bwMode="auto">
          <a:xfrm>
            <a:off x="3376613" y="347662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80" name="Rectangle 139"/>
          <p:cNvSpPr>
            <a:spLocks noChangeArrowheads="1"/>
          </p:cNvSpPr>
          <p:nvPr/>
        </p:nvSpPr>
        <p:spPr bwMode="auto">
          <a:xfrm>
            <a:off x="2952750" y="431006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81" name="Rectangle 140"/>
          <p:cNvSpPr>
            <a:spLocks noChangeArrowheads="1"/>
          </p:cNvSpPr>
          <p:nvPr/>
        </p:nvSpPr>
        <p:spPr bwMode="auto">
          <a:xfrm>
            <a:off x="4972050" y="2171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82" name="Rectangle 141"/>
          <p:cNvSpPr>
            <a:spLocks noChangeArrowheads="1"/>
          </p:cNvSpPr>
          <p:nvPr/>
        </p:nvSpPr>
        <p:spPr bwMode="auto">
          <a:xfrm>
            <a:off x="4797425" y="2552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83" name="Rectangle 142"/>
          <p:cNvSpPr>
            <a:spLocks noChangeArrowheads="1"/>
          </p:cNvSpPr>
          <p:nvPr/>
        </p:nvSpPr>
        <p:spPr bwMode="auto">
          <a:xfrm>
            <a:off x="4727575" y="27955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84" name="Rectangle 143"/>
          <p:cNvSpPr>
            <a:spLocks noChangeArrowheads="1"/>
          </p:cNvSpPr>
          <p:nvPr/>
        </p:nvSpPr>
        <p:spPr bwMode="auto">
          <a:xfrm>
            <a:off x="4573588" y="3241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1085" name="Rectangle 144"/>
          <p:cNvSpPr>
            <a:spLocks noChangeArrowheads="1"/>
          </p:cNvSpPr>
          <p:nvPr/>
        </p:nvSpPr>
        <p:spPr bwMode="auto">
          <a:xfrm>
            <a:off x="4773613" y="3513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1086" name="Rectangle 145"/>
          <p:cNvSpPr>
            <a:spLocks noChangeArrowheads="1"/>
          </p:cNvSpPr>
          <p:nvPr/>
        </p:nvSpPr>
        <p:spPr bwMode="auto">
          <a:xfrm>
            <a:off x="4727575" y="3803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87" name="Rectangle 146"/>
          <p:cNvSpPr>
            <a:spLocks noChangeArrowheads="1"/>
          </p:cNvSpPr>
          <p:nvPr/>
        </p:nvSpPr>
        <p:spPr bwMode="auto">
          <a:xfrm>
            <a:off x="4198938" y="4473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1088" name="Rectangle 147"/>
          <p:cNvSpPr>
            <a:spLocks noChangeArrowheads="1"/>
          </p:cNvSpPr>
          <p:nvPr/>
        </p:nvSpPr>
        <p:spPr bwMode="auto">
          <a:xfrm>
            <a:off x="4727575" y="44529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1089" name="Rectangle 148"/>
          <p:cNvSpPr>
            <a:spLocks noChangeArrowheads="1"/>
          </p:cNvSpPr>
          <p:nvPr/>
        </p:nvSpPr>
        <p:spPr bwMode="auto">
          <a:xfrm>
            <a:off x="4583113" y="4811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90" name="Rectangle 149"/>
          <p:cNvSpPr>
            <a:spLocks noChangeArrowheads="1"/>
          </p:cNvSpPr>
          <p:nvPr/>
        </p:nvSpPr>
        <p:spPr bwMode="auto">
          <a:xfrm>
            <a:off x="7091363" y="23177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1091" name="Rectangle 150"/>
          <p:cNvSpPr>
            <a:spLocks noChangeArrowheads="1"/>
          </p:cNvSpPr>
          <p:nvPr/>
        </p:nvSpPr>
        <p:spPr bwMode="auto">
          <a:xfrm>
            <a:off x="6888163" y="2652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92" name="Rectangle 151"/>
          <p:cNvSpPr>
            <a:spLocks noChangeArrowheads="1"/>
          </p:cNvSpPr>
          <p:nvPr/>
        </p:nvSpPr>
        <p:spPr bwMode="auto">
          <a:xfrm>
            <a:off x="6792913" y="3295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1093" name="Rectangle 152"/>
          <p:cNvSpPr>
            <a:spLocks noChangeArrowheads="1"/>
          </p:cNvSpPr>
          <p:nvPr/>
        </p:nvSpPr>
        <p:spPr bwMode="auto">
          <a:xfrm>
            <a:off x="6888163" y="37322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1094" name="Rectangle 153"/>
          <p:cNvSpPr>
            <a:spLocks noChangeArrowheads="1"/>
          </p:cNvSpPr>
          <p:nvPr/>
        </p:nvSpPr>
        <p:spPr bwMode="auto">
          <a:xfrm>
            <a:off x="6888163" y="46688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95" name="Rectangle 154"/>
          <p:cNvSpPr>
            <a:spLocks noChangeArrowheads="1"/>
          </p:cNvSpPr>
          <p:nvPr/>
        </p:nvSpPr>
        <p:spPr bwMode="auto">
          <a:xfrm>
            <a:off x="6672263" y="43799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96" name="Rectangle 155"/>
          <p:cNvSpPr>
            <a:spLocks noChangeArrowheads="1"/>
          </p:cNvSpPr>
          <p:nvPr/>
        </p:nvSpPr>
        <p:spPr bwMode="auto">
          <a:xfrm>
            <a:off x="8861425" y="3024188"/>
            <a:ext cx="1778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10</a:t>
            </a:r>
            <a:endParaRPr kumimoji="1" lang="en-US" altLang="zh-CN" sz="1400">
              <a:latin typeface="Times New Roman" panose="02020603050405020304" pitchFamily="18" charset="0"/>
              <a:ea typeface="楷体" panose="02010609060101010101" pitchFamily="49" charset="-122"/>
            </a:endParaRPr>
          </a:p>
        </p:txBody>
      </p:sp>
      <p:sp>
        <p:nvSpPr>
          <p:cNvPr id="1097" name="Rectangle 156"/>
          <p:cNvSpPr>
            <a:spLocks noChangeArrowheads="1"/>
          </p:cNvSpPr>
          <p:nvPr/>
        </p:nvSpPr>
        <p:spPr bwMode="auto">
          <a:xfrm>
            <a:off x="8786813" y="4273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98" name="Line 157"/>
          <p:cNvSpPr>
            <a:spLocks noChangeShapeType="1"/>
          </p:cNvSpPr>
          <p:nvPr/>
        </p:nvSpPr>
        <p:spPr bwMode="auto">
          <a:xfrm flipH="1" flipV="1">
            <a:off x="2424113" y="3948113"/>
            <a:ext cx="1439862" cy="19446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99" name="Oval 158"/>
          <p:cNvSpPr>
            <a:spLocks noChangeArrowheads="1"/>
          </p:cNvSpPr>
          <p:nvPr/>
        </p:nvSpPr>
        <p:spPr bwMode="auto">
          <a:xfrm>
            <a:off x="3863975" y="5748338"/>
            <a:ext cx="596900" cy="40481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graphicFrame>
        <p:nvGraphicFramePr>
          <p:cNvPr id="1026" name="Object 159"/>
          <p:cNvGraphicFramePr>
            <a:graphicFrameLocks noChangeAspect="1"/>
          </p:cNvGraphicFramePr>
          <p:nvPr/>
        </p:nvGraphicFramePr>
        <p:xfrm>
          <a:off x="4008438" y="5792788"/>
          <a:ext cx="338137" cy="360362"/>
        </p:xfrm>
        <a:graphic>
          <a:graphicData uri="http://schemas.openxmlformats.org/presentationml/2006/ole">
            <mc:AlternateContent xmlns:mc="http://schemas.openxmlformats.org/markup-compatibility/2006">
              <mc:Choice xmlns:v="urn:schemas-microsoft-com:vml" Requires="v">
                <p:oleObj spid="_x0000_s1258" name="公式" r:id="rId1" imgW="203200" imgH="215900" progId="Equation.3">
                  <p:embed/>
                </p:oleObj>
              </mc:Choice>
              <mc:Fallback>
                <p:oleObj name="公式" r:id="rId1" imgW="203200" imgH="215900" progId="Equation.3">
                  <p:embed/>
                  <p:pic>
                    <p:nvPicPr>
                      <p:cNvPr id="0" name="Object 15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8438" y="5792788"/>
                        <a:ext cx="338137" cy="360362"/>
                      </a:xfrm>
                      <a:prstGeom prst="rect">
                        <a:avLst/>
                      </a:prstGeom>
                      <a:noFill/>
                      <a:ln>
                        <a:noFill/>
                      </a:ln>
                      <a:effectLst/>
                      <a:extLst>
                        <a:ext uri="{909E8E84-426E-40DD-AFC4-6F175D3DCCD1}">
                          <a14:hiddenFill xmlns:a14="http://schemas.microsoft.com/office/drawing/2010/main">
                            <a:gradFill rotWithShape="0">
                              <a:gsLst>
                                <a:gs pos="0">
                                  <a:srgbClr val="5E9EFF"/>
                                </a:gs>
                                <a:gs pos="39999">
                                  <a:srgbClr val="85C2FF"/>
                                </a:gs>
                                <a:gs pos="70000">
                                  <a:srgbClr val="C4D6EB"/>
                                </a:gs>
                                <a:gs pos="100000">
                                  <a:srgbClr val="FFEBFA"/>
                                </a:gs>
                              </a:gsLst>
                              <a:lin ang="5400000" scaled="1"/>
                            </a:gra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0" name="Line 160"/>
          <p:cNvSpPr>
            <a:spLocks noChangeShapeType="1"/>
          </p:cNvSpPr>
          <p:nvPr/>
        </p:nvSpPr>
        <p:spPr bwMode="auto">
          <a:xfrm flipV="1">
            <a:off x="4511675" y="5245100"/>
            <a:ext cx="1728788" cy="7191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1" name="Rectangle 161"/>
          <p:cNvSpPr>
            <a:spLocks noChangeArrowheads="1"/>
          </p:cNvSpPr>
          <p:nvPr/>
        </p:nvSpPr>
        <p:spPr bwMode="auto">
          <a:xfrm>
            <a:off x="3216275" y="4092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102" name="Line 162"/>
          <p:cNvSpPr>
            <a:spLocks noChangeShapeType="1"/>
          </p:cNvSpPr>
          <p:nvPr/>
        </p:nvSpPr>
        <p:spPr bwMode="auto">
          <a:xfrm flipV="1">
            <a:off x="4440238" y="3948113"/>
            <a:ext cx="1943100" cy="18716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3" name="Line 163"/>
          <p:cNvSpPr>
            <a:spLocks noChangeShapeType="1"/>
          </p:cNvSpPr>
          <p:nvPr/>
        </p:nvSpPr>
        <p:spPr bwMode="auto">
          <a:xfrm flipV="1">
            <a:off x="4295775" y="2652713"/>
            <a:ext cx="2160588" cy="30956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4" name="Rectangle 164"/>
          <p:cNvSpPr>
            <a:spLocks noChangeArrowheads="1"/>
          </p:cNvSpPr>
          <p:nvPr/>
        </p:nvSpPr>
        <p:spPr bwMode="auto">
          <a:xfrm>
            <a:off x="4367213"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1105" name="Rectangle 165"/>
          <p:cNvSpPr>
            <a:spLocks noChangeArrowheads="1"/>
          </p:cNvSpPr>
          <p:nvPr/>
        </p:nvSpPr>
        <p:spPr bwMode="auto">
          <a:xfrm>
            <a:off x="4656138"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1106" name="Rectangle 166"/>
          <p:cNvSpPr>
            <a:spLocks noChangeArrowheads="1"/>
          </p:cNvSpPr>
          <p:nvPr/>
        </p:nvSpPr>
        <p:spPr bwMode="auto">
          <a:xfrm>
            <a:off x="4800600" y="55324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2341563" y="400783"/>
            <a:ext cx="8229600" cy="1143000"/>
          </a:xfrm>
        </p:spPr>
        <p:txBody>
          <a:bodyPr/>
          <a:lstStyle/>
          <a:p>
            <a:pPr eaLnBrk="1" hangingPunct="1"/>
            <a:r>
              <a:rPr lang="zh-CN" altLang="en-US" sz="3200" b="1" dirty="0">
                <a:solidFill>
                  <a:schemeClr val="accent2"/>
                </a:solidFill>
                <a:latin typeface="楷体" panose="02010609060101010101" pitchFamily="49" charset="-122"/>
              </a:rPr>
              <a:t>　</a:t>
            </a:r>
            <a:endParaRPr lang="zh-CN" altLang="en-US" sz="3200" b="1" dirty="0">
              <a:solidFill>
                <a:schemeClr val="accent2"/>
              </a:solidFill>
              <a:latin typeface="楷体" panose="02010609060101010101" pitchFamily="49" charset="-122"/>
            </a:endParaRPr>
          </a:p>
        </p:txBody>
      </p:sp>
      <p:sp>
        <p:nvSpPr>
          <p:cNvPr id="1081" name="Rectangle 140"/>
          <p:cNvSpPr>
            <a:spLocks noChangeArrowheads="1"/>
          </p:cNvSpPr>
          <p:nvPr/>
        </p:nvSpPr>
        <p:spPr bwMode="auto">
          <a:xfrm>
            <a:off x="4977185" y="127726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grpSp>
        <p:nvGrpSpPr>
          <p:cNvPr id="2" name="组合 1"/>
          <p:cNvGrpSpPr/>
          <p:nvPr/>
        </p:nvGrpSpPr>
        <p:grpSpPr>
          <a:xfrm>
            <a:off x="2135560" y="1340768"/>
            <a:ext cx="8002588" cy="3917950"/>
            <a:chOff x="606425" y="2235200"/>
            <a:chExt cx="8002588" cy="3917950"/>
          </a:xfrm>
        </p:grpSpPr>
        <p:sp>
          <p:nvSpPr>
            <p:cNvPr id="1031" name="Oval 88"/>
            <p:cNvSpPr>
              <a:spLocks noChangeArrowheads="1"/>
            </p:cNvSpPr>
            <p:nvPr/>
          </p:nvSpPr>
          <p:spPr bwMode="auto">
            <a:xfrm>
              <a:off x="2425700"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2" name="Rectangle 89"/>
            <p:cNvSpPr>
              <a:spLocks noChangeArrowheads="1"/>
            </p:cNvSpPr>
            <p:nvPr/>
          </p:nvSpPr>
          <p:spPr bwMode="auto">
            <a:xfrm>
              <a:off x="2600325"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grpSp>
          <p:nvGrpSpPr>
            <p:cNvPr id="1033" name="Group 90"/>
            <p:cNvGrpSpPr/>
            <p:nvPr/>
          </p:nvGrpSpPr>
          <p:grpSpPr bwMode="auto">
            <a:xfrm>
              <a:off x="606425" y="3522663"/>
              <a:ext cx="598488" cy="415925"/>
              <a:chOff x="382" y="2663"/>
              <a:chExt cx="377" cy="262"/>
            </a:xfrm>
          </p:grpSpPr>
          <p:sp>
            <p:nvSpPr>
              <p:cNvPr id="1111" name="Oval 91"/>
              <p:cNvSpPr>
                <a:spLocks noChangeArrowheads="1"/>
              </p:cNvSpPr>
              <p:nvPr/>
            </p:nvSpPr>
            <p:spPr bwMode="auto">
              <a:xfrm>
                <a:off x="382" y="2663"/>
                <a:ext cx="377" cy="26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12" name="Rectangle 92"/>
              <p:cNvSpPr>
                <a:spLocks noChangeArrowheads="1"/>
              </p:cNvSpPr>
              <p:nvPr/>
            </p:nvSpPr>
            <p:spPr bwMode="auto">
              <a:xfrm>
                <a:off x="492" y="2702"/>
                <a:ext cx="8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A</a:t>
                </a:r>
                <a:endParaRPr kumimoji="1" lang="en-US" altLang="zh-CN" sz="1400">
                  <a:latin typeface="Times New Roman" panose="02020603050405020304" pitchFamily="18" charset="0"/>
                  <a:ea typeface="楷体" panose="02010609060101010101" pitchFamily="49" charset="-122"/>
                </a:endParaRPr>
              </a:p>
            </p:txBody>
          </p:sp>
        </p:grpSp>
        <p:sp>
          <p:nvSpPr>
            <p:cNvPr id="1034" name="Oval 93"/>
            <p:cNvSpPr>
              <a:spLocks noChangeArrowheads="1"/>
            </p:cNvSpPr>
            <p:nvPr/>
          </p:nvSpPr>
          <p:spPr bwMode="auto">
            <a:xfrm>
              <a:off x="4595813" y="2235200"/>
              <a:ext cx="598487" cy="417513"/>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5" name="Rectangle 94"/>
            <p:cNvSpPr>
              <a:spLocks noChangeArrowheads="1"/>
            </p:cNvSpPr>
            <p:nvPr/>
          </p:nvSpPr>
          <p:spPr bwMode="auto">
            <a:xfrm>
              <a:off x="4770438" y="229870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036" name="Oval 95"/>
            <p:cNvSpPr>
              <a:spLocks noChangeArrowheads="1"/>
            </p:cNvSpPr>
            <p:nvPr/>
          </p:nvSpPr>
          <p:spPr bwMode="auto">
            <a:xfrm>
              <a:off x="2425700" y="2254250"/>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7" name="Rectangle 96"/>
            <p:cNvSpPr>
              <a:spLocks noChangeArrowheads="1"/>
            </p:cNvSpPr>
            <p:nvPr/>
          </p:nvSpPr>
          <p:spPr bwMode="auto">
            <a:xfrm>
              <a:off x="2600325" y="23177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1038" name="Oval 97"/>
            <p:cNvSpPr>
              <a:spLocks noChangeArrowheads="1"/>
            </p:cNvSpPr>
            <p:nvPr/>
          </p:nvSpPr>
          <p:spPr bwMode="auto">
            <a:xfrm>
              <a:off x="6415088" y="2887663"/>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39" name="Rectangle 98"/>
            <p:cNvSpPr>
              <a:spLocks noChangeArrowheads="1"/>
            </p:cNvSpPr>
            <p:nvPr/>
          </p:nvSpPr>
          <p:spPr bwMode="auto">
            <a:xfrm>
              <a:off x="6564313" y="2951163"/>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1040" name="Oval 99"/>
            <p:cNvSpPr>
              <a:spLocks noChangeArrowheads="1"/>
            </p:cNvSpPr>
            <p:nvPr/>
          </p:nvSpPr>
          <p:spPr bwMode="auto">
            <a:xfrm>
              <a:off x="2401888" y="4845050"/>
              <a:ext cx="596900"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1" name="Rectangle 100"/>
            <p:cNvSpPr>
              <a:spLocks noChangeArrowheads="1"/>
            </p:cNvSpPr>
            <p:nvPr/>
          </p:nvSpPr>
          <p:spPr bwMode="auto">
            <a:xfrm>
              <a:off x="2576513" y="49085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1042" name="Oval 101"/>
            <p:cNvSpPr>
              <a:spLocks noChangeArrowheads="1"/>
            </p:cNvSpPr>
            <p:nvPr/>
          </p:nvSpPr>
          <p:spPr bwMode="auto">
            <a:xfrm>
              <a:off x="4595813" y="354012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3" name="Rectangle 102"/>
            <p:cNvSpPr>
              <a:spLocks noChangeArrowheads="1"/>
            </p:cNvSpPr>
            <p:nvPr/>
          </p:nvSpPr>
          <p:spPr bwMode="auto">
            <a:xfrm>
              <a:off x="4770438"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044" name="Oval 103"/>
            <p:cNvSpPr>
              <a:spLocks noChangeArrowheads="1"/>
            </p:cNvSpPr>
            <p:nvPr/>
          </p:nvSpPr>
          <p:spPr bwMode="auto">
            <a:xfrm>
              <a:off x="6389688" y="428307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5" name="Rectangle 104"/>
            <p:cNvSpPr>
              <a:spLocks noChangeArrowheads="1"/>
            </p:cNvSpPr>
            <p:nvPr/>
          </p:nvSpPr>
          <p:spPr bwMode="auto">
            <a:xfrm>
              <a:off x="6515100" y="4346575"/>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1046" name="Oval 105"/>
            <p:cNvSpPr>
              <a:spLocks noChangeArrowheads="1"/>
            </p:cNvSpPr>
            <p:nvPr/>
          </p:nvSpPr>
          <p:spPr bwMode="auto">
            <a:xfrm>
              <a:off x="8010525"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7" name="Rectangle 106"/>
            <p:cNvSpPr>
              <a:spLocks noChangeArrowheads="1"/>
            </p:cNvSpPr>
            <p:nvPr/>
          </p:nvSpPr>
          <p:spPr bwMode="auto">
            <a:xfrm>
              <a:off x="8185150" y="3603625"/>
              <a:ext cx="10858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E</a:t>
              </a:r>
              <a:endParaRPr kumimoji="1" lang="en-US" altLang="zh-CN" sz="1400">
                <a:latin typeface="Times New Roman" panose="02020603050405020304" pitchFamily="18" charset="0"/>
                <a:ea typeface="楷体" panose="02010609060101010101" pitchFamily="49" charset="-122"/>
              </a:endParaRPr>
            </a:p>
          </p:txBody>
        </p:sp>
        <p:sp>
          <p:nvSpPr>
            <p:cNvPr id="1048" name="Oval 107"/>
            <p:cNvSpPr>
              <a:spLocks noChangeArrowheads="1"/>
            </p:cNvSpPr>
            <p:nvPr/>
          </p:nvSpPr>
          <p:spPr bwMode="auto">
            <a:xfrm>
              <a:off x="4619625" y="4862513"/>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049" name="Rectangle 108"/>
            <p:cNvSpPr>
              <a:spLocks noChangeArrowheads="1"/>
            </p:cNvSpPr>
            <p:nvPr/>
          </p:nvSpPr>
          <p:spPr bwMode="auto">
            <a:xfrm>
              <a:off x="4794250" y="4926013"/>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050" name="Line 109"/>
            <p:cNvSpPr>
              <a:spLocks noChangeShapeType="1"/>
            </p:cNvSpPr>
            <p:nvPr/>
          </p:nvSpPr>
          <p:spPr bwMode="auto">
            <a:xfrm flipV="1">
              <a:off x="1104900" y="2570163"/>
              <a:ext cx="1371600" cy="9969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1" name="Line 110"/>
            <p:cNvSpPr>
              <a:spLocks noChangeShapeType="1"/>
            </p:cNvSpPr>
            <p:nvPr/>
          </p:nvSpPr>
          <p:spPr bwMode="auto">
            <a:xfrm>
              <a:off x="1055688" y="3892550"/>
              <a:ext cx="1420812" cy="1033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2" name="Line 111"/>
            <p:cNvSpPr>
              <a:spLocks noChangeShapeType="1"/>
            </p:cNvSpPr>
            <p:nvPr/>
          </p:nvSpPr>
          <p:spPr bwMode="auto">
            <a:xfrm>
              <a:off x="3000375" y="505301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3" name="Line 112"/>
            <p:cNvSpPr>
              <a:spLocks noChangeShapeType="1"/>
            </p:cNvSpPr>
            <p:nvPr/>
          </p:nvSpPr>
          <p:spPr bwMode="auto">
            <a:xfrm>
              <a:off x="3000375" y="244316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4" name="Line 113"/>
            <p:cNvSpPr>
              <a:spLocks noChangeShapeType="1"/>
            </p:cNvSpPr>
            <p:nvPr/>
          </p:nvSpPr>
          <p:spPr bwMode="auto">
            <a:xfrm>
              <a:off x="3024188" y="3730625"/>
              <a:ext cx="15954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5" name="Line 114"/>
            <p:cNvSpPr>
              <a:spLocks noChangeShapeType="1"/>
            </p:cNvSpPr>
            <p:nvPr/>
          </p:nvSpPr>
          <p:spPr bwMode="auto">
            <a:xfrm>
              <a:off x="1179513" y="3730625"/>
              <a:ext cx="124618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6" name="Line 115"/>
            <p:cNvSpPr>
              <a:spLocks noChangeShapeType="1"/>
            </p:cNvSpPr>
            <p:nvPr/>
          </p:nvSpPr>
          <p:spPr bwMode="auto">
            <a:xfrm>
              <a:off x="5168900" y="2498725"/>
              <a:ext cx="1271588" cy="4699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7" name="Line 116"/>
            <p:cNvSpPr>
              <a:spLocks noChangeShapeType="1"/>
            </p:cNvSpPr>
            <p:nvPr/>
          </p:nvSpPr>
          <p:spPr bwMode="auto">
            <a:xfrm>
              <a:off x="6988175" y="3168650"/>
              <a:ext cx="1122363" cy="415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8" name="Line 117"/>
            <p:cNvSpPr>
              <a:spLocks noChangeShapeType="1"/>
            </p:cNvSpPr>
            <p:nvPr/>
          </p:nvSpPr>
          <p:spPr bwMode="auto">
            <a:xfrm flipV="1">
              <a:off x="5194300" y="4564063"/>
              <a:ext cx="1195388" cy="4524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9" name="Line 118"/>
            <p:cNvSpPr>
              <a:spLocks noChangeShapeType="1"/>
            </p:cNvSpPr>
            <p:nvPr/>
          </p:nvSpPr>
          <p:spPr bwMode="auto">
            <a:xfrm flipV="1">
              <a:off x="6938963" y="3929063"/>
              <a:ext cx="1246187" cy="4349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0" name="Line 119"/>
            <p:cNvSpPr>
              <a:spLocks noChangeShapeType="1"/>
            </p:cNvSpPr>
            <p:nvPr/>
          </p:nvSpPr>
          <p:spPr bwMode="auto">
            <a:xfrm>
              <a:off x="2949575" y="2589213"/>
              <a:ext cx="1720850" cy="9953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1" name="Line 120"/>
            <p:cNvSpPr>
              <a:spLocks noChangeShapeType="1"/>
            </p:cNvSpPr>
            <p:nvPr/>
          </p:nvSpPr>
          <p:spPr bwMode="auto">
            <a:xfrm flipV="1">
              <a:off x="2924175" y="2508250"/>
              <a:ext cx="1647825" cy="10763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2" name="Line 121"/>
            <p:cNvSpPr>
              <a:spLocks noChangeShapeType="1"/>
            </p:cNvSpPr>
            <p:nvPr/>
          </p:nvSpPr>
          <p:spPr bwMode="auto">
            <a:xfrm flipV="1">
              <a:off x="2900363" y="3892550"/>
              <a:ext cx="1770062" cy="10160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3" name="Line 122"/>
            <p:cNvSpPr>
              <a:spLocks noChangeShapeType="1"/>
            </p:cNvSpPr>
            <p:nvPr/>
          </p:nvSpPr>
          <p:spPr bwMode="auto">
            <a:xfrm>
              <a:off x="2949575" y="3875088"/>
              <a:ext cx="1720850" cy="1050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4" name="Line 123"/>
            <p:cNvSpPr>
              <a:spLocks noChangeShapeType="1"/>
            </p:cNvSpPr>
            <p:nvPr/>
          </p:nvSpPr>
          <p:spPr bwMode="auto">
            <a:xfrm>
              <a:off x="2849563" y="2643188"/>
              <a:ext cx="1995487" cy="22098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5" name="Line 124"/>
            <p:cNvSpPr>
              <a:spLocks noChangeShapeType="1"/>
            </p:cNvSpPr>
            <p:nvPr/>
          </p:nvSpPr>
          <p:spPr bwMode="auto">
            <a:xfrm flipV="1">
              <a:off x="2825750" y="2652713"/>
              <a:ext cx="1890713" cy="22002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6" name="Line 125"/>
            <p:cNvSpPr>
              <a:spLocks noChangeShapeType="1"/>
            </p:cNvSpPr>
            <p:nvPr/>
          </p:nvSpPr>
          <p:spPr bwMode="auto">
            <a:xfrm>
              <a:off x="5094288" y="2589213"/>
              <a:ext cx="1520825" cy="17208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7" name="Line 126"/>
            <p:cNvSpPr>
              <a:spLocks noChangeShapeType="1"/>
            </p:cNvSpPr>
            <p:nvPr/>
          </p:nvSpPr>
          <p:spPr bwMode="auto">
            <a:xfrm flipV="1">
              <a:off x="5068888" y="3276600"/>
              <a:ext cx="1495425" cy="15954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8" name="Line 127"/>
            <p:cNvSpPr>
              <a:spLocks noChangeShapeType="1"/>
            </p:cNvSpPr>
            <p:nvPr/>
          </p:nvSpPr>
          <p:spPr bwMode="auto">
            <a:xfrm flipV="1">
              <a:off x="5143500" y="3186113"/>
              <a:ext cx="1296988" cy="4540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69" name="Line 128"/>
            <p:cNvSpPr>
              <a:spLocks noChangeShapeType="1"/>
            </p:cNvSpPr>
            <p:nvPr/>
          </p:nvSpPr>
          <p:spPr bwMode="auto">
            <a:xfrm>
              <a:off x="5143500" y="3857625"/>
              <a:ext cx="1296988" cy="525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70" name="Rectangle 129"/>
            <p:cNvSpPr>
              <a:spLocks noChangeArrowheads="1"/>
            </p:cNvSpPr>
            <p:nvPr/>
          </p:nvSpPr>
          <p:spPr bwMode="auto">
            <a:xfrm>
              <a:off x="1503363" y="28971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1071" name="Rectangle 130"/>
            <p:cNvSpPr>
              <a:spLocks noChangeArrowheads="1"/>
            </p:cNvSpPr>
            <p:nvPr/>
          </p:nvSpPr>
          <p:spPr bwMode="auto">
            <a:xfrm>
              <a:off x="2825750" y="24082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72" name="Rectangle 131"/>
            <p:cNvSpPr>
              <a:spLocks noChangeArrowheads="1"/>
            </p:cNvSpPr>
            <p:nvPr/>
          </p:nvSpPr>
          <p:spPr bwMode="auto">
            <a:xfrm>
              <a:off x="2774950"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73" name="Rectangle 132"/>
            <p:cNvSpPr>
              <a:spLocks noChangeArrowheads="1"/>
            </p:cNvSpPr>
            <p:nvPr/>
          </p:nvSpPr>
          <p:spPr bwMode="auto">
            <a:xfrm>
              <a:off x="2749550" y="49799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74" name="Rectangle 133"/>
            <p:cNvSpPr>
              <a:spLocks noChangeArrowheads="1"/>
            </p:cNvSpPr>
            <p:nvPr/>
          </p:nvSpPr>
          <p:spPr bwMode="auto">
            <a:xfrm>
              <a:off x="4968875" y="2352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75" name="Rectangle 134"/>
            <p:cNvSpPr>
              <a:spLocks noChangeArrowheads="1"/>
            </p:cNvSpPr>
            <p:nvPr/>
          </p:nvSpPr>
          <p:spPr bwMode="auto">
            <a:xfrm>
              <a:off x="4945063"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76" name="Rectangle 135"/>
            <p:cNvSpPr>
              <a:spLocks noChangeArrowheads="1"/>
            </p:cNvSpPr>
            <p:nvPr/>
          </p:nvSpPr>
          <p:spPr bwMode="auto">
            <a:xfrm>
              <a:off x="4968875" y="49990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77" name="Rectangle 136"/>
            <p:cNvSpPr>
              <a:spLocks noChangeArrowheads="1"/>
            </p:cNvSpPr>
            <p:nvPr/>
          </p:nvSpPr>
          <p:spPr bwMode="auto">
            <a:xfrm>
              <a:off x="6764338" y="3005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78" name="Rectangle 137"/>
            <p:cNvSpPr>
              <a:spLocks noChangeArrowheads="1"/>
            </p:cNvSpPr>
            <p:nvPr/>
          </p:nvSpPr>
          <p:spPr bwMode="auto">
            <a:xfrm>
              <a:off x="6738938" y="4400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79" name="Rectangle 138"/>
            <p:cNvSpPr>
              <a:spLocks noChangeArrowheads="1"/>
            </p:cNvSpPr>
            <p:nvPr/>
          </p:nvSpPr>
          <p:spPr bwMode="auto">
            <a:xfrm>
              <a:off x="1852613" y="347662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80" name="Rectangle 139"/>
            <p:cNvSpPr>
              <a:spLocks noChangeArrowheads="1"/>
            </p:cNvSpPr>
            <p:nvPr/>
          </p:nvSpPr>
          <p:spPr bwMode="auto">
            <a:xfrm>
              <a:off x="1428750" y="431006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82" name="Rectangle 141"/>
            <p:cNvSpPr>
              <a:spLocks noChangeArrowheads="1"/>
            </p:cNvSpPr>
            <p:nvPr/>
          </p:nvSpPr>
          <p:spPr bwMode="auto">
            <a:xfrm>
              <a:off x="3273425" y="2552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83" name="Rectangle 142"/>
            <p:cNvSpPr>
              <a:spLocks noChangeArrowheads="1"/>
            </p:cNvSpPr>
            <p:nvPr/>
          </p:nvSpPr>
          <p:spPr bwMode="auto">
            <a:xfrm>
              <a:off x="3203575" y="27955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84" name="Rectangle 143"/>
            <p:cNvSpPr>
              <a:spLocks noChangeArrowheads="1"/>
            </p:cNvSpPr>
            <p:nvPr/>
          </p:nvSpPr>
          <p:spPr bwMode="auto">
            <a:xfrm>
              <a:off x="3049588" y="3241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1085" name="Rectangle 144"/>
            <p:cNvSpPr>
              <a:spLocks noChangeArrowheads="1"/>
            </p:cNvSpPr>
            <p:nvPr/>
          </p:nvSpPr>
          <p:spPr bwMode="auto">
            <a:xfrm>
              <a:off x="3249613" y="3513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1086" name="Rectangle 145"/>
            <p:cNvSpPr>
              <a:spLocks noChangeArrowheads="1"/>
            </p:cNvSpPr>
            <p:nvPr/>
          </p:nvSpPr>
          <p:spPr bwMode="auto">
            <a:xfrm>
              <a:off x="3203575" y="3803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1087" name="Rectangle 146"/>
            <p:cNvSpPr>
              <a:spLocks noChangeArrowheads="1"/>
            </p:cNvSpPr>
            <p:nvPr/>
          </p:nvSpPr>
          <p:spPr bwMode="auto">
            <a:xfrm>
              <a:off x="2674938" y="4473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1088" name="Rectangle 147"/>
            <p:cNvSpPr>
              <a:spLocks noChangeArrowheads="1"/>
            </p:cNvSpPr>
            <p:nvPr/>
          </p:nvSpPr>
          <p:spPr bwMode="auto">
            <a:xfrm>
              <a:off x="3203575" y="44529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1089" name="Rectangle 148"/>
            <p:cNvSpPr>
              <a:spLocks noChangeArrowheads="1"/>
            </p:cNvSpPr>
            <p:nvPr/>
          </p:nvSpPr>
          <p:spPr bwMode="auto">
            <a:xfrm>
              <a:off x="3059113" y="4811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090" name="Rectangle 149"/>
            <p:cNvSpPr>
              <a:spLocks noChangeArrowheads="1"/>
            </p:cNvSpPr>
            <p:nvPr/>
          </p:nvSpPr>
          <p:spPr bwMode="auto">
            <a:xfrm>
              <a:off x="5567363" y="23177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1091" name="Rectangle 150"/>
            <p:cNvSpPr>
              <a:spLocks noChangeArrowheads="1"/>
            </p:cNvSpPr>
            <p:nvPr/>
          </p:nvSpPr>
          <p:spPr bwMode="auto">
            <a:xfrm>
              <a:off x="5364163" y="2652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92" name="Rectangle 151"/>
            <p:cNvSpPr>
              <a:spLocks noChangeArrowheads="1"/>
            </p:cNvSpPr>
            <p:nvPr/>
          </p:nvSpPr>
          <p:spPr bwMode="auto">
            <a:xfrm>
              <a:off x="5268913" y="3295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1093" name="Rectangle 152"/>
            <p:cNvSpPr>
              <a:spLocks noChangeArrowheads="1"/>
            </p:cNvSpPr>
            <p:nvPr/>
          </p:nvSpPr>
          <p:spPr bwMode="auto">
            <a:xfrm>
              <a:off x="5364163" y="37322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1094" name="Rectangle 153"/>
            <p:cNvSpPr>
              <a:spLocks noChangeArrowheads="1"/>
            </p:cNvSpPr>
            <p:nvPr/>
          </p:nvSpPr>
          <p:spPr bwMode="auto">
            <a:xfrm>
              <a:off x="5364163" y="46688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95" name="Rectangle 154"/>
            <p:cNvSpPr>
              <a:spLocks noChangeArrowheads="1"/>
            </p:cNvSpPr>
            <p:nvPr/>
          </p:nvSpPr>
          <p:spPr bwMode="auto">
            <a:xfrm>
              <a:off x="5148263" y="43799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1096" name="Rectangle 155"/>
            <p:cNvSpPr>
              <a:spLocks noChangeArrowheads="1"/>
            </p:cNvSpPr>
            <p:nvPr/>
          </p:nvSpPr>
          <p:spPr bwMode="auto">
            <a:xfrm>
              <a:off x="7337425" y="3024188"/>
              <a:ext cx="1778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10</a:t>
              </a:r>
              <a:endParaRPr kumimoji="1" lang="en-US" altLang="zh-CN" sz="1400">
                <a:latin typeface="Times New Roman" panose="02020603050405020304" pitchFamily="18" charset="0"/>
                <a:ea typeface="楷体" panose="02010609060101010101" pitchFamily="49" charset="-122"/>
              </a:endParaRPr>
            </a:p>
          </p:txBody>
        </p:sp>
        <p:sp>
          <p:nvSpPr>
            <p:cNvPr id="1097" name="Rectangle 156"/>
            <p:cNvSpPr>
              <a:spLocks noChangeArrowheads="1"/>
            </p:cNvSpPr>
            <p:nvPr/>
          </p:nvSpPr>
          <p:spPr bwMode="auto">
            <a:xfrm>
              <a:off x="7262813" y="4273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1098" name="Line 157"/>
            <p:cNvSpPr>
              <a:spLocks noChangeShapeType="1"/>
            </p:cNvSpPr>
            <p:nvPr/>
          </p:nvSpPr>
          <p:spPr bwMode="auto">
            <a:xfrm flipH="1" flipV="1">
              <a:off x="900113" y="3948113"/>
              <a:ext cx="1439862" cy="19446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99" name="Oval 158"/>
            <p:cNvSpPr>
              <a:spLocks noChangeArrowheads="1"/>
            </p:cNvSpPr>
            <p:nvPr/>
          </p:nvSpPr>
          <p:spPr bwMode="auto">
            <a:xfrm>
              <a:off x="2339975" y="5748338"/>
              <a:ext cx="596900" cy="40481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graphicFrame>
          <p:nvGraphicFramePr>
            <p:cNvPr id="1026" name="Object 159"/>
            <p:cNvGraphicFramePr>
              <a:graphicFrameLocks noChangeAspect="1"/>
            </p:cNvGraphicFramePr>
            <p:nvPr/>
          </p:nvGraphicFramePr>
          <p:xfrm>
            <a:off x="2484438" y="5792788"/>
            <a:ext cx="338137" cy="360362"/>
          </p:xfrm>
          <a:graphic>
            <a:graphicData uri="http://schemas.openxmlformats.org/presentationml/2006/ole">
              <mc:AlternateContent xmlns:mc="http://schemas.openxmlformats.org/markup-compatibility/2006">
                <mc:Choice xmlns:v="urn:schemas-microsoft-com:vml" Requires="v">
                  <p:oleObj spid="_x0000_s52347" name="公式" r:id="rId1" imgW="203200" imgH="215900" progId="Equation.3">
                    <p:embed/>
                  </p:oleObj>
                </mc:Choice>
                <mc:Fallback>
                  <p:oleObj name="公式" r:id="rId1" imgW="203200" imgH="215900" progId="Equation.3">
                    <p:embed/>
                    <p:pic>
                      <p:nvPicPr>
                        <p:cNvPr id="0" name="Object 15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5792788"/>
                          <a:ext cx="338137" cy="360362"/>
                        </a:xfrm>
                        <a:prstGeom prst="rect">
                          <a:avLst/>
                        </a:prstGeom>
                        <a:noFill/>
                        <a:ln>
                          <a:noFill/>
                        </a:ln>
                        <a:effectLst/>
                        <a:extLst>
                          <a:ext uri="{909E8E84-426E-40DD-AFC4-6F175D3DCCD1}">
                            <a14:hiddenFill xmlns:a14="http://schemas.microsoft.com/office/drawing/2010/main">
                              <a:gradFill rotWithShape="0">
                                <a:gsLst>
                                  <a:gs pos="0">
                                    <a:srgbClr val="5E9EFF"/>
                                  </a:gs>
                                  <a:gs pos="39999">
                                    <a:srgbClr val="85C2FF"/>
                                  </a:gs>
                                  <a:gs pos="70000">
                                    <a:srgbClr val="C4D6EB"/>
                                  </a:gs>
                                  <a:gs pos="100000">
                                    <a:srgbClr val="FFEBFA"/>
                                  </a:gs>
                                </a:gsLst>
                                <a:lin ang="5400000" scaled="1"/>
                              </a:gra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0" name="Line 160"/>
            <p:cNvSpPr>
              <a:spLocks noChangeShapeType="1"/>
            </p:cNvSpPr>
            <p:nvPr/>
          </p:nvSpPr>
          <p:spPr bwMode="auto">
            <a:xfrm flipV="1">
              <a:off x="2946401" y="5245100"/>
              <a:ext cx="1770062" cy="7302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1" name="Rectangle 161"/>
            <p:cNvSpPr>
              <a:spLocks noChangeArrowheads="1"/>
            </p:cNvSpPr>
            <p:nvPr/>
          </p:nvSpPr>
          <p:spPr bwMode="auto">
            <a:xfrm>
              <a:off x="1692275" y="4092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1102" name="Line 162"/>
            <p:cNvSpPr>
              <a:spLocks noChangeShapeType="1"/>
            </p:cNvSpPr>
            <p:nvPr/>
          </p:nvSpPr>
          <p:spPr bwMode="auto">
            <a:xfrm flipV="1">
              <a:off x="2916238" y="3948113"/>
              <a:ext cx="1943100" cy="18716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3" name="Line 163"/>
            <p:cNvSpPr>
              <a:spLocks noChangeShapeType="1"/>
            </p:cNvSpPr>
            <p:nvPr/>
          </p:nvSpPr>
          <p:spPr bwMode="auto">
            <a:xfrm flipV="1">
              <a:off x="2771775" y="2652713"/>
              <a:ext cx="2160588" cy="30956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4" name="Rectangle 164"/>
            <p:cNvSpPr>
              <a:spLocks noChangeArrowheads="1"/>
            </p:cNvSpPr>
            <p:nvPr/>
          </p:nvSpPr>
          <p:spPr bwMode="auto">
            <a:xfrm>
              <a:off x="2843213"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1105" name="Rectangle 165"/>
            <p:cNvSpPr>
              <a:spLocks noChangeArrowheads="1"/>
            </p:cNvSpPr>
            <p:nvPr/>
          </p:nvSpPr>
          <p:spPr bwMode="auto">
            <a:xfrm>
              <a:off x="3132138"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1106" name="Rectangle 166"/>
            <p:cNvSpPr>
              <a:spLocks noChangeArrowheads="1"/>
            </p:cNvSpPr>
            <p:nvPr/>
          </p:nvSpPr>
          <p:spPr bwMode="auto">
            <a:xfrm>
              <a:off x="3276600" y="55324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grpSp>
      <p:sp>
        <p:nvSpPr>
          <p:cNvPr id="5" name="箭头: 右 4"/>
          <p:cNvSpPr/>
          <p:nvPr/>
        </p:nvSpPr>
        <p:spPr>
          <a:xfrm>
            <a:off x="3222284" y="5517232"/>
            <a:ext cx="5738588" cy="314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729666" y="5992966"/>
            <a:ext cx="2697480" cy="368300"/>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需要做多少次加法运算</a:t>
            </a:r>
            <a:r>
              <a:rPr lang="zh-CN" altLang="en-US" dirty="0"/>
              <a:t>？</a:t>
            </a:r>
            <a:endParaRPr lang="zh-CN" altLang="en-US" dirty="0"/>
          </a:p>
        </p:txBody>
      </p:sp>
      <p:sp>
        <p:nvSpPr>
          <p:cNvPr id="92" name="文本框 91"/>
          <p:cNvSpPr txBox="1"/>
          <p:nvPr/>
        </p:nvSpPr>
        <p:spPr>
          <a:xfrm>
            <a:off x="5566433" y="6381904"/>
            <a:ext cx="1111885" cy="368300"/>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4</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3</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2=24</a:t>
            </a:r>
            <a:endParaRPr lang="zh-CN" altLang="en-US" dirty="0">
              <a:latin typeface="Times New Roman" panose="02020603050405020304" pitchFamily="18" charset="0"/>
              <a:cs typeface="Times New Roman" panose="02020603050405020304" pitchFamily="18" charset="0"/>
            </a:endParaRPr>
          </a:p>
        </p:txBody>
      </p:sp>
      <p:sp>
        <p:nvSpPr>
          <p:cNvPr id="3"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4995" name="Rectangle 1031"/>
              <p:cNvSpPr>
                <a:spLocks noGrp="1" noChangeArrowheads="1"/>
              </p:cNvSpPr>
              <p:nvPr>
                <p:ph idx="1"/>
              </p:nvPr>
            </p:nvSpPr>
            <p:spPr>
              <a:xfrm>
                <a:off x="1809750" y="1571625"/>
                <a:ext cx="8286750" cy="4286250"/>
              </a:xfrm>
            </p:spPr>
            <p:txBody>
              <a:bodyPr/>
              <a:lstStyle/>
              <a:p>
                <a:pPr algn="ctr" eaLnBrk="1" hangingPunct="1">
                  <a:lnSpc>
                    <a:spcPct val="130000"/>
                  </a:lnSpc>
                  <a:spcBef>
                    <a:spcPts val="300"/>
                  </a:spcBef>
                  <a:spcAft>
                    <a:spcPts val="300"/>
                  </a:spcAft>
                  <a:buFontTx/>
                  <a:buNone/>
                  <a:defRPr/>
                </a:pPr>
                <a:r>
                  <a:rPr lang="zh-CN" altLang="en-US" sz="3600" b="1" dirty="0">
                    <a:latin typeface="楷体" panose="02010609060101010101" pitchFamily="49" charset="-122"/>
                  </a:rPr>
                  <a:t>讨论：</a:t>
                </a:r>
                <a:endParaRPr lang="zh-CN" altLang="en-US" sz="3600" b="1" dirty="0">
                  <a:latin typeface="楷体" panose="02010609060101010101" pitchFamily="49" charset="-122"/>
                </a:endParaRPr>
              </a:p>
              <a:p>
                <a:pPr indent="0" algn="just" eaLnBrk="1" hangingPunct="1">
                  <a:lnSpc>
                    <a:spcPct val="150000"/>
                  </a:lnSpc>
                  <a:spcBef>
                    <a:spcPts val="300"/>
                  </a:spcBef>
                  <a:spcAft>
                    <a:spcPts val="300"/>
                  </a:spcAft>
                  <a:buFontTx/>
                  <a:buNone/>
                  <a:defRPr/>
                </a:pPr>
                <a:r>
                  <a:rPr lang="zh-CN" altLang="en-US" sz="2800" dirty="0">
                    <a:latin typeface="楷体" panose="02010609060101010101" pitchFamily="49" charset="-122"/>
                  </a:rPr>
                  <a:t>    以上求从</a:t>
                </a:r>
                <a14:m>
                  <m:oMath xmlns:m="http://schemas.openxmlformats.org/officeDocument/2006/math">
                    <m:r>
                      <a:rPr lang="en-US" altLang="zh-CN" sz="2800" i="1" dirty="0" smtClean="0">
                        <a:latin typeface="Cambria Math" panose="02040503050406030204" pitchFamily="18" charset="0"/>
                      </a:rPr>
                      <m:t>𝐴</m:t>
                    </m:r>
                    <m:r>
                      <a:rPr lang="zh-CN" altLang="en-US" sz="2800" i="1" dirty="0" smtClean="0">
                        <a:latin typeface="Cambria Math" panose="02040503050406030204" pitchFamily="18" charset="0"/>
                      </a:rPr>
                      <m:t>到</m:t>
                    </m:r>
                    <m:r>
                      <a:rPr lang="en-US" altLang="zh-CN" sz="2800" i="1" dirty="0" smtClean="0">
                        <a:latin typeface="Cambria Math" panose="02040503050406030204" pitchFamily="18" charset="0"/>
                      </a:rPr>
                      <m:t>𝐸</m:t>
                    </m:r>
                  </m:oMath>
                </a14:m>
                <a:r>
                  <a:rPr lang="zh-CN" altLang="en-US" sz="2800" dirty="0">
                    <a:latin typeface="楷体" panose="02010609060101010101" pitchFamily="49" charset="-122"/>
                  </a:rPr>
                  <a:t>的最短路径问题，可以转化为四个性质完全相同，但规模较小的子问题，即</a:t>
                </a:r>
                <a:r>
                  <a:rPr lang="zh-CN" altLang="en-US" sz="2800" dirty="0">
                    <a:solidFill>
                      <a:srgbClr val="FF0000"/>
                    </a:solidFill>
                    <a:latin typeface="楷体" panose="02010609060101010101" pitchFamily="49" charset="-122"/>
                  </a:rPr>
                  <a:t>分别从</a:t>
                </a:r>
                <a14:m>
                  <m:oMath xmlns:m="http://schemas.openxmlformats.org/officeDocument/2006/math">
                    <m:r>
                      <a:rPr lang="en-US" altLang="zh-CN" sz="2800" i="1" dirty="0" smtClean="0">
                        <a:solidFill>
                          <a:srgbClr val="FF0000"/>
                        </a:solidFill>
                        <a:latin typeface="Cambria Math" panose="02040503050406030204" pitchFamily="18" charset="0"/>
                      </a:rPr>
                      <m:t>𝐷</m:t>
                    </m:r>
                    <m:r>
                      <a:rPr lang="en-US" altLang="zh-CN" sz="2800" i="1" baseline="-25000" dirty="0" smtClean="0">
                        <a:solidFill>
                          <a:srgbClr val="FF0000"/>
                        </a:solidFill>
                        <a:latin typeface="Cambria Math" panose="02040503050406030204" pitchFamily="18" charset="0"/>
                      </a:rPr>
                      <m:t>𝑖</m:t>
                    </m:r>
                    <m:r>
                      <a:rPr lang="en-US" altLang="zh-CN" sz="2800" i="1" dirty="0" smtClean="0">
                        <a:solidFill>
                          <a:srgbClr val="FF0000"/>
                        </a:solidFill>
                        <a:latin typeface="Cambria Math" panose="02040503050406030204" pitchFamily="18" charset="0"/>
                      </a:rPr>
                      <m:t> </m:t>
                    </m:r>
                    <m:r>
                      <a:rPr lang="zh-CN" altLang="en-US" sz="2800" i="1" dirty="0" smtClean="0">
                        <a:solidFill>
                          <a:srgbClr val="FF0000"/>
                        </a:solidFill>
                        <a:latin typeface="Cambria Math" panose="02040503050406030204" pitchFamily="18" charset="0"/>
                      </a:rPr>
                      <m:t>、</m:t>
                    </m:r>
                    <m:r>
                      <a:rPr lang="en-US" altLang="zh-CN" sz="2800" i="1" dirty="0" err="1" smtClean="0">
                        <a:solidFill>
                          <a:srgbClr val="FF0000"/>
                        </a:solidFill>
                        <a:latin typeface="Cambria Math" panose="02040503050406030204" pitchFamily="18" charset="0"/>
                      </a:rPr>
                      <m:t>𝐶</m:t>
                    </m:r>
                    <m:r>
                      <a:rPr lang="en-US" altLang="zh-CN" sz="2800" i="1" baseline="-25000" dirty="0" err="1" smtClean="0">
                        <a:solidFill>
                          <a:srgbClr val="FF0000"/>
                        </a:solidFill>
                        <a:latin typeface="Cambria Math" panose="02040503050406030204" pitchFamily="18" charset="0"/>
                      </a:rPr>
                      <m:t>𝑖</m:t>
                    </m:r>
                    <m:r>
                      <a:rPr lang="zh-CN" altLang="en-US" sz="2800" i="1" dirty="0" smtClean="0">
                        <a:solidFill>
                          <a:srgbClr val="FF0000"/>
                        </a:solidFill>
                        <a:latin typeface="Cambria Math" panose="02040503050406030204" pitchFamily="18" charset="0"/>
                      </a:rPr>
                      <m:t>、</m:t>
                    </m:r>
                    <m:r>
                      <a:rPr lang="en-US" altLang="zh-CN" sz="2800" i="1" dirty="0" smtClean="0">
                        <a:solidFill>
                          <a:srgbClr val="FF0000"/>
                        </a:solidFill>
                        <a:latin typeface="Cambria Math" panose="02040503050406030204" pitchFamily="18" charset="0"/>
                      </a:rPr>
                      <m:t>𝐵</m:t>
                    </m:r>
                    <m:r>
                      <a:rPr lang="en-US" altLang="zh-CN" sz="2800" i="1" baseline="-25000" dirty="0" smtClean="0">
                        <a:solidFill>
                          <a:srgbClr val="FF0000"/>
                        </a:solidFill>
                        <a:latin typeface="Cambria Math" panose="02040503050406030204" pitchFamily="18" charset="0"/>
                      </a:rPr>
                      <m:t>𝑖</m:t>
                    </m:r>
                    <m:r>
                      <a:rPr lang="zh-CN" altLang="en-US" sz="2800" i="1" dirty="0" smtClean="0">
                        <a:solidFill>
                          <a:srgbClr val="FF0000"/>
                        </a:solidFill>
                        <a:latin typeface="Cambria Math" panose="02040503050406030204" pitchFamily="18" charset="0"/>
                      </a:rPr>
                      <m:t>、</m:t>
                    </m:r>
                    <m:r>
                      <a:rPr lang="en-US" altLang="zh-CN" sz="2800" i="1" dirty="0" smtClean="0">
                        <a:solidFill>
                          <a:srgbClr val="FF0000"/>
                        </a:solidFill>
                        <a:latin typeface="Cambria Math" panose="02040503050406030204" pitchFamily="18" charset="0"/>
                      </a:rPr>
                      <m:t>𝐴</m:t>
                    </m:r>
                  </m:oMath>
                </a14:m>
                <a:r>
                  <a:rPr lang="zh-CN" altLang="en-US" sz="2800" dirty="0">
                    <a:solidFill>
                      <a:srgbClr val="FF0000"/>
                    </a:solidFill>
                    <a:latin typeface="楷体" panose="02010609060101010101" pitchFamily="49" charset="-122"/>
                  </a:rPr>
                  <a:t>到</a:t>
                </a:r>
                <a14:m>
                  <m:oMath xmlns:m="http://schemas.openxmlformats.org/officeDocument/2006/math">
                    <m:r>
                      <a:rPr lang="en-US" altLang="zh-CN" sz="2800" i="1" dirty="0" smtClean="0">
                        <a:solidFill>
                          <a:srgbClr val="FF0000"/>
                        </a:solidFill>
                        <a:latin typeface="Cambria Math" panose="02040503050406030204" pitchFamily="18" charset="0"/>
                      </a:rPr>
                      <m:t>𝐸</m:t>
                    </m:r>
                  </m:oMath>
                </a14:m>
                <a:r>
                  <a:rPr lang="zh-CN" altLang="en-US" sz="2800" dirty="0">
                    <a:solidFill>
                      <a:srgbClr val="FF0000"/>
                    </a:solidFill>
                    <a:latin typeface="楷体" panose="02010609060101010101" pitchFamily="49" charset="-122"/>
                  </a:rPr>
                  <a:t>的最短路径问题</a:t>
                </a:r>
                <a:r>
                  <a:rPr lang="zh-CN" altLang="en-US" sz="2800" dirty="0">
                    <a:latin typeface="楷体" panose="02010609060101010101" pitchFamily="49" charset="-122"/>
                  </a:rPr>
                  <a:t>。</a:t>
                </a:r>
                <a:endParaRPr lang="zh-CN" altLang="en-US" sz="2800" dirty="0">
                  <a:latin typeface="楷体" panose="02010609060101010101" pitchFamily="49" charset="-122"/>
                </a:endParaRPr>
              </a:p>
            </p:txBody>
          </p:sp>
        </mc:Choice>
        <mc:Fallback>
          <p:sp>
            <p:nvSpPr>
              <p:cNvPr id="84995" name="Rectangle 1031"/>
              <p:cNvSpPr>
                <a:spLocks noRot="1" noChangeAspect="1" noMove="1" noResize="1" noEditPoints="1" noAdjustHandles="1" noChangeArrowheads="1" noChangeShapeType="1" noTextEdit="1"/>
              </p:cNvSpPr>
              <p:nvPr>
                <p:ph idx="1"/>
              </p:nvPr>
            </p:nvSpPr>
            <p:spPr>
              <a:xfrm>
                <a:off x="1809750" y="1571625"/>
                <a:ext cx="8286750" cy="4286250"/>
              </a:xfrm>
              <a:blipFill rotWithShape="1">
                <a:blip r:embed="rId1"/>
                <a:stretch>
                  <a:fillRect/>
                </a:stretch>
              </a:blipFill>
            </p:spPr>
            <p:txBody>
              <a:bodyPr/>
              <a:lstStyle/>
              <a:p>
                <a:r>
                  <a:rPr lang="zh-CN" altLang="en-US">
                    <a:noFill/>
                  </a:rPr>
                  <a:t> </a:t>
                </a:r>
              </a:p>
            </p:txBody>
          </p:sp>
        </mc:Fallback>
      </mc:AlternateContent>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0899" name="Rectangle 1031"/>
              <p:cNvSpPr>
                <a:spLocks noGrp="1" noChangeArrowheads="1"/>
              </p:cNvSpPr>
              <p:nvPr>
                <p:ph idx="1"/>
              </p:nvPr>
            </p:nvSpPr>
            <p:spPr>
              <a:xfrm>
                <a:off x="1809750" y="1143000"/>
                <a:ext cx="8401050" cy="3929063"/>
              </a:xfrm>
            </p:spPr>
            <p:txBody>
              <a:bodyPr/>
              <a:lstStyle/>
              <a:p>
                <a:pPr indent="0" algn="just" eaLnBrk="1" hangingPunct="1">
                  <a:lnSpc>
                    <a:spcPct val="120000"/>
                  </a:lnSpc>
                  <a:spcBef>
                    <a:spcPts val="300"/>
                  </a:spcBef>
                  <a:spcAft>
                    <a:spcPts val="300"/>
                  </a:spcAft>
                  <a:buFontTx/>
                  <a:buNone/>
                </a:pPr>
                <a:r>
                  <a:rPr lang="zh-CN" altLang="en-US" sz="2400" b="1" dirty="0">
                    <a:latin typeface="楷体" panose="02010609060101010101" pitchFamily="49" charset="-122"/>
                  </a:rPr>
                  <a:t>第四阶段：</a:t>
                </a:r>
                <a:endParaRPr lang="en-US" altLang="zh-CN" sz="2400" b="1" dirty="0">
                  <a:latin typeface="楷体" panose="02010609060101010101" pitchFamily="49" charset="-122"/>
                </a:endParaRPr>
              </a:p>
              <a:p>
                <a:pPr indent="0" algn="just" eaLnBrk="1" hangingPunct="1">
                  <a:lnSpc>
                    <a:spcPct val="120000"/>
                  </a:lnSpc>
                  <a:spcBef>
                    <a:spcPts val="300"/>
                  </a:spcBef>
                  <a:spcAft>
                    <a:spcPts val="300"/>
                  </a:spcAft>
                  <a:buFontTx/>
                  <a:buNone/>
                </a:pPr>
                <a:r>
                  <a:rPr lang="zh-CN" altLang="en-US" sz="2400" dirty="0">
                    <a:latin typeface="楷体" panose="02010609060101010101" pitchFamily="49" charset="-122"/>
                  </a:rPr>
                  <a:t>两个始点</a:t>
                </a:r>
                <a14:m>
                  <m:oMath xmlns:m="http://schemas.openxmlformats.org/officeDocument/2006/math">
                    <m:r>
                      <a:rPr lang="en-US" altLang="zh-CN" sz="2400" i="1" dirty="0" smtClean="0">
                        <a:latin typeface="Cambria Math" panose="02040503050406030204" pitchFamily="18" charset="0"/>
                      </a:rPr>
                      <m:t>𝐷</m:t>
                    </m:r>
                    <m:r>
                      <a:rPr lang="en-US" altLang="zh-CN" sz="2400" i="1" baseline="-25000" dirty="0" smtClean="0">
                        <a:latin typeface="Cambria Math" panose="02040503050406030204" pitchFamily="18" charset="0"/>
                      </a:rPr>
                      <m:t>1</m:t>
                    </m:r>
                    <m:r>
                      <a:rPr lang="zh-CN" altLang="en-US" sz="2400" i="1" dirty="0" smtClean="0">
                        <a:latin typeface="Cambria Math" panose="02040503050406030204" pitchFamily="18" charset="0"/>
                      </a:rPr>
                      <m:t>和</m:t>
                    </m:r>
                    <m:r>
                      <a:rPr lang="en-US" altLang="zh-CN" sz="2400" i="1" dirty="0" smtClean="0">
                        <a:latin typeface="Cambria Math" panose="02040503050406030204" pitchFamily="18" charset="0"/>
                      </a:rPr>
                      <m:t>𝐷</m:t>
                    </m:r>
                    <m:r>
                      <a:rPr lang="en-US" altLang="zh-CN" sz="2400" i="1" baseline="-25000" dirty="0" smtClean="0">
                        <a:latin typeface="Cambria Math" panose="02040503050406030204" pitchFamily="18" charset="0"/>
                      </a:rPr>
                      <m:t>2</m:t>
                    </m:r>
                  </m:oMath>
                </a14:m>
                <a:r>
                  <a:rPr lang="zh-CN" altLang="en-US" sz="2400" dirty="0">
                    <a:latin typeface="楷体" panose="02010609060101010101" pitchFamily="49" charset="-122"/>
                  </a:rPr>
                  <a:t>，终点只有一个；</a:t>
                </a:r>
                <a:endParaRPr lang="en-US" altLang="zh-CN" sz="2400" dirty="0">
                  <a:latin typeface="楷体" panose="02010609060101010101" pitchFamily="49" charset="-122"/>
                </a:endParaRPr>
              </a:p>
              <a:p>
                <a:pPr indent="0" algn="just" eaLnBrk="1" hangingPunct="1">
                  <a:lnSpc>
                    <a:spcPct val="120000"/>
                  </a:lnSpc>
                  <a:spcBef>
                    <a:spcPts val="300"/>
                  </a:spcBef>
                  <a:spcAft>
                    <a:spcPts val="300"/>
                  </a:spcAft>
                  <a:buFontTx/>
                  <a:buNone/>
                </a:pPr>
                <a:r>
                  <a:rPr lang="zh-CN" altLang="en-US" sz="2400" dirty="0">
                    <a:latin typeface="楷体" panose="02010609060101010101" pitchFamily="49" charset="-122"/>
                  </a:rPr>
                  <a:t>                                  </a:t>
                </a:r>
                <a:endParaRPr lang="en-US" altLang="zh-CN" sz="2400" dirty="0">
                  <a:latin typeface="楷体" panose="02010609060101010101" pitchFamily="49" charset="-122"/>
                </a:endParaRPr>
              </a:p>
              <a:p>
                <a:pPr indent="0" algn="just" eaLnBrk="1" hangingPunct="1">
                  <a:lnSpc>
                    <a:spcPct val="120000"/>
                  </a:lnSpc>
                  <a:spcBef>
                    <a:spcPts val="300"/>
                  </a:spcBef>
                  <a:spcAft>
                    <a:spcPts val="300"/>
                  </a:spcAft>
                  <a:buFontTx/>
                  <a:buNone/>
                </a:pPr>
                <a:endParaRPr lang="en-US" altLang="zh-CN" sz="2000" dirty="0">
                  <a:latin typeface="楷体" panose="02010609060101010101" pitchFamily="49" charset="-122"/>
                </a:endParaRPr>
              </a:p>
              <a:p>
                <a:pPr indent="0" algn="just" eaLnBrk="1" hangingPunct="1">
                  <a:lnSpc>
                    <a:spcPct val="120000"/>
                  </a:lnSpc>
                  <a:spcBef>
                    <a:spcPts val="300"/>
                  </a:spcBef>
                  <a:spcAft>
                    <a:spcPts val="300"/>
                  </a:spcAft>
                  <a:buFontTx/>
                  <a:buNone/>
                </a:pPr>
                <a:endParaRPr lang="en-US" altLang="zh-CN" sz="2400" dirty="0">
                  <a:latin typeface="楷体" panose="02010609060101010101" pitchFamily="49" charset="-122"/>
                </a:endParaRPr>
              </a:p>
              <a:p>
                <a:pPr indent="0" algn="just" eaLnBrk="1" hangingPunct="1">
                  <a:lnSpc>
                    <a:spcPct val="120000"/>
                  </a:lnSpc>
                  <a:spcBef>
                    <a:spcPts val="300"/>
                  </a:spcBef>
                  <a:spcAft>
                    <a:spcPts val="300"/>
                  </a:spcAft>
                  <a:buFontTx/>
                  <a:buNone/>
                </a:pPr>
                <a:endParaRPr lang="en-US" altLang="zh-CN" sz="2400" dirty="0">
                  <a:latin typeface="楷体" panose="02010609060101010101" pitchFamily="49" charset="-122"/>
                </a:endParaRPr>
              </a:p>
              <a:p>
                <a:pPr indent="0" algn="just" eaLnBrk="1" hangingPunct="1">
                  <a:lnSpc>
                    <a:spcPct val="120000"/>
                  </a:lnSpc>
                  <a:spcBef>
                    <a:spcPts val="300"/>
                  </a:spcBef>
                  <a:spcAft>
                    <a:spcPts val="300"/>
                  </a:spcAft>
                  <a:buFontTx/>
                  <a:buNone/>
                </a:pPr>
                <a:r>
                  <a:rPr lang="zh-CN" altLang="en-US" sz="2400" dirty="0">
                    <a:latin typeface="楷体" panose="02010609060101010101" pitchFamily="49" charset="-122"/>
                  </a:rPr>
                  <a:t>分析得知：从</a:t>
                </a:r>
                <a14:m>
                  <m:oMath xmlns:m="http://schemas.openxmlformats.org/officeDocument/2006/math">
                    <m:r>
                      <a:rPr lang="en-US" altLang="zh-CN" sz="2400" i="1" dirty="0" smtClean="0">
                        <a:latin typeface="Cambria Math" panose="02040503050406030204" pitchFamily="18" charset="0"/>
                        <a:cs typeface="Arial" panose="020B0604020202020204" pitchFamily="34" charset="0"/>
                      </a:rPr>
                      <m:t>𝐷</m:t>
                    </m:r>
                    <m:r>
                      <a:rPr lang="en-US" altLang="zh-CN" sz="2400" i="1" baseline="-25000" dirty="0" smtClean="0">
                        <a:latin typeface="Cambria Math" panose="02040503050406030204" pitchFamily="18" charset="0"/>
                        <a:cs typeface="Arial" panose="020B0604020202020204" pitchFamily="34" charset="0"/>
                      </a:rPr>
                      <m:t>1</m:t>
                    </m:r>
                    <m:r>
                      <a:rPr lang="zh-CN" altLang="en-US" sz="2400" i="1" dirty="0" smtClean="0">
                        <a:latin typeface="Cambria Math" panose="02040503050406030204" pitchFamily="18" charset="0"/>
                      </a:rPr>
                      <m:t>和</m:t>
                    </m:r>
                    <m:r>
                      <a:rPr lang="en-US" altLang="zh-CN" sz="2400" i="1" dirty="0" smtClean="0">
                        <a:latin typeface="Cambria Math" panose="02040503050406030204" pitchFamily="18" charset="0"/>
                        <a:cs typeface="Arial" panose="020B0604020202020204" pitchFamily="34" charset="0"/>
                      </a:rPr>
                      <m:t>𝐷</m:t>
                    </m:r>
                    <m:r>
                      <a:rPr lang="en-US" altLang="zh-CN" sz="2400" i="1" baseline="-25000" dirty="0" smtClean="0">
                        <a:latin typeface="Cambria Math" panose="02040503050406030204" pitchFamily="18" charset="0"/>
                        <a:cs typeface="Arial" panose="020B0604020202020204" pitchFamily="34" charset="0"/>
                      </a:rPr>
                      <m:t>2</m:t>
                    </m:r>
                    <m:r>
                      <a:rPr lang="zh-CN" altLang="en-US" sz="2400" i="1" dirty="0" smtClean="0">
                        <a:latin typeface="Cambria Math" panose="02040503050406030204" pitchFamily="18" charset="0"/>
                      </a:rPr>
                      <m:t>到</m:t>
                    </m:r>
                    <m:r>
                      <a:rPr lang="en-US" altLang="zh-CN" sz="2400" i="1" dirty="0" smtClean="0">
                        <a:latin typeface="Cambria Math" panose="02040503050406030204" pitchFamily="18" charset="0"/>
                        <a:cs typeface="Arial" panose="020B0604020202020204" pitchFamily="34" charset="0"/>
                      </a:rPr>
                      <m:t>𝐸</m:t>
                    </m:r>
                  </m:oMath>
                </a14:m>
                <a:r>
                  <a:rPr lang="zh-CN" altLang="en-US" sz="2400" dirty="0">
                    <a:latin typeface="楷体" panose="02010609060101010101" pitchFamily="49" charset="-122"/>
                  </a:rPr>
                  <a:t>的最短路径唯一。</a:t>
                </a:r>
                <a:endParaRPr lang="zh-CN" altLang="en-US" sz="2400" dirty="0">
                  <a:latin typeface="楷体" panose="02010609060101010101" pitchFamily="49" charset="-122"/>
                </a:endParaRPr>
              </a:p>
            </p:txBody>
          </p:sp>
        </mc:Choice>
        <mc:Fallback>
          <p:sp>
            <p:nvSpPr>
              <p:cNvPr id="80899" name="Rectangle 1031"/>
              <p:cNvSpPr>
                <a:spLocks noRot="1" noChangeAspect="1" noMove="1" noResize="1" noEditPoints="1" noAdjustHandles="1" noChangeArrowheads="1" noChangeShapeType="1" noTextEdit="1"/>
              </p:cNvSpPr>
              <p:nvPr>
                <p:ph idx="1"/>
              </p:nvPr>
            </p:nvSpPr>
            <p:spPr>
              <a:xfrm>
                <a:off x="1809750" y="1143000"/>
                <a:ext cx="8401050" cy="3929063"/>
              </a:xfrm>
              <a:blipFill rotWithShape="1">
                <a:blip r:embed="rId1"/>
                <a:stretch>
                  <a:fillRect b="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47512" name="Group 56"/>
              <p:cNvGraphicFramePr>
                <a:graphicFrameLocks noGrp="1"/>
              </p:cNvGraphicFramePr>
              <p:nvPr/>
            </p:nvGraphicFramePr>
            <p:xfrm>
              <a:off x="2095500" y="2411413"/>
              <a:ext cx="8207375" cy="1575435"/>
            </p:xfrm>
            <a:graphic>
              <a:graphicData uri="http://schemas.openxmlformats.org/drawingml/2006/table">
                <a:tbl>
                  <a:tblPr/>
                  <a:tblGrid>
                    <a:gridCol w="1440180"/>
                    <a:gridCol w="2663825"/>
                    <a:gridCol w="2160270"/>
                    <a:gridCol w="1943100"/>
                  </a:tblGrid>
                  <a:tr h="44005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本阶段始点</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（状态）</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本阶段各终点（决策）</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到</a:t>
                          </a: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的最短距离</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本阶段最优终点</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（最优决策</a:t>
                          </a: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069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694690">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𝐷</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1</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𝐷</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147512" name="Group 56"/>
              <p:cNvGraphicFramePr>
                <a:graphicFrameLocks noGrp="1"/>
              </p:cNvGraphicFramePr>
              <p:nvPr/>
            </p:nvGraphicFramePr>
            <p:xfrm>
              <a:off x="2095500" y="2411413"/>
              <a:ext cx="8207375" cy="1575435"/>
            </p:xfrm>
            <a:graphic>
              <a:graphicData uri="http://schemas.openxmlformats.org/drawingml/2006/table">
                <a:tbl>
                  <a:tblPr/>
                  <a:tblGrid>
                    <a:gridCol w="1440180"/>
                    <a:gridCol w="2663825"/>
                    <a:gridCol w="2160270"/>
                    <a:gridCol w="1943100"/>
                  </a:tblGrid>
                  <a:tr h="44005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本阶段始点</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（状态）</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本阶段各终点（决策）</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到</a:t>
                          </a: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的最短距离</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本阶段最优终点</a:t>
                          </a:r>
                          <a:endPar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（最优决策</a:t>
                          </a: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069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69469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Fallback>
      </mc:AlternateContent>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23" name="Rectangle 3"/>
              <p:cNvSpPr>
                <a:spLocks noChangeArrowheads="1"/>
              </p:cNvSpPr>
              <p:nvPr/>
            </p:nvSpPr>
            <p:spPr bwMode="auto">
              <a:xfrm>
                <a:off x="1881188" y="785813"/>
                <a:ext cx="82867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a:lnSpc>
                    <a:spcPct val="150000"/>
                  </a:lnSpc>
                </a:pPr>
                <a:r>
                  <a:rPr kumimoji="1" lang="zh-CN" altLang="en-US" sz="2400" b="1" dirty="0">
                    <a:latin typeface="楷体" panose="02010609060101010101" pitchFamily="49" charset="-122"/>
                    <a:ea typeface="楷体" panose="02010609060101010101" pitchFamily="49" charset="-122"/>
                  </a:rPr>
                  <a:t>第三阶段：</a:t>
                </a:r>
                <a:endParaRPr kumimoji="1" lang="en-US" altLang="zh-CN" sz="2400" b="1"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有三个始点</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1</m:t>
                    </m:r>
                    <m:r>
                      <a:rPr lang="zh-CN" altLang="en-US"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2</m:t>
                    </m:r>
                    <m:r>
                      <a:rPr lang="zh-CN" altLang="en-US"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3</m:t>
                    </m:r>
                  </m:oMath>
                </a14:m>
                <a:r>
                  <a:rPr kumimoji="1" lang="zh-CN" altLang="en-US" sz="2400" dirty="0">
                    <a:latin typeface="楷体" panose="02010609060101010101" pitchFamily="49" charset="-122"/>
                    <a:ea typeface="楷体" panose="02010609060101010101" pitchFamily="49" charset="-122"/>
                    <a:cs typeface="Arial" panose="020B0604020202020204" pitchFamily="34" charset="0"/>
                  </a:rPr>
                  <a:t>，终点有</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cs typeface="Arial" panose="020B0604020202020204" pitchFamily="34" charset="0"/>
                      </a:rPr>
                      <m:t>𝐷</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1</m:t>
                    </m:r>
                    <m:r>
                      <a:rPr lang="zh-CN" altLang="en-US"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𝐷</m:t>
                    </m:r>
                    <m:r>
                      <a:rPr kumimoji="1" lang="en-US" altLang="zh-CN" sz="2400" i="1" baseline="-25000" dirty="0">
                        <a:latin typeface="Cambria Math" panose="02040503050406030204" pitchFamily="18" charset="0"/>
                        <a:ea typeface="楷体" panose="02010609060101010101" pitchFamily="49" charset="-122"/>
                        <a:cs typeface="Arial" panose="020B0604020202020204" pitchFamily="34" charset="0"/>
                      </a:rPr>
                      <m:t>2</m:t>
                    </m:r>
                  </m:oMath>
                </a14:m>
                <a:r>
                  <a:rPr kumimoji="1" lang="zh-CN" altLang="en-US" sz="2400" dirty="0">
                    <a:latin typeface="楷体" panose="02010609060101010101" pitchFamily="49" charset="-122"/>
                    <a:ea typeface="楷体" panose="02010609060101010101" pitchFamily="49" charset="-122"/>
                    <a:cs typeface="Arial" panose="020B0604020202020204" pitchFamily="34" charset="0"/>
                  </a:rPr>
                  <a:t>，分别求</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1</m:t>
                    </m:r>
                    <m:r>
                      <a:rPr lang="zh-CN" altLang="en-US"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2</m:t>
                    </m:r>
                    <m:r>
                      <a:rPr lang="zh-CN" altLang="en-US"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oMath>
                </a14:m>
                <a:r>
                  <a:rPr kumimoji="1" lang="zh-CN" altLang="en-US" sz="2400" dirty="0">
                    <a:latin typeface="楷体" panose="02010609060101010101" pitchFamily="49" charset="-122"/>
                    <a:ea typeface="楷体" panose="02010609060101010101" pitchFamily="49" charset="-122"/>
                  </a:rPr>
                  <a:t>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zh-CN" altLang="en-US"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 </m:t>
                    </m:r>
                  </m:oMath>
                </a14:m>
                <a:r>
                  <a:rPr kumimoji="1" lang="zh-CN" altLang="en-US" sz="2400" dirty="0">
                    <a:latin typeface="楷体" panose="02010609060101010101" pitchFamily="49" charset="-122"/>
                    <a:ea typeface="楷体" panose="02010609060101010101" pitchFamily="49" charset="-122"/>
                  </a:rPr>
                  <a:t>的最短路径问题：</a:t>
                </a:r>
                <a:endParaRPr kumimoji="1" lang="en-US" altLang="zh-CN" sz="2400"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                                  </a:t>
                </a:r>
                <a:endParaRPr kumimoji="1" lang="en-US" altLang="zh-CN" dirty="0">
                  <a:latin typeface="楷体" panose="02010609060101010101" pitchFamily="49" charset="-122"/>
                  <a:ea typeface="楷体" panose="02010609060101010101" pitchFamily="49" charset="-122"/>
                </a:endParaRPr>
              </a:p>
              <a:p>
                <a:pPr marL="342900">
                  <a:lnSpc>
                    <a:spcPct val="150000"/>
                  </a:lnSpc>
                </a:pPr>
                <a:endParaRPr kumimoji="1" lang="en-US" altLang="zh-CN" dirty="0">
                  <a:latin typeface="楷体" panose="02010609060101010101" pitchFamily="49" charset="-122"/>
                  <a:ea typeface="楷体" panose="02010609060101010101" pitchFamily="49" charset="-122"/>
                </a:endParaRPr>
              </a:p>
              <a:p>
                <a:pPr marL="342900">
                  <a:lnSpc>
                    <a:spcPct val="150000"/>
                  </a:lnSpc>
                </a:pPr>
                <a:endParaRPr kumimoji="1" lang="en-US" altLang="zh-CN" dirty="0">
                  <a:latin typeface="楷体" panose="02010609060101010101" pitchFamily="49" charset="-122"/>
                  <a:ea typeface="楷体" panose="02010609060101010101" pitchFamily="49" charset="-122"/>
                </a:endParaRPr>
              </a:p>
              <a:p>
                <a:pPr marL="342900">
                  <a:lnSpc>
                    <a:spcPct val="150000"/>
                  </a:lnSpc>
                </a:pPr>
                <a:endParaRPr kumimoji="1" lang="en-US" altLang="zh-CN"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分析得知：如果经过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1</m:t>
                    </m:r>
                  </m:oMath>
                </a14:m>
                <a:r>
                  <a:rPr kumimoji="1" lang="zh-CN" altLang="en-US" sz="2400" baseline="-250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则最短路为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a:t>
                </a:r>
                <a:endParaRPr kumimoji="1" lang="en-US" altLang="zh-CN" sz="2400"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2</m:t>
                    </m:r>
                  </m:oMath>
                </a14:m>
                <a:r>
                  <a:rPr kumimoji="1" lang="zh-CN" altLang="en-US" sz="2400" baseline="-250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则最短路为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a:t>
                </a:r>
                <a:endParaRPr kumimoji="1" lang="en-US" altLang="zh-CN" sz="2400"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oMath>
                </a14:m>
                <a:r>
                  <a:rPr kumimoji="1" lang="zh-CN" altLang="en-US" sz="2400" dirty="0">
                    <a:latin typeface="楷体" panose="02010609060101010101" pitchFamily="49" charset="-122"/>
                    <a:ea typeface="楷体" panose="02010609060101010101" pitchFamily="49" charset="-122"/>
                  </a:rPr>
                  <a:t>，则最短路为</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lang="zh-CN" altLang="en-US" sz="2400" dirty="0">
                    <a:ea typeface="楷体" panose="02010609060101010101" pitchFamily="49" charset="-122"/>
                  </a:rPr>
                  <a:t>。</a:t>
                </a:r>
                <a:endParaRPr lang="zh-CN" altLang="en-US" sz="2400" dirty="0">
                  <a:ea typeface="楷体" panose="02010609060101010101" pitchFamily="49" charset="-122"/>
                </a:endParaRPr>
              </a:p>
            </p:txBody>
          </p:sp>
        </mc:Choice>
        <mc:Fallback>
          <p:sp>
            <p:nvSpPr>
              <p:cNvPr id="81923" name="Rectangle 3"/>
              <p:cNvSpPr>
                <a:spLocks noRot="1" noChangeAspect="1" noMove="1" noResize="1" noEditPoints="1" noAdjustHandles="1" noChangeArrowheads="1" noChangeShapeType="1" noTextEdit="1"/>
              </p:cNvSpPr>
              <p:nvPr/>
            </p:nvSpPr>
            <p:spPr bwMode="auto">
              <a:xfrm>
                <a:off x="1881188" y="785813"/>
                <a:ext cx="8286750" cy="5715000"/>
              </a:xfrm>
              <a:prstGeom prst="rect">
                <a:avLst/>
              </a:prstGeom>
              <a:blipFill rotWithShape="1">
                <a:blip r:embed="rId1"/>
                <a:stretch>
                  <a:fillRect l="-4" t="-6" r="4" b="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1924" name="Rectangle 5"/>
          <p:cNvSpPr>
            <a:spLocks noChangeArrowheads="1"/>
          </p:cNvSpPr>
          <p:nvPr/>
        </p:nvSpPr>
        <p:spPr bwMode="auto">
          <a:xfrm>
            <a:off x="1524000" y="3033713"/>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9875" algn="just"/>
            <a:r>
              <a:rPr kumimoji="1" lang="en-US" altLang="zh-CN" sz="1400">
                <a:latin typeface="Times New Roman" panose="02020603050405020304" pitchFamily="18" charset="0"/>
                <a:ea typeface="楷体" panose="02010609060101010101" pitchFamily="49" charset="-122"/>
              </a:rPr>
              <a:t>	</a:t>
            </a:r>
            <a:endParaRPr kumimoji="1" lang="en-US" altLang="zh-CN" sz="1000">
              <a:latin typeface="Times New Roman" panose="02020603050405020304" pitchFamily="18" charset="0"/>
              <a:ea typeface="楷体" panose="02010609060101010101" pitchFamily="49" charset="-122"/>
            </a:endParaRPr>
          </a:p>
          <a:p>
            <a:pPr indent="269875" eaLnBrk="0" hangingPunct="0"/>
            <a:r>
              <a:rPr kumimoji="1" lang="en-US" altLang="zh-CN" sz="1400">
                <a:latin typeface="Times New Roman" panose="02020603050405020304" pitchFamily="18" charset="0"/>
                <a:ea typeface="楷体" panose="02010609060101010101" pitchFamily="49" charset="-122"/>
              </a:rPr>
              <a:t>	 </a:t>
            </a:r>
            <a:endParaRPr kumimoji="1" lang="en-US" altLang="zh-CN" sz="2400">
              <a:latin typeface="Times New Roman" panose="02020603050405020304" pitchFamily="18" charset="0"/>
              <a:ea typeface="楷体" panose="02010609060101010101" pitchFamily="49" charset="-122"/>
            </a:endParaRPr>
          </a:p>
        </p:txBody>
      </p:sp>
      <p:graphicFrame>
        <p:nvGraphicFramePr>
          <p:cNvPr id="140328" name="Group 1064"/>
          <p:cNvGraphicFramePr>
            <a:graphicFrameLocks noGrp="1"/>
          </p:cNvGraphicFramePr>
          <p:nvPr/>
        </p:nvGraphicFramePr>
        <p:xfrm>
          <a:off x="2166938" y="2522538"/>
          <a:ext cx="8032750" cy="1755140"/>
        </p:xfrm>
        <a:graphic>
          <a:graphicData uri="http://schemas.openxmlformats.org/drawingml/2006/table">
            <a:tbl>
              <a:tblPr/>
              <a:tblGrid>
                <a:gridCol w="1409065"/>
                <a:gridCol w="1480820"/>
                <a:gridCol w="1550670"/>
                <a:gridCol w="1690370"/>
                <a:gridCol w="1901825"/>
              </a:tblGrid>
              <a:tr h="36576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本阶段始点</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（状态）</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本阶段各终点（决策）</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到</a:t>
                      </a: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的最短距离</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本阶段最优终点</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（最优决策</a:t>
                      </a: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6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D</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D</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10236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C</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C</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C</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8+10=18</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7+10=17</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1+10=11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6+6=12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5+6=11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6+6=12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12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11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D</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D</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D</a:t>
                      </a:r>
                      <a:r>
                        <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2947" name="Rectangle 3"/>
              <p:cNvSpPr>
                <a:spLocks noChangeArrowheads="1"/>
              </p:cNvSpPr>
              <p:nvPr/>
            </p:nvSpPr>
            <p:spPr bwMode="auto">
              <a:xfrm>
                <a:off x="1738313" y="785813"/>
                <a:ext cx="8643937" cy="592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algn="just">
                  <a:lnSpc>
                    <a:spcPct val="150000"/>
                  </a:lnSpc>
                  <a:spcBef>
                    <a:spcPts val="300"/>
                  </a:spcBef>
                  <a:spcAft>
                    <a:spcPts val="300"/>
                  </a:spcAft>
                </a:pPr>
                <a:r>
                  <a:rPr kumimoji="1" lang="zh-CN" altLang="en-US" sz="2400" b="1" dirty="0">
                    <a:latin typeface="楷体" panose="02010609060101010101" pitchFamily="49" charset="-122"/>
                    <a:ea typeface="楷体" panose="02010609060101010101" pitchFamily="49" charset="-122"/>
                  </a:rPr>
                  <a:t>第二阶段：</a:t>
                </a:r>
                <a:endParaRPr kumimoji="1" lang="en-US" altLang="zh-CN" sz="2400" b="1"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400" dirty="0">
                    <a:latin typeface="楷体" panose="02010609060101010101" pitchFamily="49" charset="-122"/>
                    <a:ea typeface="楷体" panose="02010609060101010101" pitchFamily="49" charset="-122"/>
                  </a:rPr>
                  <a:t>始点</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cs typeface="Arial" panose="020B0604020202020204" pitchFamily="34" charset="0"/>
                      </a:rPr>
                      <m:t>𝐵</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𝐵</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2</m:t>
                    </m:r>
                    <m:r>
                      <a:rPr lang="en-US" altLang="zh-CN"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𝐵</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3</m:t>
                    </m:r>
                    <m:r>
                      <a:rPr lang="en-US" altLang="zh-CN"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𝐵</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4</m:t>
                    </m:r>
                  </m:oMath>
                </a14:m>
                <a:r>
                  <a:rPr lang="zh-CN" altLang="en-US" sz="2400" baseline="-25000" dirty="0">
                    <a:ea typeface="楷体" panose="02010609060101010101" pitchFamily="49" charset="-122"/>
                    <a:cs typeface="Arial" panose="020B0604020202020204" pitchFamily="34" charset="0"/>
                  </a:rPr>
                  <a:t>，</a:t>
                </a:r>
                <a:r>
                  <a:rPr kumimoji="1" lang="zh-CN" altLang="en-US" sz="2400" dirty="0">
                    <a:latin typeface="楷体" panose="02010609060101010101" pitchFamily="49" charset="-122"/>
                    <a:ea typeface="楷体" panose="02010609060101010101" pitchFamily="49" charset="-122"/>
                    <a:cs typeface="Arial" panose="020B0604020202020204" pitchFamily="34" charset="0"/>
                  </a:rPr>
                  <a:t>终点</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1</m:t>
                    </m:r>
                    <m:r>
                      <a:rPr lang="en-US" altLang="zh-CN"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2</m:t>
                    </m:r>
                    <m:r>
                      <a:rPr lang="en-US" altLang="zh-CN" sz="2400" i="1" dirty="0">
                        <a:latin typeface="Cambria Math" panose="02040503050406030204" pitchFamily="18" charset="0"/>
                        <a:ea typeface="楷体" panose="02010609060101010101" pitchFamily="49" charset="-122"/>
                        <a:cs typeface="Arial" panose="020B0604020202020204" pitchFamily="34" charset="0"/>
                      </a:rPr>
                      <m:t>,</m:t>
                    </m:r>
                    <m:r>
                      <a:rPr lang="en-US" altLang="zh-CN" sz="2400" i="1" dirty="0">
                        <a:latin typeface="Cambria Math" panose="02040503050406030204" pitchFamily="18" charset="0"/>
                        <a:ea typeface="楷体" panose="02010609060101010101" pitchFamily="49" charset="-122"/>
                        <a:cs typeface="Arial" panose="020B0604020202020204" pitchFamily="34" charset="0"/>
                      </a:rPr>
                      <m:t>𝐶</m:t>
                    </m:r>
                    <m:r>
                      <a:rPr lang="en-US" altLang="zh-CN" sz="2400" i="1" baseline="-25000" dirty="0">
                        <a:latin typeface="Cambria Math" panose="02040503050406030204" pitchFamily="18" charset="0"/>
                        <a:ea typeface="楷体" panose="02010609060101010101" pitchFamily="49" charset="-122"/>
                        <a:cs typeface="Arial" panose="020B0604020202020204" pitchFamily="34" charset="0"/>
                      </a:rPr>
                      <m:t>3</m:t>
                    </m:r>
                  </m:oMath>
                </a14:m>
                <a:r>
                  <a:rPr kumimoji="1" lang="zh-CN" altLang="en-US" sz="2400" dirty="0">
                    <a:latin typeface="楷体" panose="02010609060101010101" pitchFamily="49" charset="-122"/>
                    <a:ea typeface="楷体" panose="02010609060101010101" pitchFamily="49" charset="-122"/>
                    <a:cs typeface="Arial" panose="020B0604020202020204" pitchFamily="34" charset="0"/>
                  </a:rPr>
                  <a:t>，分别求</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4</m:t>
                    </m:r>
                  </m:oMath>
                </a14:m>
                <a:r>
                  <a:rPr kumimoji="1" lang="zh-CN" altLang="en-US" sz="2400" dirty="0">
                    <a:latin typeface="楷体" panose="02010609060101010101" pitchFamily="49" charset="-122"/>
                    <a:ea typeface="楷体" panose="02010609060101010101" pitchFamily="49" charset="-122"/>
                  </a:rPr>
                  <a:t>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oMath>
                </a14:m>
                <a:r>
                  <a:rPr kumimoji="1" lang="zh-CN" altLang="en-US" sz="2400" dirty="0">
                    <a:latin typeface="楷体" panose="02010609060101010101" pitchFamily="49" charset="-122"/>
                    <a:ea typeface="楷体" panose="02010609060101010101" pitchFamily="49" charset="-122"/>
                  </a:rPr>
                  <a:t>的最短路径问题：</a:t>
                </a:r>
                <a:endParaRPr kumimoji="1" lang="en-US" altLang="zh-CN" sz="24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en-US" altLang="zh-CN" sz="2000" dirty="0">
                    <a:latin typeface="楷体" panose="02010609060101010101" pitchFamily="49" charset="-122"/>
                    <a:ea typeface="楷体" panose="02010609060101010101" pitchFamily="49" charset="-122"/>
                  </a:rPr>
                  <a:t>                                  </a:t>
                </a:r>
                <a:endParaRPr kumimoji="1" lang="en-US" altLang="zh-CN" sz="20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endParaRPr kumimoji="1" lang="en-US" altLang="zh-CN" sz="24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endParaRPr kumimoji="1" lang="en-US" altLang="zh-CN" sz="24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endParaRPr kumimoji="1" lang="en-US" altLang="zh-CN" sz="2400" dirty="0">
                  <a:latin typeface="楷体" panose="02010609060101010101" pitchFamily="49" charset="-122"/>
                  <a:ea typeface="楷体" panose="02010609060101010101" pitchFamily="49" charset="-122"/>
                </a:endParaRPr>
              </a:p>
              <a:p>
                <a:pPr marL="342900" algn="just">
                  <a:spcBef>
                    <a:spcPts val="300"/>
                  </a:spcBef>
                  <a:spcAft>
                    <a:spcPts val="300"/>
                  </a:spcAft>
                </a:pPr>
                <a:r>
                  <a:rPr kumimoji="1" lang="zh-CN" altLang="en-US" sz="2400" dirty="0">
                    <a:latin typeface="楷体" panose="02010609060101010101" pitchFamily="49" charset="-122"/>
                    <a:ea typeface="楷体" panose="02010609060101010101" pitchFamily="49" charset="-122"/>
                  </a:rPr>
                  <a:t>分析得知：如果经过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1</m:t>
                    </m:r>
                  </m:oMath>
                </a14:m>
                <a:r>
                  <a:rPr kumimoji="1" lang="zh-CN" altLang="en-US" sz="2400" dirty="0">
                    <a:latin typeface="楷体" panose="02010609060101010101" pitchFamily="49" charset="-122"/>
                    <a:ea typeface="楷体" panose="02010609060101010101" pitchFamily="49" charset="-122"/>
                  </a:rPr>
                  <a:t>，则走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a:t>
                </a:r>
                <a:endParaRPr kumimoji="1" lang="en-US" altLang="zh-CN" sz="2400" dirty="0">
                  <a:latin typeface="楷体" panose="02010609060101010101" pitchFamily="49" charset="-122"/>
                  <a:ea typeface="楷体" panose="02010609060101010101" pitchFamily="49" charset="-122"/>
                </a:endParaRPr>
              </a:p>
              <a:p>
                <a:pPr marL="342900" algn="just">
                  <a:spcBef>
                    <a:spcPts val="300"/>
                  </a:spcBef>
                  <a:spcAft>
                    <a:spcPts val="300"/>
                  </a:spcAft>
                </a:pPr>
                <a:r>
                  <a:rPr kumimoji="1" lang="zh-CN" altLang="en-US" sz="2400" dirty="0">
                    <a:latin typeface="楷体" panose="02010609060101010101" pitchFamily="49" charset="-122"/>
                    <a:ea typeface="楷体" panose="02010609060101010101" pitchFamily="49" charset="-122"/>
                  </a:rPr>
                  <a:t>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2</m:t>
                    </m:r>
                  </m:oMath>
                </a14:m>
                <a:r>
                  <a:rPr kumimoji="1" lang="zh-CN" altLang="en-US" sz="2400" dirty="0">
                    <a:latin typeface="楷体" panose="02010609060101010101" pitchFamily="49" charset="-122"/>
                    <a:ea typeface="楷体" panose="02010609060101010101" pitchFamily="49" charset="-122"/>
                  </a:rPr>
                  <a:t>，则走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2</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a:t>
                </a:r>
                <a:endParaRPr kumimoji="1" lang="en-US" altLang="zh-CN" sz="2400" dirty="0">
                  <a:latin typeface="楷体" panose="02010609060101010101" pitchFamily="49" charset="-122"/>
                  <a:ea typeface="楷体" panose="02010609060101010101" pitchFamily="49" charset="-122"/>
                </a:endParaRPr>
              </a:p>
              <a:p>
                <a:pPr marL="342900" algn="just">
                  <a:spcBef>
                    <a:spcPts val="300"/>
                  </a:spcBef>
                  <a:spcAft>
                    <a:spcPts val="300"/>
                  </a:spcAft>
                </a:pPr>
                <a:r>
                  <a:rPr kumimoji="1" lang="zh-CN" altLang="en-US" sz="2400" dirty="0">
                    <a:latin typeface="楷体" panose="02010609060101010101" pitchFamily="49" charset="-122"/>
                    <a:ea typeface="楷体" panose="02010609060101010101" pitchFamily="49" charset="-122"/>
                  </a:rPr>
                  <a:t>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3</m:t>
                    </m:r>
                  </m:oMath>
                </a14:m>
                <a:r>
                  <a:rPr kumimoji="1" lang="zh-CN" altLang="en-US" sz="2400" dirty="0">
                    <a:latin typeface="楷体" panose="02010609060101010101" pitchFamily="49" charset="-122"/>
                    <a:ea typeface="楷体" panose="02010609060101010101" pitchFamily="49" charset="-122"/>
                  </a:rPr>
                  <a:t>，则走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a:t>
                </a:r>
                <a:endParaRPr kumimoji="1" lang="en-US" altLang="zh-CN" sz="2400" dirty="0">
                  <a:latin typeface="楷体" panose="02010609060101010101" pitchFamily="49" charset="-122"/>
                  <a:ea typeface="楷体" panose="02010609060101010101" pitchFamily="49" charset="-122"/>
                </a:endParaRPr>
              </a:p>
              <a:p>
                <a:pPr marL="342900" algn="just">
                  <a:spcBef>
                    <a:spcPts val="300"/>
                  </a:spcBef>
                  <a:spcAft>
                    <a:spcPts val="300"/>
                  </a:spcAft>
                </a:pPr>
                <a:r>
                  <a:rPr kumimoji="1" lang="zh-CN" altLang="en-US" sz="2400" dirty="0">
                    <a:latin typeface="楷体" panose="02010609060101010101" pitchFamily="49" charset="-122"/>
                    <a:ea typeface="楷体" panose="02010609060101010101" pitchFamily="49" charset="-122"/>
                  </a:rPr>
                  <a:t>如果经过</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4</m:t>
                    </m:r>
                  </m:oMath>
                </a14:m>
                <a:r>
                  <a:rPr kumimoji="1" lang="zh-CN" altLang="en-US" sz="2400" dirty="0">
                    <a:latin typeface="楷体" panose="02010609060101010101" pitchFamily="49" charset="-122"/>
                    <a:ea typeface="楷体" panose="02010609060101010101" pitchFamily="49" charset="-122"/>
                  </a:rPr>
                  <a:t>，则走</a:t>
                </a:r>
                <a14:m>
                  <m:oMath xmlns:m="http://schemas.openxmlformats.org/officeDocument/2006/math">
                    <m:r>
                      <a:rPr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4</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lang="en-US" altLang="zh-CN" sz="2400" i="1" dirty="0">
                        <a:latin typeface="Cambria Math" panose="02040503050406030204" pitchFamily="18" charset="0"/>
                        <a:ea typeface="楷体" panose="02010609060101010101" pitchFamily="49" charset="-122"/>
                      </a:rPr>
                      <m:t>−</m:t>
                    </m:r>
                    <m:r>
                      <a:rPr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a:t>
                </a:r>
                <a:endParaRPr kumimoji="1" lang="zh-CN" altLang="en-US" sz="2400" dirty="0">
                  <a:latin typeface="楷体" panose="02010609060101010101" pitchFamily="49" charset="-122"/>
                  <a:ea typeface="楷体" panose="02010609060101010101" pitchFamily="49" charset="-122"/>
                </a:endParaRPr>
              </a:p>
            </p:txBody>
          </p:sp>
        </mc:Choice>
        <mc:Fallback>
          <p:sp>
            <p:nvSpPr>
              <p:cNvPr id="82947" name="Rectangle 3"/>
              <p:cNvSpPr>
                <a:spLocks noRot="1" noChangeAspect="1" noMove="1" noResize="1" noEditPoints="1" noAdjustHandles="1" noChangeArrowheads="1" noChangeShapeType="1" noTextEdit="1"/>
              </p:cNvSpPr>
              <p:nvPr/>
            </p:nvSpPr>
            <p:spPr bwMode="auto">
              <a:xfrm>
                <a:off x="1738313" y="785813"/>
                <a:ext cx="8643937" cy="5929312"/>
              </a:xfrm>
              <a:prstGeom prst="rect">
                <a:avLst/>
              </a:prstGeom>
              <a:blipFill rotWithShape="1">
                <a:blip r:embed="rId1"/>
                <a:stretch>
                  <a:fillRect l="-4" t="-5" b="-12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2948" name="Rectangle 4"/>
          <p:cNvSpPr>
            <a:spLocks noChangeArrowheads="1"/>
          </p:cNvSpPr>
          <p:nvPr/>
        </p:nvSpPr>
        <p:spPr bwMode="auto">
          <a:xfrm>
            <a:off x="1524000" y="2919413"/>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76225" algn="just"/>
            <a:r>
              <a:rPr kumimoji="1" lang="en-US" altLang="zh-CN" sz="1400">
                <a:latin typeface="Times New Roman" panose="02020603050405020304" pitchFamily="18" charset="0"/>
                <a:ea typeface="楷体" panose="02010609060101010101" pitchFamily="49" charset="-122"/>
              </a:rPr>
              <a:t>	</a:t>
            </a:r>
            <a:endParaRPr kumimoji="1" lang="en-US" altLang="zh-CN" sz="1000">
              <a:latin typeface="Times New Roman" panose="02020603050405020304" pitchFamily="18" charset="0"/>
              <a:ea typeface="楷体" panose="02010609060101010101" pitchFamily="49" charset="-122"/>
            </a:endParaRPr>
          </a:p>
          <a:p>
            <a:pPr indent="276225" eaLnBrk="0" hangingPunct="0"/>
            <a:r>
              <a:rPr kumimoji="1" lang="en-US" altLang="zh-CN" sz="1400">
                <a:latin typeface="Times New Roman" panose="02020603050405020304" pitchFamily="18" charset="0"/>
                <a:ea typeface="楷体" panose="02010609060101010101" pitchFamily="49" charset="-122"/>
              </a:rPr>
              <a:t>	 </a:t>
            </a:r>
            <a:endParaRPr kumimoji="1" lang="en-US" altLang="zh-CN" sz="2400">
              <a:latin typeface="Times New Roman" panose="02020603050405020304" pitchFamily="18" charset="0"/>
              <a:ea typeface="楷体" panose="02010609060101010101" pitchFamily="49" charset="-122"/>
            </a:endParaRPr>
          </a:p>
        </p:txBody>
      </p:sp>
      <mc:AlternateContent xmlns:mc="http://schemas.openxmlformats.org/markup-compatibility/2006" xmlns:a14="http://schemas.microsoft.com/office/drawing/2010/main">
        <mc:Choice Requires="a14">
          <p:graphicFrame>
            <p:nvGraphicFramePr>
              <p:cNvPr id="144444" name="Group 2108"/>
              <p:cNvGraphicFramePr>
                <a:graphicFrameLocks noGrp="1"/>
              </p:cNvGraphicFramePr>
              <p:nvPr/>
            </p:nvGraphicFramePr>
            <p:xfrm>
              <a:off x="2238375" y="2590800"/>
              <a:ext cx="8001000" cy="2267585"/>
            </p:xfrm>
            <a:graphic>
              <a:graphicData uri="http://schemas.openxmlformats.org/drawingml/2006/table">
                <a:tbl>
                  <a:tblPr/>
                  <a:tblGrid>
                    <a:gridCol w="1403350"/>
                    <a:gridCol w="1334135"/>
                    <a:gridCol w="1334135"/>
                    <a:gridCol w="1263015"/>
                    <a:gridCol w="1123315"/>
                    <a:gridCol w="1543050"/>
                  </a:tblGrid>
                  <a:tr h="36576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本阶段始点</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（状态）</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本阶段各终点（决策）</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到</a:t>
                          </a: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的最短距离</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本阶段最优终点（最优决策</a:t>
                          </a: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1</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1353185">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1</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4</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2+12=14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4+12=16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4+12=16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7+12=19</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1+11=12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7+11=18</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8+11=19</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5+11=16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6+11=17</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2+11=13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3+11=14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1+11=12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𝐶</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144444" name="Group 2108"/>
              <p:cNvGraphicFramePr>
                <a:graphicFrameLocks noGrp="1"/>
              </p:cNvGraphicFramePr>
              <p:nvPr/>
            </p:nvGraphicFramePr>
            <p:xfrm>
              <a:off x="2238375" y="2590800"/>
              <a:ext cx="8001000" cy="2267585"/>
            </p:xfrm>
            <a:graphic>
              <a:graphicData uri="http://schemas.openxmlformats.org/drawingml/2006/table">
                <a:tbl>
                  <a:tblPr/>
                  <a:tblGrid>
                    <a:gridCol w="1403350"/>
                    <a:gridCol w="1334135"/>
                    <a:gridCol w="1334135"/>
                    <a:gridCol w="1263015"/>
                    <a:gridCol w="1123315"/>
                    <a:gridCol w="1543050"/>
                  </a:tblGrid>
                  <a:tr h="36576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本阶段始点</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（状态）</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本阶段各终点（决策）</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到</a:t>
                          </a: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E</a:t>
                          </a: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的最短距离</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本阶段最优终点（最优决策</a:t>
                          </a: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8640">
                    <a:tc vMerge="1">
                      <a:tcPr/>
                    </a:tc>
                    <a:tc>
                      <a:txBody>
                        <a:bodyPr/>
                        <a:lstStyle/>
                        <a:p>
                          <a:endParaRPr lang="zh-CN"/>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endParaRPr lang="zh-CN"/>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endParaRPr lang="zh-CN"/>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vMerge="1">
                      <a:tcPr/>
                    </a:tc>
                    <a:tc vMerge="1">
                      <a:tcPr/>
                    </a:tc>
                  </a:tr>
                  <a:tr h="1353185">
                    <a:tc>
                      <a:txBody>
                        <a:bodyPr/>
                        <a:lstStyle/>
                        <a:p>
                          <a:endParaRPr lang="zh-CN"/>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2+12=14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4+12=16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4+12=16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7+12=19</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1+11=12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7+11=18</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8+11=19</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5+11=16</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6+11=17</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2+11=13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3+11=14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1+11=12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13</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14</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12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p>
                      </a:txBody>
                      <a:tcPr marT="45705" marB="457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bl>
              </a:graphicData>
            </a:graphic>
          </p:graphicFrame>
        </mc:Fallback>
      </mc:AlternateContent>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3971" name="Rectangle 3"/>
              <p:cNvSpPr>
                <a:spLocks noChangeArrowheads="1"/>
              </p:cNvSpPr>
              <p:nvPr/>
            </p:nvSpPr>
            <p:spPr bwMode="auto">
              <a:xfrm>
                <a:off x="1881188" y="857250"/>
                <a:ext cx="8501062" cy="3795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a:lnSpc>
                    <a:spcPct val="150000"/>
                  </a:lnSpc>
                </a:pPr>
                <a:r>
                  <a:rPr kumimoji="1" lang="zh-CN" altLang="en-US" sz="2400" b="1" dirty="0">
                    <a:latin typeface="楷体" panose="02010609060101010101" pitchFamily="49" charset="-122"/>
                    <a:ea typeface="楷体" panose="02010609060101010101" pitchFamily="49" charset="-122"/>
                  </a:rPr>
                  <a:t>第一阶段：</a:t>
                </a:r>
                <a:endParaRPr kumimoji="1" lang="en-US" altLang="zh-CN" sz="2400" b="1"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只有</a:t>
                </a:r>
                <a:r>
                  <a:rPr kumimoji="1" lang="en-US" altLang="zh-CN" sz="2400" dirty="0">
                    <a:ea typeface="楷体" panose="02010609060101010101" pitchFamily="49" charset="-122"/>
                    <a:cs typeface="Arial" panose="020B0604020202020204" pitchFamily="34" charset="0"/>
                  </a:rPr>
                  <a:t>1</a:t>
                </a:r>
                <a:r>
                  <a:rPr kumimoji="1" lang="zh-CN" altLang="en-US" sz="2400" dirty="0">
                    <a:latin typeface="楷体" panose="02010609060101010101" pitchFamily="49" charset="-122"/>
                    <a:ea typeface="楷体" panose="02010609060101010101" pitchFamily="49" charset="-122"/>
                  </a:rPr>
                  <a:t>个始点</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𝐴</m:t>
                    </m:r>
                  </m:oMath>
                </a14:m>
                <a:r>
                  <a:rPr kumimoji="1" lang="zh-CN" altLang="en-US" sz="2400" dirty="0">
                    <a:latin typeface="楷体" panose="02010609060101010101" pitchFamily="49" charset="-122"/>
                    <a:ea typeface="楷体" panose="02010609060101010101" pitchFamily="49" charset="-122"/>
                  </a:rPr>
                  <a:t>，终点有</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1</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2</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3</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4</m:t>
                    </m:r>
                    <m:r>
                      <a:rPr kumimoji="1" lang="en-US" altLang="zh-CN" sz="2400" i="1" dirty="0">
                        <a:latin typeface="Cambria Math" panose="02040503050406030204" pitchFamily="18" charset="0"/>
                        <a:ea typeface="楷体" panose="02010609060101010101" pitchFamily="49" charset="-122"/>
                      </a:rPr>
                      <m:t> </m:t>
                    </m:r>
                  </m:oMath>
                </a14:m>
                <a:r>
                  <a:rPr kumimoji="1" lang="zh-CN" altLang="en-US" sz="2400" dirty="0">
                    <a:latin typeface="楷体" panose="02010609060101010101" pitchFamily="49" charset="-122"/>
                    <a:ea typeface="楷体" panose="02010609060101010101" pitchFamily="49" charset="-122"/>
                  </a:rPr>
                  <a:t>，分别求</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𝐴</m:t>
                    </m:r>
                  </m:oMath>
                </a14:m>
                <a:r>
                  <a:rPr kumimoji="1" lang="zh-CN" altLang="en-US" sz="2400" dirty="0">
                    <a:latin typeface="楷体" panose="02010609060101010101" pitchFamily="49" charset="-122"/>
                    <a:ea typeface="楷体" panose="02010609060101010101" pitchFamily="49" charset="-122"/>
                  </a:rPr>
                  <a:t>到</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1</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2</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3</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4</m:t>
                    </m:r>
                  </m:oMath>
                </a14:m>
                <a:r>
                  <a:rPr kumimoji="1" lang="zh-CN" altLang="en-US" sz="2400" dirty="0">
                    <a:latin typeface="楷体" panose="02010609060101010101" pitchFamily="49" charset="-122"/>
                    <a:ea typeface="楷体" panose="02010609060101010101" pitchFamily="49" charset="-122"/>
                  </a:rPr>
                  <a:t>的最短路径问题：</a:t>
                </a:r>
                <a:endParaRPr kumimoji="1" lang="en-US" altLang="zh-CN" sz="2400" dirty="0">
                  <a:latin typeface="楷体" panose="02010609060101010101" pitchFamily="49" charset="-122"/>
                  <a:ea typeface="楷体" panose="02010609060101010101" pitchFamily="49" charset="-122"/>
                </a:endParaRPr>
              </a:p>
              <a:p>
                <a:pPr marL="342900">
                  <a:lnSpc>
                    <a:spcPct val="150000"/>
                  </a:lnSpc>
                </a:pPr>
                <a:endParaRPr kumimoji="1" lang="en-US" altLang="zh-CN" dirty="0">
                  <a:latin typeface="楷体" panose="02010609060101010101" pitchFamily="49" charset="-122"/>
                  <a:ea typeface="楷体" panose="02010609060101010101" pitchFamily="49" charset="-122"/>
                </a:endParaRPr>
              </a:p>
              <a:p>
                <a:pPr marL="342900">
                  <a:lnSpc>
                    <a:spcPct val="150000"/>
                  </a:lnSpc>
                </a:pPr>
                <a:endParaRPr kumimoji="1" lang="en-US" altLang="zh-CN" sz="2400" dirty="0">
                  <a:latin typeface="楷体" panose="02010609060101010101" pitchFamily="49" charset="-122"/>
                  <a:ea typeface="楷体" panose="02010609060101010101" pitchFamily="49" charset="-122"/>
                </a:endParaRPr>
              </a:p>
              <a:p>
                <a:pPr marL="342900">
                  <a:lnSpc>
                    <a:spcPct val="150000"/>
                  </a:lnSpc>
                </a:pPr>
                <a:endParaRPr kumimoji="1" lang="en-US" altLang="zh-CN" sz="2400" dirty="0">
                  <a:latin typeface="楷体" panose="02010609060101010101" pitchFamily="49" charset="-122"/>
                  <a:ea typeface="楷体" panose="02010609060101010101" pitchFamily="49" charset="-122"/>
                </a:endParaRPr>
              </a:p>
              <a:p>
                <a:pPr marL="342900">
                  <a:lnSpc>
                    <a:spcPct val="150000"/>
                  </a:lnSpc>
                </a:pPr>
                <a:r>
                  <a:rPr kumimoji="1" lang="zh-CN" altLang="en-US" sz="2400" dirty="0">
                    <a:latin typeface="楷体" panose="02010609060101010101" pitchFamily="49" charset="-122"/>
                    <a:ea typeface="楷体" panose="02010609060101010101" pitchFamily="49" charset="-122"/>
                  </a:rPr>
                  <a:t>可以得到：从</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𝐴</m:t>
                    </m:r>
                    <m:r>
                      <a:rPr kumimoji="1" lang="zh-CN" altLang="en-US" sz="2400" i="1" dirty="0">
                        <a:latin typeface="Cambria Math" panose="02040503050406030204" pitchFamily="18" charset="0"/>
                        <a:ea typeface="楷体" panose="02010609060101010101" pitchFamily="49" charset="-122"/>
                      </a:rPr>
                      <m:t>到</m:t>
                    </m:r>
                    <m:r>
                      <a:rPr kumimoji="1" lang="en-US" altLang="zh-CN" sz="2400" i="1" dirty="0">
                        <a:latin typeface="Cambria Math" panose="02040503050406030204" pitchFamily="18" charset="0"/>
                        <a:ea typeface="楷体" panose="02010609060101010101" pitchFamily="49" charset="-122"/>
                      </a:rPr>
                      <m:t>𝐸</m:t>
                    </m:r>
                  </m:oMath>
                </a14:m>
                <a:r>
                  <a:rPr kumimoji="1" lang="zh-CN" altLang="en-US" sz="2400" dirty="0">
                    <a:latin typeface="楷体" panose="02010609060101010101" pitchFamily="49" charset="-122"/>
                    <a:ea typeface="楷体" panose="02010609060101010101" pitchFamily="49" charset="-122"/>
                  </a:rPr>
                  <a:t>的最短路径为</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𝐴</m:t>
                    </m:r>
                    <m:r>
                      <a:rPr kumimoji="1" lang="en-US" altLang="zh-CN" sz="2400" i="1" dirty="0">
                        <a:latin typeface="Cambria Math" panose="02040503050406030204" pitchFamily="18" charset="0"/>
                        <a:ea typeface="楷体" panose="02010609060101010101" pitchFamily="49" charset="-122"/>
                        <a:sym typeface="Symbol" panose="05050102010706020507" pitchFamily="18" charset="2"/>
                      </a:rPr>
                      <m:t></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a:latin typeface="Cambria Math" panose="02040503050406030204" pitchFamily="18" charset="0"/>
                        <a:ea typeface="楷体" panose="02010609060101010101" pitchFamily="49" charset="-122"/>
                      </a:rPr>
                      <m:t>𝐵</m:t>
                    </m:r>
                    <m:r>
                      <a:rPr lang="en-US" altLang="zh-CN" sz="2400" i="1" baseline="-25000" dirty="0">
                        <a:latin typeface="Cambria Math" panose="02040503050406030204" pitchFamily="18" charset="0"/>
                        <a:ea typeface="楷体" panose="02010609060101010101" pitchFamily="49" charset="-122"/>
                      </a:rPr>
                      <m:t>4</m:t>
                    </m:r>
                    <m:r>
                      <a:rPr kumimoji="1" lang="en-US" altLang="zh-CN" sz="2400" i="1" dirty="0">
                        <a:latin typeface="Cambria Math" panose="02040503050406030204" pitchFamily="18" charset="0"/>
                        <a:ea typeface="楷体" panose="02010609060101010101" pitchFamily="49" charset="-122"/>
                        <a:sym typeface="Symbol" panose="05050102010706020507" pitchFamily="18" charset="2"/>
                      </a:rPr>
                      <m:t></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a:latin typeface="Cambria Math" panose="02040503050406030204" pitchFamily="18" charset="0"/>
                        <a:ea typeface="楷体" panose="02010609060101010101" pitchFamily="49" charset="-122"/>
                      </a:rPr>
                      <m:t>𝐶</m:t>
                    </m:r>
                    <m:r>
                      <a:rPr lang="en-US" altLang="zh-CN" sz="2400" i="1" baseline="-25000" dirty="0">
                        <a:latin typeface="Cambria Math" panose="02040503050406030204" pitchFamily="18" charset="0"/>
                        <a:ea typeface="楷体" panose="02010609060101010101" pitchFamily="49" charset="-122"/>
                      </a:rPr>
                      <m:t>3</m:t>
                    </m:r>
                    <m:r>
                      <a:rPr kumimoji="1" lang="en-US" altLang="zh-CN" sz="2400" i="1" dirty="0">
                        <a:latin typeface="Cambria Math" panose="02040503050406030204" pitchFamily="18" charset="0"/>
                        <a:ea typeface="楷体" panose="02010609060101010101" pitchFamily="49" charset="-122"/>
                        <a:sym typeface="Symbol" panose="05050102010706020507" pitchFamily="18" charset="2"/>
                      </a:rPr>
                      <m:t></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a:latin typeface="Cambria Math" panose="02040503050406030204" pitchFamily="18" charset="0"/>
                        <a:ea typeface="楷体" panose="02010609060101010101" pitchFamily="49" charset="-122"/>
                      </a:rPr>
                      <m:t>𝐷</m:t>
                    </m:r>
                    <m:r>
                      <a:rPr lang="en-US" altLang="zh-CN" sz="2400" i="1" baseline="-25000" dirty="0">
                        <a:latin typeface="Cambria Math" panose="02040503050406030204" pitchFamily="18" charset="0"/>
                        <a:ea typeface="楷体" panose="02010609060101010101" pitchFamily="49" charset="-122"/>
                      </a:rPr>
                      <m:t>1</m:t>
                    </m:r>
                    <m:r>
                      <a:rPr kumimoji="1" lang="en-US" altLang="zh-CN" sz="2400" i="1" dirty="0">
                        <a:latin typeface="Cambria Math" panose="02040503050406030204" pitchFamily="18" charset="0"/>
                        <a:ea typeface="楷体" panose="02010609060101010101" pitchFamily="49" charset="-122"/>
                        <a:sym typeface="Symbol" panose="05050102010706020507" pitchFamily="18" charset="2"/>
                      </a:rPr>
                      <m:t></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a:latin typeface="Cambria Math" panose="02040503050406030204" pitchFamily="18" charset="0"/>
                        <a:ea typeface="楷体" panose="02010609060101010101" pitchFamily="49" charset="-122"/>
                      </a:rPr>
                      <m:t>𝐸</m:t>
                    </m:r>
                  </m:oMath>
                </a14:m>
                <a:endParaRPr kumimoji="1" lang="en-US" altLang="zh-CN" sz="2400" dirty="0">
                  <a:ea typeface="楷体" panose="02010609060101010101" pitchFamily="49" charset="-122"/>
                </a:endParaRPr>
              </a:p>
            </p:txBody>
          </p:sp>
        </mc:Choice>
        <mc:Fallback>
          <p:sp>
            <p:nvSpPr>
              <p:cNvPr id="83971" name="Rectangle 3"/>
              <p:cNvSpPr>
                <a:spLocks noRot="1" noChangeAspect="1" noMove="1" noResize="1" noEditPoints="1" noAdjustHandles="1" noChangeArrowheads="1" noChangeShapeType="1" noTextEdit="1"/>
              </p:cNvSpPr>
              <p:nvPr/>
            </p:nvSpPr>
            <p:spPr bwMode="auto">
              <a:xfrm>
                <a:off x="1881188" y="857250"/>
                <a:ext cx="8501062" cy="3795886"/>
              </a:xfrm>
              <a:prstGeom prst="rect">
                <a:avLst/>
              </a:prstGeom>
              <a:blipFill rotWithShape="1">
                <a:blip r:embed="rId1"/>
                <a:stretch>
                  <a:fillRect l="-4" b="-3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50604" name="Group 1100"/>
              <p:cNvGraphicFramePr>
                <a:graphicFrameLocks noGrp="1"/>
              </p:cNvGraphicFramePr>
              <p:nvPr/>
            </p:nvGraphicFramePr>
            <p:xfrm>
              <a:off x="2024063" y="2714625"/>
              <a:ext cx="8207375" cy="1174750"/>
            </p:xfrm>
            <a:graphic>
              <a:graphicData uri="http://schemas.openxmlformats.org/drawingml/2006/table">
                <a:tbl>
                  <a:tblPr/>
                  <a:tblGrid>
                    <a:gridCol w="1150620"/>
                    <a:gridCol w="1081405"/>
                    <a:gridCol w="1079500"/>
                    <a:gridCol w="1079500"/>
                    <a:gridCol w="1152525"/>
                    <a:gridCol w="1080770"/>
                    <a:gridCol w="1583055"/>
                  </a:tblGrid>
                  <a:tr h="407767">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本阶段始点</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状态</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              </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本阶段各终点（决策）</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到</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E</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的最短距离</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本阶段最优终点</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最优决策</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562">
                    <a:tc vMerge="1">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smtClean="0">
                                    <a:ln>
                                      <a:noFill/>
                                    </a:ln>
                                    <a:solidFill>
                                      <a:schemeClr val="tx1"/>
                                    </a:solidFill>
                                    <a:effectLst/>
                                    <a:latin typeface="Cambria Math" panose="02040503050406030204" pitchFamily="18" charset="0"/>
                                    <a:ea typeface="仿宋" panose="02010609060101010101" pitchFamily="49" charset="-122"/>
                                  </a:rPr>
                                  <m:t>1</m:t>
                                </m:r>
                              </m:oMath>
                            </m:oMathPara>
                          </a14:m>
                          <a:endParaRPr kumimoji="0" lang="en-US" altLang="zh-CN" sz="1800" b="0" i="0" u="none" strike="noStrike" cap="none" normalizeH="0" baseline="-2500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smtClean="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en-US" altLang="zh-CN" sz="1800" b="0" i="0" u="none" strike="noStrike" cap="none" normalizeH="0" baseline="-2500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smtClean="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     </m:t>
                                </m:r>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dirty="0" smtClean="0">
                                    <a:ln>
                                      <a:noFill/>
                                    </a:ln>
                                    <a:solidFill>
                                      <a:schemeClr val="tx1"/>
                                    </a:solidFill>
                                    <a:effectLst/>
                                    <a:latin typeface="Cambria Math" panose="02040503050406030204" pitchFamily="18" charset="0"/>
                                    <a:ea typeface="仿宋" panose="02010609060101010101" pitchFamily="49" charset="-122"/>
                                  </a:rPr>
                                  <m:t>4</m:t>
                                </m:r>
                              </m:oMath>
                            </m:oMathPara>
                          </a14:m>
                          <a:endParaRPr kumimoji="0" lang="en-US" altLang="zh-CN" sz="1800" b="0" i="0" u="none" strike="noStrike" cap="none" normalizeH="0" baseline="-2500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401421">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𝐴</m:t>
                                </m:r>
                              </m:oMath>
                            </m:oMathPara>
                          </a14:m>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4+12=16 </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3+13=16</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3+14=17</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2+12=14</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rgbClr val="FF0000"/>
                              </a:solidFill>
                              <a:effectLst/>
                              <a:latin typeface="仿宋" panose="02010609060101010101" pitchFamily="49" charset="-122"/>
                              <a:ea typeface="仿宋" panose="02010609060101010101" pitchFamily="49" charset="-122"/>
                            </a:rPr>
                            <a:t>14</a:t>
                          </a:r>
                          <a:endParaRPr kumimoji="0" lang="en-US" altLang="zh-CN" sz="1800" b="0" i="0" u="none" strike="noStrike" cap="none" normalizeH="0" baseline="0" dirty="0">
                            <a:ln>
                              <a:noFill/>
                            </a:ln>
                            <a:solidFill>
                              <a:srgbClr val="FF0000"/>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rgbClr val="FF0000"/>
                                    </a:solidFill>
                                    <a:effectLst/>
                                    <a:latin typeface="Cambria Math" panose="02040503050406030204" pitchFamily="18" charset="0"/>
                                    <a:ea typeface="仿宋" panose="02010609060101010101" pitchFamily="49" charset="-122"/>
                                  </a:rPr>
                                  <m:t>𝐵</m:t>
                                </m:r>
                                <m:r>
                                  <a:rPr kumimoji="0" lang="en-US" altLang="zh-CN" sz="1800" b="0" i="1" u="none" strike="noStrike" cap="none" normalizeH="0" baseline="-25000" dirty="0" smtClean="0">
                                    <a:ln>
                                      <a:noFill/>
                                    </a:ln>
                                    <a:solidFill>
                                      <a:srgbClr val="FF0000"/>
                                    </a:solidFill>
                                    <a:effectLst/>
                                    <a:latin typeface="Cambria Math" panose="02040503050406030204" pitchFamily="18" charset="0"/>
                                    <a:ea typeface="仿宋" panose="02010609060101010101" pitchFamily="49" charset="-122"/>
                                  </a:rPr>
                                  <m:t>4</m:t>
                                </m:r>
                              </m:oMath>
                            </m:oMathPara>
                          </a14:m>
                          <a:endParaRPr kumimoji="0" lang="en-US" altLang="zh-CN" sz="1800" b="0" i="0" u="none" strike="noStrike" cap="none" normalizeH="0" baseline="-25000" dirty="0">
                            <a:ln>
                              <a:noFill/>
                            </a:ln>
                            <a:solidFill>
                              <a:srgbClr val="FF0000"/>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mc:Choice>
        <mc:Fallback xmlns="">
          <p:graphicFrame>
            <p:nvGraphicFramePr>
              <p:cNvPr id="150604" name="Group 1100"/>
              <p:cNvGraphicFramePr>
                <a:graphicFrameLocks noGrp="1"/>
              </p:cNvGraphicFramePr>
              <p:nvPr/>
            </p:nvGraphicFramePr>
            <p:xfrm>
              <a:off x="2024063" y="2714625"/>
              <a:ext cx="8207375" cy="1174750"/>
            </p:xfrm>
            <a:graphic>
              <a:graphicData uri="http://schemas.openxmlformats.org/drawingml/2006/table">
                <a:tbl>
                  <a:tblPr/>
                  <a:tblGrid>
                    <a:gridCol w="1150620"/>
                    <a:gridCol w="1081405"/>
                    <a:gridCol w="1079500"/>
                    <a:gridCol w="1079500"/>
                    <a:gridCol w="1152525"/>
                    <a:gridCol w="1080770"/>
                    <a:gridCol w="1583055"/>
                  </a:tblGrid>
                  <a:tr h="407767">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本阶段始点</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状态</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              </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本阶段各终点（决策）</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到</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E</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的最短距离</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本阶段最优终点</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r>
                            <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最优决策</a:t>
                          </a: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60">
                    <a:tc vMerge="1">
                      <a:tcPr/>
                    </a:tc>
                    <a:tc>
                      <a:txBody>
                        <a:bodyPr/>
                        <a:lstStyle/>
                        <a:p>
                          <a:endParaRPr lang="zh-CN"/>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endParaRPr lang="zh-CN"/>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endParaRPr lang="zh-CN"/>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endParaRPr lang="zh-CN"/>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vMerge="1">
                      <a:tcPr/>
                    </a:tc>
                    <a:tc vMerge="1">
                      <a:tcPr/>
                    </a:tc>
                  </a:tr>
                  <a:tr h="401320">
                    <a:tc>
                      <a:txBody>
                        <a:bodyPr/>
                        <a:lstStyle/>
                        <a:p>
                          <a:endParaRPr lang="zh-CN"/>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4+12=16 </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3+13=16</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3+14=17</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2+12=14</a:t>
                          </a:r>
                          <a:endParaRPr kumimoji="0" lang="en-US" altLang="zh-CN"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dirty="0">
                              <a:ln>
                                <a:noFill/>
                              </a:ln>
                              <a:solidFill>
                                <a:srgbClr val="FF0000"/>
                              </a:solidFill>
                              <a:effectLst/>
                              <a:latin typeface="仿宋" panose="02010609060101010101" pitchFamily="49" charset="-122"/>
                              <a:ea typeface="仿宋" panose="02010609060101010101" pitchFamily="49" charset="-122"/>
                            </a:rPr>
                            <a:t>14</a:t>
                          </a:r>
                          <a:endParaRPr kumimoji="0" lang="en-US" altLang="zh-CN" sz="1800" b="0" i="0" u="none" strike="noStrike" cap="none" normalizeH="0" baseline="0" dirty="0">
                            <a:ln>
                              <a:noFill/>
                            </a:ln>
                            <a:solidFill>
                              <a:srgbClr val="FF0000"/>
                            </a:solidFill>
                            <a:effectLst/>
                            <a:latin typeface="仿宋" panose="02010609060101010101" pitchFamily="49" charset="-122"/>
                            <a:ea typeface="仿宋" panose="02010609060101010101" pitchFamily="49" charset="-122"/>
                          </a:endParaRPr>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zh-CN"/>
                        </a:p>
                      </a:txBody>
                      <a:tcPr marT="45695" marB="456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2"/>
                        </a:blipFill>
                      </a:tcPr>
                    </a:tc>
                  </a:tr>
                </a:tbl>
              </a:graphicData>
            </a:graphic>
          </p:graphicFrame>
        </mc:Fallback>
      </mc:AlternateContent>
      <p:sp>
        <p:nvSpPr>
          <p:cNvPr id="2" name="文本框 1"/>
          <p:cNvSpPr txBox="1"/>
          <p:nvPr/>
        </p:nvSpPr>
        <p:spPr>
          <a:xfrm>
            <a:off x="4358986" y="4731966"/>
            <a:ext cx="3442335" cy="46037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cs typeface="Times New Roman" panose="02020603050405020304" pitchFamily="18" charset="0"/>
              </a:rPr>
              <a:t>总计算次数：</a:t>
            </a:r>
            <a:r>
              <a:rPr lang="en-US" altLang="zh-CN" sz="2400" dirty="0">
                <a:latin typeface="Times New Roman" panose="02020603050405020304" pitchFamily="18" charset="0"/>
                <a:cs typeface="Times New Roman" panose="02020603050405020304" pitchFamily="18" charset="0"/>
              </a:rPr>
              <a:t>6+12+4=22</a:t>
            </a:r>
            <a:endParaRPr lang="zh-CN" altLang="en-US" sz="2400"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2579653" y="5400585"/>
            <a:ext cx="6651625" cy="1198880"/>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cs typeface="Times New Roman" panose="02020603050405020304" pitchFamily="18" charset="0"/>
              </a:rPr>
              <a:t>假如点的数量为</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A(1), B(100),</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C(60), D(40), E(1)</a:t>
            </a:r>
            <a:endParaRPr lang="en-US" altLang="zh-CN" sz="2400" dirty="0">
              <a:latin typeface="Times New Roman" panose="02020603050405020304" pitchFamily="18" charset="0"/>
              <a:cs typeface="Times New Roman" panose="02020603050405020304" pitchFamily="18" charset="0"/>
            </a:endParaRPr>
          </a:p>
          <a:p>
            <a:r>
              <a:rPr lang="zh-CN" altLang="en-US" sz="2400" dirty="0">
                <a:latin typeface="楷体" panose="02010609060101010101" pitchFamily="49" charset="-122"/>
                <a:ea typeface="楷体" panose="02010609060101010101" pitchFamily="49" charset="-122"/>
                <a:cs typeface="Times New Roman" panose="02020603050405020304" pitchFamily="18" charset="0"/>
              </a:rPr>
              <a:t>两种</a:t>
            </a:r>
            <a:r>
              <a:rPr lang="zh-CN" altLang="en-US" sz="2400" dirty="0">
                <a:latin typeface="楷体" panose="02010609060101010101" pitchFamily="49" charset="-122"/>
                <a:ea typeface="楷体" panose="02010609060101010101" pitchFamily="49" charset="-122"/>
                <a:cs typeface="Times New Roman" panose="02020603050405020304" pitchFamily="18" charset="0"/>
              </a:rPr>
              <a:t>计算次数分别为</a:t>
            </a:r>
            <a:r>
              <a:rPr lang="zh-CN" altLang="en-US" sz="240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100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60</a:t>
            </a:r>
            <a:r>
              <a:rPr lang="zh-CN" altLang="en-US" sz="2400" dirty="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40=24000</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60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40+100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60+100=8500</a:t>
            </a:r>
            <a:endParaRPr lang="zh-CN" altLang="en-US" sz="2400" dirty="0">
              <a:latin typeface="Times New Roman" panose="02020603050405020304" pitchFamily="18" charset="0"/>
              <a:cs typeface="Times New Roman" panose="02020603050405020304" pitchFamily="18" charset="0"/>
            </a:endParaRPr>
          </a:p>
        </p:txBody>
      </p:sp>
      <p:sp>
        <p:nvSpPr>
          <p:cNvPr id="3"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052" name="Rectangle 3"/>
              <p:cNvSpPr>
                <a:spLocks noChangeArrowheads="1"/>
              </p:cNvSpPr>
              <p:nvPr/>
            </p:nvSpPr>
            <p:spPr bwMode="auto">
              <a:xfrm>
                <a:off x="1919288" y="1108075"/>
                <a:ext cx="8367712" cy="4553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342900" algn="just"/>
                <a:r>
                  <a:rPr kumimoji="1" lang="en-US" altLang="zh-CN" sz="2400" b="1" dirty="0">
                    <a:latin typeface="楷体" panose="02010609060101010101" pitchFamily="49" charset="-122"/>
                    <a:ea typeface="楷体" panose="02010609060101010101" pitchFamily="49" charset="-122"/>
                  </a:rPr>
                  <a:t> </a:t>
                </a:r>
                <a:r>
                  <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rPr>
                  <a:t>以上计算过程及结果，可用下图表示，不仅得到了从</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cs typeface="Arial" panose="020B0604020202020204" pitchFamily="34" charset="0"/>
                      </a:rPr>
                      <m:t>𝐴</m:t>
                    </m:r>
                    <m:r>
                      <a:rPr kumimoji="1" lang="zh-CN" altLang="en-US" sz="2200" i="1" dirty="0">
                        <a:latin typeface="Cambria Math" panose="02040503050406030204" pitchFamily="18" charset="0"/>
                        <a:ea typeface="楷体" panose="02010609060101010101" pitchFamily="49" charset="-122"/>
                      </a:rPr>
                      <m:t>到</m:t>
                    </m:r>
                    <m:r>
                      <a:rPr kumimoji="1" lang="en-US" altLang="zh-CN" sz="2400" i="1" dirty="0">
                        <a:latin typeface="Cambria Math" panose="02040503050406030204" pitchFamily="18" charset="0"/>
                        <a:ea typeface="楷体" panose="02010609060101010101" pitchFamily="49" charset="-122"/>
                      </a:rPr>
                      <m:t>𝐷</m:t>
                    </m:r>
                  </m:oMath>
                </a14:m>
                <a:r>
                  <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rPr>
                  <a:t>的最短路径，同时也得到了从图中任一点到</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E</a:t>
                </a:r>
                <a:r>
                  <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rPr>
                  <a:t>的最短路径。</a:t>
                </a:r>
                <a:endPar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r>
                  <a:rPr kumimoji="1" lang="zh-CN" altLang="en-US" sz="2200" dirty="0">
                    <a:latin typeface="楷体" panose="02010609060101010101" pitchFamily="49" charset="-122"/>
                    <a:ea typeface="楷体" panose="02010609060101010101" pitchFamily="49" charset="-122"/>
                  </a:rPr>
                  <a:t>     </a:t>
                </a:r>
                <a:endParaRPr kumimoji="1" lang="zh-CN" altLang="en-US" sz="2200" dirty="0">
                  <a:latin typeface="楷体" panose="02010609060101010101" pitchFamily="49" charset="-122"/>
                  <a:ea typeface="楷体" panose="02010609060101010101" pitchFamily="49" charset="-122"/>
                </a:endParaRPr>
              </a:p>
              <a:p>
                <a:pPr marL="342900" indent="-342900" algn="just">
                  <a:lnSpc>
                    <a:spcPct val="90000"/>
                  </a:lnSpc>
                  <a:spcBef>
                    <a:spcPts val="300"/>
                  </a:spcBef>
                  <a:spcAft>
                    <a:spcPts val="300"/>
                  </a:spcAft>
                </a:pPr>
                <a:endParaRPr kumimoji="1" lang="zh-CN" altLang="en-US" sz="2200" dirty="0">
                  <a:latin typeface="楷体" panose="02010609060101010101" pitchFamily="49" charset="-122"/>
                  <a:ea typeface="楷体" panose="02010609060101010101" pitchFamily="49" charset="-122"/>
                </a:endParaRPr>
              </a:p>
            </p:txBody>
          </p:sp>
        </mc:Choice>
        <mc:Fallback>
          <p:sp>
            <p:nvSpPr>
              <p:cNvPr id="2052" name="Rectangle 3"/>
              <p:cNvSpPr>
                <a:spLocks noRot="1" noChangeAspect="1" noMove="1" noResize="1" noEditPoints="1" noAdjustHandles="1" noChangeArrowheads="1" noChangeShapeType="1" noTextEdit="1"/>
              </p:cNvSpPr>
              <p:nvPr/>
            </p:nvSpPr>
            <p:spPr bwMode="auto">
              <a:xfrm>
                <a:off x="1919288" y="1108075"/>
                <a:ext cx="8367712" cy="4553173"/>
              </a:xfrm>
              <a:prstGeom prst="rect">
                <a:avLst/>
              </a:prstGeom>
              <a:blipFill rotWithShape="1">
                <a:blip r:embed="rId1"/>
                <a:stretch>
                  <a:fillRect l="-4" b="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54" name="AutoShape 5"/>
          <p:cNvSpPr>
            <a:spLocks noChangeAspect="1" noChangeArrowheads="1" noTextEdit="1"/>
          </p:cNvSpPr>
          <p:nvPr/>
        </p:nvSpPr>
        <p:spPr bwMode="auto">
          <a:xfrm>
            <a:off x="3503613" y="2163763"/>
            <a:ext cx="47244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5" name="Oval 6"/>
          <p:cNvSpPr>
            <a:spLocks noChangeArrowheads="1"/>
          </p:cNvSpPr>
          <p:nvPr/>
        </p:nvSpPr>
        <p:spPr bwMode="auto">
          <a:xfrm>
            <a:off x="4743450" y="3232150"/>
            <a:ext cx="347663" cy="277813"/>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56" name="Rectangle 7"/>
          <p:cNvSpPr>
            <a:spLocks noChangeArrowheads="1"/>
          </p:cNvSpPr>
          <p:nvPr/>
        </p:nvSpPr>
        <p:spPr bwMode="auto">
          <a:xfrm>
            <a:off x="4845050" y="3276600"/>
            <a:ext cx="10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B</a:t>
            </a:r>
            <a:endParaRPr kumimoji="1" lang="en-US" altLang="zh-CN" sz="2400">
              <a:latin typeface="Times New Roman" panose="02020603050405020304" pitchFamily="18" charset="0"/>
              <a:ea typeface="楷体" panose="02010609060101010101" pitchFamily="49" charset="-122"/>
            </a:endParaRPr>
          </a:p>
        </p:txBody>
      </p:sp>
      <p:grpSp>
        <p:nvGrpSpPr>
          <p:cNvPr id="2057" name="Group 8"/>
          <p:cNvGrpSpPr/>
          <p:nvPr/>
        </p:nvGrpSpPr>
        <p:grpSpPr bwMode="auto">
          <a:xfrm>
            <a:off x="3686175" y="3221038"/>
            <a:ext cx="347663" cy="277812"/>
            <a:chOff x="1362" y="1919"/>
            <a:chExt cx="219" cy="175"/>
          </a:xfrm>
        </p:grpSpPr>
        <p:sp>
          <p:nvSpPr>
            <p:cNvPr id="2157" name="Oval 9"/>
            <p:cNvSpPr>
              <a:spLocks noChangeArrowheads="1"/>
            </p:cNvSpPr>
            <p:nvPr/>
          </p:nvSpPr>
          <p:spPr bwMode="auto">
            <a:xfrm>
              <a:off x="1362" y="1919"/>
              <a:ext cx="219" cy="175"/>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58" name="Rectangle 10"/>
            <p:cNvSpPr>
              <a:spLocks noChangeArrowheads="1"/>
            </p:cNvSpPr>
            <p:nvPr/>
          </p:nvSpPr>
          <p:spPr bwMode="auto">
            <a:xfrm>
              <a:off x="1426" y="1947"/>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A</a:t>
              </a:r>
              <a:endParaRPr kumimoji="1" lang="en-US" altLang="zh-CN" sz="2400">
                <a:latin typeface="Times New Roman" panose="02020603050405020304" pitchFamily="18" charset="0"/>
                <a:ea typeface="楷体" panose="02010609060101010101" pitchFamily="49" charset="-122"/>
              </a:endParaRPr>
            </a:p>
          </p:txBody>
        </p:sp>
      </p:grpSp>
      <p:sp>
        <p:nvSpPr>
          <p:cNvPr id="2058" name="Oval 11"/>
          <p:cNvSpPr>
            <a:spLocks noChangeArrowheads="1"/>
          </p:cNvSpPr>
          <p:nvPr/>
        </p:nvSpPr>
        <p:spPr bwMode="auto">
          <a:xfrm>
            <a:off x="6002338" y="2381250"/>
            <a:ext cx="347662" cy="277813"/>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59" name="Rectangle 12"/>
          <p:cNvSpPr>
            <a:spLocks noChangeArrowheads="1"/>
          </p:cNvSpPr>
          <p:nvPr/>
        </p:nvSpPr>
        <p:spPr bwMode="auto">
          <a:xfrm>
            <a:off x="6103938" y="2425700"/>
            <a:ext cx="10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C</a:t>
            </a:r>
            <a:endParaRPr kumimoji="1" lang="en-US" altLang="zh-CN" sz="2400">
              <a:latin typeface="Times New Roman" panose="02020603050405020304" pitchFamily="18" charset="0"/>
              <a:ea typeface="楷体" panose="02010609060101010101" pitchFamily="49" charset="-122"/>
            </a:endParaRPr>
          </a:p>
        </p:txBody>
      </p:sp>
      <p:sp>
        <p:nvSpPr>
          <p:cNvPr id="2060" name="Oval 13"/>
          <p:cNvSpPr>
            <a:spLocks noChangeArrowheads="1"/>
          </p:cNvSpPr>
          <p:nvPr/>
        </p:nvSpPr>
        <p:spPr bwMode="auto">
          <a:xfrm>
            <a:off x="4743450" y="2393950"/>
            <a:ext cx="347663" cy="276225"/>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61" name="Rectangle 14"/>
          <p:cNvSpPr>
            <a:spLocks noChangeArrowheads="1"/>
          </p:cNvSpPr>
          <p:nvPr/>
        </p:nvSpPr>
        <p:spPr bwMode="auto">
          <a:xfrm>
            <a:off x="4845050" y="2436813"/>
            <a:ext cx="10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B</a:t>
            </a:r>
            <a:endParaRPr kumimoji="1" lang="en-US" altLang="zh-CN" sz="2400">
              <a:latin typeface="Times New Roman" panose="02020603050405020304" pitchFamily="18" charset="0"/>
              <a:ea typeface="楷体" panose="02010609060101010101" pitchFamily="49" charset="-122"/>
            </a:endParaRPr>
          </a:p>
        </p:txBody>
      </p:sp>
      <p:sp>
        <p:nvSpPr>
          <p:cNvPr id="2062" name="Oval 15"/>
          <p:cNvSpPr>
            <a:spLocks noChangeArrowheads="1"/>
          </p:cNvSpPr>
          <p:nvPr/>
        </p:nvSpPr>
        <p:spPr bwMode="auto">
          <a:xfrm>
            <a:off x="7059613" y="2806700"/>
            <a:ext cx="347662" cy="277813"/>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63" name="Rectangle 16"/>
          <p:cNvSpPr>
            <a:spLocks noChangeArrowheads="1"/>
          </p:cNvSpPr>
          <p:nvPr/>
        </p:nvSpPr>
        <p:spPr bwMode="auto">
          <a:xfrm>
            <a:off x="7146925" y="2851150"/>
            <a:ext cx="10985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D</a:t>
            </a:r>
            <a:endParaRPr kumimoji="1" lang="en-US" altLang="zh-CN" sz="2400">
              <a:latin typeface="Times New Roman" panose="02020603050405020304" pitchFamily="18" charset="0"/>
              <a:ea typeface="楷体" panose="02010609060101010101" pitchFamily="49" charset="-122"/>
            </a:endParaRPr>
          </a:p>
        </p:txBody>
      </p:sp>
      <p:sp>
        <p:nvSpPr>
          <p:cNvPr id="2064" name="Oval 17"/>
          <p:cNvSpPr>
            <a:spLocks noChangeArrowheads="1"/>
          </p:cNvSpPr>
          <p:nvPr/>
        </p:nvSpPr>
        <p:spPr bwMode="auto">
          <a:xfrm>
            <a:off x="4729163" y="4084638"/>
            <a:ext cx="347662" cy="276225"/>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65" name="Rectangle 18"/>
          <p:cNvSpPr>
            <a:spLocks noChangeArrowheads="1"/>
          </p:cNvSpPr>
          <p:nvPr/>
        </p:nvSpPr>
        <p:spPr bwMode="auto">
          <a:xfrm>
            <a:off x="4830763" y="4127500"/>
            <a:ext cx="10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B</a:t>
            </a:r>
            <a:endParaRPr kumimoji="1" lang="en-US" altLang="zh-CN" sz="2400">
              <a:latin typeface="Times New Roman" panose="02020603050405020304" pitchFamily="18" charset="0"/>
              <a:ea typeface="楷体" panose="02010609060101010101" pitchFamily="49" charset="-122"/>
            </a:endParaRPr>
          </a:p>
        </p:txBody>
      </p:sp>
      <p:sp>
        <p:nvSpPr>
          <p:cNvPr id="2066" name="Oval 19"/>
          <p:cNvSpPr>
            <a:spLocks noChangeArrowheads="1"/>
          </p:cNvSpPr>
          <p:nvPr/>
        </p:nvSpPr>
        <p:spPr bwMode="auto">
          <a:xfrm>
            <a:off x="6002338" y="3232150"/>
            <a:ext cx="347662" cy="277813"/>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67" name="Rectangle 20"/>
          <p:cNvSpPr>
            <a:spLocks noChangeArrowheads="1"/>
          </p:cNvSpPr>
          <p:nvPr/>
        </p:nvSpPr>
        <p:spPr bwMode="auto">
          <a:xfrm>
            <a:off x="6103938" y="3276600"/>
            <a:ext cx="10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C</a:t>
            </a:r>
            <a:endParaRPr kumimoji="1" lang="en-US" altLang="zh-CN" sz="2400">
              <a:latin typeface="Times New Roman" panose="02020603050405020304" pitchFamily="18" charset="0"/>
              <a:ea typeface="楷体" panose="02010609060101010101" pitchFamily="49" charset="-122"/>
            </a:endParaRPr>
          </a:p>
        </p:txBody>
      </p:sp>
      <p:sp>
        <p:nvSpPr>
          <p:cNvPr id="2068" name="Oval 21"/>
          <p:cNvSpPr>
            <a:spLocks noChangeArrowheads="1"/>
          </p:cNvSpPr>
          <p:nvPr/>
        </p:nvSpPr>
        <p:spPr bwMode="auto">
          <a:xfrm>
            <a:off x="7045325" y="3717925"/>
            <a:ext cx="347663" cy="276225"/>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69" name="Rectangle 22"/>
          <p:cNvSpPr>
            <a:spLocks noChangeArrowheads="1"/>
          </p:cNvSpPr>
          <p:nvPr/>
        </p:nvSpPr>
        <p:spPr bwMode="auto">
          <a:xfrm>
            <a:off x="7118350" y="3760788"/>
            <a:ext cx="10985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D</a:t>
            </a:r>
            <a:endParaRPr kumimoji="1" lang="en-US" altLang="zh-CN" sz="2400">
              <a:latin typeface="Times New Roman" panose="02020603050405020304" pitchFamily="18" charset="0"/>
              <a:ea typeface="楷体" panose="02010609060101010101" pitchFamily="49" charset="-122"/>
            </a:endParaRPr>
          </a:p>
        </p:txBody>
      </p:sp>
      <p:sp>
        <p:nvSpPr>
          <p:cNvPr id="2070" name="Oval 23"/>
          <p:cNvSpPr>
            <a:spLocks noChangeArrowheads="1"/>
          </p:cNvSpPr>
          <p:nvPr/>
        </p:nvSpPr>
        <p:spPr bwMode="auto">
          <a:xfrm>
            <a:off x="7986713" y="3232150"/>
            <a:ext cx="347662" cy="277813"/>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71" name="Rectangle 24"/>
          <p:cNvSpPr>
            <a:spLocks noChangeArrowheads="1"/>
          </p:cNvSpPr>
          <p:nvPr/>
        </p:nvSpPr>
        <p:spPr bwMode="auto">
          <a:xfrm>
            <a:off x="8088313" y="3276600"/>
            <a:ext cx="9334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E</a:t>
            </a:r>
            <a:endParaRPr kumimoji="1" lang="en-US" altLang="zh-CN" sz="2400">
              <a:latin typeface="Times New Roman" panose="02020603050405020304" pitchFamily="18" charset="0"/>
              <a:ea typeface="楷体" panose="02010609060101010101" pitchFamily="49" charset="-122"/>
            </a:endParaRPr>
          </a:p>
        </p:txBody>
      </p:sp>
      <p:sp>
        <p:nvSpPr>
          <p:cNvPr id="2072" name="Oval 25"/>
          <p:cNvSpPr>
            <a:spLocks noChangeArrowheads="1"/>
          </p:cNvSpPr>
          <p:nvPr/>
        </p:nvSpPr>
        <p:spPr bwMode="auto">
          <a:xfrm>
            <a:off x="6016625" y="4095750"/>
            <a:ext cx="349250" cy="277813"/>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73" name="Rectangle 26"/>
          <p:cNvSpPr>
            <a:spLocks noChangeArrowheads="1"/>
          </p:cNvSpPr>
          <p:nvPr/>
        </p:nvSpPr>
        <p:spPr bwMode="auto">
          <a:xfrm>
            <a:off x="6118225" y="4140200"/>
            <a:ext cx="1016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C</a:t>
            </a:r>
            <a:endParaRPr kumimoji="1" lang="en-US" altLang="zh-CN" sz="2400">
              <a:latin typeface="Times New Roman" panose="02020603050405020304" pitchFamily="18" charset="0"/>
              <a:ea typeface="楷体" panose="02010609060101010101" pitchFamily="49" charset="-122"/>
            </a:endParaRPr>
          </a:p>
        </p:txBody>
      </p:sp>
      <p:sp>
        <p:nvSpPr>
          <p:cNvPr id="2074" name="Line 27"/>
          <p:cNvSpPr>
            <a:spLocks noChangeShapeType="1"/>
          </p:cNvSpPr>
          <p:nvPr/>
        </p:nvSpPr>
        <p:spPr bwMode="auto">
          <a:xfrm flipV="1">
            <a:off x="3976688" y="2603500"/>
            <a:ext cx="795337" cy="6492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5" name="Line 28"/>
          <p:cNvSpPr>
            <a:spLocks noChangeShapeType="1"/>
          </p:cNvSpPr>
          <p:nvPr/>
        </p:nvSpPr>
        <p:spPr bwMode="auto">
          <a:xfrm>
            <a:off x="3946525" y="3465513"/>
            <a:ext cx="825500" cy="6746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6" name="Line 29"/>
          <p:cNvSpPr>
            <a:spLocks noChangeShapeType="1"/>
          </p:cNvSpPr>
          <p:nvPr/>
        </p:nvSpPr>
        <p:spPr bwMode="auto">
          <a:xfrm>
            <a:off x="5076825" y="4222750"/>
            <a:ext cx="92551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7" name="Line 30"/>
          <p:cNvSpPr>
            <a:spLocks noChangeShapeType="1"/>
          </p:cNvSpPr>
          <p:nvPr/>
        </p:nvSpPr>
        <p:spPr bwMode="auto">
          <a:xfrm>
            <a:off x="5076825" y="2520950"/>
            <a:ext cx="92551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8" name="Line 31"/>
          <p:cNvSpPr>
            <a:spLocks noChangeShapeType="1"/>
          </p:cNvSpPr>
          <p:nvPr/>
        </p:nvSpPr>
        <p:spPr bwMode="auto">
          <a:xfrm>
            <a:off x="5091113" y="3359150"/>
            <a:ext cx="92710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9" name="Line 35"/>
          <p:cNvSpPr>
            <a:spLocks noChangeShapeType="1"/>
          </p:cNvSpPr>
          <p:nvPr/>
        </p:nvSpPr>
        <p:spPr bwMode="auto">
          <a:xfrm flipV="1">
            <a:off x="6350000" y="3903663"/>
            <a:ext cx="695325" cy="2952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0" name="Line 36"/>
          <p:cNvSpPr>
            <a:spLocks noChangeShapeType="1"/>
          </p:cNvSpPr>
          <p:nvPr/>
        </p:nvSpPr>
        <p:spPr bwMode="auto">
          <a:xfrm flipV="1">
            <a:off x="7364413" y="3489325"/>
            <a:ext cx="723900" cy="2841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1" name="Line 37"/>
          <p:cNvSpPr>
            <a:spLocks noChangeShapeType="1"/>
          </p:cNvSpPr>
          <p:nvPr/>
        </p:nvSpPr>
        <p:spPr bwMode="auto">
          <a:xfrm>
            <a:off x="5048250" y="2614613"/>
            <a:ext cx="998538" cy="6508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2" name="Line 39"/>
          <p:cNvSpPr>
            <a:spLocks noChangeShapeType="1"/>
          </p:cNvSpPr>
          <p:nvPr/>
        </p:nvSpPr>
        <p:spPr bwMode="auto">
          <a:xfrm flipV="1">
            <a:off x="5018088" y="3465513"/>
            <a:ext cx="1028700" cy="6619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3" name="Line 40"/>
          <p:cNvSpPr>
            <a:spLocks noChangeShapeType="1"/>
          </p:cNvSpPr>
          <p:nvPr/>
        </p:nvSpPr>
        <p:spPr bwMode="auto">
          <a:xfrm>
            <a:off x="5048250" y="3454400"/>
            <a:ext cx="998538" cy="6858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4" name="Line 41"/>
          <p:cNvSpPr>
            <a:spLocks noChangeShapeType="1"/>
          </p:cNvSpPr>
          <p:nvPr/>
        </p:nvSpPr>
        <p:spPr bwMode="auto">
          <a:xfrm>
            <a:off x="4989513" y="2649538"/>
            <a:ext cx="1158875" cy="14430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5" name="Line 42"/>
          <p:cNvSpPr>
            <a:spLocks noChangeShapeType="1"/>
          </p:cNvSpPr>
          <p:nvPr/>
        </p:nvSpPr>
        <p:spPr bwMode="auto">
          <a:xfrm flipV="1">
            <a:off x="4975225" y="2649538"/>
            <a:ext cx="1173163" cy="14430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6" name="Line 43"/>
          <p:cNvSpPr>
            <a:spLocks noChangeShapeType="1"/>
          </p:cNvSpPr>
          <p:nvPr/>
        </p:nvSpPr>
        <p:spPr bwMode="auto">
          <a:xfrm>
            <a:off x="6292850" y="2614613"/>
            <a:ext cx="882650" cy="11239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7" name="Line 45"/>
          <p:cNvSpPr>
            <a:spLocks noChangeShapeType="1"/>
          </p:cNvSpPr>
          <p:nvPr/>
        </p:nvSpPr>
        <p:spPr bwMode="auto">
          <a:xfrm flipV="1">
            <a:off x="6321425" y="3005138"/>
            <a:ext cx="752475" cy="2952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8" name="Line 46"/>
          <p:cNvSpPr>
            <a:spLocks noChangeShapeType="1"/>
          </p:cNvSpPr>
          <p:nvPr/>
        </p:nvSpPr>
        <p:spPr bwMode="auto">
          <a:xfrm>
            <a:off x="6321425" y="3441700"/>
            <a:ext cx="752475" cy="3429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9" name="Rectangle 47"/>
          <p:cNvSpPr>
            <a:spLocks noChangeArrowheads="1"/>
          </p:cNvSpPr>
          <p:nvPr/>
        </p:nvSpPr>
        <p:spPr bwMode="auto">
          <a:xfrm>
            <a:off x="4208463" y="28162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4</a:t>
            </a:r>
            <a:endParaRPr kumimoji="1" lang="en-US" altLang="zh-CN" sz="2400">
              <a:latin typeface="Times New Roman" panose="02020603050405020304" pitchFamily="18" charset="0"/>
              <a:ea typeface="楷体" panose="02010609060101010101" pitchFamily="49" charset="-122"/>
            </a:endParaRPr>
          </a:p>
        </p:txBody>
      </p:sp>
      <p:sp>
        <p:nvSpPr>
          <p:cNvPr id="2090" name="Rectangle 48"/>
          <p:cNvSpPr>
            <a:spLocks noChangeArrowheads="1"/>
          </p:cNvSpPr>
          <p:nvPr/>
        </p:nvSpPr>
        <p:spPr bwMode="auto">
          <a:xfrm>
            <a:off x="4975225" y="2497138"/>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1</a:t>
            </a:r>
            <a:endParaRPr kumimoji="1" lang="en-US" altLang="zh-CN" sz="2400">
              <a:latin typeface="Times New Roman" panose="02020603050405020304" pitchFamily="18" charset="0"/>
              <a:ea typeface="楷体" panose="02010609060101010101" pitchFamily="49" charset="-122"/>
            </a:endParaRPr>
          </a:p>
        </p:txBody>
      </p:sp>
      <p:sp>
        <p:nvSpPr>
          <p:cNvPr id="2091" name="Rectangle 49"/>
          <p:cNvSpPr>
            <a:spLocks noChangeArrowheads="1"/>
          </p:cNvSpPr>
          <p:nvPr/>
        </p:nvSpPr>
        <p:spPr bwMode="auto">
          <a:xfrm>
            <a:off x="4946650" y="3311525"/>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2</a:t>
            </a:r>
            <a:endParaRPr kumimoji="1" lang="en-US" altLang="zh-CN" sz="2400">
              <a:latin typeface="Times New Roman" panose="02020603050405020304" pitchFamily="18" charset="0"/>
              <a:ea typeface="楷体" panose="02010609060101010101" pitchFamily="49" charset="-122"/>
            </a:endParaRPr>
          </a:p>
        </p:txBody>
      </p:sp>
      <p:sp>
        <p:nvSpPr>
          <p:cNvPr id="2092" name="Rectangle 50"/>
          <p:cNvSpPr>
            <a:spLocks noChangeArrowheads="1"/>
          </p:cNvSpPr>
          <p:nvPr/>
        </p:nvSpPr>
        <p:spPr bwMode="auto">
          <a:xfrm>
            <a:off x="4932363" y="4175125"/>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3</a:t>
            </a:r>
            <a:endParaRPr kumimoji="1" lang="en-US" altLang="zh-CN" sz="2400">
              <a:latin typeface="Times New Roman" panose="02020603050405020304" pitchFamily="18" charset="0"/>
              <a:ea typeface="楷体" panose="02010609060101010101" pitchFamily="49" charset="-122"/>
            </a:endParaRPr>
          </a:p>
        </p:txBody>
      </p:sp>
      <p:sp>
        <p:nvSpPr>
          <p:cNvPr id="2093" name="Rectangle 51"/>
          <p:cNvSpPr>
            <a:spLocks noChangeArrowheads="1"/>
          </p:cNvSpPr>
          <p:nvPr/>
        </p:nvSpPr>
        <p:spPr bwMode="auto">
          <a:xfrm>
            <a:off x="6219825" y="2460625"/>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1</a:t>
            </a:r>
            <a:endParaRPr kumimoji="1" lang="en-US" altLang="zh-CN" sz="2400">
              <a:latin typeface="Times New Roman" panose="02020603050405020304" pitchFamily="18" charset="0"/>
              <a:ea typeface="楷体" panose="02010609060101010101" pitchFamily="49" charset="-122"/>
            </a:endParaRPr>
          </a:p>
        </p:txBody>
      </p:sp>
      <p:sp>
        <p:nvSpPr>
          <p:cNvPr id="2094" name="Rectangle 52"/>
          <p:cNvSpPr>
            <a:spLocks noChangeArrowheads="1"/>
          </p:cNvSpPr>
          <p:nvPr/>
        </p:nvSpPr>
        <p:spPr bwMode="auto">
          <a:xfrm>
            <a:off x="6205538" y="3311525"/>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2</a:t>
            </a:r>
            <a:endParaRPr kumimoji="1" lang="en-US" altLang="zh-CN" sz="2400">
              <a:latin typeface="Times New Roman" panose="02020603050405020304" pitchFamily="18" charset="0"/>
              <a:ea typeface="楷体" panose="02010609060101010101" pitchFamily="49" charset="-122"/>
            </a:endParaRPr>
          </a:p>
        </p:txBody>
      </p:sp>
      <p:sp>
        <p:nvSpPr>
          <p:cNvPr id="2095" name="Rectangle 53"/>
          <p:cNvSpPr>
            <a:spLocks noChangeArrowheads="1"/>
          </p:cNvSpPr>
          <p:nvPr/>
        </p:nvSpPr>
        <p:spPr bwMode="auto">
          <a:xfrm>
            <a:off x="6219825" y="4186238"/>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3</a:t>
            </a:r>
            <a:endParaRPr kumimoji="1" lang="en-US" altLang="zh-CN" sz="2400">
              <a:latin typeface="Times New Roman" panose="02020603050405020304" pitchFamily="18" charset="0"/>
              <a:ea typeface="楷体" panose="02010609060101010101" pitchFamily="49" charset="-122"/>
            </a:endParaRPr>
          </a:p>
        </p:txBody>
      </p:sp>
      <p:sp>
        <p:nvSpPr>
          <p:cNvPr id="2096" name="Rectangle 54"/>
          <p:cNvSpPr>
            <a:spLocks noChangeArrowheads="1"/>
          </p:cNvSpPr>
          <p:nvPr/>
        </p:nvSpPr>
        <p:spPr bwMode="auto">
          <a:xfrm>
            <a:off x="7262813" y="2886075"/>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1</a:t>
            </a:r>
            <a:endParaRPr kumimoji="1" lang="en-US" altLang="zh-CN" sz="2400">
              <a:latin typeface="Times New Roman" panose="02020603050405020304" pitchFamily="18" charset="0"/>
              <a:ea typeface="楷体" panose="02010609060101010101" pitchFamily="49" charset="-122"/>
            </a:endParaRPr>
          </a:p>
        </p:txBody>
      </p:sp>
      <p:sp>
        <p:nvSpPr>
          <p:cNvPr id="2097" name="Rectangle 55"/>
          <p:cNvSpPr>
            <a:spLocks noChangeArrowheads="1"/>
          </p:cNvSpPr>
          <p:nvPr/>
        </p:nvSpPr>
        <p:spPr bwMode="auto">
          <a:xfrm>
            <a:off x="7248525" y="3797300"/>
            <a:ext cx="63500" cy="15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000">
                <a:solidFill>
                  <a:srgbClr val="000000"/>
                </a:solidFill>
                <a:latin typeface="Times New Roman" panose="02020603050405020304" pitchFamily="18" charset="0"/>
                <a:ea typeface="楷体" panose="02010609060101010101" pitchFamily="49" charset="-122"/>
              </a:rPr>
              <a:t>2</a:t>
            </a:r>
            <a:endParaRPr kumimoji="1" lang="en-US" altLang="zh-CN" sz="2400">
              <a:latin typeface="Times New Roman" panose="02020603050405020304" pitchFamily="18" charset="0"/>
              <a:ea typeface="楷体" panose="02010609060101010101" pitchFamily="49" charset="-122"/>
            </a:endParaRPr>
          </a:p>
        </p:txBody>
      </p:sp>
      <p:sp>
        <p:nvSpPr>
          <p:cNvPr id="2098" name="Rectangle 56"/>
          <p:cNvSpPr>
            <a:spLocks noChangeArrowheads="1"/>
          </p:cNvSpPr>
          <p:nvPr/>
        </p:nvSpPr>
        <p:spPr bwMode="auto">
          <a:xfrm>
            <a:off x="4410075" y="319405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3</a:t>
            </a:r>
            <a:endParaRPr kumimoji="1" lang="en-US" altLang="zh-CN" sz="2400">
              <a:latin typeface="Times New Roman" panose="02020603050405020304" pitchFamily="18" charset="0"/>
              <a:ea typeface="楷体" panose="02010609060101010101" pitchFamily="49" charset="-122"/>
            </a:endParaRPr>
          </a:p>
        </p:txBody>
      </p:sp>
      <p:sp>
        <p:nvSpPr>
          <p:cNvPr id="2099" name="Rectangle 57"/>
          <p:cNvSpPr>
            <a:spLocks noChangeArrowheads="1"/>
          </p:cNvSpPr>
          <p:nvPr/>
        </p:nvSpPr>
        <p:spPr bwMode="auto">
          <a:xfrm>
            <a:off x="4151313" y="3459163"/>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3</a:t>
            </a:r>
            <a:endParaRPr kumimoji="1" lang="en-US" altLang="zh-CN" sz="2400">
              <a:latin typeface="Times New Roman" panose="02020603050405020304" pitchFamily="18" charset="0"/>
              <a:ea typeface="楷体" panose="02010609060101010101" pitchFamily="49" charset="-122"/>
            </a:endParaRPr>
          </a:p>
        </p:txBody>
      </p:sp>
      <p:sp>
        <p:nvSpPr>
          <p:cNvPr id="2100" name="Rectangle 58"/>
          <p:cNvSpPr>
            <a:spLocks noChangeArrowheads="1"/>
          </p:cNvSpPr>
          <p:nvPr/>
        </p:nvSpPr>
        <p:spPr bwMode="auto">
          <a:xfrm>
            <a:off x="5337175" y="234315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2</a:t>
            </a:r>
            <a:endParaRPr kumimoji="1" lang="en-US" altLang="zh-CN" sz="2400">
              <a:latin typeface="Times New Roman" panose="02020603050405020304" pitchFamily="18" charset="0"/>
              <a:ea typeface="楷体" panose="02010609060101010101" pitchFamily="49" charset="-122"/>
            </a:endParaRPr>
          </a:p>
        </p:txBody>
      </p:sp>
      <p:sp>
        <p:nvSpPr>
          <p:cNvPr id="2101" name="Rectangle 59"/>
          <p:cNvSpPr>
            <a:spLocks noChangeArrowheads="1"/>
          </p:cNvSpPr>
          <p:nvPr/>
        </p:nvSpPr>
        <p:spPr bwMode="auto">
          <a:xfrm>
            <a:off x="5235575" y="259080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a:t>
            </a:r>
            <a:endParaRPr kumimoji="1" lang="en-US" altLang="zh-CN" sz="2400">
              <a:latin typeface="Times New Roman" panose="02020603050405020304" pitchFamily="18" charset="0"/>
              <a:ea typeface="楷体" panose="02010609060101010101" pitchFamily="49" charset="-122"/>
            </a:endParaRPr>
          </a:p>
        </p:txBody>
      </p:sp>
      <p:sp>
        <p:nvSpPr>
          <p:cNvPr id="2102" name="Rectangle 60"/>
          <p:cNvSpPr>
            <a:spLocks noChangeArrowheads="1"/>
          </p:cNvSpPr>
          <p:nvPr/>
        </p:nvSpPr>
        <p:spPr bwMode="auto">
          <a:xfrm>
            <a:off x="5087938" y="266700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latin typeface="Times New Roman" panose="02020603050405020304" pitchFamily="18" charset="0"/>
                <a:ea typeface="楷体" panose="02010609060101010101" pitchFamily="49" charset="-122"/>
              </a:rPr>
              <a:t>6</a:t>
            </a:r>
            <a:endParaRPr kumimoji="1" lang="en-US" altLang="zh-CN" sz="1200">
              <a:latin typeface="Times New Roman" panose="02020603050405020304" pitchFamily="18" charset="0"/>
              <a:ea typeface="楷体" panose="02010609060101010101" pitchFamily="49" charset="-122"/>
            </a:endParaRPr>
          </a:p>
        </p:txBody>
      </p:sp>
      <p:sp>
        <p:nvSpPr>
          <p:cNvPr id="2103" name="Rectangle 61"/>
          <p:cNvSpPr>
            <a:spLocks noChangeArrowheads="1"/>
          </p:cNvSpPr>
          <p:nvPr/>
        </p:nvSpPr>
        <p:spPr bwMode="auto">
          <a:xfrm>
            <a:off x="5105400" y="3040063"/>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4</a:t>
            </a:r>
            <a:endParaRPr kumimoji="1" lang="en-US" altLang="zh-CN" sz="2400">
              <a:latin typeface="Times New Roman" panose="02020603050405020304" pitchFamily="18" charset="0"/>
              <a:ea typeface="楷体" panose="02010609060101010101" pitchFamily="49" charset="-122"/>
            </a:endParaRPr>
          </a:p>
        </p:txBody>
      </p:sp>
      <p:sp>
        <p:nvSpPr>
          <p:cNvPr id="2104" name="Rectangle 62"/>
          <p:cNvSpPr>
            <a:spLocks noChangeArrowheads="1"/>
          </p:cNvSpPr>
          <p:nvPr/>
        </p:nvSpPr>
        <p:spPr bwMode="auto">
          <a:xfrm>
            <a:off x="5221288" y="3217863"/>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7</a:t>
            </a:r>
            <a:endParaRPr kumimoji="1" lang="en-US" altLang="zh-CN" sz="2400">
              <a:latin typeface="Times New Roman" panose="02020603050405020304" pitchFamily="18" charset="0"/>
              <a:ea typeface="楷体" panose="02010609060101010101" pitchFamily="49" charset="-122"/>
            </a:endParaRPr>
          </a:p>
        </p:txBody>
      </p:sp>
      <p:sp>
        <p:nvSpPr>
          <p:cNvPr id="2105" name="Rectangle 63"/>
          <p:cNvSpPr>
            <a:spLocks noChangeArrowheads="1"/>
          </p:cNvSpPr>
          <p:nvPr/>
        </p:nvSpPr>
        <p:spPr bwMode="auto">
          <a:xfrm>
            <a:off x="5062538" y="352425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2</a:t>
            </a:r>
            <a:endParaRPr kumimoji="1" lang="en-US" altLang="zh-CN" sz="2400">
              <a:latin typeface="Times New Roman" panose="02020603050405020304" pitchFamily="18" charset="0"/>
              <a:ea typeface="楷体" panose="02010609060101010101" pitchFamily="49" charset="-122"/>
            </a:endParaRPr>
          </a:p>
        </p:txBody>
      </p:sp>
      <p:sp>
        <p:nvSpPr>
          <p:cNvPr id="2106" name="Rectangle 64"/>
          <p:cNvSpPr>
            <a:spLocks noChangeArrowheads="1"/>
          </p:cNvSpPr>
          <p:nvPr/>
        </p:nvSpPr>
        <p:spPr bwMode="auto">
          <a:xfrm>
            <a:off x="5016500" y="38195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4</a:t>
            </a:r>
            <a:endParaRPr kumimoji="1" lang="en-US" altLang="zh-CN" sz="2400">
              <a:latin typeface="Times New Roman" panose="02020603050405020304" pitchFamily="18" charset="0"/>
              <a:ea typeface="楷体" panose="02010609060101010101" pitchFamily="49" charset="-122"/>
            </a:endParaRPr>
          </a:p>
        </p:txBody>
      </p:sp>
      <p:sp>
        <p:nvSpPr>
          <p:cNvPr id="2107" name="Rectangle 65"/>
          <p:cNvSpPr>
            <a:spLocks noChangeArrowheads="1"/>
          </p:cNvSpPr>
          <p:nvPr/>
        </p:nvSpPr>
        <p:spPr bwMode="auto">
          <a:xfrm>
            <a:off x="5232400" y="38195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8</a:t>
            </a:r>
            <a:endParaRPr kumimoji="1" lang="en-US" altLang="zh-CN" sz="2400">
              <a:latin typeface="Times New Roman" panose="02020603050405020304" pitchFamily="18" charset="0"/>
              <a:ea typeface="楷体" panose="02010609060101010101" pitchFamily="49" charset="-122"/>
            </a:endParaRPr>
          </a:p>
        </p:txBody>
      </p:sp>
      <p:sp>
        <p:nvSpPr>
          <p:cNvPr id="2108" name="Rectangle 66"/>
          <p:cNvSpPr>
            <a:spLocks noChangeArrowheads="1"/>
          </p:cNvSpPr>
          <p:nvPr/>
        </p:nvSpPr>
        <p:spPr bwMode="auto">
          <a:xfrm>
            <a:off x="5159375" y="40354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3</a:t>
            </a:r>
            <a:endParaRPr kumimoji="1" lang="en-US" altLang="zh-CN" sz="2400">
              <a:latin typeface="Times New Roman" panose="02020603050405020304" pitchFamily="18" charset="0"/>
              <a:ea typeface="楷体" panose="02010609060101010101" pitchFamily="49" charset="-122"/>
            </a:endParaRPr>
          </a:p>
        </p:txBody>
      </p:sp>
      <p:sp>
        <p:nvSpPr>
          <p:cNvPr id="2109" name="Rectangle 67"/>
          <p:cNvSpPr>
            <a:spLocks noChangeArrowheads="1"/>
          </p:cNvSpPr>
          <p:nvPr/>
        </p:nvSpPr>
        <p:spPr bwMode="auto">
          <a:xfrm>
            <a:off x="6567488" y="2436813"/>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latin typeface="Times New Roman" panose="02020603050405020304" pitchFamily="18" charset="0"/>
                <a:ea typeface="楷体" panose="02010609060101010101" pitchFamily="49" charset="-122"/>
              </a:rPr>
              <a:t>8</a:t>
            </a:r>
            <a:endParaRPr kumimoji="1" lang="en-US" altLang="zh-CN" sz="1200">
              <a:latin typeface="Times New Roman" panose="02020603050405020304" pitchFamily="18" charset="0"/>
              <a:ea typeface="楷体" panose="02010609060101010101" pitchFamily="49" charset="-122"/>
            </a:endParaRPr>
          </a:p>
        </p:txBody>
      </p:sp>
      <p:sp>
        <p:nvSpPr>
          <p:cNvPr id="2110" name="Rectangle 68"/>
          <p:cNvSpPr>
            <a:spLocks noChangeArrowheads="1"/>
          </p:cNvSpPr>
          <p:nvPr/>
        </p:nvSpPr>
        <p:spPr bwMode="auto">
          <a:xfrm>
            <a:off x="6456363" y="266700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6</a:t>
            </a:r>
            <a:endParaRPr kumimoji="1" lang="en-US" altLang="zh-CN" sz="2400">
              <a:latin typeface="Times New Roman" panose="02020603050405020304" pitchFamily="18" charset="0"/>
              <a:ea typeface="楷体" panose="02010609060101010101" pitchFamily="49" charset="-122"/>
            </a:endParaRPr>
          </a:p>
        </p:txBody>
      </p:sp>
      <p:sp>
        <p:nvSpPr>
          <p:cNvPr id="2111" name="Rectangle 69"/>
          <p:cNvSpPr>
            <a:spLocks noChangeArrowheads="1"/>
          </p:cNvSpPr>
          <p:nvPr/>
        </p:nvSpPr>
        <p:spPr bwMode="auto">
          <a:xfrm>
            <a:off x="6394450" y="307657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latin typeface="Times New Roman" panose="02020603050405020304" pitchFamily="18" charset="0"/>
                <a:ea typeface="楷体" panose="02010609060101010101" pitchFamily="49" charset="-122"/>
              </a:rPr>
              <a:t>7</a:t>
            </a:r>
            <a:endParaRPr kumimoji="1" lang="en-US" altLang="zh-CN" sz="1200">
              <a:latin typeface="Times New Roman" panose="02020603050405020304" pitchFamily="18" charset="0"/>
              <a:ea typeface="楷体" panose="02010609060101010101" pitchFamily="49" charset="-122"/>
            </a:endParaRPr>
          </a:p>
        </p:txBody>
      </p:sp>
      <p:sp>
        <p:nvSpPr>
          <p:cNvPr id="2112" name="Rectangle 70"/>
          <p:cNvSpPr>
            <a:spLocks noChangeArrowheads="1"/>
          </p:cNvSpPr>
          <p:nvPr/>
        </p:nvSpPr>
        <p:spPr bwMode="auto">
          <a:xfrm>
            <a:off x="6364288" y="35020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5</a:t>
            </a:r>
            <a:endParaRPr kumimoji="1" lang="en-US" altLang="zh-CN" sz="2400">
              <a:latin typeface="Times New Roman" panose="02020603050405020304" pitchFamily="18" charset="0"/>
              <a:ea typeface="楷体" panose="02010609060101010101" pitchFamily="49" charset="-122"/>
            </a:endParaRPr>
          </a:p>
        </p:txBody>
      </p:sp>
      <p:sp>
        <p:nvSpPr>
          <p:cNvPr id="2113" name="Rectangle 71"/>
          <p:cNvSpPr>
            <a:spLocks noChangeArrowheads="1"/>
          </p:cNvSpPr>
          <p:nvPr/>
        </p:nvSpPr>
        <p:spPr bwMode="auto">
          <a:xfrm>
            <a:off x="6278563" y="38322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a:t>
            </a:r>
            <a:endParaRPr kumimoji="1" lang="en-US" altLang="zh-CN" sz="2400">
              <a:latin typeface="Times New Roman" panose="02020603050405020304" pitchFamily="18" charset="0"/>
              <a:ea typeface="楷体" panose="02010609060101010101" pitchFamily="49" charset="-122"/>
            </a:endParaRPr>
          </a:p>
        </p:txBody>
      </p:sp>
      <p:sp>
        <p:nvSpPr>
          <p:cNvPr id="2114" name="Rectangle 72"/>
          <p:cNvSpPr>
            <a:spLocks noChangeArrowheads="1"/>
          </p:cNvSpPr>
          <p:nvPr/>
        </p:nvSpPr>
        <p:spPr bwMode="auto">
          <a:xfrm>
            <a:off x="6480175" y="4164013"/>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6</a:t>
            </a:r>
            <a:endParaRPr kumimoji="1" lang="en-US" altLang="zh-CN" sz="2400">
              <a:latin typeface="Times New Roman" panose="02020603050405020304" pitchFamily="18" charset="0"/>
              <a:ea typeface="楷体" panose="02010609060101010101" pitchFamily="49" charset="-122"/>
            </a:endParaRPr>
          </a:p>
        </p:txBody>
      </p:sp>
      <p:sp>
        <p:nvSpPr>
          <p:cNvPr id="2115" name="Rectangle 73"/>
          <p:cNvSpPr>
            <a:spLocks noChangeArrowheads="1"/>
          </p:cNvSpPr>
          <p:nvPr/>
        </p:nvSpPr>
        <p:spPr bwMode="auto">
          <a:xfrm>
            <a:off x="7596188" y="2898775"/>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10</a:t>
            </a:r>
            <a:endParaRPr kumimoji="1" lang="en-US" altLang="zh-CN" sz="2400">
              <a:latin typeface="Times New Roman" panose="02020603050405020304" pitchFamily="18" charset="0"/>
              <a:ea typeface="楷体" panose="02010609060101010101" pitchFamily="49" charset="-122"/>
            </a:endParaRPr>
          </a:p>
        </p:txBody>
      </p:sp>
      <p:sp>
        <p:nvSpPr>
          <p:cNvPr id="2116" name="Rectangle 74"/>
          <p:cNvSpPr>
            <a:spLocks noChangeArrowheads="1"/>
          </p:cNvSpPr>
          <p:nvPr/>
        </p:nvSpPr>
        <p:spPr bwMode="auto">
          <a:xfrm>
            <a:off x="7551738" y="3714750"/>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6</a:t>
            </a:r>
            <a:endParaRPr kumimoji="1" lang="en-US" altLang="zh-CN" sz="2400">
              <a:latin typeface="Times New Roman" panose="02020603050405020304" pitchFamily="18" charset="0"/>
              <a:ea typeface="楷体" panose="02010609060101010101" pitchFamily="49" charset="-122"/>
            </a:endParaRPr>
          </a:p>
        </p:txBody>
      </p:sp>
      <p:sp>
        <p:nvSpPr>
          <p:cNvPr id="2117" name="Rectangle 75"/>
          <p:cNvSpPr>
            <a:spLocks noChangeArrowheads="1"/>
          </p:cNvSpPr>
          <p:nvPr/>
        </p:nvSpPr>
        <p:spPr bwMode="auto">
          <a:xfrm>
            <a:off x="3700463" y="2946400"/>
            <a:ext cx="231775" cy="200025"/>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18" name="Rectangle 76"/>
          <p:cNvSpPr>
            <a:spLocks noChangeArrowheads="1"/>
          </p:cNvSpPr>
          <p:nvPr/>
        </p:nvSpPr>
        <p:spPr bwMode="auto">
          <a:xfrm>
            <a:off x="4729163" y="2141538"/>
            <a:ext cx="260350" cy="201612"/>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19" name="Rectangle 77"/>
          <p:cNvSpPr>
            <a:spLocks noChangeArrowheads="1"/>
          </p:cNvSpPr>
          <p:nvPr/>
        </p:nvSpPr>
        <p:spPr bwMode="auto">
          <a:xfrm>
            <a:off x="7118350" y="2532063"/>
            <a:ext cx="271463"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0" name="Rectangle 78"/>
          <p:cNvSpPr>
            <a:spLocks noChangeArrowheads="1"/>
          </p:cNvSpPr>
          <p:nvPr/>
        </p:nvSpPr>
        <p:spPr bwMode="auto">
          <a:xfrm>
            <a:off x="8043863" y="2946400"/>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1" name="Rectangle 79"/>
          <p:cNvSpPr>
            <a:spLocks noChangeArrowheads="1"/>
          </p:cNvSpPr>
          <p:nvPr/>
        </p:nvSpPr>
        <p:spPr bwMode="auto">
          <a:xfrm>
            <a:off x="4757738" y="2957513"/>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2" name="Rectangle 80"/>
          <p:cNvSpPr>
            <a:spLocks noChangeArrowheads="1"/>
          </p:cNvSpPr>
          <p:nvPr/>
        </p:nvSpPr>
        <p:spPr bwMode="auto">
          <a:xfrm>
            <a:off x="4727575" y="4395788"/>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3" name="Rectangle 81"/>
          <p:cNvSpPr>
            <a:spLocks noChangeArrowheads="1"/>
          </p:cNvSpPr>
          <p:nvPr/>
        </p:nvSpPr>
        <p:spPr bwMode="auto">
          <a:xfrm>
            <a:off x="6061075" y="2957513"/>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4" name="Rectangle 82"/>
          <p:cNvSpPr>
            <a:spLocks noChangeArrowheads="1"/>
          </p:cNvSpPr>
          <p:nvPr/>
        </p:nvSpPr>
        <p:spPr bwMode="auto">
          <a:xfrm>
            <a:off x="6061075" y="4435475"/>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5" name="Rectangle 83"/>
          <p:cNvSpPr>
            <a:spLocks noChangeArrowheads="1"/>
          </p:cNvSpPr>
          <p:nvPr/>
        </p:nvSpPr>
        <p:spPr bwMode="auto">
          <a:xfrm>
            <a:off x="7146925" y="4068763"/>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6" name="Rectangle 84"/>
          <p:cNvSpPr>
            <a:spLocks noChangeArrowheads="1"/>
          </p:cNvSpPr>
          <p:nvPr/>
        </p:nvSpPr>
        <p:spPr bwMode="auto">
          <a:xfrm>
            <a:off x="6061075" y="2106613"/>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127" name="Rectangle 85"/>
          <p:cNvSpPr>
            <a:spLocks noChangeArrowheads="1"/>
          </p:cNvSpPr>
          <p:nvPr/>
        </p:nvSpPr>
        <p:spPr bwMode="auto">
          <a:xfrm>
            <a:off x="8145463" y="298132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0</a:t>
            </a:r>
            <a:endParaRPr kumimoji="1" lang="en-US" altLang="zh-CN" sz="2400">
              <a:latin typeface="Times New Roman" panose="02020603050405020304" pitchFamily="18" charset="0"/>
              <a:ea typeface="楷体" panose="02010609060101010101" pitchFamily="49" charset="-122"/>
            </a:endParaRPr>
          </a:p>
        </p:txBody>
      </p:sp>
      <p:sp>
        <p:nvSpPr>
          <p:cNvPr id="2128" name="Rectangle 86"/>
          <p:cNvSpPr>
            <a:spLocks noChangeArrowheads="1"/>
          </p:cNvSpPr>
          <p:nvPr/>
        </p:nvSpPr>
        <p:spPr bwMode="auto">
          <a:xfrm>
            <a:off x="7218363" y="2566988"/>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10</a:t>
            </a:r>
            <a:endParaRPr kumimoji="1" lang="en-US" altLang="zh-CN" sz="2400">
              <a:latin typeface="Times New Roman" panose="02020603050405020304" pitchFamily="18" charset="0"/>
              <a:ea typeface="楷体" panose="02010609060101010101" pitchFamily="49" charset="-122"/>
            </a:endParaRPr>
          </a:p>
        </p:txBody>
      </p:sp>
      <p:sp>
        <p:nvSpPr>
          <p:cNvPr id="2129" name="Rectangle 87"/>
          <p:cNvSpPr>
            <a:spLocks noChangeArrowheads="1"/>
          </p:cNvSpPr>
          <p:nvPr/>
        </p:nvSpPr>
        <p:spPr bwMode="auto">
          <a:xfrm>
            <a:off x="7248525" y="4092575"/>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6</a:t>
            </a:r>
            <a:endParaRPr kumimoji="1" lang="en-US" altLang="zh-CN" sz="2400">
              <a:latin typeface="Times New Roman" panose="02020603050405020304" pitchFamily="18" charset="0"/>
              <a:ea typeface="楷体" panose="02010609060101010101" pitchFamily="49" charset="-122"/>
            </a:endParaRPr>
          </a:p>
        </p:txBody>
      </p:sp>
      <p:sp>
        <p:nvSpPr>
          <p:cNvPr id="2130" name="Rectangle 88"/>
          <p:cNvSpPr>
            <a:spLocks noChangeArrowheads="1"/>
          </p:cNvSpPr>
          <p:nvPr/>
        </p:nvSpPr>
        <p:spPr bwMode="auto">
          <a:xfrm>
            <a:off x="6148388" y="2130425"/>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12</a:t>
            </a:r>
            <a:endParaRPr kumimoji="1" lang="en-US" altLang="zh-CN" sz="2400">
              <a:latin typeface="Times New Roman" panose="02020603050405020304" pitchFamily="18" charset="0"/>
              <a:ea typeface="楷体" panose="02010609060101010101" pitchFamily="49" charset="-122"/>
            </a:endParaRPr>
          </a:p>
        </p:txBody>
      </p:sp>
      <p:sp>
        <p:nvSpPr>
          <p:cNvPr id="2131" name="Rectangle 89"/>
          <p:cNvSpPr>
            <a:spLocks noChangeArrowheads="1"/>
          </p:cNvSpPr>
          <p:nvPr/>
        </p:nvSpPr>
        <p:spPr bwMode="auto">
          <a:xfrm>
            <a:off x="6148388" y="2992438"/>
            <a:ext cx="14668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11</a:t>
            </a:r>
            <a:endParaRPr kumimoji="1" lang="en-US" altLang="zh-CN" sz="2400">
              <a:latin typeface="Times New Roman" panose="02020603050405020304" pitchFamily="18" charset="0"/>
              <a:ea typeface="楷体" panose="02010609060101010101" pitchFamily="49" charset="-122"/>
            </a:endParaRPr>
          </a:p>
        </p:txBody>
      </p:sp>
      <p:sp>
        <p:nvSpPr>
          <p:cNvPr id="2132" name="Rectangle 90"/>
          <p:cNvSpPr>
            <a:spLocks noChangeArrowheads="1"/>
          </p:cNvSpPr>
          <p:nvPr/>
        </p:nvSpPr>
        <p:spPr bwMode="auto">
          <a:xfrm>
            <a:off x="6103938" y="4459288"/>
            <a:ext cx="14668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11</a:t>
            </a:r>
            <a:endParaRPr kumimoji="1" lang="en-US" altLang="zh-CN" sz="2400">
              <a:latin typeface="Times New Roman" panose="02020603050405020304" pitchFamily="18" charset="0"/>
              <a:ea typeface="楷体" panose="02010609060101010101" pitchFamily="49" charset="-122"/>
            </a:endParaRPr>
          </a:p>
        </p:txBody>
      </p:sp>
      <p:sp>
        <p:nvSpPr>
          <p:cNvPr id="2133" name="Rectangle 91"/>
          <p:cNvSpPr>
            <a:spLocks noChangeArrowheads="1"/>
          </p:cNvSpPr>
          <p:nvPr/>
        </p:nvSpPr>
        <p:spPr bwMode="auto">
          <a:xfrm>
            <a:off x="4772025" y="2154238"/>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12</a:t>
            </a:r>
            <a:endParaRPr kumimoji="1" lang="en-US" altLang="zh-CN" sz="2400">
              <a:latin typeface="Times New Roman" panose="02020603050405020304" pitchFamily="18" charset="0"/>
              <a:ea typeface="楷体" panose="02010609060101010101" pitchFamily="49" charset="-122"/>
            </a:endParaRPr>
          </a:p>
        </p:txBody>
      </p:sp>
      <p:sp>
        <p:nvSpPr>
          <p:cNvPr id="2134" name="Rectangle 92"/>
          <p:cNvSpPr>
            <a:spLocks noChangeArrowheads="1"/>
          </p:cNvSpPr>
          <p:nvPr/>
        </p:nvSpPr>
        <p:spPr bwMode="auto">
          <a:xfrm>
            <a:off x="4802188" y="2981325"/>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13</a:t>
            </a:r>
            <a:endParaRPr kumimoji="1" lang="en-US" altLang="zh-CN" sz="2400">
              <a:latin typeface="Times New Roman" panose="02020603050405020304" pitchFamily="18" charset="0"/>
              <a:ea typeface="楷体" panose="02010609060101010101" pitchFamily="49" charset="-122"/>
            </a:endParaRPr>
          </a:p>
        </p:txBody>
      </p:sp>
      <p:sp>
        <p:nvSpPr>
          <p:cNvPr id="2135" name="Rectangle 93"/>
          <p:cNvSpPr>
            <a:spLocks noChangeArrowheads="1"/>
          </p:cNvSpPr>
          <p:nvPr/>
        </p:nvSpPr>
        <p:spPr bwMode="auto">
          <a:xfrm>
            <a:off x="4800600" y="4395788"/>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14</a:t>
            </a:r>
            <a:endParaRPr kumimoji="1" lang="en-US" altLang="zh-CN" sz="2400">
              <a:latin typeface="Times New Roman" panose="02020603050405020304" pitchFamily="18" charset="0"/>
              <a:ea typeface="楷体" panose="02010609060101010101" pitchFamily="49" charset="-122"/>
            </a:endParaRPr>
          </a:p>
        </p:txBody>
      </p:sp>
      <p:sp>
        <p:nvSpPr>
          <p:cNvPr id="2136" name="Rectangle 94"/>
          <p:cNvSpPr>
            <a:spLocks noChangeArrowheads="1"/>
          </p:cNvSpPr>
          <p:nvPr/>
        </p:nvSpPr>
        <p:spPr bwMode="auto">
          <a:xfrm>
            <a:off x="3744913" y="2970213"/>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14</a:t>
            </a:r>
            <a:endParaRPr kumimoji="1" lang="en-US" altLang="zh-CN" sz="2400">
              <a:latin typeface="Times New Roman" panose="02020603050405020304" pitchFamily="18" charset="0"/>
              <a:ea typeface="楷体" panose="02010609060101010101" pitchFamily="49" charset="-122"/>
            </a:endParaRPr>
          </a:p>
        </p:txBody>
      </p:sp>
      <p:sp>
        <p:nvSpPr>
          <p:cNvPr id="2137" name="Oval 96"/>
          <p:cNvSpPr>
            <a:spLocks noChangeArrowheads="1"/>
          </p:cNvSpPr>
          <p:nvPr/>
        </p:nvSpPr>
        <p:spPr bwMode="auto">
          <a:xfrm>
            <a:off x="4727575" y="4899025"/>
            <a:ext cx="347663" cy="276225"/>
          </a:xfrm>
          <a:prstGeom prst="ellipse">
            <a:avLst/>
          </a:pr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graphicFrame>
        <p:nvGraphicFramePr>
          <p:cNvPr id="2050" name="Object 2"/>
          <p:cNvGraphicFramePr>
            <a:graphicFrameLocks noChangeAspect="1"/>
          </p:cNvGraphicFramePr>
          <p:nvPr/>
        </p:nvGraphicFramePr>
        <p:xfrm>
          <a:off x="4800600" y="4899025"/>
          <a:ext cx="203200" cy="215900"/>
        </p:xfrm>
        <a:graphic>
          <a:graphicData uri="http://schemas.openxmlformats.org/presentationml/2006/ole">
            <mc:AlternateContent xmlns:mc="http://schemas.openxmlformats.org/markup-compatibility/2006">
              <mc:Choice xmlns:v="urn:schemas-microsoft-com:vml" Requires="v">
                <p:oleObj spid="_x0000_s2304" name="公式" r:id="rId2" imgW="203200" imgH="215900" progId="Equation.3">
                  <p:embed/>
                </p:oleObj>
              </mc:Choice>
              <mc:Fallback>
                <p:oleObj name="公式" r:id="rId2" imgW="203200" imgH="2159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4899025"/>
                        <a:ext cx="2032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38" name="Rectangle 99"/>
          <p:cNvSpPr>
            <a:spLocks noChangeArrowheads="1"/>
          </p:cNvSpPr>
          <p:nvPr/>
        </p:nvSpPr>
        <p:spPr bwMode="auto">
          <a:xfrm>
            <a:off x="4800600" y="5187950"/>
            <a:ext cx="152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12</a:t>
            </a:r>
            <a:endParaRPr kumimoji="1" lang="en-US" altLang="zh-CN" sz="2400">
              <a:latin typeface="Times New Roman" panose="02020603050405020304" pitchFamily="18" charset="0"/>
              <a:ea typeface="楷体" panose="02010609060101010101" pitchFamily="49" charset="-122"/>
            </a:endParaRPr>
          </a:p>
        </p:txBody>
      </p:sp>
      <p:sp>
        <p:nvSpPr>
          <p:cNvPr id="2139" name="Line 100"/>
          <p:cNvSpPr>
            <a:spLocks noChangeShapeType="1"/>
          </p:cNvSpPr>
          <p:nvPr/>
        </p:nvSpPr>
        <p:spPr bwMode="auto">
          <a:xfrm flipV="1">
            <a:off x="4943475" y="2667000"/>
            <a:ext cx="1223963" cy="22320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40" name="Line 101"/>
          <p:cNvSpPr>
            <a:spLocks noChangeShapeType="1"/>
          </p:cNvSpPr>
          <p:nvPr/>
        </p:nvSpPr>
        <p:spPr bwMode="auto">
          <a:xfrm flipV="1">
            <a:off x="5087938" y="3459163"/>
            <a:ext cx="1079500" cy="15128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41" name="Rectangle 102"/>
          <p:cNvSpPr>
            <a:spLocks noChangeArrowheads="1"/>
          </p:cNvSpPr>
          <p:nvPr/>
        </p:nvSpPr>
        <p:spPr bwMode="auto">
          <a:xfrm>
            <a:off x="4943475" y="4611688"/>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7</a:t>
            </a:r>
            <a:endParaRPr kumimoji="1" lang="en-US" altLang="zh-CN" sz="2400">
              <a:latin typeface="Times New Roman" panose="02020603050405020304" pitchFamily="18" charset="0"/>
              <a:ea typeface="楷体" panose="02010609060101010101" pitchFamily="49" charset="-122"/>
            </a:endParaRPr>
          </a:p>
        </p:txBody>
      </p:sp>
      <p:sp>
        <p:nvSpPr>
          <p:cNvPr id="2142" name="Rectangle 103"/>
          <p:cNvSpPr>
            <a:spLocks noChangeArrowheads="1"/>
          </p:cNvSpPr>
          <p:nvPr/>
        </p:nvSpPr>
        <p:spPr bwMode="auto">
          <a:xfrm>
            <a:off x="5159375" y="4611688"/>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latin typeface="Times New Roman" panose="02020603050405020304" pitchFamily="18" charset="0"/>
                <a:ea typeface="楷体" panose="02010609060101010101" pitchFamily="49" charset="-122"/>
              </a:rPr>
              <a:t>5</a:t>
            </a:r>
            <a:endParaRPr kumimoji="1" lang="en-US" altLang="zh-CN" sz="1200">
              <a:latin typeface="Times New Roman" panose="02020603050405020304" pitchFamily="18" charset="0"/>
              <a:ea typeface="楷体" panose="02010609060101010101" pitchFamily="49" charset="-122"/>
            </a:endParaRPr>
          </a:p>
        </p:txBody>
      </p:sp>
      <p:sp>
        <p:nvSpPr>
          <p:cNvPr id="2143" name="Rectangle 104"/>
          <p:cNvSpPr>
            <a:spLocks noChangeArrowheads="1"/>
          </p:cNvSpPr>
          <p:nvPr/>
        </p:nvSpPr>
        <p:spPr bwMode="auto">
          <a:xfrm>
            <a:off x="5453063" y="4500563"/>
            <a:ext cx="4603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1</a:t>
            </a:r>
            <a:endParaRPr kumimoji="1" lang="en-US" altLang="zh-CN" sz="2400">
              <a:latin typeface="Times New Roman" panose="02020603050405020304" pitchFamily="18" charset="0"/>
              <a:ea typeface="楷体" panose="02010609060101010101" pitchFamily="49" charset="-122"/>
            </a:endParaRPr>
          </a:p>
        </p:txBody>
      </p:sp>
      <p:sp>
        <p:nvSpPr>
          <p:cNvPr id="2144" name="Rectangle 105"/>
          <p:cNvSpPr>
            <a:spLocks noChangeArrowheads="1"/>
          </p:cNvSpPr>
          <p:nvPr/>
        </p:nvSpPr>
        <p:spPr bwMode="auto">
          <a:xfrm>
            <a:off x="4310063" y="3929063"/>
            <a:ext cx="762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200">
                <a:solidFill>
                  <a:srgbClr val="000000"/>
                </a:solidFill>
                <a:latin typeface="Times New Roman" panose="02020603050405020304" pitchFamily="18" charset="0"/>
                <a:ea typeface="楷体" panose="02010609060101010101" pitchFamily="49" charset="-122"/>
              </a:rPr>
              <a:t>2</a:t>
            </a:r>
            <a:endParaRPr kumimoji="1" lang="en-US" altLang="zh-CN" sz="2400">
              <a:latin typeface="Times New Roman" panose="02020603050405020304" pitchFamily="18" charset="0"/>
              <a:ea typeface="楷体" panose="02010609060101010101" pitchFamily="49" charset="-122"/>
            </a:endParaRPr>
          </a:p>
        </p:txBody>
      </p:sp>
      <p:sp>
        <p:nvSpPr>
          <p:cNvPr id="2145" name="Rectangle 106"/>
          <p:cNvSpPr>
            <a:spLocks noChangeArrowheads="1"/>
          </p:cNvSpPr>
          <p:nvPr/>
        </p:nvSpPr>
        <p:spPr bwMode="auto">
          <a:xfrm>
            <a:off x="4727575" y="5187950"/>
            <a:ext cx="273050" cy="222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cxnSp>
        <p:nvCxnSpPr>
          <p:cNvPr id="112" name="直接连接符 111"/>
          <p:cNvCxnSpPr>
            <a:stCxn id="2157" idx="4"/>
          </p:cNvCxnSpPr>
          <p:nvPr/>
        </p:nvCxnSpPr>
        <p:spPr>
          <a:xfrm rot="16200000" flipH="1">
            <a:off x="3583781" y="3774282"/>
            <a:ext cx="1501775" cy="950912"/>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2137" idx="6"/>
            <a:endCxn id="2072" idx="3"/>
          </p:cNvCxnSpPr>
          <p:nvPr/>
        </p:nvCxnSpPr>
        <p:spPr>
          <a:xfrm flipV="1">
            <a:off x="5075238" y="4332288"/>
            <a:ext cx="992187" cy="70485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16" name="直接连接符 115"/>
          <p:cNvCxnSpPr>
            <a:stCxn id="2072" idx="7"/>
            <a:endCxn id="2062" idx="3"/>
          </p:cNvCxnSpPr>
          <p:nvPr/>
        </p:nvCxnSpPr>
        <p:spPr>
          <a:xfrm rot="5400000" flipH="1" flipV="1">
            <a:off x="6165850" y="3192463"/>
            <a:ext cx="1093787" cy="795338"/>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18" name="直接连接符 117"/>
          <p:cNvCxnSpPr>
            <a:stCxn id="2062" idx="5"/>
            <a:endCxn id="2070" idx="2"/>
          </p:cNvCxnSpPr>
          <p:nvPr/>
        </p:nvCxnSpPr>
        <p:spPr>
          <a:xfrm rot="16200000" flipH="1">
            <a:off x="7508081" y="2891632"/>
            <a:ext cx="327025" cy="630238"/>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2157" idx="6"/>
          </p:cNvCxnSpPr>
          <p:nvPr/>
        </p:nvCxnSpPr>
        <p:spPr>
          <a:xfrm flipV="1">
            <a:off x="4033838" y="3357563"/>
            <a:ext cx="70485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a:endCxn id="2077" idx="1"/>
          </p:cNvCxnSpPr>
          <p:nvPr/>
        </p:nvCxnSpPr>
        <p:spPr>
          <a:xfrm flipV="1">
            <a:off x="5095875" y="2522538"/>
            <a:ext cx="906463" cy="763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2058" idx="6"/>
            <a:endCxn id="2062" idx="2"/>
          </p:cNvCxnSpPr>
          <p:nvPr/>
        </p:nvCxnSpPr>
        <p:spPr>
          <a:xfrm>
            <a:off x="6350000" y="2520950"/>
            <a:ext cx="709613" cy="425450"/>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多阶段决策过程最优化问题举例</a:t>
            </a:r>
            <a:endParaRPr lang="zh-CN" altLang="en-US" dirty="0"/>
          </a:p>
        </p:txBody>
      </p:sp>
    </p:spTree>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6019" name="Rectangle 3"/>
              <p:cNvSpPr>
                <a:spLocks noChangeArrowheads="1"/>
              </p:cNvSpPr>
              <p:nvPr/>
            </p:nvSpPr>
            <p:spPr bwMode="auto">
              <a:xfrm>
                <a:off x="1524000" y="838200"/>
                <a:ext cx="8786813"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algn="just">
                  <a:lnSpc>
                    <a:spcPct val="150000"/>
                  </a:lnSpc>
                  <a:spcBef>
                    <a:spcPts val="300"/>
                  </a:spcBef>
                  <a:spcAft>
                    <a:spcPts val="300"/>
                  </a:spcAft>
                </a:pPr>
                <a:r>
                  <a:rPr kumimoji="1" lang="zh-CN" altLang="en-US" sz="2200" b="1" dirty="0">
                    <a:latin typeface="楷体" panose="02010609060101010101" pitchFamily="49" charset="-122"/>
                    <a:ea typeface="楷体" panose="02010609060101010101" pitchFamily="49" charset="-122"/>
                  </a:rPr>
                  <a:t>一、基本概念：</a:t>
                </a:r>
                <a:endParaRPr kumimoji="1" lang="zh-CN" altLang="en-US" sz="2200" b="1"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200" dirty="0">
                    <a:latin typeface="楷体" panose="02010609060101010101" pitchFamily="49" charset="-122"/>
                    <a:ea typeface="楷体" panose="02010609060101010101" pitchFamily="49" charset="-122"/>
                  </a:rPr>
                  <a:t>    </a:t>
                </a:r>
                <a:r>
                  <a:rPr kumimoji="1" lang="en-US" altLang="zh-CN" sz="2200" dirty="0">
                    <a:latin typeface="楷体" panose="02010609060101010101" pitchFamily="49" charset="-122"/>
                    <a:ea typeface="楷体" panose="02010609060101010101" pitchFamily="49" charset="-122"/>
                  </a:rPr>
                  <a:t>1</a:t>
                </a:r>
                <a:r>
                  <a:rPr kumimoji="1" lang="zh-CN" altLang="en-US" sz="2200" dirty="0">
                    <a:latin typeface="楷体" panose="02010609060101010101" pitchFamily="49" charset="-122"/>
                    <a:ea typeface="楷体" panose="02010609060101010101" pitchFamily="49" charset="-122"/>
                  </a:rPr>
                  <a:t>、</a:t>
                </a:r>
                <a:r>
                  <a:rPr kumimoji="1" lang="zh-CN" altLang="en-US" sz="2200" b="1" dirty="0">
                    <a:solidFill>
                      <a:srgbClr val="FF0000"/>
                    </a:solidFill>
                    <a:latin typeface="楷体" panose="02010609060101010101" pitchFamily="49" charset="-122"/>
                    <a:ea typeface="楷体" panose="02010609060101010101" pitchFamily="49" charset="-122"/>
                  </a:rPr>
                  <a:t>阶段</a:t>
                </a:r>
                <a14:m>
                  <m:oMath xmlns:m="http://schemas.openxmlformats.org/officeDocument/2006/math">
                    <m: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𝒌</m:t>
                    </m:r>
                  </m:oMath>
                </a14:m>
                <a:r>
                  <a:rPr kumimoji="1" lang="zh-CN" altLang="en-US" sz="2200" dirty="0">
                    <a:latin typeface="楷体" panose="02010609060101010101" pitchFamily="49" charset="-122"/>
                    <a:ea typeface="楷体" panose="02010609060101010101" pitchFamily="49" charset="-122"/>
                  </a:rPr>
                  <a:t>：表示决策顺序的离散的量，可以按时间或空间划分。</a:t>
                </a:r>
                <a:endParaRPr kumimoji="1" lang="zh-CN" altLang="en-US" sz="22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200" dirty="0">
                    <a:latin typeface="楷体" panose="02010609060101010101" pitchFamily="49" charset="-122"/>
                    <a:ea typeface="楷体" panose="02010609060101010101" pitchFamily="49" charset="-122"/>
                  </a:rPr>
                  <a:t>    </a:t>
                </a:r>
                <a:r>
                  <a:rPr kumimoji="1" lang="en-US" altLang="zh-CN" sz="2200" dirty="0">
                    <a:latin typeface="楷体" panose="02010609060101010101" pitchFamily="49" charset="-122"/>
                    <a:ea typeface="楷体" panose="02010609060101010101" pitchFamily="49" charset="-122"/>
                  </a:rPr>
                  <a:t>2</a:t>
                </a:r>
                <a:r>
                  <a:rPr kumimoji="1" lang="zh-CN" altLang="en-US" sz="2200" dirty="0">
                    <a:latin typeface="楷体" panose="02010609060101010101" pitchFamily="49" charset="-122"/>
                    <a:ea typeface="楷体" panose="02010609060101010101" pitchFamily="49" charset="-122"/>
                  </a:rPr>
                  <a:t>、</a:t>
                </a:r>
                <a:r>
                  <a:rPr kumimoji="1" lang="zh-CN" altLang="en-US" sz="2200" b="1" dirty="0">
                    <a:solidFill>
                      <a:srgbClr val="FF0000"/>
                    </a:solidFill>
                    <a:latin typeface="楷体" panose="02010609060101010101" pitchFamily="49" charset="-122"/>
                    <a:ea typeface="楷体" panose="02010609060101010101" pitchFamily="49" charset="-122"/>
                  </a:rPr>
                  <a:t>状态</a:t>
                </a:r>
                <a14:m>
                  <m:oMath xmlns:m="http://schemas.openxmlformats.org/officeDocument/2006/math">
                    <m:r>
                      <a:rPr kumimoji="1" lang="en-US" altLang="zh-CN" sz="2400" b="1" i="1" dirty="0" smtClean="0">
                        <a:solidFill>
                          <a:srgbClr val="FF0000"/>
                        </a:solidFill>
                        <a:latin typeface="Cambria Math" panose="02040503050406030204" pitchFamily="18" charset="0"/>
                        <a:ea typeface="楷体" panose="02010609060101010101" pitchFamily="49" charset="-122"/>
                      </a:rPr>
                      <m:t>𝒔</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oMath>
                </a14:m>
                <a:r>
                  <a:rPr kumimoji="1" lang="zh-CN" altLang="en-US" sz="2200" dirty="0">
                    <a:latin typeface="楷体" panose="02010609060101010101" pitchFamily="49" charset="-122"/>
                    <a:ea typeface="楷体" panose="02010609060101010101" pitchFamily="49" charset="-122"/>
                  </a:rPr>
                  <a:t>：能确定地表示决策过程当前特征的量。可以是数量、字符，数量状态可以连续、离散。</a:t>
                </a:r>
                <a:endParaRPr kumimoji="1" lang="zh-CN" altLang="en-US" sz="22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200" dirty="0">
                    <a:latin typeface="楷体" panose="02010609060101010101" pitchFamily="49" charset="-122"/>
                    <a:ea typeface="楷体" panose="02010609060101010101" pitchFamily="49" charset="-122"/>
                  </a:rPr>
                  <a:t>    </a:t>
                </a:r>
                <a:r>
                  <a:rPr kumimoji="1" lang="en-US" altLang="zh-CN" sz="2200" dirty="0">
                    <a:latin typeface="楷体" panose="02010609060101010101" pitchFamily="49" charset="-122"/>
                    <a:ea typeface="楷体" panose="02010609060101010101" pitchFamily="49" charset="-122"/>
                  </a:rPr>
                  <a:t>3</a:t>
                </a:r>
                <a:r>
                  <a:rPr kumimoji="1" lang="zh-CN" altLang="en-US" sz="2200" dirty="0">
                    <a:latin typeface="楷体" panose="02010609060101010101" pitchFamily="49" charset="-122"/>
                    <a:ea typeface="楷体" panose="02010609060101010101" pitchFamily="49" charset="-122"/>
                  </a:rPr>
                  <a:t>、</a:t>
                </a:r>
                <a:r>
                  <a:rPr kumimoji="1" lang="zh-CN" altLang="en-US" sz="2200" b="1" dirty="0">
                    <a:solidFill>
                      <a:srgbClr val="FF0000"/>
                    </a:solidFill>
                    <a:latin typeface="楷体" panose="02010609060101010101" pitchFamily="49" charset="-122"/>
                    <a:ea typeface="楷体" panose="02010609060101010101" pitchFamily="49" charset="-122"/>
                  </a:rPr>
                  <a:t>决策</a:t>
                </a:r>
                <a14:m>
                  <m:oMath xmlns:m="http://schemas.openxmlformats.org/officeDocument/2006/math">
                    <m:r>
                      <a:rPr kumimoji="1" lang="en-US" altLang="zh-CN" sz="2400" b="1" i="1" dirty="0" smtClean="0">
                        <a:solidFill>
                          <a:srgbClr val="FF0000"/>
                        </a:solidFill>
                        <a:latin typeface="Cambria Math" panose="02040503050406030204" pitchFamily="18" charset="0"/>
                        <a:ea typeface="楷体" panose="02010609060101010101" pitchFamily="49" charset="-122"/>
                      </a:rPr>
                      <m:t>𝒙</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oMath>
                </a14:m>
                <a:r>
                  <a:rPr kumimoji="1" lang="zh-CN" altLang="en-US" sz="2200" dirty="0">
                    <a:latin typeface="楷体" panose="02010609060101010101" pitchFamily="49" charset="-122"/>
                    <a:ea typeface="楷体" panose="02010609060101010101" pitchFamily="49" charset="-122"/>
                  </a:rPr>
                  <a:t>：从某一状态向下一状态过渡时所做的选择。是所在状态的函数，记为</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err="1">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oMath>
                </a14:m>
                <a:r>
                  <a:rPr kumimoji="1" lang="zh-CN" altLang="en-US" sz="2200" dirty="0">
                    <a:latin typeface="楷体" panose="02010609060101010101" pitchFamily="49" charset="-122"/>
                    <a:ea typeface="楷体" panose="02010609060101010101" pitchFamily="49" charset="-122"/>
                  </a:rPr>
                  <a:t>。</a:t>
                </a:r>
                <a:endParaRPr kumimoji="1" lang="zh-CN" altLang="en-US" sz="22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200" dirty="0">
                    <a:latin typeface="楷体" panose="02010609060101010101" pitchFamily="49" charset="-122"/>
                    <a:ea typeface="楷体" panose="02010609060101010101" pitchFamily="49" charset="-122"/>
                  </a:rPr>
                  <a:t>    </a:t>
                </a:r>
                <a:r>
                  <a:rPr kumimoji="1" lang="en-US" altLang="zh-CN" sz="2200" dirty="0">
                    <a:latin typeface="楷体" panose="02010609060101010101" pitchFamily="49" charset="-122"/>
                    <a:ea typeface="楷体" panose="02010609060101010101" pitchFamily="49" charset="-122"/>
                  </a:rPr>
                  <a:t>4</a:t>
                </a:r>
                <a:r>
                  <a:rPr kumimoji="1" lang="zh-CN" altLang="en-US" sz="2200" dirty="0">
                    <a:latin typeface="楷体" panose="02010609060101010101" pitchFamily="49" charset="-122"/>
                    <a:ea typeface="楷体" panose="02010609060101010101" pitchFamily="49" charset="-122"/>
                  </a:rPr>
                  <a:t>、</a:t>
                </a:r>
                <a:r>
                  <a:rPr kumimoji="1" lang="zh-CN" altLang="en-US" sz="2200" b="1" dirty="0">
                    <a:solidFill>
                      <a:srgbClr val="FF0000"/>
                    </a:solidFill>
                    <a:latin typeface="楷体" panose="02010609060101010101" pitchFamily="49" charset="-122"/>
                    <a:ea typeface="楷体" panose="02010609060101010101" pitchFamily="49" charset="-122"/>
                  </a:rPr>
                  <a:t>决策允许集合</a:t>
                </a:r>
                <a14:m>
                  <m:oMath xmlns:m="http://schemas.openxmlformats.org/officeDocument/2006/math">
                    <m:r>
                      <a:rPr kumimoji="1" lang="en-US" altLang="zh-CN" sz="2400" b="1" i="1" dirty="0" smtClean="0">
                        <a:solidFill>
                          <a:srgbClr val="FF0000"/>
                        </a:solidFill>
                        <a:latin typeface="Cambria Math" panose="02040503050406030204" pitchFamily="18" charset="0"/>
                        <a:ea typeface="楷体" panose="02010609060101010101" pitchFamily="49" charset="-122"/>
                      </a:rPr>
                      <m:t>𝑫</m:t>
                    </m:r>
                    <m:r>
                      <a:rPr kumimoji="1" lang="en-US" altLang="zh-CN" sz="2400" b="1" i="1" baseline="-25000" dirty="0">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m:t>
                    </m:r>
                    <m:r>
                      <a:rPr kumimoji="1" lang="en-US" altLang="zh-CN" sz="2400" b="1" i="1" dirty="0" err="1">
                        <a:solidFill>
                          <a:srgbClr val="FF0000"/>
                        </a:solidFill>
                        <a:latin typeface="Cambria Math" panose="02040503050406030204" pitchFamily="18" charset="0"/>
                        <a:ea typeface="楷体" panose="02010609060101010101" pitchFamily="49" charset="-122"/>
                      </a:rPr>
                      <m:t>𝒔</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m:t>
                    </m:r>
                  </m:oMath>
                </a14:m>
                <a:r>
                  <a:rPr kumimoji="1" lang="zh-CN" altLang="en-US" sz="2200" dirty="0">
                    <a:latin typeface="楷体" panose="02010609060101010101" pitchFamily="49" charset="-122"/>
                    <a:ea typeface="楷体" panose="02010609060101010101" pitchFamily="49" charset="-122"/>
                  </a:rPr>
                  <a:t>：在状态</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oMath>
                </a14:m>
                <a:r>
                  <a:rPr kumimoji="1" lang="zh-CN" altLang="en-US" sz="2200" dirty="0">
                    <a:latin typeface="楷体" panose="02010609060101010101" pitchFamily="49" charset="-122"/>
                    <a:ea typeface="楷体" panose="02010609060101010101" pitchFamily="49" charset="-122"/>
                  </a:rPr>
                  <a:t>下，允许采取决策的全体。</a:t>
                </a:r>
                <a:endParaRPr kumimoji="1" lang="zh-CN" altLang="en-US" sz="22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200" dirty="0">
                    <a:latin typeface="楷体" panose="02010609060101010101" pitchFamily="49" charset="-122"/>
                    <a:ea typeface="楷体" panose="02010609060101010101" pitchFamily="49" charset="-122"/>
                  </a:rPr>
                  <a:t>    </a:t>
                </a:r>
                <a:r>
                  <a:rPr kumimoji="1" lang="en-US" altLang="zh-CN" sz="2200" dirty="0">
                    <a:latin typeface="楷体" panose="02010609060101010101" pitchFamily="49" charset="-122"/>
                    <a:ea typeface="楷体" panose="02010609060101010101" pitchFamily="49" charset="-122"/>
                  </a:rPr>
                  <a:t>5</a:t>
                </a:r>
                <a:r>
                  <a:rPr kumimoji="1" lang="zh-CN" altLang="en-US" sz="2200" dirty="0">
                    <a:latin typeface="楷体" panose="02010609060101010101" pitchFamily="49" charset="-122"/>
                    <a:ea typeface="楷体" panose="02010609060101010101" pitchFamily="49" charset="-122"/>
                  </a:rPr>
                  <a:t>、</a:t>
                </a:r>
                <a:r>
                  <a:rPr kumimoji="1" lang="zh-CN" altLang="en-US" sz="2200" b="1" dirty="0">
                    <a:solidFill>
                      <a:srgbClr val="FF0000"/>
                    </a:solidFill>
                    <a:latin typeface="楷体" panose="02010609060101010101" pitchFamily="49" charset="-122"/>
                    <a:ea typeface="楷体" panose="02010609060101010101" pitchFamily="49" charset="-122"/>
                  </a:rPr>
                  <a:t>策略</a:t>
                </a:r>
                <a14:m>
                  <m:oMath xmlns:m="http://schemas.openxmlformats.org/officeDocument/2006/math">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rPr>
                        </m:ctrlPr>
                      </m:sSubPr>
                      <m:e>
                        <m:r>
                          <a:rPr kumimoji="1" lang="en-US" altLang="zh-CN" sz="2400" b="1" i="1" dirty="0" smtClean="0">
                            <a:solidFill>
                              <a:srgbClr val="FF0000"/>
                            </a:solidFill>
                            <a:latin typeface="Cambria Math" panose="02040503050406030204" pitchFamily="18" charset="0"/>
                            <a:ea typeface="楷体" panose="02010609060101010101" pitchFamily="49" charset="-122"/>
                          </a:rPr>
                          <m:t>𝑷</m:t>
                        </m:r>
                      </m:e>
                      <m:sub>
                        <m:r>
                          <a:rPr kumimoji="1" lang="en-US" altLang="zh-CN" sz="2400" b="1" i="1" dirty="0" smtClean="0">
                            <a:solidFill>
                              <a:srgbClr val="FF0000"/>
                            </a:solidFill>
                            <a:latin typeface="Cambria Math" panose="02040503050406030204" pitchFamily="18" charset="0"/>
                            <a:ea typeface="楷体" panose="02010609060101010101" pitchFamily="49" charset="-122"/>
                          </a:rPr>
                          <m:t>𝒌</m:t>
                        </m:r>
                        <m:r>
                          <a:rPr kumimoji="1" lang="en-US" altLang="zh-CN" sz="2400" b="1" i="1" dirty="0" smtClean="0">
                            <a:solidFill>
                              <a:srgbClr val="FF0000"/>
                            </a:solidFill>
                            <a:latin typeface="Cambria Math" panose="02040503050406030204" pitchFamily="18" charset="0"/>
                            <a:ea typeface="楷体" panose="02010609060101010101" pitchFamily="49" charset="-122"/>
                          </a:rPr>
                          <m:t>,</m:t>
                        </m:r>
                        <m:r>
                          <a:rPr kumimoji="1" lang="en-US" altLang="zh-CN" sz="2400" b="1" i="1" dirty="0" smtClean="0">
                            <a:solidFill>
                              <a:srgbClr val="FF0000"/>
                            </a:solidFill>
                            <a:latin typeface="Cambria Math" panose="02040503050406030204" pitchFamily="18" charset="0"/>
                            <a:ea typeface="楷体" panose="02010609060101010101" pitchFamily="49" charset="-122"/>
                          </a:rPr>
                          <m:t>𝒏</m:t>
                        </m:r>
                      </m:sub>
                    </m:sSub>
                    <m:r>
                      <a:rPr kumimoji="1" lang="en-US" altLang="zh-CN" sz="2400" b="1" i="1" dirty="0">
                        <a:solidFill>
                          <a:srgbClr val="FF0000"/>
                        </a:solidFill>
                        <a:latin typeface="Cambria Math" panose="02040503050406030204" pitchFamily="18" charset="0"/>
                        <a:ea typeface="楷体" panose="02010609060101010101" pitchFamily="49" charset="-122"/>
                      </a:rPr>
                      <m:t>(</m:t>
                    </m:r>
                    <m:r>
                      <a:rPr kumimoji="1" lang="en-US" altLang="zh-CN" sz="2400" b="1" i="1" dirty="0" err="1">
                        <a:solidFill>
                          <a:srgbClr val="FF0000"/>
                        </a:solidFill>
                        <a:latin typeface="Cambria Math" panose="02040503050406030204" pitchFamily="18" charset="0"/>
                        <a:ea typeface="楷体" panose="02010609060101010101" pitchFamily="49" charset="-122"/>
                      </a:rPr>
                      <m:t>𝒔</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m:t>
                    </m:r>
                  </m:oMath>
                </a14:m>
                <a:r>
                  <a:rPr kumimoji="1" lang="zh-CN" altLang="en-US" sz="2200" dirty="0">
                    <a:latin typeface="楷体" panose="02010609060101010101" pitchFamily="49" charset="-122"/>
                    <a:ea typeface="楷体" panose="02010609060101010101" pitchFamily="49" charset="-122"/>
                  </a:rPr>
                  <a:t>：从第</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𝑘</m:t>
                    </m:r>
                  </m:oMath>
                </a14:m>
                <a:r>
                  <a:rPr kumimoji="1" lang="zh-CN" altLang="en-US" sz="2200" dirty="0">
                    <a:latin typeface="楷体" panose="02010609060101010101" pitchFamily="49" charset="-122"/>
                    <a:ea typeface="楷体" panose="02010609060101010101" pitchFamily="49" charset="-122"/>
                  </a:rPr>
                  <a:t>阶段开始到最后第</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𝑛</m:t>
                    </m:r>
                  </m:oMath>
                </a14:m>
                <a:r>
                  <a:rPr kumimoji="1" lang="zh-CN" altLang="en-US" sz="2200" dirty="0">
                    <a:latin typeface="楷体" panose="02010609060101010101" pitchFamily="49" charset="-122"/>
                    <a:ea typeface="楷体" panose="02010609060101010101" pitchFamily="49" charset="-122"/>
                  </a:rPr>
                  <a:t>阶段的决策序列，称</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𝑘</m:t>
                    </m:r>
                  </m:oMath>
                </a14:m>
                <a:r>
                  <a:rPr kumimoji="1" lang="zh-CN" altLang="en-US" sz="2200" dirty="0">
                    <a:latin typeface="楷体" panose="02010609060101010101" pitchFamily="49" charset="-122"/>
                    <a:ea typeface="楷体" panose="02010609060101010101" pitchFamily="49" charset="-122"/>
                  </a:rPr>
                  <a:t>子策略。</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i="1" dirty="0" smtClean="0">
                            <a:latin typeface="Cambria Math" panose="02040503050406030204" pitchFamily="18" charset="0"/>
                            <a:ea typeface="楷体" panose="02010609060101010101" pitchFamily="49" charset="-122"/>
                          </a:rPr>
                          <m:t>𝑃</m:t>
                        </m:r>
                      </m:e>
                      <m:sub>
                        <m:r>
                          <a:rPr kumimoji="1" lang="en-US" altLang="zh-CN" sz="2400" b="0" i="1" dirty="0" smtClean="0">
                            <a:latin typeface="Cambria Math" panose="02040503050406030204" pitchFamily="18" charset="0"/>
                            <a:ea typeface="楷体" panose="02010609060101010101" pitchFamily="49" charset="-122"/>
                          </a:rPr>
                          <m:t>1</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𝑛</m:t>
                        </m:r>
                      </m:sub>
                    </m:sSub>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𝑠</m:t>
                    </m:r>
                    <m:r>
                      <a:rPr kumimoji="1" lang="en-US" altLang="zh-CN" sz="2400" i="1" baseline="-25000" dirty="0">
                        <a:latin typeface="Cambria Math" panose="02040503050406030204" pitchFamily="18" charset="0"/>
                        <a:ea typeface="楷体" panose="02010609060101010101" pitchFamily="49" charset="-122"/>
                      </a:rPr>
                      <m:t>1</m:t>
                    </m:r>
                    <m:r>
                      <a:rPr kumimoji="1" lang="en-US" altLang="zh-CN" sz="2400" i="1" dirty="0">
                        <a:latin typeface="Cambria Math" panose="02040503050406030204" pitchFamily="18" charset="0"/>
                        <a:ea typeface="楷体" panose="02010609060101010101" pitchFamily="49" charset="-122"/>
                      </a:rPr>
                      <m:t>)</m:t>
                    </m:r>
                  </m:oMath>
                </a14:m>
                <a:r>
                  <a:rPr kumimoji="1" lang="zh-CN" altLang="en-US" sz="2200" dirty="0">
                    <a:latin typeface="楷体" panose="02010609060101010101" pitchFamily="49" charset="-122"/>
                    <a:ea typeface="楷体" panose="02010609060101010101" pitchFamily="49" charset="-122"/>
                  </a:rPr>
                  <a:t>即为全过程策略。</a:t>
                </a:r>
                <a:endParaRPr kumimoji="1" lang="zh-CN" altLang="en-US" sz="2200" dirty="0">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endParaRPr kumimoji="1" lang="en-US" altLang="zh-CN" sz="2200" dirty="0">
                  <a:latin typeface="楷体" panose="02010609060101010101" pitchFamily="49" charset="-122"/>
                  <a:ea typeface="楷体" panose="02010609060101010101" pitchFamily="49" charset="-122"/>
                </a:endParaRPr>
              </a:p>
            </p:txBody>
          </p:sp>
        </mc:Choice>
        <mc:Fallback>
          <p:sp>
            <p:nvSpPr>
              <p:cNvPr id="86019" name="Rectangle 3"/>
              <p:cNvSpPr>
                <a:spLocks noRot="1" noChangeAspect="1" noMove="1" noResize="1" noEditPoints="1" noAdjustHandles="1" noChangeArrowheads="1" noChangeShapeType="1" noTextEdit="1"/>
              </p:cNvSpPr>
              <p:nvPr/>
            </p:nvSpPr>
            <p:spPr bwMode="auto">
              <a:xfrm>
                <a:off x="1524000" y="838200"/>
                <a:ext cx="8786813" cy="6019800"/>
              </a:xfrm>
              <a:prstGeom prst="rect">
                <a:avLst/>
              </a:prstGeom>
              <a:blipFill rotWithShape="1">
                <a:blip r:embed="rId1"/>
                <a:stretch>
                  <a:fillRect r="-18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7043" name="Rectangle 3"/>
              <p:cNvSpPr>
                <a:spLocks noChangeArrowheads="1"/>
              </p:cNvSpPr>
              <p:nvPr/>
            </p:nvSpPr>
            <p:spPr bwMode="auto">
              <a:xfrm>
                <a:off x="1524000" y="1071563"/>
                <a:ext cx="8786813" cy="548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719455" algn="just">
                  <a:lnSpc>
                    <a:spcPct val="150000"/>
                  </a:lnSpc>
                  <a:spcBef>
                    <a:spcPts val="300"/>
                  </a:spcBef>
                  <a:spcAft>
                    <a:spcPts val="300"/>
                  </a:spcAft>
                </a:pPr>
                <a:r>
                  <a:rPr kumimoji="1" lang="en-US" altLang="zh-CN" sz="2400" dirty="0">
                    <a:ea typeface="楷体" panose="02010609060101010101" pitchFamily="49" charset="-122"/>
                  </a:rPr>
                  <a:t>6</a:t>
                </a:r>
                <a:r>
                  <a:rPr kumimoji="1" lang="zh-CN" altLang="en-US" sz="2400" dirty="0">
                    <a:ea typeface="楷体" panose="02010609060101010101" pitchFamily="49" charset="-122"/>
                  </a:rPr>
                  <a:t>、</a:t>
                </a:r>
                <a:r>
                  <a:rPr kumimoji="1" lang="zh-CN" altLang="en-US" sz="2400" b="1" dirty="0">
                    <a:solidFill>
                      <a:srgbClr val="FF0000"/>
                    </a:solidFill>
                    <a:ea typeface="楷体" panose="02010609060101010101" pitchFamily="49" charset="-122"/>
                  </a:rPr>
                  <a:t>状态转移方程</a:t>
                </a:r>
                <a14:m>
                  <m:oMath xmlns:m="http://schemas.openxmlformats.org/officeDocument/2006/math">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𝒔</m:t>
                        </m:r>
                      </m:e>
                      <m:sub>
                        <m: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m:t>
                        </m:r>
                        <m: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𝟏</m:t>
                        </m:r>
                      </m:sub>
                    </m:sSub>
                    <m:r>
                      <a:rPr kumimoji="1" lang="en-US" altLang="zh-CN" sz="24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4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𝑻</m:t>
                        </m:r>
                      </m:e>
                      <m:sub>
                        <m:r>
                          <a:rPr kumimoji="1" lang="en-US" altLang="zh-CN" sz="24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𝒌</m:t>
                        </m:r>
                      </m:sub>
                    </m:sSub>
                    <m:r>
                      <a:rPr kumimoji="1" lang="en-US" altLang="zh-CN" sz="24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m:t>
                    </m:r>
                    <m:r>
                      <a:rPr kumimoji="1" lang="en-US" altLang="zh-CN" sz="2400" b="1" i="1"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𝒔</m:t>
                    </m:r>
                    <m:r>
                      <a:rPr kumimoji="1" lang="en-US" altLang="zh-CN" sz="2400" b="1" i="1" baseline="-25000"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4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 </m:t>
                    </m:r>
                    <m:r>
                      <a:rPr kumimoji="1" lang="en-US" altLang="zh-CN" sz="2400" b="1" i="1"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𝒙</m:t>
                    </m:r>
                    <m:r>
                      <a:rPr kumimoji="1" lang="en-US" altLang="zh-CN" sz="2400" b="1" i="1" baseline="-25000"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4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m:t>
                    </m:r>
                  </m:oMath>
                </a14:m>
                <a:r>
                  <a:rPr kumimoji="1" lang="zh-CN" altLang="en-US" sz="2400" dirty="0">
                    <a:ea typeface="楷体" panose="02010609060101010101" pitchFamily="49" charset="-122"/>
                  </a:rPr>
                  <a:t>：某一状态及该状态下的决策，与下一状态之间的函数关系。</a:t>
                </a:r>
                <a:endParaRPr kumimoji="1" lang="en-US" altLang="zh-CN" sz="2400" dirty="0">
                  <a:ea typeface="楷体" panose="02010609060101010101" pitchFamily="49" charset="-122"/>
                </a:endParaRPr>
              </a:p>
              <a:p>
                <a:pPr marL="342900" indent="719455" algn="just">
                  <a:lnSpc>
                    <a:spcPct val="150000"/>
                  </a:lnSpc>
                  <a:spcBef>
                    <a:spcPts val="300"/>
                  </a:spcBef>
                  <a:spcAft>
                    <a:spcPts val="300"/>
                  </a:spcAft>
                </a:pPr>
                <a:r>
                  <a:rPr kumimoji="1" lang="en-US" altLang="zh-CN" sz="2400" dirty="0">
                    <a:ea typeface="楷体" panose="02010609060101010101" pitchFamily="49" charset="-122"/>
                  </a:rPr>
                  <a:t>7</a:t>
                </a:r>
                <a:r>
                  <a:rPr kumimoji="1" lang="zh-CN" altLang="en-US" sz="2400" dirty="0">
                    <a:ea typeface="楷体" panose="02010609060101010101" pitchFamily="49" charset="-122"/>
                  </a:rPr>
                  <a:t>、</a:t>
                </a:r>
                <a:r>
                  <a:rPr kumimoji="1" lang="zh-CN" altLang="en-US" sz="2400" b="1" dirty="0">
                    <a:solidFill>
                      <a:srgbClr val="FF0000"/>
                    </a:solidFill>
                    <a:ea typeface="楷体" panose="02010609060101010101" pitchFamily="49" charset="-122"/>
                  </a:rPr>
                  <a:t>阶段指标函数</a:t>
                </a:r>
                <a14:m>
                  <m:oMath xmlns:m="http://schemas.openxmlformats.org/officeDocument/2006/math">
                    <m:r>
                      <a:rPr kumimoji="1" lang="en-US" altLang="zh-CN" sz="2400" b="1" i="1" dirty="0" smtClean="0">
                        <a:solidFill>
                          <a:srgbClr val="FF0000"/>
                        </a:solidFill>
                        <a:latin typeface="Cambria Math" panose="02040503050406030204" pitchFamily="18" charset="0"/>
                        <a:ea typeface="楷体" panose="02010609060101010101" pitchFamily="49" charset="-122"/>
                      </a:rPr>
                      <m:t>𝒗</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m:t>
                    </m:r>
                    <m:r>
                      <a:rPr kumimoji="1" lang="en-US" altLang="zh-CN" sz="2400" b="1" i="1" dirty="0" err="1">
                        <a:solidFill>
                          <a:srgbClr val="FF0000"/>
                        </a:solidFill>
                        <a:latin typeface="Cambria Math" panose="02040503050406030204" pitchFamily="18" charset="0"/>
                        <a:ea typeface="楷体" panose="02010609060101010101" pitchFamily="49" charset="-122"/>
                      </a:rPr>
                      <m:t>𝒔</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 </m:t>
                    </m:r>
                    <m:r>
                      <a:rPr kumimoji="1" lang="en-US" altLang="zh-CN" sz="2400" b="1" i="1" dirty="0" err="1">
                        <a:solidFill>
                          <a:srgbClr val="FF0000"/>
                        </a:solidFill>
                        <a:latin typeface="Cambria Math" panose="02040503050406030204" pitchFamily="18" charset="0"/>
                        <a:ea typeface="楷体" panose="02010609060101010101" pitchFamily="49" charset="-122"/>
                      </a:rPr>
                      <m:t>𝒙</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：从状态</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出发，选择决策</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所产生的第</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阶段指标。</a:t>
                </a:r>
                <a:endParaRPr kumimoji="1" lang="zh-CN" altLang="en-US" sz="2400" dirty="0">
                  <a:ea typeface="楷体" panose="02010609060101010101" pitchFamily="49" charset="-122"/>
                </a:endParaRPr>
              </a:p>
              <a:p>
                <a:pPr marL="342900" indent="719455" algn="just">
                  <a:lnSpc>
                    <a:spcPct val="150000"/>
                  </a:lnSpc>
                  <a:spcBef>
                    <a:spcPts val="300"/>
                  </a:spcBef>
                  <a:spcAft>
                    <a:spcPts val="300"/>
                  </a:spcAft>
                </a:pPr>
                <a:r>
                  <a:rPr kumimoji="1" lang="en-US" altLang="zh-CN" sz="2400" dirty="0">
                    <a:ea typeface="楷体" panose="02010609060101010101" pitchFamily="49" charset="-122"/>
                  </a:rPr>
                  <a:t>8</a:t>
                </a:r>
                <a:r>
                  <a:rPr kumimoji="1" lang="zh-CN" altLang="en-US" sz="2400" dirty="0">
                    <a:ea typeface="楷体" panose="02010609060101010101" pitchFamily="49" charset="-122"/>
                  </a:rPr>
                  <a:t>、</a:t>
                </a:r>
                <a:r>
                  <a:rPr kumimoji="1" lang="zh-CN" altLang="en-US" sz="2400" b="1" dirty="0">
                    <a:solidFill>
                      <a:srgbClr val="FF0000"/>
                    </a:solidFill>
                    <a:ea typeface="楷体" panose="02010609060101010101" pitchFamily="49" charset="-122"/>
                  </a:rPr>
                  <a:t>过程指标函数</a:t>
                </a:r>
                <a14:m>
                  <m:oMath xmlns:m="http://schemas.openxmlformats.org/officeDocument/2006/math">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rPr>
                        </m:ctrlPr>
                      </m:sSubPr>
                      <m:e>
                        <m:r>
                          <a:rPr kumimoji="1" lang="en-US" altLang="zh-CN" sz="2400" b="1" i="1" dirty="0" smtClean="0">
                            <a:solidFill>
                              <a:srgbClr val="FF0000"/>
                            </a:solidFill>
                            <a:latin typeface="Cambria Math" panose="02040503050406030204" pitchFamily="18" charset="0"/>
                            <a:ea typeface="楷体" panose="02010609060101010101" pitchFamily="49" charset="-122"/>
                          </a:rPr>
                          <m:t>𝑽</m:t>
                        </m:r>
                      </m:e>
                      <m:sub>
                        <m:r>
                          <a:rPr kumimoji="1" lang="en-US" altLang="zh-CN" sz="2400" b="1" i="1" dirty="0" smtClean="0">
                            <a:solidFill>
                              <a:srgbClr val="FF0000"/>
                            </a:solidFill>
                            <a:latin typeface="Cambria Math" panose="02040503050406030204" pitchFamily="18" charset="0"/>
                            <a:ea typeface="楷体" panose="02010609060101010101" pitchFamily="49" charset="-122"/>
                          </a:rPr>
                          <m:t>𝒌</m:t>
                        </m:r>
                        <m:r>
                          <a:rPr kumimoji="1" lang="en-US" altLang="zh-CN" sz="2400" b="1" i="1" dirty="0" smtClean="0">
                            <a:solidFill>
                              <a:srgbClr val="FF0000"/>
                            </a:solidFill>
                            <a:latin typeface="Cambria Math" panose="02040503050406030204" pitchFamily="18" charset="0"/>
                            <a:ea typeface="楷体" panose="02010609060101010101" pitchFamily="49" charset="-122"/>
                          </a:rPr>
                          <m:t>,</m:t>
                        </m:r>
                        <m:r>
                          <a:rPr kumimoji="1" lang="en-US" altLang="zh-CN" sz="2400" b="1" i="1" dirty="0" smtClean="0">
                            <a:solidFill>
                              <a:srgbClr val="FF0000"/>
                            </a:solidFill>
                            <a:latin typeface="Cambria Math" panose="02040503050406030204" pitchFamily="18" charset="0"/>
                            <a:ea typeface="楷体" panose="02010609060101010101" pitchFamily="49" charset="-122"/>
                          </a:rPr>
                          <m:t>𝒏</m:t>
                        </m:r>
                      </m:sub>
                    </m:sSub>
                    <m:r>
                      <a:rPr kumimoji="1" lang="en-US" altLang="zh-CN" sz="2400" b="1" i="1" dirty="0">
                        <a:solidFill>
                          <a:srgbClr val="FF0000"/>
                        </a:solidFill>
                        <a:latin typeface="Cambria Math" panose="02040503050406030204" pitchFamily="18" charset="0"/>
                        <a:ea typeface="楷体" panose="02010609060101010101" pitchFamily="49" charset="-122"/>
                      </a:rPr>
                      <m:t>(</m:t>
                    </m:r>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rPr>
                        </m:ctrlPr>
                      </m:sSubPr>
                      <m:e>
                        <m:r>
                          <a:rPr kumimoji="1" lang="en-US" altLang="zh-CN" sz="2400" b="1" i="1" dirty="0" err="1">
                            <a:solidFill>
                              <a:srgbClr val="FF0000"/>
                            </a:solidFill>
                            <a:latin typeface="Cambria Math" panose="02040503050406030204" pitchFamily="18" charset="0"/>
                            <a:ea typeface="楷体" panose="02010609060101010101" pitchFamily="49" charset="-122"/>
                          </a:rPr>
                          <m:t>𝒔</m:t>
                        </m:r>
                      </m:e>
                      <m:sub>
                        <m:r>
                          <a:rPr kumimoji="1" lang="en-US" altLang="zh-CN" sz="2400" b="1" i="1" dirty="0" smtClean="0">
                            <a:solidFill>
                              <a:srgbClr val="FF0000"/>
                            </a:solidFill>
                            <a:latin typeface="Cambria Math" panose="02040503050406030204" pitchFamily="18" charset="0"/>
                            <a:ea typeface="楷体" panose="02010609060101010101" pitchFamily="49" charset="-122"/>
                          </a:rPr>
                          <m:t>𝒌</m:t>
                        </m:r>
                      </m:sub>
                    </m:sSub>
                    <m:r>
                      <a:rPr kumimoji="1" lang="en-US" altLang="zh-CN" sz="2400" b="1" i="1" dirty="0" smtClean="0">
                        <a:solidFill>
                          <a:srgbClr val="FF0000"/>
                        </a:solidFill>
                        <a:latin typeface="Cambria Math" panose="02040503050406030204" pitchFamily="18" charset="0"/>
                        <a:ea typeface="楷体" panose="02010609060101010101" pitchFamily="49" charset="-122"/>
                      </a:rPr>
                      <m:t>,</m:t>
                    </m:r>
                    <m:r>
                      <a:rPr kumimoji="1" lang="en-US" altLang="zh-CN" sz="2400" b="1" i="1" dirty="0" err="1">
                        <a:solidFill>
                          <a:srgbClr val="FF0000"/>
                        </a:solidFill>
                        <a:latin typeface="Cambria Math" panose="02040503050406030204" pitchFamily="18" charset="0"/>
                        <a:ea typeface="楷体" panose="02010609060101010101" pitchFamily="49" charset="-122"/>
                      </a:rPr>
                      <m:t>𝒙</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𝒌</m:t>
                    </m:r>
                    <m:r>
                      <a:rPr kumimoji="1" lang="en-US" altLang="zh-CN" sz="2400" b="1" i="1" dirty="0">
                        <a:solidFill>
                          <a:srgbClr val="FF0000"/>
                        </a:solidFill>
                        <a:latin typeface="Cambria Math" panose="02040503050406030204" pitchFamily="18" charset="0"/>
                        <a:ea typeface="楷体" panose="02010609060101010101" pitchFamily="49" charset="-122"/>
                      </a:rPr>
                      <m:t>, </m:t>
                    </m:r>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rPr>
                        </m:ctrlPr>
                      </m:sSubPr>
                      <m:e>
                        <m:r>
                          <a:rPr kumimoji="1" lang="en-US" altLang="zh-CN" sz="2400" b="1" i="1" dirty="0">
                            <a:solidFill>
                              <a:srgbClr val="FF0000"/>
                            </a:solidFill>
                            <a:latin typeface="Cambria Math" panose="02040503050406030204" pitchFamily="18" charset="0"/>
                            <a:ea typeface="楷体" panose="02010609060101010101" pitchFamily="49" charset="-122"/>
                          </a:rPr>
                          <m:t>𝒙</m:t>
                        </m:r>
                      </m:e>
                      <m:sub>
                        <m:r>
                          <a:rPr kumimoji="1" lang="en-US" altLang="zh-CN" sz="2400" b="1" i="1" dirty="0" smtClean="0">
                            <a:solidFill>
                              <a:srgbClr val="FF0000"/>
                            </a:solidFill>
                            <a:latin typeface="Cambria Math" panose="02040503050406030204" pitchFamily="18" charset="0"/>
                            <a:ea typeface="楷体" panose="02010609060101010101" pitchFamily="49" charset="-122"/>
                          </a:rPr>
                          <m:t>𝒌</m:t>
                        </m:r>
                        <m:r>
                          <a:rPr kumimoji="1" lang="en-US" altLang="zh-CN" sz="2400" b="1" i="1" dirty="0" smtClean="0">
                            <a:solidFill>
                              <a:srgbClr val="FF0000"/>
                            </a:solidFill>
                            <a:latin typeface="Cambria Math" panose="02040503050406030204" pitchFamily="18" charset="0"/>
                            <a:ea typeface="楷体" panose="02010609060101010101" pitchFamily="49" charset="-122"/>
                          </a:rPr>
                          <m:t>+</m:t>
                        </m:r>
                        <m:r>
                          <a:rPr kumimoji="1" lang="en-US" altLang="zh-CN" sz="2400" b="1" i="1" dirty="0" smtClean="0">
                            <a:solidFill>
                              <a:srgbClr val="FF0000"/>
                            </a:solidFill>
                            <a:latin typeface="Cambria Math" panose="02040503050406030204" pitchFamily="18" charset="0"/>
                            <a:ea typeface="楷体" panose="02010609060101010101" pitchFamily="49" charset="-122"/>
                          </a:rPr>
                          <m:t>𝟏</m:t>
                        </m:r>
                      </m:sub>
                    </m:sSub>
                    <m:r>
                      <a:rPr kumimoji="1" lang="en-US" altLang="zh-CN" sz="2400" b="1" i="1" dirty="0">
                        <a:solidFill>
                          <a:srgbClr val="FF0000"/>
                        </a:solidFill>
                        <a:latin typeface="Cambria Math" panose="02040503050406030204" pitchFamily="18" charset="0"/>
                        <a:ea typeface="楷体" panose="02010609060101010101" pitchFamily="49" charset="-122"/>
                      </a:rPr>
                      <m:t>,…, </m:t>
                    </m:r>
                    <m:r>
                      <a:rPr kumimoji="1" lang="en-US" altLang="zh-CN" sz="2400" b="1" i="1" dirty="0" err="1">
                        <a:solidFill>
                          <a:srgbClr val="FF0000"/>
                        </a:solidFill>
                        <a:latin typeface="Cambria Math" panose="02040503050406030204" pitchFamily="18" charset="0"/>
                        <a:ea typeface="楷体" panose="02010609060101010101" pitchFamily="49" charset="-122"/>
                      </a:rPr>
                      <m:t>𝒙</m:t>
                    </m:r>
                    <m:r>
                      <a:rPr kumimoji="1" lang="en-US" altLang="zh-CN" sz="2400" b="1" i="1" baseline="-25000" dirty="0" err="1">
                        <a:solidFill>
                          <a:srgbClr val="FF0000"/>
                        </a:solidFill>
                        <a:latin typeface="Cambria Math" panose="02040503050406030204" pitchFamily="18" charset="0"/>
                        <a:ea typeface="楷体" panose="02010609060101010101" pitchFamily="49" charset="-122"/>
                      </a:rPr>
                      <m:t>𝒏</m:t>
                    </m:r>
                    <m:r>
                      <a:rPr kumimoji="1" lang="en-US" altLang="zh-CN" sz="2400" b="1" i="1" dirty="0">
                        <a:solidFill>
                          <a:srgbClr val="FF0000"/>
                        </a:solidFill>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：从状态</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出发，选择决策</a:t>
                </a:r>
                <a14:m>
                  <m:oMath xmlns:m="http://schemas.openxmlformats.org/officeDocument/2006/math">
                    <m:r>
                      <a:rPr kumimoji="1" lang="en-US" altLang="zh-CN" sz="2400" b="1" i="1" dirty="0" smtClean="0">
                        <a:solidFill>
                          <a:schemeClr val="tx1"/>
                        </a:solidFill>
                        <a:latin typeface="Cambria Math" panose="02040503050406030204" pitchFamily="18" charset="0"/>
                        <a:ea typeface="楷体" panose="02010609060101010101" pitchFamily="49" charset="-122"/>
                      </a:rPr>
                      <m:t>𝒙</m:t>
                    </m:r>
                    <m:r>
                      <a:rPr kumimoji="1" lang="en-US" altLang="zh-CN" sz="24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400" b="1" i="1" dirty="0">
                        <a:solidFill>
                          <a:schemeClr val="tx1"/>
                        </a:solidFill>
                        <a:latin typeface="Cambria Math" panose="02040503050406030204" pitchFamily="18" charset="0"/>
                        <a:ea typeface="楷体" panose="02010609060101010101" pitchFamily="49" charset="-122"/>
                      </a:rPr>
                      <m:t>, </m:t>
                    </m:r>
                    <m:sSub>
                      <m:sSubPr>
                        <m:ctrlPr>
                          <a:rPr kumimoji="1" lang="en-US" altLang="zh-CN" sz="2400" b="1" i="1" dirty="0">
                            <a:solidFill>
                              <a:schemeClr val="tx1"/>
                            </a:solidFill>
                            <a:latin typeface="Cambria Math" panose="02040503050406030204" pitchFamily="18" charset="0"/>
                            <a:ea typeface="楷体" panose="02010609060101010101" pitchFamily="49" charset="-122"/>
                          </a:rPr>
                        </m:ctrlPr>
                      </m:sSubPr>
                      <m:e>
                        <m:r>
                          <a:rPr kumimoji="1" lang="en-US" altLang="zh-CN" sz="2400" b="1" i="1" dirty="0">
                            <a:solidFill>
                              <a:schemeClr val="tx1"/>
                            </a:solidFill>
                            <a:latin typeface="Cambria Math" panose="02040503050406030204" pitchFamily="18" charset="0"/>
                            <a:ea typeface="楷体" panose="02010609060101010101" pitchFamily="49" charset="-122"/>
                          </a:rPr>
                          <m:t>𝒙</m:t>
                        </m:r>
                      </m:e>
                      <m:sub>
                        <m:r>
                          <a:rPr kumimoji="1" lang="en-US" altLang="zh-CN" sz="2400" b="1" i="1" dirty="0">
                            <a:solidFill>
                              <a:schemeClr val="tx1"/>
                            </a:solidFill>
                            <a:latin typeface="Cambria Math" panose="02040503050406030204" pitchFamily="18" charset="0"/>
                            <a:ea typeface="楷体" panose="02010609060101010101" pitchFamily="49" charset="-122"/>
                          </a:rPr>
                          <m:t>𝒌</m:t>
                        </m:r>
                        <m:r>
                          <a:rPr kumimoji="1" lang="en-US" altLang="zh-CN" sz="2400" b="1" i="1" dirty="0">
                            <a:solidFill>
                              <a:schemeClr val="tx1"/>
                            </a:solidFill>
                            <a:latin typeface="Cambria Math" panose="02040503050406030204" pitchFamily="18" charset="0"/>
                            <a:ea typeface="楷体" panose="02010609060101010101" pitchFamily="49" charset="-122"/>
                          </a:rPr>
                          <m:t>+</m:t>
                        </m:r>
                        <m:r>
                          <a:rPr kumimoji="1" lang="en-US" altLang="zh-CN" sz="2400" b="1" i="1" dirty="0">
                            <a:solidFill>
                              <a:schemeClr val="tx1"/>
                            </a:solidFill>
                            <a:latin typeface="Cambria Math" panose="02040503050406030204" pitchFamily="18" charset="0"/>
                            <a:ea typeface="楷体" panose="02010609060101010101" pitchFamily="49" charset="-122"/>
                          </a:rPr>
                          <m:t>𝟏</m:t>
                        </m:r>
                      </m:sub>
                    </m:sSub>
                    <m:r>
                      <a:rPr kumimoji="1" lang="en-US" altLang="zh-CN" sz="2400" b="1" i="1" dirty="0">
                        <a:solidFill>
                          <a:schemeClr val="tx1"/>
                        </a:solidFill>
                        <a:latin typeface="Cambria Math" panose="02040503050406030204" pitchFamily="18" charset="0"/>
                        <a:ea typeface="楷体" panose="02010609060101010101" pitchFamily="49" charset="-122"/>
                      </a:rPr>
                      <m:t>,…, </m:t>
                    </m:r>
                    <m:r>
                      <a:rPr kumimoji="1" lang="en-US" altLang="zh-CN" sz="2400" b="1" i="1" dirty="0" err="1">
                        <a:solidFill>
                          <a:schemeClr val="tx1"/>
                        </a:solidFill>
                        <a:latin typeface="Cambria Math" panose="02040503050406030204" pitchFamily="18" charset="0"/>
                        <a:ea typeface="楷体" panose="02010609060101010101" pitchFamily="49" charset="-122"/>
                      </a:rPr>
                      <m:t>𝒙</m:t>
                    </m:r>
                    <m:r>
                      <a:rPr kumimoji="1" lang="en-US" altLang="zh-CN" sz="2400" b="1" i="1" baseline="-25000" dirty="0" err="1">
                        <a:solidFill>
                          <a:schemeClr val="tx1"/>
                        </a:solidFill>
                        <a:latin typeface="Cambria Math" panose="02040503050406030204" pitchFamily="18" charset="0"/>
                        <a:ea typeface="楷体" panose="02010609060101010101" pitchFamily="49" charset="-122"/>
                      </a:rPr>
                      <m:t>𝒏</m:t>
                    </m:r>
                  </m:oMath>
                </a14:m>
                <a:r>
                  <a:rPr kumimoji="1" lang="zh-CN" altLang="en-US" sz="2400" dirty="0">
                    <a:ea typeface="楷体" panose="02010609060101010101" pitchFamily="49" charset="-122"/>
                  </a:rPr>
                  <a:t>所产生的过程指标。</a:t>
                </a:r>
                <a:r>
                  <a:rPr kumimoji="1" lang="zh-CN" altLang="en-US" sz="2400" dirty="0">
                    <a:solidFill>
                      <a:srgbClr val="FF0000"/>
                    </a:solidFill>
                    <a:ea typeface="楷体" panose="02010609060101010101" pitchFamily="49" charset="-122"/>
                  </a:rPr>
                  <a:t>过程指标具有可分离性</a:t>
                </a:r>
                <a:r>
                  <a:rPr kumimoji="1" lang="zh-CN" altLang="en-US" sz="2400" dirty="0">
                    <a:ea typeface="楷体" panose="02010609060101010101" pitchFamily="49" charset="-122"/>
                  </a:rPr>
                  <a:t>：若</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𝑉</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baseline="-25000" dirty="0" err="1">
                        <a:latin typeface="Cambria Math" panose="02040503050406030204" pitchFamily="18" charset="0"/>
                        <a:ea typeface="楷体" panose="02010609060101010101" pitchFamily="49" charset="-122"/>
                      </a:rPr>
                      <m:t>,</m:t>
                    </m:r>
                    <m:r>
                      <a:rPr kumimoji="1" lang="en-US" altLang="zh-CN" sz="2400" i="1" baseline="-25000" dirty="0" err="1">
                        <a:latin typeface="Cambria Math" panose="02040503050406030204" pitchFamily="18" charset="0"/>
                        <a:ea typeface="楷体" panose="02010609060101010101" pitchFamily="49" charset="-122"/>
                      </a:rPr>
                      <m:t>𝑛</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err="1">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i="1" dirty="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𝑥</m:t>
                        </m:r>
                      </m:e>
                      <m:sub>
                        <m:r>
                          <a:rPr kumimoji="1" lang="en-US" altLang="zh-CN" sz="2400" i="1" dirty="0">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 …,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𝑛</m:t>
                    </m:r>
                    <m:r>
                      <a:rPr kumimoji="1" lang="en-US" altLang="zh-CN" sz="2400" i="1" dirty="0">
                        <a:latin typeface="Cambria Math" panose="02040503050406030204" pitchFamily="18" charset="0"/>
                        <a:ea typeface="楷体" panose="02010609060101010101" pitchFamily="49" charset="-122"/>
                      </a:rPr>
                      <m:t>) = </m:t>
                    </m:r>
                    <m:r>
                      <a:rPr kumimoji="1" lang="en-US" altLang="zh-CN" sz="2400" i="1" dirty="0" err="1">
                        <a:latin typeface="Cambria Math" panose="02040503050406030204" pitchFamily="18" charset="0"/>
                        <a:ea typeface="楷体" panose="02010609060101010101" pitchFamily="49" charset="-122"/>
                      </a:rPr>
                      <m:t>𝑣</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err="1">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b="0" i="1" baseline="-25000" dirty="0" smtClean="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𝑉</m:t>
                        </m:r>
                      </m:e>
                      <m:sub>
                        <m:r>
                          <a:rPr kumimoji="1" lang="en-US" altLang="zh-CN" sz="2400" b="0" i="1" dirty="0" smtClean="0">
                            <a:latin typeface="Cambria Math" panose="02040503050406030204" pitchFamily="18" charset="0"/>
                            <a:ea typeface="楷体" panose="02010609060101010101" pitchFamily="49" charset="-122"/>
                          </a:rPr>
                          <m:t>𝑘</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 …,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𝑛</m:t>
                    </m:r>
                    <m:r>
                      <a:rPr kumimoji="1" lang="en-US" altLang="zh-CN" sz="2400" i="1" dirty="0">
                        <a:latin typeface="Cambria Math" panose="02040503050406030204" pitchFamily="18" charset="0"/>
                        <a:ea typeface="楷体" panose="02010609060101010101" pitchFamily="49" charset="-122"/>
                      </a:rPr>
                      <m:t>)</m:t>
                    </m:r>
                  </m:oMath>
                </a14:m>
                <a:r>
                  <a:rPr kumimoji="1" lang="en-US" altLang="zh-CN" sz="2400" dirty="0">
                    <a:ea typeface="楷体" panose="02010609060101010101" pitchFamily="49" charset="-122"/>
                  </a:rPr>
                  <a:t>,</a:t>
                </a:r>
                <a:r>
                  <a:rPr kumimoji="1" lang="zh-CN" altLang="en-US" sz="2400" dirty="0">
                    <a:ea typeface="楷体" panose="02010609060101010101" pitchFamily="49" charset="-122"/>
                  </a:rPr>
                  <a:t>称指标具有可加性；若</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𝑉</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baseline="-25000" dirty="0" err="1">
                        <a:latin typeface="Cambria Math" panose="02040503050406030204" pitchFamily="18" charset="0"/>
                        <a:ea typeface="楷体" panose="02010609060101010101" pitchFamily="49" charset="-122"/>
                      </a:rPr>
                      <m:t>,</m:t>
                    </m:r>
                    <m:r>
                      <a:rPr kumimoji="1" lang="en-US" altLang="zh-CN" sz="2400" i="1" baseline="-25000" dirty="0" err="1">
                        <a:latin typeface="Cambria Math" panose="02040503050406030204" pitchFamily="18" charset="0"/>
                        <a:ea typeface="楷体" panose="02010609060101010101" pitchFamily="49" charset="-122"/>
                      </a:rPr>
                      <m:t>𝑛</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err="1">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i="1" dirty="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𝑥</m:t>
                        </m:r>
                      </m:e>
                      <m:sub>
                        <m:r>
                          <a:rPr kumimoji="1" lang="en-US" altLang="zh-CN" sz="2400" i="1" dirty="0">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 …,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𝑛</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err="1">
                        <a:latin typeface="Cambria Math" panose="02040503050406030204" pitchFamily="18" charset="0"/>
                        <a:ea typeface="楷体" panose="02010609060101010101" pitchFamily="49" charset="-122"/>
                      </a:rPr>
                      <m:t>𝑣</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err="1">
                        <a:latin typeface="Cambria Math" panose="02040503050406030204" pitchFamily="18" charset="0"/>
                        <a:ea typeface="楷体" panose="02010609060101010101" pitchFamily="49" charset="-122"/>
                      </a:rPr>
                      <m:t>𝑠</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b="0" i="1" baseline="-25000" dirty="0" smtClean="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𝑉</m:t>
                        </m:r>
                      </m:e>
                      <m:sub>
                        <m:r>
                          <a:rPr kumimoji="1" lang="en-US" altLang="zh-CN" sz="2400" b="0" i="1" dirty="0" smtClean="0">
                            <a:latin typeface="Cambria Math" panose="02040503050406030204" pitchFamily="18" charset="0"/>
                            <a:ea typeface="楷体" panose="02010609060101010101" pitchFamily="49" charset="-122"/>
                          </a:rPr>
                          <m:t>𝑘</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m:t>
                    </m:r>
                    <m:sSub>
                      <m:sSubPr>
                        <m:ctrlPr>
                          <a:rPr kumimoji="1" lang="en-US" altLang="zh-CN" sz="2400" i="1" dirty="0">
                            <a:latin typeface="Cambria Math" panose="02040503050406030204" pitchFamily="18" charset="0"/>
                            <a:ea typeface="楷体" panose="02010609060101010101" pitchFamily="49" charset="-122"/>
                          </a:rPr>
                        </m:ctrlPr>
                      </m:sSubPr>
                      <m:e>
                        <m:r>
                          <a:rPr kumimoji="1" lang="en-US" altLang="zh-CN" sz="2400" i="1" dirty="0">
                            <a:latin typeface="Cambria Math" panose="02040503050406030204" pitchFamily="18" charset="0"/>
                            <a:ea typeface="楷体" panose="02010609060101010101" pitchFamily="49" charset="-122"/>
                          </a:rPr>
                          <m:t>𝑥</m:t>
                        </m:r>
                      </m:e>
                      <m:sub>
                        <m:r>
                          <a:rPr kumimoji="1" lang="en-US" altLang="zh-CN" sz="2400" i="1" dirty="0">
                            <a:latin typeface="Cambria Math" panose="02040503050406030204" pitchFamily="18" charset="0"/>
                            <a:ea typeface="楷体" panose="02010609060101010101" pitchFamily="49" charset="-122"/>
                          </a:rPr>
                          <m:t>𝑘</m:t>
                        </m:r>
                        <m:r>
                          <a:rPr kumimoji="1" lang="en-US" altLang="zh-CN" sz="2400" i="1" dirty="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1</m:t>
                        </m:r>
                      </m:sub>
                    </m:sSub>
                    <m:r>
                      <a:rPr kumimoji="1" lang="en-US" altLang="zh-CN" sz="2400" i="1" dirty="0">
                        <a:latin typeface="Cambria Math" panose="02040503050406030204" pitchFamily="18" charset="0"/>
                        <a:ea typeface="楷体" panose="02010609060101010101" pitchFamily="49" charset="-122"/>
                      </a:rPr>
                      <m:t>, …, </m:t>
                    </m:r>
                    <m:r>
                      <a:rPr kumimoji="1" lang="en-US" altLang="zh-CN" sz="2400" i="1" dirty="0" err="1">
                        <a:latin typeface="Cambria Math" panose="02040503050406030204" pitchFamily="18" charset="0"/>
                        <a:ea typeface="楷体" panose="02010609060101010101" pitchFamily="49" charset="-122"/>
                      </a:rPr>
                      <m:t>𝑥</m:t>
                    </m:r>
                    <m:r>
                      <a:rPr kumimoji="1" lang="en-US" altLang="zh-CN" sz="2400" i="1" baseline="-25000" dirty="0" err="1">
                        <a:latin typeface="Cambria Math" panose="02040503050406030204" pitchFamily="18" charset="0"/>
                        <a:ea typeface="楷体" panose="02010609060101010101" pitchFamily="49" charset="-122"/>
                      </a:rPr>
                      <m:t>𝑛</m:t>
                    </m:r>
                    <m:r>
                      <a:rPr kumimoji="1" lang="en-US" altLang="zh-CN" sz="2400" i="1" dirty="0">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，称指标具有可乘性。</a:t>
                </a:r>
                <a:endParaRPr kumimoji="1" lang="zh-CN" altLang="en-US" sz="2400" dirty="0">
                  <a:ea typeface="楷体" panose="02010609060101010101" pitchFamily="49" charset="-122"/>
                </a:endParaRPr>
              </a:p>
            </p:txBody>
          </p:sp>
        </mc:Choice>
        <mc:Fallback>
          <p:sp>
            <p:nvSpPr>
              <p:cNvPr id="87043" name="Rectangle 3"/>
              <p:cNvSpPr>
                <a:spLocks noRot="1" noChangeAspect="1" noMove="1" noResize="1" noEditPoints="1" noAdjustHandles="1" noChangeArrowheads="1" noChangeShapeType="1" noTextEdit="1"/>
              </p:cNvSpPr>
              <p:nvPr/>
            </p:nvSpPr>
            <p:spPr bwMode="auto">
              <a:xfrm>
                <a:off x="1524000" y="1071563"/>
                <a:ext cx="8786813" cy="5482200"/>
              </a:xfrm>
              <a:prstGeom prst="rect">
                <a:avLst/>
              </a:prstGeom>
              <a:blipFill rotWithShape="1">
                <a:blip r:embed="rId1"/>
                <a:stretch>
                  <a:fillRect t="-6" r="-2070" b="-37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78" name="Rectangle 3"/>
              <p:cNvSpPr>
                <a:spLocks noChangeArrowheads="1"/>
              </p:cNvSpPr>
              <p:nvPr/>
            </p:nvSpPr>
            <p:spPr bwMode="auto">
              <a:xfrm>
                <a:off x="1703388" y="785812"/>
                <a:ext cx="8763000" cy="607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algn="just">
                  <a:lnSpc>
                    <a:spcPct val="120000"/>
                  </a:lnSpc>
                  <a:spcBef>
                    <a:spcPts val="300"/>
                  </a:spcBef>
                  <a:spcAft>
                    <a:spcPts val="300"/>
                  </a:spcAft>
                </a:pPr>
                <a:r>
                  <a:rPr kumimoji="1" lang="zh-CN" altLang="en-US" sz="2200" b="1" dirty="0">
                    <a:ea typeface="楷体" panose="02010609060101010101" pitchFamily="49" charset="-122"/>
                  </a:rPr>
                  <a:t>二、基本方程：</a:t>
                </a:r>
                <a:endParaRPr kumimoji="1" lang="zh-CN" altLang="en-US" sz="2200" b="1" dirty="0">
                  <a:ea typeface="楷体" panose="02010609060101010101" pitchFamily="49" charset="-122"/>
                </a:endParaRPr>
              </a:p>
              <a:p>
                <a:pPr marL="342900" algn="just">
                  <a:lnSpc>
                    <a:spcPct val="120000"/>
                  </a:lnSpc>
                  <a:spcBef>
                    <a:spcPts val="300"/>
                  </a:spcBef>
                  <a:spcAft>
                    <a:spcPts val="300"/>
                  </a:spcAft>
                </a:pPr>
                <a:r>
                  <a:rPr kumimoji="1" lang="zh-CN" altLang="en-US" sz="2200" b="1" dirty="0">
                    <a:solidFill>
                      <a:srgbClr val="FF0000"/>
                    </a:solidFill>
                    <a:ea typeface="楷体" panose="02010609060101010101" pitchFamily="49" charset="-122"/>
                  </a:rPr>
                  <a:t>最优指标函数</a:t>
                </a:r>
                <a14:m>
                  <m:oMath xmlns:m="http://schemas.openxmlformats.org/officeDocument/2006/math">
                    <m:r>
                      <a:rPr kumimoji="1" lang="en-US" altLang="zh-CN" sz="2200" b="1" i="1" dirty="0" smtClean="0">
                        <a:solidFill>
                          <a:srgbClr val="FF0000"/>
                        </a:solidFill>
                        <a:latin typeface="Cambria Math" panose="02040503050406030204" pitchFamily="18" charset="0"/>
                        <a:ea typeface="楷体" panose="02010609060101010101" pitchFamily="49" charset="-122"/>
                        <a:cs typeface="Arial" panose="020B0604020202020204" pitchFamily="34" charset="0"/>
                      </a:rPr>
                      <m:t>𝒇</m:t>
                    </m:r>
                    <m:r>
                      <a:rPr kumimoji="1" lang="en-US" altLang="zh-CN" sz="2200" b="1" i="1" baseline="-25000"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2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m:t>
                    </m:r>
                    <m:r>
                      <a:rPr kumimoji="1" lang="en-US" altLang="zh-CN" sz="2200" b="1" i="1"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𝒔</m:t>
                    </m:r>
                    <m:r>
                      <a:rPr kumimoji="1" lang="en-US" altLang="zh-CN" sz="2200" b="1" i="1" baseline="-25000" dirty="0" err="1">
                        <a:solidFill>
                          <a:srgbClr val="FF0000"/>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200" b="1" i="1" dirty="0">
                        <a:solidFill>
                          <a:srgbClr val="FF0000"/>
                        </a:solidFill>
                        <a:latin typeface="Cambria Math" panose="02040503050406030204" pitchFamily="18" charset="0"/>
                        <a:ea typeface="楷体" panose="02010609060101010101" pitchFamily="49" charset="-122"/>
                        <a:cs typeface="Arial" panose="020B0604020202020204" pitchFamily="34" charset="0"/>
                      </a:rPr>
                      <m:t>)</m:t>
                    </m:r>
                  </m:oMath>
                </a14:m>
                <a:r>
                  <a:rPr kumimoji="1" lang="zh-CN" altLang="en-US" sz="2200" dirty="0">
                    <a:ea typeface="楷体" panose="02010609060101010101" pitchFamily="49" charset="-122"/>
                  </a:rPr>
                  <a:t>：从状态</a:t>
                </a:r>
                <a14:m>
                  <m:oMath xmlns:m="http://schemas.openxmlformats.org/officeDocument/2006/math">
                    <m:r>
                      <a:rPr kumimoji="1" lang="en-US" altLang="zh-CN" sz="2200" i="1" dirty="0" smtClean="0">
                        <a:latin typeface="Cambria Math" panose="02040503050406030204" pitchFamily="18" charset="0"/>
                        <a:ea typeface="楷体" panose="02010609060101010101" pitchFamily="49" charset="-122"/>
                      </a:rPr>
                      <m:t>𝑠</m:t>
                    </m:r>
                    <m:r>
                      <a:rPr kumimoji="1" lang="en-US" altLang="zh-CN" sz="2200" i="1" baseline="-25000" dirty="0" err="1">
                        <a:latin typeface="Cambria Math" panose="02040503050406030204" pitchFamily="18" charset="0"/>
                        <a:ea typeface="楷体" panose="02010609060101010101" pitchFamily="49" charset="-122"/>
                      </a:rPr>
                      <m:t>𝑘</m:t>
                    </m:r>
                  </m:oMath>
                </a14:m>
                <a:r>
                  <a:rPr kumimoji="1" lang="zh-CN" altLang="en-US" sz="2200" dirty="0">
                    <a:ea typeface="楷体" panose="02010609060101010101" pitchFamily="49" charset="-122"/>
                  </a:rPr>
                  <a:t>出发，对所有的策略</a:t>
                </a:r>
                <a14:m>
                  <m:oMath xmlns:m="http://schemas.openxmlformats.org/officeDocument/2006/math">
                    <m:sSub>
                      <m:sSubPr>
                        <m:ctrlPr>
                          <a:rPr kumimoji="1" lang="en-US" altLang="zh-CN" sz="2200" i="1" dirty="0">
                            <a:latin typeface="Cambria Math" panose="02040503050406030204" pitchFamily="18" charset="0"/>
                            <a:ea typeface="楷体" panose="02010609060101010101" pitchFamily="49" charset="-122"/>
                          </a:rPr>
                        </m:ctrlPr>
                      </m:sSubPr>
                      <m:e>
                        <m:r>
                          <a:rPr kumimoji="1" lang="en-US" altLang="zh-CN" sz="2200" b="0" i="1" dirty="0" smtClean="0">
                            <a:latin typeface="Cambria Math" panose="02040503050406030204" pitchFamily="18" charset="0"/>
                            <a:ea typeface="楷体" panose="02010609060101010101" pitchFamily="49" charset="-122"/>
                          </a:rPr>
                          <m:t>𝑃</m:t>
                        </m:r>
                      </m:e>
                      <m:sub>
                        <m:r>
                          <a:rPr kumimoji="1" lang="en-US" altLang="zh-CN" sz="2200" i="1" dirty="0">
                            <a:latin typeface="Cambria Math" panose="02040503050406030204" pitchFamily="18" charset="0"/>
                            <a:ea typeface="楷体" panose="02010609060101010101" pitchFamily="49" charset="-122"/>
                          </a:rPr>
                          <m:t>𝑘</m:t>
                        </m:r>
                        <m:r>
                          <a:rPr kumimoji="1" lang="en-US" altLang="zh-CN" sz="2200" i="1" dirty="0">
                            <a:latin typeface="Cambria Math" panose="02040503050406030204" pitchFamily="18" charset="0"/>
                            <a:ea typeface="楷体" panose="02010609060101010101" pitchFamily="49" charset="-122"/>
                          </a:rPr>
                          <m:t>,</m:t>
                        </m:r>
                        <m:r>
                          <a:rPr kumimoji="1" lang="en-US" altLang="zh-CN" sz="2200" i="1" dirty="0">
                            <a:latin typeface="Cambria Math" panose="02040503050406030204" pitchFamily="18" charset="0"/>
                            <a:ea typeface="楷体" panose="02010609060101010101" pitchFamily="49" charset="-122"/>
                          </a:rPr>
                          <m:t>𝑛</m:t>
                        </m:r>
                      </m:sub>
                    </m:sSub>
                  </m:oMath>
                </a14:m>
                <a:r>
                  <a:rPr kumimoji="1" lang="zh-CN" altLang="en-US" sz="2200" dirty="0">
                    <a:ea typeface="楷体" panose="02010609060101010101" pitchFamily="49" charset="-122"/>
                  </a:rPr>
                  <a:t>，过程指标</a:t>
                </a:r>
                <a14:m>
                  <m:oMath xmlns:m="http://schemas.openxmlformats.org/officeDocument/2006/math">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i="1" dirty="0" smtClean="0">
                            <a:latin typeface="Cambria Math" panose="02040503050406030204" pitchFamily="18" charset="0"/>
                            <a:ea typeface="楷体" panose="02010609060101010101" pitchFamily="49" charset="-122"/>
                          </a:rPr>
                          <m:t>𝑉</m:t>
                        </m:r>
                      </m:e>
                      <m:sub>
                        <m:r>
                          <a:rPr kumimoji="1" lang="en-US" altLang="zh-CN" sz="2200" b="0" i="1" dirty="0" smtClean="0">
                            <a:latin typeface="Cambria Math" panose="02040503050406030204" pitchFamily="18" charset="0"/>
                            <a:ea typeface="楷体" panose="02010609060101010101" pitchFamily="49" charset="-122"/>
                          </a:rPr>
                          <m:t>𝑘</m:t>
                        </m:r>
                        <m:r>
                          <a:rPr kumimoji="1" lang="en-US" altLang="zh-CN" sz="2200" b="0" i="1" dirty="0" smtClean="0">
                            <a:latin typeface="Cambria Math" panose="02040503050406030204" pitchFamily="18" charset="0"/>
                            <a:ea typeface="楷体" panose="02010609060101010101" pitchFamily="49" charset="-122"/>
                          </a:rPr>
                          <m:t>,</m:t>
                        </m:r>
                        <m:r>
                          <a:rPr kumimoji="1" lang="en-US" altLang="zh-CN" sz="2200" b="0" i="1" dirty="0" smtClean="0">
                            <a:latin typeface="Cambria Math" panose="02040503050406030204" pitchFamily="18" charset="0"/>
                            <a:ea typeface="楷体" panose="02010609060101010101" pitchFamily="49" charset="-122"/>
                          </a:rPr>
                          <m:t>𝑛</m:t>
                        </m:r>
                      </m:sub>
                    </m:sSub>
                  </m:oMath>
                </a14:m>
                <a:r>
                  <a:rPr kumimoji="1" lang="zh-CN" altLang="en-US" sz="2200" dirty="0">
                    <a:ea typeface="楷体" panose="02010609060101010101" pitchFamily="49" charset="-122"/>
                  </a:rPr>
                  <a:t>的最优值，即</a:t>
                </a:r>
                <a:endParaRPr kumimoji="1" lang="en-US" altLang="zh-CN" sz="2200" dirty="0">
                  <a:ea typeface="楷体" panose="02010609060101010101" pitchFamily="49" charset="-122"/>
                </a:endParaRPr>
              </a:p>
              <a:p>
                <a:pPr marL="342900" algn="just">
                  <a:lnSpc>
                    <a:spcPct val="120000"/>
                  </a:lnSpc>
                  <a:spcBef>
                    <a:spcPts val="300"/>
                  </a:spcBef>
                  <a:spcAft>
                    <a:spcPts val="300"/>
                  </a:spcAft>
                </a:pPr>
                <a:endParaRPr kumimoji="1" lang="zh-CN" altLang="en-US" sz="2200" b="1" dirty="0">
                  <a:ea typeface="楷体" panose="02010609060101010101" pitchFamily="49" charset="-122"/>
                </a:endParaRPr>
              </a:p>
              <a:p>
                <a:pPr marL="342900" algn="just">
                  <a:lnSpc>
                    <a:spcPct val="120000"/>
                  </a:lnSpc>
                  <a:spcBef>
                    <a:spcPts val="300"/>
                  </a:spcBef>
                  <a:spcAft>
                    <a:spcPts val="300"/>
                  </a:spcAft>
                </a:pPr>
                <a:r>
                  <a:rPr kumimoji="1" lang="zh-CN" altLang="en-US" sz="2200" dirty="0">
                    <a:ea typeface="楷体" panose="02010609060101010101" pitchFamily="49" charset="-122"/>
                  </a:rPr>
                  <a:t>对于可加性指标函数，上式可以写为       </a:t>
                </a:r>
                <a:endParaRPr kumimoji="1" lang="zh-CN" altLang="en-US" sz="2200" dirty="0">
                  <a:ea typeface="楷体" panose="02010609060101010101" pitchFamily="49" charset="-122"/>
                </a:endParaRPr>
              </a:p>
              <a:p>
                <a:pPr marL="342900" algn="just">
                  <a:lnSpc>
                    <a:spcPct val="120000"/>
                  </a:lnSpc>
                  <a:spcBef>
                    <a:spcPts val="300"/>
                  </a:spcBef>
                  <a:spcAft>
                    <a:spcPts val="300"/>
                  </a:spcAft>
                </a:pPr>
                <a:r>
                  <a:rPr kumimoji="1" lang="zh-CN" altLang="en-US" sz="2200" dirty="0">
                    <a:ea typeface="楷体" panose="02010609060101010101" pitchFamily="49" charset="-122"/>
                  </a:rPr>
                  <a:t>    </a:t>
                </a:r>
                <a:endParaRPr kumimoji="1" lang="zh-CN" altLang="en-US" sz="2200" dirty="0">
                  <a:ea typeface="楷体" panose="02010609060101010101" pitchFamily="49" charset="-122"/>
                </a:endParaRPr>
              </a:p>
              <a:p>
                <a:pPr marL="342900" algn="just">
                  <a:lnSpc>
                    <a:spcPct val="120000"/>
                  </a:lnSpc>
                  <a:spcBef>
                    <a:spcPts val="300"/>
                  </a:spcBef>
                  <a:spcAft>
                    <a:spcPts val="300"/>
                  </a:spcAft>
                </a:pPr>
                <a:r>
                  <a:rPr kumimoji="1" lang="zh-CN" altLang="en-US" sz="2200" dirty="0">
                    <a:ea typeface="楷体" panose="02010609060101010101" pitchFamily="49" charset="-122"/>
                  </a:rPr>
                  <a:t>上式中“</a:t>
                </a:r>
                <a14:m>
                  <m:oMath xmlns:m="http://schemas.openxmlformats.org/officeDocument/2006/math">
                    <m:r>
                      <a:rPr kumimoji="1" lang="en-US" altLang="zh-CN" sz="2200" i="1" dirty="0" smtClean="0">
                        <a:latin typeface="Cambria Math" panose="02040503050406030204" pitchFamily="18" charset="0"/>
                        <a:ea typeface="楷体" panose="02010609060101010101" pitchFamily="49" charset="-122"/>
                      </a:rPr>
                      <m:t>𝑜𝑝𝑡</m:t>
                    </m:r>
                  </m:oMath>
                </a14:m>
                <a:r>
                  <a:rPr kumimoji="1" lang="en-US" altLang="zh-CN" sz="2200" dirty="0">
                    <a:ea typeface="楷体" panose="02010609060101010101" pitchFamily="49" charset="-122"/>
                  </a:rPr>
                  <a:t>”</a:t>
                </a:r>
                <a:r>
                  <a:rPr kumimoji="1" lang="zh-CN" altLang="en-US" sz="2200" dirty="0">
                    <a:ea typeface="楷体" panose="02010609060101010101" pitchFamily="49" charset="-122"/>
                  </a:rPr>
                  <a:t>表示“</a:t>
                </a:r>
                <a14:m>
                  <m:oMath xmlns:m="http://schemas.openxmlformats.org/officeDocument/2006/math">
                    <m:r>
                      <m:rPr>
                        <m:sty m:val="p"/>
                      </m:rPr>
                      <a:rPr kumimoji="1" lang="en-US" altLang="zh-CN" sz="2200" i="1" dirty="0" smtClean="0">
                        <a:latin typeface="Cambria Math" panose="02040503050406030204" pitchFamily="18" charset="0"/>
                        <a:ea typeface="楷体" panose="02010609060101010101" pitchFamily="49" charset="-122"/>
                      </a:rPr>
                      <m:t>max</m:t>
                    </m:r>
                    <m:r>
                      <a:rPr kumimoji="1" lang="zh-CN" altLang="en-US" sz="2200" i="1" dirty="0">
                        <a:latin typeface="Cambria Math" panose="02040503050406030204" pitchFamily="18" charset="0"/>
                        <a:ea typeface="楷体" panose="02010609060101010101" pitchFamily="49" charset="-122"/>
                      </a:rPr>
                      <m:t>⁡</m:t>
                    </m:r>
                  </m:oMath>
                </a14:m>
                <a:r>
                  <a:rPr kumimoji="1" lang="en-US" altLang="zh-CN" sz="2200" dirty="0">
                    <a:ea typeface="楷体" panose="02010609060101010101" pitchFamily="49" charset="-122"/>
                  </a:rPr>
                  <a:t>”</a:t>
                </a:r>
                <a:r>
                  <a:rPr kumimoji="1" lang="zh-CN" altLang="en-US" sz="2200" dirty="0">
                    <a:ea typeface="楷体" panose="02010609060101010101" pitchFamily="49" charset="-122"/>
                  </a:rPr>
                  <a:t>或“</a:t>
                </a:r>
                <a14:m>
                  <m:oMath xmlns:m="http://schemas.openxmlformats.org/officeDocument/2006/math">
                    <m:r>
                      <m:rPr>
                        <m:sty m:val="p"/>
                      </m:rPr>
                      <a:rPr kumimoji="1" lang="en-US" altLang="zh-CN" sz="2200" i="1" dirty="0" smtClean="0">
                        <a:latin typeface="Cambria Math" panose="02040503050406030204" pitchFamily="18" charset="0"/>
                        <a:ea typeface="楷体" panose="02010609060101010101" pitchFamily="49" charset="-122"/>
                      </a:rPr>
                      <m:t>min</m:t>
                    </m:r>
                    <m:r>
                      <a:rPr kumimoji="1" lang="zh-CN" altLang="en-US" sz="2200" i="1" dirty="0">
                        <a:latin typeface="Cambria Math" panose="02040503050406030204" pitchFamily="18" charset="0"/>
                        <a:ea typeface="楷体" panose="02010609060101010101" pitchFamily="49" charset="-122"/>
                      </a:rPr>
                      <m:t>⁡</m:t>
                    </m:r>
                  </m:oMath>
                </a14:m>
                <a:r>
                  <a:rPr kumimoji="1" lang="en-US" altLang="zh-CN" sz="2200" dirty="0">
                    <a:ea typeface="楷体" panose="02010609060101010101" pitchFamily="49" charset="-122"/>
                  </a:rPr>
                  <a:t>”</a:t>
                </a:r>
                <a:r>
                  <a:rPr kumimoji="1" lang="zh-CN" altLang="en-US" sz="2200" dirty="0">
                    <a:ea typeface="楷体" panose="02010609060101010101" pitchFamily="49" charset="-122"/>
                  </a:rPr>
                  <a:t>。</a:t>
                </a:r>
                <a:endParaRPr kumimoji="1" lang="en-US" altLang="zh-CN" sz="2200" dirty="0">
                  <a:ea typeface="楷体" panose="02010609060101010101" pitchFamily="49" charset="-122"/>
                </a:endParaRPr>
              </a:p>
              <a:p>
                <a:pPr marL="342900" algn="just">
                  <a:lnSpc>
                    <a:spcPct val="120000"/>
                  </a:lnSpc>
                  <a:spcBef>
                    <a:spcPts val="300"/>
                  </a:spcBef>
                  <a:spcAft>
                    <a:spcPts val="300"/>
                  </a:spcAft>
                </a:pPr>
                <a:r>
                  <a:rPr kumimoji="1" lang="zh-CN" altLang="en-US" sz="2200" dirty="0">
                    <a:ea typeface="楷体" panose="02010609060101010101" pitchFamily="49" charset="-122"/>
                  </a:rPr>
                  <a:t>对于可乘性指标函数，上式可以写为        </a:t>
                </a:r>
                <a:endParaRPr kumimoji="1" lang="zh-CN" altLang="en-US" sz="2200" dirty="0">
                  <a:ea typeface="楷体" panose="02010609060101010101" pitchFamily="49" charset="-122"/>
                </a:endParaRPr>
              </a:p>
              <a:p>
                <a:pPr marL="342900" algn="just">
                  <a:lnSpc>
                    <a:spcPct val="120000"/>
                  </a:lnSpc>
                  <a:spcBef>
                    <a:spcPts val="300"/>
                  </a:spcBef>
                  <a:spcAft>
                    <a:spcPts val="300"/>
                  </a:spcAft>
                </a:pPr>
                <a:r>
                  <a:rPr kumimoji="1" lang="zh-CN" altLang="en-US" sz="2200" dirty="0">
                    <a:ea typeface="楷体" panose="02010609060101010101" pitchFamily="49" charset="-122"/>
                  </a:rPr>
                  <a:t>       </a:t>
                </a:r>
                <a:endParaRPr kumimoji="1" lang="en-US" altLang="zh-CN" sz="2200" dirty="0">
                  <a:ea typeface="楷体" panose="02010609060101010101" pitchFamily="49" charset="-122"/>
                </a:endParaRPr>
              </a:p>
              <a:p>
                <a:pPr marL="342900" algn="just">
                  <a:lnSpc>
                    <a:spcPct val="120000"/>
                  </a:lnSpc>
                  <a:spcBef>
                    <a:spcPts val="300"/>
                  </a:spcBef>
                  <a:spcAft>
                    <a:spcPts val="300"/>
                  </a:spcAft>
                </a:pPr>
                <a:r>
                  <a:rPr kumimoji="1" lang="zh-CN" altLang="en-US" sz="2200" dirty="0">
                    <a:ea typeface="楷体" panose="02010609060101010101" pitchFamily="49" charset="-122"/>
                  </a:rPr>
                  <a:t>称为</a:t>
                </a:r>
                <a:r>
                  <a:rPr kumimoji="1" lang="zh-CN" altLang="en-US" sz="2200" b="1" dirty="0">
                    <a:solidFill>
                      <a:srgbClr val="FF0000"/>
                    </a:solidFill>
                    <a:ea typeface="楷体" panose="02010609060101010101" pitchFamily="49" charset="-122"/>
                  </a:rPr>
                  <a:t>动态规划最优指标的递推方程</a:t>
                </a:r>
                <a:r>
                  <a:rPr kumimoji="1" lang="zh-CN" altLang="en-US" sz="2200" dirty="0">
                    <a:ea typeface="楷体" panose="02010609060101010101" pitchFamily="49" charset="-122"/>
                  </a:rPr>
                  <a:t>。</a:t>
                </a:r>
                <a:endParaRPr kumimoji="1" lang="zh-CN" altLang="en-US" sz="2200" dirty="0">
                  <a:ea typeface="楷体" panose="02010609060101010101" pitchFamily="49" charset="-122"/>
                </a:endParaRPr>
              </a:p>
              <a:p>
                <a:pPr marL="342900" algn="just">
                  <a:lnSpc>
                    <a:spcPct val="120000"/>
                  </a:lnSpc>
                  <a:spcBef>
                    <a:spcPts val="300"/>
                  </a:spcBef>
                  <a:spcAft>
                    <a:spcPts val="300"/>
                  </a:spcAft>
                </a:pPr>
                <a:r>
                  <a:rPr kumimoji="1" lang="zh-CN" altLang="en-US" sz="2200" b="1" dirty="0">
                    <a:solidFill>
                      <a:srgbClr val="FF0000"/>
                    </a:solidFill>
                    <a:ea typeface="楷体" panose="02010609060101010101" pitchFamily="49" charset="-122"/>
                  </a:rPr>
                  <a:t>终端条件</a:t>
                </a:r>
                <a:r>
                  <a:rPr kumimoji="1" lang="zh-CN" altLang="en-US" sz="2200" b="1" dirty="0">
                    <a:ea typeface="楷体" panose="02010609060101010101" pitchFamily="49" charset="-122"/>
                  </a:rPr>
                  <a:t>：</a:t>
                </a:r>
                <a:r>
                  <a:rPr kumimoji="1" lang="zh-CN" altLang="en-US" sz="2200" dirty="0">
                    <a:ea typeface="楷体" panose="02010609060101010101" pitchFamily="49" charset="-122"/>
                  </a:rPr>
                  <a:t>为了使以上的递推方程有递推的起点，必须要设定最优指标的终端条件，一般（</a:t>
                </a:r>
                <a:r>
                  <a:rPr kumimoji="1" lang="zh-CN" altLang="en-US" sz="2200" dirty="0">
                    <a:solidFill>
                      <a:srgbClr val="FF0000"/>
                    </a:solidFill>
                    <a:ea typeface="楷体" panose="02010609060101010101" pitchFamily="49" charset="-122"/>
                  </a:rPr>
                  <a:t>对加指标</a:t>
                </a:r>
                <a:r>
                  <a:rPr kumimoji="1" lang="zh-CN" altLang="en-US" sz="2200" dirty="0">
                    <a:ea typeface="楷体" panose="02010609060101010101" pitchFamily="49" charset="-122"/>
                  </a:rPr>
                  <a:t>）最后一个状态</a:t>
                </a:r>
                <a14:m>
                  <m:oMath xmlns:m="http://schemas.openxmlformats.org/officeDocument/2006/math">
                    <m:r>
                      <a:rPr kumimoji="1" lang="en-US" altLang="zh-CN" sz="2200" i="1" dirty="0" smtClean="0">
                        <a:latin typeface="Cambria Math" panose="02040503050406030204" pitchFamily="18" charset="0"/>
                        <a:ea typeface="楷体" panose="02010609060101010101" pitchFamily="49" charset="-122"/>
                      </a:rPr>
                      <m:t>𝑛</m:t>
                    </m:r>
                    <m:r>
                      <a:rPr kumimoji="1" lang="en-US" altLang="zh-CN" sz="2200" i="1" dirty="0" smtClean="0">
                        <a:latin typeface="Cambria Math" panose="02040503050406030204" pitchFamily="18" charset="0"/>
                        <a:ea typeface="楷体" panose="02010609060101010101" pitchFamily="49" charset="-122"/>
                      </a:rPr>
                      <m:t>+</m:t>
                    </m:r>
                    <m:r>
                      <a:rPr kumimoji="1" lang="en-US" altLang="zh-CN" sz="2200" i="1" dirty="0" smtClean="0">
                        <a:latin typeface="Cambria Math" panose="02040503050406030204" pitchFamily="18" charset="0"/>
                        <a:ea typeface="楷体" panose="02010609060101010101" pitchFamily="49" charset="-122"/>
                      </a:rPr>
                      <m:t>1</m:t>
                    </m:r>
                  </m:oMath>
                </a14:m>
                <a:r>
                  <a:rPr kumimoji="1" lang="zh-CN" altLang="en-US" sz="2200" dirty="0">
                    <a:ea typeface="楷体" panose="02010609060101010101" pitchFamily="49" charset="-122"/>
                  </a:rPr>
                  <a:t>下最优指标</a:t>
                </a:r>
                <a14:m>
                  <m:oMath xmlns:m="http://schemas.openxmlformats.org/officeDocument/2006/math">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i="1" dirty="0" smtClean="0">
                            <a:latin typeface="Cambria Math" panose="02040503050406030204" pitchFamily="18" charset="0"/>
                            <a:ea typeface="楷体" panose="02010609060101010101" pitchFamily="49" charset="-122"/>
                          </a:rPr>
                          <m:t>𝑓</m:t>
                        </m:r>
                      </m:e>
                      <m:sub>
                        <m:r>
                          <a:rPr kumimoji="1" lang="en-US" altLang="zh-CN" sz="2200" b="0" i="1" dirty="0" smtClean="0">
                            <a:latin typeface="Cambria Math" panose="02040503050406030204" pitchFamily="18" charset="0"/>
                            <a:ea typeface="楷体" panose="02010609060101010101" pitchFamily="49" charset="-122"/>
                          </a:rPr>
                          <m:t>𝑛</m:t>
                        </m:r>
                        <m:r>
                          <a:rPr kumimoji="1" lang="en-US" altLang="zh-CN" sz="2200" b="0" i="1" dirty="0" smtClean="0">
                            <a:latin typeface="Cambria Math" panose="02040503050406030204" pitchFamily="18" charset="0"/>
                            <a:ea typeface="楷体" panose="02010609060101010101" pitchFamily="49" charset="-122"/>
                          </a:rPr>
                          <m:t>+</m:t>
                        </m:r>
                        <m:r>
                          <a:rPr kumimoji="1" lang="en-US" altLang="zh-CN" sz="2200" b="0" i="1" dirty="0" smtClean="0">
                            <a:latin typeface="Cambria Math" panose="02040503050406030204" pitchFamily="18" charset="0"/>
                            <a:ea typeface="楷体" panose="02010609060101010101" pitchFamily="49" charset="-122"/>
                          </a:rPr>
                          <m:t>1</m:t>
                        </m:r>
                      </m:sub>
                    </m:sSub>
                    <m:r>
                      <a:rPr kumimoji="1" lang="en-US" altLang="zh-CN" sz="2200" i="1" dirty="0">
                        <a:latin typeface="Cambria Math" panose="02040503050406030204" pitchFamily="18" charset="0"/>
                        <a:ea typeface="楷体" panose="02010609060101010101" pitchFamily="49" charset="-122"/>
                      </a:rPr>
                      <m:t>(</m:t>
                    </m:r>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i="1" dirty="0">
                            <a:latin typeface="Cambria Math" panose="02040503050406030204" pitchFamily="18" charset="0"/>
                            <a:ea typeface="楷体" panose="02010609060101010101" pitchFamily="49" charset="-122"/>
                          </a:rPr>
                          <m:t>𝑠</m:t>
                        </m:r>
                      </m:e>
                      <m:sub>
                        <m:r>
                          <a:rPr kumimoji="1" lang="en-US" altLang="zh-CN" sz="2200" b="0" i="1" dirty="0" smtClean="0">
                            <a:latin typeface="Cambria Math" panose="02040503050406030204" pitchFamily="18" charset="0"/>
                            <a:ea typeface="楷体" panose="02010609060101010101" pitchFamily="49" charset="-122"/>
                          </a:rPr>
                          <m:t>𝑛</m:t>
                        </m:r>
                        <m:r>
                          <a:rPr kumimoji="1" lang="en-US" altLang="zh-CN" sz="2200" b="0" i="1" dirty="0" smtClean="0">
                            <a:latin typeface="Cambria Math" panose="02040503050406030204" pitchFamily="18" charset="0"/>
                            <a:ea typeface="楷体" panose="02010609060101010101" pitchFamily="49" charset="-122"/>
                          </a:rPr>
                          <m:t>+</m:t>
                        </m:r>
                        <m:r>
                          <a:rPr kumimoji="1" lang="en-US" altLang="zh-CN" sz="2200" b="0" i="1" dirty="0" smtClean="0">
                            <a:latin typeface="Cambria Math" panose="02040503050406030204" pitchFamily="18" charset="0"/>
                            <a:ea typeface="楷体" panose="02010609060101010101" pitchFamily="49" charset="-122"/>
                          </a:rPr>
                          <m:t>1</m:t>
                        </m:r>
                      </m:sub>
                    </m:sSub>
                    <m:r>
                      <a:rPr kumimoji="1" lang="en-US" altLang="zh-CN" sz="2200" i="1" dirty="0">
                        <a:latin typeface="Cambria Math" panose="02040503050406030204" pitchFamily="18" charset="0"/>
                        <a:ea typeface="楷体" panose="02010609060101010101" pitchFamily="49" charset="-122"/>
                      </a:rPr>
                      <m:t>) = </m:t>
                    </m:r>
                    <m:r>
                      <a:rPr kumimoji="1" lang="en-US" altLang="zh-CN" sz="2200" i="1" dirty="0">
                        <a:latin typeface="Cambria Math" panose="02040503050406030204" pitchFamily="18" charset="0"/>
                        <a:ea typeface="楷体" panose="02010609060101010101" pitchFamily="49" charset="-122"/>
                      </a:rPr>
                      <m:t>0</m:t>
                    </m:r>
                  </m:oMath>
                </a14:m>
                <a:r>
                  <a:rPr kumimoji="1" lang="zh-CN" altLang="en-US" sz="2200" dirty="0">
                    <a:ea typeface="楷体" panose="02010609060101010101" pitchFamily="49" charset="-122"/>
                  </a:rPr>
                  <a:t>。</a:t>
                </a:r>
                <a:endParaRPr kumimoji="1" lang="zh-CN" altLang="en-US" sz="2200" dirty="0">
                  <a:ea typeface="楷体" panose="02010609060101010101" pitchFamily="49" charset="-122"/>
                </a:endParaRPr>
              </a:p>
              <a:p>
                <a:pPr marL="342900" algn="just">
                  <a:lnSpc>
                    <a:spcPct val="120000"/>
                  </a:lnSpc>
                  <a:spcBef>
                    <a:spcPts val="300"/>
                  </a:spcBef>
                  <a:spcAft>
                    <a:spcPts val="300"/>
                  </a:spcAft>
                </a:pPr>
                <a:endParaRPr kumimoji="1" lang="en-US" altLang="zh-CN" sz="2200" dirty="0">
                  <a:ea typeface="楷体" panose="02010609060101010101" pitchFamily="49" charset="-122"/>
                </a:endParaRPr>
              </a:p>
            </p:txBody>
          </p:sp>
        </mc:Choice>
        <mc:Fallback>
          <p:sp>
            <p:nvSpPr>
              <p:cNvPr id="3078" name="Rectangle 3"/>
              <p:cNvSpPr>
                <a:spLocks noRot="1" noChangeAspect="1" noMove="1" noResize="1" noEditPoints="1" noAdjustHandles="1" noChangeArrowheads="1" noChangeShapeType="1" noTextEdit="1"/>
              </p:cNvSpPr>
              <p:nvPr/>
            </p:nvSpPr>
            <p:spPr bwMode="auto">
              <a:xfrm>
                <a:off x="1703388" y="785812"/>
                <a:ext cx="8763000" cy="6072187"/>
              </a:xfrm>
              <a:prstGeom prst="rect">
                <a:avLst/>
              </a:prstGeom>
              <a:blipFill rotWithShape="1">
                <a:blip r:embed="rId1"/>
                <a:stretch>
                  <a:fillRect l="-4" t="-5" r="4" b="-699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4092964" y="2186809"/>
                <a:ext cx="4009390" cy="3175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𝑘</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𝑜𝑝</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𝑡</m:t>
                          </m:r>
                        </m:e>
                        <m: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𝐷</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sub>
                      </m:sSub>
                      <m:r>
                        <a:rPr lang="en-US" altLang="zh-CN" sz="2000" b="0" i="1" smtClean="0">
                          <a:latin typeface="Cambria Math" panose="02040503050406030204" pitchFamily="18" charset="0"/>
                        </a:rPr>
                        <m:t>)}</m:t>
                      </m:r>
                    </m:oMath>
                  </m:oMathPara>
                </a14:m>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4092964" y="2186809"/>
                <a:ext cx="4009390" cy="317500"/>
              </a:xfrm>
              <a:prstGeom prst="rect">
                <a:avLst/>
              </a:prstGeom>
              <a:blipFill rotWithShape="1">
                <a:blip r:embed="rId2"/>
                <a:stretch>
                  <a:fillRect l="-10" t="-159" r="-2049" b="1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2622562" y="3167083"/>
                <a:ext cx="6868160" cy="35433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𝑘</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𝑜𝑝</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𝑡</m:t>
                          </m:r>
                        </m:e>
                        <m: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𝐷</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ub>
                      </m:sSub>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Sub>
                            </m:e>
                          </m:d>
                        </m:e>
                      </m:d>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oMath>
                  </m:oMathPara>
                </a14:m>
                <a:endParaRPr lang="zh-CN" altLang="en-US" sz="2000" dirty="0"/>
              </a:p>
            </p:txBody>
          </p:sp>
        </mc:Choice>
        <mc:Fallback>
          <p:sp>
            <p:nvSpPr>
              <p:cNvPr id="10" name="文本框 9"/>
              <p:cNvSpPr txBox="1">
                <a:spLocks noRot="1" noChangeAspect="1" noMove="1" noResize="1" noEditPoints="1" noAdjustHandles="1" noChangeArrowheads="1" noChangeShapeType="1" noTextEdit="1"/>
              </p:cNvSpPr>
              <p:nvPr/>
            </p:nvSpPr>
            <p:spPr>
              <a:xfrm>
                <a:off x="2622562" y="3167083"/>
                <a:ext cx="6868160" cy="354330"/>
              </a:xfrm>
              <a:prstGeom prst="rect">
                <a:avLst/>
              </a:prstGeom>
              <a:blipFill rotWithShape="1">
                <a:blip r:embed="rId3"/>
                <a:stretch>
                  <a:fillRect t="-95" r="-1220" b="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2655888" y="4630389"/>
                <a:ext cx="6820535" cy="35433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𝑘</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𝑜𝑝</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𝑡</m:t>
                          </m:r>
                        </m:e>
                        <m: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𝐷</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ub>
                      </m:sSub>
                      <m:d>
                        <m:dPr>
                          <m:begChr m:val="{"/>
                          <m:end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𝑛</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𝑘</m:t>
                                  </m:r>
                                </m:sub>
                              </m:sSub>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Sub>
                            </m:e>
                          </m:d>
                        </m:e>
                      </m:d>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𝑛</m:t>
                      </m:r>
                    </m:oMath>
                  </m:oMathPara>
                </a14:m>
                <a:endParaRPr lang="zh-CN" altLang="en-US" sz="2000" dirty="0"/>
              </a:p>
            </p:txBody>
          </p:sp>
        </mc:Choice>
        <mc:Fallback>
          <p:sp>
            <p:nvSpPr>
              <p:cNvPr id="12" name="文本框 11"/>
              <p:cNvSpPr txBox="1">
                <a:spLocks noRot="1" noChangeAspect="1" noMove="1" noResize="1" noEditPoints="1" noAdjustHandles="1" noChangeArrowheads="1" noChangeShapeType="1" noTextEdit="1"/>
              </p:cNvSpPr>
              <p:nvPr/>
            </p:nvSpPr>
            <p:spPr>
              <a:xfrm>
                <a:off x="2655888" y="4630389"/>
                <a:ext cx="6820535" cy="354330"/>
              </a:xfrm>
              <a:prstGeom prst="rect">
                <a:avLst/>
              </a:prstGeom>
              <a:blipFill rotWithShape="1">
                <a:blip r:embed="rId4"/>
                <a:stretch>
                  <a:fillRect l="-5" t="-170" r="-1420" b="170"/>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45493" y="853927"/>
            <a:ext cx="8101013" cy="4186238"/>
            <a:chOff x="606425" y="2171700"/>
            <a:chExt cx="8101013" cy="4186238"/>
          </a:xfrm>
        </p:grpSpPr>
        <p:sp>
          <p:nvSpPr>
            <p:cNvPr id="7" name="AutoShape 87"/>
            <p:cNvSpPr>
              <a:spLocks noChangeAspect="1" noChangeArrowheads="1" noTextEdit="1"/>
            </p:cNvSpPr>
            <p:nvPr/>
          </p:nvSpPr>
          <p:spPr bwMode="auto">
            <a:xfrm>
              <a:off x="642938" y="2281238"/>
              <a:ext cx="8064500"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 name="Oval 88"/>
            <p:cNvSpPr>
              <a:spLocks noChangeArrowheads="1"/>
            </p:cNvSpPr>
            <p:nvPr/>
          </p:nvSpPr>
          <p:spPr bwMode="auto">
            <a:xfrm>
              <a:off x="2425700"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 name="Rectangle 89"/>
            <p:cNvSpPr>
              <a:spLocks noChangeArrowheads="1"/>
            </p:cNvSpPr>
            <p:nvPr/>
          </p:nvSpPr>
          <p:spPr bwMode="auto">
            <a:xfrm>
              <a:off x="2600325"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grpSp>
          <p:nvGrpSpPr>
            <p:cNvPr id="12" name="Group 90"/>
            <p:cNvGrpSpPr/>
            <p:nvPr/>
          </p:nvGrpSpPr>
          <p:grpSpPr bwMode="auto">
            <a:xfrm>
              <a:off x="606425" y="3522663"/>
              <a:ext cx="598488" cy="415925"/>
              <a:chOff x="382" y="2663"/>
              <a:chExt cx="377" cy="262"/>
            </a:xfrm>
          </p:grpSpPr>
          <p:sp>
            <p:nvSpPr>
              <p:cNvPr id="13" name="Oval 91"/>
              <p:cNvSpPr>
                <a:spLocks noChangeArrowheads="1"/>
              </p:cNvSpPr>
              <p:nvPr/>
            </p:nvSpPr>
            <p:spPr bwMode="auto">
              <a:xfrm>
                <a:off x="382" y="2663"/>
                <a:ext cx="377" cy="26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4" name="Rectangle 92"/>
              <p:cNvSpPr>
                <a:spLocks noChangeArrowheads="1"/>
              </p:cNvSpPr>
              <p:nvPr/>
            </p:nvSpPr>
            <p:spPr bwMode="auto">
              <a:xfrm>
                <a:off x="492" y="2702"/>
                <a:ext cx="8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A</a:t>
                </a:r>
                <a:endParaRPr kumimoji="1" lang="en-US" altLang="zh-CN" sz="1400">
                  <a:latin typeface="Times New Roman" panose="02020603050405020304" pitchFamily="18" charset="0"/>
                  <a:ea typeface="楷体" panose="02010609060101010101" pitchFamily="49" charset="-122"/>
                </a:endParaRPr>
              </a:p>
            </p:txBody>
          </p:sp>
        </p:grpSp>
        <p:sp>
          <p:nvSpPr>
            <p:cNvPr id="15" name="Oval 93"/>
            <p:cNvSpPr>
              <a:spLocks noChangeArrowheads="1"/>
            </p:cNvSpPr>
            <p:nvPr/>
          </p:nvSpPr>
          <p:spPr bwMode="auto">
            <a:xfrm>
              <a:off x="4595813" y="2235200"/>
              <a:ext cx="598487" cy="417513"/>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6" name="Rectangle 94"/>
            <p:cNvSpPr>
              <a:spLocks noChangeArrowheads="1"/>
            </p:cNvSpPr>
            <p:nvPr/>
          </p:nvSpPr>
          <p:spPr bwMode="auto">
            <a:xfrm>
              <a:off x="4770438" y="229870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7" name="Oval 95"/>
            <p:cNvSpPr>
              <a:spLocks noChangeArrowheads="1"/>
            </p:cNvSpPr>
            <p:nvPr/>
          </p:nvSpPr>
          <p:spPr bwMode="auto">
            <a:xfrm>
              <a:off x="2425700" y="2254250"/>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8" name="Rectangle 96"/>
            <p:cNvSpPr>
              <a:spLocks noChangeArrowheads="1"/>
            </p:cNvSpPr>
            <p:nvPr/>
          </p:nvSpPr>
          <p:spPr bwMode="auto">
            <a:xfrm>
              <a:off x="2600325" y="23177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19" name="Oval 97"/>
            <p:cNvSpPr>
              <a:spLocks noChangeArrowheads="1"/>
            </p:cNvSpPr>
            <p:nvPr/>
          </p:nvSpPr>
          <p:spPr bwMode="auto">
            <a:xfrm>
              <a:off x="6415088" y="2887663"/>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 name="Rectangle 98"/>
            <p:cNvSpPr>
              <a:spLocks noChangeArrowheads="1"/>
            </p:cNvSpPr>
            <p:nvPr/>
          </p:nvSpPr>
          <p:spPr bwMode="auto">
            <a:xfrm>
              <a:off x="6564313" y="2951163"/>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21" name="Oval 99"/>
            <p:cNvSpPr>
              <a:spLocks noChangeArrowheads="1"/>
            </p:cNvSpPr>
            <p:nvPr/>
          </p:nvSpPr>
          <p:spPr bwMode="auto">
            <a:xfrm>
              <a:off x="2401888" y="4845050"/>
              <a:ext cx="596900"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2" name="Rectangle 100"/>
            <p:cNvSpPr>
              <a:spLocks noChangeArrowheads="1"/>
            </p:cNvSpPr>
            <p:nvPr/>
          </p:nvSpPr>
          <p:spPr bwMode="auto">
            <a:xfrm>
              <a:off x="2576513" y="49085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23" name="Oval 101"/>
            <p:cNvSpPr>
              <a:spLocks noChangeArrowheads="1"/>
            </p:cNvSpPr>
            <p:nvPr/>
          </p:nvSpPr>
          <p:spPr bwMode="auto">
            <a:xfrm>
              <a:off x="4595813" y="354012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4" name="Rectangle 102"/>
            <p:cNvSpPr>
              <a:spLocks noChangeArrowheads="1"/>
            </p:cNvSpPr>
            <p:nvPr/>
          </p:nvSpPr>
          <p:spPr bwMode="auto">
            <a:xfrm>
              <a:off x="4770438"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25" name="Oval 103"/>
            <p:cNvSpPr>
              <a:spLocks noChangeArrowheads="1"/>
            </p:cNvSpPr>
            <p:nvPr/>
          </p:nvSpPr>
          <p:spPr bwMode="auto">
            <a:xfrm>
              <a:off x="6389688" y="428307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6" name="Rectangle 104"/>
            <p:cNvSpPr>
              <a:spLocks noChangeArrowheads="1"/>
            </p:cNvSpPr>
            <p:nvPr/>
          </p:nvSpPr>
          <p:spPr bwMode="auto">
            <a:xfrm>
              <a:off x="6515100" y="4346575"/>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27" name="Oval 105"/>
            <p:cNvSpPr>
              <a:spLocks noChangeArrowheads="1"/>
            </p:cNvSpPr>
            <p:nvPr/>
          </p:nvSpPr>
          <p:spPr bwMode="auto">
            <a:xfrm>
              <a:off x="8010525"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8" name="Rectangle 106"/>
            <p:cNvSpPr>
              <a:spLocks noChangeArrowheads="1"/>
            </p:cNvSpPr>
            <p:nvPr/>
          </p:nvSpPr>
          <p:spPr bwMode="auto">
            <a:xfrm>
              <a:off x="8185150" y="3603625"/>
              <a:ext cx="10858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E</a:t>
              </a:r>
              <a:endParaRPr kumimoji="1" lang="en-US" altLang="zh-CN" sz="1400">
                <a:latin typeface="Times New Roman" panose="02020603050405020304" pitchFamily="18" charset="0"/>
                <a:ea typeface="楷体" panose="02010609060101010101" pitchFamily="49" charset="-122"/>
              </a:endParaRPr>
            </a:p>
          </p:txBody>
        </p:sp>
        <p:sp>
          <p:nvSpPr>
            <p:cNvPr id="29" name="Oval 107"/>
            <p:cNvSpPr>
              <a:spLocks noChangeArrowheads="1"/>
            </p:cNvSpPr>
            <p:nvPr/>
          </p:nvSpPr>
          <p:spPr bwMode="auto">
            <a:xfrm>
              <a:off x="4619625" y="4862513"/>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0" name="Rectangle 108"/>
            <p:cNvSpPr>
              <a:spLocks noChangeArrowheads="1"/>
            </p:cNvSpPr>
            <p:nvPr/>
          </p:nvSpPr>
          <p:spPr bwMode="auto">
            <a:xfrm>
              <a:off x="4794250" y="4926013"/>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31" name="Line 109"/>
            <p:cNvSpPr>
              <a:spLocks noChangeShapeType="1"/>
            </p:cNvSpPr>
            <p:nvPr/>
          </p:nvSpPr>
          <p:spPr bwMode="auto">
            <a:xfrm flipV="1">
              <a:off x="1104900" y="2570163"/>
              <a:ext cx="1371600" cy="9969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110"/>
            <p:cNvSpPr>
              <a:spLocks noChangeShapeType="1"/>
            </p:cNvSpPr>
            <p:nvPr/>
          </p:nvSpPr>
          <p:spPr bwMode="auto">
            <a:xfrm>
              <a:off x="1055688" y="3892550"/>
              <a:ext cx="1420812" cy="1033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111"/>
            <p:cNvSpPr>
              <a:spLocks noChangeShapeType="1"/>
            </p:cNvSpPr>
            <p:nvPr/>
          </p:nvSpPr>
          <p:spPr bwMode="auto">
            <a:xfrm>
              <a:off x="3000375" y="505301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112"/>
            <p:cNvSpPr>
              <a:spLocks noChangeShapeType="1"/>
            </p:cNvSpPr>
            <p:nvPr/>
          </p:nvSpPr>
          <p:spPr bwMode="auto">
            <a:xfrm>
              <a:off x="3000375" y="244316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113"/>
            <p:cNvSpPr>
              <a:spLocks noChangeShapeType="1"/>
            </p:cNvSpPr>
            <p:nvPr/>
          </p:nvSpPr>
          <p:spPr bwMode="auto">
            <a:xfrm>
              <a:off x="3024188" y="3730625"/>
              <a:ext cx="15954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114"/>
            <p:cNvSpPr>
              <a:spLocks noChangeShapeType="1"/>
            </p:cNvSpPr>
            <p:nvPr/>
          </p:nvSpPr>
          <p:spPr bwMode="auto">
            <a:xfrm>
              <a:off x="1179513" y="3730625"/>
              <a:ext cx="124618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115"/>
            <p:cNvSpPr>
              <a:spLocks noChangeShapeType="1"/>
            </p:cNvSpPr>
            <p:nvPr/>
          </p:nvSpPr>
          <p:spPr bwMode="auto">
            <a:xfrm>
              <a:off x="5168900" y="2498725"/>
              <a:ext cx="1271588" cy="4699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116"/>
            <p:cNvSpPr>
              <a:spLocks noChangeShapeType="1"/>
            </p:cNvSpPr>
            <p:nvPr/>
          </p:nvSpPr>
          <p:spPr bwMode="auto">
            <a:xfrm>
              <a:off x="6988175" y="3168650"/>
              <a:ext cx="1122363" cy="415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117"/>
            <p:cNvSpPr>
              <a:spLocks noChangeShapeType="1"/>
            </p:cNvSpPr>
            <p:nvPr/>
          </p:nvSpPr>
          <p:spPr bwMode="auto">
            <a:xfrm flipV="1">
              <a:off x="5194300" y="4564063"/>
              <a:ext cx="1195388" cy="4524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118"/>
            <p:cNvSpPr>
              <a:spLocks noChangeShapeType="1"/>
            </p:cNvSpPr>
            <p:nvPr/>
          </p:nvSpPr>
          <p:spPr bwMode="auto">
            <a:xfrm flipV="1">
              <a:off x="6938963" y="3929063"/>
              <a:ext cx="1246187" cy="4349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119"/>
            <p:cNvSpPr>
              <a:spLocks noChangeShapeType="1"/>
            </p:cNvSpPr>
            <p:nvPr/>
          </p:nvSpPr>
          <p:spPr bwMode="auto">
            <a:xfrm>
              <a:off x="2949575" y="2589213"/>
              <a:ext cx="1720850" cy="9953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120"/>
            <p:cNvSpPr>
              <a:spLocks noChangeShapeType="1"/>
            </p:cNvSpPr>
            <p:nvPr/>
          </p:nvSpPr>
          <p:spPr bwMode="auto">
            <a:xfrm flipV="1">
              <a:off x="2924175" y="2508250"/>
              <a:ext cx="1647825" cy="10763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121"/>
            <p:cNvSpPr>
              <a:spLocks noChangeShapeType="1"/>
            </p:cNvSpPr>
            <p:nvPr/>
          </p:nvSpPr>
          <p:spPr bwMode="auto">
            <a:xfrm flipV="1">
              <a:off x="2900363" y="3892550"/>
              <a:ext cx="1770062" cy="10160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122"/>
            <p:cNvSpPr>
              <a:spLocks noChangeShapeType="1"/>
            </p:cNvSpPr>
            <p:nvPr/>
          </p:nvSpPr>
          <p:spPr bwMode="auto">
            <a:xfrm>
              <a:off x="2949575" y="3875088"/>
              <a:ext cx="1720850" cy="1050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123"/>
            <p:cNvSpPr>
              <a:spLocks noChangeShapeType="1"/>
            </p:cNvSpPr>
            <p:nvPr/>
          </p:nvSpPr>
          <p:spPr bwMode="auto">
            <a:xfrm>
              <a:off x="2849563" y="2643188"/>
              <a:ext cx="1995487" cy="22098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124"/>
            <p:cNvSpPr>
              <a:spLocks noChangeShapeType="1"/>
            </p:cNvSpPr>
            <p:nvPr/>
          </p:nvSpPr>
          <p:spPr bwMode="auto">
            <a:xfrm flipV="1">
              <a:off x="2825750" y="2652713"/>
              <a:ext cx="1890713" cy="22002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125"/>
            <p:cNvSpPr>
              <a:spLocks noChangeShapeType="1"/>
            </p:cNvSpPr>
            <p:nvPr/>
          </p:nvSpPr>
          <p:spPr bwMode="auto">
            <a:xfrm>
              <a:off x="5094288" y="2589213"/>
              <a:ext cx="1520825" cy="17208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126"/>
            <p:cNvSpPr>
              <a:spLocks noChangeShapeType="1"/>
            </p:cNvSpPr>
            <p:nvPr/>
          </p:nvSpPr>
          <p:spPr bwMode="auto">
            <a:xfrm flipV="1">
              <a:off x="5068888" y="3276600"/>
              <a:ext cx="1495425" cy="15954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127"/>
            <p:cNvSpPr>
              <a:spLocks noChangeShapeType="1"/>
            </p:cNvSpPr>
            <p:nvPr/>
          </p:nvSpPr>
          <p:spPr bwMode="auto">
            <a:xfrm flipV="1">
              <a:off x="5143500" y="3186113"/>
              <a:ext cx="1296988" cy="4540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128"/>
            <p:cNvSpPr>
              <a:spLocks noChangeShapeType="1"/>
            </p:cNvSpPr>
            <p:nvPr/>
          </p:nvSpPr>
          <p:spPr bwMode="auto">
            <a:xfrm>
              <a:off x="5143500" y="3857625"/>
              <a:ext cx="1296988" cy="525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Rectangle 129"/>
            <p:cNvSpPr>
              <a:spLocks noChangeArrowheads="1"/>
            </p:cNvSpPr>
            <p:nvPr/>
          </p:nvSpPr>
          <p:spPr bwMode="auto">
            <a:xfrm>
              <a:off x="1503363" y="28971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52" name="Rectangle 130"/>
            <p:cNvSpPr>
              <a:spLocks noChangeArrowheads="1"/>
            </p:cNvSpPr>
            <p:nvPr/>
          </p:nvSpPr>
          <p:spPr bwMode="auto">
            <a:xfrm>
              <a:off x="2825750" y="24082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53" name="Rectangle 131"/>
            <p:cNvSpPr>
              <a:spLocks noChangeArrowheads="1"/>
            </p:cNvSpPr>
            <p:nvPr/>
          </p:nvSpPr>
          <p:spPr bwMode="auto">
            <a:xfrm>
              <a:off x="2774950"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54" name="Rectangle 132"/>
            <p:cNvSpPr>
              <a:spLocks noChangeArrowheads="1"/>
            </p:cNvSpPr>
            <p:nvPr/>
          </p:nvSpPr>
          <p:spPr bwMode="auto">
            <a:xfrm>
              <a:off x="2749550" y="49799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55" name="Rectangle 133"/>
            <p:cNvSpPr>
              <a:spLocks noChangeArrowheads="1"/>
            </p:cNvSpPr>
            <p:nvPr/>
          </p:nvSpPr>
          <p:spPr bwMode="auto">
            <a:xfrm>
              <a:off x="4968875" y="2352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56" name="Rectangle 134"/>
            <p:cNvSpPr>
              <a:spLocks noChangeArrowheads="1"/>
            </p:cNvSpPr>
            <p:nvPr/>
          </p:nvSpPr>
          <p:spPr bwMode="auto">
            <a:xfrm>
              <a:off x="4945063"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57" name="Rectangle 135"/>
            <p:cNvSpPr>
              <a:spLocks noChangeArrowheads="1"/>
            </p:cNvSpPr>
            <p:nvPr/>
          </p:nvSpPr>
          <p:spPr bwMode="auto">
            <a:xfrm>
              <a:off x="4968875" y="49990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58" name="Rectangle 136"/>
            <p:cNvSpPr>
              <a:spLocks noChangeArrowheads="1"/>
            </p:cNvSpPr>
            <p:nvPr/>
          </p:nvSpPr>
          <p:spPr bwMode="auto">
            <a:xfrm>
              <a:off x="6764338" y="3005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59" name="Rectangle 137"/>
            <p:cNvSpPr>
              <a:spLocks noChangeArrowheads="1"/>
            </p:cNvSpPr>
            <p:nvPr/>
          </p:nvSpPr>
          <p:spPr bwMode="auto">
            <a:xfrm>
              <a:off x="6738938" y="4400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0" name="Rectangle 138"/>
            <p:cNvSpPr>
              <a:spLocks noChangeArrowheads="1"/>
            </p:cNvSpPr>
            <p:nvPr/>
          </p:nvSpPr>
          <p:spPr bwMode="auto">
            <a:xfrm>
              <a:off x="1852613" y="347662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61" name="Rectangle 139"/>
            <p:cNvSpPr>
              <a:spLocks noChangeArrowheads="1"/>
            </p:cNvSpPr>
            <p:nvPr/>
          </p:nvSpPr>
          <p:spPr bwMode="auto">
            <a:xfrm>
              <a:off x="1428750" y="431006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2" name="Rectangle 140"/>
            <p:cNvSpPr>
              <a:spLocks noChangeArrowheads="1"/>
            </p:cNvSpPr>
            <p:nvPr/>
          </p:nvSpPr>
          <p:spPr bwMode="auto">
            <a:xfrm>
              <a:off x="3448050" y="2171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3" name="Rectangle 141"/>
            <p:cNvSpPr>
              <a:spLocks noChangeArrowheads="1"/>
            </p:cNvSpPr>
            <p:nvPr/>
          </p:nvSpPr>
          <p:spPr bwMode="auto">
            <a:xfrm>
              <a:off x="3273425" y="2552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64" name="Rectangle 142"/>
            <p:cNvSpPr>
              <a:spLocks noChangeArrowheads="1"/>
            </p:cNvSpPr>
            <p:nvPr/>
          </p:nvSpPr>
          <p:spPr bwMode="auto">
            <a:xfrm>
              <a:off x="3203575" y="27955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65" name="Rectangle 143"/>
            <p:cNvSpPr>
              <a:spLocks noChangeArrowheads="1"/>
            </p:cNvSpPr>
            <p:nvPr/>
          </p:nvSpPr>
          <p:spPr bwMode="auto">
            <a:xfrm>
              <a:off x="3049588" y="3241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66" name="Rectangle 144"/>
            <p:cNvSpPr>
              <a:spLocks noChangeArrowheads="1"/>
            </p:cNvSpPr>
            <p:nvPr/>
          </p:nvSpPr>
          <p:spPr bwMode="auto">
            <a:xfrm>
              <a:off x="3249613" y="3513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67" name="Rectangle 145"/>
            <p:cNvSpPr>
              <a:spLocks noChangeArrowheads="1"/>
            </p:cNvSpPr>
            <p:nvPr/>
          </p:nvSpPr>
          <p:spPr bwMode="auto">
            <a:xfrm>
              <a:off x="3203575" y="3803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8" name="Rectangle 146"/>
            <p:cNvSpPr>
              <a:spLocks noChangeArrowheads="1"/>
            </p:cNvSpPr>
            <p:nvPr/>
          </p:nvSpPr>
          <p:spPr bwMode="auto">
            <a:xfrm>
              <a:off x="2674938" y="4473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69" name="Rectangle 147"/>
            <p:cNvSpPr>
              <a:spLocks noChangeArrowheads="1"/>
            </p:cNvSpPr>
            <p:nvPr/>
          </p:nvSpPr>
          <p:spPr bwMode="auto">
            <a:xfrm>
              <a:off x="3203575" y="44529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70" name="Rectangle 148"/>
            <p:cNvSpPr>
              <a:spLocks noChangeArrowheads="1"/>
            </p:cNvSpPr>
            <p:nvPr/>
          </p:nvSpPr>
          <p:spPr bwMode="auto">
            <a:xfrm>
              <a:off x="3059113" y="4811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71" name="Rectangle 149"/>
            <p:cNvSpPr>
              <a:spLocks noChangeArrowheads="1"/>
            </p:cNvSpPr>
            <p:nvPr/>
          </p:nvSpPr>
          <p:spPr bwMode="auto">
            <a:xfrm>
              <a:off x="5567363" y="23177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72" name="Rectangle 150"/>
            <p:cNvSpPr>
              <a:spLocks noChangeArrowheads="1"/>
            </p:cNvSpPr>
            <p:nvPr/>
          </p:nvSpPr>
          <p:spPr bwMode="auto">
            <a:xfrm>
              <a:off x="5364163" y="2652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73" name="Rectangle 151"/>
            <p:cNvSpPr>
              <a:spLocks noChangeArrowheads="1"/>
            </p:cNvSpPr>
            <p:nvPr/>
          </p:nvSpPr>
          <p:spPr bwMode="auto">
            <a:xfrm>
              <a:off x="5268913" y="3295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74" name="Rectangle 152"/>
            <p:cNvSpPr>
              <a:spLocks noChangeArrowheads="1"/>
            </p:cNvSpPr>
            <p:nvPr/>
          </p:nvSpPr>
          <p:spPr bwMode="auto">
            <a:xfrm>
              <a:off x="5364163" y="37322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75" name="Rectangle 153"/>
            <p:cNvSpPr>
              <a:spLocks noChangeArrowheads="1"/>
            </p:cNvSpPr>
            <p:nvPr/>
          </p:nvSpPr>
          <p:spPr bwMode="auto">
            <a:xfrm>
              <a:off x="5364163" y="46688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76" name="Rectangle 154"/>
            <p:cNvSpPr>
              <a:spLocks noChangeArrowheads="1"/>
            </p:cNvSpPr>
            <p:nvPr/>
          </p:nvSpPr>
          <p:spPr bwMode="auto">
            <a:xfrm>
              <a:off x="5148263" y="43799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77" name="Rectangle 155"/>
            <p:cNvSpPr>
              <a:spLocks noChangeArrowheads="1"/>
            </p:cNvSpPr>
            <p:nvPr/>
          </p:nvSpPr>
          <p:spPr bwMode="auto">
            <a:xfrm>
              <a:off x="7337425" y="3024188"/>
              <a:ext cx="1778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10</a:t>
              </a:r>
              <a:endParaRPr kumimoji="1" lang="en-US" altLang="zh-CN" sz="1400">
                <a:latin typeface="Times New Roman" panose="02020603050405020304" pitchFamily="18" charset="0"/>
                <a:ea typeface="楷体" panose="02010609060101010101" pitchFamily="49" charset="-122"/>
              </a:endParaRPr>
            </a:p>
          </p:txBody>
        </p:sp>
        <p:sp>
          <p:nvSpPr>
            <p:cNvPr id="78" name="Rectangle 156"/>
            <p:cNvSpPr>
              <a:spLocks noChangeArrowheads="1"/>
            </p:cNvSpPr>
            <p:nvPr/>
          </p:nvSpPr>
          <p:spPr bwMode="auto">
            <a:xfrm>
              <a:off x="7262813" y="4273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79" name="Line 157"/>
            <p:cNvSpPr>
              <a:spLocks noChangeShapeType="1"/>
            </p:cNvSpPr>
            <p:nvPr/>
          </p:nvSpPr>
          <p:spPr bwMode="auto">
            <a:xfrm flipH="1" flipV="1">
              <a:off x="900113" y="3948113"/>
              <a:ext cx="1439862" cy="19446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 name="Oval 158"/>
            <p:cNvSpPr>
              <a:spLocks noChangeArrowheads="1"/>
            </p:cNvSpPr>
            <p:nvPr/>
          </p:nvSpPr>
          <p:spPr bwMode="auto">
            <a:xfrm>
              <a:off x="2339975" y="5748338"/>
              <a:ext cx="596900" cy="40481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graphicFrame>
          <p:nvGraphicFramePr>
            <p:cNvPr id="81" name="Object 159"/>
            <p:cNvGraphicFramePr>
              <a:graphicFrameLocks noChangeAspect="1"/>
            </p:cNvGraphicFramePr>
            <p:nvPr/>
          </p:nvGraphicFramePr>
          <p:xfrm>
            <a:off x="2484438" y="5792788"/>
            <a:ext cx="338137" cy="360362"/>
          </p:xfrm>
          <a:graphic>
            <a:graphicData uri="http://schemas.openxmlformats.org/presentationml/2006/ole">
              <mc:AlternateContent xmlns:mc="http://schemas.openxmlformats.org/markup-compatibility/2006">
                <mc:Choice xmlns:v="urn:schemas-microsoft-com:vml" Requires="v">
                  <p:oleObj spid="_x0000_s55411" name="公式" r:id="rId1" imgW="203200" imgH="215900" progId="Equation.3">
                    <p:embed/>
                  </p:oleObj>
                </mc:Choice>
                <mc:Fallback>
                  <p:oleObj name="公式" r:id="rId1" imgW="203200" imgH="215900" progId="Equation.3">
                    <p:embed/>
                    <p:pic>
                      <p:nvPicPr>
                        <p:cNvPr id="0" name="Object 15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5792788"/>
                          <a:ext cx="338137" cy="360362"/>
                        </a:xfrm>
                        <a:prstGeom prst="rect">
                          <a:avLst/>
                        </a:prstGeom>
                        <a:noFill/>
                        <a:ln>
                          <a:noFill/>
                        </a:ln>
                        <a:effectLst/>
                      </p:spPr>
                    </p:pic>
                  </p:oleObj>
                </mc:Fallback>
              </mc:AlternateContent>
            </a:graphicData>
          </a:graphic>
        </p:graphicFrame>
        <p:sp>
          <p:nvSpPr>
            <p:cNvPr id="82" name="Line 160"/>
            <p:cNvSpPr>
              <a:spLocks noChangeShapeType="1"/>
            </p:cNvSpPr>
            <p:nvPr/>
          </p:nvSpPr>
          <p:spPr bwMode="auto">
            <a:xfrm flipV="1">
              <a:off x="2987675" y="5245100"/>
              <a:ext cx="1728788" cy="7191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Rectangle 161"/>
            <p:cNvSpPr>
              <a:spLocks noChangeArrowheads="1"/>
            </p:cNvSpPr>
            <p:nvPr/>
          </p:nvSpPr>
          <p:spPr bwMode="auto">
            <a:xfrm>
              <a:off x="1692275" y="4092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84" name="Line 162"/>
            <p:cNvSpPr>
              <a:spLocks noChangeShapeType="1"/>
            </p:cNvSpPr>
            <p:nvPr/>
          </p:nvSpPr>
          <p:spPr bwMode="auto">
            <a:xfrm flipV="1">
              <a:off x="2916238" y="3948113"/>
              <a:ext cx="1943100" cy="18716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Line 163"/>
            <p:cNvSpPr>
              <a:spLocks noChangeShapeType="1"/>
            </p:cNvSpPr>
            <p:nvPr/>
          </p:nvSpPr>
          <p:spPr bwMode="auto">
            <a:xfrm flipV="1">
              <a:off x="2771775" y="2652713"/>
              <a:ext cx="2160588" cy="30956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Rectangle 164"/>
            <p:cNvSpPr>
              <a:spLocks noChangeArrowheads="1"/>
            </p:cNvSpPr>
            <p:nvPr/>
          </p:nvSpPr>
          <p:spPr bwMode="auto">
            <a:xfrm>
              <a:off x="2843213"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87" name="Rectangle 165"/>
            <p:cNvSpPr>
              <a:spLocks noChangeArrowheads="1"/>
            </p:cNvSpPr>
            <p:nvPr/>
          </p:nvSpPr>
          <p:spPr bwMode="auto">
            <a:xfrm>
              <a:off x="3132138"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88" name="Rectangle 166"/>
            <p:cNvSpPr>
              <a:spLocks noChangeArrowheads="1"/>
            </p:cNvSpPr>
            <p:nvPr/>
          </p:nvSpPr>
          <p:spPr bwMode="auto">
            <a:xfrm>
              <a:off x="3276600" y="55324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grpSp>
      <mc:AlternateContent xmlns:mc="http://schemas.openxmlformats.org/markup-compatibility/2006">
        <mc:Choice xmlns:a14="http://schemas.microsoft.com/office/drawing/2010/main" Requires="a14">
          <p:sp>
            <p:nvSpPr>
              <p:cNvPr id="89" name="Rectangle 3"/>
              <p:cNvSpPr>
                <a:spLocks noChangeArrowheads="1"/>
              </p:cNvSpPr>
              <p:nvPr/>
            </p:nvSpPr>
            <p:spPr bwMode="auto">
              <a:xfrm>
                <a:off x="1501326" y="4798229"/>
                <a:ext cx="9166674"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300"/>
                  </a:spcBef>
                  <a:spcAft>
                    <a:spcPts val="300"/>
                  </a:spcAft>
                </a:pPr>
                <a:r>
                  <a:rPr kumimoji="1" lang="zh-CN" altLang="en-US" sz="2000" b="1" dirty="0">
                    <a:solidFill>
                      <a:schemeClr val="tx1"/>
                    </a:solidFill>
                    <a:latin typeface="楷体" panose="02010609060101010101" pitchFamily="49" charset="-122"/>
                    <a:ea typeface="楷体" panose="02010609060101010101" pitchFamily="49" charset="-122"/>
                  </a:rPr>
                  <a:t>阶段</a:t>
                </a:r>
                <a14:m>
                  <m:oMath xmlns:m="http://schemas.openxmlformats.org/officeDocument/2006/math">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𝒌</m:t>
                    </m:r>
                  </m:oMath>
                </a14:m>
                <a:r>
                  <a:rPr kumimoji="1" lang="zh-CN" altLang="en-US" sz="2000" dirty="0">
                    <a:solidFill>
                      <a:schemeClr val="tx1"/>
                    </a:solidFill>
                    <a:latin typeface="楷体" panose="02010609060101010101" pitchFamily="49" charset="-122"/>
                    <a:ea typeface="楷体" panose="02010609060101010101" pitchFamily="49" charset="-122"/>
                  </a:rPr>
                  <a:t>：</a:t>
                </a:r>
                <a:r>
                  <a:rPr kumimoji="1" lang="en-US" altLang="zh-CN"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1,2,3,4,5</a:t>
                </a:r>
                <a:r>
                  <a:rPr kumimoji="1"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300"/>
                  </a:spcBef>
                  <a:spcAft>
                    <a:spcPts val="300"/>
                  </a:spcAft>
                </a:pPr>
                <a:r>
                  <a:rPr kumimoji="1" lang="zh-CN" altLang="en-US" sz="2000" b="1" dirty="0">
                    <a:solidFill>
                      <a:schemeClr val="tx1"/>
                    </a:solidFill>
                    <a:latin typeface="楷体" panose="02010609060101010101" pitchFamily="49" charset="-122"/>
                    <a:ea typeface="楷体" panose="02010609060101010101" pitchFamily="49" charset="-122"/>
                  </a:rPr>
                  <a:t>状态</a:t>
                </a:r>
                <a14:m>
                  <m:oMath xmlns:m="http://schemas.openxmlformats.org/officeDocument/2006/math">
                    <m:r>
                      <a:rPr kumimoji="1" lang="en-US" altLang="zh-CN" sz="2000" b="1" i="1" dirty="0" smtClean="0">
                        <a:solidFill>
                          <a:schemeClr val="tx1"/>
                        </a:solidFill>
                        <a:latin typeface="Cambria Math" panose="02040503050406030204" pitchFamily="18" charset="0"/>
                        <a:ea typeface="楷体" panose="02010609060101010101" pitchFamily="49" charset="-122"/>
                      </a:rPr>
                      <m:t>𝒔</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oMath>
                </a14:m>
                <a:r>
                  <a:rPr kumimoji="1" lang="zh-CN" altLang="en-US" sz="2000" dirty="0">
                    <a:solidFill>
                      <a:schemeClr val="tx1"/>
                    </a:solidFill>
                    <a:latin typeface="楷体" panose="02010609060101010101" pitchFamily="49" charset="-122"/>
                    <a:ea typeface="楷体" panose="02010609060101010101" pitchFamily="49" charset="-122"/>
                  </a:rPr>
                  <a:t>：</a:t>
                </a:r>
                <a14:m>
                  <m:oMath xmlns:m="http://schemas.openxmlformats.org/officeDocument/2006/math">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𝑨</m:t>
                    </m:r>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d>
                      <m:dPr>
                        <m:begChr m:val="{"/>
                        <m:endChr m:val="}"/>
                        <m:ctrlPr>
                          <a:rPr kumimoji="1" lang="en-US" altLang="zh-CN" sz="2000" b="1" i="1" dirty="0" smtClean="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 </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𝟑</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𝟒</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𝟑</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d>
                      <m:dPr>
                        <m:begChr m:val="{"/>
                        <m:endChr m:val="}"/>
                        <m:ctrlPr>
                          <a:rPr kumimoji="1" lang="en-US" altLang="zh-CN" sz="2000" b="1" i="1" dirty="0" smtClean="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𝟑</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𝟒</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d>
                      <m:dPr>
                        <m:begChr m:val="{"/>
                        <m:endChr m:val="}"/>
                        <m:ctrlPr>
                          <a:rPr kumimoji="1" lang="en-US" altLang="zh-CN" sz="2000" b="1" i="1" dirty="0" smtClean="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𝑫</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𝑫</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𝟓</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𝑬</m:t>
                    </m:r>
                  </m:oMath>
                </a14:m>
                <a:r>
                  <a:rPr kumimoji="1" lang="zh-CN" altLang="en-US" sz="2000" dirty="0">
                    <a:solidFill>
                      <a:schemeClr val="tx1"/>
                    </a:solidFill>
                    <a:latin typeface="楷体" panose="02010609060101010101" pitchFamily="49" charset="-122"/>
                    <a:ea typeface="楷体" panose="02010609060101010101" pitchFamily="49" charset="-122"/>
                  </a:rPr>
                  <a:t>    </a:t>
                </a:r>
                <a:r>
                  <a:rPr kumimoji="1" lang="zh-CN" altLang="en-US" sz="2000" b="1" dirty="0">
                    <a:solidFill>
                      <a:schemeClr val="tx1"/>
                    </a:solidFill>
                    <a:latin typeface="楷体" panose="02010609060101010101" pitchFamily="49" charset="-122"/>
                    <a:ea typeface="楷体" panose="02010609060101010101" pitchFamily="49" charset="-122"/>
                  </a:rPr>
                  <a:t>决策</a:t>
                </a:r>
                <a14:m>
                  <m:oMath xmlns:m="http://schemas.openxmlformats.org/officeDocument/2006/math">
                    <m:r>
                      <a:rPr kumimoji="1" lang="en-US" altLang="zh-CN" sz="2000" b="1" i="1" dirty="0" smtClean="0">
                        <a:solidFill>
                          <a:schemeClr val="tx1"/>
                        </a:solidFill>
                        <a:latin typeface="Cambria Math" panose="02040503050406030204" pitchFamily="18" charset="0"/>
                        <a:ea typeface="楷体" panose="02010609060101010101" pitchFamily="49" charset="-122"/>
                      </a:rPr>
                      <m:t>𝒙</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oMath>
                </a14:m>
                <a:r>
                  <a:rPr kumimoji="1" lang="zh-CN" altLang="en-US" sz="2000" dirty="0">
                    <a:solidFill>
                      <a:schemeClr val="tx1"/>
                    </a:solidFill>
                    <a:latin typeface="楷体" panose="02010609060101010101" pitchFamily="49" charset="-122"/>
                    <a:ea typeface="楷体" panose="02010609060101010101" pitchFamily="49" charset="-122"/>
                  </a:rPr>
                  <a:t>：</a:t>
                </a:r>
                <a:r>
                  <a:rPr kumimoji="1" lang="en-US" altLang="zh-CN" sz="2000" b="1" dirty="0">
                    <a:solidFill>
                      <a:schemeClr val="tx1"/>
                    </a:solidFill>
                    <a:ea typeface="楷体" panose="02010609060101010101" pitchFamily="49" charset="-122"/>
                  </a:rPr>
                  <a:t> </a:t>
                </a:r>
                <a14:m>
                  <m:oMath xmlns:m="http://schemas.openxmlformats.org/officeDocument/2006/math">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d>
                      <m:d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𝑨</m:t>
                        </m:r>
                      </m:e>
                    </m:d>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d>
                      <m:d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0" i="1" dirty="0" smtClean="0">
                            <a:solidFill>
                              <a:schemeClr val="tx1"/>
                            </a:solidFill>
                            <a:latin typeface="Cambria Math" panose="02040503050406030204" pitchFamily="18" charset="0"/>
                            <a:ea typeface="楷体" panose="02010609060101010101" pitchFamily="49" charset="-122"/>
                          </a:rPr>
                        </m:ctrlPr>
                      </m:sSubPr>
                      <m:e>
                        <m:r>
                          <m:rPr>
                            <m:sty m:val="p"/>
                          </m:rPr>
                          <a:rPr kumimoji="1" lang="en-US" altLang="zh-CN" sz="2000" b="0" i="0" dirty="0" smtClean="0">
                            <a:solidFill>
                              <a:schemeClr val="tx1"/>
                            </a:solidFill>
                            <a:latin typeface="Cambria Math" panose="02040503050406030204" pitchFamily="18" charset="0"/>
                            <a:ea typeface="楷体" panose="02010609060101010101" pitchFamily="49" charset="-122"/>
                          </a:rPr>
                          <m:t>C</m:t>
                        </m:r>
                      </m:e>
                      <m:sub>
                        <m:r>
                          <a:rPr kumimoji="1" lang="en-US" altLang="zh-CN" sz="2000" b="0" i="0" dirty="0" smtClean="0">
                            <a:solidFill>
                              <a:schemeClr val="tx1"/>
                            </a:solidFill>
                            <a:latin typeface="Cambria Math" panose="02040503050406030204" pitchFamily="18" charset="0"/>
                            <a:ea typeface="楷体" panose="02010609060101010101" pitchFamily="49" charset="-122"/>
                          </a:rPr>
                          <m:t>1</m:t>
                        </m:r>
                      </m:sub>
                    </m:sSub>
                    <m:r>
                      <a:rPr kumimoji="1" lang="en-US" altLang="zh-CN" sz="2000" b="0" i="0" dirty="0" smtClean="0">
                        <a:solidFill>
                          <a:schemeClr val="tx1"/>
                        </a:solidFill>
                        <a:latin typeface="Cambria Math" panose="02040503050406030204" pitchFamily="18" charset="0"/>
                        <a:ea typeface="楷体" panose="02010609060101010101" pitchFamily="49" charset="-122"/>
                      </a:rPr>
                      <m:t>,…</m:t>
                    </m:r>
                  </m:oMath>
                </a14:m>
                <a:r>
                  <a:rPr kumimoji="1" lang="zh-CN" altLang="en-US" sz="2000" dirty="0">
                    <a:solidFill>
                      <a:schemeClr val="tx1"/>
                    </a:solidFill>
                    <a:latin typeface="楷体" panose="02010609060101010101" pitchFamily="49" charset="-122"/>
                    <a:ea typeface="楷体" panose="02010609060101010101" pitchFamily="49" charset="-122"/>
                  </a:rPr>
                  <a:t>。</a:t>
                </a:r>
                <a:endParaRPr kumimoji="1" lang="zh-CN" altLang="en-US" sz="2000" dirty="0">
                  <a:solidFill>
                    <a:schemeClr val="tx1"/>
                  </a:solidFill>
                  <a:latin typeface="楷体" panose="02010609060101010101" pitchFamily="49" charset="-122"/>
                  <a:ea typeface="楷体" panose="02010609060101010101" pitchFamily="49" charset="-122"/>
                </a:endParaRPr>
              </a:p>
              <a:p>
                <a:pPr algn="just">
                  <a:spcBef>
                    <a:spcPts val="300"/>
                  </a:spcBef>
                  <a:spcAft>
                    <a:spcPts val="300"/>
                  </a:spcAft>
                </a:pPr>
                <a:r>
                  <a:rPr kumimoji="1" lang="zh-CN" altLang="en-US" sz="2000" b="1" dirty="0">
                    <a:solidFill>
                      <a:schemeClr val="tx1"/>
                    </a:solidFill>
                    <a:latin typeface="楷体" panose="02010609060101010101" pitchFamily="49" charset="-122"/>
                    <a:ea typeface="楷体" panose="02010609060101010101" pitchFamily="49" charset="-122"/>
                  </a:rPr>
                  <a:t>决策允许集合</a:t>
                </a:r>
                <a14:m>
                  <m:oMath xmlns:m="http://schemas.openxmlformats.org/officeDocument/2006/math">
                    <m:r>
                      <a:rPr kumimoji="1" lang="en-US" altLang="zh-CN" sz="2000" b="1" i="1" dirty="0" smtClean="0">
                        <a:solidFill>
                          <a:schemeClr val="tx1"/>
                        </a:solidFill>
                        <a:latin typeface="Cambria Math" panose="02040503050406030204" pitchFamily="18" charset="0"/>
                        <a:ea typeface="楷体" panose="02010609060101010101" pitchFamily="49" charset="-122"/>
                      </a:rPr>
                      <m:t>𝑫</m:t>
                    </m:r>
                    <m:r>
                      <a:rPr kumimoji="1" lang="en-US" altLang="zh-CN" sz="2000" b="1" i="1" baseline="-25000" dirty="0">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err="1">
                        <a:solidFill>
                          <a:schemeClr val="tx1"/>
                        </a:solidFill>
                        <a:latin typeface="Cambria Math" panose="02040503050406030204" pitchFamily="18" charset="0"/>
                        <a:ea typeface="楷体" panose="02010609060101010101" pitchFamily="49" charset="-122"/>
                      </a:rPr>
                      <m:t>𝒔</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oMath>
                </a14:m>
                <a:r>
                  <a:rPr kumimoji="1" lang="zh-CN" altLang="en-US" sz="2000" dirty="0">
                    <a:solidFill>
                      <a:schemeClr val="tx1"/>
                    </a:solidFill>
                    <a:latin typeface="楷体" panose="02010609060101010101" pitchFamily="49" charset="-122"/>
                    <a:ea typeface="楷体" panose="02010609060101010101" pitchFamily="49" charset="-122"/>
                  </a:rPr>
                  <a:t>：</a:t>
                </a:r>
                <a:r>
                  <a:rPr kumimoji="1" lang="en-US" altLang="zh-CN" sz="2000" b="1" dirty="0">
                    <a:solidFill>
                      <a:schemeClr val="tx1"/>
                    </a:solidFill>
                    <a:ea typeface="楷体" panose="02010609060101010101" pitchFamily="49" charset="-122"/>
                  </a:rPr>
                  <a:t> </a:t>
                </a:r>
                <a14:m>
                  <m:oMath xmlns:m="http://schemas.openxmlformats.org/officeDocument/2006/math">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𝑫</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d>
                      <m:dPr>
                        <m:ctrlPr>
                          <a:rPr kumimoji="1" lang="en-US" altLang="zh-CN" sz="2000" b="1" i="1" dirty="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𝑨</m:t>
                        </m:r>
                      </m:e>
                    </m:d>
                    <m:r>
                      <a:rPr kumimoji="1" lang="en-US" altLang="zh-CN" sz="2000" b="1" i="1" dirty="0" smtClean="0">
                        <a:solidFill>
                          <a:schemeClr val="tx1"/>
                        </a:solidFill>
                        <a:latin typeface="Cambria Math" panose="02040503050406030204" pitchFamily="18" charset="0"/>
                        <a:ea typeface="楷体" panose="02010609060101010101" pitchFamily="49" charset="-122"/>
                      </a:rPr>
                      <m:t>=</m:t>
                    </m:r>
                  </m:oMath>
                </a14:m>
                <a:r>
                  <a:rPr kumimoji="1" lang="en-US" altLang="zh-CN" sz="2000" b="1" dirty="0">
                    <a:solidFill>
                      <a:schemeClr val="tx1"/>
                    </a:solidFill>
                    <a:ea typeface="楷体" panose="02010609060101010101" pitchFamily="49" charset="-122"/>
                  </a:rPr>
                  <a:t> </a:t>
                </a:r>
                <a14:m>
                  <m:oMath xmlns:m="http://schemas.openxmlformats.org/officeDocument/2006/math">
                    <m:d>
                      <m:dPr>
                        <m:begChr m:val="{"/>
                        <m:endChr m:val="}"/>
                        <m:ctrlPr>
                          <a:rPr kumimoji="1" lang="en-US" altLang="zh-CN" sz="2000" b="1" i="1" dirty="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𝑩</m:t>
                            </m:r>
                          </m:e>
                          <m:sub>
                            <m:r>
                              <a:rPr kumimoji="1" lang="en-US" altLang="zh-CN" sz="2000" b="1" i="1" dirty="0">
                                <a:solidFill>
                                  <a:schemeClr val="tx1"/>
                                </a:solidFill>
                                <a:latin typeface="Cambria Math" panose="02040503050406030204" pitchFamily="18" charset="0"/>
                                <a:ea typeface="楷体" panose="02010609060101010101" pitchFamily="49" charset="-122"/>
                              </a:rPr>
                              <m:t>𝟏</m:t>
                            </m:r>
                          </m:sub>
                        </m:sSub>
                        <m:r>
                          <a:rPr kumimoji="1" lang="en-US" altLang="zh-CN" sz="2000" b="1" i="1" dirty="0">
                            <a:solidFill>
                              <a:schemeClr val="tx1"/>
                            </a:solidFill>
                            <a:latin typeface="Cambria Math" panose="02040503050406030204" pitchFamily="18" charset="0"/>
                            <a:ea typeface="楷体" panose="02010609060101010101" pitchFamily="49" charset="-122"/>
                          </a:rPr>
                          <m:t>, </m:t>
                        </m:r>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𝑩</m:t>
                            </m:r>
                          </m:e>
                          <m:sub>
                            <m:r>
                              <a:rPr kumimoji="1" lang="en-US" altLang="zh-CN" sz="2000" b="1" i="1" dirty="0">
                                <a:solidFill>
                                  <a:schemeClr val="tx1"/>
                                </a:solidFill>
                                <a:latin typeface="Cambria Math" panose="02040503050406030204" pitchFamily="18" charset="0"/>
                                <a:ea typeface="楷体" panose="02010609060101010101" pitchFamily="49" charset="-122"/>
                              </a:rPr>
                              <m:t>𝟐</m:t>
                            </m:r>
                          </m:sub>
                        </m:sSub>
                        <m:r>
                          <a:rPr kumimoji="1" lang="en-US" altLang="zh-CN" sz="2000" b="1" i="1" dirty="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𝑩</m:t>
                            </m:r>
                          </m:e>
                          <m:sub>
                            <m:r>
                              <a:rPr kumimoji="1" lang="en-US" altLang="zh-CN" sz="2000" b="1" i="1" dirty="0">
                                <a:solidFill>
                                  <a:schemeClr val="tx1"/>
                                </a:solidFill>
                                <a:latin typeface="Cambria Math" panose="02040503050406030204" pitchFamily="18" charset="0"/>
                                <a:ea typeface="楷体" panose="02010609060101010101" pitchFamily="49" charset="-122"/>
                              </a:rPr>
                              <m:t>𝟑</m:t>
                            </m:r>
                          </m:sub>
                        </m:sSub>
                        <m:r>
                          <a:rPr kumimoji="1" lang="en-US" altLang="zh-CN" sz="2000" b="1" i="1" dirty="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𝑩</m:t>
                            </m:r>
                          </m:e>
                          <m:sub>
                            <m:r>
                              <a:rPr kumimoji="1" lang="en-US" altLang="zh-CN" sz="2000" b="1" i="1" dirty="0">
                                <a:solidFill>
                                  <a:schemeClr val="tx1"/>
                                </a:solidFill>
                                <a:latin typeface="Cambria Math" panose="02040503050406030204" pitchFamily="18" charset="0"/>
                                <a:ea typeface="楷体" panose="02010609060101010101" pitchFamily="49" charset="-122"/>
                              </a:rPr>
                              <m:t>𝟒</m:t>
                            </m:r>
                          </m:sub>
                        </m:sSub>
                      </m:e>
                    </m:d>
                  </m:oMath>
                </a14:m>
                <a:endParaRPr kumimoji="1" lang="en-US" altLang="zh-CN" sz="2000" dirty="0">
                  <a:solidFill>
                    <a:schemeClr val="tx1"/>
                  </a:solidFill>
                  <a:latin typeface="楷体" panose="02010609060101010101" pitchFamily="49" charset="-122"/>
                  <a:ea typeface="楷体" panose="02010609060101010101" pitchFamily="49" charset="-122"/>
                </a:endParaRPr>
              </a:p>
              <a:p>
                <a:pPr algn="just">
                  <a:spcBef>
                    <a:spcPts val="300"/>
                  </a:spcBef>
                  <a:spcAft>
                    <a:spcPts val="300"/>
                  </a:spcAft>
                </a:pPr>
                <a:r>
                  <a:rPr kumimoji="1" lang="zh-CN" altLang="en-US" sz="2000" b="1" dirty="0">
                    <a:solidFill>
                      <a:schemeClr val="tx1"/>
                    </a:solidFill>
                    <a:latin typeface="楷体" panose="02010609060101010101" pitchFamily="49" charset="-122"/>
                    <a:ea typeface="楷体" panose="02010609060101010101" pitchFamily="49" charset="-122"/>
                  </a:rPr>
                  <a:t>策略</a:t>
                </a:r>
                <a14:m>
                  <m:oMath xmlns:m="http://schemas.openxmlformats.org/officeDocument/2006/math">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𝑷</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𝒌</m:t>
                        </m:r>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𝒏</m:t>
                        </m:r>
                      </m:sub>
                    </m:sSub>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err="1">
                        <a:solidFill>
                          <a:schemeClr val="tx1"/>
                        </a:solidFill>
                        <a:latin typeface="Cambria Math" panose="02040503050406030204" pitchFamily="18" charset="0"/>
                        <a:ea typeface="楷体" panose="02010609060101010101" pitchFamily="49" charset="-122"/>
                      </a:rPr>
                      <m:t>𝒔</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oMath>
                </a14:m>
                <a:r>
                  <a:rPr kumimoji="1" lang="zh-CN" altLang="en-US" sz="2000" dirty="0">
                    <a:solidFill>
                      <a:schemeClr val="tx1"/>
                    </a:solidFill>
                    <a:latin typeface="楷体" panose="02010609060101010101" pitchFamily="49" charset="-122"/>
                    <a:ea typeface="楷体" panose="02010609060101010101" pitchFamily="49" charset="-122"/>
                  </a:rPr>
                  <a:t>：</a:t>
                </a:r>
                <a:r>
                  <a:rPr kumimoji="1" lang="en-US" altLang="zh-CN" sz="2000" b="1" dirty="0">
                    <a:solidFill>
                      <a:schemeClr val="tx1"/>
                    </a:solidFill>
                    <a:ea typeface="楷体" panose="02010609060101010101" pitchFamily="49" charset="-122"/>
                  </a:rPr>
                  <a:t> </a:t>
                </a:r>
                <a14:m>
                  <m:oMath xmlns:m="http://schemas.openxmlformats.org/officeDocument/2006/math">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𝑷</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𝟓</m:t>
                        </m:r>
                      </m:sub>
                    </m:sSub>
                    <m:d>
                      <m:dPr>
                        <m:ctrlPr>
                          <a:rPr kumimoji="1" lang="en-US" altLang="zh-CN" sz="2000" b="1" i="1" dirty="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𝑫</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𝑬</m:t>
                    </m:r>
                  </m:oMath>
                </a14:m>
                <a:endParaRPr kumimoji="1" lang="en-US" altLang="zh-CN" sz="2000" dirty="0">
                  <a:solidFill>
                    <a:schemeClr val="tx1"/>
                  </a:solidFill>
                  <a:latin typeface="楷体" panose="02010609060101010101" pitchFamily="49" charset="-122"/>
                  <a:ea typeface="楷体" panose="02010609060101010101" pitchFamily="49" charset="-122"/>
                </a:endParaRPr>
              </a:p>
            </p:txBody>
          </p:sp>
        </mc:Choice>
        <mc:Fallback>
          <p:sp>
            <p:nvSpPr>
              <p:cNvPr id="89" name="Rectangle 3"/>
              <p:cNvSpPr>
                <a:spLocks noRot="1" noChangeAspect="1" noMove="1" noResize="1" noEditPoints="1" noAdjustHandles="1" noChangeArrowheads="1" noChangeShapeType="1" noTextEdit="1"/>
              </p:cNvSpPr>
              <p:nvPr/>
            </p:nvSpPr>
            <p:spPr bwMode="auto">
              <a:xfrm>
                <a:off x="1501326" y="4798229"/>
                <a:ext cx="9166674" cy="1871662"/>
              </a:xfrm>
              <a:prstGeom prst="rect">
                <a:avLst/>
              </a:prstGeom>
              <a:blipFill rotWithShape="1">
                <a:blip r:embed="rId3"/>
                <a:stretch>
                  <a:fillRect l="-2" t="-9" b="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45493" y="952987"/>
            <a:ext cx="8101013" cy="4186238"/>
            <a:chOff x="606425" y="2171700"/>
            <a:chExt cx="8101013" cy="4186238"/>
          </a:xfrm>
        </p:grpSpPr>
        <p:sp>
          <p:nvSpPr>
            <p:cNvPr id="7" name="AutoShape 87"/>
            <p:cNvSpPr>
              <a:spLocks noChangeAspect="1" noChangeArrowheads="1" noTextEdit="1"/>
            </p:cNvSpPr>
            <p:nvPr/>
          </p:nvSpPr>
          <p:spPr bwMode="auto">
            <a:xfrm>
              <a:off x="642938" y="2281238"/>
              <a:ext cx="8064500" cy="407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 name="Oval 88"/>
            <p:cNvSpPr>
              <a:spLocks noChangeArrowheads="1"/>
            </p:cNvSpPr>
            <p:nvPr/>
          </p:nvSpPr>
          <p:spPr bwMode="auto">
            <a:xfrm>
              <a:off x="2425700"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1" name="Rectangle 89"/>
            <p:cNvSpPr>
              <a:spLocks noChangeArrowheads="1"/>
            </p:cNvSpPr>
            <p:nvPr/>
          </p:nvSpPr>
          <p:spPr bwMode="auto">
            <a:xfrm>
              <a:off x="2600325"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grpSp>
          <p:nvGrpSpPr>
            <p:cNvPr id="12" name="Group 90"/>
            <p:cNvGrpSpPr/>
            <p:nvPr/>
          </p:nvGrpSpPr>
          <p:grpSpPr bwMode="auto">
            <a:xfrm>
              <a:off x="606425" y="3522663"/>
              <a:ext cx="598488" cy="415925"/>
              <a:chOff x="382" y="2663"/>
              <a:chExt cx="377" cy="262"/>
            </a:xfrm>
          </p:grpSpPr>
          <p:sp>
            <p:nvSpPr>
              <p:cNvPr id="13" name="Oval 91"/>
              <p:cNvSpPr>
                <a:spLocks noChangeArrowheads="1"/>
              </p:cNvSpPr>
              <p:nvPr/>
            </p:nvSpPr>
            <p:spPr bwMode="auto">
              <a:xfrm>
                <a:off x="382" y="2663"/>
                <a:ext cx="377" cy="26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4" name="Rectangle 92"/>
              <p:cNvSpPr>
                <a:spLocks noChangeArrowheads="1"/>
              </p:cNvSpPr>
              <p:nvPr/>
            </p:nvSpPr>
            <p:spPr bwMode="auto">
              <a:xfrm>
                <a:off x="492" y="2702"/>
                <a:ext cx="8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A</a:t>
                </a:r>
                <a:endParaRPr kumimoji="1" lang="en-US" altLang="zh-CN" sz="1400">
                  <a:latin typeface="Times New Roman" panose="02020603050405020304" pitchFamily="18" charset="0"/>
                  <a:ea typeface="楷体" panose="02010609060101010101" pitchFamily="49" charset="-122"/>
                </a:endParaRPr>
              </a:p>
            </p:txBody>
          </p:sp>
        </p:grpSp>
        <p:sp>
          <p:nvSpPr>
            <p:cNvPr id="15" name="Oval 93"/>
            <p:cNvSpPr>
              <a:spLocks noChangeArrowheads="1"/>
            </p:cNvSpPr>
            <p:nvPr/>
          </p:nvSpPr>
          <p:spPr bwMode="auto">
            <a:xfrm>
              <a:off x="4595813" y="2235200"/>
              <a:ext cx="598487" cy="417513"/>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6" name="Rectangle 94"/>
            <p:cNvSpPr>
              <a:spLocks noChangeArrowheads="1"/>
            </p:cNvSpPr>
            <p:nvPr/>
          </p:nvSpPr>
          <p:spPr bwMode="auto">
            <a:xfrm>
              <a:off x="4770438" y="229870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17" name="Oval 95"/>
            <p:cNvSpPr>
              <a:spLocks noChangeArrowheads="1"/>
            </p:cNvSpPr>
            <p:nvPr/>
          </p:nvSpPr>
          <p:spPr bwMode="auto">
            <a:xfrm>
              <a:off x="2425700" y="2254250"/>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8" name="Rectangle 96"/>
            <p:cNvSpPr>
              <a:spLocks noChangeArrowheads="1"/>
            </p:cNvSpPr>
            <p:nvPr/>
          </p:nvSpPr>
          <p:spPr bwMode="auto">
            <a:xfrm>
              <a:off x="2600325" y="23177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19" name="Oval 97"/>
            <p:cNvSpPr>
              <a:spLocks noChangeArrowheads="1"/>
            </p:cNvSpPr>
            <p:nvPr/>
          </p:nvSpPr>
          <p:spPr bwMode="auto">
            <a:xfrm>
              <a:off x="6415088" y="2887663"/>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0" name="Rectangle 98"/>
            <p:cNvSpPr>
              <a:spLocks noChangeArrowheads="1"/>
            </p:cNvSpPr>
            <p:nvPr/>
          </p:nvSpPr>
          <p:spPr bwMode="auto">
            <a:xfrm>
              <a:off x="6564313" y="2951163"/>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21" name="Oval 99"/>
            <p:cNvSpPr>
              <a:spLocks noChangeArrowheads="1"/>
            </p:cNvSpPr>
            <p:nvPr/>
          </p:nvSpPr>
          <p:spPr bwMode="auto">
            <a:xfrm>
              <a:off x="2401888" y="4845050"/>
              <a:ext cx="596900"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2" name="Rectangle 100"/>
            <p:cNvSpPr>
              <a:spLocks noChangeArrowheads="1"/>
            </p:cNvSpPr>
            <p:nvPr/>
          </p:nvSpPr>
          <p:spPr bwMode="auto">
            <a:xfrm>
              <a:off x="2576513" y="4908550"/>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B</a:t>
              </a:r>
              <a:endParaRPr kumimoji="1" lang="en-US" altLang="zh-CN" sz="1400">
                <a:latin typeface="Times New Roman" panose="02020603050405020304" pitchFamily="18" charset="0"/>
                <a:ea typeface="楷体" panose="02010609060101010101" pitchFamily="49" charset="-122"/>
              </a:endParaRPr>
            </a:p>
          </p:txBody>
        </p:sp>
        <p:sp>
          <p:nvSpPr>
            <p:cNvPr id="23" name="Oval 101"/>
            <p:cNvSpPr>
              <a:spLocks noChangeArrowheads="1"/>
            </p:cNvSpPr>
            <p:nvPr/>
          </p:nvSpPr>
          <p:spPr bwMode="auto">
            <a:xfrm>
              <a:off x="4595813" y="354012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4" name="Rectangle 102"/>
            <p:cNvSpPr>
              <a:spLocks noChangeArrowheads="1"/>
            </p:cNvSpPr>
            <p:nvPr/>
          </p:nvSpPr>
          <p:spPr bwMode="auto">
            <a:xfrm>
              <a:off x="4770438" y="3603625"/>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25" name="Oval 103"/>
            <p:cNvSpPr>
              <a:spLocks noChangeArrowheads="1"/>
            </p:cNvSpPr>
            <p:nvPr/>
          </p:nvSpPr>
          <p:spPr bwMode="auto">
            <a:xfrm>
              <a:off x="6389688" y="4283075"/>
              <a:ext cx="598487"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6" name="Rectangle 104"/>
            <p:cNvSpPr>
              <a:spLocks noChangeArrowheads="1"/>
            </p:cNvSpPr>
            <p:nvPr/>
          </p:nvSpPr>
          <p:spPr bwMode="auto">
            <a:xfrm>
              <a:off x="6515100" y="4346575"/>
              <a:ext cx="12827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D</a:t>
              </a:r>
              <a:endParaRPr kumimoji="1" lang="en-US" altLang="zh-CN" sz="1400">
                <a:latin typeface="Times New Roman" panose="02020603050405020304" pitchFamily="18" charset="0"/>
                <a:ea typeface="楷体" panose="02010609060101010101" pitchFamily="49" charset="-122"/>
              </a:endParaRPr>
            </a:p>
          </p:txBody>
        </p:sp>
        <p:sp>
          <p:nvSpPr>
            <p:cNvPr id="27" name="Oval 105"/>
            <p:cNvSpPr>
              <a:spLocks noChangeArrowheads="1"/>
            </p:cNvSpPr>
            <p:nvPr/>
          </p:nvSpPr>
          <p:spPr bwMode="auto">
            <a:xfrm>
              <a:off x="8010525" y="3540125"/>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8" name="Rectangle 106"/>
            <p:cNvSpPr>
              <a:spLocks noChangeArrowheads="1"/>
            </p:cNvSpPr>
            <p:nvPr/>
          </p:nvSpPr>
          <p:spPr bwMode="auto">
            <a:xfrm>
              <a:off x="8185150" y="3603625"/>
              <a:ext cx="10858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E</a:t>
              </a:r>
              <a:endParaRPr kumimoji="1" lang="en-US" altLang="zh-CN" sz="1400">
                <a:latin typeface="Times New Roman" panose="02020603050405020304" pitchFamily="18" charset="0"/>
                <a:ea typeface="楷体" panose="02010609060101010101" pitchFamily="49" charset="-122"/>
              </a:endParaRPr>
            </a:p>
          </p:txBody>
        </p:sp>
        <p:sp>
          <p:nvSpPr>
            <p:cNvPr id="29" name="Oval 107"/>
            <p:cNvSpPr>
              <a:spLocks noChangeArrowheads="1"/>
            </p:cNvSpPr>
            <p:nvPr/>
          </p:nvSpPr>
          <p:spPr bwMode="auto">
            <a:xfrm>
              <a:off x="4619625" y="4862513"/>
              <a:ext cx="598488" cy="415925"/>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0" name="Rectangle 108"/>
            <p:cNvSpPr>
              <a:spLocks noChangeArrowheads="1"/>
            </p:cNvSpPr>
            <p:nvPr/>
          </p:nvSpPr>
          <p:spPr bwMode="auto">
            <a:xfrm>
              <a:off x="4794250" y="4926013"/>
              <a:ext cx="118745"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C</a:t>
              </a:r>
              <a:endParaRPr kumimoji="1" lang="en-US" altLang="zh-CN" sz="1400">
                <a:latin typeface="Times New Roman" panose="02020603050405020304" pitchFamily="18" charset="0"/>
                <a:ea typeface="楷体" panose="02010609060101010101" pitchFamily="49" charset="-122"/>
              </a:endParaRPr>
            </a:p>
          </p:txBody>
        </p:sp>
        <p:sp>
          <p:nvSpPr>
            <p:cNvPr id="31" name="Line 109"/>
            <p:cNvSpPr>
              <a:spLocks noChangeShapeType="1"/>
            </p:cNvSpPr>
            <p:nvPr/>
          </p:nvSpPr>
          <p:spPr bwMode="auto">
            <a:xfrm flipV="1">
              <a:off x="1104900" y="2570163"/>
              <a:ext cx="1371600" cy="9969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110"/>
            <p:cNvSpPr>
              <a:spLocks noChangeShapeType="1"/>
            </p:cNvSpPr>
            <p:nvPr/>
          </p:nvSpPr>
          <p:spPr bwMode="auto">
            <a:xfrm>
              <a:off x="1055688" y="3892550"/>
              <a:ext cx="1420812" cy="1033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111"/>
            <p:cNvSpPr>
              <a:spLocks noChangeShapeType="1"/>
            </p:cNvSpPr>
            <p:nvPr/>
          </p:nvSpPr>
          <p:spPr bwMode="auto">
            <a:xfrm>
              <a:off x="3000375" y="505301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112"/>
            <p:cNvSpPr>
              <a:spLocks noChangeShapeType="1"/>
            </p:cNvSpPr>
            <p:nvPr/>
          </p:nvSpPr>
          <p:spPr bwMode="auto">
            <a:xfrm>
              <a:off x="3000375" y="2443163"/>
              <a:ext cx="15954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113"/>
            <p:cNvSpPr>
              <a:spLocks noChangeShapeType="1"/>
            </p:cNvSpPr>
            <p:nvPr/>
          </p:nvSpPr>
          <p:spPr bwMode="auto">
            <a:xfrm>
              <a:off x="3024188" y="3730625"/>
              <a:ext cx="15954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114"/>
            <p:cNvSpPr>
              <a:spLocks noChangeShapeType="1"/>
            </p:cNvSpPr>
            <p:nvPr/>
          </p:nvSpPr>
          <p:spPr bwMode="auto">
            <a:xfrm>
              <a:off x="1179513" y="3730625"/>
              <a:ext cx="124618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115"/>
            <p:cNvSpPr>
              <a:spLocks noChangeShapeType="1"/>
            </p:cNvSpPr>
            <p:nvPr/>
          </p:nvSpPr>
          <p:spPr bwMode="auto">
            <a:xfrm>
              <a:off x="5168900" y="2498725"/>
              <a:ext cx="1271588" cy="4699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116"/>
            <p:cNvSpPr>
              <a:spLocks noChangeShapeType="1"/>
            </p:cNvSpPr>
            <p:nvPr/>
          </p:nvSpPr>
          <p:spPr bwMode="auto">
            <a:xfrm>
              <a:off x="6988175" y="3168650"/>
              <a:ext cx="1122363" cy="415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117"/>
            <p:cNvSpPr>
              <a:spLocks noChangeShapeType="1"/>
            </p:cNvSpPr>
            <p:nvPr/>
          </p:nvSpPr>
          <p:spPr bwMode="auto">
            <a:xfrm flipV="1">
              <a:off x="5194300" y="4564063"/>
              <a:ext cx="1195388" cy="4524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118"/>
            <p:cNvSpPr>
              <a:spLocks noChangeShapeType="1"/>
            </p:cNvSpPr>
            <p:nvPr/>
          </p:nvSpPr>
          <p:spPr bwMode="auto">
            <a:xfrm flipV="1">
              <a:off x="6938963" y="3929063"/>
              <a:ext cx="1246187" cy="4349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119"/>
            <p:cNvSpPr>
              <a:spLocks noChangeShapeType="1"/>
            </p:cNvSpPr>
            <p:nvPr/>
          </p:nvSpPr>
          <p:spPr bwMode="auto">
            <a:xfrm>
              <a:off x="2949575" y="2589213"/>
              <a:ext cx="1720850" cy="9953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120"/>
            <p:cNvSpPr>
              <a:spLocks noChangeShapeType="1"/>
            </p:cNvSpPr>
            <p:nvPr/>
          </p:nvSpPr>
          <p:spPr bwMode="auto">
            <a:xfrm flipV="1">
              <a:off x="2924175" y="2508250"/>
              <a:ext cx="1647825" cy="10763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121"/>
            <p:cNvSpPr>
              <a:spLocks noChangeShapeType="1"/>
            </p:cNvSpPr>
            <p:nvPr/>
          </p:nvSpPr>
          <p:spPr bwMode="auto">
            <a:xfrm flipV="1">
              <a:off x="2900363" y="3892550"/>
              <a:ext cx="1770062" cy="10160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122"/>
            <p:cNvSpPr>
              <a:spLocks noChangeShapeType="1"/>
            </p:cNvSpPr>
            <p:nvPr/>
          </p:nvSpPr>
          <p:spPr bwMode="auto">
            <a:xfrm>
              <a:off x="2949575" y="3875088"/>
              <a:ext cx="1720850" cy="10509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123"/>
            <p:cNvSpPr>
              <a:spLocks noChangeShapeType="1"/>
            </p:cNvSpPr>
            <p:nvPr/>
          </p:nvSpPr>
          <p:spPr bwMode="auto">
            <a:xfrm>
              <a:off x="2849563" y="2643188"/>
              <a:ext cx="1995487" cy="220980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124"/>
            <p:cNvSpPr>
              <a:spLocks noChangeShapeType="1"/>
            </p:cNvSpPr>
            <p:nvPr/>
          </p:nvSpPr>
          <p:spPr bwMode="auto">
            <a:xfrm flipV="1">
              <a:off x="2825750" y="2652713"/>
              <a:ext cx="1890713" cy="220027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125"/>
            <p:cNvSpPr>
              <a:spLocks noChangeShapeType="1"/>
            </p:cNvSpPr>
            <p:nvPr/>
          </p:nvSpPr>
          <p:spPr bwMode="auto">
            <a:xfrm>
              <a:off x="5094288" y="2589213"/>
              <a:ext cx="1520825" cy="17208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126"/>
            <p:cNvSpPr>
              <a:spLocks noChangeShapeType="1"/>
            </p:cNvSpPr>
            <p:nvPr/>
          </p:nvSpPr>
          <p:spPr bwMode="auto">
            <a:xfrm flipV="1">
              <a:off x="5068888" y="3276600"/>
              <a:ext cx="1495425" cy="15954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127"/>
            <p:cNvSpPr>
              <a:spLocks noChangeShapeType="1"/>
            </p:cNvSpPr>
            <p:nvPr/>
          </p:nvSpPr>
          <p:spPr bwMode="auto">
            <a:xfrm flipV="1">
              <a:off x="5143500" y="3186113"/>
              <a:ext cx="1296988" cy="4540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128"/>
            <p:cNvSpPr>
              <a:spLocks noChangeShapeType="1"/>
            </p:cNvSpPr>
            <p:nvPr/>
          </p:nvSpPr>
          <p:spPr bwMode="auto">
            <a:xfrm>
              <a:off x="5143500" y="3857625"/>
              <a:ext cx="1296988" cy="525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Rectangle 129"/>
            <p:cNvSpPr>
              <a:spLocks noChangeArrowheads="1"/>
            </p:cNvSpPr>
            <p:nvPr/>
          </p:nvSpPr>
          <p:spPr bwMode="auto">
            <a:xfrm>
              <a:off x="1503363" y="28971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52" name="Rectangle 130"/>
            <p:cNvSpPr>
              <a:spLocks noChangeArrowheads="1"/>
            </p:cNvSpPr>
            <p:nvPr/>
          </p:nvSpPr>
          <p:spPr bwMode="auto">
            <a:xfrm>
              <a:off x="2825750" y="24082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53" name="Rectangle 131"/>
            <p:cNvSpPr>
              <a:spLocks noChangeArrowheads="1"/>
            </p:cNvSpPr>
            <p:nvPr/>
          </p:nvSpPr>
          <p:spPr bwMode="auto">
            <a:xfrm>
              <a:off x="2774950"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54" name="Rectangle 132"/>
            <p:cNvSpPr>
              <a:spLocks noChangeArrowheads="1"/>
            </p:cNvSpPr>
            <p:nvPr/>
          </p:nvSpPr>
          <p:spPr bwMode="auto">
            <a:xfrm>
              <a:off x="2749550" y="49799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55" name="Rectangle 133"/>
            <p:cNvSpPr>
              <a:spLocks noChangeArrowheads="1"/>
            </p:cNvSpPr>
            <p:nvPr/>
          </p:nvSpPr>
          <p:spPr bwMode="auto">
            <a:xfrm>
              <a:off x="4968875" y="2352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56" name="Rectangle 134"/>
            <p:cNvSpPr>
              <a:spLocks noChangeArrowheads="1"/>
            </p:cNvSpPr>
            <p:nvPr/>
          </p:nvSpPr>
          <p:spPr bwMode="auto">
            <a:xfrm>
              <a:off x="4945063" y="36576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57" name="Rectangle 135"/>
            <p:cNvSpPr>
              <a:spLocks noChangeArrowheads="1"/>
            </p:cNvSpPr>
            <p:nvPr/>
          </p:nvSpPr>
          <p:spPr bwMode="auto">
            <a:xfrm>
              <a:off x="4968875" y="49990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58" name="Rectangle 136"/>
            <p:cNvSpPr>
              <a:spLocks noChangeArrowheads="1"/>
            </p:cNvSpPr>
            <p:nvPr/>
          </p:nvSpPr>
          <p:spPr bwMode="auto">
            <a:xfrm>
              <a:off x="6764338" y="3005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59" name="Rectangle 137"/>
            <p:cNvSpPr>
              <a:spLocks noChangeArrowheads="1"/>
            </p:cNvSpPr>
            <p:nvPr/>
          </p:nvSpPr>
          <p:spPr bwMode="auto">
            <a:xfrm>
              <a:off x="6738938" y="4400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0" name="Rectangle 138"/>
            <p:cNvSpPr>
              <a:spLocks noChangeArrowheads="1"/>
            </p:cNvSpPr>
            <p:nvPr/>
          </p:nvSpPr>
          <p:spPr bwMode="auto">
            <a:xfrm>
              <a:off x="1852613" y="347662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61" name="Rectangle 139"/>
            <p:cNvSpPr>
              <a:spLocks noChangeArrowheads="1"/>
            </p:cNvSpPr>
            <p:nvPr/>
          </p:nvSpPr>
          <p:spPr bwMode="auto">
            <a:xfrm>
              <a:off x="1428750" y="431006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2" name="Rectangle 140"/>
            <p:cNvSpPr>
              <a:spLocks noChangeArrowheads="1"/>
            </p:cNvSpPr>
            <p:nvPr/>
          </p:nvSpPr>
          <p:spPr bwMode="auto">
            <a:xfrm>
              <a:off x="3448050" y="2171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3" name="Rectangle 141"/>
            <p:cNvSpPr>
              <a:spLocks noChangeArrowheads="1"/>
            </p:cNvSpPr>
            <p:nvPr/>
          </p:nvSpPr>
          <p:spPr bwMode="auto">
            <a:xfrm>
              <a:off x="3273425" y="255270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64" name="Rectangle 142"/>
            <p:cNvSpPr>
              <a:spLocks noChangeArrowheads="1"/>
            </p:cNvSpPr>
            <p:nvPr/>
          </p:nvSpPr>
          <p:spPr bwMode="auto">
            <a:xfrm>
              <a:off x="3203575" y="279558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65" name="Rectangle 143"/>
            <p:cNvSpPr>
              <a:spLocks noChangeArrowheads="1"/>
            </p:cNvSpPr>
            <p:nvPr/>
          </p:nvSpPr>
          <p:spPr bwMode="auto">
            <a:xfrm>
              <a:off x="3049588" y="32416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66" name="Rectangle 144"/>
            <p:cNvSpPr>
              <a:spLocks noChangeArrowheads="1"/>
            </p:cNvSpPr>
            <p:nvPr/>
          </p:nvSpPr>
          <p:spPr bwMode="auto">
            <a:xfrm>
              <a:off x="3249613" y="35131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67" name="Rectangle 145"/>
            <p:cNvSpPr>
              <a:spLocks noChangeArrowheads="1"/>
            </p:cNvSpPr>
            <p:nvPr/>
          </p:nvSpPr>
          <p:spPr bwMode="auto">
            <a:xfrm>
              <a:off x="3203575" y="3803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2</a:t>
              </a:r>
              <a:endParaRPr kumimoji="1" lang="en-US" altLang="zh-CN" sz="1400">
                <a:latin typeface="Times New Roman" panose="02020603050405020304" pitchFamily="18" charset="0"/>
                <a:ea typeface="楷体" panose="02010609060101010101" pitchFamily="49" charset="-122"/>
              </a:endParaRPr>
            </a:p>
          </p:txBody>
        </p:sp>
        <p:sp>
          <p:nvSpPr>
            <p:cNvPr id="68" name="Rectangle 146"/>
            <p:cNvSpPr>
              <a:spLocks noChangeArrowheads="1"/>
            </p:cNvSpPr>
            <p:nvPr/>
          </p:nvSpPr>
          <p:spPr bwMode="auto">
            <a:xfrm>
              <a:off x="2674938" y="4473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4</a:t>
              </a:r>
              <a:endParaRPr kumimoji="1" lang="en-US" altLang="zh-CN" sz="1400">
                <a:latin typeface="Times New Roman" panose="02020603050405020304" pitchFamily="18" charset="0"/>
                <a:ea typeface="楷体" panose="02010609060101010101" pitchFamily="49" charset="-122"/>
              </a:endParaRPr>
            </a:p>
          </p:txBody>
        </p:sp>
        <p:sp>
          <p:nvSpPr>
            <p:cNvPr id="69" name="Rectangle 147"/>
            <p:cNvSpPr>
              <a:spLocks noChangeArrowheads="1"/>
            </p:cNvSpPr>
            <p:nvPr/>
          </p:nvSpPr>
          <p:spPr bwMode="auto">
            <a:xfrm>
              <a:off x="3203575" y="44529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70" name="Rectangle 148"/>
            <p:cNvSpPr>
              <a:spLocks noChangeArrowheads="1"/>
            </p:cNvSpPr>
            <p:nvPr/>
          </p:nvSpPr>
          <p:spPr bwMode="auto">
            <a:xfrm>
              <a:off x="3059113" y="4811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71" name="Rectangle 149"/>
            <p:cNvSpPr>
              <a:spLocks noChangeArrowheads="1"/>
            </p:cNvSpPr>
            <p:nvPr/>
          </p:nvSpPr>
          <p:spPr bwMode="auto">
            <a:xfrm>
              <a:off x="5567363" y="23177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8</a:t>
              </a:r>
              <a:endParaRPr kumimoji="1" lang="en-US" altLang="zh-CN" sz="1400">
                <a:latin typeface="Times New Roman" panose="02020603050405020304" pitchFamily="18" charset="0"/>
                <a:ea typeface="楷体" panose="02010609060101010101" pitchFamily="49" charset="-122"/>
              </a:endParaRPr>
            </a:p>
          </p:txBody>
        </p:sp>
        <p:sp>
          <p:nvSpPr>
            <p:cNvPr id="72" name="Rectangle 150"/>
            <p:cNvSpPr>
              <a:spLocks noChangeArrowheads="1"/>
            </p:cNvSpPr>
            <p:nvPr/>
          </p:nvSpPr>
          <p:spPr bwMode="auto">
            <a:xfrm>
              <a:off x="5364163" y="26527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73" name="Rectangle 151"/>
            <p:cNvSpPr>
              <a:spLocks noChangeArrowheads="1"/>
            </p:cNvSpPr>
            <p:nvPr/>
          </p:nvSpPr>
          <p:spPr bwMode="auto">
            <a:xfrm>
              <a:off x="5268913" y="32956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74" name="Rectangle 152"/>
            <p:cNvSpPr>
              <a:spLocks noChangeArrowheads="1"/>
            </p:cNvSpPr>
            <p:nvPr/>
          </p:nvSpPr>
          <p:spPr bwMode="auto">
            <a:xfrm>
              <a:off x="5364163" y="37322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75" name="Rectangle 153"/>
            <p:cNvSpPr>
              <a:spLocks noChangeArrowheads="1"/>
            </p:cNvSpPr>
            <p:nvPr/>
          </p:nvSpPr>
          <p:spPr bwMode="auto">
            <a:xfrm>
              <a:off x="5364163" y="46688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76" name="Rectangle 154"/>
            <p:cNvSpPr>
              <a:spLocks noChangeArrowheads="1"/>
            </p:cNvSpPr>
            <p:nvPr/>
          </p:nvSpPr>
          <p:spPr bwMode="auto">
            <a:xfrm>
              <a:off x="5148263" y="4379913"/>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sp>
          <p:nvSpPr>
            <p:cNvPr id="77" name="Rectangle 155"/>
            <p:cNvSpPr>
              <a:spLocks noChangeArrowheads="1"/>
            </p:cNvSpPr>
            <p:nvPr/>
          </p:nvSpPr>
          <p:spPr bwMode="auto">
            <a:xfrm>
              <a:off x="7337425" y="3024188"/>
              <a:ext cx="1778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10</a:t>
              </a:r>
              <a:endParaRPr kumimoji="1" lang="en-US" altLang="zh-CN" sz="1400">
                <a:latin typeface="Times New Roman" panose="02020603050405020304" pitchFamily="18" charset="0"/>
                <a:ea typeface="楷体" panose="02010609060101010101" pitchFamily="49" charset="-122"/>
              </a:endParaRPr>
            </a:p>
          </p:txBody>
        </p:sp>
        <p:sp>
          <p:nvSpPr>
            <p:cNvPr id="78" name="Rectangle 156"/>
            <p:cNvSpPr>
              <a:spLocks noChangeArrowheads="1"/>
            </p:cNvSpPr>
            <p:nvPr/>
          </p:nvSpPr>
          <p:spPr bwMode="auto">
            <a:xfrm>
              <a:off x="7262813" y="4273550"/>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6</a:t>
              </a:r>
              <a:endParaRPr kumimoji="1" lang="en-US" altLang="zh-CN" sz="1400">
                <a:latin typeface="Times New Roman" panose="02020603050405020304" pitchFamily="18" charset="0"/>
                <a:ea typeface="楷体" panose="02010609060101010101" pitchFamily="49" charset="-122"/>
              </a:endParaRPr>
            </a:p>
          </p:txBody>
        </p:sp>
        <p:sp>
          <p:nvSpPr>
            <p:cNvPr id="79" name="Line 157"/>
            <p:cNvSpPr>
              <a:spLocks noChangeShapeType="1"/>
            </p:cNvSpPr>
            <p:nvPr/>
          </p:nvSpPr>
          <p:spPr bwMode="auto">
            <a:xfrm flipH="1" flipV="1">
              <a:off x="900113" y="3948113"/>
              <a:ext cx="1439862" cy="19446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 name="Oval 158"/>
            <p:cNvSpPr>
              <a:spLocks noChangeArrowheads="1"/>
            </p:cNvSpPr>
            <p:nvPr/>
          </p:nvSpPr>
          <p:spPr bwMode="auto">
            <a:xfrm>
              <a:off x="2339975" y="5748338"/>
              <a:ext cx="596900" cy="404812"/>
            </a:xfrm>
            <a:prstGeom prst="ellipse">
              <a:avLst/>
            </a:prstGeom>
            <a:noFill/>
            <a:ln w="666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graphicFrame>
          <p:nvGraphicFramePr>
            <p:cNvPr id="81" name="Object 159"/>
            <p:cNvGraphicFramePr>
              <a:graphicFrameLocks noChangeAspect="1"/>
            </p:cNvGraphicFramePr>
            <p:nvPr/>
          </p:nvGraphicFramePr>
          <p:xfrm>
            <a:off x="2484438" y="5792788"/>
            <a:ext cx="338137" cy="360362"/>
          </p:xfrm>
          <a:graphic>
            <a:graphicData uri="http://schemas.openxmlformats.org/presentationml/2006/ole">
              <mc:AlternateContent xmlns:mc="http://schemas.openxmlformats.org/markup-compatibility/2006">
                <mc:Choice xmlns:v="urn:schemas-microsoft-com:vml" Requires="v">
                  <p:oleObj spid="_x0000_s58480" name="公式" r:id="rId1" imgW="203200" imgH="215900" progId="Equation.3">
                    <p:embed/>
                  </p:oleObj>
                </mc:Choice>
                <mc:Fallback>
                  <p:oleObj name="公式" r:id="rId1" imgW="203200" imgH="215900" progId="Equation.3">
                    <p:embed/>
                    <p:pic>
                      <p:nvPicPr>
                        <p:cNvPr id="0" name="Object 15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5792788"/>
                          <a:ext cx="338137" cy="360362"/>
                        </a:xfrm>
                        <a:prstGeom prst="rect">
                          <a:avLst/>
                        </a:prstGeom>
                        <a:noFill/>
                        <a:ln>
                          <a:noFill/>
                        </a:ln>
                        <a:effectLst/>
                      </p:spPr>
                    </p:pic>
                  </p:oleObj>
                </mc:Fallback>
              </mc:AlternateContent>
            </a:graphicData>
          </a:graphic>
        </p:graphicFrame>
        <p:sp>
          <p:nvSpPr>
            <p:cNvPr id="82" name="Line 160"/>
            <p:cNvSpPr>
              <a:spLocks noChangeShapeType="1"/>
            </p:cNvSpPr>
            <p:nvPr/>
          </p:nvSpPr>
          <p:spPr bwMode="auto">
            <a:xfrm flipV="1">
              <a:off x="2987675" y="5245100"/>
              <a:ext cx="1728788" cy="7191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Rectangle 161"/>
            <p:cNvSpPr>
              <a:spLocks noChangeArrowheads="1"/>
            </p:cNvSpPr>
            <p:nvPr/>
          </p:nvSpPr>
          <p:spPr bwMode="auto">
            <a:xfrm>
              <a:off x="1692275" y="4092575"/>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solidFill>
                    <a:srgbClr val="000000"/>
                  </a:solidFill>
                  <a:latin typeface="Times New Roman" panose="02020603050405020304" pitchFamily="18" charset="0"/>
                  <a:ea typeface="楷体" panose="02010609060101010101" pitchFamily="49" charset="-122"/>
                </a:rPr>
                <a:t>3</a:t>
              </a:r>
              <a:endParaRPr kumimoji="1" lang="en-US" altLang="zh-CN" sz="1400">
                <a:latin typeface="Times New Roman" panose="02020603050405020304" pitchFamily="18" charset="0"/>
                <a:ea typeface="楷体" panose="02010609060101010101" pitchFamily="49" charset="-122"/>
              </a:endParaRPr>
            </a:p>
          </p:txBody>
        </p:sp>
        <p:sp>
          <p:nvSpPr>
            <p:cNvPr id="84" name="Line 162"/>
            <p:cNvSpPr>
              <a:spLocks noChangeShapeType="1"/>
            </p:cNvSpPr>
            <p:nvPr/>
          </p:nvSpPr>
          <p:spPr bwMode="auto">
            <a:xfrm flipV="1">
              <a:off x="2916238" y="3948113"/>
              <a:ext cx="1943100" cy="18716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Line 163"/>
            <p:cNvSpPr>
              <a:spLocks noChangeShapeType="1"/>
            </p:cNvSpPr>
            <p:nvPr/>
          </p:nvSpPr>
          <p:spPr bwMode="auto">
            <a:xfrm flipV="1">
              <a:off x="2771775" y="2652713"/>
              <a:ext cx="2160588" cy="30956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Rectangle 164"/>
            <p:cNvSpPr>
              <a:spLocks noChangeArrowheads="1"/>
            </p:cNvSpPr>
            <p:nvPr/>
          </p:nvSpPr>
          <p:spPr bwMode="auto">
            <a:xfrm>
              <a:off x="2843213"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7</a:t>
              </a:r>
              <a:endParaRPr kumimoji="1" lang="en-US" altLang="zh-CN" sz="1400">
                <a:latin typeface="Times New Roman" panose="02020603050405020304" pitchFamily="18" charset="0"/>
                <a:ea typeface="楷体" panose="02010609060101010101" pitchFamily="49" charset="-122"/>
              </a:endParaRPr>
            </a:p>
          </p:txBody>
        </p:sp>
        <p:sp>
          <p:nvSpPr>
            <p:cNvPr id="87" name="Rectangle 165"/>
            <p:cNvSpPr>
              <a:spLocks noChangeArrowheads="1"/>
            </p:cNvSpPr>
            <p:nvPr/>
          </p:nvSpPr>
          <p:spPr bwMode="auto">
            <a:xfrm>
              <a:off x="3132138" y="53165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5</a:t>
              </a:r>
              <a:endParaRPr kumimoji="1" lang="en-US" altLang="zh-CN" sz="1400">
                <a:latin typeface="Times New Roman" panose="02020603050405020304" pitchFamily="18" charset="0"/>
                <a:ea typeface="楷体" panose="02010609060101010101" pitchFamily="49" charset="-122"/>
              </a:endParaRPr>
            </a:p>
          </p:txBody>
        </p:sp>
        <p:sp>
          <p:nvSpPr>
            <p:cNvPr id="88" name="Rectangle 166"/>
            <p:cNvSpPr>
              <a:spLocks noChangeArrowheads="1"/>
            </p:cNvSpPr>
            <p:nvPr/>
          </p:nvSpPr>
          <p:spPr bwMode="auto">
            <a:xfrm>
              <a:off x="3276600" y="5532438"/>
              <a:ext cx="88900" cy="21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en-US" altLang="zh-CN" sz="1400">
                  <a:latin typeface="Times New Roman" panose="02020603050405020304" pitchFamily="18" charset="0"/>
                  <a:ea typeface="楷体" panose="02010609060101010101" pitchFamily="49" charset="-122"/>
                </a:rPr>
                <a:t>1</a:t>
              </a:r>
              <a:endParaRPr kumimoji="1" lang="en-US" altLang="zh-CN" sz="1400">
                <a:latin typeface="Times New Roman" panose="02020603050405020304" pitchFamily="18" charset="0"/>
                <a:ea typeface="楷体" panose="02010609060101010101" pitchFamily="49" charset="-122"/>
              </a:endParaRPr>
            </a:p>
          </p:txBody>
        </p:sp>
      </p:grpSp>
      <mc:AlternateContent xmlns:mc="http://schemas.openxmlformats.org/markup-compatibility/2006">
        <mc:Choice xmlns:a14="http://schemas.microsoft.com/office/drawing/2010/main" Requires="a14">
          <p:sp>
            <p:nvSpPr>
              <p:cNvPr id="89" name="Rectangle 3"/>
              <p:cNvSpPr>
                <a:spLocks noChangeArrowheads="1"/>
              </p:cNvSpPr>
              <p:nvPr/>
            </p:nvSpPr>
            <p:spPr bwMode="auto">
              <a:xfrm>
                <a:off x="1524000" y="4982845"/>
                <a:ext cx="9144000" cy="145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300"/>
                  </a:spcBef>
                  <a:spcAft>
                    <a:spcPts val="300"/>
                  </a:spcAft>
                </a:pPr>
                <a:r>
                  <a:rPr kumimoji="1" lang="zh-CN" altLang="en-US" sz="2000" b="1" dirty="0">
                    <a:solidFill>
                      <a:schemeClr val="tx1"/>
                    </a:solidFill>
                    <a:ea typeface="楷体" panose="02010609060101010101" pitchFamily="49" charset="-122"/>
                  </a:rPr>
                  <a:t>状态转移方程</a:t>
                </a:r>
                <a14:m>
                  <m:oMath xmlns:m="http://schemas.openxmlformats.org/officeDocument/2006/math">
                    <m:sSub>
                      <m:sSubPr>
                        <m:ctrlP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𝒔</m:t>
                        </m:r>
                      </m:e>
                      <m: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𝟏</m:t>
                        </m:r>
                      </m:sub>
                    </m:s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𝑻</m:t>
                        </m:r>
                      </m:e>
                      <m: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𝒌</m:t>
                        </m:r>
                      </m:sub>
                    </m:s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m:t>
                    </m:r>
                    <m:r>
                      <a:rPr kumimoji="1" lang="en-US" altLang="zh-CN" sz="2000" b="1" i="1"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𝒔</m:t>
                    </m:r>
                    <m:r>
                      <a:rPr kumimoji="1" lang="en-US" altLang="zh-CN" sz="2000" b="1" i="1" baseline="-25000"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 </m:t>
                    </m:r>
                    <m:r>
                      <a:rPr kumimoji="1" lang="en-US" altLang="zh-CN" sz="2000" b="1" i="1"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𝒙</m:t>
                    </m:r>
                    <m:r>
                      <a:rPr kumimoji="1" lang="en-US" altLang="zh-CN" sz="2000" b="1" i="1" baseline="-25000"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m:t>
                    </m:r>
                  </m:oMath>
                </a14:m>
                <a:r>
                  <a:rPr kumimoji="1" lang="zh-CN" altLang="en-US" sz="2000" dirty="0">
                    <a:solidFill>
                      <a:schemeClr val="tx1"/>
                    </a:solidFill>
                    <a:ea typeface="楷体" panose="02010609060101010101" pitchFamily="49" charset="-122"/>
                  </a:rPr>
                  <a:t>：</a:t>
                </a:r>
                <a:r>
                  <a:rPr kumimoji="1" lang="en-US" altLang="zh-CN" sz="2000" b="1" dirty="0">
                    <a:solidFill>
                      <a:schemeClr val="tx1"/>
                    </a:solidFill>
                    <a:ea typeface="楷体" panose="02010609060101010101" pitchFamily="49" charset="-122"/>
                    <a:cs typeface="Arial" panose="020B0604020202020204" pitchFamily="34" charset="0"/>
                  </a:rPr>
                  <a:t> </a:t>
                </a:r>
                <a14:m>
                  <m:oMath xmlns:m="http://schemas.openxmlformats.org/officeDocument/2006/math">
                    <m:sSub>
                      <m:sSubPr>
                        <m:ctrlP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𝒔</m:t>
                        </m:r>
                      </m:e>
                      <m: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𝟏</m:t>
                        </m:r>
                      </m:sub>
                    </m:s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𝑻</m:t>
                        </m:r>
                      </m:e>
                      <m:sub>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𝒌</m:t>
                        </m:r>
                      </m:sub>
                    </m:sSub>
                    <m:d>
                      <m:dPr>
                        <m:ctrlP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ctrlPr>
                      </m:dPr>
                      <m:e>
                        <m:r>
                          <a:rPr kumimoji="1" lang="en-US" altLang="zh-CN" sz="2000" b="1" i="1"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𝒔</m:t>
                        </m:r>
                        <m:r>
                          <a:rPr kumimoji="1" lang="en-US" altLang="zh-CN" sz="2000" b="1" i="1" baseline="-25000"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𝒌</m:t>
                        </m:r>
                        <m:r>
                          <a:rPr kumimoji="1" lang="en-US" altLang="zh-CN" sz="2000" b="1" i="1" dirty="0">
                            <a:solidFill>
                              <a:schemeClr val="tx1"/>
                            </a:solidFill>
                            <a:latin typeface="Cambria Math" panose="02040503050406030204" pitchFamily="18" charset="0"/>
                            <a:ea typeface="楷体" panose="02010609060101010101" pitchFamily="49" charset="-122"/>
                            <a:cs typeface="Arial" panose="020B0604020202020204" pitchFamily="34" charset="0"/>
                          </a:rPr>
                          <m:t>, </m:t>
                        </m:r>
                        <m:r>
                          <a:rPr kumimoji="1" lang="en-US" altLang="zh-CN" sz="2000" b="1" i="1"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𝒙</m:t>
                        </m:r>
                        <m:r>
                          <a:rPr kumimoji="1" lang="en-US" altLang="zh-CN" sz="2000" b="1" i="1" baseline="-25000" dirty="0" err="1">
                            <a:solidFill>
                              <a:schemeClr val="tx1"/>
                            </a:solidFill>
                            <a:latin typeface="Cambria Math" panose="02040503050406030204" pitchFamily="18" charset="0"/>
                            <a:ea typeface="楷体" panose="02010609060101010101" pitchFamily="49" charset="-122"/>
                            <a:cs typeface="Arial" panose="020B0604020202020204" pitchFamily="34" charset="0"/>
                          </a:rPr>
                          <m:t>𝒌</m:t>
                        </m:r>
                      </m:e>
                    </m:d>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𝒌</m:t>
                        </m:r>
                      </m:sub>
                    </m:s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𝟑</m:t>
                        </m:r>
                      </m:sub>
                    </m:s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𝑻</m:t>
                        </m:r>
                      </m:e>
                      <m: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𝟐</m:t>
                        </m:r>
                      </m:sub>
                    </m:sSub>
                    <m:d>
                      <m:d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 </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𝟏</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cs typeface="Arial" panose="020B0604020202020204" pitchFamily="34" charset="0"/>
                          </a:rPr>
                          <m:t>𝟏</m:t>
                        </m:r>
                      </m:sub>
                    </m:sSub>
                  </m:oMath>
                </a14:m>
                <a:endParaRPr kumimoji="1" lang="en-US" altLang="zh-CN" sz="2000" dirty="0">
                  <a:solidFill>
                    <a:schemeClr val="tx1"/>
                  </a:solidFill>
                  <a:ea typeface="楷体" panose="02010609060101010101" pitchFamily="49" charset="-122"/>
                </a:endParaRPr>
              </a:p>
              <a:p>
                <a:pPr algn="just">
                  <a:spcBef>
                    <a:spcPts val="300"/>
                  </a:spcBef>
                  <a:spcAft>
                    <a:spcPts val="300"/>
                  </a:spcAft>
                </a:pPr>
                <a:r>
                  <a:rPr kumimoji="1" lang="zh-CN" altLang="en-US" sz="2000" b="1" dirty="0">
                    <a:solidFill>
                      <a:schemeClr val="tx1"/>
                    </a:solidFill>
                    <a:ea typeface="楷体" panose="02010609060101010101" pitchFamily="49" charset="-122"/>
                  </a:rPr>
                  <a:t>阶段指标函数</a:t>
                </a:r>
                <a14:m>
                  <m:oMath xmlns:m="http://schemas.openxmlformats.org/officeDocument/2006/math">
                    <m:r>
                      <a:rPr kumimoji="1" lang="en-US" altLang="zh-CN" sz="2000" b="1" i="1" dirty="0">
                        <a:solidFill>
                          <a:schemeClr val="tx1"/>
                        </a:solidFill>
                        <a:latin typeface="Cambria Math" panose="02040503050406030204" pitchFamily="18" charset="0"/>
                        <a:ea typeface="楷体" panose="02010609060101010101" pitchFamily="49" charset="-122"/>
                      </a:rPr>
                      <m:t>𝒗</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err="1">
                        <a:solidFill>
                          <a:schemeClr val="tx1"/>
                        </a:solidFill>
                        <a:latin typeface="Cambria Math" panose="02040503050406030204" pitchFamily="18" charset="0"/>
                        <a:ea typeface="楷体" panose="02010609060101010101" pitchFamily="49" charset="-122"/>
                      </a:rPr>
                      <m:t>𝒔</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 </m:t>
                    </m:r>
                    <m:r>
                      <a:rPr kumimoji="1" lang="en-US" altLang="zh-CN" sz="2000" b="1" i="1" dirty="0" err="1">
                        <a:solidFill>
                          <a:schemeClr val="tx1"/>
                        </a:solidFill>
                        <a:latin typeface="Cambria Math" panose="02040503050406030204" pitchFamily="18" charset="0"/>
                        <a:ea typeface="楷体" panose="02010609060101010101" pitchFamily="49" charset="-122"/>
                      </a:rPr>
                      <m:t>𝒙</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oMath>
                </a14:m>
                <a:r>
                  <a:rPr kumimoji="1" lang="zh-CN" altLang="en-US" sz="2000" dirty="0">
                    <a:solidFill>
                      <a:schemeClr val="tx1"/>
                    </a:solidFill>
                    <a:ea typeface="楷体" panose="02010609060101010101" pitchFamily="49" charset="-122"/>
                  </a:rPr>
                  <a:t>：</a:t>
                </a:r>
                <a:r>
                  <a:rPr kumimoji="1" lang="en-US" altLang="zh-CN" sz="2000" b="1" dirty="0">
                    <a:solidFill>
                      <a:schemeClr val="tx1"/>
                    </a:solidFill>
                    <a:ea typeface="楷体" panose="02010609060101010101" pitchFamily="49" charset="-122"/>
                  </a:rPr>
                  <a:t> </a:t>
                </a:r>
                <a14:m>
                  <m:oMath xmlns:m="http://schemas.openxmlformats.org/officeDocument/2006/math">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𝒗</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d>
                      <m:dPr>
                        <m:ctrlPr>
                          <a:rPr kumimoji="1" lang="en-US" altLang="zh-CN" sz="2000" b="1" i="1" dirty="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a:solidFill>
                              <a:schemeClr val="tx1"/>
                            </a:solidFill>
                            <a:latin typeface="Cambria Math" panose="02040503050406030204" pitchFamily="18" charset="0"/>
                            <a:ea typeface="楷体" panose="02010609060101010101" pitchFamily="49" charset="-122"/>
                          </a:rPr>
                          <m:t>, </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e>
                    </m:d>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𝟒</m:t>
                    </m:r>
                    <m:r>
                      <a:rPr kumimoji="1" lang="en-US" altLang="zh-CN" sz="2000" b="1" i="1" dirty="0">
                        <a:solidFill>
                          <a:schemeClr val="tx1"/>
                        </a:solidFill>
                        <a:latin typeface="Cambria Math" panose="02040503050406030204" pitchFamily="18" charset="0"/>
                        <a:ea typeface="楷体" panose="02010609060101010101" pitchFamily="49" charset="-122"/>
                      </a:rPr>
                      <m:t> </m:t>
                    </m:r>
                  </m:oMath>
                </a14:m>
                <a:endParaRPr kumimoji="1" lang="en-US" altLang="zh-CN" sz="2000" dirty="0">
                  <a:solidFill>
                    <a:schemeClr val="tx1"/>
                  </a:solidFill>
                  <a:ea typeface="楷体" panose="02010609060101010101" pitchFamily="49" charset="-122"/>
                </a:endParaRPr>
              </a:p>
              <a:p>
                <a:pPr algn="just">
                  <a:spcBef>
                    <a:spcPts val="300"/>
                  </a:spcBef>
                  <a:spcAft>
                    <a:spcPts val="300"/>
                  </a:spcAft>
                </a:pPr>
                <a:r>
                  <a:rPr kumimoji="1" lang="zh-CN" altLang="en-US" sz="2000" b="1" dirty="0">
                    <a:solidFill>
                      <a:schemeClr val="tx1"/>
                    </a:solidFill>
                    <a:ea typeface="楷体" panose="02010609060101010101" pitchFamily="49" charset="-122"/>
                  </a:rPr>
                  <a:t>过程指标函数</a:t>
                </a:r>
                <a14:m>
                  <m:oMath xmlns:m="http://schemas.openxmlformats.org/officeDocument/2006/math">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𝑽</m:t>
                        </m:r>
                      </m:e>
                      <m:sub>
                        <m:r>
                          <a:rPr kumimoji="1" lang="en-US" altLang="zh-CN" sz="2000" b="1" i="1" dirty="0">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a:solidFill>
                              <a:schemeClr val="tx1"/>
                            </a:solidFill>
                            <a:latin typeface="Cambria Math" panose="02040503050406030204" pitchFamily="18" charset="0"/>
                            <a:ea typeface="楷体" panose="02010609060101010101" pitchFamily="49" charset="-122"/>
                          </a:rPr>
                          <m:t>𝒏</m:t>
                        </m:r>
                      </m:sub>
                    </m:sSub>
                    <m:r>
                      <a:rPr kumimoji="1" lang="en-US" altLang="zh-CN" sz="2000" b="1" i="1" dirty="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𝒔</m:t>
                        </m:r>
                      </m:e>
                      <m:sub>
                        <m:r>
                          <a:rPr kumimoji="1" lang="en-US" altLang="zh-CN" sz="2000" b="1" i="1" dirty="0">
                            <a:solidFill>
                              <a:schemeClr val="tx1"/>
                            </a:solidFill>
                            <a:latin typeface="Cambria Math" panose="02040503050406030204" pitchFamily="18" charset="0"/>
                            <a:ea typeface="楷体" panose="02010609060101010101" pitchFamily="49" charset="-122"/>
                          </a:rPr>
                          <m:t>𝒌</m:t>
                        </m:r>
                      </m:sub>
                    </m:sSub>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err="1">
                        <a:solidFill>
                          <a:schemeClr val="tx1"/>
                        </a:solidFill>
                        <a:latin typeface="Cambria Math" panose="02040503050406030204" pitchFamily="18" charset="0"/>
                        <a:ea typeface="楷体" panose="02010609060101010101" pitchFamily="49" charset="-122"/>
                      </a:rPr>
                      <m:t>𝒙</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 </m:t>
                    </m:r>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𝒙</m:t>
                        </m:r>
                      </m:e>
                      <m:sub>
                        <m:r>
                          <a:rPr kumimoji="1" lang="en-US" altLang="zh-CN" sz="2000" b="1" i="1" dirty="0">
                            <a:solidFill>
                              <a:schemeClr val="tx1"/>
                            </a:solidFill>
                            <a:latin typeface="Cambria Math" panose="02040503050406030204" pitchFamily="18" charset="0"/>
                            <a:ea typeface="楷体" panose="02010609060101010101" pitchFamily="49" charset="-122"/>
                          </a:rPr>
                          <m:t>𝒌</m:t>
                        </m:r>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a:solidFill>
                              <a:schemeClr val="tx1"/>
                            </a:solidFill>
                            <a:latin typeface="Cambria Math" panose="02040503050406030204" pitchFamily="18" charset="0"/>
                            <a:ea typeface="楷体" panose="02010609060101010101" pitchFamily="49" charset="-122"/>
                          </a:rPr>
                          <m:t>𝟏</m:t>
                        </m:r>
                      </m:sub>
                    </m:sSub>
                    <m:r>
                      <a:rPr kumimoji="1" lang="en-US" altLang="zh-CN" sz="2000" b="1" i="1" dirty="0">
                        <a:solidFill>
                          <a:schemeClr val="tx1"/>
                        </a:solidFill>
                        <a:latin typeface="Cambria Math" panose="02040503050406030204" pitchFamily="18" charset="0"/>
                        <a:ea typeface="楷体" panose="02010609060101010101" pitchFamily="49" charset="-122"/>
                      </a:rPr>
                      <m:t>,…, </m:t>
                    </m:r>
                    <m:r>
                      <a:rPr kumimoji="1" lang="en-US" altLang="zh-CN" sz="2000" b="1" i="1" dirty="0" err="1">
                        <a:solidFill>
                          <a:schemeClr val="tx1"/>
                        </a:solidFill>
                        <a:latin typeface="Cambria Math" panose="02040503050406030204" pitchFamily="18" charset="0"/>
                        <a:ea typeface="楷体" panose="02010609060101010101" pitchFamily="49" charset="-122"/>
                      </a:rPr>
                      <m:t>𝒙</m:t>
                    </m:r>
                    <m:r>
                      <a:rPr kumimoji="1" lang="en-US" altLang="zh-CN" sz="2000" b="1" i="1" baseline="-25000" dirty="0" err="1">
                        <a:solidFill>
                          <a:schemeClr val="tx1"/>
                        </a:solidFill>
                        <a:latin typeface="Cambria Math" panose="02040503050406030204" pitchFamily="18" charset="0"/>
                        <a:ea typeface="楷体" panose="02010609060101010101" pitchFamily="49" charset="-122"/>
                      </a:rPr>
                      <m:t>𝒏</m:t>
                    </m:r>
                    <m:r>
                      <a:rPr kumimoji="1" lang="en-US" altLang="zh-CN" sz="2000" b="1" i="1" dirty="0">
                        <a:solidFill>
                          <a:schemeClr val="tx1"/>
                        </a:solidFill>
                        <a:latin typeface="Cambria Math" panose="02040503050406030204" pitchFamily="18" charset="0"/>
                        <a:ea typeface="楷体" panose="02010609060101010101" pitchFamily="49" charset="-122"/>
                      </a:rPr>
                      <m:t>)</m:t>
                    </m:r>
                  </m:oMath>
                </a14:m>
                <a:r>
                  <a:rPr kumimoji="1" lang="en-US" altLang="zh-CN" sz="2000" dirty="0">
                    <a:solidFill>
                      <a:schemeClr val="tx1"/>
                    </a:solidFill>
                    <a:latin typeface="楷体" panose="02010609060101010101" pitchFamily="49" charset="-122"/>
                    <a:ea typeface="楷体" panose="02010609060101010101" pitchFamily="49" charset="-122"/>
                  </a:rPr>
                  <a:t>:</a:t>
                </a:r>
                <a:r>
                  <a:rPr kumimoji="1" lang="en-US" altLang="zh-CN" sz="2000" b="1" dirty="0">
                    <a:solidFill>
                      <a:schemeClr val="tx1"/>
                    </a:solidFill>
                    <a:ea typeface="楷体" panose="02010609060101010101" pitchFamily="49" charset="-122"/>
                  </a:rPr>
                  <a:t> </a:t>
                </a:r>
                <a14:m>
                  <m:oMath xmlns:m="http://schemas.openxmlformats.org/officeDocument/2006/math">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𝑽</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r>
                          <a:rPr kumimoji="1" lang="en-US" altLang="zh-CN" sz="2000" b="1" i="1" dirty="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𝟓</m:t>
                        </m:r>
                      </m:sub>
                    </m:sSub>
                    <m:d>
                      <m:dPr>
                        <m:ctrlPr>
                          <a:rPr kumimoji="1" lang="en-US" altLang="zh-CN" sz="2000" b="1" i="1" dirty="0">
                            <a:solidFill>
                              <a:schemeClr val="tx1"/>
                            </a:solidFill>
                            <a:latin typeface="Cambria Math" panose="02040503050406030204" pitchFamily="18" charset="0"/>
                            <a:ea typeface="楷体" panose="02010609060101010101" pitchFamily="49" charset="-122"/>
                          </a:rPr>
                        </m:ctrlPr>
                      </m:dPr>
                      <m:e>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𝒔</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𝑩</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err="1">
                                <a:solidFill>
                                  <a:schemeClr val="tx1"/>
                                </a:solidFill>
                                <a:latin typeface="Cambria Math" panose="02040503050406030204" pitchFamily="18" charset="0"/>
                                <a:ea typeface="楷体" panose="02010609060101010101" pitchFamily="49" charset="-122"/>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𝟐</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𝑪</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a:solidFill>
                              <a:schemeClr val="tx1"/>
                            </a:solidFill>
                            <a:latin typeface="Cambria Math" panose="02040503050406030204" pitchFamily="18" charset="0"/>
                            <a:ea typeface="楷体" panose="02010609060101010101" pitchFamily="49" charset="-122"/>
                          </a:rPr>
                          <m:t>, </m:t>
                        </m:r>
                        <m:sSub>
                          <m:sSubPr>
                            <m:ctrlPr>
                              <a:rPr kumimoji="1" lang="en-US" altLang="zh-CN" sz="2000" b="1" i="1" dirty="0">
                                <a:solidFill>
                                  <a:schemeClr val="tx1"/>
                                </a:solidFill>
                                <a:latin typeface="Cambria Math" panose="02040503050406030204" pitchFamily="18" charset="0"/>
                                <a:ea typeface="楷体" panose="02010609060101010101" pitchFamily="49" charset="-122"/>
                              </a:rPr>
                            </m:ctrlPr>
                          </m:sSubPr>
                          <m:e>
                            <m:r>
                              <a:rPr kumimoji="1" lang="en-US" altLang="zh-CN" sz="2000" b="1" i="1" dirty="0">
                                <a:solidFill>
                                  <a:schemeClr val="tx1"/>
                                </a:solidFill>
                                <a:latin typeface="Cambria Math" panose="02040503050406030204" pitchFamily="18" charset="0"/>
                                <a:ea typeface="楷体" panose="02010609060101010101" pitchFamily="49" charset="-122"/>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𝟑</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𝑫</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𝟏</m:t>
                            </m:r>
                          </m:sub>
                        </m:sSub>
                        <m:r>
                          <a:rPr kumimoji="1" lang="en-US" altLang="zh-CN" sz="2000" b="1" i="1" dirty="0">
                            <a:solidFill>
                              <a:schemeClr val="tx1"/>
                            </a:solidFill>
                            <a:latin typeface="Cambria Math" panose="02040503050406030204" pitchFamily="18" charset="0"/>
                            <a:ea typeface="楷体" panose="02010609060101010101" pitchFamily="49" charset="-122"/>
                          </a:rPr>
                          <m:t>,</m:t>
                        </m:r>
                        <m:sSub>
                          <m:sSubPr>
                            <m:ctrlPr>
                              <a:rPr kumimoji="1" lang="en-US" altLang="zh-CN" sz="2000" b="1" i="1" dirty="0" smtClean="0">
                                <a:solidFill>
                                  <a:schemeClr val="tx1"/>
                                </a:solidFill>
                                <a:latin typeface="Cambria Math" panose="02040503050406030204" pitchFamily="18" charset="0"/>
                                <a:ea typeface="楷体" panose="02010609060101010101" pitchFamily="49" charset="-122"/>
                              </a:rPr>
                            </m:ctrlPr>
                          </m:sSubPr>
                          <m:e>
                            <m:r>
                              <a:rPr kumimoji="1" lang="en-US" altLang="zh-CN" sz="2000" b="1" i="1" dirty="0" smtClean="0">
                                <a:solidFill>
                                  <a:schemeClr val="tx1"/>
                                </a:solidFill>
                                <a:latin typeface="Cambria Math" panose="02040503050406030204" pitchFamily="18" charset="0"/>
                                <a:ea typeface="楷体" panose="02010609060101010101" pitchFamily="49" charset="-122"/>
                              </a:rPr>
                              <m:t>𝒙</m:t>
                            </m:r>
                          </m:e>
                          <m:sub>
                            <m:r>
                              <a:rPr kumimoji="1" lang="en-US" altLang="zh-CN" sz="2000" b="1" i="1" dirty="0" smtClean="0">
                                <a:solidFill>
                                  <a:schemeClr val="tx1"/>
                                </a:solidFill>
                                <a:latin typeface="Cambria Math" panose="02040503050406030204" pitchFamily="18" charset="0"/>
                                <a:ea typeface="楷体" panose="02010609060101010101" pitchFamily="49" charset="-122"/>
                              </a:rPr>
                              <m:t>𝟒</m:t>
                            </m:r>
                          </m:sub>
                        </m:sSub>
                        <m:r>
                          <a:rPr kumimoji="1" lang="en-US" altLang="zh-CN" sz="2000" b="1" i="1" dirty="0" smtClean="0">
                            <a:solidFill>
                              <a:schemeClr val="tx1"/>
                            </a:solidFill>
                            <a:latin typeface="Cambria Math" panose="02040503050406030204" pitchFamily="18" charset="0"/>
                            <a:ea typeface="楷体" panose="02010609060101010101" pitchFamily="49" charset="-122"/>
                          </a:rPr>
                          <m:t>=</m:t>
                        </m:r>
                        <m:r>
                          <a:rPr kumimoji="1" lang="en-US" altLang="zh-CN" sz="2000" b="1" i="1" dirty="0" smtClean="0">
                            <a:solidFill>
                              <a:schemeClr val="tx1"/>
                            </a:solidFill>
                            <a:latin typeface="Cambria Math" panose="02040503050406030204" pitchFamily="18" charset="0"/>
                            <a:ea typeface="楷体" panose="02010609060101010101" pitchFamily="49" charset="-122"/>
                          </a:rPr>
                          <m:t>𝑬</m:t>
                        </m:r>
                      </m:e>
                    </m:d>
                    <m:r>
                      <a:rPr kumimoji="1" lang="en-US" altLang="zh-CN" sz="2000" b="0" i="0" dirty="0" smtClean="0">
                        <a:solidFill>
                          <a:schemeClr val="tx1"/>
                        </a:solidFill>
                        <a:latin typeface="Cambria Math" panose="02040503050406030204" pitchFamily="18" charset="0"/>
                        <a:ea typeface="楷体" panose="02010609060101010101" pitchFamily="49" charset="-122"/>
                      </a:rPr>
                      <m:t>=</m:t>
                    </m:r>
                    <m:r>
                      <a:rPr kumimoji="1" lang="en-US" altLang="zh-CN" sz="2000" b="0" i="0" dirty="0" smtClean="0">
                        <a:solidFill>
                          <a:schemeClr val="tx1"/>
                        </a:solidFill>
                        <a:latin typeface="Cambria Math" panose="02040503050406030204" pitchFamily="18" charset="0"/>
                        <a:ea typeface="楷体" panose="02010609060101010101" pitchFamily="49" charset="-122"/>
                      </a:rPr>
                      <m:t>4</m:t>
                    </m:r>
                    <m:r>
                      <a:rPr kumimoji="1" lang="en-US" altLang="zh-CN" sz="2000" b="0" i="0" dirty="0" smtClean="0">
                        <a:solidFill>
                          <a:schemeClr val="tx1"/>
                        </a:solidFill>
                        <a:latin typeface="Cambria Math" panose="02040503050406030204" pitchFamily="18" charset="0"/>
                        <a:ea typeface="楷体" panose="02010609060101010101" pitchFamily="49" charset="-122"/>
                      </a:rPr>
                      <m:t>+</m:t>
                    </m:r>
                    <m:r>
                      <a:rPr kumimoji="1" lang="en-US" altLang="zh-CN" sz="2000" b="0" i="0" dirty="0" smtClean="0">
                        <a:solidFill>
                          <a:schemeClr val="tx1"/>
                        </a:solidFill>
                        <a:latin typeface="Cambria Math" panose="02040503050406030204" pitchFamily="18" charset="0"/>
                        <a:ea typeface="楷体" panose="02010609060101010101" pitchFamily="49" charset="-122"/>
                      </a:rPr>
                      <m:t>8</m:t>
                    </m:r>
                    <m:r>
                      <a:rPr kumimoji="1" lang="en-US" altLang="zh-CN" sz="2000" b="0" i="0" dirty="0" smtClean="0">
                        <a:solidFill>
                          <a:schemeClr val="tx1"/>
                        </a:solidFill>
                        <a:latin typeface="Cambria Math" panose="02040503050406030204" pitchFamily="18" charset="0"/>
                        <a:ea typeface="楷体" panose="02010609060101010101" pitchFamily="49" charset="-122"/>
                      </a:rPr>
                      <m:t>+</m:t>
                    </m:r>
                    <m:r>
                      <a:rPr kumimoji="1" lang="en-US" altLang="zh-CN" sz="2000" b="0" i="0" dirty="0" smtClean="0">
                        <a:solidFill>
                          <a:schemeClr val="tx1"/>
                        </a:solidFill>
                        <a:latin typeface="Cambria Math" panose="02040503050406030204" pitchFamily="18" charset="0"/>
                        <a:ea typeface="楷体" panose="02010609060101010101" pitchFamily="49" charset="-122"/>
                      </a:rPr>
                      <m:t>10</m:t>
                    </m:r>
                    <m:r>
                      <a:rPr kumimoji="1" lang="en-US" altLang="zh-CN" sz="2000" b="0" i="0" dirty="0" smtClean="0">
                        <a:solidFill>
                          <a:schemeClr val="tx1"/>
                        </a:solidFill>
                        <a:latin typeface="Cambria Math" panose="02040503050406030204" pitchFamily="18" charset="0"/>
                        <a:ea typeface="楷体" panose="02010609060101010101" pitchFamily="49" charset="-122"/>
                      </a:rPr>
                      <m:t>=</m:t>
                    </m:r>
                    <m:r>
                      <a:rPr kumimoji="1" lang="en-US" altLang="zh-CN" sz="2000" b="0" i="0" dirty="0" smtClean="0">
                        <a:solidFill>
                          <a:schemeClr val="tx1"/>
                        </a:solidFill>
                        <a:latin typeface="Cambria Math" panose="02040503050406030204" pitchFamily="18" charset="0"/>
                        <a:ea typeface="楷体" panose="02010609060101010101" pitchFamily="49" charset="-122"/>
                      </a:rPr>
                      <m:t>22</m:t>
                    </m:r>
                  </m:oMath>
                </a14:m>
                <a:endParaRPr kumimoji="1" lang="en-US" altLang="zh-CN" sz="2000" dirty="0">
                  <a:solidFill>
                    <a:schemeClr val="tx1"/>
                  </a:solidFill>
                  <a:latin typeface="楷体" panose="02010609060101010101" pitchFamily="49" charset="-122"/>
                  <a:ea typeface="楷体" panose="02010609060101010101" pitchFamily="49" charset="-122"/>
                </a:endParaRPr>
              </a:p>
            </p:txBody>
          </p:sp>
        </mc:Choice>
        <mc:Fallback>
          <p:sp>
            <p:nvSpPr>
              <p:cNvPr id="89" name="Rectangle 3"/>
              <p:cNvSpPr>
                <a:spLocks noRot="1" noChangeAspect="1" noMove="1" noResize="1" noEditPoints="1" noAdjustHandles="1" noChangeArrowheads="1" noChangeShapeType="1" noTextEdit="1"/>
              </p:cNvSpPr>
              <p:nvPr/>
            </p:nvSpPr>
            <p:spPr bwMode="auto">
              <a:xfrm>
                <a:off x="1524000" y="4982845"/>
                <a:ext cx="9144000" cy="1451610"/>
              </a:xfrm>
              <a:prstGeom prst="rect">
                <a:avLst/>
              </a:prstGeom>
              <a:blipFill rotWithShape="1">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ChangeArrowheads="1"/>
          </p:cNvSpPr>
          <p:nvPr/>
        </p:nvSpPr>
        <p:spPr bwMode="auto">
          <a:xfrm>
            <a:off x="975360" y="1070610"/>
            <a:ext cx="10067290" cy="4340860"/>
          </a:xfrm>
          <a:prstGeom prst="rect">
            <a:avLst/>
          </a:prstGeom>
          <a:noFill/>
          <a:ln w="9525">
            <a:noFill/>
            <a:miter lim="800000"/>
          </a:ln>
        </p:spPr>
        <p:txBody>
          <a:bodyPr/>
          <a:lstStyle/>
          <a:p>
            <a:pPr indent="-342900" algn="just">
              <a:lnSpc>
                <a:spcPct val="120000"/>
              </a:lnSpc>
              <a:spcBef>
                <a:spcPts val="300"/>
              </a:spcBef>
              <a:spcAft>
                <a:spcPts val="300"/>
              </a:spcAft>
              <a:defRPr/>
            </a:pPr>
            <a:r>
              <a:rPr kumimoji="1" lang="zh-CN" altLang="en-US" sz="2800" b="1" dirty="0">
                <a:latin typeface="楷体" panose="02010609060101010101" pitchFamily="49" charset="-122"/>
                <a:ea typeface="楷体" panose="02010609060101010101" pitchFamily="49" charset="-122"/>
              </a:rPr>
              <a:t>三、最优化原理</a:t>
            </a:r>
            <a:endParaRPr kumimoji="1" lang="zh-CN" altLang="en-US" sz="2800" b="1" dirty="0">
              <a:latin typeface="楷体" panose="02010609060101010101" pitchFamily="49" charset="-122"/>
              <a:ea typeface="楷体" panose="02010609060101010101" pitchFamily="49" charset="-122"/>
            </a:endParaRPr>
          </a:p>
          <a:p>
            <a:pPr indent="720090" algn="just">
              <a:lnSpc>
                <a:spcPct val="120000"/>
              </a:lnSpc>
              <a:spcBef>
                <a:spcPts val="300"/>
              </a:spcBef>
              <a:spcAft>
                <a:spcPts val="300"/>
              </a:spcAft>
              <a:defRPr/>
            </a:pPr>
            <a:r>
              <a:rPr kumimoji="1" lang="zh-CN" altLang="en-US" sz="2400" dirty="0">
                <a:latin typeface="楷体" panose="02010609060101010101" pitchFamily="49" charset="-122"/>
                <a:ea typeface="楷体" panose="02010609060101010101" pitchFamily="49" charset="-122"/>
              </a:rPr>
              <a:t>作为整个过程的最优策略具有如下性质：不管在此最优策略上的某个状态以前的状态和决策如何，对该状态来说，以后的所有决策必定构成最优子策略。就是说，</a:t>
            </a:r>
            <a:r>
              <a:rPr kumimoji="1" lang="zh-CN" altLang="en-US" sz="2400" b="1" dirty="0">
                <a:solidFill>
                  <a:srgbClr val="FF0000"/>
                </a:solidFill>
                <a:latin typeface="楷体" panose="02010609060101010101" pitchFamily="49" charset="-122"/>
                <a:ea typeface="楷体" panose="02010609060101010101" pitchFamily="49" charset="-122"/>
              </a:rPr>
              <a:t>最优策略的任意子策略都是最优的</a:t>
            </a:r>
            <a:r>
              <a:rPr kumimoji="1" lang="zh-CN" altLang="en-US" sz="2400" dirty="0">
                <a:latin typeface="楷体" panose="02010609060101010101" pitchFamily="49" charset="-122"/>
                <a:ea typeface="楷体" panose="02010609060101010101" pitchFamily="49" charset="-122"/>
              </a:rPr>
              <a:t>。</a:t>
            </a:r>
            <a:endParaRPr kumimoji="1" lang="zh-CN" altLang="en-US" sz="2400" dirty="0">
              <a:latin typeface="楷体" panose="02010609060101010101" pitchFamily="49" charset="-122"/>
              <a:ea typeface="楷体" panose="02010609060101010101" pitchFamily="49" charset="-122"/>
            </a:endParaRPr>
          </a:p>
          <a:p>
            <a:pPr indent="720090" algn="just">
              <a:lnSpc>
                <a:spcPct val="120000"/>
              </a:lnSpc>
              <a:spcBef>
                <a:spcPts val="300"/>
              </a:spcBef>
              <a:spcAft>
                <a:spcPts val="300"/>
              </a:spcAft>
              <a:defRPr/>
            </a:pPr>
            <a:r>
              <a:rPr kumimoji="1" lang="zh-CN" altLang="en-US" sz="2400" dirty="0">
                <a:latin typeface="楷体" panose="02010609060101010101" pitchFamily="49" charset="-122"/>
                <a:ea typeface="楷体" panose="02010609060101010101" pitchFamily="49" charset="-122"/>
                <a:sym typeface="+mn-ea"/>
              </a:rPr>
              <a:t>该原理的具体解释是，若某一全过程最优策略为：</a:t>
            </a:r>
            <a:endParaRPr kumimoji="1" lang="zh-CN" altLang="en-US" sz="2400" dirty="0">
              <a:latin typeface="楷体" panose="02010609060101010101" pitchFamily="49" charset="-122"/>
              <a:ea typeface="楷体" panose="02010609060101010101" pitchFamily="49" charset="-122"/>
            </a:endParaRPr>
          </a:p>
          <a:p>
            <a:pPr indent="720090" algn="just">
              <a:lnSpc>
                <a:spcPct val="120000"/>
              </a:lnSpc>
              <a:spcBef>
                <a:spcPts val="300"/>
              </a:spcBef>
              <a:spcAft>
                <a:spcPts val="300"/>
              </a:spcAft>
              <a:defRPr/>
            </a:pPr>
            <a:endParaRPr kumimoji="1" lang="zh-CN" altLang="en-US" sz="2400" dirty="0">
              <a:latin typeface="楷体" panose="02010609060101010101" pitchFamily="49" charset="-122"/>
              <a:ea typeface="楷体" panose="02010609060101010101" pitchFamily="49" charset="-122"/>
            </a:endParaRPr>
          </a:p>
          <a:p>
            <a:pPr indent="720090" algn="just">
              <a:lnSpc>
                <a:spcPct val="120000"/>
              </a:lnSpc>
              <a:spcBef>
                <a:spcPts val="300"/>
              </a:spcBef>
              <a:spcAft>
                <a:spcPts val="300"/>
              </a:spcAft>
              <a:defRPr/>
            </a:pPr>
            <a:r>
              <a:rPr kumimoji="1" lang="zh-CN" altLang="en-US" sz="2400" dirty="0">
                <a:latin typeface="楷体" panose="02010609060101010101" pitchFamily="49" charset="-122"/>
                <a:ea typeface="楷体" panose="02010609060101010101" pitchFamily="49" charset="-122"/>
                <a:sym typeface="+mn-ea"/>
              </a:rPr>
              <a:t>则对上述策略中所隐含的任一状态而言，第k子过程上对应于该状态的最优策略必然包含在上述全过程最优策略</a:t>
            </a:r>
            <a:r>
              <a:rPr kumimoji="1" lang="en-US" altLang="zh-CN" sz="2400" dirty="0">
                <a:latin typeface="楷体" panose="02010609060101010101" pitchFamily="49" charset="-122"/>
                <a:ea typeface="楷体" panose="02010609060101010101" pitchFamily="49" charset="-122"/>
                <a:sym typeface="+mn-ea"/>
              </a:rPr>
              <a:t>      </a:t>
            </a:r>
            <a:r>
              <a:rPr kumimoji="1" lang="zh-CN" altLang="en-US" sz="2400" dirty="0">
                <a:latin typeface="楷体" panose="02010609060101010101" pitchFamily="49" charset="-122"/>
                <a:ea typeface="楷体" panose="02010609060101010101" pitchFamily="49" charset="-122"/>
                <a:sym typeface="+mn-ea"/>
              </a:rPr>
              <a:t>中，即为</a:t>
            </a:r>
            <a:endParaRPr kumimoji="1" lang="zh-CN" altLang="en-US" sz="2400" dirty="0">
              <a:latin typeface="楷体" panose="02010609060101010101" pitchFamily="49" charset="-122"/>
              <a:ea typeface="楷体" panose="02010609060101010101" pitchFamily="49" charset="-122"/>
            </a:endParaRPr>
          </a:p>
          <a:p>
            <a:pPr indent="720090" algn="just">
              <a:lnSpc>
                <a:spcPct val="120000"/>
              </a:lnSpc>
              <a:spcBef>
                <a:spcPts val="300"/>
              </a:spcBef>
              <a:spcAft>
                <a:spcPts val="300"/>
              </a:spcAft>
              <a:defRPr/>
            </a:pPr>
            <a:endParaRPr kumimoji="1" lang="zh-CN" altLang="en-US" sz="2400" dirty="0">
              <a:latin typeface="楷体" panose="02010609060101010101" pitchFamily="49" charset="-122"/>
              <a:ea typeface="楷体" panose="02010609060101010101" pitchFamily="49" charset="-122"/>
            </a:endParaRPr>
          </a:p>
        </p:txBody>
      </p:sp>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graphicFrame>
        <p:nvGraphicFramePr>
          <p:cNvPr id="1164294" name="对象 1164293"/>
          <p:cNvGraphicFramePr/>
          <p:nvPr/>
        </p:nvGraphicFramePr>
        <p:xfrm>
          <a:off x="2127251" y="3612992"/>
          <a:ext cx="5414010" cy="487680"/>
        </p:xfrm>
        <a:graphic>
          <a:graphicData uri="http://schemas.openxmlformats.org/presentationml/2006/ole">
            <mc:AlternateContent xmlns:mc="http://schemas.openxmlformats.org/markup-compatibility/2006">
              <mc:Choice xmlns:v="urn:schemas-microsoft-com:vml" Requires="v">
                <p:oleObj spid="_x0000_s3149" name="" r:id="rId1" imgW="2679700" imgH="241300" progId="Equation.3">
                  <p:embed/>
                </p:oleObj>
              </mc:Choice>
              <mc:Fallback>
                <p:oleObj name="" r:id="rId1" imgW="2679700" imgH="241300" progId="Equation.3">
                  <p:embed/>
                  <p:pic>
                    <p:nvPicPr>
                      <p:cNvPr id="0" name="图片 3148"/>
                      <p:cNvPicPr/>
                      <p:nvPr/>
                    </p:nvPicPr>
                    <p:blipFill>
                      <a:blip r:embed="rId2"/>
                      <a:stretch>
                        <a:fillRect/>
                      </a:stretch>
                    </p:blipFill>
                    <p:spPr>
                      <a:xfrm>
                        <a:off x="2127251" y="3612992"/>
                        <a:ext cx="5414010" cy="487680"/>
                      </a:xfrm>
                      <a:prstGeom prst="rect">
                        <a:avLst/>
                      </a:prstGeom>
                      <a:noFill/>
                      <a:ln w="38100">
                        <a:miter/>
                      </a:ln>
                    </p:spPr>
                  </p:pic>
                </p:oleObj>
              </mc:Fallback>
            </mc:AlternateContent>
          </a:graphicData>
        </a:graphic>
      </p:graphicFrame>
      <p:graphicFrame>
        <p:nvGraphicFramePr>
          <p:cNvPr id="3" name="对象 2"/>
          <p:cNvGraphicFramePr/>
          <p:nvPr/>
        </p:nvGraphicFramePr>
        <p:xfrm>
          <a:off x="6828156" y="4553427"/>
          <a:ext cx="872490" cy="462280"/>
        </p:xfrm>
        <a:graphic>
          <a:graphicData uri="http://schemas.openxmlformats.org/presentationml/2006/ole">
            <mc:AlternateContent xmlns:mc="http://schemas.openxmlformats.org/markup-compatibility/2006">
              <mc:Choice xmlns:v="urn:schemas-microsoft-com:vml" Requires="v">
                <p:oleObj spid="_x0000_s4" name="" r:id="rId3" imgW="431800" imgH="228600" progId="Equation.3">
                  <p:embed/>
                </p:oleObj>
              </mc:Choice>
              <mc:Fallback>
                <p:oleObj name="" r:id="rId3" imgW="431800" imgH="228600" progId="Equation.3">
                  <p:embed/>
                  <p:pic>
                    <p:nvPicPr>
                      <p:cNvPr id="0" name="图片 3148"/>
                      <p:cNvPicPr/>
                      <p:nvPr/>
                    </p:nvPicPr>
                    <p:blipFill>
                      <a:blip r:embed="rId4"/>
                      <a:stretch>
                        <a:fillRect/>
                      </a:stretch>
                    </p:blipFill>
                    <p:spPr>
                      <a:xfrm>
                        <a:off x="6828156" y="4553427"/>
                        <a:ext cx="872490" cy="462280"/>
                      </a:xfrm>
                      <a:prstGeom prst="rect">
                        <a:avLst/>
                      </a:prstGeom>
                      <a:noFill/>
                      <a:ln w="38100">
                        <a:miter/>
                      </a:ln>
                    </p:spPr>
                  </p:pic>
                </p:oleObj>
              </mc:Fallback>
            </mc:AlternateContent>
          </a:graphicData>
        </a:graphic>
      </p:graphicFrame>
      <p:graphicFrame>
        <p:nvGraphicFramePr>
          <p:cNvPr id="5" name="对象 4"/>
          <p:cNvGraphicFramePr/>
          <p:nvPr/>
        </p:nvGraphicFramePr>
        <p:xfrm>
          <a:off x="2686686" y="5069047"/>
          <a:ext cx="4516120" cy="487680"/>
        </p:xfrm>
        <a:graphic>
          <a:graphicData uri="http://schemas.openxmlformats.org/presentationml/2006/ole">
            <mc:AlternateContent xmlns:mc="http://schemas.openxmlformats.org/markup-compatibility/2006">
              <mc:Choice xmlns:v="urn:schemas-microsoft-com:vml" Requires="v">
                <p:oleObj spid="_x0000_s6" name="" r:id="rId5" imgW="2234565" imgH="241300" progId="Equation.3">
                  <p:embed/>
                </p:oleObj>
              </mc:Choice>
              <mc:Fallback>
                <p:oleObj name="" r:id="rId5" imgW="2234565" imgH="241300" progId="Equation.3">
                  <p:embed/>
                  <p:pic>
                    <p:nvPicPr>
                      <p:cNvPr id="0" name="图片 3148"/>
                      <p:cNvPicPr/>
                      <p:nvPr/>
                    </p:nvPicPr>
                    <p:blipFill>
                      <a:blip r:embed="rId6"/>
                      <a:stretch>
                        <a:fillRect/>
                      </a:stretch>
                    </p:blipFill>
                    <p:spPr>
                      <a:xfrm>
                        <a:off x="2686686" y="5069047"/>
                        <a:ext cx="4516120" cy="487680"/>
                      </a:xfrm>
                      <a:prstGeom prst="rect">
                        <a:avLst/>
                      </a:prstGeom>
                      <a:noFill/>
                      <a:ln w="38100">
                        <a:miter/>
                      </a:ln>
                    </p:spPr>
                  </p:pic>
                </p:oleObj>
              </mc:Fallback>
            </mc:AlternateContent>
          </a:graphicData>
        </a:graphic>
      </p:graphicFrame>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ChangeArrowheads="1"/>
          </p:cNvSpPr>
          <p:nvPr/>
        </p:nvSpPr>
        <p:spPr bwMode="auto">
          <a:xfrm>
            <a:off x="521970" y="1070610"/>
            <a:ext cx="10904220" cy="5991860"/>
          </a:xfrm>
          <a:prstGeom prst="rect">
            <a:avLst/>
          </a:prstGeom>
          <a:noFill/>
          <a:ln w="9525">
            <a:noFill/>
            <a:miter lim="800000"/>
          </a:ln>
        </p:spPr>
        <p:txBody>
          <a:bodyPr/>
          <a:lstStyle/>
          <a:p>
            <a:pPr indent="-342900" algn="just">
              <a:lnSpc>
                <a:spcPct val="120000"/>
              </a:lnSpc>
              <a:spcBef>
                <a:spcPts val="300"/>
              </a:spcBef>
              <a:spcAft>
                <a:spcPts val="300"/>
              </a:spcAft>
              <a:defRPr/>
            </a:pPr>
            <a:r>
              <a:rPr kumimoji="1" lang="zh-CN" altLang="en-US" sz="2800" b="1" dirty="0">
                <a:latin typeface="楷体" panose="02010609060101010101" pitchFamily="49" charset="-122"/>
                <a:ea typeface="楷体" panose="02010609060101010101" pitchFamily="49" charset="-122"/>
              </a:rPr>
              <a:t>三、最优化原理</a:t>
            </a:r>
            <a:endParaRPr kumimoji="1" lang="zh-CN" altLang="en-US" sz="2800" b="1" dirty="0">
              <a:latin typeface="楷体" panose="02010609060101010101" pitchFamily="49" charset="-122"/>
              <a:ea typeface="楷体" panose="02010609060101010101" pitchFamily="49" charset="-122"/>
            </a:endParaRPr>
          </a:p>
          <a:p>
            <a:pPr indent="720090" algn="just">
              <a:lnSpc>
                <a:spcPct val="120000"/>
              </a:lnSpc>
              <a:spcBef>
                <a:spcPts val="300"/>
              </a:spcBef>
              <a:spcAft>
                <a:spcPts val="300"/>
              </a:spcAft>
              <a:defRPr/>
            </a:pPr>
            <a:r>
              <a:rPr kumimoji="1" lang="zh-CN" altLang="en-US" sz="2000" dirty="0">
                <a:latin typeface="楷体" panose="02010609060101010101" pitchFamily="49" charset="-122"/>
                <a:ea typeface="楷体" panose="02010609060101010101" pitchFamily="49" charset="-122"/>
                <a:cs typeface="楷体" panose="02010609060101010101" pitchFamily="49" charset="-122"/>
              </a:rPr>
              <a:t>最优化原理一方面说明原问题的最优解中包含了子问题的最优解，另一方面给出了一种求解问题的思路，</a:t>
            </a:r>
            <a:r>
              <a:rPr kumimoji="1"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将一个难以直接解决的大问题，分割成一些规模较小的相同子问题</a:t>
            </a:r>
            <a:r>
              <a:rPr kumimoji="1" lang="zh-CN" altLang="en-US" sz="2000" dirty="0">
                <a:latin typeface="楷体" panose="02010609060101010101" pitchFamily="49" charset="-122"/>
                <a:ea typeface="楷体" panose="02010609060101010101" pitchFamily="49" charset="-122"/>
                <a:cs typeface="楷体" panose="02010609060101010101" pitchFamily="49" charset="-122"/>
              </a:rPr>
              <a:t>，每一个子问题只解一次，并将结果保存起来以后直接引用，避免每次碰到时都要重复计算，以便</a:t>
            </a:r>
            <a:r>
              <a:rPr kumimoji="1"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各个击破，分而治之</a:t>
            </a:r>
            <a:r>
              <a:rPr kumimoji="1" lang="zh-CN" altLang="en-US" sz="2000" dirty="0">
                <a:latin typeface="楷体" panose="02010609060101010101" pitchFamily="49" charset="-122"/>
                <a:ea typeface="楷体" panose="02010609060101010101" pitchFamily="49" charset="-122"/>
                <a:cs typeface="楷体" panose="02010609060101010101" pitchFamily="49" charset="-122"/>
              </a:rPr>
              <a:t>，即分治法，是一种解决最优化问题的算法策略。</a:t>
            </a:r>
            <a:endParaRPr kumimoji="1" lang="zh-CN" altLang="en-US" sz="2000" dirty="0">
              <a:latin typeface="楷体" panose="02010609060101010101" pitchFamily="49" charset="-122"/>
              <a:ea typeface="楷体" panose="02010609060101010101" pitchFamily="49" charset="-122"/>
              <a:cs typeface="楷体" panose="02010609060101010101" pitchFamily="49" charset="-122"/>
            </a:endParaRPr>
          </a:p>
          <a:p>
            <a:pPr indent="720090" algn="just">
              <a:lnSpc>
                <a:spcPct val="120000"/>
              </a:lnSpc>
              <a:spcBef>
                <a:spcPts val="300"/>
              </a:spcBef>
              <a:spcAft>
                <a:spcPts val="300"/>
              </a:spcAft>
              <a:defRPr/>
            </a:pPr>
            <a:r>
              <a:rPr kumimoji="1" lang="zh-CN" altLang="en-US" sz="2000" dirty="0">
                <a:latin typeface="楷体" panose="02010609060101010101" pitchFamily="49" charset="-122"/>
                <a:ea typeface="楷体" panose="02010609060101010101" pitchFamily="49" charset="-122"/>
                <a:cs typeface="楷体" panose="02010609060101010101" pitchFamily="49" charset="-122"/>
                <a:sym typeface="+mn-ea"/>
              </a:rPr>
              <a:t>通常多阶段决策过程的发展是通过状态的一系列变换来实现的。一般情况下，系统在某个阶段的状态转移除与本阶段的状态和决策有关外，还可能与系统过去经历的状态和决策有关。因此，问题的求解就比较困难复杂。而适合于用动态规划方法求解的只是一类特殊的多阶段决策问题，即</a:t>
            </a:r>
            <a:r>
              <a:rPr kumimoji="1"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sym typeface="+mn-ea"/>
              </a:rPr>
              <a:t>具有“无后效性”的多阶段决策过程</a:t>
            </a:r>
            <a:r>
              <a:rPr kumimoji="1" lang="zh-CN" altLang="en-US" sz="2000" dirty="0">
                <a:latin typeface="楷体" panose="02010609060101010101" pitchFamily="49" charset="-122"/>
                <a:ea typeface="楷体" panose="02010609060101010101" pitchFamily="49" charset="-122"/>
                <a:cs typeface="楷体" panose="02010609060101010101" pitchFamily="49" charset="-122"/>
                <a:sym typeface="+mn-ea"/>
              </a:rPr>
              <a:t>。所谓无后效性，又称马尔</a:t>
            </a:r>
            <a:r>
              <a:rPr kumimoji="1" lang="zh-CN" altLang="en-US" sz="2000" dirty="0">
                <a:latin typeface="楷体" panose="02010609060101010101" pitchFamily="49" charset="-122"/>
                <a:ea typeface="楷体" panose="02010609060101010101" pitchFamily="49" charset="-122"/>
                <a:cs typeface="楷体" panose="02010609060101010101" pitchFamily="49" charset="-122"/>
                <a:sym typeface="+mn-ea"/>
              </a:rPr>
              <a:t>可夫性，是指系统从某个阶段往后的发展，仅由本阶段所处的状态及其往后的决策所决定，与系统以前经历的状态和决策(历史)无关。</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indent="720090" algn="just">
              <a:lnSpc>
                <a:spcPct val="120000"/>
              </a:lnSpc>
              <a:spcBef>
                <a:spcPts val="300"/>
              </a:spcBef>
              <a:spcAft>
                <a:spcPts val="300"/>
              </a:spcAft>
              <a:defRPr/>
            </a:pPr>
            <a:endParaRPr kumimoji="1"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ChangeArrowheads="1"/>
          </p:cNvSpPr>
          <p:nvPr/>
        </p:nvSpPr>
        <p:spPr bwMode="auto">
          <a:xfrm>
            <a:off x="975360" y="1070610"/>
            <a:ext cx="10067290" cy="5406390"/>
          </a:xfrm>
          <a:prstGeom prst="rect">
            <a:avLst/>
          </a:prstGeom>
          <a:noFill/>
          <a:ln w="9525">
            <a:noFill/>
            <a:miter lim="800000"/>
          </a:ln>
        </p:spPr>
        <p:txBody>
          <a:bodyPr/>
          <a:lstStyle/>
          <a:p>
            <a:pPr indent="-342900" algn="just">
              <a:lnSpc>
                <a:spcPct val="120000"/>
              </a:lnSpc>
              <a:spcBef>
                <a:spcPts val="300"/>
              </a:spcBef>
              <a:spcAft>
                <a:spcPts val="300"/>
              </a:spcAft>
              <a:defRPr/>
            </a:pPr>
            <a:r>
              <a:rPr kumimoji="1" lang="zh-CN" altLang="en-US" sz="2800" b="1" dirty="0">
                <a:latin typeface="楷体" panose="02010609060101010101" pitchFamily="49" charset="-122"/>
                <a:ea typeface="楷体" panose="02010609060101010101" pitchFamily="49" charset="-122"/>
              </a:rPr>
              <a:t>四、建立动态规划模型的步骤</a:t>
            </a:r>
            <a:endParaRPr kumimoji="1" lang="zh-CN" altLang="en-US" sz="2800" b="1" dirty="0">
              <a:latin typeface="楷体" panose="02010609060101010101" pitchFamily="49" charset="-122"/>
              <a:ea typeface="楷体" panose="02010609060101010101" pitchFamily="49" charset="-122"/>
            </a:endParaRPr>
          </a:p>
          <a:p>
            <a:pPr algn="just">
              <a:spcBef>
                <a:spcPct val="50000"/>
              </a:spcBef>
            </a:pP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1</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、划分阶段</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划分阶段是运用动态规划求解多阶段决策问题的第一步，在确定多阶段特性后，按时间或空间先后顺序，将过程划分为若干相互联系的阶段。对于静态问题要人为地赋予“时间”概念，以便划分阶段。</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  </a:t>
            </a: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2</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、正确选择状态变量</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选择变量既要能确切描述过程演变又要满足无后效性，而且各阶段状态变量的取值能够确定。一般地，状态变量的选择是从过程演变的特点中寻找。</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  </a:t>
            </a: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3</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、确定决策变量及允许决策集合</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lgn="just">
              <a:spcBef>
                <a:spcPct val="50000"/>
              </a:spcBef>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通常选择所求解问题的关键变量作为决策变量，同时要给出决策变量的取值范围，即确定允许决策集合。</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indent="720090" algn="just">
              <a:lnSpc>
                <a:spcPct val="120000"/>
              </a:lnSpc>
              <a:spcBef>
                <a:spcPts val="300"/>
              </a:spcBef>
              <a:spcAft>
                <a:spcPts val="300"/>
              </a:spcAft>
              <a:defRPr/>
            </a:pPr>
            <a:endParaRPr kumimoji="1"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ChangeArrowheads="1"/>
          </p:cNvSpPr>
          <p:nvPr/>
        </p:nvSpPr>
        <p:spPr bwMode="auto">
          <a:xfrm>
            <a:off x="975360" y="1070610"/>
            <a:ext cx="10067290" cy="5406390"/>
          </a:xfrm>
          <a:prstGeom prst="rect">
            <a:avLst/>
          </a:prstGeom>
          <a:noFill/>
          <a:ln w="9525">
            <a:noFill/>
            <a:miter lim="800000"/>
          </a:ln>
        </p:spPr>
        <p:txBody>
          <a:bodyPr/>
          <a:lstStyle/>
          <a:p>
            <a:pPr indent="-342900" algn="just">
              <a:lnSpc>
                <a:spcPct val="120000"/>
              </a:lnSpc>
              <a:spcBef>
                <a:spcPts val="300"/>
              </a:spcBef>
              <a:spcAft>
                <a:spcPts val="300"/>
              </a:spcAft>
              <a:defRPr/>
            </a:pPr>
            <a:r>
              <a:rPr kumimoji="1" lang="zh-CN" altLang="en-US" sz="2800" b="1" dirty="0">
                <a:latin typeface="楷体" panose="02010609060101010101" pitchFamily="49" charset="-122"/>
                <a:ea typeface="楷体" panose="02010609060101010101" pitchFamily="49" charset="-122"/>
              </a:rPr>
              <a:t>四、建立动态规划模型的步骤</a:t>
            </a:r>
            <a:endParaRPr kumimoji="1" lang="zh-CN" altLang="en-US" sz="2800" b="1" dirty="0">
              <a:latin typeface="楷体" panose="02010609060101010101" pitchFamily="49" charset="-122"/>
              <a:ea typeface="楷体" panose="02010609060101010101" pitchFamily="49" charset="-122"/>
            </a:endParaRPr>
          </a:p>
          <a:p>
            <a:pPr>
              <a:spcBef>
                <a:spcPct val="50000"/>
              </a:spcBef>
            </a:pP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 4</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、确定状态转移方程</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spcBef>
                <a:spcPct val="50000"/>
              </a:spcBef>
            </a:pP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    根据</a:t>
            </a:r>
            <a:r>
              <a:rPr lang="en-US" altLang="zh-CN" sz="2400" i="1"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k </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阶段状态变量和决策变量，写出</a:t>
            </a:r>
            <a:r>
              <a:rPr lang="en-US" altLang="zh-CN" sz="2400" i="1"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k</a:t>
            </a: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+1</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阶段状态变量，状态转移方程应当具有递推关系。</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endParaRPr>
          </a:p>
          <a:p>
            <a:pPr>
              <a:spcBef>
                <a:spcPct val="50000"/>
              </a:spcBef>
            </a:pP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5</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、确定阶段指标函数和最优指标函数，建立动态规划基本方程</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endParaRPr>
          </a:p>
          <a:p>
            <a:pPr>
              <a:spcBef>
                <a:spcPct val="50000"/>
              </a:spcBef>
            </a:pP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   </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阶段指标函数是指第</a:t>
            </a:r>
            <a:r>
              <a:rPr lang="en-US" altLang="zh-CN" sz="2400" i="1"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k </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阶段的收益，最优指标函数是指从第</a:t>
            </a:r>
            <a:r>
              <a:rPr lang="en-US" altLang="zh-CN" sz="2400" i="1"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k </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阶段状态出发到第</a:t>
            </a:r>
            <a:r>
              <a:rPr lang="en-US" altLang="zh-CN" sz="2400" i="1"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n </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阶段末所获得收益的最优值，最后写出动态规划基本方程。 </a:t>
            </a:r>
            <a:endPar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endParaRPr>
          </a:p>
          <a:p>
            <a:pPr>
              <a:spcBef>
                <a:spcPct val="50000"/>
              </a:spcBef>
            </a:pPr>
            <a:r>
              <a:rPr lang="en-US" altLang="zh-CN"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   </a:t>
            </a:r>
            <a:r>
              <a:rPr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sym typeface="+mn-ea"/>
              </a:rPr>
              <a:t>以上五步是建立动态规划数学模型的一般步骤。由于动态规划模型与线性规划模型不同，动态规划模型没有统一的模式，建模时必须根据具体问题具体分析，只有通过不断实践总结，才能较好掌握建模方法与技巧。</a:t>
            </a:r>
            <a:r>
              <a:rPr lang="zh-CN" altLang="en-US" sz="2400" b="1" dirty="0">
                <a:solidFill>
                  <a:srgbClr val="000066"/>
                </a:solidFill>
                <a:latin typeface="楷体_GB2312" pitchFamily="49" charset="-122"/>
                <a:ea typeface="楷体_GB2312" pitchFamily="49" charset="-122"/>
                <a:sym typeface="+mn-ea"/>
              </a:rPr>
              <a:t> </a:t>
            </a:r>
            <a:endParaRPr kumimoji="1"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sp>
        <p:nvSpPr>
          <p:cNvPr id="2" name="标题 1"/>
          <p:cNvSpPr>
            <a:spLocks noGrp="1"/>
          </p:cNvSpPr>
          <p:nvPr/>
        </p:nvSpPr>
        <p:spPr>
          <a:xfrm>
            <a:off x="838200" y="82550"/>
            <a:ext cx="10515600" cy="10737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基本概念、基本方程与最优化原理</a:t>
            </a:r>
            <a:endParaRPr lang="zh-CN" altLang="en-US" dirty="0"/>
          </a:p>
        </p:txBody>
      </p:sp>
    </p:spTree>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ChangeArrowheads="1"/>
          </p:cNvSpPr>
          <p:nvPr/>
        </p:nvSpPr>
        <p:spPr bwMode="auto">
          <a:xfrm>
            <a:off x="1904999" y="838201"/>
            <a:ext cx="8649605" cy="2086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gn="just">
              <a:spcBef>
                <a:spcPts val="300"/>
              </a:spcBef>
              <a:spcAft>
                <a:spcPts val="300"/>
              </a:spcAft>
            </a:pPr>
            <a:r>
              <a:rPr kumimoji="1" lang="zh-CN" altLang="en-US" sz="2400" b="1" dirty="0">
                <a:latin typeface="Times New Roman" panose="02020603050405020304" pitchFamily="18" charset="0"/>
                <a:ea typeface="楷体" panose="02010609060101010101" pitchFamily="49" charset="-122"/>
                <a:cs typeface="Times New Roman" panose="02020603050405020304" pitchFamily="18" charset="0"/>
              </a:rPr>
              <a:t>一、资源分配问题</a:t>
            </a:r>
            <a:endParaRPr kumimoji="1"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例</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2. </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某公司拟将某种设备</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5</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台，分配给所属的甲、乙、丙三个工厂。各工厂获得此设备后，预测可创造的利润如表所示，问这</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5</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台设备应如何分配给这</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个工厂，使得所创造的总利润为最大？</a:t>
            </a:r>
            <a:r>
              <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endPar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endPar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endPar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endParaRPr kumimoji="1"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r>
              <a:rPr kumimoji="1" lang="zh-CN" altLang="en-US" dirty="0">
                <a:latin typeface="Times New Roman" panose="02020603050405020304" pitchFamily="18" charset="0"/>
                <a:ea typeface="楷体" panose="02010609060101010101" pitchFamily="49" charset="-122"/>
                <a:cs typeface="Times New Roman" panose="02020603050405020304" pitchFamily="18" charset="0"/>
              </a:rPr>
              <a:t>                                                                      </a:t>
            </a:r>
            <a:endParaRPr kumimoji="1"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r>
              <a:rPr kumimoji="1" lang="zh-CN" altLang="en-US" dirty="0">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indent="457200" algn="just">
              <a:spcBef>
                <a:spcPts val="300"/>
              </a:spcBef>
              <a:spcAft>
                <a:spcPts val="300"/>
              </a:spcAft>
            </a:pPr>
            <a:endParaRPr kumimoji="1"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2" name="表格 1"/>
          <p:cNvGraphicFramePr>
            <a:graphicFrameLocks noGrp="1"/>
          </p:cNvGraphicFramePr>
          <p:nvPr/>
        </p:nvGraphicFramePr>
        <p:xfrm>
          <a:off x="3048000" y="2952256"/>
          <a:ext cx="6096000" cy="3714750"/>
        </p:xfrm>
        <a:graphic>
          <a:graphicData uri="http://schemas.openxmlformats.org/drawingml/2006/table">
            <a:tbl>
              <a:tblPr firstRow="1" bandRow="1">
                <a:tableStyleId>{5C22544A-7EE6-4342-B048-85BDC9FD1C3A}</a:tableStyleId>
              </a:tblPr>
              <a:tblGrid>
                <a:gridCol w="1524000"/>
                <a:gridCol w="1524000"/>
                <a:gridCol w="1524000"/>
                <a:gridCol w="1524000"/>
              </a:tblGrid>
              <a:tr h="1118870">
                <a:tc>
                  <a:txBody>
                    <a:bodyPr/>
                    <a:lstStyle/>
                    <a:p>
                      <a:pPr marL="0" marR="0" lvl="0" indent="0" algn="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rPr>
                        <a:t>        工厂</a:t>
                      </a:r>
                      <a:endParaRPr kumimoji="0" lang="en-US" altLang="zh-CN" sz="1800" u="none" strike="noStrike" cap="none" normalizeH="0" baseline="0" dirty="0">
                        <a:ln>
                          <a:noFill/>
                        </a:ln>
                        <a:effectLst/>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rPr>
                        <a:t>盈利 </a:t>
                      </a:r>
                      <a:endParaRPr kumimoji="0" lang="zh-CN" altLang="en-US" sz="1800" u="none" strike="noStrike" cap="none" normalizeH="0" baseline="0" dirty="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a:ln>
                            <a:noFill/>
                          </a:ln>
                          <a:effectLst/>
                        </a:rPr>
                        <a:t>设备台数</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u="none" strike="noStrike" cap="none" normalizeH="0" baseline="0" dirty="0">
                          <a:ln>
                            <a:noFill/>
                          </a:ln>
                          <a:effectLst/>
                        </a:rPr>
                        <a:t>   </a:t>
                      </a:r>
                      <a:r>
                        <a:rPr kumimoji="0" lang="zh-CN" altLang="en-US" sz="1800" u="none" strike="noStrike" cap="none" normalizeH="0" baseline="0" dirty="0">
                          <a:ln>
                            <a:noFill/>
                          </a:ln>
                          <a:effectLst/>
                        </a:rPr>
                        <a:t>甲   厂</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u="none" strike="noStrike" cap="none" normalizeH="0" baseline="0" dirty="0">
                          <a:ln>
                            <a:noFill/>
                          </a:ln>
                          <a:effectLst/>
                        </a:rPr>
                        <a:t>  </a:t>
                      </a:r>
                      <a:r>
                        <a:rPr kumimoji="0" lang="zh-CN" altLang="en-US" sz="1800" u="none" strike="noStrike" cap="none" normalizeH="0" baseline="0" dirty="0">
                          <a:ln>
                            <a:noFill/>
                          </a:ln>
                          <a:effectLst/>
                        </a:rPr>
                        <a:t>乙  厂</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u="none" strike="noStrike" cap="none" normalizeH="0" baseline="0" dirty="0" smtClean="0">
                          <a:ln>
                            <a:noFill/>
                          </a:ln>
                          <a:effectLst/>
                        </a:rPr>
                        <a:t>丙  </a:t>
                      </a:r>
                      <a:r>
                        <a:rPr kumimoji="0" lang="zh-CN" altLang="en-US" sz="1800" u="none" strike="noStrike" cap="none" normalizeH="0" baseline="0" dirty="0">
                          <a:ln>
                            <a:noFill/>
                          </a:ln>
                          <a:effectLst/>
                        </a:rPr>
                        <a:t>厂</a:t>
                      </a:r>
                      <a:endParaRPr kumimoji="0" lang="zh-CN" altLang="en-US" sz="18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435">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435">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435">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2 </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7</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6</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3070">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9</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2435">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12</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12</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33070">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5</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13</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0" lang="en-US" altLang="zh-CN" sz="2000" u="none" strike="noStrike" cap="none" normalizeH="0" baseline="0" dirty="0" smtClean="0">
                          <a:ln>
                            <a:noFill/>
                          </a:ln>
                          <a:effectLst/>
                          <a:latin typeface="Times New Roman" panose="02020603050405020304" pitchFamily="18" charset="0"/>
                          <a:cs typeface="Times New Roman" panose="02020603050405020304" pitchFamily="18" charset="0"/>
                        </a:rPr>
                        <a:t>12</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pSp>
        <p:nvGrpSpPr>
          <p:cNvPr id="12" name="组合 11"/>
          <p:cNvGrpSpPr/>
          <p:nvPr/>
        </p:nvGrpSpPr>
        <p:grpSpPr>
          <a:xfrm>
            <a:off x="3048000" y="2952257"/>
            <a:ext cx="1521296" cy="1099880"/>
            <a:chOff x="5715000" y="538163"/>
            <a:chExt cx="1521296" cy="1099880"/>
          </a:xfrm>
        </p:grpSpPr>
        <p:cxnSp>
          <p:nvCxnSpPr>
            <p:cNvPr id="4" name="直接连接符 3"/>
            <p:cNvCxnSpPr/>
            <p:nvPr/>
          </p:nvCxnSpPr>
          <p:spPr>
            <a:xfrm>
              <a:off x="6444208" y="538163"/>
              <a:ext cx="792088" cy="10998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5715000" y="1009402"/>
              <a:ext cx="1521296" cy="6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07" name="Rectangle 1027"/>
              <p:cNvSpPr>
                <a:spLocks noChangeArrowheads="1"/>
              </p:cNvSpPr>
              <p:nvPr/>
            </p:nvSpPr>
            <p:spPr bwMode="auto">
              <a:xfrm>
                <a:off x="1952625" y="1157288"/>
                <a:ext cx="8286750" cy="47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50000"/>
                  </a:lnSpc>
                  <a:spcBef>
                    <a:spcPts val="300"/>
                  </a:spcBef>
                  <a:spcAft>
                    <a:spcPts val="300"/>
                  </a:spcAft>
                </a:pPr>
                <a:r>
                  <a:rPr kumimoji="1" lang="zh-CN" altLang="en-US" sz="2400" dirty="0">
                    <a:ea typeface="楷体" panose="02010609060101010101" pitchFamily="49" charset="-122"/>
                  </a:rPr>
                  <a:t>解：按甲、乙、丙工厂</a:t>
                </a:r>
                <a:r>
                  <a:rPr kumimoji="1" lang="zh-CN" altLang="en-US" sz="2400" b="1" dirty="0">
                    <a:solidFill>
                      <a:srgbClr val="FF0000"/>
                    </a:solidFill>
                    <a:ea typeface="楷体" panose="02010609060101010101" pitchFamily="49" charset="-122"/>
                  </a:rPr>
                  <a:t>分为三个阶段</a:t>
                </a:r>
                <a:r>
                  <a:rPr kumimoji="1" lang="zh-CN" altLang="en-US" sz="2400" dirty="0">
                    <a:ea typeface="楷体" panose="02010609060101010101" pitchFamily="49" charset="-122"/>
                  </a:rPr>
                  <a:t>，编号</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1</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kumimoji="1" lang="zh-CN" altLang="en-US" sz="2400" dirty="0">
                    <a:ea typeface="楷体" panose="02010609060101010101" pitchFamily="49" charset="-122"/>
                  </a:rPr>
                  <a:t>。设</a:t>
                </a:r>
                <a:endParaRPr kumimoji="1" lang="zh-CN" altLang="en-US" sz="2400" dirty="0">
                  <a:ea typeface="楷体" panose="02010609060101010101" pitchFamily="49" charset="-122"/>
                </a:endParaRPr>
              </a:p>
              <a:p>
                <a:pPr marL="342900" indent="-342900" algn="just">
                  <a:lnSpc>
                    <a:spcPct val="150000"/>
                  </a:lnSpc>
                  <a:spcBef>
                    <a:spcPts val="300"/>
                  </a:spcBef>
                  <a:spcAft>
                    <a:spcPts val="300"/>
                  </a:spcAft>
                </a:pPr>
                <a14:m>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sub>
                    </m:sSub>
                  </m:oMath>
                </a14:m>
                <a:r>
                  <a:rPr kumimoji="1" lang="en-US" altLang="zh-CN" sz="2400" dirty="0">
                    <a:ea typeface="楷体" panose="02010609060101010101" pitchFamily="49" charset="-122"/>
                  </a:rPr>
                  <a:t> = </a:t>
                </a:r>
                <a:r>
                  <a:rPr kumimoji="1" lang="zh-CN" altLang="en-US" sz="2400" dirty="0">
                    <a:ea typeface="楷体" panose="02010609060101010101" pitchFamily="49" charset="-122"/>
                  </a:rPr>
                  <a:t>分配给第</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个厂至第</a:t>
                </a:r>
                <a:r>
                  <a:rPr kumimoji="1" lang="en-US" altLang="zh-CN" sz="2400" dirty="0">
                    <a:ea typeface="楷体" panose="02010609060101010101" pitchFamily="49" charset="-122"/>
                  </a:rPr>
                  <a:t>3</a:t>
                </a:r>
                <a:r>
                  <a:rPr kumimoji="1" lang="zh-CN" altLang="en-US" sz="2400" dirty="0">
                    <a:ea typeface="楷体" panose="02010609060101010101" pitchFamily="49" charset="-122"/>
                  </a:rPr>
                  <a:t>个厂的设备台数。</a:t>
                </a:r>
                <a:endParaRPr kumimoji="1" lang="zh-CN" altLang="en-US" sz="2400" dirty="0">
                  <a:ea typeface="楷体" panose="02010609060101010101" pitchFamily="49" charset="-122"/>
                </a:endParaRPr>
              </a:p>
              <a:p>
                <a:pPr marL="342900" indent="-342900" algn="just">
                  <a:lnSpc>
                    <a:spcPct val="150000"/>
                  </a:lnSpc>
                  <a:spcBef>
                    <a:spcPts val="300"/>
                  </a:spcBef>
                  <a:spcAft>
                    <a:spcPts val="300"/>
                  </a:spcAft>
                </a:pP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𝑘</m:t>
                        </m:r>
                      </m:sub>
                    </m:sSub>
                    <m:r>
                      <a:rPr kumimoji="1" lang="en-US" altLang="zh-CN" sz="2400" i="1">
                        <a:latin typeface="Cambria Math" panose="02040503050406030204" pitchFamily="18" charset="0"/>
                        <a:ea typeface="楷体" panose="02010609060101010101" pitchFamily="49" charset="-122"/>
                      </a:rPr>
                      <m:t> </m:t>
                    </m:r>
                  </m:oMath>
                </a14:m>
                <a:r>
                  <a:rPr kumimoji="1" lang="en-US" altLang="zh-CN" sz="2400" dirty="0">
                    <a:ea typeface="楷体" panose="02010609060101010101" pitchFamily="49" charset="-122"/>
                  </a:rPr>
                  <a:t>=</a:t>
                </a:r>
                <a:r>
                  <a:rPr kumimoji="1" lang="zh-CN" altLang="en-US" sz="2400" dirty="0">
                    <a:ea typeface="楷体" panose="02010609060101010101" pitchFamily="49" charset="-122"/>
                  </a:rPr>
                  <a:t>分配给第</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个厂的设备台数。</a:t>
                </a:r>
                <a:endParaRPr kumimoji="1" lang="en-US" altLang="zh-CN" sz="2400" dirty="0">
                  <a:ea typeface="楷体" panose="02010609060101010101" pitchFamily="49" charset="-122"/>
                </a:endParaRPr>
              </a:p>
              <a:p>
                <a:pPr marL="342900" indent="-342900" algn="just">
                  <a:lnSpc>
                    <a:spcPct val="150000"/>
                  </a:lnSpc>
                  <a:spcBef>
                    <a:spcPts val="300"/>
                  </a:spcBef>
                  <a:spcAft>
                    <a:spcPts val="300"/>
                  </a:spcAft>
                </a:pPr>
                <a:r>
                  <a:rPr kumimoji="1" lang="zh-CN" altLang="en-US" sz="2400" dirty="0">
                    <a:ea typeface="楷体" panose="02010609060101010101" pitchFamily="49" charset="-122"/>
                  </a:rPr>
                  <a:t>　    已知</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5</m:t>
                    </m:r>
                  </m:oMath>
                </a14:m>
                <a:r>
                  <a:rPr kumimoji="1" lang="en-US" altLang="zh-CN" sz="2400" dirty="0">
                    <a:ea typeface="楷体" panose="02010609060101010101" pitchFamily="49" charset="-122"/>
                  </a:rPr>
                  <a:t>,</a:t>
                </a:r>
                <a:r>
                  <a:rPr kumimoji="1" lang="zh-CN" altLang="en-US" sz="2400" dirty="0">
                    <a:ea typeface="楷体" panose="02010609060101010101" pitchFamily="49" charset="-122"/>
                  </a:rPr>
                  <a:t>并有</a:t>
                </a:r>
                <a:endParaRPr kumimoji="1" lang="en-US" altLang="zh-CN" sz="2400" dirty="0">
                  <a:ea typeface="楷体" panose="02010609060101010101" pitchFamily="49" charset="-122"/>
                </a:endParaRPr>
              </a:p>
              <a:p>
                <a:pPr marL="342900" indent="-342900" algn="just">
                  <a:lnSpc>
                    <a:spcPct val="150000"/>
                  </a:lnSpc>
                  <a:spcBef>
                    <a:spcPts val="300"/>
                  </a:spcBef>
                  <a:spcAft>
                    <a:spcPts val="300"/>
                  </a:spcAft>
                </a:pPr>
                <a14:m>
                  <m:oMathPara xmlns:m="http://schemas.openxmlformats.org/officeDocument/2006/math">
                    <m:oMathParaPr>
                      <m:jc m:val="center"/>
                    </m:oMathParaPr>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𝑇</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oMath>
                  </m:oMathPara>
                </a14:m>
                <a:endParaRPr kumimoji="1" lang="en-US" altLang="zh-CN" sz="2400" dirty="0">
                  <a:ea typeface="楷体" panose="02010609060101010101" pitchFamily="49" charset="-122"/>
                </a:endParaRPr>
              </a:p>
              <a:p>
                <a:pPr marL="342900" indent="-342900" algn="ctr">
                  <a:lnSpc>
                    <a:spcPct val="150000"/>
                  </a:lnSpc>
                  <a:spcBef>
                    <a:spcPts val="300"/>
                  </a:spcBef>
                  <a:spcAft>
                    <a:spcPts val="300"/>
                  </a:spcAft>
                </a:pP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𝑇</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2</m:t>
                            </m:r>
                          </m:sub>
                        </m:sSub>
                      </m:e>
                    </m:d>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2</m:t>
                        </m:r>
                      </m:sub>
                    </m:sSub>
                  </m:oMath>
                </a14:m>
                <a:r>
                  <a:rPr kumimoji="1" lang="zh-CN" altLang="en-US" sz="2400" dirty="0">
                    <a:ea typeface="楷体" panose="02010609060101010101" pitchFamily="49" charset="-122"/>
                  </a:rPr>
                  <a:t>  </a:t>
                </a:r>
                <a:endParaRPr kumimoji="1" lang="zh-CN" altLang="en-US" sz="2400" dirty="0">
                  <a:ea typeface="楷体" panose="02010609060101010101" pitchFamily="49" charset="-122"/>
                </a:endParaRPr>
              </a:p>
              <a:p>
                <a:pPr marL="342900" indent="-342900" algn="just">
                  <a:lnSpc>
                    <a:spcPct val="90000"/>
                  </a:lnSpc>
                  <a:spcBef>
                    <a:spcPts val="300"/>
                  </a:spcBef>
                  <a:spcAft>
                    <a:spcPts val="300"/>
                  </a:spcAft>
                </a:pPr>
                <a:r>
                  <a:rPr kumimoji="1" lang="zh-CN" altLang="en-US" sz="2400" dirty="0">
                    <a:ea typeface="楷体" panose="02010609060101010101" pitchFamily="49" charset="-122"/>
                  </a:rPr>
                  <a:t>　</a:t>
                </a:r>
                <a:endParaRPr kumimoji="1" lang="en-US" altLang="zh-CN" sz="2400" dirty="0">
                  <a:ea typeface="楷体" panose="02010609060101010101" pitchFamily="49" charset="-122"/>
                </a:endParaRPr>
              </a:p>
              <a:p>
                <a:pPr marL="342900" indent="-342900" algn="just">
                  <a:lnSpc>
                    <a:spcPct val="90000"/>
                  </a:lnSpc>
                  <a:spcBef>
                    <a:spcPts val="300"/>
                  </a:spcBef>
                  <a:spcAft>
                    <a:spcPts val="300"/>
                  </a:spcAft>
                </a:pPr>
                <a:r>
                  <a:rPr kumimoji="1" lang="en-US" altLang="zh-CN" sz="2400" dirty="0">
                    <a:ea typeface="楷体" panose="02010609060101010101" pitchFamily="49" charset="-122"/>
                  </a:rPr>
                  <a:t>       </a:t>
                </a:r>
                <a:r>
                  <a:rPr kumimoji="1" lang="zh-CN" altLang="en-US" sz="2400" dirty="0">
                    <a:ea typeface="楷体" panose="02010609060101010101" pitchFamily="49" charset="-122"/>
                  </a:rPr>
                  <a:t>从</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𝑘</m:t>
                        </m:r>
                      </m:sub>
                    </m:sSub>
                  </m:oMath>
                </a14:m>
                <a:r>
                  <a:rPr kumimoji="1" lang="zh-CN" altLang="en-US" sz="2400" dirty="0">
                    <a:ea typeface="楷体" panose="02010609060101010101" pitchFamily="49" charset="-122"/>
                  </a:rPr>
                  <a:t>与</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𝑘</m:t>
                        </m:r>
                      </m:sub>
                    </m:sSub>
                  </m:oMath>
                </a14:m>
                <a:r>
                  <a:rPr kumimoji="1" lang="zh-CN" altLang="en-US" sz="2400" dirty="0">
                    <a:ea typeface="楷体" panose="02010609060101010101" pitchFamily="49" charset="-122"/>
                  </a:rPr>
                  <a:t>的定义</a:t>
                </a:r>
                <a:r>
                  <a:rPr kumimoji="1" lang="zh-CN" altLang="en-US" sz="2400" dirty="0">
                    <a:solidFill>
                      <a:srgbClr val="FF0000"/>
                    </a:solidFill>
                    <a:ea typeface="楷体" panose="02010609060101010101" pitchFamily="49" charset="-122"/>
                  </a:rPr>
                  <a:t>和本题目已知数据的特点</a:t>
                </a:r>
                <a:r>
                  <a:rPr kumimoji="1" lang="zh-CN" altLang="en-US" sz="2400" dirty="0">
                    <a:ea typeface="楷体" panose="02010609060101010101" pitchFamily="49" charset="-122"/>
                  </a:rPr>
                  <a:t>，可知</a:t>
                </a:r>
                <a14:m>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oMath>
                </a14:m>
                <a:endParaRPr kumimoji="1" lang="zh-CN" altLang="en-US" sz="2400" dirty="0">
                  <a:ea typeface="楷体" panose="02010609060101010101" pitchFamily="49" charset="-122"/>
                </a:endParaRPr>
              </a:p>
            </p:txBody>
          </p:sp>
        </mc:Choice>
        <mc:Fallback>
          <p:sp>
            <p:nvSpPr>
              <p:cNvPr id="4107" name="Rectangle 1027"/>
              <p:cNvSpPr>
                <a:spLocks noRot="1" noChangeAspect="1" noMove="1" noResize="1" noEditPoints="1" noAdjustHandles="1" noChangeArrowheads="1" noChangeShapeType="1" noTextEdit="1"/>
              </p:cNvSpPr>
              <p:nvPr/>
            </p:nvSpPr>
            <p:spPr bwMode="auto">
              <a:xfrm>
                <a:off x="1952625" y="1157288"/>
                <a:ext cx="8286750" cy="4700587"/>
              </a:xfrm>
              <a:prstGeom prst="rect">
                <a:avLst/>
              </a:prstGeom>
              <a:blipFill rotWithShape="1">
                <a:blip r:embed="rId1"/>
                <a:stretch>
                  <a:fillRect t="-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28" name="Rectangle 3"/>
              <p:cNvSpPr>
                <a:spLocks noChangeArrowheads="1"/>
              </p:cNvSpPr>
              <p:nvPr/>
            </p:nvSpPr>
            <p:spPr bwMode="auto">
              <a:xfrm>
                <a:off x="1905000" y="838200"/>
                <a:ext cx="8334375" cy="51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342900" algn="just">
                  <a:lnSpc>
                    <a:spcPct val="150000"/>
                  </a:lnSpc>
                  <a:spcBef>
                    <a:spcPts val="300"/>
                  </a:spcBef>
                  <a:spcAft>
                    <a:spcPts val="300"/>
                  </a:spcAft>
                </a:pPr>
                <a:r>
                  <a:rPr kumimoji="1" lang="zh-CN" altLang="en-US" sz="2600" b="1" dirty="0">
                    <a:ea typeface="楷体" panose="02010609060101010101" pitchFamily="49" charset="-122"/>
                  </a:rPr>
                  <a:t>第三阶段</a:t>
                </a:r>
                <a:r>
                  <a:rPr kumimoji="1" lang="en-US" altLang="zh-CN" sz="2600" b="1" dirty="0">
                    <a:ea typeface="楷体" panose="02010609060101010101" pitchFamily="49" charset="-122"/>
                  </a:rPr>
                  <a:t>:</a:t>
                </a:r>
                <a:endParaRPr kumimoji="1" lang="en-US" altLang="zh-CN" sz="2600" b="1" dirty="0">
                  <a:ea typeface="楷体" panose="02010609060101010101" pitchFamily="49" charset="-122"/>
                </a:endParaRPr>
              </a:p>
              <a:p>
                <a:pPr indent="342900" algn="just">
                  <a:lnSpc>
                    <a:spcPct val="150000"/>
                  </a:lnSpc>
                  <a:spcBef>
                    <a:spcPts val="300"/>
                  </a:spcBef>
                  <a:spcAft>
                    <a:spcPts val="300"/>
                  </a:spcAft>
                </a:pPr>
                <a:r>
                  <a:rPr kumimoji="1" lang="zh-CN" altLang="en-US" sz="2600" dirty="0">
                    <a:ea typeface="楷体" panose="02010609060101010101" pitchFamily="49" charset="-122"/>
                  </a:rPr>
                  <a:t>将</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3</m:t>
                        </m:r>
                      </m:sub>
                    </m:sSub>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0</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1</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2</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3</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4</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5</m:t>
                    </m:r>
                    <m:r>
                      <a:rPr kumimoji="1" lang="en-US" altLang="zh-CN" sz="2600" b="0" i="1" dirty="0" smtClean="0">
                        <a:latin typeface="Cambria Math" panose="02040503050406030204" pitchFamily="18" charset="0"/>
                        <a:ea typeface="楷体" panose="02010609060101010101" pitchFamily="49" charset="-122"/>
                      </a:rPr>
                      <m:t>}</m:t>
                    </m:r>
                  </m:oMath>
                </a14:m>
                <a:r>
                  <a:rPr kumimoji="1" lang="zh-CN" altLang="en-US" sz="2600" dirty="0">
                    <a:ea typeface="楷体" panose="02010609060101010101" pitchFamily="49" charset="-122"/>
                  </a:rPr>
                  <a:t>台设备都分配给第</a:t>
                </a:r>
                <a:r>
                  <a:rPr kumimoji="1" lang="en-US" altLang="zh-CN" sz="2600" dirty="0">
                    <a:ea typeface="楷体" panose="02010609060101010101" pitchFamily="49" charset="-122"/>
                  </a:rPr>
                  <a:t>3</a:t>
                </a:r>
                <a:r>
                  <a:rPr kumimoji="1" lang="zh-CN" altLang="en-US" sz="2600" dirty="0">
                    <a:ea typeface="楷体" panose="02010609060101010101" pitchFamily="49" charset="-122"/>
                  </a:rPr>
                  <a:t>工厂时，第</a:t>
                </a:r>
                <a:r>
                  <a:rPr kumimoji="1" lang="en-US" altLang="zh-CN" sz="2600" dirty="0">
                    <a:ea typeface="楷体" panose="02010609060101010101" pitchFamily="49" charset="-122"/>
                  </a:rPr>
                  <a:t>3</a:t>
                </a:r>
                <a:r>
                  <a:rPr kumimoji="1" lang="zh-CN" altLang="en-US" sz="2600" dirty="0">
                    <a:ea typeface="楷体" panose="02010609060101010101" pitchFamily="49" charset="-122"/>
                  </a:rPr>
                  <a:t>阶段的指标值（盈利）为最大，即</a:t>
                </a:r>
                <a:endParaRPr kumimoji="1" lang="en-US" altLang="zh-CN" sz="2600" dirty="0">
                  <a:ea typeface="楷体" panose="02010609060101010101" pitchFamily="49" charset="-122"/>
                </a:endParaRPr>
              </a:p>
              <a:p>
                <a:pPr indent="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func>
                        <m:funcPr>
                          <m:ctrlPr>
                            <a:rPr kumimoji="1" lang="en-US" altLang="zh-CN" sz="2600" b="0" i="1" smtClean="0">
                              <a:latin typeface="Cambria Math" panose="02040503050406030204" pitchFamily="18" charset="0"/>
                              <a:ea typeface="楷体" panose="02010609060101010101" pitchFamily="49" charset="-122"/>
                            </a:rPr>
                          </m:ctrlPr>
                        </m:funcPr>
                        <m:fName>
                          <m:limLow>
                            <m:limLowPr>
                              <m:ctrlPr>
                                <a:rPr kumimoji="1" lang="en-US" altLang="zh-CN" sz="2600" b="0" i="1" smtClean="0">
                                  <a:latin typeface="Cambria Math" panose="02040503050406030204" pitchFamily="18" charset="0"/>
                                  <a:ea typeface="楷体" panose="02010609060101010101" pitchFamily="49" charset="-122"/>
                                </a:rPr>
                              </m:ctrlPr>
                            </m:limLowPr>
                            <m:e>
                              <m:r>
                                <m:rPr>
                                  <m:sty m:val="p"/>
                                </m:rPr>
                                <a:rPr kumimoji="1" lang="en-US" altLang="zh-CN" sz="2600" b="0" i="0" smtClean="0">
                                  <a:latin typeface="Cambria Math" panose="02040503050406030204" pitchFamily="18" charset="0"/>
                                  <a:ea typeface="楷体" panose="02010609060101010101" pitchFamily="49" charset="-122"/>
                                </a:rPr>
                                <m:t>max</m:t>
                              </m:r>
                            </m:e>
                            <m:lim>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3</m:t>
                                  </m:r>
                                </m:sub>
                              </m:sSub>
                            </m:lim>
                          </m:limLow>
                        </m:fName>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𝑟</m:t>
                              </m:r>
                            </m:e>
                            <m:sub>
                              <m:r>
                                <a:rPr kumimoji="1" lang="en-US" altLang="zh-CN" sz="2600" b="0" i="1" smtClean="0">
                                  <a:latin typeface="Cambria Math" panose="02040503050406030204" pitchFamily="18" charset="0"/>
                                  <a:ea typeface="楷体" panose="02010609060101010101" pitchFamily="49" charset="-122"/>
                                </a:rPr>
                                <m:t>3</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m:rPr>
                                      <m:sty m:val="p"/>
                                    </m:rPr>
                                    <a:rPr kumimoji="1" lang="en-US" altLang="zh-CN" sz="2600" i="1">
                                      <a:latin typeface="Cambria Math" panose="02040503050406030204" pitchFamily="18" charset="0"/>
                                      <a:ea typeface="楷体" panose="02010609060101010101" pitchFamily="49" charset="-122"/>
                                    </a:rPr>
                                    <m:t>s</m:t>
                                  </m:r>
                                </m:e>
                                <m:sub>
                                  <m:r>
                                    <a:rPr kumimoji="1" lang="en-US" altLang="zh-CN" sz="2600" b="0" i="1" smtClean="0">
                                      <a:latin typeface="Cambria Math" panose="02040503050406030204" pitchFamily="18" charset="0"/>
                                      <a:ea typeface="楷体" panose="02010609060101010101" pitchFamily="49" charset="-122"/>
                                    </a:rPr>
                                    <m:t>3</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𝑟</m:t>
                              </m:r>
                            </m:e>
                            <m:sub>
                              <m:r>
                                <a:rPr kumimoji="1" lang="en-US" altLang="zh-CN" sz="2600" b="0" i="1" smtClean="0">
                                  <a:latin typeface="Cambria Math" panose="02040503050406030204" pitchFamily="18" charset="0"/>
                                  <a:ea typeface="楷体" panose="02010609060101010101" pitchFamily="49" charset="-122"/>
                                </a:rPr>
                                <m:t>3</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3</m:t>
                              </m:r>
                            </m:sub>
                          </m:sSub>
                        </m:e>
                      </m:func>
                    </m:oMath>
                  </m:oMathPara>
                </a14:m>
                <a:endParaRPr kumimoji="1" lang="zh-CN" altLang="en-US" sz="2600" dirty="0">
                  <a:ea typeface="楷体" panose="02010609060101010101" pitchFamily="49" charset="-122"/>
                </a:endParaRPr>
              </a:p>
              <a:p>
                <a:pPr indent="342900" algn="just">
                  <a:lnSpc>
                    <a:spcPct val="150000"/>
                  </a:lnSpc>
                  <a:spcBef>
                    <a:spcPts val="300"/>
                  </a:spcBef>
                  <a:spcAft>
                    <a:spcPts val="300"/>
                  </a:spcAft>
                </a:pPr>
                <a:r>
                  <a:rPr kumimoji="1" lang="zh-CN" altLang="en-US" sz="2600" dirty="0">
                    <a:ea typeface="楷体" panose="02010609060101010101" pitchFamily="49" charset="-122"/>
                  </a:rPr>
                  <a:t>由于第</a:t>
                </a:r>
                <a:r>
                  <a:rPr kumimoji="1" lang="en-US" altLang="zh-CN" sz="2600" dirty="0">
                    <a:ea typeface="楷体" panose="02010609060101010101" pitchFamily="49" charset="-122"/>
                  </a:rPr>
                  <a:t>3</a:t>
                </a:r>
                <a:r>
                  <a:rPr kumimoji="1" lang="zh-CN" altLang="en-US" sz="2600" dirty="0">
                    <a:ea typeface="楷体" panose="02010609060101010101" pitchFamily="49" charset="-122"/>
                  </a:rPr>
                  <a:t>阶段是最后的阶段，故有</a:t>
                </a:r>
                <a:endParaRPr kumimoji="1" lang="en-US" altLang="zh-CN" sz="2600" dirty="0">
                  <a:ea typeface="楷体" panose="02010609060101010101" pitchFamily="49" charset="-122"/>
                </a:endParaRPr>
              </a:p>
              <a:p>
                <a:pPr indent="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𝑓</m:t>
                          </m:r>
                        </m:e>
                        <m:sub>
                          <m:r>
                            <a:rPr kumimoji="1" lang="en-US" altLang="zh-CN" sz="2600" b="0" i="1" smtClean="0">
                              <a:latin typeface="Cambria Math" panose="02040503050406030204" pitchFamily="18" charset="0"/>
                              <a:ea typeface="楷体" panose="02010609060101010101" pitchFamily="49" charset="-122"/>
                            </a:rPr>
                            <m:t>3</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b="0" i="1" smtClean="0">
                          <a:latin typeface="Cambria Math" panose="02040503050406030204" pitchFamily="18" charset="0"/>
                          <a:ea typeface="楷体" panose="02010609060101010101" pitchFamily="49" charset="-122"/>
                        </a:rPr>
                        <m:t>=</m:t>
                      </m:r>
                      <m:func>
                        <m:funcPr>
                          <m:ctrlPr>
                            <a:rPr kumimoji="1" lang="en-US" altLang="zh-CN" sz="2600" i="1">
                              <a:latin typeface="Cambria Math" panose="02040503050406030204" pitchFamily="18" charset="0"/>
                              <a:ea typeface="楷体" panose="02010609060101010101" pitchFamily="49" charset="-122"/>
                            </a:rPr>
                          </m:ctrlPr>
                        </m:funcPr>
                        <m:fName>
                          <m:limLow>
                            <m:limLowPr>
                              <m:ctrlPr>
                                <a:rPr kumimoji="1" lang="en-US" altLang="zh-CN" sz="2600" i="1">
                                  <a:latin typeface="Cambria Math" panose="02040503050406030204" pitchFamily="18" charset="0"/>
                                  <a:ea typeface="楷体" panose="02010609060101010101" pitchFamily="49" charset="-122"/>
                                </a:rPr>
                              </m:ctrlPr>
                            </m:limLowPr>
                            <m:e>
                              <m:r>
                                <m:rPr>
                                  <m:sty m:val="p"/>
                                </m:rPr>
                                <a:rPr kumimoji="1" lang="en-US" altLang="zh-CN" sz="2600">
                                  <a:latin typeface="Cambria Math" panose="02040503050406030204" pitchFamily="18" charset="0"/>
                                  <a:ea typeface="楷体" panose="02010609060101010101" pitchFamily="49" charset="-122"/>
                                </a:rPr>
                                <m:t>max</m:t>
                              </m:r>
                            </m:e>
                            <m:lim>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3</m:t>
                                  </m:r>
                                </m:sub>
                              </m:sSub>
                            </m:lim>
                          </m:limLow>
                        </m:fName>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𝑟</m:t>
                              </m:r>
                            </m:e>
                            <m:sub>
                              <m:r>
                                <a:rPr kumimoji="1" lang="en-US" altLang="zh-CN" sz="2600" i="1">
                                  <a:latin typeface="Cambria Math" panose="02040503050406030204" pitchFamily="18" charset="0"/>
                                  <a:ea typeface="楷体" panose="02010609060101010101" pitchFamily="49" charset="-122"/>
                                </a:rPr>
                                <m:t>3</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m:rPr>
                                      <m:sty m:val="p"/>
                                    </m:rPr>
                                    <a:rPr kumimoji="1" lang="en-US" altLang="zh-CN" sz="2600" i="1">
                                      <a:latin typeface="Cambria Math" panose="02040503050406030204" pitchFamily="18" charset="0"/>
                                      <a:ea typeface="楷体" panose="02010609060101010101" pitchFamily="49" charset="-122"/>
                                    </a:rPr>
                                    <m:t>s</m:t>
                                  </m:r>
                                </m:e>
                                <m:sub>
                                  <m:r>
                                    <a:rPr kumimoji="1" lang="en-US" altLang="zh-CN" sz="2600" i="1">
                                      <a:latin typeface="Cambria Math" panose="02040503050406030204" pitchFamily="18" charset="0"/>
                                      <a:ea typeface="楷体" panose="02010609060101010101" pitchFamily="49" charset="-122"/>
                                    </a:rPr>
                                    <m:t>3</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3</m:t>
                                  </m:r>
                                </m:sub>
                              </m:sSub>
                            </m:e>
                          </m:d>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𝑟</m:t>
                              </m:r>
                            </m:e>
                            <m:sub>
                              <m:r>
                                <a:rPr kumimoji="1" lang="en-US" altLang="zh-CN" sz="2600" i="1">
                                  <a:latin typeface="Cambria Math" panose="02040503050406030204" pitchFamily="18" charset="0"/>
                                  <a:ea typeface="楷体" panose="02010609060101010101" pitchFamily="49" charset="-122"/>
                                </a:rPr>
                                <m:t>3</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e>
                          </m:d>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3</m:t>
                              </m:r>
                            </m:sub>
                          </m:sSub>
                        </m:e>
                      </m:func>
                    </m:oMath>
                  </m:oMathPara>
                </a14:m>
                <a:endParaRPr kumimoji="1" lang="zh-CN" altLang="en-US" sz="2600" dirty="0">
                  <a:ea typeface="楷体" panose="02010609060101010101" pitchFamily="49" charset="-122"/>
                </a:endParaRPr>
              </a:p>
              <a:p>
                <a:pPr indent="342900" algn="just">
                  <a:lnSpc>
                    <a:spcPct val="150000"/>
                  </a:lnSpc>
                  <a:spcBef>
                    <a:spcPts val="300"/>
                  </a:spcBef>
                  <a:spcAft>
                    <a:spcPts val="300"/>
                  </a:spcAft>
                </a:pPr>
                <a:r>
                  <a:rPr kumimoji="1" lang="zh-CN" altLang="en-US" sz="2600" dirty="0">
                    <a:ea typeface="楷体" panose="02010609060101010101" pitchFamily="49" charset="-122"/>
                  </a:rPr>
                  <a:t>其中</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𝑥</m:t>
                        </m:r>
                      </m:e>
                      <m:sub>
                        <m:r>
                          <a:rPr kumimoji="1" lang="en-US" altLang="zh-CN" sz="2600" b="0" i="1" dirty="0" smtClean="0">
                            <a:latin typeface="Cambria Math" panose="02040503050406030204" pitchFamily="18" charset="0"/>
                            <a:ea typeface="楷体" panose="02010609060101010101" pitchFamily="49" charset="-122"/>
                          </a:rPr>
                          <m:t>3</m:t>
                        </m:r>
                      </m:sub>
                    </m:sSub>
                  </m:oMath>
                </a14:m>
                <a:r>
                  <a:rPr kumimoji="1" lang="zh-CN" altLang="en-US" sz="2600" dirty="0">
                    <a:ea typeface="楷体" panose="02010609060101010101" pitchFamily="49" charset="-122"/>
                  </a:rPr>
                  <a:t>可取值为</a:t>
                </a:r>
                <a14:m>
                  <m:oMath xmlns:m="http://schemas.openxmlformats.org/officeDocument/2006/math">
                    <m:r>
                      <a:rPr kumimoji="1" lang="en-US" altLang="zh-CN" sz="2600" i="1" dirty="0" smtClean="0">
                        <a:latin typeface="Cambria Math" panose="02040503050406030204" pitchFamily="18" charset="0"/>
                        <a:ea typeface="楷体" panose="02010609060101010101" pitchFamily="49" charset="-122"/>
                      </a:rPr>
                      <m:t>0</m:t>
                    </m:r>
                    <m:r>
                      <a:rPr kumimoji="1" lang="en-US" altLang="zh-CN" sz="2600" i="1" dirty="0" smtClean="0">
                        <a:latin typeface="Cambria Math" panose="02040503050406030204" pitchFamily="18" charset="0"/>
                        <a:ea typeface="楷体" panose="02010609060101010101" pitchFamily="49" charset="-122"/>
                      </a:rPr>
                      <m:t>,</m:t>
                    </m:r>
                    <m:r>
                      <a:rPr kumimoji="1" lang="en-US" altLang="zh-CN" sz="2600" i="1" dirty="0" smtClean="0">
                        <a:latin typeface="Cambria Math" panose="02040503050406030204" pitchFamily="18" charset="0"/>
                        <a:ea typeface="楷体" panose="02010609060101010101" pitchFamily="49" charset="-122"/>
                      </a:rPr>
                      <m:t>1</m:t>
                    </m:r>
                    <m:r>
                      <a:rPr kumimoji="1" lang="en-US" altLang="zh-CN" sz="2600" i="1" dirty="0" smtClean="0">
                        <a:latin typeface="Cambria Math" panose="02040503050406030204" pitchFamily="18" charset="0"/>
                        <a:ea typeface="楷体" panose="02010609060101010101" pitchFamily="49" charset="-122"/>
                      </a:rPr>
                      <m:t>,</m:t>
                    </m:r>
                    <m:r>
                      <a:rPr kumimoji="1" lang="en-US" altLang="zh-CN" sz="2600" i="1" dirty="0" smtClean="0">
                        <a:latin typeface="Cambria Math" panose="02040503050406030204" pitchFamily="18" charset="0"/>
                        <a:ea typeface="楷体" panose="02010609060101010101" pitchFamily="49" charset="-122"/>
                      </a:rPr>
                      <m:t>2</m:t>
                    </m:r>
                    <m:r>
                      <a:rPr kumimoji="1" lang="en-US" altLang="zh-CN" sz="2600" i="1" dirty="0" smtClean="0">
                        <a:latin typeface="Cambria Math" panose="02040503050406030204" pitchFamily="18" charset="0"/>
                        <a:ea typeface="楷体" panose="02010609060101010101" pitchFamily="49" charset="-122"/>
                      </a:rPr>
                      <m:t>,</m:t>
                    </m:r>
                    <m:r>
                      <a:rPr kumimoji="1" lang="en-US" altLang="zh-CN" sz="2600" i="1" dirty="0" smtClean="0">
                        <a:latin typeface="Cambria Math" panose="02040503050406030204" pitchFamily="18" charset="0"/>
                        <a:ea typeface="楷体" panose="02010609060101010101" pitchFamily="49" charset="-122"/>
                      </a:rPr>
                      <m:t>3</m:t>
                    </m:r>
                    <m:r>
                      <a:rPr kumimoji="1" lang="en-US" altLang="zh-CN" sz="2600" i="1" dirty="0" smtClean="0">
                        <a:latin typeface="Cambria Math" panose="02040503050406030204" pitchFamily="18" charset="0"/>
                        <a:ea typeface="楷体" panose="02010609060101010101" pitchFamily="49" charset="-122"/>
                      </a:rPr>
                      <m:t>,</m:t>
                    </m:r>
                    <m:r>
                      <a:rPr kumimoji="1" lang="en-US" altLang="zh-CN" sz="2600" i="1" dirty="0" smtClean="0">
                        <a:latin typeface="Cambria Math" panose="02040503050406030204" pitchFamily="18" charset="0"/>
                        <a:ea typeface="楷体" panose="02010609060101010101" pitchFamily="49" charset="-122"/>
                      </a:rPr>
                      <m:t>4</m:t>
                    </m:r>
                    <m:r>
                      <a:rPr kumimoji="1" lang="en-US" altLang="zh-CN" sz="2600" i="1" dirty="0" smtClean="0">
                        <a:latin typeface="Cambria Math" panose="02040503050406030204" pitchFamily="18" charset="0"/>
                        <a:ea typeface="楷体" panose="02010609060101010101" pitchFamily="49" charset="-122"/>
                      </a:rPr>
                      <m:t>,</m:t>
                    </m:r>
                    <m:r>
                      <a:rPr kumimoji="1" lang="en-US" altLang="zh-CN" sz="2600" i="1" dirty="0" smtClean="0">
                        <a:latin typeface="Cambria Math" panose="02040503050406030204" pitchFamily="18" charset="0"/>
                        <a:ea typeface="楷体" panose="02010609060101010101" pitchFamily="49" charset="-122"/>
                      </a:rPr>
                      <m:t>5</m:t>
                    </m:r>
                  </m:oMath>
                </a14:m>
                <a:r>
                  <a:rPr kumimoji="1" lang="zh-CN" altLang="en-US" sz="2600" dirty="0">
                    <a:ea typeface="楷体" panose="02010609060101010101" pitchFamily="49" charset="-122"/>
                  </a:rPr>
                  <a:t>。其数值计算见表。</a:t>
                </a:r>
                <a:endParaRPr kumimoji="1" lang="zh-CN" altLang="en-US" sz="2600" dirty="0">
                  <a:ea typeface="楷体" panose="02010609060101010101" pitchFamily="49" charset="-122"/>
                </a:endParaRPr>
              </a:p>
            </p:txBody>
          </p:sp>
        </mc:Choice>
        <mc:Fallback>
          <p:sp>
            <p:nvSpPr>
              <p:cNvPr id="5128" name="Rectangle 3"/>
              <p:cNvSpPr>
                <a:spLocks noRot="1" noChangeAspect="1" noMove="1" noResize="1" noEditPoints="1" noAdjustHandles="1" noChangeArrowheads="1" noChangeShapeType="1" noTextEdit="1"/>
              </p:cNvSpPr>
              <p:nvPr/>
            </p:nvSpPr>
            <p:spPr bwMode="auto">
              <a:xfrm>
                <a:off x="1905000" y="838200"/>
                <a:ext cx="8334375" cy="5183088"/>
              </a:xfrm>
              <a:prstGeom prst="rect">
                <a:avLst/>
              </a:prstGeom>
              <a:blipFill rotWithShape="1">
                <a:blip r:embed="rId1"/>
                <a:stretch>
                  <a:fillRect b="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5" name="Rectangle 3"/>
          <p:cNvSpPr>
            <a:spLocks noChangeArrowheads="1"/>
          </p:cNvSpPr>
          <p:nvPr/>
        </p:nvSpPr>
        <p:spPr bwMode="auto">
          <a:xfrm>
            <a:off x="2143125" y="1071563"/>
            <a:ext cx="8382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90000"/>
              </a:lnSpc>
              <a:spcBef>
                <a:spcPts val="300"/>
              </a:spcBef>
              <a:spcAft>
                <a:spcPts val="300"/>
              </a:spcAft>
            </a:pPr>
            <a:r>
              <a:rPr kumimoji="1" lang="zh-CN" altLang="en-US" sz="2000" b="1">
                <a:latin typeface="Times New Roman" panose="02020603050405020304" pitchFamily="18" charset="0"/>
                <a:ea typeface="楷体" panose="02010609060101010101" pitchFamily="49" charset="-122"/>
              </a:rPr>
              <a:t>　　　　　　　　　　        </a:t>
            </a:r>
            <a:r>
              <a:rPr kumimoji="1" lang="zh-CN" altLang="en-US" sz="2600" b="1">
                <a:latin typeface="Times New Roman" panose="02020603050405020304" pitchFamily="18" charset="0"/>
                <a:ea typeface="楷体" panose="02010609060101010101" pitchFamily="49" charset="-122"/>
              </a:rPr>
              <a:t>　　　　　</a:t>
            </a:r>
            <a:endParaRPr kumimoji="1" lang="zh-CN" altLang="en-US" sz="2600" b="1">
              <a:latin typeface="Times New Roman" panose="02020603050405020304" pitchFamily="18" charset="0"/>
              <a:ea typeface="楷体" panose="02010609060101010101" pitchFamily="49" charset="-122"/>
            </a:endParaRPr>
          </a:p>
          <a:p>
            <a:pPr marL="342900" indent="-342900" algn="just">
              <a:lnSpc>
                <a:spcPct val="90000"/>
              </a:lnSpc>
              <a:spcBef>
                <a:spcPts val="300"/>
              </a:spcBef>
              <a:spcAft>
                <a:spcPts val="300"/>
              </a:spcAft>
            </a:pPr>
            <a:r>
              <a:rPr kumimoji="1" lang="zh-CN" altLang="en-US" sz="2600" b="1">
                <a:latin typeface="Times New Roman" panose="02020603050405020304" pitchFamily="18" charset="0"/>
                <a:ea typeface="楷体" panose="02010609060101010101" pitchFamily="49" charset="-122"/>
              </a:rPr>
              <a:t> </a:t>
            </a:r>
            <a:endParaRPr kumimoji="1" lang="zh-CN" altLang="en-US" sz="2600" b="1">
              <a:latin typeface="Times New Roman" panose="02020603050405020304" pitchFamily="18"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6243" name="矩形 24"/>
              <p:cNvSpPr>
                <a:spLocks noChangeArrowheads="1"/>
              </p:cNvSpPr>
              <p:nvPr/>
            </p:nvSpPr>
            <p:spPr bwMode="auto">
              <a:xfrm>
                <a:off x="1956594" y="5323787"/>
                <a:ext cx="7929562"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algn="just">
                  <a:lnSpc>
                    <a:spcPct val="150000"/>
                  </a:lnSpc>
                  <a:spcBef>
                    <a:spcPts val="300"/>
                  </a:spcBef>
                  <a:spcAft>
                    <a:spcPts val="300"/>
                  </a:spcAft>
                </a:pPr>
                <a14:m>
                  <m:oMath xmlns:m="http://schemas.openxmlformats.org/officeDocument/2006/math">
                    <m:sSubSup>
                      <m:sSubSupPr>
                        <m:ctrlPr>
                          <a:rPr kumimoji="1" lang="en-US" altLang="zh-CN" sz="2600" b="0" i="1" dirty="0" smtClean="0">
                            <a:solidFill>
                              <a:srgbClr val="000000"/>
                            </a:solidFill>
                            <a:latin typeface="Cambria Math" panose="02040503050406030204" pitchFamily="18" charset="0"/>
                            <a:ea typeface="楷体" panose="02010609060101010101" pitchFamily="49" charset="-122"/>
                          </a:rPr>
                        </m:ctrlPr>
                      </m:sSubSupPr>
                      <m:e>
                        <m:r>
                          <a:rPr kumimoji="1" lang="en-US" altLang="zh-CN" sz="2600" b="0" i="1" dirty="0" smtClean="0">
                            <a:solidFill>
                              <a:srgbClr val="000000"/>
                            </a:solidFill>
                            <a:latin typeface="Cambria Math" panose="02040503050406030204" pitchFamily="18" charset="0"/>
                            <a:ea typeface="楷体" panose="02010609060101010101" pitchFamily="49" charset="-122"/>
                          </a:rPr>
                          <m:t>𝑥</m:t>
                        </m:r>
                      </m:e>
                      <m:sub>
                        <m:r>
                          <a:rPr kumimoji="1" lang="en-US" altLang="zh-CN" sz="2600" b="0" i="1" dirty="0" smtClean="0">
                            <a:solidFill>
                              <a:srgbClr val="000000"/>
                            </a:solidFill>
                            <a:latin typeface="Cambria Math" panose="02040503050406030204" pitchFamily="18" charset="0"/>
                            <a:ea typeface="楷体" panose="02010609060101010101" pitchFamily="49" charset="-122"/>
                          </a:rPr>
                          <m:t>3</m:t>
                        </m:r>
                      </m:sub>
                      <m:sup>
                        <m:r>
                          <a:rPr kumimoji="1" lang="en-US" altLang="zh-CN" sz="2600" b="0" i="1" dirty="0" smtClean="0">
                            <a:solidFill>
                              <a:srgbClr val="000000"/>
                            </a:solidFill>
                            <a:latin typeface="Cambria Math" panose="02040503050406030204" pitchFamily="18" charset="0"/>
                            <a:ea typeface="楷体" panose="02010609060101010101" pitchFamily="49" charset="-122"/>
                          </a:rPr>
                          <m:t>∗</m:t>
                        </m:r>
                      </m:sup>
                    </m:sSubSup>
                  </m:oMath>
                </a14:m>
                <a:r>
                  <a:rPr kumimoji="1" lang="zh-CN" altLang="en-US" sz="2600" dirty="0">
                    <a:solidFill>
                      <a:srgbClr val="000000"/>
                    </a:solidFill>
                    <a:ea typeface="楷体" panose="02010609060101010101" pitchFamily="49" charset="-122"/>
                  </a:rPr>
                  <a:t>表示取</a:t>
                </a:r>
                <a14:m>
                  <m:oMath xmlns:m="http://schemas.openxmlformats.org/officeDocument/2006/math">
                    <m:r>
                      <a:rPr kumimoji="1" lang="en-US" altLang="zh-CN" sz="2600" i="1" dirty="0" smtClean="0">
                        <a:solidFill>
                          <a:srgbClr val="000000"/>
                        </a:solidFill>
                        <a:latin typeface="Cambria Math" panose="02040503050406030204" pitchFamily="18" charset="0"/>
                        <a:ea typeface="楷体" panose="02010609060101010101" pitchFamily="49" charset="-122"/>
                      </a:rPr>
                      <m:t>3</m:t>
                    </m:r>
                  </m:oMath>
                </a14:m>
                <a:r>
                  <a:rPr kumimoji="1" lang="zh-CN" altLang="en-US" sz="2600" dirty="0">
                    <a:solidFill>
                      <a:srgbClr val="000000"/>
                    </a:solidFill>
                    <a:ea typeface="楷体" panose="02010609060101010101" pitchFamily="49" charset="-122"/>
                  </a:rPr>
                  <a:t>子过程上最优指标值</a:t>
                </a:r>
                <a14:m>
                  <m:oMath xmlns:m="http://schemas.openxmlformats.org/officeDocument/2006/math">
                    <m:sSub>
                      <m:sSubPr>
                        <m:ctrlPr>
                          <a:rPr kumimoji="1" lang="en-US" altLang="zh-CN" sz="26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600" b="0" i="1" dirty="0" smtClean="0">
                            <a:solidFill>
                              <a:srgbClr val="000000"/>
                            </a:solidFill>
                            <a:latin typeface="Cambria Math" panose="02040503050406030204" pitchFamily="18" charset="0"/>
                            <a:ea typeface="楷体" panose="02010609060101010101" pitchFamily="49" charset="-122"/>
                          </a:rPr>
                          <m:t>𝑓</m:t>
                        </m:r>
                      </m:e>
                      <m:sub>
                        <m:r>
                          <a:rPr kumimoji="1" lang="en-US" altLang="zh-CN" sz="2600" b="0" i="1" dirty="0" smtClean="0">
                            <a:solidFill>
                              <a:srgbClr val="000000"/>
                            </a:solidFill>
                            <a:latin typeface="Cambria Math" panose="02040503050406030204" pitchFamily="18" charset="0"/>
                            <a:ea typeface="楷体" panose="02010609060101010101" pitchFamily="49" charset="-122"/>
                          </a:rPr>
                          <m:t>3</m:t>
                        </m:r>
                      </m:sub>
                    </m:sSub>
                    <m:r>
                      <a:rPr kumimoji="1" lang="en-US" altLang="zh-CN" sz="26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6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6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600" b="0" i="1" dirty="0" smtClean="0">
                            <a:solidFill>
                              <a:srgbClr val="000000"/>
                            </a:solidFill>
                            <a:latin typeface="Cambria Math" panose="02040503050406030204" pitchFamily="18" charset="0"/>
                            <a:ea typeface="楷体" panose="02010609060101010101" pitchFamily="49" charset="-122"/>
                          </a:rPr>
                          <m:t>3</m:t>
                        </m:r>
                      </m:sub>
                    </m:sSub>
                    <m:r>
                      <a:rPr kumimoji="1" lang="en-US" altLang="zh-CN" sz="2600" b="0" i="1" dirty="0" smtClean="0">
                        <a:solidFill>
                          <a:srgbClr val="000000"/>
                        </a:solidFill>
                        <a:latin typeface="Cambria Math" panose="02040503050406030204" pitchFamily="18" charset="0"/>
                        <a:ea typeface="楷体" panose="02010609060101010101" pitchFamily="49" charset="-122"/>
                      </a:rPr>
                      <m:t>)</m:t>
                    </m:r>
                  </m:oMath>
                </a14:m>
                <a:r>
                  <a:rPr kumimoji="1" lang="zh-CN" altLang="en-US" sz="2600" dirty="0">
                    <a:solidFill>
                      <a:srgbClr val="000000"/>
                    </a:solidFill>
                    <a:ea typeface="楷体" panose="02010609060101010101" pitchFamily="49" charset="-122"/>
                  </a:rPr>
                  <a:t>时的</a:t>
                </a:r>
                <a14:m>
                  <m:oMath xmlns:m="http://schemas.openxmlformats.org/officeDocument/2006/math">
                    <m:sSub>
                      <m:sSubPr>
                        <m:ctrlPr>
                          <a:rPr kumimoji="1" lang="en-US" altLang="zh-CN" sz="26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600" b="0" i="1" dirty="0" smtClean="0">
                            <a:solidFill>
                              <a:srgbClr val="000000"/>
                            </a:solidFill>
                            <a:latin typeface="Cambria Math" panose="02040503050406030204" pitchFamily="18" charset="0"/>
                            <a:ea typeface="楷体" panose="02010609060101010101" pitchFamily="49" charset="-122"/>
                          </a:rPr>
                          <m:t>𝑥</m:t>
                        </m:r>
                      </m:e>
                      <m:sub>
                        <m:r>
                          <a:rPr kumimoji="1" lang="en-US" altLang="zh-CN" sz="2600" b="0" i="1" dirty="0" smtClean="0">
                            <a:solidFill>
                              <a:srgbClr val="000000"/>
                            </a:solidFill>
                            <a:latin typeface="Cambria Math" panose="02040503050406030204" pitchFamily="18" charset="0"/>
                            <a:ea typeface="楷体" panose="02010609060101010101" pitchFamily="49" charset="-122"/>
                          </a:rPr>
                          <m:t>3</m:t>
                        </m:r>
                      </m:sub>
                    </m:sSub>
                  </m:oMath>
                </a14:m>
                <a:r>
                  <a:rPr kumimoji="1" lang="zh-CN" altLang="en-US" sz="2600" dirty="0">
                    <a:solidFill>
                      <a:srgbClr val="000000"/>
                    </a:solidFill>
                    <a:ea typeface="楷体" panose="02010609060101010101" pitchFamily="49" charset="-122"/>
                  </a:rPr>
                  <a:t>的决策。</a:t>
                </a:r>
                <a:endParaRPr kumimoji="1" lang="en-US" altLang="zh-CN" sz="2600" dirty="0">
                  <a:solidFill>
                    <a:srgbClr val="000000"/>
                  </a:solidFill>
                  <a:ea typeface="楷体" panose="02010609060101010101" pitchFamily="49" charset="-122"/>
                </a:endParaRPr>
              </a:p>
            </p:txBody>
          </p:sp>
        </mc:Choice>
        <mc:Fallback>
          <p:sp>
            <p:nvSpPr>
              <p:cNvPr id="6243" name="矩形 24"/>
              <p:cNvSpPr>
                <a:spLocks noRot="1" noChangeAspect="1" noMove="1" noResize="1" noEditPoints="1" noAdjustHandles="1" noChangeArrowheads="1" noChangeShapeType="1" noTextEdit="1"/>
              </p:cNvSpPr>
              <p:nvPr/>
            </p:nvSpPr>
            <p:spPr bwMode="auto">
              <a:xfrm>
                <a:off x="1956594" y="5323787"/>
                <a:ext cx="7929562" cy="692150"/>
              </a:xfrm>
              <a:prstGeom prst="rect">
                <a:avLst/>
              </a:prstGeom>
              <a:blipFill rotWithShape="1">
                <a:blip r:embed="rId1"/>
                <a:stretch>
                  <a:fillRect l="-2" t="-84" r="-2340" b="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1847532" y="1206327"/>
              <a:ext cx="8387715" cy="3855352"/>
            </p:xfrm>
            <a:graphic>
              <a:graphicData uri="http://schemas.openxmlformats.org/drawingml/2006/table">
                <a:tbl>
                  <a:tblPr firstRow="1" bandRow="1">
                    <a:tableStyleId>{5C22544A-7EE6-4342-B048-85BDC9FD1C3A}</a:tableStyleId>
                  </a:tblPr>
                  <a:tblGrid>
                    <a:gridCol w="932180"/>
                    <a:gridCol w="931545"/>
                    <a:gridCol w="932180"/>
                    <a:gridCol w="932180"/>
                    <a:gridCol w="931545"/>
                    <a:gridCol w="932180"/>
                    <a:gridCol w="932180"/>
                    <a:gridCol w="932180"/>
                    <a:gridCol w="931545"/>
                  </a:tblGrid>
                  <a:tr h="481919">
                    <a:tc rowSpan="2">
                      <a:txBody>
                        <a:bodyPr/>
                        <a:lstStyle/>
                        <a:p>
                          <a:pPr algn="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oMath>
                            </m:oMathPara>
                          </a14:m>
                          <a:endParaRPr lang="en-US" altLang="zh-CN" b="1" dirty="0">
                            <a:latin typeface="Times New Roman" panose="02020603050405020304" pitchFamily="18" charset="0"/>
                            <a:cs typeface="Times New Roman" panose="02020603050405020304" pitchFamily="18" charset="0"/>
                          </a:endParaRPr>
                        </a:p>
                        <a:p>
                          <a:pPr algn="r"/>
                          <a:endParaRPr lang="en-US" altLang="zh-CN" dirty="0">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6">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c hMerge="1">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up>
                                    <m:r>
                                      <a:rPr lang="zh-CN" altLang="en-US" b="1" i="1" smtClean="0">
                                        <a:latin typeface="Cambria Math" panose="02040503050406030204" pitchFamily="18" charset="0"/>
                                      </a:rPr>
                                      <m:t>∗</m:t>
                                    </m:r>
                                  </m:sup>
                                </m:sSubSup>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481919">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表格 1"/>
              <p:cNvGraphicFramePr>
                <a:graphicFrameLocks noGrp="1"/>
              </p:cNvGraphicFramePr>
              <p:nvPr/>
            </p:nvGraphicFramePr>
            <p:xfrm>
              <a:off x="1847532" y="1206327"/>
              <a:ext cx="8387715" cy="3855352"/>
            </p:xfrm>
            <a:graphic>
              <a:graphicData uri="http://schemas.openxmlformats.org/drawingml/2006/table">
                <a:tbl>
                  <a:tblPr firstRow="1" bandRow="1">
                    <a:tableStyleId>{5C22544A-7EE6-4342-B048-85BDC9FD1C3A}</a:tableStyleId>
                  </a:tblPr>
                  <a:tblGrid>
                    <a:gridCol w="932180"/>
                    <a:gridCol w="931545"/>
                    <a:gridCol w="932180"/>
                    <a:gridCol w="932180"/>
                    <a:gridCol w="931545"/>
                    <a:gridCol w="932180"/>
                    <a:gridCol w="932180"/>
                    <a:gridCol w="932180"/>
                    <a:gridCol w="931545"/>
                  </a:tblGrid>
                  <a:tr h="481965">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2"/>
                        </a:blipFill>
                      </a:tcPr>
                    </a:tc>
                    <a:tc gridSpan="6">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hMerge="1">
                      <a:tcPr/>
                    </a:tc>
                    <a:tc hMerge="1">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481919">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481919">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200" name="矩形 2"/>
              <p:cNvSpPr>
                <a:spLocks noChangeArrowheads="1"/>
              </p:cNvSpPr>
              <p:nvPr/>
            </p:nvSpPr>
            <p:spPr bwMode="auto">
              <a:xfrm>
                <a:off x="1952625" y="1196752"/>
                <a:ext cx="8286750" cy="495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720090" algn="just">
                  <a:lnSpc>
                    <a:spcPct val="150000"/>
                  </a:lnSpc>
                  <a:spcBef>
                    <a:spcPts val="300"/>
                  </a:spcBef>
                  <a:spcAft>
                    <a:spcPts val="300"/>
                  </a:spcAft>
                </a:pPr>
                <a:r>
                  <a:rPr kumimoji="1" lang="zh-CN" altLang="en-US" sz="2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第二阶段：</a:t>
                </a:r>
                <a:endParaRPr kumimoji="1" lang="en-US" altLang="zh-CN" sz="2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720090" algn="just">
                  <a:lnSpc>
                    <a:spcPct val="150000"/>
                  </a:lnSpc>
                  <a:spcBef>
                    <a:spcPts val="300"/>
                  </a:spcBef>
                  <a:spcAft>
                    <a:spcPts val="300"/>
                  </a:spcAft>
                </a:pPr>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当把</a:t>
                </a:r>
                <a14:m>
                  <m:oMath xmlns:m="http://schemas.openxmlformats.org/officeDocument/2006/math">
                    <m:sSub>
                      <m:sSubPr>
                        <m:ctrlPr>
                          <a:rPr kumimoji="1" lang="en-US" altLang="zh-CN" sz="26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6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600" b="0" i="1" dirty="0" smtClean="0">
                            <a:solidFill>
                              <a:srgbClr val="000000"/>
                            </a:solidFill>
                            <a:latin typeface="Cambria Math" panose="02040503050406030204" pitchFamily="18" charset="0"/>
                            <a:ea typeface="楷体" panose="02010609060101010101" pitchFamily="49" charset="-122"/>
                          </a:rPr>
                          <m:t>2</m:t>
                        </m:r>
                      </m:sub>
                    </m:sSub>
                    <m:r>
                      <a:rPr kumimoji="1" lang="en-US" altLang="zh-CN" sz="2600" b="0" i="1" dirty="0" smtClean="0">
                        <a:solidFill>
                          <a:srgbClr val="000000"/>
                        </a:solidFill>
                        <a:latin typeface="Cambria Math" panose="02040503050406030204" pitchFamily="18" charset="0"/>
                        <a:ea typeface="楷体" panose="02010609060101010101" pitchFamily="49" charset="-122"/>
                      </a:rPr>
                      <m:t>={</m:t>
                    </m:r>
                    <m:r>
                      <a:rPr kumimoji="1" lang="en-US" altLang="zh-CN" sz="2600" b="0" i="1" dirty="0" smtClean="0">
                        <a:solidFill>
                          <a:srgbClr val="000000"/>
                        </a:solidFill>
                        <a:latin typeface="Cambria Math" panose="02040503050406030204" pitchFamily="18" charset="0"/>
                        <a:ea typeface="楷体" panose="02010609060101010101" pitchFamily="49" charset="-122"/>
                      </a:rPr>
                      <m:t>0</m:t>
                    </m:r>
                    <m:r>
                      <a:rPr kumimoji="1" lang="en-US" altLang="zh-CN" sz="2600" b="0" i="1" dirty="0" smtClean="0">
                        <a:solidFill>
                          <a:srgbClr val="000000"/>
                        </a:solidFill>
                        <a:latin typeface="Cambria Math" panose="02040503050406030204" pitchFamily="18" charset="0"/>
                        <a:ea typeface="楷体" panose="02010609060101010101" pitchFamily="49" charset="-122"/>
                      </a:rPr>
                      <m:t>,</m:t>
                    </m:r>
                    <m:r>
                      <a:rPr kumimoji="1" lang="en-US" altLang="zh-CN" sz="2600" b="0" i="1" dirty="0" smtClean="0">
                        <a:solidFill>
                          <a:srgbClr val="000000"/>
                        </a:solidFill>
                        <a:latin typeface="Cambria Math" panose="02040503050406030204" pitchFamily="18" charset="0"/>
                        <a:ea typeface="楷体" panose="02010609060101010101" pitchFamily="49" charset="-122"/>
                      </a:rPr>
                      <m:t>1</m:t>
                    </m:r>
                    <m:r>
                      <a:rPr kumimoji="1" lang="en-US" altLang="zh-CN" sz="2600" b="0" i="1" dirty="0" smtClean="0">
                        <a:solidFill>
                          <a:srgbClr val="000000"/>
                        </a:solidFill>
                        <a:latin typeface="Cambria Math" panose="02040503050406030204" pitchFamily="18" charset="0"/>
                        <a:ea typeface="楷体" panose="02010609060101010101" pitchFamily="49" charset="-122"/>
                      </a:rPr>
                      <m:t>,</m:t>
                    </m:r>
                    <m:r>
                      <a:rPr kumimoji="1" lang="en-US" altLang="zh-CN" sz="2600" b="0" i="1" dirty="0" smtClean="0">
                        <a:solidFill>
                          <a:srgbClr val="000000"/>
                        </a:solidFill>
                        <a:latin typeface="Cambria Math" panose="02040503050406030204" pitchFamily="18" charset="0"/>
                        <a:ea typeface="楷体" panose="02010609060101010101" pitchFamily="49" charset="-122"/>
                      </a:rPr>
                      <m:t>2</m:t>
                    </m:r>
                    <m:r>
                      <a:rPr kumimoji="1" lang="en-US" altLang="zh-CN" sz="2600" b="0" i="1" dirty="0" smtClean="0">
                        <a:solidFill>
                          <a:srgbClr val="000000"/>
                        </a:solidFill>
                        <a:latin typeface="Cambria Math" panose="02040503050406030204" pitchFamily="18" charset="0"/>
                        <a:ea typeface="楷体" panose="02010609060101010101" pitchFamily="49" charset="-122"/>
                      </a:rPr>
                      <m:t>,</m:t>
                    </m:r>
                    <m:r>
                      <a:rPr kumimoji="1" lang="en-US" altLang="zh-CN" sz="2600" b="0" i="1" dirty="0" smtClean="0">
                        <a:solidFill>
                          <a:srgbClr val="000000"/>
                        </a:solidFill>
                        <a:latin typeface="Cambria Math" panose="02040503050406030204" pitchFamily="18" charset="0"/>
                        <a:ea typeface="楷体" panose="02010609060101010101" pitchFamily="49" charset="-122"/>
                      </a:rPr>
                      <m:t>3</m:t>
                    </m:r>
                    <m:r>
                      <a:rPr kumimoji="1" lang="en-US" altLang="zh-CN" sz="2600" b="0" i="1" dirty="0" smtClean="0">
                        <a:solidFill>
                          <a:srgbClr val="000000"/>
                        </a:solidFill>
                        <a:latin typeface="Cambria Math" panose="02040503050406030204" pitchFamily="18" charset="0"/>
                        <a:ea typeface="楷体" panose="02010609060101010101" pitchFamily="49" charset="-122"/>
                      </a:rPr>
                      <m:t>,</m:t>
                    </m:r>
                    <m:r>
                      <a:rPr kumimoji="1" lang="en-US" altLang="zh-CN" sz="2600" b="0" i="1" dirty="0" smtClean="0">
                        <a:solidFill>
                          <a:srgbClr val="000000"/>
                        </a:solidFill>
                        <a:latin typeface="Cambria Math" panose="02040503050406030204" pitchFamily="18" charset="0"/>
                        <a:ea typeface="楷体" panose="02010609060101010101" pitchFamily="49" charset="-122"/>
                      </a:rPr>
                      <m:t>4</m:t>
                    </m:r>
                    <m:r>
                      <a:rPr kumimoji="1" lang="en-US" altLang="zh-CN" sz="2600" b="0" i="1" dirty="0" smtClean="0">
                        <a:solidFill>
                          <a:srgbClr val="000000"/>
                        </a:solidFill>
                        <a:latin typeface="Cambria Math" panose="02040503050406030204" pitchFamily="18" charset="0"/>
                        <a:ea typeface="楷体" panose="02010609060101010101" pitchFamily="49" charset="-122"/>
                      </a:rPr>
                      <m:t>,</m:t>
                    </m:r>
                    <m:r>
                      <a:rPr kumimoji="1" lang="en-US" altLang="zh-CN" sz="2600" b="0" i="1" dirty="0" smtClean="0">
                        <a:solidFill>
                          <a:srgbClr val="000000"/>
                        </a:solidFill>
                        <a:latin typeface="Cambria Math" panose="02040503050406030204" pitchFamily="18" charset="0"/>
                        <a:ea typeface="楷体" panose="02010609060101010101" pitchFamily="49" charset="-122"/>
                      </a:rPr>
                      <m:t>5</m:t>
                    </m:r>
                    <m:r>
                      <a:rPr kumimoji="1" lang="en-US" altLang="zh-CN" sz="2600" b="0" i="1" dirty="0" smtClean="0">
                        <a:solidFill>
                          <a:srgbClr val="000000"/>
                        </a:solidFill>
                        <a:latin typeface="Cambria Math" panose="02040503050406030204" pitchFamily="18" charset="0"/>
                        <a:ea typeface="楷体" panose="02010609060101010101" pitchFamily="49" charset="-122"/>
                      </a:rPr>
                      <m:t>}</m:t>
                    </m:r>
                  </m:oMath>
                </a14:m>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台设备分配给第</a:t>
                </a:r>
                <a:r>
                  <a:rPr kumimoji="1"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工厂和第</a:t>
                </a:r>
                <a:r>
                  <a:rPr kumimoji="1"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工厂时，则对每个</a:t>
                </a:r>
                <a14:m>
                  <m:oMath xmlns:m="http://schemas.openxmlformats.org/officeDocument/2006/math">
                    <m:sSub>
                      <m:sSubPr>
                        <m:ctrlPr>
                          <a:rPr kumimoji="1" lang="en-US" altLang="zh-CN" sz="2600" b="0" i="1" smtClean="0">
                            <a:solidFill>
                              <a:srgbClr val="000000"/>
                            </a:solidFill>
                            <a:latin typeface="Cambria Math" panose="02040503050406030204" pitchFamily="18" charset="0"/>
                            <a:ea typeface="楷体" panose="02010609060101010101" pitchFamily="49" charset="-122"/>
                          </a:rPr>
                        </m:ctrlPr>
                      </m:sSubPr>
                      <m:e>
                        <m:r>
                          <a:rPr kumimoji="1" lang="en-US" altLang="zh-CN" sz="2600" b="0" i="1" smtClean="0">
                            <a:solidFill>
                              <a:srgbClr val="000000"/>
                            </a:solidFill>
                            <a:latin typeface="Cambria Math" panose="02040503050406030204" pitchFamily="18" charset="0"/>
                            <a:ea typeface="楷体" panose="02010609060101010101" pitchFamily="49" charset="-122"/>
                          </a:rPr>
                          <m:t>𝑠</m:t>
                        </m:r>
                      </m:e>
                      <m:sub>
                        <m:r>
                          <a:rPr kumimoji="1" lang="en-US" altLang="zh-CN" sz="2600" b="0" i="1" smtClean="0">
                            <a:solidFill>
                              <a:srgbClr val="000000"/>
                            </a:solidFill>
                            <a:latin typeface="Cambria Math" panose="02040503050406030204" pitchFamily="18" charset="0"/>
                            <a:ea typeface="楷体" panose="02010609060101010101" pitchFamily="49" charset="-122"/>
                          </a:rPr>
                          <m:t>2</m:t>
                        </m:r>
                      </m:sub>
                    </m:sSub>
                  </m:oMath>
                </a14:m>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值，有一种最优分配方案，使最大盈利，即最优</a:t>
                </a:r>
                <a:r>
                  <a:rPr kumimoji="1"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子过程最优指标函数值为</a:t>
                </a:r>
                <a:endParaRPr kumimoji="1"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72009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𝑓</m:t>
                          </m:r>
                        </m:e>
                        <m:sub>
                          <m:r>
                            <a:rPr kumimoji="1" lang="en-US" altLang="zh-CN" sz="2600" b="0" i="1" smtClean="0">
                              <a:latin typeface="Cambria Math" panose="02040503050406030204" pitchFamily="18" charset="0"/>
                              <a:ea typeface="楷体" panose="02010609060101010101" pitchFamily="49" charset="-122"/>
                            </a:rPr>
                            <m:t>2</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2</m:t>
                              </m:r>
                            </m:sub>
                          </m:sSub>
                        </m:e>
                      </m:d>
                      <m:r>
                        <a:rPr kumimoji="1" lang="en-US" altLang="zh-CN" sz="2600" i="1">
                          <a:latin typeface="Cambria Math" panose="02040503050406030204" pitchFamily="18" charset="0"/>
                          <a:ea typeface="楷体" panose="02010609060101010101" pitchFamily="49" charset="-122"/>
                        </a:rPr>
                        <m:t>=</m:t>
                      </m:r>
                      <m:func>
                        <m:funcPr>
                          <m:ctrlPr>
                            <a:rPr kumimoji="1" lang="en-US" altLang="zh-CN" sz="2600" i="1">
                              <a:latin typeface="Cambria Math" panose="02040503050406030204" pitchFamily="18" charset="0"/>
                              <a:ea typeface="楷体" panose="02010609060101010101" pitchFamily="49" charset="-122"/>
                            </a:rPr>
                          </m:ctrlPr>
                        </m:funcPr>
                        <m:fName>
                          <m:limLow>
                            <m:limLowPr>
                              <m:ctrlPr>
                                <a:rPr kumimoji="1" lang="en-US" altLang="zh-CN" sz="2600" i="1">
                                  <a:latin typeface="Cambria Math" panose="02040503050406030204" pitchFamily="18" charset="0"/>
                                  <a:ea typeface="楷体" panose="02010609060101010101" pitchFamily="49" charset="-122"/>
                                </a:rPr>
                              </m:ctrlPr>
                            </m:limLowPr>
                            <m:e>
                              <m:r>
                                <m:rPr>
                                  <m:sty m:val="p"/>
                                </m:rPr>
                                <a:rPr kumimoji="1" lang="en-US" altLang="zh-CN" sz="2600">
                                  <a:latin typeface="Cambria Math" panose="02040503050406030204" pitchFamily="18" charset="0"/>
                                  <a:ea typeface="楷体" panose="02010609060101010101" pitchFamily="49" charset="-122"/>
                                </a:rPr>
                                <m:t>max</m:t>
                              </m:r>
                            </m:e>
                            <m:lim>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2</m:t>
                                  </m:r>
                                </m:sub>
                              </m:sSub>
                            </m:lim>
                          </m:limLow>
                        </m:fName>
                        <m:e>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𝑟</m:t>
                              </m:r>
                            </m:e>
                            <m:sub>
                              <m:r>
                                <a:rPr kumimoji="1" lang="en-US" altLang="zh-CN" sz="2600" b="0" i="1" smtClean="0">
                                  <a:latin typeface="Cambria Math" panose="02040503050406030204" pitchFamily="18" charset="0"/>
                                  <a:ea typeface="楷体" panose="02010609060101010101" pitchFamily="49" charset="-122"/>
                                </a:rPr>
                                <m:t>2</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m:rPr>
                                      <m:sty m:val="p"/>
                                    </m:rPr>
                                    <a:rPr kumimoji="1" lang="en-US" altLang="zh-CN" sz="2600" i="1">
                                      <a:latin typeface="Cambria Math" panose="02040503050406030204" pitchFamily="18" charset="0"/>
                                      <a:ea typeface="楷体" panose="02010609060101010101" pitchFamily="49" charset="-122"/>
                                    </a:rPr>
                                    <m:t>s</m:t>
                                  </m:r>
                                </m:e>
                                <m:sub>
                                  <m:r>
                                    <a:rPr kumimoji="1" lang="en-US" altLang="zh-CN" sz="2600" b="0" i="1" smtClean="0">
                                      <a:latin typeface="Cambria Math" panose="02040503050406030204" pitchFamily="18" charset="0"/>
                                      <a:ea typeface="楷体" panose="02010609060101010101" pitchFamily="49" charset="-122"/>
                                    </a:rPr>
                                    <m:t>2</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2</m:t>
                                  </m:r>
                                </m:sub>
                              </m:sSub>
                            </m:e>
                          </m:d>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𝑓</m:t>
                              </m:r>
                            </m:e>
                            <m:sub>
                              <m:r>
                                <a:rPr kumimoji="1" lang="en-US" altLang="zh-CN" sz="2600" b="0" i="1" smtClean="0">
                                  <a:latin typeface="Cambria Math" panose="02040503050406030204" pitchFamily="18" charset="0"/>
                                  <a:ea typeface="楷体" panose="02010609060101010101" pitchFamily="49" charset="-122"/>
                                </a:rPr>
                                <m:t>3</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b="0" i="1" smtClean="0">
                              <a:latin typeface="Cambria Math" panose="02040503050406030204" pitchFamily="18" charset="0"/>
                              <a:ea typeface="楷体" panose="02010609060101010101" pitchFamily="49" charset="-122"/>
                            </a:rPr>
                            <m:t>]</m:t>
                          </m:r>
                          <m:r>
                            <a:rPr kumimoji="1" lang="en-US" altLang="zh-CN" sz="2600" i="1" smtClean="0">
                              <a:latin typeface="Cambria Math" panose="02040503050406030204" pitchFamily="18" charset="0"/>
                              <a:ea typeface="楷体" panose="02010609060101010101" pitchFamily="49" charset="-122"/>
                            </a:rPr>
                            <m:t> </m:t>
                          </m:r>
                        </m:e>
                      </m:func>
                    </m:oMath>
                  </m:oMathPara>
                </a14:m>
                <a:endParaRPr kumimoji="1"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720090">
                  <a:lnSpc>
                    <a:spcPct val="150000"/>
                  </a:lnSpc>
                  <a:spcBef>
                    <a:spcPts val="300"/>
                  </a:spcBef>
                  <a:spcAft>
                    <a:spcPts val="300"/>
                  </a:spcAft>
                </a:pPr>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2</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2</m:t>
                        </m:r>
                      </m:sub>
                    </m:sSub>
                    <m:r>
                      <a:rPr kumimoji="1" lang="en-US" altLang="zh-CN" sz="2600" b="0" i="1" smtClean="0">
                        <a:latin typeface="Cambria Math" panose="02040503050406030204" pitchFamily="18" charset="0"/>
                        <a:ea typeface="楷体" panose="02010609060101010101" pitchFamily="49" charset="-122"/>
                      </a:rPr>
                      <m:t>,</m:t>
                    </m:r>
                  </m:oMath>
                </a14:m>
                <a:r>
                  <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上式也可写成</a:t>
                </a:r>
                <a:endParaRPr kumimoji="1" lang="en-US" altLang="zh-CN"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72009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𝑓</m:t>
                          </m:r>
                        </m:e>
                        <m:sub>
                          <m:r>
                            <a:rPr kumimoji="1" lang="en-US" altLang="zh-CN" sz="2600" i="1">
                              <a:latin typeface="Cambria Math" panose="02040503050406030204" pitchFamily="18" charset="0"/>
                              <a:ea typeface="楷体" panose="02010609060101010101" pitchFamily="49" charset="-122"/>
                            </a:rPr>
                            <m:t>2</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2</m:t>
                              </m:r>
                            </m:sub>
                          </m:sSub>
                        </m:e>
                      </m:d>
                      <m:r>
                        <a:rPr kumimoji="1" lang="en-US" altLang="zh-CN" sz="2600" i="1">
                          <a:latin typeface="Cambria Math" panose="02040503050406030204" pitchFamily="18" charset="0"/>
                          <a:ea typeface="楷体" panose="02010609060101010101" pitchFamily="49" charset="-122"/>
                        </a:rPr>
                        <m:t>=</m:t>
                      </m:r>
                      <m:func>
                        <m:funcPr>
                          <m:ctrlPr>
                            <a:rPr kumimoji="1" lang="en-US" altLang="zh-CN" sz="2600" i="1">
                              <a:latin typeface="Cambria Math" panose="02040503050406030204" pitchFamily="18" charset="0"/>
                              <a:ea typeface="楷体" panose="02010609060101010101" pitchFamily="49" charset="-122"/>
                            </a:rPr>
                          </m:ctrlPr>
                        </m:funcPr>
                        <m:fName>
                          <m:limLow>
                            <m:limLowPr>
                              <m:ctrlPr>
                                <a:rPr kumimoji="1" lang="en-US" altLang="zh-CN" sz="2600" i="1">
                                  <a:latin typeface="Cambria Math" panose="02040503050406030204" pitchFamily="18" charset="0"/>
                                  <a:ea typeface="楷体" panose="02010609060101010101" pitchFamily="49" charset="-122"/>
                                </a:rPr>
                              </m:ctrlPr>
                            </m:limLowPr>
                            <m:e>
                              <m:r>
                                <m:rPr>
                                  <m:sty m:val="p"/>
                                </m:rPr>
                                <a:rPr kumimoji="1" lang="en-US" altLang="zh-CN" sz="2600">
                                  <a:latin typeface="Cambria Math" panose="02040503050406030204" pitchFamily="18" charset="0"/>
                                  <a:ea typeface="楷体" panose="02010609060101010101" pitchFamily="49" charset="-122"/>
                                </a:rPr>
                                <m:t>max</m:t>
                              </m:r>
                            </m:e>
                            <m:lim>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2</m:t>
                                  </m:r>
                                </m:sub>
                              </m:sSub>
                            </m:lim>
                          </m:limLow>
                        </m:fName>
                        <m:e>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𝑟</m:t>
                              </m:r>
                            </m:e>
                            <m:sub>
                              <m:r>
                                <a:rPr kumimoji="1" lang="en-US" altLang="zh-CN" sz="2600" i="1">
                                  <a:latin typeface="Cambria Math" panose="02040503050406030204" pitchFamily="18" charset="0"/>
                                  <a:ea typeface="楷体" panose="02010609060101010101" pitchFamily="49" charset="-122"/>
                                </a:rPr>
                                <m:t>2</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m:rPr>
                                      <m:sty m:val="p"/>
                                    </m:rPr>
                                    <a:rPr kumimoji="1" lang="en-US" altLang="zh-CN" sz="2600" i="1">
                                      <a:latin typeface="Cambria Math" panose="02040503050406030204" pitchFamily="18" charset="0"/>
                                      <a:ea typeface="楷体" panose="02010609060101010101" pitchFamily="49" charset="-122"/>
                                    </a:rPr>
                                    <m:t>s</m:t>
                                  </m:r>
                                </m:e>
                                <m:sub>
                                  <m:r>
                                    <a:rPr kumimoji="1" lang="en-US" altLang="zh-CN" sz="2600" i="1">
                                      <a:latin typeface="Cambria Math" panose="02040503050406030204" pitchFamily="18" charset="0"/>
                                      <a:ea typeface="楷体" panose="02010609060101010101" pitchFamily="49" charset="-122"/>
                                    </a:rPr>
                                    <m:t>2</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2</m:t>
                                  </m:r>
                                </m:sub>
                              </m:sSub>
                            </m:e>
                          </m:d>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𝑓</m:t>
                              </m:r>
                            </m:e>
                            <m:sub>
                              <m:r>
                                <a:rPr kumimoji="1" lang="en-US" altLang="zh-CN" sz="2600" i="1">
                                  <a:latin typeface="Cambria Math" panose="02040503050406030204" pitchFamily="18" charset="0"/>
                                  <a:ea typeface="楷体" panose="02010609060101010101" pitchFamily="49" charset="-122"/>
                                </a:rPr>
                                <m:t>3</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2</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2</m:t>
                                  </m:r>
                                </m:sub>
                              </m:sSub>
                            </m:e>
                          </m:d>
                          <m:r>
                            <a:rPr kumimoji="1" lang="en-US" altLang="zh-CN" sz="2600" b="0" i="1" smtClean="0">
                              <a:latin typeface="Cambria Math" panose="02040503050406030204" pitchFamily="18" charset="0"/>
                              <a:ea typeface="楷体" panose="02010609060101010101" pitchFamily="49" charset="-122"/>
                            </a:rPr>
                            <m:t>]</m:t>
                          </m:r>
                          <m:r>
                            <a:rPr kumimoji="1" lang="en-US" altLang="zh-CN" sz="2600" i="1">
                              <a:latin typeface="Cambria Math" panose="02040503050406030204" pitchFamily="18" charset="0"/>
                              <a:ea typeface="楷体" panose="02010609060101010101" pitchFamily="49" charset="-122"/>
                            </a:rPr>
                            <m:t> </m:t>
                          </m:r>
                        </m:e>
                      </m:func>
                    </m:oMath>
                  </m:oMathPara>
                </a14:m>
                <a:endParaRPr kumimoji="1" lang="zh-CN" altLang="en-US" sz="2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8200" name="矩形 2"/>
              <p:cNvSpPr>
                <a:spLocks noRot="1" noChangeAspect="1" noMove="1" noResize="1" noEditPoints="1" noAdjustHandles="1" noChangeArrowheads="1" noChangeShapeType="1" noTextEdit="1"/>
              </p:cNvSpPr>
              <p:nvPr/>
            </p:nvSpPr>
            <p:spPr bwMode="auto">
              <a:xfrm>
                <a:off x="1952625" y="1196752"/>
                <a:ext cx="8286750" cy="4958080"/>
              </a:xfrm>
              <a:prstGeom prst="rect">
                <a:avLst/>
              </a:prstGeom>
              <a:blipFill rotWithShape="1">
                <a:blip r:embed="rId1"/>
                <a:stretch>
                  <a:fillRect t="-8" b="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5" name="表格 34"/>
              <p:cNvGraphicFramePr>
                <a:graphicFrameLocks noGrp="1"/>
              </p:cNvGraphicFramePr>
              <p:nvPr/>
            </p:nvGraphicFramePr>
            <p:xfrm>
              <a:off x="1902063" y="1501324"/>
              <a:ext cx="8387715" cy="3855352"/>
            </p:xfrm>
            <a:graphic>
              <a:graphicData uri="http://schemas.openxmlformats.org/drawingml/2006/table">
                <a:tbl>
                  <a:tblPr firstRow="1" bandRow="1">
                    <a:tableStyleId>{5C22544A-7EE6-4342-B048-85BDC9FD1C3A}</a:tableStyleId>
                  </a:tblPr>
                  <a:tblGrid>
                    <a:gridCol w="932180"/>
                    <a:gridCol w="931545"/>
                    <a:gridCol w="932180"/>
                    <a:gridCol w="932180"/>
                    <a:gridCol w="931545"/>
                    <a:gridCol w="932180"/>
                    <a:gridCol w="932180"/>
                    <a:gridCol w="932180"/>
                    <a:gridCol w="931545"/>
                  </a:tblGrid>
                  <a:tr h="481919">
                    <a:tc rowSpan="2">
                      <a:txBody>
                        <a:bodyPr/>
                        <a:lstStyle/>
                        <a:p>
                          <a:pPr algn="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oMath>
                            </m:oMathPara>
                          </a14:m>
                          <a:endParaRPr lang="en-US" altLang="zh-CN" b="1" dirty="0">
                            <a:latin typeface="Times New Roman" panose="02020603050405020304" pitchFamily="18" charset="0"/>
                            <a:cs typeface="Times New Roman" panose="02020603050405020304" pitchFamily="18" charset="0"/>
                          </a:endParaRPr>
                        </a:p>
                        <a:p>
                          <a:pPr algn="r"/>
                          <a:endParaRPr lang="en-US" altLang="zh-CN" dirty="0">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6">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c hMerge="1">
                      <a:tcPr/>
                    </a:tc>
                    <a:tc rowSpan="2">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481919">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0</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0</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4</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5</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0</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0</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6</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5</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4</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10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0</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0</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11</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5</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6</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10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4</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11</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0</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0</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12</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5</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11</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10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6</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11</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4</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11</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0</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19">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0</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12</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cs typeface="Times New Roman" panose="02020603050405020304" pitchFamily="18" charset="0"/>
                                  </a:rPr>
                                  <m:t>5</m:t>
                                </m:r>
                                <m:r>
                                  <a:rPr lang="en-US" altLang="zh-CN" b="0" i="1" dirty="0" smtClean="0">
                                    <a:latin typeface="Cambria Math" panose="02040503050406030204" pitchFamily="18" charset="0"/>
                                    <a:cs typeface="Times New Roman" panose="02020603050405020304" pitchFamily="18" charset="0"/>
                                  </a:rPr>
                                  <m:t>+</m:t>
                                </m:r>
                                <m:r>
                                  <a:rPr lang="en-US" altLang="zh-CN" b="0" i="1" dirty="0" smtClean="0">
                                    <a:latin typeface="Cambria Math" panose="02040503050406030204" pitchFamily="18" charset="0"/>
                                    <a:cs typeface="Times New Roman" panose="02020603050405020304" pitchFamily="18" charset="0"/>
                                  </a:rPr>
                                  <m:t>12</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10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11</m:t>
                                    </m:r>
                                  </m:e>
                                </m:acc>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11</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6</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11</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4</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11</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0</m:t>
                                </m:r>
                              </m:oMath>
                            </m:oMathPara>
                          </a14:m>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35" name="表格 34"/>
              <p:cNvGraphicFramePr>
                <a:graphicFrameLocks noGrp="1"/>
              </p:cNvGraphicFramePr>
              <p:nvPr/>
            </p:nvGraphicFramePr>
            <p:xfrm>
              <a:off x="1902063" y="1501324"/>
              <a:ext cx="8387715" cy="3855352"/>
            </p:xfrm>
            <a:graphic>
              <a:graphicData uri="http://schemas.openxmlformats.org/drawingml/2006/table">
                <a:tbl>
                  <a:tblPr firstRow="1" bandRow="1">
                    <a:tableStyleId>{5C22544A-7EE6-4342-B048-85BDC9FD1C3A}</a:tableStyleId>
                  </a:tblPr>
                  <a:tblGrid>
                    <a:gridCol w="932180"/>
                    <a:gridCol w="931545"/>
                    <a:gridCol w="932180"/>
                    <a:gridCol w="932180"/>
                    <a:gridCol w="931545"/>
                    <a:gridCol w="932180"/>
                    <a:gridCol w="932180"/>
                    <a:gridCol w="932180"/>
                    <a:gridCol w="931545"/>
                  </a:tblGrid>
                  <a:tr h="481965">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1"/>
                        </a:blipFill>
                      </a:tcPr>
                    </a:tc>
                    <a:tc gridSpan="6">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hMerge="1">
                      <a:tcPr/>
                    </a:tc>
                    <a:tc hMerge="1">
                      <a:tcPr/>
                    </a:tc>
                    <a:tc hMerge="1">
                      <a:tcPr/>
                    </a:tc>
                    <a:tc hMerge="1">
                      <a:tcPr/>
                    </a:tc>
                    <a:tc hMerge="1">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481919">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481965">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65">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65">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65">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33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65">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algn="ctr"/>
                          <a:r>
                            <a:rPr lang="en-US" altLang="zh-CN" dirty="0">
                              <a:latin typeface="Times New Roman" panose="02020603050405020304" pitchFamily="18" charset="0"/>
                              <a:cs typeface="Times New Roman" panose="02020603050405020304" pitchFamily="18" charset="0"/>
                            </a:rPr>
                            <a:t>21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307" name="Rectangle 3"/>
              <p:cNvSpPr>
                <a:spLocks noChangeArrowheads="1"/>
              </p:cNvSpPr>
              <p:nvPr/>
            </p:nvSpPr>
            <p:spPr bwMode="auto">
              <a:xfrm>
                <a:off x="1947068" y="775345"/>
                <a:ext cx="8583613" cy="4297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50000"/>
                  </a:lnSpc>
                  <a:spcBef>
                    <a:spcPts val="300"/>
                  </a:spcBef>
                  <a:spcAft>
                    <a:spcPts val="300"/>
                  </a:spcAft>
                </a:pPr>
                <a:r>
                  <a:rPr kumimoji="1" lang="zh-CN" altLang="en-US" sz="2800" b="1" dirty="0" smtClean="0">
                    <a:ea typeface="楷体" panose="02010609060101010101" pitchFamily="49" charset="-122"/>
                  </a:rPr>
                  <a:t>　　</a:t>
                </a:r>
                <a:r>
                  <a:rPr kumimoji="1" lang="zh-CN" altLang="en-US" sz="2400" b="1" dirty="0">
                    <a:ea typeface="楷体" panose="02010609060101010101" pitchFamily="49" charset="-122"/>
                  </a:rPr>
                  <a:t>第一阶段：</a:t>
                </a:r>
                <a:endParaRPr kumimoji="1" lang="zh-CN" altLang="en-US" sz="2400" b="1" dirty="0">
                  <a:ea typeface="楷体" panose="02010609060101010101" pitchFamily="49" charset="-122"/>
                </a:endParaRPr>
              </a:p>
              <a:p>
                <a:pPr marL="342900" indent="-342900" algn="just">
                  <a:lnSpc>
                    <a:spcPct val="150000"/>
                  </a:lnSpc>
                  <a:spcBef>
                    <a:spcPts val="300"/>
                  </a:spcBef>
                  <a:spcAft>
                    <a:spcPts val="300"/>
                  </a:spcAft>
                </a:pPr>
                <a:r>
                  <a:rPr kumimoji="1" lang="zh-CN" altLang="en-US" sz="2400" dirty="0">
                    <a:ea typeface="楷体" panose="02010609060101010101" pitchFamily="49" charset="-122"/>
                  </a:rPr>
                  <a:t>　　把</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5</m:t>
                    </m:r>
                  </m:oMath>
                </a14:m>
                <a:r>
                  <a:rPr kumimoji="1" lang="zh-CN" altLang="en-US" sz="2400" dirty="0">
                    <a:ea typeface="楷体" panose="02010609060101010101" pitchFamily="49" charset="-122"/>
                  </a:rPr>
                  <a:t>台设备分配给第</a:t>
                </a:r>
                <a:r>
                  <a:rPr kumimoji="1" lang="en-US" altLang="zh-CN" sz="2400" dirty="0">
                    <a:ea typeface="楷体" panose="02010609060101010101" pitchFamily="49" charset="-122"/>
                  </a:rPr>
                  <a:t>1,2,3,</a:t>
                </a:r>
                <a:r>
                  <a:rPr kumimoji="1" lang="zh-CN" altLang="en-US" sz="2400" dirty="0">
                    <a:ea typeface="楷体" panose="02010609060101010101" pitchFamily="49" charset="-122"/>
                  </a:rPr>
                  <a:t>厂时，最大</a:t>
                </a:r>
                <a:endParaRPr kumimoji="1" lang="zh-CN" altLang="en-US" sz="2400" dirty="0">
                  <a:ea typeface="楷体" panose="02010609060101010101" pitchFamily="49" charset="-122"/>
                </a:endParaRPr>
              </a:p>
              <a:p>
                <a:pPr marL="342900" indent="-342900" algn="just">
                  <a:lnSpc>
                    <a:spcPct val="150000"/>
                  </a:lnSpc>
                  <a:spcBef>
                    <a:spcPts val="300"/>
                  </a:spcBef>
                  <a:spcAft>
                    <a:spcPts val="300"/>
                  </a:spcAft>
                </a:pPr>
                <a:r>
                  <a:rPr kumimoji="1" lang="zh-CN" altLang="en-US" sz="2400" dirty="0">
                    <a:ea typeface="楷体" panose="02010609060101010101" pitchFamily="49" charset="-122"/>
                  </a:rPr>
                  <a:t>盈利为</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i="1">
                            <a:latin typeface="Cambria Math" panose="02040503050406030204" pitchFamily="18" charset="0"/>
                            <a:ea typeface="楷体" panose="02010609060101010101" pitchFamily="49" charset="-122"/>
                          </a:rPr>
                        </m:ctrlPr>
                      </m:dPr>
                      <m:e>
                        <m:r>
                          <a:rPr kumimoji="1" lang="en-US" altLang="zh-CN" sz="2400" b="0" i="1" smtClean="0">
                            <a:latin typeface="Cambria Math" panose="02040503050406030204" pitchFamily="18" charset="0"/>
                            <a:ea typeface="楷体" panose="02010609060101010101" pitchFamily="49" charset="-122"/>
                          </a:rPr>
                          <m:t>5</m:t>
                        </m:r>
                      </m:e>
                    </m:d>
                    <m:r>
                      <a:rPr kumimoji="1" lang="en-US" altLang="zh-CN" sz="2400" i="1">
                        <a:latin typeface="Cambria Math" panose="02040503050406030204" pitchFamily="18" charset="0"/>
                        <a:ea typeface="楷体" panose="02010609060101010101" pitchFamily="49" charset="-122"/>
                      </a:rPr>
                      <m:t>=</m:t>
                    </m:r>
                    <m:func>
                      <m:funcPr>
                        <m:ctrlPr>
                          <a:rPr kumimoji="1" lang="en-US" altLang="zh-CN" sz="2400" i="1">
                            <a:latin typeface="Cambria Math" panose="02040503050406030204" pitchFamily="18" charset="0"/>
                            <a:ea typeface="楷体" panose="02010609060101010101" pitchFamily="49" charset="-122"/>
                          </a:rPr>
                        </m:ctrlPr>
                      </m:funcPr>
                      <m:fName>
                        <m:limLow>
                          <m:limLowPr>
                            <m:ctrlPr>
                              <a:rPr kumimoji="1" lang="en-US" altLang="zh-CN" sz="2400" i="1">
                                <a:latin typeface="Cambria Math" panose="02040503050406030204" pitchFamily="18" charset="0"/>
                                <a:ea typeface="楷体" panose="02010609060101010101" pitchFamily="49" charset="-122"/>
                              </a:rPr>
                            </m:ctrlPr>
                          </m:limLowPr>
                          <m:e>
                            <m:r>
                              <m:rPr>
                                <m:sty m:val="p"/>
                              </m:rPr>
                              <a:rPr kumimoji="1" lang="en-US" altLang="zh-CN" sz="2400">
                                <a:latin typeface="Cambria Math" panose="02040503050406030204" pitchFamily="18" charset="0"/>
                                <a:ea typeface="楷体" panose="02010609060101010101" pitchFamily="49" charset="-122"/>
                              </a:rPr>
                              <m:t>max</m:t>
                            </m:r>
                          </m:e>
                          <m:lim>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lim>
                        </m:limLow>
                      </m:fName>
                      <m:e>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𝑟</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i="1">
                                <a:latin typeface="Cambria Math" panose="02040503050406030204" pitchFamily="18" charset="0"/>
                                <a:ea typeface="楷体" panose="02010609060101010101" pitchFamily="49" charset="-122"/>
                              </a:rPr>
                            </m:ctrlPr>
                          </m:dPr>
                          <m:e>
                            <m:r>
                              <a:rPr kumimoji="1" lang="en-US" altLang="zh-CN" sz="2400" b="0" i="1" smtClean="0">
                                <a:latin typeface="Cambria Math" panose="02040503050406030204" pitchFamily="18" charset="0"/>
                                <a:ea typeface="楷体" panose="02010609060101010101" pitchFamily="49" charset="-122"/>
                              </a:rPr>
                              <m:t>5</m:t>
                            </m:r>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r>
                              <a:rPr kumimoji="1" lang="en-US" altLang="zh-CN" sz="2400" b="0" i="1" smtClean="0">
                                <a:latin typeface="Cambria Math" panose="02040503050406030204" pitchFamily="18" charset="0"/>
                                <a:ea typeface="楷体" panose="02010609060101010101" pitchFamily="49" charset="-122"/>
                              </a:rPr>
                              <m:t>5</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i="1">
                            <a:latin typeface="Cambria Math" panose="02040503050406030204" pitchFamily="18" charset="0"/>
                            <a:ea typeface="楷体" panose="02010609060101010101" pitchFamily="49" charset="-122"/>
                          </a:rPr>
                          <m:t>] </m:t>
                        </m:r>
                      </m:e>
                    </m:func>
                  </m:oMath>
                </a14:m>
                <a:r>
                  <a:rPr kumimoji="1" lang="zh-CN" altLang="en-US" sz="2400" dirty="0">
                    <a:ea typeface="楷体" panose="02010609060101010101" pitchFamily="49" charset="-122"/>
                  </a:rPr>
                  <a:t>其中</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0</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2</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3</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4</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5</m:t>
                    </m:r>
                  </m:oMath>
                </a14:m>
                <a:r>
                  <a:rPr kumimoji="1" lang="zh-CN" altLang="en-US" sz="2400" dirty="0">
                    <a:ea typeface="楷体" panose="02010609060101010101" pitchFamily="49" charset="-122"/>
                  </a:rPr>
                  <a:t>　</a:t>
                </a:r>
                <a:endParaRPr kumimoji="1" lang="en-US" altLang="zh-CN" sz="2400" dirty="0">
                  <a:ea typeface="楷体" panose="02010609060101010101" pitchFamily="49" charset="-122"/>
                </a:endParaRPr>
              </a:p>
              <a:p>
                <a:pPr marL="342900" indent="-342900" algn="just">
                  <a:lnSpc>
                    <a:spcPct val="90000"/>
                  </a:lnSpc>
                  <a:spcBef>
                    <a:spcPts val="300"/>
                  </a:spcBef>
                  <a:spcAft>
                    <a:spcPts val="300"/>
                  </a:spcAft>
                </a:pPr>
                <a:endParaRPr kumimoji="1" lang="en-US" altLang="zh-CN" sz="2600" dirty="0">
                  <a:ea typeface="楷体" panose="02010609060101010101" pitchFamily="49" charset="-122"/>
                </a:endParaRPr>
              </a:p>
              <a:p>
                <a:pPr marL="342900" indent="-342900" algn="just">
                  <a:lnSpc>
                    <a:spcPct val="90000"/>
                  </a:lnSpc>
                  <a:spcBef>
                    <a:spcPts val="300"/>
                  </a:spcBef>
                  <a:spcAft>
                    <a:spcPts val="300"/>
                  </a:spcAft>
                </a:pPr>
                <a:endParaRPr kumimoji="1" lang="en-US" altLang="zh-CN" sz="2600" dirty="0">
                  <a:ea typeface="楷体" panose="02010609060101010101" pitchFamily="49" charset="-122"/>
                </a:endParaRPr>
              </a:p>
              <a:p>
                <a:pPr marL="342900" indent="-342900" algn="just">
                  <a:lnSpc>
                    <a:spcPct val="90000"/>
                  </a:lnSpc>
                  <a:spcBef>
                    <a:spcPts val="300"/>
                  </a:spcBef>
                  <a:spcAft>
                    <a:spcPts val="300"/>
                  </a:spcAft>
                </a:pPr>
                <a:endParaRPr kumimoji="1" lang="en-US" altLang="zh-CN" sz="2600" dirty="0">
                  <a:ea typeface="楷体" panose="02010609060101010101" pitchFamily="49" charset="-122"/>
                </a:endParaRPr>
              </a:p>
              <a:p>
                <a:pPr marL="342900" indent="-342900" algn="just">
                  <a:lnSpc>
                    <a:spcPct val="90000"/>
                  </a:lnSpc>
                  <a:spcBef>
                    <a:spcPts val="300"/>
                  </a:spcBef>
                  <a:spcAft>
                    <a:spcPts val="300"/>
                  </a:spcAft>
                </a:pPr>
                <a:endParaRPr kumimoji="1" lang="en-US" altLang="zh-CN" sz="2600" dirty="0">
                  <a:ea typeface="楷体" panose="02010609060101010101" pitchFamily="49" charset="-122"/>
                </a:endParaRPr>
              </a:p>
              <a:p>
                <a:pPr marL="342900" indent="-342900" algn="just">
                  <a:lnSpc>
                    <a:spcPct val="90000"/>
                  </a:lnSpc>
                  <a:spcBef>
                    <a:spcPts val="300"/>
                  </a:spcBef>
                  <a:spcAft>
                    <a:spcPts val="300"/>
                  </a:spcAft>
                </a:pPr>
                <a:r>
                  <a:rPr kumimoji="1" lang="en-US" altLang="zh-CN" sz="2400" dirty="0">
                    <a:ea typeface="楷体" panose="02010609060101010101" pitchFamily="49" charset="-122"/>
                  </a:rPr>
                  <a:t>        </a:t>
                </a:r>
                <a:r>
                  <a:rPr kumimoji="1" lang="zh-CN" altLang="en-US" sz="2400" dirty="0">
                    <a:ea typeface="楷体" panose="02010609060101010101" pitchFamily="49" charset="-122"/>
                  </a:rPr>
                  <a:t>然后按计算表格的顺序推算，可知最优分配方案有两个：</a:t>
                </a:r>
                <a:endParaRPr kumimoji="1" lang="zh-CN" altLang="en-US" sz="2600" dirty="0">
                  <a:ea typeface="楷体" panose="02010609060101010101" pitchFamily="49" charset="-122"/>
                </a:endParaRPr>
              </a:p>
            </p:txBody>
          </p:sp>
        </mc:Choice>
        <mc:Fallback>
          <p:sp>
            <p:nvSpPr>
              <p:cNvPr id="12307" name="Rectangle 3"/>
              <p:cNvSpPr>
                <a:spLocks noRot="1" noChangeAspect="1" noMove="1" noResize="1" noEditPoints="1" noAdjustHandles="1" noChangeArrowheads="1" noChangeShapeType="1" noTextEdit="1"/>
              </p:cNvSpPr>
              <p:nvPr/>
            </p:nvSpPr>
            <p:spPr bwMode="auto">
              <a:xfrm>
                <a:off x="1947068" y="775345"/>
                <a:ext cx="8583613" cy="4297660"/>
              </a:xfrm>
              <a:prstGeom prst="rect">
                <a:avLst/>
              </a:prstGeom>
              <a:blipFill rotWithShape="1">
                <a:blip r:embed="rId1"/>
                <a:stretch>
                  <a:fillRect l="-2" r="6" b="-139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nvGraphicFramePr>
            <p:xfrm>
              <a:off x="1947068" y="3068960"/>
              <a:ext cx="8387715" cy="1445895"/>
            </p:xfrm>
            <a:graphic>
              <a:graphicData uri="http://schemas.openxmlformats.org/drawingml/2006/table">
                <a:tbl>
                  <a:tblPr firstRow="1" bandRow="1">
                    <a:tableStyleId>{5C22544A-7EE6-4342-B048-85BDC9FD1C3A}</a:tableStyleId>
                  </a:tblPr>
                  <a:tblGrid>
                    <a:gridCol w="932180"/>
                    <a:gridCol w="931545"/>
                    <a:gridCol w="932180"/>
                    <a:gridCol w="932180"/>
                    <a:gridCol w="931545"/>
                    <a:gridCol w="932180"/>
                    <a:gridCol w="932180"/>
                    <a:gridCol w="932180"/>
                    <a:gridCol w="931545"/>
                  </a:tblGrid>
                  <a:tr h="481965">
                    <a:tc rowSpan="2">
                      <a:txBody>
                        <a:bodyPr/>
                        <a:lstStyle/>
                        <a:p>
                          <a:pPr algn="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oMath>
                            </m:oMathPara>
                          </a14:m>
                          <a:endParaRPr lang="en-US" altLang="zh-CN" b="1" dirty="0">
                            <a:latin typeface="Times New Roman" panose="02020603050405020304" pitchFamily="18" charset="0"/>
                            <a:cs typeface="Times New Roman" panose="02020603050405020304" pitchFamily="18" charset="0"/>
                          </a:endParaRPr>
                        </a:p>
                        <a:p>
                          <a:pPr algn="r"/>
                          <a:endParaRPr lang="en-US" altLang="zh-CN" dirty="0">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6">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𝟓</m:t>
                                    </m:r>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𝟓</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c hMerge="1">
                      <a:tcPr/>
                    </a:tc>
                    <a:tc rowSpan="2">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81965">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481965">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0</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21</m:t>
                                    </m:r>
                                  </m:e>
                                </m:acc>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3+16</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7</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14</m:t>
                                    </m:r>
                                  </m:e>
                                </m:acc>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9+10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13+0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37" name="表格 36"/>
              <p:cNvGraphicFramePr>
                <a:graphicFrameLocks noGrp="1"/>
              </p:cNvGraphicFramePr>
              <p:nvPr/>
            </p:nvGraphicFramePr>
            <p:xfrm>
              <a:off x="1947068" y="3068960"/>
              <a:ext cx="8387715" cy="1445895"/>
            </p:xfrm>
            <a:graphic>
              <a:graphicData uri="http://schemas.openxmlformats.org/drawingml/2006/table">
                <a:tbl>
                  <a:tblPr firstRow="1" bandRow="1">
                    <a:tableStyleId>{5C22544A-7EE6-4342-B048-85BDC9FD1C3A}</a:tableStyleId>
                  </a:tblPr>
                  <a:tblGrid>
                    <a:gridCol w="932180"/>
                    <a:gridCol w="931545"/>
                    <a:gridCol w="932180"/>
                    <a:gridCol w="932180"/>
                    <a:gridCol w="931545"/>
                    <a:gridCol w="932180"/>
                    <a:gridCol w="932180"/>
                    <a:gridCol w="932180"/>
                    <a:gridCol w="931545"/>
                  </a:tblGrid>
                  <a:tr h="481965">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2"/>
                        </a:blipFill>
                      </a:tcPr>
                    </a:tc>
                    <a:tc gridSpan="6">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hMerge="1">
                      <a:tcPr/>
                    </a:tc>
                    <a:tc hMerge="1">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481965">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481965">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cs typeface="Times New Roman" panose="02020603050405020304" pitchFamily="18" charset="0"/>
                            </a:rPr>
                            <a:t>3+16</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pPr algn="ctr"/>
                          <a:r>
                            <a:rPr lang="en-US" altLang="zh-CN" dirty="0">
                              <a:latin typeface="Times New Roman" panose="02020603050405020304" pitchFamily="18" charset="0"/>
                              <a:cs typeface="Times New Roman" panose="02020603050405020304" pitchFamily="18" charset="0"/>
                            </a:rPr>
                            <a:t>9+10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12+5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13+0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
        <p:nvSpPr>
          <p:cNvPr id="2" name="文本框 1"/>
          <p:cNvSpPr txBox="1"/>
          <p:nvPr/>
        </p:nvSpPr>
        <p:spPr>
          <a:xfrm>
            <a:off x="2359025" y="5869940"/>
            <a:ext cx="7591425" cy="368300"/>
          </a:xfrm>
          <a:prstGeom prst="rect">
            <a:avLst/>
          </a:prstGeom>
          <a:noFill/>
        </p:spPr>
        <p:txBody>
          <a:bodyPr wrap="square" rtlCol="0">
            <a:spAutoFit/>
          </a:bodyPr>
          <a:p>
            <a:r>
              <a:rPr lang="en-US" altLang="zh-CN"/>
              <a:t>x</a:t>
            </a:r>
            <a:r>
              <a:rPr lang="en-US" altLang="zh-CN" baseline="-25000"/>
              <a:t>1</a:t>
            </a:r>
            <a:r>
              <a:rPr lang="en-US" altLang="zh-CN"/>
              <a:t>=0,</a:t>
            </a:r>
            <a:r>
              <a:rPr lang="en-US" altLang="zh-CN">
                <a:sym typeface="+mn-ea"/>
              </a:rPr>
              <a:t>x</a:t>
            </a:r>
            <a:r>
              <a:rPr lang="en-US" altLang="zh-CN" baseline="-25000">
                <a:sym typeface="+mn-ea"/>
              </a:rPr>
              <a:t>2</a:t>
            </a:r>
            <a:r>
              <a:rPr lang="en-US" altLang="zh-CN">
                <a:sym typeface="+mn-ea"/>
              </a:rPr>
              <a:t>=2,x</a:t>
            </a:r>
            <a:r>
              <a:rPr lang="en-US" altLang="zh-CN" baseline="-25000">
                <a:sym typeface="+mn-ea"/>
              </a:rPr>
              <a:t>3</a:t>
            </a:r>
            <a:r>
              <a:rPr lang="en-US" altLang="zh-CN">
                <a:sym typeface="+mn-ea"/>
              </a:rPr>
              <a:t>=3;   x</a:t>
            </a:r>
            <a:r>
              <a:rPr lang="en-US" altLang="zh-CN" baseline="-25000">
                <a:sym typeface="+mn-ea"/>
              </a:rPr>
              <a:t>1</a:t>
            </a:r>
            <a:r>
              <a:rPr lang="en-US" altLang="zh-CN">
                <a:sym typeface="+mn-ea"/>
              </a:rPr>
              <a:t>=2,</a:t>
            </a:r>
            <a:r>
              <a:rPr lang="en-US" altLang="zh-CN">
                <a:sym typeface="+mn-ea"/>
              </a:rPr>
              <a:t>x</a:t>
            </a:r>
            <a:r>
              <a:rPr lang="en-US" altLang="zh-CN" baseline="-25000">
                <a:sym typeface="+mn-ea"/>
              </a:rPr>
              <a:t>2</a:t>
            </a:r>
            <a:r>
              <a:rPr lang="en-US" altLang="zh-CN">
                <a:sym typeface="+mn-ea"/>
              </a:rPr>
              <a:t>=2,x</a:t>
            </a:r>
            <a:r>
              <a:rPr lang="en-US" altLang="zh-CN" baseline="-25000">
                <a:sym typeface="+mn-ea"/>
              </a:rPr>
              <a:t>3</a:t>
            </a:r>
            <a:r>
              <a:rPr lang="en-US" altLang="zh-CN">
                <a:sym typeface="+mn-ea"/>
              </a:rPr>
              <a:t>=1</a:t>
            </a:r>
            <a:r>
              <a:rPr lang="en-US" altLang="zh-CN"/>
              <a:t> </a:t>
            </a:r>
            <a:endParaRPr lang="en-US" altLang="zh-CN"/>
          </a:p>
        </p:txBody>
      </p:sp>
    </p:spTree>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373" name="Rectangle 3"/>
              <p:cNvSpPr>
                <a:spLocks noChangeArrowheads="1"/>
              </p:cNvSpPr>
              <p:nvPr/>
            </p:nvSpPr>
            <p:spPr bwMode="auto">
              <a:xfrm>
                <a:off x="1738312" y="1052736"/>
                <a:ext cx="8715375" cy="5111080"/>
              </a:xfrm>
              <a:prstGeom prst="rect">
                <a:avLst/>
              </a:prstGeom>
              <a:noFill/>
              <a:ln w="9525">
                <a:noFill/>
                <a:miter lim="800000"/>
              </a:ln>
            </p:spPr>
            <p:txBody>
              <a:bodyPr/>
              <a:lstStyle/>
              <a:p>
                <a:pPr marL="342900" algn="just">
                  <a:lnSpc>
                    <a:spcPct val="110000"/>
                  </a:lnSpc>
                  <a:spcBef>
                    <a:spcPts val="300"/>
                  </a:spcBef>
                  <a:spcAft>
                    <a:spcPts val="300"/>
                  </a:spcAft>
                  <a:defRPr/>
                </a:pPr>
                <a:r>
                  <a:rPr kumimoji="1" lang="zh-CN" altLang="en-US" sz="2600" b="1" dirty="0">
                    <a:ea typeface="楷体" panose="02010609060101010101" pitchFamily="49" charset="-122"/>
                  </a:rPr>
                  <a:t>二、背包问题</a:t>
                </a:r>
                <a:endParaRPr kumimoji="1" lang="en-US" altLang="zh-CN" sz="2600" b="1" dirty="0">
                  <a:ea typeface="楷体" panose="02010609060101010101" pitchFamily="49" charset="-122"/>
                </a:endParaRPr>
              </a:p>
              <a:p>
                <a:pPr indent="720090" algn="just">
                  <a:lnSpc>
                    <a:spcPct val="110000"/>
                  </a:lnSpc>
                  <a:spcBef>
                    <a:spcPts val="0"/>
                  </a:spcBef>
                  <a:spcAft>
                    <a:spcPts val="0"/>
                  </a:spcAft>
                  <a:defRPr/>
                </a:pPr>
                <a:r>
                  <a:rPr kumimoji="1" lang="zh-CN" altLang="en-US" sz="2600" dirty="0">
                    <a:ea typeface="楷体" panose="02010609060101010101" pitchFamily="49" charset="-122"/>
                  </a:rPr>
                  <a:t>设有</a:t>
                </a:r>
                <a14:m>
                  <m:oMath xmlns:m="http://schemas.openxmlformats.org/officeDocument/2006/math">
                    <m:r>
                      <a:rPr kumimoji="1" lang="en-US" altLang="zh-CN" sz="2600" b="0" i="1" dirty="0" smtClean="0">
                        <a:latin typeface="Cambria Math" panose="02040503050406030204" pitchFamily="18" charset="0"/>
                        <a:ea typeface="楷体" panose="02010609060101010101" pitchFamily="49" charset="-122"/>
                      </a:rPr>
                      <m:t>𝑛</m:t>
                    </m:r>
                  </m:oMath>
                </a14:m>
                <a:r>
                  <a:rPr kumimoji="1" lang="zh-CN" altLang="en-US" sz="2600" dirty="0">
                    <a:ea typeface="楷体" panose="02010609060101010101" pitchFamily="49" charset="-122"/>
                  </a:rPr>
                  <a:t>种物品，每种物品数量无限。第</a:t>
                </a:r>
                <a14:m>
                  <m:oMath xmlns:m="http://schemas.openxmlformats.org/officeDocument/2006/math">
                    <m:r>
                      <a:rPr kumimoji="1" lang="en-US" altLang="zh-CN" sz="2600" b="0" i="1" dirty="0" smtClean="0">
                        <a:latin typeface="Cambria Math" panose="02040503050406030204" pitchFamily="18" charset="0"/>
                        <a:ea typeface="楷体" panose="02010609060101010101" pitchFamily="49" charset="-122"/>
                      </a:rPr>
                      <m:t>𝑖</m:t>
                    </m:r>
                  </m:oMath>
                </a14:m>
                <a:r>
                  <a:rPr kumimoji="1" lang="zh-CN" altLang="en-US" sz="2600" dirty="0">
                    <a:ea typeface="楷体" panose="02010609060101010101" pitchFamily="49" charset="-122"/>
                  </a:rPr>
                  <a:t>种物品每件重量为</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𝑤</m:t>
                        </m:r>
                      </m:e>
                      <m:sub>
                        <m:r>
                          <a:rPr kumimoji="1" lang="en-US" altLang="zh-CN" sz="2600" b="0" i="1" dirty="0" smtClean="0">
                            <a:latin typeface="Cambria Math" panose="02040503050406030204" pitchFamily="18" charset="0"/>
                            <a:ea typeface="楷体" panose="02010609060101010101" pitchFamily="49" charset="-122"/>
                          </a:rPr>
                          <m:t>𝑖</m:t>
                        </m:r>
                      </m:sub>
                    </m:sSub>
                  </m:oMath>
                </a14:m>
                <a:r>
                  <a:rPr kumimoji="1" lang="zh-CN" altLang="en-US" sz="2600" dirty="0">
                    <a:ea typeface="楷体" panose="02010609060101010101" pitchFamily="49" charset="-122"/>
                  </a:rPr>
                  <a:t>公斤，每件价值</a:t>
                </a:r>
                <a14:m>
                  <m:oMath xmlns:m="http://schemas.openxmlformats.org/officeDocument/2006/math">
                    <m:sSub>
                      <m:sSubPr>
                        <m:ctrlPr>
                          <a:rPr kumimoji="1" lang="en-US" altLang="zh-CN" sz="2600" i="1" dirty="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𝑐</m:t>
                        </m:r>
                      </m:e>
                      <m:sub>
                        <m:r>
                          <a:rPr kumimoji="1" lang="en-US" altLang="zh-CN" sz="2600" i="1" dirty="0">
                            <a:latin typeface="Cambria Math" panose="02040503050406030204" pitchFamily="18" charset="0"/>
                            <a:ea typeface="楷体" panose="02010609060101010101" pitchFamily="49" charset="-122"/>
                          </a:rPr>
                          <m:t>𝑖</m:t>
                        </m:r>
                      </m:sub>
                    </m:sSub>
                  </m:oMath>
                </a14:m>
                <a:r>
                  <a:rPr kumimoji="1" lang="zh-CN" altLang="en-US" sz="2600" dirty="0">
                    <a:ea typeface="楷体" panose="02010609060101010101" pitchFamily="49" charset="-122"/>
                  </a:rPr>
                  <a:t>元。现有一只可装载重量为</a:t>
                </a:r>
                <a14:m>
                  <m:oMath xmlns:m="http://schemas.openxmlformats.org/officeDocument/2006/math">
                    <m:r>
                      <a:rPr kumimoji="1" lang="en-US" altLang="zh-CN" sz="2600" b="0" i="1" dirty="0" smtClean="0">
                        <a:latin typeface="Cambria Math" panose="02040503050406030204" pitchFamily="18" charset="0"/>
                        <a:ea typeface="楷体" panose="02010609060101010101" pitchFamily="49" charset="-122"/>
                      </a:rPr>
                      <m:t>𝑤</m:t>
                    </m:r>
                  </m:oMath>
                </a14:m>
                <a:r>
                  <a:rPr kumimoji="1" lang="zh-CN" altLang="en-US" sz="2600" dirty="0">
                    <a:ea typeface="楷体" panose="02010609060101010101" pitchFamily="49" charset="-122"/>
                  </a:rPr>
                  <a:t>公斤的背包，求各种物品应各取多少件放入背包，使背包中物品的价值最高。</a:t>
                </a:r>
                <a:endParaRPr kumimoji="1" lang="zh-CN" altLang="en-US" sz="2600" dirty="0">
                  <a:ea typeface="楷体" panose="02010609060101010101" pitchFamily="49" charset="-122"/>
                </a:endParaRPr>
              </a:p>
              <a:p>
                <a:pPr indent="720090" algn="just">
                  <a:lnSpc>
                    <a:spcPct val="110000"/>
                  </a:lnSpc>
                  <a:spcBef>
                    <a:spcPts val="0"/>
                  </a:spcBef>
                  <a:spcAft>
                    <a:spcPts val="0"/>
                  </a:spcAft>
                  <a:defRPr/>
                </a:pPr>
                <a:r>
                  <a:rPr kumimoji="1" lang="zh-CN" altLang="en-US" sz="2600" dirty="0">
                    <a:ea typeface="楷体" panose="02010609060101010101" pitchFamily="49" charset="-122"/>
                  </a:rPr>
                  <a:t>用</a:t>
                </a:r>
                <a:r>
                  <a:rPr kumimoji="1" lang="zh-CN" altLang="en-US" sz="2600" b="1" dirty="0">
                    <a:solidFill>
                      <a:srgbClr val="FF0000"/>
                    </a:solidFill>
                    <a:ea typeface="楷体" panose="02010609060101010101" pitchFamily="49" charset="-122"/>
                  </a:rPr>
                  <a:t>整数规划</a:t>
                </a:r>
                <a:r>
                  <a:rPr kumimoji="1" lang="zh-CN" altLang="en-US" sz="2600" dirty="0">
                    <a:ea typeface="楷体" panose="02010609060101010101" pitchFamily="49" charset="-122"/>
                  </a:rPr>
                  <a:t>模型来描述。</a:t>
                </a:r>
                <a:endParaRPr kumimoji="1" lang="en-US" altLang="zh-CN" sz="2600" dirty="0">
                  <a:ea typeface="楷体" panose="02010609060101010101" pitchFamily="49" charset="-122"/>
                </a:endParaRPr>
              </a:p>
              <a:p>
                <a:pPr indent="720090" algn="just">
                  <a:lnSpc>
                    <a:spcPct val="110000"/>
                  </a:lnSpc>
                  <a:spcBef>
                    <a:spcPts val="0"/>
                  </a:spcBef>
                  <a:spcAft>
                    <a:spcPts val="0"/>
                  </a:spcAft>
                  <a:defRPr/>
                </a:pPr>
                <a:r>
                  <a:rPr kumimoji="1" lang="zh-CN" altLang="en-US" sz="2600" dirty="0">
                    <a:ea typeface="楷体" panose="02010609060101010101" pitchFamily="49" charset="-122"/>
                  </a:rPr>
                  <a:t>设</a:t>
                </a:r>
                <a14:m>
                  <m:oMath xmlns:m="http://schemas.openxmlformats.org/officeDocument/2006/math">
                    <m:sSub>
                      <m:sSubPr>
                        <m:ctrlPr>
                          <a:rPr kumimoji="1" lang="en-US" altLang="zh-CN" sz="2600" i="1" dirty="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𝑥</m:t>
                        </m:r>
                      </m:e>
                      <m:sub>
                        <m:r>
                          <a:rPr kumimoji="1" lang="en-US" altLang="zh-CN" sz="2600" i="1" dirty="0">
                            <a:latin typeface="Cambria Math" panose="02040503050406030204" pitchFamily="18" charset="0"/>
                            <a:ea typeface="楷体" panose="02010609060101010101" pitchFamily="49" charset="-122"/>
                          </a:rPr>
                          <m:t>𝑖</m:t>
                        </m:r>
                      </m:sub>
                    </m:sSub>
                  </m:oMath>
                </a14:m>
                <a:r>
                  <a:rPr kumimoji="1" lang="zh-CN" altLang="en-US" sz="2600" dirty="0">
                    <a:ea typeface="楷体" panose="02010609060101010101" pitchFamily="49" charset="-122"/>
                  </a:rPr>
                  <a:t>为第</a:t>
                </a:r>
                <a14:m>
                  <m:oMath xmlns:m="http://schemas.openxmlformats.org/officeDocument/2006/math">
                    <m:r>
                      <a:rPr kumimoji="1" lang="en-US" altLang="zh-CN" sz="2600" b="0" i="1" dirty="0" smtClean="0">
                        <a:latin typeface="Cambria Math" panose="02040503050406030204" pitchFamily="18" charset="0"/>
                        <a:ea typeface="楷体" panose="02010609060101010101" pitchFamily="49" charset="-122"/>
                      </a:rPr>
                      <m:t>𝑖</m:t>
                    </m:r>
                  </m:oMath>
                </a14:m>
                <a:r>
                  <a:rPr kumimoji="1" lang="zh-CN" altLang="en-US" sz="2600" dirty="0">
                    <a:ea typeface="楷体" panose="02010609060101010101" pitchFamily="49" charset="-122"/>
                  </a:rPr>
                  <a:t>种物品装入背包的件数</a:t>
                </a:r>
                <a14:m>
                  <m:oMath xmlns:m="http://schemas.openxmlformats.org/officeDocument/2006/math">
                    <m:r>
                      <a:rPr kumimoji="1" lang="en-US" altLang="zh-CN" sz="2600" i="1" dirty="0">
                        <a:latin typeface="Cambria Math" panose="02040503050406030204" pitchFamily="18" charset="0"/>
                        <a:ea typeface="楷体" panose="02010609060101010101" pitchFamily="49" charset="-122"/>
                      </a:rPr>
                      <m:t>𝑖</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0</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1</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2</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3</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𝑛</m:t>
                    </m:r>
                    <m:r>
                      <a:rPr kumimoji="1" lang="en-US" altLang="zh-CN" sz="2600" i="1" dirty="0">
                        <a:latin typeface="Cambria Math" panose="02040503050406030204" pitchFamily="18" charset="0"/>
                        <a:ea typeface="楷体" panose="02010609060101010101" pitchFamily="49" charset="-122"/>
                      </a:rPr>
                      <m:t> </m:t>
                    </m:r>
                  </m:oMath>
                </a14:m>
                <a:r>
                  <a:rPr kumimoji="1" lang="zh-CN" altLang="en-US" sz="2600" dirty="0">
                    <a:ea typeface="楷体" panose="02010609060101010101" pitchFamily="49" charset="-122"/>
                  </a:rPr>
                  <a:t>，背包中物品的总价值为</a:t>
                </a:r>
                <a14:m>
                  <m:oMath xmlns:m="http://schemas.openxmlformats.org/officeDocument/2006/math">
                    <m:r>
                      <a:rPr kumimoji="1" lang="en-US" altLang="zh-CN" sz="2600" b="0" i="1" dirty="0" smtClean="0">
                        <a:latin typeface="Cambria Math" panose="02040503050406030204" pitchFamily="18" charset="0"/>
                        <a:ea typeface="楷体" panose="02010609060101010101" pitchFamily="49" charset="-122"/>
                      </a:rPr>
                      <m:t>𝑧</m:t>
                    </m:r>
                  </m:oMath>
                </a14:m>
                <a:r>
                  <a:rPr kumimoji="1" lang="zh-CN" altLang="en-US" sz="2600" dirty="0">
                    <a:ea typeface="楷体" panose="02010609060101010101" pitchFamily="49" charset="-122"/>
                  </a:rPr>
                  <a:t>，则</a:t>
                </a:r>
                <a:endParaRPr kumimoji="1" lang="en-US" altLang="zh-CN" sz="2600" dirty="0">
                  <a:ea typeface="楷体" panose="02010609060101010101" pitchFamily="49" charset="-122"/>
                </a:endParaRPr>
              </a:p>
              <a:p>
                <a:pPr indent="720090" algn="just">
                  <a:lnSpc>
                    <a:spcPct val="110000"/>
                  </a:lnSpc>
                  <a:spcBef>
                    <a:spcPts val="0"/>
                  </a:spcBef>
                  <a:spcAft>
                    <a:spcPts val="0"/>
                  </a:spcAft>
                  <a:defRPr/>
                </a:pPr>
                <a14:m>
                  <m:oMathPara xmlns:m="http://schemas.openxmlformats.org/officeDocument/2006/math">
                    <m:oMathParaPr>
                      <m:jc m:val="centerGroup"/>
                    </m:oMathParaPr>
                    <m:oMath xmlns:m="http://schemas.openxmlformats.org/officeDocument/2006/math">
                      <m:func>
                        <m:funcPr>
                          <m:ctrlPr>
                            <a:rPr kumimoji="1" lang="en-US" altLang="zh-CN" sz="2600" b="0" i="1" smtClean="0">
                              <a:latin typeface="Cambria Math" panose="02040503050406030204" pitchFamily="18" charset="0"/>
                              <a:ea typeface="楷体" panose="02010609060101010101" pitchFamily="49" charset="-122"/>
                            </a:rPr>
                          </m:ctrlPr>
                        </m:funcPr>
                        <m:fName>
                          <m:r>
                            <m:rPr>
                              <m:sty m:val="p"/>
                            </m:rPr>
                            <a:rPr kumimoji="1" lang="en-US" altLang="zh-CN" sz="2600" b="0" i="0" smtClean="0">
                              <a:latin typeface="Cambria Math" panose="02040503050406030204" pitchFamily="18" charset="0"/>
                              <a:ea typeface="楷体" panose="02010609060101010101" pitchFamily="49" charset="-122"/>
                            </a:rPr>
                            <m:t>max</m:t>
                          </m:r>
                        </m:fName>
                        <m:e>
                          <m:r>
                            <a:rPr kumimoji="1" lang="en-US" altLang="zh-CN" sz="2600" b="0" i="1" smtClean="0">
                              <a:latin typeface="Cambria Math" panose="02040503050406030204" pitchFamily="18" charset="0"/>
                              <a:ea typeface="楷体" panose="02010609060101010101" pitchFamily="49" charset="-122"/>
                            </a:rPr>
                            <m:t>𝑧</m:t>
                          </m:r>
                        </m:e>
                      </m:func>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𝑐</m:t>
                          </m:r>
                        </m:e>
                        <m:sub>
                          <m:r>
                            <a:rPr kumimoji="1" lang="en-US" altLang="zh-CN" sz="2600" b="0" i="1" smtClean="0">
                              <a:latin typeface="Cambria Math" panose="02040503050406030204" pitchFamily="18" charset="0"/>
                              <a:ea typeface="楷体" panose="02010609060101010101" pitchFamily="49" charset="-122"/>
                            </a:rPr>
                            <m:t>1</m:t>
                          </m:r>
                        </m:sub>
                      </m:sSub>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1</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𝑐</m:t>
                          </m:r>
                        </m:e>
                        <m:sub>
                          <m:r>
                            <a:rPr kumimoji="1" lang="en-US" altLang="zh-CN" sz="2600" b="0" i="1" smtClean="0">
                              <a:latin typeface="Cambria Math" panose="02040503050406030204" pitchFamily="18" charset="0"/>
                              <a:ea typeface="楷体" panose="02010609060101010101" pitchFamily="49" charset="-122"/>
                            </a:rPr>
                            <m:t>2</m:t>
                          </m:r>
                        </m:sub>
                      </m:sSub>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2</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𝑐</m:t>
                          </m:r>
                        </m:e>
                        <m:sub>
                          <m:r>
                            <a:rPr kumimoji="1" lang="en-US" altLang="zh-CN" sz="2600" b="0" i="1" smtClean="0">
                              <a:latin typeface="Cambria Math" panose="02040503050406030204" pitchFamily="18" charset="0"/>
                              <a:ea typeface="楷体" panose="02010609060101010101" pitchFamily="49" charset="-122"/>
                            </a:rPr>
                            <m:t>𝑛</m:t>
                          </m:r>
                        </m:sub>
                      </m:sSub>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𝑛</m:t>
                          </m:r>
                        </m:sub>
                      </m:sSub>
                    </m:oMath>
                  </m:oMathPara>
                </a14:m>
                <a:endParaRPr kumimoji="1" lang="en-US" altLang="zh-CN" sz="2600" b="0" i="1" dirty="0">
                  <a:latin typeface="Cambria Math" panose="02040503050406030204" pitchFamily="18" charset="0"/>
                  <a:ea typeface="楷体" panose="02010609060101010101" pitchFamily="49" charset="-122"/>
                </a:endParaRPr>
              </a:p>
              <a:p>
                <a:pPr indent="720090" algn="just">
                  <a:lnSpc>
                    <a:spcPct val="110000"/>
                  </a:lnSpc>
                  <a:spcBef>
                    <a:spcPts val="0"/>
                  </a:spcBef>
                  <a:spcAft>
                    <a:spcPts val="0"/>
                  </a:spcAft>
                  <a:defRPr/>
                </a:pPr>
                <a14:m>
                  <m:oMathPara xmlns:m="http://schemas.openxmlformats.org/officeDocument/2006/math">
                    <m:oMathParaPr>
                      <m:jc m:val="centerGroup"/>
                    </m:oMathParaPr>
                    <m:oMath xmlns:m="http://schemas.openxmlformats.org/officeDocument/2006/math">
                      <m:r>
                        <a:rPr kumimoji="1" lang="en-US" altLang="zh-CN" sz="2600" b="0" i="1" smtClean="0">
                          <a:latin typeface="Cambria Math" panose="02040503050406030204" pitchFamily="18" charset="0"/>
                          <a:ea typeface="楷体" panose="02010609060101010101" pitchFamily="49" charset="-122"/>
                        </a:rPr>
                        <m:t>𝑠</m:t>
                      </m:r>
                      <m:r>
                        <a:rPr kumimoji="1" lang="en-US" altLang="zh-CN" sz="2600" b="0" i="1" smtClean="0">
                          <a:latin typeface="Cambria Math" panose="02040503050406030204" pitchFamily="18" charset="0"/>
                          <a:ea typeface="楷体" panose="02010609060101010101" pitchFamily="49" charset="-122"/>
                        </a:rPr>
                        <m:t>.</m:t>
                      </m:r>
                      <m:r>
                        <a:rPr kumimoji="1" lang="en-US" altLang="zh-CN" sz="2600" b="0" i="1" smtClean="0">
                          <a:latin typeface="Cambria Math" panose="02040503050406030204" pitchFamily="18" charset="0"/>
                          <a:ea typeface="楷体" panose="02010609060101010101" pitchFamily="49" charset="-122"/>
                        </a:rPr>
                        <m:t>𝑡</m:t>
                      </m:r>
                      <m:r>
                        <a:rPr kumimoji="1" lang="en-US" altLang="zh-CN" sz="2600" b="0" i="1" smtClean="0">
                          <a:latin typeface="Cambria Math" panose="02040503050406030204" pitchFamily="18" charset="0"/>
                          <a:ea typeface="楷体" panose="02010609060101010101" pitchFamily="49" charset="-122"/>
                        </a:rPr>
                        <m:t>. </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𝑤</m:t>
                          </m:r>
                        </m:e>
                        <m:sub>
                          <m:r>
                            <a:rPr kumimoji="1" lang="en-US" altLang="zh-CN" sz="2600" b="0" i="1" smtClean="0">
                              <a:latin typeface="Cambria Math" panose="02040503050406030204" pitchFamily="18" charset="0"/>
                              <a:ea typeface="楷体" panose="02010609060101010101" pitchFamily="49" charset="-122"/>
                            </a:rPr>
                            <m:t>1</m:t>
                          </m:r>
                        </m:sub>
                      </m:sSub>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1</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𝑤</m:t>
                          </m:r>
                        </m:e>
                        <m:sub>
                          <m:r>
                            <a:rPr kumimoji="1" lang="en-US" altLang="zh-CN" sz="2600" b="0" i="1" smtClean="0">
                              <a:latin typeface="Cambria Math" panose="02040503050406030204" pitchFamily="18" charset="0"/>
                              <a:ea typeface="楷体" panose="02010609060101010101" pitchFamily="49" charset="-122"/>
                            </a:rPr>
                            <m:t>2</m:t>
                          </m:r>
                        </m:sub>
                      </m:sSub>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2</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𝑤</m:t>
                          </m:r>
                        </m:e>
                        <m:sub>
                          <m:r>
                            <a:rPr kumimoji="1" lang="en-US" altLang="zh-CN" sz="2600" b="0" i="1" smtClean="0">
                              <a:latin typeface="Cambria Math" panose="02040503050406030204" pitchFamily="18" charset="0"/>
                              <a:ea typeface="楷体" panose="02010609060101010101" pitchFamily="49" charset="-122"/>
                            </a:rPr>
                            <m:t>𝑛</m:t>
                          </m:r>
                        </m:sub>
                      </m:sSub>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𝑛</m:t>
                          </m:r>
                        </m:sub>
                      </m:sSub>
                      <m:r>
                        <a:rPr kumimoji="1" lang="en-US" altLang="zh-CN" sz="2600" b="0" i="1" smtClean="0">
                          <a:latin typeface="Cambria Math" panose="02040503050406030204" pitchFamily="18" charset="0"/>
                          <a:ea typeface="楷体" panose="02010609060101010101" pitchFamily="49" charset="-122"/>
                        </a:rPr>
                        <m:t>≤</m:t>
                      </m:r>
                      <m:r>
                        <a:rPr kumimoji="1" lang="en-US" altLang="zh-CN" sz="2600" b="0" i="1" smtClean="0">
                          <a:latin typeface="Cambria Math" panose="02040503050406030204" pitchFamily="18" charset="0"/>
                          <a:ea typeface="楷体" panose="02010609060101010101" pitchFamily="49" charset="-122"/>
                        </a:rPr>
                        <m:t>𝑤</m:t>
                      </m:r>
                      <m:r>
                        <a:rPr kumimoji="1" lang="en-US" altLang="zh-CN" sz="2600" b="0" i="1" smtClean="0">
                          <a:latin typeface="Cambria Math" panose="02040503050406030204" pitchFamily="18" charset="0"/>
                          <a:ea typeface="楷体" panose="02010609060101010101" pitchFamily="49" charset="-122"/>
                        </a:rPr>
                        <m:t>,</m:t>
                      </m:r>
                    </m:oMath>
                  </m:oMathPara>
                </a14:m>
                <a:endParaRPr kumimoji="1" lang="en-US" altLang="zh-CN" sz="2600" b="0" i="1" dirty="0">
                  <a:latin typeface="Cambria Math" panose="02040503050406030204" pitchFamily="18" charset="0"/>
                  <a:ea typeface="楷体" panose="02010609060101010101" pitchFamily="49" charset="-122"/>
                </a:endParaRPr>
              </a:p>
              <a:p>
                <a:pPr indent="720090" algn="just">
                  <a:lnSpc>
                    <a:spcPct val="110000"/>
                  </a:lnSpc>
                  <a:spcBef>
                    <a:spcPts val="0"/>
                  </a:spcBef>
                  <a:spcAft>
                    <a:spcPts val="0"/>
                  </a:spcAft>
                  <a:defRPr/>
                </a:pPr>
                <a14:m>
                  <m:oMathPara xmlns:m="http://schemas.openxmlformats.org/officeDocument/2006/math">
                    <m:oMathParaPr>
                      <m:jc m:val="centerGroup"/>
                    </m:oMathParaPr>
                    <m:oMath xmlns:m="http://schemas.openxmlformats.org/officeDocument/2006/math">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1</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2</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𝑛</m:t>
                          </m:r>
                        </m:sub>
                      </m:sSub>
                      <m:r>
                        <a:rPr kumimoji="1" lang="en-US" altLang="zh-CN" sz="2600" b="0" i="1" smtClean="0">
                          <a:latin typeface="Cambria Math" panose="02040503050406030204" pitchFamily="18" charset="0"/>
                          <a:ea typeface="楷体" panose="02010609060101010101" pitchFamily="49" charset="-122"/>
                        </a:rPr>
                        <m:t>≥</m:t>
                      </m:r>
                      <m:r>
                        <a:rPr kumimoji="1" lang="en-US" altLang="zh-CN" sz="2600" b="0" i="1" smtClean="0">
                          <a:latin typeface="Cambria Math" panose="02040503050406030204" pitchFamily="18" charset="0"/>
                          <a:ea typeface="楷体" panose="02010609060101010101" pitchFamily="49" charset="-122"/>
                        </a:rPr>
                        <m:t>0</m:t>
                      </m:r>
                      <m:r>
                        <a:rPr kumimoji="1" lang="en-US" altLang="zh-CN" sz="2600" b="0" i="1" smtClean="0">
                          <a:latin typeface="Cambria Math" panose="02040503050406030204" pitchFamily="18" charset="0"/>
                          <a:ea typeface="楷体" panose="02010609060101010101" pitchFamily="49" charset="-122"/>
                        </a:rPr>
                        <m:t> </m:t>
                      </m:r>
                      <m:r>
                        <a:rPr kumimoji="1" lang="zh-CN" altLang="en-US" sz="2600" i="1">
                          <a:latin typeface="Cambria Math" panose="02040503050406030204" pitchFamily="18" charset="0"/>
                          <a:ea typeface="楷体" panose="02010609060101010101" pitchFamily="49" charset="-122"/>
                        </a:rPr>
                        <m:t>且为</m:t>
                      </m:r>
                      <m:r>
                        <a:rPr kumimoji="1" lang="zh-CN" altLang="en-US" sz="2600" i="1" smtClean="0">
                          <a:latin typeface="Cambria Math" panose="02040503050406030204" pitchFamily="18" charset="0"/>
                          <a:ea typeface="楷体" panose="02010609060101010101" pitchFamily="49" charset="-122"/>
                        </a:rPr>
                        <m:t>整</m:t>
                      </m:r>
                      <m:r>
                        <a:rPr kumimoji="1" lang="zh-CN" altLang="en-US" sz="2600" i="1">
                          <a:latin typeface="Cambria Math" panose="02040503050406030204" pitchFamily="18" charset="0"/>
                          <a:ea typeface="楷体" panose="02010609060101010101" pitchFamily="49" charset="-122"/>
                        </a:rPr>
                        <m:t>数</m:t>
                      </m:r>
                    </m:oMath>
                  </m:oMathPara>
                </a14:m>
                <a:endParaRPr kumimoji="1" lang="en-US" altLang="zh-CN" sz="2600" dirty="0">
                  <a:ea typeface="楷体" panose="02010609060101010101" pitchFamily="49" charset="-122"/>
                </a:endParaRPr>
              </a:p>
            </p:txBody>
          </p:sp>
        </mc:Choice>
        <mc:Fallback>
          <p:sp>
            <p:nvSpPr>
              <p:cNvPr id="15373" name="Rectangle 3"/>
              <p:cNvSpPr>
                <a:spLocks noRot="1" noChangeAspect="1" noMove="1" noResize="1" noEditPoints="1" noAdjustHandles="1" noChangeArrowheads="1" noChangeShapeType="1" noTextEdit="1"/>
              </p:cNvSpPr>
              <p:nvPr/>
            </p:nvSpPr>
            <p:spPr bwMode="auto">
              <a:xfrm>
                <a:off x="1738312" y="1052736"/>
                <a:ext cx="8715375" cy="5111080"/>
              </a:xfrm>
              <a:prstGeom prst="rect">
                <a:avLst/>
              </a:prstGeom>
              <a:blipFill rotWithShape="1">
                <a:blip r:embed="rId1"/>
                <a:stretch>
                  <a:fillRect l="-4" t="-11" r="4" b="10"/>
                </a:stretch>
              </a:blipFill>
              <a:ln w="9525">
                <a:noFill/>
                <a:miter lim="800000"/>
              </a:ln>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5235" name="Rectangle 3"/>
              <p:cNvSpPr>
                <a:spLocks noChangeArrowheads="1"/>
              </p:cNvSpPr>
              <p:nvPr/>
            </p:nvSpPr>
            <p:spPr bwMode="auto">
              <a:xfrm>
                <a:off x="1580515" y="1208405"/>
                <a:ext cx="9030335" cy="4354830"/>
              </a:xfrm>
              <a:prstGeom prst="rect">
                <a:avLst/>
              </a:prstGeom>
              <a:noFill/>
              <a:ln w="9525">
                <a:noFill/>
                <a:miter lim="800000"/>
              </a:ln>
            </p:spPr>
            <p:txBody>
              <a:bodyPr/>
              <a:lstStyle/>
              <a:p>
                <a:pPr marL="342900" algn="just">
                  <a:lnSpc>
                    <a:spcPct val="120000"/>
                  </a:lnSpc>
                  <a:spcBef>
                    <a:spcPts val="300"/>
                  </a:spcBef>
                  <a:spcAft>
                    <a:spcPts val="300"/>
                  </a:spcAft>
                  <a:defRPr/>
                </a:pPr>
                <a:r>
                  <a:rPr kumimoji="1" lang="zh-CN" altLang="en-US" sz="2400" dirty="0">
                    <a:ea typeface="楷体" panose="02010609060101010101" pitchFamily="49" charset="-122"/>
                  </a:rPr>
                  <a:t>用</a:t>
                </a:r>
                <a:r>
                  <a:rPr kumimoji="1" lang="zh-CN" altLang="en-US" sz="2400" b="1" dirty="0">
                    <a:solidFill>
                      <a:srgbClr val="FF0000"/>
                    </a:solidFill>
                    <a:ea typeface="楷体" panose="02010609060101010101" pitchFamily="49" charset="-122"/>
                  </a:rPr>
                  <a:t>动态规划</a:t>
                </a:r>
                <a:r>
                  <a:rPr kumimoji="1" lang="zh-CN" altLang="en-US" sz="2400" dirty="0">
                    <a:ea typeface="楷体" panose="02010609060101010101" pitchFamily="49" charset="-122"/>
                  </a:rPr>
                  <a:t>方法解：设</a:t>
                </a:r>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阶段变量</a:t>
                </a:r>
                <a14:m>
                  <m:oMath xmlns:m="http://schemas.openxmlformats.org/officeDocument/2006/math">
                    <m:r>
                      <a:rPr kumimoji="1" lang="en-US" altLang="zh-CN" sz="2400" b="1" i="1" dirty="0" smtClean="0">
                        <a:solidFill>
                          <a:srgbClr val="FF0000"/>
                        </a:solidFill>
                        <a:latin typeface="Cambria Math" panose="02040503050406030204" pitchFamily="18" charset="0"/>
                        <a:ea typeface="楷体" panose="02010609060101010101" pitchFamily="49" charset="-122"/>
                      </a:rPr>
                      <m:t>𝒌</m:t>
                    </m:r>
                  </m:oMath>
                </a14:m>
                <a:r>
                  <a:rPr kumimoji="1" lang="zh-CN" altLang="en-US" sz="2400" dirty="0">
                    <a:ea typeface="楷体" panose="02010609060101010101" pitchFamily="49" charset="-122"/>
                  </a:rPr>
                  <a:t>：第</a:t>
                </a:r>
                <a14:m>
                  <m:oMath xmlns:m="http://schemas.openxmlformats.org/officeDocument/2006/math">
                    <m:r>
                      <a:rPr kumimoji="1" lang="en-US" altLang="zh-CN" sz="2400" b="1" i="1" dirty="0" smtClean="0">
                        <a:solidFill>
                          <a:schemeClr val="tx1"/>
                        </a:solidFill>
                        <a:latin typeface="Cambria Math" panose="02040503050406030204" pitchFamily="18" charset="0"/>
                        <a:ea typeface="楷体" panose="02010609060101010101" pitchFamily="49" charset="-122"/>
                      </a:rPr>
                      <m:t>𝒌</m:t>
                    </m:r>
                  </m:oMath>
                </a14:m>
                <a:r>
                  <a:rPr kumimoji="1" lang="zh-CN" altLang="en-US" sz="2400" dirty="0">
                    <a:ea typeface="楷体" panose="02010609060101010101" pitchFamily="49" charset="-122"/>
                  </a:rPr>
                  <a:t>次装载第</a:t>
                </a:r>
                <a14:m>
                  <m:oMath xmlns:m="http://schemas.openxmlformats.org/officeDocument/2006/math">
                    <m:r>
                      <a:rPr kumimoji="1" lang="en-US" altLang="zh-CN" sz="2400" b="1" i="1" dirty="0" smtClean="0">
                        <a:solidFill>
                          <a:schemeClr val="tx1"/>
                        </a:solidFill>
                        <a:latin typeface="Cambria Math" panose="02040503050406030204" pitchFamily="18" charset="0"/>
                        <a:ea typeface="楷体" panose="02010609060101010101" pitchFamily="49" charset="-122"/>
                      </a:rPr>
                      <m:t>𝒌</m:t>
                    </m:r>
                  </m:oMath>
                </a14:m>
                <a:r>
                  <a:rPr kumimoji="1" lang="zh-CN" altLang="en-US" sz="2400" dirty="0">
                    <a:ea typeface="楷体" panose="02010609060101010101" pitchFamily="49" charset="-122"/>
                  </a:rPr>
                  <a:t>种物品</a:t>
                </a:r>
                <a:r>
                  <a:rPr kumimoji="1" lang="en-US" altLang="zh-CN" sz="2400" dirty="0">
                    <a:ea typeface="楷体" panose="02010609060101010101" pitchFamily="49" charset="-122"/>
                  </a:rPr>
                  <a:t>,</a:t>
                </a:r>
                <a14:m>
                  <m:oMath xmlns:m="http://schemas.openxmlformats.org/officeDocument/2006/math">
                    <m:r>
                      <a:rPr kumimoji="1" lang="en-US" altLang="zh-CN" sz="2400" b="0" i="1" smtClean="0">
                        <a:latin typeface="Cambria Math" panose="02040503050406030204" pitchFamily="18" charset="0"/>
                        <a:ea typeface="楷体" panose="02010609060101010101" pitchFamily="49" charset="-122"/>
                      </a:rPr>
                      <m:t>𝑘</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2</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𝑛</m:t>
                    </m:r>
                  </m:oMath>
                </a14:m>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状态变量</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sub>
                    </m:sSub>
                  </m:oMath>
                </a14:m>
                <a:r>
                  <a:rPr kumimoji="1" lang="zh-CN" altLang="en-US" sz="2400" dirty="0">
                    <a:ea typeface="楷体" panose="02010609060101010101" pitchFamily="49" charset="-122"/>
                  </a:rPr>
                  <a:t>：第</a:t>
                </a:r>
                <a14:m>
                  <m:oMath xmlns:m="http://schemas.openxmlformats.org/officeDocument/2006/math">
                    <m:r>
                      <a:rPr kumimoji="1" lang="en-US" altLang="zh-CN" sz="2400" i="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次装载时背包还可以装载的重量；</a:t>
                </a:r>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决策变量</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i="1" dirty="0">
                            <a:latin typeface="Cambria Math" panose="02040503050406030204" pitchFamily="18" charset="0"/>
                            <a:ea typeface="楷体" panose="02010609060101010101" pitchFamily="49" charset="-122"/>
                          </a:rPr>
                          <m:t>𝑘</m:t>
                        </m:r>
                      </m:sub>
                    </m:sSub>
                    <m:r>
                      <a:rPr kumimoji="1" lang="en-US" altLang="zh-CN" sz="2400" i="1" dirty="0">
                        <a:latin typeface="Cambria Math" panose="02040503050406030204" pitchFamily="18" charset="0"/>
                        <a:ea typeface="楷体" panose="02010609060101010101" pitchFamily="49" charset="-122"/>
                      </a:rPr>
                      <m:t> </m:t>
                    </m:r>
                  </m:oMath>
                </a14:m>
                <a:r>
                  <a:rPr kumimoji="1" lang="zh-CN" altLang="en-US" sz="2400" dirty="0">
                    <a:ea typeface="楷体" panose="02010609060101010101" pitchFamily="49" charset="-122"/>
                  </a:rPr>
                  <a:t>：第</a:t>
                </a:r>
                <a14:m>
                  <m:oMath xmlns:m="http://schemas.openxmlformats.org/officeDocument/2006/math">
                    <m:r>
                      <a:rPr kumimoji="1" lang="en-US" altLang="zh-CN" sz="2400" i="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次装载第</a:t>
                </a:r>
                <a14:m>
                  <m:oMath xmlns:m="http://schemas.openxmlformats.org/officeDocument/2006/math">
                    <m:r>
                      <a:rPr kumimoji="1" lang="en-US" altLang="zh-CN" sz="2400" i="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种物品的件数；</a:t>
                </a:r>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决策允许集合</a:t>
                </a:r>
                <a:r>
                  <a:rPr kumimoji="1" lang="zh-CN" altLang="en-US" sz="2400" dirty="0">
                    <a:ea typeface="楷体" panose="02010609060101010101" pitchFamily="49" charset="-122"/>
                  </a:rPr>
                  <a:t>：</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𝐷</m:t>
                        </m:r>
                      </m:e>
                      <m:sub>
                        <m:r>
                          <a:rPr kumimoji="1" lang="en-US" altLang="zh-CN" sz="2400" b="0" i="1" dirty="0" smtClean="0">
                            <a:latin typeface="Cambria Math" panose="02040503050406030204" pitchFamily="18" charset="0"/>
                            <a:ea typeface="楷体" panose="02010609060101010101" pitchFamily="49" charset="-122"/>
                          </a:rPr>
                          <m:t>𝑘</m:t>
                        </m:r>
                      </m:sub>
                    </m:sSub>
                    <m:d>
                      <m:dPr>
                        <m:ctrlPr>
                          <a:rPr kumimoji="1" lang="en-US" altLang="zh-CN" sz="2400" b="0" i="1" dirty="0" smtClean="0">
                            <a:latin typeface="Cambria Math" panose="02040503050406030204" pitchFamily="18" charset="0"/>
                            <a:ea typeface="楷体" panose="02010609060101010101" pitchFamily="49" charset="-122"/>
                          </a:rPr>
                        </m:ctrlPr>
                      </m:dPr>
                      <m:e>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sub>
                        </m:sSub>
                      </m:e>
                    </m:d>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0</m:t>
                    </m:r>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sub>
                    </m:sSub>
                    <m:r>
                      <a:rPr kumimoji="1" lang="en-US" altLang="zh-CN" sz="2400" b="0" i="1" dirty="0" smtClean="0">
                        <a:latin typeface="Cambria Math" panose="02040503050406030204" pitchFamily="18" charset="0"/>
                        <a:ea typeface="楷体" panose="02010609060101010101" pitchFamily="49" charset="-122"/>
                      </a:rPr>
                      <m:t>≤</m:t>
                    </m:r>
                    <m:f>
                      <m:fPr>
                        <m:ctrlPr>
                          <a:rPr kumimoji="1" lang="en-US" altLang="zh-CN" sz="2400" b="0" i="1" dirty="0" smtClean="0">
                            <a:latin typeface="Cambria Math" panose="02040503050406030204" pitchFamily="18" charset="0"/>
                            <a:ea typeface="楷体" panose="02010609060101010101" pitchFamily="49" charset="-122"/>
                          </a:rPr>
                        </m:ctrlPr>
                      </m:fPr>
                      <m:num>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sub>
                        </m:sSub>
                      </m:num>
                      <m:den>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𝑤</m:t>
                            </m:r>
                          </m:e>
                          <m:sub>
                            <m:r>
                              <a:rPr kumimoji="1" lang="en-US" altLang="zh-CN" sz="2400" b="0" i="1" dirty="0" smtClean="0">
                                <a:latin typeface="Cambria Math" panose="02040503050406030204" pitchFamily="18" charset="0"/>
                                <a:ea typeface="楷体" panose="02010609060101010101" pitchFamily="49" charset="-122"/>
                              </a:rPr>
                              <m:t>𝑘</m:t>
                            </m:r>
                          </m:sub>
                        </m:sSub>
                      </m:den>
                    </m:f>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0</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2</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𝑛</m:t>
                    </m:r>
                    <m:r>
                      <a:rPr kumimoji="1" lang="en-US" altLang="zh-CN" sz="2400" b="0" i="1" dirty="0" smtClean="0">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a:t>
                </a:r>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状态转移方程</a:t>
                </a:r>
                <a:r>
                  <a:rPr kumimoji="1" lang="zh-CN" altLang="en-US" sz="2400" dirty="0">
                    <a:ea typeface="楷体" panose="02010609060101010101" pitchFamily="49" charset="-122"/>
                  </a:rPr>
                  <a:t>：</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sub>
                    </m:sSub>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𝑤</m:t>
                        </m:r>
                      </m:e>
                      <m:sub>
                        <m:r>
                          <a:rPr kumimoji="1" lang="en-US" altLang="zh-CN" sz="2400" b="0" i="1" dirty="0" smtClean="0">
                            <a:latin typeface="Cambria Math" panose="02040503050406030204" pitchFamily="18" charset="0"/>
                            <a:ea typeface="楷体" panose="02010609060101010101" pitchFamily="49" charset="-122"/>
                          </a:rPr>
                          <m:t>𝑘</m:t>
                        </m:r>
                      </m:sub>
                    </m:sSub>
                  </m:oMath>
                </a14:m>
                <a:r>
                  <a:rPr kumimoji="1" lang="zh-CN" altLang="en-US" sz="2400" dirty="0">
                    <a:ea typeface="楷体" panose="02010609060101010101" pitchFamily="49" charset="-122"/>
                  </a:rPr>
                  <a:t>；</a:t>
                </a:r>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阶段指标</a:t>
                </a:r>
                <a:r>
                  <a:rPr kumimoji="1" lang="zh-CN" altLang="en-US" sz="2400" dirty="0">
                    <a:ea typeface="楷体" panose="02010609060101010101" pitchFamily="49" charset="-122"/>
                  </a:rPr>
                  <a:t>：</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𝑣</m:t>
                        </m:r>
                      </m:e>
                      <m:sub>
                        <m:r>
                          <a:rPr kumimoji="1" lang="en-US" altLang="zh-CN" sz="2400" b="0" i="1" dirty="0" smtClean="0">
                            <a:latin typeface="Cambria Math" panose="02040503050406030204" pitchFamily="18" charset="0"/>
                            <a:ea typeface="楷体" panose="02010609060101010101" pitchFamily="49" charset="-122"/>
                          </a:rPr>
                          <m:t>𝑘</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𝑐</m:t>
                            </m:r>
                          </m:e>
                          <m:sub>
                            <m:r>
                              <a:rPr kumimoji="1" lang="en-US" altLang="zh-CN" sz="2400" b="0" i="1" dirty="0" smtClean="0">
                                <a:latin typeface="Cambria Math" panose="02040503050406030204" pitchFamily="18" charset="0"/>
                                <a:ea typeface="楷体" panose="02010609060101010101" pitchFamily="49" charset="-122"/>
                              </a:rPr>
                              <m:t>𝑘</m:t>
                            </m:r>
                          </m:sub>
                        </m:sSub>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sub>
                    </m:sSub>
                  </m:oMath>
                </a14:m>
                <a:r>
                  <a:rPr kumimoji="1" lang="zh-CN" altLang="en-US" sz="2400" dirty="0">
                    <a:ea typeface="楷体" panose="02010609060101010101" pitchFamily="49" charset="-122"/>
                  </a:rPr>
                  <a:t>；</a:t>
                </a:r>
                <a:endParaRPr kumimoji="1" lang="zh-CN" altLang="en-US" sz="2400" dirty="0">
                  <a:ea typeface="楷体" panose="02010609060101010101" pitchFamily="49" charset="-122"/>
                </a:endParaRPr>
              </a:p>
            </p:txBody>
          </p:sp>
        </mc:Choice>
        <mc:Fallback>
          <p:sp>
            <p:nvSpPr>
              <p:cNvPr id="95235" name="Rectangle 3"/>
              <p:cNvSpPr>
                <a:spLocks noRot="1" noChangeAspect="1" noMove="1" noResize="1" noEditPoints="1" noAdjustHandles="1" noChangeArrowheads="1" noChangeShapeType="1" noTextEdit="1"/>
              </p:cNvSpPr>
              <p:nvPr/>
            </p:nvSpPr>
            <p:spPr bwMode="auto">
              <a:xfrm>
                <a:off x="1580515" y="1208405"/>
                <a:ext cx="9030335" cy="4354830"/>
              </a:xfrm>
              <a:prstGeom prst="rect">
                <a:avLst/>
              </a:prstGeom>
              <a:blipFill rotWithShape="1">
                <a:blip r:embed="rId1"/>
                <a:stretch>
                  <a:fillRect/>
                </a:stretch>
              </a:blipFill>
              <a:ln w="9525">
                <a:noFill/>
                <a:miter lim="800000"/>
              </a:ln>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5235" name="Rectangle 3"/>
              <p:cNvSpPr>
                <a:spLocks noChangeArrowheads="1"/>
              </p:cNvSpPr>
              <p:nvPr/>
            </p:nvSpPr>
            <p:spPr bwMode="auto">
              <a:xfrm>
                <a:off x="1580515" y="1398270"/>
                <a:ext cx="9030335" cy="4242435"/>
              </a:xfrm>
              <a:prstGeom prst="rect">
                <a:avLst/>
              </a:prstGeom>
              <a:noFill/>
              <a:ln w="9525">
                <a:noFill/>
                <a:miter lim="800000"/>
              </a:ln>
            </p:spPr>
            <p:txBody>
              <a:bodyPr/>
              <a:lstStyle/>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最优过程指标函数</a:t>
                </a:r>
                <a14:m>
                  <m:oMath xmlns:m="http://schemas.openxmlformats.org/officeDocument/2006/math">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rPr>
                        </m:ctrlPr>
                      </m:sSubPr>
                      <m:e>
                        <m:r>
                          <a:rPr kumimoji="1" lang="en-US" altLang="zh-CN" sz="2400" b="1" i="1" dirty="0" smtClean="0">
                            <a:solidFill>
                              <a:srgbClr val="FF0000"/>
                            </a:solidFill>
                            <a:latin typeface="Cambria Math" panose="02040503050406030204" pitchFamily="18" charset="0"/>
                            <a:ea typeface="楷体" panose="02010609060101010101" pitchFamily="49" charset="-122"/>
                          </a:rPr>
                          <m:t>𝒇</m:t>
                        </m:r>
                      </m:e>
                      <m:sub>
                        <m:r>
                          <a:rPr kumimoji="1" lang="en-US" altLang="zh-CN" sz="2400" b="1" i="1" dirty="0" smtClean="0">
                            <a:solidFill>
                              <a:srgbClr val="FF0000"/>
                            </a:solidFill>
                            <a:latin typeface="Cambria Math" panose="02040503050406030204" pitchFamily="18" charset="0"/>
                            <a:ea typeface="楷体" panose="02010609060101010101" pitchFamily="49" charset="-122"/>
                          </a:rPr>
                          <m:t>𝒌</m:t>
                        </m:r>
                      </m:sub>
                    </m:sSub>
                    <m:r>
                      <a:rPr kumimoji="1" lang="en-US" altLang="zh-CN" sz="2400" b="1" i="1" dirty="0" smtClean="0">
                        <a:solidFill>
                          <a:srgbClr val="FF0000"/>
                        </a:solidFill>
                        <a:latin typeface="Cambria Math" panose="02040503050406030204" pitchFamily="18" charset="0"/>
                        <a:ea typeface="楷体" panose="02010609060101010101" pitchFamily="49" charset="-122"/>
                      </a:rPr>
                      <m:t>(</m:t>
                    </m:r>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rPr>
                        </m:ctrlPr>
                      </m:sSubPr>
                      <m:e>
                        <m:r>
                          <a:rPr kumimoji="1" lang="en-US" altLang="zh-CN" sz="2400" b="1" i="1" dirty="0" smtClean="0">
                            <a:solidFill>
                              <a:srgbClr val="FF0000"/>
                            </a:solidFill>
                            <a:latin typeface="Cambria Math" panose="02040503050406030204" pitchFamily="18" charset="0"/>
                            <a:ea typeface="楷体" panose="02010609060101010101" pitchFamily="49" charset="-122"/>
                          </a:rPr>
                          <m:t>𝒔</m:t>
                        </m:r>
                      </m:e>
                      <m:sub>
                        <m:r>
                          <a:rPr kumimoji="1" lang="en-US" altLang="zh-CN" sz="2400" b="1" i="1" dirty="0" smtClean="0">
                            <a:solidFill>
                              <a:srgbClr val="FF0000"/>
                            </a:solidFill>
                            <a:latin typeface="Cambria Math" panose="02040503050406030204" pitchFamily="18" charset="0"/>
                            <a:ea typeface="楷体" panose="02010609060101010101" pitchFamily="49" charset="-122"/>
                          </a:rPr>
                          <m:t>𝒌</m:t>
                        </m:r>
                      </m:sub>
                    </m:sSub>
                    <m:r>
                      <a:rPr kumimoji="1" lang="en-US" altLang="zh-CN" sz="2400" b="1" i="1" dirty="0" smtClean="0">
                        <a:solidFill>
                          <a:srgbClr val="FF0000"/>
                        </a:solidFill>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：第</a:t>
                </a:r>
                <a14:m>
                  <m:oMath xmlns:m="http://schemas.openxmlformats.org/officeDocument/2006/math">
                    <m:r>
                      <a:rPr kumimoji="1" lang="en-US" altLang="zh-CN" sz="2400" i="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到</a:t>
                </a:r>
                <a14:m>
                  <m:oMath xmlns:m="http://schemas.openxmlformats.org/officeDocument/2006/math">
                    <m:r>
                      <a:rPr kumimoji="1" lang="en-US" altLang="zh-CN" sz="2400" b="0" i="1" dirty="0" smtClean="0">
                        <a:latin typeface="Cambria Math" panose="02040503050406030204" pitchFamily="18" charset="0"/>
                        <a:ea typeface="楷体" panose="02010609060101010101" pitchFamily="49" charset="-122"/>
                      </a:rPr>
                      <m:t>𝑛</m:t>
                    </m:r>
                  </m:oMath>
                </a14:m>
                <a:r>
                  <a:rPr kumimoji="1" lang="zh-CN" altLang="en-US" sz="2400" dirty="0">
                    <a:ea typeface="楷体" panose="02010609060101010101" pitchFamily="49" charset="-122"/>
                  </a:rPr>
                  <a:t>阶段容许装入物品的最大价值；</a:t>
                </a:r>
                <a:endParaRPr kumimoji="1" lang="zh-CN" altLang="en-US"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递推方程</a:t>
                </a:r>
                <a:r>
                  <a:rPr kumimoji="1" lang="zh-CN" altLang="en-US" sz="2400" dirty="0">
                    <a:ea typeface="楷体" panose="02010609060101010101" pitchFamily="49" charset="-122"/>
                  </a:rPr>
                  <a:t>：</a:t>
                </a:r>
                <a14:m>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𝑘</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sub>
                        </m:sSub>
                      </m:e>
                    </m:d>
                    <m:r>
                      <a:rPr kumimoji="1" lang="en-US" altLang="zh-CN" sz="2400" b="0" i="1" smtClean="0">
                        <a:latin typeface="Cambria Math" panose="02040503050406030204" pitchFamily="18" charset="0"/>
                        <a:ea typeface="楷体" panose="02010609060101010101" pitchFamily="49" charset="-122"/>
                      </a:rPr>
                      <m:t>=</m:t>
                    </m:r>
                    <m:func>
                      <m:funcPr>
                        <m:ctrlPr>
                          <a:rPr kumimoji="1" lang="en-US" altLang="zh-CN" sz="2400" b="0" i="1" smtClean="0">
                            <a:latin typeface="Cambria Math" panose="02040503050406030204" pitchFamily="18" charset="0"/>
                            <a:ea typeface="楷体" panose="02010609060101010101" pitchFamily="49" charset="-122"/>
                          </a:rPr>
                        </m:ctrlPr>
                      </m:funcPr>
                      <m:fName>
                        <m:limLow>
                          <m:limLowPr>
                            <m:ctrlPr>
                              <a:rPr kumimoji="1" lang="en-US" altLang="zh-CN" sz="2400" b="0" i="1" smtClean="0">
                                <a:latin typeface="Cambria Math" panose="02040503050406030204" pitchFamily="18" charset="0"/>
                                <a:ea typeface="楷体" panose="02010609060101010101" pitchFamily="49" charset="-122"/>
                              </a:rPr>
                            </m:ctrlPr>
                          </m:limLowPr>
                          <m:e>
                            <m:r>
                              <m:rPr>
                                <m:sty m:val="p"/>
                              </m:rPr>
                              <a:rPr kumimoji="1" lang="en-US" altLang="zh-CN" sz="2400" b="0" i="0" smtClean="0">
                                <a:latin typeface="Cambria Math" panose="02040503050406030204" pitchFamily="18" charset="0"/>
                                <a:ea typeface="楷体" panose="02010609060101010101" pitchFamily="49" charset="-122"/>
                              </a:rPr>
                              <m:t>max</m:t>
                            </m:r>
                          </m:e>
                          <m:lim>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lim>
                        </m:limLow>
                      </m:fName>
                      <m:e>
                        <m:d>
                          <m:dPr>
                            <m:begChr m:val="{"/>
                            <m:endChr m:val="}"/>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𝑐</m:t>
                                </m:r>
                              </m:e>
                              <m:sub>
                                <m:r>
                                  <a:rPr kumimoji="1" lang="en-US" altLang="zh-CN" sz="2400" i="1">
                                    <a:latin typeface="Cambria Math" panose="02040503050406030204" pitchFamily="18" charset="0"/>
                                    <a:ea typeface="楷体" panose="02010609060101010101" pitchFamily="49" charset="-122"/>
                                  </a:rPr>
                                  <m:t>𝑘</m:t>
                                </m:r>
                              </m:sub>
                            </m:sSub>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𝑘</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𝑘</m:t>
                                </m:r>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1</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𝑘</m:t>
                                    </m:r>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1</m:t>
                                    </m:r>
                                  </m:sub>
                                </m:sSub>
                              </m:e>
                            </m:d>
                          </m:e>
                        </m:d>
                        <m:r>
                          <a:rPr kumimoji="1" lang="en-US" altLang="zh-CN" sz="2400" b="0" i="1" smtClean="0">
                            <a:latin typeface="Cambria Math" panose="02040503050406030204" pitchFamily="18" charset="0"/>
                            <a:ea typeface="楷体" panose="02010609060101010101" pitchFamily="49" charset="-122"/>
                          </a:rPr>
                          <m:t>=</m:t>
                        </m:r>
                        <m:func>
                          <m:funcPr>
                            <m:ctrlPr>
                              <a:rPr kumimoji="1" lang="en-US" altLang="zh-CN" sz="2400" b="0" i="1" smtClean="0">
                                <a:latin typeface="Cambria Math" panose="02040503050406030204" pitchFamily="18" charset="0"/>
                                <a:ea typeface="楷体" panose="02010609060101010101" pitchFamily="49" charset="-122"/>
                              </a:rPr>
                            </m:ctrlPr>
                          </m:funcPr>
                          <m:fName>
                            <m:limLow>
                              <m:limLowPr>
                                <m:ctrlPr>
                                  <a:rPr kumimoji="1" lang="en-US" altLang="zh-CN" sz="2400" b="0" i="1" smtClean="0">
                                    <a:latin typeface="Cambria Math" panose="02040503050406030204" pitchFamily="18" charset="0"/>
                                    <a:ea typeface="楷体" panose="02010609060101010101" pitchFamily="49" charset="-122"/>
                                  </a:rPr>
                                </m:ctrlPr>
                              </m:limLowPr>
                              <m:e>
                                <m:r>
                                  <m:rPr>
                                    <m:sty m:val="p"/>
                                  </m:rPr>
                                  <a:rPr kumimoji="1" lang="en-US" altLang="zh-CN" sz="2400" b="0" i="0" smtClean="0">
                                    <a:latin typeface="Cambria Math" panose="02040503050406030204" pitchFamily="18" charset="0"/>
                                    <a:ea typeface="楷体" panose="02010609060101010101" pitchFamily="49" charset="-122"/>
                                  </a:rPr>
                                  <m:t>max</m:t>
                                </m:r>
                              </m:e>
                              <m:lim>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lim>
                            </m:limLow>
                          </m:fName>
                          <m:e>
                            <m:d>
                              <m:dPr>
                                <m:begChr m:val="{"/>
                                <m:endChr m:val="}"/>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𝑐</m:t>
                                    </m:r>
                                  </m:e>
                                  <m:sub>
                                    <m:r>
                                      <a:rPr kumimoji="1" lang="en-US" altLang="zh-CN" sz="2400" i="1">
                                        <a:latin typeface="Cambria Math" panose="02040503050406030204" pitchFamily="18" charset="0"/>
                                        <a:ea typeface="楷体" panose="02010609060101010101" pitchFamily="49" charset="-122"/>
                                      </a:rPr>
                                      <m:t>𝑘</m:t>
                                    </m:r>
                                  </m:sub>
                                </m:sSub>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𝑘</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𝑘</m:t>
                                    </m:r>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1</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𝑤</m:t>
                                        </m:r>
                                      </m:e>
                                      <m:sub>
                                        <m:r>
                                          <a:rPr kumimoji="1" lang="en-US" altLang="zh-CN" sz="2400" b="0" i="1" smtClean="0">
                                            <a:latin typeface="Cambria Math" panose="02040503050406030204" pitchFamily="18" charset="0"/>
                                            <a:ea typeface="楷体" panose="02010609060101010101" pitchFamily="49" charset="-122"/>
                                          </a:rPr>
                                          <m:t>𝑘</m:t>
                                        </m:r>
                                      </m:sub>
                                    </m:sSub>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e>
                                </m:d>
                              </m:e>
                            </m:d>
                          </m:e>
                        </m:func>
                      </m:e>
                    </m:func>
                    <m:r>
                      <a:rPr kumimoji="1" lang="en-US" altLang="zh-CN" sz="2400" b="0" i="0"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𝐷</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	</a:t>
                </a:r>
                <a:endParaRPr kumimoji="1" lang="en-US" altLang="zh-CN" sz="2400" dirty="0">
                  <a:ea typeface="楷体" panose="02010609060101010101" pitchFamily="49" charset="-122"/>
                </a:endParaRPr>
              </a:p>
              <a:p>
                <a:pPr marL="342900" indent="-342900" algn="just">
                  <a:lnSpc>
                    <a:spcPct val="120000"/>
                  </a:lnSpc>
                  <a:spcBef>
                    <a:spcPts val="300"/>
                  </a:spcBef>
                  <a:spcAft>
                    <a:spcPts val="300"/>
                  </a:spcAft>
                  <a:defRPr/>
                </a:pPr>
                <a:r>
                  <a:rPr kumimoji="1" lang="zh-CN" altLang="en-US" sz="2400" b="1" dirty="0">
                    <a:solidFill>
                      <a:srgbClr val="FF0000"/>
                    </a:solidFill>
                    <a:ea typeface="楷体" panose="02010609060101010101" pitchFamily="49" charset="-122"/>
                  </a:rPr>
                  <a:t>终端条件</a:t>
                </a:r>
                <a:r>
                  <a:rPr kumimoji="1" lang="zh-CN" altLang="en-US" sz="2400" dirty="0">
                    <a:ea typeface="楷体" panose="02010609060101010101" pitchFamily="49" charset="-122"/>
                  </a:rPr>
                  <a:t>：</a:t>
                </a:r>
                <a:r>
                  <a:rPr kumimoji="1" lang="en-US" altLang="zh-CN" sz="2400" dirty="0">
                    <a:ea typeface="楷体" panose="02010609060101010101" pitchFamily="49" charset="-122"/>
                  </a:rPr>
                  <a:t> </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𝑛</m:t>
                        </m:r>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1</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𝑛</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 </m:t>
                            </m:r>
                          </m:sub>
                        </m:sSub>
                      </m:e>
                    </m:d>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0</m:t>
                    </m:r>
                  </m:oMath>
                </a14:m>
                <a:endParaRPr kumimoji="1" lang="zh-CN" altLang="en-US" sz="2400" dirty="0">
                  <a:ea typeface="楷体" panose="02010609060101010101" pitchFamily="49" charset="-122"/>
                </a:endParaRPr>
              </a:p>
            </p:txBody>
          </p:sp>
        </mc:Choice>
        <mc:Fallback>
          <p:sp>
            <p:nvSpPr>
              <p:cNvPr id="95235" name="Rectangle 3"/>
              <p:cNvSpPr>
                <a:spLocks noRot="1" noChangeAspect="1" noMove="1" noResize="1" noEditPoints="1" noAdjustHandles="1" noChangeArrowheads="1" noChangeShapeType="1" noTextEdit="1"/>
              </p:cNvSpPr>
              <p:nvPr/>
            </p:nvSpPr>
            <p:spPr bwMode="auto">
              <a:xfrm>
                <a:off x="1580515" y="1398270"/>
                <a:ext cx="9030335" cy="4242435"/>
              </a:xfrm>
              <a:prstGeom prst="rect">
                <a:avLst/>
              </a:prstGeom>
              <a:blipFill rotWithShape="1">
                <a:blip r:embed="rId1"/>
                <a:stretch>
                  <a:fillRect/>
                </a:stretch>
              </a:blipFill>
              <a:ln w="9525">
                <a:noFill/>
                <a:miter lim="800000"/>
              </a:ln>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ChangeArrowheads="1"/>
          </p:cNvSpPr>
          <p:nvPr/>
        </p:nvSpPr>
        <p:spPr bwMode="auto">
          <a:xfrm>
            <a:off x="1804193" y="836831"/>
            <a:ext cx="8583613" cy="3312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342900" algn="just">
              <a:lnSpc>
                <a:spcPct val="150000"/>
              </a:lnSpc>
              <a:spcBef>
                <a:spcPts val="300"/>
              </a:spcBef>
              <a:spcAft>
                <a:spcPts val="300"/>
              </a:spcAft>
            </a:pPr>
            <a:r>
              <a:rPr kumimoji="1" lang="zh-CN" altLang="en-US" sz="2600" b="1"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例</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某咨询公司有</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10</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个工作日可以去处理四种类型的咨询项目，每种类型的咨询项目中待处理的客户数量、处理每个客户所需工作日数以及所获得的利润如表所示。显然该公司在</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10</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天内不能处理完所有的客户，它可以自己挑选一些客户，其余的请其他咨询公司去做，应如何选择客户使得在这</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10</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个工作日中获利最大？</a:t>
            </a:r>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a:p>
            <a:pPr indent="-342900" algn="just">
              <a:lnSpc>
                <a:spcPct val="150000"/>
              </a:lnSpc>
              <a:spcBef>
                <a:spcPts val="300"/>
              </a:spcBef>
              <a:spcAft>
                <a:spcPts val="300"/>
              </a:spcAft>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3" name="表格 2"/>
          <p:cNvGraphicFramePr>
            <a:graphicFrameLocks noGrp="1"/>
          </p:cNvGraphicFramePr>
          <p:nvPr/>
        </p:nvGraphicFramePr>
        <p:xfrm>
          <a:off x="2279575" y="4221088"/>
          <a:ext cx="7632700" cy="2326005"/>
        </p:xfrm>
        <a:graphic>
          <a:graphicData uri="http://schemas.openxmlformats.org/drawingml/2006/table">
            <a:tbl>
              <a:tblPr firstRow="1" bandRow="1">
                <a:tableStyleId>{5C22544A-7EE6-4342-B048-85BDC9FD1C3A}</a:tableStyleId>
              </a:tblPr>
              <a:tblGrid>
                <a:gridCol w="1908175"/>
                <a:gridCol w="1908175"/>
                <a:gridCol w="1908175"/>
                <a:gridCol w="1908175"/>
              </a:tblGrid>
              <a:tr h="86317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u="none" strike="noStrike" cap="none" normalizeH="0" baseline="0" dirty="0">
                          <a:ln>
                            <a:noFill/>
                          </a:ln>
                          <a:effectLst/>
                          <a:latin typeface="Times New Roman" panose="02020603050405020304" pitchFamily="18" charset="0"/>
                          <a:cs typeface="Times New Roman" panose="02020603050405020304" pitchFamily="18" charset="0"/>
                        </a:rPr>
                        <a:t>咨询项目类型</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1439" marR="91439"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u="none" strike="noStrike" cap="none" normalizeH="0" baseline="0" dirty="0">
                          <a:ln>
                            <a:noFill/>
                          </a:ln>
                          <a:effectLst/>
                          <a:latin typeface="Times New Roman" panose="02020603050405020304" pitchFamily="18" charset="0"/>
                          <a:cs typeface="Times New Roman" panose="02020603050405020304" pitchFamily="18" charset="0"/>
                        </a:rPr>
                        <a:t>待处理客户数</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1439" marR="91439"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u="none" strike="noStrike" cap="none" normalizeH="0" baseline="0" dirty="0">
                          <a:ln>
                            <a:noFill/>
                          </a:ln>
                          <a:effectLst/>
                          <a:latin typeface="Times New Roman" panose="02020603050405020304" pitchFamily="18" charset="0"/>
                          <a:cs typeface="Times New Roman" panose="02020603050405020304" pitchFamily="18" charset="0"/>
                        </a:rPr>
                        <a:t>处理每个客户所需工作日数</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1439" marR="91439"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u="none" strike="noStrike" cap="none" normalizeH="0" baseline="0" dirty="0">
                          <a:ln>
                            <a:noFill/>
                          </a:ln>
                          <a:effectLst/>
                          <a:latin typeface="Times New Roman" panose="02020603050405020304" pitchFamily="18" charset="0"/>
                          <a:cs typeface="Times New Roman" panose="02020603050405020304" pitchFamily="18" charset="0"/>
                        </a:rPr>
                        <a:t>处理每个客户所获利润</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1439" marR="91439" marT="45703" marB="457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8252">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8252">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8252">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8252">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393" name="Rectangle 2"/>
              <p:cNvSpPr>
                <a:spLocks noChangeArrowheads="1"/>
              </p:cNvSpPr>
              <p:nvPr/>
            </p:nvSpPr>
            <p:spPr bwMode="auto">
              <a:xfrm>
                <a:off x="1767793" y="1023938"/>
                <a:ext cx="8786812"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300"/>
                  </a:spcBef>
                  <a:spcAft>
                    <a:spcPts val="300"/>
                  </a:spcAft>
                </a:pPr>
                <a:r>
                  <a:rPr kumimoji="1" lang="zh-CN" altLang="en-US" sz="2600" b="1" dirty="0">
                    <a:ea typeface="楷体" panose="02010609060101010101" pitchFamily="49" charset="-122"/>
                  </a:rPr>
                  <a:t>　　</a:t>
                </a:r>
                <a:r>
                  <a:rPr kumimoji="1" lang="zh-CN" altLang="en-US" sz="2400" dirty="0">
                    <a:ea typeface="楷体" panose="02010609060101010101" pitchFamily="49" charset="-122"/>
                  </a:rPr>
                  <a:t>解：</a:t>
                </a:r>
                <a:r>
                  <a:rPr kumimoji="1" lang="zh-CN" altLang="en-US" sz="2400" b="1" dirty="0">
                    <a:ea typeface="楷体" panose="02010609060101010101" pitchFamily="49" charset="-122"/>
                  </a:rPr>
                  <a:t>我们把此问题分成</a:t>
                </a:r>
                <a:r>
                  <a:rPr kumimoji="1" lang="zh-CN" altLang="en-US" sz="2400" b="1" dirty="0">
                    <a:solidFill>
                      <a:srgbClr val="FF0000"/>
                    </a:solidFill>
                    <a:ea typeface="楷体" panose="02010609060101010101" pitchFamily="49" charset="-122"/>
                  </a:rPr>
                  <a:t>四个阶段</a:t>
                </a:r>
                <a:r>
                  <a:rPr kumimoji="1" lang="zh-CN" altLang="en-US" sz="2400" b="1" dirty="0">
                    <a:ea typeface="楷体" panose="02010609060101010101" pitchFamily="49" charset="-122"/>
                  </a:rPr>
                  <a:t>。</a:t>
                </a:r>
                <a:endParaRPr kumimoji="1" lang="en-US" altLang="zh-CN" sz="2400" b="1"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第一阶段我们决策将处理多少个第一种咨询项目类型中的客户，</a:t>
                </a:r>
                <a:endParaRPr kumimoji="1" lang="en-US" altLang="zh-CN" sz="24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第二阶段决策将处理多少个第二种咨询项目类型中的客户，</a:t>
                </a:r>
                <a:endParaRPr kumimoji="1" lang="en-US" altLang="zh-CN" sz="24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第三阶段、第四阶段我们也将作出类似的决策。</a:t>
                </a:r>
                <a:endParaRPr kumimoji="1" lang="en-US" altLang="zh-CN" sz="12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     设</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𝑘</m:t>
                        </m:r>
                      </m:sub>
                    </m:sSub>
                  </m:oMath>
                </a14:m>
                <a:r>
                  <a:rPr kumimoji="1" lang="zh-CN" altLang="en-US" sz="2400" dirty="0">
                    <a:ea typeface="楷体" panose="02010609060101010101" pitchFamily="49" charset="-122"/>
                  </a:rPr>
                  <a:t>＝分配给第</a:t>
                </a:r>
                <a14:m>
                  <m:oMath xmlns:m="http://schemas.openxmlformats.org/officeDocument/2006/math">
                    <m:r>
                      <a:rPr kumimoji="1" lang="en-US" altLang="zh-CN" sz="2400" i="1" dirty="0" smtClean="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种咨询项目到第四种咨询项目的客户的总工作日（第</a:t>
                </a:r>
                <a14:m>
                  <m:oMath xmlns:m="http://schemas.openxmlformats.org/officeDocument/2006/math">
                    <m:r>
                      <a:rPr kumimoji="1" lang="en-US" altLang="zh-CN" sz="2400" i="1" dirty="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阶段的状态变量）。</a:t>
                </a:r>
                <a:endParaRPr kumimoji="1" lang="zh-CN" altLang="en-US" sz="24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　</a:t>
                </a:r>
                <a:r>
                  <a:rPr kumimoji="1" lang="en-US" altLang="zh-CN" sz="2400" dirty="0">
                    <a:ea typeface="楷体" panose="02010609060101010101" pitchFamily="49" charset="-122"/>
                  </a:rPr>
                  <a:t> </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𝑘</m:t>
                        </m:r>
                      </m:sub>
                    </m:sSub>
                  </m:oMath>
                </a14:m>
                <a:r>
                  <a:rPr kumimoji="1" lang="en-US" altLang="zh-CN" sz="2400" dirty="0">
                    <a:ea typeface="楷体" panose="02010609060101010101" pitchFamily="49" charset="-122"/>
                  </a:rPr>
                  <a:t>=</a:t>
                </a:r>
                <a:r>
                  <a:rPr kumimoji="1" lang="zh-CN" altLang="en-US" sz="2400" dirty="0">
                    <a:ea typeface="楷体" panose="02010609060101010101" pitchFamily="49" charset="-122"/>
                  </a:rPr>
                  <a:t>在第</a:t>
                </a:r>
                <a14:m>
                  <m:oMath xmlns:m="http://schemas.openxmlformats.org/officeDocument/2006/math">
                    <m:r>
                      <a:rPr kumimoji="1" lang="en-US" altLang="zh-CN" sz="2400" i="1" dirty="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种咨询项目中处理客户的数量（第</a:t>
                </a:r>
                <a14:m>
                  <m:oMath xmlns:m="http://schemas.openxmlformats.org/officeDocument/2006/math">
                    <m:r>
                      <a:rPr kumimoji="1" lang="en-US" altLang="zh-CN" sz="2400" i="1" dirty="0">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rPr>
                  <a:t>阶段的决策变量）。</a:t>
                </a:r>
                <a:endParaRPr kumimoji="1" lang="zh-CN" altLang="en-US" sz="24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　　 已知</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10</m:t>
                    </m:r>
                  </m:oMath>
                </a14:m>
                <a:r>
                  <a:rPr kumimoji="1" lang="zh-CN" altLang="en-US" sz="2400" dirty="0">
                    <a:ea typeface="楷体" panose="02010609060101010101" pitchFamily="49" charset="-122"/>
                  </a:rPr>
                  <a:t>，并有</a:t>
                </a:r>
                <a:endParaRPr kumimoji="1" lang="en-US" altLang="zh-CN" sz="2400" b="0" i="1" dirty="0">
                  <a:latin typeface="Cambria Math" panose="02040503050406030204" pitchFamily="18" charset="0"/>
                  <a:ea typeface="楷体" panose="02010609060101010101" pitchFamily="49" charset="-122"/>
                </a:endParaRPr>
              </a:p>
              <a:p>
                <a:pPr algn="just">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𝑇</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𝑇</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2</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3</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4</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𝑇</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oMath>
                  </m:oMathPara>
                </a14:m>
                <a:endParaRPr kumimoji="1" lang="en-US" altLang="zh-CN" sz="2400" dirty="0">
                  <a:ea typeface="楷体" panose="02010609060101010101" pitchFamily="49" charset="-122"/>
                </a:endParaRPr>
              </a:p>
              <a:p>
                <a:pPr algn="just">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𝑘</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sub>
                          </m:sSub>
                        </m:e>
                      </m:d>
                      <m:r>
                        <a:rPr kumimoji="1" lang="en-US" altLang="zh-CN" sz="2400" b="0" i="1" smtClean="0">
                          <a:latin typeface="Cambria Math" panose="02040503050406030204" pitchFamily="18" charset="0"/>
                          <a:ea typeface="楷体" panose="02010609060101010101" pitchFamily="49" charset="-122"/>
                        </a:rPr>
                        <m:t>=</m:t>
                      </m:r>
                      <m:func>
                        <m:funcPr>
                          <m:ctrlPr>
                            <a:rPr kumimoji="1" lang="en-US" altLang="zh-CN" sz="2400" b="0" i="1" smtClean="0">
                              <a:latin typeface="Cambria Math" panose="02040503050406030204" pitchFamily="18" charset="0"/>
                              <a:ea typeface="楷体" panose="02010609060101010101" pitchFamily="49" charset="-122"/>
                            </a:rPr>
                          </m:ctrlPr>
                        </m:funcPr>
                        <m:fName>
                          <m:limLow>
                            <m:limLowPr>
                              <m:ctrlPr>
                                <a:rPr kumimoji="1" lang="en-US" altLang="zh-CN" sz="2400" b="0" i="1" smtClean="0">
                                  <a:latin typeface="Cambria Math" panose="02040503050406030204" pitchFamily="18" charset="0"/>
                                  <a:ea typeface="楷体" panose="02010609060101010101" pitchFamily="49" charset="-122"/>
                                </a:rPr>
                              </m:ctrlPr>
                            </m:limLowPr>
                            <m:e>
                              <m:r>
                                <m:rPr>
                                  <m:sty m:val="p"/>
                                </m:rPr>
                                <a:rPr kumimoji="1" lang="en-US" altLang="zh-CN" sz="2400" b="0" i="0" smtClean="0">
                                  <a:latin typeface="Cambria Math" panose="02040503050406030204" pitchFamily="18" charset="0"/>
                                  <a:ea typeface="楷体" panose="02010609060101010101" pitchFamily="49" charset="-122"/>
                                </a:rPr>
                                <m:t>max</m:t>
                              </m:r>
                            </m:e>
                            <m:lim>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lim>
                          </m:limLow>
                        </m:fName>
                        <m:e>
                          <m:d>
                            <m:dPr>
                              <m:begChr m:val="{"/>
                              <m:endChr m:val="}"/>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𝑟</m:t>
                                  </m:r>
                                </m:e>
                                <m:sub>
                                  <m:r>
                                    <a:rPr kumimoji="1" lang="en-US" altLang="zh-CN" sz="2400" b="0" i="1" smtClean="0">
                                      <a:latin typeface="Cambria Math" panose="02040503050406030204" pitchFamily="18" charset="0"/>
                                      <a:ea typeface="楷体" panose="02010609060101010101" pitchFamily="49" charset="-122"/>
                                    </a:rPr>
                                    <m:t>𝑘</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 </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𝑘</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sub>
                                  </m:sSub>
                                </m:e>
                              </m:d>
                            </m:e>
                          </m:d>
                        </m:e>
                      </m:func>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𝐷</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𝑘</m:t>
                          </m:r>
                        </m:sub>
                      </m:sSub>
                      <m:r>
                        <a:rPr kumimoji="1" lang="en-US" altLang="zh-CN" sz="2400" b="0" i="1" smtClean="0">
                          <a:latin typeface="Cambria Math" panose="02040503050406030204" pitchFamily="18" charset="0"/>
                          <a:ea typeface="楷体" panose="02010609060101010101" pitchFamily="49" charset="-122"/>
                        </a:rPr>
                        <m:t>)</m:t>
                      </m:r>
                    </m:oMath>
                  </m:oMathPara>
                </a14:m>
                <a:endParaRPr kumimoji="1" lang="zh-CN" altLang="en-US" sz="24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　　　　</a:t>
                </a:r>
                <a:endParaRPr kumimoji="1" lang="zh-CN" altLang="en-US" sz="2400" dirty="0">
                  <a:ea typeface="楷体" panose="02010609060101010101" pitchFamily="49" charset="-122"/>
                </a:endParaRPr>
              </a:p>
              <a:p>
                <a:pPr algn="just">
                  <a:spcBef>
                    <a:spcPts val="300"/>
                  </a:spcBef>
                  <a:spcAft>
                    <a:spcPts val="300"/>
                  </a:spcAft>
                </a:pPr>
                <a:r>
                  <a:rPr kumimoji="1" lang="zh-CN" altLang="en-US" sz="2400" dirty="0">
                    <a:ea typeface="楷体" panose="02010609060101010101" pitchFamily="49" charset="-122"/>
                  </a:rPr>
                  <a:t> </a:t>
                </a:r>
                <a:endParaRPr kumimoji="1" lang="zh-CN" altLang="en-US" sz="2400" dirty="0">
                  <a:ea typeface="楷体" panose="02010609060101010101" pitchFamily="49" charset="-122"/>
                </a:endParaRPr>
              </a:p>
            </p:txBody>
          </p:sp>
        </mc:Choice>
        <mc:Fallback>
          <p:sp>
            <p:nvSpPr>
              <p:cNvPr id="16393" name="Rectangle 2"/>
              <p:cNvSpPr>
                <a:spLocks noRot="1" noChangeAspect="1" noMove="1" noResize="1" noEditPoints="1" noAdjustHandles="1" noChangeArrowheads="1" noChangeShapeType="1" noTextEdit="1"/>
              </p:cNvSpPr>
              <p:nvPr/>
            </p:nvSpPr>
            <p:spPr bwMode="auto">
              <a:xfrm>
                <a:off x="1767793" y="1023938"/>
                <a:ext cx="8786812" cy="5643562"/>
              </a:xfrm>
              <a:prstGeom prst="rect">
                <a:avLst/>
              </a:prstGeom>
              <a:blipFill rotWithShape="1">
                <a:blip r:embed="rId1"/>
                <a:stretch>
                  <a:fillRect l="-7" t="-6" r="3" b="-66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420" name="Rectangle 2"/>
              <p:cNvSpPr>
                <a:spLocks noChangeArrowheads="1"/>
              </p:cNvSpPr>
              <p:nvPr/>
            </p:nvSpPr>
            <p:spPr bwMode="auto">
              <a:xfrm>
                <a:off x="1866900" y="1125488"/>
                <a:ext cx="8458200" cy="4607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50000"/>
                  </a:lnSpc>
                  <a:spcBef>
                    <a:spcPts val="300"/>
                  </a:spcBef>
                  <a:spcAft>
                    <a:spcPts val="300"/>
                  </a:spcAft>
                </a:pPr>
                <a:r>
                  <a:rPr kumimoji="1" lang="zh-CN" altLang="en-US" sz="2600" b="1" dirty="0">
                    <a:latin typeface="Times New Roman" panose="02020603050405020304" pitchFamily="18" charset="0"/>
                    <a:ea typeface="楷体" panose="02010609060101010101" pitchFamily="49" charset="-122"/>
                    <a:cs typeface="Times New Roman" panose="02020603050405020304" pitchFamily="18" charset="0"/>
                  </a:rPr>
                  <a:t>　第四阶段：</a:t>
                </a:r>
                <a:endParaRPr kumimoji="1" lang="zh-CN" altLang="en-US" sz="26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spcBef>
                    <a:spcPts val="300"/>
                  </a:spcBef>
                  <a:spcAft>
                    <a:spcPts val="300"/>
                  </a:spcAft>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将</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4</m:t>
                        </m:r>
                      </m:sub>
                    </m:sSub>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0</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1</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2</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10</m:t>
                    </m:r>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个工作日尽可能分配给第四类咨询项目，即</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𝑥</m:t>
                        </m:r>
                      </m:e>
                      <m:sub>
                        <m:r>
                          <a:rPr kumimoji="1" lang="en-US" altLang="zh-CN" sz="2600" b="0" i="1" dirty="0" smtClean="0">
                            <a:latin typeface="Cambria Math" panose="02040503050406030204" pitchFamily="18" charset="0"/>
                            <a:ea typeface="楷体" panose="02010609060101010101" pitchFamily="49" charset="-122"/>
                          </a:rPr>
                          <m:t>4</m:t>
                        </m:r>
                      </m:sub>
                    </m:sSub>
                    <m:r>
                      <a:rPr kumimoji="1" lang="en-US" altLang="zh-CN" sz="2600" b="0" i="1" dirty="0" smtClean="0">
                        <a:latin typeface="Cambria Math" panose="02040503050406030204" pitchFamily="18" charset="0"/>
                        <a:ea typeface="楷体" panose="02010609060101010101" pitchFamily="49" charset="-122"/>
                      </a:rPr>
                      <m:t>=⌈</m:t>
                    </m:r>
                    <m:f>
                      <m:fPr>
                        <m:ctrlPr>
                          <a:rPr kumimoji="1" lang="en-US" altLang="zh-CN" sz="2600" b="0" i="1" dirty="0" smtClean="0">
                            <a:latin typeface="Cambria Math" panose="02040503050406030204" pitchFamily="18" charset="0"/>
                            <a:ea typeface="楷体" panose="02010609060101010101" pitchFamily="49" charset="-122"/>
                          </a:rPr>
                        </m:ctrlPr>
                      </m:fPr>
                      <m:num>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4</m:t>
                            </m:r>
                          </m:sub>
                        </m:sSub>
                      </m:num>
                      <m:den>
                        <m:r>
                          <a:rPr kumimoji="1" lang="en-US" altLang="zh-CN" sz="2600" b="0" i="1" dirty="0" smtClean="0">
                            <a:latin typeface="Cambria Math" panose="02040503050406030204" pitchFamily="18" charset="0"/>
                            <a:ea typeface="楷体" panose="02010609060101010101" pitchFamily="49" charset="-122"/>
                          </a:rPr>
                          <m:t>7</m:t>
                        </m:r>
                      </m:den>
                    </m:f>
                    <m:r>
                      <a:rPr kumimoji="1" lang="en-US" altLang="zh-CN" sz="2600" b="0" i="1" dirty="0" smtClean="0">
                        <a:latin typeface="Cambria Math" panose="02040503050406030204" pitchFamily="18" charset="0"/>
                        <a:ea typeface="楷体" panose="02010609060101010101" pitchFamily="49" charset="-122"/>
                      </a:rPr>
                      <m:t>⌉</m:t>
                    </m:r>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时，第四阶段的指标值为最大</a:t>
                </a:r>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spcBef>
                    <a:spcPts val="300"/>
                  </a:spcBef>
                  <a:spcAft>
                    <a:spcPts val="300"/>
                  </a:spcAft>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由于第四阶段是最后的阶段，故有</a:t>
                </a:r>
                <a:endPar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func>
                        <m:funcPr>
                          <m:ctrlPr>
                            <a:rPr kumimoji="1" lang="en-US" altLang="zh-CN" sz="2600" b="0" i="1" smtClean="0">
                              <a:latin typeface="Cambria Math" panose="02040503050406030204" pitchFamily="18" charset="0"/>
                              <a:ea typeface="楷体" panose="02010609060101010101" pitchFamily="49" charset="-122"/>
                            </a:rPr>
                          </m:ctrlPr>
                        </m:funcPr>
                        <m:fNa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𝑓</m:t>
                              </m:r>
                            </m:e>
                            <m:sub>
                              <m:r>
                                <a:rPr kumimoji="1" lang="en-US" altLang="zh-CN" sz="2600" b="0" i="1" smtClean="0">
                                  <a:latin typeface="Cambria Math" panose="02040503050406030204" pitchFamily="18" charset="0"/>
                                  <a:ea typeface="楷体" panose="02010609060101010101" pitchFamily="49" charset="-122"/>
                                </a:rPr>
                                <m:t>4</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4</m:t>
                                  </m:r>
                                </m:sub>
                              </m:sSub>
                            </m:e>
                          </m:d>
                          <m:r>
                            <a:rPr kumimoji="1" lang="en-US" altLang="zh-CN" sz="2600" b="0" i="1" smtClean="0">
                              <a:latin typeface="Cambria Math" panose="02040503050406030204" pitchFamily="18" charset="0"/>
                              <a:ea typeface="楷体" panose="02010609060101010101" pitchFamily="49" charset="-122"/>
                            </a:rPr>
                            <m:t>=</m:t>
                          </m:r>
                          <m:limLow>
                            <m:limLowPr>
                              <m:ctrlPr>
                                <a:rPr kumimoji="1" lang="en-US" altLang="zh-CN" sz="2600" b="0" i="1" smtClean="0">
                                  <a:latin typeface="Cambria Math" panose="02040503050406030204" pitchFamily="18" charset="0"/>
                                  <a:ea typeface="楷体" panose="02010609060101010101" pitchFamily="49" charset="-122"/>
                                </a:rPr>
                              </m:ctrlPr>
                            </m:limLowPr>
                            <m:e>
                              <m:r>
                                <m:rPr>
                                  <m:sty m:val="p"/>
                                </m:rPr>
                                <a:rPr kumimoji="1" lang="en-US" altLang="zh-CN" sz="2600" b="0" i="0" smtClean="0">
                                  <a:latin typeface="Cambria Math" panose="02040503050406030204" pitchFamily="18" charset="0"/>
                                  <a:ea typeface="楷体" panose="02010609060101010101" pitchFamily="49" charset="-122"/>
                                </a:rPr>
                                <m:t>max</m:t>
                              </m:r>
                            </m:e>
                            <m:lim>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4</m:t>
                                  </m:r>
                                </m:sub>
                              </m:sSub>
                            </m:lim>
                          </m:limLow>
                        </m:fName>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𝑟</m:t>
                              </m:r>
                            </m:e>
                            <m:sub>
                              <m:r>
                                <a:rPr kumimoji="1" lang="en-US" altLang="zh-CN" sz="2600" b="0" i="1" smtClean="0">
                                  <a:latin typeface="Cambria Math" panose="02040503050406030204" pitchFamily="18" charset="0"/>
                                  <a:ea typeface="楷体" panose="02010609060101010101" pitchFamily="49" charset="-122"/>
                                </a:rPr>
                                <m:t>4</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4</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4</m:t>
                                  </m:r>
                                </m:sub>
                              </m:sSub>
                            </m:e>
                          </m:d>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𝑟</m:t>
                              </m:r>
                            </m:e>
                            <m:sub>
                              <m:r>
                                <a:rPr kumimoji="1" lang="en-US" altLang="zh-CN" sz="2600" b="0" i="1" smtClean="0">
                                  <a:latin typeface="Cambria Math" panose="02040503050406030204" pitchFamily="18" charset="0"/>
                                  <a:ea typeface="楷体" panose="02010609060101010101" pitchFamily="49" charset="-122"/>
                                </a:rPr>
                                <m:t>4</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4</m:t>
                              </m:r>
                            </m:sub>
                          </m:sSub>
                          <m:r>
                            <a:rPr kumimoji="1" lang="en-US" altLang="zh-CN" sz="2600" b="0" i="1" smtClean="0">
                              <a:latin typeface="Cambria Math" panose="02040503050406030204" pitchFamily="18" charset="0"/>
                              <a:ea typeface="楷体" panose="02010609060101010101" pitchFamily="49" charset="-122"/>
                            </a:rPr>
                            <m:t>,</m:t>
                          </m:r>
                          <m:r>
                            <a:rPr kumimoji="1" lang="en-US" altLang="zh-CN" sz="2600" i="1" dirty="0">
                              <a:latin typeface="Cambria Math" panose="02040503050406030204" pitchFamily="18" charset="0"/>
                              <a:ea typeface="楷体" panose="02010609060101010101" pitchFamily="49" charset="-122"/>
                            </a:rPr>
                            <m:t>⌈</m:t>
                          </m:r>
                          <m:f>
                            <m:fPr>
                              <m:ctrlPr>
                                <a:rPr kumimoji="1" lang="en-US" altLang="zh-CN" sz="2600" i="1" dirty="0">
                                  <a:latin typeface="Cambria Math" panose="02040503050406030204" pitchFamily="18" charset="0"/>
                                  <a:ea typeface="楷体" panose="02010609060101010101" pitchFamily="49" charset="-122"/>
                                </a:rPr>
                              </m:ctrlPr>
                            </m:fPr>
                            <m:num>
                              <m:sSub>
                                <m:sSubPr>
                                  <m:ctrlPr>
                                    <a:rPr kumimoji="1" lang="en-US" altLang="zh-CN" sz="2600" i="1" dirty="0">
                                      <a:latin typeface="Cambria Math" panose="02040503050406030204" pitchFamily="18" charset="0"/>
                                      <a:ea typeface="楷体" panose="02010609060101010101" pitchFamily="49" charset="-122"/>
                                    </a:rPr>
                                  </m:ctrlPr>
                                </m:sSubPr>
                                <m:e>
                                  <m:r>
                                    <a:rPr kumimoji="1" lang="en-US" altLang="zh-CN" sz="2600" i="1" dirty="0">
                                      <a:latin typeface="Cambria Math" panose="02040503050406030204" pitchFamily="18" charset="0"/>
                                      <a:ea typeface="楷体" panose="02010609060101010101" pitchFamily="49" charset="-122"/>
                                    </a:rPr>
                                    <m:t>𝑠</m:t>
                                  </m:r>
                                </m:e>
                                <m:sub>
                                  <m:r>
                                    <a:rPr kumimoji="1" lang="en-US" altLang="zh-CN" sz="2600" i="1" dirty="0">
                                      <a:latin typeface="Cambria Math" panose="02040503050406030204" pitchFamily="18" charset="0"/>
                                      <a:ea typeface="楷体" panose="02010609060101010101" pitchFamily="49" charset="-122"/>
                                    </a:rPr>
                                    <m:t>4</m:t>
                                  </m:r>
                                </m:sub>
                              </m:sSub>
                            </m:num>
                            <m:den>
                              <m:r>
                                <a:rPr kumimoji="1" lang="en-US" altLang="zh-CN" sz="2600" i="1" dirty="0">
                                  <a:latin typeface="Cambria Math" panose="02040503050406030204" pitchFamily="18" charset="0"/>
                                  <a:ea typeface="楷体" panose="02010609060101010101" pitchFamily="49" charset="-122"/>
                                </a:rPr>
                                <m:t>7</m:t>
                              </m:r>
                            </m:den>
                          </m:f>
                          <m:r>
                            <a:rPr kumimoji="1" lang="en-US" altLang="zh-CN" sz="2600" i="1" dirty="0">
                              <a:latin typeface="Cambria Math" panose="02040503050406030204" pitchFamily="18" charset="0"/>
                              <a:ea typeface="楷体" panose="02010609060101010101" pitchFamily="49" charset="-122"/>
                            </a:rPr>
                            <m:t>⌉</m:t>
                          </m:r>
                          <m:r>
                            <a:rPr kumimoji="1" lang="en-US" altLang="zh-CN" sz="2600" b="0" i="1" smtClean="0">
                              <a:latin typeface="Cambria Math" panose="02040503050406030204" pitchFamily="18" charset="0"/>
                              <a:ea typeface="楷体" panose="02010609060101010101" pitchFamily="49" charset="-122"/>
                            </a:rPr>
                            <m:t>)</m:t>
                          </m:r>
                        </m:e>
                      </m:func>
                    </m:oMath>
                  </m:oMathPara>
                </a14:m>
                <a:endPar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spcBef>
                    <a:spcPts val="300"/>
                  </a:spcBef>
                  <a:spcAft>
                    <a:spcPts val="300"/>
                  </a:spcAft>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4</m:t>
                        </m:r>
                      </m:sub>
                    </m:sSub>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至多为</a:t>
                </a:r>
                <a:r>
                  <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rPr>
                  <a:t>10</a:t>
                </a: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，数值计算见表。</a:t>
                </a:r>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7420" name="Rectangle 2"/>
              <p:cNvSpPr>
                <a:spLocks noRot="1" noChangeAspect="1" noMove="1" noResize="1" noEditPoints="1" noAdjustHandles="1" noChangeArrowheads="1" noChangeShapeType="1" noTextEdit="1"/>
              </p:cNvSpPr>
              <p:nvPr/>
            </p:nvSpPr>
            <p:spPr bwMode="auto">
              <a:xfrm>
                <a:off x="1866900" y="1125488"/>
                <a:ext cx="8458200" cy="4607024"/>
              </a:xfrm>
              <a:prstGeom prst="rect">
                <a:avLst/>
              </a:prstGeom>
              <a:blipFill rotWithShape="1">
                <a:blip r:embed="rId1"/>
                <a:stretch>
                  <a:fillRect t="-6" b="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7423" name="矩形 22"/>
          <p:cNvSpPr>
            <a:spLocks noChangeArrowheads="1"/>
          </p:cNvSpPr>
          <p:nvPr/>
        </p:nvSpPr>
        <p:spPr bwMode="auto">
          <a:xfrm>
            <a:off x="2783632" y="4859338"/>
            <a:ext cx="119888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sz="2600" dirty="0">
                <a:ea typeface="楷体" panose="02010609060101010101" pitchFamily="49" charset="-122"/>
              </a:rPr>
              <a:t>　</a:t>
            </a:r>
            <a:r>
              <a:rPr lang="zh-CN" altLang="en-US" dirty="0"/>
              <a:t>　　　</a:t>
            </a:r>
            <a:endParaRPr lang="zh-CN" altLang="en-US" dirty="0"/>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3048000" y="1412776"/>
              <a:ext cx="6096000" cy="4820920"/>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370840">
                    <a:tc rowSpan="2">
                      <a:txBody>
                        <a:bodyPr/>
                        <a:lstStyle/>
                        <a:p>
                          <a:pPr algn="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Sub>
                              </m:oMath>
                            </m:oMathPara>
                          </a14:m>
                          <a:endParaRPr lang="en-US" altLang="zh-CN" b="1" dirty="0"/>
                        </a:p>
                        <a:p>
                          <a:pPr algn="l"/>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rowSpan="2">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up>
                                    <m:r>
                                      <a:rPr lang="en-US" altLang="zh-CN" b="1" i="1" smtClean="0">
                                        <a:latin typeface="Cambria Math" panose="02040503050406030204" pitchFamily="18" charset="0"/>
                                      </a:rPr>
                                      <m:t>∗</m:t>
                                    </m:r>
                                  </m:sup>
                                </m:sSubSup>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表格 1"/>
              <p:cNvGraphicFramePr>
                <a:graphicFrameLocks noGrp="1"/>
              </p:cNvGraphicFramePr>
              <p:nvPr/>
            </p:nvGraphicFramePr>
            <p:xfrm>
              <a:off x="3048000" y="1412776"/>
              <a:ext cx="6096000" cy="4820920"/>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370840">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1"/>
                        </a:blipFill>
                      </a:tcPr>
                    </a:tc>
                    <a:tc grid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hMerge="1">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466" name="Rectangle 3"/>
              <p:cNvSpPr>
                <a:spLocks noChangeArrowheads="1"/>
              </p:cNvSpPr>
              <p:nvPr/>
            </p:nvSpPr>
            <p:spPr bwMode="auto">
              <a:xfrm>
                <a:off x="1905000" y="980728"/>
                <a:ext cx="8382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50000"/>
                  </a:lnSpc>
                  <a:spcBef>
                    <a:spcPts val="300"/>
                  </a:spcBef>
                  <a:spcAft>
                    <a:spcPts val="300"/>
                  </a:spcAft>
                </a:pPr>
                <a:r>
                  <a:rPr kumimoji="1" lang="zh-CN" altLang="en-US" sz="2600" b="1" dirty="0">
                    <a:latin typeface="Times New Roman" panose="02020603050405020304" pitchFamily="18" charset="0"/>
                    <a:ea typeface="楷体" panose="02010609060101010101" pitchFamily="49" charset="-122"/>
                    <a:cs typeface="Times New Roman" panose="02020603050405020304" pitchFamily="18" charset="0"/>
                  </a:rPr>
                  <a:t>　　第三阶段：</a:t>
                </a:r>
                <a:endParaRPr kumimoji="1" lang="zh-CN" altLang="en-US" sz="26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spcBef>
                    <a:spcPts val="300"/>
                  </a:spcBef>
                  <a:spcAft>
                    <a:spcPts val="300"/>
                  </a:spcAft>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当把</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3</m:t>
                        </m:r>
                      </m:sub>
                    </m:sSub>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0</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1</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2</m:t>
                    </m:r>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10</m:t>
                    </m:r>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个工作日分配给第四类和第三类咨询项目时，则对每个</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3</m:t>
                        </m:r>
                      </m:sub>
                    </m:sSub>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值，都有一种最优分配方案，使其最大盈利即最优</a:t>
                </a:r>
                <a:r>
                  <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rPr>
                  <a:t>3</a:t>
                </a: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子过程最优指标函数值为</a:t>
                </a:r>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ctr">
                  <a:lnSpc>
                    <a:spcPct val="11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𝑓</m:t>
                          </m:r>
                        </m:e>
                        <m:sub>
                          <m:r>
                            <a:rPr kumimoji="1" lang="en-US" altLang="zh-CN" sz="2600" b="0" i="1" smtClean="0">
                              <a:latin typeface="Cambria Math" panose="02040503050406030204" pitchFamily="18" charset="0"/>
                              <a:ea typeface="楷体" panose="02010609060101010101" pitchFamily="49" charset="-122"/>
                            </a:rPr>
                            <m:t>3</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b="0" i="1" smtClean="0">
                          <a:latin typeface="Cambria Math" panose="02040503050406030204" pitchFamily="18" charset="0"/>
                          <a:ea typeface="楷体" panose="02010609060101010101" pitchFamily="49" charset="-122"/>
                        </a:rPr>
                        <m:t>=</m:t>
                      </m:r>
                      <m:func>
                        <m:funcPr>
                          <m:ctrlPr>
                            <a:rPr kumimoji="1" lang="en-US" altLang="zh-CN" sz="2600" b="0" i="1" smtClean="0">
                              <a:latin typeface="Cambria Math" panose="02040503050406030204" pitchFamily="18" charset="0"/>
                              <a:ea typeface="楷体" panose="02010609060101010101" pitchFamily="49" charset="-122"/>
                            </a:rPr>
                          </m:ctrlPr>
                        </m:funcPr>
                        <m:fName>
                          <m:limLow>
                            <m:limLowPr>
                              <m:ctrlPr>
                                <a:rPr kumimoji="1" lang="en-US" altLang="zh-CN" sz="2600" b="0" i="1" smtClean="0">
                                  <a:latin typeface="Cambria Math" panose="02040503050406030204" pitchFamily="18" charset="0"/>
                                  <a:ea typeface="楷体" panose="02010609060101010101" pitchFamily="49" charset="-122"/>
                                </a:rPr>
                              </m:ctrlPr>
                            </m:limLowPr>
                            <m:e>
                              <m:r>
                                <m:rPr>
                                  <m:sty m:val="p"/>
                                </m:rPr>
                                <a:rPr kumimoji="1" lang="en-US" altLang="zh-CN" sz="2600" b="0" i="0" smtClean="0">
                                  <a:latin typeface="Cambria Math" panose="02040503050406030204" pitchFamily="18" charset="0"/>
                                  <a:ea typeface="楷体" panose="02010609060101010101" pitchFamily="49" charset="-122"/>
                                </a:rPr>
                                <m:t>max</m:t>
                              </m:r>
                            </m:e>
                            <m:lim>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3</m:t>
                                  </m:r>
                                </m:sub>
                              </m:sSub>
                            </m:lim>
                          </m:limLow>
                        </m:fName>
                        <m:e>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𝑟</m:t>
                              </m:r>
                            </m:e>
                            <m:sub>
                              <m:r>
                                <a:rPr kumimoji="1" lang="en-US" altLang="zh-CN" sz="2600" b="0" i="1" smtClean="0">
                                  <a:latin typeface="Cambria Math" panose="02040503050406030204" pitchFamily="18" charset="0"/>
                                  <a:ea typeface="楷体" panose="02010609060101010101" pitchFamily="49" charset="-122"/>
                                </a:rPr>
                                <m:t>3</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b="0" i="1" smtClean="0">
                              <a:latin typeface="Cambria Math" panose="02040503050406030204" pitchFamily="18" charset="0"/>
                              <a:ea typeface="楷体" panose="02010609060101010101" pitchFamily="49" charset="-122"/>
                            </a:rPr>
                            <m:t>+</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𝑓</m:t>
                              </m:r>
                            </m:e>
                            <m:sub>
                              <m:r>
                                <a:rPr kumimoji="1" lang="en-US" altLang="zh-CN" sz="2600" b="0" i="1" smtClean="0">
                                  <a:latin typeface="Cambria Math" panose="02040503050406030204" pitchFamily="18" charset="0"/>
                                  <a:ea typeface="楷体" panose="02010609060101010101" pitchFamily="49" charset="-122"/>
                                </a:rPr>
                                <m:t>4</m:t>
                              </m:r>
                            </m:sub>
                          </m:sSub>
                          <m:d>
                            <m:dPr>
                              <m:ctrlPr>
                                <a:rPr kumimoji="1" lang="en-US" altLang="zh-CN" sz="2600" b="0" i="1" smtClean="0">
                                  <a:latin typeface="Cambria Math" panose="02040503050406030204" pitchFamily="18" charset="0"/>
                                  <a:ea typeface="楷体" panose="02010609060101010101" pitchFamily="49" charset="-122"/>
                                </a:rPr>
                              </m:ctrlPr>
                            </m:dPr>
                            <m:e>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4</m:t>
                                  </m:r>
                                </m:sub>
                              </m:sSub>
                            </m:e>
                          </m:d>
                          <m:r>
                            <a:rPr kumimoji="1" lang="en-US" altLang="zh-CN" sz="2600" b="0" i="1" smtClean="0">
                              <a:latin typeface="Cambria Math" panose="02040503050406030204" pitchFamily="18" charset="0"/>
                              <a:ea typeface="楷体" panose="02010609060101010101" pitchFamily="49" charset="-122"/>
                            </a:rPr>
                            <m:t>]</m:t>
                          </m:r>
                        </m:e>
                      </m:func>
                    </m:oMath>
                  </m:oMathPara>
                </a14:m>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10000"/>
                  </a:lnSpc>
                  <a:spcBef>
                    <a:spcPts val="300"/>
                  </a:spcBef>
                  <a:spcAft>
                    <a:spcPts val="300"/>
                  </a:spcAft>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因为</a:t>
                </a:r>
                <a14:m>
                  <m:oMath xmlns:m="http://schemas.openxmlformats.org/officeDocument/2006/math">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4</m:t>
                        </m:r>
                      </m:sub>
                    </m:sSub>
                    <m:r>
                      <a:rPr kumimoji="1" lang="en-US" altLang="zh-CN" sz="2600" b="0" i="1" dirty="0" smtClean="0">
                        <a:latin typeface="Cambria Math" panose="02040503050406030204" pitchFamily="18" charset="0"/>
                        <a:ea typeface="楷体" panose="02010609060101010101" pitchFamily="49" charset="-122"/>
                      </a:rPr>
                      <m:t>=</m:t>
                    </m:r>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𝑠</m:t>
                        </m:r>
                      </m:e>
                      <m:sub>
                        <m:r>
                          <a:rPr kumimoji="1" lang="en-US" altLang="zh-CN" sz="2600" b="0" i="1" dirty="0" smtClean="0">
                            <a:latin typeface="Cambria Math" panose="02040503050406030204" pitchFamily="18" charset="0"/>
                            <a:ea typeface="楷体" panose="02010609060101010101" pitchFamily="49" charset="-122"/>
                          </a:rPr>
                          <m:t>3</m:t>
                        </m:r>
                      </m:sub>
                    </m:sSub>
                    <m:r>
                      <a:rPr kumimoji="1" lang="en-US" altLang="zh-CN" sz="2600" b="0" i="1" dirty="0" smtClean="0">
                        <a:latin typeface="Cambria Math" panose="02040503050406030204" pitchFamily="18" charset="0"/>
                        <a:ea typeface="楷体" panose="02010609060101010101" pitchFamily="49" charset="-122"/>
                      </a:rPr>
                      <m:t>−</m:t>
                    </m:r>
                    <m:r>
                      <a:rPr kumimoji="1" lang="en-US" altLang="zh-CN" sz="2600" b="0" i="1" dirty="0" smtClean="0">
                        <a:latin typeface="Cambria Math" panose="02040503050406030204" pitchFamily="18" charset="0"/>
                        <a:ea typeface="楷体" panose="02010609060101010101" pitchFamily="49" charset="-122"/>
                      </a:rPr>
                      <m:t>4</m:t>
                    </m:r>
                    <m:sSub>
                      <m:sSubPr>
                        <m:ctrlPr>
                          <a:rPr kumimoji="1" lang="en-US" altLang="zh-CN" sz="2600" b="0" i="1" dirty="0" smtClean="0">
                            <a:latin typeface="Cambria Math" panose="02040503050406030204" pitchFamily="18" charset="0"/>
                            <a:ea typeface="楷体" panose="02010609060101010101" pitchFamily="49" charset="-122"/>
                          </a:rPr>
                        </m:ctrlPr>
                      </m:sSubPr>
                      <m:e>
                        <m:r>
                          <a:rPr kumimoji="1" lang="en-US" altLang="zh-CN" sz="2600" b="0" i="1" dirty="0" smtClean="0">
                            <a:latin typeface="Cambria Math" panose="02040503050406030204" pitchFamily="18" charset="0"/>
                            <a:ea typeface="楷体" panose="02010609060101010101" pitchFamily="49" charset="-122"/>
                          </a:rPr>
                          <m:t>𝑥</m:t>
                        </m:r>
                      </m:e>
                      <m:sub>
                        <m:r>
                          <a:rPr kumimoji="1" lang="en-US" altLang="zh-CN" sz="2600" b="0" i="1" dirty="0" smtClean="0">
                            <a:latin typeface="Cambria Math" panose="02040503050406030204" pitchFamily="18" charset="0"/>
                            <a:ea typeface="楷体" panose="02010609060101010101" pitchFamily="49" charset="-122"/>
                          </a:rPr>
                          <m:t>3</m:t>
                        </m:r>
                      </m:sub>
                    </m:sSub>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，故　　　　</a:t>
                </a:r>
                <a:endPar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ctr">
                  <a:lnSpc>
                    <a:spcPct val="110000"/>
                  </a:lnSpc>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𝑓</m:t>
                        </m:r>
                      </m:e>
                      <m:sub>
                        <m:r>
                          <a:rPr kumimoji="1" lang="en-US" altLang="zh-CN" sz="2600" i="1">
                            <a:latin typeface="Cambria Math" panose="02040503050406030204" pitchFamily="18" charset="0"/>
                            <a:ea typeface="楷体" panose="02010609060101010101" pitchFamily="49" charset="-122"/>
                          </a:rPr>
                          <m:t>3</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e>
                    </m:d>
                    <m:r>
                      <a:rPr kumimoji="1" lang="en-US" altLang="zh-CN" sz="2600" i="1">
                        <a:latin typeface="Cambria Math" panose="02040503050406030204" pitchFamily="18" charset="0"/>
                        <a:ea typeface="楷体" panose="02010609060101010101" pitchFamily="49" charset="-122"/>
                      </a:rPr>
                      <m:t>=</m:t>
                    </m:r>
                    <m:func>
                      <m:funcPr>
                        <m:ctrlPr>
                          <a:rPr kumimoji="1" lang="en-US" altLang="zh-CN" sz="2600" i="1">
                            <a:latin typeface="Cambria Math" panose="02040503050406030204" pitchFamily="18" charset="0"/>
                            <a:ea typeface="楷体" panose="02010609060101010101" pitchFamily="49" charset="-122"/>
                          </a:rPr>
                        </m:ctrlPr>
                      </m:funcPr>
                      <m:fName>
                        <m:limLow>
                          <m:limLowPr>
                            <m:ctrlPr>
                              <a:rPr kumimoji="1" lang="en-US" altLang="zh-CN" sz="2600" i="1">
                                <a:latin typeface="Cambria Math" panose="02040503050406030204" pitchFamily="18" charset="0"/>
                                <a:ea typeface="楷体" panose="02010609060101010101" pitchFamily="49" charset="-122"/>
                              </a:rPr>
                            </m:ctrlPr>
                          </m:limLowPr>
                          <m:e>
                            <m:r>
                              <m:rPr>
                                <m:sty m:val="p"/>
                              </m:rPr>
                              <a:rPr kumimoji="1" lang="en-US" altLang="zh-CN" sz="2600">
                                <a:latin typeface="Cambria Math" panose="02040503050406030204" pitchFamily="18" charset="0"/>
                                <a:ea typeface="楷体" panose="02010609060101010101" pitchFamily="49" charset="-122"/>
                              </a:rPr>
                              <m:t>max</m:t>
                            </m:r>
                          </m:e>
                          <m:lim>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3</m:t>
                                </m:r>
                              </m:sub>
                            </m:sSub>
                          </m:lim>
                        </m:limLow>
                      </m:fName>
                      <m:e>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𝑟</m:t>
                            </m:r>
                          </m:e>
                          <m:sub>
                            <m:r>
                              <a:rPr kumimoji="1" lang="en-US" altLang="zh-CN" sz="2600" i="1">
                                <a:latin typeface="Cambria Math" panose="02040503050406030204" pitchFamily="18" charset="0"/>
                                <a:ea typeface="楷体" panose="02010609060101010101" pitchFamily="49" charset="-122"/>
                              </a:rPr>
                              <m:t>3</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𝑥</m:t>
                                </m:r>
                              </m:e>
                              <m:sub>
                                <m:r>
                                  <a:rPr kumimoji="1" lang="en-US" altLang="zh-CN" sz="2600" i="1">
                                    <a:latin typeface="Cambria Math" panose="02040503050406030204" pitchFamily="18" charset="0"/>
                                    <a:ea typeface="楷体" panose="02010609060101010101" pitchFamily="49" charset="-122"/>
                                  </a:rPr>
                                  <m:t>3</m:t>
                                </m:r>
                              </m:sub>
                            </m:sSub>
                          </m:e>
                        </m:d>
                        <m:r>
                          <a:rPr kumimoji="1" lang="en-US" altLang="zh-CN" sz="2600" i="1">
                            <a:latin typeface="Cambria Math" panose="02040503050406030204" pitchFamily="18" charset="0"/>
                            <a:ea typeface="楷体" panose="02010609060101010101" pitchFamily="49" charset="-122"/>
                          </a:rPr>
                          <m:t>+</m:t>
                        </m:r>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𝑓</m:t>
                            </m:r>
                          </m:e>
                          <m:sub>
                            <m:r>
                              <a:rPr kumimoji="1" lang="en-US" altLang="zh-CN" sz="2600" i="1">
                                <a:latin typeface="Cambria Math" panose="02040503050406030204" pitchFamily="18" charset="0"/>
                                <a:ea typeface="楷体" panose="02010609060101010101" pitchFamily="49" charset="-122"/>
                              </a:rPr>
                              <m:t>4</m:t>
                            </m:r>
                          </m:sub>
                        </m:sSub>
                        <m:d>
                          <m:dPr>
                            <m:ctrlPr>
                              <a:rPr kumimoji="1" lang="en-US" altLang="zh-CN" sz="2600" i="1">
                                <a:latin typeface="Cambria Math" panose="02040503050406030204" pitchFamily="18" charset="0"/>
                                <a:ea typeface="楷体" panose="02010609060101010101" pitchFamily="49" charset="-122"/>
                              </a:rPr>
                            </m:ctrlPr>
                          </m:dPr>
                          <m:e>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b="0" i="1" smtClean="0">
                                    <a:latin typeface="Cambria Math" panose="02040503050406030204" pitchFamily="18" charset="0"/>
                                    <a:ea typeface="楷体" panose="02010609060101010101" pitchFamily="49" charset="-122"/>
                                  </a:rPr>
                                  <m:t>3</m:t>
                                </m:r>
                              </m:sub>
                            </m:sSub>
                            <m:r>
                              <a:rPr kumimoji="1" lang="en-US" altLang="zh-CN" sz="2600" b="0" i="1" smtClean="0">
                                <a:latin typeface="Cambria Math" panose="02040503050406030204" pitchFamily="18" charset="0"/>
                                <a:ea typeface="楷体" panose="02010609060101010101" pitchFamily="49" charset="-122"/>
                              </a:rPr>
                              <m:t>−</m:t>
                            </m:r>
                            <m:r>
                              <a:rPr kumimoji="1" lang="en-US" altLang="zh-CN" sz="2600" b="0" i="1" smtClean="0">
                                <a:latin typeface="Cambria Math" panose="02040503050406030204" pitchFamily="18" charset="0"/>
                                <a:ea typeface="楷体" panose="02010609060101010101" pitchFamily="49" charset="-122"/>
                              </a:rPr>
                              <m:t>4</m:t>
                            </m:r>
                            <m:sSub>
                              <m:sSubPr>
                                <m:ctrlPr>
                                  <a:rPr kumimoji="1" lang="en-US" altLang="zh-CN" sz="2600" b="0" i="1" smtClean="0">
                                    <a:latin typeface="Cambria Math" panose="02040503050406030204" pitchFamily="18" charset="0"/>
                                    <a:ea typeface="楷体" panose="02010609060101010101" pitchFamily="49" charset="-122"/>
                                  </a:rPr>
                                </m:ctrlPr>
                              </m:sSubPr>
                              <m:e>
                                <m:r>
                                  <a:rPr kumimoji="1" lang="en-US" altLang="zh-CN" sz="2600" b="0" i="1" smtClean="0">
                                    <a:latin typeface="Cambria Math" panose="02040503050406030204" pitchFamily="18" charset="0"/>
                                    <a:ea typeface="楷体" panose="02010609060101010101" pitchFamily="49" charset="-122"/>
                                  </a:rPr>
                                  <m:t>𝑥</m:t>
                                </m:r>
                              </m:e>
                              <m:sub>
                                <m:r>
                                  <a:rPr kumimoji="1" lang="en-US" altLang="zh-CN" sz="2600" b="0" i="1" smtClean="0">
                                    <a:latin typeface="Cambria Math" panose="02040503050406030204" pitchFamily="18" charset="0"/>
                                    <a:ea typeface="楷体" panose="02010609060101010101" pitchFamily="49" charset="-122"/>
                                  </a:rPr>
                                  <m:t>3</m:t>
                                </m:r>
                              </m:sub>
                            </m:sSub>
                          </m:e>
                        </m:d>
                        <m:r>
                          <a:rPr kumimoji="1" lang="en-US" altLang="zh-CN" sz="2600" i="1">
                            <a:latin typeface="Cambria Math" panose="02040503050406030204" pitchFamily="18" charset="0"/>
                            <a:ea typeface="楷体" panose="02010609060101010101" pitchFamily="49" charset="-122"/>
                          </a:rPr>
                          <m:t>]</m:t>
                        </m:r>
                      </m:e>
                    </m:func>
                  </m:oMath>
                </a14:m>
                <a:endPar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pPr>
                <a:r>
                  <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sSub>
                      <m:sSubPr>
                        <m:ctrlPr>
                          <a:rPr kumimoji="1" lang="en-US" altLang="zh-CN" sz="2600" i="1">
                            <a:latin typeface="Cambria Math" panose="02040503050406030204" pitchFamily="18" charset="0"/>
                            <a:ea typeface="楷体" panose="02010609060101010101" pitchFamily="49" charset="-122"/>
                          </a:rPr>
                        </m:ctrlPr>
                      </m:sSubPr>
                      <m:e>
                        <m:r>
                          <a:rPr kumimoji="1" lang="en-US" altLang="zh-CN" sz="2600" i="1">
                            <a:latin typeface="Cambria Math" panose="02040503050406030204" pitchFamily="18" charset="0"/>
                            <a:ea typeface="楷体" panose="02010609060101010101" pitchFamily="49" charset="-122"/>
                          </a:rPr>
                          <m:t>𝑠</m:t>
                        </m:r>
                      </m:e>
                      <m:sub>
                        <m:r>
                          <a:rPr kumimoji="1" lang="en-US" altLang="zh-CN" sz="2600" i="1">
                            <a:latin typeface="Cambria Math" panose="02040503050406030204" pitchFamily="18" charset="0"/>
                            <a:ea typeface="楷体" panose="02010609060101010101" pitchFamily="49" charset="-122"/>
                          </a:rPr>
                          <m:t>3</m:t>
                        </m:r>
                      </m:sub>
                    </m:sSub>
                  </m:oMath>
                </a14:m>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至多为</a:t>
                </a:r>
                <a:r>
                  <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rPr>
                  <a:t>10</a:t>
                </a: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所以</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3</m:t>
                        </m:r>
                      </m:sub>
                    </m:sSub>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的取值可为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0,1,2</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pPr>
                <a:r>
                  <a:rPr kumimoji="1" lang="zh-CN" altLang="en-US" sz="2600" dirty="0">
                    <a:latin typeface="Times New Roman" panose="02020603050405020304" pitchFamily="18" charset="0"/>
                    <a:ea typeface="楷体" panose="02010609060101010101" pitchFamily="49" charset="-122"/>
                    <a:cs typeface="Times New Roman" panose="02020603050405020304" pitchFamily="18" charset="0"/>
                  </a:rPr>
                  <a:t>     数值计算见表。　</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90000"/>
                  </a:lnSpc>
                  <a:spcBef>
                    <a:spcPts val="300"/>
                  </a:spcBef>
                  <a:spcAft>
                    <a:spcPts val="300"/>
                  </a:spcAft>
                </a:pPr>
                <a:endParaRPr kumimoji="1" lang="en-US" altLang="zh-CN" sz="2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9466" name="Rectangle 3"/>
              <p:cNvSpPr>
                <a:spLocks noRot="1" noChangeAspect="1" noMove="1" noResize="1" noEditPoints="1" noAdjustHandles="1" noChangeArrowheads="1" noChangeShapeType="1" noTextEdit="1"/>
              </p:cNvSpPr>
              <p:nvPr/>
            </p:nvSpPr>
            <p:spPr bwMode="auto">
              <a:xfrm>
                <a:off x="1905000" y="980728"/>
                <a:ext cx="8382000" cy="5486400"/>
              </a:xfrm>
              <a:prstGeom prst="rect">
                <a:avLst/>
              </a:prstGeom>
              <a:blipFill rotWithShape="1">
                <a:blip r:embed="rId1"/>
                <a:stretch>
                  <a:fillRect t="-5" b="-79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nvGraphicFramePr>
            <p:xfrm>
              <a:off x="2672776" y="1412776"/>
              <a:ext cx="6845935" cy="4820920"/>
            </p:xfrm>
            <a:graphic>
              <a:graphicData uri="http://schemas.openxmlformats.org/drawingml/2006/table">
                <a:tbl>
                  <a:tblPr firstRow="1" bandRow="1">
                    <a:tableStyleId>{5C22544A-7EE6-4342-B048-85BDC9FD1C3A}</a:tableStyleId>
                  </a:tblPr>
                  <a:tblGrid>
                    <a:gridCol w="1369060"/>
                    <a:gridCol w="1012825"/>
                    <a:gridCol w="1079500"/>
                    <a:gridCol w="1151890"/>
                    <a:gridCol w="1080135"/>
                    <a:gridCol w="1152525"/>
                  </a:tblGrid>
                  <a:tr h="370840">
                    <a:tc rowSpan="2">
                      <a:txBody>
                        <a:bodyPr/>
                        <a:lstStyle/>
                        <a:p>
                          <a:pPr algn="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oMath>
                            </m:oMathPara>
                          </a14:m>
                          <a:endParaRPr lang="en-US" altLang="zh-CN" b="1" dirty="0"/>
                        </a:p>
                        <a:p>
                          <a:pPr algn="l"/>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𝟑</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𝟒</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rowSpan="2">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11+0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11+0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11+0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38" name="表格 37"/>
              <p:cNvGraphicFramePr>
                <a:graphicFrameLocks noGrp="1"/>
              </p:cNvGraphicFramePr>
              <p:nvPr/>
            </p:nvGraphicFramePr>
            <p:xfrm>
              <a:off x="2672776" y="1412776"/>
              <a:ext cx="6845935" cy="4820920"/>
            </p:xfrm>
            <a:graphic>
              <a:graphicData uri="http://schemas.openxmlformats.org/drawingml/2006/table">
                <a:tbl>
                  <a:tblPr firstRow="1" bandRow="1">
                    <a:tableStyleId>{5C22544A-7EE6-4342-B048-85BDC9FD1C3A}</a:tableStyleId>
                  </a:tblPr>
                  <a:tblGrid>
                    <a:gridCol w="1369060"/>
                    <a:gridCol w="1012825"/>
                    <a:gridCol w="1079500"/>
                    <a:gridCol w="1151890"/>
                    <a:gridCol w="1080135"/>
                    <a:gridCol w="1152525"/>
                  </a:tblGrid>
                  <a:tr h="370840">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1"/>
                        </a:blipFill>
                      </a:tcPr>
                    </a:tc>
                    <a:tc gridSpan="3">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hMerge="1">
                      <a:tcPr/>
                    </a:tc>
                    <a:tc hMerge="1">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11+0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11+0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11+0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11+0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1513" name="Rectangle 3"/>
              <p:cNvSpPr>
                <a:spLocks noChangeArrowheads="1"/>
              </p:cNvSpPr>
              <p:nvPr/>
            </p:nvSpPr>
            <p:spPr bwMode="auto">
              <a:xfrm>
                <a:off x="1905000" y="1089484"/>
                <a:ext cx="8382000" cy="4679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30000"/>
                  </a:lnSpc>
                  <a:spcBef>
                    <a:spcPts val="300"/>
                  </a:spcBef>
                  <a:spcAft>
                    <a:spcPts val="300"/>
                  </a:spcAft>
                </a:pPr>
                <a:r>
                  <a:rPr kumimoji="1" lang="zh-CN" altLang="en-US" sz="2600" b="1"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b="1" dirty="0">
                    <a:latin typeface="Times New Roman" panose="02020603050405020304" pitchFamily="18" charset="0"/>
                    <a:ea typeface="楷体" panose="02010609060101010101" pitchFamily="49" charset="-122"/>
                    <a:cs typeface="Times New Roman" panose="02020603050405020304" pitchFamily="18" charset="0"/>
                  </a:rPr>
                  <a:t>第二阶段：</a:t>
                </a:r>
                <a:endParaRPr kumimoji="1"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3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同样以每个</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2</m:t>
                        </m:r>
                      </m:sub>
                    </m:sSub>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值都有一种最优分配方案，使其最大盈利即</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3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最优</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子过程最优指标函数值为：</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ct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e>
                      </m:d>
                      <m:r>
                        <a:rPr kumimoji="1" lang="en-US" altLang="zh-CN" sz="2400" i="1">
                          <a:latin typeface="Cambria Math" panose="02040503050406030204" pitchFamily="18" charset="0"/>
                          <a:ea typeface="楷体" panose="02010609060101010101" pitchFamily="49" charset="-122"/>
                        </a:rPr>
                        <m:t>=</m:t>
                      </m:r>
                      <m:func>
                        <m:funcPr>
                          <m:ctrlPr>
                            <a:rPr kumimoji="1" lang="en-US" altLang="zh-CN" sz="2400" i="1">
                              <a:latin typeface="Cambria Math" panose="02040503050406030204" pitchFamily="18" charset="0"/>
                              <a:ea typeface="楷体" panose="02010609060101010101" pitchFamily="49" charset="-122"/>
                            </a:rPr>
                          </m:ctrlPr>
                        </m:funcPr>
                        <m:fName>
                          <m:limLow>
                            <m:limLowPr>
                              <m:ctrlPr>
                                <a:rPr kumimoji="1" lang="en-US" altLang="zh-CN" sz="2400" i="1">
                                  <a:latin typeface="Cambria Math" panose="02040503050406030204" pitchFamily="18" charset="0"/>
                                  <a:ea typeface="楷体" panose="02010609060101010101" pitchFamily="49" charset="-122"/>
                                </a:rPr>
                              </m:ctrlPr>
                            </m:limLowPr>
                            <m:e>
                              <m:r>
                                <m:rPr>
                                  <m:sty m:val="p"/>
                                </m:rPr>
                                <a:rPr kumimoji="1" lang="en-US" altLang="zh-CN" sz="2400">
                                  <a:latin typeface="Cambria Math" panose="02040503050406030204" pitchFamily="18" charset="0"/>
                                  <a:ea typeface="楷体" panose="02010609060101010101" pitchFamily="49" charset="-122"/>
                                </a:rPr>
                                <m:t>max</m:t>
                              </m:r>
                            </m:e>
                            <m:lim>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2</m:t>
                                  </m:r>
                                </m:sub>
                              </m:sSub>
                            </m:lim>
                          </m:limLow>
                        </m:fName>
                        <m:e>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𝑟</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2</m:t>
                                  </m:r>
                                </m:sub>
                              </m:sSub>
                            </m:e>
                          </m:d>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i="1">
                              <a:latin typeface="Cambria Math" panose="02040503050406030204" pitchFamily="18" charset="0"/>
                              <a:ea typeface="楷体" panose="02010609060101010101" pitchFamily="49" charset="-122"/>
                            </a:rPr>
                            <m:t>]</m:t>
                          </m:r>
                        </m:e>
                      </m:func>
                    </m:oMath>
                  </m:oMathPara>
                </a14:m>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30000"/>
                  </a:lnSpc>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因为</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3</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2</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3</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2</m:t>
                        </m:r>
                      </m:sub>
                    </m:sSub>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，故</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algn="ctr">
                  <a:lnSpc>
                    <a:spcPct val="130000"/>
                  </a:lnSpc>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2</m:t>
                            </m:r>
                          </m:sub>
                        </m:sSub>
                      </m:e>
                    </m:d>
                    <m:r>
                      <a:rPr kumimoji="1" lang="en-US" altLang="zh-CN" sz="2400" i="1">
                        <a:latin typeface="Cambria Math" panose="02040503050406030204" pitchFamily="18" charset="0"/>
                        <a:ea typeface="楷体" panose="02010609060101010101" pitchFamily="49" charset="-122"/>
                      </a:rPr>
                      <m:t>=</m:t>
                    </m:r>
                    <m:func>
                      <m:funcPr>
                        <m:ctrlPr>
                          <a:rPr kumimoji="1" lang="en-US" altLang="zh-CN" sz="2400" i="1">
                            <a:latin typeface="Cambria Math" panose="02040503050406030204" pitchFamily="18" charset="0"/>
                            <a:ea typeface="楷体" panose="02010609060101010101" pitchFamily="49" charset="-122"/>
                          </a:rPr>
                        </m:ctrlPr>
                      </m:funcPr>
                      <m:fName>
                        <m:limLow>
                          <m:limLowPr>
                            <m:ctrlPr>
                              <a:rPr kumimoji="1" lang="en-US" altLang="zh-CN" sz="2400" i="1">
                                <a:latin typeface="Cambria Math" panose="02040503050406030204" pitchFamily="18" charset="0"/>
                                <a:ea typeface="楷体" panose="02010609060101010101" pitchFamily="49" charset="-122"/>
                              </a:rPr>
                            </m:ctrlPr>
                          </m:limLowPr>
                          <m:e>
                            <m:r>
                              <m:rPr>
                                <m:sty m:val="p"/>
                              </m:rPr>
                              <a:rPr kumimoji="1" lang="en-US" altLang="zh-CN" sz="2400">
                                <a:latin typeface="Cambria Math" panose="02040503050406030204" pitchFamily="18" charset="0"/>
                                <a:ea typeface="楷体" panose="02010609060101010101" pitchFamily="49" charset="-122"/>
                              </a:rPr>
                              <m:t>max</m:t>
                            </m:r>
                          </m:e>
                          <m:lim>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2</m:t>
                                </m:r>
                              </m:sub>
                            </m:sSub>
                          </m:lim>
                        </m:limLow>
                      </m:fName>
                      <m:e>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𝑟</m:t>
                            </m:r>
                          </m:e>
                          <m:sub>
                            <m:r>
                              <a:rPr kumimoji="1" lang="en-US" altLang="zh-CN" sz="2400" i="1">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2</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2</m:t>
                                </m:r>
                              </m:sub>
                            </m:sSub>
                          </m:e>
                        </m:d>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3</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3</m:t>
                            </m:r>
                            <m:r>
                              <a:rPr kumimoji="1" lang="en-US" altLang="zh-CN" sz="2400" b="0" i="1" smtClean="0">
                                <a:latin typeface="Cambria Math" panose="02040503050406030204" pitchFamily="18" charset="0"/>
                                <a:ea typeface="楷体" panose="02010609060101010101" pitchFamily="49" charset="-122"/>
                              </a:rPr>
                              <m:t>𝑥</m:t>
                            </m:r>
                            <m:r>
                              <a:rPr kumimoji="1" lang="en-US" altLang="zh-CN" sz="2400" b="0" i="1" smtClean="0">
                                <a:latin typeface="Cambria Math" panose="02040503050406030204" pitchFamily="18" charset="0"/>
                                <a:ea typeface="楷体" panose="02010609060101010101" pitchFamily="49" charset="-122"/>
                              </a:rPr>
                              <m:t>_</m:t>
                            </m:r>
                            <m:r>
                              <a:rPr kumimoji="1" lang="en-US" altLang="zh-CN" sz="2400" b="0" i="1" smtClean="0">
                                <a:latin typeface="Cambria Math" panose="02040503050406030204" pitchFamily="18" charset="0"/>
                                <a:ea typeface="楷体" panose="02010609060101010101" pitchFamily="49" charset="-122"/>
                              </a:rPr>
                              <m:t>2</m:t>
                            </m:r>
                          </m:e>
                        </m:d>
                        <m:r>
                          <a:rPr kumimoji="1" lang="en-US" altLang="zh-CN" sz="2400" i="1">
                            <a:latin typeface="Cambria Math" panose="02040503050406030204" pitchFamily="18" charset="0"/>
                            <a:ea typeface="楷体" panose="02010609060101010101" pitchFamily="49" charset="-122"/>
                          </a:rPr>
                          <m:t>]</m:t>
                        </m:r>
                      </m:e>
                    </m:func>
                  </m:oMath>
                </a14:m>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pP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因为</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2</m:t>
                        </m:r>
                      </m:sub>
                    </m:sSub>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至多为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10</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，所以</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2</m:t>
                        </m:r>
                      </m:sub>
                    </m:sSub>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的取值为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0,1,2,3</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50000"/>
                  </a:lnSpc>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其数值计算见表。</a:t>
                </a: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21513" name="Rectangle 3"/>
              <p:cNvSpPr>
                <a:spLocks noRot="1" noChangeAspect="1" noMove="1" noResize="1" noEditPoints="1" noAdjustHandles="1" noChangeArrowheads="1" noChangeShapeType="1" noTextEdit="1"/>
              </p:cNvSpPr>
              <p:nvPr/>
            </p:nvSpPr>
            <p:spPr bwMode="auto">
              <a:xfrm>
                <a:off x="1905000" y="1089484"/>
                <a:ext cx="8382000" cy="4679032"/>
              </a:xfrm>
              <a:prstGeom prst="rect">
                <a:avLst/>
              </a:prstGeom>
              <a:blipFill rotWithShape="1">
                <a:blip r:embed="rId1"/>
                <a:stretch>
                  <a:fillRect t="-10" b="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nvGraphicFramePr>
            <p:xfrm>
              <a:off x="1991418" y="1412776"/>
              <a:ext cx="8208645" cy="4820920"/>
            </p:xfrm>
            <a:graphic>
              <a:graphicData uri="http://schemas.openxmlformats.org/drawingml/2006/table">
                <a:tbl>
                  <a:tblPr firstRow="1" bandRow="1">
                    <a:tableStyleId>{5C22544A-7EE6-4342-B048-85BDC9FD1C3A}</a:tableStyleId>
                  </a:tblPr>
                  <a:tblGrid>
                    <a:gridCol w="1224280"/>
                    <a:gridCol w="1224280"/>
                    <a:gridCol w="1151890"/>
                    <a:gridCol w="1367790"/>
                    <a:gridCol w="1151890"/>
                    <a:gridCol w="1080135"/>
                    <a:gridCol w="1008380"/>
                  </a:tblGrid>
                  <a:tr h="370840">
                    <a:tc rowSpan="2">
                      <a:txBody>
                        <a:bodyPr/>
                        <a:lstStyle/>
                        <a:p>
                          <a:pPr algn="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oMath>
                            </m:oMathPara>
                          </a14:m>
                          <a:endParaRPr lang="en-US" altLang="zh-CN" b="1" dirty="0"/>
                        </a:p>
                        <a:p>
                          <a:pPr algn="l"/>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4">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𝟐</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𝟑</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rowSpan="2">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oMath>
                            </m:oMathPara>
                          </a14:m>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0+0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8+0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0+11</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0+11</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16+0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0+22</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24+0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8+20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24+0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42" name="表格 41"/>
              <p:cNvGraphicFramePr>
                <a:graphicFrameLocks noGrp="1"/>
              </p:cNvGraphicFramePr>
              <p:nvPr/>
            </p:nvGraphicFramePr>
            <p:xfrm>
              <a:off x="1991418" y="1412776"/>
              <a:ext cx="8208645" cy="4820920"/>
            </p:xfrm>
            <a:graphic>
              <a:graphicData uri="http://schemas.openxmlformats.org/drawingml/2006/table">
                <a:tbl>
                  <a:tblPr firstRow="1" bandRow="1">
                    <a:tableStyleId>{5C22544A-7EE6-4342-B048-85BDC9FD1C3A}</a:tableStyleId>
                  </a:tblPr>
                  <a:tblGrid>
                    <a:gridCol w="1224280"/>
                    <a:gridCol w="1224280"/>
                    <a:gridCol w="1151890"/>
                    <a:gridCol w="1367790"/>
                    <a:gridCol w="1151890"/>
                    <a:gridCol w="1080135"/>
                    <a:gridCol w="1008380"/>
                  </a:tblGrid>
                  <a:tr h="370840">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1"/>
                        </a:blipFill>
                      </a:tcPr>
                    </a:tc>
                    <a:tc gridSpan="4">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hMerge="1">
                      <a:tcPr/>
                    </a:tc>
                    <a:tc hMerge="1">
                      <a:tcPr/>
                    </a:tc>
                    <a:tc hMerge="1">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rowSpan="2">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0+0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8+0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0+11</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0+11</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0+11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16+0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0+22</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8+11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24+0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0+22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rgbClr val="C00000"/>
                              </a:solidFill>
                              <a:latin typeface="Times New Roman" panose="02020603050405020304" pitchFamily="18" charset="0"/>
                              <a:cs typeface="Times New Roman" panose="02020603050405020304" pitchFamily="18" charset="0"/>
                            </a:rPr>
                            <a:t>8+20</a:t>
                          </a:r>
                          <a:endParaRPr lang="zh-CN" altLang="en-US"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16+11</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chemeClr val="tx1"/>
                              </a:solidFill>
                              <a:latin typeface="Times New Roman" panose="02020603050405020304" pitchFamily="18" charset="0"/>
                              <a:cs typeface="Times New Roman" panose="02020603050405020304" pitchFamily="18" charset="0"/>
                            </a:rPr>
                            <a:t>24+0</a:t>
                          </a:r>
                          <a:endParaRPr lang="zh-CN" alt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28</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3561" name="Rectangle 2"/>
              <p:cNvSpPr>
                <a:spLocks noChangeArrowheads="1"/>
              </p:cNvSpPr>
              <p:nvPr/>
            </p:nvSpPr>
            <p:spPr bwMode="auto">
              <a:xfrm>
                <a:off x="1804193" y="1484784"/>
                <a:ext cx="8583613" cy="359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50000"/>
                  </a:lnSpc>
                  <a:spcBef>
                    <a:spcPts val="300"/>
                  </a:spcBef>
                  <a:spcAft>
                    <a:spcPts val="300"/>
                  </a:spcAft>
                </a:pPr>
                <a:r>
                  <a:rPr kumimoji="1" lang="zh-CN" altLang="en-US" sz="2400" b="1" dirty="0">
                    <a:ea typeface="楷体" panose="02010609060101010101" pitchFamily="49" charset="-122"/>
                  </a:rPr>
                  <a:t>     第一阶段：</a:t>
                </a:r>
                <a:endParaRPr kumimoji="1" lang="zh-CN" altLang="en-US" sz="2400" b="1" dirty="0">
                  <a:ea typeface="楷体" panose="02010609060101010101" pitchFamily="49" charset="-122"/>
                </a:endParaRPr>
              </a:p>
              <a:p>
                <a:pPr marL="342900" indent="-342900" algn="just">
                  <a:lnSpc>
                    <a:spcPct val="150000"/>
                  </a:lnSpc>
                  <a:spcBef>
                    <a:spcPts val="300"/>
                  </a:spcBef>
                  <a:spcAft>
                    <a:spcPts val="300"/>
                  </a:spcAft>
                </a:pPr>
                <a:r>
                  <a:rPr kumimoji="1" lang="zh-CN" altLang="en-US" sz="2400" dirty="0">
                    <a:ea typeface="楷体" panose="02010609060101010101" pitchFamily="49" charset="-122"/>
                  </a:rPr>
                  <a:t>　   已知</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10</m:t>
                    </m:r>
                  </m:oMath>
                </a14:m>
                <a:r>
                  <a:rPr kumimoji="1" lang="zh-CN" altLang="en-US" sz="2400" dirty="0">
                    <a:ea typeface="楷体" panose="02010609060101010101" pitchFamily="49" charset="-122"/>
                  </a:rPr>
                  <a:t>，又因为</a:t>
                </a:r>
                <a14:m>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oMath>
                </a14:m>
                <a:r>
                  <a:rPr kumimoji="1" lang="zh-CN" altLang="en-US" sz="2400" dirty="0">
                    <a:ea typeface="楷体" panose="02010609060101010101" pitchFamily="49" charset="-122"/>
                  </a:rPr>
                  <a:t>，同样有 </a:t>
                </a:r>
                <a:endParaRPr kumimoji="1" lang="zh-CN" altLang="en-US" sz="2400" dirty="0">
                  <a:ea typeface="楷体" panose="02010609060101010101" pitchFamily="49" charset="-122"/>
                </a:endParaRPr>
              </a:p>
              <a:p>
                <a:pPr marL="342900" indent="-342900" algn="ctr">
                  <a:lnSpc>
                    <a:spcPct val="150000"/>
                  </a:lnSpc>
                  <a:spcBef>
                    <a:spcPts val="300"/>
                  </a:spcBef>
                  <a:spcAft>
                    <a:spcPts val="300"/>
                  </a:spcAft>
                </a:pPr>
                <a:r>
                  <a:rPr kumimoji="1" lang="zh-CN" altLang="en-US" sz="2400" dirty="0">
                    <a:ea typeface="楷体" panose="02010609060101010101" pitchFamily="49" charset="-122"/>
                  </a:rPr>
                  <a:t>      </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10</m:t>
                        </m:r>
                      </m:e>
                    </m:d>
                    <m:r>
                      <a:rPr kumimoji="1" lang="en-US" altLang="zh-CN" sz="2400" i="1">
                        <a:latin typeface="Cambria Math" panose="02040503050406030204" pitchFamily="18" charset="0"/>
                        <a:ea typeface="楷体" panose="02010609060101010101" pitchFamily="49" charset="-122"/>
                      </a:rPr>
                      <m:t>=</m:t>
                    </m:r>
                    <m:func>
                      <m:funcPr>
                        <m:ctrlPr>
                          <a:rPr kumimoji="1" lang="en-US" altLang="zh-CN" sz="2400" i="1">
                            <a:latin typeface="Cambria Math" panose="02040503050406030204" pitchFamily="18" charset="0"/>
                            <a:ea typeface="楷体" panose="02010609060101010101" pitchFamily="49" charset="-122"/>
                          </a:rPr>
                        </m:ctrlPr>
                      </m:funcPr>
                      <m:fName>
                        <m:limLow>
                          <m:limLowPr>
                            <m:ctrlPr>
                              <a:rPr kumimoji="1" lang="en-US" altLang="zh-CN" sz="2400" i="1">
                                <a:latin typeface="Cambria Math" panose="02040503050406030204" pitchFamily="18" charset="0"/>
                                <a:ea typeface="楷体" panose="02010609060101010101" pitchFamily="49" charset="-122"/>
                              </a:rPr>
                            </m:ctrlPr>
                          </m:limLowPr>
                          <m:e>
                            <m:r>
                              <m:rPr>
                                <m:sty m:val="p"/>
                              </m:rPr>
                              <a:rPr kumimoji="1" lang="en-US" altLang="zh-CN" sz="2400">
                                <a:latin typeface="Cambria Math" panose="02040503050406030204" pitchFamily="18" charset="0"/>
                                <a:ea typeface="楷体" panose="02010609060101010101" pitchFamily="49" charset="-122"/>
                              </a:rPr>
                              <m:t>max</m:t>
                            </m:r>
                          </m:e>
                          <m:lim>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lim>
                        </m:limLow>
                      </m:fName>
                      <m:e>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𝑟</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i="1">
                                <a:latin typeface="Cambria Math" panose="02040503050406030204" pitchFamily="18" charset="0"/>
                                <a:ea typeface="楷体" panose="02010609060101010101" pitchFamily="49" charset="-122"/>
                              </a:rPr>
                            </m:ctrlPr>
                          </m:dPr>
                          <m:e>
                            <m:r>
                              <a:rPr kumimoji="1" lang="en-US" altLang="zh-CN" sz="2400" b="0" i="1" smtClean="0">
                                <a:latin typeface="Cambria Math" panose="02040503050406030204" pitchFamily="18" charset="0"/>
                                <a:ea typeface="楷体" panose="02010609060101010101" pitchFamily="49" charset="-122"/>
                              </a:rPr>
                              <m:t>10</m:t>
                            </m:r>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i="1">
                                <a:latin typeface="Cambria Math" panose="02040503050406030204" pitchFamily="18" charset="0"/>
                                <a:ea typeface="楷体" panose="02010609060101010101" pitchFamily="49" charset="-122"/>
                              </a:rPr>
                            </m:ctrlPr>
                          </m:dPr>
                          <m:e>
                            <m:r>
                              <a:rPr kumimoji="1" lang="en-US" altLang="zh-CN" sz="2400" b="0" i="1" smtClean="0">
                                <a:latin typeface="Cambria Math" panose="02040503050406030204" pitchFamily="18" charset="0"/>
                                <a:ea typeface="楷体" panose="02010609060101010101" pitchFamily="49" charset="-122"/>
                              </a:rPr>
                              <m:t>10</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i="1">
                            <a:latin typeface="Cambria Math" panose="02040503050406030204" pitchFamily="18" charset="0"/>
                            <a:ea typeface="楷体" panose="02010609060101010101" pitchFamily="49" charset="-122"/>
                          </a:rPr>
                          <m:t>]</m:t>
                        </m:r>
                      </m:e>
                    </m:func>
                  </m:oMath>
                </a14:m>
                <a:endParaRPr kumimoji="1" lang="zh-CN" altLang="en-US" sz="2400" dirty="0">
                  <a:ea typeface="楷体" panose="02010609060101010101" pitchFamily="49" charset="-122"/>
                </a:endParaRPr>
              </a:p>
              <a:p>
                <a:pPr marL="342900" indent="-342900" algn="just">
                  <a:lnSpc>
                    <a:spcPct val="150000"/>
                  </a:lnSpc>
                  <a:spcBef>
                    <a:spcPts val="300"/>
                  </a:spcBef>
                  <a:spcAft>
                    <a:spcPts val="300"/>
                  </a:spcAft>
                </a:pPr>
                <a:r>
                  <a:rPr kumimoji="1" lang="zh-CN" altLang="en-US" sz="2400" dirty="0">
                    <a:ea typeface="楷体" panose="02010609060101010101" pitchFamily="49" charset="-122"/>
                  </a:rPr>
                  <a:t>因为</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1</m:t>
                        </m:r>
                      </m:sub>
                    </m:sSub>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10</m:t>
                    </m:r>
                  </m:oMath>
                </a14:m>
                <a:r>
                  <a:rPr kumimoji="1" lang="zh-CN" altLang="en-US" sz="2400" dirty="0">
                    <a:ea typeface="楷体" panose="02010609060101010101" pitchFamily="49" charset="-122"/>
                  </a:rPr>
                  <a:t>，故</a:t>
                </a:r>
                <a14:m>
                  <m:oMath xmlns:m="http://schemas.openxmlformats.org/officeDocument/2006/math">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1</m:t>
                        </m:r>
                      </m:sub>
                    </m:sSub>
                  </m:oMath>
                </a14:m>
                <a:r>
                  <a:rPr kumimoji="1" lang="zh-CN" altLang="en-US" sz="2400" dirty="0">
                    <a:ea typeface="楷体" panose="02010609060101010101" pitchFamily="49" charset="-122"/>
                  </a:rPr>
                  <a:t>可取值为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0,1,2, … ,10</a:t>
                </a:r>
                <a:r>
                  <a:rPr kumimoji="1" lang="zh-CN" altLang="en-US" sz="2400" dirty="0">
                    <a:ea typeface="楷体" panose="02010609060101010101" pitchFamily="49" charset="-122"/>
                  </a:rPr>
                  <a:t>。</a:t>
                </a:r>
                <a:endParaRPr kumimoji="1" lang="en-US" altLang="zh-CN" sz="2400" dirty="0">
                  <a:ea typeface="楷体" panose="02010609060101010101" pitchFamily="49" charset="-122"/>
                </a:endParaRPr>
              </a:p>
              <a:p>
                <a:pPr marL="342900" indent="-342900" algn="just">
                  <a:lnSpc>
                    <a:spcPct val="150000"/>
                  </a:lnSpc>
                  <a:spcBef>
                    <a:spcPts val="300"/>
                  </a:spcBef>
                  <a:spcAft>
                    <a:spcPts val="300"/>
                  </a:spcAft>
                </a:pPr>
                <a:r>
                  <a:rPr kumimoji="1" lang="zh-CN" altLang="en-US" sz="2400" dirty="0">
                    <a:ea typeface="楷体" panose="02010609060101010101" pitchFamily="49" charset="-122"/>
                  </a:rPr>
                  <a:t>     其数值计算见表。　　　　     </a:t>
                </a:r>
                <a:endParaRPr kumimoji="1" lang="en-US" altLang="zh-CN" sz="2400" dirty="0">
                  <a:ea typeface="楷体" panose="02010609060101010101" pitchFamily="49" charset="-122"/>
                </a:endParaRPr>
              </a:p>
              <a:p>
                <a:pPr marL="342900" indent="-342900">
                  <a:lnSpc>
                    <a:spcPct val="150000"/>
                  </a:lnSpc>
                </a:pPr>
                <a:endParaRPr kumimoji="1" lang="en-US" altLang="zh-CN" sz="2000" dirty="0">
                  <a:ea typeface="楷体" panose="02010609060101010101" pitchFamily="49" charset="-122"/>
                </a:endParaRPr>
              </a:p>
            </p:txBody>
          </p:sp>
        </mc:Choice>
        <mc:Fallback>
          <p:sp>
            <p:nvSpPr>
              <p:cNvPr id="23561" name="Rectangle 2"/>
              <p:cNvSpPr>
                <a:spLocks noRot="1" noChangeAspect="1" noMove="1" noResize="1" noEditPoints="1" noAdjustHandles="1" noChangeArrowheads="1" noChangeShapeType="1" noTextEdit="1"/>
              </p:cNvSpPr>
              <p:nvPr/>
            </p:nvSpPr>
            <p:spPr bwMode="auto">
              <a:xfrm>
                <a:off x="1804193" y="1484784"/>
                <a:ext cx="8583613" cy="3598912"/>
              </a:xfrm>
              <a:prstGeom prst="rect">
                <a:avLst/>
              </a:prstGeom>
              <a:blipFill rotWithShape="1">
                <a:blip r:embed="rId1"/>
                <a:stretch>
                  <a:fillRect l="-2" t="-4" r="6" b="-74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1669854" y="2760662"/>
              <a:ext cx="8854440" cy="1264285"/>
            </p:xfrm>
            <a:graphic>
              <a:graphicData uri="http://schemas.openxmlformats.org/drawingml/2006/table">
                <a:tbl>
                  <a:tblPr firstRow="1" bandRow="1">
                    <a:tableStyleId>{5C22544A-7EE6-4342-B048-85BDC9FD1C3A}</a:tableStyleId>
                  </a:tblPr>
                  <a:tblGrid>
                    <a:gridCol w="632460"/>
                    <a:gridCol w="632460"/>
                    <a:gridCol w="632460"/>
                    <a:gridCol w="632460"/>
                    <a:gridCol w="632460"/>
                    <a:gridCol w="632460"/>
                    <a:gridCol w="632460"/>
                    <a:gridCol w="632460"/>
                    <a:gridCol w="632460"/>
                    <a:gridCol w="632460"/>
                    <a:gridCol w="632460"/>
                    <a:gridCol w="632460"/>
                    <a:gridCol w="632460"/>
                    <a:gridCol w="632460"/>
                  </a:tblGrid>
                  <a:tr h="380365">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oMath>
                            </m:oMathPara>
                          </a14:m>
                          <a:endParaRPr lang="en-US" altLang="zh-CN" b="1" dirty="0"/>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11">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𝟏</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𝟏𝟎</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𝟏𝟎</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c hMerge="1">
                      <a:tcPr/>
                    </a:tc>
                    <a:tc hMerge="1">
                      <a:tcPr/>
                    </a:tc>
                    <a:tc hMerge="1">
                      <a:tcPr/>
                    </a:tc>
                    <a:tc hMerge="1">
                      <a:tcPr/>
                    </a:tc>
                    <a:tc hMerge="1">
                      <a:tcPr/>
                    </a:tc>
                    <a:tc hMerge="1">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𝒇</m:t>
                                    </m:r>
                                  </m:e>
                                  <m:sub>
                                    <m:r>
                                      <a:rPr lang="en-US" altLang="zh-CN" sz="1200" b="1" i="1" smtClean="0">
                                        <a:latin typeface="Cambria Math" panose="02040503050406030204" pitchFamily="18" charset="0"/>
                                      </a:rPr>
                                      <m:t>𝟏</m:t>
                                    </m:r>
                                  </m:sub>
                                </m:sSub>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𝟏𝟎</m:t>
                                </m:r>
                                <m:r>
                                  <a:rPr lang="en-US" altLang="zh-CN" sz="1200" b="1" i="1" smtClean="0">
                                    <a:latin typeface="Cambria Math" panose="02040503050406030204" pitchFamily="18" charset="0"/>
                                  </a:rPr>
                                  <m:t>)</m:t>
                                </m:r>
                              </m:oMath>
                            </m:oMathPara>
                          </a14:m>
                          <a:endParaRPr lang="zh-CN" altLang="en-US" sz="12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m:oMathPara>
                          </a14:m>
                          <a:endParaRPr lang="zh-CN" alt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2745">
                    <a:tc vMerge="1">
                      <a:tcPr/>
                    </a:tc>
                    <a:tc>
                      <a:txBody>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6</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7</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8</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9</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511175">
                    <a:tc>
                      <a:txBody>
                        <a:bodyPr/>
                        <a:lstStyle/>
                        <a:p>
                          <a:pPr algn="ctr"/>
                          <a:r>
                            <a:rPr lang="en-US" altLang="zh-CN" sz="1400" b="1" dirty="0">
                              <a:latin typeface="Times New Roman" panose="02020603050405020304" pitchFamily="18" charset="0"/>
                              <a:cs typeface="Times New Roman" panose="02020603050405020304" pitchFamily="18" charset="0"/>
                            </a:rPr>
                            <a:t>10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C00000"/>
                              </a:solidFill>
                              <a:latin typeface="Times New Roman" panose="02020603050405020304" pitchFamily="18" charset="0"/>
                              <a:cs typeface="Times New Roman" panose="02020603050405020304" pitchFamily="18" charset="0"/>
                            </a:rPr>
                            <a:t>0+28</a:t>
                          </a:r>
                          <a:endParaRPr lang="zh-CN" altLang="en-US" sz="1400" b="1" dirty="0">
                            <a:solidFill>
                              <a:srgbClr val="C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2+24</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4+22</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6+20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8+16</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10+11</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12+11</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14+8</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16+0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18+0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20+0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28</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表格 1"/>
              <p:cNvGraphicFramePr>
                <a:graphicFrameLocks noGrp="1"/>
              </p:cNvGraphicFramePr>
              <p:nvPr/>
            </p:nvGraphicFramePr>
            <p:xfrm>
              <a:off x="1669854" y="2760662"/>
              <a:ext cx="8854440" cy="1264285"/>
            </p:xfrm>
            <a:graphic>
              <a:graphicData uri="http://schemas.openxmlformats.org/drawingml/2006/table">
                <a:tbl>
                  <a:tblPr firstRow="1" bandRow="1">
                    <a:tableStyleId>{5C22544A-7EE6-4342-B048-85BDC9FD1C3A}</a:tableStyleId>
                  </a:tblPr>
                  <a:tblGrid>
                    <a:gridCol w="632460"/>
                    <a:gridCol w="632460"/>
                    <a:gridCol w="632460"/>
                    <a:gridCol w="632460"/>
                    <a:gridCol w="632460"/>
                    <a:gridCol w="632460"/>
                    <a:gridCol w="632460"/>
                    <a:gridCol w="632460"/>
                    <a:gridCol w="632460"/>
                    <a:gridCol w="632460"/>
                    <a:gridCol w="632460"/>
                    <a:gridCol w="632460"/>
                    <a:gridCol w="632460"/>
                    <a:gridCol w="632460"/>
                  </a:tblGrid>
                  <a:tr h="380365">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1"/>
                        </a:blipFill>
                      </a:tcPr>
                    </a:tc>
                    <a:tc gridSpan="11">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hMerge="1">
                      <a:tcPr/>
                    </a:tc>
                    <a:tc hMerge="1">
                      <a:tcPr/>
                    </a:tc>
                    <a:tc hMerge="1">
                      <a:tcPr/>
                    </a:tc>
                    <a:tc hMerge="1">
                      <a:tcPr/>
                    </a:tc>
                    <a:tc hMerge="1">
                      <a:tcPr/>
                    </a:tc>
                    <a:tc hMerge="1">
                      <a:tcPr/>
                    </a:tc>
                    <a:tc hMerge="1">
                      <a:tcPr/>
                    </a:tc>
                    <a:tc hMerge="1">
                      <a:tcPr/>
                    </a:tc>
                    <a:tc hMerge="1">
                      <a:tcPr/>
                    </a:tc>
                    <a:tc hMerge="1">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r>
                  <a:tr h="372745">
                    <a:tc vMerge="1">
                      <a:tcPr/>
                    </a:tc>
                    <a:tc>
                      <a:txBody>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6</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7</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8</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9</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511175">
                    <a:tc>
                      <a:txBody>
                        <a:bodyPr/>
                        <a:lstStyle/>
                        <a:p>
                          <a:pPr algn="ctr"/>
                          <a:r>
                            <a:rPr lang="en-US" altLang="zh-CN" sz="1400" b="1" dirty="0">
                              <a:latin typeface="Times New Roman" panose="02020603050405020304" pitchFamily="18" charset="0"/>
                              <a:cs typeface="Times New Roman" panose="02020603050405020304" pitchFamily="18" charset="0"/>
                            </a:rPr>
                            <a:t>10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solidFill>
                                <a:srgbClr val="C00000"/>
                              </a:solidFill>
                              <a:latin typeface="Times New Roman" panose="02020603050405020304" pitchFamily="18" charset="0"/>
                              <a:cs typeface="Times New Roman" panose="02020603050405020304" pitchFamily="18" charset="0"/>
                            </a:rPr>
                            <a:t>0+28</a:t>
                          </a:r>
                          <a:endParaRPr lang="zh-CN" altLang="en-US" sz="1400" b="1" dirty="0">
                            <a:solidFill>
                              <a:srgbClr val="C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2+24</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4+22</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6+20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8+16</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10+11</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12+11</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14+8</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16+0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18+0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20+0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28</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1" dirty="0">
                              <a:latin typeface="Times New Roman" panose="02020603050405020304" pitchFamily="18" charset="0"/>
                              <a:cs typeface="Times New Roman" panose="02020603050405020304" pitchFamily="18" charset="0"/>
                            </a:rPr>
                            <a:t>0</a:t>
                          </a:r>
                          <a:endParaRPr lang="zh-CN" altLang="en-US" sz="1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5620" name="矩形 7"/>
              <p:cNvSpPr>
                <a:spLocks noChangeArrowheads="1"/>
              </p:cNvSpPr>
              <p:nvPr/>
            </p:nvSpPr>
            <p:spPr bwMode="auto">
              <a:xfrm>
                <a:off x="1738313" y="1071563"/>
                <a:ext cx="85725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719455" algn="just">
                  <a:lnSpc>
                    <a:spcPct val="150000"/>
                  </a:lnSpc>
                  <a:spcBef>
                    <a:spcPts val="300"/>
                  </a:spcBef>
                  <a:spcAft>
                    <a:spcPts val="300"/>
                  </a:spcAft>
                </a:pP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现在我们假设该咨询公司的工作计划有所改变，只有</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个工作日来处理这四类咨询项目，那么该咨询公司如何选择客户使得获利最大？我们</a:t>
                </a:r>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只要在第一阶段上把</a:t>
                </a:r>
                <a14:m>
                  <m:oMath xmlns:m="http://schemas.openxmlformats.org/officeDocument/2006/math">
                    <m:sSub>
                      <m:sSubPr>
                        <m:ctrlPr>
                          <a:rPr kumimoji="1" lang="en-US" altLang="zh-CN" sz="2400" b="1" i="1" dirty="0" smtClean="0">
                            <a:solidFill>
                              <a:srgbClr val="FF0000"/>
                            </a:solidFill>
                            <a:latin typeface="Cambria Math" panose="02040503050406030204" pitchFamily="18" charset="0"/>
                            <a:ea typeface="楷体" panose="02010609060101010101" pitchFamily="49" charset="-122"/>
                            <a:cs typeface="Times New Roman" panose="02020603050405020304" pitchFamily="18" charset="0"/>
                          </a:rPr>
                        </m:ctrlPr>
                      </m:sSubPr>
                      <m:e>
                        <m:r>
                          <a:rPr kumimoji="1" lang="en-US" altLang="zh-CN" sz="2400" b="1" i="1" dirty="0" smtClean="0">
                            <a:solidFill>
                              <a:srgbClr val="FF0000"/>
                            </a:solidFill>
                            <a:latin typeface="Cambria Math" panose="02040503050406030204" pitchFamily="18" charset="0"/>
                            <a:ea typeface="楷体" panose="02010609060101010101" pitchFamily="49" charset="-122"/>
                            <a:cs typeface="Times New Roman" panose="02020603050405020304" pitchFamily="18" charset="0"/>
                          </a:rPr>
                          <m:t>𝒔</m:t>
                        </m:r>
                      </m:e>
                      <m:sub>
                        <m:r>
                          <a:rPr kumimoji="1" lang="en-US" altLang="zh-CN" sz="2400" b="1" i="1" dirty="0" smtClean="0">
                            <a:solidFill>
                              <a:srgbClr val="FF0000"/>
                            </a:solidFill>
                            <a:latin typeface="Cambria Math" panose="02040503050406030204" pitchFamily="18" charset="0"/>
                            <a:ea typeface="楷体" panose="02010609060101010101" pitchFamily="49" charset="-122"/>
                            <a:cs typeface="Times New Roman" panose="02020603050405020304" pitchFamily="18" charset="0"/>
                          </a:rPr>
                          <m:t>𝟏</m:t>
                        </m:r>
                      </m:sub>
                    </m:sSub>
                  </m:oMath>
                </a14:m>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改成</a:t>
                </a:r>
                <a:r>
                  <a:rPr kumimoji="1"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8</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，重新计算即可，如下表所示，这是动态规划的一个好处。</a:t>
                </a:r>
                <a:endPar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25620" name="矩形 7"/>
              <p:cNvSpPr>
                <a:spLocks noRot="1" noChangeAspect="1" noMove="1" noResize="1" noEditPoints="1" noAdjustHandles="1" noChangeArrowheads="1" noChangeShapeType="1" noTextEdit="1"/>
              </p:cNvSpPr>
              <p:nvPr/>
            </p:nvSpPr>
            <p:spPr bwMode="auto">
              <a:xfrm>
                <a:off x="1738313" y="1071563"/>
                <a:ext cx="8572500" cy="2306955"/>
              </a:xfrm>
              <a:prstGeom prst="rect">
                <a:avLst/>
              </a:prstGeom>
              <a:blipFill rotWithShape="1">
                <a:blip r:embed="rId1"/>
                <a:stretch>
                  <a:fillRect l="-4" t="-14" r="4"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3" name="表格 22"/>
              <p:cNvGraphicFramePr>
                <a:graphicFrameLocks noGrp="1"/>
              </p:cNvGraphicFramePr>
              <p:nvPr/>
            </p:nvGraphicFramePr>
            <p:xfrm>
              <a:off x="1732818" y="3789040"/>
              <a:ext cx="8726170" cy="1383337"/>
            </p:xfrm>
            <a:graphic>
              <a:graphicData uri="http://schemas.openxmlformats.org/drawingml/2006/table">
                <a:tbl>
                  <a:tblPr firstRow="1" bandRow="1">
                    <a:tableStyleId>{5C22544A-7EE6-4342-B048-85BDC9FD1C3A}</a:tableStyleId>
                  </a:tblPr>
                  <a:tblGrid>
                    <a:gridCol w="727075"/>
                    <a:gridCol w="727075"/>
                    <a:gridCol w="727710"/>
                    <a:gridCol w="727075"/>
                    <a:gridCol w="727075"/>
                    <a:gridCol w="727075"/>
                    <a:gridCol w="727075"/>
                    <a:gridCol w="727710"/>
                    <a:gridCol w="727075"/>
                    <a:gridCol w="727075"/>
                    <a:gridCol w="727075"/>
                    <a:gridCol w="727075"/>
                  </a:tblGrid>
                  <a:tr h="415992">
                    <a:tc rowSpan="2">
                      <a:txBody>
                        <a:bodyPr/>
                        <a:lstStyle/>
                        <a:p>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oMath>
                            </m:oMathPara>
                          </a14:m>
                          <a:endParaRPr lang="en-US" altLang="zh-CN" b="1" dirty="0"/>
                        </a:p>
                        <a:p>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gridSpan="9">
                      <a:txBody>
                        <a:bodyPr/>
                        <a:lstStyle/>
                        <a:p>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𝟏</m:t>
                                    </m:r>
                                  </m:sub>
                                </m:sSub>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𝟖</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𝟖</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c hMerge="1">
                      <a:tcPr/>
                    </a:tc>
                    <a:tc hMerge="1">
                      <a:tcPr/>
                    </a:tc>
                    <a:tc hMerge="1">
                      <a:tcPr/>
                    </a:tc>
                    <a:tc hMerge="1">
                      <a:tcPr/>
                    </a:tc>
                    <a:tc rowSpan="2">
                      <a:txBody>
                        <a:bodyPr/>
                        <a:lstStyle/>
                        <a:p>
                          <a14:m>
                            <m:oMathPara xmlns:m="http://schemas.openxmlformats.org/officeDocument/2006/math">
                              <m:oMathParaPr>
                                <m:jc m:val="center"/>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𝒇</m:t>
                                    </m:r>
                                  </m:e>
                                  <m:sub>
                                    <m:r>
                                      <a:rPr lang="en-US" altLang="zh-CN" sz="1600" b="1" i="1" smtClean="0">
                                        <a:latin typeface="Cambria Math" panose="02040503050406030204" pitchFamily="18" charset="0"/>
                                      </a:rPr>
                                      <m:t>𝟏</m:t>
                                    </m:r>
                                  </m:sub>
                                </m:sSub>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𝟖</m:t>
                                </m:r>
                                <m:r>
                                  <a:rPr lang="en-US" altLang="zh-CN" sz="1600" b="1" i="1" smtClean="0">
                                    <a:latin typeface="Cambria Math" panose="02040503050406030204" pitchFamily="18" charset="0"/>
                                  </a:rPr>
                                  <m:t>)</m:t>
                                </m:r>
                              </m:oMath>
                            </m:oMathPara>
                          </a14:m>
                          <a:endParaRPr lang="zh-CN" alt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m:oMathPara>
                          </a14:m>
                          <a:endParaRPr lang="zh-CN" alt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8603">
                    <a:tc vMerge="1">
                      <a:tcPr/>
                    </a:tc>
                    <a:tc>
                      <a:txBody>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6</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7</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8</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558742">
                    <a:tc>
                      <a:txBody>
                        <a:bodyPr/>
                        <a:lstStyle/>
                        <a:p>
                          <a:pPr algn="ctr"/>
                          <a:r>
                            <a:rPr lang="en-US" altLang="zh-CN" sz="1800" b="1" dirty="0" smtClean="0">
                              <a:latin typeface="Times New Roman" panose="02020603050405020304" pitchFamily="18" charset="0"/>
                              <a:cs typeface="Times New Roman" panose="02020603050405020304" pitchFamily="18" charset="0"/>
                            </a:rPr>
                            <a:t>8</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C00000"/>
                              </a:solidFill>
                              <a:latin typeface="Times New Roman" panose="02020603050405020304" pitchFamily="18" charset="0"/>
                              <a:cs typeface="Times New Roman" panose="02020603050405020304" pitchFamily="18" charset="0"/>
                            </a:rPr>
                            <a:t>0+22</a:t>
                          </a:r>
                          <a:endParaRPr lang="zh-CN" altLang="en-US" sz="1800" b="1" dirty="0">
                            <a:solidFill>
                              <a:srgbClr val="C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C00000"/>
                              </a:solidFill>
                              <a:latin typeface="Times New Roman" panose="02020603050405020304" pitchFamily="18" charset="0"/>
                              <a:cs typeface="Times New Roman" panose="02020603050405020304" pitchFamily="18" charset="0"/>
                            </a:rPr>
                            <a:t>2+20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4+16</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6+11</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8+11</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10+8</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12+0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14+0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16+0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smtClean="0">
                              <a:latin typeface="Times New Roman" panose="02020603050405020304" pitchFamily="18" charset="0"/>
                              <a:cs typeface="Times New Roman" panose="02020603050405020304" pitchFamily="18" charset="0"/>
                            </a:rPr>
                            <a:t>22</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0, </a:t>
                          </a:r>
                          <a:r>
                            <a:rPr lang="en-US" altLang="zh-CN" sz="1800" b="1" dirty="0">
                              <a:latin typeface="Times New Roman" panose="02020603050405020304" pitchFamily="18" charset="0"/>
                              <a:cs typeface="Times New Roman" panose="02020603050405020304" pitchFamily="18" charset="0"/>
                            </a:rPr>
                            <a:t>1</a:t>
                          </a:r>
                          <a:endParaRPr lang="en-US" altLang="zh-CN"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3" name="表格 22"/>
              <p:cNvGraphicFramePr>
                <a:graphicFrameLocks noGrp="1"/>
              </p:cNvGraphicFramePr>
              <p:nvPr/>
            </p:nvGraphicFramePr>
            <p:xfrm>
              <a:off x="1732818" y="3789040"/>
              <a:ext cx="8726170" cy="1383337"/>
            </p:xfrm>
            <a:graphic>
              <a:graphicData uri="http://schemas.openxmlformats.org/drawingml/2006/table">
                <a:tbl>
                  <a:tblPr firstRow="1" bandRow="1">
                    <a:tableStyleId>{5C22544A-7EE6-4342-B048-85BDC9FD1C3A}</a:tableStyleId>
                  </a:tblPr>
                  <a:tblGrid>
                    <a:gridCol w="727075"/>
                    <a:gridCol w="727075"/>
                    <a:gridCol w="727710"/>
                    <a:gridCol w="727075"/>
                    <a:gridCol w="727075"/>
                    <a:gridCol w="727075"/>
                    <a:gridCol w="727075"/>
                    <a:gridCol w="727710"/>
                    <a:gridCol w="727075"/>
                    <a:gridCol w="727075"/>
                    <a:gridCol w="727075"/>
                    <a:gridCol w="727075"/>
                  </a:tblGrid>
                  <a:tr h="415925">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blipFill>
                          <a:blip r:embed="rId2"/>
                        </a:blipFill>
                      </a:tcPr>
                    </a:tc>
                    <a:tc gridSpan="9">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hMerge="1">
                      <a:tcPr/>
                    </a:tc>
                    <a:tc hMerge="1">
                      <a:tcPr/>
                    </a:tc>
                    <a:tc hMerge="1">
                      <a:tcPr/>
                    </a:tc>
                    <a:tc hMerge="1">
                      <a:tcPr/>
                    </a:tc>
                    <a:tc hMerge="1">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408603">
                    <a:tc vMerge="1">
                      <a:tcPr/>
                    </a:tc>
                    <a:tc>
                      <a:txBody>
                        <a:bodyPr/>
                        <a:lstStyle/>
                        <a:p>
                          <a:pPr algn="ctr"/>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1</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3</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5</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6</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7</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latin typeface="Times New Roman" panose="02020603050405020304" pitchFamily="18" charset="0"/>
                              <a:cs typeface="Times New Roman" panose="02020603050405020304" pitchFamily="18" charset="0"/>
                            </a:rPr>
                            <a:t>8</a:t>
                          </a:r>
                          <a:endParaRPr lang="zh-CN" alt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558742">
                    <a:tc>
                      <a:txBody>
                        <a:bodyPr/>
                        <a:lstStyle/>
                        <a:p>
                          <a:pPr algn="ctr"/>
                          <a:r>
                            <a:rPr lang="en-US" altLang="zh-CN" sz="1800" b="1" dirty="0" smtClean="0">
                              <a:latin typeface="Times New Roman" panose="02020603050405020304" pitchFamily="18" charset="0"/>
                              <a:cs typeface="Times New Roman" panose="02020603050405020304" pitchFamily="18" charset="0"/>
                            </a:rPr>
                            <a:t>8</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C00000"/>
                              </a:solidFill>
                              <a:latin typeface="Times New Roman" panose="02020603050405020304" pitchFamily="18" charset="0"/>
                              <a:cs typeface="Times New Roman" panose="02020603050405020304" pitchFamily="18" charset="0"/>
                            </a:rPr>
                            <a:t>0+22</a:t>
                          </a:r>
                          <a:endParaRPr lang="zh-CN" altLang="en-US" sz="1800" b="1" dirty="0">
                            <a:solidFill>
                              <a:srgbClr val="C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solidFill>
                                <a:srgbClr val="C00000"/>
                              </a:solidFill>
                              <a:latin typeface="Times New Roman" panose="02020603050405020304" pitchFamily="18" charset="0"/>
                              <a:cs typeface="Times New Roman" panose="02020603050405020304" pitchFamily="18" charset="0"/>
                            </a:rPr>
                            <a:t>2+20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4+16</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6+11</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8+11</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10+8</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12+0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14+0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16+0</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smtClean="0">
                              <a:latin typeface="Times New Roman" panose="02020603050405020304" pitchFamily="18" charset="0"/>
                              <a:cs typeface="Times New Roman" panose="02020603050405020304" pitchFamily="18" charset="0"/>
                            </a:rPr>
                            <a:t>22</a:t>
                          </a:r>
                          <a:endParaRPr lang="zh-CN" altLang="en-US"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1" dirty="0">
                              <a:latin typeface="Times New Roman" panose="02020603050405020304" pitchFamily="18" charset="0"/>
                              <a:cs typeface="Times New Roman" panose="02020603050405020304" pitchFamily="18" charset="0"/>
                            </a:rPr>
                            <a:t>0, </a:t>
                          </a:r>
                          <a:r>
                            <a:rPr lang="en-US" altLang="zh-CN" sz="1800" b="1" dirty="0">
                              <a:latin typeface="Times New Roman" panose="02020603050405020304" pitchFamily="18" charset="0"/>
                              <a:cs typeface="Times New Roman" panose="02020603050405020304" pitchFamily="18" charset="0"/>
                            </a:rPr>
                            <a:t>1</a:t>
                          </a:r>
                          <a:endParaRPr lang="en-US" altLang="zh-CN" sz="18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5605" name="Rectangle 3"/>
              <p:cNvSpPr>
                <a:spLocks noChangeArrowheads="1"/>
              </p:cNvSpPr>
              <p:nvPr/>
            </p:nvSpPr>
            <p:spPr bwMode="auto">
              <a:xfrm>
                <a:off x="1666875" y="1314450"/>
                <a:ext cx="8620125" cy="4994870"/>
              </a:xfrm>
              <a:prstGeom prst="rect">
                <a:avLst/>
              </a:prstGeom>
              <a:noFill/>
              <a:ln w="9525">
                <a:noFill/>
                <a:miter lim="800000"/>
              </a:ln>
            </p:spPr>
            <p:txBody>
              <a:bodyPr/>
              <a:lstStyle/>
              <a:p>
                <a:pPr indent="720090" algn="just">
                  <a:lnSpc>
                    <a:spcPct val="90000"/>
                  </a:lnSpc>
                  <a:spcBef>
                    <a:spcPts val="300"/>
                  </a:spcBef>
                  <a:spcAft>
                    <a:spcPts val="300"/>
                  </a:spcAft>
                  <a:defRPr/>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从而得到两组最优解如下：</a:t>
                </a: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ctr">
                  <a:lnSpc>
                    <a:spcPct val="90000"/>
                  </a:lnSpc>
                  <a:spcBef>
                    <a:spcPts val="300"/>
                  </a:spcBef>
                  <a:spcAft>
                    <a:spcPts val="300"/>
                  </a:spcAft>
                  <a:defRPr/>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ctr">
                  <a:lnSpc>
                    <a:spcPct val="90000"/>
                  </a:lnSpc>
                  <a:spcBef>
                    <a:spcPts val="300"/>
                  </a:spcBef>
                  <a:spcAft>
                    <a:spcPts val="300"/>
                  </a:spcAft>
                  <a:defRPr/>
                </a:pPr>
                <a14:m>
                  <m:oMath xmlns:m="http://schemas.openxmlformats.org/officeDocument/2006/math">
                    <m:r>
                      <a:rPr kumimoji="1" lang="en-US" altLang="zh-CN" sz="2400">
                        <a:latin typeface="Cambria Math" panose="02040503050406030204" pitchFamily="18" charset="0"/>
                        <a:ea typeface="楷体" panose="02010609060101010101" pitchFamily="49" charset="-122"/>
                      </a:rPr>
                      <m:t>1</m:t>
                    </m:r>
                    <m:r>
                      <a:rPr kumimoji="1" lang="en-US" altLang="zh-CN" sz="2400" b="0" i="0" smtClean="0">
                        <a:latin typeface="Cambria Math" panose="02040503050406030204" pitchFamily="18" charset="0"/>
                        <a:ea typeface="楷体" panose="02010609060101010101" pitchFamily="49" charset="-122"/>
                      </a:rPr>
                      <m:t>.</m:t>
                    </m:r>
                    <m:d>
                      <m:dPr>
                        <m:begChr m:val="{"/>
                        <m:endChr m:val=""/>
                        <m:ctrlPr>
                          <a:rPr kumimoji="1" lang="en-US" altLang="zh-CN" sz="2400" i="1" smtClean="0">
                            <a:latin typeface="Cambria Math" panose="02040503050406030204" pitchFamily="18" charset="0"/>
                            <a:ea typeface="楷体" panose="02010609060101010101" pitchFamily="49" charset="-122"/>
                          </a:rPr>
                        </m:ctrlPr>
                      </m:dPr>
                      <m:e>
                        <m:m>
                          <m:mPr>
                            <m:mcs>
                              <m:mc>
                                <m:mcPr>
                                  <m:count m:val="1"/>
                                  <m:mcJc m:val="center"/>
                                </m:mcPr>
                              </m:mc>
                            </m:mcs>
                            <m:ctrlPr>
                              <a:rPr kumimoji="1" lang="en-US" altLang="zh-CN" sz="2400" i="1" smtClean="0">
                                <a:latin typeface="Cambria Math" panose="02040503050406030204" pitchFamily="18" charset="0"/>
                                <a:ea typeface="楷体" panose="02010609060101010101" pitchFamily="49" charset="-122"/>
                              </a:rPr>
                            </m:ctrlPr>
                          </m:mPr>
                          <m:mr>
                            <m:e>
                              <m:sSub>
                                <m:sSubPr>
                                  <m:ctrlPr>
                                    <a:rPr kumimoji="1" lang="en-US" altLang="zh-CN" sz="2400" b="0" i="1" smtClean="0">
                                      <a:latin typeface="Cambria Math" panose="02040503050406030204" pitchFamily="18" charset="0"/>
                                      <a:ea typeface="楷体" panose="02010609060101010101" pitchFamily="49" charset="-122"/>
                                    </a:rPr>
                                  </m:ctrlPr>
                                </m:sSubPr>
                                <m:e>
                                  <m:r>
                                    <m:rPr>
                                      <m:brk m:alnAt="7"/>
                                    </m:rPr>
                                    <a:rPr kumimoji="1" lang="en-US" altLang="zh-CN" sz="2400" b="0" i="1" smtClean="0">
                                      <a:latin typeface="Cambria Math" panose="02040503050406030204" pitchFamily="18" charset="0"/>
                                      <a:ea typeface="楷体" panose="02010609060101010101" pitchFamily="49" charset="-122"/>
                                    </a:rPr>
                                    <m:t>𝑥</m:t>
                                  </m:r>
                                </m:e>
                                <m:sub>
                                  <m:r>
                                    <m:rPr>
                                      <m:brk m:alnAt="7"/>
                                    </m:rPr>
                                    <a:rPr kumimoji="1" lang="en-US" altLang="zh-CN" sz="2400" b="0" i="1" smtClean="0">
                                      <a:latin typeface="Cambria Math" panose="02040503050406030204" pitchFamily="18" charset="0"/>
                                      <a:ea typeface="楷体" panose="02010609060101010101" pitchFamily="49" charset="-122"/>
                                    </a:rPr>
                                    <m:t>1</m:t>
                                  </m:r>
                                </m:sub>
                              </m:sSub>
                              <m:r>
                                <m:rPr>
                                  <m:brk m:alnAt="7"/>
                                </m:rP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0</m:t>
                              </m:r>
                            </m:e>
                          </m:mr>
                          <m:mr>
                            <m:e>
                              <m:m>
                                <m:mPr>
                                  <m:mcs>
                                    <m:mc>
                                      <m:mcPr>
                                        <m:count m:val="1"/>
                                        <m:mcJc m:val="center"/>
                                      </m:mcPr>
                                    </m:mc>
                                  </m:mcs>
                                  <m:ctrlPr>
                                    <a:rPr kumimoji="1" lang="en-US" altLang="zh-CN" sz="2400" i="1" smtClean="0">
                                      <a:latin typeface="Cambria Math" panose="02040503050406030204" pitchFamily="18" charset="0"/>
                                      <a:ea typeface="楷体" panose="02010609060101010101" pitchFamily="49" charset="-122"/>
                                    </a:rPr>
                                  </m:ctrlPr>
                                </m:mPr>
                                <m:mr>
                                  <m:e>
                                    <m:sSub>
                                      <m:sSubPr>
                                        <m:ctrlPr>
                                          <a:rPr kumimoji="1" lang="en-US" altLang="zh-CN" sz="2400" b="0" i="1" smtClean="0">
                                            <a:latin typeface="Cambria Math" panose="02040503050406030204" pitchFamily="18" charset="0"/>
                                            <a:ea typeface="楷体" panose="02010609060101010101" pitchFamily="49" charset="-122"/>
                                          </a:rPr>
                                        </m:ctrlPr>
                                      </m:sSubPr>
                                      <m:e>
                                        <m:r>
                                          <m:rPr>
                                            <m:brk m:alnAt="7"/>
                                          </m:rPr>
                                          <a:rPr kumimoji="1" lang="en-US" altLang="zh-CN" sz="2400" b="0" i="1" smtClean="0">
                                            <a:latin typeface="Cambria Math" panose="02040503050406030204" pitchFamily="18" charset="0"/>
                                            <a:ea typeface="楷体" panose="02010609060101010101" pitchFamily="49" charset="-122"/>
                                          </a:rPr>
                                          <m:t>𝑥</m:t>
                                        </m:r>
                                      </m:e>
                                      <m:sub>
                                        <m:r>
                                          <m:rPr>
                                            <m:brk m:alnAt="7"/>
                                          </m:rPr>
                                          <a:rPr kumimoji="1" lang="en-US" altLang="zh-CN" sz="2400" b="0" i="1" smtClean="0">
                                            <a:latin typeface="Cambria Math" panose="02040503050406030204" pitchFamily="18" charset="0"/>
                                            <a:ea typeface="楷体" panose="02010609060101010101" pitchFamily="49" charset="-122"/>
                                          </a:rPr>
                                          <m:t>2</m:t>
                                        </m:r>
                                      </m:sub>
                                    </m:sSub>
                                    <m:r>
                                      <m:rPr>
                                        <m:brk m:alnAt="7"/>
                                      </m:rP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0</m:t>
                                    </m:r>
                                  </m:e>
                                </m:mr>
                                <m:mr>
                                  <m:e>
                                    <m:m>
                                      <m:mPr>
                                        <m:mcs>
                                          <m:mc>
                                            <m:mcPr>
                                              <m:count m:val="1"/>
                                              <m:mcJc m:val="center"/>
                                            </m:mcPr>
                                          </m:mc>
                                        </m:mcs>
                                        <m:ctrlPr>
                                          <a:rPr kumimoji="1" lang="en-US" altLang="zh-CN" sz="2400" i="1" smtClean="0">
                                            <a:latin typeface="Cambria Math" panose="02040503050406030204" pitchFamily="18" charset="0"/>
                                            <a:ea typeface="楷体" panose="02010609060101010101" pitchFamily="49" charset="-122"/>
                                          </a:rPr>
                                        </m:ctrlPr>
                                      </m:mPr>
                                      <m:mr>
                                        <m:e>
                                          <m:sSub>
                                            <m:sSubPr>
                                              <m:ctrlPr>
                                                <a:rPr kumimoji="1" lang="en-US" altLang="zh-CN" sz="2400" b="0" i="1" smtClean="0">
                                                  <a:latin typeface="Cambria Math" panose="02040503050406030204" pitchFamily="18" charset="0"/>
                                                  <a:ea typeface="楷体" panose="02010609060101010101" pitchFamily="49" charset="-122"/>
                                                </a:rPr>
                                              </m:ctrlPr>
                                            </m:sSubPr>
                                            <m:e>
                                              <m:r>
                                                <m:rPr>
                                                  <m:brk m:alnAt="7"/>
                                                </m:rPr>
                                                <a:rPr kumimoji="1" lang="en-US" altLang="zh-CN" sz="2400" b="0" i="1" smtClean="0">
                                                  <a:latin typeface="Cambria Math" panose="02040503050406030204" pitchFamily="18" charset="0"/>
                                                  <a:ea typeface="楷体" panose="02010609060101010101" pitchFamily="49" charset="-122"/>
                                                </a:rPr>
                                                <m:t>𝑥</m:t>
                                              </m:r>
                                            </m:e>
                                            <m:sub>
                                              <m:r>
                                                <m:rPr>
                                                  <m:brk m:alnAt="7"/>
                                                </m:rPr>
                                                <a:rPr kumimoji="1" lang="en-US" altLang="zh-CN" sz="2400" b="0" i="1" smtClean="0">
                                                  <a:latin typeface="Cambria Math" panose="02040503050406030204" pitchFamily="18" charset="0"/>
                                                  <a:ea typeface="楷体" panose="02010609060101010101" pitchFamily="49" charset="-122"/>
                                                </a:rPr>
                                                <m:t>3</m:t>
                                              </m:r>
                                            </m:sub>
                                          </m:sSub>
                                          <m:r>
                                            <m:rPr>
                                              <m:brk m:alnAt="7"/>
                                            </m:rP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2</m:t>
                                          </m:r>
                                        </m:e>
                                      </m:mr>
                                      <m:m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4</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0</m:t>
                                          </m:r>
                                        </m:e>
                                      </m:mr>
                                    </m:m>
                                  </m:e>
                                </m:mr>
                              </m:m>
                            </m:e>
                          </m:mr>
                        </m:m>
                      </m:e>
                    </m:d>
                  </m:oMath>
                </a14:m>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r>
                      <a:rPr kumimoji="1" lang="en-US" altLang="zh-CN" sz="2400" b="0" i="0" smtClean="0">
                        <a:latin typeface="Cambria Math" panose="02040503050406030204" pitchFamily="18" charset="0"/>
                        <a:ea typeface="楷体" panose="02010609060101010101" pitchFamily="49" charset="-122"/>
                      </a:rPr>
                      <m:t>2</m:t>
                    </m:r>
                    <m:r>
                      <a:rPr kumimoji="1" lang="en-US" altLang="zh-CN" sz="2400" b="0" i="0" smtClean="0">
                        <a:latin typeface="Cambria Math" panose="02040503050406030204" pitchFamily="18" charset="0"/>
                        <a:ea typeface="楷体" panose="02010609060101010101" pitchFamily="49" charset="-122"/>
                      </a:rPr>
                      <m:t>.</m:t>
                    </m:r>
                    <m:d>
                      <m:dPr>
                        <m:begChr m:val="{"/>
                        <m:endChr m:val=""/>
                        <m:ctrlPr>
                          <a:rPr kumimoji="1" lang="en-US" altLang="zh-CN" sz="2400" i="1">
                            <a:latin typeface="Cambria Math" panose="02040503050406030204" pitchFamily="18" charset="0"/>
                            <a:ea typeface="楷体" panose="02010609060101010101" pitchFamily="49" charset="-122"/>
                          </a:rPr>
                        </m:ctrlPr>
                      </m:dP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1</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e>
                          </m:mr>
                          <m:m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2</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0</m:t>
                                    </m:r>
                                  </m:e>
                                </m:mr>
                                <m:m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3</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0</m:t>
                                          </m:r>
                                        </m:e>
                                      </m:mr>
                                      <m:m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4</m:t>
                                              </m:r>
                                            </m:sub>
                                          </m:sSub>
                                          <m: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e>
                                      </m:mr>
                                    </m:m>
                                  </m:e>
                                </m:mr>
                              </m:m>
                            </m:e>
                          </m:mr>
                        </m:m>
                      </m:e>
                    </m:d>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just">
                  <a:lnSpc>
                    <a:spcPct val="90000"/>
                  </a:lnSpc>
                  <a:spcBef>
                    <a:spcPts val="300"/>
                  </a:spcBef>
                  <a:spcAft>
                    <a:spcPts val="300"/>
                  </a:spcAft>
                  <a:defRPr/>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just">
                  <a:lnSpc>
                    <a:spcPct val="90000"/>
                  </a:lnSpc>
                  <a:spcBef>
                    <a:spcPts val="300"/>
                  </a:spcBef>
                  <a:spcAft>
                    <a:spcPts val="300"/>
                  </a:spcAft>
                  <a:defRPr/>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最优解（即最大盈利）都为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22</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just">
                  <a:lnSpc>
                    <a:spcPct val="150000"/>
                  </a:lnSpc>
                  <a:spcBef>
                    <a:spcPts val="300"/>
                  </a:spcBef>
                  <a:spcAft>
                    <a:spcPts val="300"/>
                  </a:spcAft>
                  <a:defRPr/>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一旦咨询的工作日不是减少而是增加，那么我们不仅要重新计算第一阶段，而且要在第二、第三、第四阶段的计算表上补上增加的工作日的新的信息，也可得到新的结果。</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just">
                  <a:lnSpc>
                    <a:spcPct val="90000"/>
                  </a:lnSpc>
                  <a:spcBef>
                    <a:spcPts val="300"/>
                  </a:spcBef>
                  <a:spcAft>
                    <a:spcPts val="300"/>
                  </a:spcAft>
                  <a:defRPr/>
                </a:pP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indent="720090" algn="just">
                  <a:lnSpc>
                    <a:spcPct val="90000"/>
                  </a:lnSpc>
                  <a:spcBef>
                    <a:spcPts val="300"/>
                  </a:spcBef>
                  <a:spcAft>
                    <a:spcPts val="300"/>
                  </a:spcAft>
                  <a:defRPr/>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25605" name="Rectangle 3"/>
              <p:cNvSpPr>
                <a:spLocks noRot="1" noChangeAspect="1" noMove="1" noResize="1" noEditPoints="1" noAdjustHandles="1" noChangeArrowheads="1" noChangeShapeType="1" noTextEdit="1"/>
              </p:cNvSpPr>
              <p:nvPr/>
            </p:nvSpPr>
            <p:spPr bwMode="auto">
              <a:xfrm>
                <a:off x="1666875" y="1314450"/>
                <a:ext cx="8620125" cy="4994870"/>
              </a:xfrm>
              <a:prstGeom prst="rect">
                <a:avLst/>
              </a:prstGeom>
              <a:blipFill rotWithShape="1">
                <a:blip r:embed="rId1"/>
                <a:stretch>
                  <a:fillRect b="-9269"/>
                </a:stretch>
              </a:blipFill>
              <a:ln w="9525">
                <a:noFill/>
                <a:miter lim="800000"/>
              </a:ln>
            </p:spPr>
            <p:txBody>
              <a:bodyPr/>
              <a:lstStyle/>
              <a:p>
                <a:r>
                  <a:rPr lang="zh-CN" altLang="en-US">
                    <a:noFill/>
                  </a:rPr>
                  <a:t> </a:t>
                </a:r>
              </a:p>
            </p:txBody>
          </p:sp>
        </mc:Fallback>
      </mc:AlternateContent>
      <p:sp>
        <p:nvSpPr>
          <p:cNvPr id="26630" name="Rectangle 4"/>
          <p:cNvSpPr>
            <a:spLocks noChangeArrowheads="1"/>
          </p:cNvSpPr>
          <p:nvPr/>
        </p:nvSpPr>
        <p:spPr bwMode="auto">
          <a:xfrm>
            <a:off x="4967288" y="3124200"/>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ChangeArrowheads="1"/>
          </p:cNvSpPr>
          <p:nvPr/>
        </p:nvSpPr>
        <p:spPr bwMode="auto">
          <a:xfrm>
            <a:off x="1905000" y="1089484"/>
            <a:ext cx="8382000" cy="4679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50000"/>
              </a:lnSpc>
              <a:spcBef>
                <a:spcPts val="300"/>
              </a:spcBef>
              <a:spcAft>
                <a:spcPts val="300"/>
              </a:spcAft>
            </a:pPr>
            <a:r>
              <a:rPr kumimoji="1" lang="zh-CN" altLang="en-US" sz="2400" b="1" dirty="0">
                <a:latin typeface="Times New Roman" panose="02020603050405020304" pitchFamily="18" charset="0"/>
                <a:ea typeface="楷体" panose="02010609060101010101" pitchFamily="49" charset="-122"/>
                <a:cs typeface="Times New Roman" panose="02020603050405020304" pitchFamily="18" charset="0"/>
              </a:rPr>
              <a:t>三、生产与存贮问题</a:t>
            </a:r>
            <a:endParaRPr kumimoji="1"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例</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4.</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某公司为主要电力公司生产大型变压器，由于电力采取预订方式购买，所以该公司可以预测未来几个月的需求量。为确保需求，该公司为新的一年前四个月制定一项生产计划，这四个月的需求如表所示。</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生产成本随着生产数量而变化。调试费为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4</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，除了调试费用外，每月生产的头两台各花费为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，后两台各花费为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1</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。最大生产能力每月为</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4</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台，生产成本如表所示。</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矩形 11"/>
          <p:cNvSpPr>
            <a:spLocks noChangeArrowheads="1"/>
          </p:cNvSpPr>
          <p:nvPr/>
        </p:nvSpPr>
        <p:spPr bwMode="auto">
          <a:xfrm>
            <a:off x="1881188" y="889000"/>
            <a:ext cx="8535292"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每台变压器在仓库中由这个月存到下个月的储存费为</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，仓库的最大储存能力为</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台，另外，</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月</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日时仓库里存有一台变压器，要求在</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4</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月</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30</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日仓库的库存量为零。</a:t>
            </a:r>
            <a:endParaRPr lang="zh-CN" altLang="en-US" dirty="0">
              <a:latin typeface="Times New Roman" panose="02020603050405020304" pitchFamily="18" charset="0"/>
              <a:cs typeface="Times New Roman" panose="02020603050405020304" pitchFamily="18" charset="0"/>
            </a:endParaRPr>
          </a:p>
        </p:txBody>
      </p:sp>
      <p:sp>
        <p:nvSpPr>
          <p:cNvPr id="93233" name="矩形 15"/>
          <p:cNvSpPr>
            <a:spLocks noChangeArrowheads="1"/>
          </p:cNvSpPr>
          <p:nvPr/>
        </p:nvSpPr>
        <p:spPr bwMode="auto">
          <a:xfrm>
            <a:off x="1524000" y="5072063"/>
            <a:ext cx="814387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algn="just">
              <a:lnSpc>
                <a:spcPct val="150000"/>
              </a:lnSpc>
              <a:spcBef>
                <a:spcPts val="300"/>
              </a:spcBef>
              <a:spcAft>
                <a:spcPts val="300"/>
              </a:spcAft>
            </a:pPr>
            <a:r>
              <a:rPr kumimoji="1" lang="zh-CN" altLang="en-US" sz="2400">
                <a:solidFill>
                  <a:srgbClr val="000000"/>
                </a:solidFill>
                <a:ea typeface="楷体" panose="02010609060101010101" pitchFamily="49" charset="-122"/>
              </a:rPr>
              <a:t>试问：该公司应如何制定生产计划，使得四个月的生产成本和储存总费用最少？</a:t>
            </a:r>
            <a:endParaRPr kumimoji="1" lang="zh-CN" altLang="en-US" sz="2400">
              <a:solidFill>
                <a:srgbClr val="000000"/>
              </a:solidFill>
              <a:ea typeface="楷体" panose="02010609060101010101" pitchFamily="49" charset="-122"/>
            </a:endParaRPr>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2351584" y="2685984"/>
              <a:ext cx="3190875" cy="2320925"/>
            </p:xfrm>
            <a:graphic>
              <a:graphicData uri="http://schemas.openxmlformats.org/drawingml/2006/table">
                <a:tbl>
                  <a:tblPr firstRow="1" bandRow="1">
                    <a:tableStyleId>{5C22544A-7EE6-4342-B048-85BDC9FD1C3A}</a:tableStyleId>
                  </a:tblPr>
                  <a:tblGrid>
                    <a:gridCol w="1595755"/>
                    <a:gridCol w="1595120"/>
                  </a:tblGrid>
                  <a:tr h="464185">
                    <a:tc>
                      <a:txBody>
                        <a:bodyPr/>
                        <a:lstStyle/>
                        <a:p>
                          <a:pPr algn="ctr"/>
                          <a:r>
                            <a:rPr lang="zh-CN" altLang="en-US" sz="1800" dirty="0">
                              <a:latin typeface="Times New Roman" panose="02020603050405020304" pitchFamily="18" charset="0"/>
                              <a:cs typeface="Times New Roman" panose="02020603050405020304" pitchFamily="18" charset="0"/>
                            </a:rPr>
                            <a:t>月份</a:t>
                          </a:r>
                          <a14:m>
                            <m:oMath xmlns:m="http://schemas.openxmlformats.org/officeDocument/2006/math">
                              <m:r>
                                <a:rPr lang="en-US" altLang="zh-CN" sz="1800" i="1" dirty="0" smtClean="0">
                                  <a:latin typeface="Cambria Math" panose="02040503050406030204" pitchFamily="18" charset="0"/>
                                  <a:cs typeface="Times New Roman" panose="02020603050405020304" pitchFamily="18" charset="0"/>
                                </a:rPr>
                                <m:t>𝑛</m:t>
                              </m:r>
                            </m:oMath>
                          </a14:m>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dirty="0">
                              <a:latin typeface="Times New Roman" panose="02020603050405020304" pitchFamily="18" charset="0"/>
                              <a:cs typeface="Times New Roman" panose="02020603050405020304" pitchFamily="18" charset="0"/>
                            </a:rPr>
                            <a:t>需求量（台）</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表格 1"/>
              <p:cNvGraphicFramePr>
                <a:graphicFrameLocks noGrp="1"/>
              </p:cNvGraphicFramePr>
              <p:nvPr/>
            </p:nvGraphicFramePr>
            <p:xfrm>
              <a:off x="2351584" y="2685984"/>
              <a:ext cx="3190875" cy="2320925"/>
            </p:xfrm>
            <a:graphic>
              <a:graphicData uri="http://schemas.openxmlformats.org/drawingml/2006/table">
                <a:tbl>
                  <a:tblPr firstRow="1" bandRow="1">
                    <a:tableStyleId>{5C22544A-7EE6-4342-B048-85BDC9FD1C3A}</a:tableStyleId>
                  </a:tblPr>
                  <a:tblGrid>
                    <a:gridCol w="1595755"/>
                    <a:gridCol w="1595120"/>
                  </a:tblGrid>
                  <a:tr h="464185">
                    <a:tc>
                      <a:txBody>
                        <a:bodyPr/>
                        <a:lstStyle/>
                        <a:p>
                          <a:endParaRPr lang="zh-CN"/>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
                        </a:blipFill>
                      </a:tcPr>
                    </a:tc>
                    <a:tc>
                      <a:txBody>
                        <a:bodyPr/>
                        <a:lstStyle/>
                        <a:p>
                          <a:pPr algn="ctr"/>
                          <a:r>
                            <a:rPr lang="zh-CN" altLang="en-US" sz="1800" dirty="0">
                              <a:latin typeface="Times New Roman" panose="02020603050405020304" pitchFamily="18" charset="0"/>
                              <a:cs typeface="Times New Roman" panose="02020603050405020304" pitchFamily="18" charset="0"/>
                            </a:rPr>
                            <a:t>需求量（台）</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4185">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graphicFrame>
        <p:nvGraphicFramePr>
          <p:cNvPr id="14" name="表格 13"/>
          <p:cNvGraphicFramePr>
            <a:graphicFrameLocks noGrp="1"/>
          </p:cNvGraphicFramePr>
          <p:nvPr/>
        </p:nvGraphicFramePr>
        <p:xfrm>
          <a:off x="6384032" y="2685983"/>
          <a:ext cx="3190875" cy="2320290"/>
        </p:xfrm>
        <a:graphic>
          <a:graphicData uri="http://schemas.openxmlformats.org/drawingml/2006/table">
            <a:tbl>
              <a:tblPr firstRow="1" bandRow="1">
                <a:tableStyleId>{5C22544A-7EE6-4342-B048-85BDC9FD1C3A}</a:tableStyleId>
              </a:tblPr>
              <a:tblGrid>
                <a:gridCol w="1595755"/>
                <a:gridCol w="1595120"/>
              </a:tblGrid>
              <a:tr h="386715">
                <a:tc>
                  <a:txBody>
                    <a:bodyPr/>
                    <a:lstStyle/>
                    <a:p>
                      <a:pPr algn="ctr"/>
                      <a:r>
                        <a:rPr lang="zh-CN" altLang="en-US" sz="1800" dirty="0">
                          <a:latin typeface="Times New Roman" panose="02020603050405020304" pitchFamily="18" charset="0"/>
                          <a:cs typeface="Times New Roman" panose="02020603050405020304" pitchFamily="18" charset="0"/>
                        </a:rPr>
                        <a:t>生产件数</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dirty="0">
                          <a:latin typeface="Times New Roman" panose="02020603050405020304" pitchFamily="18" charset="0"/>
                          <a:cs typeface="Times New Roman" panose="02020603050405020304" pitchFamily="18" charset="0"/>
                        </a:rPr>
                        <a:t>总成本</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6715">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6715">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6715">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6715">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6715">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a:t>
                      </a:r>
                      <a:endParaRPr lang="zh-CN" altLang="en-US" sz="1800" dirty="0">
                        <a:latin typeface="Times New Roman" panose="02020603050405020304" pitchFamily="18" charset="0"/>
                        <a:cs typeface="Times New Roman" panose="02020603050405020304" pitchFamily="18" charset="0"/>
                      </a:endParaRPr>
                    </a:p>
                  </a:txBody>
                  <a:tcPr marL="91439" marR="91439"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7662" name="Rectangle 3"/>
              <p:cNvSpPr>
                <a:spLocks noChangeArrowheads="1"/>
              </p:cNvSpPr>
              <p:nvPr/>
            </p:nvSpPr>
            <p:spPr bwMode="auto">
              <a:xfrm>
                <a:off x="1652193" y="1268760"/>
                <a:ext cx="8887730" cy="4934867"/>
              </a:xfrm>
              <a:prstGeom prst="rect">
                <a:avLst/>
              </a:prstGeom>
              <a:noFill/>
              <a:ln w="9525">
                <a:noFill/>
                <a:miter lim="800000"/>
              </a:ln>
            </p:spPr>
            <p:txBody>
              <a:bodyPr/>
              <a:lstStyle/>
              <a:p>
                <a:pPr indent="457200" algn="just">
                  <a:lnSpc>
                    <a:spcPct val="150000"/>
                  </a:lnSpc>
                  <a:spcBef>
                    <a:spcPts val="300"/>
                  </a:spcBef>
                  <a:spcAft>
                    <a:spcPts val="300"/>
                  </a:spcAft>
                  <a:defRPr/>
                </a:pPr>
                <a:r>
                  <a:rPr kumimoji="1" lang="zh-CN" altLang="en-US" sz="2400" dirty="0">
                    <a:ea typeface="楷体" panose="02010609060101010101" pitchFamily="49" charset="-122"/>
                  </a:rPr>
                  <a:t>解： </a:t>
                </a:r>
                <a:r>
                  <a:rPr kumimoji="1" lang="zh-CN" altLang="en-US" sz="2400" dirty="0">
                    <a:solidFill>
                      <a:srgbClr val="FF0000"/>
                    </a:solidFill>
                    <a:ea typeface="楷体" panose="02010609060101010101" pitchFamily="49" charset="-122"/>
                  </a:rPr>
                  <a:t>第</a:t>
                </a:r>
                <a14:m>
                  <m:oMath xmlns:m="http://schemas.openxmlformats.org/officeDocument/2006/math">
                    <m:r>
                      <a:rPr kumimoji="1" lang="en-US" altLang="zh-CN" sz="2400" b="0" i="1" smtClean="0">
                        <a:solidFill>
                          <a:srgbClr val="FF0000"/>
                        </a:solidFill>
                        <a:latin typeface="Cambria Math" panose="02040503050406030204" pitchFamily="18" charset="0"/>
                        <a:ea typeface="楷体" panose="02010609060101010101" pitchFamily="49" charset="-122"/>
                      </a:rPr>
                      <m:t>𝑘</m:t>
                    </m:r>
                  </m:oMath>
                </a14:m>
                <a:r>
                  <a:rPr kumimoji="1" lang="zh-CN" altLang="en-US" sz="2400" dirty="0">
                    <a:solidFill>
                      <a:srgbClr val="FF0000"/>
                    </a:solidFill>
                    <a:ea typeface="楷体" panose="02010609060101010101" pitchFamily="49" charset="-122"/>
                  </a:rPr>
                  <a:t>个月为第</a:t>
                </a:r>
                <a14:m>
                  <m:oMath xmlns:m="http://schemas.openxmlformats.org/officeDocument/2006/math">
                    <m:r>
                      <a:rPr kumimoji="1" lang="en-US" altLang="zh-CN" sz="2400" i="1">
                        <a:solidFill>
                          <a:srgbClr val="FF0000"/>
                        </a:solidFill>
                        <a:latin typeface="Cambria Math" panose="02040503050406030204" pitchFamily="18" charset="0"/>
                        <a:ea typeface="楷体" panose="02010609060101010101" pitchFamily="49" charset="-122"/>
                      </a:rPr>
                      <m:t>𝑘</m:t>
                    </m:r>
                  </m:oMath>
                </a14:m>
                <a:r>
                  <a:rPr kumimoji="1" lang="en-US" altLang="zh-CN" sz="2400" dirty="0">
                    <a:solidFill>
                      <a:srgbClr val="FF0000"/>
                    </a:solidFill>
                    <a:ea typeface="楷体" panose="02010609060101010101" pitchFamily="49" charset="-122"/>
                  </a:rPr>
                  <a:t> </a:t>
                </a:r>
                <a:r>
                  <a:rPr kumimoji="1" lang="zh-CN" altLang="en-US" sz="2400" dirty="0">
                    <a:solidFill>
                      <a:srgbClr val="FF0000"/>
                    </a:solidFill>
                    <a:ea typeface="楷体" panose="02010609060101010101" pitchFamily="49" charset="-122"/>
                  </a:rPr>
                  <a:t>阶段，</a:t>
                </a:r>
                <a:r>
                  <a:rPr kumimoji="1" lang="en-US" altLang="zh-CN" sz="2400" dirty="0">
                    <a:solidFill>
                      <a:srgbClr val="FF0000"/>
                    </a:solidFill>
                    <a:ea typeface="楷体" panose="02010609060101010101" pitchFamily="49" charset="-122"/>
                  </a:rPr>
                  <a:t> </a:t>
                </a:r>
                <a14:m>
                  <m:oMath xmlns:m="http://schemas.openxmlformats.org/officeDocument/2006/math">
                    <m:r>
                      <a:rPr kumimoji="1" lang="en-US" altLang="zh-CN" sz="2400" i="1">
                        <a:solidFill>
                          <a:srgbClr val="FF0000"/>
                        </a:solidFill>
                        <a:latin typeface="Cambria Math" panose="02040503050406030204" pitchFamily="18" charset="0"/>
                        <a:ea typeface="楷体" panose="02010609060101010101" pitchFamily="49" charset="-122"/>
                      </a:rPr>
                      <m:t>𝑘</m:t>
                    </m:r>
                    <m:r>
                      <a:rPr kumimoji="1" lang="en-US" altLang="zh-CN" sz="2400" i="1" smtClean="0">
                        <a:solidFill>
                          <a:srgbClr val="FF0000"/>
                        </a:solidFill>
                        <a:latin typeface="Cambria Math" panose="02040503050406030204" pitchFamily="18" charset="0"/>
                        <a:ea typeface="楷体" panose="02010609060101010101" pitchFamily="49" charset="-122"/>
                      </a:rPr>
                      <m:t>=</m:t>
                    </m:r>
                    <m:r>
                      <a:rPr kumimoji="1" lang="en-US" altLang="zh-CN" sz="2400" b="0" i="0" smtClean="0">
                        <a:solidFill>
                          <a:srgbClr val="FF0000"/>
                        </a:solidFill>
                        <a:latin typeface="Cambria Math" panose="02040503050406030204" pitchFamily="18" charset="0"/>
                        <a:ea typeface="楷体" panose="02010609060101010101" pitchFamily="49" charset="-122"/>
                      </a:rPr>
                      <m:t>1</m:t>
                    </m:r>
                    <m:r>
                      <a:rPr kumimoji="1" lang="en-US" altLang="zh-CN" sz="2400" b="0" i="1" smtClean="0">
                        <a:solidFill>
                          <a:srgbClr val="FF0000"/>
                        </a:solidFill>
                        <a:latin typeface="Cambria Math" panose="02040503050406030204" pitchFamily="18" charset="0"/>
                        <a:ea typeface="楷体" panose="02010609060101010101" pitchFamily="49" charset="-122"/>
                      </a:rPr>
                      <m:t>,</m:t>
                    </m:r>
                    <m:r>
                      <a:rPr kumimoji="1" lang="en-US" altLang="zh-CN" sz="2400" b="0" i="1" smtClean="0">
                        <a:solidFill>
                          <a:srgbClr val="FF0000"/>
                        </a:solidFill>
                        <a:latin typeface="Cambria Math" panose="02040503050406030204" pitchFamily="18" charset="0"/>
                        <a:ea typeface="楷体" panose="02010609060101010101" pitchFamily="49" charset="-122"/>
                      </a:rPr>
                      <m:t>2</m:t>
                    </m:r>
                    <m:r>
                      <a:rPr kumimoji="1" lang="en-US" altLang="zh-CN" sz="2400" b="0" i="1" smtClean="0">
                        <a:solidFill>
                          <a:srgbClr val="FF0000"/>
                        </a:solidFill>
                        <a:latin typeface="Cambria Math" panose="02040503050406030204" pitchFamily="18" charset="0"/>
                        <a:ea typeface="楷体" panose="02010609060101010101" pitchFamily="49" charset="-122"/>
                      </a:rPr>
                      <m:t>,</m:t>
                    </m:r>
                    <m:r>
                      <a:rPr kumimoji="1" lang="en-US" altLang="zh-CN" sz="2400" b="0" i="1" smtClean="0">
                        <a:solidFill>
                          <a:srgbClr val="FF0000"/>
                        </a:solidFill>
                        <a:latin typeface="Cambria Math" panose="02040503050406030204" pitchFamily="18" charset="0"/>
                        <a:ea typeface="楷体" panose="02010609060101010101" pitchFamily="49" charset="-122"/>
                      </a:rPr>
                      <m:t>3</m:t>
                    </m:r>
                    <m:r>
                      <a:rPr kumimoji="1" lang="en-US" altLang="zh-CN" sz="2400" b="0" i="1" smtClean="0">
                        <a:solidFill>
                          <a:srgbClr val="FF0000"/>
                        </a:solidFill>
                        <a:latin typeface="Cambria Math" panose="02040503050406030204" pitchFamily="18" charset="0"/>
                        <a:ea typeface="楷体" panose="02010609060101010101" pitchFamily="49" charset="-122"/>
                      </a:rPr>
                      <m:t>,</m:t>
                    </m:r>
                    <m:r>
                      <a:rPr kumimoji="1" lang="en-US" altLang="zh-CN" sz="2400" b="0" i="1" smtClean="0">
                        <a:solidFill>
                          <a:srgbClr val="FF0000"/>
                        </a:solidFill>
                        <a:latin typeface="Cambria Math" panose="02040503050406030204" pitchFamily="18" charset="0"/>
                        <a:ea typeface="楷体" panose="02010609060101010101" pitchFamily="49" charset="-122"/>
                      </a:rPr>
                      <m:t>4</m:t>
                    </m:r>
                  </m:oMath>
                </a14:m>
                <a:endParaRPr kumimoji="1" lang="en-US" altLang="zh-CN" sz="2400" dirty="0">
                  <a:solidFill>
                    <a:srgbClr val="FF0000"/>
                  </a:solidFill>
                  <a:ea typeface="楷体" panose="02010609060101010101" pitchFamily="49" charset="-122"/>
                  <a:sym typeface="Wingdings" panose="05000000000000000000" pitchFamily="2" charset="2"/>
                </a:endParaRPr>
              </a:p>
              <a:p>
                <a:pPr indent="457200" algn="just">
                  <a:lnSpc>
                    <a:spcPct val="150000"/>
                  </a:lnSpc>
                  <a:spcBef>
                    <a:spcPts val="300"/>
                  </a:spcBef>
                  <a:spcAft>
                    <a:spcPts val="300"/>
                  </a:spcAft>
                  <a:defRPr/>
                </a:pPr>
                <a:r>
                  <a:rPr kumimoji="1" lang="zh-CN" altLang="en-US" sz="2400" dirty="0">
                    <a:ea typeface="楷体" panose="02010609060101010101" pitchFamily="49" charset="-122"/>
                    <a:sym typeface="Wingdings" panose="05000000000000000000" pitchFamily="2" charset="2"/>
                  </a:rPr>
                  <a:t>设</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𝑘</m:t>
                        </m:r>
                      </m:sub>
                    </m:sSub>
                  </m:oMath>
                </a14:m>
                <a:r>
                  <a:rPr kumimoji="1" lang="zh-CN" altLang="en-US" sz="2400" dirty="0">
                    <a:ea typeface="楷体" panose="02010609060101010101" pitchFamily="49" charset="-122"/>
                    <a:sym typeface="Wingdings" panose="05000000000000000000" pitchFamily="2" charset="2"/>
                  </a:rPr>
                  <a:t>为第</a:t>
                </a:r>
                <a14:m>
                  <m:oMath xmlns:m="http://schemas.openxmlformats.org/officeDocument/2006/math">
                    <m:r>
                      <a:rPr kumimoji="1" lang="en-US" altLang="zh-CN" sz="2400" i="1" smtClean="0">
                        <a:solidFill>
                          <a:schemeClr val="tx1"/>
                        </a:solidFill>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sym typeface="Wingdings" panose="05000000000000000000" pitchFamily="2" charset="2"/>
                  </a:rPr>
                  <a:t>阶段期初库存量；</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𝑥</m:t>
                        </m:r>
                      </m:e>
                      <m:sub>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𝑘</m:t>
                        </m:r>
                      </m:sub>
                    </m:sSub>
                  </m:oMath>
                </a14:m>
                <a:r>
                  <a:rPr kumimoji="1" lang="zh-CN" altLang="en-US" sz="2400" dirty="0">
                    <a:ea typeface="楷体" panose="02010609060101010101" pitchFamily="49" charset="-122"/>
                    <a:sym typeface="Wingdings" panose="05000000000000000000" pitchFamily="2" charset="2"/>
                  </a:rPr>
                  <a:t>为第</a:t>
                </a:r>
                <a14:m>
                  <m:oMath xmlns:m="http://schemas.openxmlformats.org/officeDocument/2006/math">
                    <m:r>
                      <a:rPr kumimoji="1" lang="en-US" altLang="zh-CN" sz="2400" i="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sym typeface="Wingdings" panose="05000000000000000000" pitchFamily="2" charset="2"/>
                  </a:rPr>
                  <a:t>阶段生产量；</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𝑑</m:t>
                        </m:r>
                      </m:e>
                      <m:sub>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𝑘</m:t>
                        </m:r>
                      </m:sub>
                    </m:sSub>
                  </m:oMath>
                </a14:m>
                <a:r>
                  <a:rPr kumimoji="1" lang="zh-CN" altLang="en-US" sz="2400" dirty="0">
                    <a:ea typeface="楷体" panose="02010609060101010101" pitchFamily="49" charset="-122"/>
                    <a:sym typeface="Wingdings" panose="05000000000000000000" pitchFamily="2" charset="2"/>
                  </a:rPr>
                  <a:t>为第</a:t>
                </a:r>
                <a14:m>
                  <m:oMath xmlns:m="http://schemas.openxmlformats.org/officeDocument/2006/math">
                    <m:r>
                      <a:rPr kumimoji="1" lang="en-US" altLang="zh-CN" sz="2400" i="1">
                        <a:latin typeface="Cambria Math" panose="02040503050406030204" pitchFamily="18" charset="0"/>
                        <a:ea typeface="楷体" panose="02010609060101010101" pitchFamily="49" charset="-122"/>
                      </a:rPr>
                      <m:t>𝑘</m:t>
                    </m:r>
                  </m:oMath>
                </a14:m>
                <a:r>
                  <a:rPr kumimoji="1" lang="zh-CN" altLang="en-US" sz="2400" dirty="0">
                    <a:ea typeface="楷体" panose="02010609060101010101" pitchFamily="49" charset="-122"/>
                    <a:sym typeface="Wingdings" panose="05000000000000000000" pitchFamily="2" charset="2"/>
                  </a:rPr>
                  <a:t>阶段需求量；</a:t>
                </a:r>
                <a:endParaRPr kumimoji="1" lang="en-US" altLang="zh-CN" sz="2400" dirty="0">
                  <a:ea typeface="楷体" panose="02010609060101010101" pitchFamily="49" charset="-122"/>
                  <a:sym typeface="Wingdings" panose="05000000000000000000" pitchFamily="2" charset="2"/>
                </a:endParaRPr>
              </a:p>
              <a:p>
                <a:pPr indent="457200" algn="just">
                  <a:lnSpc>
                    <a:spcPct val="150000"/>
                  </a:lnSpc>
                  <a:spcBef>
                    <a:spcPts val="300"/>
                  </a:spcBef>
                  <a:spcAft>
                    <a:spcPts val="300"/>
                  </a:spcAft>
                  <a:defRPr/>
                </a:pPr>
                <a:r>
                  <a:rPr kumimoji="1" lang="zh-CN" altLang="en-US" sz="2400" dirty="0">
                    <a:latin typeface="楷体" panose="02010609060101010101" pitchFamily="49" charset="-122"/>
                    <a:ea typeface="楷体" panose="02010609060101010101" pitchFamily="49" charset="-122"/>
                    <a:sym typeface="Wingdings" panose="05000000000000000000" pitchFamily="2" charset="2"/>
                  </a:rPr>
                  <a:t>因为下个月的库存量等于上个月的库存量加上上个月的产量减去上个月的需求量，得到</a:t>
                </a:r>
                <a:r>
                  <a:rPr kumimoji="1" lang="zh-CN" altLang="en-US" sz="2400" b="1" dirty="0">
                    <a:solidFill>
                      <a:srgbClr val="FF0000"/>
                    </a:solidFill>
                    <a:latin typeface="楷体" panose="02010609060101010101" pitchFamily="49" charset="-122"/>
                    <a:ea typeface="楷体" panose="02010609060101010101" pitchFamily="49" charset="-122"/>
                    <a:sym typeface="Wingdings" panose="05000000000000000000" pitchFamily="2" charset="2"/>
                  </a:rPr>
                  <a:t>状态转移方程</a:t>
                </a:r>
                <a:r>
                  <a:rPr kumimoji="1" lang="zh-CN" altLang="en-US" sz="2400" dirty="0">
                    <a:latin typeface="楷体" panose="02010609060101010101" pitchFamily="49" charset="-122"/>
                    <a:ea typeface="楷体" panose="02010609060101010101" pitchFamily="49" charset="-122"/>
                    <a:sym typeface="Wingdings" panose="05000000000000000000" pitchFamily="2" charset="2"/>
                  </a:rPr>
                  <a:t>：</a:t>
                </a:r>
                <a:endParaRPr kumimoji="1" lang="en-US" altLang="zh-CN" sz="2400" dirty="0">
                  <a:latin typeface="楷体" panose="02010609060101010101" pitchFamily="49" charset="-122"/>
                  <a:ea typeface="楷体" panose="02010609060101010101" pitchFamily="49" charset="-122"/>
                  <a:sym typeface="Wingdings" panose="05000000000000000000" pitchFamily="2" charset="2"/>
                </a:endParaRPr>
              </a:p>
              <a:p>
                <a:pPr indent="457200" algn="ctr">
                  <a:lnSpc>
                    <a:spcPct val="150000"/>
                  </a:lnSpc>
                  <a:spcBef>
                    <a:spcPts val="300"/>
                  </a:spcBef>
                  <a:spcAft>
                    <a:spcPts val="300"/>
                  </a:spcAft>
                  <a:defRPr/>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𝑘</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1</m:t>
                          </m:r>
                        </m:sub>
                      </m:s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𝑘</m:t>
                          </m:r>
                        </m:sub>
                      </m:s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𝑥</m:t>
                          </m:r>
                        </m:e>
                        <m: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𝑘</m:t>
                          </m:r>
                        </m:sub>
                      </m:s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𝑑</m:t>
                          </m:r>
                        </m:e>
                        <m: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𝑘</m:t>
                          </m:r>
                        </m:sub>
                      </m:sSub>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 </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𝑘</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1</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2</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smtClean="0">
                          <a:latin typeface="Cambria Math" panose="02040503050406030204" pitchFamily="18" charset="0"/>
                          <a:ea typeface="楷体" panose="02010609060101010101" pitchFamily="49" charset="-122"/>
                          <a:sym typeface="Wingdings" panose="05000000000000000000" pitchFamily="2" charset="2"/>
                        </a:rPr>
                        <m:t>3</m:t>
                      </m:r>
                    </m:oMath>
                  </m:oMathPara>
                </a14:m>
                <a:endParaRPr kumimoji="1" lang="en-US" altLang="zh-CN" sz="2400" dirty="0">
                  <a:latin typeface="楷体" panose="02010609060101010101" pitchFamily="49" charset="-122"/>
                  <a:ea typeface="楷体" panose="02010609060101010101" pitchFamily="49" charset="-122"/>
                  <a:sym typeface="Wingdings" panose="05000000000000000000" pitchFamily="2" charset="2"/>
                </a:endParaRPr>
              </a:p>
              <a:p>
                <a:pPr indent="457200" algn="just">
                  <a:lnSpc>
                    <a:spcPct val="150000"/>
                  </a:lnSpc>
                  <a:spcBef>
                    <a:spcPts val="300"/>
                  </a:spcBef>
                  <a:spcAft>
                    <a:spcPts val="300"/>
                  </a:spcAft>
                  <a:defRPr/>
                </a:pPr>
                <a:r>
                  <a:rPr kumimoji="1" lang="zh-CN" altLang="en-US" sz="2400" dirty="0">
                    <a:latin typeface="楷体" panose="02010609060101010101" pitchFamily="49" charset="-122"/>
                    <a:ea typeface="楷体" panose="02010609060101010101" pitchFamily="49" charset="-122"/>
                    <a:sym typeface="Wingdings" panose="05000000000000000000" pitchFamily="2" charset="2"/>
                  </a:rPr>
                  <a:t>因为</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1</m:t>
                        </m:r>
                      </m:sub>
                    </m:s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1</m:t>
                    </m:r>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 </m:t>
                    </m:r>
                  </m:oMath>
                </a14:m>
                <a:r>
                  <a:rPr kumimoji="1" lang="zh-CN" altLang="en-US" sz="2400" dirty="0">
                    <a:latin typeface="楷体" panose="02010609060101010101" pitchFamily="49" charset="-122"/>
                    <a:ea typeface="楷体" panose="02010609060101010101" pitchFamily="49" charset="-122"/>
                    <a:sym typeface="Wingdings" panose="05000000000000000000" pitchFamily="2" charset="2"/>
                  </a:rPr>
                  <a:t>，故有</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2</m:t>
                        </m:r>
                      </m:sub>
                    </m:sSub>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1</m:t>
                    </m:r>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𝑥</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1</m:t>
                        </m:r>
                      </m:sub>
                    </m:s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𝑑</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1</m:t>
                        </m:r>
                      </m:sub>
                    </m:sSub>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 </m:t>
                    </m:r>
                  </m:oMath>
                </a14:m>
                <a:r>
                  <a:rPr kumimoji="1" lang="zh-CN" altLang="en-US" sz="2400" dirty="0">
                    <a:latin typeface="楷体" panose="02010609060101010101" pitchFamily="49" charset="-122"/>
                    <a:ea typeface="楷体" panose="02010609060101010101" pitchFamily="49" charset="-122"/>
                    <a:sym typeface="Wingdings" panose="05000000000000000000" pitchFamily="2" charset="2"/>
                  </a:rPr>
                  <a:t>　</a:t>
                </a:r>
                <a:endParaRPr kumimoji="1" lang="en-US" altLang="zh-CN" sz="2400" dirty="0">
                  <a:latin typeface="楷体" panose="02010609060101010101" pitchFamily="49" charset="-122"/>
                  <a:ea typeface="楷体" panose="02010609060101010101" pitchFamily="49" charset="-122"/>
                  <a:sym typeface="Wingdings" panose="05000000000000000000" pitchFamily="2" charset="2"/>
                </a:endParaRPr>
              </a:p>
              <a:p>
                <a:pPr indent="457200" algn="just">
                  <a:lnSpc>
                    <a:spcPct val="150000"/>
                  </a:lnSpc>
                  <a:spcBef>
                    <a:spcPts val="300"/>
                  </a:spcBef>
                  <a:spcAft>
                    <a:spcPts val="300"/>
                  </a:spcAft>
                  <a:defRPr/>
                </a:pPr>
                <a:r>
                  <a:rPr kumimoji="1" lang="zh-CN" altLang="en-US" sz="2400" dirty="0">
                    <a:latin typeface="楷体" panose="02010609060101010101" pitchFamily="49" charset="-122"/>
                    <a:ea typeface="楷体" panose="02010609060101010101" pitchFamily="49" charset="-122"/>
                    <a:sym typeface="Wingdings" panose="05000000000000000000" pitchFamily="2" charset="2"/>
                  </a:rPr>
                  <a:t>因为</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5</m:t>
                        </m:r>
                      </m:sub>
                    </m:sSub>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0</m:t>
                    </m:r>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 </m:t>
                    </m:r>
                  </m:oMath>
                </a14:m>
                <a:r>
                  <a:rPr kumimoji="1" lang="zh-CN" altLang="en-US" sz="2400" dirty="0">
                    <a:latin typeface="楷体" panose="02010609060101010101" pitchFamily="49" charset="-122"/>
                    <a:ea typeface="楷体" panose="02010609060101010101" pitchFamily="49" charset="-122"/>
                    <a:sym typeface="Wingdings" panose="05000000000000000000" pitchFamily="2" charset="2"/>
                  </a:rPr>
                  <a:t>，故有</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𝑠</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4</m:t>
                        </m:r>
                      </m:sub>
                    </m:s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𝑥</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4</m:t>
                        </m:r>
                      </m:sub>
                    </m:s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m:t>
                    </m:r>
                    <m:sSub>
                      <m:sSubPr>
                        <m:ctrlP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ctrlPr>
                      </m:sSubPr>
                      <m:e>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𝑑</m:t>
                        </m:r>
                      </m:e>
                      <m:sub>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4</m:t>
                        </m:r>
                      </m:sub>
                    </m:sSub>
                    <m:r>
                      <a:rPr kumimoji="1" lang="en-US" altLang="zh-CN" sz="2400" i="1" dirty="0">
                        <a:latin typeface="Cambria Math" panose="02040503050406030204" pitchFamily="18" charset="0"/>
                        <a:ea typeface="楷体" panose="02010609060101010101" pitchFamily="49" charset="-122"/>
                        <a:sym typeface="Wingdings" panose="05000000000000000000" pitchFamily="2" charset="2"/>
                      </a:rPr>
                      <m:t>=</m:t>
                    </m:r>
                    <m:r>
                      <a:rPr kumimoji="1" lang="en-US" altLang="zh-CN" sz="2400" b="0" i="1" dirty="0" smtClean="0">
                        <a:latin typeface="Cambria Math" panose="02040503050406030204" pitchFamily="18" charset="0"/>
                        <a:ea typeface="楷体" panose="02010609060101010101" pitchFamily="49" charset="-122"/>
                        <a:sym typeface="Wingdings" panose="05000000000000000000" pitchFamily="2" charset="2"/>
                      </a:rPr>
                      <m:t>0</m:t>
                    </m:r>
                  </m:oMath>
                </a14:m>
                <a:endParaRPr kumimoji="1" lang="zh-CN" altLang="en-US" sz="2400" dirty="0">
                  <a:latin typeface="楷体" panose="02010609060101010101" pitchFamily="49" charset="-122"/>
                  <a:ea typeface="楷体" panose="02010609060101010101" pitchFamily="49" charset="-122"/>
                  <a:sym typeface="Wingdings" panose="05000000000000000000" pitchFamily="2" charset="2"/>
                </a:endParaRPr>
              </a:p>
            </p:txBody>
          </p:sp>
        </mc:Choice>
        <mc:Fallback>
          <p:sp>
            <p:nvSpPr>
              <p:cNvPr id="27662" name="Rectangle 3"/>
              <p:cNvSpPr>
                <a:spLocks noRot="1" noChangeAspect="1" noMove="1" noResize="1" noEditPoints="1" noAdjustHandles="1" noChangeArrowheads="1" noChangeShapeType="1" noTextEdit="1"/>
              </p:cNvSpPr>
              <p:nvPr/>
            </p:nvSpPr>
            <p:spPr bwMode="auto">
              <a:xfrm>
                <a:off x="1652193" y="1268760"/>
                <a:ext cx="8887730" cy="4934867"/>
              </a:xfrm>
              <a:prstGeom prst="rect">
                <a:avLst/>
              </a:prstGeom>
              <a:blipFill rotWithShape="1">
                <a:blip r:embed="rId1"/>
                <a:stretch>
                  <a:fillRect l="-6" t="-1" r="2" b="6"/>
                </a:stretch>
              </a:blipFill>
              <a:ln w="9525">
                <a:noFill/>
                <a:miter lim="800000"/>
              </a:ln>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
        <p:nvSpPr>
          <p:cNvPr id="5" name="椭圆形标注 4"/>
          <p:cNvSpPr/>
          <p:nvPr/>
        </p:nvSpPr>
        <p:spPr>
          <a:xfrm>
            <a:off x="9819640" y="4003675"/>
            <a:ext cx="2088515" cy="873760"/>
          </a:xfrm>
          <a:prstGeom prst="wedgeEllipseCallout">
            <a:avLst/>
          </a:prstGeom>
        </p:spPr>
        <p:style>
          <a:lnRef idx="3">
            <a:schemeClr val="accent1"/>
          </a:lnRef>
          <a:fillRef idx="0">
            <a:srgbClr val="FFFFFF"/>
          </a:fillRef>
          <a:effectRef idx="0">
            <a:srgbClr val="FFFFFF"/>
          </a:effectRef>
          <a:fontRef idx="minor">
            <a:schemeClr val="tx1"/>
          </a:fontRef>
        </p:style>
        <p:txBody>
          <a:bodyPr rtlCol="0" anchor="ctr"/>
          <a:p>
            <a:pPr algn="ct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25000">
                <a:latin typeface="楷体" panose="02010609060101010101" pitchFamily="49" charset="-122"/>
                <a:ea typeface="楷体" panose="02010609060101010101" pitchFamily="49" charset="-122"/>
                <a:cs typeface="楷体" panose="02010609060101010101" pitchFamily="49" charset="-122"/>
              </a:rPr>
              <a:t>k</a:t>
            </a:r>
            <a:r>
              <a:rPr lang="zh-CN" altLang="en-US">
                <a:latin typeface="楷体" panose="02010609060101010101" pitchFamily="49" charset="-122"/>
                <a:ea typeface="楷体" panose="02010609060101010101" pitchFamily="49" charset="-122"/>
                <a:cs typeface="楷体" panose="02010609060101010101" pitchFamily="49" charset="-122"/>
              </a:rPr>
              <a:t>是否需要满足一定条件？</a:t>
            </a:r>
            <a:endParaRPr lang="zh-CN" altLang="en-US">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spd="med">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706" name="矩形 2"/>
              <p:cNvSpPr>
                <a:spLocks noChangeArrowheads="1"/>
              </p:cNvSpPr>
              <p:nvPr/>
            </p:nvSpPr>
            <p:spPr bwMode="auto">
              <a:xfrm>
                <a:off x="1845469" y="950725"/>
                <a:ext cx="8501062" cy="489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algn="just">
                  <a:lnSpc>
                    <a:spcPct val="150000"/>
                  </a:lnSpc>
                  <a:spcBef>
                    <a:spcPts val="300"/>
                  </a:spcBef>
                  <a:spcAft>
                    <a:spcPts val="300"/>
                  </a:spcAft>
                </a:pPr>
                <a:r>
                  <a:rPr kumimoji="1" lang="zh-CN" altLang="en-US" sz="2400" b="1" dirty="0">
                    <a:solidFill>
                      <a:srgbClr val="000000"/>
                    </a:solidFill>
                    <a:latin typeface="楷体" panose="02010609060101010101" pitchFamily="49" charset="-122"/>
                    <a:ea typeface="楷体" panose="02010609060101010101" pitchFamily="49" charset="-122"/>
                  </a:rPr>
                  <a:t>第四阶段：</a:t>
                </a:r>
                <a:endParaRPr kumimoji="1" lang="zh-CN" altLang="en-US" sz="2400" b="1" dirty="0">
                  <a:solidFill>
                    <a:srgbClr val="000000"/>
                  </a:solidFill>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400" dirty="0">
                    <a:solidFill>
                      <a:srgbClr val="000000"/>
                    </a:solidFill>
                    <a:latin typeface="楷体" panose="02010609060101010101" pitchFamily="49" charset="-122"/>
                    <a:ea typeface="楷体" panose="02010609060101010101" pitchFamily="49" charset="-122"/>
                  </a:rPr>
                  <a:t>从状态转移方程</a:t>
                </a:r>
                <a14:m>
                  <m:oMath xmlns:m="http://schemas.openxmlformats.org/officeDocument/2006/math">
                    <m:r>
                      <a:rPr kumimoji="1" lang="en-US" altLang="zh-CN" sz="2400" b="0" i="1" dirty="0" smtClean="0">
                        <a:solidFill>
                          <a:srgbClr val="000000"/>
                        </a:solidFill>
                        <a:latin typeface="Cambria Math" panose="02040503050406030204" pitchFamily="18" charset="0"/>
                        <a:ea typeface="楷体" panose="02010609060101010101" pitchFamily="49" charset="-122"/>
                      </a:rPr>
                      <m:t>0</m:t>
                    </m:r>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4</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𝑥</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4</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𝑑</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4</m:t>
                        </m:r>
                      </m:sub>
                    </m:sSub>
                  </m:oMath>
                </a14:m>
                <a:r>
                  <a:rPr kumimoji="1" lang="zh-CN" altLang="en-US" sz="2400" dirty="0">
                    <a:solidFill>
                      <a:srgbClr val="000000"/>
                    </a:solidFill>
                    <a:latin typeface="楷体" panose="02010609060101010101" pitchFamily="49" charset="-122"/>
                    <a:ea typeface="楷体" panose="02010609060101010101" pitchFamily="49" charset="-122"/>
                  </a:rPr>
                  <a:t>可知</a:t>
                </a:r>
                <a14:m>
                  <m:oMath xmlns:m="http://schemas.openxmlformats.org/officeDocument/2006/math">
                    <m:sSub>
                      <m:sSubPr>
                        <m:ctrlPr>
                          <a:rPr kumimoji="1" lang="en-US" altLang="zh-CN" sz="2400" i="1" dirty="0">
                            <a:solidFill>
                              <a:srgbClr val="000000"/>
                            </a:solidFill>
                            <a:latin typeface="Cambria Math" panose="02040503050406030204" pitchFamily="18" charset="0"/>
                            <a:ea typeface="楷体" panose="02010609060101010101" pitchFamily="49" charset="-122"/>
                          </a:rPr>
                        </m:ctrlPr>
                      </m:sSubPr>
                      <m:e>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𝑥</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4</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r>
                          <a:rPr kumimoji="1" lang="en-US" altLang="zh-CN" sz="2400" b="0" i="1" dirty="0" smtClean="0">
                            <a:solidFill>
                              <a:srgbClr val="000000"/>
                            </a:solidFill>
                            <a:latin typeface="Cambria Math" panose="02040503050406030204" pitchFamily="18" charset="0"/>
                            <a:ea typeface="楷体" panose="02010609060101010101" pitchFamily="49" charset="-122"/>
                          </a:rPr>
                          <m:t>𝑑</m:t>
                        </m:r>
                      </m:e>
                      <m:sub>
                        <m:r>
                          <a:rPr kumimoji="1" lang="en-US" altLang="zh-CN" sz="2400" i="1" dirty="0">
                            <a:solidFill>
                              <a:srgbClr val="000000"/>
                            </a:solidFill>
                            <a:latin typeface="Cambria Math" panose="02040503050406030204" pitchFamily="18" charset="0"/>
                            <a:ea typeface="楷体" panose="02010609060101010101" pitchFamily="49" charset="-122"/>
                          </a:rPr>
                          <m:t>4</m:t>
                        </m:r>
                      </m:sub>
                    </m:sSub>
                    <m:r>
                      <a:rPr kumimoji="1" lang="en-US" altLang="zh-CN" sz="2400" i="1" dirty="0">
                        <a:solidFill>
                          <a:srgbClr val="000000"/>
                        </a:solidFill>
                        <a:latin typeface="Cambria Math" panose="02040503050406030204" pitchFamily="18" charset="0"/>
                        <a:ea typeface="楷体" panose="02010609060101010101" pitchFamily="49" charset="-122"/>
                      </a:rPr>
                      <m:t>−</m:t>
                    </m:r>
                    <m:sSub>
                      <m:sSubPr>
                        <m:ctrlPr>
                          <a:rPr kumimoji="1" lang="en-US" altLang="zh-CN" sz="2400" i="1" dirty="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400" i="1" dirty="0">
                            <a:solidFill>
                              <a:srgbClr val="000000"/>
                            </a:solidFill>
                            <a:latin typeface="Cambria Math" panose="02040503050406030204" pitchFamily="18" charset="0"/>
                            <a:ea typeface="楷体" panose="02010609060101010101" pitchFamily="49" charset="-122"/>
                          </a:rPr>
                          <m:t>4</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r>
                      <a:rPr kumimoji="1" lang="en-US" altLang="zh-CN" sz="2400" b="0" i="1" dirty="0" smtClean="0">
                        <a:solidFill>
                          <a:srgbClr val="000000"/>
                        </a:solidFill>
                        <a:latin typeface="Cambria Math" panose="02040503050406030204" pitchFamily="18" charset="0"/>
                        <a:ea typeface="楷体" panose="02010609060101010101" pitchFamily="49" charset="-122"/>
                      </a:rPr>
                      <m:t>3</m:t>
                    </m:r>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4</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oMath>
                </a14:m>
                <a:endParaRPr kumimoji="1" lang="zh-CN" altLang="en-US" sz="2400" dirty="0">
                  <a:solidFill>
                    <a:srgbClr val="000000"/>
                  </a:solidFill>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400" dirty="0">
                    <a:solidFill>
                      <a:srgbClr val="000000"/>
                    </a:solidFill>
                    <a:latin typeface="楷体" panose="02010609060101010101" pitchFamily="49" charset="-122"/>
                    <a:ea typeface="楷体" panose="02010609060101010101" pitchFamily="49" charset="-122"/>
                  </a:rPr>
                  <a:t>这样就有</a:t>
                </a:r>
                <a:endParaRPr kumimoji="1" lang="en-US" altLang="zh-CN" sz="2400" dirty="0">
                  <a:solidFill>
                    <a:srgbClr val="000000"/>
                  </a:solidFill>
                  <a:latin typeface="楷体" panose="02010609060101010101" pitchFamily="49" charset="-122"/>
                  <a:ea typeface="楷体" panose="02010609060101010101" pitchFamily="49" charset="-122"/>
                </a:endParaRPr>
              </a:p>
              <a:p>
                <a:pPr marL="342900" algn="ctr">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𝑓</m:t>
                          </m:r>
                        </m:e>
                        <m:sub>
                          <m:r>
                            <a:rPr kumimoji="1" lang="en-US" altLang="zh-CN" sz="2400" i="1">
                              <a:solidFill>
                                <a:srgbClr val="000000"/>
                              </a:solidFill>
                              <a:latin typeface="Cambria Math" panose="02040503050406030204" pitchFamily="18" charset="0"/>
                              <a:ea typeface="楷体" panose="02010609060101010101" pitchFamily="49" charset="-122"/>
                            </a:rPr>
                            <m:t>4</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e>
                      </m:d>
                      <m:r>
                        <a:rPr kumimoji="1" lang="en-US" altLang="zh-CN" sz="2400" i="1">
                          <a:solidFill>
                            <a:srgbClr val="000000"/>
                          </a:solidFill>
                          <a:latin typeface="Cambria Math" panose="02040503050406030204" pitchFamily="18" charset="0"/>
                          <a:ea typeface="楷体" panose="02010609060101010101" pitchFamily="49" charset="-122"/>
                        </a:rPr>
                        <m:t>=</m:t>
                      </m:r>
                      <m:func>
                        <m:funcPr>
                          <m:ctrlPr>
                            <a:rPr kumimoji="1" lang="en-US" altLang="zh-CN" sz="2400" i="1">
                              <a:solidFill>
                                <a:srgbClr val="000000"/>
                              </a:solidFill>
                              <a:latin typeface="Cambria Math" panose="02040503050406030204" pitchFamily="18" charset="0"/>
                              <a:ea typeface="楷体" panose="02010609060101010101" pitchFamily="49" charset="-122"/>
                            </a:rPr>
                          </m:ctrlPr>
                        </m:funcPr>
                        <m:fName>
                          <m:limLow>
                            <m:limLowPr>
                              <m:ctrlPr>
                                <a:rPr kumimoji="1" lang="en-US" altLang="zh-CN" sz="2400" i="1">
                                  <a:solidFill>
                                    <a:srgbClr val="000000"/>
                                  </a:solidFill>
                                  <a:latin typeface="Cambria Math" panose="02040503050406030204" pitchFamily="18" charset="0"/>
                                  <a:ea typeface="楷体" panose="02010609060101010101" pitchFamily="49" charset="-122"/>
                                </a:rPr>
                              </m:ctrlPr>
                            </m:limLowPr>
                            <m:e>
                              <m:r>
                                <m:rPr>
                                  <m:sty m:val="p"/>
                                </m:rPr>
                                <a:rPr kumimoji="1" lang="en-US" altLang="zh-CN" sz="2400">
                                  <a:solidFill>
                                    <a:srgbClr val="000000"/>
                                  </a:solidFill>
                                  <a:latin typeface="Cambria Math" panose="02040503050406030204" pitchFamily="18" charset="0"/>
                                  <a:ea typeface="楷体" panose="02010609060101010101" pitchFamily="49" charset="-122"/>
                                </a:rPr>
                                <m:t>min</m:t>
                              </m:r>
                            </m:e>
                            <m:lim>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4</m:t>
                                  </m:r>
                                </m:sub>
                              </m:sSub>
                            </m:lim>
                          </m:limLow>
                        </m:fName>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𝑟</m:t>
                              </m:r>
                            </m:e>
                            <m:sub>
                              <m:r>
                                <a:rPr kumimoji="1" lang="en-US" altLang="zh-CN" sz="2400" i="1">
                                  <a:solidFill>
                                    <a:srgbClr val="000000"/>
                                  </a:solidFill>
                                  <a:latin typeface="Cambria Math" panose="02040503050406030204" pitchFamily="18" charset="0"/>
                                  <a:ea typeface="楷体" panose="02010609060101010101" pitchFamily="49" charset="-122"/>
                                </a:rPr>
                                <m:t>4</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4</m:t>
                                  </m:r>
                                </m:sub>
                              </m:sSub>
                            </m:e>
                          </m:d>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𝑟</m:t>
                              </m:r>
                            </m:e>
                            <m:sub>
                              <m:r>
                                <a:rPr kumimoji="1" lang="en-US" altLang="zh-CN" sz="2400" i="1">
                                  <a:solidFill>
                                    <a:srgbClr val="000000"/>
                                  </a:solidFill>
                                  <a:latin typeface="Cambria Math" panose="02040503050406030204" pitchFamily="18" charset="0"/>
                                  <a:ea typeface="楷体" panose="02010609060101010101" pitchFamily="49" charset="-122"/>
                                </a:rPr>
                                <m:t>4</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3</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r>
                            <a:rPr kumimoji="1" lang="en-US" altLang="zh-CN" sz="2400" i="1">
                              <a:solidFill>
                                <a:srgbClr val="000000"/>
                              </a:solidFill>
                              <a:latin typeface="Cambria Math" panose="02040503050406030204" pitchFamily="18" charset="0"/>
                              <a:ea typeface="楷体" panose="02010609060101010101" pitchFamily="49" charset="-122"/>
                            </a:rPr>
                            <m:t>)</m:t>
                          </m:r>
                        </m:e>
                      </m:func>
                    </m:oMath>
                  </m:oMathPara>
                </a14:m>
                <a:endParaRPr kumimoji="1" lang="en-US" altLang="zh-CN" sz="2400" dirty="0">
                  <a:solidFill>
                    <a:srgbClr val="000000"/>
                  </a:solidFill>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400" dirty="0">
                    <a:solidFill>
                      <a:srgbClr val="000000"/>
                    </a:solidFill>
                    <a:latin typeface="楷体" panose="02010609060101010101" pitchFamily="49" charset="-122"/>
                    <a:ea typeface="楷体" panose="02010609060101010101" pitchFamily="49" charset="-122"/>
                  </a:rPr>
                  <a:t>阶段指标</a:t>
                </a:r>
                <a14:m>
                  <m:oMath xmlns:m="http://schemas.openxmlformats.org/officeDocument/2006/math">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𝑟</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𝑥</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oMath>
                </a14:m>
                <a:r>
                  <a:rPr kumimoji="1" lang="zh-CN" altLang="en-US" sz="2400" dirty="0">
                    <a:solidFill>
                      <a:srgbClr val="000000"/>
                    </a:solidFill>
                    <a:latin typeface="楷体" panose="02010609060101010101" pitchFamily="49" charset="-122"/>
                    <a:ea typeface="楷体" panose="02010609060101010101" pitchFamily="49" charset="-122"/>
                  </a:rPr>
                  <a:t>可以分成生产成本与储存费，即　　　　　　　　　　　　　　　</a:t>
                </a:r>
                <a:endParaRPr kumimoji="1" lang="en-US" altLang="zh-CN" sz="2400" dirty="0">
                  <a:solidFill>
                    <a:srgbClr val="000000"/>
                  </a:solidFill>
                  <a:latin typeface="楷体" panose="02010609060101010101" pitchFamily="49" charset="-122"/>
                  <a:ea typeface="楷体" panose="02010609060101010101" pitchFamily="49" charset="-122"/>
                </a:endParaRPr>
              </a:p>
              <a:p>
                <a:pPr marL="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𝑟</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d>
                        <m:dPr>
                          <m:ctrlPr>
                            <a:rPr kumimoji="1" lang="en-US" altLang="zh-CN" sz="2400" b="0" i="1" smtClean="0">
                              <a:solidFill>
                                <a:srgbClr val="000000"/>
                              </a:solidFill>
                              <a:latin typeface="Cambria Math" panose="02040503050406030204" pitchFamily="18" charset="0"/>
                              <a:ea typeface="楷体" panose="02010609060101010101" pitchFamily="49" charset="-122"/>
                            </a:rPr>
                          </m:ctrlPr>
                        </m:dPr>
                        <m:e>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𝑐</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d>
                        <m:dPr>
                          <m:ctrlPr>
                            <a:rPr kumimoji="1" lang="en-US" altLang="zh-CN" sz="2400" b="0" i="1" smtClean="0">
                              <a:solidFill>
                                <a:srgbClr val="000000"/>
                              </a:solidFill>
                              <a:latin typeface="Cambria Math" panose="02040503050406030204" pitchFamily="18" charset="0"/>
                              <a:ea typeface="楷体" panose="02010609060101010101" pitchFamily="49" charset="-122"/>
                            </a:rPr>
                          </m:ctrlPr>
                        </m:dPr>
                        <m:e>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ℎ</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𝑛</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oMath>
                  </m:oMathPara>
                </a14:m>
                <a:endParaRPr kumimoji="1" lang="en-US" altLang="zh-CN" sz="2400" dirty="0">
                  <a:solidFill>
                    <a:srgbClr val="000000"/>
                  </a:solidFill>
                  <a:latin typeface="楷体" panose="02010609060101010101" pitchFamily="49" charset="-122"/>
                  <a:ea typeface="楷体" panose="02010609060101010101" pitchFamily="49" charset="-122"/>
                </a:endParaRPr>
              </a:p>
              <a:p>
                <a:pPr marL="342900" algn="just">
                  <a:lnSpc>
                    <a:spcPct val="150000"/>
                  </a:lnSpc>
                  <a:spcBef>
                    <a:spcPts val="300"/>
                  </a:spcBef>
                  <a:spcAft>
                    <a:spcPts val="300"/>
                  </a:spcAft>
                </a:pPr>
                <a:r>
                  <a:rPr kumimoji="1" lang="zh-CN" altLang="en-US" sz="2400" dirty="0">
                    <a:solidFill>
                      <a:srgbClr val="000000"/>
                    </a:solidFill>
                    <a:latin typeface="楷体" panose="02010609060101010101" pitchFamily="49" charset="-122"/>
                    <a:ea typeface="楷体" panose="02010609060101010101" pitchFamily="49" charset="-122"/>
                  </a:rPr>
                  <a:t>由于第四阶段末要求库存为零，即有</a:t>
                </a:r>
                <a14:m>
                  <m:oMath xmlns:m="http://schemas.openxmlformats.org/officeDocument/2006/math">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ℎ</m:t>
                        </m:r>
                      </m:e>
                      <m:sub>
                        <m:r>
                          <a:rPr kumimoji="1" lang="en-US" altLang="zh-CN" sz="2400" b="0" i="1" smtClean="0">
                            <a:solidFill>
                              <a:srgbClr val="000000"/>
                            </a:solidFill>
                            <a:latin typeface="Cambria Math" panose="02040503050406030204" pitchFamily="18" charset="0"/>
                            <a:ea typeface="楷体" panose="02010609060101010101" pitchFamily="49" charset="-122"/>
                          </a:rPr>
                          <m:t>4</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4</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4</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r>
                      <a:rPr kumimoji="1" lang="en-US" altLang="zh-CN" sz="2400" b="0" i="1" smtClean="0">
                        <a:solidFill>
                          <a:srgbClr val="000000"/>
                        </a:solidFill>
                        <a:latin typeface="Cambria Math" panose="02040503050406030204" pitchFamily="18" charset="0"/>
                        <a:ea typeface="楷体" panose="02010609060101010101" pitchFamily="49" charset="-122"/>
                      </a:rPr>
                      <m:t>0</m:t>
                    </m:r>
                  </m:oMath>
                </a14:m>
                <a:r>
                  <a:rPr kumimoji="1" lang="zh-CN" altLang="en-US" sz="2400" dirty="0">
                    <a:solidFill>
                      <a:srgbClr val="000000"/>
                    </a:solidFill>
                    <a:latin typeface="楷体" panose="02010609060101010101" pitchFamily="49" charset="-122"/>
                    <a:ea typeface="楷体" panose="02010609060101010101" pitchFamily="49" charset="-122"/>
                  </a:rPr>
                  <a:t>，可得                                                                                          </a:t>
                </a:r>
                <a:endParaRPr kumimoji="1" lang="zh-CN" altLang="en-US" sz="2400" dirty="0">
                  <a:solidFill>
                    <a:srgbClr val="000000"/>
                  </a:solidFill>
                  <a:latin typeface="楷体" panose="02010609060101010101" pitchFamily="49" charset="-122"/>
                  <a:ea typeface="楷体" panose="02010609060101010101" pitchFamily="49" charset="-122"/>
                </a:endParaRPr>
              </a:p>
              <a:p>
                <a:pPr marL="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𝑓</m:t>
                          </m:r>
                        </m:e>
                        <m:sub>
                          <m:r>
                            <a:rPr kumimoji="1" lang="en-US" altLang="zh-CN" sz="2400" i="1">
                              <a:solidFill>
                                <a:srgbClr val="000000"/>
                              </a:solidFill>
                              <a:latin typeface="Cambria Math" panose="02040503050406030204" pitchFamily="18" charset="0"/>
                              <a:ea typeface="楷体" panose="02010609060101010101" pitchFamily="49" charset="-122"/>
                            </a:rPr>
                            <m:t>4</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e>
                      </m:d>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𝑟</m:t>
                          </m:r>
                        </m:e>
                        <m:sub>
                          <m:r>
                            <a:rPr kumimoji="1" lang="en-US" altLang="zh-CN" sz="2400" i="1">
                              <a:solidFill>
                                <a:srgbClr val="000000"/>
                              </a:solidFill>
                              <a:latin typeface="Cambria Math" panose="02040503050406030204" pitchFamily="18" charset="0"/>
                              <a:ea typeface="楷体" panose="02010609060101010101" pitchFamily="49" charset="-122"/>
                            </a:rPr>
                            <m:t>4</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3</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4</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𝑐</m:t>
                          </m:r>
                        </m:e>
                        <m:sub>
                          <m:r>
                            <a:rPr kumimoji="1" lang="en-US" altLang="zh-CN" sz="2400" b="0" i="1" smtClean="0">
                              <a:solidFill>
                                <a:srgbClr val="000000"/>
                              </a:solidFill>
                              <a:latin typeface="Cambria Math" panose="02040503050406030204" pitchFamily="18" charset="0"/>
                              <a:ea typeface="楷体" panose="02010609060101010101" pitchFamily="49" charset="-122"/>
                            </a:rPr>
                            <m:t>4</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r>
                        <a:rPr kumimoji="1" lang="en-US" altLang="zh-CN" sz="2400" b="0" i="1" smtClean="0">
                          <a:solidFill>
                            <a:srgbClr val="000000"/>
                          </a:solidFill>
                          <a:latin typeface="Cambria Math" panose="02040503050406030204" pitchFamily="18" charset="0"/>
                          <a:ea typeface="楷体" panose="02010609060101010101" pitchFamily="49" charset="-122"/>
                        </a:rPr>
                        <m:t>3</m:t>
                      </m:r>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4</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oMath>
                  </m:oMathPara>
                </a14:m>
                <a:endParaRPr kumimoji="1" lang="zh-CN" altLang="en-US" sz="2400" dirty="0">
                  <a:solidFill>
                    <a:srgbClr val="000000"/>
                  </a:solidFill>
                  <a:latin typeface="楷体" panose="02010609060101010101" pitchFamily="49" charset="-122"/>
                  <a:ea typeface="楷体" panose="02010609060101010101" pitchFamily="49" charset="-122"/>
                </a:endParaRPr>
              </a:p>
            </p:txBody>
          </p:sp>
        </mc:Choice>
        <mc:Fallback>
          <p:sp>
            <p:nvSpPr>
              <p:cNvPr id="29706" name="矩形 2"/>
              <p:cNvSpPr>
                <a:spLocks noRot="1" noChangeAspect="1" noMove="1" noResize="1" noEditPoints="1" noAdjustHandles="1" noChangeArrowheads="1" noChangeShapeType="1" noTextEdit="1"/>
              </p:cNvSpPr>
              <p:nvPr/>
            </p:nvSpPr>
            <p:spPr bwMode="auto">
              <a:xfrm>
                <a:off x="1845469" y="950725"/>
                <a:ext cx="8501062" cy="4893945"/>
              </a:xfrm>
              <a:prstGeom prst="rect">
                <a:avLst/>
              </a:prstGeom>
              <a:blipFill rotWithShape="1">
                <a:blip r:embed="rId1"/>
                <a:stretch>
                  <a:fillRect l="-2" t="-3" r="6" b="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0733" name="Rectangle 3"/>
              <p:cNvSpPr>
                <a:spLocks noChangeArrowheads="1"/>
              </p:cNvSpPr>
              <p:nvPr/>
            </p:nvSpPr>
            <p:spPr bwMode="auto">
              <a:xfrm>
                <a:off x="1905000" y="1085850"/>
                <a:ext cx="7977188" cy="457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0"/>
                  </a:spcBef>
                  <a:spcAft>
                    <a:spcPts val="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对于每个</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4</m:t>
                        </m:r>
                      </m:sub>
                    </m:sSub>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的可行值，</a:t>
                </a:r>
                <a14:m>
                  <m:oMath xmlns:m="http://schemas.openxmlformats.org/officeDocument/2006/math">
                    <m:sSub>
                      <m:sSubPr>
                        <m:ctrlPr>
                          <a:rPr kumimoji="1" lang="en-US" altLang="zh-CN" sz="2400" i="1" dirty="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𝑓</m:t>
                        </m:r>
                        <m:r>
                          <a:rPr kumimoji="1" lang="en-US" altLang="zh-CN" sz="2400" b="0" i="1" dirty="0" smtClean="0">
                            <a:latin typeface="Cambria Math" panose="02040503050406030204" pitchFamily="18" charset="0"/>
                            <a:ea typeface="楷体" panose="02010609060101010101" pitchFamily="49" charset="-122"/>
                          </a:rPr>
                          <m:t>(</m:t>
                        </m:r>
                        <m:r>
                          <a:rPr kumimoji="1" lang="en-US" altLang="zh-CN" sz="2400" i="1" dirty="0">
                            <a:latin typeface="Cambria Math" panose="02040503050406030204" pitchFamily="18" charset="0"/>
                            <a:ea typeface="楷体" panose="02010609060101010101" pitchFamily="49" charset="-122"/>
                          </a:rPr>
                          <m:t>𝑠</m:t>
                        </m:r>
                      </m:e>
                      <m:sub>
                        <m:r>
                          <a:rPr kumimoji="1" lang="en-US" altLang="zh-CN" sz="2400" i="1" dirty="0">
                            <a:latin typeface="Cambria Math" panose="02040503050406030204" pitchFamily="18" charset="0"/>
                            <a:ea typeface="楷体" panose="02010609060101010101" pitchFamily="49" charset="-122"/>
                          </a:rPr>
                          <m:t>4</m:t>
                        </m:r>
                      </m:sub>
                    </m:sSub>
                    <m:r>
                      <a:rPr kumimoji="1" lang="en-US" altLang="zh-CN" sz="2400" b="0" i="1" dirty="0" smtClean="0">
                        <a:latin typeface="Cambria Math" panose="02040503050406030204" pitchFamily="18" charset="0"/>
                        <a:ea typeface="楷体" panose="02010609060101010101" pitchFamily="49" charset="-122"/>
                      </a:rPr>
                      <m:t>)</m:t>
                    </m:r>
                  </m:oMath>
                </a14:m>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的值列于表。</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当</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𝒔</m:t>
                        </m:r>
                      </m:e>
                      <m:sub>
                        <m:r>
                          <a:rPr lang="en-US" altLang="zh-CN" sz="2400" b="1" i="1">
                            <a:latin typeface="Cambria Math" panose="02040503050406030204" pitchFamily="18" charset="0"/>
                          </a:rPr>
                          <m:t>𝟒</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𝟎</m:t>
                    </m:r>
                  </m:oMath>
                </a14:m>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时，可知第四阶段要生产</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m:t>
                    </m:r>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𝒔</m:t>
                        </m:r>
                      </m:e>
                      <m:sub>
                        <m:r>
                          <a:rPr lang="en-US" altLang="zh-CN" sz="2400" b="1" i="1">
                            <a:latin typeface="Cambria Math" panose="02040503050406030204" pitchFamily="18" charset="0"/>
                          </a:rPr>
                          <m:t>𝟒</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𝟑</m:t>
                    </m:r>
                  </m:oMath>
                </a14:m>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台，总成本为</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9</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。同理算出当</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𝒔</m:t>
                        </m:r>
                      </m:e>
                      <m:sub>
                        <m:r>
                          <a:rPr lang="en-US" altLang="zh-CN" sz="2400" b="1" i="1">
                            <a:latin typeface="Cambria Math" panose="02040503050406030204" pitchFamily="18" charset="0"/>
                          </a:rPr>
                          <m:t>𝟒</m:t>
                        </m:r>
                      </m:sub>
                    </m:sSub>
                  </m:oMath>
                </a14:m>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kumimoji="1"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1,2,3</a:t>
                </a:r>
                <a:r>
                  <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时的情况。</a:t>
                </a:r>
                <a:endParaRPr kumimoji="1"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0"/>
                  </a:spcBef>
                  <a:spcAft>
                    <a:spcPts val="0"/>
                  </a:spcAft>
                </a:pPr>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0733" name="Rectangle 3"/>
              <p:cNvSpPr>
                <a:spLocks noRot="1" noChangeAspect="1" noMove="1" noResize="1" noEditPoints="1" noAdjustHandles="1" noChangeArrowheads="1" noChangeShapeType="1" noTextEdit="1"/>
              </p:cNvSpPr>
              <p:nvPr/>
            </p:nvSpPr>
            <p:spPr bwMode="auto">
              <a:xfrm>
                <a:off x="1905000" y="1085850"/>
                <a:ext cx="7977188" cy="4575398"/>
              </a:xfrm>
              <a:prstGeom prst="rect">
                <a:avLst/>
              </a:prstGeom>
              <a:blipFill rotWithShape="1">
                <a:blip r:embed="rId1"/>
                <a:stretch>
                  <a:fillRect r="-736" b="-755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2927648" y="2060848"/>
              <a:ext cx="6098540" cy="2225040"/>
            </p:xfrm>
            <a:graphic>
              <a:graphicData uri="http://schemas.openxmlformats.org/drawingml/2006/table">
                <a:tbl>
                  <a:tblPr firstRow="1" bandRow="1">
                    <a:tableStyleId>{5C22544A-7EE6-4342-B048-85BDC9FD1C3A}</a:tableStyleId>
                  </a:tblPr>
                  <a:tblGrid>
                    <a:gridCol w="871220"/>
                    <a:gridCol w="871220"/>
                    <a:gridCol w="871220"/>
                    <a:gridCol w="871220"/>
                    <a:gridCol w="871220"/>
                    <a:gridCol w="871220"/>
                    <a:gridCol w="871220"/>
                  </a:tblGrid>
                  <a:tr h="370840">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Sub>
                              </m:oMath>
                            </m:oMathPara>
                          </a14:m>
                          <a:endParaRPr lang="en-US" altLang="zh-CN" b="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4">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𝟑</m:t>
                                    </m:r>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𝒄</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𝟑</m:t>
                                </m:r>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𝟒</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表格 1"/>
              <p:cNvGraphicFramePr>
                <a:graphicFrameLocks noGrp="1"/>
              </p:cNvGraphicFramePr>
              <p:nvPr/>
            </p:nvGraphicFramePr>
            <p:xfrm>
              <a:off x="2927648" y="2060848"/>
              <a:ext cx="6098540" cy="2225040"/>
            </p:xfrm>
            <a:graphic>
              <a:graphicData uri="http://schemas.openxmlformats.org/drawingml/2006/table">
                <a:tbl>
                  <a:tblPr firstRow="1" bandRow="1">
                    <a:tableStyleId>{5C22544A-7EE6-4342-B048-85BDC9FD1C3A}</a:tableStyleId>
                  </a:tblPr>
                  <a:tblGrid>
                    <a:gridCol w="871220"/>
                    <a:gridCol w="871220"/>
                    <a:gridCol w="871220"/>
                    <a:gridCol w="871220"/>
                    <a:gridCol w="871220"/>
                    <a:gridCol w="871220"/>
                    <a:gridCol w="871220"/>
                  </a:tblGrid>
                  <a:tr h="370840">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blipFill>
                          <a:blip r:embed="rId2"/>
                        </a:blipFill>
                      </a:tcPr>
                    </a:tc>
                    <a:tc gridSpan="4">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1770" name="Rectangle 3"/>
              <p:cNvSpPr>
                <a:spLocks noChangeArrowheads="1"/>
              </p:cNvSpPr>
              <p:nvPr/>
            </p:nvSpPr>
            <p:spPr bwMode="auto">
              <a:xfrm>
                <a:off x="1557391" y="898743"/>
                <a:ext cx="9144000" cy="3445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342900" algn="just">
                  <a:lnSpc>
                    <a:spcPct val="150000"/>
                  </a:lnSpc>
                  <a:spcBef>
                    <a:spcPts val="300"/>
                  </a:spcBef>
                  <a:spcAft>
                    <a:spcPts val="300"/>
                  </a:spcAft>
                </a:pPr>
                <a:r>
                  <a:rPr kumimoji="1" lang="zh-CN" altLang="en-US" sz="2200" b="1" dirty="0">
                    <a:latin typeface="楷体" panose="02010609060101010101" pitchFamily="49" charset="-122"/>
                    <a:ea typeface="楷体" panose="02010609060101010101" pitchFamily="49" charset="-122"/>
                  </a:rPr>
                  <a:t>　</a:t>
                </a:r>
                <a:r>
                  <a:rPr kumimoji="1" lang="zh-CN" altLang="en-US" sz="2400" b="1" dirty="0">
                    <a:latin typeface="楷体" panose="02010609060101010101" pitchFamily="49" charset="-122"/>
                    <a:ea typeface="楷体" panose="02010609060101010101" pitchFamily="49" charset="-122"/>
                  </a:rPr>
                  <a:t>第三阶段：</a:t>
                </a:r>
                <a:endParaRPr kumimoji="1" lang="zh-CN" altLang="en-US" sz="2400" b="1" dirty="0">
                  <a:latin typeface="楷体" panose="02010609060101010101" pitchFamily="49" charset="-122"/>
                  <a:ea typeface="楷体" panose="02010609060101010101" pitchFamily="49" charset="-122"/>
                </a:endParaRPr>
              </a:p>
              <a:p>
                <a:pPr indent="-342900" algn="just">
                  <a:lnSpc>
                    <a:spcPct val="150000"/>
                  </a:lnSpc>
                  <a:spcBef>
                    <a:spcPts val="300"/>
                  </a:spcBef>
                  <a:spcAft>
                    <a:spcPts val="300"/>
                  </a:spcAft>
                </a:pPr>
                <a:r>
                  <a:rPr kumimoji="1" lang="zh-CN" altLang="en-US" sz="2400" dirty="0">
                    <a:latin typeface="楷体" panose="02010609060101010101" pitchFamily="49" charset="-122"/>
                    <a:ea typeface="楷体" panose="02010609060101010101" pitchFamily="49" charset="-122"/>
                  </a:rPr>
                  <a:t>此时有：</a:t>
                </a:r>
                <a14:m>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𝑟</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𝑐</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ℎ</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𝑐</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𝑑</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oMath>
                </a14:m>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为</a:t>
                </a:r>
                <a14:m>
                  <m:oMath xmlns:m="http://schemas.openxmlformats.org/officeDocument/2006/math">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b="0" i="1" dirty="0" smtClean="0">
                            <a:latin typeface="Cambria Math" panose="02040503050406030204" pitchFamily="18" charset="0"/>
                            <a:ea typeface="楷体" panose="02010609060101010101" pitchFamily="49" charset="-122"/>
                          </a:rPr>
                          <m:t>𝑠</m:t>
                        </m:r>
                      </m:e>
                      <m:sub>
                        <m:r>
                          <a:rPr kumimoji="1" lang="en-US" altLang="zh-CN" sz="2200" b="0" i="1" dirty="0" smtClean="0">
                            <a:latin typeface="Cambria Math" panose="02040503050406030204" pitchFamily="18" charset="0"/>
                            <a:ea typeface="楷体" panose="02010609060101010101" pitchFamily="49" charset="-122"/>
                          </a:rPr>
                          <m:t>4</m:t>
                        </m:r>
                      </m:sub>
                    </m:sSub>
                    <m:r>
                      <a:rPr kumimoji="1" lang="en-US" altLang="zh-CN" sz="2200" b="0" i="1" dirty="0" smtClean="0">
                        <a:latin typeface="Cambria Math" panose="02040503050406030204" pitchFamily="18" charset="0"/>
                        <a:ea typeface="楷体" panose="02010609060101010101" pitchFamily="49" charset="-122"/>
                      </a:rPr>
                      <m:t>=</m:t>
                    </m:r>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b="0" i="1" dirty="0" smtClean="0">
                            <a:latin typeface="Cambria Math" panose="02040503050406030204" pitchFamily="18" charset="0"/>
                            <a:ea typeface="楷体" panose="02010609060101010101" pitchFamily="49" charset="-122"/>
                          </a:rPr>
                          <m:t>𝑠</m:t>
                        </m:r>
                      </m:e>
                      <m:sub>
                        <m:r>
                          <a:rPr kumimoji="1" lang="en-US" altLang="zh-CN" sz="2200" b="0" i="1" dirty="0" smtClean="0">
                            <a:latin typeface="Cambria Math" panose="02040503050406030204" pitchFamily="18" charset="0"/>
                            <a:ea typeface="楷体" panose="02010609060101010101" pitchFamily="49" charset="-122"/>
                          </a:rPr>
                          <m:t>3</m:t>
                        </m:r>
                      </m:sub>
                    </m:sSub>
                    <m:r>
                      <a:rPr kumimoji="1" lang="en-US" altLang="zh-CN" sz="2200" b="0" i="1" dirty="0" smtClean="0">
                        <a:latin typeface="Cambria Math" panose="02040503050406030204" pitchFamily="18" charset="0"/>
                        <a:ea typeface="楷体" panose="02010609060101010101" pitchFamily="49" charset="-122"/>
                      </a:rPr>
                      <m:t>+</m:t>
                    </m:r>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b="0" i="1" dirty="0" smtClean="0">
                            <a:latin typeface="Cambria Math" panose="02040503050406030204" pitchFamily="18" charset="0"/>
                            <a:ea typeface="楷体" panose="02010609060101010101" pitchFamily="49" charset="-122"/>
                          </a:rPr>
                          <m:t>𝑥</m:t>
                        </m:r>
                      </m:e>
                      <m:sub>
                        <m:r>
                          <a:rPr kumimoji="1" lang="en-US" altLang="zh-CN" sz="2200" b="0" i="1" dirty="0" smtClean="0">
                            <a:latin typeface="Cambria Math" panose="02040503050406030204" pitchFamily="18" charset="0"/>
                            <a:ea typeface="楷体" panose="02010609060101010101" pitchFamily="49" charset="-122"/>
                          </a:rPr>
                          <m:t>3</m:t>
                        </m:r>
                      </m:sub>
                    </m:sSub>
                    <m:r>
                      <a:rPr kumimoji="1" lang="en-US" altLang="zh-CN" sz="2200" b="0" i="1" dirty="0" smtClean="0">
                        <a:latin typeface="Cambria Math" panose="02040503050406030204" pitchFamily="18" charset="0"/>
                        <a:ea typeface="楷体" panose="02010609060101010101" pitchFamily="49" charset="-122"/>
                      </a:rPr>
                      <m:t>−</m:t>
                    </m:r>
                    <m:sSub>
                      <m:sSubPr>
                        <m:ctrlPr>
                          <a:rPr kumimoji="1" lang="en-US" altLang="zh-CN" sz="2200" b="0" i="1" dirty="0" smtClean="0">
                            <a:latin typeface="Cambria Math" panose="02040503050406030204" pitchFamily="18" charset="0"/>
                            <a:ea typeface="楷体" panose="02010609060101010101" pitchFamily="49" charset="-122"/>
                          </a:rPr>
                        </m:ctrlPr>
                      </m:sSubPr>
                      <m:e>
                        <m:r>
                          <a:rPr kumimoji="1" lang="en-US" altLang="zh-CN" sz="2200" b="0" i="1" dirty="0" smtClean="0">
                            <a:latin typeface="Cambria Math" panose="02040503050406030204" pitchFamily="18" charset="0"/>
                            <a:ea typeface="楷体" panose="02010609060101010101" pitchFamily="49" charset="-122"/>
                          </a:rPr>
                          <m:t>𝑑</m:t>
                        </m:r>
                      </m:e>
                      <m:sub>
                        <m:r>
                          <a:rPr kumimoji="1" lang="en-US" altLang="zh-CN" sz="2200" b="0" i="1" dirty="0" smtClean="0">
                            <a:latin typeface="Cambria Math" panose="02040503050406030204" pitchFamily="18" charset="0"/>
                            <a:ea typeface="楷体" panose="02010609060101010101" pitchFamily="49" charset="-122"/>
                          </a:rPr>
                          <m:t>3</m:t>
                        </m:r>
                      </m:sub>
                    </m:sSub>
                  </m:oMath>
                </a14:m>
                <a:r>
                  <a:rPr kumimoji="1" lang="zh-CN" altLang="en-US" sz="2400" dirty="0">
                    <a:latin typeface="楷体" panose="02010609060101010101" pitchFamily="49" charset="-122"/>
                    <a:ea typeface="楷体" panose="02010609060101010101" pitchFamily="49" charset="-122"/>
                  </a:rPr>
                  <a:t>以及</a:t>
                </a:r>
                <a14:m>
                  <m:oMath xmlns:m="http://schemas.openxmlformats.org/officeDocument/2006/math">
                    <m:sSub>
                      <m:sSubPr>
                        <m:ctrlPr>
                          <a:rPr kumimoji="1" lang="en-US" altLang="zh-CN" sz="2200" i="1" dirty="0">
                            <a:latin typeface="Cambria Math" panose="02040503050406030204" pitchFamily="18" charset="0"/>
                            <a:ea typeface="楷体" panose="02010609060101010101" pitchFamily="49" charset="-122"/>
                          </a:rPr>
                        </m:ctrlPr>
                      </m:sSubPr>
                      <m:e>
                        <m:r>
                          <a:rPr kumimoji="1" lang="en-US" altLang="zh-CN" sz="2200" i="1" dirty="0">
                            <a:latin typeface="Cambria Math" panose="02040503050406030204" pitchFamily="18" charset="0"/>
                            <a:ea typeface="楷体" panose="02010609060101010101" pitchFamily="49" charset="-122"/>
                          </a:rPr>
                          <m:t>𝑑</m:t>
                        </m:r>
                      </m:e>
                      <m:sub>
                        <m:r>
                          <a:rPr kumimoji="1" lang="en-US" altLang="zh-CN" sz="2200" i="1" dirty="0">
                            <a:latin typeface="Cambria Math" panose="02040503050406030204" pitchFamily="18" charset="0"/>
                            <a:ea typeface="楷体" panose="02010609060101010101" pitchFamily="49" charset="-122"/>
                          </a:rPr>
                          <m:t>3</m:t>
                        </m:r>
                      </m:sub>
                    </m:sSub>
                    <m:r>
                      <a:rPr kumimoji="1" lang="en-US" altLang="zh-CN" sz="2200" b="0" i="1" dirty="0" smtClean="0">
                        <a:latin typeface="Cambria Math" panose="02040503050406030204" pitchFamily="18" charset="0"/>
                        <a:ea typeface="楷体" panose="02010609060101010101" pitchFamily="49" charset="-122"/>
                      </a:rPr>
                      <m:t>=</m:t>
                    </m:r>
                    <m:r>
                      <a:rPr kumimoji="1" lang="en-US" altLang="zh-CN" sz="2200" b="0" i="1" dirty="0" smtClean="0">
                        <a:latin typeface="Cambria Math" panose="02040503050406030204" pitchFamily="18" charset="0"/>
                        <a:ea typeface="楷体" panose="02010609060101010101" pitchFamily="49" charset="-122"/>
                      </a:rPr>
                      <m:t>1</m:t>
                    </m:r>
                  </m:oMath>
                </a14:m>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所以有</a:t>
                </a:r>
                <a:endParaRPr kumimoji="1" lang="zh-CN" altLang="en-US" sz="2400" dirty="0">
                  <a:latin typeface="楷体" panose="02010609060101010101" pitchFamily="49" charset="-122"/>
                  <a:ea typeface="楷体" panose="02010609060101010101" pitchFamily="49" charset="-122"/>
                </a:endParaRPr>
              </a:p>
              <a:p>
                <a:pPr indent="-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func>
                        <m:funcPr>
                          <m:ctrlPr>
                            <a:rPr kumimoji="1" lang="en-US" altLang="zh-CN" sz="2400" b="0" i="1" smtClean="0">
                              <a:latin typeface="Cambria Math" panose="02040503050406030204" pitchFamily="18" charset="0"/>
                              <a:ea typeface="楷体" panose="02010609060101010101" pitchFamily="49" charset="-122"/>
                            </a:rPr>
                          </m:ctrlPr>
                        </m:funcPr>
                        <m:fName>
                          <m:limLow>
                            <m:limLowPr>
                              <m:ctrlPr>
                                <a:rPr kumimoji="1" lang="en-US" altLang="zh-CN" sz="2400" b="0" i="1" smtClean="0">
                                  <a:latin typeface="Cambria Math" panose="02040503050406030204" pitchFamily="18" charset="0"/>
                                  <a:ea typeface="楷体" panose="02010609060101010101" pitchFamily="49" charset="-122"/>
                                </a:rPr>
                              </m:ctrlPr>
                            </m:limLowPr>
                            <m:e>
                              <m:r>
                                <m:rPr>
                                  <m:sty m:val="p"/>
                                </m:rPr>
                                <a:rPr kumimoji="1" lang="en-US" altLang="zh-CN" sz="2400" b="0" i="0" smtClean="0">
                                  <a:latin typeface="Cambria Math" panose="02040503050406030204" pitchFamily="18" charset="0"/>
                                  <a:ea typeface="楷体" panose="02010609060101010101" pitchFamily="49" charset="-122"/>
                                </a:rPr>
                                <m:t>min</m:t>
                              </m:r>
                            </m:e>
                            <m:lim>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r>
                                <m:rPr>
                                  <m:sty m:val="p"/>
                                </m:rPr>
                                <a:rPr kumimoji="1" lang="en-US" altLang="zh-CN" sz="2400" b="0" i="0" smtClean="0">
                                  <a:latin typeface="Cambria Math" panose="02040503050406030204" pitchFamily="18" charset="0"/>
                                  <a:ea typeface="楷体" panose="02010609060101010101" pitchFamily="49" charset="-122"/>
                                </a:rPr>
                                <m:t>min</m:t>
                              </m:r>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r>
                                <a:rPr kumimoji="1" lang="en-US" altLang="zh-CN" sz="2400" b="0" i="1" smtClean="0">
                                  <a:latin typeface="Cambria Math" panose="02040503050406030204" pitchFamily="18" charset="0"/>
                                  <a:ea typeface="楷体" panose="02010609060101010101" pitchFamily="49" charset="-122"/>
                                </a:rPr>
                                <m:t>)</m:t>
                              </m:r>
                            </m:lim>
                          </m:limLow>
                        </m:fName>
                        <m:e>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𝑐</m:t>
                              </m:r>
                            </m:e>
                            <m:sub>
                              <m:r>
                                <a:rPr kumimoji="1" lang="en-US" altLang="zh-CN" sz="2400" b="0" i="1" smtClean="0">
                                  <a:latin typeface="Cambria Math" panose="02040503050406030204" pitchFamily="18" charset="0"/>
                                  <a:ea typeface="楷体" panose="02010609060101010101" pitchFamily="49" charset="-122"/>
                                </a:rPr>
                                <m:t>3</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𝑑</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4</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4</m:t>
                              </m:r>
                            </m:sub>
                          </m:sSub>
                          <m:r>
                            <a:rPr kumimoji="1" lang="en-US" altLang="zh-CN" sz="2400" b="0" i="1" smtClean="0">
                              <a:latin typeface="Cambria Math" panose="02040503050406030204" pitchFamily="18" charset="0"/>
                              <a:ea typeface="楷体" panose="02010609060101010101" pitchFamily="49" charset="-122"/>
                            </a:rPr>
                            <m:t>)]</m:t>
                          </m:r>
                        </m:e>
                      </m:func>
                    </m:oMath>
                  </m:oMathPara>
                </a14:m>
                <a:endParaRPr kumimoji="1" lang="en-US" altLang="zh-CN" sz="2400" b="0" dirty="0">
                  <a:latin typeface="楷体" panose="02010609060101010101" pitchFamily="49" charset="-122"/>
                  <a:ea typeface="楷体" panose="02010609060101010101" pitchFamily="49" charset="-122"/>
                </a:endParaRPr>
              </a:p>
              <a:p>
                <a:pPr indent="-342900" algn="ctr">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func>
                        <m:funcPr>
                          <m:ctrlPr>
                            <a:rPr kumimoji="1" lang="en-US" altLang="zh-CN" sz="2400" i="1">
                              <a:latin typeface="Cambria Math" panose="02040503050406030204" pitchFamily="18" charset="0"/>
                              <a:ea typeface="楷体" panose="02010609060101010101" pitchFamily="49" charset="-122"/>
                            </a:rPr>
                          </m:ctrlPr>
                        </m:funcPr>
                        <m:fName>
                          <m:r>
                            <a:rPr kumimoji="1" lang="en-US" altLang="zh-CN" sz="2400" b="0" i="1" smtClean="0">
                              <a:latin typeface="Cambria Math" panose="02040503050406030204" pitchFamily="18" charset="0"/>
                              <a:ea typeface="楷体" panose="02010609060101010101" pitchFamily="49" charset="-122"/>
                            </a:rPr>
                            <m:t>=</m:t>
                          </m:r>
                          <m:limLow>
                            <m:limLowPr>
                              <m:ctrlPr>
                                <a:rPr kumimoji="1" lang="en-US" altLang="zh-CN" sz="2400" i="1">
                                  <a:latin typeface="Cambria Math" panose="02040503050406030204" pitchFamily="18" charset="0"/>
                                  <a:ea typeface="楷体" panose="02010609060101010101" pitchFamily="49" charset="-122"/>
                                </a:rPr>
                              </m:ctrlPr>
                            </m:limLowPr>
                            <m:e>
                              <m:r>
                                <m:rPr>
                                  <m:sty m:val="p"/>
                                </m:rPr>
                                <a:rPr kumimoji="1" lang="en-US" altLang="zh-CN" sz="2400">
                                  <a:latin typeface="Cambria Math" panose="02040503050406030204" pitchFamily="18" charset="0"/>
                                  <a:ea typeface="楷体" panose="02010609060101010101" pitchFamily="49" charset="-122"/>
                                </a:rPr>
                                <m:t>min</m:t>
                              </m:r>
                            </m:e>
                            <m:lim>
                              <m:r>
                                <a:rPr kumimoji="1" lang="en-US" altLang="zh-CN" sz="2400" i="1">
                                  <a:latin typeface="Cambria Math" panose="02040503050406030204" pitchFamily="18" charset="0"/>
                                  <a:ea typeface="楷体" panose="02010609060101010101" pitchFamily="49" charset="-122"/>
                                </a:rPr>
                                <m:t>1</m:t>
                              </m:r>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r>
                                <m:rPr>
                                  <m:sty m:val="p"/>
                                </m:rPr>
                                <a:rPr kumimoji="1" lang="en-US" altLang="zh-CN" sz="2400">
                                  <a:latin typeface="Cambria Math" panose="02040503050406030204" pitchFamily="18" charset="0"/>
                                  <a:ea typeface="楷体" panose="02010609060101010101" pitchFamily="49" charset="-122"/>
                                </a:rPr>
                                <m:t>min</m:t>
                              </m:r>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4</m:t>
                              </m:r>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4</m:t>
                              </m:r>
                              <m:r>
                                <a:rPr kumimoji="1" lang="en-US" altLang="zh-CN" sz="2400" i="1">
                                  <a:latin typeface="Cambria Math" panose="02040503050406030204" pitchFamily="18" charset="0"/>
                                  <a:ea typeface="楷体" panose="02010609060101010101" pitchFamily="49" charset="-122"/>
                                </a:rPr>
                                <m:t>)</m:t>
                              </m:r>
                            </m:lim>
                          </m:limLow>
                        </m:fName>
                        <m:e>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𝑐</m:t>
                              </m:r>
                            </m:e>
                            <m:sub>
                              <m:r>
                                <a:rPr kumimoji="1" lang="en-US" altLang="zh-CN" sz="2400" i="1">
                                  <a:latin typeface="Cambria Math" panose="02040503050406030204" pitchFamily="18" charset="0"/>
                                  <a:ea typeface="楷体" panose="02010609060101010101" pitchFamily="49" charset="-122"/>
                                </a:rPr>
                                <m:t>3</m:t>
                              </m:r>
                            </m:sub>
                          </m:sSub>
                          <m:d>
                            <m:dPr>
                              <m:ctrlPr>
                                <a:rPr kumimoji="1" lang="en-US" altLang="zh-CN" sz="2400" i="1">
                                  <a:latin typeface="Cambria Math" panose="02040503050406030204" pitchFamily="18" charset="0"/>
                                  <a:ea typeface="楷体" panose="02010609060101010101" pitchFamily="49" charset="-122"/>
                                </a:rPr>
                              </m:ctrlPr>
                            </m:dP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3</m:t>
                                  </m:r>
                                </m:sub>
                              </m:sSub>
                            </m:e>
                          </m:d>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𝑠</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𝑑</m:t>
                              </m:r>
                            </m:e>
                            <m:sub>
                              <m:r>
                                <a:rPr kumimoji="1" lang="en-US" altLang="zh-CN" sz="2400" i="1">
                                  <a:latin typeface="Cambria Math" panose="02040503050406030204" pitchFamily="18" charset="0"/>
                                  <a:ea typeface="楷体" panose="02010609060101010101" pitchFamily="49" charset="-122"/>
                                </a:rPr>
                                <m:t>3</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𝑓</m:t>
                              </m:r>
                            </m:e>
                            <m:sub>
                              <m:r>
                                <a:rPr kumimoji="1" lang="en-US" altLang="zh-CN" sz="2400" i="1">
                                  <a:latin typeface="Cambria Math" panose="02040503050406030204" pitchFamily="18" charset="0"/>
                                  <a:ea typeface="楷体" panose="02010609060101010101" pitchFamily="49" charset="-122"/>
                                </a:rPr>
                                <m:t>4</m:t>
                              </m:r>
                            </m:sub>
                          </m:sSub>
                          <m:r>
                            <a:rPr kumimoji="1" lang="en-US" altLang="zh-CN" sz="2400" i="1">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3</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r>
                            <a:rPr kumimoji="1" lang="en-US" altLang="zh-CN" sz="2400" i="1">
                              <a:latin typeface="Cambria Math" panose="02040503050406030204" pitchFamily="18" charset="0"/>
                              <a:ea typeface="楷体" panose="02010609060101010101" pitchFamily="49" charset="-122"/>
                            </a:rPr>
                            <m:t>)]</m:t>
                          </m:r>
                        </m:e>
                      </m:func>
                    </m:oMath>
                  </m:oMathPara>
                </a14:m>
                <a:endParaRPr kumimoji="1" lang="zh-CN" altLang="en-US" sz="2400" dirty="0">
                  <a:latin typeface="楷体" panose="02010609060101010101" pitchFamily="49" charset="-122"/>
                  <a:ea typeface="楷体" panose="02010609060101010101" pitchFamily="49" charset="-122"/>
                </a:endParaRPr>
              </a:p>
              <a:p>
                <a:pPr indent="-342900" algn="just">
                  <a:spcBef>
                    <a:spcPts val="300"/>
                  </a:spcBef>
                  <a:spcAft>
                    <a:spcPts val="300"/>
                  </a:spcAft>
                </a:pPr>
                <a:r>
                  <a:rPr kumimoji="1" lang="zh-CN" altLang="en-US" sz="2400" dirty="0">
                    <a:latin typeface="楷体" panose="02010609060101010101" pitchFamily="49" charset="-122"/>
                    <a:ea typeface="楷体" panose="02010609060101010101" pitchFamily="49" charset="-122"/>
                  </a:rPr>
                  <a:t>                               </a:t>
                </a:r>
                <a:endParaRPr kumimoji="1" lang="zh-CN" altLang="en-US" sz="2400" dirty="0">
                  <a:latin typeface="楷体" panose="02010609060101010101" pitchFamily="49" charset="-122"/>
                  <a:ea typeface="楷体" panose="02010609060101010101" pitchFamily="49" charset="-122"/>
                </a:endParaRPr>
              </a:p>
              <a:p>
                <a:pPr indent="-342900" algn="just">
                  <a:lnSpc>
                    <a:spcPct val="150000"/>
                  </a:lnSpc>
                  <a:spcBef>
                    <a:spcPts val="300"/>
                  </a:spcBef>
                  <a:spcAft>
                    <a:spcPts val="300"/>
                  </a:spcAft>
                </a:pPr>
                <a:endParaRPr kumimoji="1" lang="zh-CN" altLang="en-US" sz="2400" dirty="0">
                  <a:latin typeface="楷体" panose="02010609060101010101" pitchFamily="49" charset="-122"/>
                  <a:ea typeface="楷体" panose="02010609060101010101" pitchFamily="49" charset="-122"/>
                </a:endParaRPr>
              </a:p>
              <a:p>
                <a:pPr indent="-342900" algn="just">
                  <a:lnSpc>
                    <a:spcPct val="150000"/>
                  </a:lnSpc>
                  <a:spcBef>
                    <a:spcPts val="300"/>
                  </a:spcBef>
                  <a:spcAft>
                    <a:spcPts val="300"/>
                  </a:spcAft>
                </a:pPr>
                <a:endParaRPr kumimoji="1" lang="en-US" altLang="zh-CN" sz="2400" dirty="0">
                  <a:latin typeface="楷体" panose="02010609060101010101" pitchFamily="49" charset="-122"/>
                  <a:ea typeface="楷体" panose="02010609060101010101" pitchFamily="49" charset="-122"/>
                </a:endParaRPr>
              </a:p>
            </p:txBody>
          </p:sp>
        </mc:Choice>
        <mc:Fallback>
          <p:sp>
            <p:nvSpPr>
              <p:cNvPr id="31770" name="Rectangle 3"/>
              <p:cNvSpPr>
                <a:spLocks noRot="1" noChangeAspect="1" noMove="1" noResize="1" noEditPoints="1" noAdjustHandles="1" noChangeArrowheads="1" noChangeShapeType="1" noTextEdit="1"/>
              </p:cNvSpPr>
              <p:nvPr/>
            </p:nvSpPr>
            <p:spPr bwMode="auto">
              <a:xfrm>
                <a:off x="1557391" y="898743"/>
                <a:ext cx="9144000" cy="3445395"/>
              </a:xfrm>
              <a:prstGeom prst="rect">
                <a:avLst/>
              </a:prstGeom>
              <a:blipFill rotWithShape="1">
                <a:blip r:embed="rId1"/>
                <a:stretch>
                  <a:fillRect l="-4" t="-6" r="4" b="-461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5" name="表格 34"/>
              <p:cNvGraphicFramePr>
                <a:graphicFrameLocks noGrp="1"/>
              </p:cNvGraphicFramePr>
              <p:nvPr/>
            </p:nvGraphicFramePr>
            <p:xfrm>
              <a:off x="2445875" y="4469135"/>
              <a:ext cx="7213600" cy="2225040"/>
            </p:xfrm>
            <a:graphic>
              <a:graphicData uri="http://schemas.openxmlformats.org/drawingml/2006/table">
                <a:tbl>
                  <a:tblPr firstRow="1" bandRow="1">
                    <a:tableStyleId>{5C22544A-7EE6-4342-B048-85BDC9FD1C3A}</a:tableStyleId>
                  </a:tblPr>
                  <a:tblGrid>
                    <a:gridCol w="901700"/>
                    <a:gridCol w="901700"/>
                    <a:gridCol w="901700"/>
                    <a:gridCol w="901700"/>
                    <a:gridCol w="901700"/>
                    <a:gridCol w="901700"/>
                    <a:gridCol w="901700"/>
                    <a:gridCol w="901700"/>
                  </a:tblGrid>
                  <a:tr h="370840">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oMath>
                            </m:oMathPara>
                          </a14:m>
                          <a:endParaRPr lang="en-US" altLang="zh-CN" b="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5">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6+0+9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0+0+9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0+1+8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35" name="表格 34"/>
              <p:cNvGraphicFramePr>
                <a:graphicFrameLocks noGrp="1"/>
              </p:cNvGraphicFramePr>
              <p:nvPr/>
            </p:nvGraphicFramePr>
            <p:xfrm>
              <a:off x="2445875" y="4469135"/>
              <a:ext cx="7213600" cy="2225040"/>
            </p:xfrm>
            <a:graphic>
              <a:graphicData uri="http://schemas.openxmlformats.org/drawingml/2006/table">
                <a:tbl>
                  <a:tblPr firstRow="1" bandRow="1">
                    <a:tableStyleId>{5C22544A-7EE6-4342-B048-85BDC9FD1C3A}</a:tableStyleId>
                  </a:tblPr>
                  <a:tblGrid>
                    <a:gridCol w="901700"/>
                    <a:gridCol w="901700"/>
                    <a:gridCol w="901700"/>
                    <a:gridCol w="901700"/>
                    <a:gridCol w="901700"/>
                    <a:gridCol w="901700"/>
                    <a:gridCol w="901700"/>
                    <a:gridCol w="901700"/>
                  </a:tblGrid>
                  <a:tr h="370840">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blipFill>
                          <a:blip r:embed="rId2"/>
                        </a:blipFill>
                      </a:tcPr>
                    </a:tc>
                    <a:tc gridSpan="5">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6+0+9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0+0+9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0+1+8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0+2+6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2794" name="矩形 13"/>
              <p:cNvSpPr>
                <a:spLocks noChangeArrowheads="1"/>
              </p:cNvSpPr>
              <p:nvPr/>
            </p:nvSpPr>
            <p:spPr bwMode="auto">
              <a:xfrm>
                <a:off x="1863843" y="1063529"/>
                <a:ext cx="8464313" cy="3726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a:spcBef>
                    <a:spcPts val="300"/>
                  </a:spcBef>
                  <a:spcAft>
                    <a:spcPts val="300"/>
                  </a:spcAft>
                </a:pPr>
                <a:r>
                  <a:rPr kumimoji="1" lang="zh-CN" altLang="en-US" sz="2400" b="1" dirty="0">
                    <a:solidFill>
                      <a:srgbClr val="000000"/>
                    </a:solidFill>
                    <a:latin typeface="楷体" panose="02010609060101010101" pitchFamily="49" charset="-122"/>
                    <a:ea typeface="楷体" panose="02010609060101010101" pitchFamily="49" charset="-122"/>
                  </a:rPr>
                  <a:t>第二阶段：</a:t>
                </a:r>
                <a:endParaRPr kumimoji="1" lang="zh-CN" altLang="en-US" sz="2400" b="1" dirty="0">
                  <a:solidFill>
                    <a:srgbClr val="000000"/>
                  </a:solidFill>
                  <a:latin typeface="楷体" panose="02010609060101010101" pitchFamily="49" charset="-122"/>
                  <a:ea typeface="楷体" panose="02010609060101010101" pitchFamily="49" charset="-122"/>
                </a:endParaRPr>
              </a:p>
              <a:p>
                <a:pPr marL="342900" indent="-342900" algn="just">
                  <a:spcBef>
                    <a:spcPts val="300"/>
                  </a:spcBef>
                  <a:spcAft>
                    <a:spcPts val="300"/>
                  </a:spcAft>
                </a:pPr>
                <a:r>
                  <a:rPr kumimoji="1" lang="zh-CN" altLang="en-US" sz="2400" dirty="0">
                    <a:solidFill>
                      <a:srgbClr val="000000"/>
                    </a:solidFill>
                    <a:latin typeface="楷体" panose="02010609060101010101" pitchFamily="49" charset="-122"/>
                    <a:ea typeface="楷体" panose="02010609060101010101" pitchFamily="49" charset="-122"/>
                  </a:rPr>
                  <a:t>因为</a:t>
                </a:r>
                <a14:m>
                  <m:oMath xmlns:m="http://schemas.openxmlformats.org/officeDocument/2006/math">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𝑑</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2</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r>
                      <a:rPr kumimoji="1" lang="en-US" altLang="zh-CN" sz="2400" b="0" i="1" dirty="0" smtClean="0">
                        <a:solidFill>
                          <a:srgbClr val="000000"/>
                        </a:solidFill>
                        <a:latin typeface="Cambria Math" panose="02040503050406030204" pitchFamily="18" charset="0"/>
                        <a:ea typeface="楷体" panose="02010609060101010101" pitchFamily="49" charset="-122"/>
                      </a:rPr>
                      <m:t>4</m:t>
                    </m:r>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3</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𝑠</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2</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𝑥</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2</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dirty="0" smtClean="0">
                            <a:solidFill>
                              <a:srgbClr val="000000"/>
                            </a:solidFill>
                            <a:latin typeface="Cambria Math" panose="02040503050406030204" pitchFamily="18" charset="0"/>
                            <a:ea typeface="楷体" panose="02010609060101010101" pitchFamily="49" charset="-122"/>
                          </a:rPr>
                        </m:ctrlPr>
                      </m:sSubPr>
                      <m:e>
                        <m:r>
                          <a:rPr kumimoji="1" lang="en-US" altLang="zh-CN" sz="2400" b="0" i="1" dirty="0" smtClean="0">
                            <a:solidFill>
                              <a:srgbClr val="000000"/>
                            </a:solidFill>
                            <a:latin typeface="Cambria Math" panose="02040503050406030204" pitchFamily="18" charset="0"/>
                            <a:ea typeface="楷体" panose="02010609060101010101" pitchFamily="49" charset="-122"/>
                          </a:rPr>
                          <m:t>𝑑</m:t>
                        </m:r>
                      </m:e>
                      <m:sub>
                        <m:r>
                          <a:rPr kumimoji="1" lang="en-US" altLang="zh-CN" sz="2400" b="0" i="1" dirty="0" smtClean="0">
                            <a:solidFill>
                              <a:srgbClr val="000000"/>
                            </a:solidFill>
                            <a:latin typeface="Cambria Math" panose="02040503050406030204" pitchFamily="18" charset="0"/>
                            <a:ea typeface="楷体" panose="02010609060101010101" pitchFamily="49" charset="-122"/>
                          </a:rPr>
                          <m:t>2</m:t>
                        </m:r>
                      </m:sub>
                    </m:sSub>
                    <m:r>
                      <a:rPr kumimoji="1" lang="en-US" altLang="zh-CN" sz="2400" b="0" i="1" dirty="0" smtClean="0">
                        <a:solidFill>
                          <a:srgbClr val="000000"/>
                        </a:solidFill>
                        <a:latin typeface="Cambria Math" panose="02040503050406030204" pitchFamily="18" charset="0"/>
                        <a:ea typeface="楷体" panose="02010609060101010101" pitchFamily="49" charset="-122"/>
                      </a:rPr>
                      <m:t>,</m:t>
                    </m:r>
                  </m:oMath>
                </a14:m>
                <a:r>
                  <a:rPr kumimoji="1" lang="zh-CN" altLang="en-US" sz="2400" dirty="0">
                    <a:solidFill>
                      <a:srgbClr val="000000"/>
                    </a:solidFill>
                    <a:latin typeface="楷体" panose="02010609060101010101" pitchFamily="49" charset="-122"/>
                    <a:ea typeface="楷体" panose="02010609060101010101" pitchFamily="49" charset="-122"/>
                  </a:rPr>
                  <a:t> 所以有</a:t>
                </a:r>
                <a:endParaRPr kumimoji="1" lang="en-US" altLang="zh-CN" sz="2400" dirty="0">
                  <a:solidFill>
                    <a:srgbClr val="000000"/>
                  </a:solidFill>
                  <a:latin typeface="楷体" panose="02010609060101010101" pitchFamily="49" charset="-122"/>
                  <a:ea typeface="楷体" panose="02010609060101010101" pitchFamily="49" charset="-122"/>
                </a:endParaRPr>
              </a:p>
              <a:p>
                <a:pPr algn="just">
                  <a:spcBef>
                    <a:spcPts val="300"/>
                  </a:spcBef>
                  <a:spcAft>
                    <a:spcPts val="300"/>
                  </a:spcAft>
                </a:pPr>
                <a14:m>
                  <m:oMathPara xmlns:m="http://schemas.openxmlformats.org/officeDocument/2006/math">
                    <m:oMathParaPr>
                      <m:jc m:val="left"/>
                    </m:oMathParaPr>
                    <m:oMath xmlns:m="http://schemas.openxmlformats.org/officeDocument/2006/math">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𝑓</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d>
                        <m:dPr>
                          <m:ctrlPr>
                            <a:rPr kumimoji="1" lang="en-US" altLang="zh-CN" sz="2400" b="0" i="1" smtClean="0">
                              <a:solidFill>
                                <a:srgbClr val="000000"/>
                              </a:solidFill>
                              <a:latin typeface="Cambria Math" panose="02040503050406030204" pitchFamily="18" charset="0"/>
                              <a:ea typeface="楷体" panose="02010609060101010101" pitchFamily="49" charset="-122"/>
                            </a:rPr>
                          </m:ctrlPr>
                        </m:dPr>
                        <m:e>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func>
                        <m:funcPr>
                          <m:ctrlPr>
                            <a:rPr kumimoji="1" lang="en-US" altLang="zh-CN" sz="2400" b="0" i="1" smtClean="0">
                              <a:solidFill>
                                <a:srgbClr val="000000"/>
                              </a:solidFill>
                              <a:latin typeface="Cambria Math" panose="02040503050406030204" pitchFamily="18" charset="0"/>
                              <a:ea typeface="楷体" panose="02010609060101010101" pitchFamily="49" charset="-122"/>
                            </a:rPr>
                          </m:ctrlPr>
                        </m:funcPr>
                        <m:fName>
                          <m:limLow>
                            <m:limLowPr>
                              <m:ctrlPr>
                                <a:rPr kumimoji="1" lang="en-US" altLang="zh-CN" sz="2400" b="0" i="1" smtClean="0">
                                  <a:solidFill>
                                    <a:srgbClr val="000000"/>
                                  </a:solidFill>
                                  <a:latin typeface="Cambria Math" panose="02040503050406030204" pitchFamily="18" charset="0"/>
                                  <a:ea typeface="楷体" panose="02010609060101010101" pitchFamily="49" charset="-122"/>
                                </a:rPr>
                              </m:ctrlPr>
                            </m:limLowPr>
                            <m:e>
                              <m:r>
                                <m:rPr>
                                  <m:sty m:val="p"/>
                                </m:rPr>
                                <a:rPr kumimoji="1" lang="en-US" altLang="zh-CN" sz="2400" b="0" i="0" smtClean="0">
                                  <a:solidFill>
                                    <a:srgbClr val="000000"/>
                                  </a:solidFill>
                                  <a:latin typeface="Cambria Math" panose="02040503050406030204" pitchFamily="18" charset="0"/>
                                  <a:ea typeface="楷体" panose="02010609060101010101" pitchFamily="49" charset="-122"/>
                                </a:rPr>
                                <m:t>min</m:t>
                              </m:r>
                            </m:e>
                            <m:lim>
                              <m:r>
                                <a:rPr kumimoji="1" lang="en-US" altLang="zh-CN" sz="2400" b="0" i="1" smtClean="0">
                                  <a:solidFill>
                                    <a:srgbClr val="000000"/>
                                  </a:solidFill>
                                  <a:latin typeface="Cambria Math" panose="02040503050406030204" pitchFamily="18" charset="0"/>
                                  <a:ea typeface="楷体" panose="02010609060101010101" pitchFamily="49" charset="-122"/>
                                </a:rPr>
                                <m:t>4</m:t>
                              </m:r>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r>
                                <m:rPr>
                                  <m:sty m:val="p"/>
                                </m:rPr>
                                <a:rPr kumimoji="1" lang="en-US" altLang="zh-CN" sz="2400" b="0" i="0" smtClean="0">
                                  <a:solidFill>
                                    <a:srgbClr val="000000"/>
                                  </a:solidFill>
                                  <a:latin typeface="Cambria Math" panose="02040503050406030204" pitchFamily="18" charset="0"/>
                                  <a:ea typeface="楷体" panose="02010609060101010101" pitchFamily="49" charset="-122"/>
                                </a:rPr>
                                <m:t>min</m:t>
                              </m:r>
                              <m:r>
                                <a:rPr kumimoji="1" lang="en-US" altLang="zh-CN" sz="2400" b="0" i="1" smtClean="0">
                                  <a:solidFill>
                                    <a:srgbClr val="000000"/>
                                  </a:solidFill>
                                  <a:latin typeface="Cambria Math" panose="02040503050406030204" pitchFamily="18" charset="0"/>
                                  <a:ea typeface="楷体" panose="02010609060101010101" pitchFamily="49" charset="-122"/>
                                </a:rPr>
                                <m:t>⁡(</m:t>
                              </m:r>
                              <m:r>
                                <a:rPr kumimoji="1" lang="en-US" altLang="zh-CN" sz="2400" b="0" i="1" smtClean="0">
                                  <a:solidFill>
                                    <a:srgbClr val="000000"/>
                                  </a:solidFill>
                                  <a:latin typeface="Cambria Math" panose="02040503050406030204" pitchFamily="18" charset="0"/>
                                  <a:ea typeface="楷体" panose="02010609060101010101" pitchFamily="49" charset="-122"/>
                                </a:rPr>
                                <m:t>8</m:t>
                              </m:r>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r>
                                <a:rPr kumimoji="1" lang="en-US" altLang="zh-CN" sz="2400" b="0" i="1" smtClean="0">
                                  <a:solidFill>
                                    <a:srgbClr val="000000"/>
                                  </a:solidFill>
                                  <a:latin typeface="Cambria Math" panose="02040503050406030204" pitchFamily="18" charset="0"/>
                                  <a:ea typeface="楷体" panose="02010609060101010101" pitchFamily="49" charset="-122"/>
                                </a:rPr>
                                <m:t>4</m:t>
                              </m:r>
                              <m:r>
                                <a:rPr kumimoji="1" lang="en-US" altLang="zh-CN" sz="2400" b="0" i="1" smtClean="0">
                                  <a:solidFill>
                                    <a:srgbClr val="000000"/>
                                  </a:solidFill>
                                  <a:latin typeface="Cambria Math" panose="02040503050406030204" pitchFamily="18" charset="0"/>
                                  <a:ea typeface="楷体" panose="02010609060101010101" pitchFamily="49" charset="-122"/>
                                </a:rPr>
                                <m:t>)</m:t>
                              </m:r>
                            </m:lim>
                          </m:limLow>
                        </m:fName>
                        <m:e>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𝑟</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d>
                            <m:dPr>
                              <m:ctrlPr>
                                <a:rPr kumimoji="1" lang="en-US" altLang="zh-CN" sz="2400" b="0" i="1" smtClean="0">
                                  <a:solidFill>
                                    <a:srgbClr val="000000"/>
                                  </a:solidFill>
                                  <a:latin typeface="Cambria Math" panose="02040503050406030204" pitchFamily="18" charset="0"/>
                                  <a:ea typeface="楷体" panose="02010609060101010101" pitchFamily="49" charset="-122"/>
                                </a:rPr>
                              </m:ctrlPr>
                            </m:dPr>
                            <m:e>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𝑓</m:t>
                              </m:r>
                            </m:e>
                            <m:sub>
                              <m:r>
                                <a:rPr kumimoji="1" lang="en-US" altLang="zh-CN" sz="2400" b="0" i="1" smtClean="0">
                                  <a:solidFill>
                                    <a:srgbClr val="000000"/>
                                  </a:solidFill>
                                  <a:latin typeface="Cambria Math" panose="02040503050406030204" pitchFamily="18" charset="0"/>
                                  <a:ea typeface="楷体" panose="02010609060101010101" pitchFamily="49" charset="-122"/>
                                </a:rPr>
                                <m:t>3</m:t>
                              </m:r>
                            </m:sub>
                          </m:sSub>
                          <m:d>
                            <m:dPr>
                              <m:ctrlPr>
                                <a:rPr kumimoji="1" lang="en-US" altLang="zh-CN" sz="2400" b="0" i="1" smtClean="0">
                                  <a:solidFill>
                                    <a:srgbClr val="000000"/>
                                  </a:solidFill>
                                  <a:latin typeface="Cambria Math" panose="02040503050406030204" pitchFamily="18" charset="0"/>
                                  <a:ea typeface="楷体" panose="02010609060101010101" pitchFamily="49" charset="-122"/>
                                </a:rPr>
                              </m:ctrlPr>
                            </m:dPr>
                            <m:e>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3</m:t>
                                  </m:r>
                                </m:sub>
                              </m:sSub>
                            </m:e>
                          </m:d>
                          <m:r>
                            <a:rPr kumimoji="1" lang="en-US" altLang="zh-CN" sz="2400" b="0" i="1" smtClean="0">
                              <a:solidFill>
                                <a:srgbClr val="000000"/>
                              </a:solidFill>
                              <a:latin typeface="Cambria Math" panose="02040503050406030204" pitchFamily="18" charset="0"/>
                              <a:ea typeface="楷体" panose="02010609060101010101" pitchFamily="49" charset="-122"/>
                            </a:rPr>
                            <m:t>]</m:t>
                          </m:r>
                        </m:e>
                      </m:func>
                    </m:oMath>
                  </m:oMathPara>
                </a14:m>
                <a:endParaRPr kumimoji="1" lang="en-US" altLang="zh-CN" sz="2400" b="0" dirty="0">
                  <a:solidFill>
                    <a:srgbClr val="000000"/>
                  </a:solidFill>
                  <a:latin typeface="楷体" panose="02010609060101010101" pitchFamily="49" charset="-122"/>
                  <a:ea typeface="楷体" panose="02010609060101010101" pitchFamily="49" charset="-122"/>
                </a:endParaRPr>
              </a:p>
              <a:p>
                <a:pPr marL="342900" indent="-342900" algn="just">
                  <a:spcBef>
                    <a:spcPts val="300"/>
                  </a:spcBef>
                  <a:spcAft>
                    <a:spcPts val="300"/>
                  </a:spcAft>
                </a:pPr>
                <a14:m>
                  <m:oMath xmlns:m="http://schemas.openxmlformats.org/officeDocument/2006/math">
                    <m:r>
                      <a:rPr kumimoji="1" lang="en-US" altLang="zh-CN" sz="2400" i="1">
                        <a:solidFill>
                          <a:srgbClr val="000000"/>
                        </a:solidFill>
                        <a:latin typeface="Cambria Math" panose="02040503050406030204" pitchFamily="18" charset="0"/>
                        <a:ea typeface="楷体" panose="02010609060101010101" pitchFamily="49" charset="-122"/>
                      </a:rPr>
                      <m:t>=</m:t>
                    </m:r>
                  </m:oMath>
                </a14:m>
                <a:r>
                  <a:rPr kumimoji="1" lang="en-US" altLang="zh-CN" sz="2400" dirty="0">
                    <a:solidFill>
                      <a:srgbClr val="000000"/>
                    </a:solidFill>
                    <a:ea typeface="楷体" panose="02010609060101010101" pitchFamily="49" charset="-122"/>
                  </a:rPr>
                  <a:t> </a:t>
                </a:r>
                <a14:m>
                  <m:oMath xmlns:m="http://schemas.openxmlformats.org/officeDocument/2006/math">
                    <m:func>
                      <m:funcPr>
                        <m:ctrlPr>
                          <a:rPr kumimoji="1" lang="en-US" altLang="zh-CN" sz="2400" i="1">
                            <a:solidFill>
                              <a:srgbClr val="000000"/>
                            </a:solidFill>
                            <a:latin typeface="Cambria Math" panose="02040503050406030204" pitchFamily="18" charset="0"/>
                            <a:ea typeface="楷体" panose="02010609060101010101" pitchFamily="49" charset="-122"/>
                          </a:rPr>
                        </m:ctrlPr>
                      </m:funcPr>
                      <m:fName>
                        <m:limLow>
                          <m:limLowPr>
                            <m:ctrlPr>
                              <a:rPr kumimoji="1" lang="en-US" altLang="zh-CN" sz="2400" i="1">
                                <a:solidFill>
                                  <a:srgbClr val="000000"/>
                                </a:solidFill>
                                <a:latin typeface="Cambria Math" panose="02040503050406030204" pitchFamily="18" charset="0"/>
                                <a:ea typeface="楷体" panose="02010609060101010101" pitchFamily="49" charset="-122"/>
                              </a:rPr>
                            </m:ctrlPr>
                          </m:limLowPr>
                          <m:e>
                            <m:r>
                              <m:rPr>
                                <m:sty m:val="p"/>
                              </m:rPr>
                              <a:rPr kumimoji="1" lang="en-US" altLang="zh-CN" sz="2400">
                                <a:solidFill>
                                  <a:srgbClr val="000000"/>
                                </a:solidFill>
                                <a:latin typeface="Cambria Math" panose="02040503050406030204" pitchFamily="18" charset="0"/>
                                <a:ea typeface="楷体" panose="02010609060101010101" pitchFamily="49" charset="-122"/>
                              </a:rPr>
                              <m:t>min</m:t>
                            </m:r>
                          </m:e>
                          <m:lim>
                            <m:r>
                              <a:rPr kumimoji="1" lang="en-US" altLang="zh-CN" sz="2400" i="1">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m:rPr>
                                <m:sty m:val="p"/>
                              </m:rPr>
                              <a:rPr kumimoji="1" lang="en-US" altLang="zh-CN" sz="2400">
                                <a:solidFill>
                                  <a:srgbClr val="000000"/>
                                </a:solidFill>
                                <a:latin typeface="Cambria Math" panose="02040503050406030204" pitchFamily="18" charset="0"/>
                                <a:ea typeface="楷体" panose="02010609060101010101" pitchFamily="49" charset="-122"/>
                              </a:rPr>
                              <m:t>min</m:t>
                            </m:r>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8</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lim>
                        </m:limLow>
                      </m:fName>
                      <m:e>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𝑐</m:t>
                            </m:r>
                          </m:e>
                          <m:sub>
                            <m:r>
                              <a:rPr kumimoji="1" lang="en-US" altLang="zh-CN" sz="2400" i="1">
                                <a:solidFill>
                                  <a:srgbClr val="000000"/>
                                </a:solidFill>
                                <a:latin typeface="Cambria Math" panose="02040503050406030204" pitchFamily="18" charset="0"/>
                                <a:ea typeface="楷体" panose="02010609060101010101" pitchFamily="49" charset="-122"/>
                              </a:rPr>
                              <m:t>2</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e>
                        </m:d>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ℎ</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𝑓</m:t>
                            </m:r>
                          </m:e>
                          <m:sub>
                            <m:r>
                              <a:rPr kumimoji="1" lang="en-US" altLang="zh-CN" sz="2400" i="1">
                                <a:solidFill>
                                  <a:srgbClr val="000000"/>
                                </a:solidFill>
                                <a:latin typeface="Cambria Math" panose="02040503050406030204" pitchFamily="18" charset="0"/>
                                <a:ea typeface="楷体" panose="02010609060101010101" pitchFamily="49" charset="-122"/>
                              </a:rPr>
                              <m:t>3</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3</m:t>
                                </m:r>
                              </m:sub>
                            </m:sSub>
                          </m:e>
                        </m:d>
                        <m:r>
                          <a:rPr kumimoji="1" lang="en-US" altLang="zh-CN" sz="2400" i="1">
                            <a:solidFill>
                              <a:srgbClr val="000000"/>
                            </a:solidFill>
                            <a:latin typeface="Cambria Math" panose="02040503050406030204" pitchFamily="18" charset="0"/>
                            <a:ea typeface="楷体" panose="02010609060101010101" pitchFamily="49" charset="-122"/>
                          </a:rPr>
                          <m:t>]</m:t>
                        </m:r>
                      </m:e>
                    </m:func>
                  </m:oMath>
                </a14:m>
                <a:endParaRPr kumimoji="1" lang="en-US" altLang="zh-CN" sz="2400" dirty="0">
                  <a:solidFill>
                    <a:srgbClr val="000000"/>
                  </a:solidFill>
                  <a:ea typeface="楷体" panose="02010609060101010101" pitchFamily="49" charset="-122"/>
                </a:endParaRPr>
              </a:p>
              <a:p>
                <a:pPr marL="342900" indent="-342900" algn="just">
                  <a:spcBef>
                    <a:spcPts val="300"/>
                  </a:spcBef>
                  <a:spcAft>
                    <a:spcPts val="300"/>
                  </a:spcAft>
                </a:pPr>
                <a14:m>
                  <m:oMath xmlns:m="http://schemas.openxmlformats.org/officeDocument/2006/math">
                    <m:r>
                      <a:rPr kumimoji="1" lang="en-US" altLang="zh-CN" sz="2400" i="1">
                        <a:solidFill>
                          <a:srgbClr val="000000"/>
                        </a:solidFill>
                        <a:latin typeface="Cambria Math" panose="02040503050406030204" pitchFamily="18" charset="0"/>
                        <a:ea typeface="楷体" panose="02010609060101010101" pitchFamily="49" charset="-122"/>
                      </a:rPr>
                      <m:t>=</m:t>
                    </m:r>
                  </m:oMath>
                </a14:m>
                <a:r>
                  <a:rPr kumimoji="1" lang="en-US" altLang="zh-CN" sz="2400" dirty="0">
                    <a:solidFill>
                      <a:srgbClr val="000000"/>
                    </a:solidFill>
                    <a:ea typeface="楷体" panose="02010609060101010101" pitchFamily="49" charset="-122"/>
                  </a:rPr>
                  <a:t> </a:t>
                </a:r>
                <a14:m>
                  <m:oMath xmlns:m="http://schemas.openxmlformats.org/officeDocument/2006/math">
                    <m:func>
                      <m:funcPr>
                        <m:ctrlPr>
                          <a:rPr kumimoji="1" lang="en-US" altLang="zh-CN" sz="2400" i="1">
                            <a:solidFill>
                              <a:srgbClr val="000000"/>
                            </a:solidFill>
                            <a:latin typeface="Cambria Math" panose="02040503050406030204" pitchFamily="18" charset="0"/>
                            <a:ea typeface="楷体" panose="02010609060101010101" pitchFamily="49" charset="-122"/>
                          </a:rPr>
                        </m:ctrlPr>
                      </m:funcPr>
                      <m:fName>
                        <m:limLow>
                          <m:limLowPr>
                            <m:ctrlPr>
                              <a:rPr kumimoji="1" lang="en-US" altLang="zh-CN" sz="2400" i="1">
                                <a:solidFill>
                                  <a:srgbClr val="000000"/>
                                </a:solidFill>
                                <a:latin typeface="Cambria Math" panose="02040503050406030204" pitchFamily="18" charset="0"/>
                                <a:ea typeface="楷体" panose="02010609060101010101" pitchFamily="49" charset="-122"/>
                              </a:rPr>
                            </m:ctrlPr>
                          </m:limLowPr>
                          <m:e>
                            <m:r>
                              <m:rPr>
                                <m:sty m:val="p"/>
                              </m:rPr>
                              <a:rPr kumimoji="1" lang="en-US" altLang="zh-CN" sz="2400">
                                <a:solidFill>
                                  <a:srgbClr val="000000"/>
                                </a:solidFill>
                                <a:latin typeface="Cambria Math" panose="02040503050406030204" pitchFamily="18" charset="0"/>
                                <a:ea typeface="楷体" panose="02010609060101010101" pitchFamily="49" charset="-122"/>
                              </a:rPr>
                              <m:t>min</m:t>
                            </m:r>
                          </m:e>
                          <m:lim>
                            <m:r>
                              <a:rPr kumimoji="1" lang="en-US" altLang="zh-CN" sz="2400" i="1">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m:rPr>
                                <m:sty m:val="p"/>
                              </m:rPr>
                              <a:rPr kumimoji="1" lang="en-US" altLang="zh-CN" sz="2400">
                                <a:solidFill>
                                  <a:srgbClr val="000000"/>
                                </a:solidFill>
                                <a:latin typeface="Cambria Math" panose="02040503050406030204" pitchFamily="18" charset="0"/>
                                <a:ea typeface="楷体" panose="02010609060101010101" pitchFamily="49" charset="-122"/>
                              </a:rPr>
                              <m:t>min</m:t>
                            </m:r>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8</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lim>
                        </m:limLow>
                      </m:fName>
                      <m:e>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𝑐</m:t>
                            </m:r>
                          </m:e>
                          <m:sub>
                            <m:r>
                              <a:rPr kumimoji="1" lang="en-US" altLang="zh-CN" sz="2400" i="1">
                                <a:solidFill>
                                  <a:srgbClr val="000000"/>
                                </a:solidFill>
                                <a:latin typeface="Cambria Math" panose="02040503050406030204" pitchFamily="18" charset="0"/>
                                <a:ea typeface="楷体" panose="02010609060101010101" pitchFamily="49" charset="-122"/>
                              </a:rPr>
                              <m:t>2</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e>
                        </m:d>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𝑑</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𝑓</m:t>
                            </m:r>
                          </m:e>
                          <m:sub>
                            <m:r>
                              <a:rPr kumimoji="1" lang="en-US" altLang="zh-CN" sz="2400" i="1">
                                <a:solidFill>
                                  <a:srgbClr val="000000"/>
                                </a:solidFill>
                                <a:latin typeface="Cambria Math" panose="02040503050406030204" pitchFamily="18" charset="0"/>
                                <a:ea typeface="楷体" panose="02010609060101010101" pitchFamily="49" charset="-122"/>
                              </a:rPr>
                              <m:t>3</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𝑠</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𝑥</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r>
                              <a:rPr kumimoji="1" lang="en-US" altLang="zh-CN" sz="2400" b="0" i="1" smtClean="0">
                                <a:solidFill>
                                  <a:srgbClr val="000000"/>
                                </a:solidFill>
                                <a:latin typeface="Cambria Math" panose="02040503050406030204" pitchFamily="18" charset="0"/>
                                <a:ea typeface="楷体" panose="02010609060101010101" pitchFamily="49" charset="-122"/>
                              </a:rPr>
                              <m:t>−</m:t>
                            </m:r>
                            <m:sSub>
                              <m:sSubPr>
                                <m:ctrlPr>
                                  <a:rPr kumimoji="1" lang="en-US" altLang="zh-CN" sz="2400" b="0" i="1" smtClean="0">
                                    <a:solidFill>
                                      <a:srgbClr val="000000"/>
                                    </a:solidFill>
                                    <a:latin typeface="Cambria Math" panose="02040503050406030204" pitchFamily="18" charset="0"/>
                                    <a:ea typeface="楷体" panose="02010609060101010101" pitchFamily="49" charset="-122"/>
                                  </a:rPr>
                                </m:ctrlPr>
                              </m:sSubPr>
                              <m:e>
                                <m:r>
                                  <a:rPr kumimoji="1" lang="en-US" altLang="zh-CN" sz="2400" b="0" i="1" smtClean="0">
                                    <a:solidFill>
                                      <a:srgbClr val="000000"/>
                                    </a:solidFill>
                                    <a:latin typeface="Cambria Math" panose="02040503050406030204" pitchFamily="18" charset="0"/>
                                    <a:ea typeface="楷体" panose="02010609060101010101" pitchFamily="49" charset="-122"/>
                                  </a:rPr>
                                  <m:t>𝑑</m:t>
                                </m:r>
                              </m:e>
                              <m:sub>
                                <m:r>
                                  <a:rPr kumimoji="1" lang="en-US" altLang="zh-CN" sz="2400" b="0" i="1" smtClean="0">
                                    <a:solidFill>
                                      <a:srgbClr val="000000"/>
                                    </a:solidFill>
                                    <a:latin typeface="Cambria Math" panose="02040503050406030204" pitchFamily="18" charset="0"/>
                                    <a:ea typeface="楷体" panose="02010609060101010101" pitchFamily="49" charset="-122"/>
                                  </a:rPr>
                                  <m:t>2</m:t>
                                </m:r>
                              </m:sub>
                            </m:sSub>
                          </m:e>
                        </m:d>
                        <m:r>
                          <a:rPr kumimoji="1" lang="en-US" altLang="zh-CN" sz="2400" i="1">
                            <a:solidFill>
                              <a:srgbClr val="000000"/>
                            </a:solidFill>
                            <a:latin typeface="Cambria Math" panose="02040503050406030204" pitchFamily="18" charset="0"/>
                            <a:ea typeface="楷体" panose="02010609060101010101" pitchFamily="49" charset="-122"/>
                          </a:rPr>
                          <m:t>]</m:t>
                        </m:r>
                      </m:e>
                    </m:func>
                  </m:oMath>
                </a14:m>
                <a:endParaRPr kumimoji="1" lang="en-US" altLang="zh-CN" sz="2400" dirty="0">
                  <a:solidFill>
                    <a:srgbClr val="000000"/>
                  </a:solidFill>
                  <a:ea typeface="楷体" panose="02010609060101010101" pitchFamily="49" charset="-122"/>
                </a:endParaRPr>
              </a:p>
              <a:p>
                <a:pPr marL="342900" indent="-342900" algn="just">
                  <a:spcBef>
                    <a:spcPts val="300"/>
                  </a:spcBef>
                  <a:spcAft>
                    <a:spcPts val="300"/>
                  </a:spcAft>
                </a:pPr>
                <a:r>
                  <a:rPr kumimoji="1" lang="en-US" altLang="zh-CN" sz="2400" dirty="0">
                    <a:solidFill>
                      <a:srgbClr val="000000"/>
                    </a:solidFill>
                    <a:ea typeface="楷体" panose="02010609060101010101" pitchFamily="49" charset="-122"/>
                  </a:rPr>
                  <a:t>= </a:t>
                </a:r>
                <a14:m>
                  <m:oMath xmlns:m="http://schemas.openxmlformats.org/officeDocument/2006/math">
                    <m:func>
                      <m:funcPr>
                        <m:ctrlPr>
                          <a:rPr kumimoji="1" lang="en-US" altLang="zh-CN" sz="2400" i="1">
                            <a:solidFill>
                              <a:srgbClr val="000000"/>
                            </a:solidFill>
                            <a:latin typeface="Cambria Math" panose="02040503050406030204" pitchFamily="18" charset="0"/>
                            <a:ea typeface="楷体" panose="02010609060101010101" pitchFamily="49" charset="-122"/>
                          </a:rPr>
                        </m:ctrlPr>
                      </m:funcPr>
                      <m:fName>
                        <m:limLow>
                          <m:limLowPr>
                            <m:ctrlPr>
                              <a:rPr kumimoji="1" lang="en-US" altLang="zh-CN" sz="2400" i="1">
                                <a:solidFill>
                                  <a:srgbClr val="000000"/>
                                </a:solidFill>
                                <a:latin typeface="Cambria Math" panose="02040503050406030204" pitchFamily="18" charset="0"/>
                                <a:ea typeface="楷体" panose="02010609060101010101" pitchFamily="49" charset="-122"/>
                              </a:rPr>
                            </m:ctrlPr>
                          </m:limLowPr>
                          <m:e>
                            <m:r>
                              <m:rPr>
                                <m:sty m:val="p"/>
                              </m:rPr>
                              <a:rPr kumimoji="1" lang="en-US" altLang="zh-CN" sz="2400">
                                <a:solidFill>
                                  <a:srgbClr val="000000"/>
                                </a:solidFill>
                                <a:latin typeface="Cambria Math" panose="02040503050406030204" pitchFamily="18" charset="0"/>
                                <a:ea typeface="楷体" panose="02010609060101010101" pitchFamily="49" charset="-122"/>
                              </a:rPr>
                              <m:t>min</m:t>
                            </m:r>
                          </m:e>
                          <m:lim>
                            <m:r>
                              <a:rPr kumimoji="1" lang="en-US" altLang="zh-CN" sz="2400" i="1">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m:rPr>
                                <m:sty m:val="p"/>
                              </m:rPr>
                              <a:rPr kumimoji="1" lang="en-US" altLang="zh-CN" sz="2400">
                                <a:solidFill>
                                  <a:srgbClr val="000000"/>
                                </a:solidFill>
                                <a:latin typeface="Cambria Math" panose="02040503050406030204" pitchFamily="18" charset="0"/>
                                <a:ea typeface="楷体" panose="02010609060101010101" pitchFamily="49" charset="-122"/>
                              </a:rPr>
                              <m:t>min</m:t>
                            </m:r>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8</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i="1">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lim>
                        </m:limLow>
                      </m:fName>
                      <m:e>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𝑐</m:t>
                            </m:r>
                          </m:e>
                          <m:sub>
                            <m:r>
                              <a:rPr kumimoji="1" lang="en-US" altLang="zh-CN" sz="2400" i="1">
                                <a:solidFill>
                                  <a:srgbClr val="000000"/>
                                </a:solidFill>
                                <a:latin typeface="Cambria Math" panose="02040503050406030204" pitchFamily="18" charset="0"/>
                                <a:ea typeface="楷体" panose="02010609060101010101" pitchFamily="49" charset="-122"/>
                              </a:rPr>
                              <m:t>2</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e>
                        </m:d>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b="0" i="1" smtClean="0">
                            <a:solidFill>
                              <a:srgbClr val="000000"/>
                            </a:solidFill>
                            <a:latin typeface="Cambria Math" panose="02040503050406030204" pitchFamily="18" charset="0"/>
                            <a:ea typeface="楷体" panose="02010609060101010101" pitchFamily="49" charset="-122"/>
                          </a:rPr>
                          <m:t>4</m:t>
                        </m:r>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𝑓</m:t>
                            </m:r>
                          </m:e>
                          <m:sub>
                            <m:r>
                              <a:rPr kumimoji="1" lang="en-US" altLang="zh-CN" sz="2400" i="1">
                                <a:solidFill>
                                  <a:srgbClr val="000000"/>
                                </a:solidFill>
                                <a:latin typeface="Cambria Math" panose="02040503050406030204" pitchFamily="18" charset="0"/>
                                <a:ea typeface="楷体" panose="02010609060101010101" pitchFamily="49" charset="-122"/>
                              </a:rPr>
                              <m:t>3</m:t>
                            </m:r>
                          </m:sub>
                        </m:sSub>
                        <m:d>
                          <m:dPr>
                            <m:ctrlPr>
                              <a:rPr kumimoji="1" lang="en-US" altLang="zh-CN" sz="2400" i="1">
                                <a:solidFill>
                                  <a:srgbClr val="000000"/>
                                </a:solidFill>
                                <a:latin typeface="Cambria Math" panose="02040503050406030204" pitchFamily="18" charset="0"/>
                                <a:ea typeface="楷体" panose="02010609060101010101" pitchFamily="49" charset="-122"/>
                              </a:rPr>
                            </m:ctrlPr>
                          </m:dPr>
                          <m:e>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𝑠</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sSub>
                              <m:sSubPr>
                                <m:ctrlPr>
                                  <a:rPr kumimoji="1" lang="en-US" altLang="zh-CN" sz="2400" i="1">
                                    <a:solidFill>
                                      <a:srgbClr val="000000"/>
                                    </a:solidFill>
                                    <a:latin typeface="Cambria Math" panose="02040503050406030204" pitchFamily="18" charset="0"/>
                                    <a:ea typeface="楷体" panose="02010609060101010101" pitchFamily="49" charset="-122"/>
                                  </a:rPr>
                                </m:ctrlPr>
                              </m:sSubPr>
                              <m:e>
                                <m:r>
                                  <a:rPr kumimoji="1" lang="en-US" altLang="zh-CN" sz="2400" i="1">
                                    <a:solidFill>
                                      <a:srgbClr val="000000"/>
                                    </a:solidFill>
                                    <a:latin typeface="Cambria Math" panose="02040503050406030204" pitchFamily="18" charset="0"/>
                                    <a:ea typeface="楷体" panose="02010609060101010101" pitchFamily="49" charset="-122"/>
                                  </a:rPr>
                                  <m:t>𝑥</m:t>
                                </m:r>
                              </m:e>
                              <m:sub>
                                <m:r>
                                  <a:rPr kumimoji="1" lang="en-US" altLang="zh-CN" sz="2400" i="1">
                                    <a:solidFill>
                                      <a:srgbClr val="000000"/>
                                    </a:solidFill>
                                    <a:latin typeface="Cambria Math" panose="02040503050406030204" pitchFamily="18" charset="0"/>
                                    <a:ea typeface="楷体" panose="02010609060101010101" pitchFamily="49" charset="-122"/>
                                  </a:rPr>
                                  <m:t>2</m:t>
                                </m:r>
                              </m:sub>
                            </m:sSub>
                            <m:r>
                              <a:rPr kumimoji="1" lang="en-US" altLang="zh-CN" sz="2400" i="1">
                                <a:solidFill>
                                  <a:srgbClr val="000000"/>
                                </a:solidFill>
                                <a:latin typeface="Cambria Math" panose="02040503050406030204" pitchFamily="18" charset="0"/>
                                <a:ea typeface="楷体" panose="02010609060101010101" pitchFamily="49" charset="-122"/>
                              </a:rPr>
                              <m:t>−</m:t>
                            </m:r>
                            <m:r>
                              <a:rPr kumimoji="1" lang="en-US" altLang="zh-CN" sz="2400" b="0" i="1" smtClean="0">
                                <a:solidFill>
                                  <a:srgbClr val="000000"/>
                                </a:solidFill>
                                <a:latin typeface="Cambria Math" panose="02040503050406030204" pitchFamily="18" charset="0"/>
                                <a:ea typeface="楷体" panose="02010609060101010101" pitchFamily="49" charset="-122"/>
                              </a:rPr>
                              <m:t>4</m:t>
                            </m:r>
                          </m:e>
                        </m:d>
                        <m:r>
                          <a:rPr kumimoji="1" lang="en-US" altLang="zh-CN" sz="2400" i="1">
                            <a:solidFill>
                              <a:srgbClr val="000000"/>
                            </a:solidFill>
                            <a:latin typeface="Cambria Math" panose="02040503050406030204" pitchFamily="18" charset="0"/>
                            <a:ea typeface="楷体" panose="02010609060101010101" pitchFamily="49" charset="-122"/>
                          </a:rPr>
                          <m:t>]</m:t>
                        </m:r>
                      </m:e>
                    </m:func>
                  </m:oMath>
                </a14:m>
                <a:endParaRPr kumimoji="1" lang="zh-CN" altLang="en-US" sz="2400" dirty="0">
                  <a:solidFill>
                    <a:srgbClr val="000000"/>
                  </a:solidFill>
                  <a:latin typeface="楷体" panose="02010609060101010101" pitchFamily="49" charset="-122"/>
                  <a:ea typeface="楷体" panose="02010609060101010101" pitchFamily="49" charset="-122"/>
                </a:endParaRPr>
              </a:p>
            </p:txBody>
          </p:sp>
        </mc:Choice>
        <mc:Fallback>
          <p:sp>
            <p:nvSpPr>
              <p:cNvPr id="32794" name="矩形 13"/>
              <p:cNvSpPr>
                <a:spLocks noRot="1" noChangeAspect="1" noMove="1" noResize="1" noEditPoints="1" noAdjustHandles="1" noChangeArrowheads="1" noChangeShapeType="1" noTextEdit="1"/>
              </p:cNvSpPr>
              <p:nvPr/>
            </p:nvSpPr>
            <p:spPr bwMode="auto">
              <a:xfrm>
                <a:off x="1863843" y="1063529"/>
                <a:ext cx="8464313" cy="3726180"/>
              </a:xfrm>
              <a:prstGeom prst="rect">
                <a:avLst/>
              </a:prstGeom>
              <a:blipFill rotWithShape="1">
                <a:blip r:embed="rId1"/>
                <a:stretch>
                  <a:fillRect l="-1" t="-14" r="6"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3" name="表格 32"/>
              <p:cNvGraphicFramePr>
                <a:graphicFrameLocks noGrp="1"/>
              </p:cNvGraphicFramePr>
              <p:nvPr/>
            </p:nvGraphicFramePr>
            <p:xfrm>
              <a:off x="1817431" y="4444656"/>
              <a:ext cx="8559800" cy="2225040"/>
            </p:xfrm>
            <a:graphic>
              <a:graphicData uri="http://schemas.openxmlformats.org/drawingml/2006/table">
                <a:tbl>
                  <a:tblPr firstRow="1" bandRow="1">
                    <a:tableStyleId>{5C22544A-7EE6-4342-B048-85BDC9FD1C3A}</a:tableStyleId>
                  </a:tblPr>
                  <a:tblGrid>
                    <a:gridCol w="1069975"/>
                    <a:gridCol w="1069975"/>
                    <a:gridCol w="1069975"/>
                    <a:gridCol w="1069975"/>
                    <a:gridCol w="1069975"/>
                    <a:gridCol w="1069975"/>
                    <a:gridCol w="1069975"/>
                    <a:gridCol w="1069975"/>
                  </a:tblGrid>
                  <a:tr h="370840">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oMath>
                            </m:oMathPara>
                          </a14:m>
                          <a:endParaRPr lang="en-US" altLang="zh-CN" b="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5">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𝟒</m:t>
                                </m:r>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10+1+9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10+2+9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9+2+9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10+3+8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33" name="表格 32"/>
              <p:cNvGraphicFramePr>
                <a:graphicFrameLocks noGrp="1"/>
              </p:cNvGraphicFramePr>
              <p:nvPr/>
            </p:nvGraphicFramePr>
            <p:xfrm>
              <a:off x="1817431" y="4444656"/>
              <a:ext cx="8559800" cy="2225040"/>
            </p:xfrm>
            <a:graphic>
              <a:graphicData uri="http://schemas.openxmlformats.org/drawingml/2006/table">
                <a:tbl>
                  <a:tblPr firstRow="1" bandRow="1">
                    <a:tableStyleId>{5C22544A-7EE6-4342-B048-85BDC9FD1C3A}</a:tableStyleId>
                  </a:tblPr>
                  <a:tblGrid>
                    <a:gridCol w="1069975"/>
                    <a:gridCol w="1069975"/>
                    <a:gridCol w="1069975"/>
                    <a:gridCol w="1069975"/>
                    <a:gridCol w="1069975"/>
                    <a:gridCol w="1069975"/>
                    <a:gridCol w="1069975"/>
                    <a:gridCol w="1069975"/>
                  </a:tblGrid>
                  <a:tr h="370840">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blipFill>
                          <a:blip r:embed="rId2"/>
                        </a:blipFill>
                      </a:tcPr>
                    </a:tc>
                    <a:tc gridSpan="5">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10+1+9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10+2+9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6+0+13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8+1+9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9+2+9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10+3+8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3807" name="Rectangle 3"/>
              <p:cNvSpPr>
                <a:spLocks noChangeArrowheads="1"/>
              </p:cNvSpPr>
              <p:nvPr/>
            </p:nvSpPr>
            <p:spPr bwMode="auto">
              <a:xfrm>
                <a:off x="1905000" y="961528"/>
                <a:ext cx="8382000" cy="32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50000"/>
                  </a:lnSpc>
                  <a:spcBef>
                    <a:spcPts val="300"/>
                  </a:spcBef>
                  <a:spcAft>
                    <a:spcPts val="300"/>
                  </a:spcAft>
                </a:pPr>
                <a:r>
                  <a:rPr kumimoji="1" lang="zh-CN" altLang="en-US" sz="2400" b="1" dirty="0">
                    <a:ea typeface="楷体" panose="02010609060101010101" pitchFamily="49" charset="-122"/>
                  </a:rPr>
                  <a:t>第一阶段：</a:t>
                </a:r>
                <a:endParaRPr kumimoji="1" lang="zh-CN" altLang="en-US" sz="2400" b="1" dirty="0">
                  <a:ea typeface="楷体" panose="02010609060101010101" pitchFamily="49" charset="-122"/>
                </a:endParaRPr>
              </a:p>
              <a:p>
                <a:pPr algn="just">
                  <a:lnSpc>
                    <a:spcPct val="150000"/>
                  </a:lnSpc>
                  <a:spcBef>
                    <a:spcPts val="300"/>
                  </a:spcBef>
                  <a:spcAft>
                    <a:spcPts val="300"/>
                  </a:spcAft>
                </a:pPr>
                <a:r>
                  <a:rPr kumimoji="1" lang="zh-CN" altLang="en-US" sz="2400" dirty="0">
                    <a:ea typeface="楷体" panose="02010609060101010101" pitchFamily="49" charset="-122"/>
                  </a:rPr>
                  <a:t>因为</a:t>
                </a:r>
                <a14:m>
                  <m:oMath xmlns:m="http://schemas.openxmlformats.org/officeDocument/2006/math">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𝑑</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2</m:t>
                    </m:r>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r>
                      <a:rPr kumimoji="1" lang="en-US" altLang="zh-CN" sz="2400" b="0" i="1" dirty="0" smtClean="0">
                        <a:latin typeface="Cambria Math" panose="02040503050406030204" pitchFamily="18" charset="0"/>
                        <a:ea typeface="楷体" panose="02010609060101010101" pitchFamily="49" charset="-122"/>
                      </a:rPr>
                      <m:t>1</m:t>
                    </m:r>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𝑥</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𝑑</m:t>
                        </m:r>
                      </m:e>
                      <m:sub>
                        <m:r>
                          <a:rPr kumimoji="1" lang="en-US" altLang="zh-CN" sz="2400" b="0" i="1" dirty="0" smtClean="0">
                            <a:latin typeface="Cambria Math" panose="02040503050406030204" pitchFamily="18" charset="0"/>
                            <a:ea typeface="楷体" panose="02010609060101010101" pitchFamily="49" charset="-122"/>
                          </a:rPr>
                          <m:t>1</m:t>
                        </m:r>
                      </m:sub>
                    </m:sSub>
                    <m:r>
                      <a:rPr kumimoji="1" lang="en-US" altLang="zh-CN" sz="2400" b="0" i="1" dirty="0" smtClean="0">
                        <a:latin typeface="Cambria Math" panose="02040503050406030204" pitchFamily="18" charset="0"/>
                        <a:ea typeface="楷体" panose="02010609060101010101" pitchFamily="49" charset="-122"/>
                      </a:rPr>
                      <m:t>=</m:t>
                    </m:r>
                    <m:sSub>
                      <m:sSubPr>
                        <m:ctrlPr>
                          <a:rPr kumimoji="1" lang="en-US" altLang="zh-CN" sz="2400" b="0" i="1" dirty="0" smtClean="0">
                            <a:latin typeface="Cambria Math" panose="02040503050406030204" pitchFamily="18" charset="0"/>
                            <a:ea typeface="楷体" panose="02010609060101010101" pitchFamily="49" charset="-122"/>
                          </a:rPr>
                        </m:ctrlPr>
                      </m:sSubPr>
                      <m:e>
                        <m:r>
                          <a:rPr kumimoji="1" lang="en-US" altLang="zh-CN" sz="2400" b="0" i="1" dirty="0" smtClean="0">
                            <a:latin typeface="Cambria Math" panose="02040503050406030204" pitchFamily="18" charset="0"/>
                            <a:ea typeface="楷体" panose="02010609060101010101" pitchFamily="49" charset="-122"/>
                          </a:rPr>
                          <m:t>𝑠</m:t>
                        </m:r>
                      </m:e>
                      <m:sub>
                        <m:r>
                          <a:rPr kumimoji="1" lang="en-US" altLang="zh-CN" sz="2400" b="0" i="1" dirty="0" smtClean="0">
                            <a:latin typeface="Cambria Math" panose="02040503050406030204" pitchFamily="18" charset="0"/>
                            <a:ea typeface="楷体" panose="02010609060101010101" pitchFamily="49" charset="-122"/>
                          </a:rPr>
                          <m:t>2</m:t>
                        </m:r>
                      </m:sub>
                    </m:sSub>
                    <m:r>
                      <a:rPr kumimoji="1" lang="en-US" altLang="zh-CN" sz="2400" b="0" i="1" dirty="0" smtClean="0">
                        <a:latin typeface="Cambria Math" panose="02040503050406030204" pitchFamily="18" charset="0"/>
                        <a:ea typeface="楷体" panose="02010609060101010101" pitchFamily="49" charset="-122"/>
                      </a:rPr>
                      <m:t>,</m:t>
                    </m:r>
                  </m:oMath>
                </a14:m>
                <a:r>
                  <a:rPr kumimoji="1" lang="zh-CN" altLang="en-US" sz="2400" dirty="0">
                    <a:ea typeface="楷体" panose="02010609060101010101" pitchFamily="49" charset="-122"/>
                  </a:rPr>
                  <a:t>故有</a:t>
                </a:r>
                <a:endParaRPr kumimoji="1" lang="zh-CN" altLang="en-US" sz="2400" dirty="0">
                  <a:ea typeface="楷体" panose="02010609060101010101" pitchFamily="49" charset="-122"/>
                </a:endParaRPr>
              </a:p>
              <a:p>
                <a:pPr algn="just">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b="0" i="1" smtClean="0">
                          <a:latin typeface="Cambria Math" panose="02040503050406030204" pitchFamily="18" charset="0"/>
                          <a:ea typeface="楷体" panose="02010609060101010101" pitchFamily="49" charset="-122"/>
                        </a:rPr>
                        <m:t>=</m:t>
                      </m:r>
                      <m:func>
                        <m:funcPr>
                          <m:ctrlPr>
                            <a:rPr kumimoji="1" lang="en-US" altLang="zh-CN" sz="2400" b="0" i="1" smtClean="0">
                              <a:latin typeface="Cambria Math" panose="02040503050406030204" pitchFamily="18" charset="0"/>
                              <a:ea typeface="楷体" panose="02010609060101010101" pitchFamily="49" charset="-122"/>
                            </a:rPr>
                          </m:ctrlPr>
                        </m:funcPr>
                        <m:fName>
                          <m:limLow>
                            <m:limLowPr>
                              <m:ctrlPr>
                                <a:rPr kumimoji="1" lang="en-US" altLang="zh-CN" sz="2400" b="0" i="1" smtClean="0">
                                  <a:latin typeface="Cambria Math" panose="02040503050406030204" pitchFamily="18" charset="0"/>
                                  <a:ea typeface="楷体" panose="02010609060101010101" pitchFamily="49" charset="-122"/>
                                </a:rPr>
                              </m:ctrlPr>
                            </m:limLowPr>
                            <m:e>
                              <m:r>
                                <m:rPr>
                                  <m:sty m:val="p"/>
                                </m:rPr>
                                <a:rPr kumimoji="1" lang="en-US" altLang="zh-CN" sz="2400" b="0" i="0" smtClean="0">
                                  <a:latin typeface="Cambria Math" panose="02040503050406030204" pitchFamily="18" charset="0"/>
                                  <a:ea typeface="楷体" panose="02010609060101010101" pitchFamily="49" charset="-122"/>
                                </a:rPr>
                                <m:t>min</m:t>
                              </m:r>
                            </m:e>
                            <m:lim>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lim>
                          </m:limLow>
                        </m:fName>
                        <m:e>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𝑟</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𝑠</m:t>
                                  </m:r>
                                </m:e>
                                <m:sub>
                                  <m:r>
                                    <a:rPr kumimoji="1" lang="en-US" altLang="zh-CN" sz="2400" b="0" i="1" smtClean="0">
                                      <a:latin typeface="Cambria Math" panose="02040503050406030204" pitchFamily="18" charset="0"/>
                                      <a:ea typeface="楷体" panose="02010609060101010101" pitchFamily="49" charset="-122"/>
                                    </a:rPr>
                                    <m:t>2</m:t>
                                  </m:r>
                                </m:sub>
                              </m:sSub>
                            </m:e>
                          </m:d>
                          <m:r>
                            <a:rPr kumimoji="1" lang="en-US" altLang="zh-CN" sz="2400" b="0" i="1" smtClean="0">
                              <a:latin typeface="Cambria Math" panose="02040503050406030204" pitchFamily="18" charset="0"/>
                              <a:ea typeface="楷体" panose="02010609060101010101" pitchFamily="49" charset="-122"/>
                            </a:rPr>
                            <m:t>]</m:t>
                          </m:r>
                        </m:e>
                      </m:func>
                    </m:oMath>
                  </m:oMathPara>
                </a14:m>
                <a:endParaRPr kumimoji="1" lang="en-US" altLang="zh-CN" sz="2400" b="0" dirty="0">
                  <a:ea typeface="楷体" panose="02010609060101010101" pitchFamily="49" charset="-122"/>
                </a:endParaRPr>
              </a:p>
              <a:p>
                <a:pPr algn="just">
                  <a:lnSpc>
                    <a:spcPct val="150000"/>
                  </a:lnSpc>
                  <a:spcBef>
                    <a:spcPts val="300"/>
                  </a:spcBef>
                  <a:spcAft>
                    <a:spcPts val="300"/>
                  </a:spcAft>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楷体" panose="02010609060101010101" pitchFamily="49" charset="-122"/>
                        </a:rPr>
                        <m:t>=</m:t>
                      </m:r>
                      <m:func>
                        <m:funcPr>
                          <m:ctrlPr>
                            <a:rPr kumimoji="1" lang="en-US" altLang="zh-CN" sz="2400" b="0" i="1" smtClean="0">
                              <a:latin typeface="Cambria Math" panose="02040503050406030204" pitchFamily="18" charset="0"/>
                              <a:ea typeface="楷体" panose="02010609060101010101" pitchFamily="49" charset="-122"/>
                            </a:rPr>
                          </m:ctrlPr>
                        </m:funcPr>
                        <m:fName>
                          <m:limLow>
                            <m:limLowPr>
                              <m:ctrlPr>
                                <a:rPr kumimoji="1" lang="en-US" altLang="zh-CN" sz="2400" b="0" i="1" smtClean="0">
                                  <a:latin typeface="Cambria Math" panose="02040503050406030204" pitchFamily="18" charset="0"/>
                                  <a:ea typeface="楷体" panose="02010609060101010101" pitchFamily="49" charset="-122"/>
                                </a:rPr>
                              </m:ctrlPr>
                            </m:limLowPr>
                            <m:e>
                              <m:r>
                                <m:rPr>
                                  <m:sty m:val="p"/>
                                </m:rPr>
                                <a:rPr kumimoji="1" lang="en-US" altLang="zh-CN" sz="2400" b="0" i="0" smtClean="0">
                                  <a:latin typeface="Cambria Math" panose="02040503050406030204" pitchFamily="18" charset="0"/>
                                  <a:ea typeface="楷体" panose="02010609060101010101" pitchFamily="49" charset="-122"/>
                                </a:rPr>
                                <m:t>min</m:t>
                              </m:r>
                            </m:e>
                            <m:lim>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lim>
                          </m:limLow>
                        </m:fName>
                        <m:e>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𝑐</m:t>
                              </m:r>
                            </m:e>
                            <m:sub>
                              <m:r>
                                <a:rPr kumimoji="1" lang="en-US" altLang="zh-CN" sz="2400" b="0" i="1" smtClean="0">
                                  <a:latin typeface="Cambria Math" panose="02040503050406030204" pitchFamily="18" charset="0"/>
                                  <a:ea typeface="楷体" panose="02010609060101010101" pitchFamily="49" charset="-122"/>
                                </a:rPr>
                                <m:t>1</m:t>
                              </m:r>
                            </m:sub>
                          </m:sSub>
                          <m:d>
                            <m:dPr>
                              <m:ctrlPr>
                                <a:rPr kumimoji="1" lang="en-US" altLang="zh-CN" sz="2400" b="0" i="1" smtClean="0">
                                  <a:latin typeface="Cambria Math" panose="02040503050406030204" pitchFamily="18" charset="0"/>
                                  <a:ea typeface="楷体" panose="02010609060101010101" pitchFamily="49" charset="-122"/>
                                </a:rPr>
                              </m:ctrlPr>
                            </m:dPr>
                            <m:e>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e>
                          </m:d>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2</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𝑓</m:t>
                              </m:r>
                            </m:e>
                            <m:sub>
                              <m:r>
                                <a:rPr kumimoji="1" lang="en-US" altLang="zh-CN" sz="2400" b="0" i="1" smtClean="0">
                                  <a:latin typeface="Cambria Math" panose="02040503050406030204" pitchFamily="18" charset="0"/>
                                  <a:ea typeface="楷体" panose="02010609060101010101" pitchFamily="49" charset="-122"/>
                                </a:rPr>
                                <m:t>2</m:t>
                              </m:r>
                            </m:sub>
                          </m:sSub>
                          <m:d>
                            <m:dPr>
                              <m:ctrlPr>
                                <a:rPr kumimoji="1" lang="en-US" altLang="zh-CN" sz="2400" b="0" i="1" smtClean="0">
                                  <a:latin typeface="Cambria Math" panose="02040503050406030204" pitchFamily="18" charset="0"/>
                                  <a:ea typeface="楷体" panose="02010609060101010101" pitchFamily="49" charset="-122"/>
                                </a:rPr>
                              </m:ctrlPr>
                            </m:dPr>
                            <m:e>
                              <m:r>
                                <a:rPr kumimoji="1" lang="en-US" altLang="zh-CN" sz="2400" b="0" i="1" smtClean="0">
                                  <a:latin typeface="Cambria Math" panose="02040503050406030204" pitchFamily="18" charset="0"/>
                                  <a:ea typeface="楷体" panose="02010609060101010101" pitchFamily="49" charset="-122"/>
                                </a:rPr>
                                <m:t>1</m:t>
                              </m:r>
                              <m:r>
                                <a:rPr kumimoji="1" lang="en-US" altLang="zh-CN" sz="2400" b="0" i="1" smtClean="0">
                                  <a:latin typeface="Cambria Math" panose="02040503050406030204" pitchFamily="18" charset="0"/>
                                  <a:ea typeface="楷体" panose="02010609060101010101" pitchFamily="49" charset="-122"/>
                                </a:rPr>
                                <m:t>+</m:t>
                              </m:r>
                              <m:sSub>
                                <m:sSubPr>
                                  <m:ctrlPr>
                                    <a:rPr kumimoji="1" lang="en-US" altLang="zh-CN" sz="2400" b="0" i="1" smtClean="0">
                                      <a:latin typeface="Cambria Math" panose="02040503050406030204" pitchFamily="18" charset="0"/>
                                      <a:ea typeface="楷体" panose="02010609060101010101" pitchFamily="49" charset="-122"/>
                                    </a:rPr>
                                  </m:ctrlPr>
                                </m:sSubPr>
                                <m:e>
                                  <m:r>
                                    <a:rPr kumimoji="1" lang="en-US" altLang="zh-CN" sz="2400" b="0" i="1" smtClean="0">
                                      <a:latin typeface="Cambria Math" panose="02040503050406030204" pitchFamily="18" charset="0"/>
                                      <a:ea typeface="楷体" panose="02010609060101010101" pitchFamily="49" charset="-122"/>
                                    </a:rPr>
                                    <m:t>𝑥</m:t>
                                  </m:r>
                                </m:e>
                                <m:sub>
                                  <m:r>
                                    <a:rPr kumimoji="1" lang="en-US" altLang="zh-CN" sz="2400" b="0" i="1" smtClean="0">
                                      <a:latin typeface="Cambria Math" panose="02040503050406030204" pitchFamily="18" charset="0"/>
                                      <a:ea typeface="楷体" panose="02010609060101010101" pitchFamily="49" charset="-122"/>
                                    </a:rPr>
                                    <m:t>1</m:t>
                                  </m:r>
                                </m:sub>
                              </m:sSub>
                              <m:r>
                                <a:rPr kumimoji="1" lang="en-US" altLang="zh-CN" sz="2400" b="0" i="1" smtClean="0">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2</m:t>
                              </m:r>
                            </m:e>
                          </m:d>
                          <m:r>
                            <a:rPr kumimoji="1" lang="en-US" altLang="zh-CN" sz="2400" b="0" i="1" smtClean="0">
                              <a:latin typeface="Cambria Math" panose="02040503050406030204" pitchFamily="18" charset="0"/>
                              <a:ea typeface="楷体" panose="02010609060101010101" pitchFamily="49" charset="-122"/>
                            </a:rPr>
                            <m:t>]</m:t>
                          </m:r>
                        </m:e>
                      </m:func>
                    </m:oMath>
                  </m:oMathPara>
                </a14:m>
                <a:endParaRPr kumimoji="1" lang="zh-CN" altLang="en-US" sz="2400" dirty="0">
                  <a:ea typeface="楷体" panose="02010609060101010101" pitchFamily="49" charset="-122"/>
                </a:endParaRPr>
              </a:p>
              <a:p>
                <a:pPr algn="just">
                  <a:lnSpc>
                    <a:spcPct val="150000"/>
                  </a:lnSpc>
                  <a:spcBef>
                    <a:spcPts val="300"/>
                  </a:spcBef>
                  <a:spcAft>
                    <a:spcPts val="300"/>
                  </a:spcAft>
                </a:pPr>
                <a:endParaRPr kumimoji="1" lang="en-US" altLang="zh-CN" sz="2400" dirty="0">
                  <a:ea typeface="楷体" panose="02010609060101010101" pitchFamily="49" charset="-122"/>
                </a:endParaRPr>
              </a:p>
            </p:txBody>
          </p:sp>
        </mc:Choice>
        <mc:Fallback>
          <p:sp>
            <p:nvSpPr>
              <p:cNvPr id="33807" name="Rectangle 3"/>
              <p:cNvSpPr>
                <a:spLocks noRot="1" noChangeAspect="1" noMove="1" noResize="1" noEditPoints="1" noAdjustHandles="1" noChangeArrowheads="1" noChangeShapeType="1" noTextEdit="1"/>
              </p:cNvSpPr>
              <p:nvPr/>
            </p:nvSpPr>
            <p:spPr bwMode="auto">
              <a:xfrm>
                <a:off x="1905000" y="961528"/>
                <a:ext cx="8382000" cy="3206751"/>
              </a:xfrm>
              <a:prstGeom prst="rect">
                <a:avLst/>
              </a:prstGeom>
              <a:blipFill rotWithShape="1">
                <a:blip r:embed="rId1"/>
                <a:stretch>
                  <a:fillRect t="-4" b="-63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4" name="表格 23"/>
              <p:cNvGraphicFramePr>
                <a:graphicFrameLocks noGrp="1"/>
              </p:cNvGraphicFramePr>
              <p:nvPr/>
            </p:nvGraphicFramePr>
            <p:xfrm>
              <a:off x="1817432" y="4293096"/>
              <a:ext cx="8559800" cy="1111422"/>
            </p:xfrm>
            <a:graphic>
              <a:graphicData uri="http://schemas.openxmlformats.org/drawingml/2006/table">
                <a:tbl>
                  <a:tblPr firstRow="1" bandRow="1">
                    <a:tableStyleId>{5C22544A-7EE6-4342-B048-85BDC9FD1C3A}</a:tableStyleId>
                  </a:tblPr>
                  <a:tblGrid>
                    <a:gridCol w="1069975"/>
                    <a:gridCol w="1069975"/>
                    <a:gridCol w="1069975"/>
                    <a:gridCol w="1069975"/>
                    <a:gridCol w="1069975"/>
                    <a:gridCol w="1069975"/>
                    <a:gridCol w="1069975"/>
                    <a:gridCol w="1069975"/>
                  </a:tblGrid>
                  <a:tr h="370474">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oMath>
                            </m:oMathPara>
                          </a14:m>
                          <a:endParaRPr lang="en-US" altLang="zh-CN" b="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5">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𝒓</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𝟐</m:t>
                                </m:r>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474">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474">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6+0+23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8+1+20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9+2+19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10+3+18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4" name="表格 23"/>
              <p:cNvGraphicFramePr>
                <a:graphicFrameLocks noGrp="1"/>
              </p:cNvGraphicFramePr>
              <p:nvPr/>
            </p:nvGraphicFramePr>
            <p:xfrm>
              <a:off x="1817432" y="4293096"/>
              <a:ext cx="8559800" cy="1111422"/>
            </p:xfrm>
            <a:graphic>
              <a:graphicData uri="http://schemas.openxmlformats.org/drawingml/2006/table">
                <a:tbl>
                  <a:tblPr firstRow="1" bandRow="1">
                    <a:tableStyleId>{5C22544A-7EE6-4342-B048-85BDC9FD1C3A}</a:tableStyleId>
                  </a:tblPr>
                  <a:tblGrid>
                    <a:gridCol w="1069975"/>
                    <a:gridCol w="1069975"/>
                    <a:gridCol w="1069975"/>
                    <a:gridCol w="1069975"/>
                    <a:gridCol w="1069975"/>
                    <a:gridCol w="1069975"/>
                    <a:gridCol w="1069975"/>
                    <a:gridCol w="1069975"/>
                  </a:tblGrid>
                  <a:tr h="370205">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blipFill>
                          <a:blip r:embed="rId2"/>
                        </a:blipFill>
                      </a:tcPr>
                    </a:tc>
                    <a:tc gridSpan="5">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hMerge="1">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474">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474">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6+0+23</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8+1+20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9+2+19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10+3+18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29</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4821" name="Rectangle 3"/>
              <p:cNvSpPr>
                <a:spLocks noChangeArrowheads="1"/>
              </p:cNvSpPr>
              <p:nvPr/>
            </p:nvSpPr>
            <p:spPr bwMode="auto">
              <a:xfrm>
                <a:off x="1905000" y="2004826"/>
                <a:ext cx="8382000" cy="284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5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利用递推关系得到两组最优解：</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algn="ctr">
                  <a:spcBef>
                    <a:spcPts val="0"/>
                  </a:spcBef>
                  <a:spcAft>
                    <a:spcPts val="0"/>
                  </a:spcAft>
                </a:pPr>
                <a14:m>
                  <m:oMath xmlns:m="http://schemas.openxmlformats.org/officeDocument/2006/math">
                    <m:r>
                      <a:rPr kumimoji="1" lang="en-US" altLang="zh-CN" sz="2400">
                        <a:latin typeface="Cambria Math" panose="02040503050406030204" pitchFamily="18" charset="0"/>
                        <a:ea typeface="楷体" panose="02010609060101010101" pitchFamily="49" charset="-122"/>
                      </a:rPr>
                      <m:t>1</m:t>
                    </m:r>
                    <m:r>
                      <a:rPr kumimoji="1" lang="en-US" altLang="zh-CN" sz="2400">
                        <a:latin typeface="Cambria Math" panose="02040503050406030204" pitchFamily="18" charset="0"/>
                        <a:ea typeface="楷体" panose="02010609060101010101" pitchFamily="49" charset="-122"/>
                      </a:rPr>
                      <m:t>.</m:t>
                    </m:r>
                    <m:d>
                      <m:dPr>
                        <m:begChr m:val="{"/>
                        <m:endChr m:val=""/>
                        <m:ctrlPr>
                          <a:rPr kumimoji="1" lang="en-US" altLang="zh-CN" sz="2400" i="1">
                            <a:latin typeface="Cambria Math" panose="02040503050406030204" pitchFamily="18" charset="0"/>
                            <a:ea typeface="楷体" panose="02010609060101010101" pitchFamily="49" charset="-122"/>
                          </a:rPr>
                        </m:ctrlPr>
                      </m:dP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1</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1</m:t>
                              </m:r>
                            </m:e>
                          </m:mr>
                          <m:m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2</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4</m:t>
                                    </m:r>
                                  </m:e>
                                </m:mr>
                                <m:m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3</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e>
                                      </m:mr>
                                      <m:m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4</m:t>
                                              </m:r>
                                            </m:sub>
                                          </m:sSub>
                                          <m: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0</m:t>
                                          </m:r>
                                        </m:e>
                                      </m:mr>
                                    </m:m>
                                  </m:e>
                                </m:mr>
                              </m:m>
                            </m:e>
                          </m:mr>
                        </m:m>
                      </m:e>
                    </m:d>
                  </m:oMath>
                </a14:m>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r>
                      <a:rPr kumimoji="1" lang="en-US" altLang="zh-CN" sz="2400">
                        <a:latin typeface="Cambria Math" panose="02040503050406030204" pitchFamily="18" charset="0"/>
                        <a:ea typeface="楷体" panose="02010609060101010101" pitchFamily="49" charset="-122"/>
                      </a:rPr>
                      <m:t>2</m:t>
                    </m:r>
                    <m:r>
                      <a:rPr kumimoji="1" lang="en-US" altLang="zh-CN" sz="2400">
                        <a:latin typeface="Cambria Math" panose="02040503050406030204" pitchFamily="18" charset="0"/>
                        <a:ea typeface="楷体" panose="02010609060101010101" pitchFamily="49" charset="-122"/>
                      </a:rPr>
                      <m:t>.</m:t>
                    </m:r>
                    <m:d>
                      <m:dPr>
                        <m:begChr m:val="{"/>
                        <m:endChr m:val=""/>
                        <m:ctrlPr>
                          <a:rPr kumimoji="1" lang="en-US" altLang="zh-CN" sz="2400" i="1">
                            <a:latin typeface="Cambria Math" panose="02040503050406030204" pitchFamily="18" charset="0"/>
                            <a:ea typeface="楷体" panose="02010609060101010101" pitchFamily="49" charset="-122"/>
                          </a:rPr>
                        </m:ctrlPr>
                      </m:dP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1</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2</m:t>
                              </m:r>
                            </m:e>
                          </m:mr>
                          <m:mr>
                            <m:e>
                              <m:m>
                                <m:mPr>
                                  <m:mcs>
                                    <m:mc>
                                      <m:mcPr>
                                        <m:count m:val="1"/>
                                        <m:mcJc m:val="center"/>
                                      </m:mcPr>
                                    </m:mc>
                                  </m:mcs>
                                  <m:ctrlPr>
                                    <a:rPr kumimoji="1" lang="en-US" altLang="zh-CN" sz="2400" i="1">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2</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4</m:t>
                                    </m:r>
                                  </m:e>
                                </m:mr>
                                <m:mr>
                                  <m:e>
                                    <m:m>
                                      <m:mPr>
                                        <m:mcs>
                                          <m:mc>
                                            <m:mcPr>
                                              <m:count m:val="1"/>
                                              <m:mcJc m:val="center"/>
                                            </m:mcPr>
                                          </m:mc>
                                        </m:mcs>
                                        <m:ctrlPr>
                                          <a:rPr kumimoji="1" lang="en-US" altLang="zh-CN" sz="2400" i="1" smtClean="0">
                                            <a:latin typeface="Cambria Math" panose="02040503050406030204" pitchFamily="18" charset="0"/>
                                            <a:ea typeface="楷体" panose="02010609060101010101" pitchFamily="49" charset="-122"/>
                                          </a:rPr>
                                        </m:ctrlPr>
                                      </m:mPr>
                                      <m:mr>
                                        <m:e>
                                          <m:sSub>
                                            <m:sSubPr>
                                              <m:ctrlPr>
                                                <a:rPr kumimoji="1" lang="en-US" altLang="zh-CN" sz="2400" i="1">
                                                  <a:latin typeface="Cambria Math" panose="02040503050406030204" pitchFamily="18" charset="0"/>
                                                  <a:ea typeface="楷体" panose="02010609060101010101" pitchFamily="49" charset="-122"/>
                                                </a:rPr>
                                              </m:ctrlPr>
                                            </m:sSubPr>
                                            <m:e>
                                              <m:r>
                                                <m:rPr>
                                                  <m:brk m:alnAt="7"/>
                                                </m:rPr>
                                                <a:rPr kumimoji="1" lang="en-US" altLang="zh-CN" sz="2400" i="1">
                                                  <a:latin typeface="Cambria Math" panose="02040503050406030204" pitchFamily="18" charset="0"/>
                                                  <a:ea typeface="楷体" panose="02010609060101010101" pitchFamily="49" charset="-122"/>
                                                </a:rPr>
                                                <m:t>𝑥</m:t>
                                              </m:r>
                                            </m:e>
                                            <m:sub>
                                              <m:r>
                                                <m:rPr>
                                                  <m:brk m:alnAt="7"/>
                                                </m:rPr>
                                                <a:rPr kumimoji="1" lang="en-US" altLang="zh-CN" sz="2400" i="1">
                                                  <a:latin typeface="Cambria Math" panose="02040503050406030204" pitchFamily="18" charset="0"/>
                                                  <a:ea typeface="楷体" panose="02010609060101010101" pitchFamily="49" charset="-122"/>
                                                </a:rPr>
                                                <m:t>3</m:t>
                                              </m:r>
                                            </m:sub>
                                          </m:sSub>
                                          <m:r>
                                            <m:rPr>
                                              <m:brk m:alnAt="7"/>
                                            </m:rPr>
                                            <a:rPr kumimoji="1" lang="en-US" altLang="zh-CN" sz="2400" i="1">
                                              <a:latin typeface="Cambria Math" panose="02040503050406030204" pitchFamily="18" charset="0"/>
                                              <a:ea typeface="楷体" panose="02010609060101010101" pitchFamily="49" charset="-122"/>
                                            </a:rPr>
                                            <m:t>=</m:t>
                                          </m:r>
                                          <m:r>
                                            <a:rPr kumimoji="1" lang="en-US" altLang="zh-CN" sz="2400" i="1">
                                              <a:latin typeface="Cambria Math" panose="02040503050406030204" pitchFamily="18" charset="0"/>
                                              <a:ea typeface="楷体" panose="02010609060101010101" pitchFamily="49" charset="-122"/>
                                            </a:rPr>
                                            <m:t>0</m:t>
                                          </m:r>
                                        </m:e>
                                      </m:mr>
                                      <m:mr>
                                        <m:e>
                                          <m:sSub>
                                            <m:sSubPr>
                                              <m:ctrlPr>
                                                <a:rPr kumimoji="1" lang="en-US" altLang="zh-CN" sz="2400" i="1">
                                                  <a:latin typeface="Cambria Math" panose="02040503050406030204" pitchFamily="18" charset="0"/>
                                                  <a:ea typeface="楷体" panose="02010609060101010101" pitchFamily="49" charset="-122"/>
                                                </a:rPr>
                                              </m:ctrlPr>
                                            </m:sSubPr>
                                            <m:e>
                                              <m:r>
                                                <a:rPr kumimoji="1" lang="en-US" altLang="zh-CN" sz="2400" i="1">
                                                  <a:latin typeface="Cambria Math" panose="02040503050406030204" pitchFamily="18" charset="0"/>
                                                  <a:ea typeface="楷体" panose="02010609060101010101" pitchFamily="49" charset="-122"/>
                                                </a:rPr>
                                                <m:t>𝑥</m:t>
                                              </m:r>
                                            </m:e>
                                            <m:sub>
                                              <m:r>
                                                <a:rPr kumimoji="1" lang="en-US" altLang="zh-CN" sz="2400" i="1">
                                                  <a:latin typeface="Cambria Math" panose="02040503050406030204" pitchFamily="18" charset="0"/>
                                                  <a:ea typeface="楷体" panose="02010609060101010101" pitchFamily="49" charset="-122"/>
                                                </a:rPr>
                                                <m:t>4</m:t>
                                              </m:r>
                                            </m:sub>
                                          </m:sSub>
                                          <m:r>
                                            <a:rPr kumimoji="1" lang="en-US" altLang="zh-CN" sz="2400" i="1">
                                              <a:latin typeface="Cambria Math" panose="02040503050406030204" pitchFamily="18" charset="0"/>
                                              <a:ea typeface="楷体" panose="02010609060101010101" pitchFamily="49" charset="-122"/>
                                            </a:rPr>
                                            <m:t>=</m:t>
                                          </m:r>
                                          <m:r>
                                            <a:rPr kumimoji="1" lang="en-US" altLang="zh-CN" sz="2400" b="0" i="1" smtClean="0">
                                              <a:latin typeface="Cambria Math" panose="02040503050406030204" pitchFamily="18" charset="0"/>
                                              <a:ea typeface="楷体" panose="02010609060101010101" pitchFamily="49" charset="-122"/>
                                            </a:rPr>
                                            <m:t>3</m:t>
                                          </m:r>
                                        </m:e>
                                      </m:mr>
                                    </m:m>
                                  </m:e>
                                </m:mr>
                              </m:m>
                            </m:e>
                          </m:mr>
                        </m:m>
                      </m:e>
                    </m:d>
                  </m:oMath>
                </a14:m>
                <a:endPar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spcBef>
                    <a:spcPts val="300"/>
                  </a:spcBef>
                  <a:spcAft>
                    <a:spcPts val="300"/>
                  </a:spcAft>
                </a:pP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这时有最低总成本</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29</a:t>
                </a:r>
                <a:r>
                  <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4821" name="Rectangle 3"/>
              <p:cNvSpPr>
                <a:spLocks noRot="1" noChangeAspect="1" noMove="1" noResize="1" noEditPoints="1" noAdjustHandles="1" noChangeArrowheads="1" noChangeShapeType="1" noTextEdit="1"/>
              </p:cNvSpPr>
              <p:nvPr/>
            </p:nvSpPr>
            <p:spPr bwMode="auto">
              <a:xfrm>
                <a:off x="1905000" y="2004826"/>
                <a:ext cx="8382000" cy="2848347"/>
              </a:xfrm>
              <a:prstGeom prst="rect">
                <a:avLst/>
              </a:prstGeom>
              <a:blipFill rotWithShape="1">
                <a:blip r:embed="rId1"/>
                <a:stretch>
                  <a:fillRect t="-5" b="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sz="half" idx="1"/>
          </p:nvPr>
        </p:nvSpPr>
        <p:spPr>
          <a:xfrm>
            <a:off x="1738313" y="714375"/>
            <a:ext cx="8715375" cy="3506713"/>
          </a:xfrm>
        </p:spPr>
        <p:txBody>
          <a:bodyPr/>
          <a:lstStyle/>
          <a:p>
            <a:pPr marL="0" indent="0" algn="just" eaLnBrk="1" hangingPunct="1">
              <a:lnSpc>
                <a:spcPct val="150000"/>
              </a:lnSpc>
              <a:spcBef>
                <a:spcPts val="0"/>
              </a:spcBef>
              <a:buFont typeface="Arial" panose="020B0604020202020204" pitchFamily="34" charset="0"/>
              <a:buNone/>
            </a:pPr>
            <a:r>
              <a:rPr lang="zh-CN" altLang="en-US" sz="2400" b="1" dirty="0">
                <a:latin typeface="Times New Roman" panose="02020603050405020304" pitchFamily="18" charset="0"/>
                <a:cs typeface="Times New Roman" panose="02020603050405020304" pitchFamily="18" charset="0"/>
              </a:rPr>
              <a:t>四、系统可靠性问题</a:t>
            </a:r>
            <a:endParaRPr lang="zh-CN" altLang="en-US" sz="2400" b="1"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        例</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某科研项目组由三个小组用不同的手段分别研究，它们失败的概率各为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0.40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0.60</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0.80</a:t>
            </a:r>
            <a:r>
              <a:rPr lang="zh-CN" altLang="en-US" sz="2400" dirty="0">
                <a:latin typeface="Times New Roman" panose="02020603050405020304" pitchFamily="18" charset="0"/>
                <a:cs typeface="Times New Roman" panose="02020603050405020304" pitchFamily="18" charset="0"/>
              </a:rPr>
              <a:t>。为了减少三个小组都失败的可能性，现决定给三个小组中增派两名高级科学家到各小组，各小组科研项目失败概率如下表，问如何分派科学家才能使三个小组都失败的概率（即科研项目最终失败的概率）最小？ </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2" name="表格 1"/>
          <p:cNvGraphicFramePr>
            <a:graphicFrameLocks noGrp="1"/>
          </p:cNvGraphicFramePr>
          <p:nvPr/>
        </p:nvGraphicFramePr>
        <p:xfrm>
          <a:off x="3048000" y="4221088"/>
          <a:ext cx="6096000" cy="193040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rowSpan="2">
                  <a:txBody>
                    <a:bodyPr/>
                    <a:lstStyle/>
                    <a:p>
                      <a:pPr algn="ctr"/>
                      <a:r>
                        <a:rPr lang="zh-CN" altLang="en-US" dirty="0">
                          <a:latin typeface="Times New Roman" panose="02020603050405020304" pitchFamily="18" charset="0"/>
                          <a:cs typeface="Times New Roman" panose="02020603050405020304" pitchFamily="18" charset="0"/>
                        </a:rPr>
                        <a:t>高级科学家</a:t>
                      </a:r>
                      <a:endParaRPr lang="zh-CN" altLang="en-US" dirty="0">
                        <a:latin typeface="Times New Roman" panose="02020603050405020304" pitchFamily="18" charset="0"/>
                        <a:cs typeface="Times New Roman" panose="02020603050405020304" pitchFamily="18" charset="0"/>
                      </a:endParaRPr>
                    </a:p>
                  </a:txBody>
                  <a:tcPr anchor="ctr"/>
                </a:tc>
                <a:tc gridSpan="3">
                  <a:txBody>
                    <a:bodyPr/>
                    <a:lstStyle/>
                    <a:p>
                      <a:pPr algn="ctr"/>
                      <a:r>
                        <a:rPr lang="zh-CN" altLang="en-US" dirty="0">
                          <a:latin typeface="Times New Roman" panose="02020603050405020304" pitchFamily="18" charset="0"/>
                          <a:cs typeface="Times New Roman" panose="02020603050405020304" pitchFamily="18" charset="0"/>
                        </a:rPr>
                        <a:t>小组</a:t>
                      </a:r>
                      <a:endParaRPr lang="zh-CN" altLang="en-US" dirty="0">
                        <a:latin typeface="Times New Roman" panose="02020603050405020304" pitchFamily="18" charset="0"/>
                        <a:cs typeface="Times New Roman" panose="02020603050405020304" pitchFamily="18" charset="0"/>
                      </a:endParaRPr>
                    </a:p>
                  </a:txBody>
                  <a:tcPr anchor="ctr"/>
                </a:tc>
                <a:tc hMerge="1">
                  <a:tcPr/>
                </a:tc>
                <a:tc hMerge="1">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nchor="ctr"/>
                </a:tc>
              </a:tr>
              <a:tr h="37084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0.40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0.60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0.80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r>
              <a:tr h="37084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0.20</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0.40</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0.50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r>
              <a:tr h="37084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0.15</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0.20</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0.30</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tc>
              </a:tr>
            </a:tbl>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5848" name="Rectangle 3"/>
              <p:cNvSpPr>
                <a:spLocks noGrp="1" noChangeArrowheads="1"/>
              </p:cNvSpPr>
              <p:nvPr>
                <p:ph type="body" sz="half" idx="1"/>
              </p:nvPr>
            </p:nvSpPr>
            <p:spPr>
              <a:xfrm>
                <a:off x="1916906" y="1124744"/>
                <a:ext cx="8358188" cy="5273675"/>
              </a:xfrm>
            </p:spPr>
            <p:txBody>
              <a:bodyPr/>
              <a:lstStyle/>
              <a:p>
                <a:pPr marL="0" indent="0" algn="just" eaLnBrk="1" hangingPunct="1">
                  <a:lnSpc>
                    <a:spcPct val="125000"/>
                  </a:lnSpc>
                  <a:spcBef>
                    <a:spcPts val="0"/>
                  </a:spcBef>
                  <a:buFontTx/>
                  <a:buNone/>
                </a:pPr>
                <a:r>
                  <a:rPr lang="zh-CN" altLang="en-US" sz="2400" dirty="0">
                    <a:latin typeface="楷体" panose="02010609060101010101" pitchFamily="49" charset="-122"/>
                  </a:rPr>
                  <a:t>解：</a:t>
                </a:r>
                <a:r>
                  <a:rPr lang="zh-CN" altLang="en-US" sz="2400" b="1" dirty="0">
                    <a:latin typeface="楷体" panose="02010609060101010101" pitchFamily="49" charset="-122"/>
                  </a:rPr>
                  <a:t>用逆序算法</a:t>
                </a:r>
                <a:r>
                  <a:rPr lang="zh-CN" altLang="en-US" sz="2400" dirty="0">
                    <a:latin typeface="楷体" panose="02010609060101010101" pitchFamily="49" charset="-122"/>
                  </a:rPr>
                  <a:t>。设阶段</a:t>
                </a:r>
                <a14:m>
                  <m:oMath xmlns:m="http://schemas.openxmlformats.org/officeDocument/2006/math">
                    <m:r>
                      <a:rPr lang="en-US" altLang="zh-CN" sz="2400" b="0" i="1" smtClean="0">
                        <a:latin typeface="Cambria Math" panose="02040503050406030204" pitchFamily="18" charset="0"/>
                      </a:rPr>
                      <m:t>𝑘</m:t>
                    </m:r>
                  </m:oMath>
                </a14:m>
                <a:r>
                  <a:rPr lang="zh-CN" altLang="en-US" sz="2400" dirty="0">
                    <a:latin typeface="楷体" panose="02010609060101010101" pitchFamily="49" charset="-122"/>
                  </a:rPr>
                  <a:t>：每个研究小组为一个阶段</a:t>
                </a:r>
                <a:endParaRPr lang="zh-CN" altLang="en-US" sz="2400" dirty="0">
                  <a:latin typeface="楷体" panose="02010609060101010101" pitchFamily="49" charset="-122"/>
                </a:endParaRPr>
              </a:p>
              <a:p>
                <a:pPr marL="0" indent="0" algn="just" eaLnBrk="1" hangingPunct="1">
                  <a:lnSpc>
                    <a:spcPct val="125000"/>
                  </a:lnSpc>
                  <a:spcBef>
                    <a:spcPts val="0"/>
                  </a:spcBef>
                </a:pPr>
                <a:endParaRPr lang="en-US" altLang="zh-CN" sz="2400" dirty="0">
                  <a:latin typeface="楷体" panose="02010609060101010101" pitchFamily="49" charset="-122"/>
                </a:endParaRPr>
              </a:p>
              <a:p>
                <a:pPr marL="0" indent="0" algn="just" eaLnBrk="1" hangingPunct="1">
                  <a:lnSpc>
                    <a:spcPct val="125000"/>
                  </a:lnSpc>
                  <a:spcBef>
                    <a:spcPts val="0"/>
                  </a:spcBef>
                </a:pPr>
                <a:endParaRPr lang="zh-CN" altLang="en-US" sz="2400" dirty="0">
                  <a:latin typeface="楷体" panose="02010609060101010101" pitchFamily="49" charset="-122"/>
                </a:endParaRPr>
              </a:p>
              <a:p>
                <a:pPr marL="0" indent="0" algn="just" eaLnBrk="1" hangingPunct="1">
                  <a:lnSpc>
                    <a:spcPct val="125000"/>
                  </a:lnSpc>
                  <a:spcBef>
                    <a:spcPts val="0"/>
                  </a:spcBef>
                  <a:buNone/>
                </a:pPr>
                <a:r>
                  <a:rPr lang="zh-CN" altLang="en-US" sz="2400" b="1" dirty="0">
                    <a:latin typeface="楷体" panose="02010609060101010101" pitchFamily="49" charset="-122"/>
                  </a:rPr>
                  <a:t>决策变量</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𝑘</m:t>
                        </m:r>
                      </m:sub>
                    </m:sSub>
                  </m:oMath>
                </a14:m>
                <a:r>
                  <a:rPr lang="zh-CN" altLang="en-US" sz="2400" dirty="0">
                    <a:latin typeface="楷体" panose="02010609060101010101" pitchFamily="49" charset="-122"/>
                  </a:rPr>
                  <a:t>：分配给第</a:t>
                </a:r>
                <a14:m>
                  <m:oMath xmlns:m="http://schemas.openxmlformats.org/officeDocument/2006/math">
                    <m:r>
                      <a:rPr lang="en-US" altLang="zh-CN" sz="2400" i="1">
                        <a:latin typeface="Cambria Math" panose="02040503050406030204" pitchFamily="18" charset="0"/>
                      </a:rPr>
                      <m:t>𝑘</m:t>
                    </m:r>
                  </m:oMath>
                </a14:m>
                <a:r>
                  <a:rPr lang="zh-CN" altLang="en-US" sz="2400" dirty="0">
                    <a:latin typeface="楷体" panose="02010609060101010101" pitchFamily="49" charset="-122"/>
                  </a:rPr>
                  <a:t>小组的高级科学家数目，相应的失败概率为</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𝑃</m:t>
                        </m:r>
                      </m:e>
                      <m:sub>
                        <m:r>
                          <a:rPr lang="en-US" altLang="zh-CN" sz="2400" b="0" i="1" dirty="0" smtClean="0">
                            <a:latin typeface="Cambria Math" panose="02040503050406030204" pitchFamily="18" charset="0"/>
                          </a:rPr>
                          <m:t>𝑛</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𝑛</m:t>
                        </m:r>
                      </m:sub>
                    </m:sSub>
                    <m:r>
                      <a:rPr lang="en-US" altLang="zh-CN" sz="2400" b="0" i="1" dirty="0" smtClean="0">
                        <a:latin typeface="Cambria Math" panose="02040503050406030204" pitchFamily="18" charset="0"/>
                      </a:rPr>
                      <m:t>)</m:t>
                    </m:r>
                  </m:oMath>
                </a14:m>
                <a:r>
                  <a:rPr lang="zh-CN" altLang="en-US" sz="2400" dirty="0">
                    <a:latin typeface="楷体" panose="02010609060101010101" pitchFamily="49" charset="-122"/>
                  </a:rPr>
                  <a:t>；</a:t>
                </a:r>
                <a:endParaRPr lang="zh-CN" altLang="en-US" sz="2400" dirty="0">
                  <a:latin typeface="楷体" panose="02010609060101010101" pitchFamily="49" charset="-122"/>
                </a:endParaRPr>
              </a:p>
              <a:p>
                <a:pPr marL="0" indent="0" algn="just" eaLnBrk="1" hangingPunct="1">
                  <a:lnSpc>
                    <a:spcPct val="125000"/>
                  </a:lnSpc>
                  <a:spcBef>
                    <a:spcPts val="0"/>
                  </a:spcBef>
                  <a:buNone/>
                </a:pPr>
                <a:r>
                  <a:rPr lang="zh-CN" altLang="en-US" sz="2400" b="1" dirty="0">
                    <a:latin typeface="楷体" panose="02010609060101010101" pitchFamily="49" charset="-122"/>
                  </a:rPr>
                  <a:t>状态变量</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𝑘</m:t>
                        </m:r>
                      </m:sub>
                    </m:sSub>
                  </m:oMath>
                </a14:m>
                <a:r>
                  <a:rPr lang="zh-CN" altLang="en-US" sz="2400" dirty="0">
                    <a:latin typeface="楷体" panose="02010609060101010101" pitchFamily="49" charset="-122"/>
                  </a:rPr>
                  <a:t>：在阶段</a:t>
                </a:r>
                <a14:m>
                  <m:oMath xmlns:m="http://schemas.openxmlformats.org/officeDocument/2006/math">
                    <m:r>
                      <a:rPr lang="en-US" altLang="zh-CN" sz="2400" i="1">
                        <a:latin typeface="Cambria Math" panose="02040503050406030204" pitchFamily="18" charset="0"/>
                      </a:rPr>
                      <m:t>𝑘</m:t>
                    </m:r>
                  </m:oMath>
                </a14:m>
                <a:r>
                  <a:rPr lang="zh-CN" altLang="en-US" sz="2400" dirty="0">
                    <a:latin typeface="楷体" panose="02010609060101010101" pitchFamily="49" charset="-122"/>
                  </a:rPr>
                  <a:t>时可分配于阶段</a:t>
                </a:r>
                <a14:m>
                  <m:oMath xmlns:m="http://schemas.openxmlformats.org/officeDocument/2006/math">
                    <m:r>
                      <a:rPr lang="en-US" altLang="zh-CN" sz="2400" i="1">
                        <a:latin typeface="Cambria Math" panose="02040503050406030204" pitchFamily="18" charset="0"/>
                      </a:rPr>
                      <m:t>𝑘</m:t>
                    </m:r>
                    <m:r>
                      <a:rPr lang="en-US" altLang="zh-CN" sz="2400" b="0" i="0" smtClean="0">
                        <a:latin typeface="Cambria Math" panose="02040503050406030204" pitchFamily="18" charset="0"/>
                      </a:rPr>
                      <m:t>,</m:t>
                    </m:r>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m:t>
                    </m:r>
                  </m:oMath>
                </a14:m>
                <a:r>
                  <a:rPr lang="zh-CN" altLang="en-US" sz="2400" dirty="0">
                    <a:latin typeface="楷体" panose="02010609060101010101" pitchFamily="49" charset="-122"/>
                  </a:rPr>
                  <a:t>的高级科学家人数。</a:t>
                </a:r>
                <a:endParaRPr lang="en-US" altLang="zh-CN" sz="2400" dirty="0">
                  <a:latin typeface="楷体" panose="02010609060101010101" pitchFamily="49" charset="-122"/>
                </a:endParaRPr>
              </a:p>
              <a:p>
                <a:pPr marL="0" indent="0" algn="just" eaLnBrk="1" hangingPunct="1">
                  <a:lnSpc>
                    <a:spcPct val="125000"/>
                  </a:lnSpc>
                  <a:spcBef>
                    <a:spcPts val="0"/>
                  </a:spcBef>
                  <a:buNone/>
                </a:pPr>
                <a:r>
                  <a:rPr lang="zh-CN" altLang="en-US" sz="2400" b="1" dirty="0">
                    <a:latin typeface="楷体" panose="02010609060101010101" pitchFamily="49" charset="-122"/>
                  </a:rPr>
                  <a:t>状态转移过程</a:t>
                </a:r>
                <a:r>
                  <a:rPr lang="zh-CN" altLang="en-US" sz="2400" dirty="0">
                    <a:latin typeface="楷体" panose="02010609060101010101" pitchFamily="49" charset="-122"/>
                  </a:rPr>
                  <a:t>：</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oMath>
                </a14:m>
                <a:endParaRPr lang="zh-CN" altLang="en-US" sz="2400" dirty="0">
                  <a:latin typeface="楷体" panose="02010609060101010101" pitchFamily="49" charset="-122"/>
                </a:endParaRPr>
              </a:p>
              <a:p>
                <a:pPr marL="0" indent="0" algn="just" eaLnBrk="1" hangingPunct="1">
                  <a:lnSpc>
                    <a:spcPct val="125000"/>
                  </a:lnSpc>
                  <a:spcBef>
                    <a:spcPts val="0"/>
                  </a:spcBef>
                  <a:buFont typeface="Arial" panose="020B0604020202020204" pitchFamily="34" charset="0"/>
                  <a:buNone/>
                </a:pPr>
                <a:r>
                  <a:rPr lang="zh-CN" altLang="en-US" sz="2400" b="1" dirty="0">
                    <a:latin typeface="楷体" panose="02010609060101010101" pitchFamily="49" charset="-122"/>
                  </a:rPr>
                  <a:t>递推关系</a:t>
                </a:r>
                <a:r>
                  <a:rPr lang="zh-CN" altLang="en-US" sz="2400" dirty="0">
                    <a:latin typeface="楷体" panose="02010609060101010101" pitchFamily="49" charset="-122"/>
                  </a:rPr>
                  <a:t>：</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3</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3</m:t>
                            </m:r>
                          </m:sub>
                        </m:sSub>
                      </m:e>
                    </m:d>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limLow>
                          <m:limLowPr>
                            <m:ctrlPr>
                              <a:rPr lang="en-US" altLang="zh-CN" sz="2400" b="0" i="1" smtClean="0">
                                <a:latin typeface="Cambria Math" panose="02040503050406030204" pitchFamily="18" charset="0"/>
                              </a:rPr>
                            </m:ctrlPr>
                          </m:limLowPr>
                          <m:e>
                            <m:r>
                              <m:rPr>
                                <m:sty m:val="p"/>
                              </m:rPr>
                              <a:rPr lang="en-US" altLang="zh-CN" sz="2400" b="0" i="0" smtClean="0">
                                <a:latin typeface="Cambria Math" panose="02040503050406030204" pitchFamily="18" charset="0"/>
                              </a:rPr>
                              <m:t>min</m:t>
                            </m:r>
                          </m:e>
                          <m:li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3</m:t>
                                </m:r>
                              </m:sub>
                            </m:sSub>
                          </m:lim>
                        </m:limLow>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e>
                    </m:func>
                  </m:oMath>
                </a14:m>
                <a:endParaRPr lang="en-US" altLang="zh-CN" sz="2400" dirty="0">
                  <a:latin typeface="楷体" panose="02010609060101010101" pitchFamily="49" charset="-122"/>
                </a:endParaRPr>
              </a:p>
              <a:p>
                <a:pPr marL="0" indent="0" algn="ctr" eaLnBrk="1" hangingPunct="1">
                  <a:lnSpc>
                    <a:spcPct val="125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b="0" i="1" smtClean="0">
                              <a:latin typeface="Cambria Math" panose="02040503050406030204" pitchFamily="18" charset="0"/>
                            </a:rPr>
                            <m:t>𝑘</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𝑘</m:t>
                              </m:r>
                            </m:sub>
                          </m:sSub>
                        </m:e>
                      </m:d>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min</m:t>
                              </m:r>
                            </m:e>
                            <m:li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𝑘</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𝑘</m:t>
                                  </m:r>
                                </m:sub>
                              </m:sSub>
                            </m:lim>
                          </m:limLow>
                        </m:fName>
                        <m:e>
                          <m:d>
                            <m:dPr>
                              <m:begChr m:val="{"/>
                              <m:endChr m:val="}"/>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b="0" i="1" smtClean="0">
                                      <a:latin typeface="Cambria Math" panose="02040503050406030204" pitchFamily="18" charset="0"/>
                                    </a:rPr>
                                    <m:t>𝑘</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𝑘</m:t>
                                      </m:r>
                                    </m:sub>
                                  </m:sSub>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𝑘</m:t>
                                      </m:r>
                                    </m:sub>
                                  </m:sSub>
                                </m:e>
                              </m:d>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e>
                      </m:func>
                    </m:oMath>
                  </m:oMathPara>
                </a14:m>
                <a:endParaRPr lang="zh-CN" altLang="en-US" sz="2400" dirty="0">
                  <a:latin typeface="楷体" panose="02010609060101010101" pitchFamily="49" charset="-122"/>
                </a:endParaRPr>
              </a:p>
              <a:p>
                <a:pPr marL="0" indent="0" algn="just" eaLnBrk="1" hangingPunct="1">
                  <a:lnSpc>
                    <a:spcPct val="125000"/>
                  </a:lnSpc>
                  <a:spcBef>
                    <a:spcPts val="0"/>
                  </a:spcBef>
                </a:pPr>
                <a:endParaRPr lang="en-US" altLang="zh-CN" sz="2400" dirty="0">
                  <a:latin typeface="楷体" panose="02010609060101010101" pitchFamily="49" charset="-122"/>
                </a:endParaRPr>
              </a:p>
            </p:txBody>
          </p:sp>
        </mc:Choice>
        <mc:Fallback>
          <p:sp>
            <p:nvSpPr>
              <p:cNvPr id="35848" name="Rectangle 3"/>
              <p:cNvSpPr>
                <a:spLocks noRot="1" noChangeAspect="1" noMove="1" noResize="1" noEditPoints="1" noAdjustHandles="1" noChangeArrowheads="1" noChangeShapeType="1" noTextEdit="1"/>
              </p:cNvSpPr>
              <p:nvPr>
                <p:ph type="body" sz="half" idx="1"/>
              </p:nvPr>
            </p:nvSpPr>
            <p:spPr>
              <a:xfrm>
                <a:off x="1916906" y="1124744"/>
                <a:ext cx="8358188" cy="5273675"/>
              </a:xfrm>
              <a:blipFill rotWithShape="1">
                <a:blip r:embed="rId1"/>
                <a:stretch>
                  <a:fillRect l="-6" t="-3" r="2" b="-3742"/>
                </a:stretch>
              </a:blipFill>
            </p:spPr>
            <p:txBody>
              <a:bodyPr/>
              <a:lstStyle/>
              <a:p>
                <a:r>
                  <a:rPr lang="zh-CN" altLang="en-US">
                    <a:noFill/>
                  </a:rPr>
                  <a:t> </a:t>
                </a:r>
              </a:p>
            </p:txBody>
          </p:sp>
        </mc:Fallback>
      </mc:AlternateContent>
      <p:graphicFrame>
        <p:nvGraphicFramePr>
          <p:cNvPr id="2" name="表格 1"/>
          <p:cNvGraphicFramePr>
            <a:graphicFrameLocks noGrp="1"/>
          </p:cNvGraphicFramePr>
          <p:nvPr/>
        </p:nvGraphicFramePr>
        <p:xfrm>
          <a:off x="3083719" y="1700808"/>
          <a:ext cx="6096000" cy="79248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阶段</a:t>
                      </a:r>
                      <a:endParaRPr kumimoji="0" lang="zh-CN" altLang="en-US"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r>
              <a:tr h="37084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小组</a:t>
                      </a:r>
                      <a:endParaRPr kumimoji="0" lang="zh-CN" altLang="en-US"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tc>
              </a:tr>
            </a:tbl>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5234" name="Rectangle 3"/>
              <p:cNvSpPr>
                <a:spLocks noGrp="1" noChangeArrowheads="1"/>
              </p:cNvSpPr>
              <p:nvPr>
                <p:ph idx="1"/>
              </p:nvPr>
            </p:nvSpPr>
            <p:spPr>
              <a:xfrm>
                <a:off x="1981200" y="1196753"/>
                <a:ext cx="8229600" cy="2808312"/>
              </a:xfrm>
            </p:spPr>
            <p:txBody>
              <a:bodyPr>
                <a:normAutofit lnSpcReduction="10000"/>
              </a:bodyPr>
              <a:lstStyle/>
              <a:p>
                <a:pPr eaLnBrk="1" hangingPunct="1">
                  <a:buFont typeface="Arial" panose="020B0604020202020204" pitchFamily="34" charset="0"/>
                  <a:buNone/>
                </a:pPr>
                <a:r>
                  <a:rPr lang="zh-CN" altLang="en-US" sz="2400" dirty="0">
                    <a:latin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3</m:t>
                    </m:r>
                  </m:oMath>
                </a14:m>
                <a:r>
                  <a:rPr lang="zh-CN" altLang="en-US" sz="2400" dirty="0">
                    <a:latin typeface="楷体" panose="02010609060101010101" pitchFamily="49" charset="-122"/>
                  </a:rPr>
                  <a:t>时，</a:t>
                </a:r>
                <a:endParaRPr lang="zh-CN" altLang="en-US" sz="2400" dirty="0">
                  <a:latin typeface="楷体" panose="02010609060101010101" pitchFamily="49" charset="-122"/>
                </a:endParaRPr>
              </a:p>
              <a:p>
                <a:pPr eaLnBrk="1" hangingPunct="1"/>
                <a:endParaRPr lang="zh-CN" altLang="en-US" sz="2000" dirty="0">
                  <a:latin typeface="楷体" panose="02010609060101010101" pitchFamily="49" charset="-122"/>
                </a:endParaRPr>
              </a:p>
              <a:p>
                <a:pPr eaLnBrk="1" hangingPunct="1"/>
                <a:endParaRPr lang="zh-CN" altLang="en-US" sz="2000" dirty="0">
                  <a:latin typeface="楷体" panose="02010609060101010101" pitchFamily="49" charset="-122"/>
                </a:endParaRPr>
              </a:p>
              <a:p>
                <a:pPr eaLnBrk="1" hangingPunct="1"/>
                <a:endParaRPr lang="zh-CN" altLang="en-US" sz="2000" dirty="0">
                  <a:latin typeface="楷体" panose="02010609060101010101" pitchFamily="49" charset="-122"/>
                </a:endParaRPr>
              </a:p>
              <a:p>
                <a:pPr eaLnBrk="1" hangingPunct="1"/>
                <a:endParaRPr lang="zh-CN" altLang="en-US" sz="2000" dirty="0">
                  <a:latin typeface="楷体" panose="02010609060101010101" pitchFamily="49" charset="-122"/>
                </a:endParaRPr>
              </a:p>
              <a:p>
                <a:pPr eaLnBrk="1" hangingPunct="1">
                  <a:buFont typeface="Arial" panose="020B0604020202020204" pitchFamily="34" charset="0"/>
                  <a:buNone/>
                </a:pPr>
                <a:endParaRPr lang="en-US" altLang="zh-CN" sz="2000" dirty="0">
                  <a:latin typeface="楷体" panose="02010609060101010101" pitchFamily="49" charset="-122"/>
                </a:endParaRPr>
              </a:p>
              <a:p>
                <a:pPr eaLnBrk="1" hangingPunct="1">
                  <a:buFont typeface="Arial" panose="020B0604020202020204" pitchFamily="34" charset="0"/>
                  <a:buNone/>
                </a:pPr>
                <a:r>
                  <a:rPr lang="zh-CN" altLang="en-US" sz="2400" dirty="0">
                    <a:latin typeface="楷体" panose="02010609060101010101" pitchFamily="49" charset="-122"/>
                  </a:rPr>
                  <a:t>当</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2</m:t>
                    </m:r>
                  </m:oMath>
                </a14:m>
                <a:r>
                  <a:rPr lang="zh-CN" altLang="en-US" sz="2400" dirty="0">
                    <a:latin typeface="楷体" panose="02010609060101010101" pitchFamily="49" charset="-122"/>
                  </a:rPr>
                  <a:t>时， </a:t>
                </a:r>
                <a:endParaRPr lang="zh-CN" altLang="en-US" sz="2400" dirty="0">
                  <a:latin typeface="楷体" panose="02010609060101010101" pitchFamily="49" charset="-122"/>
                </a:endParaRPr>
              </a:p>
            </p:txBody>
          </p:sp>
        </mc:Choice>
        <mc:Fallback>
          <p:sp>
            <p:nvSpPr>
              <p:cNvPr id="95234" name="Rectangle 3"/>
              <p:cNvSpPr>
                <a:spLocks noRot="1" noChangeAspect="1" noMove="1" noResize="1" noEditPoints="1" noAdjustHandles="1" noChangeArrowheads="1" noChangeShapeType="1" noTextEdit="1"/>
              </p:cNvSpPr>
              <p:nvPr>
                <p:ph idx="1"/>
              </p:nvPr>
            </p:nvSpPr>
            <p:spPr>
              <a:xfrm>
                <a:off x="1981200" y="1196753"/>
                <a:ext cx="8229600" cy="2808312"/>
              </a:xfrm>
              <a:blipFill rotWithShape="1">
                <a:blip r:embed="rId1"/>
                <a:stretch>
                  <a:fillRect t="-15" b="4"/>
                </a:stretch>
              </a:blipFill>
            </p:spPr>
            <p:txBody>
              <a:bodyPr/>
              <a:lstStyle/>
              <a:p>
                <a:r>
                  <a:rPr lang="zh-CN" altLang="en-US">
                    <a:noFill/>
                  </a:rPr>
                  <a:t> </a:t>
                </a:r>
              </a:p>
            </p:txBody>
          </p:sp>
        </mc:Fallback>
      </mc:AlternateContent>
      <p:sp>
        <p:nvSpPr>
          <p:cNvPr id="95236" name="Rectangle 8"/>
          <p:cNvSpPr>
            <a:spLocks noChangeArrowheads="1"/>
          </p:cNvSpPr>
          <p:nvPr/>
        </p:nvSpPr>
        <p:spPr bwMode="auto">
          <a:xfrm>
            <a:off x="3390900" y="28035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37" name="Rectangle 10"/>
          <p:cNvSpPr>
            <a:spLocks noChangeArrowheads="1"/>
          </p:cNvSpPr>
          <p:nvPr/>
        </p:nvSpPr>
        <p:spPr bwMode="auto">
          <a:xfrm>
            <a:off x="3390900" y="280352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0" name="Rectangle 107"/>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1" name="Rectangle 108"/>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2" name="Rectangle 109"/>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3" name="Rectangle 111"/>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4" name="Rectangle 117"/>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5" name="Rectangle 121"/>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p:sp>
        <p:nvSpPr>
          <p:cNvPr id="95266" name="Rectangle 124"/>
          <p:cNvSpPr>
            <a:spLocks noChangeArrowheads="1"/>
          </p:cNvSpPr>
          <p:nvPr/>
        </p:nvSpPr>
        <p:spPr bwMode="auto">
          <a:xfrm>
            <a:off x="3390900" y="2530475"/>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2238375" y="1725298"/>
              <a:ext cx="7715250" cy="1503680"/>
            </p:xfrm>
            <a:graphic>
              <a:graphicData uri="http://schemas.openxmlformats.org/drawingml/2006/table">
                <a:tbl>
                  <a:tblPr firstRow="1" bandRow="1">
                    <a:tableStyleId>{5C22544A-7EE6-4342-B048-85BDC9FD1C3A}</a:tableStyleId>
                  </a:tblPr>
                  <a:tblGrid>
                    <a:gridCol w="2571750"/>
                    <a:gridCol w="2571750"/>
                    <a:gridCol w="2571750"/>
                  </a:tblGrid>
                  <a:tr h="375920">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r>
                                  <a:rPr kumimoji="0" lang="en-US" altLang="zh-CN" sz="1800" b="0" i="1" u="none" strike="noStrike" cap="none" normalizeH="0" baseline="0" dirty="0" smtClean="0">
                                    <a:ln>
                                      <a:noFill/>
                                    </a:ln>
                                    <a:solidFill>
                                      <a:schemeClr val="tx1"/>
                                    </a:solidFill>
                                    <a:effectLst/>
                                    <a:latin typeface="Cambria Math" panose="02040503050406030204" pitchFamily="18" charset="0"/>
                                    <a:ea typeface="楷体" panose="02010609060101010101" pitchFamily="49" charset="-122"/>
                                  </a:rPr>
                                  <m:t>𝑠</m:t>
                                </m:r>
                                <m:r>
                                  <a:rPr kumimoji="0" lang="en-US" altLang="zh-CN" sz="1800" b="0" i="1" u="none" strike="noStrike" cap="none" normalizeH="0" baseline="-25000" dirty="0">
                                    <a:ln>
                                      <a:noFill/>
                                    </a:ln>
                                    <a:solidFill>
                                      <a:schemeClr val="tx1"/>
                                    </a:solidFill>
                                    <a:effectLst/>
                                    <a:latin typeface="Cambria Math" panose="02040503050406030204" pitchFamily="18" charset="0"/>
                                    <a:ea typeface="楷体" panose="02010609060101010101" pitchFamily="49" charset="-122"/>
                                  </a:rPr>
                                  <m:t>3</m:t>
                                </m:r>
                              </m:oMath>
                            </m:oMathPara>
                          </a14:m>
                          <a:endParaRPr kumimoji="0" lang="en-US" altLang="zh-CN" sz="1800" b="0" i="0" u="none" strike="noStrike" cap="none" normalizeH="0" baseline="-2500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cap="none" normalizeH="0" baseline="0" dirty="0" smtClean="0">
                                        <a:ln>
                                          <a:noFill/>
                                        </a:ln>
                                        <a:solidFill>
                                          <a:schemeClr val="tx1"/>
                                        </a:solidFill>
                                        <a:effectLst/>
                                        <a:latin typeface="Cambria Math" panose="02040503050406030204" pitchFamily="18" charset="0"/>
                                        <a:ea typeface="楷体" panose="02010609060101010101" pitchFamily="49" charset="-122"/>
                                      </a:rPr>
                                    </m:ctrlPr>
                                  </m:sSubSupPr>
                                  <m:e>
                                    <m:r>
                                      <a:rPr kumimoji="0" lang="en-US" altLang="zh-CN" sz="1800" b="0" i="1" u="none" strike="noStrike" cap="none" normalizeH="0" baseline="0" dirty="0" smtClean="0">
                                        <a:ln>
                                          <a:noFill/>
                                        </a:ln>
                                        <a:solidFill>
                                          <a:schemeClr val="tx1"/>
                                        </a:solidFill>
                                        <a:effectLst/>
                                        <a:latin typeface="Cambria Math" panose="02040503050406030204" pitchFamily="18" charset="0"/>
                                        <a:ea typeface="楷体" panose="02010609060101010101" pitchFamily="49" charset="-122"/>
                                      </a:rPr>
                                      <m:t>𝑓</m:t>
                                    </m:r>
                                  </m:e>
                                  <m:sub>
                                    <m:r>
                                      <a:rPr kumimoji="0" lang="en-US" altLang="zh-CN" sz="1800" b="0" i="1" u="none" strike="noStrike" cap="none" normalizeH="0" baseline="0" dirty="0" smtClean="0">
                                        <a:ln>
                                          <a:noFill/>
                                        </a:ln>
                                        <a:solidFill>
                                          <a:schemeClr val="tx1"/>
                                        </a:solidFill>
                                        <a:effectLst/>
                                        <a:latin typeface="Cambria Math" panose="02040503050406030204" pitchFamily="18" charset="0"/>
                                        <a:ea typeface="楷体" panose="02010609060101010101" pitchFamily="49" charset="-122"/>
                                      </a:rPr>
                                      <m:t>3</m:t>
                                    </m:r>
                                  </m:sub>
                                  <m:sup>
                                    <m:r>
                                      <a:rPr kumimoji="0" lang="en-US" altLang="zh-CN" sz="1800" b="0" i="1" u="none" strike="noStrike" cap="none" normalizeH="0" baseline="0" dirty="0" smtClean="0">
                                        <a:ln>
                                          <a:noFill/>
                                        </a:ln>
                                        <a:solidFill>
                                          <a:schemeClr val="tx1"/>
                                        </a:solidFill>
                                        <a:effectLst/>
                                        <a:latin typeface="Cambria Math" panose="02040503050406030204" pitchFamily="18" charset="0"/>
                                        <a:ea typeface="楷体" panose="02010609060101010101" pitchFamily="49" charset="-122"/>
                                      </a:rPr>
                                      <m:t>∗</m:t>
                                    </m:r>
                                  </m:sup>
                                </m:sSubSup>
                                <m:r>
                                  <a:rPr kumimoji="0" lang="en-US" altLang="zh-CN" sz="1800" b="0" i="1" u="none" strike="noStrike" cap="none" normalizeH="0" baseline="0" dirty="0">
                                    <a:ln>
                                      <a:noFill/>
                                    </a:ln>
                                    <a:solidFill>
                                      <a:schemeClr val="tx1"/>
                                    </a:solidFill>
                                    <a:effectLst/>
                                    <a:latin typeface="Cambria Math" panose="02040503050406030204" pitchFamily="18" charset="0"/>
                                    <a:ea typeface="楷体" panose="02010609060101010101" pitchFamily="49" charset="-122"/>
                                  </a:rPr>
                                  <m:t>(</m:t>
                                </m:r>
                                <m:r>
                                  <a:rPr kumimoji="0" lang="en-US" altLang="zh-CN" sz="1800" b="0" i="1" u="none" strike="noStrike" cap="none" normalizeH="0" baseline="0" dirty="0">
                                    <a:ln>
                                      <a:noFill/>
                                    </a:ln>
                                    <a:solidFill>
                                      <a:schemeClr val="tx1"/>
                                    </a:solidFill>
                                    <a:effectLst/>
                                    <a:latin typeface="Cambria Math" panose="02040503050406030204" pitchFamily="18" charset="0"/>
                                    <a:ea typeface="楷体" panose="02010609060101010101" pitchFamily="49" charset="-122"/>
                                  </a:rPr>
                                  <m:t>𝑠</m:t>
                                </m:r>
                                <m:r>
                                  <a:rPr kumimoji="0" lang="en-US" altLang="zh-CN" sz="1800" b="0" i="1" u="none" strike="noStrike" cap="none" normalizeH="0" baseline="-25000" dirty="0">
                                    <a:ln>
                                      <a:noFill/>
                                    </a:ln>
                                    <a:solidFill>
                                      <a:schemeClr val="tx1"/>
                                    </a:solidFill>
                                    <a:effectLst/>
                                    <a:latin typeface="Cambria Math" panose="02040503050406030204" pitchFamily="18" charset="0"/>
                                    <a:ea typeface="楷体" panose="02010609060101010101" pitchFamily="49" charset="-122"/>
                                  </a:rPr>
                                  <m:t>3</m:t>
                                </m:r>
                                <m:r>
                                  <a:rPr kumimoji="0" lang="en-US" altLang="zh-CN" sz="1800" b="0" i="1" u="none" strike="noStrike" cap="none" normalizeH="0" baseline="0" dirty="0">
                                    <a:ln>
                                      <a:noFill/>
                                    </a:ln>
                                    <a:solidFill>
                                      <a:schemeClr val="tx1"/>
                                    </a:solidFill>
                                    <a:effectLst/>
                                    <a:latin typeface="Cambria Math" panose="02040503050406030204" pitchFamily="18" charset="0"/>
                                    <a:ea typeface="楷体" panose="02010609060101010101" pitchFamily="49" charset="-122"/>
                                  </a:rPr>
                                  <m:t>)</m:t>
                                </m:r>
                              </m:oMath>
                            </m:oMathPara>
                          </a14:m>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cap="none" normalizeH="0" baseline="0" smtClean="0">
                                        <a:ln>
                                          <a:noFill/>
                                        </a:ln>
                                        <a:solidFill>
                                          <a:schemeClr val="tx1"/>
                                        </a:solidFill>
                                        <a:effectLst/>
                                        <a:latin typeface="Cambria Math" panose="02040503050406030204" pitchFamily="18" charset="0"/>
                                        <a:ea typeface="楷体" panose="02010609060101010101" pitchFamily="49" charset="-122"/>
                                      </a:rPr>
                                    </m:ctrlPr>
                                  </m:sSubSupPr>
                                  <m:e>
                                    <m:r>
                                      <a:rPr kumimoji="0" lang="en-US" altLang="zh-CN" sz="1800" b="0" i="1" u="none" strike="noStrike" cap="none" normalizeH="0" baseline="0" smtClean="0">
                                        <a:ln>
                                          <a:noFill/>
                                        </a:ln>
                                        <a:solidFill>
                                          <a:schemeClr val="tx1"/>
                                        </a:solidFill>
                                        <a:effectLst/>
                                        <a:latin typeface="Cambria Math" panose="02040503050406030204" pitchFamily="18" charset="0"/>
                                        <a:ea typeface="楷体" panose="02010609060101010101" pitchFamily="49" charset="-122"/>
                                      </a:rPr>
                                      <m:t>𝑥</m:t>
                                    </m:r>
                                  </m:e>
                                  <m:sub>
                                    <m:r>
                                      <a:rPr kumimoji="0" lang="en-US" altLang="zh-CN" sz="1800" b="0" i="1" u="none" strike="noStrike" cap="none" normalizeH="0" baseline="0" smtClean="0">
                                        <a:ln>
                                          <a:noFill/>
                                        </a:ln>
                                        <a:solidFill>
                                          <a:schemeClr val="tx1"/>
                                        </a:solidFill>
                                        <a:effectLst/>
                                        <a:latin typeface="Cambria Math" panose="02040503050406030204" pitchFamily="18" charset="0"/>
                                        <a:ea typeface="楷体" panose="02010609060101010101" pitchFamily="49" charset="-122"/>
                                      </a:rPr>
                                      <m:t>3</m:t>
                                    </m:r>
                                  </m:sub>
                                  <m:sup>
                                    <m:r>
                                      <a:rPr kumimoji="0" lang="en-US" altLang="zh-CN" sz="1800" b="0" i="1" u="none" strike="noStrike" cap="none" normalizeH="0" baseline="0" smtClean="0">
                                        <a:ln>
                                          <a:noFill/>
                                        </a:ln>
                                        <a:solidFill>
                                          <a:schemeClr val="tx1"/>
                                        </a:solidFill>
                                        <a:effectLst/>
                                        <a:latin typeface="Cambria Math" panose="02040503050406030204" pitchFamily="18" charset="0"/>
                                        <a:ea typeface="楷体" panose="02010609060101010101" pitchFamily="49" charset="-122"/>
                                      </a:rPr>
                                      <m:t>∗</m:t>
                                    </m:r>
                                  </m:sup>
                                </m:sSubSup>
                              </m:oMath>
                            </m:oMathPara>
                          </a14:m>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0.80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0.50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0.30</a:t>
                          </a:r>
                          <a:endPar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 name="表格 1"/>
              <p:cNvGraphicFramePr>
                <a:graphicFrameLocks noGrp="1"/>
              </p:cNvGraphicFramePr>
              <p:nvPr/>
            </p:nvGraphicFramePr>
            <p:xfrm>
              <a:off x="2238375" y="1725298"/>
              <a:ext cx="7715250" cy="1503680"/>
            </p:xfrm>
            <a:graphic>
              <a:graphicData uri="http://schemas.openxmlformats.org/drawingml/2006/table">
                <a:tbl>
                  <a:tblPr firstRow="1" bandRow="1">
                    <a:tableStyleId>{5C22544A-7EE6-4342-B048-85BDC9FD1C3A}</a:tableStyleId>
                  </a:tblPr>
                  <a:tblGrid>
                    <a:gridCol w="2571750"/>
                    <a:gridCol w="2571750"/>
                    <a:gridCol w="2571750"/>
                  </a:tblGrid>
                  <a:tr h="375920">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59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0.80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0.50</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59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0.30</a:t>
                          </a:r>
                          <a:endParaRPr kumimoji="0" lang="en-US" altLang="zh-CN" sz="18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endParaRPr kumimoji="0" lang="en-US" altLang="zh-CN" sz="18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3" name="表格 22"/>
              <p:cNvGraphicFramePr>
                <a:graphicFrameLocks noGrp="1"/>
              </p:cNvGraphicFramePr>
              <p:nvPr/>
            </p:nvGraphicFramePr>
            <p:xfrm>
              <a:off x="2238375" y="4149080"/>
              <a:ext cx="7715250" cy="1854200"/>
            </p:xfrm>
            <a:graphic>
              <a:graphicData uri="http://schemas.openxmlformats.org/drawingml/2006/table">
                <a:tbl>
                  <a:tblPr firstRow="1" bandRow="1">
                    <a:tableStyleId>{5C22544A-7EE6-4342-B048-85BDC9FD1C3A}</a:tableStyleId>
                  </a:tblPr>
                  <a:tblGrid>
                    <a:gridCol w="1285875"/>
                    <a:gridCol w="1285875"/>
                    <a:gridCol w="1285875"/>
                    <a:gridCol w="1285875"/>
                    <a:gridCol w="1285875"/>
                    <a:gridCol w="1285875"/>
                  </a:tblGrid>
                  <a:tr h="370840">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oMath>
                            </m:oMathPara>
                          </a14:m>
                          <a:endParaRPr lang="en-US" altLang="zh-CN" b="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𝟐</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e>
                                </m:d>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𝟑</m:t>
                                    </m:r>
                                  </m:sub>
                                  <m:sup>
                                    <m:r>
                                      <a:rPr lang="en-US" altLang="zh-CN" b="1" i="1" smtClean="0">
                                        <a:latin typeface="Cambria Math" panose="02040503050406030204" pitchFamily="18" charset="0"/>
                                      </a:rPr>
                                      <m:t>∗</m:t>
                                    </m:r>
                                  </m:sup>
                                </m:sSubSup>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0.48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0.48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0.32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0.20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0.16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0.16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23" name="表格 22"/>
              <p:cNvGraphicFramePr>
                <a:graphicFrameLocks noGrp="1"/>
              </p:cNvGraphicFramePr>
              <p:nvPr/>
            </p:nvGraphicFramePr>
            <p:xfrm>
              <a:off x="2238375" y="4149080"/>
              <a:ext cx="7715250" cy="1854200"/>
            </p:xfrm>
            <a:graphic>
              <a:graphicData uri="http://schemas.openxmlformats.org/drawingml/2006/table">
                <a:tbl>
                  <a:tblPr firstRow="1" bandRow="1">
                    <a:tableStyleId>{5C22544A-7EE6-4342-B048-85BDC9FD1C3A}</a:tableStyleId>
                  </a:tblPr>
                  <a:tblGrid>
                    <a:gridCol w="1285875"/>
                    <a:gridCol w="1285875"/>
                    <a:gridCol w="1285875"/>
                    <a:gridCol w="1285875"/>
                    <a:gridCol w="1285875"/>
                    <a:gridCol w="1285875"/>
                  </a:tblGrid>
                  <a:tr h="370840">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blipFill>
                          <a:blip r:embed="rId3"/>
                        </a:blipFill>
                      </a:tcPr>
                    </a:tc>
                    <a:tc gridSpan="3">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blipFill>
                      </a:tcPr>
                    </a:tc>
                    <a:tc hMerge="1">
                      <a:tcPr/>
                    </a:tc>
                    <a:tc hMerge="1">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blipFill>
                      </a:tcPr>
                    </a:tc>
                  </a:tr>
                  <a:tr h="370840">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840">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0.48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0.48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0.32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0.30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0.18</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0.20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pitchFamily="18" charset="0"/>
                              <a:cs typeface="Times New Roman" panose="02020603050405020304" pitchFamily="18" charset="0"/>
                            </a:rPr>
                            <a:t>0.16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0.16</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6258" name="Rectangle 3"/>
              <p:cNvSpPr>
                <a:spLocks noGrp="1" noChangeArrowheads="1"/>
              </p:cNvSpPr>
              <p:nvPr>
                <p:ph idx="1"/>
              </p:nvPr>
            </p:nvSpPr>
            <p:spPr>
              <a:xfrm>
                <a:off x="1981200" y="1600201"/>
                <a:ext cx="8229600" cy="3124944"/>
              </a:xfrm>
            </p:spPr>
            <p:txBody>
              <a:bodyPr/>
              <a:lstStyle/>
              <a:p>
                <a:pPr marL="0" indent="0" algn="just" eaLnBrk="1" hangingPunct="1">
                  <a:spcBef>
                    <a:spcPts val="0"/>
                  </a:spcBef>
                  <a:buFont typeface="Arial" panose="020B0604020202020204" pitchFamily="34" charset="0"/>
                  <a:buNone/>
                </a:pPr>
                <a:r>
                  <a:rPr lang="zh-CN" altLang="en-US" sz="2400" dirty="0">
                    <a:latin typeface="Times New Roman" panose="02020603050405020304" pitchFamily="18" charset="0"/>
                    <a:cs typeface="Times New Roman" panose="02020603050405020304" pitchFamily="18" charset="0"/>
                  </a:rPr>
                  <a:t>当</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1</m:t>
                    </m:r>
                  </m:oMath>
                </a14:m>
                <a:r>
                  <a:rPr lang="zh-CN" altLang="en-US" sz="2400" dirty="0">
                    <a:latin typeface="Times New Roman" panose="02020603050405020304" pitchFamily="18" charset="0"/>
                    <a:cs typeface="Times New Roman" panose="02020603050405020304" pitchFamily="18" charset="0"/>
                  </a:rPr>
                  <a:t>时，</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spcBef>
                    <a:spcPts val="0"/>
                  </a:spcBef>
                  <a:buFont typeface="Arial" panose="020B0604020202020204" pitchFamily="34" charset="0"/>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spcBef>
                    <a:spcPts val="0"/>
                  </a:spcBef>
                </a:pPr>
                <a:endParaRPr lang="zh-CN" altLang="en-US" sz="2000" dirty="0">
                  <a:latin typeface="Times New Roman" panose="02020603050405020304" pitchFamily="18" charset="0"/>
                  <a:cs typeface="Times New Roman" panose="02020603050405020304" pitchFamily="18" charset="0"/>
                </a:endParaRPr>
              </a:p>
              <a:p>
                <a:pPr marL="0" indent="0" algn="just" eaLnBrk="1" hangingPunct="1">
                  <a:spcBef>
                    <a:spcPts val="0"/>
                  </a:spcBef>
                </a:pPr>
                <a:endParaRPr lang="zh-CN" altLang="en-US" sz="2000" dirty="0">
                  <a:latin typeface="Times New Roman" panose="02020603050405020304" pitchFamily="18" charset="0"/>
                  <a:cs typeface="Times New Roman" panose="02020603050405020304" pitchFamily="18" charset="0"/>
                </a:endParaRPr>
              </a:p>
              <a:p>
                <a:pPr marL="0" indent="0" algn="just" eaLnBrk="1" hangingPunct="1">
                  <a:spcBef>
                    <a:spcPts val="0"/>
                  </a:spcBef>
                </a:pPr>
                <a:endParaRPr lang="zh-CN" altLang="en-US" sz="2000" dirty="0">
                  <a:latin typeface="Times New Roman" panose="02020603050405020304" pitchFamily="18" charset="0"/>
                  <a:cs typeface="Times New Roman" panose="02020603050405020304" pitchFamily="18" charset="0"/>
                </a:endParaRPr>
              </a:p>
              <a:p>
                <a:pPr marL="0" indent="0" algn="just" eaLnBrk="1" hangingPunct="1">
                  <a:spcBef>
                    <a:spcPts val="0"/>
                  </a:spcBef>
                </a:pPr>
                <a:endParaRPr lang="zh-CN" altLang="en-US" sz="20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最优解为 </a:t>
                </a:r>
                <a14:m>
                  <m:oMath xmlns:m="http://schemas.openxmlformats.org/officeDocument/2006/math">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1</m:t>
                        </m:r>
                      </m:sub>
                      <m:sup>
                        <m:r>
                          <a:rPr lang="en-US" altLang="zh-CN" sz="2400" b="0" i="1" dirty="0" smtClean="0">
                            <a:latin typeface="Cambria Math" panose="02040503050406030204" pitchFamily="18" charset="0"/>
                          </a:rPr>
                          <m:t>∗</m:t>
                        </m:r>
                      </m:sup>
                    </m:sSubSup>
                    <m:r>
                      <a:rPr lang="en-US" altLang="zh-CN" sz="2400" i="1" dirty="0">
                        <a:latin typeface="Cambria Math" panose="02040503050406030204" pitchFamily="18" charset="0"/>
                      </a:rPr>
                      <m:t>=</m:t>
                    </m:r>
                    <m:r>
                      <a:rPr lang="en-US" altLang="zh-CN" sz="2400" i="1" dirty="0">
                        <a:latin typeface="Cambria Math" panose="02040503050406030204" pitchFamily="18" charset="0"/>
                      </a:rPr>
                      <m:t>1</m:t>
                    </m:r>
                    <m:r>
                      <a:rPr lang="en-US" altLang="zh-CN" sz="2400" b="0" i="1" dirty="0" smtClean="0">
                        <a:latin typeface="Cambria Math" panose="02040503050406030204" pitchFamily="18" charset="0"/>
                      </a:rPr>
                      <m:t>,</m:t>
                    </m:r>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2</m:t>
                        </m:r>
                      </m:sub>
                      <m:sup>
                        <m:r>
                          <a:rPr lang="en-US" altLang="zh-CN" sz="2400" b="0" i="1" dirty="0" smtClean="0">
                            <a:latin typeface="Cambria Math" panose="02040503050406030204" pitchFamily="18" charset="0"/>
                          </a:rPr>
                          <m:t>∗</m:t>
                        </m:r>
                      </m:sup>
                    </m:sSubSup>
                    <m:r>
                      <a:rPr lang="en-US" altLang="zh-CN" sz="2400" i="1" dirty="0">
                        <a:latin typeface="Cambria Math" panose="02040503050406030204" pitchFamily="18" charset="0"/>
                      </a:rPr>
                      <m:t>=</m:t>
                    </m:r>
                    <m:r>
                      <a:rPr lang="en-US" altLang="zh-CN" sz="2400" i="1" dirty="0">
                        <a:latin typeface="Cambria Math" panose="02040503050406030204" pitchFamily="18" charset="0"/>
                      </a:rPr>
                      <m:t>0</m:t>
                    </m:r>
                    <m:r>
                      <a:rPr lang="en-US" altLang="zh-CN" sz="2400" b="0" i="1" dirty="0" smtClean="0">
                        <a:latin typeface="Cambria Math" panose="02040503050406030204" pitchFamily="18" charset="0"/>
                      </a:rPr>
                      <m:t>,</m:t>
                    </m:r>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3</m:t>
                        </m:r>
                      </m:sub>
                      <m:sup>
                        <m:r>
                          <a:rPr lang="en-US" altLang="zh-CN" sz="2400" b="0" i="1" dirty="0" smtClean="0">
                            <a:latin typeface="Cambria Math" panose="02040503050406030204" pitchFamily="18" charset="0"/>
                          </a:rPr>
                          <m:t>∗</m:t>
                        </m:r>
                      </m:sup>
                    </m:sSubSup>
                    <m:r>
                      <a:rPr lang="en-US" altLang="zh-CN" sz="2400" i="1" dirty="0">
                        <a:latin typeface="Cambria Math" panose="02040503050406030204" pitchFamily="18" charset="0"/>
                      </a:rPr>
                      <m:t>=</m:t>
                    </m:r>
                    <m:r>
                      <a:rPr lang="en-US" altLang="zh-CN" sz="2400" i="1" dirty="0">
                        <a:latin typeface="Cambria Math" panose="02040503050406030204" pitchFamily="18" charset="0"/>
                      </a:rPr>
                      <m:t>1</m:t>
                    </m:r>
                  </m:oMath>
                </a14:m>
                <a:r>
                  <a:rPr lang="zh-CN" altLang="en-US" sz="2400" dirty="0">
                    <a:latin typeface="Times New Roman" panose="02020603050405020304" pitchFamily="18" charset="0"/>
                    <a:cs typeface="Times New Roman" panose="02020603050405020304" pitchFamily="18" charset="0"/>
                  </a:rPr>
                  <a:t>；科研项目最终失败的概率为</a:t>
                </a:r>
                <a:r>
                  <a:rPr lang="en-US" altLang="zh-CN" sz="2400" dirty="0">
                    <a:latin typeface="Times New Roman" panose="02020603050405020304" pitchFamily="18" charset="0"/>
                    <a:cs typeface="Times New Roman" panose="02020603050405020304" pitchFamily="18" charset="0"/>
                  </a:rPr>
                  <a:t>0.060</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marL="0" indent="0" algn="just" eaLnBrk="1" hangingPunct="1">
                  <a:spcBef>
                    <a:spcPts val="0"/>
                  </a:spcBef>
                </a:pPr>
                <a:endParaRPr lang="en-US" altLang="zh-CN" sz="2000" dirty="0">
                  <a:latin typeface="Times New Roman" panose="02020603050405020304" pitchFamily="18" charset="0"/>
                  <a:cs typeface="Times New Roman" panose="02020603050405020304" pitchFamily="18" charset="0"/>
                </a:endParaRPr>
              </a:p>
            </p:txBody>
          </p:sp>
        </mc:Choice>
        <mc:Fallback>
          <p:sp>
            <p:nvSpPr>
              <p:cNvPr id="96258" name="Rectangle 3"/>
              <p:cNvSpPr>
                <a:spLocks noRot="1" noChangeAspect="1" noMove="1" noResize="1" noEditPoints="1" noAdjustHandles="1" noChangeArrowheads="1" noChangeShapeType="1" noTextEdit="1"/>
              </p:cNvSpPr>
              <p:nvPr>
                <p:ph idx="1"/>
              </p:nvPr>
            </p:nvSpPr>
            <p:spPr>
              <a:xfrm>
                <a:off x="1981200" y="1600201"/>
                <a:ext cx="8229600" cy="3124944"/>
              </a:xfrm>
              <a:blipFill rotWithShape="1">
                <a:blip r:embed="rId1"/>
                <a:stretch>
                  <a:fillRect b="-16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p:cNvGraphicFramePr>
                <a:graphicFrameLocks noGrp="1"/>
              </p:cNvGraphicFramePr>
              <p:nvPr/>
            </p:nvGraphicFramePr>
            <p:xfrm>
              <a:off x="2238375" y="2291195"/>
              <a:ext cx="7715250" cy="1111422"/>
            </p:xfrm>
            <a:graphic>
              <a:graphicData uri="http://schemas.openxmlformats.org/drawingml/2006/table">
                <a:tbl>
                  <a:tblPr firstRow="1" bandRow="1">
                    <a:tableStyleId>{5C22544A-7EE6-4342-B048-85BDC9FD1C3A}</a:tableStyleId>
                  </a:tblPr>
                  <a:tblGrid>
                    <a:gridCol w="1285875"/>
                    <a:gridCol w="1285875"/>
                    <a:gridCol w="1285875"/>
                    <a:gridCol w="1285875"/>
                    <a:gridCol w="1285875"/>
                    <a:gridCol w="1285875"/>
                  </a:tblGrid>
                  <a:tr h="370474">
                    <a:tc rowSpan="2">
                      <a:txBody>
                        <a:bodyPr/>
                        <a:lstStyle/>
                        <a:p>
                          <a:pPr algn="ctr"/>
                          <a14:m>
                            <m:oMathPara xmlns:m="http://schemas.openxmlformats.org/officeDocument/2006/math">
                              <m:oMathParaPr>
                                <m:jc m:val="righ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oMath>
                            </m:oMathPara>
                          </a14:m>
                          <a:endParaRPr lang="en-US" altLang="zh-CN" b="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𝟏</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e>
                                </m:d>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𝟏</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e>
                                </m:d>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𝟐</m:t>
                                    </m:r>
                                  </m:sub>
                                  <m:sup>
                                    <m:r>
                                      <a:rPr lang="en-US" altLang="zh-CN" b="1" i="1" smtClean="0">
                                        <a:latin typeface="Cambria Math" panose="02040503050406030204" pitchFamily="18" charset="0"/>
                                      </a:rPr>
                                      <m:t>∗</m:t>
                                    </m:r>
                                  </m:sup>
                                </m:sSubSup>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rowSpan="2">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𝒔</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m:t>
                                    </m:r>
                                  </m:sup>
                                </m:sSubSup>
                              </m:oMath>
                            </m:oMathPara>
                          </a14:m>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474">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474">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0.064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0.060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0.072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0.060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Choice>
        <mc:Fallback xmlns="">
          <p:graphicFrame>
            <p:nvGraphicFramePr>
              <p:cNvPr id="13" name="表格 12"/>
              <p:cNvGraphicFramePr>
                <a:graphicFrameLocks noGrp="1"/>
              </p:cNvGraphicFramePr>
              <p:nvPr/>
            </p:nvGraphicFramePr>
            <p:xfrm>
              <a:off x="2238375" y="2291195"/>
              <a:ext cx="7715250" cy="1111422"/>
            </p:xfrm>
            <a:graphic>
              <a:graphicData uri="http://schemas.openxmlformats.org/drawingml/2006/table">
                <a:tbl>
                  <a:tblPr firstRow="1" bandRow="1">
                    <a:tableStyleId>{5C22544A-7EE6-4342-B048-85BDC9FD1C3A}</a:tableStyleId>
                  </a:tblPr>
                  <a:tblGrid>
                    <a:gridCol w="1285875"/>
                    <a:gridCol w="1285875"/>
                    <a:gridCol w="1285875"/>
                    <a:gridCol w="1285875"/>
                    <a:gridCol w="1285875"/>
                    <a:gridCol w="1285875"/>
                  </a:tblGrid>
                  <a:tr h="370205">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mpd="sng">
                          <a:noFill/>
                          <a:prstDash val="solid"/>
                        </a:lnBlToTr>
                        <a:blipFill>
                          <a:blip r:embed="rId2"/>
                        </a:blipFill>
                      </a:tcPr>
                    </a:tc>
                    <a:tc gridSpan="3">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hMerge="1">
                      <a:tcPr/>
                    </a:tc>
                    <a:tc hMerge="1">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c rowSpan="2">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blipFill>
                      </a:tcPr>
                    </a:tc>
                  </a:tr>
                  <a:tr h="370474">
                    <a:tc vMerge="1">
                      <a:tcPr/>
                    </a:tc>
                    <a:tc>
                      <a:txBody>
                        <a:bodyPr/>
                        <a:lstStyle/>
                        <a:p>
                          <a:pPr algn="ct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cPr/>
                    </a:tc>
                    <a:tc vMerge="1">
                      <a:tcPr/>
                    </a:tc>
                  </a:tr>
                  <a:tr h="370474">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0.064</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0.060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0.072</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0.060</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91439" marR="91439" marT="45733" marB="457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a:t>
            </a:r>
            <a:r>
              <a:rPr lang="zh-CN" altLang="en-US" dirty="0">
                <a:sym typeface="+mn-ea"/>
              </a:rPr>
              <a:t>规划的应用(1)</a:t>
            </a:r>
            <a:endParaRPr lang="zh-CN" altLang="en-US" dirty="0">
              <a:sym typeface="+mn-ea"/>
            </a:endParaRP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a:xfrm>
            <a:off x="1637396" y="2096911"/>
            <a:ext cx="8917209" cy="2664177"/>
          </a:xfrm>
        </p:spPr>
        <p:txBody>
          <a:bodyPr/>
          <a:lstStyle/>
          <a:p>
            <a:pPr marL="0" indent="0" algn="just" eaLnBrk="1" hangingPunct="1">
              <a:lnSpc>
                <a:spcPct val="150000"/>
              </a:lnSpc>
              <a:spcBef>
                <a:spcPts val="0"/>
              </a:spcBef>
              <a:buFontTx/>
              <a:buNone/>
            </a:pPr>
            <a:r>
              <a:rPr lang="zh-CN" altLang="en-US" b="1" dirty="0"/>
              <a:t>一、</a:t>
            </a:r>
            <a:r>
              <a:rPr lang="zh-CN" altLang="en-US" b="1" dirty="0">
                <a:latin typeface="楷体" panose="02010609060101010101" pitchFamily="49" charset="-122"/>
              </a:rPr>
              <a:t>连续确定性动态规划</a:t>
            </a:r>
            <a:endParaRPr lang="zh-CN" altLang="en-US" b="1" dirty="0">
              <a:latin typeface="楷体" panose="02010609060101010101" pitchFamily="49" charset="-122"/>
            </a:endParaRPr>
          </a:p>
          <a:p>
            <a:pPr marL="0" indent="0" algn="just" eaLnBrk="1" hangingPunct="1">
              <a:lnSpc>
                <a:spcPct val="150000"/>
              </a:lnSpc>
              <a:spcBef>
                <a:spcPts val="0"/>
              </a:spcBef>
              <a:buFontTx/>
              <a:buNone/>
            </a:pPr>
            <a:r>
              <a:rPr lang="zh-CN" altLang="en-US" sz="2800" dirty="0"/>
              <a:t>对于</a:t>
            </a:r>
            <a:r>
              <a:rPr lang="zh-CN" altLang="en-US" sz="2800" dirty="0">
                <a:solidFill>
                  <a:srgbClr val="FF0000"/>
                </a:solidFill>
              </a:rPr>
              <a:t>状态变量</a:t>
            </a:r>
            <a:r>
              <a:rPr lang="zh-CN" altLang="en-US" sz="2800" dirty="0"/>
              <a:t>和</a:t>
            </a:r>
            <a:r>
              <a:rPr lang="zh-CN" altLang="en-US" sz="2800" dirty="0">
                <a:solidFill>
                  <a:srgbClr val="FF0000"/>
                </a:solidFill>
              </a:rPr>
              <a:t>决策变量</a:t>
            </a:r>
            <a:r>
              <a:rPr lang="zh-CN" altLang="en-US" sz="2800" dirty="0"/>
              <a:t>只取</a:t>
            </a:r>
            <a:r>
              <a:rPr lang="zh-CN" altLang="en-US" sz="2800" dirty="0">
                <a:solidFill>
                  <a:srgbClr val="FF0000"/>
                </a:solidFill>
              </a:rPr>
              <a:t>连续值</a:t>
            </a:r>
            <a:r>
              <a:rPr lang="zh-CN" altLang="en-US" sz="2800" dirty="0"/>
              <a:t>，</a:t>
            </a:r>
            <a:r>
              <a:rPr lang="zh-CN" altLang="en-US" sz="2800" dirty="0">
                <a:solidFill>
                  <a:srgbClr val="FF0000"/>
                </a:solidFill>
              </a:rPr>
              <a:t>过程的演变方式</a:t>
            </a:r>
            <a:r>
              <a:rPr lang="zh-CN" altLang="en-US" sz="2800" dirty="0"/>
              <a:t>为</a:t>
            </a:r>
            <a:r>
              <a:rPr lang="zh-CN" altLang="en-US" sz="2800" dirty="0">
                <a:solidFill>
                  <a:srgbClr val="FF0000"/>
                </a:solidFill>
              </a:rPr>
              <a:t>确定性</a:t>
            </a:r>
            <a:r>
              <a:rPr lang="zh-CN" altLang="en-US" sz="2800" dirty="0"/>
              <a:t>时，这种动态规划问题就称为连续确定性动态规划问题。</a:t>
            </a:r>
            <a:endParaRPr lang="zh-CN" altLang="en-US" sz="2800" dirty="0"/>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9330" name="Rectangle 3"/>
              <p:cNvSpPr>
                <a:spLocks noGrp="1" noChangeArrowheads="1"/>
              </p:cNvSpPr>
              <p:nvPr>
                <p:ph idx="1"/>
              </p:nvPr>
            </p:nvSpPr>
            <p:spPr>
              <a:xfrm>
                <a:off x="1524000" y="1166019"/>
                <a:ext cx="9144000" cy="4525962"/>
              </a:xfrm>
            </p:spPr>
            <p:txBody>
              <a:bodyPr>
                <a:normAutofit lnSpcReduction="10000"/>
              </a:bodyPr>
              <a:lstStyle/>
              <a:p>
                <a:pPr marL="0" indent="0" algn="just" eaLnBrk="1" hangingPunct="1">
                  <a:lnSpc>
                    <a:spcPct val="150000"/>
                  </a:lnSpc>
                  <a:spcBef>
                    <a:spcPts val="0"/>
                  </a:spcBef>
                  <a:buFontTx/>
                  <a:buNone/>
                </a:pPr>
                <a:r>
                  <a:rPr lang="zh-CN" altLang="en-US" sz="2400" b="1" dirty="0">
                    <a:solidFill>
                      <a:srgbClr val="FF0000"/>
                    </a:solidFill>
                    <a:latin typeface="Times New Roman" panose="02020603050405020304" pitchFamily="18" charset="0"/>
                    <a:cs typeface="Times New Roman" panose="02020603050405020304" pitchFamily="18" charset="0"/>
                  </a:rPr>
                  <a:t>机器负荷分配问题</a:t>
                </a:r>
                <a:endParaRPr lang="zh-CN" altLang="en-US" sz="2400" b="1" dirty="0">
                  <a:solidFill>
                    <a:srgbClr val="FF0000"/>
                  </a:solidFill>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b="1" dirty="0">
                    <a:latin typeface="Times New Roman" panose="02020603050405020304" pitchFamily="18" charset="0"/>
                    <a:cs typeface="Times New Roman" panose="02020603050405020304" pitchFamily="18" charset="0"/>
                  </a:rPr>
                  <a:t>例</a:t>
                </a:r>
                <a:r>
                  <a:rPr lang="en-US" altLang="zh-CN" sz="2400" b="1"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一种机器能在高低两种不同的负荷状态下工作。设机器在高负荷下生产时，产量函数为</a:t>
                </a:r>
                <a14:m>
                  <m:oMath xmlns:m="http://schemas.openxmlformats.org/officeDocument/2006/math">
                    <m:r>
                      <a:rPr lang="en-US" altLang="zh-CN" sz="2400" i="1" dirty="0" smtClean="0">
                        <a:latin typeface="Cambria Math" panose="02040503050406030204" pitchFamily="18" charset="0"/>
                      </a:rPr>
                      <m:t>𝑃</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8</m:t>
                    </m:r>
                    <m:r>
                      <a:rPr lang="en-US" altLang="zh-CN" sz="2400" i="1" dirty="0">
                        <a:latin typeface="Cambria Math" panose="02040503050406030204" pitchFamily="18" charset="0"/>
                      </a:rPr>
                      <m:t>𝑢</m:t>
                    </m:r>
                    <m:r>
                      <a:rPr lang="en-US" altLang="zh-CN" sz="2400" i="1" baseline="-25000" dirty="0">
                        <a:latin typeface="Cambria Math" panose="02040503050406030204" pitchFamily="18" charset="0"/>
                      </a:rPr>
                      <m:t>1</m:t>
                    </m:r>
                  </m:oMath>
                </a14:m>
                <a:r>
                  <a:rPr lang="zh-CN" altLang="en-US" sz="24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2400" i="1" dirty="0" smtClean="0">
                        <a:latin typeface="Cambria Math" panose="02040503050406030204" pitchFamily="18" charset="0"/>
                      </a:rPr>
                      <m:t>𝑢</m:t>
                    </m:r>
                    <m:r>
                      <a:rPr lang="en-US" altLang="zh-CN" sz="2400" i="1" baseline="-25000" dirty="0">
                        <a:latin typeface="Cambria Math" panose="02040503050406030204" pitchFamily="18" charset="0"/>
                      </a:rPr>
                      <m:t>1</m:t>
                    </m:r>
                  </m:oMath>
                </a14:m>
                <a:r>
                  <a:rPr lang="zh-CN" altLang="en-US" sz="2400" dirty="0">
                    <a:latin typeface="Times New Roman" panose="02020603050405020304" pitchFamily="18" charset="0"/>
                    <a:cs typeface="Times New Roman" panose="02020603050405020304" pitchFamily="18" charset="0"/>
                  </a:rPr>
                  <a:t>为在高负荷状态下生产的机器数目，年完好率为</a:t>
                </a:r>
                <a14:m>
                  <m:oMath xmlns:m="http://schemas.openxmlformats.org/officeDocument/2006/math">
                    <m:r>
                      <a:rPr lang="en-US" altLang="zh-CN" sz="2400" i="1" dirty="0" smtClean="0">
                        <a:latin typeface="Cambria Math" panose="02040503050406030204" pitchFamily="18" charset="0"/>
                      </a:rPr>
                      <m:t>𝑎</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0</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7</m:t>
                    </m:r>
                  </m:oMath>
                </a14:m>
                <a:r>
                  <a:rPr lang="zh-CN" altLang="en-US" sz="2400" dirty="0">
                    <a:latin typeface="Times New Roman" panose="02020603050405020304" pitchFamily="18" charset="0"/>
                    <a:cs typeface="Times New Roman" panose="02020603050405020304" pitchFamily="18" charset="0"/>
                  </a:rPr>
                  <a:t>，即到年底有</a:t>
                </a:r>
                <a:r>
                  <a:rPr lang="en-US" altLang="zh-CN" sz="2400" dirty="0">
                    <a:latin typeface="Times New Roman" panose="02020603050405020304" pitchFamily="18" charset="0"/>
                    <a:cs typeface="Times New Roman" panose="02020603050405020304" pitchFamily="18" charset="0"/>
                  </a:rPr>
                  <a:t>70</a:t>
                </a:r>
                <a:r>
                  <a:rPr lang="zh-CN" altLang="en-US" sz="2400" dirty="0">
                    <a:latin typeface="Times New Roman" panose="02020603050405020304" pitchFamily="18" charset="0"/>
                    <a:cs typeface="Times New Roman" panose="02020603050405020304" pitchFamily="18" charset="0"/>
                  </a:rPr>
                  <a:t>％的机器保持完好。在低负荷下生产时，产量函数为</a:t>
                </a:r>
                <a14:m>
                  <m:oMath xmlns:m="http://schemas.openxmlformats.org/officeDocument/2006/math">
                    <m:r>
                      <a:rPr lang="en-US" altLang="zh-CN" sz="2400" i="1" dirty="0" smtClean="0">
                        <a:latin typeface="Cambria Math" panose="02040503050406030204" pitchFamily="18" charset="0"/>
                      </a:rPr>
                      <m:t>𝑃</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m:t>
                    </m:r>
                    <m:r>
                      <a:rPr lang="en-US" altLang="zh-CN" sz="2400" i="1" dirty="0">
                        <a:latin typeface="Cambria Math" panose="02040503050406030204" pitchFamily="18" charset="0"/>
                      </a:rPr>
                      <m:t>5</m:t>
                    </m:r>
                    <m:r>
                      <a:rPr lang="en-US" altLang="zh-CN" sz="2400" i="1" dirty="0">
                        <a:latin typeface="Cambria Math" panose="02040503050406030204" pitchFamily="18" charset="0"/>
                      </a:rPr>
                      <m:t>𝑢</m:t>
                    </m:r>
                    <m:r>
                      <a:rPr lang="en-US" altLang="zh-CN" sz="2400" i="1" baseline="-25000" dirty="0">
                        <a:latin typeface="Cambria Math" panose="02040503050406030204" pitchFamily="18" charset="0"/>
                      </a:rPr>
                      <m:t>2</m:t>
                    </m:r>
                  </m:oMath>
                </a14:m>
                <a:r>
                  <a:rPr lang="zh-CN" altLang="en-US" sz="24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2400" i="1" dirty="0" smtClean="0">
                        <a:latin typeface="Cambria Math" panose="02040503050406030204" pitchFamily="18" charset="0"/>
                      </a:rPr>
                      <m:t>𝑢</m:t>
                    </m:r>
                    <m:r>
                      <a:rPr lang="en-US" altLang="zh-CN" sz="2400" i="1" baseline="-25000" dirty="0">
                        <a:latin typeface="Cambria Math" panose="02040503050406030204" pitchFamily="18" charset="0"/>
                      </a:rPr>
                      <m:t>2</m:t>
                    </m:r>
                  </m:oMath>
                </a14:m>
                <a:r>
                  <a:rPr lang="zh-CN" altLang="en-US" sz="2400" dirty="0">
                    <a:latin typeface="Times New Roman" panose="02020603050405020304" pitchFamily="18" charset="0"/>
                    <a:cs typeface="Times New Roman" panose="02020603050405020304" pitchFamily="18" charset="0"/>
                  </a:rPr>
                  <a:t>为在低负荷状态下生产的机器数目，年完好率为</a:t>
                </a:r>
                <a14:m>
                  <m:oMath xmlns:m="http://schemas.openxmlformats.org/officeDocument/2006/math">
                    <m:r>
                      <a:rPr lang="en-US" altLang="zh-CN" sz="2400" i="1" dirty="0" smtClean="0">
                        <a:latin typeface="Cambria Math" panose="02040503050406030204" pitchFamily="18" charset="0"/>
                      </a:rPr>
                      <m:t>𝑏</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0</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9</m:t>
                    </m:r>
                  </m:oMath>
                </a14:m>
                <a:r>
                  <a:rPr lang="zh-CN" altLang="en-US" sz="2400" dirty="0">
                    <a:latin typeface="Times New Roman" panose="02020603050405020304" pitchFamily="18" charset="0"/>
                    <a:cs typeface="Times New Roman" panose="02020603050405020304" pitchFamily="18" charset="0"/>
                  </a:rPr>
                  <a:t>。设开始生产时共有</a:t>
                </a:r>
                <a:r>
                  <a:rPr lang="en-US" altLang="zh-CN" sz="2400" dirty="0">
                    <a:latin typeface="Times New Roman" panose="02020603050405020304" pitchFamily="18" charset="0"/>
                    <a:cs typeface="Times New Roman" panose="02020603050405020304" pitchFamily="18" charset="0"/>
                  </a:rPr>
                  <a:t>1000</a:t>
                </a:r>
                <a:r>
                  <a:rPr lang="zh-CN" altLang="en-US" sz="2400" dirty="0">
                    <a:latin typeface="Times New Roman" panose="02020603050405020304" pitchFamily="18" charset="0"/>
                    <a:cs typeface="Times New Roman" panose="02020603050405020304" pitchFamily="18" charset="0"/>
                  </a:rPr>
                  <a:t>台完好的机器，请问每年应该如何把完好机器分配给高、低两种负荷下生产，才能使得</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年内生产的产品总产量最高。</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99330" name="Rectangle 3"/>
              <p:cNvSpPr>
                <a:spLocks noRot="1" noChangeAspect="1" noMove="1" noResize="1" noEditPoints="1" noAdjustHandles="1" noChangeArrowheads="1" noChangeShapeType="1" noTextEdit="1"/>
              </p:cNvSpPr>
              <p:nvPr>
                <p:ph idx="1"/>
              </p:nvPr>
            </p:nvSpPr>
            <p:spPr>
              <a:xfrm>
                <a:off x="1524000" y="1166019"/>
                <a:ext cx="9144000" cy="4525962"/>
              </a:xfrm>
              <a:blipFill rotWithShape="1">
                <a:blip r:embed="rId1"/>
                <a:stretch>
                  <a:fillRect t="-4" r="-1583" b="11"/>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6868" name="Rectangle 3"/>
              <p:cNvSpPr>
                <a:spLocks noGrp="1" noChangeArrowheads="1"/>
              </p:cNvSpPr>
              <p:nvPr>
                <p:ph type="body" sz="half" idx="1"/>
              </p:nvPr>
            </p:nvSpPr>
            <p:spPr>
              <a:xfrm>
                <a:off x="1775520" y="866775"/>
                <a:ext cx="8779085" cy="5562600"/>
              </a:xfrm>
            </p:spPr>
            <p:txBody>
              <a:bodyPr>
                <a:normAutofit lnSpcReduction="10000"/>
              </a:bodyPr>
              <a:lstStyle/>
              <a:p>
                <a:pPr marL="0" indent="0" algn="just" eaLnBrk="1" hangingPunct="1">
                  <a:lnSpc>
                    <a:spcPct val="150000"/>
                  </a:lnSpc>
                  <a:spcBef>
                    <a:spcPts val="0"/>
                  </a:spcBef>
                  <a:buFontTx/>
                  <a:buNone/>
                </a:pPr>
                <a:r>
                  <a:rPr lang="zh-CN" altLang="en-US" sz="2400" dirty="0">
                    <a:latin typeface="Arial" panose="020B0604020202020204" pitchFamily="34" charset="0"/>
                  </a:rPr>
                  <a:t>解   建立动态规划模型：</a:t>
                </a:r>
                <a:endParaRPr lang="zh-CN" altLang="en-US" sz="2400" dirty="0">
                  <a:latin typeface="Arial" panose="020B0604020202020204" pitchFamily="34" charset="0"/>
                </a:endParaRPr>
              </a:p>
              <a:p>
                <a:pPr marL="0" indent="0" algn="just" eaLnBrk="1" hangingPunct="1">
                  <a:lnSpc>
                    <a:spcPct val="150000"/>
                  </a:lnSpc>
                  <a:spcBef>
                    <a:spcPts val="0"/>
                  </a:spcBef>
                  <a:buFontTx/>
                  <a:buNone/>
                </a:pPr>
                <a:r>
                  <a:rPr lang="zh-CN" altLang="en-US" sz="2400" dirty="0">
                    <a:latin typeface="Arial" panose="020B0604020202020204" pitchFamily="34" charset="0"/>
                  </a:rPr>
                  <a:t>分为</a:t>
                </a:r>
                <a:r>
                  <a:rPr lang="en-US" altLang="zh-CN" sz="2400" dirty="0">
                    <a:solidFill>
                      <a:srgbClr val="FF0000"/>
                    </a:solidFill>
                    <a:latin typeface="Arial" panose="020B0604020202020204" pitchFamily="34" charset="0"/>
                  </a:rPr>
                  <a:t>5</a:t>
                </a:r>
                <a:r>
                  <a:rPr lang="zh-CN" altLang="en-US" sz="2400" dirty="0">
                    <a:solidFill>
                      <a:srgbClr val="FF0000"/>
                    </a:solidFill>
                    <a:latin typeface="Arial" panose="020B0604020202020204" pitchFamily="34" charset="0"/>
                  </a:rPr>
                  <a:t>个阶段，每个阶段为</a:t>
                </a:r>
                <a:r>
                  <a:rPr lang="en-US" altLang="zh-CN" sz="2400" dirty="0">
                    <a:solidFill>
                      <a:srgbClr val="FF0000"/>
                    </a:solidFill>
                    <a:latin typeface="Arial" panose="020B0604020202020204" pitchFamily="34" charset="0"/>
                  </a:rPr>
                  <a:t>1</a:t>
                </a:r>
                <a:r>
                  <a:rPr lang="zh-CN" altLang="en-US" sz="2400" dirty="0">
                    <a:solidFill>
                      <a:srgbClr val="FF0000"/>
                    </a:solidFill>
                    <a:latin typeface="Arial" panose="020B0604020202020204" pitchFamily="34" charset="0"/>
                  </a:rPr>
                  <a:t>年</a:t>
                </a:r>
                <a:r>
                  <a:rPr lang="zh-CN" altLang="en-US" sz="2400" dirty="0">
                    <a:latin typeface="Arial" panose="020B0604020202020204" pitchFamily="34" charset="0"/>
                  </a:rPr>
                  <a:t>。设</a:t>
                </a:r>
                <a:r>
                  <a:rPr lang="zh-CN" altLang="en-US" sz="2400" dirty="0">
                    <a:solidFill>
                      <a:srgbClr val="FF0000"/>
                    </a:solidFill>
                    <a:latin typeface="Arial" panose="020B0604020202020204" pitchFamily="34" charset="0"/>
                  </a:rPr>
                  <a:t>状态变量</a:t>
                </a:r>
                <a14:m>
                  <m:oMath xmlns:m="http://schemas.openxmlformats.org/officeDocument/2006/math">
                    <m:r>
                      <a:rPr lang="en-US" altLang="zh-CN" sz="2400" i="1" dirty="0" smtClean="0">
                        <a:latin typeface="Cambria Math" panose="02040503050406030204" pitchFamily="18" charset="0"/>
                      </a:rPr>
                      <m:t>𝑠</m:t>
                    </m:r>
                    <m:r>
                      <a:rPr lang="en-US" altLang="zh-CN" sz="2400" i="1" baseline="-25000" dirty="0" err="1">
                        <a:latin typeface="Cambria Math" panose="02040503050406030204" pitchFamily="18" charset="0"/>
                      </a:rPr>
                      <m:t>𝑘</m:t>
                    </m:r>
                  </m:oMath>
                </a14:m>
                <a:r>
                  <a:rPr lang="zh-CN" altLang="en-US" sz="2400" dirty="0">
                    <a:latin typeface="Arial" panose="020B0604020202020204" pitchFamily="34" charset="0"/>
                  </a:rPr>
                  <a:t>表示在第</a:t>
                </a:r>
                <a14:m>
                  <m:oMath xmlns:m="http://schemas.openxmlformats.org/officeDocument/2006/math">
                    <m:r>
                      <a:rPr lang="en-US" altLang="zh-CN" sz="2400" i="1" dirty="0" smtClean="0">
                        <a:latin typeface="Cambria Math" panose="02040503050406030204" pitchFamily="18" charset="0"/>
                      </a:rPr>
                      <m:t>𝑘</m:t>
                    </m:r>
                  </m:oMath>
                </a14:m>
                <a:r>
                  <a:rPr lang="zh-CN" altLang="en-US" sz="2400" dirty="0">
                    <a:latin typeface="Arial" panose="020B0604020202020204" pitchFamily="34" charset="0"/>
                  </a:rPr>
                  <a:t>阶段初拥有的完好机器数目；</a:t>
                </a:r>
                <a14:m>
                  <m:oMath xmlns:m="http://schemas.openxmlformats.org/officeDocument/2006/math">
                    <m:r>
                      <a:rPr lang="en-US" altLang="zh-CN" sz="2400" i="1" dirty="0" smtClean="0">
                        <a:latin typeface="Cambria Math" panose="02040503050406030204" pitchFamily="18" charset="0"/>
                      </a:rPr>
                      <m:t>𝑘</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1</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2</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3</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4</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5</m:t>
                    </m:r>
                  </m:oMath>
                </a14:m>
                <a:r>
                  <a:rPr lang="zh-CN" altLang="en-US" sz="2400" dirty="0">
                    <a:latin typeface="Arial" panose="020B0604020202020204" pitchFamily="34" charset="0"/>
                  </a:rPr>
                  <a:t>。</a:t>
                </a:r>
                <a:endParaRPr lang="zh-CN" altLang="en-US" sz="2400" dirty="0">
                  <a:latin typeface="Arial" panose="020B0604020202020204" pitchFamily="34" charset="0"/>
                </a:endParaRPr>
              </a:p>
              <a:p>
                <a:pPr marL="0" indent="0" algn="just" eaLnBrk="1" hangingPunct="1">
                  <a:lnSpc>
                    <a:spcPct val="150000"/>
                  </a:lnSpc>
                  <a:spcBef>
                    <a:spcPts val="0"/>
                  </a:spcBef>
                  <a:buFontTx/>
                  <a:buNone/>
                </a:pPr>
                <a:r>
                  <a:rPr lang="zh-CN" altLang="en-US" sz="2400" dirty="0">
                    <a:solidFill>
                      <a:srgbClr val="FF0000"/>
                    </a:solidFill>
                    <a:latin typeface="Arial" panose="020B0604020202020204" pitchFamily="34" charset="0"/>
                  </a:rPr>
                  <a:t>决策变量</a:t>
                </a:r>
                <a14:m>
                  <m:oMath xmlns:m="http://schemas.openxmlformats.org/officeDocument/2006/math">
                    <m:r>
                      <a:rPr lang="en-US" altLang="zh-CN" sz="2400" i="1" dirty="0" smtClean="0">
                        <a:latin typeface="Cambria Math" panose="02040503050406030204" pitchFamily="18" charset="0"/>
                      </a:rPr>
                      <m:t>𝑥</m:t>
                    </m:r>
                    <m:r>
                      <a:rPr lang="en-US" altLang="zh-CN" sz="2400" i="1" baseline="-25000" dirty="0" err="1">
                        <a:latin typeface="Cambria Math" panose="02040503050406030204" pitchFamily="18" charset="0"/>
                      </a:rPr>
                      <m:t>𝑘</m:t>
                    </m:r>
                  </m:oMath>
                </a14:m>
                <a:r>
                  <a:rPr lang="zh-CN" altLang="en-US" sz="2400" dirty="0">
                    <a:latin typeface="Arial" panose="020B0604020202020204" pitchFamily="34" charset="0"/>
                  </a:rPr>
                  <a:t>表示第</a:t>
                </a:r>
                <a14:m>
                  <m:oMath xmlns:m="http://schemas.openxmlformats.org/officeDocument/2006/math">
                    <m:r>
                      <a:rPr lang="en-US" altLang="zh-CN" sz="2400" i="1" dirty="0" smtClean="0">
                        <a:latin typeface="Cambria Math" panose="02040503050406030204" pitchFamily="18" charset="0"/>
                      </a:rPr>
                      <m:t>𝑘</m:t>
                    </m:r>
                  </m:oMath>
                </a14:m>
                <a:r>
                  <a:rPr lang="zh-CN" altLang="en-US" sz="2400" dirty="0">
                    <a:latin typeface="Arial" panose="020B0604020202020204" pitchFamily="34" charset="0"/>
                  </a:rPr>
                  <a:t>阶段中分配给高负荷状态下生产的机器数目；</a:t>
                </a:r>
                <a14:m>
                  <m:oMath xmlns:m="http://schemas.openxmlformats.org/officeDocument/2006/math">
                    <m:r>
                      <a:rPr lang="en-US" altLang="zh-CN" sz="2400" i="1" dirty="0" smtClean="0">
                        <a:latin typeface="Cambria Math" panose="02040503050406030204" pitchFamily="18" charset="0"/>
                      </a:rPr>
                      <m:t>𝑠</m:t>
                    </m:r>
                    <m:r>
                      <a:rPr lang="en-US" altLang="zh-CN" sz="2400" i="1" baseline="-25000" dirty="0" err="1">
                        <a:latin typeface="Cambria Math" panose="02040503050406030204" pitchFamily="18" charset="0"/>
                      </a:rPr>
                      <m:t>𝑘</m:t>
                    </m:r>
                    <m:r>
                      <a:rPr lang="en-US" altLang="zh-CN" sz="2400" i="1" dirty="0" err="1">
                        <a:latin typeface="Cambria Math" panose="02040503050406030204" pitchFamily="18" charset="0"/>
                      </a:rPr>
                      <m:t>−</m:t>
                    </m:r>
                    <m:r>
                      <a:rPr lang="en-US" altLang="zh-CN" sz="2400" i="1" dirty="0">
                        <a:latin typeface="Cambria Math" panose="02040503050406030204" pitchFamily="18" charset="0"/>
                      </a:rPr>
                      <m:t>𝑥</m:t>
                    </m:r>
                    <m:r>
                      <a:rPr lang="en-US" altLang="zh-CN" sz="2400" i="1" baseline="-25000" dirty="0" err="1">
                        <a:latin typeface="Cambria Math" panose="02040503050406030204" pitchFamily="18" charset="0"/>
                      </a:rPr>
                      <m:t>𝑘</m:t>
                    </m:r>
                  </m:oMath>
                </a14:m>
                <a:r>
                  <a:rPr lang="zh-CN" altLang="en-US" sz="2400" dirty="0">
                    <a:latin typeface="Arial" panose="020B0604020202020204" pitchFamily="34" charset="0"/>
                  </a:rPr>
                  <a:t>为分配给低负荷状态下生产的机器数目。</a:t>
                </a:r>
                <a:endParaRPr lang="zh-CN" altLang="en-US" sz="2400" dirty="0">
                  <a:latin typeface="Arial" panose="020B0604020202020204" pitchFamily="34" charset="0"/>
                </a:endParaRPr>
              </a:p>
              <a:p>
                <a:pPr marL="0" indent="0" algn="just" eaLnBrk="1" hangingPunct="1">
                  <a:lnSpc>
                    <a:spcPct val="150000"/>
                  </a:lnSpc>
                  <a:spcBef>
                    <a:spcPts val="0"/>
                  </a:spcBef>
                  <a:buFontTx/>
                  <a:buNone/>
                </a:pPr>
                <a:r>
                  <a:rPr lang="zh-CN" altLang="en-US" sz="2400" dirty="0">
                    <a:solidFill>
                      <a:srgbClr val="FF0000"/>
                    </a:solidFill>
                    <a:latin typeface="Arial" panose="020B0604020202020204" pitchFamily="34" charset="0"/>
                  </a:rPr>
                  <a:t>状态转移方程</a:t>
                </a:r>
                <a:r>
                  <a:rPr lang="zh-CN" altLang="en-US" sz="2400" dirty="0">
                    <a:latin typeface="Arial" panose="020B0604020202020204" pitchFamily="34" charset="0"/>
                  </a:rPr>
                  <a:t>为：</a:t>
                </a:r>
                <a14:m>
                  <m:oMath xmlns:m="http://schemas.openxmlformats.org/officeDocument/2006/math">
                    <m:sSub>
                      <m:sSubPr>
                        <m:ctrlPr>
                          <a:rPr lang="en-US" altLang="zh-CN" sz="2400" b="0" i="1" dirty="0" smtClean="0">
                            <a:latin typeface="Cambria Math" panose="02040503050406030204" pitchFamily="18" charset="0"/>
                          </a:rPr>
                        </m:ctrlPr>
                      </m:sSubPr>
                      <m:e>
                        <m:r>
                          <m:rPr>
                            <m:sty m:val="p"/>
                          </m:rPr>
                          <a:rPr lang="en-US" altLang="zh-CN" sz="2400" b="0" i="0" dirty="0" smtClean="0">
                            <a:latin typeface="Cambria Math" panose="02040503050406030204" pitchFamily="18" charset="0"/>
                          </a:rPr>
                          <m:t>s</m:t>
                        </m:r>
                      </m:e>
                      <m:sub>
                        <m:r>
                          <a:rPr lang="en-US" altLang="zh-CN" sz="2400" b="0" i="1" dirty="0" smtClean="0">
                            <a:latin typeface="Cambria Math" panose="02040503050406030204" pitchFamily="18" charset="0"/>
                          </a:rPr>
                          <m:t>𝑘</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0</m:t>
                    </m:r>
                    <m:r>
                      <a:rPr lang="en-US" altLang="zh-CN" sz="2400" i="1" dirty="0">
                        <a:latin typeface="Cambria Math" panose="02040503050406030204" pitchFamily="18" charset="0"/>
                      </a:rPr>
                      <m:t>.</m:t>
                    </m:r>
                    <m:r>
                      <a:rPr lang="en-US" altLang="zh-CN" sz="2400" i="1" dirty="0">
                        <a:latin typeface="Cambria Math" panose="02040503050406030204" pitchFamily="18" charset="0"/>
                      </a:rPr>
                      <m:t>7</m:t>
                    </m:r>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0</m:t>
                    </m:r>
                    <m:r>
                      <a:rPr lang="en-US" altLang="zh-CN" sz="2400" i="1" dirty="0">
                        <a:latin typeface="Cambria Math" panose="02040503050406030204" pitchFamily="18" charset="0"/>
                      </a:rPr>
                      <m:t>.</m:t>
                    </m:r>
                    <m:r>
                      <a:rPr lang="en-US" altLang="zh-CN" sz="2400" i="1" dirty="0">
                        <a:latin typeface="Cambria Math" panose="02040503050406030204" pitchFamily="18" charset="0"/>
                      </a:rPr>
                      <m:t>9</m:t>
                    </m:r>
                    <m:d>
                      <m:dPr>
                        <m:ctrlPr>
                          <a:rPr lang="en-US" altLang="zh-CN" sz="2400" i="1" dirty="0">
                            <a:latin typeface="Cambria Math" panose="02040503050406030204" pitchFamily="18" charset="0"/>
                          </a:rPr>
                        </m:ctrlPr>
                      </m:dPr>
                      <m:e>
                        <m:r>
                          <a:rPr lang="en-US" altLang="zh-CN" sz="2400" i="1" dirty="0" err="1">
                            <a:latin typeface="Cambria Math" panose="02040503050406030204" pitchFamily="18" charset="0"/>
                          </a:rPr>
                          <m:t>𝑠</m:t>
                        </m:r>
                        <m:r>
                          <a:rPr lang="en-US" altLang="zh-CN" sz="2400" i="1" baseline="-25000" dirty="0" err="1">
                            <a:latin typeface="Cambria Math" panose="02040503050406030204" pitchFamily="18" charset="0"/>
                          </a:rPr>
                          <m:t>𝑘</m:t>
                        </m:r>
                        <m:r>
                          <a:rPr lang="en-US" altLang="zh-CN" sz="2400" i="1" dirty="0" err="1">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i="1" dirty="0" err="1">
                                <a:latin typeface="Cambria Math" panose="02040503050406030204" pitchFamily="18" charset="0"/>
                              </a:rPr>
                              <m:t>𝑥</m:t>
                            </m:r>
                          </m:e>
                          <m:sub>
                            <m:r>
                              <a:rPr lang="en-US" altLang="zh-CN" sz="2400" i="1" dirty="0" err="1">
                                <a:latin typeface="Cambria Math" panose="02040503050406030204" pitchFamily="18" charset="0"/>
                              </a:rPr>
                              <m:t>𝑘</m:t>
                            </m:r>
                          </m:sub>
                        </m:sSub>
                      </m:e>
                    </m:d>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1</m:t>
                        </m:r>
                      </m:sub>
                    </m:sSub>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1000</m:t>
                    </m:r>
                  </m:oMath>
                </a14:m>
                <a:endParaRPr lang="en-US" altLang="zh-CN" sz="2400" dirty="0">
                  <a:latin typeface="Arial" panose="020B0604020202020204" pitchFamily="34" charset="0"/>
                </a:endParaRPr>
              </a:p>
              <a:p>
                <a:pPr marL="0" indent="0" algn="just" eaLnBrk="1" hangingPunct="1">
                  <a:lnSpc>
                    <a:spcPct val="150000"/>
                  </a:lnSpc>
                  <a:spcBef>
                    <a:spcPts val="0"/>
                  </a:spcBef>
                  <a:buFontTx/>
                  <a:buNone/>
                </a:pPr>
                <a:r>
                  <a:rPr lang="zh-CN" altLang="en-US" sz="2400" dirty="0">
                    <a:solidFill>
                      <a:srgbClr val="FF0000"/>
                    </a:solidFill>
                    <a:latin typeface="Arial" panose="020B0604020202020204" pitchFamily="34" charset="0"/>
                  </a:rPr>
                  <a:t>阶段指标：</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𝑟</m:t>
                        </m:r>
                      </m:e>
                      <m:sub>
                        <m:r>
                          <a:rPr lang="en-US" altLang="zh-CN" sz="2400" b="0" i="1" dirty="0" smtClean="0">
                            <a:latin typeface="Cambria Math" panose="02040503050406030204" pitchFamily="18" charset="0"/>
                          </a:rPr>
                          <m:t>𝑘</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𝑘</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8</m:t>
                    </m:r>
                    <m:sSub>
                      <m:sSubPr>
                        <m:ctrlPr>
                          <a:rPr lang="en-US" altLang="zh-CN" sz="2400" b="0" i="1" dirty="0" smtClean="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𝑘</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5</m:t>
                    </m:r>
                    <m:r>
                      <a:rPr lang="en-US" altLang="zh-CN" sz="2400" i="1" dirty="0">
                        <a:latin typeface="Cambria Math" panose="02040503050406030204" pitchFamily="18" charset="0"/>
                      </a:rPr>
                      <m:t>(</m:t>
                    </m:r>
                    <m:r>
                      <a:rPr lang="en-US" altLang="zh-CN" sz="2400" i="1" dirty="0" err="1">
                        <a:latin typeface="Cambria Math" panose="02040503050406030204" pitchFamily="18" charset="0"/>
                      </a:rPr>
                      <m:t>𝑠</m:t>
                    </m:r>
                    <m:r>
                      <a:rPr lang="en-US" altLang="zh-CN" sz="2400" i="1" baseline="-25000" dirty="0" err="1">
                        <a:latin typeface="Cambria Math" panose="02040503050406030204" pitchFamily="18" charset="0"/>
                      </a:rPr>
                      <m:t>𝑘</m:t>
                    </m:r>
                    <m:r>
                      <a:rPr lang="en-US" altLang="zh-CN" sz="2400" i="1" dirty="0" err="1">
                        <a:latin typeface="Cambria Math" panose="02040503050406030204" pitchFamily="18" charset="0"/>
                      </a:rPr>
                      <m:t>−</m:t>
                    </m:r>
                    <m:sSub>
                      <m:sSubPr>
                        <m:ctrlPr>
                          <a:rPr lang="en-US" altLang="zh-CN" sz="2400" b="0" i="1" baseline="-25000" dirty="0" smtClean="0">
                            <a:latin typeface="Cambria Math" panose="02040503050406030204" pitchFamily="18" charset="0"/>
                          </a:rPr>
                        </m:ctrlPr>
                      </m:sSubPr>
                      <m:e>
                        <m:r>
                          <a:rPr lang="en-US" altLang="zh-CN" sz="2400" i="1" dirty="0" err="1">
                            <a:latin typeface="Cambria Math" panose="02040503050406030204" pitchFamily="18" charset="0"/>
                          </a:rPr>
                          <m:t>𝑥</m:t>
                        </m:r>
                      </m:e>
                      <m:sub>
                        <m:r>
                          <a:rPr lang="en-US" altLang="zh-CN" sz="2400" i="1" dirty="0" err="1">
                            <a:latin typeface="Cambria Math" panose="02040503050406030204" pitchFamily="18" charset="0"/>
                          </a:rPr>
                          <m:t>𝑘</m:t>
                        </m:r>
                      </m:sub>
                    </m:sSub>
                    <m:r>
                      <a:rPr lang="en-US" altLang="zh-CN" sz="2400" i="1" dirty="0">
                        <a:latin typeface="Cambria Math" panose="02040503050406030204" pitchFamily="18" charset="0"/>
                      </a:rPr>
                      <m:t>) </m:t>
                    </m:r>
                  </m:oMath>
                </a14:m>
                <a:endParaRPr lang="en-US" altLang="zh-CN" sz="2400" dirty="0">
                  <a:latin typeface="Arial" panose="020B0604020202020204" pitchFamily="34" charset="0"/>
                </a:endParaRPr>
              </a:p>
              <a:p>
                <a:pPr marL="0" indent="0" algn="just" eaLnBrk="1" hangingPunct="1">
                  <a:lnSpc>
                    <a:spcPct val="150000"/>
                  </a:lnSpc>
                  <a:spcBef>
                    <a:spcPts val="0"/>
                  </a:spcBef>
                  <a:buFontTx/>
                  <a:buNone/>
                </a:pPr>
                <a:r>
                  <a:rPr lang="zh-CN" altLang="en-US" sz="2400" dirty="0">
                    <a:solidFill>
                      <a:srgbClr val="FF0000"/>
                    </a:solidFill>
                    <a:latin typeface="Arial" panose="020B0604020202020204" pitchFamily="34" charset="0"/>
                  </a:rPr>
                  <a:t>最优指标函数：</a:t>
                </a:r>
                <a:endParaRPr lang="en-US" altLang="zh-CN" sz="2400" dirty="0">
                  <a:solidFill>
                    <a:srgbClr val="FF0000"/>
                  </a:solidFill>
                  <a:latin typeface="Arial" panose="020B0604020202020204" pitchFamily="34" charset="0"/>
                </a:endParaRPr>
              </a:p>
              <a:p>
                <a:pPr marL="0" indent="0" algn="ctr" eaLnBrk="1" hangingPunct="1">
                  <a:lnSpc>
                    <a:spcPct val="150000"/>
                  </a:lnSpc>
                  <a:spcBef>
                    <a:spcPts val="0"/>
                  </a:spcBef>
                  <a:buFontTx/>
                  <a:buNone/>
                </a:pPr>
                <a14:m>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𝑓</m:t>
                        </m:r>
                      </m:e>
                      <m:sub>
                        <m:r>
                          <a:rPr lang="en-US" altLang="zh-CN" sz="2400" b="0" i="1" smtClean="0">
                            <a:solidFill>
                              <a:schemeClr val="tx1"/>
                            </a:solidFill>
                            <a:latin typeface="Cambria Math" panose="02040503050406030204" pitchFamily="18" charset="0"/>
                          </a:rPr>
                          <m:t>𝑘</m:t>
                        </m:r>
                      </m:sub>
                    </m:sSub>
                    <m:d>
                      <m:dPr>
                        <m:ctrlPr>
                          <a:rPr lang="en-US" altLang="zh-CN" sz="2400" b="0" i="1" smtClean="0">
                            <a:solidFill>
                              <a:schemeClr val="tx1"/>
                            </a:solidFill>
                            <a:latin typeface="Cambria Math" panose="02040503050406030204" pitchFamily="18" charset="0"/>
                          </a:rPr>
                        </m:ctrlPr>
                      </m:d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𝑠</m:t>
                            </m:r>
                          </m:e>
                          <m:sub>
                            <m:r>
                              <a:rPr lang="en-US" altLang="zh-CN" sz="2400" b="0" i="1" smtClean="0">
                                <a:solidFill>
                                  <a:schemeClr val="tx1"/>
                                </a:solidFill>
                                <a:latin typeface="Cambria Math" panose="02040503050406030204" pitchFamily="18" charset="0"/>
                              </a:rPr>
                              <m:t>𝑘</m:t>
                            </m:r>
                          </m:sub>
                        </m:sSub>
                      </m:e>
                    </m:d>
                    <m:r>
                      <a:rPr lang="en-US" altLang="zh-CN" sz="2400" b="0" i="1" smtClean="0">
                        <a:solidFill>
                          <a:schemeClr val="tx1"/>
                        </a:solidFill>
                        <a:latin typeface="Cambria Math" panose="02040503050406030204" pitchFamily="18" charset="0"/>
                      </a:rPr>
                      <m:t>=</m:t>
                    </m:r>
                    <m:func>
                      <m:funcPr>
                        <m:ctrlPr>
                          <a:rPr lang="en-US" altLang="zh-CN" sz="2400" b="0" i="1" smtClean="0">
                            <a:solidFill>
                              <a:schemeClr val="tx1"/>
                            </a:solidFill>
                            <a:latin typeface="Cambria Math" panose="02040503050406030204" pitchFamily="18" charset="0"/>
                          </a:rPr>
                        </m:ctrlPr>
                      </m:funcPr>
                      <m:fName>
                        <m:limLow>
                          <m:limLowPr>
                            <m:ctrlPr>
                              <a:rPr lang="en-US" altLang="zh-CN" sz="2400" b="0" i="1" smtClean="0">
                                <a:solidFill>
                                  <a:schemeClr val="tx1"/>
                                </a:solidFill>
                                <a:latin typeface="Cambria Math" panose="02040503050406030204" pitchFamily="18" charset="0"/>
                              </a:rPr>
                            </m:ctrlPr>
                          </m:limLowPr>
                          <m:e>
                            <m:r>
                              <m:rPr>
                                <m:sty m:val="p"/>
                              </m:rPr>
                              <a:rPr lang="en-US" altLang="zh-CN" sz="2400" b="0" i="0" smtClean="0">
                                <a:solidFill>
                                  <a:schemeClr val="tx1"/>
                                </a:solidFill>
                                <a:latin typeface="Cambria Math" panose="02040503050406030204" pitchFamily="18" charset="0"/>
                              </a:rPr>
                              <m:t>max</m:t>
                            </m:r>
                          </m:e>
                          <m:lim>
                            <m:r>
                              <a:rPr lang="en-US" altLang="zh-CN" sz="2400" b="0" i="1" smtClean="0">
                                <a:solidFill>
                                  <a:schemeClr val="tx1"/>
                                </a:solidFill>
                                <a:latin typeface="Cambria Math" panose="02040503050406030204" pitchFamily="18" charset="0"/>
                              </a:rPr>
                              <m:t>0</m:t>
                            </m:r>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en-US" altLang="zh-CN" sz="2400" b="0" i="1" smtClean="0">
                                    <a:solidFill>
                                      <a:schemeClr val="tx1"/>
                                    </a:solidFill>
                                    <a:latin typeface="Cambria Math" panose="02040503050406030204" pitchFamily="18" charset="0"/>
                                  </a:rPr>
                                  <m:t>𝑘</m:t>
                                </m:r>
                              </m:sub>
                            </m:sSub>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𝑠</m:t>
                                </m:r>
                              </m:e>
                              <m:sub>
                                <m:r>
                                  <a:rPr lang="en-US" altLang="zh-CN" sz="2400" b="0" i="1" smtClean="0">
                                    <a:solidFill>
                                      <a:schemeClr val="tx1"/>
                                    </a:solidFill>
                                    <a:latin typeface="Cambria Math" panose="02040503050406030204" pitchFamily="18" charset="0"/>
                                  </a:rPr>
                                  <m:t>𝑘</m:t>
                                </m:r>
                              </m:sub>
                            </m:sSub>
                          </m:lim>
                        </m:limLow>
                      </m:fName>
                      <m:e>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8</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en-US" altLang="zh-CN" sz="2400" b="0" i="1" smtClean="0">
                                <a:solidFill>
                                  <a:schemeClr val="tx1"/>
                                </a:solidFill>
                                <a:latin typeface="Cambria Math" panose="02040503050406030204" pitchFamily="18" charset="0"/>
                              </a:rPr>
                              <m:t>𝑘</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5</m:t>
                        </m:r>
                        <m:d>
                          <m:dPr>
                            <m:ctrlPr>
                              <a:rPr lang="en-US" altLang="zh-CN" sz="2400" b="0" i="1" smtClean="0">
                                <a:solidFill>
                                  <a:schemeClr val="tx1"/>
                                </a:solidFill>
                                <a:latin typeface="Cambria Math" panose="02040503050406030204" pitchFamily="18" charset="0"/>
                              </a:rPr>
                            </m:ctrlPr>
                          </m:dPr>
                          <m:e>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𝑠</m:t>
                                </m:r>
                              </m:e>
                              <m:sub>
                                <m:r>
                                  <a:rPr lang="en-US" altLang="zh-CN" sz="2400" b="0" i="1" smtClean="0">
                                    <a:solidFill>
                                      <a:schemeClr val="tx1"/>
                                    </a:solidFill>
                                    <a:latin typeface="Cambria Math" panose="02040503050406030204" pitchFamily="18" charset="0"/>
                                  </a:rPr>
                                  <m:t>𝑘</m:t>
                                </m:r>
                              </m:sub>
                            </m:sSub>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𝑥</m:t>
                                </m:r>
                              </m:e>
                              <m:sub>
                                <m:r>
                                  <a:rPr lang="en-US" altLang="zh-CN" sz="2400" b="0" i="1" smtClean="0">
                                    <a:solidFill>
                                      <a:schemeClr val="tx1"/>
                                    </a:solidFill>
                                    <a:latin typeface="Cambria Math" panose="02040503050406030204" pitchFamily="18" charset="0"/>
                                  </a:rPr>
                                  <m:t>𝑘</m:t>
                                </m:r>
                              </m:sub>
                            </m:sSub>
                          </m:e>
                        </m:d>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𝑓</m:t>
                            </m:r>
                          </m:e>
                          <m:sub>
                            <m:r>
                              <a:rPr lang="en-US" altLang="zh-CN" sz="2400" b="0" i="1" smtClean="0">
                                <a:solidFill>
                                  <a:schemeClr val="tx1"/>
                                </a:solidFill>
                                <a:latin typeface="Cambria Math" panose="02040503050406030204" pitchFamily="18" charset="0"/>
                              </a:rPr>
                              <m:t>𝑘</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𝑠</m:t>
                            </m:r>
                          </m:e>
                          <m:sub>
                            <m:r>
                              <a:rPr lang="en-US" altLang="zh-CN" sz="2400" b="0" i="1" smtClean="0">
                                <a:solidFill>
                                  <a:schemeClr val="tx1"/>
                                </a:solidFill>
                                <a:latin typeface="Cambria Math" panose="02040503050406030204" pitchFamily="18" charset="0"/>
                              </a:rPr>
                              <m:t>𝑘</m:t>
                            </m:r>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m:t>
                        </m:r>
                      </m:e>
                    </m:func>
                  </m:oMath>
                </a14:m>
                <a:r>
                  <a:rPr lang="en-US" altLang="zh-CN" sz="2400" dirty="0">
                    <a:latin typeface="Arial" panose="020B0604020202020204" pitchFamily="34" charset="0"/>
                  </a:rPr>
                  <a:t>           </a:t>
                </a:r>
                <a14:m>
                  <m:oMath xmlns:m="http://schemas.openxmlformats.org/officeDocument/2006/math">
                    <m:r>
                      <a:rPr lang="en-US" altLang="zh-CN" sz="2400" i="1" dirty="0" smtClean="0">
                        <a:latin typeface="Cambria Math" panose="02040503050406030204" pitchFamily="18" charset="0"/>
                      </a:rPr>
                      <m:t>𝑓</m:t>
                    </m:r>
                    <m:r>
                      <a:rPr lang="en-US" altLang="zh-CN" sz="2400" i="1" baseline="-25000" dirty="0" smtClean="0">
                        <a:latin typeface="Cambria Math" panose="02040503050406030204" pitchFamily="18" charset="0"/>
                      </a:rPr>
                      <m:t>6</m:t>
                    </m:r>
                    <m:r>
                      <a:rPr lang="en-US" altLang="zh-CN" sz="2400" i="1" dirty="0">
                        <a:latin typeface="Cambria Math" panose="02040503050406030204" pitchFamily="18" charset="0"/>
                      </a:rPr>
                      <m:t>(</m:t>
                    </m:r>
                    <m:r>
                      <a:rPr lang="en-US" altLang="zh-CN" sz="2400" i="1" dirty="0">
                        <a:latin typeface="Cambria Math" panose="02040503050406030204" pitchFamily="18" charset="0"/>
                      </a:rPr>
                      <m:t>𝑠</m:t>
                    </m:r>
                    <m:r>
                      <a:rPr lang="en-US" altLang="zh-CN" sz="2400" i="1" baseline="-25000" dirty="0">
                        <a:latin typeface="Cambria Math" panose="02040503050406030204" pitchFamily="18" charset="0"/>
                      </a:rPr>
                      <m:t>6</m:t>
                    </m:r>
                    <m:r>
                      <a:rPr lang="en-US" altLang="zh-CN" sz="2400" i="1" dirty="0">
                        <a:latin typeface="Cambria Math" panose="02040503050406030204" pitchFamily="18" charset="0"/>
                      </a:rPr>
                      <m:t>)=</m:t>
                    </m:r>
                    <m:r>
                      <a:rPr lang="en-US" altLang="zh-CN" sz="2400" i="1" dirty="0">
                        <a:latin typeface="Cambria Math" panose="02040503050406030204" pitchFamily="18" charset="0"/>
                      </a:rPr>
                      <m:t>0</m:t>
                    </m:r>
                  </m:oMath>
                </a14:m>
                <a:endParaRPr lang="zh-CN" altLang="en-US" sz="2400" dirty="0">
                  <a:latin typeface="Arial" panose="020B0604020202020204" pitchFamily="34" charset="0"/>
                </a:endParaRPr>
              </a:p>
            </p:txBody>
          </p:sp>
        </mc:Choice>
        <mc:Fallback>
          <p:sp>
            <p:nvSpPr>
              <p:cNvPr id="36868" name="Rectangle 3"/>
              <p:cNvSpPr>
                <a:spLocks noRot="1" noChangeAspect="1" noMove="1" noResize="1" noEditPoints="1" noAdjustHandles="1" noChangeArrowheads="1" noChangeShapeType="1" noTextEdit="1"/>
              </p:cNvSpPr>
              <p:nvPr>
                <p:ph type="body" sz="half" idx="1"/>
              </p:nvPr>
            </p:nvSpPr>
            <p:spPr>
              <a:xfrm>
                <a:off x="1775520" y="866775"/>
                <a:ext cx="8779085" cy="5562600"/>
              </a:xfrm>
              <a:blipFill rotWithShape="1">
                <a:blip r:embed="rId1"/>
                <a:stretch>
                  <a:fillRect l="-1" r="3"/>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7891" name="Rectangle 3"/>
              <p:cNvSpPr>
                <a:spLocks noGrp="1" noChangeArrowheads="1"/>
              </p:cNvSpPr>
              <p:nvPr>
                <p:ph idx="1"/>
              </p:nvPr>
            </p:nvSpPr>
            <p:spPr>
              <a:xfrm>
                <a:off x="1524000" y="1148730"/>
                <a:ext cx="9144000" cy="4560540"/>
              </a:xfrm>
            </p:spPr>
            <p:txBody>
              <a:bodyPr>
                <a:normAutofit fontScale="90000" lnSpcReduction="20000"/>
              </a:bodyPr>
              <a:lstStyle/>
              <a:p>
                <a:pPr marL="0" indent="0" algn="just" eaLnBrk="1" hangingPunct="1">
                  <a:lnSpc>
                    <a:spcPct val="150000"/>
                  </a:lnSpc>
                  <a:spcBef>
                    <a:spcPts val="0"/>
                  </a:spcBef>
                  <a:buFontTx/>
                  <a:buNone/>
                </a:pP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5</a:t>
                </a:r>
                <a:r>
                  <a:rPr lang="zh-CN" altLang="en-US" sz="2400" b="1" dirty="0">
                    <a:latin typeface="Times New Roman" panose="02020603050405020304" pitchFamily="18" charset="0"/>
                    <a:cs typeface="Times New Roman" panose="02020603050405020304" pitchFamily="18" charset="0"/>
                  </a:rPr>
                  <a:t>阶段：</a:t>
                </a:r>
                <a:endParaRPr lang="zh-CN" altLang="en-US" sz="2400" b="1"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因为</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𝑓</m:t>
                        </m:r>
                      </m:e>
                      <m:sub>
                        <m:r>
                          <a:rPr lang="en-US" altLang="zh-CN" sz="2400" b="0" i="1" dirty="0" smtClean="0">
                            <a:latin typeface="Cambria Math" panose="02040503050406030204" pitchFamily="18" charset="0"/>
                          </a:rPr>
                          <m:t>5</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5</m:t>
                        </m:r>
                      </m:sub>
                    </m:sSub>
                    <m:r>
                      <a:rPr lang="en-US" altLang="zh-CN" sz="2400" b="0" i="1" dirty="0" smtClean="0">
                        <a:latin typeface="Cambria Math" panose="02040503050406030204" pitchFamily="18" charset="0"/>
                      </a:rPr>
                      <m:t>)=</m:t>
                    </m:r>
                    <m:func>
                      <m:funcPr>
                        <m:ctrlPr>
                          <a:rPr lang="en-US" altLang="zh-CN" sz="2400" b="0" i="1" dirty="0" smtClean="0">
                            <a:latin typeface="Cambria Math" panose="02040503050406030204" pitchFamily="18" charset="0"/>
                          </a:rPr>
                        </m:ctrlPr>
                      </m:funcPr>
                      <m:fName>
                        <m:limLow>
                          <m:limLowPr>
                            <m:ctrlPr>
                              <a:rPr lang="en-US" altLang="zh-CN" sz="2400" b="0" i="1" dirty="0" smtClean="0">
                                <a:latin typeface="Cambria Math" panose="02040503050406030204" pitchFamily="18" charset="0"/>
                              </a:rPr>
                            </m:ctrlPr>
                          </m:limLowPr>
                          <m:e>
                            <m:r>
                              <m:rPr>
                                <m:sty m:val="p"/>
                              </m:rPr>
                              <a:rPr lang="en-US" altLang="zh-CN" sz="2400" b="0" i="0" dirty="0" smtClean="0">
                                <a:latin typeface="Cambria Math" panose="02040503050406030204" pitchFamily="18" charset="0"/>
                              </a:rPr>
                              <m:t>max</m:t>
                            </m:r>
                          </m:e>
                          <m:lim>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5</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5</m:t>
                                </m:r>
                              </m:sub>
                            </m:sSub>
                          </m:lim>
                        </m:limLow>
                      </m:fName>
                      <m:e>
                        <m:r>
                          <a:rPr lang="en-US" altLang="zh-CN" sz="2400" b="0" i="0" smtClean="0">
                            <a:latin typeface="Cambria Math" panose="02040503050406030204" pitchFamily="18" charset="0"/>
                            <a:cs typeface="Times New Roman" panose="02020603050405020304" pitchFamily="18" charset="0"/>
                          </a:rPr>
                          <m:t>8</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5</m:t>
                            </m:r>
                          </m:sub>
                        </m:sSub>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5</m:t>
                        </m:r>
                        <m:d>
                          <m:dPr>
                            <m:ctrlPr>
                              <a:rPr lang="en-US" altLang="zh-CN" sz="2400" b="0" i="1" smtClean="0">
                                <a:latin typeface="Cambria Math" panose="02040503050406030204" pitchFamily="18" charset="0"/>
                                <a:cs typeface="Times New Roman" panose="02020603050405020304" pitchFamily="18" charset="0"/>
                              </a:rPr>
                            </m:ctrlPr>
                          </m:dPr>
                          <m:e>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5</m:t>
                                </m:r>
                              </m:sub>
                            </m:sSub>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5</m:t>
                                </m:r>
                              </m:sub>
                            </m:sSub>
                          </m:e>
                        </m:d>
                        <m:r>
                          <a:rPr lang="en-US" altLang="zh-CN" sz="2400" b="0" i="1" dirty="0" smtClean="0">
                            <a:latin typeface="Cambria Math" panose="02040503050406030204" pitchFamily="18" charset="0"/>
                          </a:rPr>
                          <m:t>=</m:t>
                        </m:r>
                        <m:limLow>
                          <m:limLowPr>
                            <m:ctrlPr>
                              <a:rPr lang="en-US" altLang="zh-CN" sz="2400" b="0" i="1" dirty="0" smtClean="0">
                                <a:latin typeface="Cambria Math" panose="02040503050406030204" pitchFamily="18" charset="0"/>
                              </a:rPr>
                            </m:ctrlPr>
                          </m:limLowPr>
                          <m:e>
                            <m:r>
                              <m:rPr>
                                <m:sty m:val="p"/>
                              </m:rPr>
                              <a:rPr lang="en-US" altLang="zh-CN" sz="2400" b="0" i="0" dirty="0" smtClean="0">
                                <a:latin typeface="Cambria Math" panose="02040503050406030204" pitchFamily="18" charset="0"/>
                              </a:rPr>
                              <m:t>max</m:t>
                            </m:r>
                          </m:e>
                          <m:lim>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5</m:t>
                                </m:r>
                              </m:sub>
                            </m:sSub>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5</m:t>
                                </m:r>
                              </m:sub>
                            </m:sSub>
                          </m:lim>
                        </m:limLow>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5</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5</m:t>
                            </m:r>
                          </m:sub>
                        </m:sSub>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3</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5</m:t>
                            </m:r>
                          </m:sub>
                        </m:sSub>
                        <m:r>
                          <a:rPr lang="en-US" altLang="zh-CN" sz="2400" b="0" i="1" dirty="0" smtClean="0">
                            <a:latin typeface="Cambria Math" panose="02040503050406030204" pitchFamily="18" charset="0"/>
                          </a:rPr>
                          <m:t>)</m:t>
                        </m:r>
                      </m:e>
                    </m:func>
                  </m:oMath>
                </a14:m>
                <a:r>
                  <a:rPr lang="zh-CN" altLang="en-US" sz="2400" dirty="0">
                    <a:latin typeface="Times New Roman" panose="02020603050405020304" pitchFamily="18" charset="0"/>
                    <a:cs typeface="Times New Roman" panose="02020603050405020304" pitchFamily="18" charset="0"/>
                  </a:rPr>
                  <a:t>是</a:t>
                </a:r>
                <a14:m>
                  <m:oMath xmlns:m="http://schemas.openxmlformats.org/officeDocument/2006/math">
                    <m:r>
                      <a:rPr lang="en-US" altLang="zh-CN" sz="2400" i="1" dirty="0" smtClean="0">
                        <a:latin typeface="Cambria Math" panose="02040503050406030204" pitchFamily="18" charset="0"/>
                      </a:rPr>
                      <m:t>𝑥</m:t>
                    </m:r>
                    <m:r>
                      <a:rPr lang="en-US" altLang="zh-CN" sz="2400" i="1" baseline="-25000" dirty="0">
                        <a:latin typeface="Cambria Math" panose="02040503050406030204" pitchFamily="18" charset="0"/>
                      </a:rPr>
                      <m:t>5</m:t>
                    </m:r>
                  </m:oMath>
                </a14:m>
                <a:r>
                  <a:rPr lang="zh-CN" altLang="en-US" sz="2400" dirty="0">
                    <a:latin typeface="Times New Roman" panose="02020603050405020304" pitchFamily="18" charset="0"/>
                    <a:cs typeface="Times New Roman" panose="02020603050405020304" pitchFamily="18" charset="0"/>
                  </a:rPr>
                  <a:t>的线性单调增函数，故有</a:t>
                </a:r>
                <a14:m>
                  <m:oMath xmlns:m="http://schemas.openxmlformats.org/officeDocument/2006/math">
                    <m:sSub>
                      <m:sSubPr>
                        <m:ctrlPr>
                          <a:rPr lang="en-US" altLang="zh-CN" sz="2400" i="1" dirty="0">
                            <a:latin typeface="Cambria Math" panose="02040503050406030204" pitchFamily="18" charset="0"/>
                          </a:rPr>
                        </m:ctrlPr>
                      </m:sSubPr>
                      <m:e>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5</m:t>
                            </m:r>
                          </m:sub>
                          <m:sup>
                            <m:r>
                              <a:rPr lang="en-US" altLang="zh-CN" sz="2400" b="0" i="1" dirty="0" smtClean="0">
                                <a:latin typeface="Cambria Math" panose="02040503050406030204" pitchFamily="18" charset="0"/>
                              </a:rPr>
                              <m:t>∗</m:t>
                            </m:r>
                          </m:sup>
                        </m:sSubSup>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𝑠</m:t>
                        </m:r>
                      </m:e>
                      <m:sub>
                        <m:r>
                          <a:rPr lang="en-US" altLang="zh-CN" sz="2400" i="1" dirty="0">
                            <a:latin typeface="Cambria Math" panose="02040503050406030204" pitchFamily="18" charset="0"/>
                          </a:rPr>
                          <m:t>5</m:t>
                        </m:r>
                      </m:sub>
                    </m:sSub>
                    <m:r>
                      <a:rPr lang="en-US" altLang="zh-CN" sz="2400" i="1" dirty="0">
                        <a:latin typeface="Cambria Math" panose="02040503050406030204" pitchFamily="18" charset="0"/>
                      </a:rPr>
                      <m:t> </m:t>
                    </m:r>
                  </m:oMath>
                </a14:m>
                <a:r>
                  <a:rPr lang="zh-CN" altLang="en-US" sz="2400" dirty="0">
                    <a:latin typeface="Times New Roman" panose="02020603050405020304" pitchFamily="18" charset="0"/>
                    <a:cs typeface="Times New Roman" panose="02020603050405020304" pitchFamily="18" charset="0"/>
                  </a:rPr>
                  <a:t>，于是有</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𝑓</m:t>
                        </m:r>
                      </m:e>
                      <m:sub>
                        <m:r>
                          <a:rPr lang="en-US" altLang="zh-CN" sz="2400" i="1" dirty="0">
                            <a:latin typeface="Cambria Math" panose="02040503050406030204" pitchFamily="18" charset="0"/>
                          </a:rPr>
                          <m:t>5</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𝑠</m:t>
                        </m:r>
                      </m:e>
                      <m:sub>
                        <m:r>
                          <a:rPr lang="en-US" altLang="zh-CN" sz="2400" i="1" dirty="0">
                            <a:latin typeface="Cambria Math" panose="02040503050406030204" pitchFamily="18" charset="0"/>
                          </a:rPr>
                          <m:t>5</m:t>
                        </m:r>
                      </m:sub>
                    </m:sSub>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8</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𝑠</m:t>
                        </m:r>
                      </m:e>
                      <m:sub>
                        <m:r>
                          <a:rPr lang="en-US" altLang="zh-CN" sz="2400" b="0" i="1" dirty="0" smtClean="0">
                            <a:latin typeface="Cambria Math" panose="02040503050406030204" pitchFamily="18" charset="0"/>
                          </a:rPr>
                          <m:t>5</m:t>
                        </m:r>
                      </m:sub>
                    </m:sSub>
                  </m:oMath>
                </a14:m>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b="1" dirty="0">
                    <a:latin typeface="Times New Roman" panose="02020603050405020304" pitchFamily="18" charset="0"/>
                    <a:cs typeface="Times New Roman" panose="02020603050405020304" pitchFamily="18" charset="0"/>
                  </a:rPr>
                  <a:t>第</a:t>
                </a:r>
                <a:r>
                  <a:rPr lang="en-US" altLang="zh-CN" sz="2400" b="1" dirty="0">
                    <a:latin typeface="Times New Roman" panose="02020603050405020304" pitchFamily="18" charset="0"/>
                    <a:cs typeface="Times New Roman" panose="02020603050405020304" pitchFamily="18" charset="0"/>
                  </a:rPr>
                  <a:t>4</a:t>
                </a:r>
                <a:r>
                  <a:rPr lang="zh-CN" altLang="en-US" sz="2400" b="1" dirty="0">
                    <a:latin typeface="Times New Roman" panose="02020603050405020304" pitchFamily="18" charset="0"/>
                    <a:cs typeface="Times New Roman" panose="02020603050405020304" pitchFamily="18" charset="0"/>
                  </a:rPr>
                  <a:t>阶段：</a:t>
                </a:r>
                <a14:m>
                  <m:oMath xmlns:m="http://schemas.openxmlformats.org/officeDocument/2006/math">
                    <m:sSub>
                      <m:sSubPr>
                        <m:ctrlPr>
                          <a:rPr lang="en-US" altLang="zh-CN" sz="240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𝑓</m:t>
                        </m:r>
                      </m:e>
                      <m:sub>
                        <m:r>
                          <a:rPr lang="en-US" altLang="zh-CN" sz="2400" b="0" i="1" smtClean="0">
                            <a:latin typeface="Cambria Math" panose="02040503050406030204" pitchFamily="18" charset="0"/>
                            <a:cs typeface="Times New Roman" panose="02020603050405020304" pitchFamily="18" charset="0"/>
                          </a:rPr>
                          <m:t>4</m:t>
                        </m:r>
                      </m:sub>
                    </m:sSub>
                    <m:d>
                      <m:dPr>
                        <m:ctrlPr>
                          <a:rPr lang="en-US" altLang="zh-CN" sz="2400" i="1" smtClean="0">
                            <a:latin typeface="Cambria Math" panose="02040503050406030204" pitchFamily="18" charset="0"/>
                            <a:cs typeface="Times New Roman" panose="02020603050405020304" pitchFamily="18" charset="0"/>
                          </a:rPr>
                        </m:ctrlPr>
                      </m:dPr>
                      <m:e>
                        <m:sSub>
                          <m:sSubPr>
                            <m:ctrlPr>
                              <a:rPr lang="en-US" altLang="zh-CN" sz="240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4</m:t>
                            </m:r>
                          </m:sub>
                        </m:sSub>
                      </m:e>
                    </m:d>
                    <m:r>
                      <a:rPr lang="en-US" altLang="zh-CN" sz="2400" b="1" i="1" smtClean="0">
                        <a:latin typeface="Cambria Math" panose="02040503050406030204" pitchFamily="18" charset="0"/>
                        <a:cs typeface="Times New Roman" panose="02020603050405020304" pitchFamily="18" charset="0"/>
                      </a:rPr>
                      <m:t>=</m:t>
                    </m:r>
                    <m:limLow>
                      <m:limLowPr>
                        <m:ctrlPr>
                          <a:rPr lang="en-US" altLang="zh-CN" sz="2400" b="0" i="1" smtClean="0">
                            <a:latin typeface="Cambria Math" panose="02040503050406030204" pitchFamily="18" charset="0"/>
                            <a:cs typeface="Times New Roman" panose="02020603050405020304" pitchFamily="18" charset="0"/>
                          </a:rPr>
                        </m:ctrlPr>
                      </m:limLowPr>
                      <m:e>
                        <m:r>
                          <m:rPr>
                            <m:sty m:val="p"/>
                          </m:rPr>
                          <a:rPr lang="en-US" altLang="zh-CN" sz="2400" b="0" i="0" smtClean="0">
                            <a:latin typeface="Cambria Math" panose="02040503050406030204" pitchFamily="18" charset="0"/>
                            <a:cs typeface="Times New Roman" panose="02020603050405020304" pitchFamily="18" charset="0"/>
                          </a:rPr>
                          <m:t>max</m:t>
                        </m:r>
                      </m:e>
                      <m:lim>
                        <m:r>
                          <a:rPr lang="en-US" altLang="zh-CN" sz="2400" b="0" i="1" smtClean="0">
                            <a:latin typeface="Cambria Math" panose="02040503050406030204" pitchFamily="18" charset="0"/>
                            <a:cs typeface="Times New Roman" panose="02020603050405020304" pitchFamily="18" charset="0"/>
                          </a:rPr>
                          <m:t>0</m:t>
                        </m:r>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4</m:t>
                            </m:r>
                          </m:sub>
                        </m:sSub>
                      </m:lim>
                    </m:limLow>
                    <m:d>
                      <m:dPr>
                        <m:begChr m:val="["/>
                        <m:endChr m:val="]"/>
                        <m:ctrlPr>
                          <a:rPr lang="en-US" altLang="zh-CN" sz="2400" b="0" i="1" smtClean="0">
                            <a:latin typeface="Cambria Math" panose="02040503050406030204" pitchFamily="18" charset="0"/>
                            <a:cs typeface="Times New Roman" panose="02020603050405020304" pitchFamily="18" charset="0"/>
                          </a:rPr>
                        </m:ctrlPr>
                      </m:dPr>
                      <m:e>
                        <m:r>
                          <a:rPr lang="en-US" altLang="zh-CN" sz="2400" b="0" i="0" smtClean="0">
                            <a:latin typeface="Cambria Math" panose="02040503050406030204" pitchFamily="18" charset="0"/>
                            <a:cs typeface="Times New Roman" panose="02020603050405020304" pitchFamily="18" charset="0"/>
                          </a:rPr>
                          <m:t>8</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5</m:t>
                        </m:r>
                        <m:d>
                          <m:dPr>
                            <m:ctrlPr>
                              <a:rPr lang="en-US" altLang="zh-CN" sz="2400" b="0" i="1" smtClean="0">
                                <a:latin typeface="Cambria Math" panose="02040503050406030204" pitchFamily="18" charset="0"/>
                                <a:cs typeface="Times New Roman" panose="02020603050405020304" pitchFamily="18" charset="0"/>
                              </a:rPr>
                            </m:ctrlPr>
                          </m:dPr>
                          <m:e>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4</m:t>
                                </m:r>
                              </m:sub>
                            </m:sSub>
                          </m:e>
                        </m:d>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𝑓</m:t>
                            </m:r>
                          </m:e>
                          <m:sub>
                            <m:r>
                              <a:rPr lang="en-US" altLang="zh-CN" sz="2400" b="0" i="1" smtClean="0">
                                <a:latin typeface="Cambria Math" panose="02040503050406030204" pitchFamily="18" charset="0"/>
                                <a:cs typeface="Times New Roman" panose="02020603050405020304" pitchFamily="18" charset="0"/>
                              </a:rPr>
                              <m:t>5</m:t>
                            </m:r>
                          </m:sub>
                        </m:sSub>
                        <m:d>
                          <m:dPr>
                            <m:ctrlPr>
                              <a:rPr lang="en-US" altLang="zh-CN" sz="2400" b="0" i="1" smtClean="0">
                                <a:latin typeface="Cambria Math" panose="02040503050406030204" pitchFamily="18" charset="0"/>
                                <a:cs typeface="Times New Roman" panose="02020603050405020304" pitchFamily="18" charset="0"/>
                              </a:rPr>
                            </m:ctrlPr>
                          </m:dPr>
                          <m:e>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5</m:t>
                                </m:r>
                              </m:sub>
                            </m:sSub>
                          </m:e>
                        </m:d>
                      </m:e>
                    </m:d>
                  </m:oMath>
                </a14:m>
                <a:endParaRPr lang="en-US" altLang="zh-CN" sz="2400" b="0" dirty="0">
                  <a:latin typeface="Times New Roman" panose="02020603050405020304" pitchFamily="18" charset="0"/>
                  <a:cs typeface="Times New Roman" panose="02020603050405020304" pitchFamily="18" charset="0"/>
                </a:endParaRPr>
              </a:p>
              <a:p>
                <a:pPr marL="0" indent="0" algn="ctr" eaLnBrk="1" hangingPunct="1">
                  <a:lnSpc>
                    <a:spcPct val="150000"/>
                  </a:lnSpc>
                  <a:spcBef>
                    <a:spcPts val="0"/>
                  </a:spcBef>
                  <a:buFontTx/>
                  <a:buNone/>
                </a:pPr>
                <a14:m>
                  <m:oMathPara xmlns:m="http://schemas.openxmlformats.org/officeDocument/2006/math">
                    <m:oMathParaPr>
                      <m:jc m:val="centerGroup"/>
                    </m:oMathParaPr>
                    <m:oMath xmlns:m="http://schemas.openxmlformats.org/officeDocument/2006/math">
                      <m:r>
                        <a:rPr lang="en-US" altLang="zh-CN" sz="2400" b="1" i="1">
                          <a:latin typeface="Cambria Math" panose="02040503050406030204" pitchFamily="18" charset="0"/>
                          <a:cs typeface="Times New Roman" panose="02020603050405020304" pitchFamily="18" charset="0"/>
                        </a:rPr>
                        <m:t>=</m:t>
                      </m:r>
                      <m:limLow>
                        <m:limLowPr>
                          <m:ctrlPr>
                            <a:rPr lang="en-US" altLang="zh-CN" sz="2400" i="1">
                              <a:latin typeface="Cambria Math" panose="02040503050406030204" pitchFamily="18" charset="0"/>
                              <a:cs typeface="Times New Roman" panose="02020603050405020304" pitchFamily="18" charset="0"/>
                            </a:rPr>
                          </m:ctrlPr>
                        </m:limLowPr>
                        <m:e>
                          <m:r>
                            <m:rPr>
                              <m:sty m:val="p"/>
                            </m:rPr>
                            <a:rPr lang="en-US" altLang="zh-CN" sz="2400">
                              <a:latin typeface="Cambria Math" panose="02040503050406030204" pitchFamily="18" charset="0"/>
                              <a:cs typeface="Times New Roman" panose="02020603050405020304" pitchFamily="18" charset="0"/>
                            </a:rPr>
                            <m:t>max</m:t>
                          </m:r>
                        </m:e>
                        <m:lim>
                          <m:r>
                            <a:rPr lang="en-US" altLang="zh-CN" sz="2400" i="1">
                              <a:latin typeface="Cambria Math" panose="02040503050406030204" pitchFamily="18" charset="0"/>
                              <a:cs typeface="Times New Roman" panose="02020603050405020304" pitchFamily="18" charset="0"/>
                            </a:rPr>
                            <m:t>0</m:t>
                          </m:r>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𝑠</m:t>
                              </m:r>
                            </m:e>
                            <m:sub>
                              <m:r>
                                <a:rPr lang="en-US" altLang="zh-CN" sz="2400" i="1">
                                  <a:latin typeface="Cambria Math" panose="02040503050406030204" pitchFamily="18" charset="0"/>
                                  <a:cs typeface="Times New Roman" panose="02020603050405020304" pitchFamily="18" charset="0"/>
                                </a:rPr>
                                <m:t>4</m:t>
                              </m:r>
                            </m:sub>
                          </m:sSub>
                        </m:lim>
                      </m:limLow>
                      <m:d>
                        <m:dPr>
                          <m:begChr m:val="["/>
                          <m:endChr m:val="]"/>
                          <m:ctrlPr>
                            <a:rPr lang="en-US" altLang="zh-CN" sz="2400" i="1">
                              <a:latin typeface="Cambria Math" panose="02040503050406030204" pitchFamily="18" charset="0"/>
                              <a:cs typeface="Times New Roman" panose="02020603050405020304" pitchFamily="18" charset="0"/>
                            </a:rPr>
                          </m:ctrlPr>
                        </m:dPr>
                        <m:e>
                          <m:r>
                            <a:rPr lang="en-US" altLang="zh-CN" sz="2400">
                              <a:latin typeface="Cambria Math" panose="02040503050406030204" pitchFamily="18" charset="0"/>
                              <a:cs typeface="Times New Roman" panose="02020603050405020304" pitchFamily="18" charset="0"/>
                            </a:rPr>
                            <m:t>8</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m:t>
                          </m:r>
                          <m:r>
                            <a:rPr lang="en-US" altLang="zh-CN" sz="2400" i="1">
                              <a:latin typeface="Cambria Math" panose="02040503050406030204" pitchFamily="18" charset="0"/>
                              <a:cs typeface="Times New Roman" panose="02020603050405020304" pitchFamily="18" charset="0"/>
                            </a:rPr>
                            <m:t>5</m:t>
                          </m:r>
                          <m:d>
                            <m:dPr>
                              <m:ctrlPr>
                                <a:rPr lang="en-US" altLang="zh-CN" sz="2400" i="1">
                                  <a:latin typeface="Cambria Math" panose="02040503050406030204" pitchFamily="18" charset="0"/>
                                  <a:cs typeface="Times New Roman" panose="02020603050405020304" pitchFamily="18" charset="0"/>
                                </a:rPr>
                              </m:ctrlPr>
                            </m:dPr>
                            <m:e>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𝑠</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e>
                          </m:d>
                          <m:r>
                            <a:rPr lang="en-US" altLang="zh-CN" sz="2400" i="1">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8</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0</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7</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0</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9</m:t>
                          </m:r>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e>
                      </m:d>
                    </m:oMath>
                  </m:oMathPara>
                </a14:m>
                <a:endParaRPr lang="en-US" altLang="zh-CN" sz="2400" b="1" dirty="0">
                  <a:latin typeface="Times New Roman" panose="02020603050405020304" pitchFamily="18" charset="0"/>
                  <a:cs typeface="Times New Roman" panose="02020603050405020304" pitchFamily="18" charset="0"/>
                </a:endParaRPr>
              </a:p>
              <a:p>
                <a:pPr marL="0" indent="0" algn="ctr" eaLnBrk="1" hangingPunct="1">
                  <a:lnSpc>
                    <a:spcPct val="150000"/>
                  </a:lnSpc>
                  <a:spcBef>
                    <a:spcPts val="0"/>
                  </a:spcBef>
                  <a:buFontTx/>
                  <a:buNone/>
                </a:pPr>
                <a14:m>
                  <m:oMathPara xmlns:m="http://schemas.openxmlformats.org/officeDocument/2006/math">
                    <m:oMathParaPr>
                      <m:jc m:val="centerGroup"/>
                    </m:oMathParaPr>
                    <m:oMath xmlns:m="http://schemas.openxmlformats.org/officeDocument/2006/math">
                      <m:r>
                        <a:rPr lang="en-US" altLang="zh-CN" sz="2400" b="1" i="1">
                          <a:latin typeface="Cambria Math" panose="02040503050406030204" pitchFamily="18" charset="0"/>
                          <a:cs typeface="Times New Roman" panose="02020603050405020304" pitchFamily="18" charset="0"/>
                        </a:rPr>
                        <m:t>=</m:t>
                      </m:r>
                      <m:limLow>
                        <m:limLowPr>
                          <m:ctrlPr>
                            <a:rPr lang="en-US" altLang="zh-CN" sz="2400" i="1">
                              <a:latin typeface="Cambria Math" panose="02040503050406030204" pitchFamily="18" charset="0"/>
                              <a:cs typeface="Times New Roman" panose="02020603050405020304" pitchFamily="18" charset="0"/>
                            </a:rPr>
                          </m:ctrlPr>
                        </m:limLowPr>
                        <m:e>
                          <m:r>
                            <m:rPr>
                              <m:sty m:val="p"/>
                            </m:rPr>
                            <a:rPr lang="en-US" altLang="zh-CN" sz="2400">
                              <a:latin typeface="Cambria Math" panose="02040503050406030204" pitchFamily="18" charset="0"/>
                              <a:cs typeface="Times New Roman" panose="02020603050405020304" pitchFamily="18" charset="0"/>
                            </a:rPr>
                            <m:t>max</m:t>
                          </m:r>
                        </m:e>
                        <m:lim>
                          <m:r>
                            <a:rPr lang="en-US" altLang="zh-CN" sz="2400" i="1">
                              <a:latin typeface="Cambria Math" panose="02040503050406030204" pitchFamily="18" charset="0"/>
                              <a:cs typeface="Times New Roman" panose="02020603050405020304" pitchFamily="18" charset="0"/>
                            </a:rPr>
                            <m:t>0</m:t>
                          </m:r>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𝑠</m:t>
                              </m:r>
                            </m:e>
                            <m:sub>
                              <m:r>
                                <a:rPr lang="en-US" altLang="zh-CN" sz="2400" i="1">
                                  <a:latin typeface="Cambria Math" panose="02040503050406030204" pitchFamily="18" charset="0"/>
                                  <a:cs typeface="Times New Roman" panose="02020603050405020304" pitchFamily="18" charset="0"/>
                                </a:rPr>
                                <m:t>4</m:t>
                              </m:r>
                            </m:sub>
                          </m:sSub>
                        </m:lim>
                      </m:limLow>
                      <m:d>
                        <m:dPr>
                          <m:begChr m:val="["/>
                          <m:endChr m:val="]"/>
                          <m:ctrlPr>
                            <a:rPr lang="en-US" altLang="zh-CN" sz="2400" i="1">
                              <a:latin typeface="Cambria Math" panose="02040503050406030204" pitchFamily="18" charset="0"/>
                              <a:cs typeface="Times New Roman" panose="02020603050405020304" pitchFamily="18" charset="0"/>
                            </a:rPr>
                          </m:ctrlPr>
                        </m:dPr>
                        <m:e>
                          <m:r>
                            <a:rPr lang="en-US" altLang="zh-CN" sz="2400" b="0" i="0" smtClean="0">
                              <a:latin typeface="Cambria Math" panose="02040503050406030204" pitchFamily="18" charset="0"/>
                              <a:cs typeface="Times New Roman" panose="02020603050405020304" pitchFamily="18" charset="0"/>
                            </a:rPr>
                            <m:t>13</m:t>
                          </m:r>
                          <m:r>
                            <a:rPr lang="en-US" altLang="zh-CN" sz="2400" b="0" i="0" smtClean="0">
                              <a:latin typeface="Cambria Math" panose="02040503050406030204" pitchFamily="18" charset="0"/>
                              <a:cs typeface="Times New Roman" panose="02020603050405020304" pitchFamily="18" charset="0"/>
                            </a:rPr>
                            <m:t>.</m:t>
                          </m:r>
                          <m:r>
                            <a:rPr lang="en-US" altLang="zh-CN" sz="2400" b="0" i="0" smtClean="0">
                              <a:latin typeface="Cambria Math" panose="02040503050406030204" pitchFamily="18" charset="0"/>
                              <a:cs typeface="Times New Roman" panose="02020603050405020304" pitchFamily="18" charset="0"/>
                            </a:rPr>
                            <m:t>6</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12</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2</m:t>
                          </m:r>
                          <m:d>
                            <m:dPr>
                              <m:ctrlPr>
                                <a:rPr lang="en-US" altLang="zh-CN" sz="2400" i="1">
                                  <a:latin typeface="Cambria Math" panose="02040503050406030204" pitchFamily="18" charset="0"/>
                                  <a:cs typeface="Times New Roman" panose="02020603050405020304" pitchFamily="18" charset="0"/>
                                </a:rPr>
                              </m:ctrlPr>
                            </m:dPr>
                            <m:e>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𝑠</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e>
                          </m:d>
                        </m:e>
                      </m:d>
                    </m:oMath>
                  </m:oMathPara>
                </a14:m>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 typeface="Arial" panose="020B0604020202020204" pitchFamily="34" charset="0"/>
                  <a:buNone/>
                </a:pPr>
                <a:r>
                  <a:rPr lang="zh-CN" altLang="en-US" sz="2400" dirty="0">
                    <a:latin typeface="Times New Roman" panose="02020603050405020304" pitchFamily="18" charset="0"/>
                    <a:cs typeface="Times New Roman" panose="02020603050405020304" pitchFamily="18" charset="0"/>
                  </a:rPr>
                  <a:t>同样，</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𝑓</m:t>
                    </m:r>
                    <m:r>
                      <a:rPr lang="en-US" altLang="zh-CN" sz="2400" i="1" baseline="-25000" dirty="0">
                        <a:latin typeface="Cambria Math" panose="02040503050406030204" pitchFamily="18" charset="0"/>
                        <a:cs typeface="Times New Roman" panose="02020603050405020304" pitchFamily="18" charset="0"/>
                      </a:rPr>
                      <m:t>4</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4</m:t>
                    </m:r>
                    <m:r>
                      <a:rPr lang="en-US" altLang="zh-CN" sz="2400" i="1" dirty="0">
                        <a:latin typeface="Cambria Math" panose="02040503050406030204" pitchFamily="18" charset="0"/>
                        <a:cs typeface="Times New Roman" panose="02020603050405020304" pitchFamily="18" charset="0"/>
                      </a:rPr>
                      <m:t>)</m:t>
                    </m:r>
                  </m:oMath>
                </a14:m>
                <a:r>
                  <a:rPr lang="zh-CN" altLang="en-US" sz="2400" dirty="0">
                    <a:latin typeface="Times New Roman" panose="02020603050405020304" pitchFamily="18" charset="0"/>
                    <a:cs typeface="Times New Roman" panose="02020603050405020304" pitchFamily="18" charset="0"/>
                  </a:rPr>
                  <a:t>是</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𝑥</m:t>
                    </m:r>
                    <m:r>
                      <a:rPr lang="en-US" altLang="zh-CN" sz="2400" i="1" baseline="-25000" dirty="0">
                        <a:latin typeface="Cambria Math" panose="02040503050406030204" pitchFamily="18" charset="0"/>
                        <a:cs typeface="Times New Roman" panose="02020603050405020304" pitchFamily="18" charset="0"/>
                      </a:rPr>
                      <m:t>4</m:t>
                    </m:r>
                  </m:oMath>
                </a14:m>
                <a:r>
                  <a:rPr lang="zh-CN" altLang="en-US" sz="2400" dirty="0">
                    <a:latin typeface="Times New Roman" panose="02020603050405020304" pitchFamily="18" charset="0"/>
                    <a:cs typeface="Times New Roman" panose="02020603050405020304" pitchFamily="18" charset="0"/>
                  </a:rPr>
                  <a:t>的线性单调增函数，有</a:t>
                </a:r>
                <a14:m>
                  <m:oMath xmlns:m="http://schemas.openxmlformats.org/officeDocument/2006/math">
                    <m:sSubSup>
                      <m:sSubSupPr>
                        <m:ctrlPr>
                          <a:rPr lang="en-US" altLang="zh-CN" sz="2400" b="0" i="1" dirty="0" smtClean="0">
                            <a:latin typeface="Cambria Math" panose="02040503050406030204" pitchFamily="18" charset="0"/>
                            <a:cs typeface="Times New Roman" panose="02020603050405020304" pitchFamily="18" charset="0"/>
                          </a:rPr>
                        </m:ctrlPr>
                      </m:sSubSupPr>
                      <m:e>
                        <m:r>
                          <a:rPr lang="en-US" altLang="zh-CN" sz="2400" b="0" i="1" dirty="0" smtClean="0">
                            <a:latin typeface="Cambria Math" panose="02040503050406030204" pitchFamily="18" charset="0"/>
                            <a:cs typeface="Times New Roman" panose="02020603050405020304" pitchFamily="18" charset="0"/>
                          </a:rPr>
                          <m:t>𝑥</m:t>
                        </m:r>
                      </m:e>
                      <m:sub>
                        <m:r>
                          <a:rPr lang="en-US" altLang="zh-CN" sz="2400" b="0" i="1" dirty="0" smtClean="0">
                            <a:latin typeface="Cambria Math" panose="02040503050406030204" pitchFamily="18" charset="0"/>
                            <a:cs typeface="Times New Roman" panose="02020603050405020304" pitchFamily="18" charset="0"/>
                          </a:rPr>
                          <m:t>4</m:t>
                        </m:r>
                      </m:sub>
                      <m:sup>
                        <m:r>
                          <a:rPr lang="en-US" altLang="zh-CN" sz="2400" b="0" i="1" dirty="0" smtClean="0">
                            <a:latin typeface="Cambria Math" panose="02040503050406030204" pitchFamily="18" charset="0"/>
                            <a:cs typeface="Times New Roman" panose="02020603050405020304" pitchFamily="18" charset="0"/>
                          </a:rPr>
                          <m:t>∗</m:t>
                        </m:r>
                      </m:sup>
                    </m:sSubSup>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4</m:t>
                    </m:r>
                    <m:r>
                      <a:rPr lang="en-US" altLang="zh-CN" sz="2400" i="1" baseline="-25000" dirty="0">
                        <a:latin typeface="Cambria Math" panose="02040503050406030204" pitchFamily="18" charset="0"/>
                        <a:cs typeface="Times New Roman" panose="02020603050405020304" pitchFamily="18" charset="0"/>
                      </a:rPr>
                      <m:t> </m:t>
                    </m:r>
                    <m:r>
                      <a:rPr lang="zh-CN" altLang="en-US" sz="2400" i="1" baseline="-25000"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𝑓</m:t>
                    </m:r>
                    <m:r>
                      <a:rPr lang="en-US" altLang="zh-CN" sz="2400" i="1" baseline="-25000" dirty="0">
                        <a:latin typeface="Cambria Math" panose="02040503050406030204" pitchFamily="18" charset="0"/>
                        <a:cs typeface="Times New Roman" panose="02020603050405020304" pitchFamily="18" charset="0"/>
                      </a:rPr>
                      <m:t>4</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4</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13</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6</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4</m:t>
                    </m:r>
                  </m:oMath>
                </a14:m>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800" dirty="0">
                    <a:latin typeface="Times New Roman" panose="02020603050405020304" pitchFamily="18" charset="0"/>
                    <a:cs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p:txBody>
          </p:sp>
        </mc:Choice>
        <mc:Fallback>
          <p:sp>
            <p:nvSpPr>
              <p:cNvPr id="37891" name="Rectangle 3"/>
              <p:cNvSpPr>
                <a:spLocks noRot="1" noChangeAspect="1" noMove="1" noResize="1" noEditPoints="1" noAdjustHandles="1" noChangeArrowheads="1" noChangeShapeType="1" noTextEdit="1"/>
              </p:cNvSpPr>
              <p:nvPr>
                <p:ph idx="1"/>
              </p:nvPr>
            </p:nvSpPr>
            <p:spPr>
              <a:xfrm>
                <a:off x="1524000" y="1148730"/>
                <a:ext cx="9144000" cy="4560540"/>
              </a:xfrm>
              <a:blipFill rotWithShape="1">
                <a:blip r:embed="rId1"/>
                <a:stretch>
                  <a:fillRect b="14"/>
                </a:stretch>
              </a:blipFill>
            </p:spPr>
            <p:txBody>
              <a:bodyPr/>
              <a:lstStyle/>
              <a:p>
                <a:r>
                  <a:rPr lang="zh-CN" altLang="en-US">
                    <a:noFill/>
                  </a:rPr>
                  <a:t> </a:t>
                </a:r>
              </a:p>
            </p:txBody>
          </p:sp>
        </mc:Fallback>
      </mc:AlternateContent>
      <p:sp>
        <p:nvSpPr>
          <p:cNvPr id="37893" name="Rectangle 4"/>
          <p:cNvSpPr>
            <a:spLocks noChangeArrowheads="1"/>
          </p:cNvSpPr>
          <p:nvPr/>
        </p:nvSpPr>
        <p:spPr bwMode="auto">
          <a:xfrm>
            <a:off x="1524000" y="-317"/>
            <a:ext cx="214630" cy="24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kumimoji="1" lang="en-US" altLang="zh-CN" sz="1000">
                <a:latin typeface="Times New Roman" panose="02020603050405020304" pitchFamily="18" charset="0"/>
                <a:ea typeface="楷体" panose="02010609060101010101" pitchFamily="49" charset="-122"/>
              </a:rPr>
              <a:t> </a:t>
            </a:r>
            <a:endParaRPr kumimoji="1" lang="en-US" altLang="zh-CN" sz="2400">
              <a:latin typeface="Times New Roman" panose="02020603050405020304" pitchFamily="18" charset="0"/>
              <a:ea typeface="楷体" panose="02010609060101010101" pitchFamily="49" charset="-122"/>
            </a:endParaRPr>
          </a:p>
        </p:txBody>
      </p:sp>
      <p:sp>
        <p:nvSpPr>
          <p:cNvPr id="37894" name="Rectangle 6"/>
          <p:cNvSpPr>
            <a:spLocks noChangeArrowheads="1"/>
          </p:cNvSpPr>
          <p:nvPr/>
        </p:nvSpPr>
        <p:spPr bwMode="auto">
          <a:xfrm>
            <a:off x="1524000" y="1463675"/>
            <a:ext cx="21780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kumimoji="1" lang="en-US" altLang="zh-CN" sz="1100">
                <a:latin typeface="Times New Roman" panose="02020603050405020304" pitchFamily="18" charset="0"/>
                <a:ea typeface="楷体" panose="02010609060101010101" pitchFamily="49" charset="-122"/>
              </a:rPr>
              <a:t> </a:t>
            </a:r>
            <a:endParaRPr kumimoji="1" lang="en-US" altLang="zh-CN" sz="2400">
              <a:latin typeface="Times New Roman" panose="02020603050405020304" pitchFamily="18" charset="0"/>
              <a:ea typeface="楷体" panose="02010609060101010101" pitchFamily="49" charset="-122"/>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8915" name="Rectangle 3"/>
              <p:cNvSpPr>
                <a:spLocks noGrp="1" noChangeArrowheads="1"/>
              </p:cNvSpPr>
              <p:nvPr>
                <p:ph idx="1"/>
              </p:nvPr>
            </p:nvSpPr>
            <p:spPr>
              <a:xfrm>
                <a:off x="1524000" y="1063072"/>
                <a:ext cx="9144000" cy="5275262"/>
              </a:xfrm>
            </p:spPr>
            <p:txBody>
              <a:bodyPr/>
              <a:lstStyle/>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依次类推，可得</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𝑓</m:t>
                    </m:r>
                    <m:r>
                      <a:rPr lang="en-US" altLang="zh-CN" sz="2400" i="1" baseline="-25000" dirty="0">
                        <a:latin typeface="Cambria Math" panose="02040503050406030204" pitchFamily="18" charset="0"/>
                        <a:cs typeface="Times New Roman" panose="02020603050405020304" pitchFamily="18" charset="0"/>
                      </a:rPr>
                      <m:t>3</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3</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17</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52</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3</m:t>
                    </m:r>
                  </m:oMath>
                </a14:m>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𝑓</m:t>
                    </m:r>
                    <m:r>
                      <a:rPr lang="en-US" altLang="zh-CN" sz="2400" i="1" baseline="-25000" dirty="0">
                        <a:latin typeface="Cambria Math" panose="02040503050406030204" pitchFamily="18" charset="0"/>
                        <a:cs typeface="Times New Roman" panose="02020603050405020304" pitchFamily="18" charset="0"/>
                      </a:rPr>
                      <m:t>2</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2</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20</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768</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2</m:t>
                    </m:r>
                  </m:oMath>
                </a14:m>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𝑓</m:t>
                    </m:r>
                    <m:r>
                      <a:rPr lang="en-US" altLang="zh-CN" sz="2400" i="1" baseline="-25000" dirty="0">
                        <a:latin typeface="Cambria Math" panose="02040503050406030204" pitchFamily="18" charset="0"/>
                        <a:cs typeface="Times New Roman" panose="02020603050405020304" pitchFamily="18" charset="0"/>
                      </a:rPr>
                      <m:t>1</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1</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23</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6912</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1</m:t>
                    </m:r>
                  </m:oMath>
                </a14:m>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        因为期初共有完好机器</a:t>
                </a:r>
                <a:r>
                  <a:rPr lang="en-US" altLang="zh-CN" sz="2400" dirty="0">
                    <a:latin typeface="Times New Roman" panose="02020603050405020304" pitchFamily="18" charset="0"/>
                    <a:cs typeface="Times New Roman" panose="02020603050405020304" pitchFamily="18" charset="0"/>
                  </a:rPr>
                  <a:t>1000</a:t>
                </a:r>
                <a:r>
                  <a:rPr lang="zh-CN" altLang="en-US" sz="2400" dirty="0">
                    <a:latin typeface="Times New Roman" panose="02020603050405020304" pitchFamily="18" charset="0"/>
                    <a:cs typeface="Times New Roman" panose="02020603050405020304" pitchFamily="18" charset="0"/>
                  </a:rPr>
                  <a:t>台，故</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1</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1000</m:t>
                    </m:r>
                  </m:oMath>
                </a14:m>
                <a:r>
                  <a:rPr lang="zh-CN" altLang="en-US" sz="2400" dirty="0">
                    <a:latin typeface="Times New Roman" panose="02020603050405020304" pitchFamily="18" charset="0"/>
                    <a:cs typeface="Times New Roman" panose="02020603050405020304" pitchFamily="18" charset="0"/>
                  </a:rPr>
                  <a:t>。有</a:t>
                </a:r>
                <a14:m>
                  <m:oMath xmlns:m="http://schemas.openxmlformats.org/officeDocument/2006/math">
                    <m:r>
                      <a:rPr lang="en-US" altLang="zh-CN" sz="2400" i="1" dirty="0" smtClean="0">
                        <a:latin typeface="Cambria Math" panose="02040503050406030204" pitchFamily="18" charset="0"/>
                        <a:cs typeface="Times New Roman" panose="02020603050405020304" pitchFamily="18" charset="0"/>
                      </a:rPr>
                      <m:t>𝑓</m:t>
                    </m:r>
                    <m:r>
                      <a:rPr lang="en-US" altLang="zh-CN" sz="2400" i="1" baseline="-25000" dirty="0">
                        <a:latin typeface="Cambria Math" panose="02040503050406030204" pitchFamily="18" charset="0"/>
                        <a:cs typeface="Times New Roman" panose="02020603050405020304" pitchFamily="18" charset="0"/>
                      </a:rPr>
                      <m:t>1</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1</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23</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6912</m:t>
                    </m:r>
                    <m:r>
                      <a:rPr lang="en-US" altLang="zh-CN" sz="2400" i="1" dirty="0">
                        <a:latin typeface="Cambria Math" panose="02040503050406030204" pitchFamily="18" charset="0"/>
                        <a:cs typeface="Times New Roman" panose="02020603050405020304" pitchFamily="18" charset="0"/>
                      </a:rPr>
                      <m:t>𝑠</m:t>
                    </m:r>
                    <m:r>
                      <a:rPr lang="en-US" altLang="zh-CN" sz="2400" i="1" baseline="-25000" dirty="0">
                        <a:latin typeface="Cambria Math" panose="02040503050406030204" pitchFamily="18" charset="0"/>
                        <a:cs typeface="Times New Roman" panose="02020603050405020304" pitchFamily="18" charset="0"/>
                      </a:rPr>
                      <m:t>1</m:t>
                    </m:r>
                    <m:r>
                      <a:rPr lang="zh-CN" altLang="en-US"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23691</m:t>
                    </m:r>
                    <m:r>
                      <a:rPr lang="en-US" altLang="zh-CN" sz="2400" i="1" dirty="0">
                        <a:latin typeface="Cambria Math" panose="02040503050406030204" pitchFamily="18" charset="0"/>
                        <a:cs typeface="Times New Roman" panose="02020603050405020304" pitchFamily="18" charset="0"/>
                      </a:rPr>
                      <m:t>.</m:t>
                    </m:r>
                    <m:r>
                      <a:rPr lang="en-US" altLang="zh-CN" sz="2400" i="1" dirty="0">
                        <a:latin typeface="Cambria Math" panose="02040503050406030204" pitchFamily="18" charset="0"/>
                        <a:cs typeface="Times New Roman" panose="02020603050405020304" pitchFamily="18" charset="0"/>
                      </a:rPr>
                      <m:t>2</m:t>
                    </m:r>
                  </m:oMath>
                </a14:m>
                <a:r>
                  <a:rPr lang="zh-CN" altLang="en-US" sz="2400" dirty="0">
                    <a:latin typeface="Times New Roman" panose="02020603050405020304" pitchFamily="18" charset="0"/>
                    <a:cs typeface="Times New Roman" panose="02020603050405020304" pitchFamily="18" charset="0"/>
                  </a:rPr>
                  <a:t>，即</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年最大的产量为</a:t>
                </a:r>
                <a:r>
                  <a:rPr lang="en-US" altLang="zh-CN" sz="2400" dirty="0">
                    <a:latin typeface="Times New Roman" panose="02020603050405020304" pitchFamily="18" charset="0"/>
                    <a:cs typeface="Times New Roman" panose="02020603050405020304" pitchFamily="18" charset="0"/>
                  </a:rPr>
                  <a:t>23691</a:t>
                </a:r>
                <a:r>
                  <a:rPr lang="zh-CN" altLang="en-US" sz="2400" dirty="0">
                    <a:latin typeface="Times New Roman" panose="02020603050405020304" pitchFamily="18" charset="0"/>
                    <a:cs typeface="Times New Roman" panose="02020603050405020304" pitchFamily="18" charset="0"/>
                  </a:rPr>
                  <a:t>台。</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最优解为</a:t>
                </a:r>
                <a:endParaRPr lang="en-US" altLang="zh-CN" sz="2400" b="0" i="1" dirty="0">
                  <a:latin typeface="Cambria Math" panose="02040503050406030204" pitchFamily="18" charset="0"/>
                  <a:cs typeface="Times New Roman" panose="02020603050405020304" pitchFamily="18" charset="0"/>
                </a:endParaRPr>
              </a:p>
              <a:p>
                <a:pPr marL="0" indent="0" algn="just" eaLnBrk="1" hangingPunct="1">
                  <a:lnSpc>
                    <a:spcPct val="150000"/>
                  </a:lnSpc>
                  <a:spcBef>
                    <a:spcPts val="0"/>
                  </a:spcBef>
                  <a:buFontTx/>
                  <a:buNone/>
                </a:pPr>
                <a14:m>
                  <m:oMathPara xmlns:m="http://schemas.openxmlformats.org/officeDocument/2006/math">
                    <m:oMathParaPr>
                      <m:jc m:val="centerGroup"/>
                    </m:oMathParaPr>
                    <m:oMath xmlns:m="http://schemas.openxmlformats.org/officeDocument/2006/math">
                      <m:sSubSup>
                        <m:sSubSupPr>
                          <m:ctrlPr>
                            <a:rPr lang="en-US" altLang="zh-CN" sz="2400" b="0" i="1" smtClean="0">
                              <a:latin typeface="Cambria Math" panose="02040503050406030204" pitchFamily="18" charset="0"/>
                              <a:cs typeface="Times New Roman" panose="02020603050405020304" pitchFamily="18" charset="0"/>
                            </a:rPr>
                          </m:ctrlPr>
                        </m:sSubSup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1</m:t>
                          </m:r>
                        </m:sub>
                        <m:sup>
                          <m:r>
                            <a:rPr lang="en-US" altLang="zh-CN" sz="2400" b="0" i="1" smtClean="0">
                              <a:latin typeface="Cambria Math" panose="02040503050406030204" pitchFamily="18" charset="0"/>
                              <a:cs typeface="Times New Roman" panose="02020603050405020304" pitchFamily="18" charset="0"/>
                            </a:rPr>
                            <m:t>∗</m:t>
                          </m:r>
                        </m:sup>
                      </m:sSubSup>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0</m:t>
                      </m:r>
                      <m:r>
                        <a:rPr lang="en-US" altLang="zh-CN" sz="2400" b="0" i="1" smtClean="0">
                          <a:latin typeface="Cambria Math" panose="02040503050406030204" pitchFamily="18" charset="0"/>
                          <a:cs typeface="Times New Roman" panose="02020603050405020304" pitchFamily="18" charset="0"/>
                        </a:rPr>
                        <m:t>,</m:t>
                      </m:r>
                      <m:sSubSup>
                        <m:sSubSupPr>
                          <m:ctrlPr>
                            <a:rPr lang="en-US" altLang="zh-CN" sz="2400" b="0" i="1" smtClean="0">
                              <a:latin typeface="Cambria Math" panose="02040503050406030204" pitchFamily="18" charset="0"/>
                              <a:cs typeface="Times New Roman" panose="02020603050405020304" pitchFamily="18" charset="0"/>
                            </a:rPr>
                          </m:ctrlPr>
                        </m:sSubSup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2</m:t>
                          </m:r>
                        </m:sub>
                        <m:sup>
                          <m:r>
                            <a:rPr lang="en-US" altLang="zh-CN" sz="2400" b="0" i="1" smtClean="0">
                              <a:latin typeface="Cambria Math" panose="02040503050406030204" pitchFamily="18" charset="0"/>
                              <a:cs typeface="Times New Roman" panose="02020603050405020304" pitchFamily="18" charset="0"/>
                            </a:rPr>
                            <m:t>∗</m:t>
                          </m:r>
                        </m:sup>
                      </m:sSubSup>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0</m:t>
                      </m:r>
                      <m:r>
                        <a:rPr lang="en-US" altLang="zh-CN" sz="2400" b="0" i="1" smtClean="0">
                          <a:latin typeface="Cambria Math" panose="02040503050406030204" pitchFamily="18" charset="0"/>
                          <a:cs typeface="Times New Roman" panose="02020603050405020304" pitchFamily="18" charset="0"/>
                        </a:rPr>
                        <m:t>,</m:t>
                      </m:r>
                      <m:sSubSup>
                        <m:sSubSupPr>
                          <m:ctrlPr>
                            <a:rPr lang="en-US" altLang="zh-CN" sz="2400" b="0" i="1" smtClean="0">
                              <a:latin typeface="Cambria Math" panose="02040503050406030204" pitchFamily="18" charset="0"/>
                              <a:cs typeface="Times New Roman" panose="02020603050405020304" pitchFamily="18" charset="0"/>
                            </a:rPr>
                          </m:ctrlPr>
                        </m:sSubSup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3</m:t>
                          </m:r>
                        </m:sub>
                        <m:sup>
                          <m:r>
                            <a:rPr lang="en-US" altLang="zh-CN" sz="2400" b="0" i="1" smtClean="0">
                              <a:latin typeface="Cambria Math" panose="02040503050406030204" pitchFamily="18" charset="0"/>
                              <a:cs typeface="Times New Roman" panose="02020603050405020304" pitchFamily="18" charset="0"/>
                            </a:rPr>
                            <m:t>∗</m:t>
                          </m:r>
                        </m:sup>
                      </m:sSubSup>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3</m:t>
                          </m:r>
                        </m:sub>
                      </m:sSub>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810</m:t>
                      </m:r>
                      <m:r>
                        <a:rPr lang="en-US" altLang="zh-CN" sz="2400" b="0" i="1" smtClean="0">
                          <a:latin typeface="Cambria Math" panose="02040503050406030204" pitchFamily="18" charset="0"/>
                          <a:cs typeface="Times New Roman" panose="02020603050405020304" pitchFamily="18" charset="0"/>
                        </a:rPr>
                        <m:t>,</m:t>
                      </m:r>
                      <m:sSubSup>
                        <m:sSubSupPr>
                          <m:ctrlPr>
                            <a:rPr lang="en-US" altLang="zh-CN" sz="2400" b="0" i="1" smtClean="0">
                              <a:latin typeface="Cambria Math" panose="02040503050406030204" pitchFamily="18" charset="0"/>
                              <a:cs typeface="Times New Roman" panose="02020603050405020304" pitchFamily="18" charset="0"/>
                            </a:rPr>
                          </m:ctrlPr>
                        </m:sSubSup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4</m:t>
                          </m:r>
                        </m:sub>
                        <m:sup>
                          <m:r>
                            <a:rPr lang="en-US" altLang="zh-CN" sz="2400" b="0" i="1" smtClean="0">
                              <a:latin typeface="Cambria Math" panose="02040503050406030204" pitchFamily="18" charset="0"/>
                              <a:cs typeface="Times New Roman" panose="02020603050405020304" pitchFamily="18" charset="0"/>
                            </a:rPr>
                            <m:t>∗</m:t>
                          </m:r>
                        </m:sup>
                      </m:sSubSup>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4</m:t>
                          </m:r>
                        </m:sub>
                      </m:sSub>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567</m:t>
                      </m:r>
                      <m:r>
                        <a:rPr lang="en-US" altLang="zh-CN" sz="2400" b="0" i="1" smtClean="0">
                          <a:latin typeface="Cambria Math" panose="02040503050406030204" pitchFamily="18" charset="0"/>
                          <a:cs typeface="Times New Roman" panose="02020603050405020304" pitchFamily="18" charset="0"/>
                        </a:rPr>
                        <m:t>,</m:t>
                      </m:r>
                      <m:sSubSup>
                        <m:sSubSupPr>
                          <m:ctrlPr>
                            <a:rPr lang="en-US" altLang="zh-CN" sz="2400" b="0" i="1" smtClean="0">
                              <a:latin typeface="Cambria Math" panose="02040503050406030204" pitchFamily="18" charset="0"/>
                              <a:cs typeface="Times New Roman" panose="02020603050405020304" pitchFamily="18" charset="0"/>
                            </a:rPr>
                          </m:ctrlPr>
                        </m:sSubSupPr>
                        <m:e>
                          <m:r>
                            <a:rPr lang="en-US" altLang="zh-CN" sz="2400" b="0" i="1" smtClean="0">
                              <a:latin typeface="Cambria Math" panose="02040503050406030204" pitchFamily="18" charset="0"/>
                              <a:cs typeface="Times New Roman" panose="02020603050405020304" pitchFamily="18" charset="0"/>
                            </a:rPr>
                            <m:t>𝑥</m:t>
                          </m:r>
                        </m:e>
                        <m:sub>
                          <m:r>
                            <a:rPr lang="en-US" altLang="zh-CN" sz="2400" b="0" i="1" smtClean="0">
                              <a:latin typeface="Cambria Math" panose="02040503050406030204" pitchFamily="18" charset="0"/>
                              <a:cs typeface="Times New Roman" panose="02020603050405020304" pitchFamily="18" charset="0"/>
                            </a:rPr>
                            <m:t>5</m:t>
                          </m:r>
                        </m:sub>
                        <m:sup>
                          <m:r>
                            <a:rPr lang="en-US" altLang="zh-CN" sz="2400" b="0" i="1" smtClean="0">
                              <a:latin typeface="Cambria Math" panose="02040503050406030204" pitchFamily="18" charset="0"/>
                              <a:cs typeface="Times New Roman" panose="02020603050405020304" pitchFamily="18" charset="0"/>
                            </a:rPr>
                            <m:t>∗</m:t>
                          </m:r>
                        </m:sup>
                      </m:sSubSup>
                      <m:r>
                        <a:rPr lang="en-US" altLang="zh-CN" sz="2400" b="0" i="1" smtClean="0">
                          <a:latin typeface="Cambria Math" panose="02040503050406030204" pitchFamily="18" charset="0"/>
                          <a:cs typeface="Times New Roman" panose="02020603050405020304" pitchFamily="18" charset="0"/>
                        </a:rPr>
                        <m:t>=</m:t>
                      </m:r>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𝑠</m:t>
                          </m:r>
                        </m:e>
                        <m:sub>
                          <m:r>
                            <a:rPr lang="en-US" altLang="zh-CN" sz="2400" b="0" i="1" smtClean="0">
                              <a:latin typeface="Cambria Math" panose="02040503050406030204" pitchFamily="18" charset="0"/>
                              <a:cs typeface="Times New Roman" panose="02020603050405020304" pitchFamily="18" charset="0"/>
                            </a:rPr>
                            <m:t>5</m:t>
                          </m:r>
                        </m:sub>
                      </m:sSub>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396</m:t>
                      </m:r>
                      <m:r>
                        <a:rPr lang="en-US" altLang="zh-CN" sz="2400" b="0" i="1" smtClean="0">
                          <a:latin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cs typeface="Times New Roman" panose="02020603050405020304" pitchFamily="18" charset="0"/>
                        </a:rPr>
                        <m:t>9</m:t>
                      </m:r>
                      <m:r>
                        <a:rPr lang="en-US" altLang="zh-CN" sz="2400" b="0" i="1" smtClean="0">
                          <a:latin typeface="Cambria Math" panose="02040503050406030204" pitchFamily="18" charset="0"/>
                          <a:cs typeface="Times New Roman" panose="02020603050405020304" pitchFamily="18" charset="0"/>
                        </a:rPr>
                        <m:t>.</m:t>
                      </m:r>
                    </m:oMath>
                  </m:oMathPara>
                </a14:m>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       即</a:t>
                </a:r>
                <a:r>
                  <a:rPr lang="zh-CN" altLang="en-US" sz="2400" dirty="0">
                    <a:solidFill>
                      <a:srgbClr val="FF0000"/>
                    </a:solidFill>
                    <a:latin typeface="Times New Roman" panose="02020603050405020304" pitchFamily="18" charset="0"/>
                    <a:cs typeface="Times New Roman" panose="02020603050405020304" pitchFamily="18" charset="0"/>
                  </a:rPr>
                  <a:t>前两年应把年初完好机器完全投入低负荷生产，后三年应把年初完好机器完全投入高负荷生产</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38915" name="Rectangle 3"/>
              <p:cNvSpPr>
                <a:spLocks noRot="1" noChangeAspect="1" noMove="1" noResize="1" noEditPoints="1" noAdjustHandles="1" noChangeArrowheads="1" noChangeShapeType="1" noTextEdit="1"/>
              </p:cNvSpPr>
              <p:nvPr>
                <p:ph idx="1"/>
              </p:nvPr>
            </p:nvSpPr>
            <p:spPr>
              <a:xfrm>
                <a:off x="1524000" y="1063072"/>
                <a:ext cx="9144000" cy="5275262"/>
              </a:xfrm>
              <a:blipFill rotWithShape="1">
                <a:blip r:embed="rId1"/>
                <a:stretch>
                  <a:fillRect t="-2" b="8"/>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0354" name="Rectangle 3"/>
              <p:cNvSpPr>
                <a:spLocks noGrp="1" noChangeArrowheads="1"/>
              </p:cNvSpPr>
              <p:nvPr>
                <p:ph idx="1"/>
              </p:nvPr>
            </p:nvSpPr>
            <p:spPr>
              <a:xfrm>
                <a:off x="1981200" y="1709365"/>
                <a:ext cx="8229600" cy="3439269"/>
              </a:xfrm>
            </p:spPr>
            <p:txBody>
              <a:bodyPr>
                <a:normAutofit lnSpcReduction="10000"/>
              </a:bodyPr>
              <a:lstStyle/>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上面所讨论的最优策略过程，初始端状态</a:t>
                </a:r>
                <a14:m>
                  <m:oMath xmlns:m="http://schemas.openxmlformats.org/officeDocument/2006/math">
                    <m:r>
                      <a:rPr lang="en-US" altLang="zh-CN" sz="2400" i="1" dirty="0" smtClean="0">
                        <a:latin typeface="Cambria Math" panose="02040503050406030204" pitchFamily="18" charset="0"/>
                      </a:rPr>
                      <m:t>𝑠</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1000</m:t>
                    </m:r>
                  </m:oMath>
                </a14:m>
                <a:r>
                  <a:rPr lang="zh-CN" altLang="en-US" sz="2400" dirty="0">
                    <a:latin typeface="Times New Roman" panose="02020603050405020304" pitchFamily="18" charset="0"/>
                    <a:cs typeface="Times New Roman" panose="02020603050405020304" pitchFamily="18" charset="0"/>
                  </a:rPr>
                  <a:t>台是固定的，终点状态</a:t>
                </a:r>
                <a14:m>
                  <m:oMath xmlns:m="http://schemas.openxmlformats.org/officeDocument/2006/math">
                    <m:r>
                      <a:rPr lang="en-US" altLang="zh-CN" sz="2400" i="1" dirty="0" smtClean="0">
                        <a:latin typeface="Cambria Math" panose="02040503050406030204" pitchFamily="18" charset="0"/>
                      </a:rPr>
                      <m:t>𝑠</m:t>
                    </m:r>
                    <m:r>
                      <a:rPr lang="en-US" altLang="zh-CN" sz="2400" i="1" baseline="-25000" dirty="0">
                        <a:latin typeface="Cambria Math" panose="02040503050406030204" pitchFamily="18" charset="0"/>
                      </a:rPr>
                      <m:t>6</m:t>
                    </m:r>
                  </m:oMath>
                </a14:m>
                <a:r>
                  <a:rPr lang="zh-CN" altLang="en-US" sz="2400" dirty="0">
                    <a:latin typeface="Times New Roman" panose="02020603050405020304" pitchFamily="18" charset="0"/>
                    <a:cs typeface="Times New Roman" panose="02020603050405020304" pitchFamily="18" charset="0"/>
                  </a:rPr>
                  <a:t>没有要求。这种情况下得到最优决策称为</a:t>
                </a:r>
                <a:r>
                  <a:rPr lang="zh-CN" altLang="en-US" sz="2400" dirty="0">
                    <a:solidFill>
                      <a:srgbClr val="FF0000"/>
                    </a:solidFill>
                    <a:latin typeface="Times New Roman" panose="02020603050405020304" pitchFamily="18" charset="0"/>
                    <a:cs typeface="Times New Roman" panose="02020603050405020304" pitchFamily="18" charset="0"/>
                  </a:rPr>
                  <a:t>初始端固定终点自由的最优策略</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marL="0" indent="0" algn="just" eaLnBrk="1" hangingPunct="1">
                  <a:lnSpc>
                    <a:spcPct val="150000"/>
                  </a:lnSpc>
                  <a:spcBef>
                    <a:spcPts val="0"/>
                  </a:spcBef>
                  <a:buFontTx/>
                  <a:buNone/>
                </a:pPr>
                <a:r>
                  <a:rPr lang="zh-CN" altLang="en-US" sz="2400" dirty="0">
                    <a:latin typeface="Times New Roman" panose="02020603050405020304" pitchFamily="18" charset="0"/>
                    <a:cs typeface="Times New Roman" panose="02020603050405020304" pitchFamily="18" charset="0"/>
                  </a:rPr>
                  <a:t>如果终点附加一定的条件，则问题就称为“</a:t>
                </a:r>
                <a:r>
                  <a:rPr lang="zh-CN" altLang="en-US" sz="2400" dirty="0">
                    <a:solidFill>
                      <a:srgbClr val="FF0000"/>
                    </a:solidFill>
                    <a:latin typeface="Times New Roman" panose="02020603050405020304" pitchFamily="18" charset="0"/>
                    <a:cs typeface="Times New Roman" panose="02020603050405020304" pitchFamily="18" charset="0"/>
                  </a:rPr>
                  <a:t>终端固定问题</a:t>
                </a:r>
                <a:r>
                  <a:rPr lang="zh-CN" altLang="en-US" sz="2400" dirty="0">
                    <a:latin typeface="Times New Roman" panose="02020603050405020304" pitchFamily="18" charset="0"/>
                    <a:cs typeface="Times New Roman" panose="02020603050405020304" pitchFamily="18" charset="0"/>
                  </a:rPr>
                  <a:t>”。例如，规定在第</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年度结束时仍要保持</a:t>
                </a:r>
                <a:r>
                  <a:rPr lang="en-US" altLang="zh-CN" sz="2400" dirty="0">
                    <a:latin typeface="Times New Roman" panose="02020603050405020304" pitchFamily="18" charset="0"/>
                    <a:cs typeface="Times New Roman" panose="02020603050405020304" pitchFamily="18" charset="0"/>
                  </a:rPr>
                  <a:t>500</a:t>
                </a:r>
                <a:r>
                  <a:rPr lang="zh-CN" altLang="en-US" sz="2400" dirty="0">
                    <a:latin typeface="Times New Roman" panose="02020603050405020304" pitchFamily="18" charset="0"/>
                    <a:cs typeface="Times New Roman" panose="02020603050405020304" pitchFamily="18" charset="0"/>
                  </a:rPr>
                  <a:t>台机器完好（而不是</a:t>
                </a:r>
                <a:r>
                  <a:rPr lang="en-US" altLang="zh-CN" sz="2400" dirty="0">
                    <a:latin typeface="Times New Roman" panose="02020603050405020304" pitchFamily="18" charset="0"/>
                    <a:cs typeface="Times New Roman" panose="02020603050405020304" pitchFamily="18" charset="0"/>
                  </a:rPr>
                  <a:t>278</a:t>
                </a:r>
                <a:r>
                  <a:rPr lang="zh-CN" altLang="en-US" sz="2400" dirty="0">
                    <a:latin typeface="Times New Roman" panose="02020603050405020304" pitchFamily="18" charset="0"/>
                    <a:cs typeface="Times New Roman" panose="02020603050405020304" pitchFamily="18" charset="0"/>
                  </a:rPr>
                  <a:t>台），应如何安排生产才能使得总产量最大？</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100354" name="Rectangle 3"/>
              <p:cNvSpPr>
                <a:spLocks noRot="1" noChangeAspect="1" noMove="1" noResize="1" noEditPoints="1" noAdjustHandles="1" noChangeArrowheads="1" noChangeShapeType="1" noTextEdit="1"/>
              </p:cNvSpPr>
              <p:nvPr>
                <p:ph idx="1"/>
              </p:nvPr>
            </p:nvSpPr>
            <p:spPr>
              <a:xfrm>
                <a:off x="1981200" y="1709365"/>
                <a:ext cx="8229600" cy="3439269"/>
              </a:xfrm>
              <a:blipFill rotWithShape="1">
                <a:blip r:embed="rId1"/>
                <a:stretch>
                  <a:fillRect t="-17" r="-1111" b="2"/>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0968" name="Rectangle 3"/>
              <p:cNvSpPr>
                <a:spLocks noGrp="1" noChangeArrowheads="1"/>
              </p:cNvSpPr>
              <p:nvPr>
                <p:ph idx="1"/>
              </p:nvPr>
            </p:nvSpPr>
            <p:spPr>
              <a:xfrm>
                <a:off x="1981200" y="970744"/>
                <a:ext cx="8229600" cy="5502434"/>
              </a:xfrm>
            </p:spPr>
            <p:txBody>
              <a:bodyPr/>
              <a:lstStyle/>
              <a:p>
                <a:pPr marL="0" indent="0">
                  <a:spcBef>
                    <a:spcPts val="0"/>
                  </a:spcBef>
                  <a:buNone/>
                </a:pPr>
                <a:r>
                  <a:rPr lang="zh-CN" altLang="en-US" sz="2400" dirty="0">
                    <a:solidFill>
                      <a:srgbClr val="000000"/>
                    </a:solidFill>
                  </a:rPr>
                  <a:t>根据终点条件有</a:t>
                </a:r>
                <a14:m>
                  <m:oMath xmlns:m="http://schemas.openxmlformats.org/officeDocument/2006/math">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𝑠</m:t>
                        </m:r>
                      </m:e>
                      <m:sub>
                        <m:r>
                          <a:rPr lang="en-US" altLang="zh-CN" sz="2400" i="1">
                            <a:solidFill>
                              <a:srgbClr val="000000"/>
                            </a:solidFill>
                            <a:latin typeface="Cambria Math" panose="02040503050406030204" pitchFamily="18" charset="0"/>
                          </a:rPr>
                          <m:t>6</m:t>
                        </m:r>
                      </m:sub>
                    </m:sSub>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7</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𝑥</m:t>
                        </m:r>
                      </m:e>
                      <m:sub>
                        <m:r>
                          <a:rPr lang="en-US" altLang="zh-CN" sz="2400" i="1">
                            <a:solidFill>
                              <a:srgbClr val="000000"/>
                            </a:solidFill>
                            <a:latin typeface="Cambria Math" panose="02040503050406030204" pitchFamily="18" charset="0"/>
                          </a:rPr>
                          <m:t>5</m:t>
                        </m:r>
                      </m:sub>
                    </m:sSub>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0</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9</m:t>
                    </m:r>
                    <m:d>
                      <m:dPr>
                        <m:ctrlPr>
                          <a:rPr lang="en-US" altLang="zh-CN" sz="2400" i="1">
                            <a:solidFill>
                              <a:srgbClr val="000000"/>
                            </a:solidFill>
                            <a:latin typeface="Cambria Math" panose="02040503050406030204" pitchFamily="18" charset="0"/>
                          </a:rPr>
                        </m:ctrlPr>
                      </m:dPr>
                      <m:e>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𝑠</m:t>
                            </m:r>
                          </m:e>
                          <m:sub>
                            <m:r>
                              <a:rPr lang="en-US" altLang="zh-CN" sz="2400" i="1">
                                <a:solidFill>
                                  <a:srgbClr val="000000"/>
                                </a:solidFill>
                                <a:latin typeface="Cambria Math" panose="02040503050406030204" pitchFamily="18" charset="0"/>
                              </a:rPr>
                              <m:t>5</m:t>
                            </m:r>
                          </m:sub>
                        </m:sSub>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𝑥</m:t>
                            </m:r>
                          </m:e>
                          <m:sub>
                            <m:r>
                              <a:rPr lang="en-US" altLang="zh-CN" sz="2400" i="1">
                                <a:solidFill>
                                  <a:srgbClr val="000000"/>
                                </a:solidFill>
                                <a:latin typeface="Cambria Math" panose="02040503050406030204" pitchFamily="18" charset="0"/>
                              </a:rPr>
                              <m:t>5</m:t>
                            </m:r>
                          </m:sub>
                        </m:sSub>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500</m:t>
                    </m:r>
                    <m:r>
                      <a:rPr lang="en-US" altLang="zh-CN" sz="2400" i="1">
                        <a:solidFill>
                          <a:srgbClr val="000000"/>
                        </a:solidFill>
                        <a:latin typeface="Cambria Math" panose="02040503050406030204" pitchFamily="18" charset="0"/>
                      </a:rPr>
                      <m:t>,</m:t>
                    </m:r>
                  </m:oMath>
                </a14:m>
                <a:r>
                  <a:rPr lang="zh-CN" altLang="en-US" sz="2400" dirty="0">
                    <a:solidFill>
                      <a:srgbClr val="000000"/>
                    </a:solidFill>
                  </a:rPr>
                  <a:t>可得</a:t>
                </a:r>
                <a:endParaRPr lang="en-US" altLang="zh-CN" sz="2400" dirty="0">
                  <a:solidFill>
                    <a:srgbClr val="000000"/>
                  </a:solidFill>
                </a:endParaRPr>
              </a:p>
              <a:p>
                <a:pPr marL="0" indent="0" algn="ctr">
                  <a:lnSpc>
                    <a:spcPct val="15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4</m:t>
                      </m:r>
                      <m:r>
                        <a:rPr lang="en-US" altLang="zh-CN" sz="2400" i="1">
                          <a:latin typeface="Cambria Math" panose="02040503050406030204" pitchFamily="18" charset="0"/>
                        </a:rPr>
                        <m:t>.</m:t>
                      </m:r>
                      <m:r>
                        <a:rPr lang="en-US" altLang="zh-CN" sz="2400" i="1">
                          <a:latin typeface="Cambria Math" panose="02040503050406030204" pitchFamily="18" charset="0"/>
                        </a:rPr>
                        <m:t>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2500</m:t>
                      </m:r>
                    </m:oMath>
                  </m:oMathPara>
                </a14:m>
                <a:endParaRPr lang="en-US" altLang="zh-CN" sz="2400" dirty="0">
                  <a:latin typeface="Arial" panose="020B0604020202020204" pitchFamily="34" charset="0"/>
                </a:endParaRPr>
              </a:p>
              <a:p>
                <a:pPr marL="0" indent="0" eaLnBrk="1" hangingPunct="1">
                  <a:lnSpc>
                    <a:spcPct val="120000"/>
                  </a:lnSpc>
                  <a:spcBef>
                    <a:spcPts val="0"/>
                  </a:spcBef>
                  <a:buNone/>
                </a:pPr>
                <a:r>
                  <a:rPr lang="zh-CN" altLang="en-US" sz="2400" dirty="0">
                    <a:latin typeface="Arial" panose="020B0604020202020204" pitchFamily="34" charset="0"/>
                  </a:rPr>
                  <a:t>显然，由于固定了终点的状态，</a:t>
                </a:r>
                <a14:m>
                  <m:oMath xmlns:m="http://schemas.openxmlformats.org/officeDocument/2006/math">
                    <m:r>
                      <a:rPr lang="en-US" altLang="zh-CN" sz="2400" i="1" dirty="0" smtClean="0">
                        <a:latin typeface="Cambria Math" panose="02040503050406030204" pitchFamily="18" charset="0"/>
                      </a:rPr>
                      <m:t>𝑥</m:t>
                    </m:r>
                    <m:r>
                      <a:rPr lang="en-US" altLang="zh-CN" sz="2400" i="1" baseline="-25000" dirty="0" smtClean="0">
                        <a:latin typeface="Cambria Math" panose="02040503050406030204" pitchFamily="18" charset="0"/>
                      </a:rPr>
                      <m:t>5</m:t>
                    </m:r>
                  </m:oMath>
                </a14:m>
                <a:r>
                  <a:rPr lang="zh-CN" altLang="en-US" sz="2400" dirty="0">
                    <a:latin typeface="Arial" panose="020B0604020202020204" pitchFamily="34" charset="0"/>
                  </a:rPr>
                  <a:t>的取值受到了约束。因此有</a:t>
                </a:r>
                <a:endParaRPr lang="zh-CN" altLang="en-US" sz="2400" dirty="0">
                  <a:latin typeface="Arial" panose="020B0604020202020204" pitchFamily="34" charset="0"/>
                </a:endParaRPr>
              </a:p>
              <a:p>
                <a:pPr marL="0" indent="0" algn="ctr" eaLnBrk="1" hangingPunct="1">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5</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5</m:t>
                              </m:r>
                            </m:sub>
                          </m:sSub>
                        </m:e>
                      </m:d>
                      <m:r>
                        <a:rPr lang="en-US" altLang="zh-CN" sz="2400" i="1">
                          <a:latin typeface="Cambria Math" panose="02040503050406030204" pitchFamily="18" charset="0"/>
                        </a:rPr>
                        <m:t>=</m:t>
                      </m:r>
                      <m:r>
                        <a:rPr lang="en-US" altLang="zh-CN" sz="2400" i="1">
                          <a:latin typeface="Cambria Math" panose="02040503050406030204" pitchFamily="18" charset="0"/>
                        </a:rPr>
                        <m:t>8</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4</m:t>
                          </m:r>
                          <m:r>
                            <a:rPr lang="en-US" altLang="zh-CN" sz="2400" i="1">
                              <a:latin typeface="Cambria Math" panose="02040503050406030204" pitchFamily="18" charset="0"/>
                            </a:rPr>
                            <m:t>.</m:t>
                          </m:r>
                          <m:r>
                            <a:rPr lang="en-US" altLang="zh-CN" sz="2400" i="1">
                              <a:latin typeface="Cambria Math" panose="02040503050406030204" pitchFamily="18" charset="0"/>
                            </a:rPr>
                            <m:t>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2500</m:t>
                          </m:r>
                        </m:e>
                      </m:d>
                      <m:r>
                        <a:rPr lang="en-US" altLang="zh-CN" sz="2400" i="1">
                          <a:latin typeface="Cambria Math" panose="02040503050406030204" pitchFamily="18" charset="0"/>
                        </a:rPr>
                        <m:t>+</m:t>
                      </m:r>
                      <m:r>
                        <a:rPr lang="en-US" altLang="zh-CN" sz="2400" i="1">
                          <a:latin typeface="Cambria Math" panose="02040503050406030204" pitchFamily="18" charset="0"/>
                        </a:rPr>
                        <m:t>5</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4</m:t>
                          </m:r>
                          <m:r>
                            <a:rPr lang="en-US" altLang="zh-CN" sz="2400" i="1">
                              <a:latin typeface="Cambria Math" panose="02040503050406030204" pitchFamily="18" charset="0"/>
                            </a:rPr>
                            <m:t>.</m:t>
                          </m:r>
                          <m:r>
                            <a:rPr lang="en-US" altLang="zh-CN" sz="2400" i="1">
                              <a:latin typeface="Cambria Math" panose="02040503050406030204" pitchFamily="18" charset="0"/>
                            </a:rPr>
                            <m:t>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2500</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18</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5</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7500</m:t>
                      </m:r>
                    </m:oMath>
                  </m:oMathPara>
                </a14:m>
                <a:endParaRPr lang="zh-CN" altLang="en-US" sz="2400" dirty="0">
                  <a:latin typeface="Arial" panose="020B0604020202020204" pitchFamily="34" charset="0"/>
                </a:endParaRPr>
              </a:p>
              <a:p>
                <a:pPr marL="0" indent="0" eaLnBrk="1" hangingPunct="1">
                  <a:lnSpc>
                    <a:spcPct val="120000"/>
                  </a:lnSpc>
                  <a:spcBef>
                    <a:spcPts val="0"/>
                  </a:spcBef>
                  <a:buNone/>
                </a:pPr>
                <a:r>
                  <a:rPr lang="zh-CN" altLang="en-US" sz="2400" dirty="0">
                    <a:latin typeface="Arial" panose="020B0604020202020204" pitchFamily="34" charset="0"/>
                  </a:rPr>
                  <a:t>类似的，</a:t>
                </a:r>
                <a:endParaRPr lang="zh-CN" altLang="en-US" sz="2400" dirty="0">
                  <a:latin typeface="Arial" panose="020B0604020202020204" pitchFamily="34" charset="0"/>
                </a:endParaRPr>
              </a:p>
              <a:p>
                <a:pPr marL="0" indent="0" algn="ctr" eaLnBrk="1" hangingPunct="1">
                  <a:lnSpc>
                    <a:spcPct val="12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4</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e>
                      </m:d>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limLow>
                            <m:limLowPr>
                              <m:ctrlPr>
                                <a:rPr lang="en-US" altLang="zh-CN" sz="2400" b="0" i="1" smtClean="0">
                                  <a:latin typeface="Cambria Math" panose="02040503050406030204" pitchFamily="18" charset="0"/>
                                </a:rPr>
                              </m:ctrlPr>
                            </m:limLowPr>
                            <m:e>
                              <m:r>
                                <m:rPr>
                                  <m:sty m:val="p"/>
                                </m:rPr>
                                <a:rPr lang="en-US" altLang="zh-CN" sz="2400" b="0" i="0" smtClean="0">
                                  <a:latin typeface="Cambria Math" panose="02040503050406030204" pitchFamily="18" charset="0"/>
                                </a:rPr>
                                <m:t>max</m:t>
                              </m:r>
                            </m:e>
                            <m:li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lim>
                          </m:limLow>
                        </m:fName>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8</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5</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5</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5</m:t>
                              </m:r>
                            </m:sub>
                          </m:sSub>
                          <m:r>
                            <a:rPr lang="en-US" altLang="zh-CN" sz="2400" b="0" i="1" smtClean="0">
                              <a:latin typeface="Cambria Math" panose="02040503050406030204" pitchFamily="18" charset="0"/>
                            </a:rPr>
                            <m:t>)]</m:t>
                          </m:r>
                        </m:e>
                      </m:func>
                    </m:oMath>
                  </m:oMathPara>
                </a14:m>
                <a:endParaRPr lang="en-US" altLang="zh-CN" sz="2400" dirty="0">
                  <a:latin typeface="Arial" panose="020B0604020202020204" pitchFamily="34" charset="0"/>
                </a:endParaRPr>
              </a:p>
              <a:p>
                <a:pPr marL="0" indent="0" algn="ctr" eaLnBrk="1" hangingPunct="1">
                  <a:lnSpc>
                    <a:spcPct val="120000"/>
                  </a:lnSpc>
                  <a:spcBef>
                    <a:spcPts val="0"/>
                  </a:spcBef>
                  <a:buNone/>
                </a:pPr>
                <a14:m>
                  <m:oMath xmlns:m="http://schemas.openxmlformats.org/officeDocument/2006/math">
                    <m:r>
                      <a:rPr lang="en-US" altLang="zh-CN" sz="2400" b="0" i="1" smtClean="0">
                        <a:latin typeface="Cambria Math" panose="02040503050406030204" pitchFamily="18" charset="0"/>
                      </a:rPr>
                      <m:t>=</m:t>
                    </m:r>
                  </m:oMath>
                </a14:m>
                <a:r>
                  <a:rPr lang="en-US" altLang="zh-CN" sz="2400" dirty="0"/>
                  <a:t> </a:t>
                </a:r>
                <a14:m>
                  <m:oMath xmlns:m="http://schemas.openxmlformats.org/officeDocument/2006/math">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max</m:t>
                            </m:r>
                          </m:e>
                          <m:li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4</m:t>
                                </m:r>
                              </m:sub>
                            </m:sSub>
                          </m:lim>
                        </m:limLow>
                      </m:fName>
                      <m:e>
                        <m:r>
                          <a:rPr lang="en-US" altLang="zh-CN" sz="2400" i="1">
                            <a:latin typeface="Cambria Math" panose="02040503050406030204" pitchFamily="18" charset="0"/>
                          </a:rPr>
                          <m:t>[</m:t>
                        </m:r>
                        <m:r>
                          <a:rPr lang="en-US" altLang="zh-CN" sz="2400" i="1">
                            <a:latin typeface="Cambria Math" panose="02040503050406030204" pitchFamily="18" charset="0"/>
                          </a:rPr>
                          <m:t>8</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m:t>
                        </m:r>
                        <m:r>
                          <a:rPr lang="en-US" altLang="zh-CN" sz="2400" i="1">
                            <a:latin typeface="Cambria Math" panose="02040503050406030204" pitchFamily="18" charset="0"/>
                          </a:rPr>
                          <m:t>5</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4</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4</m:t>
                                </m:r>
                              </m:sub>
                            </m:sSub>
                          </m:e>
                        </m:d>
                        <m:r>
                          <a:rPr lang="en-US" altLang="zh-CN" sz="2400" i="1">
                            <a:latin typeface="Cambria Math" panose="02040503050406030204" pitchFamily="18" charset="0"/>
                          </a:rPr>
                          <m:t>+</m:t>
                        </m:r>
                        <m:r>
                          <a:rPr lang="en-US" altLang="zh-CN" sz="2400" i="1">
                            <a:latin typeface="Cambria Math" panose="02040503050406030204" pitchFamily="18" charset="0"/>
                          </a:rPr>
                          <m:t>18</m:t>
                        </m:r>
                        <m:r>
                          <a:rPr lang="en-US" altLang="zh-CN" sz="2400" i="1">
                            <a:latin typeface="Cambria Math" panose="02040503050406030204" pitchFamily="18" charset="0"/>
                          </a:rPr>
                          <m:t>.</m:t>
                        </m:r>
                        <m:r>
                          <a:rPr lang="en-US" altLang="zh-CN" sz="2400" i="1">
                            <a:latin typeface="Cambria Math" panose="02040503050406030204" pitchFamily="18" charset="0"/>
                          </a:rPr>
                          <m:t>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7500</m:t>
                        </m:r>
                        <m:r>
                          <m:rPr>
                            <m:nor/>
                          </m:rPr>
                          <a:rPr lang="zh-CN" altLang="en-US" sz="2400" dirty="0">
                            <a:latin typeface="Arial" panose="020B0604020202020204" pitchFamily="34" charset="0"/>
                          </a:rPr>
                          <m:t> </m:t>
                        </m:r>
                        <m:r>
                          <a:rPr lang="en-US" altLang="zh-CN" sz="2400" i="1">
                            <a:latin typeface="Cambria Math" panose="02040503050406030204" pitchFamily="18" charset="0"/>
                          </a:rPr>
                          <m:t>]</m:t>
                        </m:r>
                      </m:e>
                    </m:func>
                  </m:oMath>
                </a14:m>
                <a:endParaRPr lang="en-US" altLang="zh-CN" sz="2400" dirty="0">
                  <a:latin typeface="Arial" panose="020B0604020202020204" pitchFamily="34" charset="0"/>
                </a:endParaRPr>
              </a:p>
              <a:p>
                <a:pPr marL="0" indent="0" algn="ctr" eaLnBrk="1" hangingPunct="1">
                  <a:lnSpc>
                    <a:spcPct val="120000"/>
                  </a:lnSpc>
                  <a:spcBef>
                    <a:spcPts val="0"/>
                  </a:spcBef>
                  <a:buNone/>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limLow>
                            <m:limLowPr>
                              <m:ctrlPr>
                                <a:rPr lang="en-US" altLang="zh-CN" sz="2400" b="0" i="1" smtClean="0">
                                  <a:latin typeface="Cambria Math" panose="02040503050406030204" pitchFamily="18" charset="0"/>
                                </a:rPr>
                              </m:ctrlPr>
                            </m:limLowPr>
                            <m:e>
                              <m:r>
                                <m:rPr>
                                  <m:sty m:val="p"/>
                                </m:rPr>
                                <a:rPr lang="en-US" altLang="zh-CN" sz="2400" b="0" i="0" smtClean="0">
                                  <a:latin typeface="Cambria Math" panose="02040503050406030204" pitchFamily="18" charset="0"/>
                                </a:rPr>
                                <m:t>max</m:t>
                              </m:r>
                            </m:e>
                            <m:li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lim>
                          </m:limLow>
                        </m:fName>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65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7500</m:t>
                          </m:r>
                          <m:r>
                            <a:rPr lang="en-US" altLang="zh-CN" sz="2400" b="0" i="1" smtClean="0">
                              <a:latin typeface="Cambria Math" panose="02040503050406030204" pitchFamily="18" charset="0"/>
                            </a:rPr>
                            <m:t>]</m:t>
                          </m:r>
                        </m:e>
                      </m:func>
                    </m:oMath>
                  </m:oMathPara>
                </a14:m>
                <a:endParaRPr lang="zh-CN" altLang="en-US" sz="2400" dirty="0">
                  <a:latin typeface="Arial" panose="020B0604020202020204" pitchFamily="34" charset="0"/>
                </a:endParaRPr>
              </a:p>
              <a:p>
                <a:pPr marL="0" indent="0" eaLnBrk="1" hangingPunct="1">
                  <a:lnSpc>
                    <a:spcPct val="120000"/>
                  </a:lnSpc>
                  <a:spcBef>
                    <a:spcPts val="0"/>
                  </a:spcBef>
                  <a:buNone/>
                </a:pPr>
                <a:r>
                  <a:rPr lang="zh-CN" altLang="en-US" sz="2400" dirty="0">
                    <a:latin typeface="Arial" panose="020B0604020202020204" pitchFamily="34" charset="0"/>
                  </a:rPr>
                  <a:t>容易解得</a:t>
                </a:r>
                <a14:m>
                  <m:oMath xmlns:m="http://schemas.openxmlformats.org/officeDocument/2006/math">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4</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4</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4</m:t>
                            </m:r>
                          </m:sub>
                        </m:sSub>
                      </m:e>
                    </m:d>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21</m:t>
                    </m:r>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65</m:t>
                    </m:r>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s</m:t>
                        </m:r>
                      </m:e>
                      <m:sub>
                        <m:r>
                          <a:rPr lang="en-US" altLang="zh-CN" sz="2400" b="0" i="0" smtClean="0">
                            <a:latin typeface="Cambria Math" panose="02040503050406030204" pitchFamily="18" charset="0"/>
                          </a:rPr>
                          <m:t>4</m:t>
                        </m:r>
                      </m:sub>
                    </m:sSub>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7500</m:t>
                    </m:r>
                  </m:oMath>
                </a14:m>
                <a:r>
                  <a:rPr lang="zh-CN" altLang="en-US" sz="1600" dirty="0">
                    <a:latin typeface="Arial" panose="020B0604020202020204" pitchFamily="34" charset="0"/>
                  </a:rPr>
                  <a:t>	</a:t>
                </a:r>
                <a:endParaRPr lang="zh-CN" altLang="en-US" sz="1600" dirty="0">
                  <a:latin typeface="Arial" panose="020B0604020202020204" pitchFamily="34" charset="0"/>
                </a:endParaRPr>
              </a:p>
            </p:txBody>
          </p:sp>
        </mc:Choice>
        <mc:Fallback>
          <p:sp>
            <p:nvSpPr>
              <p:cNvPr id="40968" name="Rectangle 3"/>
              <p:cNvSpPr>
                <a:spLocks noRot="1" noChangeAspect="1" noMove="1" noResize="1" noEditPoints="1" noAdjustHandles="1" noChangeArrowheads="1" noChangeShapeType="1" noTextEdit="1"/>
              </p:cNvSpPr>
              <p:nvPr>
                <p:ph idx="1"/>
              </p:nvPr>
            </p:nvSpPr>
            <p:spPr>
              <a:xfrm>
                <a:off x="1981200" y="970744"/>
                <a:ext cx="8229600" cy="5502434"/>
              </a:xfrm>
              <a:blipFill rotWithShape="1">
                <a:blip r:embed="rId1"/>
                <a:stretch>
                  <a:fillRect t="-8" b="11"/>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1992" name="Rectangle 3"/>
              <p:cNvSpPr>
                <a:spLocks noGrp="1" noChangeArrowheads="1"/>
              </p:cNvSpPr>
              <p:nvPr>
                <p:ph idx="1"/>
              </p:nvPr>
            </p:nvSpPr>
            <p:spPr>
              <a:xfrm>
                <a:off x="1981200" y="1097806"/>
                <a:ext cx="8229600" cy="5164038"/>
              </a:xfrm>
            </p:spPr>
            <p:txBody>
              <a:bodyPr>
                <a:normAutofit fontScale="90000" lnSpcReduction="20000"/>
              </a:bodyPr>
              <a:lstStyle/>
              <a:p>
                <a:pPr marL="0" indent="0" eaLnBrk="1" hangingPunct="1">
                  <a:lnSpc>
                    <a:spcPct val="125000"/>
                  </a:lnSpc>
                  <a:spcBef>
                    <a:spcPts val="0"/>
                  </a:spcBef>
                  <a:buFontTx/>
                  <a:buNone/>
                </a:pPr>
                <a:r>
                  <a:rPr lang="zh-CN" altLang="en-US" sz="2400" dirty="0"/>
                  <a:t>依次类推，得</a:t>
                </a:r>
                <a:endParaRPr lang="zh-CN" altLang="en-US" sz="240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oMath>
                  </m:oMathPara>
                </a14:m>
                <a:endParaRPr lang="en-US" altLang="zh-CN" sz="2400" b="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3</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3</m:t>
                              </m:r>
                            </m:sub>
                          </m:sSub>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23</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4855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7500</m:t>
                      </m:r>
                      <m:r>
                        <a:rPr lang="en-US" altLang="zh-CN" sz="2400" b="0" i="1" smtClean="0">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b="0" i="1" smtClean="0">
                              <a:latin typeface="Cambria Math" panose="02040503050406030204" pitchFamily="18" charset="0"/>
                            </a:rPr>
                            <m:t>2</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2</m:t>
                              </m:r>
                            </m:sub>
                          </m:sSub>
                        </m:e>
                      </m:d>
                      <m:r>
                        <a:rPr lang="en-US" altLang="zh-CN" sz="2400" i="1">
                          <a:latin typeface="Cambria Math" panose="02040503050406030204" pitchFamily="18" charset="0"/>
                        </a:rPr>
                        <m:t>=</m:t>
                      </m:r>
                      <m:r>
                        <a:rPr lang="en-US" altLang="zh-CN" sz="2400" i="1">
                          <a:latin typeface="Cambria Math" panose="02040503050406030204" pitchFamily="18" charset="0"/>
                        </a:rPr>
                        <m:t>2</m:t>
                      </m:r>
                      <m:r>
                        <a:rPr lang="en-US" altLang="zh-CN" sz="2400" b="0" i="1" smtClean="0">
                          <a:latin typeface="Cambria Math" panose="02040503050406030204" pitchFamily="18" charset="0"/>
                        </a:rPr>
                        <m:t>7</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03695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7500</m:t>
                      </m:r>
                      <m:r>
                        <a:rPr lang="en-US" altLang="zh-CN" sz="2400" i="1">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b="0" i="1" smtClean="0">
                              <a:latin typeface="Cambria Math" panose="02040503050406030204" pitchFamily="18" charset="0"/>
                            </a:rPr>
                            <m:t>1</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1</m:t>
                              </m:r>
                            </m:sub>
                          </m:sSub>
                        </m:e>
                      </m:d>
                      <m:r>
                        <a:rPr lang="en-US" altLang="zh-CN" sz="2400" i="1">
                          <a:latin typeface="Cambria Math" panose="02040503050406030204" pitchFamily="18" charset="0"/>
                        </a:rPr>
                        <m:t>=</m:t>
                      </m:r>
                      <m:r>
                        <a:rPr lang="en-US" altLang="zh-CN" sz="2400" i="1">
                          <a:latin typeface="Cambria Math" panose="02040503050406030204" pitchFamily="18" charset="0"/>
                        </a:rPr>
                        <m:t>2</m:t>
                      </m:r>
                      <m:r>
                        <a:rPr lang="en-US" altLang="zh-CN" sz="2400" b="0" i="1" smtClean="0">
                          <a:latin typeface="Cambria Math" panose="02040503050406030204" pitchFamily="18" charset="0"/>
                        </a:rPr>
                        <m:t>9</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333255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7500</m:t>
                      </m:r>
                      <m:r>
                        <a:rPr lang="en-US" altLang="zh-CN" sz="2400" i="1">
                          <a:latin typeface="Cambria Math" panose="02040503050406030204" pitchFamily="18" charset="0"/>
                        </a:rPr>
                        <m:t>,</m:t>
                      </m:r>
                    </m:oMath>
                  </m:oMathPara>
                </a14:m>
                <a:endParaRPr lang="en-US" altLang="zh-CN" sz="2400" dirty="0"/>
              </a:p>
              <a:p>
                <a:pPr marL="0" indent="0" eaLnBrk="1" hangingPunct="1">
                  <a:lnSpc>
                    <a:spcPct val="125000"/>
                  </a:lnSpc>
                  <a:spcBef>
                    <a:spcPts val="0"/>
                  </a:spcBef>
                  <a:buFontTx/>
                  <a:buNone/>
                </a:pPr>
                <a:r>
                  <a:rPr lang="zh-CN" altLang="en-US" sz="2400" dirty="0"/>
                  <a:t>再采用顺序方法递推计算各年的状态，有</a:t>
                </a:r>
                <a:endParaRPr lang="en-US" altLang="zh-CN" sz="240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10000</m:t>
                      </m:r>
                      <m:r>
                        <a:rPr lang="en-US" altLang="zh-CN" sz="2400" i="1">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9</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9</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900</m:t>
                      </m:r>
                      <m:r>
                        <a:rPr lang="en-US" altLang="zh-CN" sz="2400" i="1">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7</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9</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up>
                              <m:r>
                                <a:rPr lang="en-US" altLang="zh-CN" sz="2400" i="1">
                                  <a:latin typeface="Cambria Math" panose="02040503050406030204" pitchFamily="18" charset="0"/>
                                </a:rPr>
                                <m:t>∗</m:t>
                              </m:r>
                            </m:sup>
                          </m:sSubSup>
                        </m:e>
                      </m:d>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9</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81</m:t>
                      </m:r>
                      <m:r>
                        <a:rPr lang="en-US" altLang="zh-CN" sz="2400" i="1">
                          <a:latin typeface="Cambria Math" panose="02040503050406030204" pitchFamily="18" charset="0"/>
                        </a:rPr>
                        <m:t>0</m:t>
                      </m:r>
                      <m:r>
                        <a:rPr lang="en-US" altLang="zh-CN" sz="2400" i="1">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4</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7</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9</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sub>
                            <m:sup>
                              <m:r>
                                <a:rPr lang="en-US" altLang="zh-CN" sz="2400" i="1">
                                  <a:latin typeface="Cambria Math" panose="02040503050406030204" pitchFamily="18" charset="0"/>
                                </a:rPr>
                                <m:t>∗</m:t>
                              </m:r>
                            </m:sup>
                          </m:sSubSup>
                        </m:e>
                      </m:d>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b="0" i="1" smtClean="0">
                          <a:latin typeface="Cambria Math" panose="02040503050406030204" pitchFamily="18" charset="0"/>
                        </a:rPr>
                        <m:t>7</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729</m:t>
                      </m:r>
                      <m:r>
                        <a:rPr lang="en-US" altLang="zh-CN" sz="2400" i="1">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7</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i="1">
                          <a:latin typeface="Cambria Math" panose="02040503050406030204" pitchFamily="18" charset="0"/>
                        </a:rPr>
                        <m:t>9</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4</m:t>
                              </m:r>
                            </m:sub>
                          </m:sSub>
                          <m:r>
                            <a:rPr lang="en-US" altLang="zh-CN" sz="2400" i="1">
                              <a:latin typeface="Cambria Math" panose="02040503050406030204" pitchFamily="18" charset="0"/>
                            </a:rPr>
                            <m:t>−</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sub>
                            <m:sup>
                              <m:r>
                                <a:rPr lang="en-US" altLang="zh-CN" sz="2400" i="1">
                                  <a:latin typeface="Cambria Math" panose="02040503050406030204" pitchFamily="18" charset="0"/>
                                </a:rPr>
                                <m:t>∗</m:t>
                              </m:r>
                            </m:sup>
                          </m:sSubSup>
                        </m:e>
                      </m:d>
                      <m:r>
                        <a:rPr lang="en-US" altLang="zh-CN" sz="2400" i="1">
                          <a:latin typeface="Cambria Math" panose="02040503050406030204" pitchFamily="18" charset="0"/>
                        </a:rPr>
                        <m:t>=</m:t>
                      </m:r>
                      <m:r>
                        <a:rPr lang="en-US" altLang="zh-CN" sz="2400" i="1">
                          <a:latin typeface="Cambria Math" panose="02040503050406030204" pitchFamily="18" charset="0"/>
                        </a:rPr>
                        <m:t>0</m:t>
                      </m:r>
                      <m:r>
                        <a:rPr lang="en-US" altLang="zh-CN" sz="2400" i="1">
                          <a:latin typeface="Cambria Math" panose="02040503050406030204" pitchFamily="18" charset="0"/>
                        </a:rPr>
                        <m:t>.</m:t>
                      </m:r>
                      <m:r>
                        <a:rPr lang="en-US" altLang="zh-CN" sz="2400" b="0" i="1" smtClean="0">
                          <a:latin typeface="Cambria Math" panose="02040503050406030204" pitchFamily="18" charset="0"/>
                        </a:rPr>
                        <m:t>7</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4</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656</m:t>
                      </m:r>
                      <m:r>
                        <a:rPr lang="en-US" altLang="zh-CN" sz="2400" i="1">
                          <a:latin typeface="Cambria Math" panose="02040503050406030204" pitchFamily="18" charset="0"/>
                        </a:rPr>
                        <m:t>,</m:t>
                      </m:r>
                    </m:oMath>
                  </m:oMathPara>
                </a14:m>
                <a:endParaRPr lang="en-US" altLang="zh-CN" sz="2400" dirty="0"/>
              </a:p>
              <a:p>
                <a:pPr marL="0" indent="0" algn="ctr" eaLnBrk="1" hangingPunct="1">
                  <a:lnSpc>
                    <a:spcPct val="125000"/>
                  </a:lnSpc>
                  <a:spcBef>
                    <a:spcPts val="0"/>
                  </a:spcBef>
                  <a:buFontTx/>
                  <a:buNone/>
                </a:pPr>
                <a:endParaRPr lang="en-US" altLang="zh-CN" sz="2400" dirty="0"/>
              </a:p>
              <a:p>
                <a:pPr marL="0" indent="0" eaLnBrk="1" hangingPunct="1">
                  <a:lnSpc>
                    <a:spcPct val="125000"/>
                  </a:lnSpc>
                  <a:spcBef>
                    <a:spcPts val="0"/>
                  </a:spcBef>
                  <a:buFontTx/>
                  <a:buNone/>
                </a:pPr>
                <a:endParaRPr lang="zh-CN" altLang="en-US" sz="2400" dirty="0"/>
              </a:p>
              <a:p>
                <a:pPr marL="0" indent="0" eaLnBrk="1" hangingPunct="1">
                  <a:lnSpc>
                    <a:spcPct val="125000"/>
                  </a:lnSpc>
                  <a:spcBef>
                    <a:spcPts val="0"/>
                  </a:spcBef>
                  <a:buFontTx/>
                  <a:buNone/>
                </a:pPr>
                <a:r>
                  <a:rPr lang="zh-CN" altLang="en-US" dirty="0"/>
                  <a:t> </a:t>
                </a:r>
                <a:endParaRPr lang="zh-CN" altLang="en-US" dirty="0"/>
              </a:p>
              <a:p>
                <a:pPr marL="0" indent="0" eaLnBrk="1" hangingPunct="1">
                  <a:lnSpc>
                    <a:spcPct val="125000"/>
                  </a:lnSpc>
                  <a:spcBef>
                    <a:spcPts val="0"/>
                  </a:spcBef>
                </a:pPr>
                <a:endParaRPr lang="zh-CN" altLang="en-US" dirty="0"/>
              </a:p>
              <a:p>
                <a:pPr marL="0" indent="0" eaLnBrk="1" hangingPunct="1">
                  <a:lnSpc>
                    <a:spcPct val="125000"/>
                  </a:lnSpc>
                  <a:spcBef>
                    <a:spcPts val="0"/>
                  </a:spcBef>
                  <a:buNone/>
                </a:pPr>
                <a:endParaRPr lang="en-US" altLang="zh-CN" dirty="0"/>
              </a:p>
            </p:txBody>
          </p:sp>
        </mc:Choice>
        <mc:Fallback>
          <p:sp>
            <p:nvSpPr>
              <p:cNvPr id="41992" name="Rectangle 3"/>
              <p:cNvSpPr>
                <a:spLocks noRot="1" noChangeAspect="1" noMove="1" noResize="1" noEditPoints="1" noAdjustHandles="1" noChangeArrowheads="1" noChangeShapeType="1" noTextEdit="1"/>
              </p:cNvSpPr>
              <p:nvPr>
                <p:ph idx="1"/>
              </p:nvPr>
            </p:nvSpPr>
            <p:spPr>
              <a:xfrm>
                <a:off x="1981200" y="1097806"/>
                <a:ext cx="8229600" cy="5164038"/>
              </a:xfrm>
              <a:blipFill rotWithShape="1">
                <a:blip r:embed="rId1"/>
                <a:stretch>
                  <a:fillRect t="-10" b="-12688"/>
                </a:stretch>
              </a:blipFill>
            </p:spPr>
            <p:txBody>
              <a:bodyPr/>
              <a:lstStyle/>
              <a:p>
                <a:r>
                  <a:rPr lang="zh-CN" altLang="en-US">
                    <a:noFill/>
                  </a:rPr>
                  <a:t> </a:t>
                </a:r>
              </a:p>
            </p:txBody>
          </p:sp>
        </mc:Fallback>
      </mc:AlternateContent>
      <p:sp>
        <p:nvSpPr>
          <p:cNvPr id="41994" name="Rectangle 4"/>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41995" name="Rectangle 6"/>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41996" name="Rectangle 8"/>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41997" name="Rectangle 10"/>
          <p:cNvSpPr>
            <a:spLocks noChangeArrowheads="1"/>
          </p:cNvSpPr>
          <p:nvPr/>
        </p:nvSpPr>
        <p:spPr bwMode="auto">
          <a:xfrm>
            <a:off x="1524000" y="794"/>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41998" name="Rectangle 12"/>
          <p:cNvSpPr>
            <a:spLocks noChangeArrowheads="1"/>
          </p:cNvSpPr>
          <p:nvPr/>
        </p:nvSpPr>
        <p:spPr bwMode="auto">
          <a:xfrm>
            <a:off x="1524000" y="3310731"/>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3013" name="Rectangle 3"/>
              <p:cNvSpPr>
                <a:spLocks noGrp="1" noChangeArrowheads="1"/>
              </p:cNvSpPr>
              <p:nvPr>
                <p:ph idx="1"/>
              </p:nvPr>
            </p:nvSpPr>
            <p:spPr>
              <a:xfrm>
                <a:off x="1981200" y="1529916"/>
                <a:ext cx="8229600" cy="3798168"/>
              </a:xfrm>
            </p:spPr>
            <p:txBody>
              <a:bodyPr>
                <a:normAutofit lnSpcReduction="10000"/>
              </a:bodyPr>
              <a:lstStyle/>
              <a:p>
                <a:pPr marL="0" indent="0" algn="just" eaLnBrk="1" hangingPunct="1">
                  <a:lnSpc>
                    <a:spcPct val="150000"/>
                  </a:lnSpc>
                  <a:spcBef>
                    <a:spcPts val="0"/>
                  </a:spcBef>
                  <a:buNone/>
                </a:pPr>
                <a:r>
                  <a:rPr lang="en-US" altLang="zh-CN" sz="2400" dirty="0">
                    <a:latin typeface="Arial" panose="020B0604020202020204" pitchFamily="34" charset="0"/>
                  </a:rPr>
                  <a:t>	</a:t>
                </a:r>
                <a:r>
                  <a:rPr lang="zh-CN" altLang="en-US" sz="2400" dirty="0">
                    <a:latin typeface="Arial" panose="020B0604020202020204" pitchFamily="34" charset="0"/>
                  </a:rPr>
                  <a:t>可见，为了使终点完好的机器数量增加到</a:t>
                </a:r>
                <a:r>
                  <a:rPr lang="en-US" altLang="zh-CN" sz="2400" dirty="0">
                    <a:latin typeface="Arial" panose="020B0604020202020204" pitchFamily="34" charset="0"/>
                  </a:rPr>
                  <a:t>500</a:t>
                </a:r>
                <a:r>
                  <a:rPr lang="zh-CN" altLang="en-US" sz="2400" dirty="0">
                    <a:latin typeface="Arial" panose="020B0604020202020204" pitchFamily="34" charset="0"/>
                  </a:rPr>
                  <a:t>台，需要安排前四年中全部完好机器都要投入低负荷生产，且在第</a:t>
                </a:r>
                <a:r>
                  <a:rPr lang="en-US" altLang="zh-CN" sz="2400" dirty="0">
                    <a:latin typeface="Arial" panose="020B0604020202020204" pitchFamily="34" charset="0"/>
                  </a:rPr>
                  <a:t>5</a:t>
                </a:r>
                <a:r>
                  <a:rPr lang="zh-CN" altLang="en-US" sz="2400" dirty="0">
                    <a:latin typeface="Arial" panose="020B0604020202020204" pitchFamily="34" charset="0"/>
                  </a:rPr>
                  <a:t>年，有</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𝑥</m:t>
                        </m:r>
                      </m:e>
                      <m:sub>
                        <m:r>
                          <a:rPr lang="en-US" altLang="zh-CN" sz="2400" i="1">
                            <a:latin typeface="Cambria Math" panose="02040503050406030204" pitchFamily="18" charset="0"/>
                          </a:rPr>
                          <m:t>5</m:t>
                        </m:r>
                      </m:sub>
                      <m:sup>
                        <m:r>
                          <a:rPr lang="en-US" altLang="zh-CN" sz="2400" i="1">
                            <a:latin typeface="Cambria Math" panose="02040503050406030204" pitchFamily="18" charset="0"/>
                          </a:rPr>
                          <m:t>∗</m:t>
                        </m:r>
                      </m:sup>
                    </m:sSubSup>
                    <m:r>
                      <a:rPr lang="en-US" altLang="zh-CN" sz="2400" i="1">
                        <a:latin typeface="Cambria Math" panose="02040503050406030204" pitchFamily="18" charset="0"/>
                      </a:rPr>
                      <m:t>=</m:t>
                    </m:r>
                    <m:r>
                      <a:rPr lang="en-US" altLang="zh-CN" sz="2400" i="1">
                        <a:latin typeface="Cambria Math" panose="02040503050406030204" pitchFamily="18" charset="0"/>
                      </a:rPr>
                      <m:t>4</m:t>
                    </m:r>
                    <m:r>
                      <a:rPr lang="en-US" altLang="zh-CN" sz="2400" i="1">
                        <a:latin typeface="Cambria Math" panose="02040503050406030204" pitchFamily="18" charset="0"/>
                      </a:rPr>
                      <m:t>.</m:t>
                    </m:r>
                    <m:r>
                      <a:rPr lang="en-US" altLang="zh-CN" sz="2400" i="1">
                        <a:latin typeface="Cambria Math" panose="02040503050406030204" pitchFamily="18" charset="0"/>
                      </a:rPr>
                      <m:t>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5</m:t>
                        </m:r>
                      </m:sub>
                    </m:sSub>
                    <m:r>
                      <a:rPr lang="en-US" altLang="zh-CN" sz="2400" i="1">
                        <a:latin typeface="Cambria Math" panose="02040503050406030204" pitchFamily="18" charset="0"/>
                      </a:rPr>
                      <m:t>=</m:t>
                    </m:r>
                    <m:r>
                      <a:rPr lang="en-US" altLang="zh-CN" sz="2400" i="1">
                        <a:latin typeface="Cambria Math" panose="02040503050406030204" pitchFamily="18" charset="0"/>
                      </a:rPr>
                      <m:t>2500</m:t>
                    </m:r>
                    <m:r>
                      <a:rPr lang="en-US" altLang="zh-CN" sz="2400" i="1">
                        <a:latin typeface="Cambria Math" panose="02040503050406030204" pitchFamily="18" charset="0"/>
                      </a:rPr>
                      <m:t>=</m:t>
                    </m:r>
                    <m:r>
                      <a:rPr lang="en-US" altLang="zh-CN" sz="2400" i="1">
                        <a:latin typeface="Cambria Math" panose="02040503050406030204" pitchFamily="18" charset="0"/>
                      </a:rPr>
                      <m:t>452</m:t>
                    </m:r>
                  </m:oMath>
                </a14:m>
                <a:r>
                  <a:rPr lang="zh-CN" altLang="en-US" sz="2400" dirty="0">
                    <a:latin typeface="Arial" panose="020B0604020202020204" pitchFamily="34" charset="0"/>
                  </a:rPr>
                  <a:t>台投入高负荷生产，</a:t>
                </a:r>
                <a:r>
                  <a:rPr lang="en-US" altLang="zh-CN" sz="2400" dirty="0">
                    <a:latin typeface="Arial" panose="020B0604020202020204" pitchFamily="34" charset="0"/>
                  </a:rPr>
                  <a:t>204</a:t>
                </a:r>
                <a:r>
                  <a:rPr lang="zh-CN" altLang="en-US" sz="2400" dirty="0">
                    <a:latin typeface="Arial" panose="020B0604020202020204" pitchFamily="34" charset="0"/>
                  </a:rPr>
                  <a:t>台投入低负荷生产。相应的最优指标为</a:t>
                </a:r>
                <a:endParaRPr lang="en-US" altLang="zh-CN" sz="2400" dirty="0">
                  <a:latin typeface="Arial" panose="020B0604020202020204" pitchFamily="34" charset="0"/>
                </a:endParaRPr>
              </a:p>
              <a:p>
                <a:pPr marL="0" indent="0" algn="ctr" eaLnBrk="1" hangingPunct="1">
                  <a:lnSpc>
                    <a:spcPct val="150000"/>
                  </a:lnSpc>
                  <a:spcBef>
                    <a:spcPts val="0"/>
                  </a:spcBef>
                  <a:buFontTx/>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1</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1</m:t>
                              </m:r>
                            </m:sub>
                          </m:sSub>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29</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333255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7500</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21833</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255</m:t>
                      </m:r>
                    </m:oMath>
                  </m:oMathPara>
                </a14:m>
                <a:endParaRPr lang="en-US" altLang="zh-CN" sz="2400" dirty="0">
                  <a:latin typeface="Arial" panose="020B0604020202020204" pitchFamily="34" charset="0"/>
                </a:endParaRPr>
              </a:p>
              <a:p>
                <a:pPr marL="0" indent="0" algn="just" eaLnBrk="1" hangingPunct="1">
                  <a:lnSpc>
                    <a:spcPct val="150000"/>
                  </a:lnSpc>
                  <a:spcBef>
                    <a:spcPts val="0"/>
                  </a:spcBef>
                  <a:buFontTx/>
                  <a:buNone/>
                </a:pPr>
                <a:r>
                  <a:rPr lang="en-US" altLang="zh-CN" sz="2400" dirty="0">
                    <a:latin typeface="Arial" panose="020B0604020202020204" pitchFamily="34" charset="0"/>
                  </a:rPr>
                  <a:t>	</a:t>
                </a:r>
                <a:r>
                  <a:rPr lang="zh-CN" altLang="en-US" sz="2400" dirty="0">
                    <a:latin typeface="Arial" panose="020B0604020202020204" pitchFamily="34" charset="0"/>
                  </a:rPr>
                  <a:t>可以看到，</a:t>
                </a:r>
                <a:r>
                  <a:rPr lang="zh-CN" altLang="en-US" sz="2400" dirty="0">
                    <a:solidFill>
                      <a:srgbClr val="FF0000"/>
                    </a:solidFill>
                    <a:latin typeface="Arial" panose="020B0604020202020204" pitchFamily="34" charset="0"/>
                  </a:rPr>
                  <a:t>因为增加了附加条件，总产量</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1</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1</m:t>
                            </m:r>
                          </m:sub>
                        </m:sSub>
                      </m:e>
                    </m:d>
                  </m:oMath>
                </a14:m>
                <a:r>
                  <a:rPr lang="zh-CN" altLang="en-US" sz="2400" dirty="0">
                    <a:solidFill>
                      <a:srgbClr val="FF0000"/>
                    </a:solidFill>
                    <a:latin typeface="Arial" panose="020B0604020202020204" pitchFamily="34" charset="0"/>
                  </a:rPr>
                  <a:t>要比终点自由情况下的产量要低</a:t>
                </a:r>
                <a:r>
                  <a:rPr lang="zh-CN" altLang="en-US" sz="2400" dirty="0">
                    <a:latin typeface="Arial" panose="020B0604020202020204" pitchFamily="34" charset="0"/>
                  </a:rPr>
                  <a:t>。</a:t>
                </a:r>
                <a:endParaRPr lang="zh-CN" altLang="en-US" sz="2400" dirty="0">
                  <a:latin typeface="Arial" panose="020B0604020202020204" pitchFamily="34" charset="0"/>
                </a:endParaRPr>
              </a:p>
            </p:txBody>
          </p:sp>
        </mc:Choice>
        <mc:Fallback>
          <p:sp>
            <p:nvSpPr>
              <p:cNvPr id="43013" name="Rectangle 3"/>
              <p:cNvSpPr>
                <a:spLocks noRot="1" noChangeAspect="1" noMove="1" noResize="1" noEditPoints="1" noAdjustHandles="1" noChangeArrowheads="1" noChangeShapeType="1" noTextEdit="1"/>
              </p:cNvSpPr>
              <p:nvPr>
                <p:ph idx="1"/>
              </p:nvPr>
            </p:nvSpPr>
            <p:spPr>
              <a:xfrm>
                <a:off x="1981200" y="1529916"/>
                <a:ext cx="8229600" cy="3798168"/>
              </a:xfrm>
              <a:blipFill rotWithShape="1">
                <a:blip r:embed="rId1"/>
                <a:stretch>
                  <a:fillRect t="-5" b="11"/>
                </a:stretch>
              </a:blipFill>
            </p:spPr>
            <p:txBody>
              <a:bodyPr/>
              <a:lstStyle/>
              <a:p>
                <a:r>
                  <a:rPr lang="zh-CN" altLang="en-US">
                    <a:noFill/>
                  </a:rPr>
                  <a:t> </a:t>
                </a:r>
              </a:p>
            </p:txBody>
          </p:sp>
        </mc:Fallback>
      </mc:AlternateContent>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idx="1"/>
          </p:nvPr>
        </p:nvSpPr>
        <p:spPr>
          <a:xfrm>
            <a:off x="1981200" y="1000125"/>
            <a:ext cx="8229600" cy="4525963"/>
          </a:xfrm>
        </p:spPr>
        <p:txBody>
          <a:bodyPr/>
          <a:lstStyle/>
          <a:p>
            <a:pPr eaLnBrk="1" hangingPunct="1">
              <a:lnSpc>
                <a:spcPct val="90000"/>
              </a:lnSpc>
              <a:buFontTx/>
              <a:buNone/>
              <a:defRPr/>
            </a:pPr>
            <a:r>
              <a:rPr lang="zh-CN" altLang="en-US" sz="2800" b="1" dirty="0" smtClean="0"/>
              <a:t>二、离散随机性动态规划</a:t>
            </a:r>
            <a:endParaRPr lang="zh-CN" altLang="en-US" sz="2800" b="1" dirty="0" smtClean="0"/>
          </a:p>
          <a:p>
            <a:pPr indent="720090" eaLnBrk="1" hangingPunct="1">
              <a:lnSpc>
                <a:spcPct val="150000"/>
              </a:lnSpc>
              <a:buFontTx/>
              <a:buNone/>
              <a:defRPr/>
            </a:pPr>
            <a:r>
              <a:rPr lang="zh-CN" altLang="en-US" sz="2400" dirty="0" smtClean="0"/>
              <a:t>随机型的动态规划是指状态的转移律是不确定的，即对给定的状态和决策，下一阶段的到达状态是具有确定概率分布的随机变量，这个概率分布由本阶段的状态和决策完全确定。其基本结构如下：</a:t>
            </a:r>
            <a:endParaRPr lang="zh-CN" altLang="en-US" sz="2400" dirty="0" smtClean="0"/>
          </a:p>
          <a:p>
            <a:pPr eaLnBrk="1" hangingPunct="1">
              <a:lnSpc>
                <a:spcPct val="90000"/>
              </a:lnSpc>
              <a:buFontTx/>
              <a:buNone/>
              <a:defRPr/>
            </a:pPr>
            <a:r>
              <a:rPr lang="zh-CN" altLang="en-US" sz="2400" dirty="0" smtClean="0"/>
              <a:t> </a:t>
            </a:r>
            <a:endParaRPr lang="zh-CN" altLang="en-US" sz="2400" dirty="0" smtClean="0"/>
          </a:p>
        </p:txBody>
      </p:sp>
      <p:sp>
        <p:nvSpPr>
          <p:cNvPr id="33" name="灯片编号占位符 5"/>
          <p:cNvSpPr>
            <a:spLocks noGrp="1"/>
          </p:cNvSpPr>
          <p:nvPr>
            <p:ph type="sldNum" sz="quarter" idx="12"/>
          </p:nvPr>
        </p:nvSpPr>
        <p:spPr/>
        <p:txBody>
          <a:bodyPr/>
          <a:lstStyle/>
          <a:p>
            <a:pPr>
              <a:defRPr/>
            </a:pPr>
            <a:fld id="{54B4665B-2974-4AE1-8498-DAED2CCAFD73}" type="slidenum">
              <a:rPr lang="en-US" altLang="zh-CN"/>
            </a:fld>
            <a:endParaRPr lang="en-US" altLang="zh-CN" dirty="0"/>
          </a:p>
        </p:txBody>
      </p:sp>
      <p:sp>
        <p:nvSpPr>
          <p:cNvPr id="94212" name="Oval 4"/>
          <p:cNvSpPr>
            <a:spLocks noChangeArrowheads="1"/>
          </p:cNvSpPr>
          <p:nvPr/>
        </p:nvSpPr>
        <p:spPr bwMode="auto">
          <a:xfrm>
            <a:off x="2743200" y="5221288"/>
            <a:ext cx="723900" cy="609600"/>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2400">
                <a:latin typeface="Times New Roman" panose="02020603050405020304" pitchFamily="18" charset="0"/>
                <a:ea typeface="楷体" panose="02010609060101010101" pitchFamily="49" charset="-122"/>
              </a:rPr>
              <a:t> s</a:t>
            </a:r>
            <a:r>
              <a:rPr lang="en-US" altLang="zh-CN" sz="2400" baseline="-25000">
                <a:latin typeface="Times New Roman" panose="02020603050405020304" pitchFamily="18" charset="0"/>
                <a:ea typeface="楷体" panose="02010609060101010101" pitchFamily="49" charset="-122"/>
              </a:rPr>
              <a:t>k</a:t>
            </a:r>
            <a:endParaRPr lang="en-US" altLang="zh-CN" sz="2400">
              <a:latin typeface="Times New Roman" panose="02020603050405020304" pitchFamily="18" charset="0"/>
              <a:ea typeface="楷体" panose="02010609060101010101" pitchFamily="49" charset="-122"/>
            </a:endParaRPr>
          </a:p>
        </p:txBody>
      </p:sp>
      <p:sp>
        <p:nvSpPr>
          <p:cNvPr id="94213" name="Text Box 5"/>
          <p:cNvSpPr txBox="1">
            <a:spLocks noChangeArrowheads="1"/>
          </p:cNvSpPr>
          <p:nvPr/>
        </p:nvSpPr>
        <p:spPr bwMode="auto">
          <a:xfrm>
            <a:off x="1981200" y="5373688"/>
            <a:ext cx="7239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a:latin typeface="Times New Roman" panose="02020603050405020304" pitchFamily="18" charset="0"/>
                <a:ea typeface="楷体" panose="02010609060101010101" pitchFamily="49" charset="-122"/>
              </a:rPr>
              <a:t>状态</a:t>
            </a:r>
            <a:endParaRPr lang="zh-CN" altLang="en-US" sz="2000">
              <a:latin typeface="Times New Roman" panose="02020603050405020304" pitchFamily="18" charset="0"/>
              <a:ea typeface="楷体" panose="02010609060101010101" pitchFamily="49" charset="-122"/>
            </a:endParaRPr>
          </a:p>
        </p:txBody>
      </p:sp>
      <p:sp>
        <p:nvSpPr>
          <p:cNvPr id="94214" name="Line 6"/>
          <p:cNvSpPr>
            <a:spLocks noChangeShapeType="1"/>
          </p:cNvSpPr>
          <p:nvPr/>
        </p:nvSpPr>
        <p:spPr bwMode="auto">
          <a:xfrm flipV="1">
            <a:off x="3505200" y="5522913"/>
            <a:ext cx="790575"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15" name="Rectangle 7"/>
          <p:cNvSpPr>
            <a:spLocks noChangeArrowheads="1"/>
          </p:cNvSpPr>
          <p:nvPr/>
        </p:nvSpPr>
        <p:spPr bwMode="auto">
          <a:xfrm>
            <a:off x="4343400" y="5297488"/>
            <a:ext cx="609600" cy="5365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just" eaLnBrk="0" hangingPunct="0"/>
            <a:r>
              <a:rPr lang="en-US" altLang="zh-CN" sz="2400">
                <a:latin typeface="Times New Roman" panose="02020603050405020304" pitchFamily="18" charset="0"/>
                <a:ea typeface="楷体" panose="02010609060101010101" pitchFamily="49" charset="-122"/>
              </a:rPr>
              <a:t> x</a:t>
            </a:r>
            <a:r>
              <a:rPr lang="en-US" altLang="zh-CN" sz="2400" baseline="-25000">
                <a:latin typeface="Times New Roman" panose="02020603050405020304" pitchFamily="18" charset="0"/>
                <a:ea typeface="楷体" panose="02010609060101010101" pitchFamily="49" charset="-122"/>
              </a:rPr>
              <a:t>k</a:t>
            </a:r>
            <a:endParaRPr lang="en-US" altLang="zh-CN" sz="2400">
              <a:latin typeface="Times New Roman" panose="02020603050405020304" pitchFamily="18" charset="0"/>
              <a:ea typeface="楷体" panose="02010609060101010101" pitchFamily="49" charset="-122"/>
            </a:endParaRPr>
          </a:p>
        </p:txBody>
      </p:sp>
      <p:sp>
        <p:nvSpPr>
          <p:cNvPr id="94216" name="Text Box 8"/>
          <p:cNvSpPr txBox="1">
            <a:spLocks noChangeArrowheads="1"/>
          </p:cNvSpPr>
          <p:nvPr/>
        </p:nvSpPr>
        <p:spPr bwMode="auto">
          <a:xfrm>
            <a:off x="3505200" y="4840288"/>
            <a:ext cx="723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a:latin typeface="Times New Roman" panose="02020603050405020304" pitchFamily="18" charset="0"/>
                <a:ea typeface="楷体" panose="02010609060101010101" pitchFamily="49" charset="-122"/>
              </a:rPr>
              <a:t>决策</a:t>
            </a:r>
            <a:endParaRPr lang="zh-CN" altLang="en-US" sz="2000">
              <a:latin typeface="Times New Roman" panose="02020603050405020304" pitchFamily="18" charset="0"/>
              <a:ea typeface="楷体" panose="02010609060101010101" pitchFamily="49" charset="-122"/>
            </a:endParaRPr>
          </a:p>
        </p:txBody>
      </p:sp>
      <p:sp>
        <p:nvSpPr>
          <p:cNvPr id="94217" name="Text Box 9"/>
          <p:cNvSpPr txBox="1">
            <a:spLocks noChangeArrowheads="1"/>
          </p:cNvSpPr>
          <p:nvPr/>
        </p:nvSpPr>
        <p:spPr bwMode="auto">
          <a:xfrm>
            <a:off x="5715000" y="3621088"/>
            <a:ext cx="6096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1600">
                <a:latin typeface="Times New Roman" panose="02020603050405020304" pitchFamily="18" charset="0"/>
                <a:ea typeface="楷体" panose="02010609060101010101" pitchFamily="49" charset="-122"/>
              </a:rPr>
              <a:t>概率</a:t>
            </a:r>
            <a:endParaRPr lang="zh-CN" altLang="en-US" sz="1600">
              <a:latin typeface="Times New Roman" panose="02020603050405020304" pitchFamily="18" charset="0"/>
              <a:ea typeface="楷体" panose="02010609060101010101" pitchFamily="49" charset="-122"/>
            </a:endParaRPr>
          </a:p>
        </p:txBody>
      </p:sp>
      <p:sp>
        <p:nvSpPr>
          <p:cNvPr id="94218" name="Text Box 10"/>
          <p:cNvSpPr txBox="1">
            <a:spLocks noChangeArrowheads="1"/>
          </p:cNvSpPr>
          <p:nvPr/>
        </p:nvSpPr>
        <p:spPr bwMode="auto">
          <a:xfrm>
            <a:off x="6781800" y="3621088"/>
            <a:ext cx="1371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600">
                <a:latin typeface="Times New Roman" panose="02020603050405020304" pitchFamily="18" charset="0"/>
                <a:ea typeface="楷体" panose="02010609060101010101" pitchFamily="49" charset="-122"/>
              </a:rPr>
              <a:t>k</a:t>
            </a:r>
            <a:r>
              <a:rPr lang="zh-CN" altLang="en-US" sz="1600">
                <a:latin typeface="Times New Roman" panose="02020603050405020304" pitchFamily="18" charset="0"/>
                <a:ea typeface="楷体" panose="02010609060101010101" pitchFamily="49" charset="-122"/>
              </a:rPr>
              <a:t>阶段的收益</a:t>
            </a:r>
            <a:endParaRPr lang="zh-CN" altLang="en-US" sz="1600">
              <a:latin typeface="Times New Roman" panose="02020603050405020304" pitchFamily="18" charset="0"/>
              <a:ea typeface="楷体" panose="02010609060101010101" pitchFamily="49" charset="-122"/>
            </a:endParaRPr>
          </a:p>
        </p:txBody>
      </p:sp>
      <p:sp>
        <p:nvSpPr>
          <p:cNvPr id="94219" name="Text Box 11"/>
          <p:cNvSpPr txBox="1">
            <a:spLocks noChangeArrowheads="1"/>
          </p:cNvSpPr>
          <p:nvPr/>
        </p:nvSpPr>
        <p:spPr bwMode="auto">
          <a:xfrm>
            <a:off x="6019800" y="4078288"/>
            <a:ext cx="4572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楷体" panose="02010609060101010101" pitchFamily="49" charset="-122"/>
              </a:rPr>
              <a:t>p</a:t>
            </a:r>
            <a:r>
              <a:rPr lang="en-US" altLang="zh-CN" sz="2400" baseline="-25000">
                <a:latin typeface="Times New Roman" panose="02020603050405020304" pitchFamily="18" charset="0"/>
                <a:ea typeface="楷体" panose="02010609060101010101" pitchFamily="49" charset="-122"/>
              </a:rPr>
              <a:t>1</a:t>
            </a:r>
            <a:endParaRPr lang="en-US" altLang="zh-CN" sz="2400">
              <a:latin typeface="Times New Roman" panose="02020603050405020304" pitchFamily="18" charset="0"/>
              <a:ea typeface="楷体" panose="02010609060101010101" pitchFamily="49" charset="-122"/>
            </a:endParaRPr>
          </a:p>
        </p:txBody>
      </p:sp>
      <p:sp>
        <p:nvSpPr>
          <p:cNvPr id="94220" name="Line 12"/>
          <p:cNvSpPr>
            <a:spLocks noChangeShapeType="1"/>
          </p:cNvSpPr>
          <p:nvPr/>
        </p:nvSpPr>
        <p:spPr bwMode="auto">
          <a:xfrm flipV="1">
            <a:off x="4953000" y="4306888"/>
            <a:ext cx="1066800" cy="12493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1" name="Line 13"/>
          <p:cNvSpPr>
            <a:spLocks noChangeShapeType="1"/>
          </p:cNvSpPr>
          <p:nvPr/>
        </p:nvSpPr>
        <p:spPr bwMode="auto">
          <a:xfrm>
            <a:off x="6400800" y="4306888"/>
            <a:ext cx="762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2" name="Line 14"/>
          <p:cNvSpPr>
            <a:spLocks noChangeShapeType="1"/>
          </p:cNvSpPr>
          <p:nvPr/>
        </p:nvSpPr>
        <p:spPr bwMode="auto">
          <a:xfrm>
            <a:off x="4953000" y="5602288"/>
            <a:ext cx="1066800" cy="5794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3" name="Line 15"/>
          <p:cNvSpPr>
            <a:spLocks noChangeShapeType="1"/>
          </p:cNvSpPr>
          <p:nvPr/>
        </p:nvSpPr>
        <p:spPr bwMode="auto">
          <a:xfrm flipV="1">
            <a:off x="4953000" y="4992688"/>
            <a:ext cx="1066800" cy="609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4" name="Text Box 16"/>
          <p:cNvSpPr txBox="1">
            <a:spLocks noChangeArrowheads="1"/>
          </p:cNvSpPr>
          <p:nvPr/>
        </p:nvSpPr>
        <p:spPr bwMode="auto">
          <a:xfrm>
            <a:off x="6019800" y="4764088"/>
            <a:ext cx="4572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楷体" panose="02010609060101010101" pitchFamily="49" charset="-122"/>
              </a:rPr>
              <a:t>p</a:t>
            </a:r>
            <a:r>
              <a:rPr lang="en-US" altLang="zh-CN" sz="2400" baseline="-25000">
                <a:latin typeface="Times New Roman" panose="02020603050405020304" pitchFamily="18" charset="0"/>
                <a:ea typeface="楷体" panose="02010609060101010101" pitchFamily="49" charset="-122"/>
              </a:rPr>
              <a:t>2</a:t>
            </a:r>
            <a:endParaRPr lang="en-US" altLang="zh-CN" sz="2400">
              <a:latin typeface="Times New Roman" panose="02020603050405020304" pitchFamily="18" charset="0"/>
              <a:ea typeface="楷体" panose="02010609060101010101" pitchFamily="49" charset="-122"/>
            </a:endParaRPr>
          </a:p>
        </p:txBody>
      </p:sp>
      <p:sp>
        <p:nvSpPr>
          <p:cNvPr id="94225" name="Text Box 17"/>
          <p:cNvSpPr txBox="1">
            <a:spLocks noChangeArrowheads="1"/>
          </p:cNvSpPr>
          <p:nvPr/>
        </p:nvSpPr>
        <p:spPr bwMode="auto">
          <a:xfrm>
            <a:off x="5943600" y="6059488"/>
            <a:ext cx="5334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楷体" panose="02010609060101010101" pitchFamily="49" charset="-122"/>
              </a:rPr>
              <a:t>p</a:t>
            </a:r>
            <a:r>
              <a:rPr lang="en-US" altLang="zh-CN" sz="2400" baseline="-25000">
                <a:latin typeface="Times New Roman" panose="02020603050405020304" pitchFamily="18" charset="0"/>
                <a:ea typeface="楷体" panose="02010609060101010101" pitchFamily="49" charset="-122"/>
              </a:rPr>
              <a:t>N</a:t>
            </a:r>
            <a:endParaRPr lang="en-US" altLang="zh-CN" sz="2400">
              <a:latin typeface="Times New Roman" panose="02020603050405020304" pitchFamily="18" charset="0"/>
              <a:ea typeface="楷体" panose="02010609060101010101" pitchFamily="49" charset="-122"/>
            </a:endParaRPr>
          </a:p>
        </p:txBody>
      </p:sp>
      <p:sp>
        <p:nvSpPr>
          <p:cNvPr id="94226" name="Text Box 18"/>
          <p:cNvSpPr txBox="1">
            <a:spLocks noChangeArrowheads="1"/>
          </p:cNvSpPr>
          <p:nvPr/>
        </p:nvSpPr>
        <p:spPr bwMode="auto">
          <a:xfrm>
            <a:off x="9144000" y="5526088"/>
            <a:ext cx="5334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a:latin typeface="Times New Roman" panose="02020603050405020304" pitchFamily="18" charset="0"/>
                <a:ea typeface="楷体" panose="02010609060101010101" pitchFamily="49" charset="-122"/>
              </a:rPr>
              <a:t>….</a:t>
            </a:r>
            <a:endParaRPr lang="en-US" altLang="zh-CN">
              <a:latin typeface="Times New Roman" panose="02020603050405020304" pitchFamily="18" charset="0"/>
              <a:ea typeface="楷体" panose="02010609060101010101" pitchFamily="49" charset="-122"/>
            </a:endParaRPr>
          </a:p>
        </p:txBody>
      </p:sp>
      <p:sp>
        <p:nvSpPr>
          <p:cNvPr id="94227" name="Line 19"/>
          <p:cNvSpPr>
            <a:spLocks noChangeShapeType="1"/>
          </p:cNvSpPr>
          <p:nvPr/>
        </p:nvSpPr>
        <p:spPr bwMode="auto">
          <a:xfrm>
            <a:off x="6400800" y="6288088"/>
            <a:ext cx="762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8" name="Line 20"/>
          <p:cNvSpPr>
            <a:spLocks noChangeShapeType="1"/>
          </p:cNvSpPr>
          <p:nvPr/>
        </p:nvSpPr>
        <p:spPr bwMode="auto">
          <a:xfrm>
            <a:off x="6400800" y="4916488"/>
            <a:ext cx="762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9" name="Line 21"/>
          <p:cNvSpPr>
            <a:spLocks noChangeShapeType="1"/>
          </p:cNvSpPr>
          <p:nvPr/>
        </p:nvSpPr>
        <p:spPr bwMode="auto">
          <a:xfrm>
            <a:off x="7543800" y="4306888"/>
            <a:ext cx="152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30" name="Line 22"/>
          <p:cNvSpPr>
            <a:spLocks noChangeShapeType="1"/>
          </p:cNvSpPr>
          <p:nvPr/>
        </p:nvSpPr>
        <p:spPr bwMode="auto">
          <a:xfrm>
            <a:off x="7543800" y="4916488"/>
            <a:ext cx="152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31" name="Line 23"/>
          <p:cNvSpPr>
            <a:spLocks noChangeShapeType="1"/>
          </p:cNvSpPr>
          <p:nvPr/>
        </p:nvSpPr>
        <p:spPr bwMode="auto">
          <a:xfrm>
            <a:off x="7620000" y="6288088"/>
            <a:ext cx="15240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32" name="Text Box 24"/>
          <p:cNvSpPr txBox="1">
            <a:spLocks noChangeArrowheads="1"/>
          </p:cNvSpPr>
          <p:nvPr/>
        </p:nvSpPr>
        <p:spPr bwMode="auto">
          <a:xfrm>
            <a:off x="8458200" y="36210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600">
                <a:latin typeface="Times New Roman" panose="02020603050405020304" pitchFamily="18" charset="0"/>
                <a:ea typeface="楷体" panose="02010609060101010101" pitchFamily="49" charset="-122"/>
              </a:rPr>
              <a:t>k+1</a:t>
            </a:r>
            <a:r>
              <a:rPr lang="zh-CN" altLang="en-US" sz="1600">
                <a:latin typeface="Times New Roman" panose="02020603050405020304" pitchFamily="18" charset="0"/>
                <a:ea typeface="楷体" panose="02010609060101010101" pitchFamily="49" charset="-122"/>
              </a:rPr>
              <a:t>阶段的状态</a:t>
            </a:r>
            <a:r>
              <a:rPr lang="en-US" altLang="zh-CN" sz="1600">
                <a:latin typeface="Times New Roman" panose="02020603050405020304" pitchFamily="18" charset="0"/>
                <a:ea typeface="楷体" panose="02010609060101010101" pitchFamily="49" charset="-122"/>
              </a:rPr>
              <a:t>s</a:t>
            </a:r>
            <a:r>
              <a:rPr lang="en-US" altLang="zh-CN" sz="1600" baseline="-25000">
                <a:latin typeface="Times New Roman" panose="02020603050405020304" pitchFamily="18" charset="0"/>
                <a:ea typeface="楷体" panose="02010609060101010101" pitchFamily="49" charset="-122"/>
              </a:rPr>
              <a:t>k+1</a:t>
            </a:r>
            <a:endParaRPr lang="en-US" altLang="zh-CN" sz="1600" baseline="-25000">
              <a:latin typeface="Times New Roman" panose="02020603050405020304" pitchFamily="18" charset="0"/>
              <a:ea typeface="楷体" panose="02010609060101010101" pitchFamily="49" charset="-122"/>
            </a:endParaRPr>
          </a:p>
        </p:txBody>
      </p:sp>
      <p:sp>
        <p:nvSpPr>
          <p:cNvPr id="94233" name="Text Box 25"/>
          <p:cNvSpPr txBox="1">
            <a:spLocks noChangeArrowheads="1"/>
          </p:cNvSpPr>
          <p:nvPr/>
        </p:nvSpPr>
        <p:spPr bwMode="auto">
          <a:xfrm>
            <a:off x="7162800" y="4154488"/>
            <a:ext cx="457200" cy="533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楷体" panose="02010609060101010101" pitchFamily="49" charset="-122"/>
              </a:rPr>
              <a:t>c</a:t>
            </a:r>
            <a:r>
              <a:rPr lang="en-US" altLang="zh-CN" sz="2400" baseline="-25000">
                <a:latin typeface="Times New Roman" panose="02020603050405020304" pitchFamily="18" charset="0"/>
                <a:ea typeface="楷体" panose="02010609060101010101" pitchFamily="49" charset="-122"/>
              </a:rPr>
              <a:t>1</a:t>
            </a:r>
            <a:endParaRPr lang="en-US" altLang="zh-CN" sz="2400">
              <a:latin typeface="Times New Roman" panose="02020603050405020304" pitchFamily="18" charset="0"/>
              <a:ea typeface="楷体" panose="02010609060101010101" pitchFamily="49" charset="-122"/>
            </a:endParaRPr>
          </a:p>
        </p:txBody>
      </p:sp>
      <p:sp>
        <p:nvSpPr>
          <p:cNvPr id="94234" name="Text Box 26"/>
          <p:cNvSpPr txBox="1">
            <a:spLocks noChangeArrowheads="1"/>
          </p:cNvSpPr>
          <p:nvPr/>
        </p:nvSpPr>
        <p:spPr bwMode="auto">
          <a:xfrm>
            <a:off x="7162800" y="4764088"/>
            <a:ext cx="457200" cy="533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楷体" panose="02010609060101010101" pitchFamily="49" charset="-122"/>
              </a:rPr>
              <a:t>c</a:t>
            </a:r>
            <a:r>
              <a:rPr lang="en-US" altLang="zh-CN" sz="2400" baseline="-25000">
                <a:latin typeface="Times New Roman" panose="02020603050405020304" pitchFamily="18" charset="0"/>
                <a:ea typeface="楷体" panose="02010609060101010101" pitchFamily="49" charset="-122"/>
              </a:rPr>
              <a:t>2</a:t>
            </a:r>
            <a:endParaRPr lang="en-US" altLang="zh-CN" sz="2400">
              <a:latin typeface="Times New Roman" panose="02020603050405020304" pitchFamily="18" charset="0"/>
              <a:ea typeface="楷体" panose="02010609060101010101" pitchFamily="49" charset="-122"/>
            </a:endParaRPr>
          </a:p>
        </p:txBody>
      </p:sp>
      <p:sp>
        <p:nvSpPr>
          <p:cNvPr id="94235" name="Text Box 27"/>
          <p:cNvSpPr txBox="1">
            <a:spLocks noChangeArrowheads="1"/>
          </p:cNvSpPr>
          <p:nvPr/>
        </p:nvSpPr>
        <p:spPr bwMode="auto">
          <a:xfrm>
            <a:off x="7162800" y="6135688"/>
            <a:ext cx="533400" cy="457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楷体" panose="02010609060101010101" pitchFamily="49" charset="-122"/>
              </a:rPr>
              <a:t>c</a:t>
            </a:r>
            <a:r>
              <a:rPr lang="en-US" altLang="zh-CN" sz="2400" baseline="-25000">
                <a:latin typeface="Times New Roman" panose="02020603050405020304" pitchFamily="18" charset="0"/>
                <a:ea typeface="楷体" panose="02010609060101010101" pitchFamily="49" charset="-122"/>
              </a:rPr>
              <a:t>N</a:t>
            </a:r>
            <a:endParaRPr lang="en-US" altLang="zh-CN" sz="2400">
              <a:latin typeface="Times New Roman" panose="02020603050405020304" pitchFamily="18" charset="0"/>
              <a:ea typeface="楷体" panose="02010609060101010101" pitchFamily="49" charset="-122"/>
            </a:endParaRPr>
          </a:p>
        </p:txBody>
      </p:sp>
      <p:sp>
        <p:nvSpPr>
          <p:cNvPr id="94236" name="Oval 28"/>
          <p:cNvSpPr>
            <a:spLocks noChangeArrowheads="1"/>
          </p:cNvSpPr>
          <p:nvPr/>
        </p:nvSpPr>
        <p:spPr bwMode="auto">
          <a:xfrm>
            <a:off x="9067800" y="4002088"/>
            <a:ext cx="533400" cy="533400"/>
          </a:xfrm>
          <a:prstGeom prst="ellipse">
            <a:avLst/>
          </a:prstGeom>
          <a:solidFill>
            <a:srgbClr val="FFFFFF"/>
          </a:solidFill>
          <a:ln w="9525">
            <a:solidFill>
              <a:srgbClr val="000000"/>
            </a:solidFill>
            <a:round/>
          </a:ln>
        </p:spPr>
        <p:txBody>
          <a:bodyPr/>
          <a:lstStyle/>
          <a:p>
            <a:pPr algn="just" eaLnBrk="0" hangingPunct="0"/>
            <a:r>
              <a:rPr lang="en-US" altLang="zh-CN" sz="2000">
                <a:latin typeface="Times New Roman" panose="02020603050405020304" pitchFamily="18" charset="0"/>
                <a:ea typeface="楷体" panose="02010609060101010101" pitchFamily="49" charset="-122"/>
              </a:rPr>
              <a:t> 1</a:t>
            </a:r>
            <a:endParaRPr lang="en-US" altLang="zh-CN" sz="2000">
              <a:latin typeface="Times New Roman" panose="02020603050405020304" pitchFamily="18" charset="0"/>
              <a:ea typeface="楷体" panose="02010609060101010101" pitchFamily="49" charset="-122"/>
            </a:endParaRPr>
          </a:p>
        </p:txBody>
      </p:sp>
      <p:sp>
        <p:nvSpPr>
          <p:cNvPr id="94237" name="Oval 29"/>
          <p:cNvSpPr>
            <a:spLocks noChangeArrowheads="1"/>
          </p:cNvSpPr>
          <p:nvPr/>
        </p:nvSpPr>
        <p:spPr bwMode="auto">
          <a:xfrm>
            <a:off x="9067800" y="4687888"/>
            <a:ext cx="533400" cy="533400"/>
          </a:xfrm>
          <a:prstGeom prst="ellipse">
            <a:avLst/>
          </a:prstGeom>
          <a:solidFill>
            <a:srgbClr val="FFFFFF"/>
          </a:solidFill>
          <a:ln w="9525">
            <a:solidFill>
              <a:srgbClr val="000000"/>
            </a:solidFill>
            <a:round/>
          </a:ln>
        </p:spPr>
        <p:txBody>
          <a:bodyPr/>
          <a:lstStyle/>
          <a:p>
            <a:pPr algn="just" eaLnBrk="0" hangingPunct="0"/>
            <a:r>
              <a:rPr lang="en-US" altLang="zh-CN" sz="2000">
                <a:latin typeface="Times New Roman" panose="02020603050405020304" pitchFamily="18" charset="0"/>
                <a:ea typeface="楷体" panose="02010609060101010101" pitchFamily="49" charset="-122"/>
              </a:rPr>
              <a:t> 2</a:t>
            </a:r>
            <a:endParaRPr lang="en-US" altLang="zh-CN" sz="2000">
              <a:latin typeface="Times New Roman" panose="02020603050405020304" pitchFamily="18" charset="0"/>
              <a:ea typeface="楷体" panose="02010609060101010101" pitchFamily="49" charset="-122"/>
            </a:endParaRPr>
          </a:p>
        </p:txBody>
      </p:sp>
      <p:sp>
        <p:nvSpPr>
          <p:cNvPr id="94238" name="Oval 30"/>
          <p:cNvSpPr>
            <a:spLocks noChangeArrowheads="1"/>
          </p:cNvSpPr>
          <p:nvPr/>
        </p:nvSpPr>
        <p:spPr bwMode="auto">
          <a:xfrm>
            <a:off x="9144000" y="6135688"/>
            <a:ext cx="533400" cy="533400"/>
          </a:xfrm>
          <a:prstGeom prst="ellipse">
            <a:avLst/>
          </a:prstGeom>
          <a:solidFill>
            <a:srgbClr val="FFFFFF"/>
          </a:solidFill>
          <a:ln w="9525">
            <a:solidFill>
              <a:srgbClr val="000000"/>
            </a:solidFill>
            <a:round/>
          </a:ln>
        </p:spPr>
        <p:txBody>
          <a:bodyPr/>
          <a:lstStyle/>
          <a:p>
            <a:pPr algn="just" eaLnBrk="0" hangingPunct="0"/>
            <a:r>
              <a:rPr lang="en-US" altLang="zh-CN" sz="2000">
                <a:latin typeface="Times New Roman" panose="02020603050405020304" pitchFamily="18" charset="0"/>
                <a:ea typeface="楷体" panose="02010609060101010101" pitchFamily="49" charset="-122"/>
              </a:rPr>
              <a:t>N</a:t>
            </a:r>
            <a:endParaRPr lang="en-US" altLang="zh-CN" sz="2000">
              <a:latin typeface="Times New Roman" panose="02020603050405020304" pitchFamily="18" charset="0"/>
              <a:ea typeface="楷体" panose="02010609060101010101" pitchFamily="49" charset="-122"/>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ChangeArrowheads="1"/>
          </p:cNvSpPr>
          <p:nvPr>
            <p:ph idx="1"/>
          </p:nvPr>
        </p:nvSpPr>
        <p:spPr>
          <a:xfrm>
            <a:off x="1881188" y="1071563"/>
            <a:ext cx="8229600" cy="4525962"/>
          </a:xfrm>
        </p:spPr>
        <p:txBody>
          <a:bodyPr/>
          <a:lstStyle/>
          <a:p>
            <a:pPr algn="just" eaLnBrk="1" hangingPunct="1">
              <a:lnSpc>
                <a:spcPct val="140000"/>
              </a:lnSpc>
              <a:buFontTx/>
              <a:buNone/>
            </a:pPr>
            <a:r>
              <a:rPr lang="en-US" altLang="zh-CN" sz="2800" smtClean="0">
                <a:latin typeface="Arial" panose="020B0604020202020204" pitchFamily="34" charset="0"/>
              </a:rPr>
              <a:t>            </a:t>
            </a:r>
            <a:r>
              <a:rPr lang="zh-CN" altLang="en-US" sz="2800" smtClean="0">
                <a:latin typeface="Arial" panose="020B0604020202020204" pitchFamily="34" charset="0"/>
              </a:rPr>
              <a:t>图中</a:t>
            </a:r>
            <a:r>
              <a:rPr lang="en-US" altLang="zh-CN" sz="2800" smtClean="0">
                <a:latin typeface="Arial" panose="020B0604020202020204" pitchFamily="34" charset="0"/>
              </a:rPr>
              <a:t>N</a:t>
            </a:r>
            <a:r>
              <a:rPr lang="zh-CN" altLang="en-US" sz="2800" smtClean="0">
                <a:latin typeface="Arial" panose="020B0604020202020204" pitchFamily="34" charset="0"/>
              </a:rPr>
              <a:t>表示第</a:t>
            </a:r>
            <a:r>
              <a:rPr lang="en-US" altLang="zh-CN" sz="2800" smtClean="0">
                <a:latin typeface="Arial" panose="020B0604020202020204" pitchFamily="34" charset="0"/>
              </a:rPr>
              <a:t>k+1</a:t>
            </a:r>
            <a:r>
              <a:rPr lang="zh-CN" altLang="en-US" sz="2800" smtClean="0">
                <a:latin typeface="Arial" panose="020B0604020202020204" pitchFamily="34" charset="0"/>
              </a:rPr>
              <a:t>阶段可能的状态数，</a:t>
            </a:r>
            <a:r>
              <a:rPr lang="en-US" altLang="zh-CN" sz="2800" smtClean="0">
                <a:latin typeface="Arial" panose="020B0604020202020204" pitchFamily="34" charset="0"/>
              </a:rPr>
              <a:t>p</a:t>
            </a:r>
            <a:r>
              <a:rPr lang="en-US" altLang="zh-CN" sz="2800" baseline="-30000" smtClean="0">
                <a:latin typeface="Arial" panose="020B0604020202020204" pitchFamily="34" charset="0"/>
              </a:rPr>
              <a:t>1</a:t>
            </a:r>
            <a:r>
              <a:rPr lang="zh-CN" altLang="en-US" sz="2800" smtClean="0">
                <a:latin typeface="Arial" panose="020B0604020202020204" pitchFamily="34" charset="0"/>
              </a:rPr>
              <a:t>、</a:t>
            </a:r>
            <a:r>
              <a:rPr lang="en-US" altLang="zh-CN" sz="2800" smtClean="0">
                <a:latin typeface="Arial" panose="020B0604020202020204" pitchFamily="34" charset="0"/>
              </a:rPr>
              <a:t>p</a:t>
            </a:r>
            <a:r>
              <a:rPr lang="en-US" altLang="zh-CN" sz="2800" baseline="-30000" smtClean="0">
                <a:latin typeface="Arial" panose="020B0604020202020204" pitchFamily="34" charset="0"/>
              </a:rPr>
              <a:t>2</a:t>
            </a:r>
            <a:r>
              <a:rPr lang="zh-CN" altLang="en-US" sz="2800" smtClean="0">
                <a:latin typeface="Arial" panose="020B0604020202020204" pitchFamily="34" charset="0"/>
              </a:rPr>
              <a:t>、</a:t>
            </a:r>
            <a:r>
              <a:rPr lang="en-US" altLang="zh-CN" sz="2800" smtClean="0">
                <a:latin typeface="Arial" panose="020B0604020202020204" pitchFamily="34" charset="0"/>
              </a:rPr>
              <a:t>…p</a:t>
            </a:r>
            <a:r>
              <a:rPr lang="en-US" altLang="zh-CN" sz="2800" baseline="-30000" smtClean="0">
                <a:latin typeface="Arial" panose="020B0604020202020204" pitchFamily="34" charset="0"/>
              </a:rPr>
              <a:t>N</a:t>
            </a:r>
            <a:r>
              <a:rPr lang="zh-CN" altLang="en-US" sz="2800" smtClean="0">
                <a:latin typeface="Arial" panose="020B0604020202020204" pitchFamily="34" charset="0"/>
              </a:rPr>
              <a:t>为给定状态</a:t>
            </a:r>
            <a:r>
              <a:rPr lang="en-US" altLang="zh-CN" sz="2800" smtClean="0">
                <a:latin typeface="Arial" panose="020B0604020202020204" pitchFamily="34" charset="0"/>
              </a:rPr>
              <a:t>s</a:t>
            </a:r>
            <a:r>
              <a:rPr lang="en-US" altLang="zh-CN" sz="2800" baseline="-30000" smtClean="0">
                <a:latin typeface="Arial" panose="020B0604020202020204" pitchFamily="34" charset="0"/>
              </a:rPr>
              <a:t>k</a:t>
            </a:r>
            <a:r>
              <a:rPr lang="zh-CN" altLang="en-US" sz="2800" smtClean="0">
                <a:latin typeface="Arial" panose="020B0604020202020204" pitchFamily="34" charset="0"/>
              </a:rPr>
              <a:t>和决策</a:t>
            </a:r>
            <a:r>
              <a:rPr lang="en-US" altLang="zh-CN" sz="2800" smtClean="0">
                <a:latin typeface="Arial" panose="020B0604020202020204" pitchFamily="34" charset="0"/>
              </a:rPr>
              <a:t>x</a:t>
            </a:r>
            <a:r>
              <a:rPr lang="en-US" altLang="zh-CN" sz="2800" baseline="-30000" smtClean="0">
                <a:latin typeface="Arial" panose="020B0604020202020204" pitchFamily="34" charset="0"/>
              </a:rPr>
              <a:t>k</a:t>
            </a:r>
            <a:r>
              <a:rPr lang="zh-CN" altLang="en-US" sz="2800" smtClean="0">
                <a:latin typeface="Arial" panose="020B0604020202020204" pitchFamily="34" charset="0"/>
              </a:rPr>
              <a:t>的前提下，可能达到下一个状态的概率。</a:t>
            </a:r>
            <a:r>
              <a:rPr lang="en-US" altLang="zh-CN" sz="2800" smtClean="0">
                <a:latin typeface="Arial" panose="020B0604020202020204" pitchFamily="34" charset="0"/>
              </a:rPr>
              <a:t>c</a:t>
            </a:r>
            <a:r>
              <a:rPr lang="en-US" altLang="zh-CN" sz="2800" baseline="-30000" smtClean="0">
                <a:latin typeface="Arial" panose="020B0604020202020204" pitchFamily="34" charset="0"/>
              </a:rPr>
              <a:t>i</a:t>
            </a:r>
            <a:r>
              <a:rPr lang="zh-CN" altLang="en-US" sz="2800" smtClean="0">
                <a:latin typeface="Arial" panose="020B0604020202020204" pitchFamily="34" charset="0"/>
              </a:rPr>
              <a:t>为从</a:t>
            </a:r>
            <a:r>
              <a:rPr lang="en-US" altLang="zh-CN" sz="2800" smtClean="0">
                <a:latin typeface="Arial" panose="020B0604020202020204" pitchFamily="34" charset="0"/>
              </a:rPr>
              <a:t>k</a:t>
            </a:r>
            <a:r>
              <a:rPr lang="zh-CN" altLang="en-US" sz="2800" smtClean="0">
                <a:latin typeface="Arial" panose="020B0604020202020204" pitchFamily="34" charset="0"/>
              </a:rPr>
              <a:t>阶段状态</a:t>
            </a:r>
            <a:r>
              <a:rPr lang="en-US" altLang="zh-CN" sz="2800" smtClean="0">
                <a:latin typeface="Arial" panose="020B0604020202020204" pitchFamily="34" charset="0"/>
              </a:rPr>
              <a:t>s</a:t>
            </a:r>
            <a:r>
              <a:rPr lang="en-US" altLang="zh-CN" sz="2800" baseline="-30000" smtClean="0">
                <a:latin typeface="Arial" panose="020B0604020202020204" pitchFamily="34" charset="0"/>
              </a:rPr>
              <a:t>k</a:t>
            </a:r>
            <a:r>
              <a:rPr lang="zh-CN" altLang="en-US" sz="2800" smtClean="0">
                <a:latin typeface="Arial" panose="020B0604020202020204" pitchFamily="34" charset="0"/>
              </a:rPr>
              <a:t>转移到</a:t>
            </a:r>
            <a:r>
              <a:rPr lang="en-US" altLang="zh-CN" sz="2800" smtClean="0">
                <a:latin typeface="Arial" panose="020B0604020202020204" pitchFamily="34" charset="0"/>
              </a:rPr>
              <a:t>k+1 </a:t>
            </a:r>
            <a:r>
              <a:rPr lang="zh-CN" altLang="en-US" sz="2800" smtClean="0">
                <a:latin typeface="Arial" panose="020B0604020202020204" pitchFamily="34" charset="0"/>
              </a:rPr>
              <a:t>阶段状态为</a:t>
            </a:r>
            <a:r>
              <a:rPr lang="en-US" altLang="zh-CN" sz="2800" smtClean="0">
                <a:latin typeface="Arial" panose="020B0604020202020204" pitchFamily="34" charset="0"/>
              </a:rPr>
              <a:t>i</a:t>
            </a:r>
            <a:r>
              <a:rPr lang="zh-CN" altLang="en-US" sz="2800" smtClean="0">
                <a:latin typeface="Arial" panose="020B0604020202020204" pitchFamily="34" charset="0"/>
              </a:rPr>
              <a:t>时的指标函数值。</a:t>
            </a:r>
            <a:endParaRPr lang="zh-CN" altLang="en-US" sz="2800" smtClean="0">
              <a:latin typeface="Arial" panose="020B0604020202020204" pitchFamily="34" charset="0"/>
            </a:endParaRPr>
          </a:p>
          <a:p>
            <a:pPr eaLnBrk="1" hangingPunct="1">
              <a:lnSpc>
                <a:spcPct val="140000"/>
              </a:lnSpc>
              <a:buFontTx/>
              <a:buNone/>
            </a:pPr>
            <a:r>
              <a:rPr lang="zh-CN" altLang="en-US" sz="2800" smtClean="0">
                <a:latin typeface="Arial" panose="020B0604020202020204" pitchFamily="34" charset="0"/>
              </a:rPr>
              <a:t>            在随机性的动态规划问题中，由于下一阶段到达的状态和阶段的效益值不确定，只能</a:t>
            </a:r>
            <a:r>
              <a:rPr lang="zh-CN" altLang="en-US" sz="2800" smtClean="0">
                <a:solidFill>
                  <a:srgbClr val="FF0000"/>
                </a:solidFill>
                <a:latin typeface="Arial" panose="020B0604020202020204" pitchFamily="34" charset="0"/>
              </a:rPr>
              <a:t>根据各阶段的期望效益值进行优化</a:t>
            </a:r>
            <a:r>
              <a:rPr lang="zh-CN" altLang="en-US" sz="2800" smtClean="0">
                <a:latin typeface="Arial" panose="020B0604020202020204" pitchFamily="34" charset="0"/>
              </a:rPr>
              <a:t>。</a:t>
            </a:r>
            <a:endParaRPr lang="zh-CN" altLang="en-US" sz="2800" smtClean="0">
              <a:latin typeface="Arial" panose="020B0604020202020204" pitchFamily="34" charset="0"/>
            </a:endParaRPr>
          </a:p>
        </p:txBody>
      </p:sp>
      <p:sp>
        <p:nvSpPr>
          <p:cNvPr id="6" name="灯片编号占位符 5"/>
          <p:cNvSpPr>
            <a:spLocks noGrp="1"/>
          </p:cNvSpPr>
          <p:nvPr>
            <p:ph type="sldNum" sz="quarter" idx="12"/>
          </p:nvPr>
        </p:nvSpPr>
        <p:spPr/>
        <p:txBody>
          <a:bodyPr/>
          <a:lstStyle/>
          <a:p>
            <a:pPr>
              <a:defRPr/>
            </a:pPr>
            <a:fld id="{941BAC60-489B-4701-8B9A-0E88B439FCDE}" type="slidenum">
              <a:rPr lang="en-US" altLang="zh-CN"/>
            </a:fld>
            <a:endParaRPr lang="en-US" altLang="zh-CN" dirty="0"/>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a:xfrm>
            <a:off x="1981200" y="1260475"/>
            <a:ext cx="8229600" cy="4525963"/>
          </a:xfrm>
        </p:spPr>
        <p:txBody>
          <a:bodyPr/>
          <a:lstStyle/>
          <a:p>
            <a:pPr eaLnBrk="1" hangingPunct="1">
              <a:lnSpc>
                <a:spcPct val="150000"/>
              </a:lnSpc>
              <a:buFontTx/>
              <a:buNone/>
            </a:pPr>
            <a:r>
              <a:rPr lang="en-US" altLang="zh-CN" sz="2400" b="1" smtClean="0">
                <a:latin typeface="Arial" panose="020B0604020202020204" pitchFamily="34" charset="0"/>
              </a:rPr>
              <a:t>      </a:t>
            </a:r>
            <a:r>
              <a:rPr lang="zh-CN" altLang="en-US" sz="2400" b="1" smtClean="0">
                <a:latin typeface="Arial" panose="020B0604020202020204" pitchFamily="34" charset="0"/>
              </a:rPr>
              <a:t>例</a:t>
            </a:r>
            <a:r>
              <a:rPr lang="en-US" altLang="zh-CN" sz="2400" b="1" smtClean="0">
                <a:latin typeface="Arial" panose="020B0604020202020204" pitchFamily="34" charset="0"/>
              </a:rPr>
              <a:t>2 </a:t>
            </a:r>
            <a:r>
              <a:rPr lang="zh-CN" altLang="en-US" sz="2400" smtClean="0">
                <a:latin typeface="Arial" panose="020B0604020202020204" pitchFamily="34" charset="0"/>
              </a:rPr>
              <a:t>某公司承担一种新产品研制任务，合同要求三个月内交出一件合格的样品，否则将索赔</a:t>
            </a:r>
            <a:r>
              <a:rPr lang="en-US" altLang="zh-CN" sz="2400" smtClean="0">
                <a:latin typeface="Arial" panose="020B0604020202020204" pitchFamily="34" charset="0"/>
              </a:rPr>
              <a:t>2000</a:t>
            </a:r>
            <a:r>
              <a:rPr lang="zh-CN" altLang="en-US" sz="2400" smtClean="0">
                <a:latin typeface="Arial" panose="020B0604020202020204" pitchFamily="34" charset="0"/>
              </a:rPr>
              <a:t>元。根据有经验的技术人员估计，试制品合格的概率为</a:t>
            </a:r>
            <a:r>
              <a:rPr lang="en-US" altLang="zh-CN" sz="2400" smtClean="0">
                <a:latin typeface="Arial" panose="020B0604020202020204" pitchFamily="34" charset="0"/>
              </a:rPr>
              <a:t>0.4</a:t>
            </a:r>
            <a:r>
              <a:rPr lang="zh-CN" altLang="en-US" sz="2400" smtClean="0">
                <a:latin typeface="Arial" panose="020B0604020202020204" pitchFamily="34" charset="0"/>
              </a:rPr>
              <a:t>，每次试制一批的装配费为</a:t>
            </a:r>
            <a:r>
              <a:rPr lang="en-US" altLang="zh-CN" sz="2400" smtClean="0">
                <a:latin typeface="Arial" panose="020B0604020202020204" pitchFamily="34" charset="0"/>
              </a:rPr>
              <a:t>200</a:t>
            </a:r>
            <a:r>
              <a:rPr lang="zh-CN" altLang="en-US" sz="2400" smtClean="0">
                <a:latin typeface="Arial" panose="020B0604020202020204" pitchFamily="34" charset="0"/>
              </a:rPr>
              <a:t>元，每件产品的制造成本为</a:t>
            </a:r>
            <a:r>
              <a:rPr lang="en-US" altLang="zh-CN" sz="2400" smtClean="0">
                <a:latin typeface="Arial" panose="020B0604020202020204" pitchFamily="34" charset="0"/>
              </a:rPr>
              <a:t>100</a:t>
            </a:r>
            <a:r>
              <a:rPr lang="zh-CN" altLang="en-US" sz="2400" smtClean="0">
                <a:latin typeface="Arial" panose="020B0604020202020204" pitchFamily="34" charset="0"/>
              </a:rPr>
              <a:t>元。每次试制的周期为</a:t>
            </a:r>
            <a:r>
              <a:rPr lang="en-US" altLang="zh-CN" sz="2400" smtClean="0">
                <a:latin typeface="Arial" panose="020B0604020202020204" pitchFamily="34" charset="0"/>
              </a:rPr>
              <a:t>1</a:t>
            </a:r>
            <a:r>
              <a:rPr lang="zh-CN" altLang="en-US" sz="2400" smtClean="0">
                <a:latin typeface="Arial" panose="020B0604020202020204" pitchFamily="34" charset="0"/>
              </a:rPr>
              <a:t>个月。问该如何安排试制，每次生产多少件，才能使得期望费用最小？</a:t>
            </a:r>
            <a:r>
              <a:rPr lang="zh-CN" altLang="en-US" sz="2800" smtClean="0">
                <a:latin typeface="Arial" panose="020B0604020202020204" pitchFamily="34" charset="0"/>
              </a:rPr>
              <a:t> </a:t>
            </a:r>
            <a:endParaRPr lang="zh-CN" altLang="en-US" sz="2800" smtClean="0">
              <a:latin typeface="Arial" panose="020B0604020202020204" pitchFamily="34" charset="0"/>
            </a:endParaRPr>
          </a:p>
        </p:txBody>
      </p:sp>
      <p:sp>
        <p:nvSpPr>
          <p:cNvPr id="6" name="灯片编号占位符 5"/>
          <p:cNvSpPr>
            <a:spLocks noGrp="1"/>
          </p:cNvSpPr>
          <p:nvPr>
            <p:ph type="sldNum" sz="quarter" idx="12"/>
          </p:nvPr>
        </p:nvSpPr>
        <p:spPr/>
        <p:txBody>
          <a:bodyPr/>
          <a:lstStyle/>
          <a:p>
            <a:pPr>
              <a:defRPr/>
            </a:pPr>
            <a:fld id="{25F24C0C-94C4-4C4F-A1E0-C20C74E68D04}" type="slidenum">
              <a:rPr lang="en-US" altLang="zh-CN"/>
            </a:fld>
            <a:endParaRPr lang="en-US" altLang="zh-CN" dirty="0"/>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type="body" sz="half" idx="1"/>
          </p:nvPr>
        </p:nvSpPr>
        <p:spPr>
          <a:xfrm>
            <a:off x="1738313" y="785813"/>
            <a:ext cx="8786812" cy="5857875"/>
          </a:xfrm>
        </p:spPr>
        <p:txBody>
          <a:bodyPr>
            <a:normAutofit lnSpcReduction="20000"/>
          </a:bodyPr>
          <a:lstStyle/>
          <a:p>
            <a:pPr indent="342900" eaLnBrk="1" hangingPunct="1">
              <a:lnSpc>
                <a:spcPct val="150000"/>
              </a:lnSpc>
              <a:buFontTx/>
              <a:buNone/>
            </a:pPr>
            <a:r>
              <a:rPr lang="zh-CN" altLang="en-US" sz="2400" b="1" smtClean="0">
                <a:latin typeface="Arial" panose="020B0604020202020204" pitchFamily="34" charset="0"/>
              </a:rPr>
              <a:t>解：</a:t>
            </a:r>
            <a:r>
              <a:rPr lang="zh-CN" altLang="en-US" sz="2400" smtClean="0">
                <a:latin typeface="Arial" panose="020B0604020202020204" pitchFamily="34" charset="0"/>
              </a:rPr>
              <a:t>把</a:t>
            </a:r>
            <a:r>
              <a:rPr lang="zh-CN" altLang="en-US" sz="2400" b="1" smtClean="0">
                <a:latin typeface="Arial" panose="020B0604020202020204" pitchFamily="34" charset="0"/>
              </a:rPr>
              <a:t>三次试制当作</a:t>
            </a:r>
            <a:r>
              <a:rPr lang="zh-CN" altLang="en-US" sz="2400" b="1" smtClean="0">
                <a:solidFill>
                  <a:srgbClr val="FF0000"/>
                </a:solidFill>
                <a:latin typeface="Arial" panose="020B0604020202020204" pitchFamily="34" charset="0"/>
              </a:rPr>
              <a:t>三个阶段</a:t>
            </a:r>
            <a:r>
              <a:rPr lang="zh-CN" altLang="en-US" sz="2400" smtClean="0">
                <a:latin typeface="Arial" panose="020B0604020202020204" pitchFamily="34" charset="0"/>
              </a:rPr>
              <a:t>（</a:t>
            </a:r>
            <a:r>
              <a:rPr lang="en-US" altLang="zh-CN" sz="2400" smtClean="0">
                <a:latin typeface="Arial" panose="020B0604020202020204" pitchFamily="34" charset="0"/>
              </a:rPr>
              <a:t>k=1,2,3</a:t>
            </a:r>
            <a:r>
              <a:rPr lang="zh-CN" altLang="en-US" sz="2400" smtClean="0">
                <a:latin typeface="Arial" panose="020B0604020202020204" pitchFamily="34" charset="0"/>
              </a:rPr>
              <a:t>）</a:t>
            </a:r>
            <a:endParaRPr lang="en-US" altLang="zh-CN" sz="2400" smtClean="0">
              <a:latin typeface="Arial" panose="020B0604020202020204" pitchFamily="34" charset="0"/>
            </a:endParaRPr>
          </a:p>
          <a:p>
            <a:pPr indent="342900" eaLnBrk="1" hangingPunct="1">
              <a:lnSpc>
                <a:spcPct val="150000"/>
              </a:lnSpc>
              <a:buFontTx/>
              <a:buNone/>
            </a:pPr>
            <a:r>
              <a:rPr lang="zh-CN" altLang="en-US" sz="2400" b="1" smtClean="0">
                <a:solidFill>
                  <a:srgbClr val="FF0000"/>
                </a:solidFill>
                <a:latin typeface="Arial" panose="020B0604020202020204" pitchFamily="34" charset="0"/>
              </a:rPr>
              <a:t>决策变量</a:t>
            </a:r>
            <a:r>
              <a:rPr lang="en-US" altLang="zh-CN" sz="2400" smtClean="0">
                <a:latin typeface="Arial" panose="020B0604020202020204" pitchFamily="34" charset="0"/>
              </a:rPr>
              <a:t>x</a:t>
            </a:r>
            <a:r>
              <a:rPr lang="en-US" altLang="zh-CN" sz="2400" baseline="-30000" smtClean="0">
                <a:latin typeface="Arial" panose="020B0604020202020204" pitchFamily="34" charset="0"/>
              </a:rPr>
              <a:t>k</a:t>
            </a:r>
            <a:r>
              <a:rPr lang="zh-CN" altLang="en-US" sz="2400" smtClean="0">
                <a:latin typeface="Arial" panose="020B0604020202020204" pitchFamily="34" charset="0"/>
              </a:rPr>
              <a:t>表示第</a:t>
            </a:r>
            <a:r>
              <a:rPr lang="en-US" altLang="zh-CN" sz="2400" smtClean="0">
                <a:latin typeface="Arial" panose="020B0604020202020204" pitchFamily="34" charset="0"/>
              </a:rPr>
              <a:t>k</a:t>
            </a:r>
            <a:r>
              <a:rPr lang="zh-CN" altLang="en-US" sz="2400" smtClean="0">
                <a:latin typeface="Arial" panose="020B0604020202020204" pitchFamily="34" charset="0"/>
              </a:rPr>
              <a:t>次生产的产品的件数；</a:t>
            </a:r>
            <a:endParaRPr lang="en-US" altLang="zh-CN" sz="2400" smtClean="0">
              <a:latin typeface="Arial" panose="020B0604020202020204" pitchFamily="34" charset="0"/>
            </a:endParaRPr>
          </a:p>
          <a:p>
            <a:pPr indent="342900" eaLnBrk="1" hangingPunct="1">
              <a:lnSpc>
                <a:spcPct val="150000"/>
              </a:lnSpc>
              <a:buFontTx/>
              <a:buNone/>
            </a:pPr>
            <a:r>
              <a:rPr lang="zh-CN" altLang="en-US" sz="2400" b="1" smtClean="0">
                <a:solidFill>
                  <a:srgbClr val="FF0000"/>
                </a:solidFill>
                <a:latin typeface="Arial" panose="020B0604020202020204" pitchFamily="34" charset="0"/>
              </a:rPr>
              <a:t>状态变量</a:t>
            </a:r>
            <a:r>
              <a:rPr lang="en-US" altLang="zh-CN" sz="2400" smtClean="0">
                <a:latin typeface="Arial" panose="020B0604020202020204" pitchFamily="34" charset="0"/>
              </a:rPr>
              <a:t>s</a:t>
            </a:r>
            <a:r>
              <a:rPr lang="en-US" altLang="zh-CN" sz="2400" baseline="-30000" smtClean="0">
                <a:latin typeface="Arial" panose="020B0604020202020204" pitchFamily="34" charset="0"/>
              </a:rPr>
              <a:t>k</a:t>
            </a:r>
            <a:r>
              <a:rPr lang="zh-CN" altLang="en-US" sz="2400" smtClean="0">
                <a:latin typeface="Arial" panose="020B0604020202020204" pitchFamily="34" charset="0"/>
              </a:rPr>
              <a:t>表示第</a:t>
            </a:r>
            <a:r>
              <a:rPr lang="en-US" altLang="zh-CN" sz="2400" smtClean="0">
                <a:latin typeface="Arial" panose="020B0604020202020204" pitchFamily="34" charset="0"/>
              </a:rPr>
              <a:t>k</a:t>
            </a:r>
            <a:r>
              <a:rPr lang="zh-CN" altLang="en-US" sz="2400" smtClean="0">
                <a:latin typeface="Arial" panose="020B0604020202020204" pitchFamily="34" charset="0"/>
              </a:rPr>
              <a:t>次试制前是否已经生产出合格品，如果有合格品，则</a:t>
            </a:r>
            <a:r>
              <a:rPr lang="en-US" altLang="zh-CN" sz="2400" smtClean="0">
                <a:latin typeface="Arial" panose="020B0604020202020204" pitchFamily="34" charset="0"/>
              </a:rPr>
              <a:t>s</a:t>
            </a:r>
            <a:r>
              <a:rPr lang="en-US" altLang="zh-CN" sz="2400" baseline="-30000" smtClean="0">
                <a:latin typeface="Arial" panose="020B0604020202020204" pitchFamily="34" charset="0"/>
              </a:rPr>
              <a:t>k</a:t>
            </a:r>
            <a:r>
              <a:rPr lang="en-US" altLang="zh-CN" sz="2400" smtClean="0">
                <a:latin typeface="Arial" panose="020B0604020202020204" pitchFamily="34" charset="0"/>
              </a:rPr>
              <a:t>=0</a:t>
            </a:r>
            <a:r>
              <a:rPr lang="zh-CN" altLang="en-US" sz="2400" smtClean="0">
                <a:latin typeface="Arial" panose="020B0604020202020204" pitchFamily="34" charset="0"/>
              </a:rPr>
              <a:t>；如果没有合格品，记</a:t>
            </a:r>
            <a:r>
              <a:rPr lang="en-US" altLang="zh-CN" sz="2400" smtClean="0">
                <a:latin typeface="Arial" panose="020B0604020202020204" pitchFamily="34" charset="0"/>
              </a:rPr>
              <a:t>s</a:t>
            </a:r>
            <a:r>
              <a:rPr lang="en-US" altLang="zh-CN" sz="2400" baseline="-30000" smtClean="0">
                <a:latin typeface="Arial" panose="020B0604020202020204" pitchFamily="34" charset="0"/>
              </a:rPr>
              <a:t>k</a:t>
            </a:r>
            <a:r>
              <a:rPr lang="en-US" altLang="zh-CN" sz="2400" smtClean="0">
                <a:latin typeface="Arial" panose="020B0604020202020204" pitchFamily="34" charset="0"/>
              </a:rPr>
              <a:t>=1</a:t>
            </a:r>
            <a:r>
              <a:rPr lang="zh-CN" altLang="en-US" sz="2400" smtClean="0">
                <a:latin typeface="Arial" panose="020B0604020202020204" pitchFamily="34" charset="0"/>
              </a:rPr>
              <a:t>。</a:t>
            </a:r>
            <a:endParaRPr lang="en-US" altLang="zh-CN" sz="2400" smtClean="0">
              <a:latin typeface="Arial" panose="020B0604020202020204" pitchFamily="34" charset="0"/>
            </a:endParaRPr>
          </a:p>
          <a:p>
            <a:pPr indent="342900" eaLnBrk="1" hangingPunct="1">
              <a:lnSpc>
                <a:spcPct val="150000"/>
              </a:lnSpc>
              <a:buFontTx/>
              <a:buNone/>
            </a:pPr>
            <a:r>
              <a:rPr lang="zh-CN" altLang="en-US" sz="2400" b="1" smtClean="0">
                <a:solidFill>
                  <a:srgbClr val="FF0000"/>
                </a:solidFill>
                <a:latin typeface="Arial" panose="020B0604020202020204" pitchFamily="34" charset="0"/>
              </a:rPr>
              <a:t>最优函数</a:t>
            </a:r>
            <a:r>
              <a:rPr lang="en-US" altLang="zh-CN" sz="2400" smtClean="0">
                <a:latin typeface="Arial" panose="020B0604020202020204" pitchFamily="34" charset="0"/>
              </a:rPr>
              <a:t>f</a:t>
            </a:r>
            <a:r>
              <a:rPr lang="en-US" altLang="zh-CN" sz="2400" baseline="-30000" smtClean="0">
                <a:latin typeface="Arial" panose="020B0604020202020204" pitchFamily="34" charset="0"/>
              </a:rPr>
              <a:t>k</a:t>
            </a:r>
            <a:r>
              <a:rPr lang="en-US" altLang="zh-CN" sz="2400" smtClean="0">
                <a:latin typeface="Arial" panose="020B0604020202020204" pitchFamily="34" charset="0"/>
              </a:rPr>
              <a:t>(s</a:t>
            </a:r>
            <a:r>
              <a:rPr lang="en-US" altLang="zh-CN" sz="2400" baseline="-30000" smtClean="0">
                <a:latin typeface="Arial" panose="020B0604020202020204" pitchFamily="34" charset="0"/>
              </a:rPr>
              <a:t>k</a:t>
            </a:r>
            <a:r>
              <a:rPr lang="en-US" altLang="zh-CN" sz="2400" smtClean="0">
                <a:latin typeface="Arial" panose="020B0604020202020204" pitchFamily="34" charset="0"/>
              </a:rPr>
              <a:t>)</a:t>
            </a:r>
            <a:r>
              <a:rPr lang="zh-CN" altLang="en-US" sz="2400" smtClean="0">
                <a:latin typeface="Arial" panose="020B0604020202020204" pitchFamily="34" charset="0"/>
              </a:rPr>
              <a:t>表示从状态</a:t>
            </a:r>
            <a:r>
              <a:rPr lang="en-US" altLang="zh-CN" sz="2400" smtClean="0">
                <a:latin typeface="Arial" panose="020B0604020202020204" pitchFamily="34" charset="0"/>
              </a:rPr>
              <a:t>s</a:t>
            </a:r>
            <a:r>
              <a:rPr lang="en-US" altLang="zh-CN" sz="2400" baseline="-30000" smtClean="0">
                <a:latin typeface="Arial" panose="020B0604020202020204" pitchFamily="34" charset="0"/>
              </a:rPr>
              <a:t>k</a:t>
            </a:r>
            <a:r>
              <a:rPr lang="zh-CN" altLang="en-US" sz="2400" smtClean="0">
                <a:latin typeface="Arial" panose="020B0604020202020204" pitchFamily="34" charset="0"/>
              </a:rPr>
              <a:t>、决策</a:t>
            </a:r>
            <a:r>
              <a:rPr lang="en-US" altLang="zh-CN" sz="2400" smtClean="0">
                <a:latin typeface="Arial" panose="020B0604020202020204" pitchFamily="34" charset="0"/>
              </a:rPr>
              <a:t>x</a:t>
            </a:r>
            <a:r>
              <a:rPr lang="en-US" altLang="zh-CN" sz="2400" baseline="-30000" smtClean="0">
                <a:latin typeface="Arial" panose="020B0604020202020204" pitchFamily="34" charset="0"/>
              </a:rPr>
              <a:t>k</a:t>
            </a:r>
            <a:r>
              <a:rPr lang="zh-CN" altLang="en-US" sz="2400" smtClean="0">
                <a:latin typeface="Arial" panose="020B0604020202020204" pitchFamily="34" charset="0"/>
              </a:rPr>
              <a:t>出发的第</a:t>
            </a:r>
            <a:r>
              <a:rPr lang="en-US" altLang="zh-CN" sz="2400" smtClean="0">
                <a:latin typeface="Arial" panose="020B0604020202020204" pitchFamily="34" charset="0"/>
              </a:rPr>
              <a:t>k</a:t>
            </a:r>
            <a:r>
              <a:rPr lang="zh-CN" altLang="en-US" sz="2400" smtClean="0">
                <a:latin typeface="Arial" panose="020B0604020202020204" pitchFamily="34" charset="0"/>
              </a:rPr>
              <a:t>阶段以后的最小期望费用。故有</a:t>
            </a:r>
            <a:r>
              <a:rPr lang="en-US" altLang="zh-CN" sz="2400" smtClean="0">
                <a:latin typeface="Arial" panose="020B0604020202020204" pitchFamily="34" charset="0"/>
              </a:rPr>
              <a:t>f</a:t>
            </a:r>
            <a:r>
              <a:rPr lang="en-US" altLang="zh-CN" sz="2400" baseline="-30000" smtClean="0">
                <a:latin typeface="Arial" panose="020B0604020202020204" pitchFamily="34" charset="0"/>
              </a:rPr>
              <a:t>k</a:t>
            </a:r>
            <a:r>
              <a:rPr lang="en-US" altLang="zh-CN" sz="2400" smtClean="0">
                <a:latin typeface="Arial" panose="020B0604020202020204" pitchFamily="34" charset="0"/>
              </a:rPr>
              <a:t>(0)</a:t>
            </a:r>
            <a:r>
              <a:rPr lang="zh-CN" altLang="en-US" sz="2400" smtClean="0">
                <a:latin typeface="Arial" panose="020B0604020202020204" pitchFamily="34" charset="0"/>
              </a:rPr>
              <a:t>＝</a:t>
            </a:r>
            <a:r>
              <a:rPr lang="en-US" altLang="zh-CN" sz="2400" smtClean="0">
                <a:latin typeface="Arial" panose="020B0604020202020204" pitchFamily="34" charset="0"/>
              </a:rPr>
              <a:t>0</a:t>
            </a:r>
            <a:r>
              <a:rPr lang="zh-CN" altLang="en-US" sz="2400" smtClean="0">
                <a:latin typeface="Arial" panose="020B0604020202020204" pitchFamily="34" charset="0"/>
              </a:rPr>
              <a:t>。</a:t>
            </a:r>
            <a:endParaRPr lang="zh-CN" altLang="en-US" sz="2400" smtClean="0">
              <a:latin typeface="Arial" panose="020B0604020202020204" pitchFamily="34" charset="0"/>
            </a:endParaRPr>
          </a:p>
          <a:p>
            <a:pPr indent="342900" eaLnBrk="1" hangingPunct="1">
              <a:lnSpc>
                <a:spcPct val="150000"/>
              </a:lnSpc>
              <a:buFontTx/>
              <a:buNone/>
            </a:pPr>
            <a:r>
              <a:rPr lang="zh-CN" altLang="en-US" sz="2400" smtClean="0">
                <a:latin typeface="Arial" panose="020B0604020202020204" pitchFamily="34" charset="0"/>
              </a:rPr>
              <a:t>生产出一件合格品的概率为</a:t>
            </a:r>
            <a:r>
              <a:rPr lang="en-US" altLang="zh-CN" sz="2400" smtClean="0">
                <a:latin typeface="Arial" panose="020B0604020202020204" pitchFamily="34" charset="0"/>
              </a:rPr>
              <a:t>0.4</a:t>
            </a:r>
            <a:r>
              <a:rPr lang="zh-CN" altLang="en-US" sz="2400" smtClean="0">
                <a:latin typeface="Arial" panose="020B0604020202020204" pitchFamily="34" charset="0"/>
              </a:rPr>
              <a:t>，所以生产</a:t>
            </a:r>
            <a:r>
              <a:rPr lang="en-US" altLang="zh-CN" sz="2400" smtClean="0">
                <a:latin typeface="Arial" panose="020B0604020202020204" pitchFamily="34" charset="0"/>
              </a:rPr>
              <a:t>x</a:t>
            </a:r>
            <a:r>
              <a:rPr lang="en-US" altLang="zh-CN" sz="2400" baseline="-30000" smtClean="0">
                <a:latin typeface="Arial" panose="020B0604020202020204" pitchFamily="34" charset="0"/>
              </a:rPr>
              <a:t>k</a:t>
            </a:r>
            <a:r>
              <a:rPr lang="zh-CN" altLang="en-US" sz="2400" smtClean="0">
                <a:latin typeface="Arial" panose="020B0604020202020204" pitchFamily="34" charset="0"/>
              </a:rPr>
              <a:t>件产品都不合格的概率为    </a:t>
            </a:r>
            <a:r>
              <a:rPr lang="en-US" altLang="zh-CN" sz="2400" smtClean="0">
                <a:latin typeface="Arial" panose="020B0604020202020204" pitchFamily="34" charset="0"/>
              </a:rPr>
              <a:t>   </a:t>
            </a:r>
            <a:r>
              <a:rPr lang="zh-CN" altLang="en-US" sz="2400" smtClean="0">
                <a:latin typeface="Arial" panose="020B0604020202020204" pitchFamily="34" charset="0"/>
              </a:rPr>
              <a:t>，至少有一件合格品的概率为</a:t>
            </a:r>
            <a:r>
              <a:rPr lang="en-US" altLang="zh-CN" sz="2400" smtClean="0">
                <a:latin typeface="Arial" panose="020B0604020202020204" pitchFamily="34" charset="0"/>
              </a:rPr>
              <a:t>1-      </a:t>
            </a:r>
            <a:r>
              <a:rPr lang="zh-CN" altLang="en-US" sz="2400" smtClean="0">
                <a:latin typeface="Arial" panose="020B0604020202020204" pitchFamily="34" charset="0"/>
              </a:rPr>
              <a:t>，故有</a:t>
            </a:r>
            <a:r>
              <a:rPr lang="zh-CN" altLang="en-US" sz="2400" b="1" smtClean="0">
                <a:solidFill>
                  <a:srgbClr val="FF0000"/>
                </a:solidFill>
                <a:latin typeface="Arial" panose="020B0604020202020204" pitchFamily="34" charset="0"/>
              </a:rPr>
              <a:t>状态转移方程</a:t>
            </a:r>
            <a:r>
              <a:rPr lang="zh-CN" altLang="en-US" sz="2400" smtClean="0">
                <a:latin typeface="Arial" panose="020B0604020202020204" pitchFamily="34" charset="0"/>
              </a:rPr>
              <a:t>为 </a:t>
            </a:r>
            <a:endParaRPr lang="zh-CN" altLang="en-US" sz="2400" smtClean="0">
              <a:latin typeface="Arial" panose="020B0604020202020204" pitchFamily="34" charset="0"/>
            </a:endParaRPr>
          </a:p>
          <a:p>
            <a:pPr indent="342900" eaLnBrk="1" hangingPunct="1">
              <a:lnSpc>
                <a:spcPct val="150000"/>
              </a:lnSpc>
              <a:buFontTx/>
              <a:buNone/>
            </a:pPr>
            <a:r>
              <a:rPr lang="zh-CN" altLang="en-US" sz="2800" smtClean="0">
                <a:latin typeface="Arial" panose="020B0604020202020204" pitchFamily="34" charset="0"/>
              </a:rPr>
              <a:t> </a:t>
            </a:r>
            <a:endParaRPr lang="zh-CN" altLang="en-US" sz="2800" smtClean="0">
              <a:latin typeface="Arial" panose="020B0604020202020204" pitchFamily="34" charset="0"/>
            </a:endParaRPr>
          </a:p>
        </p:txBody>
      </p:sp>
      <p:graphicFrame>
        <p:nvGraphicFramePr>
          <p:cNvPr id="97283" name="Object 9"/>
          <p:cNvGraphicFramePr>
            <a:graphicFrameLocks noGrp="1" noChangeAspect="1"/>
          </p:cNvGraphicFramePr>
          <p:nvPr>
            <p:ph sz="quarter" idx="2"/>
          </p:nvPr>
        </p:nvGraphicFramePr>
        <p:xfrm>
          <a:off x="3213735" y="4760913"/>
          <a:ext cx="603250" cy="371475"/>
        </p:xfrm>
        <a:graphic>
          <a:graphicData uri="http://schemas.openxmlformats.org/presentationml/2006/ole">
            <mc:AlternateContent xmlns:mc="http://schemas.openxmlformats.org/markup-compatibility/2006">
              <mc:Choice xmlns:v="urn:schemas-microsoft-com:vml" Requires="v">
                <p:oleObj spid="_x0000_s97318" name="公式" r:id="rId1" imgW="330200" imgH="203200" progId="Equation.3">
                  <p:embed/>
                </p:oleObj>
              </mc:Choice>
              <mc:Fallback>
                <p:oleObj name="公式" r:id="rId1" imgW="330200" imgH="2032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735" y="4760913"/>
                        <a:ext cx="603250"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4" name="Object 11"/>
          <p:cNvGraphicFramePr>
            <a:graphicFrameLocks noGrp="1" noChangeAspect="1"/>
          </p:cNvGraphicFramePr>
          <p:nvPr>
            <p:ph sz="quarter" idx="3"/>
          </p:nvPr>
        </p:nvGraphicFramePr>
        <p:xfrm>
          <a:off x="8070215" y="4725353"/>
          <a:ext cx="582613" cy="358775"/>
        </p:xfrm>
        <a:graphic>
          <a:graphicData uri="http://schemas.openxmlformats.org/presentationml/2006/ole">
            <mc:AlternateContent xmlns:mc="http://schemas.openxmlformats.org/markup-compatibility/2006">
              <mc:Choice xmlns:v="urn:schemas-microsoft-com:vml" Requires="v">
                <p:oleObj spid="_x0000_s97319" name="公式" r:id="rId3" imgW="330200" imgH="203200" progId="Equation.3">
                  <p:embed/>
                </p:oleObj>
              </mc:Choice>
              <mc:Fallback>
                <p:oleObj name="公式" r:id="rId3" imgW="330200" imgH="203200"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0215" y="4725353"/>
                        <a:ext cx="582613"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灯片编号占位符 7"/>
          <p:cNvSpPr>
            <a:spLocks noGrp="1"/>
          </p:cNvSpPr>
          <p:nvPr>
            <p:ph type="sldNum" sz="quarter" idx="12"/>
          </p:nvPr>
        </p:nvSpPr>
        <p:spPr/>
        <p:txBody>
          <a:bodyPr/>
          <a:lstStyle/>
          <a:p>
            <a:pPr>
              <a:defRPr/>
            </a:pPr>
            <a:fld id="{A55CBB04-653F-4C45-8E13-233D1F05026E}" type="slidenum">
              <a:rPr lang="en-US" altLang="zh-CN"/>
            </a:fld>
            <a:endParaRPr lang="en-US" altLang="zh-CN" dirty="0"/>
          </a:p>
        </p:txBody>
      </p:sp>
      <p:sp>
        <p:nvSpPr>
          <p:cNvPr id="97286" name="Rectangle 4"/>
          <p:cNvSpPr>
            <a:spLocks noChangeArrowheads="1"/>
          </p:cNvSpPr>
          <p:nvPr/>
        </p:nvSpPr>
        <p:spPr bwMode="auto">
          <a:xfrm>
            <a:off x="5443538" y="3186113"/>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97287" name="Object 5"/>
          <p:cNvGraphicFramePr>
            <a:graphicFrameLocks noChangeAspect="1"/>
          </p:cNvGraphicFramePr>
          <p:nvPr/>
        </p:nvGraphicFramePr>
        <p:xfrm>
          <a:off x="4310063" y="5500688"/>
          <a:ext cx="2571750" cy="949325"/>
        </p:xfrm>
        <a:graphic>
          <a:graphicData uri="http://schemas.openxmlformats.org/presentationml/2006/ole">
            <mc:AlternateContent xmlns:mc="http://schemas.openxmlformats.org/markup-compatibility/2006">
              <mc:Choice xmlns:v="urn:schemas-microsoft-com:vml" Requires="v">
                <p:oleObj spid="_x0000_s97320" name="公式" r:id="rId4" imgW="1320165" imgH="482600" progId="Equation.3">
                  <p:embed/>
                </p:oleObj>
              </mc:Choice>
              <mc:Fallback>
                <p:oleObj name="公式" r:id="rId4" imgW="1320165" imgH="482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0063" y="5500688"/>
                        <a:ext cx="257175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8" name="AutoShape 6"/>
          <p:cNvSpPr/>
          <p:nvPr/>
        </p:nvSpPr>
        <p:spPr bwMode="auto">
          <a:xfrm>
            <a:off x="3881438" y="5672138"/>
            <a:ext cx="381000" cy="685800"/>
          </a:xfrm>
          <a:prstGeom prst="leftBrace">
            <a:avLst>
              <a:gd name="adj1" fmla="val 15000"/>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a:xfrm>
            <a:off x="1738313" y="1260475"/>
            <a:ext cx="8143875" cy="5240338"/>
          </a:xfrm>
        </p:spPr>
        <p:txBody>
          <a:bodyPr/>
          <a:lstStyle/>
          <a:p>
            <a:pPr eaLnBrk="1" hangingPunct="1">
              <a:lnSpc>
                <a:spcPct val="150000"/>
              </a:lnSpc>
              <a:buFontTx/>
              <a:buNone/>
            </a:pPr>
            <a:r>
              <a:rPr lang="en-US" altLang="zh-CN" sz="2400" smtClean="0">
                <a:latin typeface="Arial" panose="020B0604020202020204" pitchFamily="34" charset="0"/>
              </a:rPr>
              <a:t>         </a:t>
            </a:r>
            <a:r>
              <a:rPr lang="zh-CN" altLang="en-US" sz="2400" smtClean="0">
                <a:latin typeface="Arial" panose="020B0604020202020204" pitchFamily="34" charset="0"/>
              </a:rPr>
              <a:t>用</a:t>
            </a:r>
            <a:r>
              <a:rPr lang="en-US" altLang="zh-CN" sz="2400" smtClean="0">
                <a:latin typeface="Arial" panose="020B0604020202020204" pitchFamily="34" charset="0"/>
              </a:rPr>
              <a:t>      </a:t>
            </a:r>
            <a:r>
              <a:rPr lang="zh-CN" altLang="en-US" sz="2400" smtClean="0">
                <a:latin typeface="Arial" panose="020B0604020202020204" pitchFamily="34" charset="0"/>
              </a:rPr>
              <a:t>表示第</a:t>
            </a:r>
            <a:r>
              <a:rPr lang="en-US" altLang="zh-CN" sz="2400" smtClean="0">
                <a:latin typeface="Arial" panose="020B0604020202020204" pitchFamily="34" charset="0"/>
              </a:rPr>
              <a:t>   </a:t>
            </a:r>
            <a:r>
              <a:rPr lang="zh-CN" altLang="en-US" sz="2400" smtClean="0">
                <a:latin typeface="Arial" panose="020B0604020202020204" pitchFamily="34" charset="0"/>
              </a:rPr>
              <a:t>阶段的费用，</a:t>
            </a:r>
            <a:r>
              <a:rPr lang="zh-CN" altLang="en-US" sz="2400" b="1" smtClean="0">
                <a:latin typeface="Arial" panose="020B0604020202020204" pitchFamily="34" charset="0"/>
              </a:rPr>
              <a:t>第  阶段的费用包括制造成本和装配费用</a:t>
            </a:r>
            <a:r>
              <a:rPr lang="zh-CN" altLang="en-US" sz="2400" smtClean="0">
                <a:latin typeface="Arial" panose="020B0604020202020204" pitchFamily="34" charset="0"/>
              </a:rPr>
              <a:t>，故有 </a:t>
            </a:r>
            <a:endParaRPr lang="zh-CN" altLang="en-US" sz="2400" smtClean="0">
              <a:latin typeface="Arial" panose="020B0604020202020204" pitchFamily="34" charset="0"/>
            </a:endParaRPr>
          </a:p>
          <a:p>
            <a:pPr eaLnBrk="1" hangingPunct="1">
              <a:lnSpc>
                <a:spcPct val="150000"/>
              </a:lnSpc>
              <a:buFontTx/>
              <a:buNone/>
            </a:pPr>
            <a:endParaRPr lang="zh-CN" altLang="en-US" sz="2400" smtClean="0">
              <a:latin typeface="Arial" panose="020B0604020202020204" pitchFamily="34" charset="0"/>
            </a:endParaRPr>
          </a:p>
          <a:p>
            <a:pPr eaLnBrk="1" hangingPunct="1">
              <a:lnSpc>
                <a:spcPct val="150000"/>
              </a:lnSpc>
              <a:buFontTx/>
              <a:buNone/>
            </a:pPr>
            <a:r>
              <a:rPr lang="zh-CN" altLang="en-US" sz="2400" smtClean="0">
                <a:latin typeface="Arial" panose="020B0604020202020204" pitchFamily="34" charset="0"/>
              </a:rPr>
              <a:t>         根据状态转移方程以及    </a:t>
            </a:r>
            <a:r>
              <a:rPr lang="en-US" altLang="zh-CN" sz="2400" smtClean="0">
                <a:latin typeface="Arial" panose="020B0604020202020204" pitchFamily="34" charset="0"/>
              </a:rPr>
              <a:t> </a:t>
            </a:r>
            <a:r>
              <a:rPr lang="zh-CN" altLang="en-US" sz="2400" smtClean="0">
                <a:latin typeface="Arial" panose="020B0604020202020204" pitchFamily="34" charset="0"/>
              </a:rPr>
              <a:t>，可得到</a:t>
            </a:r>
            <a:endParaRPr lang="en-US" altLang="zh-CN"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a:p>
            <a:pPr algn="just" eaLnBrk="1" hangingPunct="1">
              <a:lnSpc>
                <a:spcPct val="150000"/>
              </a:lnSpc>
              <a:buFontTx/>
              <a:buNone/>
            </a:pPr>
            <a:r>
              <a:rPr lang="en-US" altLang="zh-CN" sz="2400" smtClean="0">
                <a:latin typeface="Arial" panose="020B0604020202020204" pitchFamily="34" charset="0"/>
              </a:rPr>
              <a:t>         </a:t>
            </a:r>
            <a:r>
              <a:rPr lang="zh-CN" altLang="en-US" sz="2400" smtClean="0">
                <a:latin typeface="Arial" panose="020B0604020202020204" pitchFamily="34" charset="0"/>
              </a:rPr>
              <a:t>如果</a:t>
            </a:r>
            <a:r>
              <a:rPr lang="en-US" altLang="zh-CN" sz="2400" smtClean="0">
                <a:latin typeface="Arial" panose="020B0604020202020204" pitchFamily="34" charset="0"/>
              </a:rPr>
              <a:t>3</a:t>
            </a:r>
            <a:r>
              <a:rPr lang="zh-CN" altLang="en-US" sz="2400" smtClean="0">
                <a:latin typeface="Arial" panose="020B0604020202020204" pitchFamily="34" charset="0"/>
              </a:rPr>
              <a:t>个月后没有试制出一件合格品，则要承担</a:t>
            </a:r>
            <a:r>
              <a:rPr lang="en-US" altLang="zh-CN" sz="2400" smtClean="0">
                <a:latin typeface="Arial" panose="020B0604020202020204" pitchFamily="34" charset="0"/>
              </a:rPr>
              <a:t>2000</a:t>
            </a:r>
            <a:r>
              <a:rPr lang="zh-CN" altLang="en-US" sz="2400" smtClean="0">
                <a:latin typeface="Arial" panose="020B0604020202020204" pitchFamily="34" charset="0"/>
              </a:rPr>
              <a:t>元的罚金，因此有     </a:t>
            </a:r>
            <a:r>
              <a:rPr lang="en-US" altLang="zh-CN" sz="2400" smtClean="0">
                <a:latin typeface="Arial" panose="020B0604020202020204" pitchFamily="34" charset="0"/>
              </a:rPr>
              <a:t>       </a:t>
            </a:r>
            <a:r>
              <a:rPr lang="zh-CN" altLang="en-US" sz="2400" smtClean="0">
                <a:latin typeface="Arial" panose="020B0604020202020204" pitchFamily="34" charset="0"/>
              </a:rPr>
              <a:t>。 </a:t>
            </a:r>
            <a:endParaRPr lang="zh-CN" altLang="en-US" sz="2400" smtClean="0">
              <a:latin typeface="Arial" panose="020B0604020202020204" pitchFamily="34" charset="0"/>
            </a:endParaRPr>
          </a:p>
        </p:txBody>
      </p:sp>
      <p:sp>
        <p:nvSpPr>
          <p:cNvPr id="12" name="灯片编号占位符 5"/>
          <p:cNvSpPr>
            <a:spLocks noGrp="1"/>
          </p:cNvSpPr>
          <p:nvPr>
            <p:ph type="sldNum" sz="quarter" idx="12"/>
          </p:nvPr>
        </p:nvSpPr>
        <p:spPr/>
        <p:txBody>
          <a:bodyPr/>
          <a:lstStyle/>
          <a:p>
            <a:pPr>
              <a:defRPr/>
            </a:pPr>
            <a:fld id="{2DE3E960-E016-42F6-B343-790A2A06665D}" type="slidenum">
              <a:rPr lang="en-US" altLang="zh-CN"/>
            </a:fld>
            <a:endParaRPr lang="en-US" altLang="zh-CN" dirty="0"/>
          </a:p>
        </p:txBody>
      </p:sp>
      <p:graphicFrame>
        <p:nvGraphicFramePr>
          <p:cNvPr id="98308" name="Object 5"/>
          <p:cNvGraphicFramePr>
            <a:graphicFrameLocks noChangeAspect="1"/>
          </p:cNvGraphicFramePr>
          <p:nvPr/>
        </p:nvGraphicFramePr>
        <p:xfrm>
          <a:off x="4095750" y="2428875"/>
          <a:ext cx="2786063" cy="857250"/>
        </p:xfrm>
        <a:graphic>
          <a:graphicData uri="http://schemas.openxmlformats.org/presentationml/2006/ole">
            <mc:AlternateContent xmlns:mc="http://schemas.openxmlformats.org/markup-compatibility/2006">
              <mc:Choice xmlns:v="urn:schemas-microsoft-com:vml" Requires="v">
                <p:oleObj spid="_x0000_s98385" name="公式" r:id="rId1" imgW="1574800" imgH="482600" progId="Equation.3">
                  <p:embed/>
                </p:oleObj>
              </mc:Choice>
              <mc:Fallback>
                <p:oleObj name="公式" r:id="rId1" imgW="1574800" imgH="482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0" y="2428875"/>
                        <a:ext cx="278606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09" name="Object 7"/>
          <p:cNvGraphicFramePr>
            <a:graphicFrameLocks noChangeAspect="1"/>
          </p:cNvGraphicFramePr>
          <p:nvPr/>
        </p:nvGraphicFramePr>
        <p:xfrm>
          <a:off x="3140075" y="3802063"/>
          <a:ext cx="5624513" cy="622300"/>
        </p:xfrm>
        <a:graphic>
          <a:graphicData uri="http://schemas.openxmlformats.org/presentationml/2006/ole">
            <mc:AlternateContent xmlns:mc="http://schemas.openxmlformats.org/markup-compatibility/2006">
              <mc:Choice xmlns:v="urn:schemas-microsoft-com:vml" Requires="v">
                <p:oleObj spid="_x0000_s98386" name="公式" r:id="rId3" imgW="3136900" imgH="342900" progId="Equation.3">
                  <p:embed/>
                </p:oleObj>
              </mc:Choice>
              <mc:Fallback>
                <p:oleObj name="公式" r:id="rId3" imgW="3136900" imgH="3429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075" y="3802063"/>
                        <a:ext cx="562451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0" name="Object 9"/>
          <p:cNvGraphicFramePr>
            <a:graphicFrameLocks noChangeAspect="1"/>
          </p:cNvGraphicFramePr>
          <p:nvPr/>
        </p:nvGraphicFramePr>
        <p:xfrm>
          <a:off x="3667125" y="4357688"/>
          <a:ext cx="3143250" cy="622300"/>
        </p:xfrm>
        <a:graphic>
          <a:graphicData uri="http://schemas.openxmlformats.org/presentationml/2006/ole">
            <mc:AlternateContent xmlns:mc="http://schemas.openxmlformats.org/markup-compatibility/2006">
              <mc:Choice xmlns:v="urn:schemas-microsoft-com:vml" Requires="v">
                <p:oleObj spid="_x0000_s98387" name="" r:id="rId5" imgW="1689100" imgH="330200" progId="Equation.3">
                  <p:embed/>
                </p:oleObj>
              </mc:Choice>
              <mc:Fallback>
                <p:oleObj name="" r:id="rId5" imgW="1689100" imgH="330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7125" y="4357688"/>
                        <a:ext cx="31432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3" name="Object 15"/>
          <p:cNvGraphicFramePr>
            <a:graphicFrameLocks noChangeAspect="1"/>
          </p:cNvGraphicFramePr>
          <p:nvPr/>
        </p:nvGraphicFramePr>
        <p:xfrm>
          <a:off x="5507038" y="3214688"/>
          <a:ext cx="660400" cy="371475"/>
        </p:xfrm>
        <a:graphic>
          <a:graphicData uri="http://schemas.openxmlformats.org/presentationml/2006/ole">
            <mc:AlternateContent xmlns:mc="http://schemas.openxmlformats.org/markup-compatibility/2006">
              <mc:Choice xmlns:v="urn:schemas-microsoft-com:vml" Requires="v">
                <p:oleObj spid="_x0000_s98388" name="公式" r:id="rId7" imgW="406400" imgH="228600" progId="Equation.3">
                  <p:embed/>
                </p:oleObj>
              </mc:Choice>
              <mc:Fallback>
                <p:oleObj name="公式" r:id="rId7" imgW="406400" imgH="2286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7038" y="3214688"/>
                        <a:ext cx="6604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4" name="Object 16"/>
          <p:cNvGraphicFramePr>
            <a:graphicFrameLocks noChangeAspect="1"/>
          </p:cNvGraphicFramePr>
          <p:nvPr/>
        </p:nvGraphicFramePr>
        <p:xfrm>
          <a:off x="2859405" y="1490345"/>
          <a:ext cx="584200" cy="328613"/>
        </p:xfrm>
        <a:graphic>
          <a:graphicData uri="http://schemas.openxmlformats.org/presentationml/2006/ole">
            <mc:AlternateContent xmlns:mc="http://schemas.openxmlformats.org/markup-compatibility/2006">
              <mc:Choice xmlns:v="urn:schemas-microsoft-com:vml" Requires="v">
                <p:oleObj spid="_x0000_s98389" name="公式" r:id="rId9" imgW="406400" imgH="228600" progId="Equation.3">
                  <p:embed/>
                </p:oleObj>
              </mc:Choice>
              <mc:Fallback>
                <p:oleObj name="公式" r:id="rId9" imgW="406400" imgH="2286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9405" y="1490345"/>
                        <a:ext cx="584200"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5" name="Object 17"/>
          <p:cNvGraphicFramePr>
            <a:graphicFrameLocks noChangeAspect="1"/>
          </p:cNvGraphicFramePr>
          <p:nvPr/>
        </p:nvGraphicFramePr>
        <p:xfrm>
          <a:off x="4238625" y="1485900"/>
          <a:ext cx="433388" cy="268288"/>
        </p:xfrm>
        <a:graphic>
          <a:graphicData uri="http://schemas.openxmlformats.org/presentationml/2006/ole">
            <mc:AlternateContent xmlns:mc="http://schemas.openxmlformats.org/markup-compatibility/2006">
              <mc:Choice xmlns:v="urn:schemas-microsoft-com:vml" Requires="v">
                <p:oleObj spid="_x0000_s98390" name="公式" r:id="rId10" imgW="127000" imgH="165100" progId="Equation.3">
                  <p:embed/>
                </p:oleObj>
              </mc:Choice>
              <mc:Fallback>
                <p:oleObj name="公式" r:id="rId10" imgW="127000" imgH="165100"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38625" y="1485900"/>
                        <a:ext cx="433388"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6" name="Object 20"/>
          <p:cNvGraphicFramePr>
            <a:graphicFrameLocks noChangeAspect="1"/>
          </p:cNvGraphicFramePr>
          <p:nvPr/>
        </p:nvGraphicFramePr>
        <p:xfrm>
          <a:off x="6596063" y="1455738"/>
          <a:ext cx="433387" cy="268287"/>
        </p:xfrm>
        <a:graphic>
          <a:graphicData uri="http://schemas.openxmlformats.org/presentationml/2006/ole">
            <mc:AlternateContent xmlns:mc="http://schemas.openxmlformats.org/markup-compatibility/2006">
              <mc:Choice xmlns:v="urn:schemas-microsoft-com:vml" Requires="v">
                <p:oleObj spid="_x0000_s98391" name="公式" r:id="rId12" imgW="127000" imgH="165100" progId="Equation.3">
                  <p:embed/>
                </p:oleObj>
              </mc:Choice>
              <mc:Fallback>
                <p:oleObj name="公式" r:id="rId12" imgW="127000" imgH="165100" progId="Equation.3">
                  <p:embed/>
                  <p:pic>
                    <p:nvPicPr>
                      <p:cNvPr id="0"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96063" y="1455738"/>
                        <a:ext cx="433387"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8317" name="Object 18"/>
          <p:cNvGraphicFramePr>
            <a:graphicFrameLocks noChangeAspect="1"/>
          </p:cNvGraphicFramePr>
          <p:nvPr/>
        </p:nvGraphicFramePr>
        <p:xfrm>
          <a:off x="4418013" y="5924233"/>
          <a:ext cx="1095375" cy="365125"/>
        </p:xfrm>
        <a:graphic>
          <a:graphicData uri="http://schemas.openxmlformats.org/presentationml/2006/ole">
            <mc:AlternateContent xmlns:mc="http://schemas.openxmlformats.org/markup-compatibility/2006">
              <mc:Choice xmlns:v="urn:schemas-microsoft-com:vml" Requires="v">
                <p:oleObj spid="_x0000_s98392" name="公式" r:id="rId13" imgW="647700" imgH="215900" progId="Equation.3">
                  <p:embed/>
                </p:oleObj>
              </mc:Choice>
              <mc:Fallback>
                <p:oleObj name="公式" r:id="rId13" imgW="647700" imgH="2159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8013" y="5924233"/>
                        <a:ext cx="10953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type="body" sz="half" idx="1"/>
          </p:nvPr>
        </p:nvSpPr>
        <p:spPr>
          <a:xfrm>
            <a:off x="1905000" y="1152525"/>
            <a:ext cx="8439150" cy="5562600"/>
          </a:xfrm>
        </p:spPr>
        <p:txBody>
          <a:bodyPr/>
          <a:lstStyle/>
          <a:p>
            <a:pPr algn="just" eaLnBrk="1" hangingPunct="1">
              <a:buFontTx/>
              <a:buNone/>
            </a:pPr>
            <a:endParaRPr lang="en-US" altLang="zh-CN" sz="2400" smtClean="0">
              <a:latin typeface="Arial" panose="020B0604020202020204" pitchFamily="34" charset="0"/>
            </a:endParaRPr>
          </a:p>
          <a:p>
            <a:pPr algn="just" eaLnBrk="1" hangingPunct="1">
              <a:buFontTx/>
              <a:buNone/>
            </a:pPr>
            <a:r>
              <a:rPr lang="zh-CN" altLang="en-US" sz="2400" smtClean="0">
                <a:latin typeface="Arial" panose="020B0604020202020204" pitchFamily="34" charset="0"/>
              </a:rPr>
              <a:t>当</a:t>
            </a:r>
            <a:r>
              <a:rPr lang="en-US" altLang="zh-CN" sz="2400" smtClean="0">
                <a:latin typeface="Arial" panose="020B0604020202020204" pitchFamily="34" charset="0"/>
              </a:rPr>
              <a:t>k=3</a:t>
            </a:r>
            <a:r>
              <a:rPr lang="zh-CN" altLang="en-US" sz="2400" smtClean="0">
                <a:latin typeface="Arial" panose="020B0604020202020204" pitchFamily="34" charset="0"/>
              </a:rPr>
              <a:t>时，计算如下表：</a:t>
            </a:r>
            <a:r>
              <a:rPr lang="zh-CN" altLang="en-US" sz="2800" smtClean="0">
                <a:latin typeface="Arial" panose="020B0604020202020204" pitchFamily="34" charset="0"/>
              </a:rPr>
              <a:t> </a:t>
            </a:r>
            <a:endParaRPr lang="zh-CN" altLang="en-US" sz="2800" smtClean="0">
              <a:latin typeface="Arial" panose="020B0604020202020204" pitchFamily="34" charset="0"/>
            </a:endParaRPr>
          </a:p>
          <a:p>
            <a:pPr eaLnBrk="1" hangingPunct="1">
              <a:buFontTx/>
              <a:buNone/>
            </a:pPr>
            <a:endParaRPr lang="en-US" altLang="zh-CN" sz="2800" smtClean="0">
              <a:latin typeface="Arial" panose="020B0604020202020204" pitchFamily="34" charset="0"/>
            </a:endParaRPr>
          </a:p>
        </p:txBody>
      </p:sp>
      <p:graphicFrame>
        <p:nvGraphicFramePr>
          <p:cNvPr id="207876" name="Group 4"/>
          <p:cNvGraphicFramePr>
            <a:graphicFrameLocks noGrp="1"/>
          </p:cNvGraphicFramePr>
          <p:nvPr/>
        </p:nvGraphicFramePr>
        <p:xfrm>
          <a:off x="2166938" y="2714625"/>
          <a:ext cx="8077200" cy="2438401"/>
        </p:xfrm>
        <a:graphic>
          <a:graphicData uri="http://schemas.openxmlformats.org/drawingml/2006/table">
            <a:tbl>
              <a:tblPr>
                <a:tableStyleId>{5940675A-B579-460E-94D1-54222C63F5DA}</a:tableStyleId>
              </a:tblPr>
              <a:tblGrid>
                <a:gridCol w="808355"/>
                <a:gridCol w="807720"/>
                <a:gridCol w="806450"/>
                <a:gridCol w="808355"/>
                <a:gridCol w="807720"/>
                <a:gridCol w="808355"/>
                <a:gridCol w="807720"/>
                <a:gridCol w="806450"/>
                <a:gridCol w="930275"/>
                <a:gridCol w="685800"/>
              </a:tblGrid>
              <a:tr h="503257">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x</a:t>
                      </a:r>
                      <a:r>
                        <a:rPr kumimoji="0" lang="en-US" altLang="zh-CN" sz="2000" u="none" strike="noStrike" cap="none" normalizeH="0" baseline="-30000" dirty="0" smtClean="0">
                          <a:ln>
                            <a:noFill/>
                          </a:ln>
                          <a:effectLst/>
                        </a:rPr>
                        <a:t>3</a:t>
                      </a:r>
                      <a:r>
                        <a:rPr kumimoji="0" lang="en-US" altLang="zh-CN" sz="2000" u="none" strike="noStrike" cap="none" normalizeH="0" baseline="0" dirty="0" smtClean="0">
                          <a:ln>
                            <a:noFill/>
                          </a:ln>
                          <a:effectLst/>
                        </a:rPr>
                        <a:t> </a:t>
                      </a:r>
                      <a:endParaRPr kumimoji="0" lang="en-US" altLang="zh-CN" sz="2000" u="none" strike="noStrike" cap="none" normalizeH="0" baseline="0" dirty="0" smtClean="0">
                        <a:ln>
                          <a:noFill/>
                        </a:ln>
                        <a:effectLst/>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u="none" strike="noStrike" cap="none" normalizeH="0" baseline="0" dirty="0" smtClean="0">
                        <a:ln>
                          <a:noFill/>
                        </a:ln>
                        <a:effectLst/>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s</a:t>
                      </a:r>
                      <a:r>
                        <a:rPr kumimoji="0" lang="en-US" altLang="zh-CN" sz="2000" u="none" strike="noStrike" cap="none" normalizeH="0" baseline="-30000" dirty="0" smtClean="0">
                          <a:ln>
                            <a:noFill/>
                          </a:ln>
                          <a:effectLst/>
                        </a:rPr>
                        <a:t>3</a:t>
                      </a: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C(x</a:t>
                      </a:r>
                      <a:r>
                        <a:rPr kumimoji="0" lang="en-US" altLang="zh-CN" sz="2000" u="none" strike="noStrike" cap="none" normalizeH="0" baseline="-30000" dirty="0" smtClean="0">
                          <a:ln>
                            <a:noFill/>
                          </a:ln>
                          <a:effectLst/>
                        </a:rPr>
                        <a:t>3</a:t>
                      </a:r>
                      <a:r>
                        <a:rPr kumimoji="0" lang="en-US" altLang="zh-CN" sz="2000" u="none" strike="noStrike" cap="none" normalizeH="0" baseline="0" dirty="0" smtClean="0">
                          <a:ln>
                            <a:noFill/>
                          </a:ln>
                          <a:effectLst/>
                        </a:rPr>
                        <a:t>)+20×</a:t>
                      </a:r>
                      <a:r>
                        <a:rPr lang="en-US" altLang="zh-CN" sz="2000" dirty="0" smtClean="0"/>
                        <a:t>0.6</a:t>
                      </a:r>
                      <a:r>
                        <a:rPr lang="en-US" altLang="zh-CN" sz="2000" baseline="30000" dirty="0" smtClean="0"/>
                        <a:t>X3</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hMerge="1">
                  <a:tcPr/>
                </a:tc>
                <a:tc hMerge="1">
                  <a:tcPr/>
                </a:tc>
                <a:tc hMerge="1">
                  <a:tcPr/>
                </a:tc>
                <a:tc hMerge="1">
                  <a:tcPr/>
                </a:tc>
                <a:tc hMerge="1">
                  <a:tcPr/>
                </a:tc>
                <a:tc hMerge="1">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u="none" strike="noStrike" cap="none" normalizeH="0" baseline="0" dirty="0" smtClean="0">
                        <a:ln>
                          <a:noFill/>
                        </a:ln>
                        <a:effectLst/>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f</a:t>
                      </a:r>
                      <a:r>
                        <a:rPr kumimoji="0" lang="en-US" altLang="zh-CN" sz="2000" u="none" strike="noStrike" cap="none" normalizeH="0" baseline="-30000" dirty="0" smtClean="0">
                          <a:ln>
                            <a:noFill/>
                          </a:ln>
                          <a:effectLst/>
                        </a:rPr>
                        <a:t>3</a:t>
                      </a:r>
                      <a:r>
                        <a:rPr kumimoji="0" lang="en-US" altLang="zh-CN" sz="2000" u="none" strike="noStrike" cap="none" normalizeH="0" baseline="0" dirty="0" smtClean="0">
                          <a:ln>
                            <a:noFill/>
                          </a:ln>
                          <a:effectLst/>
                        </a:rPr>
                        <a:t>(s</a:t>
                      </a:r>
                      <a:r>
                        <a:rPr kumimoji="0" lang="en-US" altLang="zh-CN" sz="2000" u="none" strike="noStrike" cap="none" normalizeH="0" baseline="-30000" dirty="0" smtClean="0">
                          <a:ln>
                            <a:noFill/>
                          </a:ln>
                          <a:effectLst/>
                        </a:rPr>
                        <a:t>3</a:t>
                      </a: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u="none" strike="noStrike" cap="none" normalizeH="0" baseline="0" dirty="0" smtClean="0">
                        <a:ln>
                          <a:noFill/>
                        </a:ln>
                        <a:effectLst/>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x</a:t>
                      </a:r>
                      <a:r>
                        <a:rPr kumimoji="0" lang="en-US" altLang="zh-CN" sz="2000" u="none" strike="noStrike" cap="none" normalizeH="0" baseline="-30000" dirty="0" smtClean="0">
                          <a:ln>
                            <a:noFill/>
                          </a:ln>
                          <a:effectLst/>
                        </a:rPr>
                        <a:t>3</a:t>
                      </a:r>
                      <a:r>
                        <a:rPr kumimoji="0" lang="en-US" altLang="zh-CN" sz="2000" u="none" strike="noStrike" cap="none" normalizeH="0" baseline="30000" dirty="0" smtClean="0">
                          <a:ln>
                            <a:noFill/>
                          </a:ln>
                          <a:effectLst/>
                        </a:rPr>
                        <a:t>*</a:t>
                      </a:r>
                      <a:endParaRPr kumimoji="0" lang="en-US" altLang="zh-CN" sz="2000" b="0" i="0" u="none" strike="noStrike" cap="none" normalizeH="0" baseline="3000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r>
              <a:tr h="624792">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0</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1</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2</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3</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4</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5</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6</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vMerge="1">
                  <a:tcPr/>
                </a:tc>
                <a:tc vMerge="1">
                  <a:tcPr/>
                </a:tc>
              </a:tr>
              <a:tr h="68451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0</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0</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0</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0</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r>
              <a:tr h="6258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1</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20</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15</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11.2</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9.32</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8.59</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8.56</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8.93</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8.56</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u="none" strike="noStrike" cap="none" normalizeH="0" baseline="0" dirty="0" smtClean="0">
                          <a:ln>
                            <a:noFill/>
                          </a:ln>
                          <a:effectLst/>
                        </a:rPr>
                        <a:t> 5</a:t>
                      </a:r>
                      <a:endParaRPr kumimoji="0" lang="en-US" altLang="zh-CN" sz="20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marT="45732" marB="45732" anchor="ctr" horzOverflow="overflow"/>
                </a:tc>
              </a:tr>
            </a:tbl>
          </a:graphicData>
        </a:graphic>
      </p:graphicFrame>
      <p:cxnSp>
        <p:nvCxnSpPr>
          <p:cNvPr id="11" name="直接连接符 10"/>
          <p:cNvCxnSpPr/>
          <p:nvPr/>
        </p:nvCxnSpPr>
        <p:spPr>
          <a:xfrm>
            <a:off x="2208213" y="2725738"/>
            <a:ext cx="719137" cy="1135062"/>
          </a:xfrm>
          <a:prstGeom prst="line">
            <a:avLst/>
          </a:prstGeom>
        </p:spPr>
        <p:style>
          <a:lnRef idx="1">
            <a:schemeClr val="dk1"/>
          </a:lnRef>
          <a:fillRef idx="0">
            <a:schemeClr val="dk1"/>
          </a:fillRef>
          <a:effectRef idx="0">
            <a:schemeClr val="dk1"/>
          </a:effectRef>
          <a:fontRef idx="minor">
            <a:schemeClr val="tx1"/>
          </a:fontRef>
        </p:style>
      </p:cxn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type="body" sz="half" idx="1"/>
          </p:nvPr>
        </p:nvSpPr>
        <p:spPr>
          <a:xfrm>
            <a:off x="1905000" y="838200"/>
            <a:ext cx="8439150" cy="5562600"/>
          </a:xfrm>
        </p:spPr>
        <p:txBody>
          <a:bodyPr/>
          <a:lstStyle/>
          <a:p>
            <a:pPr eaLnBrk="1" hangingPunct="1">
              <a:buFontTx/>
              <a:buNone/>
            </a:pPr>
            <a:endParaRPr lang="en-US" altLang="zh-CN" sz="2800" smtClean="0">
              <a:latin typeface="Arial" panose="020B0604020202020204" pitchFamily="34" charset="0"/>
            </a:endParaRPr>
          </a:p>
          <a:p>
            <a:pPr eaLnBrk="1" hangingPunct="1">
              <a:buFontTx/>
              <a:buNone/>
            </a:pPr>
            <a:r>
              <a:rPr lang="zh-CN" altLang="en-US" sz="2400" smtClean="0">
                <a:latin typeface="Arial" panose="020B0604020202020204" pitchFamily="34" charset="0"/>
              </a:rPr>
              <a:t>当</a:t>
            </a:r>
            <a:r>
              <a:rPr lang="en-US" altLang="zh-CN" sz="2400" smtClean="0">
                <a:latin typeface="Arial" panose="020B0604020202020204" pitchFamily="34" charset="0"/>
              </a:rPr>
              <a:t>k=2</a:t>
            </a:r>
            <a:r>
              <a:rPr lang="zh-CN" altLang="en-US" sz="2400" smtClean="0">
                <a:latin typeface="Arial" panose="020B0604020202020204" pitchFamily="34" charset="0"/>
              </a:rPr>
              <a:t>时，计算如下表：</a:t>
            </a:r>
            <a:r>
              <a:rPr lang="zh-CN" altLang="en-US" sz="2800" smtClean="0">
                <a:latin typeface="Arial" panose="020B0604020202020204" pitchFamily="34" charset="0"/>
              </a:rPr>
              <a:t> </a:t>
            </a:r>
            <a:endParaRPr lang="zh-CN" altLang="en-US" sz="2800" smtClean="0">
              <a:latin typeface="Arial" panose="020B0604020202020204" pitchFamily="34" charset="0"/>
            </a:endParaRPr>
          </a:p>
          <a:p>
            <a:pPr eaLnBrk="1" hangingPunct="1">
              <a:buFontTx/>
              <a:buNone/>
            </a:pPr>
            <a:endParaRPr lang="en-US" altLang="zh-CN" sz="2800" smtClean="0">
              <a:latin typeface="Arial" panose="020B0604020202020204" pitchFamily="34" charset="0"/>
            </a:endParaRPr>
          </a:p>
        </p:txBody>
      </p:sp>
      <p:graphicFrame>
        <p:nvGraphicFramePr>
          <p:cNvPr id="208900" name="Group 4"/>
          <p:cNvGraphicFramePr>
            <a:graphicFrameLocks noGrp="1"/>
          </p:cNvGraphicFramePr>
          <p:nvPr/>
        </p:nvGraphicFramePr>
        <p:xfrm>
          <a:off x="2452688" y="2357438"/>
          <a:ext cx="7086600" cy="2478087"/>
        </p:xfrm>
        <a:graphic>
          <a:graphicData uri="http://schemas.openxmlformats.org/drawingml/2006/table">
            <a:tbl>
              <a:tblPr>
                <a:tableStyleId>{5940675A-B579-460E-94D1-54222C63F5DA}</a:tableStyleId>
              </a:tblPr>
              <a:tblGrid>
                <a:gridCol w="895350"/>
                <a:gridCol w="893445"/>
                <a:gridCol w="894080"/>
                <a:gridCol w="893445"/>
                <a:gridCol w="895350"/>
                <a:gridCol w="862330"/>
                <a:gridCol w="1077595"/>
                <a:gridCol w="675005"/>
              </a:tblGrid>
              <a:tr h="552472">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x</a:t>
                      </a:r>
                      <a:r>
                        <a:rPr kumimoji="0" lang="en-US" altLang="zh-CN" sz="2400" u="none" strike="noStrike" cap="none" normalizeH="0" baseline="-30000" dirty="0" smtClean="0">
                          <a:ln>
                            <a:noFill/>
                          </a:ln>
                          <a:effectLst/>
                          <a:latin typeface="Times New Roman" panose="02020603050405020304" pitchFamily="18" charset="0"/>
                        </a:rPr>
                        <a:t>2</a:t>
                      </a: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s</a:t>
                      </a:r>
                      <a:r>
                        <a:rPr kumimoji="0" lang="en-US" altLang="zh-CN" sz="2400" u="none" strike="noStrike" cap="none" normalizeH="0" baseline="-30000" dirty="0" smtClean="0">
                          <a:ln>
                            <a:noFill/>
                          </a:ln>
                          <a:effectLst/>
                          <a:latin typeface="Times New Roman" panose="02020603050405020304" pitchFamily="18" charset="0"/>
                        </a:rPr>
                        <a:t>2</a:t>
                      </a: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C(x</a:t>
                      </a:r>
                      <a:r>
                        <a:rPr kumimoji="0" lang="en-US" altLang="zh-CN" sz="2400" u="none" strike="noStrike" cap="none" normalizeH="0" baseline="-30000" dirty="0" smtClean="0">
                          <a:ln>
                            <a:noFill/>
                          </a:ln>
                          <a:effectLst/>
                          <a:latin typeface="Times New Roman" panose="02020603050405020304" pitchFamily="18" charset="0"/>
                        </a:rPr>
                        <a:t>2</a:t>
                      </a:r>
                      <a:r>
                        <a:rPr kumimoji="0" lang="en-US" altLang="zh-CN" sz="2400" u="none" strike="noStrike" cap="none" normalizeH="0" baseline="0" dirty="0" smtClean="0">
                          <a:ln>
                            <a:noFill/>
                          </a:ln>
                          <a:effectLst/>
                          <a:latin typeface="Times New Roman" panose="02020603050405020304" pitchFamily="18" charset="0"/>
                        </a:rPr>
                        <a:t>)+8.56×</a:t>
                      </a:r>
                      <a:r>
                        <a:rPr lang="en-US" altLang="zh-CN" sz="2400" dirty="0" smtClean="0">
                          <a:latin typeface="Times New Roman" panose="02020603050405020304" pitchFamily="18" charset="0"/>
                        </a:rPr>
                        <a:t>0.6</a:t>
                      </a:r>
                      <a:r>
                        <a:rPr lang="en-US" altLang="zh-CN" sz="2400" baseline="30000" dirty="0" smtClean="0">
                          <a:latin typeface="Times New Roman" panose="02020603050405020304" pitchFamily="18" charset="0"/>
                        </a:rPr>
                        <a:t>X2</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hMerge="1">
                  <a:tcPr/>
                </a:tc>
                <a:tc hMerge="1">
                  <a:tcPr/>
                </a:tc>
                <a:tc hMerge="1">
                  <a:tcPr/>
                </a:tc>
                <a:tc hMerge="1">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f</a:t>
                      </a:r>
                      <a:r>
                        <a:rPr kumimoji="0" lang="en-US" altLang="zh-CN" sz="2400" u="none" strike="noStrike" cap="none" normalizeH="0" baseline="-30000" dirty="0" smtClean="0">
                          <a:ln>
                            <a:noFill/>
                          </a:ln>
                          <a:effectLst/>
                          <a:latin typeface="Times New Roman" panose="02020603050405020304" pitchFamily="18" charset="0"/>
                        </a:rPr>
                        <a:t>2</a:t>
                      </a:r>
                      <a:r>
                        <a:rPr kumimoji="0" lang="en-US" altLang="zh-CN" sz="2400" u="none" strike="noStrike" cap="none" normalizeH="0" baseline="0" dirty="0" smtClean="0">
                          <a:ln>
                            <a:noFill/>
                          </a:ln>
                          <a:effectLst/>
                          <a:latin typeface="Times New Roman" panose="02020603050405020304" pitchFamily="18" charset="0"/>
                        </a:rPr>
                        <a:t>(s</a:t>
                      </a:r>
                      <a:r>
                        <a:rPr kumimoji="0" lang="en-US" altLang="zh-CN" sz="2400" u="none" strike="noStrike" cap="none" normalizeH="0" baseline="-30000" dirty="0" smtClean="0">
                          <a:ln>
                            <a:noFill/>
                          </a:ln>
                          <a:effectLst/>
                          <a:latin typeface="Times New Roman" panose="02020603050405020304" pitchFamily="18" charset="0"/>
                        </a:rPr>
                        <a:t>2</a:t>
                      </a: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x</a:t>
                      </a:r>
                      <a:r>
                        <a:rPr kumimoji="0" lang="en-US" altLang="zh-CN" sz="2400" u="none" strike="noStrike" cap="none" normalizeH="0" baseline="-30000" dirty="0" smtClean="0">
                          <a:ln>
                            <a:noFill/>
                          </a:ln>
                          <a:effectLst/>
                          <a:latin typeface="Times New Roman" panose="02020603050405020304" pitchFamily="18" charset="0"/>
                        </a:rPr>
                        <a:t>2</a:t>
                      </a:r>
                      <a:r>
                        <a:rPr kumimoji="0" lang="en-US" altLang="zh-CN" sz="2400" u="none" strike="noStrike" cap="none" normalizeH="0" baseline="30000" dirty="0" smtClean="0">
                          <a:ln>
                            <a:noFill/>
                          </a:ln>
                          <a:effectLst/>
                          <a:latin typeface="Times New Roman" panose="02020603050405020304" pitchFamily="18" charset="0"/>
                        </a:rPr>
                        <a:t>*</a:t>
                      </a:r>
                      <a:endParaRPr kumimoji="0" lang="en-US" altLang="zh-CN" sz="2400" b="0" i="0" u="none" strike="noStrike" cap="none" normalizeH="0" baseline="3000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r>
              <a:tr h="782586">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2</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3</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4</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vMerge="1">
                  <a:tcPr/>
                </a:tc>
                <a:tc vMerge="1">
                  <a:tcPr/>
                </a:tc>
              </a:tr>
              <a:tr h="60961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r>
              <a:tr h="53341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8.56</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8.14</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7.08</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6.85</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7.11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6.85</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3</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21" marB="45721" anchor="ctr" horzOverflow="overflow"/>
                </a:tc>
              </a:tr>
            </a:tbl>
          </a:graphicData>
        </a:graphic>
      </p:graphicFrame>
      <p:cxnSp>
        <p:nvCxnSpPr>
          <p:cNvPr id="11" name="直接连接符 10"/>
          <p:cNvCxnSpPr/>
          <p:nvPr/>
        </p:nvCxnSpPr>
        <p:spPr>
          <a:xfrm>
            <a:off x="2495550" y="2349500"/>
            <a:ext cx="863600" cy="1349375"/>
          </a:xfrm>
          <a:prstGeom prst="line">
            <a:avLst/>
          </a:prstGeom>
        </p:spPr>
        <p:style>
          <a:lnRef idx="1">
            <a:schemeClr val="dk1"/>
          </a:lnRef>
          <a:fillRef idx="0">
            <a:schemeClr val="dk1"/>
          </a:fillRef>
          <a:effectRef idx="0">
            <a:schemeClr val="dk1"/>
          </a:effectRef>
          <a:fontRef idx="minor">
            <a:schemeClr val="tx1"/>
          </a:fontRef>
        </p:style>
      </p:cxn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Grp="1" noChangeArrowheads="1"/>
          </p:cNvSpPr>
          <p:nvPr>
            <p:ph type="body" sz="half" idx="1"/>
          </p:nvPr>
        </p:nvSpPr>
        <p:spPr>
          <a:xfrm>
            <a:off x="1905000" y="890588"/>
            <a:ext cx="8512175" cy="5562600"/>
          </a:xfrm>
        </p:spPr>
        <p:txBody>
          <a:bodyPr/>
          <a:lstStyle/>
          <a:p>
            <a:pPr eaLnBrk="1" hangingPunct="1">
              <a:buFontTx/>
              <a:buNone/>
            </a:pPr>
            <a:endParaRPr lang="en-US" altLang="zh-CN" sz="2800" smtClean="0">
              <a:latin typeface="Arial" panose="020B0604020202020204" pitchFamily="34" charset="0"/>
            </a:endParaRPr>
          </a:p>
          <a:p>
            <a:pPr eaLnBrk="1" hangingPunct="1">
              <a:buFontTx/>
              <a:buNone/>
            </a:pPr>
            <a:r>
              <a:rPr lang="zh-CN" altLang="en-US" sz="2400" smtClean="0">
                <a:latin typeface="Arial" panose="020B0604020202020204" pitchFamily="34" charset="0"/>
              </a:rPr>
              <a:t>当</a:t>
            </a:r>
            <a:r>
              <a:rPr lang="en-US" altLang="zh-CN" sz="2400" smtClean="0">
                <a:latin typeface="Arial" panose="020B0604020202020204" pitchFamily="34" charset="0"/>
              </a:rPr>
              <a:t>k=1</a:t>
            </a:r>
            <a:r>
              <a:rPr lang="zh-CN" altLang="en-US" sz="2400" smtClean="0">
                <a:latin typeface="Arial" panose="020B0604020202020204" pitchFamily="34" charset="0"/>
              </a:rPr>
              <a:t>时，有</a:t>
            </a:r>
            <a:r>
              <a:rPr lang="zh-CN" altLang="en-US" sz="2800" smtClean="0">
                <a:latin typeface="Arial" panose="020B0604020202020204" pitchFamily="34" charset="0"/>
              </a:rPr>
              <a:t> </a:t>
            </a:r>
            <a:endParaRPr lang="zh-CN" altLang="en-US" sz="2800" smtClean="0">
              <a:latin typeface="Arial" panose="020B0604020202020204" pitchFamily="34" charset="0"/>
            </a:endParaRPr>
          </a:p>
          <a:p>
            <a:pPr eaLnBrk="1" hangingPunct="1">
              <a:buFontTx/>
              <a:buNone/>
            </a:pPr>
            <a:endParaRPr lang="en-US" altLang="zh-CN" sz="2800" smtClean="0">
              <a:latin typeface="Arial" panose="020B0604020202020204" pitchFamily="34" charset="0"/>
            </a:endParaRPr>
          </a:p>
        </p:txBody>
      </p:sp>
      <p:graphicFrame>
        <p:nvGraphicFramePr>
          <p:cNvPr id="209924" name="Group 4"/>
          <p:cNvGraphicFramePr>
            <a:graphicFrameLocks noGrp="1"/>
          </p:cNvGraphicFramePr>
          <p:nvPr/>
        </p:nvGraphicFramePr>
        <p:xfrm>
          <a:off x="2452688" y="2214563"/>
          <a:ext cx="7086600" cy="2352675"/>
        </p:xfrm>
        <a:graphic>
          <a:graphicData uri="http://schemas.openxmlformats.org/drawingml/2006/table">
            <a:tbl>
              <a:tblPr>
                <a:tableStyleId>{5940675A-B579-460E-94D1-54222C63F5DA}</a:tableStyleId>
              </a:tblPr>
              <a:tblGrid>
                <a:gridCol w="1041400"/>
                <a:gridCol w="1038225"/>
                <a:gridCol w="1039495"/>
                <a:gridCol w="1038225"/>
                <a:gridCol w="1068705"/>
                <a:gridCol w="1063625"/>
                <a:gridCol w="796925"/>
              </a:tblGrid>
              <a:tr h="74598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x</a:t>
                      </a:r>
                      <a:r>
                        <a:rPr kumimoji="0" lang="en-US" altLang="zh-CN" sz="2400" u="none" strike="noStrike" cap="none" normalizeH="0" baseline="-30000" dirty="0" smtClean="0">
                          <a:ln>
                            <a:noFill/>
                          </a:ln>
                          <a:effectLst/>
                          <a:latin typeface="Times New Roman" panose="02020603050405020304" pitchFamily="18" charset="0"/>
                        </a:rPr>
                        <a:t>1</a:t>
                      </a: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s</a:t>
                      </a:r>
                      <a:r>
                        <a:rPr kumimoji="0" lang="en-US" altLang="zh-CN" sz="2400" u="none" strike="noStrike" cap="none" normalizeH="0" baseline="-30000" dirty="0" smtClean="0">
                          <a:ln>
                            <a:noFill/>
                          </a:ln>
                          <a:effectLst/>
                          <a:latin typeface="Times New Roman" panose="02020603050405020304" pitchFamily="18" charset="0"/>
                        </a:rPr>
                        <a:t>1</a:t>
                      </a: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C(x</a:t>
                      </a:r>
                      <a:r>
                        <a:rPr kumimoji="0" lang="en-US" altLang="zh-CN" sz="2400" u="none" strike="noStrike" cap="none" normalizeH="0" baseline="-30000" dirty="0" smtClean="0">
                          <a:ln>
                            <a:noFill/>
                          </a:ln>
                          <a:effectLst/>
                          <a:latin typeface="Times New Roman" panose="02020603050405020304" pitchFamily="18" charset="0"/>
                        </a:rPr>
                        <a:t>1</a:t>
                      </a:r>
                      <a:r>
                        <a:rPr kumimoji="0" lang="en-US" altLang="zh-CN" sz="2400" u="none" strike="noStrike" cap="none" normalizeH="0" baseline="0" dirty="0" smtClean="0">
                          <a:ln>
                            <a:noFill/>
                          </a:ln>
                          <a:effectLst/>
                          <a:latin typeface="Times New Roman" panose="02020603050405020304" pitchFamily="18" charset="0"/>
                        </a:rPr>
                        <a:t>)+6.85×</a:t>
                      </a:r>
                      <a:r>
                        <a:rPr lang="en-US" altLang="zh-CN" sz="2400" dirty="0" smtClean="0">
                          <a:latin typeface="Times New Roman" panose="02020603050405020304" pitchFamily="18" charset="0"/>
                        </a:rPr>
                        <a:t>0.6</a:t>
                      </a:r>
                      <a:r>
                        <a:rPr lang="en-US" altLang="zh-CN" sz="2400" baseline="30000" dirty="0" smtClean="0">
                          <a:latin typeface="Times New Roman" panose="02020603050405020304" pitchFamily="18" charset="0"/>
                        </a:rPr>
                        <a:t>X1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hMerge="1">
                  <a:tcPr/>
                </a:tc>
                <a:tc hMerge="1">
                  <a:tcPr/>
                </a:tc>
                <a:tc hMerge="1">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f</a:t>
                      </a:r>
                      <a:r>
                        <a:rPr kumimoji="0" lang="en-US" altLang="zh-CN" sz="2400" u="none" strike="noStrike" cap="none" normalizeH="0" baseline="-30000" dirty="0" smtClean="0">
                          <a:ln>
                            <a:noFill/>
                          </a:ln>
                          <a:effectLst/>
                          <a:latin typeface="Times New Roman" panose="02020603050405020304" pitchFamily="18" charset="0"/>
                        </a:rPr>
                        <a:t>1</a:t>
                      </a:r>
                      <a:r>
                        <a:rPr kumimoji="0" lang="en-US" altLang="zh-CN" sz="2400" u="none" strike="noStrike" cap="none" normalizeH="0" baseline="0" dirty="0" smtClean="0">
                          <a:ln>
                            <a:noFill/>
                          </a:ln>
                          <a:effectLst/>
                          <a:latin typeface="Times New Roman" panose="02020603050405020304" pitchFamily="18" charset="0"/>
                        </a:rPr>
                        <a:t>(s</a:t>
                      </a:r>
                      <a:r>
                        <a:rPr kumimoji="0" lang="en-US" altLang="zh-CN" sz="2400" u="none" strike="noStrike" cap="none" normalizeH="0" baseline="-30000" dirty="0" smtClean="0">
                          <a:ln>
                            <a:noFill/>
                          </a:ln>
                          <a:effectLst/>
                          <a:latin typeface="Times New Roman" panose="02020603050405020304" pitchFamily="18" charset="0"/>
                        </a:rPr>
                        <a:t>1</a:t>
                      </a:r>
                      <a:r>
                        <a:rPr kumimoji="0" lang="en-US" altLang="zh-CN" sz="2400" u="none" strike="noStrike" cap="none" normalizeH="0" baseline="0" dirty="0" smtClean="0">
                          <a:ln>
                            <a:noFill/>
                          </a:ln>
                          <a:effectLst/>
                          <a:latin typeface="Times New Roman" panose="02020603050405020304" pitchFamily="18" charset="0"/>
                        </a:rPr>
                        <a:t>)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400" u="none" strike="noStrike" cap="none" normalizeH="0" baseline="0" dirty="0" smtClean="0">
                        <a:ln>
                          <a:noFill/>
                        </a:ln>
                        <a:effectLst/>
                        <a:latin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x</a:t>
                      </a:r>
                      <a:r>
                        <a:rPr kumimoji="0" lang="en-US" altLang="zh-CN" sz="2400" u="none" strike="noStrike" cap="none" normalizeH="0" baseline="-30000" dirty="0" smtClean="0">
                          <a:ln>
                            <a:noFill/>
                          </a:ln>
                          <a:effectLst/>
                          <a:latin typeface="Times New Roman" panose="02020603050405020304" pitchFamily="18" charset="0"/>
                        </a:rPr>
                        <a:t>1</a:t>
                      </a:r>
                      <a:r>
                        <a:rPr kumimoji="0" lang="en-US" altLang="zh-CN" sz="2400" u="none" strike="noStrike" cap="none" normalizeH="0" baseline="30000" dirty="0" smtClean="0">
                          <a:ln>
                            <a:noFill/>
                          </a:ln>
                          <a:effectLst/>
                          <a:latin typeface="Times New Roman" panose="02020603050405020304" pitchFamily="18" charset="0"/>
                        </a:rPr>
                        <a:t>*</a:t>
                      </a:r>
                      <a:endParaRPr kumimoji="0" lang="en-US" altLang="zh-CN" sz="2400" b="0" i="0" u="none" strike="noStrike" cap="none" normalizeH="0" baseline="3000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r>
              <a:tr h="589449">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2</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3</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vMerge="1">
                  <a:tcPr/>
                </a:tc>
                <a:tc vMerge="1">
                  <a:tcPr/>
                </a:tc>
              </a:tr>
              <a:tr h="54253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 </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r>
              <a:tr h="47471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6.85</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7.11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6.46</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6.48</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6.46</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u="none" strike="noStrike" cap="none" normalizeH="0" baseline="0" dirty="0" smtClean="0">
                          <a:ln>
                            <a:noFill/>
                          </a:ln>
                          <a:effectLst/>
                          <a:latin typeface="Times New Roman" panose="02020603050405020304" pitchFamily="18" charset="0"/>
                        </a:rPr>
                        <a:t>  2</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endParaRPr>
                    </a:p>
                  </a:txBody>
                  <a:tcPr marT="45734" marB="45734" anchor="ctr" horzOverflow="overflow"/>
                </a:tc>
              </a:tr>
            </a:tbl>
          </a:graphicData>
        </a:graphic>
      </p:graphicFrame>
      <p:cxnSp>
        <p:nvCxnSpPr>
          <p:cNvPr id="11" name="直接连接符 10"/>
          <p:cNvCxnSpPr/>
          <p:nvPr/>
        </p:nvCxnSpPr>
        <p:spPr>
          <a:xfrm>
            <a:off x="2495550" y="2276475"/>
            <a:ext cx="1008063" cy="1296988"/>
          </a:xfrm>
          <a:prstGeom prst="line">
            <a:avLst/>
          </a:prstGeom>
        </p:spPr>
        <p:style>
          <a:lnRef idx="1">
            <a:schemeClr val="dk1"/>
          </a:lnRef>
          <a:fillRef idx="0">
            <a:schemeClr val="dk1"/>
          </a:fillRef>
          <a:effectRef idx="0">
            <a:schemeClr val="dk1"/>
          </a:effectRef>
          <a:fontRef idx="minor">
            <a:schemeClr val="tx1"/>
          </a:fontRef>
        </p:style>
      </p:cxn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sz="half" idx="1"/>
          </p:nvPr>
        </p:nvSpPr>
        <p:spPr>
          <a:xfrm>
            <a:off x="1981200" y="1268413"/>
            <a:ext cx="8215313" cy="4857750"/>
          </a:xfrm>
        </p:spPr>
        <p:txBody>
          <a:bodyPr/>
          <a:lstStyle/>
          <a:p>
            <a:pPr algn="just" eaLnBrk="1" hangingPunct="1">
              <a:lnSpc>
                <a:spcPct val="170000"/>
              </a:lnSpc>
              <a:buFontTx/>
              <a:buNone/>
            </a:pPr>
            <a:r>
              <a:rPr lang="zh-CN" altLang="en-US" sz="2400" smtClean="0">
                <a:latin typeface="Arial" panose="020B0604020202020204" pitchFamily="34" charset="0"/>
              </a:rPr>
              <a:t>            因为</a:t>
            </a:r>
            <a:r>
              <a:rPr lang="en-US" altLang="zh-CN" sz="2400" smtClean="0">
                <a:latin typeface="Arial" panose="020B0604020202020204" pitchFamily="34" charset="0"/>
              </a:rPr>
              <a:t>C(x</a:t>
            </a:r>
            <a:r>
              <a:rPr lang="en-US" altLang="zh-CN" sz="2400" baseline="-30000" smtClean="0">
                <a:latin typeface="Arial" panose="020B0604020202020204" pitchFamily="34" charset="0"/>
              </a:rPr>
              <a:t>k</a:t>
            </a:r>
            <a:r>
              <a:rPr lang="en-US" altLang="zh-CN" sz="2400" smtClean="0">
                <a:latin typeface="Arial" panose="020B0604020202020204" pitchFamily="34" charset="0"/>
              </a:rPr>
              <a:t>)+0.6</a:t>
            </a:r>
            <a:r>
              <a:rPr lang="en-US" altLang="zh-CN" sz="2400" baseline="30000" smtClean="0">
                <a:latin typeface="Arial" panose="020B0604020202020204" pitchFamily="34" charset="0"/>
                <a:sym typeface="+mn-ea"/>
              </a:rPr>
              <a:t>xk</a:t>
            </a:r>
            <a:r>
              <a:rPr lang="en-US" altLang="zh-CN" sz="2400" smtClean="0">
                <a:latin typeface="Arial" panose="020B0604020202020204" pitchFamily="34" charset="0"/>
              </a:rPr>
              <a:t>f</a:t>
            </a:r>
            <a:r>
              <a:rPr lang="en-US" altLang="zh-CN" sz="2400" baseline="-30000" smtClean="0">
                <a:latin typeface="Arial" panose="020B0604020202020204" pitchFamily="34" charset="0"/>
              </a:rPr>
              <a:t>k+1</a:t>
            </a:r>
            <a:r>
              <a:rPr lang="en-US" altLang="zh-CN" sz="2400" smtClean="0">
                <a:latin typeface="Arial" panose="020B0604020202020204" pitchFamily="34" charset="0"/>
              </a:rPr>
              <a:t>(1)</a:t>
            </a:r>
            <a:r>
              <a:rPr lang="zh-CN" altLang="en-US" sz="2400" smtClean="0">
                <a:latin typeface="Arial" panose="020B0604020202020204" pitchFamily="34" charset="0"/>
              </a:rPr>
              <a:t>的值是</a:t>
            </a:r>
            <a:r>
              <a:rPr lang="zh-CN" altLang="en-US" sz="2400" b="1" smtClean="0">
                <a:solidFill>
                  <a:srgbClr val="FF0000"/>
                </a:solidFill>
                <a:latin typeface="Arial" panose="020B0604020202020204" pitchFamily="34" charset="0"/>
              </a:rPr>
              <a:t>对</a:t>
            </a:r>
            <a:r>
              <a:rPr lang="en-US" altLang="zh-CN" sz="2400" b="1" smtClean="0">
                <a:solidFill>
                  <a:srgbClr val="FF0000"/>
                </a:solidFill>
                <a:latin typeface="Arial" panose="020B0604020202020204" pitchFamily="34" charset="0"/>
              </a:rPr>
              <a:t>x</a:t>
            </a:r>
            <a:r>
              <a:rPr lang="en-US" altLang="zh-CN" sz="2400" b="1" baseline="-30000" smtClean="0">
                <a:solidFill>
                  <a:srgbClr val="FF0000"/>
                </a:solidFill>
                <a:latin typeface="Arial" panose="020B0604020202020204" pitchFamily="34" charset="0"/>
              </a:rPr>
              <a:t>k</a:t>
            </a:r>
            <a:r>
              <a:rPr lang="zh-CN" altLang="en-US" sz="2400" b="1" smtClean="0">
                <a:solidFill>
                  <a:srgbClr val="FF0000"/>
                </a:solidFill>
                <a:latin typeface="Arial" panose="020B0604020202020204" pitchFamily="34" charset="0"/>
              </a:rPr>
              <a:t>单调增加</a:t>
            </a:r>
            <a:r>
              <a:rPr lang="zh-CN" altLang="en-US" sz="2400" smtClean="0">
                <a:latin typeface="Arial" panose="020B0604020202020204" pitchFamily="34" charset="0"/>
              </a:rPr>
              <a:t>，所以上面三个表中并没有列出</a:t>
            </a:r>
            <a:r>
              <a:rPr lang="en-US" altLang="zh-CN" sz="2400" smtClean="0">
                <a:latin typeface="Arial" panose="020B0604020202020204" pitchFamily="34" charset="0"/>
              </a:rPr>
              <a:t>x</a:t>
            </a:r>
            <a:r>
              <a:rPr lang="en-US" altLang="zh-CN" sz="2400" baseline="-30000" smtClean="0">
                <a:latin typeface="Arial" panose="020B0604020202020204" pitchFamily="34" charset="0"/>
              </a:rPr>
              <a:t>k</a:t>
            </a:r>
            <a:r>
              <a:rPr lang="zh-CN" altLang="en-US" sz="2400" smtClean="0">
                <a:latin typeface="Arial" panose="020B0604020202020204" pitchFamily="34" charset="0"/>
              </a:rPr>
              <a:t>取更大数值的情况。</a:t>
            </a:r>
            <a:endParaRPr lang="zh-CN" altLang="en-US" sz="2400" smtClean="0">
              <a:latin typeface="Arial" panose="020B0604020202020204" pitchFamily="34" charset="0"/>
            </a:endParaRPr>
          </a:p>
          <a:p>
            <a:pPr algn="just" eaLnBrk="1" hangingPunct="1">
              <a:lnSpc>
                <a:spcPct val="170000"/>
              </a:lnSpc>
              <a:buFontTx/>
              <a:buNone/>
            </a:pPr>
            <a:r>
              <a:rPr lang="zh-CN" altLang="en-US" sz="2400" smtClean="0">
                <a:latin typeface="Arial" panose="020B0604020202020204" pitchFamily="34" charset="0"/>
              </a:rPr>
              <a:t>            因此</a:t>
            </a:r>
            <a:r>
              <a:rPr lang="zh-CN" altLang="en-US" sz="2400" b="1" smtClean="0">
                <a:solidFill>
                  <a:srgbClr val="FF0000"/>
                </a:solidFill>
                <a:latin typeface="Arial" panose="020B0604020202020204" pitchFamily="34" charset="0"/>
              </a:rPr>
              <a:t>最优策略是</a:t>
            </a:r>
            <a:r>
              <a:rPr lang="zh-CN" altLang="en-US" sz="2400" smtClean="0">
                <a:latin typeface="Arial" panose="020B0604020202020204" pitchFamily="34" charset="0"/>
              </a:rPr>
              <a:t>，在第</a:t>
            </a:r>
            <a:r>
              <a:rPr lang="en-US" altLang="zh-CN" sz="2400" smtClean="0">
                <a:latin typeface="Arial" panose="020B0604020202020204" pitchFamily="34" charset="0"/>
              </a:rPr>
              <a:t>1</a:t>
            </a:r>
            <a:r>
              <a:rPr lang="zh-CN" altLang="en-US" sz="2400" smtClean="0">
                <a:latin typeface="Arial" panose="020B0604020202020204" pitchFamily="34" charset="0"/>
              </a:rPr>
              <a:t>个阶段试制</a:t>
            </a:r>
            <a:r>
              <a:rPr lang="en-US" altLang="zh-CN" sz="2400" smtClean="0">
                <a:latin typeface="Arial" panose="020B0604020202020204" pitchFamily="34" charset="0"/>
              </a:rPr>
              <a:t>2</a:t>
            </a:r>
            <a:r>
              <a:rPr lang="zh-CN" altLang="en-US" sz="2400" smtClean="0">
                <a:latin typeface="Arial" panose="020B0604020202020204" pitchFamily="34" charset="0"/>
              </a:rPr>
              <a:t>件产品；如果都不合格，在第</a:t>
            </a:r>
            <a:r>
              <a:rPr lang="en-US" altLang="zh-CN" sz="2400" smtClean="0">
                <a:latin typeface="Arial" panose="020B0604020202020204" pitchFamily="34" charset="0"/>
              </a:rPr>
              <a:t>2</a:t>
            </a:r>
            <a:r>
              <a:rPr lang="zh-CN" altLang="en-US" sz="2400" smtClean="0">
                <a:latin typeface="Arial" panose="020B0604020202020204" pitchFamily="34" charset="0"/>
              </a:rPr>
              <a:t>阶段试制</a:t>
            </a:r>
            <a:r>
              <a:rPr lang="en-US" altLang="zh-CN" sz="2400" smtClean="0">
                <a:latin typeface="Arial" panose="020B0604020202020204" pitchFamily="34" charset="0"/>
              </a:rPr>
              <a:t>3</a:t>
            </a:r>
            <a:r>
              <a:rPr lang="zh-CN" altLang="en-US" sz="2400" smtClean="0">
                <a:latin typeface="Arial" panose="020B0604020202020204" pitchFamily="34" charset="0"/>
              </a:rPr>
              <a:t>件产品；如果仍都不合格，则在第</a:t>
            </a:r>
            <a:r>
              <a:rPr lang="en-US" altLang="zh-CN" sz="2400" smtClean="0">
                <a:latin typeface="Arial" panose="020B0604020202020204" pitchFamily="34" charset="0"/>
              </a:rPr>
              <a:t>3</a:t>
            </a:r>
            <a:r>
              <a:rPr lang="zh-CN" altLang="en-US" sz="2400" smtClean="0">
                <a:latin typeface="Arial" panose="020B0604020202020204" pitchFamily="34" charset="0"/>
              </a:rPr>
              <a:t>个阶段试制</a:t>
            </a:r>
            <a:r>
              <a:rPr lang="en-US" altLang="zh-CN" sz="2400" smtClean="0">
                <a:latin typeface="Arial" panose="020B0604020202020204" pitchFamily="34" charset="0"/>
              </a:rPr>
              <a:t>5</a:t>
            </a:r>
            <a:r>
              <a:rPr lang="zh-CN" altLang="en-US" sz="2400" smtClean="0">
                <a:latin typeface="Arial" panose="020B0604020202020204" pitchFamily="34" charset="0"/>
              </a:rPr>
              <a:t>件产品。该策略得到的最小的期望费用</a:t>
            </a:r>
            <a:r>
              <a:rPr lang="en-US" altLang="zh-CN" sz="2400" smtClean="0">
                <a:latin typeface="Arial" panose="020B0604020202020204" pitchFamily="34" charset="0"/>
              </a:rPr>
              <a:t>6.46</a:t>
            </a:r>
            <a:r>
              <a:rPr lang="zh-CN" altLang="en-US" sz="2400" smtClean="0">
                <a:latin typeface="Arial" panose="020B0604020202020204" pitchFamily="34" charset="0"/>
              </a:rPr>
              <a:t>百元。 </a:t>
            </a:r>
            <a:endParaRPr lang="zh-CN" altLang="en-US" sz="2400" smtClean="0">
              <a:latin typeface="Arial" panose="020B0604020202020204" pitchFamily="34" charset="0"/>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a:spLocks noGrp="1" noChangeArrowheads="1"/>
          </p:cNvSpPr>
          <p:nvPr>
            <p:ph idx="1"/>
          </p:nvPr>
        </p:nvSpPr>
        <p:spPr>
          <a:xfrm>
            <a:off x="1981200" y="857250"/>
            <a:ext cx="8229600" cy="4929188"/>
          </a:xfrm>
        </p:spPr>
        <p:txBody>
          <a:bodyPr/>
          <a:lstStyle/>
          <a:p>
            <a:pPr algn="just" eaLnBrk="1" hangingPunct="1">
              <a:lnSpc>
                <a:spcPct val="120000"/>
              </a:lnSpc>
              <a:buFontTx/>
              <a:buNone/>
            </a:pPr>
            <a:r>
              <a:rPr lang="zh-CN" altLang="en-US" sz="2400" b="1" smtClean="0">
                <a:solidFill>
                  <a:srgbClr val="FF0000"/>
                </a:solidFill>
                <a:latin typeface="Arial" panose="020B0604020202020204" pitchFamily="34" charset="0"/>
              </a:rPr>
              <a:t>随机采购问题</a:t>
            </a:r>
            <a:endParaRPr lang="zh-CN" altLang="en-US" sz="2400" b="1" smtClean="0">
              <a:solidFill>
                <a:srgbClr val="FF0000"/>
              </a:solidFill>
              <a:latin typeface="Arial" panose="020B0604020202020204" pitchFamily="34" charset="0"/>
            </a:endParaRPr>
          </a:p>
          <a:p>
            <a:pPr algn="just" eaLnBrk="1" hangingPunct="1">
              <a:lnSpc>
                <a:spcPct val="120000"/>
              </a:lnSpc>
              <a:buFontTx/>
              <a:buNone/>
            </a:pPr>
            <a:r>
              <a:rPr lang="zh-CN" altLang="en-US" sz="2400" b="1" smtClean="0">
                <a:latin typeface="Arial" panose="020B0604020202020204" pitchFamily="34" charset="0"/>
              </a:rPr>
              <a:t>例</a:t>
            </a:r>
            <a:r>
              <a:rPr lang="en-US" altLang="zh-CN" sz="2400" b="1" smtClean="0">
                <a:latin typeface="Arial" panose="020B0604020202020204" pitchFamily="34" charset="0"/>
              </a:rPr>
              <a:t>3</a:t>
            </a:r>
            <a:r>
              <a:rPr lang="en-US" altLang="zh-CN" sz="2400" smtClean="0">
                <a:latin typeface="Arial" panose="020B0604020202020204" pitchFamily="34" charset="0"/>
              </a:rPr>
              <a:t> </a:t>
            </a:r>
            <a:r>
              <a:rPr lang="zh-CN" altLang="en-US" sz="2400" smtClean="0">
                <a:latin typeface="Arial" panose="020B0604020202020204" pitchFamily="34" charset="0"/>
              </a:rPr>
              <a:t>某公司打算在</a:t>
            </a:r>
            <a:r>
              <a:rPr lang="en-US" altLang="zh-CN" sz="2400" smtClean="0">
                <a:latin typeface="Arial" panose="020B0604020202020204" pitchFamily="34" charset="0"/>
              </a:rPr>
              <a:t>5</a:t>
            </a:r>
            <a:r>
              <a:rPr lang="zh-CN" altLang="en-US" sz="2400" smtClean="0">
                <a:latin typeface="Arial" panose="020B0604020202020204" pitchFamily="34" charset="0"/>
              </a:rPr>
              <a:t>周内采购一批原料，未来</a:t>
            </a:r>
            <a:r>
              <a:rPr lang="en-US" altLang="zh-CN" sz="2400" smtClean="0">
                <a:latin typeface="Arial" panose="020B0604020202020204" pitchFamily="34" charset="0"/>
              </a:rPr>
              <a:t>5</a:t>
            </a:r>
            <a:r>
              <a:rPr lang="zh-CN" altLang="en-US" sz="2400" smtClean="0">
                <a:latin typeface="Arial" panose="020B0604020202020204" pitchFamily="34" charset="0"/>
              </a:rPr>
              <a:t>周内的原料的价格有三种，这些价格的出现概率可以估计，如下表。该部分由于生产需要，必须在</a:t>
            </a:r>
            <a:r>
              <a:rPr lang="en-US" altLang="zh-CN" sz="2400" smtClean="0">
                <a:latin typeface="Arial" panose="020B0604020202020204" pitchFamily="34" charset="0"/>
              </a:rPr>
              <a:t>5</a:t>
            </a:r>
            <a:r>
              <a:rPr lang="zh-CN" altLang="en-US" sz="2400" smtClean="0">
                <a:latin typeface="Arial" panose="020B0604020202020204" pitchFamily="34" charset="0"/>
              </a:rPr>
              <a:t>周内采购这批原料。如果第一周价格很高，可以等到第</a:t>
            </a:r>
            <a:r>
              <a:rPr lang="en-US" altLang="zh-CN" sz="2400" smtClean="0">
                <a:latin typeface="Arial" panose="020B0604020202020204" pitchFamily="34" charset="0"/>
              </a:rPr>
              <a:t>2</a:t>
            </a:r>
            <a:r>
              <a:rPr lang="zh-CN" altLang="en-US" sz="2400" smtClean="0">
                <a:latin typeface="Arial" panose="020B0604020202020204" pitchFamily="34" charset="0"/>
              </a:rPr>
              <a:t>周；同样的，第</a:t>
            </a:r>
            <a:r>
              <a:rPr lang="en-US" altLang="zh-CN" sz="2400" smtClean="0">
                <a:latin typeface="Arial" panose="020B0604020202020204" pitchFamily="34" charset="0"/>
              </a:rPr>
              <a:t>2</a:t>
            </a:r>
            <a:r>
              <a:rPr lang="zh-CN" altLang="en-US" sz="2400" smtClean="0">
                <a:latin typeface="Arial" panose="020B0604020202020204" pitchFamily="34" charset="0"/>
              </a:rPr>
              <a:t>周如果仍对价格不满意，可以等到第</a:t>
            </a:r>
            <a:r>
              <a:rPr lang="en-US" altLang="zh-CN" sz="2400" smtClean="0">
                <a:latin typeface="Arial" panose="020B0604020202020204" pitchFamily="34" charset="0"/>
              </a:rPr>
              <a:t>3</a:t>
            </a:r>
            <a:r>
              <a:rPr lang="zh-CN" altLang="en-US" sz="2400" smtClean="0">
                <a:latin typeface="Arial" panose="020B0604020202020204" pitchFamily="34" charset="0"/>
              </a:rPr>
              <a:t>周；类似地，未来几周都可能选择购买或者等待，但必须保证第</a:t>
            </a:r>
            <a:r>
              <a:rPr lang="en-US" altLang="zh-CN" sz="2400" smtClean="0">
                <a:latin typeface="Arial" panose="020B0604020202020204" pitchFamily="34" charset="0"/>
              </a:rPr>
              <a:t>5</a:t>
            </a:r>
            <a:r>
              <a:rPr lang="zh-CN" altLang="en-US" sz="2400" smtClean="0">
                <a:latin typeface="Arial" panose="020B0604020202020204" pitchFamily="34" charset="0"/>
              </a:rPr>
              <a:t>周时采购了该原料。试问该选择哪种采购方案，才能使得采购费用最小？</a:t>
            </a:r>
            <a:endParaRPr lang="zh-CN" altLang="en-US" sz="2400" smtClean="0">
              <a:latin typeface="Arial" panose="020B0604020202020204" pitchFamily="34" charset="0"/>
            </a:endParaRPr>
          </a:p>
          <a:p>
            <a:pPr algn="just" eaLnBrk="1" hangingPunct="1">
              <a:lnSpc>
                <a:spcPct val="120000"/>
              </a:lnSpc>
              <a:buFontTx/>
              <a:buNone/>
            </a:pPr>
            <a:endParaRPr lang="zh-CN" altLang="en-US" sz="2400" smtClean="0">
              <a:latin typeface="Arial" panose="020B0604020202020204" pitchFamily="34" charset="0"/>
            </a:endParaRPr>
          </a:p>
          <a:p>
            <a:pPr eaLnBrk="1" hangingPunct="1">
              <a:lnSpc>
                <a:spcPct val="120000"/>
              </a:lnSpc>
              <a:buFontTx/>
              <a:buNone/>
            </a:pPr>
            <a:endParaRPr lang="en-US" altLang="zh-CN" smtClean="0">
              <a:latin typeface="Arial" panose="020B0604020202020204" pitchFamily="34" charset="0"/>
            </a:endParaRPr>
          </a:p>
        </p:txBody>
      </p:sp>
      <p:graphicFrame>
        <p:nvGraphicFramePr>
          <p:cNvPr id="211992" name="Group 24"/>
          <p:cNvGraphicFramePr>
            <a:graphicFrameLocks noGrp="1"/>
          </p:cNvGraphicFramePr>
          <p:nvPr/>
        </p:nvGraphicFramePr>
        <p:xfrm>
          <a:off x="4267200" y="4572000"/>
          <a:ext cx="3505200" cy="1828800"/>
        </p:xfrm>
        <a:graphic>
          <a:graphicData uri="http://schemas.openxmlformats.org/drawingml/2006/table">
            <a:tbl>
              <a:tblPr/>
              <a:tblGrid>
                <a:gridCol w="1752600"/>
                <a:gridCol w="1752600"/>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a:t>
                      </a:r>
                      <a:r>
                        <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价格</a:t>
                      </a:r>
                      <a:endPar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a:t>
                      </a:r>
                      <a:r>
                        <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概率</a:t>
                      </a:r>
                      <a:endParaRPr kumimoji="0" lang="zh-CN" altLang="en-US"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450</a:t>
                      </a:r>
                      <a:endPar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0.25</a:t>
                      </a:r>
                      <a:endPar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470</a:t>
                      </a:r>
                      <a:endPar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0.35</a:t>
                      </a:r>
                      <a:endPar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29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500</a:t>
                      </a:r>
                      <a:endPar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rPr>
                        <a:t>    0.40</a:t>
                      </a:r>
                      <a:endParaRPr kumimoji="0" lang="en-US" altLang="zh-CN" sz="2400" b="0" i="0" u="none" strike="noStrike" cap="none" normalizeH="0" baseline="0" dirty="0" smtClean="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idx="1"/>
          </p:nvPr>
        </p:nvSpPr>
        <p:spPr>
          <a:xfrm>
            <a:off x="1809750" y="1285875"/>
            <a:ext cx="8786813" cy="5286375"/>
          </a:xfrm>
        </p:spPr>
        <p:txBody>
          <a:bodyPr>
            <a:normAutofit lnSpcReduction="20000"/>
          </a:bodyPr>
          <a:lstStyle/>
          <a:p>
            <a:pPr indent="342900" eaLnBrk="1" hangingPunct="1">
              <a:lnSpc>
                <a:spcPct val="150000"/>
              </a:lnSpc>
              <a:buFontTx/>
              <a:buNone/>
            </a:pPr>
            <a:r>
              <a:rPr lang="zh-CN" altLang="en-US" sz="2400" b="1" smtClean="0">
                <a:latin typeface="Arial" panose="020B0604020202020204" pitchFamily="34" charset="0"/>
              </a:rPr>
              <a:t>解</a:t>
            </a:r>
            <a:r>
              <a:rPr lang="zh-CN" altLang="en-US" sz="2400" smtClean="0">
                <a:latin typeface="Arial" panose="020B0604020202020204" pitchFamily="34" charset="0"/>
              </a:rPr>
              <a:t>：</a:t>
            </a:r>
            <a:r>
              <a:rPr lang="zh-CN" altLang="en-US" sz="2400" b="1" smtClean="0">
                <a:latin typeface="Arial" panose="020B0604020202020204" pitchFamily="34" charset="0"/>
              </a:rPr>
              <a:t>按照采购周期分为</a:t>
            </a:r>
            <a:r>
              <a:rPr lang="en-US" altLang="zh-CN" sz="2400" b="1" smtClean="0">
                <a:solidFill>
                  <a:srgbClr val="FF0000"/>
                </a:solidFill>
                <a:latin typeface="Arial" panose="020B0604020202020204" pitchFamily="34" charset="0"/>
              </a:rPr>
              <a:t>5</a:t>
            </a:r>
            <a:r>
              <a:rPr lang="zh-CN" altLang="en-US" sz="2400" b="1" smtClean="0">
                <a:solidFill>
                  <a:srgbClr val="FF0000"/>
                </a:solidFill>
                <a:latin typeface="Arial" panose="020B0604020202020204" pitchFamily="34" charset="0"/>
              </a:rPr>
              <a:t>个阶段</a:t>
            </a:r>
            <a:r>
              <a:rPr lang="zh-CN" altLang="en-US" sz="2400" smtClean="0">
                <a:latin typeface="Arial" panose="020B0604020202020204" pitchFamily="34" charset="0"/>
              </a:rPr>
              <a:t>，将每周的价格看作该阶段的状态。假设</a:t>
            </a:r>
            <a:endParaRPr lang="en-US" altLang="zh-CN" sz="2400" smtClean="0">
              <a:latin typeface="Arial" panose="020B0604020202020204" pitchFamily="34" charset="0"/>
            </a:endParaRPr>
          </a:p>
          <a:p>
            <a:pPr indent="342900" eaLnBrk="1" hangingPunct="1">
              <a:lnSpc>
                <a:spcPct val="150000"/>
              </a:lnSpc>
              <a:buFontTx/>
              <a:buNone/>
            </a:pPr>
            <a:r>
              <a:rPr lang="zh-CN" altLang="en-US" sz="2400" b="1" smtClean="0">
                <a:solidFill>
                  <a:srgbClr val="FF0000"/>
                </a:solidFill>
                <a:latin typeface="Arial" panose="020B0604020202020204" pitchFamily="34" charset="0"/>
              </a:rPr>
              <a:t>状态变量</a:t>
            </a:r>
            <a:r>
              <a:rPr lang="en-US" altLang="zh-CN" sz="2400" b="1" smtClean="0">
                <a:latin typeface="Arial" panose="020B0604020202020204" pitchFamily="34" charset="0"/>
              </a:rPr>
              <a:t>s</a:t>
            </a:r>
            <a:r>
              <a:rPr lang="en-US" altLang="zh-CN" sz="2400" b="1" baseline="-30000" smtClean="0">
                <a:latin typeface="Arial" panose="020B0604020202020204" pitchFamily="34" charset="0"/>
              </a:rPr>
              <a:t>k</a:t>
            </a:r>
            <a:r>
              <a:rPr lang="zh-CN" altLang="en-US" sz="2400" smtClean="0">
                <a:latin typeface="Arial" panose="020B0604020202020204" pitchFamily="34" charset="0"/>
              </a:rPr>
              <a:t>表示第</a:t>
            </a:r>
            <a:r>
              <a:rPr lang="en-US" altLang="zh-CN" sz="2400" smtClean="0">
                <a:latin typeface="Arial" panose="020B0604020202020204" pitchFamily="34" charset="0"/>
              </a:rPr>
              <a:t>k</a:t>
            </a:r>
            <a:r>
              <a:rPr lang="zh-CN" altLang="en-US" sz="2400" smtClean="0">
                <a:latin typeface="Arial" panose="020B0604020202020204" pitchFamily="34" charset="0"/>
              </a:rPr>
              <a:t>周的实际价格，</a:t>
            </a:r>
            <a:endParaRPr lang="en-US" altLang="zh-CN" sz="2400" smtClean="0">
              <a:latin typeface="Arial" panose="020B0604020202020204" pitchFamily="34" charset="0"/>
            </a:endParaRPr>
          </a:p>
          <a:p>
            <a:pPr indent="342900" eaLnBrk="1" hangingPunct="1">
              <a:lnSpc>
                <a:spcPct val="150000"/>
              </a:lnSpc>
              <a:buFontTx/>
              <a:buNone/>
            </a:pPr>
            <a:r>
              <a:rPr lang="zh-CN" altLang="en-US" sz="2400" b="1" smtClean="0">
                <a:solidFill>
                  <a:srgbClr val="FF0000"/>
                </a:solidFill>
                <a:latin typeface="Arial" panose="020B0604020202020204" pitchFamily="34" charset="0"/>
              </a:rPr>
              <a:t>决策变量</a:t>
            </a:r>
            <a:r>
              <a:rPr lang="en-US" altLang="zh-CN" sz="2400" b="1" smtClean="0">
                <a:latin typeface="Arial" panose="020B0604020202020204" pitchFamily="34" charset="0"/>
              </a:rPr>
              <a:t>x</a:t>
            </a:r>
            <a:r>
              <a:rPr lang="en-US" altLang="zh-CN" sz="2400" b="1" baseline="-30000" smtClean="0">
                <a:latin typeface="Arial" panose="020B0604020202020204" pitchFamily="34" charset="0"/>
              </a:rPr>
              <a:t>k</a:t>
            </a:r>
            <a:r>
              <a:rPr lang="zh-CN" altLang="en-US" sz="2400" smtClean="0">
                <a:latin typeface="Arial" panose="020B0604020202020204" pitchFamily="34" charset="0"/>
              </a:rPr>
              <a:t>表示第</a:t>
            </a:r>
            <a:r>
              <a:rPr lang="en-US" altLang="zh-CN" sz="2400" smtClean="0">
                <a:latin typeface="Arial" panose="020B0604020202020204" pitchFamily="34" charset="0"/>
              </a:rPr>
              <a:t>k</a:t>
            </a:r>
            <a:r>
              <a:rPr lang="zh-CN" altLang="en-US" sz="2400" smtClean="0">
                <a:latin typeface="Arial" panose="020B0604020202020204" pitchFamily="34" charset="0"/>
              </a:rPr>
              <a:t>周是否采购的</a:t>
            </a:r>
            <a:r>
              <a:rPr lang="en-US" altLang="zh-CN" sz="2400" smtClean="0">
                <a:latin typeface="Arial" panose="020B0604020202020204" pitchFamily="34" charset="0"/>
              </a:rPr>
              <a:t>0-1</a:t>
            </a:r>
            <a:r>
              <a:rPr lang="zh-CN" altLang="en-US" sz="2400" smtClean="0">
                <a:latin typeface="Arial" panose="020B0604020202020204" pitchFamily="34" charset="0"/>
              </a:rPr>
              <a:t>变量。如决定采购，则</a:t>
            </a:r>
            <a:r>
              <a:rPr lang="en-US" altLang="zh-CN" sz="2400" smtClean="0">
                <a:latin typeface="Arial" panose="020B0604020202020204" pitchFamily="34" charset="0"/>
              </a:rPr>
              <a:t>x</a:t>
            </a:r>
            <a:r>
              <a:rPr lang="en-US" altLang="zh-CN" sz="2400" baseline="-30000" smtClean="0">
                <a:latin typeface="Arial" panose="020B0604020202020204" pitchFamily="34" charset="0"/>
              </a:rPr>
              <a:t>k</a:t>
            </a:r>
            <a:r>
              <a:rPr lang="en-US" altLang="zh-CN" sz="2400" smtClean="0">
                <a:latin typeface="Arial" panose="020B0604020202020204" pitchFamily="34" charset="0"/>
              </a:rPr>
              <a:t>=1</a:t>
            </a:r>
            <a:r>
              <a:rPr lang="zh-CN" altLang="en-US" sz="2400" smtClean="0">
                <a:latin typeface="Arial" panose="020B0604020202020204" pitchFamily="34" charset="0"/>
              </a:rPr>
              <a:t>；如选择等待，则</a:t>
            </a:r>
            <a:r>
              <a:rPr lang="en-US" altLang="zh-CN" sz="2400" smtClean="0">
                <a:latin typeface="Arial" panose="020B0604020202020204" pitchFamily="34" charset="0"/>
              </a:rPr>
              <a:t>x</a:t>
            </a:r>
            <a:r>
              <a:rPr lang="en-US" altLang="zh-CN" sz="2400" baseline="-30000" smtClean="0">
                <a:latin typeface="Arial" panose="020B0604020202020204" pitchFamily="34" charset="0"/>
              </a:rPr>
              <a:t>k</a:t>
            </a:r>
            <a:r>
              <a:rPr lang="en-US" altLang="zh-CN" sz="2400" smtClean="0">
                <a:latin typeface="Arial" panose="020B0604020202020204" pitchFamily="34" charset="0"/>
              </a:rPr>
              <a:t>=0</a:t>
            </a:r>
            <a:r>
              <a:rPr lang="zh-CN" altLang="en-US" sz="2400" smtClean="0">
                <a:latin typeface="Arial" panose="020B0604020202020204" pitchFamily="34" charset="0"/>
              </a:rPr>
              <a:t>。</a:t>
            </a:r>
            <a:endParaRPr lang="en-US" altLang="zh-CN" sz="2400" smtClean="0">
              <a:latin typeface="Arial" panose="020B0604020202020204" pitchFamily="34" charset="0"/>
            </a:endParaRPr>
          </a:p>
          <a:p>
            <a:pPr indent="342900" eaLnBrk="1" hangingPunct="1">
              <a:lnSpc>
                <a:spcPct val="150000"/>
              </a:lnSpc>
              <a:buFontTx/>
              <a:buNone/>
            </a:pPr>
            <a:r>
              <a:rPr lang="en-US" altLang="zh-CN" sz="2400" smtClean="0">
                <a:latin typeface="Arial" panose="020B0604020202020204" pitchFamily="34" charset="0"/>
              </a:rPr>
              <a:t>s</a:t>
            </a:r>
            <a:r>
              <a:rPr lang="en-US" altLang="zh-CN" sz="2400" baseline="-25000" smtClean="0">
                <a:latin typeface="Arial" panose="020B0604020202020204" pitchFamily="34" charset="0"/>
              </a:rPr>
              <a:t>k</a:t>
            </a:r>
            <a:r>
              <a:rPr lang="en-US" altLang="zh-CN" sz="2400" baseline="30000" smtClean="0">
                <a:latin typeface="Arial" panose="020B0604020202020204" pitchFamily="34" charset="0"/>
              </a:rPr>
              <a:t>E</a:t>
            </a:r>
            <a:r>
              <a:rPr lang="zh-CN" altLang="en-US" sz="2400" smtClean="0">
                <a:latin typeface="Arial" panose="020B0604020202020204" pitchFamily="34" charset="0"/>
              </a:rPr>
              <a:t>表示第</a:t>
            </a:r>
            <a:r>
              <a:rPr lang="en-US" altLang="zh-CN" sz="2400" smtClean="0">
                <a:latin typeface="Arial" panose="020B0604020202020204" pitchFamily="34" charset="0"/>
              </a:rPr>
              <a:t>k</a:t>
            </a:r>
            <a:r>
              <a:rPr lang="zh-CN" altLang="en-US" sz="2400" smtClean="0">
                <a:latin typeface="Arial" panose="020B0604020202020204" pitchFamily="34" charset="0"/>
              </a:rPr>
              <a:t>周等待，而在以后采取最优决策时采购价格的期望值。</a:t>
            </a:r>
            <a:endParaRPr lang="zh-CN" altLang="en-US" sz="2400" smtClean="0">
              <a:latin typeface="Arial" panose="020B0604020202020204" pitchFamily="34" charset="0"/>
            </a:endParaRPr>
          </a:p>
          <a:p>
            <a:pPr indent="342900" eaLnBrk="1" hangingPunct="1">
              <a:lnSpc>
                <a:spcPct val="150000"/>
              </a:lnSpc>
              <a:buFontTx/>
              <a:buNone/>
            </a:pPr>
            <a:r>
              <a:rPr lang="zh-CN" altLang="en-US" sz="2400" b="1" smtClean="0">
                <a:solidFill>
                  <a:srgbClr val="FF0000"/>
                </a:solidFill>
                <a:latin typeface="Arial" panose="020B0604020202020204" pitchFamily="34" charset="0"/>
              </a:rPr>
              <a:t>动态规划基本方程</a:t>
            </a:r>
            <a:r>
              <a:rPr lang="zh-CN" altLang="en-US" sz="2400" smtClean="0">
                <a:latin typeface="Arial" panose="020B0604020202020204" pitchFamily="34" charset="0"/>
              </a:rPr>
              <a:t>如下：</a:t>
            </a:r>
            <a:endParaRPr lang="zh-CN" altLang="en-US" sz="2400" smtClean="0">
              <a:latin typeface="Arial" panose="020B0604020202020204" pitchFamily="34" charset="0"/>
            </a:endParaRPr>
          </a:p>
          <a:p>
            <a:pPr indent="342900" eaLnBrk="1" hangingPunct="1">
              <a:lnSpc>
                <a:spcPct val="150000"/>
              </a:lnSpc>
              <a:buFontTx/>
              <a:buNone/>
            </a:pPr>
            <a:r>
              <a:rPr lang="zh-CN" altLang="en-US" sz="2400" smtClean="0">
                <a:latin typeface="Arial" panose="020B0604020202020204" pitchFamily="34" charset="0"/>
              </a:rPr>
              <a:t> </a:t>
            </a:r>
            <a:endParaRPr lang="zh-CN" altLang="en-US" sz="2400" smtClean="0">
              <a:latin typeface="Arial" panose="020B0604020202020204" pitchFamily="34" charset="0"/>
            </a:endParaRPr>
          </a:p>
        </p:txBody>
      </p:sp>
      <p:sp>
        <p:nvSpPr>
          <p:cNvPr id="104452" name="Rectangle 4"/>
          <p:cNvSpPr>
            <a:spLocks noChangeArrowheads="1"/>
          </p:cNvSpPr>
          <p:nvPr/>
        </p:nvSpPr>
        <p:spPr bwMode="auto">
          <a:xfrm>
            <a:off x="4138613" y="3309938"/>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4453" name="Object 5"/>
          <p:cNvGraphicFramePr>
            <a:graphicFrameLocks noChangeAspect="1"/>
          </p:cNvGraphicFramePr>
          <p:nvPr/>
        </p:nvGraphicFramePr>
        <p:xfrm>
          <a:off x="3024188" y="4929188"/>
          <a:ext cx="7048500" cy="428625"/>
        </p:xfrm>
        <a:graphic>
          <a:graphicData uri="http://schemas.openxmlformats.org/presentationml/2006/ole">
            <mc:AlternateContent xmlns:mc="http://schemas.openxmlformats.org/markup-compatibility/2006">
              <mc:Choice xmlns:v="urn:schemas-microsoft-com:vml" Requires="v">
                <p:oleObj spid="_x0000_s104476" name="" r:id="rId1" imgW="3911600" imgH="241300" progId="Equation.3">
                  <p:embed/>
                </p:oleObj>
              </mc:Choice>
              <mc:Fallback>
                <p:oleObj name="" r:id="rId1" imgW="3911600" imgH="2413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188" y="4929188"/>
                        <a:ext cx="704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4" name="Object 7"/>
          <p:cNvGraphicFramePr>
            <a:graphicFrameLocks noChangeAspect="1"/>
          </p:cNvGraphicFramePr>
          <p:nvPr/>
        </p:nvGraphicFramePr>
        <p:xfrm>
          <a:off x="2894013" y="6000750"/>
          <a:ext cx="2403475" cy="449263"/>
        </p:xfrm>
        <a:graphic>
          <a:graphicData uri="http://schemas.openxmlformats.org/presentationml/2006/ole">
            <mc:AlternateContent xmlns:mc="http://schemas.openxmlformats.org/markup-compatibility/2006">
              <mc:Choice xmlns:v="urn:schemas-microsoft-com:vml" Requires="v">
                <p:oleObj spid="_x0000_s104477" name="公式" r:id="rId3" imgW="1269365" imgH="241300" progId="Equation.3">
                  <p:embed/>
                </p:oleObj>
              </mc:Choice>
              <mc:Fallback>
                <p:oleObj name="公式" r:id="rId3" imgW="1269365" imgH="2413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4013" y="6000750"/>
                        <a:ext cx="24034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p:cNvSpPr>
            <a:spLocks noGrp="1" noChangeArrowheads="1"/>
          </p:cNvSpPr>
          <p:nvPr>
            <p:ph idx="1"/>
          </p:nvPr>
        </p:nvSpPr>
        <p:spPr>
          <a:xfrm>
            <a:off x="1981200" y="1341438"/>
            <a:ext cx="8229600" cy="1944687"/>
          </a:xfrm>
        </p:spPr>
        <p:txBody>
          <a:bodyPr>
            <a:normAutofit lnSpcReduction="10000"/>
          </a:bodyPr>
          <a:lstStyle/>
          <a:p>
            <a:pPr algn="just" eaLnBrk="1" hangingPunct="1">
              <a:lnSpc>
                <a:spcPct val="150000"/>
              </a:lnSpc>
              <a:buFontTx/>
              <a:buNone/>
            </a:pPr>
            <a:r>
              <a:rPr lang="zh-CN" altLang="en-US" sz="2400" b="1" smtClean="0">
                <a:latin typeface="Arial" panose="020B0604020202020204" pitchFamily="34" charset="0"/>
              </a:rPr>
              <a:t>第五阶段：</a:t>
            </a:r>
            <a:endParaRPr lang="zh-CN" altLang="en-US" sz="2400" b="1" smtClean="0">
              <a:latin typeface="Arial" panose="020B0604020202020204" pitchFamily="34" charset="0"/>
            </a:endParaRPr>
          </a:p>
          <a:p>
            <a:pPr algn="just" eaLnBrk="1" hangingPunct="1">
              <a:lnSpc>
                <a:spcPct val="150000"/>
              </a:lnSpc>
              <a:buFontTx/>
              <a:buNone/>
            </a:pPr>
            <a:r>
              <a:rPr lang="zh-CN" altLang="en-US" sz="2400" smtClean="0">
                <a:latin typeface="Arial" panose="020B0604020202020204" pitchFamily="34" charset="0"/>
              </a:rPr>
              <a:t>     因为如果前</a:t>
            </a:r>
            <a:r>
              <a:rPr lang="en-US" altLang="zh-CN" sz="2400" smtClean="0">
                <a:latin typeface="Arial" panose="020B0604020202020204" pitchFamily="34" charset="0"/>
              </a:rPr>
              <a:t>4</a:t>
            </a:r>
            <a:r>
              <a:rPr lang="zh-CN" altLang="en-US" sz="2400" smtClean="0">
                <a:latin typeface="Arial" panose="020B0604020202020204" pitchFamily="34" charset="0"/>
              </a:rPr>
              <a:t>周都没有买，那第</a:t>
            </a:r>
            <a:r>
              <a:rPr lang="en-US" altLang="zh-CN" sz="2400" smtClean="0">
                <a:latin typeface="Arial" panose="020B0604020202020204" pitchFamily="34" charset="0"/>
              </a:rPr>
              <a:t>5</a:t>
            </a:r>
            <a:r>
              <a:rPr lang="zh-CN" altLang="en-US" sz="2400" smtClean="0">
                <a:latin typeface="Arial" panose="020B0604020202020204" pitchFamily="34" charset="0"/>
              </a:rPr>
              <a:t>周必须购买，因此有</a:t>
            </a:r>
            <a:endParaRPr lang="en-US" altLang="zh-CN" sz="2400" smtClean="0">
              <a:latin typeface="Arial" panose="020B0604020202020204" pitchFamily="34" charset="0"/>
            </a:endParaRPr>
          </a:p>
          <a:p>
            <a:pPr algn="just" eaLnBrk="1" hangingPunct="1">
              <a:lnSpc>
                <a:spcPct val="150000"/>
              </a:lnSpc>
              <a:buFontTx/>
              <a:buNone/>
            </a:pPr>
            <a:r>
              <a:rPr lang="zh-CN" altLang="en-US" sz="2400" smtClean="0">
                <a:latin typeface="Arial" panose="020B0604020202020204" pitchFamily="34" charset="0"/>
              </a:rPr>
              <a:t>                   即</a:t>
            </a:r>
            <a:endParaRPr lang="en-US" altLang="zh-CN" sz="2400" smtClean="0">
              <a:latin typeface="Arial" panose="020B0604020202020204" pitchFamily="34" charset="0"/>
            </a:endParaRPr>
          </a:p>
        </p:txBody>
      </p:sp>
      <p:graphicFrame>
        <p:nvGraphicFramePr>
          <p:cNvPr id="105478" name="Object 7"/>
          <p:cNvGraphicFramePr>
            <a:graphicFrameLocks noChangeAspect="1"/>
          </p:cNvGraphicFramePr>
          <p:nvPr/>
        </p:nvGraphicFramePr>
        <p:xfrm>
          <a:off x="4381500" y="3071813"/>
          <a:ext cx="2033588" cy="1500187"/>
        </p:xfrm>
        <a:graphic>
          <a:graphicData uri="http://schemas.openxmlformats.org/presentationml/2006/ole">
            <mc:AlternateContent xmlns:mc="http://schemas.openxmlformats.org/markup-compatibility/2006">
              <mc:Choice xmlns:v="urn:schemas-microsoft-com:vml" Requires="v">
                <p:oleObj spid="_x0000_s105499" name="公式" r:id="rId1" imgW="914400" imgH="685800" progId="Equation.3">
                  <p:embed/>
                </p:oleObj>
              </mc:Choice>
              <mc:Fallback>
                <p:oleObj name="公式" r:id="rId1" imgW="914400" imgH="6858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0" y="3071813"/>
                        <a:ext cx="2033588"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79" name="Object 14"/>
          <p:cNvGraphicFramePr>
            <a:graphicFrameLocks noChangeAspect="1"/>
          </p:cNvGraphicFramePr>
          <p:nvPr/>
        </p:nvGraphicFramePr>
        <p:xfrm>
          <a:off x="2122488" y="2670175"/>
          <a:ext cx="1273175" cy="425450"/>
        </p:xfrm>
        <a:graphic>
          <a:graphicData uri="http://schemas.openxmlformats.org/presentationml/2006/ole">
            <mc:AlternateContent xmlns:mc="http://schemas.openxmlformats.org/markup-compatibility/2006">
              <mc:Choice xmlns:v="urn:schemas-microsoft-com:vml" Requires="v">
                <p:oleObj spid="_x0000_s105500" name="公式" r:id="rId3" imgW="673100" imgH="228600" progId="Equation.3">
                  <p:embed/>
                </p:oleObj>
              </mc:Choice>
              <mc:Fallback>
                <p:oleObj name="公式" r:id="rId3" imgW="673100" imgH="228600"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2488" y="2670175"/>
                        <a:ext cx="12731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idx="1"/>
          </p:nvPr>
        </p:nvSpPr>
        <p:spPr>
          <a:xfrm>
            <a:off x="1881188" y="1214438"/>
            <a:ext cx="8229600" cy="5357812"/>
          </a:xfrm>
        </p:spPr>
        <p:txBody>
          <a:bodyPr>
            <a:normAutofit lnSpcReduction="10000"/>
          </a:bodyPr>
          <a:lstStyle/>
          <a:p>
            <a:pPr eaLnBrk="1" hangingPunct="1">
              <a:lnSpc>
                <a:spcPct val="120000"/>
              </a:lnSpc>
              <a:buFontTx/>
              <a:buNone/>
            </a:pPr>
            <a:r>
              <a:rPr lang="zh-CN" altLang="en-US" sz="2400" b="1" smtClean="0">
                <a:latin typeface="Arial" panose="020B0604020202020204" pitchFamily="34" charset="0"/>
              </a:rPr>
              <a:t>第四阶段：</a:t>
            </a:r>
            <a:endParaRPr lang="zh-CN" altLang="en-US" sz="2400" b="1" smtClean="0">
              <a:latin typeface="Arial" panose="020B0604020202020204" pitchFamily="34" charset="0"/>
            </a:endParaRPr>
          </a:p>
          <a:p>
            <a:pPr eaLnBrk="1" hangingPunct="1">
              <a:lnSpc>
                <a:spcPct val="120000"/>
              </a:lnSpc>
              <a:buFontTx/>
              <a:buNone/>
            </a:pPr>
            <a:r>
              <a:rPr lang="zh-CN" altLang="en-US" sz="2400" smtClean="0">
                <a:latin typeface="Arial" panose="020B0604020202020204" pitchFamily="34" charset="0"/>
              </a:rPr>
              <a:t>     如第</a:t>
            </a:r>
            <a:r>
              <a:rPr lang="en-US" altLang="zh-CN" sz="2400" smtClean="0">
                <a:latin typeface="Arial" panose="020B0604020202020204" pitchFamily="34" charset="0"/>
              </a:rPr>
              <a:t>4</a:t>
            </a:r>
            <a:r>
              <a:rPr lang="zh-CN" altLang="en-US" sz="2400" smtClean="0">
                <a:latin typeface="Arial" panose="020B0604020202020204" pitchFamily="34" charset="0"/>
              </a:rPr>
              <a:t>周购买，则需花费</a:t>
            </a:r>
            <a:r>
              <a:rPr lang="en-US" altLang="zh-CN" sz="2400" smtClean="0">
                <a:latin typeface="Arial" panose="020B0604020202020204" pitchFamily="34" charset="0"/>
              </a:rPr>
              <a:t>s4</a:t>
            </a:r>
            <a:r>
              <a:rPr lang="zh-CN" altLang="en-US" sz="2400" smtClean="0">
                <a:latin typeface="Arial" panose="020B0604020202020204" pitchFamily="34" charset="0"/>
              </a:rPr>
              <a:t>；如果不买，则必须在第</a:t>
            </a:r>
            <a:r>
              <a:rPr lang="en-US" altLang="zh-CN" sz="2400" smtClean="0">
                <a:latin typeface="Arial" panose="020B0604020202020204" pitchFamily="34" charset="0"/>
              </a:rPr>
              <a:t>5</a:t>
            </a:r>
            <a:r>
              <a:rPr lang="zh-CN" altLang="en-US" sz="2400" smtClean="0">
                <a:latin typeface="Arial" panose="020B0604020202020204" pitchFamily="34" charset="0"/>
              </a:rPr>
              <a:t>周购买。在</a:t>
            </a:r>
            <a:r>
              <a:rPr lang="zh-CN" altLang="en-US" sz="2400" b="1" smtClean="0">
                <a:latin typeface="Arial" panose="020B0604020202020204" pitchFamily="34" charset="0"/>
              </a:rPr>
              <a:t>第</a:t>
            </a:r>
            <a:r>
              <a:rPr lang="en-US" altLang="zh-CN" sz="2400" b="1" smtClean="0">
                <a:latin typeface="Arial" panose="020B0604020202020204" pitchFamily="34" charset="0"/>
              </a:rPr>
              <a:t>5</a:t>
            </a:r>
            <a:r>
              <a:rPr lang="zh-CN" altLang="en-US" sz="2400" b="1" smtClean="0">
                <a:latin typeface="Arial" panose="020B0604020202020204" pitchFamily="34" charset="0"/>
              </a:rPr>
              <a:t>周采购的费用的期望值</a:t>
            </a:r>
            <a:r>
              <a:rPr lang="zh-CN" altLang="en-US" sz="2400" smtClean="0">
                <a:latin typeface="Arial" panose="020B0604020202020204" pitchFamily="34" charset="0"/>
              </a:rPr>
              <a:t>为</a:t>
            </a:r>
            <a:endParaRPr lang="zh-CN" altLang="en-US"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a:p>
            <a:pPr eaLnBrk="1" hangingPunct="1">
              <a:lnSpc>
                <a:spcPct val="150000"/>
              </a:lnSpc>
              <a:buFontTx/>
              <a:buNone/>
            </a:pPr>
            <a:r>
              <a:rPr lang="zh-CN" altLang="en-US" sz="2400" smtClean="0">
                <a:latin typeface="Arial" panose="020B0604020202020204" pitchFamily="34" charset="0"/>
              </a:rPr>
              <a:t>于是                                             ，有 </a:t>
            </a:r>
            <a:endParaRPr lang="zh-CN" altLang="en-US" sz="2400" smtClean="0">
              <a:latin typeface="Arial" panose="020B0604020202020204" pitchFamily="34" charset="0"/>
            </a:endParaRPr>
          </a:p>
          <a:p>
            <a:pPr eaLnBrk="1" hangingPunct="1">
              <a:lnSpc>
                <a:spcPct val="150000"/>
              </a:lnSpc>
              <a:buFontTx/>
              <a:buNone/>
            </a:pPr>
            <a:endParaRPr lang="zh-CN" altLang="en-US"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a:p>
            <a:pPr eaLnBrk="1" hangingPunct="1">
              <a:lnSpc>
                <a:spcPct val="150000"/>
              </a:lnSpc>
              <a:buFontTx/>
              <a:buNone/>
            </a:pPr>
            <a:r>
              <a:rPr lang="zh-CN" altLang="en-US" sz="2400" smtClean="0">
                <a:latin typeface="Arial" panose="020B0604020202020204" pitchFamily="34" charset="0"/>
              </a:rPr>
              <a:t>故</a:t>
            </a:r>
            <a:r>
              <a:rPr lang="zh-CN" altLang="en-US" sz="2400" b="1" smtClean="0">
                <a:latin typeface="Arial" panose="020B0604020202020204" pitchFamily="34" charset="0"/>
              </a:rPr>
              <a:t>第</a:t>
            </a:r>
            <a:r>
              <a:rPr lang="en-US" altLang="zh-CN" sz="2400" b="1" smtClean="0">
                <a:latin typeface="Arial" panose="020B0604020202020204" pitchFamily="34" charset="0"/>
              </a:rPr>
              <a:t>4</a:t>
            </a:r>
            <a:r>
              <a:rPr lang="zh-CN" altLang="en-US" sz="2400" b="1" smtClean="0">
                <a:latin typeface="Arial" panose="020B0604020202020204" pitchFamily="34" charset="0"/>
              </a:rPr>
              <a:t>周的最优决策</a:t>
            </a:r>
            <a:r>
              <a:rPr lang="zh-CN" altLang="en-US" sz="2400" smtClean="0">
                <a:latin typeface="Arial" panose="020B0604020202020204" pitchFamily="34" charset="0"/>
              </a:rPr>
              <a:t>为 </a:t>
            </a:r>
            <a:endParaRPr lang="zh-CN" altLang="en-US" sz="2400" smtClean="0">
              <a:latin typeface="Arial" panose="020B0604020202020204" pitchFamily="34" charset="0"/>
            </a:endParaRPr>
          </a:p>
          <a:p>
            <a:pPr eaLnBrk="1" hangingPunct="1">
              <a:lnSpc>
                <a:spcPct val="150000"/>
              </a:lnSpc>
              <a:buFontTx/>
              <a:buNone/>
            </a:pPr>
            <a:endParaRPr lang="zh-CN" altLang="en-US" sz="2400" smtClean="0">
              <a:latin typeface="Arial" panose="020B0604020202020204" pitchFamily="34" charset="0"/>
            </a:endParaRPr>
          </a:p>
          <a:p>
            <a:pPr eaLnBrk="1" hangingPunct="1">
              <a:lnSpc>
                <a:spcPct val="150000"/>
              </a:lnSpc>
              <a:buFontTx/>
              <a:buNone/>
            </a:pPr>
            <a:endParaRPr lang="zh-CN" altLang="en-US" sz="2400" smtClean="0">
              <a:latin typeface="Arial" panose="020B0604020202020204" pitchFamily="34" charset="0"/>
            </a:endParaRPr>
          </a:p>
          <a:p>
            <a:pPr eaLnBrk="1" hangingPunct="1">
              <a:lnSpc>
                <a:spcPct val="150000"/>
              </a:lnSpc>
              <a:buFontTx/>
              <a:buNone/>
            </a:pPr>
            <a:endParaRPr lang="zh-CN" altLang="en-US" sz="2400" smtClean="0">
              <a:latin typeface="Arial" panose="020B0604020202020204" pitchFamily="34" charset="0"/>
            </a:endParaRPr>
          </a:p>
        </p:txBody>
      </p:sp>
      <p:sp>
        <p:nvSpPr>
          <p:cNvPr id="106500" name="Rectangle 4"/>
          <p:cNvSpPr>
            <a:spLocks noChangeArrowheads="1"/>
          </p:cNvSpPr>
          <p:nvPr/>
        </p:nvSpPr>
        <p:spPr bwMode="auto">
          <a:xfrm>
            <a:off x="4991100" y="3314700"/>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6501" name="Object 5"/>
          <p:cNvGraphicFramePr>
            <a:graphicFrameLocks noChangeAspect="1"/>
          </p:cNvGraphicFramePr>
          <p:nvPr/>
        </p:nvGraphicFramePr>
        <p:xfrm>
          <a:off x="2524125" y="4071938"/>
          <a:ext cx="3913188" cy="407987"/>
        </p:xfrm>
        <a:graphic>
          <a:graphicData uri="http://schemas.openxmlformats.org/presentationml/2006/ole">
            <mc:AlternateContent xmlns:mc="http://schemas.openxmlformats.org/markup-compatibility/2006">
              <mc:Choice xmlns:v="urn:schemas-microsoft-com:vml" Requires="v">
                <p:oleObj spid="_x0000_s106544" name="公式" r:id="rId1" imgW="2184400" imgH="228600" progId="Equation.3">
                  <p:embed/>
                </p:oleObj>
              </mc:Choice>
              <mc:Fallback>
                <p:oleObj name="公式" r:id="rId1" imgW="2184400" imgH="228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25" y="4071938"/>
                        <a:ext cx="3913188"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2" name="Rectangle 6"/>
          <p:cNvSpPr>
            <a:spLocks noChangeArrowheads="1"/>
          </p:cNvSpPr>
          <p:nvPr/>
        </p:nvSpPr>
        <p:spPr bwMode="auto">
          <a:xfrm>
            <a:off x="5200650" y="3062288"/>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6503" name="Object 7"/>
          <p:cNvGraphicFramePr>
            <a:graphicFrameLocks noChangeAspect="1"/>
          </p:cNvGraphicFramePr>
          <p:nvPr/>
        </p:nvGraphicFramePr>
        <p:xfrm>
          <a:off x="3309938" y="4586288"/>
          <a:ext cx="3487737" cy="1200150"/>
        </p:xfrm>
        <a:graphic>
          <a:graphicData uri="http://schemas.openxmlformats.org/presentationml/2006/ole">
            <mc:AlternateContent xmlns:mc="http://schemas.openxmlformats.org/markup-compatibility/2006">
              <mc:Choice xmlns:v="urn:schemas-microsoft-com:vml" Requires="v">
                <p:oleObj spid="_x0000_s106545" name="" r:id="rId3" imgW="1790700" imgH="736600" progId="Equation.3">
                  <p:embed/>
                </p:oleObj>
              </mc:Choice>
              <mc:Fallback>
                <p:oleObj name="" r:id="rId3" imgW="1790700" imgH="736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9938" y="4586288"/>
                        <a:ext cx="34877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4" name="Rectangle 8"/>
          <p:cNvSpPr>
            <a:spLocks noChangeArrowheads="1"/>
          </p:cNvSpPr>
          <p:nvPr/>
        </p:nvSpPr>
        <p:spPr bwMode="auto">
          <a:xfrm>
            <a:off x="5448300" y="3644900"/>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6505" name="Object 9"/>
          <p:cNvGraphicFramePr>
            <a:graphicFrameLocks noChangeAspect="1"/>
          </p:cNvGraphicFramePr>
          <p:nvPr/>
        </p:nvGraphicFramePr>
        <p:xfrm>
          <a:off x="4953000" y="5786438"/>
          <a:ext cx="2946400" cy="874712"/>
        </p:xfrm>
        <a:graphic>
          <a:graphicData uri="http://schemas.openxmlformats.org/presentationml/2006/ole">
            <mc:AlternateContent xmlns:mc="http://schemas.openxmlformats.org/markup-compatibility/2006">
              <mc:Choice xmlns:v="urn:schemas-microsoft-com:vml" Requires="v">
                <p:oleObj spid="_x0000_s106546" name="公式" r:id="rId5" imgW="1892300" imgH="482600" progId="Equation.3">
                  <p:embed/>
                </p:oleObj>
              </mc:Choice>
              <mc:Fallback>
                <p:oleObj name="公式" r:id="rId5" imgW="1892300" imgH="482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5786438"/>
                        <a:ext cx="294640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8" name="Object 16"/>
          <p:cNvGraphicFramePr>
            <a:graphicFrameLocks noChangeAspect="1"/>
          </p:cNvGraphicFramePr>
          <p:nvPr/>
        </p:nvGraphicFramePr>
        <p:xfrm>
          <a:off x="3309938" y="2778125"/>
          <a:ext cx="5429250" cy="1222375"/>
        </p:xfrm>
        <a:graphic>
          <a:graphicData uri="http://schemas.openxmlformats.org/presentationml/2006/ole">
            <mc:AlternateContent xmlns:mc="http://schemas.openxmlformats.org/markup-compatibility/2006">
              <mc:Choice xmlns:v="urn:schemas-microsoft-com:vml" Requires="v">
                <p:oleObj spid="_x0000_s106547" name="" r:id="rId7" imgW="2882900" imgH="685800" progId="Equation.3">
                  <p:embed/>
                </p:oleObj>
              </mc:Choice>
              <mc:Fallback>
                <p:oleObj name="" r:id="rId7" imgW="2882900" imgH="6858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9938" y="2778125"/>
                        <a:ext cx="5429250"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idx="1"/>
          </p:nvPr>
        </p:nvSpPr>
        <p:spPr>
          <a:xfrm>
            <a:off x="1981200" y="785813"/>
            <a:ext cx="8229600" cy="5786437"/>
          </a:xfrm>
        </p:spPr>
        <p:txBody>
          <a:bodyPr/>
          <a:lstStyle/>
          <a:p>
            <a:pPr algn="just" eaLnBrk="1" hangingPunct="1">
              <a:lnSpc>
                <a:spcPct val="150000"/>
              </a:lnSpc>
              <a:buFontTx/>
              <a:buNone/>
            </a:pPr>
            <a:r>
              <a:rPr lang="zh-CN" altLang="en-US" sz="2400" b="1" smtClean="0">
                <a:latin typeface="Arial" panose="020B0604020202020204" pitchFamily="34" charset="0"/>
              </a:rPr>
              <a:t>    第三阶段：</a:t>
            </a:r>
            <a:endParaRPr lang="zh-CN" altLang="en-US" sz="2400" b="1" smtClean="0">
              <a:latin typeface="Arial" panose="020B0604020202020204" pitchFamily="34" charset="0"/>
            </a:endParaRPr>
          </a:p>
          <a:p>
            <a:pPr eaLnBrk="1" hangingPunct="1">
              <a:lnSpc>
                <a:spcPct val="150000"/>
              </a:lnSpc>
              <a:buFontTx/>
              <a:buNone/>
            </a:pPr>
            <a:r>
              <a:rPr lang="zh-CN" altLang="en-US" sz="2400" smtClean="0">
                <a:latin typeface="Arial" panose="020B0604020202020204" pitchFamily="34" charset="0"/>
              </a:rPr>
              <a:t>    如果第</a:t>
            </a:r>
            <a:r>
              <a:rPr lang="en-US" altLang="zh-CN" sz="2400" smtClean="0">
                <a:latin typeface="Arial" panose="020B0604020202020204" pitchFamily="34" charset="0"/>
              </a:rPr>
              <a:t>3</a:t>
            </a:r>
            <a:r>
              <a:rPr lang="zh-CN" altLang="en-US" sz="2400" smtClean="0">
                <a:latin typeface="Arial" panose="020B0604020202020204" pitchFamily="34" charset="0"/>
              </a:rPr>
              <a:t>周采购，则需花费</a:t>
            </a:r>
            <a:r>
              <a:rPr lang="en-US" altLang="zh-CN" sz="2400" smtClean="0">
                <a:latin typeface="Arial" panose="020B0604020202020204" pitchFamily="34" charset="0"/>
              </a:rPr>
              <a:t>s</a:t>
            </a:r>
            <a:r>
              <a:rPr lang="en-US" altLang="zh-CN" sz="2400" baseline="-30000" smtClean="0">
                <a:latin typeface="Arial" panose="020B0604020202020204" pitchFamily="34" charset="0"/>
              </a:rPr>
              <a:t>3</a:t>
            </a:r>
            <a:r>
              <a:rPr lang="zh-CN" altLang="en-US" sz="2400" smtClean="0">
                <a:latin typeface="Arial" panose="020B0604020202020204" pitchFamily="34" charset="0"/>
              </a:rPr>
              <a:t>；也要和第</a:t>
            </a:r>
            <a:r>
              <a:rPr lang="en-US" altLang="zh-CN" sz="2400" smtClean="0">
                <a:latin typeface="Arial" panose="020B0604020202020204" pitchFamily="34" charset="0"/>
              </a:rPr>
              <a:t>3</a:t>
            </a:r>
            <a:r>
              <a:rPr lang="zh-CN" altLang="en-US" sz="2400" smtClean="0">
                <a:latin typeface="Arial" panose="020B0604020202020204" pitchFamily="34" charset="0"/>
              </a:rPr>
              <a:t>周后再采购的费用的期望值作比较。</a:t>
            </a:r>
            <a:endParaRPr lang="zh-CN" altLang="en-US" sz="2400" smtClean="0">
              <a:latin typeface="Arial" panose="020B0604020202020204" pitchFamily="34" charset="0"/>
            </a:endParaRPr>
          </a:p>
          <a:p>
            <a:pPr eaLnBrk="1" hangingPunct="1">
              <a:buFontTx/>
              <a:buNone/>
            </a:pPr>
            <a:endParaRPr lang="zh-CN" altLang="en-US" sz="2400" smtClean="0">
              <a:latin typeface="Arial" panose="020B0604020202020204" pitchFamily="34" charset="0"/>
            </a:endParaRPr>
          </a:p>
          <a:p>
            <a:pPr eaLnBrk="1" hangingPunct="1">
              <a:buFontTx/>
              <a:buNone/>
            </a:pPr>
            <a:endParaRPr lang="zh-CN" altLang="en-US" sz="2400" smtClean="0">
              <a:latin typeface="Arial" panose="020B0604020202020204" pitchFamily="34" charset="0"/>
            </a:endParaRPr>
          </a:p>
          <a:p>
            <a:pPr eaLnBrk="1" hangingPunct="1">
              <a:buFontTx/>
              <a:buNone/>
            </a:pPr>
            <a:endParaRPr lang="zh-CN" altLang="en-US" sz="2400" smtClean="0">
              <a:latin typeface="Arial" panose="020B0604020202020204" pitchFamily="34" charset="0"/>
            </a:endParaRPr>
          </a:p>
          <a:p>
            <a:pPr eaLnBrk="1" hangingPunct="1">
              <a:buFontTx/>
              <a:buNone/>
            </a:pPr>
            <a:r>
              <a:rPr lang="zh-CN" altLang="en-US" sz="2400" smtClean="0">
                <a:latin typeface="Arial" panose="020B0604020202020204" pitchFamily="34" charset="0"/>
              </a:rPr>
              <a:t>        于是   </a:t>
            </a:r>
            <a:r>
              <a:rPr lang="zh-CN" altLang="en-US" sz="2800" smtClean="0">
                <a:latin typeface="Arial" panose="020B0604020202020204" pitchFamily="34" charset="0"/>
              </a:rPr>
              <a:t>                                           ，有</a:t>
            </a:r>
            <a:endParaRPr lang="zh-CN" altLang="en-US" sz="2800" smtClean="0">
              <a:latin typeface="Arial" panose="020B0604020202020204" pitchFamily="34" charset="0"/>
            </a:endParaRPr>
          </a:p>
          <a:p>
            <a:pPr eaLnBrk="1" hangingPunct="1">
              <a:buFontTx/>
              <a:buNone/>
            </a:pPr>
            <a:endParaRPr lang="zh-CN" altLang="en-US" sz="2800" smtClean="0">
              <a:latin typeface="Arial" panose="020B0604020202020204" pitchFamily="34" charset="0"/>
            </a:endParaRPr>
          </a:p>
          <a:p>
            <a:pPr eaLnBrk="1" hangingPunct="1">
              <a:buFontTx/>
              <a:buNone/>
            </a:pPr>
            <a:endParaRPr lang="zh-CN" altLang="en-US" sz="2800" smtClean="0">
              <a:latin typeface="Arial" panose="020B0604020202020204" pitchFamily="34" charset="0"/>
            </a:endParaRPr>
          </a:p>
          <a:p>
            <a:pPr eaLnBrk="1" hangingPunct="1">
              <a:buFontTx/>
              <a:buNone/>
            </a:pPr>
            <a:r>
              <a:rPr lang="zh-CN" altLang="en-US" sz="2400" smtClean="0">
                <a:latin typeface="Arial" panose="020B0604020202020204" pitchFamily="34" charset="0"/>
              </a:rPr>
              <a:t>    故</a:t>
            </a:r>
            <a:r>
              <a:rPr lang="zh-CN" altLang="en-US" sz="2400" b="1" smtClean="0">
                <a:latin typeface="Arial" panose="020B0604020202020204" pitchFamily="34" charset="0"/>
              </a:rPr>
              <a:t>第</a:t>
            </a:r>
            <a:r>
              <a:rPr lang="en-US" altLang="zh-CN" sz="2400" b="1" smtClean="0">
                <a:latin typeface="Arial" panose="020B0604020202020204" pitchFamily="34" charset="0"/>
              </a:rPr>
              <a:t>3</a:t>
            </a:r>
            <a:r>
              <a:rPr lang="zh-CN" altLang="en-US" sz="2400" b="1" smtClean="0">
                <a:latin typeface="Arial" panose="020B0604020202020204" pitchFamily="34" charset="0"/>
              </a:rPr>
              <a:t>周的最优决策</a:t>
            </a:r>
            <a:r>
              <a:rPr lang="zh-CN" altLang="en-US" sz="2400" smtClean="0">
                <a:latin typeface="Arial" panose="020B0604020202020204" pitchFamily="34" charset="0"/>
              </a:rPr>
              <a:t>为</a:t>
            </a:r>
            <a:r>
              <a:rPr lang="zh-CN" altLang="en-US" sz="2800" smtClean="0">
                <a:latin typeface="Arial" panose="020B0604020202020204" pitchFamily="34" charset="0"/>
              </a:rPr>
              <a:t> </a:t>
            </a:r>
            <a:endParaRPr lang="zh-CN" altLang="en-US" sz="2800" smtClean="0">
              <a:latin typeface="Arial" panose="020B0604020202020204" pitchFamily="34" charset="0"/>
            </a:endParaRPr>
          </a:p>
        </p:txBody>
      </p:sp>
      <p:sp>
        <p:nvSpPr>
          <p:cNvPr id="14" name="灯片编号占位符 5"/>
          <p:cNvSpPr>
            <a:spLocks noGrp="1"/>
          </p:cNvSpPr>
          <p:nvPr>
            <p:ph type="sldNum" sz="quarter" idx="12"/>
          </p:nvPr>
        </p:nvSpPr>
        <p:spPr/>
        <p:txBody>
          <a:bodyPr/>
          <a:lstStyle/>
          <a:p>
            <a:pPr>
              <a:defRPr/>
            </a:pPr>
            <a:fld id="{D266246A-4787-499C-9E2A-EB910C545CA3}" type="slidenum">
              <a:rPr lang="en-US" altLang="zh-CN"/>
            </a:fld>
            <a:endParaRPr lang="en-US" altLang="zh-CN" dirty="0"/>
          </a:p>
        </p:txBody>
      </p:sp>
      <p:graphicFrame>
        <p:nvGraphicFramePr>
          <p:cNvPr id="107524" name="Object 5"/>
          <p:cNvGraphicFramePr>
            <a:graphicFrameLocks noChangeAspect="1"/>
          </p:cNvGraphicFramePr>
          <p:nvPr/>
        </p:nvGraphicFramePr>
        <p:xfrm>
          <a:off x="3209925" y="2511425"/>
          <a:ext cx="5386388" cy="1274763"/>
        </p:xfrm>
        <a:graphic>
          <a:graphicData uri="http://schemas.openxmlformats.org/presentationml/2006/ole">
            <mc:AlternateContent xmlns:mc="http://schemas.openxmlformats.org/markup-compatibility/2006">
              <mc:Choice xmlns:v="urn:schemas-microsoft-com:vml" Requires="v">
                <p:oleObj spid="_x0000_s107567" name="" r:id="rId1" imgW="2895600" imgH="685800" progId="Equation.3">
                  <p:embed/>
                </p:oleObj>
              </mc:Choice>
              <mc:Fallback>
                <p:oleObj name="" r:id="rId1" imgW="2895600" imgH="685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9925" y="2511425"/>
                        <a:ext cx="5386388"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5" name="Object 7"/>
          <p:cNvGraphicFramePr>
            <a:graphicFrameLocks noChangeAspect="1"/>
          </p:cNvGraphicFramePr>
          <p:nvPr/>
        </p:nvGraphicFramePr>
        <p:xfrm>
          <a:off x="3302000" y="3929063"/>
          <a:ext cx="4508500" cy="428625"/>
        </p:xfrm>
        <a:graphic>
          <a:graphicData uri="http://schemas.openxmlformats.org/presentationml/2006/ole">
            <mc:AlternateContent xmlns:mc="http://schemas.openxmlformats.org/markup-compatibility/2006">
              <mc:Choice xmlns:v="urn:schemas-microsoft-com:vml" Requires="v">
                <p:oleObj spid="_x0000_s107568" name="" r:id="rId3" imgW="2298700" imgH="241300" progId="Equation.3">
                  <p:embed/>
                </p:oleObj>
              </mc:Choice>
              <mc:Fallback>
                <p:oleObj name="" r:id="rId3" imgW="2298700" imgH="2413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2000" y="3929063"/>
                        <a:ext cx="450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6" name="Rectangle 8"/>
          <p:cNvSpPr>
            <a:spLocks noChangeArrowheads="1"/>
          </p:cNvSpPr>
          <p:nvPr/>
        </p:nvSpPr>
        <p:spPr bwMode="auto">
          <a:xfrm>
            <a:off x="4976813" y="3186113"/>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7527" name="Object 9"/>
          <p:cNvGraphicFramePr>
            <a:graphicFrameLocks noChangeAspect="1"/>
          </p:cNvGraphicFramePr>
          <p:nvPr/>
        </p:nvGraphicFramePr>
        <p:xfrm>
          <a:off x="4024313" y="4572000"/>
          <a:ext cx="3440112" cy="847725"/>
        </p:xfrm>
        <a:graphic>
          <a:graphicData uri="http://schemas.openxmlformats.org/presentationml/2006/ole">
            <mc:AlternateContent xmlns:mc="http://schemas.openxmlformats.org/markup-compatibility/2006">
              <mc:Choice xmlns:v="urn:schemas-microsoft-com:vml" Requires="v">
                <p:oleObj spid="_x0000_s107569" name="公式" r:id="rId5" imgW="2070100" imgH="482600" progId="Equation.3">
                  <p:embed/>
                </p:oleObj>
              </mc:Choice>
              <mc:Fallback>
                <p:oleObj name="公式" r:id="rId5" imgW="2070100" imgH="482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4313" y="4572000"/>
                        <a:ext cx="3440112"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8" name="Rectangle 10"/>
          <p:cNvSpPr>
            <a:spLocks noChangeArrowheads="1"/>
          </p:cNvSpPr>
          <p:nvPr/>
        </p:nvSpPr>
        <p:spPr bwMode="auto">
          <a:xfrm>
            <a:off x="5205413" y="3186113"/>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7529" name="Object 11"/>
          <p:cNvGraphicFramePr>
            <a:graphicFrameLocks noChangeAspect="1"/>
          </p:cNvGraphicFramePr>
          <p:nvPr/>
        </p:nvGraphicFramePr>
        <p:xfrm>
          <a:off x="5667375" y="5643563"/>
          <a:ext cx="2959100" cy="896937"/>
        </p:xfrm>
        <a:graphic>
          <a:graphicData uri="http://schemas.openxmlformats.org/presentationml/2006/ole">
            <mc:AlternateContent xmlns:mc="http://schemas.openxmlformats.org/markup-compatibility/2006">
              <mc:Choice xmlns:v="urn:schemas-microsoft-com:vml" Requires="v">
                <p:oleObj spid="_x0000_s107570" name="公式" r:id="rId7" imgW="1600200" imgH="482600" progId="Equation.3">
                  <p:embed/>
                </p:oleObj>
              </mc:Choice>
              <mc:Fallback>
                <p:oleObj name="公式" r:id="rId7" imgW="1600200" imgH="4826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7375" y="5643563"/>
                        <a:ext cx="29591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idx="1"/>
          </p:nvPr>
        </p:nvSpPr>
        <p:spPr>
          <a:xfrm>
            <a:off x="1981200" y="785813"/>
            <a:ext cx="8229600" cy="5857875"/>
          </a:xfrm>
        </p:spPr>
        <p:txBody>
          <a:bodyPr/>
          <a:lstStyle/>
          <a:p>
            <a:pPr eaLnBrk="1" hangingPunct="1">
              <a:lnSpc>
                <a:spcPct val="150000"/>
              </a:lnSpc>
              <a:buFontTx/>
              <a:buNone/>
            </a:pPr>
            <a:endParaRPr lang="en-US" altLang="zh-CN" sz="2400" smtClean="0">
              <a:latin typeface="Arial" panose="020B0604020202020204" pitchFamily="34" charset="0"/>
            </a:endParaRPr>
          </a:p>
          <a:p>
            <a:pPr eaLnBrk="1" hangingPunct="1">
              <a:lnSpc>
                <a:spcPct val="150000"/>
              </a:lnSpc>
              <a:buFontTx/>
              <a:buNone/>
            </a:pPr>
            <a:r>
              <a:rPr lang="zh-CN" altLang="en-US" sz="2400" b="1" smtClean="0">
                <a:latin typeface="Arial" panose="020B0604020202020204" pitchFamily="34" charset="0"/>
              </a:rPr>
              <a:t>第二阶段：</a:t>
            </a:r>
            <a:endParaRPr lang="zh-CN" altLang="en-US" sz="2400" b="1" smtClean="0">
              <a:latin typeface="Arial" panose="020B0604020202020204" pitchFamily="34" charset="0"/>
            </a:endParaRPr>
          </a:p>
          <a:p>
            <a:pPr eaLnBrk="1" hangingPunct="1">
              <a:lnSpc>
                <a:spcPct val="150000"/>
              </a:lnSpc>
              <a:buFontTx/>
              <a:buNone/>
            </a:pPr>
            <a:r>
              <a:rPr lang="zh-CN" altLang="en-US" sz="2400" smtClean="0">
                <a:latin typeface="Arial" panose="020B0604020202020204" pitchFamily="34" charset="0"/>
              </a:rPr>
              <a:t>同理可得</a:t>
            </a:r>
            <a:endParaRPr lang="zh-CN" altLang="en-US" sz="2400" smtClean="0">
              <a:latin typeface="Arial" panose="020B0604020202020204" pitchFamily="34" charset="0"/>
            </a:endParaRPr>
          </a:p>
          <a:p>
            <a:pPr eaLnBrk="1" hangingPunct="1">
              <a:lnSpc>
                <a:spcPct val="150000"/>
              </a:lnSpc>
              <a:buFontTx/>
              <a:buNone/>
            </a:pPr>
            <a:endParaRPr lang="zh-CN" altLang="en-US" sz="2400" smtClean="0">
              <a:latin typeface="Arial" panose="020B0604020202020204" pitchFamily="34" charset="0"/>
            </a:endParaRPr>
          </a:p>
          <a:p>
            <a:pPr eaLnBrk="1" hangingPunct="1">
              <a:lnSpc>
                <a:spcPct val="150000"/>
              </a:lnSpc>
              <a:buFontTx/>
              <a:buNone/>
            </a:pPr>
            <a:r>
              <a:rPr lang="zh-CN" altLang="en-US" sz="2400" smtClean="0">
                <a:latin typeface="Arial" panose="020B0604020202020204" pitchFamily="34" charset="0"/>
              </a:rPr>
              <a:t> 故</a:t>
            </a:r>
            <a:r>
              <a:rPr lang="zh-CN" altLang="en-US" sz="2400" b="1" smtClean="0">
                <a:latin typeface="Arial" panose="020B0604020202020204" pitchFamily="34" charset="0"/>
              </a:rPr>
              <a:t>第</a:t>
            </a:r>
            <a:r>
              <a:rPr lang="en-US" altLang="zh-CN" sz="2400" b="1" smtClean="0">
                <a:latin typeface="Arial" panose="020B0604020202020204" pitchFamily="34" charset="0"/>
              </a:rPr>
              <a:t>2</a:t>
            </a:r>
            <a:r>
              <a:rPr lang="zh-CN" altLang="en-US" sz="2400" b="1" smtClean="0">
                <a:latin typeface="Arial" panose="020B0604020202020204" pitchFamily="34" charset="0"/>
              </a:rPr>
              <a:t>周的最优决策</a:t>
            </a:r>
            <a:r>
              <a:rPr lang="zh-CN" altLang="en-US" sz="2400" smtClean="0">
                <a:latin typeface="Arial" panose="020B0604020202020204" pitchFamily="34" charset="0"/>
              </a:rPr>
              <a:t>为</a:t>
            </a:r>
            <a:endParaRPr lang="en-US" altLang="zh-CN"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a:p>
            <a:pPr eaLnBrk="1" hangingPunct="1">
              <a:lnSpc>
                <a:spcPct val="150000"/>
              </a:lnSpc>
              <a:buFontTx/>
              <a:buNone/>
            </a:pPr>
            <a:endParaRPr lang="en-US" altLang="zh-CN" sz="2400" smtClean="0">
              <a:latin typeface="Arial" panose="020B0604020202020204" pitchFamily="34" charset="0"/>
            </a:endParaRPr>
          </a:p>
        </p:txBody>
      </p:sp>
      <p:graphicFrame>
        <p:nvGraphicFramePr>
          <p:cNvPr id="108548" name="Object 5"/>
          <p:cNvGraphicFramePr>
            <a:graphicFrameLocks noChangeAspect="1"/>
          </p:cNvGraphicFramePr>
          <p:nvPr/>
        </p:nvGraphicFramePr>
        <p:xfrm>
          <a:off x="3381375" y="2571750"/>
          <a:ext cx="4557713" cy="809625"/>
        </p:xfrm>
        <a:graphic>
          <a:graphicData uri="http://schemas.openxmlformats.org/presentationml/2006/ole">
            <mc:AlternateContent xmlns:mc="http://schemas.openxmlformats.org/markup-compatibility/2006">
              <mc:Choice xmlns:v="urn:schemas-microsoft-com:vml" Requires="v">
                <p:oleObj spid="_x0000_s108572" name="" r:id="rId1" imgW="2324100" imgH="482600" progId="Equation.3">
                  <p:embed/>
                </p:oleObj>
              </mc:Choice>
              <mc:Fallback>
                <p:oleObj name="" r:id="rId1" imgW="2324100" imgH="482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75" y="2571750"/>
                        <a:ext cx="4557713"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49" name="Rectangle 6"/>
          <p:cNvSpPr>
            <a:spLocks noChangeArrowheads="1"/>
          </p:cNvSpPr>
          <p:nvPr/>
        </p:nvSpPr>
        <p:spPr bwMode="auto">
          <a:xfrm>
            <a:off x="5205413" y="3186113"/>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8550" name="Object 7"/>
          <p:cNvGraphicFramePr>
            <a:graphicFrameLocks noChangeAspect="1"/>
          </p:cNvGraphicFramePr>
          <p:nvPr/>
        </p:nvGraphicFramePr>
        <p:xfrm>
          <a:off x="3810000" y="4102735"/>
          <a:ext cx="3449638" cy="869950"/>
        </p:xfrm>
        <a:graphic>
          <a:graphicData uri="http://schemas.openxmlformats.org/presentationml/2006/ole">
            <mc:AlternateContent xmlns:mc="http://schemas.openxmlformats.org/markup-compatibility/2006">
              <mc:Choice xmlns:v="urn:schemas-microsoft-com:vml" Requires="v">
                <p:oleObj spid="_x0000_s108573" name="" r:id="rId3" imgW="1777365" imgH="482600" progId="Equation.3">
                  <p:embed/>
                </p:oleObj>
              </mc:Choice>
              <mc:Fallback>
                <p:oleObj name="" r:id="rId3" imgW="1777365" imgH="482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4102735"/>
                        <a:ext cx="3449638"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a:xfrm>
            <a:off x="1981200" y="785813"/>
            <a:ext cx="8229600" cy="5857875"/>
          </a:xfrm>
        </p:spPr>
        <p:txBody>
          <a:bodyPr/>
          <a:lstStyle/>
          <a:p>
            <a:pPr eaLnBrk="1" hangingPunct="1">
              <a:buFontTx/>
              <a:buNone/>
            </a:pPr>
            <a:endParaRPr lang="en-US" altLang="zh-CN" sz="2400" smtClean="0">
              <a:latin typeface="Arial" panose="020B0604020202020204" pitchFamily="34" charset="0"/>
            </a:endParaRPr>
          </a:p>
          <a:p>
            <a:pPr eaLnBrk="1" hangingPunct="1">
              <a:buFontTx/>
              <a:buNone/>
            </a:pPr>
            <a:endParaRPr lang="zh-CN" altLang="en-US" sz="2400" smtClean="0">
              <a:latin typeface="Arial" panose="020B0604020202020204" pitchFamily="34" charset="0"/>
            </a:endParaRPr>
          </a:p>
          <a:p>
            <a:pPr eaLnBrk="1" hangingPunct="1">
              <a:buFontTx/>
              <a:buNone/>
            </a:pPr>
            <a:r>
              <a:rPr lang="zh-CN" altLang="en-US" sz="2400" b="1" smtClean="0">
                <a:latin typeface="Arial" panose="020B0604020202020204" pitchFamily="34" charset="0"/>
              </a:rPr>
              <a:t>第一阶段：</a:t>
            </a:r>
            <a:endParaRPr lang="zh-CN" altLang="en-US" sz="2400" b="1" smtClean="0">
              <a:latin typeface="Arial" panose="020B0604020202020204" pitchFamily="34" charset="0"/>
            </a:endParaRPr>
          </a:p>
          <a:p>
            <a:pPr eaLnBrk="1" hangingPunct="1">
              <a:buFontTx/>
              <a:buNone/>
            </a:pPr>
            <a:r>
              <a:rPr lang="zh-CN" altLang="en-US" sz="2400" smtClean="0">
                <a:latin typeface="Arial" panose="020B0604020202020204" pitchFamily="34" charset="0"/>
              </a:rPr>
              <a:t>同理可得</a:t>
            </a:r>
            <a:endParaRPr lang="zh-CN" altLang="en-US" sz="2400" smtClean="0">
              <a:latin typeface="Arial" panose="020B0604020202020204" pitchFamily="34" charset="0"/>
            </a:endParaRPr>
          </a:p>
          <a:p>
            <a:pPr eaLnBrk="1" hangingPunct="1">
              <a:buFontTx/>
              <a:buNone/>
            </a:pPr>
            <a:endParaRPr lang="en-US" altLang="zh-CN" sz="2400" smtClean="0">
              <a:latin typeface="Arial" panose="020B0604020202020204" pitchFamily="34" charset="0"/>
            </a:endParaRPr>
          </a:p>
          <a:p>
            <a:pPr eaLnBrk="1" hangingPunct="1">
              <a:buFontTx/>
              <a:buNone/>
            </a:pPr>
            <a:endParaRPr lang="en-US" altLang="zh-CN" sz="2400" smtClean="0">
              <a:latin typeface="Arial" panose="020B0604020202020204" pitchFamily="34" charset="0"/>
            </a:endParaRPr>
          </a:p>
          <a:p>
            <a:pPr eaLnBrk="1" hangingPunct="1">
              <a:buFontTx/>
              <a:buNone/>
            </a:pPr>
            <a:endParaRPr lang="zh-CN" altLang="en-US" sz="2400" smtClean="0">
              <a:latin typeface="Arial" panose="020B0604020202020204" pitchFamily="34" charset="0"/>
            </a:endParaRPr>
          </a:p>
          <a:p>
            <a:pPr eaLnBrk="1" hangingPunct="1">
              <a:buFontTx/>
              <a:buNone/>
            </a:pPr>
            <a:r>
              <a:rPr lang="zh-CN" altLang="en-US" sz="2400" smtClean="0">
                <a:latin typeface="Arial" panose="020B0604020202020204" pitchFamily="34" charset="0"/>
              </a:rPr>
              <a:t>故</a:t>
            </a:r>
            <a:r>
              <a:rPr lang="zh-CN" altLang="en-US" sz="2400" b="1" smtClean="0">
                <a:latin typeface="Arial" panose="020B0604020202020204" pitchFamily="34" charset="0"/>
              </a:rPr>
              <a:t>第</a:t>
            </a:r>
            <a:r>
              <a:rPr lang="en-US" altLang="zh-CN" sz="2400" b="1" smtClean="0">
                <a:latin typeface="Arial" panose="020B0604020202020204" pitchFamily="34" charset="0"/>
              </a:rPr>
              <a:t>1</a:t>
            </a:r>
            <a:r>
              <a:rPr lang="zh-CN" altLang="en-US" sz="2400" b="1" smtClean="0">
                <a:latin typeface="Arial" panose="020B0604020202020204" pitchFamily="34" charset="0"/>
              </a:rPr>
              <a:t>周的最优决策</a:t>
            </a:r>
            <a:r>
              <a:rPr lang="zh-CN" altLang="en-US" sz="2400" smtClean="0">
                <a:latin typeface="Arial" panose="020B0604020202020204" pitchFamily="34" charset="0"/>
              </a:rPr>
              <a:t>为</a:t>
            </a:r>
            <a:endParaRPr lang="zh-CN" altLang="en-US" sz="2400" smtClean="0">
              <a:latin typeface="Arial" panose="020B0604020202020204" pitchFamily="34" charset="0"/>
            </a:endParaRPr>
          </a:p>
          <a:p>
            <a:pPr eaLnBrk="1" hangingPunct="1">
              <a:buFontTx/>
              <a:buNone/>
            </a:pPr>
            <a:r>
              <a:rPr lang="zh-CN" altLang="en-US" sz="2400" smtClean="0">
                <a:latin typeface="Arial" panose="020B0604020202020204" pitchFamily="34" charset="0"/>
              </a:rPr>
              <a:t> </a:t>
            </a:r>
            <a:endParaRPr lang="zh-CN" altLang="en-US" sz="2400" smtClean="0">
              <a:latin typeface="Arial" panose="020B0604020202020204" pitchFamily="34" charset="0"/>
            </a:endParaRPr>
          </a:p>
          <a:p>
            <a:pPr eaLnBrk="1" hangingPunct="1">
              <a:buFontTx/>
              <a:buNone/>
            </a:pPr>
            <a:endParaRPr lang="en-US" altLang="zh-CN" sz="2400" smtClean="0">
              <a:latin typeface="Arial" panose="020B0604020202020204" pitchFamily="34" charset="0"/>
            </a:endParaRPr>
          </a:p>
        </p:txBody>
      </p:sp>
      <p:sp>
        <p:nvSpPr>
          <p:cNvPr id="109572" name="Rectangle 6"/>
          <p:cNvSpPr>
            <a:spLocks noChangeArrowheads="1"/>
          </p:cNvSpPr>
          <p:nvPr/>
        </p:nvSpPr>
        <p:spPr bwMode="auto">
          <a:xfrm>
            <a:off x="5205413" y="3186113"/>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latin typeface="楷体" panose="02010609060101010101" pitchFamily="49" charset="-122"/>
              <a:ea typeface="楷体" panose="02010609060101010101" pitchFamily="49" charset="-122"/>
            </a:endParaRPr>
          </a:p>
        </p:txBody>
      </p:sp>
      <p:graphicFrame>
        <p:nvGraphicFramePr>
          <p:cNvPr id="109575" name="Object 13"/>
          <p:cNvGraphicFramePr>
            <a:graphicFrameLocks noChangeAspect="1"/>
          </p:cNvGraphicFramePr>
          <p:nvPr/>
        </p:nvGraphicFramePr>
        <p:xfrm>
          <a:off x="3060700" y="2714625"/>
          <a:ext cx="4686300" cy="857250"/>
        </p:xfrm>
        <a:graphic>
          <a:graphicData uri="http://schemas.openxmlformats.org/presentationml/2006/ole">
            <mc:AlternateContent xmlns:mc="http://schemas.openxmlformats.org/markup-compatibility/2006">
              <mc:Choice xmlns:v="urn:schemas-microsoft-com:vml" Requires="v">
                <p:oleObj spid="_x0000_s109596" name="Equation" r:id="rId1" imgW="2324100" imgH="482600" progId="Equation.DSMT4">
                  <p:embed/>
                </p:oleObj>
              </mc:Choice>
              <mc:Fallback>
                <p:oleObj name="Equation" r:id="rId1" imgW="2324100" imgH="482600" progId="Equation.DSMT4">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0700" y="2714625"/>
                        <a:ext cx="46863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76" name="Object 15"/>
          <p:cNvGraphicFramePr>
            <a:graphicFrameLocks noChangeAspect="1"/>
          </p:cNvGraphicFramePr>
          <p:nvPr/>
        </p:nvGraphicFramePr>
        <p:xfrm>
          <a:off x="3429000" y="4500563"/>
          <a:ext cx="4048125" cy="882650"/>
        </p:xfrm>
        <a:graphic>
          <a:graphicData uri="http://schemas.openxmlformats.org/presentationml/2006/ole">
            <mc:AlternateContent xmlns:mc="http://schemas.openxmlformats.org/markup-compatibility/2006">
              <mc:Choice xmlns:v="urn:schemas-microsoft-com:vml" Requires="v">
                <p:oleObj spid="_x0000_s109597" name="Equation" r:id="rId3" imgW="1726565" imgH="482600" progId="Equation.DSMT4">
                  <p:embed/>
                </p:oleObj>
              </mc:Choice>
              <mc:Fallback>
                <p:oleObj name="Equation" r:id="rId3" imgW="1726565" imgH="4826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4500563"/>
                        <a:ext cx="404812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idx="1"/>
          </p:nvPr>
        </p:nvSpPr>
        <p:spPr>
          <a:xfrm>
            <a:off x="2095500" y="1285875"/>
            <a:ext cx="7643813" cy="4525963"/>
          </a:xfrm>
        </p:spPr>
        <p:txBody>
          <a:bodyPr/>
          <a:lstStyle/>
          <a:p>
            <a:pPr indent="0" algn="just" eaLnBrk="1" hangingPunct="1">
              <a:lnSpc>
                <a:spcPct val="150000"/>
              </a:lnSpc>
              <a:buFontTx/>
              <a:buNone/>
            </a:pPr>
            <a:r>
              <a:rPr lang="zh-CN" altLang="en-US" sz="2400" smtClean="0">
                <a:latin typeface="Arial" panose="020B0604020202020204" pitchFamily="34" charset="0"/>
              </a:rPr>
              <a:t>所以</a:t>
            </a:r>
            <a:r>
              <a:rPr lang="zh-CN" altLang="en-US" sz="2400" b="1" smtClean="0">
                <a:solidFill>
                  <a:srgbClr val="FF0000"/>
                </a:solidFill>
                <a:latin typeface="Arial" panose="020B0604020202020204" pitchFamily="34" charset="0"/>
              </a:rPr>
              <a:t>最优的采购策略</a:t>
            </a:r>
            <a:r>
              <a:rPr lang="zh-CN" altLang="en-US" sz="2400" smtClean="0">
                <a:latin typeface="Arial" panose="020B0604020202020204" pitchFamily="34" charset="0"/>
              </a:rPr>
              <a:t>为：</a:t>
            </a:r>
            <a:endParaRPr lang="en-US" altLang="zh-CN" sz="2400" smtClean="0">
              <a:latin typeface="Arial" panose="020B0604020202020204" pitchFamily="34" charset="0"/>
            </a:endParaRPr>
          </a:p>
          <a:p>
            <a:pPr indent="0" algn="just" eaLnBrk="1" hangingPunct="1">
              <a:lnSpc>
                <a:spcPct val="150000"/>
              </a:lnSpc>
              <a:buFontTx/>
              <a:buNone/>
            </a:pPr>
            <a:r>
              <a:rPr lang="zh-CN" altLang="en-US" sz="2400" smtClean="0">
                <a:latin typeface="Arial" panose="020B0604020202020204" pitchFamily="34" charset="0"/>
              </a:rPr>
              <a:t>       在第</a:t>
            </a:r>
            <a:r>
              <a:rPr lang="en-US" altLang="zh-CN" sz="2400" smtClean="0">
                <a:latin typeface="Arial" panose="020B0604020202020204" pitchFamily="34" charset="0"/>
              </a:rPr>
              <a:t>1</a:t>
            </a:r>
            <a:r>
              <a:rPr lang="zh-CN" altLang="en-US" sz="2400" smtClean="0">
                <a:latin typeface="Arial" panose="020B0604020202020204" pitchFamily="34" charset="0"/>
              </a:rPr>
              <a:t>、</a:t>
            </a:r>
            <a:r>
              <a:rPr lang="en-US" altLang="zh-CN" sz="2400" smtClean="0">
                <a:latin typeface="Arial" panose="020B0604020202020204" pitchFamily="34" charset="0"/>
              </a:rPr>
              <a:t>2</a:t>
            </a:r>
            <a:r>
              <a:rPr lang="zh-CN" altLang="en-US" sz="2400" smtClean="0">
                <a:latin typeface="Arial" panose="020B0604020202020204" pitchFamily="34" charset="0"/>
              </a:rPr>
              <a:t>、</a:t>
            </a:r>
            <a:r>
              <a:rPr lang="en-US" altLang="zh-CN" sz="2400" smtClean="0">
                <a:latin typeface="Arial" panose="020B0604020202020204" pitchFamily="34" charset="0"/>
              </a:rPr>
              <a:t>3</a:t>
            </a:r>
            <a:r>
              <a:rPr lang="zh-CN" altLang="en-US" sz="2400" smtClean="0">
                <a:latin typeface="Arial" panose="020B0604020202020204" pitchFamily="34" charset="0"/>
              </a:rPr>
              <a:t>周的市场价格为</a:t>
            </a:r>
            <a:r>
              <a:rPr lang="en-US" altLang="zh-CN" sz="2400" smtClean="0">
                <a:latin typeface="Arial" panose="020B0604020202020204" pitchFamily="34" charset="0"/>
              </a:rPr>
              <a:t>450</a:t>
            </a:r>
            <a:r>
              <a:rPr lang="zh-CN" altLang="en-US" sz="2400" smtClean="0">
                <a:latin typeface="Arial" panose="020B0604020202020204" pitchFamily="34" charset="0"/>
              </a:rPr>
              <a:t>时，应该立即采购，否则等待；在第</a:t>
            </a:r>
            <a:r>
              <a:rPr lang="en-US" altLang="zh-CN" sz="2400" smtClean="0">
                <a:latin typeface="Arial" panose="020B0604020202020204" pitchFamily="34" charset="0"/>
              </a:rPr>
              <a:t>4</a:t>
            </a:r>
            <a:r>
              <a:rPr lang="zh-CN" altLang="en-US" sz="2400" smtClean="0">
                <a:latin typeface="Arial" panose="020B0604020202020204" pitchFamily="34" charset="0"/>
              </a:rPr>
              <a:t>周时，若市场价格为</a:t>
            </a:r>
            <a:r>
              <a:rPr lang="en-US" altLang="zh-CN" sz="2400" smtClean="0">
                <a:latin typeface="Arial" panose="020B0604020202020204" pitchFamily="34" charset="0"/>
              </a:rPr>
              <a:t>450</a:t>
            </a:r>
            <a:r>
              <a:rPr lang="zh-CN" altLang="en-US" sz="2400" smtClean="0">
                <a:latin typeface="Arial" panose="020B0604020202020204" pitchFamily="34" charset="0"/>
              </a:rPr>
              <a:t>或</a:t>
            </a:r>
            <a:r>
              <a:rPr lang="en-US" altLang="zh-CN" sz="2400" smtClean="0">
                <a:latin typeface="Arial" panose="020B0604020202020204" pitchFamily="34" charset="0"/>
              </a:rPr>
              <a:t>470</a:t>
            </a:r>
            <a:r>
              <a:rPr lang="zh-CN" altLang="en-US" sz="2400" smtClean="0">
                <a:latin typeface="Arial" panose="020B0604020202020204" pitchFamily="34" charset="0"/>
              </a:rPr>
              <a:t>时，应该采购，否则等待。若等到第五周，只能采购。</a:t>
            </a:r>
            <a:endParaRPr lang="zh-CN" altLang="en-US" sz="2400" smtClean="0">
              <a:latin typeface="Arial" panose="020B0604020202020204" pitchFamily="34" charset="0"/>
            </a:endParaRPr>
          </a:p>
          <a:p>
            <a:pPr indent="0" algn="just" eaLnBrk="1" hangingPunct="1">
              <a:lnSpc>
                <a:spcPct val="150000"/>
              </a:lnSpc>
              <a:buFontTx/>
              <a:buNone/>
            </a:pPr>
            <a:r>
              <a:rPr lang="zh-CN" altLang="en-US" sz="2400" smtClean="0">
                <a:latin typeface="Arial" panose="020B0604020202020204" pitchFamily="34" charset="0"/>
              </a:rPr>
              <a:t> </a:t>
            </a:r>
            <a:endParaRPr lang="zh-CN" altLang="en-US" sz="2400" smtClean="0">
              <a:latin typeface="Arial" panose="020B0604020202020204" pitchFamily="34" charset="0"/>
            </a:endParaRPr>
          </a:p>
          <a:p>
            <a:pPr indent="0" algn="just" eaLnBrk="1" hangingPunct="1">
              <a:lnSpc>
                <a:spcPct val="150000"/>
              </a:lnSpc>
              <a:buFontTx/>
              <a:buNone/>
            </a:pPr>
            <a:r>
              <a:rPr lang="zh-CN" altLang="en-US" sz="2400" smtClean="0">
                <a:latin typeface="Arial" panose="020B0604020202020204" pitchFamily="34" charset="0"/>
              </a:rPr>
              <a:t> </a:t>
            </a:r>
            <a:endParaRPr lang="zh-CN" altLang="en-US" sz="2400" smtClean="0">
              <a:latin typeface="Arial" panose="020B0604020202020204" pitchFamily="34" charset="0"/>
            </a:endParaRPr>
          </a:p>
          <a:p>
            <a:pPr indent="0" algn="just" eaLnBrk="1" hangingPunct="1">
              <a:lnSpc>
                <a:spcPct val="150000"/>
              </a:lnSpc>
              <a:buFontTx/>
              <a:buNone/>
            </a:pPr>
            <a:endParaRPr lang="zh-CN" altLang="en-US" sz="2400" smtClean="0">
              <a:latin typeface="Arial" panose="020B0604020202020204" pitchFamily="34" charset="0"/>
            </a:endParaRPr>
          </a:p>
          <a:p>
            <a:pPr indent="0" algn="just" eaLnBrk="1" hangingPunct="1">
              <a:lnSpc>
                <a:spcPct val="150000"/>
              </a:lnSpc>
              <a:buFontTx/>
              <a:buNone/>
            </a:pPr>
            <a:endParaRPr lang="en-US" altLang="zh-CN" sz="2400" smtClean="0">
              <a:latin typeface="Arial" panose="020B0604020202020204" pitchFamily="34" charset="0"/>
            </a:endParaRPr>
          </a:p>
        </p:txBody>
      </p:sp>
      <p:sp>
        <p:nvSpPr>
          <p:cNvPr id="3"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2</a:t>
            </a:r>
            <a:r>
              <a:rPr lang="zh-CN" altLang="en-US" dirty="0">
                <a:sym typeface="+mn-ea"/>
              </a:rPr>
              <a:t>)</a:t>
            </a:r>
            <a:endParaRPr lang="zh-CN" altLang="en-US" dirty="0">
              <a:sym typeface="+mn-ea"/>
            </a:endParaRPr>
          </a:p>
        </p:txBody>
      </p:sp>
    </p:spTree>
  </p:cSld>
  <p:clrMapOvr>
    <a:masterClrMapping/>
  </p:clrMapOvr>
  <p:transition spd="med">
    <p:fade/>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8" name="Rectangle 4"/>
          <p:cNvSpPr>
            <a:spLocks noChangeArrowheads="1"/>
          </p:cNvSpPr>
          <p:nvPr/>
        </p:nvSpPr>
        <p:spPr bwMode="auto">
          <a:xfrm>
            <a:off x="1055440" y="682441"/>
            <a:ext cx="5148580" cy="44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例</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1 </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用动态规划方法求解下列线性规划</a:t>
            </a:r>
            <a:endPar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sp>
        <p:nvSpPr>
          <p:cNvPr id="108547" name="Rectangle 5"/>
          <p:cNvSpPr>
            <a:spLocks noChangeArrowheads="1"/>
          </p:cNvSpPr>
          <p:nvPr/>
        </p:nvSpPr>
        <p:spPr bwMode="auto">
          <a:xfrm>
            <a:off x="1524001" y="2985957"/>
            <a:ext cx="184731" cy="46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300" b="1">
              <a:solidFill>
                <a:srgbClr val="003300"/>
              </a:solidFill>
              <a:latin typeface="宋体" panose="02010600030101010101" pitchFamily="2" charset="-122"/>
            </a:endParaRPr>
          </a:p>
        </p:txBody>
      </p:sp>
      <p:graphicFrame>
        <p:nvGraphicFramePr>
          <p:cNvPr id="630790" name="Object 6"/>
          <p:cNvGraphicFramePr>
            <a:graphicFrameLocks noChangeAspect="1"/>
          </p:cNvGraphicFramePr>
          <p:nvPr/>
        </p:nvGraphicFramePr>
        <p:xfrm>
          <a:off x="4395582" y="1260403"/>
          <a:ext cx="2376488" cy="1547813"/>
        </p:xfrm>
        <a:graphic>
          <a:graphicData uri="http://schemas.openxmlformats.org/presentationml/2006/ole">
            <mc:AlternateContent xmlns:mc="http://schemas.openxmlformats.org/markup-compatibility/2006">
              <mc:Choice xmlns:v="urn:schemas-microsoft-com:vml" Requires="v">
                <p:oleObj spid="_x0000_s109189" name="Equation" r:id="rId1" imgW="1447800" imgH="939800" progId="Equation.DSMT4">
                  <p:embed/>
                </p:oleObj>
              </mc:Choice>
              <mc:Fallback>
                <p:oleObj name="Equation" r:id="rId1" imgW="1447800" imgH="9398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5582" y="1260403"/>
                        <a:ext cx="2376488" cy="15478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49" name="Rectangle 10"/>
          <p:cNvSpPr>
            <a:spLocks noChangeArrowheads="1"/>
          </p:cNvSpPr>
          <p:nvPr/>
        </p:nvSpPr>
        <p:spPr bwMode="auto">
          <a:xfrm>
            <a:off x="1524001" y="3343144"/>
            <a:ext cx="184731" cy="46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300" b="1">
              <a:solidFill>
                <a:srgbClr val="003300"/>
              </a:solidFill>
              <a:latin typeface="宋体" panose="02010600030101010101" pitchFamily="2" charset="-122"/>
            </a:endParaRPr>
          </a:p>
        </p:txBody>
      </p:sp>
      <p:sp>
        <p:nvSpPr>
          <p:cNvPr id="108550" name="Rectangle 14"/>
          <p:cNvSpPr>
            <a:spLocks noChangeArrowheads="1"/>
          </p:cNvSpPr>
          <p:nvPr/>
        </p:nvSpPr>
        <p:spPr bwMode="auto">
          <a:xfrm>
            <a:off x="1524001" y="3205032"/>
            <a:ext cx="184731" cy="46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300" b="1">
              <a:solidFill>
                <a:srgbClr val="003300"/>
              </a:solidFill>
              <a:latin typeface="宋体" panose="02010600030101010101" pitchFamily="2" charset="-122"/>
            </a:endParaRPr>
          </a:p>
        </p:txBody>
      </p:sp>
      <p:graphicFrame>
        <p:nvGraphicFramePr>
          <p:cNvPr id="3" name="Object 3"/>
          <p:cNvGraphicFramePr>
            <a:graphicFrameLocks noChangeAspect="1"/>
          </p:cNvGraphicFramePr>
          <p:nvPr/>
        </p:nvGraphicFramePr>
        <p:xfrm>
          <a:off x="4759360" y="4502038"/>
          <a:ext cx="2665413" cy="1087437"/>
        </p:xfrm>
        <a:graphic>
          <a:graphicData uri="http://schemas.openxmlformats.org/presentationml/2006/ole">
            <mc:AlternateContent xmlns:mc="http://schemas.openxmlformats.org/markup-compatibility/2006">
              <mc:Choice xmlns:v="urn:schemas-microsoft-com:vml" Requires="v">
                <p:oleObj spid="_x0000_s109190" name="Equation" r:id="rId3" imgW="1091565" imgH="482600" progId="Equation.DSMT4">
                  <p:embed/>
                </p:oleObj>
              </mc:Choice>
              <mc:Fallback>
                <p:oleObj name="Equation" r:id="rId3" imgW="1091565" imgH="482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9360" y="4502038"/>
                        <a:ext cx="2665413" cy="10874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7" name="Rectangle 15"/>
          <p:cNvSpPr>
            <a:spLocks noChangeArrowheads="1"/>
          </p:cNvSpPr>
          <p:nvPr/>
        </p:nvSpPr>
        <p:spPr bwMode="auto">
          <a:xfrm>
            <a:off x="2180809" y="4549835"/>
            <a:ext cx="2532380"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r>
              <a:rPr kumimoji="1" lang="zh-CN" altLang="en-US" sz="2300" dirty="0">
                <a:solidFill>
                  <a:schemeClr val="tx1"/>
                </a:solidFill>
                <a:latin typeface="楷体" panose="02010609060101010101" pitchFamily="49" charset="-122"/>
                <a:ea typeface="楷体" panose="02010609060101010101" pitchFamily="49" charset="-122"/>
              </a:rPr>
              <a:t>状态转移方程为</a:t>
            </a:r>
            <a:r>
              <a:rPr kumimoji="1" lang="zh-CN" altLang="en-US" sz="2400" dirty="0">
                <a:solidFill>
                  <a:srgbClr val="003300"/>
                </a:solidFill>
                <a:latin typeface="宋体" panose="02010600030101010101" pitchFamily="2" charset="-122"/>
              </a:rPr>
              <a:t>：</a:t>
            </a:r>
            <a:endParaRPr kumimoji="1" lang="zh-CN" altLang="en-US" sz="2400" dirty="0">
              <a:solidFill>
                <a:srgbClr val="003300"/>
              </a:solidFill>
              <a:latin typeface="宋体" panose="02010600030101010101" pitchFamily="2" charset="-122"/>
            </a:endParaRPr>
          </a:p>
        </p:txBody>
      </p:sp>
      <p:grpSp>
        <p:nvGrpSpPr>
          <p:cNvPr id="108553" name="Group 20"/>
          <p:cNvGrpSpPr/>
          <p:nvPr/>
        </p:nvGrpSpPr>
        <p:grpSpPr bwMode="auto">
          <a:xfrm>
            <a:off x="1237508" y="2660469"/>
            <a:ext cx="9324975" cy="1879601"/>
            <a:chOff x="113" y="2082"/>
            <a:chExt cx="5874" cy="1184"/>
          </a:xfrm>
        </p:grpSpPr>
        <p:sp>
          <p:nvSpPr>
            <p:cNvPr id="108555" name="Rectangle 10"/>
            <p:cNvSpPr>
              <a:spLocks noChangeArrowheads="1"/>
            </p:cNvSpPr>
            <p:nvPr/>
          </p:nvSpPr>
          <p:spPr bwMode="auto">
            <a:xfrm>
              <a:off x="113" y="2082"/>
              <a:ext cx="5874" cy="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解：按照变量的个数划分阶段，即</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K=1,2</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3</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4</a:t>
              </a:r>
              <a:endPar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lnSpc>
                  <a:spcPct val="125000"/>
                </a:lnSpc>
              </a:pP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      为分配给第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1</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个约束条件中第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个变量到第三个变量的值；</a:t>
              </a:r>
              <a:endPar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lnSpc>
                  <a:spcPct val="125000"/>
                </a:lnSpc>
              </a:pPr>
              <a:r>
                <a:rPr kumimoji="1" lang="zh-CN" altLang="en-US" sz="2400" dirty="0">
                  <a:solidFill>
                    <a:schemeClr val="tx1"/>
                  </a:solidFill>
                  <a:latin typeface="楷体" panose="02010609060101010101" pitchFamily="49" charset="-122"/>
                  <a:ea typeface="楷体" panose="02010609060101010101" pitchFamily="49" charset="-122"/>
                  <a:cs typeface="楷体" panose="02010609060101010101" pitchFamily="49" charset="-122"/>
                </a:rPr>
                <a:t>      </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为分配给第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2</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个约束条件中第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个变量到第三个变量的值；</a:t>
              </a:r>
              <a:endPar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lnSpc>
                  <a:spcPct val="125000"/>
                </a:lnSpc>
              </a:pP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      为分配给第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个变量的值；</a:t>
              </a:r>
              <a:r>
                <a:rPr kumimoji="1" lang="zh-CN" altLang="en-US" sz="2300" b="1" dirty="0">
                  <a:solidFill>
                    <a:srgbClr val="003300"/>
                  </a:solidFill>
                  <a:latin typeface="宋体" panose="02010600030101010101" pitchFamily="2" charset="-122"/>
                </a:rPr>
                <a:t>   </a:t>
              </a:r>
              <a:r>
                <a:rPr kumimoji="1" lang="en-US" altLang="zh-CN" sz="2300" b="1" dirty="0">
                  <a:solidFill>
                    <a:srgbClr val="003300"/>
                  </a:solidFill>
                  <a:latin typeface="宋体" panose="02010600030101010101" pitchFamily="2" charset="-122"/>
                </a:rPr>
                <a:t>    </a:t>
              </a:r>
              <a:endParaRPr kumimoji="1" lang="zh-CN" altLang="en-US" sz="2300" b="1" dirty="0">
                <a:solidFill>
                  <a:srgbClr val="003300"/>
                </a:solidFill>
                <a:latin typeface="宋体" panose="02010600030101010101" pitchFamily="2" charset="-122"/>
              </a:endParaRPr>
            </a:p>
          </p:txBody>
        </p:sp>
        <p:graphicFrame>
          <p:nvGraphicFramePr>
            <p:cNvPr id="108557" name="Object 10"/>
            <p:cNvGraphicFramePr>
              <a:graphicFrameLocks noChangeAspect="1"/>
            </p:cNvGraphicFramePr>
            <p:nvPr/>
          </p:nvGraphicFramePr>
          <p:xfrm>
            <a:off x="424" y="2943"/>
            <a:ext cx="261" cy="317"/>
          </p:xfrm>
          <a:graphic>
            <a:graphicData uri="http://schemas.openxmlformats.org/presentationml/2006/ole">
              <mc:AlternateContent xmlns:mc="http://schemas.openxmlformats.org/markup-compatibility/2006">
                <mc:Choice xmlns:v="urn:schemas-microsoft-com:vml" Requires="v">
                  <p:oleObj spid="_x0000_s109191" name="Equation" r:id="rId5" imgW="165100" imgH="228600" progId="Equation.DSMT4">
                    <p:embed/>
                  </p:oleObj>
                </mc:Choice>
                <mc:Fallback>
                  <p:oleObj name="Equation" r:id="rId5" imgW="16510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 y="2943"/>
                          <a:ext cx="261"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58" name="Object 7"/>
            <p:cNvGraphicFramePr>
              <a:graphicFrameLocks noChangeAspect="1"/>
            </p:cNvGraphicFramePr>
            <p:nvPr/>
          </p:nvGraphicFramePr>
          <p:xfrm>
            <a:off x="364" y="2657"/>
            <a:ext cx="321" cy="317"/>
          </p:xfrm>
          <a:graphic>
            <a:graphicData uri="http://schemas.openxmlformats.org/presentationml/2006/ole">
              <mc:AlternateContent xmlns:mc="http://schemas.openxmlformats.org/markup-compatibility/2006">
                <mc:Choice xmlns:v="urn:schemas-microsoft-com:vml" Requires="v">
                  <p:oleObj spid="_x0000_s109192" name="Equation" r:id="rId7" imgW="203200" imgH="228600" progId="Equation.DSMT4">
                    <p:embed/>
                  </p:oleObj>
                </mc:Choice>
                <mc:Fallback>
                  <p:oleObj name="Equation" r:id="rId7" imgW="2032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 y="2657"/>
                          <a:ext cx="321"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56" name="Object 9"/>
            <p:cNvGraphicFramePr>
              <a:graphicFrameLocks noChangeAspect="1"/>
            </p:cNvGraphicFramePr>
            <p:nvPr/>
          </p:nvGraphicFramePr>
          <p:xfrm>
            <a:off x="364" y="2399"/>
            <a:ext cx="301" cy="317"/>
          </p:xfrm>
          <a:graphic>
            <a:graphicData uri="http://schemas.openxmlformats.org/presentationml/2006/ole">
              <mc:AlternateContent xmlns:mc="http://schemas.openxmlformats.org/markup-compatibility/2006">
                <mc:Choice xmlns:v="urn:schemas-microsoft-com:vml" Requires="v">
                  <p:oleObj spid="_x0000_s109193" name="Equation" r:id="rId9" imgW="190500" imgH="228600" progId="Equation.DSMT4">
                    <p:embed/>
                  </p:oleObj>
                </mc:Choice>
                <mc:Fallback>
                  <p:oleObj name="Equation" r:id="rId9" imgW="190500" imgH="2286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 y="2399"/>
                          <a:ext cx="301"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31812" name="Object 4"/>
          <p:cNvGraphicFramePr>
            <a:graphicFrameLocks noChangeAspect="1"/>
          </p:cNvGraphicFramePr>
          <p:nvPr/>
        </p:nvGraphicFramePr>
        <p:xfrm>
          <a:off x="2700706" y="5634096"/>
          <a:ext cx="5759450" cy="590550"/>
        </p:xfrm>
        <a:graphic>
          <a:graphicData uri="http://schemas.openxmlformats.org/presentationml/2006/ole">
            <mc:AlternateContent xmlns:mc="http://schemas.openxmlformats.org/markup-compatibility/2006">
              <mc:Choice xmlns:v="urn:schemas-microsoft-com:vml" Requires="v">
                <p:oleObj spid="_x0000_s109194" name="Equation" r:id="rId11" imgW="2578100" imgH="292100" progId="Equation.DSMT4">
                  <p:embed/>
                </p:oleObj>
              </mc:Choice>
              <mc:Fallback>
                <p:oleObj name="Equation" r:id="rId11" imgW="2578100" imgH="29210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0706" y="5634096"/>
                        <a:ext cx="5759450" cy="5905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0788"/>
                                        </p:tgtEl>
                                        <p:attrNameLst>
                                          <p:attrName>style.visibility</p:attrName>
                                        </p:attrNameLst>
                                      </p:cBhvr>
                                      <p:to>
                                        <p:strVal val="visible"/>
                                      </p:to>
                                    </p:set>
                                    <p:animEffect transition="in" filter="wipe(left)">
                                      <p:cBhvr>
                                        <p:cTn id="7" dur="2000"/>
                                        <p:tgtEl>
                                          <p:spTgt spid="6307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30790"/>
                                        </p:tgtEl>
                                        <p:attrNameLst>
                                          <p:attrName>style.visibility</p:attrName>
                                        </p:attrNameLst>
                                      </p:cBhvr>
                                      <p:to>
                                        <p:strVal val="visible"/>
                                      </p:to>
                                    </p:set>
                                    <p:animEffect transition="in" filter="wipe(left)">
                                      <p:cBhvr>
                                        <p:cTn id="12" dur="2000"/>
                                        <p:tgtEl>
                                          <p:spTgt spid="63079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407"/>
                                        </p:tgtEl>
                                        <p:attrNameLst>
                                          <p:attrName>style.visibility</p:attrName>
                                        </p:attrNameLst>
                                      </p:cBhvr>
                                      <p:to>
                                        <p:strVal val="visible"/>
                                      </p:to>
                                    </p:set>
                                    <p:animEffect transition="in" filter="blinds(horizontal)">
                                      <p:cBhvr>
                                        <p:cTn id="17" dur="500"/>
                                        <p:tgtEl>
                                          <p:spTgt spid="594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2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1812"/>
                                        </p:tgtEl>
                                        <p:attrNameLst>
                                          <p:attrName>style.visibility</p:attrName>
                                        </p:attrNameLst>
                                      </p:cBhvr>
                                      <p:to>
                                        <p:strVal val="visible"/>
                                      </p:to>
                                    </p:set>
                                    <p:animEffect transition="in" filter="wipe(left)">
                                      <p:cBhvr>
                                        <p:cTn id="27" dur="2000"/>
                                        <p:tgtEl>
                                          <p:spTgt spid="631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8" grpId="0"/>
      <p:bldP spid="5940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1811" name="Object 3"/>
          <p:cNvGraphicFramePr>
            <a:graphicFrameLocks noChangeAspect="1"/>
          </p:cNvGraphicFramePr>
          <p:nvPr>
            <p:custDataLst>
              <p:tags r:id="rId1"/>
            </p:custDataLst>
          </p:nvPr>
        </p:nvGraphicFramePr>
        <p:xfrm>
          <a:off x="2999655" y="2999830"/>
          <a:ext cx="3384550" cy="866775"/>
        </p:xfrm>
        <a:graphic>
          <a:graphicData uri="http://schemas.openxmlformats.org/presentationml/2006/ole">
            <mc:AlternateContent xmlns:mc="http://schemas.openxmlformats.org/markup-compatibility/2006">
              <mc:Choice xmlns:v="urn:schemas-microsoft-com:vml" Requires="v">
                <p:oleObj spid="_x0000_s110302" name="Equation" r:id="rId2" imgW="1676400" imgH="431800" progId="Equation.DSMT4">
                  <p:embed/>
                </p:oleObj>
              </mc:Choice>
              <mc:Fallback>
                <p:oleObj name="Equation" r:id="rId2" imgW="1676400" imgH="4318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5" y="2999830"/>
                        <a:ext cx="3384550" cy="8667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1812" name="Object 4"/>
          <p:cNvGraphicFramePr>
            <a:graphicFrameLocks noChangeAspect="1"/>
          </p:cNvGraphicFramePr>
          <p:nvPr>
            <p:custDataLst>
              <p:tags r:id="rId4"/>
            </p:custDataLst>
          </p:nvPr>
        </p:nvGraphicFramePr>
        <p:xfrm>
          <a:off x="2134469" y="3863925"/>
          <a:ext cx="6021387" cy="615950"/>
        </p:xfrm>
        <a:graphic>
          <a:graphicData uri="http://schemas.openxmlformats.org/presentationml/2006/ole">
            <mc:AlternateContent xmlns:mc="http://schemas.openxmlformats.org/markup-compatibility/2006">
              <mc:Choice xmlns:v="urn:schemas-microsoft-com:vml" Requires="v">
                <p:oleObj spid="_x0000_s110303" name="Equation" r:id="rId5" imgW="2984500" imgH="304800" progId="Equation.DSMT4">
                  <p:embed/>
                </p:oleObj>
              </mc:Choice>
              <mc:Fallback>
                <p:oleObj name="Equation" r:id="rId5" imgW="2984500" imgH="304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4469" y="3863925"/>
                        <a:ext cx="6021387" cy="615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1813" name="Rectangle 5"/>
          <p:cNvSpPr>
            <a:spLocks noChangeArrowheads="1"/>
          </p:cNvSpPr>
          <p:nvPr>
            <p:custDataLst>
              <p:tags r:id="rId7"/>
            </p:custDataLst>
          </p:nvPr>
        </p:nvSpPr>
        <p:spPr bwMode="auto">
          <a:xfrm>
            <a:off x="1774106" y="4411018"/>
            <a:ext cx="42456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solidFill>
                  <a:srgbClr val="FF0000"/>
                </a:solidFill>
                <a:latin typeface="楷体" panose="02010609060101010101" pitchFamily="49" charset="-122"/>
                <a:ea typeface="楷体" panose="02010609060101010101" pitchFamily="49" charset="-122"/>
                <a:cs typeface="楷体" panose="02010609060101010101" pitchFamily="49" charset="-122"/>
              </a:rPr>
              <a:t>k=2</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时</a:t>
            </a:r>
            <a:r>
              <a:rPr kumimoji="1" lang="en-US" altLang="zh-CN" sz="240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决策变量</a:t>
            </a:r>
            <a:r>
              <a:rPr kumimoji="1" lang="en-US" altLang="zh-CN" sz="2400" i="1">
                <a:solidFill>
                  <a:schemeClr val="tx1"/>
                </a:solidFill>
                <a:latin typeface="楷体" panose="02010609060101010101" pitchFamily="49" charset="-122"/>
                <a:ea typeface="楷体" panose="02010609060101010101" pitchFamily="49" charset="-122"/>
                <a:cs typeface="楷体" panose="02010609060101010101" pitchFamily="49" charset="-122"/>
              </a:rPr>
              <a:t>x</a:t>
            </a:r>
            <a:r>
              <a:rPr kumimoji="1" lang="en-US" altLang="zh-CN" sz="2400" baseline="-25000">
                <a:solidFill>
                  <a:schemeClr val="tx1"/>
                </a:solidFill>
                <a:latin typeface="楷体" panose="02010609060101010101" pitchFamily="49" charset="-122"/>
                <a:ea typeface="楷体" panose="02010609060101010101" pitchFamily="49" charset="-122"/>
                <a:cs typeface="楷体" panose="02010609060101010101" pitchFamily="49" charset="-122"/>
              </a:rPr>
              <a:t>2</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的允许集合</a:t>
            </a:r>
            <a:r>
              <a:rPr kumimoji="1" lang="zh-CN" altLang="en-US" sz="2400" b="1">
                <a:solidFill>
                  <a:srgbClr val="003300"/>
                </a:solidFill>
                <a:latin typeface="宋体" panose="02010600030101010101" pitchFamily="2" charset="-122"/>
              </a:rPr>
              <a:t> </a:t>
            </a:r>
            <a:endParaRPr kumimoji="1" lang="zh-CN" altLang="en-US" sz="2400" b="1">
              <a:solidFill>
                <a:srgbClr val="003300"/>
              </a:solidFill>
              <a:latin typeface="宋体" panose="02010600030101010101" pitchFamily="2" charset="-122"/>
            </a:endParaRPr>
          </a:p>
        </p:txBody>
      </p:sp>
      <p:graphicFrame>
        <p:nvGraphicFramePr>
          <p:cNvPr id="631814" name="Object 6"/>
          <p:cNvGraphicFramePr>
            <a:graphicFrameLocks noChangeAspect="1"/>
          </p:cNvGraphicFramePr>
          <p:nvPr>
            <p:custDataLst>
              <p:tags r:id="rId8"/>
            </p:custDataLst>
          </p:nvPr>
        </p:nvGraphicFramePr>
        <p:xfrm>
          <a:off x="2999655" y="4872038"/>
          <a:ext cx="6840538" cy="1033463"/>
        </p:xfrm>
        <a:graphic>
          <a:graphicData uri="http://schemas.openxmlformats.org/presentationml/2006/ole">
            <mc:AlternateContent xmlns:mc="http://schemas.openxmlformats.org/markup-compatibility/2006">
              <mc:Choice xmlns:v="urn:schemas-microsoft-com:vml" Requires="v">
                <p:oleObj spid="_x0000_s110304" name="Equation" r:id="rId9" imgW="3340100" imgH="508000" progId="Equation.DSMT4">
                  <p:embed/>
                </p:oleObj>
              </mc:Choice>
              <mc:Fallback>
                <p:oleObj name="Equation" r:id="rId9" imgW="3340100" imgH="5080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9655" y="4872038"/>
                        <a:ext cx="6840538" cy="10334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1815" name="Object 7"/>
          <p:cNvGraphicFramePr>
            <a:graphicFrameLocks noChangeAspect="1"/>
          </p:cNvGraphicFramePr>
          <p:nvPr/>
        </p:nvGraphicFramePr>
        <p:xfrm>
          <a:off x="2999655" y="5880149"/>
          <a:ext cx="4248150" cy="819150"/>
        </p:xfrm>
        <a:graphic>
          <a:graphicData uri="http://schemas.openxmlformats.org/presentationml/2006/ole">
            <mc:AlternateContent xmlns:mc="http://schemas.openxmlformats.org/markup-compatibility/2006">
              <mc:Choice xmlns:v="urn:schemas-microsoft-com:vml" Requires="v">
                <p:oleObj spid="_x0000_s110305" name="Equation" r:id="rId11" imgW="2374900" imgH="457200" progId="Equation.DSMT4">
                  <p:embed/>
                </p:oleObj>
              </mc:Choice>
              <mc:Fallback>
                <p:oleObj name="Equation" r:id="rId11" imgW="2374900" imgH="457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99655" y="5880149"/>
                        <a:ext cx="4248150" cy="819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1816" name="Rectangle 8"/>
          <p:cNvSpPr>
            <a:spLocks noChangeArrowheads="1"/>
          </p:cNvSpPr>
          <p:nvPr>
            <p:custDataLst>
              <p:tags r:id="rId13"/>
            </p:custDataLst>
          </p:nvPr>
        </p:nvSpPr>
        <p:spPr bwMode="auto">
          <a:xfrm>
            <a:off x="1726164" y="1458690"/>
            <a:ext cx="42456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a:solidFill>
                  <a:srgbClr val="FF0000"/>
                </a:solidFill>
                <a:latin typeface="楷体" panose="02010609060101010101" pitchFamily="49" charset="-122"/>
                <a:ea typeface="楷体" panose="02010609060101010101" pitchFamily="49" charset="-122"/>
                <a:cs typeface="楷体" panose="02010609060101010101" pitchFamily="49" charset="-122"/>
              </a:rPr>
              <a:t>k=3</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时</a:t>
            </a:r>
            <a:r>
              <a:rPr kumimoji="1" lang="en-US" altLang="zh-CN" sz="240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决策变量</a:t>
            </a:r>
            <a:r>
              <a:rPr kumimoji="1" lang="en-US" altLang="zh-CN" sz="2400" i="1">
                <a:solidFill>
                  <a:schemeClr val="tx1"/>
                </a:solidFill>
                <a:latin typeface="楷体" panose="02010609060101010101" pitchFamily="49" charset="-122"/>
                <a:ea typeface="楷体" panose="02010609060101010101" pitchFamily="49" charset="-122"/>
                <a:cs typeface="楷体" panose="02010609060101010101" pitchFamily="49" charset="-122"/>
              </a:rPr>
              <a:t>x</a:t>
            </a:r>
            <a:r>
              <a:rPr kumimoji="1" lang="en-US" altLang="zh-CN" sz="2400" baseline="-25000">
                <a:solidFill>
                  <a:schemeClr val="tx1"/>
                </a:solidFill>
                <a:latin typeface="楷体" panose="02010609060101010101" pitchFamily="49" charset="-122"/>
                <a:ea typeface="楷体" panose="02010609060101010101" pitchFamily="49" charset="-122"/>
                <a:cs typeface="楷体" panose="02010609060101010101" pitchFamily="49" charset="-122"/>
              </a:rPr>
              <a:t>3</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的允许集合</a:t>
            </a:r>
            <a:r>
              <a:rPr kumimoji="1" lang="zh-CN" altLang="en-US" sz="2400" b="1">
                <a:solidFill>
                  <a:srgbClr val="003300"/>
                </a:solidFill>
                <a:latin typeface="宋体" panose="02010600030101010101" pitchFamily="2" charset="-122"/>
              </a:rPr>
              <a:t> </a:t>
            </a:r>
            <a:endParaRPr kumimoji="1" lang="zh-CN" altLang="en-US" sz="2400" b="1">
              <a:solidFill>
                <a:srgbClr val="003300"/>
              </a:solidFill>
              <a:latin typeface="宋体" panose="02010600030101010101" pitchFamily="2" charset="-122"/>
            </a:endParaRPr>
          </a:p>
        </p:txBody>
      </p:sp>
      <p:graphicFrame>
        <p:nvGraphicFramePr>
          <p:cNvPr id="631817" name="Object 9"/>
          <p:cNvGraphicFramePr>
            <a:graphicFrameLocks noChangeAspect="1"/>
          </p:cNvGraphicFramePr>
          <p:nvPr>
            <p:custDataLst>
              <p:tags r:id="rId14"/>
            </p:custDataLst>
          </p:nvPr>
        </p:nvGraphicFramePr>
        <p:xfrm>
          <a:off x="2999656" y="2010817"/>
          <a:ext cx="6480175" cy="989012"/>
        </p:xfrm>
        <a:graphic>
          <a:graphicData uri="http://schemas.openxmlformats.org/presentationml/2006/ole">
            <mc:AlternateContent xmlns:mc="http://schemas.openxmlformats.org/markup-compatibility/2006">
              <mc:Choice xmlns:v="urn:schemas-microsoft-com:vml" Requires="v">
                <p:oleObj spid="_x0000_s110306" name="Equation" r:id="rId15" imgW="3302000" imgH="508000" progId="Equation.DSMT4">
                  <p:embed/>
                </p:oleObj>
              </mc:Choice>
              <mc:Fallback>
                <p:oleObj name="Equation" r:id="rId15" imgW="3302000" imgH="5080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99656" y="2010817"/>
                        <a:ext cx="6480175" cy="9890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1"/>
          <p:cNvGrpSpPr/>
          <p:nvPr/>
        </p:nvGrpSpPr>
        <p:grpSpPr bwMode="auto">
          <a:xfrm>
            <a:off x="1847131" y="888033"/>
            <a:ext cx="3313113" cy="455612"/>
            <a:chOff x="158" y="3249"/>
            <a:chExt cx="2087" cy="287"/>
          </a:xfrm>
        </p:grpSpPr>
        <p:sp>
          <p:nvSpPr>
            <p:cNvPr id="109579" name="Rectangle 12"/>
            <p:cNvSpPr>
              <a:spLocks noChangeArrowheads="1"/>
            </p:cNvSpPr>
            <p:nvPr/>
          </p:nvSpPr>
          <p:spPr bwMode="auto">
            <a:xfrm>
              <a:off x="158" y="3254"/>
              <a:ext cx="944"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300">
                  <a:solidFill>
                    <a:schemeClr val="tx1"/>
                  </a:solidFill>
                  <a:latin typeface="楷体" panose="02010609060101010101" pitchFamily="49" charset="-122"/>
                  <a:ea typeface="楷体" panose="02010609060101010101" pitchFamily="49" charset="-122"/>
                </a:rPr>
                <a:t>终端条件</a:t>
              </a:r>
              <a:r>
                <a:rPr kumimoji="1" lang="zh-CN" altLang="en-US" sz="2300" b="1">
                  <a:solidFill>
                    <a:srgbClr val="003300"/>
                  </a:solidFill>
                  <a:latin typeface="宋体" panose="02010600030101010101" pitchFamily="2" charset="-122"/>
                </a:rPr>
                <a:t> </a:t>
              </a:r>
              <a:endParaRPr kumimoji="1" lang="zh-CN" altLang="en-US" sz="2300" b="1">
                <a:solidFill>
                  <a:srgbClr val="003300"/>
                </a:solidFill>
                <a:latin typeface="宋体" panose="02010600030101010101" pitchFamily="2" charset="-122"/>
              </a:endParaRPr>
            </a:p>
          </p:txBody>
        </p:sp>
        <p:graphicFrame>
          <p:nvGraphicFramePr>
            <p:cNvPr id="109580" name="Object 13"/>
            <p:cNvGraphicFramePr>
              <a:graphicFrameLocks noChangeAspect="1"/>
            </p:cNvGraphicFramePr>
            <p:nvPr/>
          </p:nvGraphicFramePr>
          <p:xfrm>
            <a:off x="1111" y="3249"/>
            <a:ext cx="1134" cy="287"/>
          </p:xfrm>
          <a:graphic>
            <a:graphicData uri="http://schemas.openxmlformats.org/presentationml/2006/ole">
              <mc:AlternateContent xmlns:mc="http://schemas.openxmlformats.org/markup-compatibility/2006">
                <mc:Choice xmlns:v="urn:schemas-microsoft-com:vml" Requires="v">
                  <p:oleObj spid="_x0000_s110307" name="Equation" r:id="rId17" imgW="901065" imgH="228600" progId="Equation.DSMT4">
                    <p:embed/>
                  </p:oleObj>
                </mc:Choice>
                <mc:Fallback>
                  <p:oleObj name="Equation" r:id="rId17" imgW="901065" imgH="228600" progId="Equation.DSMT4">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11" y="3249"/>
                          <a:ext cx="1134" cy="2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 name="Object 7"/>
          <p:cNvGraphicFramePr>
            <a:graphicFrameLocks noChangeAspect="1"/>
          </p:cNvGraphicFramePr>
          <p:nvPr>
            <p:custDataLst>
              <p:tags r:id="rId19"/>
            </p:custDataLst>
          </p:nvPr>
        </p:nvGraphicFramePr>
        <p:xfrm>
          <a:off x="8543206" y="3777620"/>
          <a:ext cx="1306513" cy="488950"/>
        </p:xfrm>
        <a:graphic>
          <a:graphicData uri="http://schemas.openxmlformats.org/presentationml/2006/ole">
            <mc:AlternateContent xmlns:mc="http://schemas.openxmlformats.org/markup-compatibility/2006">
              <mc:Choice xmlns:v="urn:schemas-microsoft-com:vml" Requires="v">
                <p:oleObj spid="_x0000_s110308" name="Equation" r:id="rId20" imgW="647700" imgH="241300" progId="Equation.DSMT4">
                  <p:embed/>
                </p:oleObj>
              </mc:Choice>
              <mc:Fallback>
                <p:oleObj name="Equation" r:id="rId20" imgW="647700" imgH="241300" progId="Equation.DSMT4">
                  <p:embed/>
                  <p:pic>
                    <p:nvPicPr>
                      <p:cNvPr id="0" name="Object 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543206" y="3777620"/>
                        <a:ext cx="1306513" cy="488950"/>
                      </a:xfrm>
                      <a:prstGeom prst="rect">
                        <a:avLst/>
                      </a:prstGeom>
                      <a:solidFill>
                        <a:srgbClr val="FFFF00"/>
                      </a:solidFill>
                      <a:ln>
                        <a:noFill/>
                      </a:ln>
                    </p:spPr>
                  </p:pic>
                </p:oleObj>
              </mc:Fallback>
            </mc:AlternateContent>
          </a:graphicData>
        </a:graphic>
      </p:graphicFrame>
      <p:sp>
        <p:nvSpPr>
          <p:cNvPr id="4"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1816"/>
                                        </p:tgtEl>
                                        <p:attrNameLst>
                                          <p:attrName>style.visibility</p:attrName>
                                        </p:attrNameLst>
                                      </p:cBhvr>
                                      <p:to>
                                        <p:strVal val="visible"/>
                                      </p:to>
                                    </p:set>
                                    <p:animEffect transition="in" filter="wipe(left)">
                                      <p:cBhvr>
                                        <p:cTn id="7" dur="2000"/>
                                        <p:tgtEl>
                                          <p:spTgt spid="631816"/>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631817"/>
                                        </p:tgtEl>
                                        <p:attrNameLst>
                                          <p:attrName>style.visibility</p:attrName>
                                        </p:attrNameLst>
                                      </p:cBhvr>
                                      <p:to>
                                        <p:strVal val="visible"/>
                                      </p:to>
                                    </p:set>
                                    <p:animEffect transition="in" filter="wipe(left)">
                                      <p:cBhvr>
                                        <p:cTn id="11" dur="2000"/>
                                        <p:tgtEl>
                                          <p:spTgt spid="631817"/>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631811"/>
                                        </p:tgtEl>
                                        <p:attrNameLst>
                                          <p:attrName>style.visibility</p:attrName>
                                        </p:attrNameLst>
                                      </p:cBhvr>
                                      <p:to>
                                        <p:strVal val="visible"/>
                                      </p:to>
                                    </p:set>
                                    <p:animEffect transition="in" filter="wipe(left)">
                                      <p:cBhvr>
                                        <p:cTn id="15" dur="2000"/>
                                        <p:tgtEl>
                                          <p:spTgt spid="6318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31812"/>
                                        </p:tgtEl>
                                        <p:attrNameLst>
                                          <p:attrName>style.visibility</p:attrName>
                                        </p:attrNameLst>
                                      </p:cBhvr>
                                      <p:to>
                                        <p:strVal val="visible"/>
                                      </p:to>
                                    </p:set>
                                    <p:animEffect transition="in" filter="wipe(left)">
                                      <p:cBhvr>
                                        <p:cTn id="20" dur="2000"/>
                                        <p:tgtEl>
                                          <p:spTgt spid="6318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31813"/>
                                        </p:tgtEl>
                                        <p:attrNameLst>
                                          <p:attrName>style.visibility</p:attrName>
                                        </p:attrNameLst>
                                      </p:cBhvr>
                                      <p:to>
                                        <p:strVal val="visible"/>
                                      </p:to>
                                    </p:set>
                                    <p:animEffect transition="in" filter="wipe(left)">
                                      <p:cBhvr>
                                        <p:cTn id="25" dur="2000"/>
                                        <p:tgtEl>
                                          <p:spTgt spid="631813"/>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631814"/>
                                        </p:tgtEl>
                                        <p:attrNameLst>
                                          <p:attrName>style.visibility</p:attrName>
                                        </p:attrNameLst>
                                      </p:cBhvr>
                                      <p:to>
                                        <p:strVal val="visible"/>
                                      </p:to>
                                    </p:set>
                                    <p:animEffect transition="in" filter="wipe(left)">
                                      <p:cBhvr>
                                        <p:cTn id="29" dur="2000"/>
                                        <p:tgtEl>
                                          <p:spTgt spid="631814"/>
                                        </p:tgtEl>
                                      </p:cBhvr>
                                    </p:animEffect>
                                  </p:childTnLst>
                                </p:cTn>
                              </p:par>
                            </p:childTnLst>
                          </p:cTn>
                        </p:par>
                        <p:par>
                          <p:cTn id="30" fill="hold">
                            <p:stCondLst>
                              <p:cond delay="4000"/>
                            </p:stCondLst>
                            <p:childTnLst>
                              <p:par>
                                <p:cTn id="31" presetID="22" presetClass="entr" presetSubtype="8" fill="hold" nodeType="afterEffect">
                                  <p:stCondLst>
                                    <p:cond delay="0"/>
                                  </p:stCondLst>
                                  <p:childTnLst>
                                    <p:set>
                                      <p:cBhvr>
                                        <p:cTn id="32" dur="1" fill="hold">
                                          <p:stCondLst>
                                            <p:cond delay="0"/>
                                          </p:stCondLst>
                                        </p:cTn>
                                        <p:tgtEl>
                                          <p:spTgt spid="631815"/>
                                        </p:tgtEl>
                                        <p:attrNameLst>
                                          <p:attrName>style.visibility</p:attrName>
                                        </p:attrNameLst>
                                      </p:cBhvr>
                                      <p:to>
                                        <p:strVal val="visible"/>
                                      </p:to>
                                    </p:set>
                                    <p:animEffect transition="in" filter="wipe(left)">
                                      <p:cBhvr>
                                        <p:cTn id="33" dur="2000"/>
                                        <p:tgtEl>
                                          <p:spTgt spid="6318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20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left)">
                                      <p:cBhvr>
                                        <p:cTn id="4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13" grpId="0"/>
      <p:bldP spid="63181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5" name="Rectangle 3"/>
          <p:cNvSpPr>
            <a:spLocks noChangeArrowheads="1"/>
          </p:cNvSpPr>
          <p:nvPr/>
        </p:nvSpPr>
        <p:spPr bwMode="auto">
          <a:xfrm>
            <a:off x="1992313" y="1443038"/>
            <a:ext cx="2470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状态转移方程为</a:t>
            </a:r>
            <a:r>
              <a:rPr kumimoji="1" lang="zh-CN" altLang="en-US" sz="2400" b="1">
                <a:solidFill>
                  <a:srgbClr val="003300"/>
                </a:solidFill>
                <a:latin typeface="宋体" panose="02010600030101010101" pitchFamily="2" charset="-122"/>
              </a:rPr>
              <a:t> </a:t>
            </a:r>
            <a:endParaRPr kumimoji="1" lang="zh-CN" altLang="en-US" sz="2400" b="1">
              <a:solidFill>
                <a:srgbClr val="003300"/>
              </a:solidFill>
              <a:latin typeface="宋体" panose="02010600030101010101" pitchFamily="2" charset="-122"/>
            </a:endParaRPr>
          </a:p>
        </p:txBody>
      </p:sp>
      <p:graphicFrame>
        <p:nvGraphicFramePr>
          <p:cNvPr id="632837" name="Object 5"/>
          <p:cNvGraphicFramePr>
            <a:graphicFrameLocks noChangeAspect="1"/>
          </p:cNvGraphicFramePr>
          <p:nvPr/>
        </p:nvGraphicFramePr>
        <p:xfrm>
          <a:off x="4367214" y="1412230"/>
          <a:ext cx="3953847" cy="524520"/>
        </p:xfrm>
        <a:graphic>
          <a:graphicData uri="http://schemas.openxmlformats.org/presentationml/2006/ole">
            <mc:AlternateContent xmlns:mc="http://schemas.openxmlformats.org/markup-compatibility/2006">
              <mc:Choice xmlns:v="urn:schemas-microsoft-com:vml" Requires="v">
                <p:oleObj spid="_x0000_s110803" name="Equation" r:id="rId1" imgW="1727200" imgH="228600" progId="Equation.DSMT4">
                  <p:embed/>
                </p:oleObj>
              </mc:Choice>
              <mc:Fallback>
                <p:oleObj name="Equation" r:id="rId1" imgW="1727200" imgH="2286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214" y="1412230"/>
                        <a:ext cx="3953847" cy="524520"/>
                      </a:xfrm>
                      <a:prstGeom prst="rect">
                        <a:avLst/>
                      </a:prstGeom>
                      <a:noFill/>
                      <a:ln>
                        <a:noFill/>
                      </a:ln>
                    </p:spPr>
                  </p:pic>
                </p:oleObj>
              </mc:Fallback>
            </mc:AlternateContent>
          </a:graphicData>
        </a:graphic>
      </p:graphicFrame>
      <p:graphicFrame>
        <p:nvGraphicFramePr>
          <p:cNvPr id="632839" name="Object 7"/>
          <p:cNvGraphicFramePr>
            <a:graphicFrameLocks noChangeAspect="1"/>
          </p:cNvGraphicFramePr>
          <p:nvPr/>
        </p:nvGraphicFramePr>
        <p:xfrm>
          <a:off x="1847850" y="2236789"/>
          <a:ext cx="8713788" cy="3121025"/>
        </p:xfrm>
        <a:graphic>
          <a:graphicData uri="http://schemas.openxmlformats.org/presentationml/2006/ole">
            <mc:AlternateContent xmlns:mc="http://schemas.openxmlformats.org/markup-compatibility/2006">
              <mc:Choice xmlns:v="urn:schemas-microsoft-com:vml" Requires="v">
                <p:oleObj spid="_x0000_s110804" name="Equation" r:id="rId3" imgW="4330700" imgH="1549400" progId="Equation.DSMT4">
                  <p:embed/>
                </p:oleObj>
              </mc:Choice>
              <mc:Fallback>
                <p:oleObj name="Equation" r:id="rId3" imgW="4330700" imgH="15494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0" y="2236789"/>
                        <a:ext cx="8713788" cy="3121025"/>
                      </a:xfrm>
                      <a:prstGeom prst="rect">
                        <a:avLst/>
                      </a:prstGeom>
                      <a:solidFill>
                        <a:srgbClr val="FFFF00"/>
                      </a:solidFill>
                      <a:ln>
                        <a:solidFill>
                          <a:schemeClr val="bg1"/>
                        </a:solid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15"/>
          <p:cNvSpPr>
            <a:spLocks noChangeArrowheads="1"/>
          </p:cNvSpPr>
          <p:nvPr/>
        </p:nvSpPr>
        <p:spPr bwMode="auto">
          <a:xfrm>
            <a:off x="3285708" y="87314"/>
            <a:ext cx="25154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solidFill>
                  <a:schemeClr val="bg1"/>
                </a:solidFill>
              </a:rPr>
              <a:t>7.5 </a:t>
            </a:r>
            <a:r>
              <a:rPr lang="zh-CN" altLang="en-US" sz="3200" b="1">
                <a:solidFill>
                  <a:schemeClr val="bg1"/>
                </a:solidFill>
              </a:rPr>
              <a:t>其他问题</a:t>
            </a:r>
            <a:endParaRPr lang="zh-CN" altLang="en-US" sz="3200" b="1">
              <a:solidFill>
                <a:schemeClr val="bg1"/>
              </a:solidFill>
            </a:endParaRPr>
          </a:p>
        </p:txBody>
      </p:sp>
      <p:sp>
        <p:nvSpPr>
          <p:cNvPr id="4"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2835"/>
                                        </p:tgtEl>
                                        <p:attrNameLst>
                                          <p:attrName>style.visibility</p:attrName>
                                        </p:attrNameLst>
                                      </p:cBhvr>
                                      <p:to>
                                        <p:strVal val="visible"/>
                                      </p:to>
                                    </p:set>
                                    <p:animEffect transition="in" filter="wipe(left)">
                                      <p:cBhvr>
                                        <p:cTn id="7" dur="2000"/>
                                        <p:tgtEl>
                                          <p:spTgt spid="632835"/>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632837"/>
                                        </p:tgtEl>
                                        <p:attrNameLst>
                                          <p:attrName>style.visibility</p:attrName>
                                        </p:attrNameLst>
                                      </p:cBhvr>
                                      <p:to>
                                        <p:strVal val="visible"/>
                                      </p:to>
                                    </p:set>
                                    <p:animEffect transition="in" filter="wipe(left)">
                                      <p:cBhvr>
                                        <p:cTn id="11" dur="2000"/>
                                        <p:tgtEl>
                                          <p:spTgt spid="63283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32839"/>
                                        </p:tgtEl>
                                        <p:attrNameLst>
                                          <p:attrName>style.visibility</p:attrName>
                                        </p:attrNameLst>
                                      </p:cBhvr>
                                      <p:to>
                                        <p:strVal val="visible"/>
                                      </p:to>
                                    </p:set>
                                    <p:animEffect transition="in" filter="wipe(up)">
                                      <p:cBhvr>
                                        <p:cTn id="16" dur="2000"/>
                                        <p:tgtEl>
                                          <p:spTgt spid="632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9" name="Rectangle 3"/>
          <p:cNvSpPr>
            <a:spLocks noChangeArrowheads="1"/>
          </p:cNvSpPr>
          <p:nvPr/>
        </p:nvSpPr>
        <p:spPr bwMode="auto">
          <a:xfrm>
            <a:off x="1774826" y="876723"/>
            <a:ext cx="4537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rgbClr val="FF0000"/>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400">
                <a:solidFill>
                  <a:srgbClr val="FF0000"/>
                </a:solidFill>
                <a:latin typeface="楷体" panose="02010609060101010101" pitchFamily="49" charset="-122"/>
                <a:ea typeface="楷体" panose="02010609060101010101" pitchFamily="49" charset="-122"/>
                <a:cs typeface="楷体" panose="02010609060101010101" pitchFamily="49" charset="-122"/>
              </a:rPr>
              <a:t>1</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时</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，决策变量</a:t>
            </a:r>
            <a:r>
              <a:rPr kumimoji="1" lang="en-US" altLang="zh-CN" sz="2400" i="1">
                <a:solidFill>
                  <a:schemeClr val="tx1"/>
                </a:solidFill>
                <a:latin typeface="楷体" panose="02010609060101010101" pitchFamily="49" charset="-122"/>
                <a:ea typeface="楷体" panose="02010609060101010101" pitchFamily="49" charset="-122"/>
                <a:cs typeface="楷体" panose="02010609060101010101" pitchFamily="49" charset="-122"/>
              </a:rPr>
              <a:t>x</a:t>
            </a:r>
            <a:r>
              <a:rPr kumimoji="1" lang="en-US" altLang="zh-CN" sz="2400" baseline="-25000">
                <a:solidFill>
                  <a:schemeClr val="tx1"/>
                </a:solidFill>
                <a:latin typeface="楷体" panose="02010609060101010101" pitchFamily="49" charset="-122"/>
                <a:ea typeface="楷体" panose="02010609060101010101" pitchFamily="49" charset="-122"/>
                <a:cs typeface="楷体" panose="02010609060101010101" pitchFamily="49" charset="-122"/>
              </a:rPr>
              <a:t>1</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的允许集合</a:t>
            </a:r>
            <a:endPar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graphicFrame>
        <p:nvGraphicFramePr>
          <p:cNvPr id="633860" name="Object 4"/>
          <p:cNvGraphicFramePr>
            <a:graphicFrameLocks noChangeAspect="1"/>
          </p:cNvGraphicFramePr>
          <p:nvPr/>
        </p:nvGraphicFramePr>
        <p:xfrm>
          <a:off x="2135188" y="1310111"/>
          <a:ext cx="3529012" cy="1462087"/>
        </p:xfrm>
        <a:graphic>
          <a:graphicData uri="http://schemas.openxmlformats.org/presentationml/2006/ole">
            <mc:AlternateContent xmlns:mc="http://schemas.openxmlformats.org/markup-compatibility/2006">
              <mc:Choice xmlns:v="urn:schemas-microsoft-com:vml" Requires="v">
                <p:oleObj spid="_x0000_s112142" name="Equation" r:id="rId1" imgW="2324100" imgH="965200" progId="Equation.DSMT4">
                  <p:embed/>
                </p:oleObj>
              </mc:Choice>
              <mc:Fallback>
                <p:oleObj name="Equation" r:id="rId1" imgW="2324100" imgH="965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1310111"/>
                        <a:ext cx="3529012" cy="14620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3861" name="Rectangle 5"/>
          <p:cNvSpPr>
            <a:spLocks noChangeArrowheads="1"/>
          </p:cNvSpPr>
          <p:nvPr/>
        </p:nvSpPr>
        <p:spPr bwMode="auto">
          <a:xfrm>
            <a:off x="7104064" y="805285"/>
            <a:ext cx="20116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rgbClr val="003300"/>
                </a:solidFill>
                <a:latin typeface="楷体" panose="02010609060101010101" pitchFamily="49" charset="-122"/>
                <a:ea typeface="楷体" panose="02010609060101010101" pitchFamily="49" charset="-122"/>
              </a:rPr>
              <a:t>状态转移方程</a:t>
            </a:r>
            <a:endParaRPr kumimoji="1" lang="zh-CN" altLang="en-US" sz="2400">
              <a:solidFill>
                <a:srgbClr val="003300"/>
              </a:solidFill>
              <a:latin typeface="楷体" panose="02010609060101010101" pitchFamily="49" charset="-122"/>
              <a:ea typeface="楷体" panose="02010609060101010101" pitchFamily="49" charset="-122"/>
            </a:endParaRPr>
          </a:p>
        </p:txBody>
      </p:sp>
      <p:graphicFrame>
        <p:nvGraphicFramePr>
          <p:cNvPr id="633862" name="Object 6"/>
          <p:cNvGraphicFramePr>
            <a:graphicFrameLocks noChangeAspect="1"/>
          </p:cNvGraphicFramePr>
          <p:nvPr/>
        </p:nvGraphicFramePr>
        <p:xfrm>
          <a:off x="7175501" y="1383136"/>
          <a:ext cx="2665413" cy="847725"/>
        </p:xfrm>
        <a:graphic>
          <a:graphicData uri="http://schemas.openxmlformats.org/presentationml/2006/ole">
            <mc:AlternateContent xmlns:mc="http://schemas.openxmlformats.org/markup-compatibility/2006">
              <mc:Choice xmlns:v="urn:schemas-microsoft-com:vml" Requires="v">
                <p:oleObj spid="_x0000_s112143" name="Equation" r:id="rId3" imgW="1435100" imgH="457200" progId="Equation.DSMT4">
                  <p:embed/>
                </p:oleObj>
              </mc:Choice>
              <mc:Fallback>
                <p:oleObj name="Equation" r:id="rId3" imgW="1435100" imgH="4572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5501" y="1383136"/>
                        <a:ext cx="2665413" cy="8477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3863" name="Object 7"/>
          <p:cNvGraphicFramePr>
            <a:graphicFrameLocks noChangeAspect="1"/>
          </p:cNvGraphicFramePr>
          <p:nvPr/>
        </p:nvGraphicFramePr>
        <p:xfrm>
          <a:off x="2135188" y="2822998"/>
          <a:ext cx="6361112" cy="2428875"/>
        </p:xfrm>
        <a:graphic>
          <a:graphicData uri="http://schemas.openxmlformats.org/presentationml/2006/ole">
            <mc:AlternateContent xmlns:mc="http://schemas.openxmlformats.org/markup-compatibility/2006">
              <mc:Choice xmlns:v="urn:schemas-microsoft-com:vml" Requires="v">
                <p:oleObj spid="_x0000_s112144" name="Equation" r:id="rId5" imgW="3556000" imgH="1358900" progId="Equation.DSMT4">
                  <p:embed/>
                </p:oleObj>
              </mc:Choice>
              <mc:Fallback>
                <p:oleObj name="Equation" r:id="rId5" imgW="3556000" imgH="13589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5188" y="2822998"/>
                        <a:ext cx="6361112" cy="2428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3864" name="Object 8"/>
          <p:cNvGraphicFramePr>
            <a:graphicFrameLocks noChangeAspect="1"/>
          </p:cNvGraphicFramePr>
          <p:nvPr/>
        </p:nvGraphicFramePr>
        <p:xfrm>
          <a:off x="2022475" y="5270923"/>
          <a:ext cx="7602538" cy="633413"/>
        </p:xfrm>
        <a:graphic>
          <a:graphicData uri="http://schemas.openxmlformats.org/presentationml/2006/ole">
            <mc:AlternateContent xmlns:mc="http://schemas.openxmlformats.org/markup-compatibility/2006">
              <mc:Choice xmlns:v="urn:schemas-microsoft-com:vml" Requires="v">
                <p:oleObj spid="_x0000_s112145" name="Equation" r:id="rId7" imgW="4318000" imgH="393700" progId="Equation.DSMT4">
                  <p:embed/>
                </p:oleObj>
              </mc:Choice>
              <mc:Fallback>
                <p:oleObj name="Equation" r:id="rId7" imgW="4318000" imgH="3937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2475" y="5270923"/>
                        <a:ext cx="7602538" cy="633413"/>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9"/>
          <p:cNvGrpSpPr/>
          <p:nvPr/>
        </p:nvGrpSpPr>
        <p:grpSpPr bwMode="auto">
          <a:xfrm>
            <a:off x="1992313" y="5948785"/>
            <a:ext cx="3886200" cy="690562"/>
            <a:chOff x="295" y="3721"/>
            <a:chExt cx="2448" cy="435"/>
          </a:xfrm>
        </p:grpSpPr>
        <p:sp>
          <p:nvSpPr>
            <p:cNvPr id="111625" name="Rectangle 10"/>
            <p:cNvSpPr>
              <a:spLocks noChangeArrowheads="1"/>
            </p:cNvSpPr>
            <p:nvPr/>
          </p:nvSpPr>
          <p:spPr bwMode="auto">
            <a:xfrm>
              <a:off x="295" y="3747"/>
              <a:ext cx="8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最优解</a:t>
              </a:r>
              <a:r>
                <a:rPr kumimoji="1" lang="en-US" altLang="zh-CN" sz="240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400" b="1">
                  <a:solidFill>
                    <a:srgbClr val="003300"/>
                  </a:solidFill>
                  <a:latin typeface="宋体" panose="02010600030101010101" pitchFamily="2" charset="-122"/>
                </a:rPr>
                <a:t> </a:t>
              </a:r>
              <a:endParaRPr kumimoji="1" lang="en-US" altLang="zh-CN" sz="2400" b="1">
                <a:solidFill>
                  <a:srgbClr val="003300"/>
                </a:solidFill>
                <a:latin typeface="宋体" panose="02010600030101010101" pitchFamily="2" charset="-122"/>
              </a:endParaRPr>
            </a:p>
          </p:txBody>
        </p:sp>
        <p:graphicFrame>
          <p:nvGraphicFramePr>
            <p:cNvPr id="111626" name="Object 11"/>
            <p:cNvGraphicFramePr>
              <a:graphicFrameLocks noChangeAspect="1"/>
            </p:cNvGraphicFramePr>
            <p:nvPr/>
          </p:nvGraphicFramePr>
          <p:xfrm>
            <a:off x="1156" y="3721"/>
            <a:ext cx="1587" cy="435"/>
          </p:xfrm>
          <a:graphic>
            <a:graphicData uri="http://schemas.openxmlformats.org/presentationml/2006/ole">
              <mc:AlternateContent xmlns:mc="http://schemas.openxmlformats.org/markup-compatibility/2006">
                <mc:Choice xmlns:v="urn:schemas-microsoft-com:vml" Requires="v">
                  <p:oleObj spid="_x0000_s112146" name="Equation" r:id="rId9" imgW="1562100" imgH="431800" progId="Equation.DSMT4">
                    <p:embed/>
                  </p:oleObj>
                </mc:Choice>
                <mc:Fallback>
                  <p:oleObj name="Equation" r:id="rId9" imgW="1562100" imgH="4318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6" y="3721"/>
                          <a:ext cx="1587" cy="435"/>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3859"/>
                                        </p:tgtEl>
                                        <p:attrNameLst>
                                          <p:attrName>style.visibility</p:attrName>
                                        </p:attrNameLst>
                                      </p:cBhvr>
                                      <p:to>
                                        <p:strVal val="visible"/>
                                      </p:to>
                                    </p:set>
                                    <p:animEffect transition="in" filter="wipe(left)">
                                      <p:cBhvr>
                                        <p:cTn id="7" dur="2000"/>
                                        <p:tgtEl>
                                          <p:spTgt spid="633859"/>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633860"/>
                                        </p:tgtEl>
                                        <p:attrNameLst>
                                          <p:attrName>style.visibility</p:attrName>
                                        </p:attrNameLst>
                                      </p:cBhvr>
                                      <p:to>
                                        <p:strVal val="visible"/>
                                      </p:to>
                                    </p:set>
                                    <p:animEffect transition="in" filter="wipe(up)">
                                      <p:cBhvr>
                                        <p:cTn id="11" dur="2000"/>
                                        <p:tgtEl>
                                          <p:spTgt spid="63386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33861"/>
                                        </p:tgtEl>
                                        <p:attrNameLst>
                                          <p:attrName>style.visibility</p:attrName>
                                        </p:attrNameLst>
                                      </p:cBhvr>
                                      <p:to>
                                        <p:strVal val="visible"/>
                                      </p:to>
                                    </p:set>
                                    <p:animEffect transition="in" filter="wipe(left)">
                                      <p:cBhvr>
                                        <p:cTn id="16" dur="2000"/>
                                        <p:tgtEl>
                                          <p:spTgt spid="633861"/>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633862"/>
                                        </p:tgtEl>
                                        <p:attrNameLst>
                                          <p:attrName>style.visibility</p:attrName>
                                        </p:attrNameLst>
                                      </p:cBhvr>
                                      <p:to>
                                        <p:strVal val="visible"/>
                                      </p:to>
                                    </p:set>
                                    <p:animEffect transition="in" filter="wipe(left)">
                                      <p:cBhvr>
                                        <p:cTn id="20" dur="2000"/>
                                        <p:tgtEl>
                                          <p:spTgt spid="63386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633863"/>
                                        </p:tgtEl>
                                        <p:attrNameLst>
                                          <p:attrName>style.visibility</p:attrName>
                                        </p:attrNameLst>
                                      </p:cBhvr>
                                      <p:to>
                                        <p:strVal val="visible"/>
                                      </p:to>
                                    </p:set>
                                    <p:animEffect transition="in" filter="wipe(up)">
                                      <p:cBhvr>
                                        <p:cTn id="25" dur="2000"/>
                                        <p:tgtEl>
                                          <p:spTgt spid="63386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33864"/>
                                        </p:tgtEl>
                                        <p:attrNameLst>
                                          <p:attrName>style.visibility</p:attrName>
                                        </p:attrNameLst>
                                      </p:cBhvr>
                                      <p:to>
                                        <p:strVal val="visible"/>
                                      </p:to>
                                    </p:set>
                                    <p:animEffect transition="in" filter="wipe(left)">
                                      <p:cBhvr>
                                        <p:cTn id="30" dur="2000"/>
                                        <p:tgtEl>
                                          <p:spTgt spid="6338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p:bldP spid="633861"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6" name="Rectangle 6"/>
          <p:cNvSpPr>
            <a:spLocks noChangeArrowheads="1"/>
          </p:cNvSpPr>
          <p:nvPr/>
        </p:nvSpPr>
        <p:spPr bwMode="auto">
          <a:xfrm>
            <a:off x="1048174" y="740008"/>
            <a:ext cx="5588000" cy="44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例</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2 </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用动态规划方法求解下列非线性规划</a:t>
            </a:r>
            <a:r>
              <a:rPr kumimoji="1" lang="zh-CN" altLang="en-US" sz="2300" b="1" dirty="0">
                <a:solidFill>
                  <a:srgbClr val="003300"/>
                </a:solidFill>
                <a:latin typeface="宋体" panose="02010600030101010101" pitchFamily="2" charset="-122"/>
              </a:rPr>
              <a:t> </a:t>
            </a:r>
            <a:endParaRPr kumimoji="1" lang="zh-CN" altLang="en-US" sz="2300" b="1" dirty="0">
              <a:solidFill>
                <a:srgbClr val="003300"/>
              </a:solidFill>
              <a:latin typeface="宋体" panose="02010600030101010101" pitchFamily="2" charset="-122"/>
            </a:endParaRPr>
          </a:p>
        </p:txBody>
      </p:sp>
      <p:graphicFrame>
        <p:nvGraphicFramePr>
          <p:cNvPr id="634888" name="Object 8"/>
          <p:cNvGraphicFramePr>
            <a:graphicFrameLocks noChangeAspect="1"/>
          </p:cNvGraphicFramePr>
          <p:nvPr/>
        </p:nvGraphicFramePr>
        <p:xfrm>
          <a:off x="4659314" y="1224607"/>
          <a:ext cx="2300287" cy="1430338"/>
        </p:xfrm>
        <a:graphic>
          <a:graphicData uri="http://schemas.openxmlformats.org/presentationml/2006/ole">
            <mc:AlternateContent xmlns:mc="http://schemas.openxmlformats.org/markup-compatibility/2006">
              <mc:Choice xmlns:v="urn:schemas-microsoft-com:vml" Requires="v">
                <p:oleObj spid="_x0000_s113290" name="Equation" r:id="rId1" imgW="1002665" imgH="735965" progId="Equation.DSMT4">
                  <p:embed/>
                </p:oleObj>
              </mc:Choice>
              <mc:Fallback>
                <p:oleObj name="Equation" r:id="rId1" imgW="1002665" imgH="735965"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9314" y="1224607"/>
                        <a:ext cx="2300287" cy="14303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0"/>
          <p:cNvGrpSpPr/>
          <p:nvPr/>
        </p:nvGrpSpPr>
        <p:grpSpPr bwMode="auto">
          <a:xfrm>
            <a:off x="2279650" y="2591127"/>
            <a:ext cx="7454900" cy="2568576"/>
            <a:chOff x="476" y="1728"/>
            <a:chExt cx="4696" cy="1618"/>
          </a:xfrm>
        </p:grpSpPr>
        <p:sp>
          <p:nvSpPr>
            <p:cNvPr id="112657" name="Rectangle 10"/>
            <p:cNvSpPr>
              <a:spLocks noChangeArrowheads="1"/>
            </p:cNvSpPr>
            <p:nvPr/>
          </p:nvSpPr>
          <p:spPr bwMode="auto">
            <a:xfrm>
              <a:off x="476" y="1728"/>
              <a:ext cx="4696" cy="1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解：按照变量的个数划分阶段，即</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K=1,2</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3</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4</a:t>
              </a:r>
              <a:endPar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      为分配给第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个变量到第三个变量的值；</a:t>
              </a:r>
              <a:endPar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      </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为第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阶段初约束条件右端常数的剩余值</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endPar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       </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为分配给第</a:t>
              </a:r>
              <a:r>
                <a:rPr kumimoji="1" lang="en-US" altLang="zh-CN" sz="2300" dirty="0">
                  <a:solidFill>
                    <a:schemeClr val="tx1"/>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rPr>
                <a:t>个变量的值；</a:t>
              </a:r>
              <a:endParaRPr kumimoji="1" lang="zh-CN" altLang="en-US" sz="23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eaLnBrk="1" hangingPunct="1"/>
              <a:r>
                <a:rPr kumimoji="1" lang="zh-CN" altLang="en-US" sz="2300" b="1" dirty="0">
                  <a:solidFill>
                    <a:srgbClr val="003300"/>
                  </a:solidFill>
                  <a:latin typeface="宋体" panose="02010600030101010101" pitchFamily="2" charset="-122"/>
                </a:rPr>
                <a:t>   </a:t>
              </a:r>
              <a:endParaRPr kumimoji="1" lang="zh-CN" altLang="en-US" sz="2300" b="1" dirty="0">
                <a:solidFill>
                  <a:srgbClr val="003300"/>
                </a:solidFill>
                <a:latin typeface="宋体" panose="02010600030101010101" pitchFamily="2" charset="-122"/>
              </a:endParaRPr>
            </a:p>
            <a:p>
              <a:pPr eaLnBrk="1" hangingPunct="1"/>
              <a:endParaRPr kumimoji="1" lang="zh-CN" altLang="en-US" sz="2300" b="1" dirty="0">
                <a:solidFill>
                  <a:srgbClr val="003300"/>
                </a:solidFill>
                <a:latin typeface="宋体" panose="02010600030101010101" pitchFamily="2" charset="-122"/>
              </a:endParaRPr>
            </a:p>
            <a:p>
              <a:pPr eaLnBrk="1" hangingPunct="1"/>
              <a:endParaRPr kumimoji="1" lang="zh-CN" altLang="en-US" sz="2300" b="1" dirty="0">
                <a:solidFill>
                  <a:srgbClr val="003300"/>
                </a:solidFill>
                <a:latin typeface="宋体" panose="02010600030101010101" pitchFamily="2" charset="-122"/>
              </a:endParaRPr>
            </a:p>
          </p:txBody>
        </p:sp>
        <p:graphicFrame>
          <p:nvGraphicFramePr>
            <p:cNvPr id="112658" name="Object 6"/>
            <p:cNvGraphicFramePr>
              <a:graphicFrameLocks noChangeAspect="1"/>
            </p:cNvGraphicFramePr>
            <p:nvPr/>
          </p:nvGraphicFramePr>
          <p:xfrm>
            <a:off x="793" y="2024"/>
            <a:ext cx="241" cy="317"/>
          </p:xfrm>
          <a:graphic>
            <a:graphicData uri="http://schemas.openxmlformats.org/presentationml/2006/ole">
              <mc:AlternateContent xmlns:mc="http://schemas.openxmlformats.org/markup-compatibility/2006">
                <mc:Choice xmlns:v="urn:schemas-microsoft-com:vml" Requires="v">
                  <p:oleObj spid="_x0000_s113291" name="Equation" r:id="rId3" imgW="152400" imgH="228600" progId="Equation.DSMT4">
                    <p:embed/>
                  </p:oleObj>
                </mc:Choice>
                <mc:Fallback>
                  <p:oleObj name="Equation" r:id="rId3" imgW="1524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 y="2024"/>
                          <a:ext cx="241"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59" name="Object 10"/>
            <p:cNvGraphicFramePr>
              <a:graphicFrameLocks noChangeAspect="1"/>
            </p:cNvGraphicFramePr>
            <p:nvPr/>
          </p:nvGraphicFramePr>
          <p:xfrm>
            <a:off x="793" y="2387"/>
            <a:ext cx="261" cy="317"/>
          </p:xfrm>
          <a:graphic>
            <a:graphicData uri="http://schemas.openxmlformats.org/presentationml/2006/ole">
              <mc:AlternateContent xmlns:mc="http://schemas.openxmlformats.org/markup-compatibility/2006">
                <mc:Choice xmlns:v="urn:schemas-microsoft-com:vml" Requires="v">
                  <p:oleObj spid="_x0000_s113292" name="Equation" r:id="rId5" imgW="165100" imgH="228600" progId="Equation.DSMT4">
                    <p:embed/>
                  </p:oleObj>
                </mc:Choice>
                <mc:Fallback>
                  <p:oleObj name="Equation" r:id="rId5" imgW="16510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 y="2387"/>
                          <a:ext cx="261"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9"/>
          <p:cNvGrpSpPr/>
          <p:nvPr/>
        </p:nvGrpSpPr>
        <p:grpSpPr bwMode="auto">
          <a:xfrm>
            <a:off x="2143126" y="6072833"/>
            <a:ext cx="6359526" cy="652463"/>
            <a:chOff x="390" y="3838"/>
            <a:chExt cx="4006" cy="411"/>
          </a:xfrm>
        </p:grpSpPr>
        <p:graphicFrame>
          <p:nvGraphicFramePr>
            <p:cNvPr id="112655" name="Object 5"/>
            <p:cNvGraphicFramePr>
              <a:graphicFrameLocks noChangeAspect="1"/>
            </p:cNvGraphicFramePr>
            <p:nvPr/>
          </p:nvGraphicFramePr>
          <p:xfrm>
            <a:off x="1584" y="3838"/>
            <a:ext cx="2812" cy="411"/>
          </p:xfrm>
          <a:graphic>
            <a:graphicData uri="http://schemas.openxmlformats.org/presentationml/2006/ole">
              <mc:AlternateContent xmlns:mc="http://schemas.openxmlformats.org/markup-compatibility/2006">
                <mc:Choice xmlns:v="urn:schemas-microsoft-com:vml" Requires="v">
                  <p:oleObj spid="_x0000_s113293" name="Equation" r:id="rId7" imgW="49987200" imgH="7315200" progId="Equation.DSMT4">
                    <p:embed/>
                  </p:oleObj>
                </mc:Choice>
                <mc:Fallback>
                  <p:oleObj name="Equation" r:id="rId7" imgW="49987200" imgH="7315200" progId="Equation.DSMT4">
                    <p:embed/>
                    <p:pic>
                      <p:nvPicPr>
                        <p:cNvPr id="0" name="Object 5"/>
                        <p:cNvPicPr>
                          <a:picLocks noChangeAspect="1" noChangeArrowheads="1"/>
                        </p:cNvPicPr>
                        <p:nvPr/>
                      </p:nvPicPr>
                      <p:blipFill>
                        <a:blip r:embed="rId8"/>
                        <a:srcRect/>
                        <a:stretch>
                          <a:fillRect/>
                        </a:stretch>
                      </p:blipFill>
                      <p:spPr bwMode="auto">
                        <a:xfrm>
                          <a:off x="1584" y="3838"/>
                          <a:ext cx="2812" cy="41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56" name="Rectangle 16"/>
            <p:cNvSpPr>
              <a:spLocks noChangeArrowheads="1"/>
            </p:cNvSpPr>
            <p:nvPr/>
          </p:nvSpPr>
          <p:spPr bwMode="auto">
            <a:xfrm>
              <a:off x="390" y="3884"/>
              <a:ext cx="1220"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r>
                <a:rPr kumimoji="1" lang="zh-CN" altLang="en-US" sz="2300">
                  <a:solidFill>
                    <a:schemeClr val="tx1"/>
                  </a:solidFill>
                  <a:latin typeface="楷体" panose="02010609060101010101" pitchFamily="49" charset="-122"/>
                  <a:ea typeface="楷体" panose="02010609060101010101" pitchFamily="49" charset="-122"/>
                </a:rPr>
                <a:t>递推方程为</a:t>
              </a:r>
              <a:r>
                <a:rPr kumimoji="1" lang="zh-CN" altLang="en-US" sz="2300" b="1">
                  <a:solidFill>
                    <a:srgbClr val="003300"/>
                  </a:solidFill>
                  <a:latin typeface="楷体" panose="02010609060101010101" pitchFamily="49" charset="-122"/>
                  <a:ea typeface="楷体" panose="02010609060101010101" pitchFamily="49" charset="-122"/>
                </a:rPr>
                <a:t>：</a:t>
              </a:r>
              <a:endParaRPr kumimoji="1" lang="zh-CN" altLang="en-US" sz="2300" b="1">
                <a:solidFill>
                  <a:srgbClr val="003300"/>
                </a:solidFill>
                <a:latin typeface="楷体" panose="02010609060101010101" pitchFamily="49" charset="-122"/>
                <a:ea typeface="楷体" panose="02010609060101010101" pitchFamily="49" charset="-122"/>
              </a:endParaRPr>
            </a:p>
          </p:txBody>
        </p:sp>
      </p:grpSp>
      <p:grpSp>
        <p:nvGrpSpPr>
          <p:cNvPr id="4" name="Group 18"/>
          <p:cNvGrpSpPr/>
          <p:nvPr/>
        </p:nvGrpSpPr>
        <p:grpSpPr bwMode="auto">
          <a:xfrm>
            <a:off x="2063750" y="4278958"/>
            <a:ext cx="6648450" cy="1793875"/>
            <a:chOff x="340" y="2708"/>
            <a:chExt cx="4188" cy="1130"/>
          </a:xfrm>
        </p:grpSpPr>
        <p:grpSp>
          <p:nvGrpSpPr>
            <p:cNvPr id="112650" name="Group 11"/>
            <p:cNvGrpSpPr/>
            <p:nvPr/>
          </p:nvGrpSpPr>
          <p:grpSpPr bwMode="auto">
            <a:xfrm>
              <a:off x="1973" y="2708"/>
              <a:ext cx="2555" cy="1130"/>
              <a:chOff x="1927" y="2618"/>
              <a:chExt cx="2555" cy="1130"/>
            </a:xfrm>
          </p:grpSpPr>
          <p:graphicFrame>
            <p:nvGraphicFramePr>
              <p:cNvPr id="112652" name="Object 9"/>
              <p:cNvGraphicFramePr>
                <a:graphicFrameLocks noChangeAspect="1"/>
              </p:cNvGraphicFramePr>
              <p:nvPr/>
            </p:nvGraphicFramePr>
            <p:xfrm>
              <a:off x="1927" y="3022"/>
              <a:ext cx="1063" cy="308"/>
            </p:xfrm>
            <a:graphic>
              <a:graphicData uri="http://schemas.openxmlformats.org/presentationml/2006/ole">
                <mc:AlternateContent xmlns:mc="http://schemas.openxmlformats.org/markup-compatibility/2006">
                  <mc:Choice xmlns:v="urn:schemas-microsoft-com:vml" Requires="v">
                    <p:oleObj spid="_x0000_s113294" name="Equation" r:id="rId9" imgW="787400" imgH="228600" progId="Equation.DSMT4">
                      <p:embed/>
                    </p:oleObj>
                  </mc:Choice>
                  <mc:Fallback>
                    <p:oleObj name="Equation" r:id="rId9" imgW="787400" imgH="2286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7" y="3022"/>
                            <a:ext cx="1063" cy="30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53" name="Object 4"/>
              <p:cNvGraphicFramePr>
                <a:graphicFrameLocks noChangeAspect="1"/>
              </p:cNvGraphicFramePr>
              <p:nvPr/>
            </p:nvGraphicFramePr>
            <p:xfrm>
              <a:off x="3334" y="2618"/>
              <a:ext cx="1148" cy="1130"/>
            </p:xfrm>
            <a:graphic>
              <a:graphicData uri="http://schemas.openxmlformats.org/presentationml/2006/ole">
                <mc:AlternateContent xmlns:mc="http://schemas.openxmlformats.org/markup-compatibility/2006">
                  <mc:Choice xmlns:v="urn:schemas-microsoft-com:vml" Requires="v">
                    <p:oleObj spid="_x0000_s113295" name="Equation" r:id="rId11" imgW="850265" imgH="939165" progId="Equation.DSMT4">
                      <p:embed/>
                    </p:oleObj>
                  </mc:Choice>
                  <mc:Fallback>
                    <p:oleObj name="Equation" r:id="rId11" imgW="850265" imgH="939165"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34" y="2618"/>
                            <a:ext cx="1148" cy="113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54" name="AutoShape 14"/>
              <p:cNvSpPr>
                <a:spLocks noChangeArrowheads="1"/>
              </p:cNvSpPr>
              <p:nvPr/>
            </p:nvSpPr>
            <p:spPr bwMode="auto">
              <a:xfrm>
                <a:off x="3061" y="2905"/>
                <a:ext cx="252" cy="596"/>
              </a:xfrm>
              <a:prstGeom prst="rightArrow">
                <a:avLst>
                  <a:gd name="adj1" fmla="val 50000"/>
                  <a:gd name="adj2" fmla="val 34807"/>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400" b="1">
                  <a:solidFill>
                    <a:schemeClr val="bg2"/>
                  </a:solidFill>
                  <a:latin typeface="宋体" panose="02010600030101010101" pitchFamily="2" charset="-122"/>
                </a:endParaRPr>
              </a:p>
            </p:txBody>
          </p:sp>
        </p:grpSp>
        <p:sp>
          <p:nvSpPr>
            <p:cNvPr id="112651" name="Rectangle 17"/>
            <p:cNvSpPr>
              <a:spLocks noChangeArrowheads="1"/>
            </p:cNvSpPr>
            <p:nvPr/>
          </p:nvSpPr>
          <p:spPr bwMode="auto">
            <a:xfrm>
              <a:off x="340" y="3158"/>
              <a:ext cx="159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2"/>
                  </a:solidFill>
                  <a:latin typeface="宋体" panose="02010600030101010101" pitchFamily="2" charset="-122"/>
                </a:rPr>
                <a:t> </a:t>
              </a:r>
              <a:r>
                <a:rPr kumimoji="1" lang="zh-CN" altLang="en-US" sz="2300">
                  <a:solidFill>
                    <a:schemeClr val="tx1"/>
                  </a:solidFill>
                  <a:latin typeface="楷体" panose="02010609060101010101" pitchFamily="49" charset="-122"/>
                  <a:ea typeface="楷体" panose="02010609060101010101" pitchFamily="49" charset="-122"/>
                  <a:cs typeface="楷体" panose="02010609060101010101" pitchFamily="49" charset="-122"/>
                </a:rPr>
                <a:t>状态转移方程为</a:t>
              </a:r>
              <a:r>
                <a:rPr kumimoji="1" lang="en-US" altLang="zh-CN" sz="2300">
                  <a:solidFill>
                    <a:schemeClr val="tx1"/>
                  </a:solidFill>
                  <a:latin typeface="楷体" panose="02010609060101010101" pitchFamily="49" charset="-122"/>
                  <a:ea typeface="楷体" panose="02010609060101010101" pitchFamily="49" charset="-122"/>
                  <a:cs typeface="楷体" panose="02010609060101010101" pitchFamily="49" charset="-122"/>
                </a:rPr>
                <a:t>:</a:t>
              </a:r>
              <a:endParaRPr kumimoji="1" lang="en-US" altLang="zh-CN" sz="230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grpSp>
      <p:sp>
        <p:nvSpPr>
          <p:cNvPr id="5"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886"/>
                                        </p:tgtEl>
                                        <p:attrNameLst>
                                          <p:attrName>style.visibility</p:attrName>
                                        </p:attrNameLst>
                                      </p:cBhvr>
                                      <p:to>
                                        <p:strVal val="visible"/>
                                      </p:to>
                                    </p:set>
                                    <p:animEffect transition="in" filter="wipe(left)">
                                      <p:cBhvr>
                                        <p:cTn id="7" dur="2000"/>
                                        <p:tgtEl>
                                          <p:spTgt spid="6348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4888"/>
                                        </p:tgtEl>
                                        <p:attrNameLst>
                                          <p:attrName>style.visibility</p:attrName>
                                        </p:attrNameLst>
                                      </p:cBhvr>
                                      <p:to>
                                        <p:strVal val="visible"/>
                                      </p:to>
                                    </p:set>
                                    <p:animEffect transition="in" filter="wipe(up)">
                                      <p:cBhvr>
                                        <p:cTn id="12" dur="2000"/>
                                        <p:tgtEl>
                                          <p:spTgt spid="6348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p:nvPr/>
        </p:nvGrpSpPr>
        <p:grpSpPr bwMode="auto">
          <a:xfrm>
            <a:off x="1992313" y="957556"/>
            <a:ext cx="2736850" cy="487363"/>
            <a:chOff x="158" y="550"/>
            <a:chExt cx="1724" cy="307"/>
          </a:xfrm>
        </p:grpSpPr>
        <p:sp>
          <p:nvSpPr>
            <p:cNvPr id="113687" name="Rectangle 6"/>
            <p:cNvSpPr>
              <a:spLocks noChangeArrowheads="1"/>
            </p:cNvSpPr>
            <p:nvPr/>
          </p:nvSpPr>
          <p:spPr bwMode="auto">
            <a:xfrm>
              <a:off x="158" y="550"/>
              <a:ext cx="8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终端条件</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3688" name="Object 7"/>
            <p:cNvGraphicFramePr>
              <a:graphicFrameLocks noChangeAspect="1"/>
            </p:cNvGraphicFramePr>
            <p:nvPr/>
          </p:nvGraphicFramePr>
          <p:xfrm>
            <a:off x="1111" y="572"/>
            <a:ext cx="771" cy="285"/>
          </p:xfrm>
          <a:graphic>
            <a:graphicData uri="http://schemas.openxmlformats.org/presentationml/2006/ole">
              <mc:AlternateContent xmlns:mc="http://schemas.openxmlformats.org/markup-compatibility/2006">
                <mc:Choice xmlns:v="urn:schemas-microsoft-com:vml" Requires="v">
                  <p:oleObj spid="_x0000_s114313" name="Equation" r:id="rId1" imgW="622300" imgH="228600" progId="Equation.DSMT4">
                    <p:embed/>
                  </p:oleObj>
                </mc:Choice>
                <mc:Fallback>
                  <p:oleObj name="Equation" r:id="rId1" imgW="622300" imgH="2286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 y="572"/>
                          <a:ext cx="771" cy="2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3669" name="Rectangle 8"/>
          <p:cNvSpPr>
            <a:spLocks noChangeArrowheads="1"/>
          </p:cNvSpPr>
          <p:nvPr/>
        </p:nvSpPr>
        <p:spPr bwMode="auto">
          <a:xfrm>
            <a:off x="5749925" y="3485799"/>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003300"/>
                </a:solidFill>
                <a:latin typeface="宋体" panose="02010600030101010101" pitchFamily="2" charset="-122"/>
              </a:rPr>
              <a:t> </a:t>
            </a:r>
            <a:endParaRPr kumimoji="1" lang="en-US" altLang="zh-CN" sz="2400" b="1">
              <a:solidFill>
                <a:srgbClr val="003300"/>
              </a:solidFill>
              <a:latin typeface="宋体" panose="02010600030101010101" pitchFamily="2" charset="-122"/>
            </a:endParaRPr>
          </a:p>
        </p:txBody>
      </p:sp>
      <p:sp>
        <p:nvSpPr>
          <p:cNvPr id="635913" name="Rectangle 9"/>
          <p:cNvSpPr>
            <a:spLocks noChangeArrowheads="1"/>
          </p:cNvSpPr>
          <p:nvPr/>
        </p:nvSpPr>
        <p:spPr bwMode="auto">
          <a:xfrm>
            <a:off x="1992314" y="1606843"/>
            <a:ext cx="1402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rgbClr val="FF0000"/>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400">
                <a:solidFill>
                  <a:srgbClr val="FF0000"/>
                </a:solidFill>
                <a:latin typeface="楷体" panose="02010609060101010101" pitchFamily="49" charset="-122"/>
                <a:ea typeface="楷体" panose="02010609060101010101" pitchFamily="49" charset="-122"/>
                <a:cs typeface="楷体" panose="02010609060101010101" pitchFamily="49" charset="-122"/>
              </a:rPr>
              <a:t>3</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时：</a:t>
            </a:r>
            <a:endPar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grpSp>
        <p:nvGrpSpPr>
          <p:cNvPr id="3" name="Group 10"/>
          <p:cNvGrpSpPr/>
          <p:nvPr/>
        </p:nvGrpSpPr>
        <p:grpSpPr bwMode="auto">
          <a:xfrm>
            <a:off x="2063751" y="3765844"/>
            <a:ext cx="6110288" cy="1508124"/>
            <a:chOff x="340" y="2340"/>
            <a:chExt cx="3849" cy="950"/>
          </a:xfrm>
        </p:grpSpPr>
        <p:sp>
          <p:nvSpPr>
            <p:cNvPr id="113685" name="Rectangle 11"/>
            <p:cNvSpPr>
              <a:spLocks noChangeArrowheads="1"/>
            </p:cNvSpPr>
            <p:nvPr/>
          </p:nvSpPr>
          <p:spPr bwMode="auto">
            <a:xfrm>
              <a:off x="340" y="2340"/>
              <a:ext cx="8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递推方程</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3686" name="Object 13"/>
            <p:cNvGraphicFramePr>
              <a:graphicFrameLocks noChangeAspect="1"/>
            </p:cNvGraphicFramePr>
            <p:nvPr/>
          </p:nvGraphicFramePr>
          <p:xfrm>
            <a:off x="1829" y="2478"/>
            <a:ext cx="2360" cy="812"/>
          </p:xfrm>
          <a:graphic>
            <a:graphicData uri="http://schemas.openxmlformats.org/presentationml/2006/ole">
              <mc:AlternateContent xmlns:mc="http://schemas.openxmlformats.org/markup-compatibility/2006">
                <mc:Choice xmlns:v="urn:schemas-microsoft-com:vml" Requires="v">
                  <p:oleObj spid="_x0000_s114314" name="Equation" r:id="rId3" imgW="44196000" imgH="15240000" progId="Equation.DSMT4">
                    <p:embed/>
                  </p:oleObj>
                </mc:Choice>
                <mc:Fallback>
                  <p:oleObj name="Equation" r:id="rId3" imgW="44196000" imgH="15240000" progId="Equation.DSMT4">
                    <p:embed/>
                    <p:pic>
                      <p:nvPicPr>
                        <p:cNvPr id="0" name="Object 13"/>
                        <p:cNvPicPr>
                          <a:picLocks noChangeAspect="1" noChangeArrowheads="1"/>
                        </p:cNvPicPr>
                        <p:nvPr/>
                      </p:nvPicPr>
                      <p:blipFill>
                        <a:blip r:embed="rId4"/>
                        <a:srcRect/>
                        <a:stretch>
                          <a:fillRect/>
                        </a:stretch>
                      </p:blipFill>
                      <p:spPr bwMode="auto">
                        <a:xfrm>
                          <a:off x="1829" y="2478"/>
                          <a:ext cx="2360" cy="8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Group 13"/>
          <p:cNvGrpSpPr/>
          <p:nvPr/>
        </p:nvGrpSpPr>
        <p:grpSpPr bwMode="auto">
          <a:xfrm>
            <a:off x="2711451" y="3118144"/>
            <a:ext cx="4968875" cy="504824"/>
            <a:chOff x="748" y="1932"/>
            <a:chExt cx="3130" cy="318"/>
          </a:xfrm>
        </p:grpSpPr>
        <p:graphicFrame>
          <p:nvGraphicFramePr>
            <p:cNvPr id="113683" name="Object 14"/>
            <p:cNvGraphicFramePr>
              <a:graphicFrameLocks noChangeAspect="1"/>
            </p:cNvGraphicFramePr>
            <p:nvPr/>
          </p:nvGraphicFramePr>
          <p:xfrm>
            <a:off x="2484" y="1933"/>
            <a:ext cx="1394" cy="317"/>
          </p:xfrm>
          <a:graphic>
            <a:graphicData uri="http://schemas.openxmlformats.org/presentationml/2006/ole">
              <mc:AlternateContent xmlns:mc="http://schemas.openxmlformats.org/markup-compatibility/2006">
                <mc:Choice xmlns:v="urn:schemas-microsoft-com:vml" Requires="v">
                  <p:oleObj spid="_x0000_s114315" name="Equation" r:id="rId5" imgW="889000" imgH="228600" progId="Equation.DSMT4">
                    <p:embed/>
                  </p:oleObj>
                </mc:Choice>
                <mc:Fallback>
                  <p:oleObj name="Equation" r:id="rId5" imgW="889000" imgH="2286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 y="1933"/>
                          <a:ext cx="1394"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3684" name="Rectangle 9"/>
            <p:cNvSpPr>
              <a:spLocks noChangeArrowheads="1"/>
            </p:cNvSpPr>
            <p:nvPr/>
          </p:nvSpPr>
          <p:spPr bwMode="auto">
            <a:xfrm>
              <a:off x="748" y="1932"/>
              <a:ext cx="18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决策变量允许集合：</a:t>
              </a:r>
              <a:endParaRPr kumimoji="1" lang="zh-CN" altLang="en-US" sz="2400">
                <a:solidFill>
                  <a:schemeClr val="tx1"/>
                </a:solidFill>
                <a:latin typeface="楷体" panose="02010609060101010101" pitchFamily="49" charset="-122"/>
                <a:ea typeface="楷体" panose="02010609060101010101" pitchFamily="49" charset="-122"/>
              </a:endParaRPr>
            </a:p>
          </p:txBody>
        </p:sp>
      </p:grpSp>
      <p:grpSp>
        <p:nvGrpSpPr>
          <p:cNvPr id="5" name="Group 16"/>
          <p:cNvGrpSpPr/>
          <p:nvPr/>
        </p:nvGrpSpPr>
        <p:grpSpPr bwMode="auto">
          <a:xfrm>
            <a:off x="2782889" y="2254544"/>
            <a:ext cx="4308475" cy="504824"/>
            <a:chOff x="793" y="1388"/>
            <a:chExt cx="2714" cy="318"/>
          </a:xfrm>
        </p:grpSpPr>
        <p:sp>
          <p:nvSpPr>
            <p:cNvPr id="113681" name="Rectangle 9"/>
            <p:cNvSpPr>
              <a:spLocks noChangeArrowheads="1"/>
            </p:cNvSpPr>
            <p:nvPr/>
          </p:nvSpPr>
          <p:spPr bwMode="auto">
            <a:xfrm>
              <a:off x="793" y="1388"/>
              <a:ext cx="18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状态变量允许集合：</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3682" name="Object 18"/>
            <p:cNvGraphicFramePr>
              <a:graphicFrameLocks noChangeAspect="1"/>
            </p:cNvGraphicFramePr>
            <p:nvPr/>
          </p:nvGraphicFramePr>
          <p:xfrm>
            <a:off x="2653" y="1389"/>
            <a:ext cx="854" cy="317"/>
          </p:xfrm>
          <a:graphic>
            <a:graphicData uri="http://schemas.openxmlformats.org/presentationml/2006/ole">
              <mc:AlternateContent xmlns:mc="http://schemas.openxmlformats.org/markup-compatibility/2006">
                <mc:Choice xmlns:v="urn:schemas-microsoft-com:vml" Requires="v">
                  <p:oleObj spid="_x0000_s114316" name="Equation" r:id="rId7" imgW="609600" imgH="228600" progId="Equation.DSMT4">
                    <p:embed/>
                  </p:oleObj>
                </mc:Choice>
                <mc:Fallback>
                  <p:oleObj name="Equation" r:id="rId7" imgW="609600" imgH="228600" progId="Equation.DSMT4">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53" y="1389"/>
                          <a:ext cx="854"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19"/>
          <p:cNvGrpSpPr/>
          <p:nvPr/>
        </p:nvGrpSpPr>
        <p:grpSpPr bwMode="auto">
          <a:xfrm>
            <a:off x="2711451" y="5997868"/>
            <a:ext cx="4824413" cy="622299"/>
            <a:chOff x="748" y="3746"/>
            <a:chExt cx="3039" cy="392"/>
          </a:xfrm>
        </p:grpSpPr>
        <p:graphicFrame>
          <p:nvGraphicFramePr>
            <p:cNvPr id="113679" name="Object 20"/>
            <p:cNvGraphicFramePr>
              <a:graphicFrameLocks noChangeAspect="1"/>
            </p:cNvGraphicFramePr>
            <p:nvPr/>
          </p:nvGraphicFramePr>
          <p:xfrm>
            <a:off x="3016" y="3838"/>
            <a:ext cx="771" cy="300"/>
          </p:xfrm>
          <a:graphic>
            <a:graphicData uri="http://schemas.openxmlformats.org/presentationml/2006/ole">
              <mc:AlternateContent xmlns:mc="http://schemas.openxmlformats.org/markup-compatibility/2006">
                <mc:Choice xmlns:v="urn:schemas-microsoft-com:vml" Requires="v">
                  <p:oleObj spid="_x0000_s114317" name="Equation" r:id="rId9" imgW="660400" imgH="228600" progId="Equation.DSMT4">
                    <p:embed/>
                  </p:oleObj>
                </mc:Choice>
                <mc:Fallback>
                  <p:oleObj name="Equation" r:id="rId9" imgW="660400" imgH="228600" progId="Equation.DSMT4">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6" y="3838"/>
                          <a:ext cx="771" cy="300"/>
                        </a:xfrm>
                        <a:prstGeom prst="rect">
                          <a:avLst/>
                        </a:prstGeom>
                        <a:solidFill>
                          <a:srgbClr val="FFFF00"/>
                        </a:solidFill>
                        <a:ln>
                          <a:noFill/>
                        </a:ln>
                        <a:effectLst/>
                      </p:spPr>
                    </p:pic>
                  </p:oleObj>
                </mc:Fallback>
              </mc:AlternateContent>
            </a:graphicData>
          </a:graphic>
        </p:graphicFrame>
        <p:sp>
          <p:nvSpPr>
            <p:cNvPr id="113680" name="Rectangle 11"/>
            <p:cNvSpPr>
              <a:spLocks noChangeArrowheads="1"/>
            </p:cNvSpPr>
            <p:nvPr/>
          </p:nvSpPr>
          <p:spPr bwMode="auto">
            <a:xfrm>
              <a:off x="748" y="3746"/>
              <a:ext cx="213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3300"/>
                  </a:solidFill>
                  <a:latin typeface="宋体" panose="02010600030101010101" pitchFamily="2" charset="-122"/>
                </a:rPr>
                <a:t>   </a:t>
              </a:r>
              <a:r>
                <a:rPr kumimoji="1" lang="zh-CN" altLang="en-US" sz="2400">
                  <a:solidFill>
                    <a:schemeClr val="tx1"/>
                  </a:solidFill>
                  <a:latin typeface="楷体" panose="02010609060101010101" pitchFamily="49" charset="-122"/>
                  <a:ea typeface="楷体" panose="02010609060101010101" pitchFamily="49" charset="-122"/>
                </a:rPr>
                <a:t>本阶段的最优值为：</a:t>
              </a:r>
              <a:endParaRPr kumimoji="1" lang="zh-CN" altLang="en-US" sz="2400">
                <a:solidFill>
                  <a:schemeClr val="tx1"/>
                </a:solidFill>
                <a:latin typeface="楷体" panose="02010609060101010101" pitchFamily="49" charset="-122"/>
                <a:ea typeface="楷体" panose="02010609060101010101" pitchFamily="49" charset="-122"/>
              </a:endParaRPr>
            </a:p>
          </p:txBody>
        </p:sp>
      </p:grpSp>
      <p:grpSp>
        <p:nvGrpSpPr>
          <p:cNvPr id="7" name="Group 22"/>
          <p:cNvGrpSpPr/>
          <p:nvPr/>
        </p:nvGrpSpPr>
        <p:grpSpPr bwMode="auto">
          <a:xfrm>
            <a:off x="2208214" y="5494631"/>
            <a:ext cx="5183187" cy="576263"/>
            <a:chOff x="431" y="3429"/>
            <a:chExt cx="3265" cy="363"/>
          </a:xfrm>
        </p:grpSpPr>
        <p:sp>
          <p:nvSpPr>
            <p:cNvPr id="113677" name="Rectangle 11"/>
            <p:cNvSpPr>
              <a:spLocks noChangeArrowheads="1"/>
            </p:cNvSpPr>
            <p:nvPr/>
          </p:nvSpPr>
          <p:spPr bwMode="auto">
            <a:xfrm>
              <a:off x="431" y="3429"/>
              <a:ext cx="261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因此，本阶段的最优决策为：</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3678" name="Object 24"/>
            <p:cNvGraphicFramePr>
              <a:graphicFrameLocks noChangeAspect="1"/>
            </p:cNvGraphicFramePr>
            <p:nvPr/>
          </p:nvGraphicFramePr>
          <p:xfrm>
            <a:off x="3061" y="3475"/>
            <a:ext cx="635" cy="317"/>
          </p:xfrm>
          <a:graphic>
            <a:graphicData uri="http://schemas.openxmlformats.org/presentationml/2006/ole">
              <mc:AlternateContent xmlns:mc="http://schemas.openxmlformats.org/markup-compatibility/2006">
                <mc:Choice xmlns:v="urn:schemas-microsoft-com:vml" Requires="v">
                  <p:oleObj spid="_x0000_s114318" name="Equation" r:id="rId11" imgW="482600" imgH="241300" progId="Equation.DSMT4">
                    <p:embed/>
                  </p:oleObj>
                </mc:Choice>
                <mc:Fallback>
                  <p:oleObj name="Equation" r:id="rId11" imgW="482600" imgH="241300" progId="Equation.DSMT4">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61" y="3475"/>
                          <a:ext cx="635" cy="317"/>
                        </a:xfrm>
                        <a:prstGeom prst="rect">
                          <a:avLst/>
                        </a:prstGeom>
                        <a:solidFill>
                          <a:srgbClr val="FFFF00"/>
                        </a:solidFill>
                        <a:ln>
                          <a:noFill/>
                        </a:ln>
                        <a:effectLst/>
                      </p:spPr>
                    </p:pic>
                  </p:oleObj>
                </mc:Fallback>
              </mc:AlternateContent>
            </a:graphicData>
          </a:graphic>
        </p:graphicFrame>
      </p:gr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5913"/>
                                        </p:tgtEl>
                                        <p:attrNameLst>
                                          <p:attrName>style.visibility</p:attrName>
                                        </p:attrNameLst>
                                      </p:cBhvr>
                                      <p:to>
                                        <p:strVal val="visible"/>
                                      </p:to>
                                    </p:set>
                                    <p:animEffect transition="in" filter="wipe(left)">
                                      <p:cBhvr>
                                        <p:cTn id="12" dur="2000"/>
                                        <p:tgtEl>
                                          <p:spTgt spid="6359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1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3" name="Rectangle 5"/>
          <p:cNvSpPr>
            <a:spLocks noChangeArrowheads="1"/>
          </p:cNvSpPr>
          <p:nvPr/>
        </p:nvSpPr>
        <p:spPr bwMode="auto">
          <a:xfrm>
            <a:off x="1992314" y="795338"/>
            <a:ext cx="4175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rgbClr val="FF0000"/>
                </a:solidFill>
                <a:latin typeface="楷体" panose="02010609060101010101" pitchFamily="49" charset="-122"/>
                <a:ea typeface="楷体" panose="02010609060101010101" pitchFamily="49" charset="-122"/>
                <a:cs typeface="楷体" panose="02010609060101010101" pitchFamily="49" charset="-122"/>
              </a:rPr>
              <a:t>k</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kumimoji="1" lang="en-US" altLang="zh-CN" sz="2400">
                <a:solidFill>
                  <a:srgbClr val="FF0000"/>
                </a:solidFill>
                <a:latin typeface="楷体" panose="02010609060101010101" pitchFamily="49" charset="-122"/>
                <a:ea typeface="楷体" panose="02010609060101010101" pitchFamily="49" charset="-122"/>
                <a:cs typeface="楷体" panose="02010609060101010101" pitchFamily="49" charset="-122"/>
              </a:rPr>
              <a:t>2</a:t>
            </a:r>
            <a:r>
              <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rPr>
              <a:t>时：</a:t>
            </a:r>
            <a:endParaRPr kumimoji="1" lang="zh-CN" altLang="en-US" sz="240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grpSp>
        <p:nvGrpSpPr>
          <p:cNvPr id="2" name="Group 4"/>
          <p:cNvGrpSpPr/>
          <p:nvPr/>
        </p:nvGrpSpPr>
        <p:grpSpPr bwMode="auto">
          <a:xfrm>
            <a:off x="2424114" y="3171827"/>
            <a:ext cx="5883275" cy="2849563"/>
            <a:chOff x="567" y="1998"/>
            <a:chExt cx="3706" cy="1795"/>
          </a:xfrm>
        </p:grpSpPr>
        <p:sp>
          <p:nvSpPr>
            <p:cNvPr id="114702" name="Rectangle 8"/>
            <p:cNvSpPr>
              <a:spLocks noChangeArrowheads="1"/>
            </p:cNvSpPr>
            <p:nvPr/>
          </p:nvSpPr>
          <p:spPr bwMode="auto">
            <a:xfrm>
              <a:off x="567" y="1998"/>
              <a:ext cx="108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递推方程</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4703" name="Object 10"/>
            <p:cNvGraphicFramePr>
              <a:graphicFrameLocks noChangeAspect="1"/>
            </p:cNvGraphicFramePr>
            <p:nvPr/>
          </p:nvGraphicFramePr>
          <p:xfrm>
            <a:off x="1723" y="2135"/>
            <a:ext cx="2550" cy="1658"/>
          </p:xfrm>
          <a:graphic>
            <a:graphicData uri="http://schemas.openxmlformats.org/presentationml/2006/ole">
              <mc:AlternateContent xmlns:mc="http://schemas.openxmlformats.org/markup-compatibility/2006">
                <mc:Choice xmlns:v="urn:schemas-microsoft-com:vml" Requires="v">
                  <p:oleObj spid="_x0000_s115120" name="Equation" r:id="rId1" imgW="49682400" imgH="32308800" progId="Equation.DSMT4">
                    <p:embed/>
                  </p:oleObj>
                </mc:Choice>
                <mc:Fallback>
                  <p:oleObj name="Equation" r:id="rId1" imgW="49682400" imgH="32308800" progId="Equation.DSMT4">
                    <p:embed/>
                    <p:pic>
                      <p:nvPicPr>
                        <p:cNvPr id="0" name="Object 10"/>
                        <p:cNvPicPr>
                          <a:picLocks noChangeAspect="1" noChangeArrowheads="1"/>
                        </p:cNvPicPr>
                        <p:nvPr/>
                      </p:nvPicPr>
                      <p:blipFill>
                        <a:blip r:embed="rId2"/>
                        <a:srcRect/>
                        <a:stretch>
                          <a:fillRect/>
                        </a:stretch>
                      </p:blipFill>
                      <p:spPr bwMode="auto">
                        <a:xfrm>
                          <a:off x="1723" y="2135"/>
                          <a:ext cx="2550" cy="165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7"/>
          <p:cNvGrpSpPr/>
          <p:nvPr/>
        </p:nvGrpSpPr>
        <p:grpSpPr bwMode="auto">
          <a:xfrm>
            <a:off x="2482850" y="1874837"/>
            <a:ext cx="4597400" cy="504826"/>
            <a:chOff x="604" y="1181"/>
            <a:chExt cx="2896" cy="318"/>
          </a:xfrm>
        </p:grpSpPr>
        <p:graphicFrame>
          <p:nvGraphicFramePr>
            <p:cNvPr id="114700" name="Object 8"/>
            <p:cNvGraphicFramePr>
              <a:graphicFrameLocks noChangeAspect="1"/>
            </p:cNvGraphicFramePr>
            <p:nvPr/>
          </p:nvGraphicFramePr>
          <p:xfrm>
            <a:off x="2464" y="1182"/>
            <a:ext cx="1036" cy="317"/>
          </p:xfrm>
          <a:graphic>
            <a:graphicData uri="http://schemas.openxmlformats.org/presentationml/2006/ole">
              <mc:AlternateContent xmlns:mc="http://schemas.openxmlformats.org/markup-compatibility/2006">
                <mc:Choice xmlns:v="urn:schemas-microsoft-com:vml" Requires="v">
                  <p:oleObj spid="_x0000_s115121" name="Equation" r:id="rId3" imgW="660400" imgH="228600" progId="Equation.DSMT4">
                    <p:embed/>
                  </p:oleObj>
                </mc:Choice>
                <mc:Fallback>
                  <p:oleObj name="Equation" r:id="rId3" imgW="660400" imgH="2286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4" y="1182"/>
                          <a:ext cx="1036"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701" name="Rectangle 9"/>
            <p:cNvSpPr>
              <a:spLocks noChangeArrowheads="1"/>
            </p:cNvSpPr>
            <p:nvPr/>
          </p:nvSpPr>
          <p:spPr bwMode="auto">
            <a:xfrm>
              <a:off x="604" y="1181"/>
              <a:ext cx="18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决策变量允许集合：</a:t>
              </a:r>
              <a:endParaRPr kumimoji="1" lang="zh-CN" altLang="en-US" sz="2400">
                <a:solidFill>
                  <a:schemeClr val="tx1"/>
                </a:solidFill>
                <a:latin typeface="楷体" panose="02010609060101010101" pitchFamily="49" charset="-122"/>
                <a:ea typeface="楷体" panose="02010609060101010101" pitchFamily="49" charset="-122"/>
              </a:endParaRPr>
            </a:p>
          </p:txBody>
        </p:sp>
      </p:grpSp>
      <p:grpSp>
        <p:nvGrpSpPr>
          <p:cNvPr id="4" name="Group 10"/>
          <p:cNvGrpSpPr/>
          <p:nvPr/>
        </p:nvGrpSpPr>
        <p:grpSpPr bwMode="auto">
          <a:xfrm>
            <a:off x="2482851" y="1301750"/>
            <a:ext cx="4379913" cy="530226"/>
            <a:chOff x="604" y="820"/>
            <a:chExt cx="2759" cy="334"/>
          </a:xfrm>
        </p:grpSpPr>
        <p:sp>
          <p:nvSpPr>
            <p:cNvPr id="114698" name="Rectangle 9"/>
            <p:cNvSpPr>
              <a:spLocks noChangeArrowheads="1"/>
            </p:cNvSpPr>
            <p:nvPr/>
          </p:nvSpPr>
          <p:spPr bwMode="auto">
            <a:xfrm>
              <a:off x="604" y="864"/>
              <a:ext cx="18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状态变量允许集合：</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4699" name="Object 12"/>
            <p:cNvGraphicFramePr>
              <a:graphicFrameLocks noChangeAspect="1"/>
            </p:cNvGraphicFramePr>
            <p:nvPr/>
          </p:nvGraphicFramePr>
          <p:xfrm>
            <a:off x="2509" y="820"/>
            <a:ext cx="854" cy="317"/>
          </p:xfrm>
          <a:graphic>
            <a:graphicData uri="http://schemas.openxmlformats.org/presentationml/2006/ole">
              <mc:AlternateContent xmlns:mc="http://schemas.openxmlformats.org/markup-compatibility/2006">
                <mc:Choice xmlns:v="urn:schemas-microsoft-com:vml" Requires="v">
                  <p:oleObj spid="_x0000_s115122" name="Equation" r:id="rId5" imgW="609600" imgH="228600" progId="Equation.DSMT4">
                    <p:embed/>
                  </p:oleObj>
                </mc:Choice>
                <mc:Fallback>
                  <p:oleObj name="Equation" r:id="rId5" imgW="609600" imgH="2286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9" y="820"/>
                          <a:ext cx="854"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3"/>
          <p:cNvGrpSpPr/>
          <p:nvPr/>
        </p:nvGrpSpPr>
        <p:grpSpPr bwMode="auto">
          <a:xfrm>
            <a:off x="2566989" y="2379663"/>
            <a:ext cx="4537075" cy="576263"/>
            <a:chOff x="657" y="1499"/>
            <a:chExt cx="2858" cy="363"/>
          </a:xfrm>
        </p:grpSpPr>
        <p:graphicFrame>
          <p:nvGraphicFramePr>
            <p:cNvPr id="114696" name="Object 14"/>
            <p:cNvGraphicFramePr>
              <a:graphicFrameLocks noChangeAspect="1"/>
            </p:cNvGraphicFramePr>
            <p:nvPr/>
          </p:nvGraphicFramePr>
          <p:xfrm>
            <a:off x="2419" y="1545"/>
            <a:ext cx="1096" cy="317"/>
          </p:xfrm>
          <a:graphic>
            <a:graphicData uri="http://schemas.openxmlformats.org/presentationml/2006/ole">
              <mc:AlternateContent xmlns:mc="http://schemas.openxmlformats.org/markup-compatibility/2006">
                <mc:Choice xmlns:v="urn:schemas-microsoft-com:vml" Requires="v">
                  <p:oleObj spid="_x0000_s115123" name="Equation" r:id="rId7" imgW="698500" imgH="228600" progId="Equation.DSMT4">
                    <p:embed/>
                  </p:oleObj>
                </mc:Choice>
                <mc:Fallback>
                  <p:oleObj name="Equation" r:id="rId7" imgW="698500" imgH="2286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9" y="1545"/>
                          <a:ext cx="1096"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697" name="Rectangle 9"/>
            <p:cNvSpPr>
              <a:spLocks noChangeArrowheads="1"/>
            </p:cNvSpPr>
            <p:nvPr/>
          </p:nvSpPr>
          <p:spPr bwMode="auto">
            <a:xfrm>
              <a:off x="657" y="1499"/>
              <a:ext cx="145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状态转移方程：</a:t>
              </a:r>
              <a:endParaRPr kumimoji="1" lang="zh-CN" altLang="en-US" sz="2400">
                <a:solidFill>
                  <a:schemeClr val="tx1"/>
                </a:solidFill>
                <a:latin typeface="楷体" panose="02010609060101010101" pitchFamily="49" charset="-122"/>
                <a:ea typeface="楷体" panose="02010609060101010101" pitchFamily="49" charset="-122"/>
              </a:endParaRPr>
            </a:p>
          </p:txBody>
        </p:sp>
      </p:gr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6933"/>
                                        </p:tgtEl>
                                        <p:attrNameLst>
                                          <p:attrName>style.visibility</p:attrName>
                                        </p:attrNameLst>
                                      </p:cBhvr>
                                      <p:to>
                                        <p:strVal val="visible"/>
                                      </p:to>
                                    </p:set>
                                    <p:animEffect transition="in" filter="wipe(left)">
                                      <p:cBhvr>
                                        <p:cTn id="7" dur="2000"/>
                                        <p:tgtEl>
                                          <p:spTgt spid="6369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6" name="Rectangle 8"/>
          <p:cNvSpPr>
            <a:spLocks noChangeArrowheads="1"/>
          </p:cNvSpPr>
          <p:nvPr/>
        </p:nvSpPr>
        <p:spPr bwMode="auto">
          <a:xfrm>
            <a:off x="2351089" y="918568"/>
            <a:ext cx="3959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现在问题转化为求极值问题：</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636938" name="Object 10"/>
          <p:cNvGraphicFramePr>
            <a:graphicFrameLocks noChangeAspect="1"/>
          </p:cNvGraphicFramePr>
          <p:nvPr/>
        </p:nvGraphicFramePr>
        <p:xfrm>
          <a:off x="2208214" y="1424981"/>
          <a:ext cx="3500437" cy="620713"/>
        </p:xfrm>
        <a:graphic>
          <a:graphicData uri="http://schemas.openxmlformats.org/presentationml/2006/ole">
            <mc:AlternateContent xmlns:mc="http://schemas.openxmlformats.org/markup-compatibility/2006">
              <mc:Choice xmlns:v="urn:schemas-microsoft-com:vml" Requires="v">
                <p:oleObj spid="_x0000_s159883" name="Equation" r:id="rId1" imgW="1790700" imgH="317500" progId="Equation.DSMT4">
                  <p:embed/>
                </p:oleObj>
              </mc:Choice>
              <mc:Fallback>
                <p:oleObj name="Equation" r:id="rId1" imgW="1790700" imgH="3175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4" y="1424981"/>
                        <a:ext cx="3500437" cy="6207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5913" name="Rectangle 9"/>
          <p:cNvSpPr>
            <a:spLocks noChangeArrowheads="1"/>
          </p:cNvSpPr>
          <p:nvPr/>
        </p:nvSpPr>
        <p:spPr bwMode="auto">
          <a:xfrm>
            <a:off x="2208213" y="2142532"/>
            <a:ext cx="3688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求一阶导数，并令其为</a:t>
            </a:r>
            <a:r>
              <a:rPr kumimoji="1" lang="en-US" altLang="zh-CN" sz="2400">
                <a:solidFill>
                  <a:schemeClr val="tx1"/>
                </a:solidFill>
                <a:latin typeface="楷体" panose="02010609060101010101" pitchFamily="49" charset="-122"/>
                <a:ea typeface="楷体" panose="02010609060101010101" pitchFamily="49" charset="-122"/>
                <a:cs typeface="楷体" panose="02010609060101010101" pitchFamily="49" charset="-122"/>
              </a:rPr>
              <a:t>0</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a:t>
            </a:r>
            <a:endPar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graphicFrame>
        <p:nvGraphicFramePr>
          <p:cNvPr id="148487" name="Object 7"/>
          <p:cNvGraphicFramePr>
            <a:graphicFrameLocks noChangeAspect="1"/>
          </p:cNvGraphicFramePr>
          <p:nvPr/>
        </p:nvGraphicFramePr>
        <p:xfrm>
          <a:off x="6672263" y="2433044"/>
          <a:ext cx="2938462" cy="866775"/>
        </p:xfrm>
        <a:graphic>
          <a:graphicData uri="http://schemas.openxmlformats.org/presentationml/2006/ole">
            <mc:AlternateContent xmlns:mc="http://schemas.openxmlformats.org/markup-compatibility/2006">
              <mc:Choice xmlns:v="urn:schemas-microsoft-com:vml" Requires="v">
                <p:oleObj spid="_x0000_s159884" name="Equation" r:id="rId3" imgW="1320165" imgH="393700" progId="Equation.DSMT4">
                  <p:embed/>
                </p:oleObj>
              </mc:Choice>
              <mc:Fallback>
                <p:oleObj name="Equation" r:id="rId3" imgW="1320165" imgH="3937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2263" y="2433044"/>
                        <a:ext cx="2938462" cy="866775"/>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Rectangle 9"/>
          <p:cNvSpPr>
            <a:spLocks noChangeArrowheads="1"/>
          </p:cNvSpPr>
          <p:nvPr/>
        </p:nvSpPr>
        <p:spPr bwMode="auto">
          <a:xfrm>
            <a:off x="1774825" y="3414119"/>
            <a:ext cx="262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继续求二阶导数：</a:t>
            </a:r>
            <a:endParaRPr kumimoji="1" lang="zh-CN" altLang="en-US" sz="2400">
              <a:solidFill>
                <a:schemeClr val="tx1"/>
              </a:solidFill>
              <a:latin typeface="楷体" panose="02010609060101010101" pitchFamily="49" charset="-122"/>
              <a:ea typeface="楷体" panose="02010609060101010101" pitchFamily="49" charset="-122"/>
            </a:endParaRPr>
          </a:p>
        </p:txBody>
      </p:sp>
      <p:grpSp>
        <p:nvGrpSpPr>
          <p:cNvPr id="3" name="Group 9"/>
          <p:cNvGrpSpPr/>
          <p:nvPr/>
        </p:nvGrpSpPr>
        <p:grpSpPr bwMode="auto">
          <a:xfrm>
            <a:off x="5808663" y="1424980"/>
            <a:ext cx="2513012" cy="473076"/>
            <a:chOff x="839" y="1183"/>
            <a:chExt cx="1583" cy="298"/>
          </a:xfrm>
        </p:grpSpPr>
        <p:sp>
          <p:nvSpPr>
            <p:cNvPr id="115740" name="Rectangle 9"/>
            <p:cNvSpPr>
              <a:spLocks noChangeArrowheads="1"/>
            </p:cNvSpPr>
            <p:nvPr/>
          </p:nvSpPr>
          <p:spPr bwMode="auto">
            <a:xfrm>
              <a:off x="839" y="1191"/>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令</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5741" name="Object 12"/>
            <p:cNvGraphicFramePr>
              <a:graphicFrameLocks noChangeAspect="1"/>
            </p:cNvGraphicFramePr>
            <p:nvPr/>
          </p:nvGraphicFramePr>
          <p:xfrm>
            <a:off x="1202" y="1183"/>
            <a:ext cx="1220" cy="297"/>
          </p:xfrm>
          <a:graphic>
            <a:graphicData uri="http://schemas.openxmlformats.org/presentationml/2006/ole">
              <mc:AlternateContent xmlns:mc="http://schemas.openxmlformats.org/markup-compatibility/2006">
                <mc:Choice xmlns:v="urn:schemas-microsoft-com:vml" Requires="v">
                  <p:oleObj spid="_x0000_s159885" name="Equation" r:id="rId5" imgW="989965" imgH="241300" progId="Equation.DSMT4">
                    <p:embed/>
                  </p:oleObj>
                </mc:Choice>
                <mc:Fallback>
                  <p:oleObj name="Equation" r:id="rId5" imgW="989965" imgH="2413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 y="1183"/>
                          <a:ext cx="1220" cy="29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 name="Object 4"/>
          <p:cNvGraphicFramePr>
            <a:graphicFrameLocks noChangeAspect="1"/>
          </p:cNvGraphicFramePr>
          <p:nvPr/>
        </p:nvGraphicFramePr>
        <p:xfrm>
          <a:off x="3143251" y="2601318"/>
          <a:ext cx="2874963" cy="768350"/>
        </p:xfrm>
        <a:graphic>
          <a:graphicData uri="http://schemas.openxmlformats.org/presentationml/2006/ole">
            <mc:AlternateContent xmlns:mc="http://schemas.openxmlformats.org/markup-compatibility/2006">
              <mc:Choice xmlns:v="urn:schemas-microsoft-com:vml" Requires="v">
                <p:oleObj spid="_x0000_s159886" name="Equation" r:id="rId7" imgW="1358265" imgH="393700" progId="Equation.DSMT4">
                  <p:embed/>
                </p:oleObj>
              </mc:Choice>
              <mc:Fallback>
                <p:oleObj name="Equation" r:id="rId7" imgW="1358265" imgH="3937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1" y="2601318"/>
                        <a:ext cx="2874963" cy="7683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1992314" y="4304705"/>
          <a:ext cx="2135187" cy="719138"/>
        </p:xfrm>
        <a:graphic>
          <a:graphicData uri="http://schemas.openxmlformats.org/presentationml/2006/ole">
            <mc:AlternateContent xmlns:mc="http://schemas.openxmlformats.org/markup-compatibility/2006">
              <mc:Choice xmlns:v="urn:schemas-microsoft-com:vml" Requires="v">
                <p:oleObj spid="_x0000_s159887" name="Equation" r:id="rId9" imgW="1091565" imgH="419100" progId="Equation.DSMT4">
                  <p:embed/>
                </p:oleObj>
              </mc:Choice>
              <mc:Fallback>
                <p:oleObj name="Equation" r:id="rId9" imgW="1091565" imgH="4191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92314" y="4304705"/>
                        <a:ext cx="2135187" cy="7191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14"/>
          <p:cNvGrpSpPr/>
          <p:nvPr/>
        </p:nvGrpSpPr>
        <p:grpSpPr bwMode="auto">
          <a:xfrm>
            <a:off x="4224339" y="3728444"/>
            <a:ext cx="3506788" cy="866775"/>
            <a:chOff x="2789" y="2704"/>
            <a:chExt cx="2209" cy="546"/>
          </a:xfrm>
        </p:grpSpPr>
        <p:sp>
          <p:nvSpPr>
            <p:cNvPr id="115737" name="Rectangle 9"/>
            <p:cNvSpPr>
              <a:spLocks noChangeArrowheads="1"/>
            </p:cNvSpPr>
            <p:nvPr/>
          </p:nvSpPr>
          <p:spPr bwMode="auto">
            <a:xfrm>
              <a:off x="2789" y="2885"/>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将</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5738" name="Object 11"/>
            <p:cNvGraphicFramePr>
              <a:graphicFrameLocks noChangeAspect="1"/>
            </p:cNvGraphicFramePr>
            <p:nvPr/>
          </p:nvGraphicFramePr>
          <p:xfrm>
            <a:off x="3107" y="2704"/>
            <a:ext cx="782" cy="546"/>
          </p:xfrm>
          <a:graphic>
            <a:graphicData uri="http://schemas.openxmlformats.org/presentationml/2006/ole">
              <mc:AlternateContent xmlns:mc="http://schemas.openxmlformats.org/markup-compatibility/2006">
                <mc:Choice xmlns:v="urn:schemas-microsoft-com:vml" Requires="v">
                  <p:oleObj spid="_x0000_s159888" name="Equation" r:id="rId11" imgW="558800" imgH="393700" progId="Equation.DSMT4">
                    <p:embed/>
                  </p:oleObj>
                </mc:Choice>
                <mc:Fallback>
                  <p:oleObj name="Equation" r:id="rId11" imgW="558800" imgH="3937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7" y="2704"/>
                          <a:ext cx="782" cy="546"/>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39" name="Rectangle 9"/>
            <p:cNvSpPr>
              <a:spLocks noChangeArrowheads="1"/>
            </p:cNvSpPr>
            <p:nvPr/>
          </p:nvSpPr>
          <p:spPr bwMode="auto">
            <a:xfrm>
              <a:off x="3923" y="2886"/>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代入该式：</a:t>
              </a:r>
              <a:endParaRPr kumimoji="1" lang="zh-CN" altLang="en-US" sz="2400">
                <a:solidFill>
                  <a:schemeClr val="tx1"/>
                </a:solidFill>
                <a:latin typeface="楷体" panose="02010609060101010101" pitchFamily="49" charset="-122"/>
                <a:ea typeface="楷体" panose="02010609060101010101" pitchFamily="49" charset="-122"/>
              </a:endParaRPr>
            </a:p>
          </p:txBody>
        </p:sp>
      </p:grpSp>
      <p:graphicFrame>
        <p:nvGraphicFramePr>
          <p:cNvPr id="9" name="Object 6"/>
          <p:cNvGraphicFramePr>
            <a:graphicFrameLocks noChangeAspect="1"/>
          </p:cNvGraphicFramePr>
          <p:nvPr/>
        </p:nvGraphicFramePr>
        <p:xfrm>
          <a:off x="7680326" y="3872906"/>
          <a:ext cx="1838325" cy="746125"/>
        </p:xfrm>
        <a:graphic>
          <a:graphicData uri="http://schemas.openxmlformats.org/presentationml/2006/ole">
            <mc:AlternateContent xmlns:mc="http://schemas.openxmlformats.org/markup-compatibility/2006">
              <mc:Choice xmlns:v="urn:schemas-microsoft-com:vml" Requires="v">
                <p:oleObj spid="_x0000_s159889" name="Equation" r:id="rId13" imgW="939800" imgH="419100" progId="Equation.DSMT4">
                  <p:embed/>
                </p:oleObj>
              </mc:Choice>
              <mc:Fallback>
                <p:oleObj name="Equation" r:id="rId13" imgW="939800" imgH="41910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80326" y="3872906"/>
                        <a:ext cx="1838325" cy="746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Group 19"/>
          <p:cNvGrpSpPr/>
          <p:nvPr/>
        </p:nvGrpSpPr>
        <p:grpSpPr bwMode="auto">
          <a:xfrm>
            <a:off x="2351089" y="5916019"/>
            <a:ext cx="4098925" cy="765175"/>
            <a:chOff x="476" y="3838"/>
            <a:chExt cx="2582" cy="482"/>
          </a:xfrm>
        </p:grpSpPr>
        <p:sp>
          <p:nvSpPr>
            <p:cNvPr id="115734" name="Rectangle 9"/>
            <p:cNvSpPr>
              <a:spLocks noChangeArrowheads="1"/>
            </p:cNvSpPr>
            <p:nvPr/>
          </p:nvSpPr>
          <p:spPr bwMode="auto">
            <a:xfrm>
              <a:off x="476" y="3929"/>
              <a:ext cx="49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因此</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5735" name="Object 21"/>
            <p:cNvGraphicFramePr>
              <a:graphicFrameLocks noChangeAspect="1"/>
            </p:cNvGraphicFramePr>
            <p:nvPr/>
          </p:nvGraphicFramePr>
          <p:xfrm>
            <a:off x="975" y="3838"/>
            <a:ext cx="782" cy="482"/>
          </p:xfrm>
          <a:graphic>
            <a:graphicData uri="http://schemas.openxmlformats.org/presentationml/2006/ole">
              <mc:AlternateContent xmlns:mc="http://schemas.openxmlformats.org/markup-compatibility/2006">
                <mc:Choice xmlns:v="urn:schemas-microsoft-com:vml" Requires="v">
                  <p:oleObj spid="_x0000_s159890" name="Equation" r:id="rId15" imgW="558800" imgH="393700" progId="Equation.DSMT4">
                    <p:embed/>
                  </p:oleObj>
                </mc:Choice>
                <mc:Fallback>
                  <p:oleObj name="Equation" r:id="rId15" imgW="558800" imgH="393700"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5" y="3838"/>
                          <a:ext cx="782" cy="482"/>
                        </a:xfrm>
                        <a:prstGeom prst="rect">
                          <a:avLst/>
                        </a:prstGeom>
                        <a:solidFill>
                          <a:srgbClr val="FFFF00"/>
                        </a:solidFill>
                        <a:ln>
                          <a:noFill/>
                        </a:ln>
                        <a:effectLst/>
                      </p:spPr>
                    </p:pic>
                  </p:oleObj>
                </mc:Fallback>
              </mc:AlternateContent>
            </a:graphicData>
          </a:graphic>
        </p:graphicFrame>
        <p:sp>
          <p:nvSpPr>
            <p:cNvPr id="115736" name="Rectangle 9"/>
            <p:cNvSpPr>
              <a:spLocks noChangeArrowheads="1"/>
            </p:cNvSpPr>
            <p:nvPr/>
          </p:nvSpPr>
          <p:spPr bwMode="auto">
            <a:xfrm>
              <a:off x="1791" y="3959"/>
              <a:ext cx="12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时为最大值，</a:t>
              </a:r>
              <a:endParaRPr kumimoji="1" lang="zh-CN" altLang="en-US" sz="2400">
                <a:solidFill>
                  <a:schemeClr val="tx1"/>
                </a:solidFill>
                <a:latin typeface="楷体" panose="02010609060101010101" pitchFamily="49" charset="-122"/>
                <a:ea typeface="楷体" panose="02010609060101010101" pitchFamily="49" charset="-122"/>
              </a:endParaRPr>
            </a:p>
          </p:txBody>
        </p:sp>
      </p:grpSp>
      <p:grpSp>
        <p:nvGrpSpPr>
          <p:cNvPr id="10" name="Group 23"/>
          <p:cNvGrpSpPr/>
          <p:nvPr/>
        </p:nvGrpSpPr>
        <p:grpSpPr bwMode="auto">
          <a:xfrm>
            <a:off x="6383339" y="5844581"/>
            <a:ext cx="3544887" cy="765175"/>
            <a:chOff x="3061" y="3566"/>
            <a:chExt cx="2233" cy="482"/>
          </a:xfrm>
        </p:grpSpPr>
        <p:sp>
          <p:nvSpPr>
            <p:cNvPr id="115732" name="Rectangle 9"/>
            <p:cNvSpPr>
              <a:spLocks noChangeArrowheads="1"/>
            </p:cNvSpPr>
            <p:nvPr/>
          </p:nvSpPr>
          <p:spPr bwMode="auto">
            <a:xfrm>
              <a:off x="3061" y="3702"/>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最大值为：</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5733" name="Object 25"/>
            <p:cNvGraphicFramePr>
              <a:graphicFrameLocks noChangeAspect="1"/>
            </p:cNvGraphicFramePr>
            <p:nvPr/>
          </p:nvGraphicFramePr>
          <p:xfrm>
            <a:off x="4014" y="3566"/>
            <a:ext cx="1280" cy="482"/>
          </p:xfrm>
          <a:graphic>
            <a:graphicData uri="http://schemas.openxmlformats.org/presentationml/2006/ole">
              <mc:AlternateContent xmlns:mc="http://schemas.openxmlformats.org/markup-compatibility/2006">
                <mc:Choice xmlns:v="urn:schemas-microsoft-com:vml" Requires="v">
                  <p:oleObj spid="_x0000_s159891" name="Equation" r:id="rId16" imgW="914400" imgH="393700" progId="Equation.DSMT4">
                    <p:embed/>
                  </p:oleObj>
                </mc:Choice>
                <mc:Fallback>
                  <p:oleObj name="Equation" r:id="rId16" imgW="914400" imgH="393700" progId="Equation.DSMT4">
                    <p:embed/>
                    <p:pic>
                      <p:nvPicPr>
                        <p:cNvPr id="0"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14" y="3566"/>
                          <a:ext cx="1280" cy="482"/>
                        </a:xfrm>
                        <a:prstGeom prst="rect">
                          <a:avLst/>
                        </a:prstGeom>
                        <a:solidFill>
                          <a:srgbClr val="FFFF00"/>
                        </a:solidFill>
                        <a:ln>
                          <a:noFill/>
                        </a:ln>
                        <a:effectLst/>
                      </p:spPr>
                    </p:pic>
                  </p:oleObj>
                </mc:Fallback>
              </mc:AlternateContent>
            </a:graphicData>
          </a:graphic>
        </p:graphicFrame>
      </p:grpSp>
      <p:grpSp>
        <p:nvGrpSpPr>
          <p:cNvPr id="11" name="Group 14"/>
          <p:cNvGrpSpPr/>
          <p:nvPr/>
        </p:nvGrpSpPr>
        <p:grpSpPr bwMode="auto">
          <a:xfrm>
            <a:off x="4224339" y="4892081"/>
            <a:ext cx="3506788" cy="568325"/>
            <a:chOff x="2789" y="2818"/>
            <a:chExt cx="2209" cy="358"/>
          </a:xfrm>
        </p:grpSpPr>
        <p:sp>
          <p:nvSpPr>
            <p:cNvPr id="115729" name="Rectangle 9"/>
            <p:cNvSpPr>
              <a:spLocks noChangeArrowheads="1"/>
            </p:cNvSpPr>
            <p:nvPr/>
          </p:nvSpPr>
          <p:spPr bwMode="auto">
            <a:xfrm>
              <a:off x="2789" y="2885"/>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将</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5730" name="Object 16"/>
            <p:cNvGraphicFramePr>
              <a:graphicFrameLocks noChangeAspect="1"/>
            </p:cNvGraphicFramePr>
            <p:nvPr/>
          </p:nvGraphicFramePr>
          <p:xfrm>
            <a:off x="3214" y="2818"/>
            <a:ext cx="568" cy="317"/>
          </p:xfrm>
          <a:graphic>
            <a:graphicData uri="http://schemas.openxmlformats.org/presentationml/2006/ole">
              <mc:AlternateContent xmlns:mc="http://schemas.openxmlformats.org/markup-compatibility/2006">
                <mc:Choice xmlns:v="urn:schemas-microsoft-com:vml" Requires="v">
                  <p:oleObj spid="_x0000_s159892" name="Equation" r:id="rId18" imgW="406400" imgH="228600" progId="Equation.DSMT4">
                    <p:embed/>
                  </p:oleObj>
                </mc:Choice>
                <mc:Fallback>
                  <p:oleObj name="Equation" r:id="rId18" imgW="406400" imgH="228600" progId="Equation.DSMT4">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14" y="2818"/>
                          <a:ext cx="568"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31" name="Rectangle 9"/>
            <p:cNvSpPr>
              <a:spLocks noChangeArrowheads="1"/>
            </p:cNvSpPr>
            <p:nvPr/>
          </p:nvSpPr>
          <p:spPr bwMode="auto">
            <a:xfrm>
              <a:off x="3923" y="2886"/>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代入该式：</a:t>
              </a:r>
              <a:endParaRPr kumimoji="1" lang="zh-CN" altLang="en-US" sz="2400">
                <a:solidFill>
                  <a:schemeClr val="tx1"/>
                </a:solidFill>
                <a:latin typeface="楷体" panose="02010609060101010101" pitchFamily="49" charset="-122"/>
                <a:ea typeface="楷体" panose="02010609060101010101" pitchFamily="49" charset="-122"/>
              </a:endParaRPr>
            </a:p>
          </p:txBody>
        </p:sp>
      </p:grpSp>
      <p:graphicFrame>
        <p:nvGraphicFramePr>
          <p:cNvPr id="4" name="Object 7"/>
          <p:cNvGraphicFramePr>
            <a:graphicFrameLocks noChangeAspect="1"/>
          </p:cNvGraphicFramePr>
          <p:nvPr/>
        </p:nvGraphicFramePr>
        <p:xfrm>
          <a:off x="7766050" y="4927006"/>
          <a:ext cx="1665288" cy="746125"/>
        </p:xfrm>
        <a:graphic>
          <a:graphicData uri="http://schemas.openxmlformats.org/presentationml/2006/ole">
            <mc:AlternateContent xmlns:mc="http://schemas.openxmlformats.org/markup-compatibility/2006">
              <mc:Choice xmlns:v="urn:schemas-microsoft-com:vml" Requires="v">
                <p:oleObj spid="_x0000_s159893" name="Equation" r:id="rId20" imgW="850265" imgH="419100" progId="Equation.DSMT4">
                  <p:embed/>
                </p:oleObj>
              </mc:Choice>
              <mc:Fallback>
                <p:oleObj name="Equation" r:id="rId20" imgW="850265" imgH="419100" progId="Equation.DSMT4">
                  <p:embed/>
                  <p:pic>
                    <p:nvPicPr>
                      <p:cNvPr id="0" name="Object 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66050" y="4927006"/>
                        <a:ext cx="1665288" cy="746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6936"/>
                                        </p:tgtEl>
                                        <p:attrNameLst>
                                          <p:attrName>style.visibility</p:attrName>
                                        </p:attrNameLst>
                                      </p:cBhvr>
                                      <p:to>
                                        <p:strVal val="visible"/>
                                      </p:to>
                                    </p:set>
                                    <p:animEffect transition="in" filter="wipe(left)">
                                      <p:cBhvr>
                                        <p:cTn id="7" dur="2000"/>
                                        <p:tgtEl>
                                          <p:spTgt spid="6369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6938"/>
                                        </p:tgtEl>
                                        <p:attrNameLst>
                                          <p:attrName>style.visibility</p:attrName>
                                        </p:attrNameLst>
                                      </p:cBhvr>
                                      <p:to>
                                        <p:strVal val="visible"/>
                                      </p:to>
                                    </p:set>
                                    <p:animEffect transition="in" filter="wipe(up)">
                                      <p:cBhvr>
                                        <p:cTn id="12" dur="2000"/>
                                        <p:tgtEl>
                                          <p:spTgt spid="636938"/>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amond(in)">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5913"/>
                                        </p:tgtEl>
                                        <p:attrNameLst>
                                          <p:attrName>style.visibility</p:attrName>
                                        </p:attrNameLst>
                                      </p:cBhvr>
                                      <p:to>
                                        <p:strVal val="visible"/>
                                      </p:to>
                                    </p:set>
                                    <p:animEffect transition="in" filter="wipe(left)">
                                      <p:cBhvr>
                                        <p:cTn id="22" dur="2000"/>
                                        <p:tgtEl>
                                          <p:spTgt spid="6359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2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148487"/>
                                        </p:tgtEl>
                                        <p:attrNameLst>
                                          <p:attrName>style.visibility</p:attrName>
                                        </p:attrNameLst>
                                      </p:cBhvr>
                                      <p:to>
                                        <p:strVal val="visible"/>
                                      </p:to>
                                    </p:set>
                                    <p:anim calcmode="lin" valueType="num">
                                      <p:cBhvr additive="base">
                                        <p:cTn id="32" dur="500" fill="hold"/>
                                        <p:tgtEl>
                                          <p:spTgt spid="148487"/>
                                        </p:tgtEl>
                                        <p:attrNameLst>
                                          <p:attrName>ppt_x</p:attrName>
                                        </p:attrNameLst>
                                      </p:cBhvr>
                                      <p:tavLst>
                                        <p:tav tm="0">
                                          <p:val>
                                            <p:strVal val="1+#ppt_w/2"/>
                                          </p:val>
                                        </p:tav>
                                        <p:tav tm="100000">
                                          <p:val>
                                            <p:strVal val="#ppt_x"/>
                                          </p:val>
                                        </p:tav>
                                      </p:tavLst>
                                    </p:anim>
                                    <p:anim calcmode="lin" valueType="num">
                                      <p:cBhvr additive="base">
                                        <p:cTn id="33" dur="500" fill="hold"/>
                                        <p:tgtEl>
                                          <p:spTgt spid="14848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20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up)">
                                      <p:cBhvr>
                                        <p:cTn id="43" dur="20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linds(horizontal)">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up)">
                                      <p:cBhvr>
                                        <p:cTn id="53" dur="20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blinds(horizontal)">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wipe(up)">
                                      <p:cBhvr>
                                        <p:cTn id="63" dur="2000"/>
                                        <p:tgtEl>
                                          <p:spTgt spid="4"/>
                                        </p:tgtEl>
                                      </p:cBhvr>
                                    </p:animEffect>
                                  </p:childTnLst>
                                </p:cTn>
                              </p:par>
                            </p:childTnLst>
                          </p:cTn>
                        </p:par>
                      </p:childTnLst>
                    </p:cTn>
                  </p:par>
                  <p:par>
                    <p:cTn id="64" fill="hold">
                      <p:stCondLst>
                        <p:cond delay="indefinite"/>
                      </p:stCondLst>
                      <p:childTnLst>
                        <p:par>
                          <p:cTn id="65" fill="hold">
                            <p:stCondLst>
                              <p:cond delay="0"/>
                            </p:stCondLst>
                            <p:childTnLst>
                              <p:par>
                                <p:cTn id="66" presetID="8" presetClass="entr" presetSubtype="16" fill="hold" nodeType="click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diamond(in)">
                                      <p:cBhvr>
                                        <p:cTn id="68" dur="10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additive="base">
                                        <p:cTn id="73" dur="500" fill="hold"/>
                                        <p:tgtEl>
                                          <p:spTgt spid="10"/>
                                        </p:tgtEl>
                                        <p:attrNameLst>
                                          <p:attrName>ppt_x</p:attrName>
                                        </p:attrNameLst>
                                      </p:cBhvr>
                                      <p:tavLst>
                                        <p:tav tm="0">
                                          <p:val>
                                            <p:strVal val="#ppt_x"/>
                                          </p:val>
                                        </p:tav>
                                        <p:tav tm="100000">
                                          <p:val>
                                            <p:strVal val="#ppt_x"/>
                                          </p:val>
                                        </p:tav>
                                      </p:tavLst>
                                    </p:anim>
                                    <p:anim calcmode="lin" valueType="num">
                                      <p:cBhvr additive="base">
                                        <p:cTn id="7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6" grpId="0"/>
      <p:bldP spid="635913" grpId="0"/>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3" name="Rectangle 5"/>
          <p:cNvSpPr>
            <a:spLocks noChangeArrowheads="1"/>
          </p:cNvSpPr>
          <p:nvPr/>
        </p:nvSpPr>
        <p:spPr bwMode="auto">
          <a:xfrm>
            <a:off x="1992314" y="1184910"/>
            <a:ext cx="4175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rgbClr val="FF0000"/>
                </a:solidFill>
                <a:latin typeface="宋体" panose="02010600030101010101" pitchFamily="2" charset="-122"/>
              </a:rPr>
              <a:t>k</a:t>
            </a:r>
            <a:r>
              <a:rPr kumimoji="1" lang="zh-CN" altLang="en-US" sz="2400" b="1">
                <a:solidFill>
                  <a:srgbClr val="FF0000"/>
                </a:solidFill>
                <a:latin typeface="宋体" panose="02010600030101010101" pitchFamily="2" charset="-122"/>
              </a:rPr>
              <a:t>＝</a:t>
            </a:r>
            <a:r>
              <a:rPr kumimoji="1" lang="en-US" altLang="zh-CN" sz="2400" b="1">
                <a:solidFill>
                  <a:srgbClr val="FF0000"/>
                </a:solidFill>
                <a:latin typeface="宋体" panose="02010600030101010101" pitchFamily="2" charset="-122"/>
              </a:rPr>
              <a:t>1</a:t>
            </a:r>
            <a:r>
              <a:rPr kumimoji="1" lang="zh-CN" altLang="en-US" sz="2400" b="1">
                <a:solidFill>
                  <a:srgbClr val="FF0000"/>
                </a:solidFill>
                <a:latin typeface="宋体" panose="02010600030101010101" pitchFamily="2" charset="-122"/>
              </a:rPr>
              <a:t>时：</a:t>
            </a:r>
            <a:endParaRPr kumimoji="1" lang="zh-CN" altLang="en-US" sz="2400" b="1">
              <a:solidFill>
                <a:srgbClr val="FF0000"/>
              </a:solidFill>
              <a:latin typeface="宋体" panose="02010600030101010101" pitchFamily="2" charset="-122"/>
            </a:endParaRPr>
          </a:p>
        </p:txBody>
      </p:sp>
      <p:sp>
        <p:nvSpPr>
          <p:cNvPr id="636936" name="Rectangle 8"/>
          <p:cNvSpPr>
            <a:spLocks noChangeArrowheads="1"/>
          </p:cNvSpPr>
          <p:nvPr/>
        </p:nvSpPr>
        <p:spPr bwMode="auto">
          <a:xfrm>
            <a:off x="2640608" y="3559811"/>
            <a:ext cx="172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递推方程</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636938" name="Object 10"/>
          <p:cNvGraphicFramePr>
            <a:graphicFrameLocks noChangeAspect="1"/>
          </p:cNvGraphicFramePr>
          <p:nvPr/>
        </p:nvGraphicFramePr>
        <p:xfrm>
          <a:off x="4295776" y="3702685"/>
          <a:ext cx="3971925" cy="2782888"/>
        </p:xfrm>
        <a:graphic>
          <a:graphicData uri="http://schemas.openxmlformats.org/presentationml/2006/ole">
            <mc:AlternateContent xmlns:mc="http://schemas.openxmlformats.org/markup-compatibility/2006">
              <mc:Choice xmlns:v="urn:schemas-microsoft-com:vml" Requires="v">
                <p:oleObj spid="_x0000_s117162" name="Equation" r:id="rId1" imgW="2032000" imgH="1422400" progId="Equation.DSMT4">
                  <p:embed/>
                </p:oleObj>
              </mc:Choice>
              <mc:Fallback>
                <p:oleObj name="Equation" r:id="rId1" imgW="2032000" imgH="14224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5776" y="3702685"/>
                        <a:ext cx="3971925" cy="2782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2"/>
          <p:cNvGrpSpPr/>
          <p:nvPr/>
        </p:nvGrpSpPr>
        <p:grpSpPr bwMode="auto">
          <a:xfrm>
            <a:off x="2482850" y="2262822"/>
            <a:ext cx="4565650" cy="504826"/>
            <a:chOff x="604" y="1181"/>
            <a:chExt cx="2876" cy="318"/>
          </a:xfrm>
        </p:grpSpPr>
        <p:graphicFrame>
          <p:nvGraphicFramePr>
            <p:cNvPr id="116748" name="Object 5"/>
            <p:cNvGraphicFramePr>
              <a:graphicFrameLocks noChangeAspect="1"/>
            </p:cNvGraphicFramePr>
            <p:nvPr/>
          </p:nvGraphicFramePr>
          <p:xfrm>
            <a:off x="2484" y="1182"/>
            <a:ext cx="996" cy="317"/>
          </p:xfrm>
          <a:graphic>
            <a:graphicData uri="http://schemas.openxmlformats.org/presentationml/2006/ole">
              <mc:AlternateContent xmlns:mc="http://schemas.openxmlformats.org/markup-compatibility/2006">
                <mc:Choice xmlns:v="urn:schemas-microsoft-com:vml" Requires="v">
                  <p:oleObj spid="_x0000_s117163" name="Equation" r:id="rId3" imgW="635000" imgH="228600" progId="Equation.DSMT4">
                    <p:embed/>
                  </p:oleObj>
                </mc:Choice>
                <mc:Fallback>
                  <p:oleObj name="Equation" r:id="rId3" imgW="635000" imgH="2286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 y="1182"/>
                          <a:ext cx="996"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749" name="Rectangle 9"/>
            <p:cNvSpPr>
              <a:spLocks noChangeArrowheads="1"/>
            </p:cNvSpPr>
            <p:nvPr/>
          </p:nvSpPr>
          <p:spPr bwMode="auto">
            <a:xfrm>
              <a:off x="604" y="1181"/>
              <a:ext cx="18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决策变量允许集合：</a:t>
              </a:r>
              <a:endParaRPr kumimoji="1" lang="zh-CN" altLang="en-US" sz="2400">
                <a:solidFill>
                  <a:schemeClr val="tx1"/>
                </a:solidFill>
                <a:latin typeface="楷体" panose="02010609060101010101" pitchFamily="49" charset="-122"/>
                <a:ea typeface="楷体" panose="02010609060101010101" pitchFamily="49" charset="-122"/>
              </a:endParaRPr>
            </a:p>
          </p:txBody>
        </p:sp>
      </p:grpSp>
      <p:grpSp>
        <p:nvGrpSpPr>
          <p:cNvPr id="3" name="Group 11"/>
          <p:cNvGrpSpPr/>
          <p:nvPr/>
        </p:nvGrpSpPr>
        <p:grpSpPr bwMode="auto">
          <a:xfrm>
            <a:off x="2482851" y="1689735"/>
            <a:ext cx="4125913" cy="530226"/>
            <a:chOff x="604" y="820"/>
            <a:chExt cx="2599" cy="334"/>
          </a:xfrm>
        </p:grpSpPr>
        <p:sp>
          <p:nvSpPr>
            <p:cNvPr id="116746" name="Rectangle 9"/>
            <p:cNvSpPr>
              <a:spLocks noChangeArrowheads="1"/>
            </p:cNvSpPr>
            <p:nvPr/>
          </p:nvSpPr>
          <p:spPr bwMode="auto">
            <a:xfrm>
              <a:off x="604" y="864"/>
              <a:ext cx="184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状态变量允许集合：</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6747" name="Object 8"/>
            <p:cNvGraphicFramePr>
              <a:graphicFrameLocks noChangeAspect="1"/>
            </p:cNvGraphicFramePr>
            <p:nvPr/>
          </p:nvGraphicFramePr>
          <p:xfrm>
            <a:off x="2669" y="820"/>
            <a:ext cx="534" cy="317"/>
          </p:xfrm>
          <a:graphic>
            <a:graphicData uri="http://schemas.openxmlformats.org/presentationml/2006/ole">
              <mc:AlternateContent xmlns:mc="http://schemas.openxmlformats.org/markup-compatibility/2006">
                <mc:Choice xmlns:v="urn:schemas-microsoft-com:vml" Requires="v">
                  <p:oleObj spid="_x0000_s117164" name="Equation" r:id="rId5" imgW="381000" imgH="228600" progId="Equation.DSMT4">
                    <p:embed/>
                  </p:oleObj>
                </mc:Choice>
                <mc:Fallback>
                  <p:oleObj name="Equation" r:id="rId5" imgW="381000" imgH="2286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9" y="820"/>
                          <a:ext cx="534"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13"/>
          <p:cNvGrpSpPr/>
          <p:nvPr/>
        </p:nvGrpSpPr>
        <p:grpSpPr bwMode="auto">
          <a:xfrm>
            <a:off x="2566988" y="2767648"/>
            <a:ext cx="4489450" cy="576263"/>
            <a:chOff x="657" y="1499"/>
            <a:chExt cx="2828" cy="363"/>
          </a:xfrm>
        </p:grpSpPr>
        <p:graphicFrame>
          <p:nvGraphicFramePr>
            <p:cNvPr id="116744" name="Object 9"/>
            <p:cNvGraphicFramePr>
              <a:graphicFrameLocks noChangeAspect="1"/>
            </p:cNvGraphicFramePr>
            <p:nvPr/>
          </p:nvGraphicFramePr>
          <p:xfrm>
            <a:off x="2449" y="1545"/>
            <a:ext cx="1036" cy="317"/>
          </p:xfrm>
          <a:graphic>
            <a:graphicData uri="http://schemas.openxmlformats.org/presentationml/2006/ole">
              <mc:AlternateContent xmlns:mc="http://schemas.openxmlformats.org/markup-compatibility/2006">
                <mc:Choice xmlns:v="urn:schemas-microsoft-com:vml" Requires="v">
                  <p:oleObj spid="_x0000_s117165" name="Equation" r:id="rId7" imgW="660400" imgH="228600" progId="Equation.DSMT4">
                    <p:embed/>
                  </p:oleObj>
                </mc:Choice>
                <mc:Fallback>
                  <p:oleObj name="Equation" r:id="rId7" imgW="660400" imgH="2286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9" y="1545"/>
                          <a:ext cx="1036"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745" name="Rectangle 9"/>
            <p:cNvSpPr>
              <a:spLocks noChangeArrowheads="1"/>
            </p:cNvSpPr>
            <p:nvPr/>
          </p:nvSpPr>
          <p:spPr bwMode="auto">
            <a:xfrm>
              <a:off x="657" y="1499"/>
              <a:ext cx="145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状态转移方程：</a:t>
              </a:r>
              <a:endParaRPr kumimoji="1" lang="zh-CN" altLang="en-US" sz="2400">
                <a:solidFill>
                  <a:schemeClr val="tx1"/>
                </a:solidFill>
                <a:latin typeface="楷体" panose="02010609060101010101" pitchFamily="49" charset="-122"/>
                <a:ea typeface="楷体" panose="02010609060101010101" pitchFamily="49" charset="-122"/>
              </a:endParaRPr>
            </a:p>
          </p:txBody>
        </p:sp>
      </p:gr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6933"/>
                                        </p:tgtEl>
                                        <p:attrNameLst>
                                          <p:attrName>style.visibility</p:attrName>
                                        </p:attrNameLst>
                                      </p:cBhvr>
                                      <p:to>
                                        <p:strVal val="visible"/>
                                      </p:to>
                                    </p:set>
                                    <p:animEffect transition="in" filter="wipe(left)">
                                      <p:cBhvr>
                                        <p:cTn id="7" dur="2000"/>
                                        <p:tgtEl>
                                          <p:spTgt spid="6369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36936"/>
                                        </p:tgtEl>
                                        <p:attrNameLst>
                                          <p:attrName>style.visibility</p:attrName>
                                        </p:attrNameLst>
                                      </p:cBhvr>
                                      <p:to>
                                        <p:strVal val="visible"/>
                                      </p:to>
                                    </p:set>
                                    <p:animEffect transition="in" filter="wipe(left)">
                                      <p:cBhvr>
                                        <p:cTn id="27" dur="2000"/>
                                        <p:tgtEl>
                                          <p:spTgt spid="6369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36938"/>
                                        </p:tgtEl>
                                        <p:attrNameLst>
                                          <p:attrName>style.visibility</p:attrName>
                                        </p:attrNameLst>
                                      </p:cBhvr>
                                      <p:to>
                                        <p:strVal val="visible"/>
                                      </p:to>
                                    </p:set>
                                    <p:animEffect transition="in" filter="wipe(up)">
                                      <p:cBhvr>
                                        <p:cTn id="32" dur="2000"/>
                                        <p:tgtEl>
                                          <p:spTgt spid="636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3" grpId="0"/>
      <p:bldP spid="63693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6" name="Rectangle 8"/>
          <p:cNvSpPr>
            <a:spLocks noChangeArrowheads="1"/>
          </p:cNvSpPr>
          <p:nvPr/>
        </p:nvSpPr>
        <p:spPr bwMode="auto">
          <a:xfrm>
            <a:off x="2351089" y="1281712"/>
            <a:ext cx="3959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现在问题转化为求极值问题：</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636938" name="Object 10"/>
          <p:cNvGraphicFramePr>
            <a:graphicFrameLocks noChangeAspect="1"/>
          </p:cNvGraphicFramePr>
          <p:nvPr/>
        </p:nvGraphicFramePr>
        <p:xfrm>
          <a:off x="3791744" y="1715100"/>
          <a:ext cx="3897312" cy="844550"/>
        </p:xfrm>
        <a:graphic>
          <a:graphicData uri="http://schemas.openxmlformats.org/presentationml/2006/ole">
            <mc:AlternateContent xmlns:mc="http://schemas.openxmlformats.org/markup-compatibility/2006">
              <mc:Choice xmlns:v="urn:schemas-microsoft-com:vml" Requires="v">
                <p:oleObj spid="_x0000_s118185" name="Equation" r:id="rId1" imgW="1993900" imgH="431800" progId="Equation.DSMT4">
                  <p:embed/>
                </p:oleObj>
              </mc:Choice>
              <mc:Fallback>
                <p:oleObj name="Equation" r:id="rId1" imgW="1993900" imgH="4318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1744" y="1715100"/>
                        <a:ext cx="3897312" cy="8445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5913" name="Rectangle 9"/>
          <p:cNvSpPr>
            <a:spLocks noChangeArrowheads="1"/>
          </p:cNvSpPr>
          <p:nvPr/>
        </p:nvSpPr>
        <p:spPr bwMode="auto">
          <a:xfrm>
            <a:off x="2566988" y="3345463"/>
            <a:ext cx="3688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求一阶导数，并令其为</a:t>
            </a:r>
            <a:r>
              <a:rPr kumimoji="1" lang="en-US" altLang="zh-CN" sz="2400">
                <a:solidFill>
                  <a:schemeClr val="tx1"/>
                </a:solidFill>
                <a:latin typeface="楷体" panose="02010609060101010101" pitchFamily="49" charset="-122"/>
                <a:ea typeface="楷体" panose="02010609060101010101" pitchFamily="49" charset="-122"/>
                <a:cs typeface="楷体" panose="02010609060101010101" pitchFamily="49" charset="-122"/>
              </a:rPr>
              <a:t>0</a:t>
            </a:r>
            <a:r>
              <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rPr>
              <a:t>：</a:t>
            </a:r>
            <a:endParaRPr kumimoji="1" lang="zh-CN" altLang="en-US" sz="240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graphicFrame>
        <p:nvGraphicFramePr>
          <p:cNvPr id="150535" name="Object 7"/>
          <p:cNvGraphicFramePr>
            <a:graphicFrameLocks noChangeAspect="1"/>
          </p:cNvGraphicFramePr>
          <p:nvPr/>
        </p:nvGraphicFramePr>
        <p:xfrm>
          <a:off x="4656138" y="4955187"/>
          <a:ext cx="1185862" cy="1398588"/>
        </p:xfrm>
        <a:graphic>
          <a:graphicData uri="http://schemas.openxmlformats.org/presentationml/2006/ole">
            <mc:AlternateContent xmlns:mc="http://schemas.openxmlformats.org/markup-compatibility/2006">
              <mc:Choice xmlns:v="urn:schemas-microsoft-com:vml" Requires="v">
                <p:oleObj spid="_x0000_s118186" name="Equation" r:id="rId3" imgW="533400" imgH="635000" progId="Equation.DSMT4">
                  <p:embed/>
                </p:oleObj>
              </mc:Choice>
              <mc:Fallback>
                <p:oleObj name="Equation" r:id="rId3" imgW="533400" imgH="6350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138" y="4955187"/>
                        <a:ext cx="1185862" cy="1398588"/>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Rectangle 9"/>
          <p:cNvSpPr>
            <a:spLocks noChangeArrowheads="1"/>
          </p:cNvSpPr>
          <p:nvPr/>
        </p:nvSpPr>
        <p:spPr bwMode="auto">
          <a:xfrm>
            <a:off x="2566989" y="5169500"/>
            <a:ext cx="1706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可以求得：</a:t>
            </a:r>
            <a:endParaRPr kumimoji="1" lang="zh-CN" altLang="en-US" sz="2400">
              <a:solidFill>
                <a:schemeClr val="tx1"/>
              </a:solidFill>
              <a:latin typeface="楷体" panose="02010609060101010101" pitchFamily="49" charset="-122"/>
              <a:ea typeface="楷体" panose="02010609060101010101" pitchFamily="49" charset="-122"/>
            </a:endParaRPr>
          </a:p>
        </p:txBody>
      </p:sp>
      <p:grpSp>
        <p:nvGrpSpPr>
          <p:cNvPr id="3" name="Group 9"/>
          <p:cNvGrpSpPr/>
          <p:nvPr/>
        </p:nvGrpSpPr>
        <p:grpSpPr bwMode="auto">
          <a:xfrm>
            <a:off x="2855914" y="2578701"/>
            <a:ext cx="2886075" cy="769937"/>
            <a:chOff x="839" y="1207"/>
            <a:chExt cx="1818" cy="485"/>
          </a:xfrm>
        </p:grpSpPr>
        <p:sp>
          <p:nvSpPr>
            <p:cNvPr id="117771" name="Rectangle 9"/>
            <p:cNvSpPr>
              <a:spLocks noChangeArrowheads="1"/>
            </p:cNvSpPr>
            <p:nvPr/>
          </p:nvSpPr>
          <p:spPr bwMode="auto">
            <a:xfrm>
              <a:off x="839" y="1328"/>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令</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7772" name="Object 5"/>
            <p:cNvGraphicFramePr>
              <a:graphicFrameLocks noChangeAspect="1"/>
            </p:cNvGraphicFramePr>
            <p:nvPr/>
          </p:nvGraphicFramePr>
          <p:xfrm>
            <a:off x="1202" y="1207"/>
            <a:ext cx="1455" cy="485"/>
          </p:xfrm>
          <a:graphic>
            <a:graphicData uri="http://schemas.openxmlformats.org/presentationml/2006/ole">
              <mc:AlternateContent xmlns:mc="http://schemas.openxmlformats.org/markup-compatibility/2006">
                <mc:Choice xmlns:v="urn:schemas-microsoft-com:vml" Requires="v">
                  <p:oleObj spid="_x0000_s118187" name="Equation" r:id="rId5" imgW="1180465" imgH="393700" progId="Equation.DSMT4">
                    <p:embed/>
                  </p:oleObj>
                </mc:Choice>
                <mc:Fallback>
                  <p:oleObj name="Equation" r:id="rId5" imgW="1180465" imgH="3937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 y="1207"/>
                          <a:ext cx="1455" cy="48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 name="Object 4"/>
          <p:cNvGraphicFramePr>
            <a:graphicFrameLocks noChangeAspect="1"/>
          </p:cNvGraphicFramePr>
          <p:nvPr/>
        </p:nvGraphicFramePr>
        <p:xfrm>
          <a:off x="3935414" y="4020150"/>
          <a:ext cx="4135437" cy="842962"/>
        </p:xfrm>
        <a:graphic>
          <a:graphicData uri="http://schemas.openxmlformats.org/presentationml/2006/ole">
            <mc:AlternateContent xmlns:mc="http://schemas.openxmlformats.org/markup-compatibility/2006">
              <mc:Choice xmlns:v="urn:schemas-microsoft-com:vml" Requires="v">
                <p:oleObj spid="_x0000_s118188" name="Equation" r:id="rId7" imgW="1955800" imgH="431800" progId="Equation.DSMT4">
                  <p:embed/>
                </p:oleObj>
              </mc:Choice>
              <mc:Fallback>
                <p:oleObj name="Equation" r:id="rId7" imgW="1955800" imgH="4318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5414" y="4020150"/>
                        <a:ext cx="4135437" cy="8429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6936"/>
                                        </p:tgtEl>
                                        <p:attrNameLst>
                                          <p:attrName>style.visibility</p:attrName>
                                        </p:attrNameLst>
                                      </p:cBhvr>
                                      <p:to>
                                        <p:strVal val="visible"/>
                                      </p:to>
                                    </p:set>
                                    <p:animEffect transition="in" filter="wipe(left)">
                                      <p:cBhvr>
                                        <p:cTn id="7" dur="2000"/>
                                        <p:tgtEl>
                                          <p:spTgt spid="6369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6938"/>
                                        </p:tgtEl>
                                        <p:attrNameLst>
                                          <p:attrName>style.visibility</p:attrName>
                                        </p:attrNameLst>
                                      </p:cBhvr>
                                      <p:to>
                                        <p:strVal val="visible"/>
                                      </p:to>
                                    </p:set>
                                    <p:animEffect transition="in" filter="wipe(up)">
                                      <p:cBhvr>
                                        <p:cTn id="12" dur="2000"/>
                                        <p:tgtEl>
                                          <p:spTgt spid="6369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5913"/>
                                        </p:tgtEl>
                                        <p:attrNameLst>
                                          <p:attrName>style.visibility</p:attrName>
                                        </p:attrNameLst>
                                      </p:cBhvr>
                                      <p:to>
                                        <p:strVal val="visible"/>
                                      </p:to>
                                    </p:set>
                                    <p:animEffect transition="in" filter="wipe(left)">
                                      <p:cBhvr>
                                        <p:cTn id="22" dur="2000"/>
                                        <p:tgtEl>
                                          <p:spTgt spid="6359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2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2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150535"/>
                                        </p:tgtEl>
                                        <p:attrNameLst>
                                          <p:attrName>style.visibility</p:attrName>
                                        </p:attrNameLst>
                                      </p:cBhvr>
                                      <p:to>
                                        <p:strVal val="visible"/>
                                      </p:to>
                                    </p:set>
                                    <p:anim calcmode="lin" valueType="num">
                                      <p:cBhvr additive="base">
                                        <p:cTn id="37" dur="500" fill="hold"/>
                                        <p:tgtEl>
                                          <p:spTgt spid="150535"/>
                                        </p:tgtEl>
                                        <p:attrNameLst>
                                          <p:attrName>ppt_x</p:attrName>
                                        </p:attrNameLst>
                                      </p:cBhvr>
                                      <p:tavLst>
                                        <p:tav tm="0">
                                          <p:val>
                                            <p:strVal val="1+#ppt_w/2"/>
                                          </p:val>
                                        </p:tav>
                                        <p:tav tm="100000">
                                          <p:val>
                                            <p:strVal val="#ppt_x"/>
                                          </p:val>
                                        </p:tav>
                                      </p:tavLst>
                                    </p:anim>
                                    <p:anim calcmode="lin" valueType="num">
                                      <p:cBhvr additive="base">
                                        <p:cTn id="38" dur="500" fill="hold"/>
                                        <p:tgtEl>
                                          <p:spTgt spid="1505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6" grpId="0"/>
      <p:bldP spid="635913" grpId="0"/>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13" name="Rectangle 9"/>
          <p:cNvSpPr>
            <a:spLocks noChangeArrowheads="1"/>
          </p:cNvSpPr>
          <p:nvPr/>
        </p:nvSpPr>
        <p:spPr bwMode="auto">
          <a:xfrm>
            <a:off x="2424113" y="881866"/>
            <a:ext cx="2621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继续求二阶导数：</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636938" name="Object 10"/>
          <p:cNvGraphicFramePr>
            <a:graphicFrameLocks noChangeAspect="1"/>
          </p:cNvGraphicFramePr>
          <p:nvPr/>
        </p:nvGraphicFramePr>
        <p:xfrm>
          <a:off x="3143250" y="1459717"/>
          <a:ext cx="3525838" cy="784225"/>
        </p:xfrm>
        <a:graphic>
          <a:graphicData uri="http://schemas.openxmlformats.org/presentationml/2006/ole">
            <mc:AlternateContent xmlns:mc="http://schemas.openxmlformats.org/markup-compatibility/2006">
              <mc:Choice xmlns:v="urn:schemas-microsoft-com:vml" Requires="v">
                <p:oleObj spid="_x0000_s119528" name="Equation" r:id="rId1" imgW="1803400" imgH="457200" progId="Equation.DSMT4">
                  <p:embed/>
                </p:oleObj>
              </mc:Choice>
              <mc:Fallback>
                <p:oleObj name="Equation" r:id="rId1" imgW="1803400" imgH="4572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1459717"/>
                        <a:ext cx="3525838" cy="7842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5"/>
          <p:cNvGrpSpPr/>
          <p:nvPr>
            <p:custDataLst>
              <p:tags r:id="rId3"/>
            </p:custDataLst>
          </p:nvPr>
        </p:nvGrpSpPr>
        <p:grpSpPr bwMode="auto">
          <a:xfrm>
            <a:off x="1774826" y="2377291"/>
            <a:ext cx="3506788" cy="503238"/>
            <a:chOff x="158" y="1468"/>
            <a:chExt cx="2209" cy="317"/>
          </a:xfrm>
        </p:grpSpPr>
        <p:sp>
          <p:nvSpPr>
            <p:cNvPr id="118804" name="Rectangle 9"/>
            <p:cNvSpPr>
              <a:spLocks noChangeArrowheads="1"/>
            </p:cNvSpPr>
            <p:nvPr>
              <p:custDataLst>
                <p:tags r:id="rId4"/>
              </p:custDataLst>
            </p:nvPr>
          </p:nvSpPr>
          <p:spPr bwMode="auto">
            <a:xfrm>
              <a:off x="158" y="1479"/>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将</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8805" name="Object 7"/>
            <p:cNvGraphicFramePr>
              <a:graphicFrameLocks noChangeAspect="1"/>
            </p:cNvGraphicFramePr>
            <p:nvPr>
              <p:custDataLst>
                <p:tags r:id="rId5"/>
              </p:custDataLst>
            </p:nvPr>
          </p:nvGraphicFramePr>
          <p:xfrm>
            <a:off x="536" y="1468"/>
            <a:ext cx="569" cy="317"/>
          </p:xfrm>
          <a:graphic>
            <a:graphicData uri="http://schemas.openxmlformats.org/presentationml/2006/ole">
              <mc:AlternateContent xmlns:mc="http://schemas.openxmlformats.org/markup-compatibility/2006">
                <mc:Choice xmlns:v="urn:schemas-microsoft-com:vml" Requires="v">
                  <p:oleObj spid="_x0000_s119529" name="Equation" r:id="rId6" imgW="406400" imgH="228600" progId="Equation.DSMT4">
                    <p:embed/>
                  </p:oleObj>
                </mc:Choice>
                <mc:Fallback>
                  <p:oleObj name="Equation" r:id="rId6" imgW="406400" imgH="2286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 y="1468"/>
                          <a:ext cx="569" cy="317"/>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806" name="Rectangle 9"/>
            <p:cNvSpPr>
              <a:spLocks noChangeArrowheads="1"/>
            </p:cNvSpPr>
            <p:nvPr>
              <p:custDataLst>
                <p:tags r:id="rId8"/>
              </p:custDataLst>
            </p:nvPr>
          </p:nvSpPr>
          <p:spPr bwMode="auto">
            <a:xfrm>
              <a:off x="1292" y="1479"/>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代入上式：</a:t>
              </a:r>
              <a:endParaRPr kumimoji="1" lang="zh-CN" altLang="en-US" sz="2400">
                <a:solidFill>
                  <a:schemeClr val="tx1"/>
                </a:solidFill>
                <a:latin typeface="楷体" panose="02010609060101010101" pitchFamily="49" charset="-122"/>
                <a:ea typeface="楷体" panose="02010609060101010101" pitchFamily="49" charset="-122"/>
              </a:endParaRPr>
            </a:p>
          </p:txBody>
        </p:sp>
      </p:grpSp>
      <p:graphicFrame>
        <p:nvGraphicFramePr>
          <p:cNvPr id="4" name="Object 3"/>
          <p:cNvGraphicFramePr>
            <a:graphicFrameLocks noChangeAspect="1"/>
          </p:cNvGraphicFramePr>
          <p:nvPr/>
        </p:nvGraphicFramePr>
        <p:xfrm>
          <a:off x="3503614" y="2948791"/>
          <a:ext cx="5018087" cy="814388"/>
        </p:xfrm>
        <a:graphic>
          <a:graphicData uri="http://schemas.openxmlformats.org/presentationml/2006/ole">
            <mc:AlternateContent xmlns:mc="http://schemas.openxmlformats.org/markup-compatibility/2006">
              <mc:Choice xmlns:v="urn:schemas-microsoft-com:vml" Requires="v">
                <p:oleObj spid="_x0000_s119530" name="Equation" r:id="rId9" imgW="2565400" imgH="457200" progId="Equation.DSMT4">
                  <p:embed/>
                </p:oleObj>
              </mc:Choice>
              <mc:Fallback>
                <p:oleObj name="Equation" r:id="rId9" imgW="2565400" imgH="4572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3614" y="2948791"/>
                        <a:ext cx="5018087" cy="8143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10"/>
          <p:cNvGrpSpPr/>
          <p:nvPr>
            <p:custDataLst>
              <p:tags r:id="rId11"/>
            </p:custDataLst>
          </p:nvPr>
        </p:nvGrpSpPr>
        <p:grpSpPr bwMode="auto">
          <a:xfrm>
            <a:off x="1992314" y="5806292"/>
            <a:ext cx="4098925" cy="765175"/>
            <a:chOff x="476" y="3838"/>
            <a:chExt cx="2582" cy="482"/>
          </a:xfrm>
        </p:grpSpPr>
        <p:sp>
          <p:nvSpPr>
            <p:cNvPr id="118801" name="Rectangle 9"/>
            <p:cNvSpPr>
              <a:spLocks noChangeArrowheads="1"/>
            </p:cNvSpPr>
            <p:nvPr>
              <p:custDataLst>
                <p:tags r:id="rId12"/>
              </p:custDataLst>
            </p:nvPr>
          </p:nvSpPr>
          <p:spPr bwMode="auto">
            <a:xfrm>
              <a:off x="476" y="3928"/>
              <a:ext cx="49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因此</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8802" name="Object 12"/>
            <p:cNvGraphicFramePr>
              <a:graphicFrameLocks noChangeAspect="1"/>
            </p:cNvGraphicFramePr>
            <p:nvPr>
              <p:custDataLst>
                <p:tags r:id="rId13"/>
              </p:custDataLst>
            </p:nvPr>
          </p:nvGraphicFramePr>
          <p:xfrm>
            <a:off x="993" y="3838"/>
            <a:ext cx="746" cy="482"/>
          </p:xfrm>
          <a:graphic>
            <a:graphicData uri="http://schemas.openxmlformats.org/presentationml/2006/ole">
              <mc:AlternateContent xmlns:mc="http://schemas.openxmlformats.org/markup-compatibility/2006">
                <mc:Choice xmlns:v="urn:schemas-microsoft-com:vml" Requires="v">
                  <p:oleObj spid="_x0000_s119531" name="Equation" r:id="rId14" imgW="533400" imgH="393700" progId="Equation.DSMT4">
                    <p:embed/>
                  </p:oleObj>
                </mc:Choice>
                <mc:Fallback>
                  <p:oleObj name="Equation" r:id="rId14" imgW="533400" imgH="393700"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3" y="3838"/>
                          <a:ext cx="746" cy="482"/>
                        </a:xfrm>
                        <a:prstGeom prst="rect">
                          <a:avLst/>
                        </a:prstGeom>
                        <a:solidFill>
                          <a:srgbClr val="FFFF00"/>
                        </a:solidFill>
                        <a:ln>
                          <a:noFill/>
                        </a:ln>
                        <a:effectLst/>
                      </p:spPr>
                    </p:pic>
                  </p:oleObj>
                </mc:Fallback>
              </mc:AlternateContent>
            </a:graphicData>
          </a:graphic>
        </p:graphicFrame>
        <p:sp>
          <p:nvSpPr>
            <p:cNvPr id="118803" name="Rectangle 9"/>
            <p:cNvSpPr>
              <a:spLocks noChangeArrowheads="1"/>
            </p:cNvSpPr>
            <p:nvPr>
              <p:custDataLst>
                <p:tags r:id="rId16"/>
              </p:custDataLst>
            </p:nvPr>
          </p:nvSpPr>
          <p:spPr bwMode="auto">
            <a:xfrm>
              <a:off x="1791" y="3958"/>
              <a:ext cx="12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时为最大值，</a:t>
              </a:r>
              <a:endParaRPr kumimoji="1" lang="zh-CN" altLang="en-US" sz="2400">
                <a:solidFill>
                  <a:schemeClr val="tx1"/>
                </a:solidFill>
                <a:latin typeface="楷体" panose="02010609060101010101" pitchFamily="49" charset="-122"/>
                <a:ea typeface="楷体" panose="02010609060101010101" pitchFamily="49" charset="-122"/>
              </a:endParaRPr>
            </a:p>
          </p:txBody>
        </p:sp>
      </p:grpSp>
      <p:grpSp>
        <p:nvGrpSpPr>
          <p:cNvPr id="5" name="Group 14"/>
          <p:cNvGrpSpPr/>
          <p:nvPr/>
        </p:nvGrpSpPr>
        <p:grpSpPr bwMode="auto">
          <a:xfrm>
            <a:off x="6069649" y="5806292"/>
            <a:ext cx="3502025" cy="765175"/>
            <a:chOff x="3061" y="3566"/>
            <a:chExt cx="2206" cy="482"/>
          </a:xfrm>
        </p:grpSpPr>
        <p:sp>
          <p:nvSpPr>
            <p:cNvPr id="118799" name="Rectangle 9"/>
            <p:cNvSpPr>
              <a:spLocks noChangeArrowheads="1"/>
            </p:cNvSpPr>
            <p:nvPr/>
          </p:nvSpPr>
          <p:spPr bwMode="auto">
            <a:xfrm>
              <a:off x="3061" y="3701"/>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最大值为：</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8800" name="Object 16"/>
            <p:cNvGraphicFramePr>
              <a:graphicFrameLocks noChangeAspect="1"/>
            </p:cNvGraphicFramePr>
            <p:nvPr/>
          </p:nvGraphicFramePr>
          <p:xfrm>
            <a:off x="4041" y="3566"/>
            <a:ext cx="1226" cy="482"/>
          </p:xfrm>
          <a:graphic>
            <a:graphicData uri="http://schemas.openxmlformats.org/presentationml/2006/ole">
              <mc:AlternateContent xmlns:mc="http://schemas.openxmlformats.org/markup-compatibility/2006">
                <mc:Choice xmlns:v="urn:schemas-microsoft-com:vml" Requires="v">
                  <p:oleObj spid="_x0000_s119532" name="Equation" r:id="rId17" imgW="875665" imgH="393700" progId="Equation.DSMT4">
                    <p:embed/>
                  </p:oleObj>
                </mc:Choice>
                <mc:Fallback>
                  <p:oleObj name="Equation" r:id="rId17" imgW="875665" imgH="393700" progId="Equation.DSMT4">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41" y="3566"/>
                          <a:ext cx="1226" cy="482"/>
                        </a:xfrm>
                        <a:prstGeom prst="rect">
                          <a:avLst/>
                        </a:prstGeom>
                        <a:solidFill>
                          <a:srgbClr val="FFFF00"/>
                        </a:solidFill>
                        <a:ln>
                          <a:noFill/>
                        </a:ln>
                        <a:effectLst/>
                      </p:spPr>
                    </p:pic>
                  </p:oleObj>
                </mc:Fallback>
              </mc:AlternateContent>
            </a:graphicData>
          </a:graphic>
        </p:graphicFrame>
      </p:grpSp>
      <p:grpSp>
        <p:nvGrpSpPr>
          <p:cNvPr id="6" name="Group 17"/>
          <p:cNvGrpSpPr/>
          <p:nvPr>
            <p:custDataLst>
              <p:tags r:id="rId19"/>
            </p:custDataLst>
          </p:nvPr>
        </p:nvGrpSpPr>
        <p:grpSpPr bwMode="auto">
          <a:xfrm>
            <a:off x="1919288" y="3763180"/>
            <a:ext cx="3362325" cy="866775"/>
            <a:chOff x="249" y="2341"/>
            <a:chExt cx="2118" cy="546"/>
          </a:xfrm>
        </p:grpSpPr>
        <p:sp>
          <p:nvSpPr>
            <p:cNvPr id="118796" name="Rectangle 9"/>
            <p:cNvSpPr>
              <a:spLocks noChangeArrowheads="1"/>
            </p:cNvSpPr>
            <p:nvPr>
              <p:custDataLst>
                <p:tags r:id="rId20"/>
              </p:custDataLst>
            </p:nvPr>
          </p:nvSpPr>
          <p:spPr bwMode="auto">
            <a:xfrm>
              <a:off x="249" y="2431"/>
              <a:ext cx="30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将</a:t>
              </a:r>
              <a:endParaRPr kumimoji="1" lang="zh-CN" altLang="en-US" sz="2400">
                <a:solidFill>
                  <a:schemeClr val="tx1"/>
                </a:solidFill>
                <a:latin typeface="楷体" panose="02010609060101010101" pitchFamily="49" charset="-122"/>
                <a:ea typeface="楷体" panose="02010609060101010101" pitchFamily="49" charset="-122"/>
              </a:endParaRPr>
            </a:p>
          </p:txBody>
        </p:sp>
        <p:graphicFrame>
          <p:nvGraphicFramePr>
            <p:cNvPr id="118797" name="Object 19"/>
            <p:cNvGraphicFramePr>
              <a:graphicFrameLocks noChangeAspect="1"/>
            </p:cNvGraphicFramePr>
            <p:nvPr>
              <p:custDataLst>
                <p:tags r:id="rId21"/>
              </p:custDataLst>
            </p:nvPr>
          </p:nvGraphicFramePr>
          <p:xfrm>
            <a:off x="521" y="2341"/>
            <a:ext cx="747" cy="546"/>
          </p:xfrm>
          <a:graphic>
            <a:graphicData uri="http://schemas.openxmlformats.org/presentationml/2006/ole">
              <mc:AlternateContent xmlns:mc="http://schemas.openxmlformats.org/markup-compatibility/2006">
                <mc:Choice xmlns:v="urn:schemas-microsoft-com:vml" Requires="v">
                  <p:oleObj spid="_x0000_s119533" name="Equation" r:id="rId22" imgW="533400" imgH="393700" progId="Equation.DSMT4">
                    <p:embed/>
                  </p:oleObj>
                </mc:Choice>
                <mc:Fallback>
                  <p:oleObj name="Equation" r:id="rId22" imgW="533400" imgH="393700" progId="Equation.DSMT4">
                    <p:embed/>
                    <p:pic>
                      <p:nvPicPr>
                        <p:cNvPr id="0" name="Object 1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1" y="2341"/>
                          <a:ext cx="747" cy="546"/>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798" name="Rectangle 9"/>
            <p:cNvSpPr>
              <a:spLocks noChangeArrowheads="1"/>
            </p:cNvSpPr>
            <p:nvPr>
              <p:custDataLst>
                <p:tags r:id="rId24"/>
              </p:custDataLst>
            </p:nvPr>
          </p:nvSpPr>
          <p:spPr bwMode="auto">
            <a:xfrm>
              <a:off x="1292" y="2506"/>
              <a:ext cx="107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代入上式：</a:t>
              </a:r>
              <a:endParaRPr kumimoji="1" lang="zh-CN" altLang="en-US" sz="2400">
                <a:solidFill>
                  <a:schemeClr val="tx1"/>
                </a:solidFill>
                <a:latin typeface="楷体" panose="02010609060101010101" pitchFamily="49" charset="-122"/>
                <a:ea typeface="楷体" panose="02010609060101010101" pitchFamily="49" charset="-122"/>
              </a:endParaRPr>
            </a:p>
          </p:txBody>
        </p:sp>
      </p:grpSp>
      <p:graphicFrame>
        <p:nvGraphicFramePr>
          <p:cNvPr id="10" name="Object 4"/>
          <p:cNvGraphicFramePr>
            <a:graphicFrameLocks noChangeAspect="1"/>
          </p:cNvGraphicFramePr>
          <p:nvPr/>
        </p:nvGraphicFramePr>
        <p:xfrm>
          <a:off x="3792538" y="4844266"/>
          <a:ext cx="6062662" cy="814388"/>
        </p:xfrm>
        <a:graphic>
          <a:graphicData uri="http://schemas.openxmlformats.org/presentationml/2006/ole">
            <mc:AlternateContent xmlns:mc="http://schemas.openxmlformats.org/markup-compatibility/2006">
              <mc:Choice xmlns:v="urn:schemas-microsoft-com:vml" Requires="v">
                <p:oleObj spid="_x0000_s119534" name="Equation" r:id="rId25" imgW="3098800" imgH="457200" progId="Equation.DSMT4">
                  <p:embed/>
                </p:oleObj>
              </mc:Choice>
              <mc:Fallback>
                <p:oleObj name="Equation" r:id="rId25" imgW="3098800" imgH="457200" progId="Equation.DSMT4">
                  <p:embed/>
                  <p:pic>
                    <p:nvPicPr>
                      <p:cNvPr id="0" name="Object 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92538" y="4844266"/>
                        <a:ext cx="6062662" cy="8143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9"/>
          <p:cNvSpPr>
            <a:spLocks noChangeArrowheads="1"/>
          </p:cNvSpPr>
          <p:nvPr/>
        </p:nvSpPr>
        <p:spPr bwMode="auto">
          <a:xfrm>
            <a:off x="8759826" y="2770040"/>
            <a:ext cx="15843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a:solidFill>
                  <a:schemeClr val="tx1"/>
                </a:solidFill>
                <a:latin typeface="楷体" panose="02010609060101010101" pitchFamily="49" charset="-122"/>
                <a:ea typeface="楷体" panose="02010609060101010101" pitchFamily="49" charset="-122"/>
              </a:rPr>
              <a:t>该点不是极值点，仅仅是拐点。</a:t>
            </a:r>
            <a:endParaRPr kumimoji="1" lang="zh-CN" altLang="en-US" sz="2000">
              <a:solidFill>
                <a:schemeClr val="tx1"/>
              </a:solidFill>
              <a:latin typeface="楷体" panose="02010609060101010101" pitchFamily="49" charset="-122"/>
              <a:ea typeface="楷体" panose="02010609060101010101" pitchFamily="49" charset="-122"/>
            </a:endParaRPr>
          </a:p>
        </p:txBody>
      </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5913"/>
                                        </p:tgtEl>
                                        <p:attrNameLst>
                                          <p:attrName>style.visibility</p:attrName>
                                        </p:attrNameLst>
                                      </p:cBhvr>
                                      <p:to>
                                        <p:strVal val="visible"/>
                                      </p:to>
                                    </p:set>
                                    <p:animEffect transition="in" filter="wipe(left)">
                                      <p:cBhvr>
                                        <p:cTn id="7" dur="2000"/>
                                        <p:tgtEl>
                                          <p:spTgt spid="6359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6938"/>
                                        </p:tgtEl>
                                        <p:attrNameLst>
                                          <p:attrName>style.visibility</p:attrName>
                                        </p:attrNameLst>
                                      </p:cBhvr>
                                      <p:to>
                                        <p:strVal val="visible"/>
                                      </p:to>
                                    </p:set>
                                    <p:animEffect transition="in" filter="wipe(up)">
                                      <p:cBhvr>
                                        <p:cTn id="12" dur="2000"/>
                                        <p:tgtEl>
                                          <p:spTgt spid="6369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2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amond(in)">
                                      <p:cBhvr>
                                        <p:cTn id="27" dur="2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up)">
                                      <p:cBhvr>
                                        <p:cTn id="37" dur="20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diamond(in)">
                                      <p:cBhvr>
                                        <p:cTn id="42" dur="1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13" grpId="0"/>
      <p:bldP spid="1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6938" name="Object 10"/>
          <p:cNvGraphicFramePr>
            <a:graphicFrameLocks noChangeAspect="1"/>
          </p:cNvGraphicFramePr>
          <p:nvPr/>
        </p:nvGraphicFramePr>
        <p:xfrm>
          <a:off x="3503613" y="797621"/>
          <a:ext cx="2595562" cy="392113"/>
        </p:xfrm>
        <a:graphic>
          <a:graphicData uri="http://schemas.openxmlformats.org/presentationml/2006/ole">
            <mc:AlternateContent xmlns:mc="http://schemas.openxmlformats.org/markup-compatibility/2006">
              <mc:Choice xmlns:v="urn:schemas-microsoft-com:vml" Requires="v">
                <p:oleObj spid="_x0000_s161933" name="Equation" r:id="rId1" imgW="1143000" imgH="228600" progId="Equation.DSMT4">
                  <p:embed/>
                </p:oleObj>
              </mc:Choice>
              <mc:Fallback>
                <p:oleObj name="Equation" r:id="rId1" imgW="1143000" imgH="2286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3" y="797621"/>
                        <a:ext cx="2595562" cy="392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5913" name="Rectangle 9"/>
          <p:cNvSpPr>
            <a:spLocks noChangeArrowheads="1"/>
          </p:cNvSpPr>
          <p:nvPr/>
        </p:nvSpPr>
        <p:spPr bwMode="auto">
          <a:xfrm>
            <a:off x="6888164" y="4396483"/>
            <a:ext cx="792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chemeClr val="tx1"/>
                </a:solidFill>
                <a:latin typeface="楷体" panose="02010609060101010101" pitchFamily="49" charset="-122"/>
                <a:ea typeface="楷体" panose="02010609060101010101" pitchFamily="49" charset="-122"/>
              </a:rPr>
              <a:t>所以</a:t>
            </a:r>
            <a:endParaRPr kumimoji="1" lang="zh-CN" altLang="en-US" sz="2400">
              <a:solidFill>
                <a:schemeClr val="tx1"/>
              </a:solidFill>
              <a:latin typeface="楷体" panose="02010609060101010101" pitchFamily="49" charset="-122"/>
              <a:ea typeface="楷体" panose="02010609060101010101" pitchFamily="49" charset="-122"/>
            </a:endParaRPr>
          </a:p>
        </p:txBody>
      </p:sp>
      <p:sp>
        <p:nvSpPr>
          <p:cNvPr id="2" name="Rectangle 9"/>
          <p:cNvSpPr>
            <a:spLocks noChangeArrowheads="1"/>
          </p:cNvSpPr>
          <p:nvPr/>
        </p:nvSpPr>
        <p:spPr bwMode="auto">
          <a:xfrm>
            <a:off x="2135188" y="3028058"/>
            <a:ext cx="109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dirty="0">
                <a:solidFill>
                  <a:schemeClr val="tx1"/>
                </a:solidFill>
                <a:latin typeface="楷体" panose="02010609060101010101" pitchFamily="49" charset="-122"/>
                <a:ea typeface="楷体" panose="02010609060101010101" pitchFamily="49" charset="-122"/>
              </a:rPr>
              <a:t>因为：</a:t>
            </a:r>
            <a:endParaRPr kumimoji="1" lang="zh-CN" altLang="en-US" sz="2400" dirty="0">
              <a:solidFill>
                <a:schemeClr val="tx1"/>
              </a:solidFill>
              <a:latin typeface="楷体" panose="02010609060101010101" pitchFamily="49" charset="-122"/>
              <a:ea typeface="楷体" panose="02010609060101010101" pitchFamily="49" charset="-122"/>
            </a:endParaRPr>
          </a:p>
        </p:txBody>
      </p:sp>
      <p:graphicFrame>
        <p:nvGraphicFramePr>
          <p:cNvPr id="152582" name="Object 6"/>
          <p:cNvGraphicFramePr>
            <a:graphicFrameLocks noChangeAspect="1"/>
          </p:cNvGraphicFramePr>
          <p:nvPr/>
        </p:nvGraphicFramePr>
        <p:xfrm>
          <a:off x="3287714" y="3029645"/>
          <a:ext cx="847725" cy="503238"/>
        </p:xfrm>
        <a:graphic>
          <a:graphicData uri="http://schemas.openxmlformats.org/presentationml/2006/ole">
            <mc:AlternateContent xmlns:mc="http://schemas.openxmlformats.org/markup-compatibility/2006">
              <mc:Choice xmlns:v="urn:schemas-microsoft-com:vml" Requires="v">
                <p:oleObj spid="_x0000_s161934" name="Equation" r:id="rId3" imgW="381000" imgH="228600" progId="Equation.DSMT4">
                  <p:embed/>
                </p:oleObj>
              </mc:Choice>
              <mc:Fallback>
                <p:oleObj name="Equation" r:id="rId3" imgW="3810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714" y="3029645"/>
                        <a:ext cx="847725" cy="503238"/>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4"/>
          <p:cNvGraphicFramePr>
            <a:graphicFrameLocks noChangeAspect="1"/>
          </p:cNvGraphicFramePr>
          <p:nvPr/>
        </p:nvGraphicFramePr>
        <p:xfrm>
          <a:off x="3503614" y="1229421"/>
          <a:ext cx="3489325" cy="676275"/>
        </p:xfrm>
        <a:graphic>
          <a:graphicData uri="http://schemas.openxmlformats.org/presentationml/2006/ole">
            <mc:AlternateContent xmlns:mc="http://schemas.openxmlformats.org/markup-compatibility/2006">
              <mc:Choice xmlns:v="urn:schemas-microsoft-com:vml" Requires="v">
                <p:oleObj spid="_x0000_s161935" name="Equation" r:id="rId5" imgW="1536065" imgH="393700" progId="Equation.DSMT4">
                  <p:embed/>
                </p:oleObj>
              </mc:Choice>
              <mc:Fallback>
                <p:oleObj name="Equation" r:id="rId5" imgW="1536065"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614" y="1229421"/>
                        <a:ext cx="3489325" cy="6762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5"/>
          <p:cNvGraphicFramePr>
            <a:graphicFrameLocks noChangeAspect="1"/>
          </p:cNvGraphicFramePr>
          <p:nvPr/>
        </p:nvGraphicFramePr>
        <p:xfrm>
          <a:off x="3575050" y="2021584"/>
          <a:ext cx="3316288" cy="676275"/>
        </p:xfrm>
        <a:graphic>
          <a:graphicData uri="http://schemas.openxmlformats.org/presentationml/2006/ole">
            <mc:AlternateContent xmlns:mc="http://schemas.openxmlformats.org/markup-compatibility/2006">
              <mc:Choice xmlns:v="urn:schemas-microsoft-com:vml" Requires="v">
                <p:oleObj spid="_x0000_s161936" name="Equation" r:id="rId7" imgW="1459865" imgH="393700" progId="Equation.DSMT4">
                  <p:embed/>
                </p:oleObj>
              </mc:Choice>
              <mc:Fallback>
                <p:oleObj name="Equation" r:id="rId7" imgW="1459865" imgH="3937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5050" y="2021584"/>
                        <a:ext cx="3316288" cy="6762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585" name="AutoShape 9"/>
          <p:cNvSpPr>
            <a:spLocks noChangeArrowheads="1"/>
          </p:cNvSpPr>
          <p:nvPr/>
        </p:nvSpPr>
        <p:spPr bwMode="auto">
          <a:xfrm>
            <a:off x="4616450" y="2842747"/>
            <a:ext cx="400050" cy="946884"/>
          </a:xfrm>
          <a:prstGeom prst="rightArrow">
            <a:avLst>
              <a:gd name="adj1" fmla="val 50000"/>
              <a:gd name="adj2" fmla="val 34807"/>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400" b="1">
              <a:solidFill>
                <a:schemeClr val="bg2"/>
              </a:solidFill>
              <a:latin typeface="宋体" panose="02010600030101010101" pitchFamily="2" charset="-122"/>
            </a:endParaRPr>
          </a:p>
        </p:txBody>
      </p:sp>
      <p:graphicFrame>
        <p:nvGraphicFramePr>
          <p:cNvPr id="152586" name="Object 6"/>
          <p:cNvGraphicFramePr>
            <a:graphicFrameLocks noChangeAspect="1"/>
          </p:cNvGraphicFramePr>
          <p:nvPr/>
        </p:nvGraphicFramePr>
        <p:xfrm>
          <a:off x="5232401" y="2967876"/>
          <a:ext cx="1022465" cy="784082"/>
        </p:xfrm>
        <a:graphic>
          <a:graphicData uri="http://schemas.openxmlformats.org/presentationml/2006/ole">
            <mc:AlternateContent xmlns:mc="http://schemas.openxmlformats.org/markup-compatibility/2006">
              <mc:Choice xmlns:v="urn:schemas-microsoft-com:vml" Requires="v">
                <p:oleObj spid="_x0000_s161937" name="Equation" r:id="rId9" imgW="508000" imgH="393700" progId="Equation.DSMT4">
                  <p:embed/>
                </p:oleObj>
              </mc:Choice>
              <mc:Fallback>
                <p:oleObj name="Equation" r:id="rId9" imgW="508000" imgH="3937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2401" y="2967876"/>
                        <a:ext cx="1022465" cy="784082"/>
                      </a:xfrm>
                      <a:prstGeom prst="rect">
                        <a:avLst/>
                      </a:prstGeom>
                      <a:solidFill>
                        <a:srgbClr val="FFFF00"/>
                      </a:solidFill>
                      <a:ln>
                        <a:noFill/>
                      </a:ln>
                      <a:effectLst/>
                    </p:spPr>
                  </p:pic>
                </p:oleObj>
              </mc:Fallback>
            </mc:AlternateContent>
          </a:graphicData>
        </a:graphic>
      </p:graphicFrame>
      <p:sp>
        <p:nvSpPr>
          <p:cNvPr id="152587" name="AutoShape 11"/>
          <p:cNvSpPr>
            <a:spLocks noChangeArrowheads="1"/>
          </p:cNvSpPr>
          <p:nvPr/>
        </p:nvSpPr>
        <p:spPr bwMode="auto">
          <a:xfrm>
            <a:off x="2024063" y="3995272"/>
            <a:ext cx="400050" cy="946884"/>
          </a:xfrm>
          <a:prstGeom prst="rightArrow">
            <a:avLst>
              <a:gd name="adj1" fmla="val 50000"/>
              <a:gd name="adj2" fmla="val 34807"/>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400" b="1">
              <a:solidFill>
                <a:schemeClr val="bg2"/>
              </a:solidFill>
              <a:latin typeface="宋体" panose="02010600030101010101" pitchFamily="2" charset="-122"/>
            </a:endParaRPr>
          </a:p>
        </p:txBody>
      </p:sp>
      <p:graphicFrame>
        <p:nvGraphicFramePr>
          <p:cNvPr id="152588" name="Object 12"/>
          <p:cNvGraphicFramePr>
            <a:graphicFrameLocks noChangeAspect="1"/>
          </p:cNvGraphicFramePr>
          <p:nvPr/>
        </p:nvGraphicFramePr>
        <p:xfrm>
          <a:off x="2495551" y="4037709"/>
          <a:ext cx="1973263" cy="866775"/>
        </p:xfrm>
        <a:graphic>
          <a:graphicData uri="http://schemas.openxmlformats.org/presentationml/2006/ole">
            <mc:AlternateContent xmlns:mc="http://schemas.openxmlformats.org/markup-compatibility/2006">
              <mc:Choice xmlns:v="urn:schemas-microsoft-com:vml" Requires="v">
                <p:oleObj spid="_x0000_s161938" name="Equation" r:id="rId11" imgW="1016000" imgH="393700" progId="Equation.DSMT4">
                  <p:embed/>
                </p:oleObj>
              </mc:Choice>
              <mc:Fallback>
                <p:oleObj name="Equation" r:id="rId11" imgW="1016000" imgH="3937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5551" y="4037709"/>
                        <a:ext cx="1973263" cy="866775"/>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2589" name="Object 13"/>
          <p:cNvGraphicFramePr>
            <a:graphicFrameLocks noChangeAspect="1"/>
          </p:cNvGraphicFramePr>
          <p:nvPr/>
        </p:nvGraphicFramePr>
        <p:xfrm>
          <a:off x="5232401" y="4147633"/>
          <a:ext cx="1022465" cy="828288"/>
        </p:xfrm>
        <a:graphic>
          <a:graphicData uri="http://schemas.openxmlformats.org/presentationml/2006/ole">
            <mc:AlternateContent xmlns:mc="http://schemas.openxmlformats.org/markup-compatibility/2006">
              <mc:Choice xmlns:v="urn:schemas-microsoft-com:vml" Requires="v">
                <p:oleObj spid="_x0000_s161939" name="Equation" r:id="rId13" imgW="520700" imgH="393700" progId="Equation.DSMT4">
                  <p:embed/>
                </p:oleObj>
              </mc:Choice>
              <mc:Fallback>
                <p:oleObj name="Equation" r:id="rId13" imgW="520700" imgH="39370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32401" y="4147633"/>
                        <a:ext cx="1022465" cy="828288"/>
                      </a:xfrm>
                      <a:prstGeom prst="rect">
                        <a:avLst/>
                      </a:prstGeom>
                      <a:solidFill>
                        <a:srgbClr val="FFFF00"/>
                      </a:solidFill>
                      <a:ln>
                        <a:noFill/>
                      </a:ln>
                      <a:effectLst/>
                    </p:spPr>
                  </p:pic>
                </p:oleObj>
              </mc:Fallback>
            </mc:AlternateContent>
          </a:graphicData>
        </a:graphic>
      </p:graphicFrame>
      <p:sp>
        <p:nvSpPr>
          <p:cNvPr id="152590" name="AutoShape 14"/>
          <p:cNvSpPr>
            <a:spLocks noChangeArrowheads="1"/>
          </p:cNvSpPr>
          <p:nvPr/>
        </p:nvSpPr>
        <p:spPr bwMode="auto">
          <a:xfrm>
            <a:off x="4687888" y="4068297"/>
            <a:ext cx="400050" cy="946884"/>
          </a:xfrm>
          <a:prstGeom prst="rightArrow">
            <a:avLst>
              <a:gd name="adj1" fmla="val 50000"/>
              <a:gd name="adj2" fmla="val 34807"/>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400" b="1">
              <a:solidFill>
                <a:schemeClr val="bg2"/>
              </a:solidFill>
              <a:latin typeface="宋体" panose="02010600030101010101" pitchFamily="2" charset="-122"/>
            </a:endParaRPr>
          </a:p>
        </p:txBody>
      </p:sp>
      <p:sp>
        <p:nvSpPr>
          <p:cNvPr id="152591" name="AutoShape 15"/>
          <p:cNvSpPr>
            <a:spLocks noChangeArrowheads="1"/>
          </p:cNvSpPr>
          <p:nvPr/>
        </p:nvSpPr>
        <p:spPr bwMode="auto">
          <a:xfrm>
            <a:off x="1951038" y="5508160"/>
            <a:ext cx="400050" cy="946884"/>
          </a:xfrm>
          <a:prstGeom prst="rightArrow">
            <a:avLst>
              <a:gd name="adj1" fmla="val 50000"/>
              <a:gd name="adj2" fmla="val 34807"/>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400" b="1">
              <a:solidFill>
                <a:schemeClr val="bg2"/>
              </a:solidFill>
              <a:latin typeface="宋体" panose="02010600030101010101" pitchFamily="2" charset="-122"/>
            </a:endParaRPr>
          </a:p>
        </p:txBody>
      </p:sp>
      <p:graphicFrame>
        <p:nvGraphicFramePr>
          <p:cNvPr id="152592" name="Object 16"/>
          <p:cNvGraphicFramePr>
            <a:graphicFrameLocks noChangeAspect="1"/>
          </p:cNvGraphicFramePr>
          <p:nvPr/>
        </p:nvGraphicFramePr>
        <p:xfrm>
          <a:off x="2495550" y="5549009"/>
          <a:ext cx="2058988" cy="866775"/>
        </p:xfrm>
        <a:graphic>
          <a:graphicData uri="http://schemas.openxmlformats.org/presentationml/2006/ole">
            <mc:AlternateContent xmlns:mc="http://schemas.openxmlformats.org/markup-compatibility/2006">
              <mc:Choice xmlns:v="urn:schemas-microsoft-com:vml" Requires="v">
                <p:oleObj spid="_x0000_s161940" name="Equation" r:id="rId15" imgW="1054100" imgH="393700" progId="Equation.DSMT4">
                  <p:embed/>
                </p:oleObj>
              </mc:Choice>
              <mc:Fallback>
                <p:oleObj name="Equation" r:id="rId15" imgW="1054100" imgH="393700" progId="Equation.DSMT4">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95550" y="5549009"/>
                        <a:ext cx="2058988" cy="866775"/>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2593" name="AutoShape 17"/>
          <p:cNvSpPr>
            <a:spLocks noChangeArrowheads="1"/>
          </p:cNvSpPr>
          <p:nvPr/>
        </p:nvSpPr>
        <p:spPr bwMode="auto">
          <a:xfrm>
            <a:off x="4759325" y="5508160"/>
            <a:ext cx="400050" cy="946884"/>
          </a:xfrm>
          <a:prstGeom prst="rightArrow">
            <a:avLst>
              <a:gd name="adj1" fmla="val 50000"/>
              <a:gd name="adj2" fmla="val 34807"/>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SzPct val="85000"/>
            </a:pPr>
            <a:endParaRPr kumimoji="1" lang="zh-CN" altLang="en-US" sz="2400" b="1">
              <a:solidFill>
                <a:schemeClr val="bg2"/>
              </a:solidFill>
              <a:latin typeface="宋体" panose="02010600030101010101" pitchFamily="2" charset="-122"/>
            </a:endParaRPr>
          </a:p>
        </p:txBody>
      </p:sp>
      <p:graphicFrame>
        <p:nvGraphicFramePr>
          <p:cNvPr id="152594" name="Object 18"/>
          <p:cNvGraphicFramePr>
            <a:graphicFrameLocks noChangeAspect="1"/>
          </p:cNvGraphicFramePr>
          <p:nvPr/>
        </p:nvGraphicFramePr>
        <p:xfrm>
          <a:off x="5303839" y="5508160"/>
          <a:ext cx="1022465" cy="764748"/>
        </p:xfrm>
        <a:graphic>
          <a:graphicData uri="http://schemas.openxmlformats.org/presentationml/2006/ole">
            <mc:AlternateContent xmlns:mc="http://schemas.openxmlformats.org/markup-compatibility/2006">
              <mc:Choice xmlns:v="urn:schemas-microsoft-com:vml" Requires="v">
                <p:oleObj spid="_x0000_s161941" name="Equation" r:id="rId17" imgW="520700" imgH="393700" progId="Equation.DSMT4">
                  <p:embed/>
                </p:oleObj>
              </mc:Choice>
              <mc:Fallback>
                <p:oleObj name="Equation" r:id="rId17" imgW="520700" imgH="393700" progId="Equation.DSMT4">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03839" y="5508160"/>
                        <a:ext cx="1022465" cy="764748"/>
                      </a:xfrm>
                      <a:prstGeom prst="rect">
                        <a:avLst/>
                      </a:prstGeom>
                      <a:solidFill>
                        <a:srgbClr val="FFFF00"/>
                      </a:solidFill>
                      <a:ln>
                        <a:noFill/>
                      </a:ln>
                      <a:effectLst/>
                    </p:spPr>
                  </p:pic>
                </p:oleObj>
              </mc:Fallback>
            </mc:AlternateContent>
          </a:graphicData>
        </a:graphic>
      </p:graphicFrame>
      <p:graphicFrame>
        <p:nvGraphicFramePr>
          <p:cNvPr id="152595" name="Object 19"/>
          <p:cNvGraphicFramePr>
            <a:graphicFrameLocks noChangeAspect="1"/>
          </p:cNvGraphicFramePr>
          <p:nvPr/>
        </p:nvGraphicFramePr>
        <p:xfrm>
          <a:off x="7896225" y="3461445"/>
          <a:ext cx="1468438" cy="2228850"/>
        </p:xfrm>
        <a:graphic>
          <a:graphicData uri="http://schemas.openxmlformats.org/presentationml/2006/ole">
            <mc:AlternateContent xmlns:mc="http://schemas.openxmlformats.org/markup-compatibility/2006">
              <mc:Choice xmlns:v="urn:schemas-microsoft-com:vml" Requires="v">
                <p:oleObj spid="_x0000_s161942" name="Equation" r:id="rId19" imgW="660400" imgH="1244600" progId="Equation.DSMT4">
                  <p:embed/>
                </p:oleObj>
              </mc:Choice>
              <mc:Fallback>
                <p:oleObj name="Equation" r:id="rId19" imgW="660400" imgH="1244600" progId="Equation.DSMT4">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96225" y="3461445"/>
                        <a:ext cx="1468438" cy="2228850"/>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2596" name="Object 20"/>
          <p:cNvGraphicFramePr>
            <a:graphicFrameLocks noChangeAspect="1"/>
          </p:cNvGraphicFramePr>
          <p:nvPr/>
        </p:nvGraphicFramePr>
        <p:xfrm>
          <a:off x="7896226" y="5909370"/>
          <a:ext cx="2005013" cy="704850"/>
        </p:xfrm>
        <a:graphic>
          <a:graphicData uri="http://schemas.openxmlformats.org/presentationml/2006/ole">
            <mc:AlternateContent xmlns:mc="http://schemas.openxmlformats.org/markup-compatibility/2006">
              <mc:Choice xmlns:v="urn:schemas-microsoft-com:vml" Requires="v">
                <p:oleObj spid="_x0000_s161943" name="Equation" r:id="rId21" imgW="901065" imgH="393700" progId="Equation.DSMT4">
                  <p:embed/>
                </p:oleObj>
              </mc:Choice>
              <mc:Fallback>
                <p:oleObj name="Equation" r:id="rId21" imgW="901065" imgH="393700" progId="Equation.DSMT4">
                  <p:embed/>
                  <p:pic>
                    <p:nvPicPr>
                      <p:cNvPr id="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96226" y="5909370"/>
                        <a:ext cx="2005013" cy="704850"/>
                      </a:xfrm>
                      <a:prstGeom prst="rect">
                        <a:avLst/>
                      </a:prstGeom>
                      <a:solidFill>
                        <a:srgbClr val="FFFF00"/>
                      </a:solidFill>
                      <a:ln>
                        <a:noFill/>
                      </a:ln>
                      <a:effectLst/>
                      <a:extLs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36938"/>
                                        </p:tgtEl>
                                        <p:attrNameLst>
                                          <p:attrName>style.visibility</p:attrName>
                                        </p:attrNameLst>
                                      </p:cBhvr>
                                      <p:to>
                                        <p:strVal val="visible"/>
                                      </p:to>
                                    </p:set>
                                    <p:animEffect transition="in" filter="wipe(up)">
                                      <p:cBhvr>
                                        <p:cTn id="7" dur="500"/>
                                        <p:tgtEl>
                                          <p:spTgt spid="6369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par>
                                <p:cTn id="23" presetID="3" presetClass="entr" presetSubtype="10" fill="hold" nodeType="withEffect">
                                  <p:stCondLst>
                                    <p:cond delay="0"/>
                                  </p:stCondLst>
                                  <p:childTnLst>
                                    <p:set>
                                      <p:cBhvr>
                                        <p:cTn id="24" dur="1" fill="hold">
                                          <p:stCondLst>
                                            <p:cond delay="0"/>
                                          </p:stCondLst>
                                        </p:cTn>
                                        <p:tgtEl>
                                          <p:spTgt spid="152582"/>
                                        </p:tgtEl>
                                        <p:attrNameLst>
                                          <p:attrName>style.visibility</p:attrName>
                                        </p:attrNameLst>
                                      </p:cBhvr>
                                      <p:to>
                                        <p:strVal val="visible"/>
                                      </p:to>
                                    </p:set>
                                    <p:animEffect transition="in" filter="blinds(horizontal)">
                                      <p:cBhvr>
                                        <p:cTn id="25" dur="500"/>
                                        <p:tgtEl>
                                          <p:spTgt spid="15258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52585"/>
                                        </p:tgtEl>
                                        <p:attrNameLst>
                                          <p:attrName>style.visibility</p:attrName>
                                        </p:attrNameLst>
                                      </p:cBhvr>
                                      <p:to>
                                        <p:strVal val="visible"/>
                                      </p:to>
                                    </p:set>
                                    <p:animEffect transition="in" filter="blinds(horizontal)">
                                      <p:cBhvr>
                                        <p:cTn id="30" dur="500"/>
                                        <p:tgtEl>
                                          <p:spTgt spid="152585"/>
                                        </p:tgtEl>
                                      </p:cBhvr>
                                    </p:animEffect>
                                  </p:childTnLst>
                                </p:cTn>
                              </p:par>
                              <p:par>
                                <p:cTn id="31" presetID="3" presetClass="entr" presetSubtype="10" fill="hold" nodeType="withEffect">
                                  <p:stCondLst>
                                    <p:cond delay="0"/>
                                  </p:stCondLst>
                                  <p:childTnLst>
                                    <p:set>
                                      <p:cBhvr>
                                        <p:cTn id="32" dur="1" fill="hold">
                                          <p:stCondLst>
                                            <p:cond delay="0"/>
                                          </p:stCondLst>
                                        </p:cTn>
                                        <p:tgtEl>
                                          <p:spTgt spid="152586"/>
                                        </p:tgtEl>
                                        <p:attrNameLst>
                                          <p:attrName>style.visibility</p:attrName>
                                        </p:attrNameLst>
                                      </p:cBhvr>
                                      <p:to>
                                        <p:strVal val="visible"/>
                                      </p:to>
                                    </p:set>
                                    <p:animEffect transition="in" filter="blinds(horizontal)">
                                      <p:cBhvr>
                                        <p:cTn id="33" dur="500"/>
                                        <p:tgtEl>
                                          <p:spTgt spid="15258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52587"/>
                                        </p:tgtEl>
                                        <p:attrNameLst>
                                          <p:attrName>style.visibility</p:attrName>
                                        </p:attrNameLst>
                                      </p:cBhvr>
                                      <p:to>
                                        <p:strVal val="visible"/>
                                      </p:to>
                                    </p:set>
                                    <p:animEffect transition="in" filter="blinds(horizontal)">
                                      <p:cBhvr>
                                        <p:cTn id="38" dur="500"/>
                                        <p:tgtEl>
                                          <p:spTgt spid="152587"/>
                                        </p:tgtEl>
                                      </p:cBhvr>
                                    </p:animEffect>
                                  </p:childTnLst>
                                </p:cTn>
                              </p:par>
                              <p:par>
                                <p:cTn id="39" presetID="3" presetClass="entr" presetSubtype="10" fill="hold" nodeType="withEffect">
                                  <p:stCondLst>
                                    <p:cond delay="0"/>
                                  </p:stCondLst>
                                  <p:childTnLst>
                                    <p:set>
                                      <p:cBhvr>
                                        <p:cTn id="40" dur="1" fill="hold">
                                          <p:stCondLst>
                                            <p:cond delay="0"/>
                                          </p:stCondLst>
                                        </p:cTn>
                                        <p:tgtEl>
                                          <p:spTgt spid="152588"/>
                                        </p:tgtEl>
                                        <p:attrNameLst>
                                          <p:attrName>style.visibility</p:attrName>
                                        </p:attrNameLst>
                                      </p:cBhvr>
                                      <p:to>
                                        <p:strVal val="visible"/>
                                      </p:to>
                                    </p:set>
                                    <p:animEffect transition="in" filter="blinds(horizontal)">
                                      <p:cBhvr>
                                        <p:cTn id="41" dur="500"/>
                                        <p:tgtEl>
                                          <p:spTgt spid="15258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52590"/>
                                        </p:tgtEl>
                                        <p:attrNameLst>
                                          <p:attrName>style.visibility</p:attrName>
                                        </p:attrNameLst>
                                      </p:cBhvr>
                                      <p:to>
                                        <p:strVal val="visible"/>
                                      </p:to>
                                    </p:set>
                                    <p:animEffect transition="in" filter="blinds(horizontal)">
                                      <p:cBhvr>
                                        <p:cTn id="46" dur="500"/>
                                        <p:tgtEl>
                                          <p:spTgt spid="152590"/>
                                        </p:tgtEl>
                                      </p:cBhvr>
                                    </p:animEffect>
                                  </p:childTnLst>
                                </p:cTn>
                              </p:par>
                              <p:par>
                                <p:cTn id="47" presetID="3" presetClass="entr" presetSubtype="10" fill="hold" nodeType="withEffect">
                                  <p:stCondLst>
                                    <p:cond delay="0"/>
                                  </p:stCondLst>
                                  <p:childTnLst>
                                    <p:set>
                                      <p:cBhvr>
                                        <p:cTn id="48" dur="1" fill="hold">
                                          <p:stCondLst>
                                            <p:cond delay="0"/>
                                          </p:stCondLst>
                                        </p:cTn>
                                        <p:tgtEl>
                                          <p:spTgt spid="152589"/>
                                        </p:tgtEl>
                                        <p:attrNameLst>
                                          <p:attrName>style.visibility</p:attrName>
                                        </p:attrNameLst>
                                      </p:cBhvr>
                                      <p:to>
                                        <p:strVal val="visible"/>
                                      </p:to>
                                    </p:set>
                                    <p:animEffect transition="in" filter="blinds(horizontal)">
                                      <p:cBhvr>
                                        <p:cTn id="49" dur="500"/>
                                        <p:tgtEl>
                                          <p:spTgt spid="15258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52591"/>
                                        </p:tgtEl>
                                        <p:attrNameLst>
                                          <p:attrName>style.visibility</p:attrName>
                                        </p:attrNameLst>
                                      </p:cBhvr>
                                      <p:to>
                                        <p:strVal val="visible"/>
                                      </p:to>
                                    </p:set>
                                    <p:animEffect transition="in" filter="blinds(horizontal)">
                                      <p:cBhvr>
                                        <p:cTn id="54" dur="500"/>
                                        <p:tgtEl>
                                          <p:spTgt spid="152591"/>
                                        </p:tgtEl>
                                      </p:cBhvr>
                                    </p:animEffect>
                                  </p:childTnLst>
                                </p:cTn>
                              </p:par>
                              <p:par>
                                <p:cTn id="55" presetID="3" presetClass="entr" presetSubtype="10" fill="hold" nodeType="withEffect">
                                  <p:stCondLst>
                                    <p:cond delay="0"/>
                                  </p:stCondLst>
                                  <p:childTnLst>
                                    <p:set>
                                      <p:cBhvr>
                                        <p:cTn id="56" dur="1" fill="hold">
                                          <p:stCondLst>
                                            <p:cond delay="0"/>
                                          </p:stCondLst>
                                        </p:cTn>
                                        <p:tgtEl>
                                          <p:spTgt spid="152592"/>
                                        </p:tgtEl>
                                        <p:attrNameLst>
                                          <p:attrName>style.visibility</p:attrName>
                                        </p:attrNameLst>
                                      </p:cBhvr>
                                      <p:to>
                                        <p:strVal val="visible"/>
                                      </p:to>
                                    </p:set>
                                    <p:animEffect transition="in" filter="blinds(horizontal)">
                                      <p:cBhvr>
                                        <p:cTn id="57" dur="500"/>
                                        <p:tgtEl>
                                          <p:spTgt spid="15259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52593"/>
                                        </p:tgtEl>
                                        <p:attrNameLst>
                                          <p:attrName>style.visibility</p:attrName>
                                        </p:attrNameLst>
                                      </p:cBhvr>
                                      <p:to>
                                        <p:strVal val="visible"/>
                                      </p:to>
                                    </p:set>
                                    <p:animEffect transition="in" filter="blinds(horizontal)">
                                      <p:cBhvr>
                                        <p:cTn id="62" dur="500"/>
                                        <p:tgtEl>
                                          <p:spTgt spid="152593"/>
                                        </p:tgtEl>
                                      </p:cBhvr>
                                    </p:animEffect>
                                  </p:childTnLst>
                                </p:cTn>
                              </p:par>
                              <p:par>
                                <p:cTn id="63" presetID="3" presetClass="entr" presetSubtype="10" fill="hold" nodeType="withEffect">
                                  <p:stCondLst>
                                    <p:cond delay="0"/>
                                  </p:stCondLst>
                                  <p:childTnLst>
                                    <p:set>
                                      <p:cBhvr>
                                        <p:cTn id="64" dur="1" fill="hold">
                                          <p:stCondLst>
                                            <p:cond delay="0"/>
                                          </p:stCondLst>
                                        </p:cTn>
                                        <p:tgtEl>
                                          <p:spTgt spid="152594"/>
                                        </p:tgtEl>
                                        <p:attrNameLst>
                                          <p:attrName>style.visibility</p:attrName>
                                        </p:attrNameLst>
                                      </p:cBhvr>
                                      <p:to>
                                        <p:strVal val="visible"/>
                                      </p:to>
                                    </p:set>
                                    <p:animEffect transition="in" filter="blinds(horizontal)">
                                      <p:cBhvr>
                                        <p:cTn id="65" dur="500"/>
                                        <p:tgtEl>
                                          <p:spTgt spid="152594"/>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635913"/>
                                        </p:tgtEl>
                                        <p:attrNameLst>
                                          <p:attrName>style.visibility</p:attrName>
                                        </p:attrNameLst>
                                      </p:cBhvr>
                                      <p:to>
                                        <p:strVal val="visible"/>
                                      </p:to>
                                    </p:set>
                                    <p:animEffect transition="in" filter="blinds(horizontal)">
                                      <p:cBhvr>
                                        <p:cTn id="70" dur="500"/>
                                        <p:tgtEl>
                                          <p:spTgt spid="635913"/>
                                        </p:tgtEl>
                                      </p:cBhvr>
                                    </p:animEffect>
                                  </p:childTnLst>
                                </p:cTn>
                              </p:par>
                              <p:par>
                                <p:cTn id="71" presetID="3" presetClass="entr" presetSubtype="10" fill="hold" nodeType="withEffect">
                                  <p:stCondLst>
                                    <p:cond delay="0"/>
                                  </p:stCondLst>
                                  <p:childTnLst>
                                    <p:set>
                                      <p:cBhvr>
                                        <p:cTn id="72" dur="1" fill="hold">
                                          <p:stCondLst>
                                            <p:cond delay="0"/>
                                          </p:stCondLst>
                                        </p:cTn>
                                        <p:tgtEl>
                                          <p:spTgt spid="152595"/>
                                        </p:tgtEl>
                                        <p:attrNameLst>
                                          <p:attrName>style.visibility</p:attrName>
                                        </p:attrNameLst>
                                      </p:cBhvr>
                                      <p:to>
                                        <p:strVal val="visible"/>
                                      </p:to>
                                    </p:set>
                                    <p:animEffect transition="in" filter="blinds(horizontal)">
                                      <p:cBhvr>
                                        <p:cTn id="73" dur="500"/>
                                        <p:tgtEl>
                                          <p:spTgt spid="152595"/>
                                        </p:tgtEl>
                                      </p:cBhvr>
                                    </p:animEffect>
                                  </p:childTnLst>
                                </p:cTn>
                              </p:par>
                              <p:par>
                                <p:cTn id="74" presetID="3" presetClass="entr" presetSubtype="10" fill="hold" nodeType="withEffect">
                                  <p:stCondLst>
                                    <p:cond delay="0"/>
                                  </p:stCondLst>
                                  <p:childTnLst>
                                    <p:set>
                                      <p:cBhvr>
                                        <p:cTn id="75" dur="1" fill="hold">
                                          <p:stCondLst>
                                            <p:cond delay="0"/>
                                          </p:stCondLst>
                                        </p:cTn>
                                        <p:tgtEl>
                                          <p:spTgt spid="152596"/>
                                        </p:tgtEl>
                                        <p:attrNameLst>
                                          <p:attrName>style.visibility</p:attrName>
                                        </p:attrNameLst>
                                      </p:cBhvr>
                                      <p:to>
                                        <p:strVal val="visible"/>
                                      </p:to>
                                    </p:set>
                                    <p:animEffect transition="in" filter="blinds(horizontal)">
                                      <p:cBhvr>
                                        <p:cTn id="76" dur="500"/>
                                        <p:tgtEl>
                                          <p:spTgt spid="152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13" grpId="0"/>
      <p:bldP spid="2" grpId="0"/>
      <p:bldP spid="152585" grpId="0" bldLvl="0" animBg="1"/>
      <p:bldP spid="152587" grpId="0" bldLvl="0" animBg="1"/>
      <p:bldP spid="152590" grpId="0" bldLvl="0" animBg="1"/>
      <p:bldP spid="152591" grpId="0" bldLvl="0" animBg="1"/>
      <p:bldP spid="152593" grpId="0" bldLvl="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8265" name="矩形 1248264"/>
          <p:cNvSpPr/>
          <p:nvPr/>
        </p:nvSpPr>
        <p:spPr>
          <a:xfrm>
            <a:off x="1147445" y="829628"/>
            <a:ext cx="6614160" cy="460375"/>
          </a:xfrm>
          <a:prstGeom prst="rect">
            <a:avLst/>
          </a:prstGeom>
          <a:noFill/>
          <a:ln w="9525">
            <a:noFill/>
          </a:ln>
        </p:spPr>
        <p:txBody>
          <a:bodyPr wrap="square" anchor="ctr" anchorCtr="0">
            <a:spAutoFit/>
          </a:bodyPr>
          <a:p>
            <a:pPr algn="l"/>
            <a:r>
              <a:rPr lang="zh-CN" altLang="en-US" sz="2400" dirty="0">
                <a:latin typeface="楷体" panose="02010609060101010101" pitchFamily="49" charset="-122"/>
                <a:ea typeface="楷体" panose="02010609060101010101" pitchFamily="49" charset="-122"/>
                <a:cs typeface="楷体" panose="02010609060101010101" pitchFamily="49" charset="-122"/>
              </a:rPr>
              <a:t>例</a:t>
            </a:r>
            <a:r>
              <a:rPr lang="en-US" altLang="zh-CN" sz="2400" dirty="0">
                <a:latin typeface="楷体" panose="02010609060101010101" pitchFamily="49" charset="-122"/>
                <a:ea typeface="楷体" panose="02010609060101010101" pitchFamily="49" charset="-122"/>
                <a:cs typeface="楷体" panose="02010609060101010101" pitchFamily="49" charset="-122"/>
              </a:rPr>
              <a:t>3 </a:t>
            </a:r>
            <a:r>
              <a:rPr lang="zh-CN" altLang="en-US" sz="2400" dirty="0">
                <a:latin typeface="楷体" panose="02010609060101010101" pitchFamily="49" charset="-122"/>
                <a:ea typeface="楷体" panose="02010609060101010101" pitchFamily="49" charset="-122"/>
                <a:cs typeface="楷体" panose="02010609060101010101" pitchFamily="49" charset="-122"/>
              </a:rPr>
              <a:t>用动态规划方法求解下列规划问题：</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1248267" name="矩形 1248266"/>
          <p:cNvSpPr/>
          <p:nvPr/>
        </p:nvSpPr>
        <p:spPr>
          <a:xfrm>
            <a:off x="1524000" y="3252153"/>
            <a:ext cx="9144000" cy="0"/>
          </a:xfrm>
          <a:prstGeom prst="rect">
            <a:avLst/>
          </a:prstGeom>
          <a:noFill/>
          <a:ln w="9525">
            <a:noFill/>
          </a:ln>
        </p:spPr>
        <p:txBody>
          <a:bodyPr/>
          <a:p>
            <a:endParaRPr lang="zh-CN" altLang="en-US"/>
          </a:p>
        </p:txBody>
      </p:sp>
      <p:graphicFrame>
        <p:nvGraphicFramePr>
          <p:cNvPr id="1248266" name="对象 1248265"/>
          <p:cNvGraphicFramePr/>
          <p:nvPr/>
        </p:nvGraphicFramePr>
        <p:xfrm>
          <a:off x="1365250" y="1312545"/>
          <a:ext cx="3816350" cy="1538288"/>
        </p:xfrm>
        <a:graphic>
          <a:graphicData uri="http://schemas.openxmlformats.org/presentationml/2006/ole">
            <mc:AlternateContent xmlns:mc="http://schemas.openxmlformats.org/markup-compatibility/2006">
              <mc:Choice xmlns:v="urn:schemas-microsoft-com:vml" Requires="v">
                <p:oleObj spid="_x0000_s3196" name="" r:id="rId1" imgW="1816100" imgH="736600" progId="Equation.3">
                  <p:embed/>
                </p:oleObj>
              </mc:Choice>
              <mc:Fallback>
                <p:oleObj name="" r:id="rId1" imgW="1816100" imgH="736600" progId="Equation.3">
                  <p:embed/>
                  <p:pic>
                    <p:nvPicPr>
                      <p:cNvPr id="0" name="图片 3195"/>
                      <p:cNvPicPr/>
                      <p:nvPr/>
                    </p:nvPicPr>
                    <p:blipFill>
                      <a:blip r:embed="rId2"/>
                      <a:stretch>
                        <a:fillRect/>
                      </a:stretch>
                    </p:blipFill>
                    <p:spPr>
                      <a:xfrm>
                        <a:off x="1365250" y="1312545"/>
                        <a:ext cx="3816350" cy="1538288"/>
                      </a:xfrm>
                      <a:prstGeom prst="rect">
                        <a:avLst/>
                      </a:prstGeom>
                      <a:noFill/>
                      <a:ln w="38100">
                        <a:noFill/>
                        <a:miter/>
                      </a:ln>
                    </p:spPr>
                  </p:pic>
                </p:oleObj>
              </mc:Fallback>
            </mc:AlternateContent>
          </a:graphicData>
        </a:graphic>
      </p:graphicFrame>
      <p:sp>
        <p:nvSpPr>
          <p:cNvPr id="1248268" name="矩形 1248267"/>
          <p:cNvSpPr/>
          <p:nvPr/>
        </p:nvSpPr>
        <p:spPr>
          <a:xfrm>
            <a:off x="1146810" y="3088640"/>
            <a:ext cx="9197340" cy="1407795"/>
          </a:xfrm>
          <a:prstGeom prst="rect">
            <a:avLst/>
          </a:prstGeom>
          <a:noFill/>
          <a:ln w="9525">
            <a:noFill/>
          </a:ln>
        </p:spPr>
        <p:txBody>
          <a:bodyPr wrap="square" anchor="ctr" anchorCtr="0">
            <a:noAutofit/>
          </a:bodyPr>
          <a:p>
            <a:pPr indent="266700" algn="l"/>
            <a:r>
              <a:rPr lang="zh-CN" altLang="en-US" dirty="0">
                <a:latin typeface="楷体" panose="02010609060101010101" pitchFamily="49" charset="-122"/>
                <a:ea typeface="楷体" panose="02010609060101010101" pitchFamily="49" charset="-122"/>
                <a:cs typeface="楷体" panose="02010609060101010101" pitchFamily="49" charset="-122"/>
              </a:rPr>
              <a:t>解：把确定</a:t>
            </a: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25000">
                <a:latin typeface="楷体" panose="02010609060101010101" pitchFamily="49" charset="-122"/>
                <a:ea typeface="楷体" panose="02010609060101010101" pitchFamily="49" charset="-122"/>
                <a:cs typeface="楷体" panose="02010609060101010101" pitchFamily="49" charset="-122"/>
              </a:rPr>
              <a:t>1</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25000">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25000">
                <a:latin typeface="楷体" panose="02010609060101010101" pitchFamily="49" charset="-122"/>
                <a:ea typeface="楷体" panose="02010609060101010101" pitchFamily="49" charset="-122"/>
                <a:cs typeface="楷体" panose="02010609060101010101" pitchFamily="49" charset="-122"/>
              </a:rPr>
              <a:t>3</a:t>
            </a:r>
            <a:r>
              <a:rPr lang="zh-CN" altLang="en-US" dirty="0">
                <a:latin typeface="楷体" panose="02010609060101010101" pitchFamily="49" charset="-122"/>
                <a:ea typeface="楷体" panose="02010609060101010101" pitchFamily="49" charset="-122"/>
                <a:cs typeface="楷体" panose="02010609060101010101" pitchFamily="49" charset="-122"/>
              </a:rPr>
              <a:t>的值看作分为三个阶段的决策，用</a:t>
            </a:r>
            <a:r>
              <a:rPr lang="en-US" altLang="zh-CN">
                <a:latin typeface="楷体" panose="02010609060101010101" pitchFamily="49" charset="-122"/>
                <a:ea typeface="楷体" panose="02010609060101010101" pitchFamily="49" charset="-122"/>
                <a:cs typeface="楷体" panose="02010609060101010101" pitchFamily="49" charset="-122"/>
              </a:rPr>
              <a:t>k</a:t>
            </a:r>
            <a:r>
              <a:rPr lang="zh-CN" altLang="en-US" dirty="0">
                <a:latin typeface="楷体" panose="02010609060101010101" pitchFamily="49" charset="-122"/>
                <a:ea typeface="楷体" panose="02010609060101010101" pitchFamily="49" charset="-122"/>
                <a:cs typeface="楷体" panose="02010609060101010101" pitchFamily="49" charset="-122"/>
              </a:rPr>
              <a:t>表示阶段序号（</a:t>
            </a:r>
            <a:r>
              <a:rPr lang="en-US" altLang="zh-CN">
                <a:latin typeface="楷体" panose="02010609060101010101" pitchFamily="49" charset="-122"/>
                <a:ea typeface="楷体" panose="02010609060101010101" pitchFamily="49" charset="-122"/>
                <a:cs typeface="楷体" panose="02010609060101010101" pitchFamily="49" charset="-122"/>
              </a:rPr>
              <a:t>k=1</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3</a:t>
            </a:r>
            <a:r>
              <a:rPr lang="zh-CN" altLang="en-US" dirty="0">
                <a:latin typeface="楷体" panose="02010609060101010101" pitchFamily="49" charset="-122"/>
                <a:ea typeface="楷体" panose="02010609060101010101" pitchFamily="49" charset="-122"/>
                <a:cs typeface="楷体" panose="02010609060101010101" pitchFamily="49" charset="-122"/>
              </a:rPr>
              <a:t>）。状态变量为</a:t>
            </a:r>
            <a:r>
              <a:rPr lang="en-US" altLang="zh-CN">
                <a:latin typeface="楷体" panose="02010609060101010101" pitchFamily="49" charset="-122"/>
                <a:ea typeface="楷体" panose="02010609060101010101" pitchFamily="49" charset="-122"/>
                <a:cs typeface="楷体" panose="02010609060101010101" pitchFamily="49" charset="-122"/>
              </a:rPr>
              <a:t>k</a:t>
            </a:r>
            <a:r>
              <a:rPr lang="zh-CN" altLang="en-US" dirty="0">
                <a:latin typeface="楷体" panose="02010609060101010101" pitchFamily="49" charset="-122"/>
                <a:ea typeface="楷体" panose="02010609060101010101" pitchFamily="49" charset="-122"/>
                <a:cs typeface="楷体" panose="02010609060101010101" pitchFamily="49" charset="-122"/>
              </a:rPr>
              <a:t>阶段初约束条件右端项的剩余值，分别用</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25000">
                <a:latin typeface="楷体" panose="02010609060101010101" pitchFamily="49" charset="-122"/>
                <a:ea typeface="楷体" panose="02010609060101010101" pitchFamily="49" charset="-122"/>
                <a:cs typeface="楷体" panose="02010609060101010101" pitchFamily="49" charset="-122"/>
              </a:rPr>
              <a:t>1</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25000">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25000">
                <a:latin typeface="楷体" panose="02010609060101010101" pitchFamily="49" charset="-122"/>
                <a:ea typeface="楷体" panose="02010609060101010101" pitchFamily="49" charset="-122"/>
                <a:cs typeface="楷体" panose="02010609060101010101" pitchFamily="49" charset="-122"/>
              </a:rPr>
              <a:t>3</a:t>
            </a:r>
            <a:r>
              <a:rPr lang="zh-CN" altLang="en-US" dirty="0">
                <a:latin typeface="楷体" panose="02010609060101010101" pitchFamily="49" charset="-122"/>
                <a:ea typeface="楷体" panose="02010609060101010101" pitchFamily="49" charset="-122"/>
                <a:cs typeface="楷体" panose="02010609060101010101" pitchFamily="49" charset="-122"/>
              </a:rPr>
              <a:t>表示，有</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25000">
                <a:latin typeface="楷体" panose="02010609060101010101" pitchFamily="49" charset="-122"/>
                <a:ea typeface="楷体" panose="02010609060101010101" pitchFamily="49" charset="-122"/>
                <a:cs typeface="楷体" panose="02010609060101010101" pitchFamily="49" charset="-122"/>
              </a:rPr>
              <a:t>1</a:t>
            </a:r>
            <a:r>
              <a:rPr lang="en-US" altLang="zh-CN">
                <a:latin typeface="楷体" panose="02010609060101010101" pitchFamily="49" charset="-122"/>
                <a:ea typeface="楷体" panose="02010609060101010101" pitchFamily="49" charset="-122"/>
                <a:cs typeface="楷体" panose="02010609060101010101" pitchFamily="49" charset="-122"/>
              </a:rPr>
              <a:t>=4</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25000">
                <a:latin typeface="楷体" panose="02010609060101010101" pitchFamily="49" charset="-122"/>
                <a:ea typeface="楷体" panose="02010609060101010101" pitchFamily="49" charset="-122"/>
                <a:cs typeface="楷体" panose="02010609060101010101" pitchFamily="49" charset="-122"/>
              </a:rPr>
              <a:t>2</a:t>
            </a:r>
            <a:r>
              <a:rPr lang="en-US" altLang="zh-CN">
                <a:latin typeface="楷体" panose="02010609060101010101" pitchFamily="49" charset="-122"/>
                <a:ea typeface="楷体" panose="02010609060101010101" pitchFamily="49" charset="-122"/>
                <a:cs typeface="楷体" panose="02010609060101010101" pitchFamily="49" charset="-122"/>
              </a:rPr>
              <a:t>=4-2x</a:t>
            </a:r>
            <a:r>
              <a:rPr lang="en-US" altLang="zh-CN" baseline="-25000">
                <a:latin typeface="楷体" panose="02010609060101010101" pitchFamily="49" charset="-122"/>
                <a:ea typeface="楷体" panose="02010609060101010101" pitchFamily="49" charset="-122"/>
                <a:cs typeface="楷体" panose="02010609060101010101" pitchFamily="49" charset="-122"/>
              </a:rPr>
              <a:t>1</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R3= R</a:t>
            </a:r>
            <a:r>
              <a:rPr lang="en-US" altLang="zh-CN" baseline="-25000">
                <a:latin typeface="楷体" panose="02010609060101010101" pitchFamily="49" charset="-122"/>
                <a:ea typeface="楷体" panose="02010609060101010101" pitchFamily="49" charset="-122"/>
                <a:cs typeface="楷体" panose="02010609060101010101" pitchFamily="49" charset="-122"/>
              </a:rPr>
              <a:t>2</a:t>
            </a:r>
            <a:r>
              <a:rPr lang="en-US" altLang="zh-CN">
                <a:latin typeface="楷体" panose="02010609060101010101" pitchFamily="49" charset="-122"/>
                <a:ea typeface="楷体" panose="02010609060101010101" pitchFamily="49" charset="-122"/>
                <a:cs typeface="楷体" panose="02010609060101010101" pitchFamily="49" charset="-122"/>
              </a:rPr>
              <a:t>- x2</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25000">
                <a:latin typeface="楷体" panose="02010609060101010101" pitchFamily="49" charset="-122"/>
                <a:ea typeface="楷体" panose="02010609060101010101" pitchFamily="49" charset="-122"/>
                <a:cs typeface="楷体" panose="02010609060101010101" pitchFamily="49" charset="-122"/>
              </a:rPr>
              <a:t>4</a:t>
            </a:r>
            <a:r>
              <a:rPr lang="en-US" altLang="zh-CN">
                <a:latin typeface="楷体" panose="02010609060101010101" pitchFamily="49" charset="-122"/>
                <a:ea typeface="楷体" panose="02010609060101010101" pitchFamily="49" charset="-122"/>
                <a:cs typeface="楷体" panose="02010609060101010101" pitchFamily="49" charset="-122"/>
              </a:rPr>
              <a:t>= R</a:t>
            </a:r>
            <a:r>
              <a:rPr lang="en-US" altLang="zh-CN" baseline="-25000">
                <a:latin typeface="楷体" panose="02010609060101010101" pitchFamily="49" charset="-122"/>
                <a:ea typeface="楷体" panose="02010609060101010101" pitchFamily="49" charset="-122"/>
                <a:cs typeface="楷体" panose="02010609060101010101" pitchFamily="49" charset="-122"/>
              </a:rPr>
              <a:t>3</a:t>
            </a:r>
            <a:r>
              <a:rPr lang="en-US" altLang="zh-CN">
                <a:latin typeface="楷体" panose="02010609060101010101" pitchFamily="49" charset="-122"/>
                <a:ea typeface="楷体" panose="02010609060101010101" pitchFamily="49" charset="-122"/>
                <a:cs typeface="楷体" panose="02010609060101010101" pitchFamily="49" charset="-122"/>
              </a:rPr>
              <a:t>- x</a:t>
            </a:r>
            <a:r>
              <a:rPr lang="en-US" altLang="zh-CN" baseline="-25000">
                <a:latin typeface="楷体" panose="02010609060101010101" pitchFamily="49" charset="-122"/>
                <a:ea typeface="楷体" panose="02010609060101010101" pitchFamily="49" charset="-122"/>
                <a:cs typeface="楷体" panose="02010609060101010101" pitchFamily="49" charset="-122"/>
              </a:rPr>
              <a:t>3</a:t>
            </a:r>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zh-CN" altLang="en-US" dirty="0">
              <a:latin typeface="楷体" panose="02010609060101010101" pitchFamily="49" charset="-122"/>
              <a:ea typeface="楷体" panose="02010609060101010101" pitchFamily="49" charset="-122"/>
              <a:cs typeface="楷体" panose="02010609060101010101" pitchFamily="49" charset="-122"/>
            </a:endParaRPr>
          </a:p>
          <a:p>
            <a:pPr indent="266700" algn="l"/>
            <a:r>
              <a:rPr lang="zh-CN" altLang="en-US" dirty="0">
                <a:latin typeface="楷体" panose="02010609060101010101" pitchFamily="49" charset="-122"/>
                <a:ea typeface="楷体" panose="02010609060101010101" pitchFamily="49" charset="-122"/>
                <a:cs typeface="楷体" panose="02010609060101010101" pitchFamily="49" charset="-122"/>
              </a:rPr>
              <a:t>动态规划的递推方程为：</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248270" name="矩形 1248269"/>
          <p:cNvSpPr/>
          <p:nvPr/>
        </p:nvSpPr>
        <p:spPr>
          <a:xfrm>
            <a:off x="1524000" y="3414078"/>
            <a:ext cx="9144000" cy="0"/>
          </a:xfrm>
          <a:prstGeom prst="rect">
            <a:avLst/>
          </a:prstGeom>
          <a:noFill/>
          <a:ln w="9525">
            <a:noFill/>
          </a:ln>
        </p:spPr>
        <p:txBody>
          <a:bodyPr/>
          <a:p>
            <a:endParaRPr lang="zh-CN" altLang="en-US"/>
          </a:p>
        </p:txBody>
      </p:sp>
      <p:graphicFrame>
        <p:nvGraphicFramePr>
          <p:cNvPr id="1248269" name="对象 1248268"/>
          <p:cNvGraphicFramePr/>
          <p:nvPr/>
        </p:nvGraphicFramePr>
        <p:xfrm>
          <a:off x="1525905" y="4476750"/>
          <a:ext cx="3457575" cy="790575"/>
        </p:xfrm>
        <a:graphic>
          <a:graphicData uri="http://schemas.openxmlformats.org/presentationml/2006/ole">
            <mc:AlternateContent xmlns:mc="http://schemas.openxmlformats.org/markup-compatibility/2006">
              <mc:Choice xmlns:v="urn:schemas-microsoft-com:vml" Requires="v">
                <p:oleObj spid="_x0000_s3197" name="" r:id="rId3" imgW="1790700" imgH="406400" progId="Equation.3">
                  <p:embed/>
                </p:oleObj>
              </mc:Choice>
              <mc:Fallback>
                <p:oleObj name="" r:id="rId3" imgW="1790700" imgH="406400" progId="Equation.3">
                  <p:embed/>
                  <p:pic>
                    <p:nvPicPr>
                      <p:cNvPr id="0" name="图片 3196"/>
                      <p:cNvPicPr/>
                      <p:nvPr/>
                    </p:nvPicPr>
                    <p:blipFill>
                      <a:blip r:embed="rId4"/>
                      <a:stretch>
                        <a:fillRect/>
                      </a:stretch>
                    </p:blipFill>
                    <p:spPr>
                      <a:xfrm>
                        <a:off x="1525905" y="4476750"/>
                        <a:ext cx="3457575" cy="790575"/>
                      </a:xfrm>
                      <a:prstGeom prst="rect">
                        <a:avLst/>
                      </a:prstGeom>
                      <a:noFill/>
                      <a:ln w="38100">
                        <a:noFill/>
                        <a:miter/>
                      </a:ln>
                    </p:spPr>
                  </p:pic>
                </p:oleObj>
              </mc:Fallback>
            </mc:AlternateContent>
          </a:graphicData>
        </a:graphic>
      </p:graphicFrame>
      <p:sp>
        <p:nvSpPr>
          <p:cNvPr id="1248272" name="矩形 1248271"/>
          <p:cNvSpPr/>
          <p:nvPr/>
        </p:nvSpPr>
        <p:spPr>
          <a:xfrm>
            <a:off x="1524000" y="3471228"/>
            <a:ext cx="9144000" cy="0"/>
          </a:xfrm>
          <a:prstGeom prst="rect">
            <a:avLst/>
          </a:prstGeom>
          <a:noFill/>
          <a:ln w="9525">
            <a:noFill/>
          </a:ln>
        </p:spPr>
        <p:txBody>
          <a:bodyPr/>
          <a:p>
            <a:endParaRPr lang="zh-CN" altLang="en-US"/>
          </a:p>
        </p:txBody>
      </p:sp>
      <p:graphicFrame>
        <p:nvGraphicFramePr>
          <p:cNvPr id="1248271" name="对象 1248270"/>
          <p:cNvGraphicFramePr/>
          <p:nvPr/>
        </p:nvGraphicFramePr>
        <p:xfrm>
          <a:off x="1454468" y="5340350"/>
          <a:ext cx="3600450" cy="581025"/>
        </p:xfrm>
        <a:graphic>
          <a:graphicData uri="http://schemas.openxmlformats.org/presentationml/2006/ole">
            <mc:AlternateContent xmlns:mc="http://schemas.openxmlformats.org/markup-compatibility/2006">
              <mc:Choice xmlns:v="urn:schemas-microsoft-com:vml" Requires="v">
                <p:oleObj spid="_x0000_s3200" name="" r:id="rId5" imgW="1828800" imgH="292100" progId="Equation.3">
                  <p:embed/>
                </p:oleObj>
              </mc:Choice>
              <mc:Fallback>
                <p:oleObj name="" r:id="rId5" imgW="1828800" imgH="292100" progId="Equation.3">
                  <p:embed/>
                  <p:pic>
                    <p:nvPicPr>
                      <p:cNvPr id="0" name="图片 3199"/>
                      <p:cNvPicPr/>
                      <p:nvPr/>
                    </p:nvPicPr>
                    <p:blipFill>
                      <a:blip r:embed="rId6"/>
                      <a:stretch>
                        <a:fillRect/>
                      </a:stretch>
                    </p:blipFill>
                    <p:spPr>
                      <a:xfrm>
                        <a:off x="1454468" y="5340350"/>
                        <a:ext cx="3600450" cy="581025"/>
                      </a:xfrm>
                      <a:prstGeom prst="rect">
                        <a:avLst/>
                      </a:prstGeom>
                      <a:noFill/>
                      <a:ln w="38100">
                        <a:noFill/>
                        <a:miter/>
                      </a:ln>
                    </p:spPr>
                  </p:pic>
                </p:oleObj>
              </mc:Fallback>
            </mc:AlternateContent>
          </a:graphicData>
        </a:graphic>
      </p:graphicFrame>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graphicFrame>
        <p:nvGraphicFramePr>
          <p:cNvPr id="1280005" name="对象 1280004"/>
          <p:cNvGraphicFramePr/>
          <p:nvPr/>
        </p:nvGraphicFramePr>
        <p:xfrm>
          <a:off x="1479233" y="6021070"/>
          <a:ext cx="4176712" cy="604838"/>
        </p:xfrm>
        <a:graphic>
          <a:graphicData uri="http://schemas.openxmlformats.org/presentationml/2006/ole">
            <mc:AlternateContent xmlns:mc="http://schemas.openxmlformats.org/markup-compatibility/2006">
              <mc:Choice xmlns:v="urn:schemas-microsoft-com:vml" Requires="v">
                <p:oleObj spid="_x0000_s3202" name="" r:id="rId7" imgW="2108200" imgH="304800" progId="Equation.3">
                  <p:embed/>
                </p:oleObj>
              </mc:Choice>
              <mc:Fallback>
                <p:oleObj name="" r:id="rId7" imgW="2108200" imgH="304800" progId="Equation.3">
                  <p:embed/>
                  <p:pic>
                    <p:nvPicPr>
                      <p:cNvPr id="0" name="图片 3201"/>
                      <p:cNvPicPr/>
                      <p:nvPr/>
                    </p:nvPicPr>
                    <p:blipFill>
                      <a:blip r:embed="rId8"/>
                      <a:stretch>
                        <a:fillRect/>
                      </a:stretch>
                    </p:blipFill>
                    <p:spPr>
                      <a:xfrm>
                        <a:off x="1479233" y="6021070"/>
                        <a:ext cx="4176712" cy="604838"/>
                      </a:xfrm>
                      <a:prstGeom prst="rect">
                        <a:avLst/>
                      </a:prstGeom>
                      <a:noFill/>
                      <a:ln w="38100">
                        <a:noFill/>
                        <a:miter/>
                      </a:ln>
                    </p:spPr>
                  </p:pic>
                </p:oleObj>
              </mc:Fallback>
            </mc:AlternateContent>
          </a:graphicData>
        </a:graphic>
      </p:graphicFrame>
    </p:spTree>
  </p:cSld>
  <p:clrMapOvr>
    <a:masterClrMapping/>
  </p:clrMapOvr>
  <p:transition spd="slow">
    <p:randomBar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06" name="矩形 1280005"/>
          <p:cNvSpPr/>
          <p:nvPr/>
        </p:nvSpPr>
        <p:spPr>
          <a:xfrm>
            <a:off x="1524000" y="0"/>
            <a:ext cx="9144000" cy="0"/>
          </a:xfrm>
          <a:prstGeom prst="rect">
            <a:avLst/>
          </a:prstGeom>
          <a:noFill/>
          <a:ln w="9525">
            <a:noFill/>
          </a:ln>
        </p:spPr>
        <p:txBody>
          <a:bodyPr/>
          <a:p>
            <a:endParaRPr lang="zh-CN" altLang="en-US"/>
          </a:p>
        </p:txBody>
      </p:sp>
      <p:sp>
        <p:nvSpPr>
          <p:cNvPr id="1280007" name="矩形 1280006"/>
          <p:cNvSpPr/>
          <p:nvPr/>
        </p:nvSpPr>
        <p:spPr>
          <a:xfrm>
            <a:off x="1725930" y="1025525"/>
            <a:ext cx="15544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终端条件为：</a:t>
            </a:r>
            <a:endParaRPr lang="zh-CN" altLang="en-US" dirty="0">
              <a:latin typeface="楷体" panose="02010609060101010101" pitchFamily="49" charset="-122"/>
              <a:ea typeface="楷体" panose="02010609060101010101" pitchFamily="49" charset="-122"/>
            </a:endParaRPr>
          </a:p>
        </p:txBody>
      </p:sp>
      <p:sp>
        <p:nvSpPr>
          <p:cNvPr id="1280009" name="矩形 1280008"/>
          <p:cNvSpPr/>
          <p:nvPr/>
        </p:nvSpPr>
        <p:spPr>
          <a:xfrm>
            <a:off x="1524000" y="3319463"/>
            <a:ext cx="9144000" cy="0"/>
          </a:xfrm>
          <a:prstGeom prst="rect">
            <a:avLst/>
          </a:prstGeom>
          <a:noFill/>
          <a:ln w="9525">
            <a:noFill/>
          </a:ln>
        </p:spPr>
        <p:txBody>
          <a:bodyPr/>
          <a:p>
            <a:endParaRPr lang="zh-CN" altLang="en-US"/>
          </a:p>
        </p:txBody>
      </p:sp>
      <p:graphicFrame>
        <p:nvGraphicFramePr>
          <p:cNvPr id="1280008" name="对象 1280007"/>
          <p:cNvGraphicFramePr/>
          <p:nvPr/>
        </p:nvGraphicFramePr>
        <p:xfrm>
          <a:off x="3381693" y="1555750"/>
          <a:ext cx="1441450" cy="479425"/>
        </p:xfrm>
        <a:graphic>
          <a:graphicData uri="http://schemas.openxmlformats.org/presentationml/2006/ole">
            <mc:AlternateContent xmlns:mc="http://schemas.openxmlformats.org/markup-compatibility/2006">
              <mc:Choice xmlns:v="urn:schemas-microsoft-com:vml" Requires="v">
                <p:oleObj spid="_x0000_s3198" name="" r:id="rId1" imgW="660400" imgH="215900" progId="Equation.3">
                  <p:embed/>
                </p:oleObj>
              </mc:Choice>
              <mc:Fallback>
                <p:oleObj name="" r:id="rId1" imgW="660400" imgH="215900" progId="Equation.3">
                  <p:embed/>
                  <p:pic>
                    <p:nvPicPr>
                      <p:cNvPr id="0" name="图片 3197"/>
                      <p:cNvPicPr/>
                      <p:nvPr/>
                    </p:nvPicPr>
                    <p:blipFill>
                      <a:blip r:embed="rId2"/>
                      <a:stretch>
                        <a:fillRect/>
                      </a:stretch>
                    </p:blipFill>
                    <p:spPr>
                      <a:xfrm>
                        <a:off x="3381693" y="1555750"/>
                        <a:ext cx="1441450" cy="479425"/>
                      </a:xfrm>
                      <a:prstGeom prst="rect">
                        <a:avLst/>
                      </a:prstGeom>
                      <a:noFill/>
                      <a:ln w="38100">
                        <a:noFill/>
                        <a:miter/>
                      </a:ln>
                    </p:spPr>
                  </p:pic>
                </p:oleObj>
              </mc:Fallback>
            </mc:AlternateContent>
          </a:graphicData>
        </a:graphic>
      </p:graphicFrame>
      <p:sp>
        <p:nvSpPr>
          <p:cNvPr id="1280010" name="矩形 1280009"/>
          <p:cNvSpPr/>
          <p:nvPr/>
        </p:nvSpPr>
        <p:spPr>
          <a:xfrm>
            <a:off x="1437005" y="2033588"/>
            <a:ext cx="13258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1</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k=3</a:t>
            </a:r>
            <a:r>
              <a:rPr lang="zh-CN" altLang="en-US" dirty="0">
                <a:latin typeface="楷体" panose="02010609060101010101" pitchFamily="49" charset="-122"/>
                <a:ea typeface="楷体" panose="02010609060101010101" pitchFamily="49" charset="-122"/>
                <a:cs typeface="楷体" panose="02010609060101010101" pitchFamily="49" charset="-122"/>
              </a:rPr>
              <a:t>时</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280012" name="矩形 1280011"/>
          <p:cNvSpPr/>
          <p:nvPr/>
        </p:nvSpPr>
        <p:spPr>
          <a:xfrm>
            <a:off x="1524000" y="3276600"/>
            <a:ext cx="9144000" cy="0"/>
          </a:xfrm>
          <a:prstGeom prst="rect">
            <a:avLst/>
          </a:prstGeom>
          <a:noFill/>
          <a:ln w="9525">
            <a:noFill/>
          </a:ln>
        </p:spPr>
        <p:txBody>
          <a:bodyPr/>
          <a:p>
            <a:endParaRPr lang="zh-CN" altLang="en-US"/>
          </a:p>
        </p:txBody>
      </p:sp>
      <p:graphicFrame>
        <p:nvGraphicFramePr>
          <p:cNvPr id="1280011" name="对象 1280010"/>
          <p:cNvGraphicFramePr/>
          <p:nvPr/>
        </p:nvGraphicFramePr>
        <p:xfrm>
          <a:off x="2805430" y="2636838"/>
          <a:ext cx="2881313" cy="565150"/>
        </p:xfrm>
        <a:graphic>
          <a:graphicData uri="http://schemas.openxmlformats.org/presentationml/2006/ole">
            <mc:AlternateContent xmlns:mc="http://schemas.openxmlformats.org/markup-compatibility/2006">
              <mc:Choice xmlns:v="urn:schemas-microsoft-com:vml" Requires="v">
                <p:oleObj spid="_x0000_s3203" name="" r:id="rId3" imgW="1548765" imgH="304800" progId="Equation.3">
                  <p:embed/>
                </p:oleObj>
              </mc:Choice>
              <mc:Fallback>
                <p:oleObj name="" r:id="rId3" imgW="1548765" imgH="304800" progId="Equation.3">
                  <p:embed/>
                  <p:pic>
                    <p:nvPicPr>
                      <p:cNvPr id="0" name="图片 3202"/>
                      <p:cNvPicPr/>
                      <p:nvPr/>
                    </p:nvPicPr>
                    <p:blipFill>
                      <a:blip r:embed="rId4"/>
                      <a:stretch>
                        <a:fillRect/>
                      </a:stretch>
                    </p:blipFill>
                    <p:spPr>
                      <a:xfrm>
                        <a:off x="2805430" y="2636838"/>
                        <a:ext cx="2881313" cy="565150"/>
                      </a:xfrm>
                      <a:prstGeom prst="rect">
                        <a:avLst/>
                      </a:prstGeom>
                      <a:noFill/>
                      <a:ln w="38100">
                        <a:noFill/>
                        <a:miter/>
                      </a:ln>
                    </p:spPr>
                  </p:pic>
                </p:oleObj>
              </mc:Fallback>
            </mc:AlternateContent>
          </a:graphicData>
        </a:graphic>
      </p:graphicFrame>
      <p:sp>
        <p:nvSpPr>
          <p:cNvPr id="1280014" name="矩形 1280013"/>
          <p:cNvSpPr/>
          <p:nvPr/>
        </p:nvSpPr>
        <p:spPr>
          <a:xfrm>
            <a:off x="1725930" y="3402013"/>
            <a:ext cx="504825" cy="368300"/>
          </a:xfrm>
          <a:prstGeom prst="rect">
            <a:avLst/>
          </a:prstGeom>
          <a:noFill/>
          <a:ln w="9525">
            <a:noFill/>
          </a:ln>
        </p:spPr>
        <p:txBody>
          <a:bodyPr anchor="ctr" anchorCtr="0">
            <a:spAutoFit/>
          </a:bodyPr>
          <a:p>
            <a:pPr algn="l"/>
            <a:r>
              <a:rPr lang="zh-CN" altLang="en-US" dirty="0">
                <a:latin typeface="楷体" panose="02010609060101010101" pitchFamily="49" charset="-122"/>
                <a:ea typeface="楷体" panose="02010609060101010101" pitchFamily="49" charset="-122"/>
              </a:rPr>
              <a:t>令</a:t>
            </a:r>
            <a:endParaRPr lang="zh-CN" altLang="en-US" dirty="0">
              <a:latin typeface="楷体" panose="02010609060101010101" pitchFamily="49" charset="-122"/>
              <a:ea typeface="楷体" panose="02010609060101010101" pitchFamily="49" charset="-122"/>
            </a:endParaRPr>
          </a:p>
        </p:txBody>
      </p:sp>
      <p:graphicFrame>
        <p:nvGraphicFramePr>
          <p:cNvPr id="1280013" name="对象 1280012"/>
          <p:cNvGraphicFramePr/>
          <p:nvPr/>
        </p:nvGraphicFramePr>
        <p:xfrm>
          <a:off x="2229168" y="3286125"/>
          <a:ext cx="2520950" cy="720725"/>
        </p:xfrm>
        <a:graphic>
          <a:graphicData uri="http://schemas.openxmlformats.org/presentationml/2006/ole">
            <mc:AlternateContent xmlns:mc="http://schemas.openxmlformats.org/markup-compatibility/2006">
              <mc:Choice xmlns:v="urn:schemas-microsoft-com:vml" Requires="v">
                <p:oleObj spid="_x0000_s3195" name="" r:id="rId5" imgW="1600200" imgH="457200" progId="Equation.3">
                  <p:embed/>
                </p:oleObj>
              </mc:Choice>
              <mc:Fallback>
                <p:oleObj name="" r:id="rId5" imgW="1600200" imgH="457200" progId="Equation.3">
                  <p:embed/>
                  <p:pic>
                    <p:nvPicPr>
                      <p:cNvPr id="0" name="图片 3194"/>
                      <p:cNvPicPr/>
                      <p:nvPr/>
                    </p:nvPicPr>
                    <p:blipFill>
                      <a:blip r:embed="rId6"/>
                      <a:stretch>
                        <a:fillRect/>
                      </a:stretch>
                    </p:blipFill>
                    <p:spPr>
                      <a:xfrm>
                        <a:off x="2229168" y="3286125"/>
                        <a:ext cx="2520950" cy="720725"/>
                      </a:xfrm>
                      <a:prstGeom prst="rect">
                        <a:avLst/>
                      </a:prstGeom>
                      <a:noFill/>
                      <a:ln w="38100">
                        <a:noFill/>
                        <a:miter/>
                      </a:ln>
                    </p:spPr>
                  </p:pic>
                </p:oleObj>
              </mc:Fallback>
            </mc:AlternateContent>
          </a:graphicData>
        </a:graphic>
      </p:graphicFrame>
      <p:sp>
        <p:nvSpPr>
          <p:cNvPr id="1280015" name="矩形 1280014"/>
          <p:cNvSpPr/>
          <p:nvPr/>
        </p:nvSpPr>
        <p:spPr>
          <a:xfrm>
            <a:off x="4966018" y="3440113"/>
            <a:ext cx="10972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，解得：</a:t>
            </a:r>
            <a:endParaRPr lang="zh-CN" altLang="en-US" dirty="0">
              <a:latin typeface="楷体" panose="02010609060101010101" pitchFamily="49" charset="-122"/>
              <a:ea typeface="楷体" panose="02010609060101010101" pitchFamily="49" charset="-122"/>
            </a:endParaRPr>
          </a:p>
        </p:txBody>
      </p:sp>
      <p:sp>
        <p:nvSpPr>
          <p:cNvPr id="1280017" name="矩形 1280016"/>
          <p:cNvSpPr/>
          <p:nvPr/>
        </p:nvSpPr>
        <p:spPr>
          <a:xfrm>
            <a:off x="1524000" y="3186113"/>
            <a:ext cx="9144000" cy="0"/>
          </a:xfrm>
          <a:prstGeom prst="rect">
            <a:avLst/>
          </a:prstGeom>
          <a:noFill/>
          <a:ln w="9525">
            <a:noFill/>
          </a:ln>
        </p:spPr>
        <p:txBody>
          <a:bodyPr/>
          <a:p>
            <a:endParaRPr lang="zh-CN" altLang="en-US"/>
          </a:p>
        </p:txBody>
      </p:sp>
      <p:graphicFrame>
        <p:nvGraphicFramePr>
          <p:cNvPr id="1280016" name="对象 1280015"/>
          <p:cNvGraphicFramePr/>
          <p:nvPr/>
        </p:nvGraphicFramePr>
        <p:xfrm>
          <a:off x="2157730" y="4078288"/>
          <a:ext cx="4679950" cy="958850"/>
        </p:xfrm>
        <a:graphic>
          <a:graphicData uri="http://schemas.openxmlformats.org/presentationml/2006/ole">
            <mc:AlternateContent xmlns:mc="http://schemas.openxmlformats.org/markup-compatibility/2006">
              <mc:Choice xmlns:v="urn:schemas-microsoft-com:vml" Requires="v">
                <p:oleObj spid="_x0000_s3201" name="" r:id="rId7" imgW="2374900" imgH="482600" progId="Equation.3">
                  <p:embed/>
                </p:oleObj>
              </mc:Choice>
              <mc:Fallback>
                <p:oleObj name="" r:id="rId7" imgW="2374900" imgH="482600" progId="Equation.3">
                  <p:embed/>
                  <p:pic>
                    <p:nvPicPr>
                      <p:cNvPr id="0" name="图片 3200"/>
                      <p:cNvPicPr/>
                      <p:nvPr/>
                    </p:nvPicPr>
                    <p:blipFill>
                      <a:blip r:embed="rId8"/>
                      <a:stretch>
                        <a:fillRect/>
                      </a:stretch>
                    </p:blipFill>
                    <p:spPr>
                      <a:xfrm>
                        <a:off x="2157730" y="4078288"/>
                        <a:ext cx="4679950" cy="958850"/>
                      </a:xfrm>
                      <a:prstGeom prst="rect">
                        <a:avLst/>
                      </a:prstGeom>
                      <a:noFill/>
                      <a:ln w="38100">
                        <a:noFill/>
                        <a:miter/>
                      </a:ln>
                    </p:spPr>
                  </p:pic>
                </p:oleObj>
              </mc:Fallback>
            </mc:AlternateContent>
          </a:graphicData>
        </a:graphic>
      </p:graphicFrame>
      <p:graphicFrame>
        <p:nvGraphicFramePr>
          <p:cNvPr id="1280019" name="对象 1280018"/>
          <p:cNvGraphicFramePr/>
          <p:nvPr/>
        </p:nvGraphicFramePr>
        <p:xfrm>
          <a:off x="2445068" y="5157788"/>
          <a:ext cx="2447925" cy="836612"/>
        </p:xfrm>
        <a:graphic>
          <a:graphicData uri="http://schemas.openxmlformats.org/presentationml/2006/ole">
            <mc:AlternateContent xmlns:mc="http://schemas.openxmlformats.org/markup-compatibility/2006">
              <mc:Choice xmlns:v="urn:schemas-microsoft-com:vml" Requires="v">
                <p:oleObj spid="_x0000_s3199" name="" r:id="rId9" imgW="1333500" imgH="457200" progId="Equation.3">
                  <p:embed/>
                </p:oleObj>
              </mc:Choice>
              <mc:Fallback>
                <p:oleObj name="" r:id="rId9" imgW="1333500" imgH="457200" progId="Equation.3">
                  <p:embed/>
                  <p:pic>
                    <p:nvPicPr>
                      <p:cNvPr id="0" name="图片 3198"/>
                      <p:cNvPicPr/>
                      <p:nvPr/>
                    </p:nvPicPr>
                    <p:blipFill>
                      <a:blip r:embed="rId10"/>
                      <a:stretch>
                        <a:fillRect/>
                      </a:stretch>
                    </p:blipFill>
                    <p:spPr>
                      <a:xfrm>
                        <a:off x="2445068" y="5157788"/>
                        <a:ext cx="2447925" cy="836612"/>
                      </a:xfrm>
                      <a:prstGeom prst="rect">
                        <a:avLst/>
                      </a:prstGeom>
                      <a:noFill/>
                      <a:ln w="38100">
                        <a:noFill/>
                        <a:miter/>
                      </a:ln>
                    </p:spPr>
                  </p:pic>
                </p:oleObj>
              </mc:Fallback>
            </mc:AlternateContent>
          </a:graphicData>
        </a:graphic>
      </p:graphicFrame>
      <p:graphicFrame>
        <p:nvGraphicFramePr>
          <p:cNvPr id="1280018" name="对象 1280017"/>
          <p:cNvGraphicFramePr/>
          <p:nvPr/>
        </p:nvGraphicFramePr>
        <p:xfrm>
          <a:off x="2086293" y="6092825"/>
          <a:ext cx="863600" cy="469900"/>
        </p:xfrm>
        <a:graphic>
          <a:graphicData uri="http://schemas.openxmlformats.org/presentationml/2006/ole">
            <mc:AlternateContent xmlns:mc="http://schemas.openxmlformats.org/markup-compatibility/2006">
              <mc:Choice xmlns:v="urn:schemas-microsoft-com:vml" Requires="v">
                <p:oleObj spid="_x0000_s3194" name="" r:id="rId11" imgW="419100" imgH="228600" progId="Equation.3">
                  <p:embed/>
                </p:oleObj>
              </mc:Choice>
              <mc:Fallback>
                <p:oleObj name="" r:id="rId11" imgW="419100" imgH="228600" progId="Equation.3">
                  <p:embed/>
                  <p:pic>
                    <p:nvPicPr>
                      <p:cNvPr id="0" name="图片 3193"/>
                      <p:cNvPicPr/>
                      <p:nvPr/>
                    </p:nvPicPr>
                    <p:blipFill>
                      <a:blip r:embed="rId12"/>
                      <a:stretch>
                        <a:fillRect/>
                      </a:stretch>
                    </p:blipFill>
                    <p:spPr>
                      <a:xfrm>
                        <a:off x="2086293" y="6092825"/>
                        <a:ext cx="863600" cy="469900"/>
                      </a:xfrm>
                      <a:prstGeom prst="rect">
                        <a:avLst/>
                      </a:prstGeom>
                      <a:noFill/>
                      <a:ln w="38100">
                        <a:noFill/>
                        <a:miter/>
                      </a:ln>
                    </p:spPr>
                  </p:pic>
                </p:oleObj>
              </mc:Fallback>
            </mc:AlternateContent>
          </a:graphicData>
        </a:graphic>
      </p:graphicFrame>
      <p:sp>
        <p:nvSpPr>
          <p:cNvPr id="1280020" name="矩形 1280019"/>
          <p:cNvSpPr/>
          <p:nvPr/>
        </p:nvSpPr>
        <p:spPr>
          <a:xfrm>
            <a:off x="1654493" y="5392738"/>
            <a:ext cx="6400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由于</a:t>
            </a:r>
            <a:endParaRPr lang="zh-CN" altLang="en-US" dirty="0">
              <a:latin typeface="楷体" panose="02010609060101010101" pitchFamily="49" charset="-122"/>
              <a:ea typeface="楷体" panose="02010609060101010101" pitchFamily="49" charset="-122"/>
            </a:endParaRPr>
          </a:p>
        </p:txBody>
      </p:sp>
      <p:sp>
        <p:nvSpPr>
          <p:cNvPr id="1280021" name="矩形 1280020"/>
          <p:cNvSpPr/>
          <p:nvPr/>
        </p:nvSpPr>
        <p:spPr>
          <a:xfrm>
            <a:off x="5037455" y="5418138"/>
            <a:ext cx="2200275" cy="368300"/>
          </a:xfrm>
          <a:prstGeom prst="rect">
            <a:avLst/>
          </a:prstGeom>
          <a:noFill/>
          <a:ln w="9525">
            <a:noFill/>
          </a:ln>
        </p:spPr>
        <p:txBody>
          <a:bodyPr wrap="none" anchor="ctr" anchorCtr="0">
            <a:spAutoFit/>
          </a:bodyPr>
          <a:p>
            <a:pPr algn="l"/>
            <a:r>
              <a:rPr lang="zh-CN" altLang="en-US" dirty="0">
                <a:latin typeface="Times New Roman" panose="02020603050405020304" pitchFamily="18" charset="0"/>
                <a:ea typeface="宋体" panose="02010600030101010101" pitchFamily="2"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故</a:t>
            </a: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30000">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取上述值时，</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280022" name="矩形 1280021"/>
          <p:cNvSpPr/>
          <p:nvPr/>
        </p:nvSpPr>
        <p:spPr>
          <a:xfrm>
            <a:off x="3165793" y="6137275"/>
            <a:ext cx="13258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达到最大。</a:t>
            </a:r>
            <a:endParaRPr lang="zh-CN" altLang="en-US" dirty="0">
              <a:latin typeface="楷体" panose="02010609060101010101" pitchFamily="49" charset="-122"/>
              <a:ea typeface="楷体" panose="02010609060101010101" pitchFamily="49" charset="-122"/>
            </a:endParaRPr>
          </a:p>
        </p:txBody>
      </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spd="slow">
    <p:randomBar dir="ver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1030" name="矩形 1281029"/>
          <p:cNvSpPr/>
          <p:nvPr/>
        </p:nvSpPr>
        <p:spPr>
          <a:xfrm>
            <a:off x="1524000" y="3176588"/>
            <a:ext cx="9144000" cy="0"/>
          </a:xfrm>
          <a:prstGeom prst="rect">
            <a:avLst/>
          </a:prstGeom>
          <a:noFill/>
          <a:ln w="9525">
            <a:noFill/>
          </a:ln>
        </p:spPr>
        <p:txBody>
          <a:bodyPr/>
          <a:p>
            <a:endParaRPr lang="zh-CN" altLang="en-US"/>
          </a:p>
        </p:txBody>
      </p:sp>
      <p:graphicFrame>
        <p:nvGraphicFramePr>
          <p:cNvPr id="1281029" name="对象 1281028"/>
          <p:cNvGraphicFramePr/>
          <p:nvPr/>
        </p:nvGraphicFramePr>
        <p:xfrm>
          <a:off x="2756218" y="817563"/>
          <a:ext cx="5327650" cy="885825"/>
        </p:xfrm>
        <a:graphic>
          <a:graphicData uri="http://schemas.openxmlformats.org/presentationml/2006/ole">
            <mc:AlternateContent xmlns:mc="http://schemas.openxmlformats.org/markup-compatibility/2006">
              <mc:Choice xmlns:v="urn:schemas-microsoft-com:vml" Requires="v">
                <p:oleObj spid="_x0000_s3211" name="" r:id="rId1" imgW="3035300" imgH="508000" progId="Equation.3">
                  <p:embed/>
                </p:oleObj>
              </mc:Choice>
              <mc:Fallback>
                <p:oleObj name="" r:id="rId1" imgW="3035300" imgH="508000" progId="Equation.3">
                  <p:embed/>
                  <p:pic>
                    <p:nvPicPr>
                      <p:cNvPr id="0" name="图片 3210"/>
                      <p:cNvPicPr/>
                      <p:nvPr/>
                    </p:nvPicPr>
                    <p:blipFill>
                      <a:blip r:embed="rId2"/>
                      <a:stretch>
                        <a:fillRect/>
                      </a:stretch>
                    </p:blipFill>
                    <p:spPr>
                      <a:xfrm>
                        <a:off x="2756218" y="817563"/>
                        <a:ext cx="5327650" cy="885825"/>
                      </a:xfrm>
                      <a:prstGeom prst="rect">
                        <a:avLst/>
                      </a:prstGeom>
                      <a:noFill/>
                      <a:ln w="38100">
                        <a:noFill/>
                        <a:miter/>
                      </a:ln>
                    </p:spPr>
                  </p:pic>
                </p:oleObj>
              </mc:Fallback>
            </mc:AlternateContent>
          </a:graphicData>
        </a:graphic>
      </p:graphicFrame>
      <p:sp>
        <p:nvSpPr>
          <p:cNvPr id="1281031" name="矩形 1281030"/>
          <p:cNvSpPr/>
          <p:nvPr/>
        </p:nvSpPr>
        <p:spPr>
          <a:xfrm>
            <a:off x="2397443" y="1941513"/>
            <a:ext cx="13258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k=2</a:t>
            </a:r>
            <a:r>
              <a:rPr lang="zh-CN" altLang="en-US" dirty="0">
                <a:latin typeface="楷体" panose="02010609060101010101" pitchFamily="49" charset="-122"/>
                <a:ea typeface="楷体" panose="02010609060101010101" pitchFamily="49" charset="-122"/>
                <a:cs typeface="楷体" panose="02010609060101010101" pitchFamily="49" charset="-122"/>
              </a:rPr>
              <a:t>时</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281033" name="矩形 1281032"/>
          <p:cNvSpPr/>
          <p:nvPr/>
        </p:nvSpPr>
        <p:spPr>
          <a:xfrm>
            <a:off x="1524000" y="2566988"/>
            <a:ext cx="9144000" cy="0"/>
          </a:xfrm>
          <a:prstGeom prst="rect">
            <a:avLst/>
          </a:prstGeom>
          <a:noFill/>
          <a:ln w="9525">
            <a:noFill/>
          </a:ln>
        </p:spPr>
        <p:txBody>
          <a:bodyPr/>
          <a:p>
            <a:endParaRPr lang="zh-CN" altLang="en-US"/>
          </a:p>
        </p:txBody>
      </p:sp>
      <p:graphicFrame>
        <p:nvGraphicFramePr>
          <p:cNvPr id="1281032" name="对象 1281031"/>
          <p:cNvGraphicFramePr/>
          <p:nvPr/>
        </p:nvGraphicFramePr>
        <p:xfrm>
          <a:off x="2324418" y="2401888"/>
          <a:ext cx="6948487" cy="3074987"/>
        </p:xfrm>
        <a:graphic>
          <a:graphicData uri="http://schemas.openxmlformats.org/presentationml/2006/ole">
            <mc:AlternateContent xmlns:mc="http://schemas.openxmlformats.org/markup-compatibility/2006">
              <mc:Choice xmlns:v="urn:schemas-microsoft-com:vml" Requires="v">
                <p:oleObj spid="_x0000_s3210" name="" r:id="rId3" imgW="3898900" imgH="1727200" progId="Equation.3">
                  <p:embed/>
                </p:oleObj>
              </mc:Choice>
              <mc:Fallback>
                <p:oleObj name="" r:id="rId3" imgW="3898900" imgH="1727200" progId="Equation.3">
                  <p:embed/>
                  <p:pic>
                    <p:nvPicPr>
                      <p:cNvPr id="0" name="图片 3209"/>
                      <p:cNvPicPr/>
                      <p:nvPr/>
                    </p:nvPicPr>
                    <p:blipFill>
                      <a:blip r:embed="rId4"/>
                      <a:stretch>
                        <a:fillRect/>
                      </a:stretch>
                    </p:blipFill>
                    <p:spPr>
                      <a:xfrm>
                        <a:off x="2324418" y="2401888"/>
                        <a:ext cx="6948487" cy="3074987"/>
                      </a:xfrm>
                      <a:prstGeom prst="rect">
                        <a:avLst/>
                      </a:prstGeom>
                      <a:noFill/>
                      <a:ln w="38100">
                        <a:noFill/>
                        <a:miter/>
                      </a:ln>
                    </p:spPr>
                  </p:pic>
                </p:oleObj>
              </mc:Fallback>
            </mc:AlternateContent>
          </a:graphicData>
        </a:graphic>
      </p:graphicFrame>
      <p:sp>
        <p:nvSpPr>
          <p:cNvPr id="1281034" name="矩形 1281033"/>
          <p:cNvSpPr/>
          <p:nvPr/>
        </p:nvSpPr>
        <p:spPr>
          <a:xfrm>
            <a:off x="2397443" y="5686425"/>
            <a:ext cx="69723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由于</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graphicFrame>
        <p:nvGraphicFramePr>
          <p:cNvPr id="1281037" name="对象 1281036"/>
          <p:cNvGraphicFramePr/>
          <p:nvPr/>
        </p:nvGraphicFramePr>
        <p:xfrm>
          <a:off x="3116580" y="5641975"/>
          <a:ext cx="935038" cy="477838"/>
        </p:xfrm>
        <a:graphic>
          <a:graphicData uri="http://schemas.openxmlformats.org/presentationml/2006/ole">
            <mc:AlternateContent xmlns:mc="http://schemas.openxmlformats.org/markup-compatibility/2006">
              <mc:Choice xmlns:v="urn:schemas-microsoft-com:vml" Requires="v">
                <p:oleObj spid="_x0000_s3212" name="" r:id="rId5" imgW="431800" imgH="215900" progId="Equation.3">
                  <p:embed/>
                </p:oleObj>
              </mc:Choice>
              <mc:Fallback>
                <p:oleObj name="" r:id="rId5" imgW="431800" imgH="215900" progId="Equation.3">
                  <p:embed/>
                  <p:pic>
                    <p:nvPicPr>
                      <p:cNvPr id="0" name="图片 3211"/>
                      <p:cNvPicPr/>
                      <p:nvPr/>
                    </p:nvPicPr>
                    <p:blipFill>
                      <a:blip r:embed="rId6"/>
                      <a:stretch>
                        <a:fillRect/>
                      </a:stretch>
                    </p:blipFill>
                    <p:spPr>
                      <a:xfrm>
                        <a:off x="3116580" y="5641975"/>
                        <a:ext cx="935038" cy="477838"/>
                      </a:xfrm>
                      <a:prstGeom prst="rect">
                        <a:avLst/>
                      </a:prstGeom>
                      <a:noFill/>
                      <a:ln w="38100">
                        <a:noFill/>
                        <a:miter/>
                      </a:ln>
                    </p:spPr>
                  </p:pic>
                </p:oleObj>
              </mc:Fallback>
            </mc:AlternateContent>
          </a:graphicData>
        </a:graphic>
      </p:graphicFrame>
      <p:graphicFrame>
        <p:nvGraphicFramePr>
          <p:cNvPr id="1281036" name="对象 1281035"/>
          <p:cNvGraphicFramePr/>
          <p:nvPr/>
        </p:nvGraphicFramePr>
        <p:xfrm>
          <a:off x="4485005" y="5641975"/>
          <a:ext cx="792163" cy="414338"/>
        </p:xfrm>
        <a:graphic>
          <a:graphicData uri="http://schemas.openxmlformats.org/presentationml/2006/ole">
            <mc:AlternateContent xmlns:mc="http://schemas.openxmlformats.org/markup-compatibility/2006">
              <mc:Choice xmlns:v="urn:schemas-microsoft-com:vml" Requires="v">
                <p:oleObj spid="_x0000_s3207" name="" r:id="rId7" imgW="419100" imgH="215900" progId="Equation.3">
                  <p:embed/>
                </p:oleObj>
              </mc:Choice>
              <mc:Fallback>
                <p:oleObj name="" r:id="rId7" imgW="419100" imgH="215900" progId="Equation.3">
                  <p:embed/>
                  <p:pic>
                    <p:nvPicPr>
                      <p:cNvPr id="0" name="图片 3206"/>
                      <p:cNvPicPr/>
                      <p:nvPr/>
                    </p:nvPicPr>
                    <p:blipFill>
                      <a:blip r:embed="rId8"/>
                      <a:stretch>
                        <a:fillRect/>
                      </a:stretch>
                    </p:blipFill>
                    <p:spPr>
                      <a:xfrm>
                        <a:off x="4485005" y="5641975"/>
                        <a:ext cx="792163" cy="414338"/>
                      </a:xfrm>
                      <a:prstGeom prst="rect">
                        <a:avLst/>
                      </a:prstGeom>
                      <a:noFill/>
                      <a:ln w="38100">
                        <a:noFill/>
                        <a:miter/>
                      </a:ln>
                    </p:spPr>
                  </p:pic>
                </p:oleObj>
              </mc:Fallback>
            </mc:AlternateContent>
          </a:graphicData>
        </a:graphic>
      </p:graphicFrame>
      <p:graphicFrame>
        <p:nvGraphicFramePr>
          <p:cNvPr id="1281035" name="对象 1281034"/>
          <p:cNvGraphicFramePr/>
          <p:nvPr/>
        </p:nvGraphicFramePr>
        <p:xfrm>
          <a:off x="6429693" y="5426075"/>
          <a:ext cx="936625" cy="817563"/>
        </p:xfrm>
        <a:graphic>
          <a:graphicData uri="http://schemas.openxmlformats.org/presentationml/2006/ole">
            <mc:AlternateContent xmlns:mc="http://schemas.openxmlformats.org/markup-compatibility/2006">
              <mc:Choice xmlns:v="urn:schemas-microsoft-com:vml" Requires="v">
                <p:oleObj spid="_x0000_s3206" name="" r:id="rId9" imgW="444500" imgH="393700" progId="Equation.3">
                  <p:embed/>
                </p:oleObj>
              </mc:Choice>
              <mc:Fallback>
                <p:oleObj name="" r:id="rId9" imgW="444500" imgH="393700" progId="Equation.3">
                  <p:embed/>
                  <p:pic>
                    <p:nvPicPr>
                      <p:cNvPr id="0" name="图片 3205"/>
                      <p:cNvPicPr/>
                      <p:nvPr/>
                    </p:nvPicPr>
                    <p:blipFill>
                      <a:blip r:embed="rId10"/>
                      <a:stretch>
                        <a:fillRect/>
                      </a:stretch>
                    </p:blipFill>
                    <p:spPr>
                      <a:xfrm>
                        <a:off x="6429693" y="5426075"/>
                        <a:ext cx="936625" cy="817563"/>
                      </a:xfrm>
                      <a:prstGeom prst="rect">
                        <a:avLst/>
                      </a:prstGeom>
                      <a:noFill/>
                      <a:ln w="38100">
                        <a:noFill/>
                        <a:miter/>
                      </a:ln>
                    </p:spPr>
                  </p:pic>
                </p:oleObj>
              </mc:Fallback>
            </mc:AlternateContent>
          </a:graphicData>
        </a:graphic>
      </p:graphicFrame>
      <p:sp>
        <p:nvSpPr>
          <p:cNvPr id="1281038" name="矩形 1281037"/>
          <p:cNvSpPr/>
          <p:nvPr/>
        </p:nvSpPr>
        <p:spPr>
          <a:xfrm>
            <a:off x="1524000" y="2640013"/>
            <a:ext cx="9144000" cy="0"/>
          </a:xfrm>
          <a:prstGeom prst="rect">
            <a:avLst/>
          </a:prstGeom>
          <a:noFill/>
          <a:ln w="9525">
            <a:noFill/>
          </a:ln>
        </p:spPr>
        <p:txBody>
          <a:bodyPr/>
          <a:p>
            <a:endParaRPr lang="zh-CN" altLang="en-US"/>
          </a:p>
        </p:txBody>
      </p:sp>
      <p:sp>
        <p:nvSpPr>
          <p:cNvPr id="1281039" name="矩形 1281038"/>
          <p:cNvSpPr/>
          <p:nvPr/>
        </p:nvSpPr>
        <p:spPr>
          <a:xfrm>
            <a:off x="4053205" y="5724525"/>
            <a:ext cx="411480" cy="368300"/>
          </a:xfrm>
          <a:prstGeom prst="rect">
            <a:avLst/>
          </a:prstGeom>
          <a:noFill/>
          <a:ln w="9525">
            <a:noFill/>
          </a:ln>
        </p:spPr>
        <p:txBody>
          <a:bodyPr wrap="none" anchor="ctr" anchorCtr="0">
            <a:spAutoFit/>
          </a:bodyPr>
          <a:p>
            <a:pPr algn="l"/>
            <a:r>
              <a:rPr lang="zh-CN" altLang="en-US" dirty="0">
                <a:latin typeface="Times New Roman" panose="02020603050405020304" pitchFamily="18" charset="0"/>
                <a:ea typeface="隶书" panose="02010509060101010101" pitchFamily="49" charset="-122"/>
                <a:cs typeface="Times New Roman" panose="02020603050405020304" pitchFamily="18" charset="0"/>
              </a:rPr>
              <a:t>，</a:t>
            </a:r>
            <a:endParaRPr lang="zh-CN" altLang="en-US" dirty="0">
              <a:latin typeface="Times New Roman" panose="02020603050405020304" pitchFamily="18" charset="0"/>
              <a:ea typeface="隶书" panose="02010509060101010101" pitchFamily="49" charset="-122"/>
            </a:endParaRPr>
          </a:p>
        </p:txBody>
      </p:sp>
      <p:sp>
        <p:nvSpPr>
          <p:cNvPr id="1281040" name="矩形 1281039"/>
          <p:cNvSpPr/>
          <p:nvPr/>
        </p:nvSpPr>
        <p:spPr>
          <a:xfrm>
            <a:off x="5564505" y="5614988"/>
            <a:ext cx="863600" cy="368300"/>
          </a:xfrm>
          <a:prstGeom prst="rect">
            <a:avLst/>
          </a:prstGeom>
          <a:noFill/>
          <a:ln w="9525">
            <a:noFill/>
          </a:ln>
        </p:spPr>
        <p:txBody>
          <a:bodyPr anchor="ctr" anchorCtr="0">
            <a:spAutoFit/>
          </a:bodyPr>
          <a:p>
            <a:pPr algn="l"/>
            <a:r>
              <a:rPr lang="zh-CN" altLang="en-US" dirty="0">
                <a:latin typeface="楷体" panose="02010609060101010101" pitchFamily="49" charset="-122"/>
                <a:ea typeface="楷体" panose="02010609060101010101" pitchFamily="49" charset="-122"/>
                <a:cs typeface="Times New Roman" panose="02020603050405020304" pitchFamily="18" charset="0"/>
              </a:rPr>
              <a:t>，则</a:t>
            </a:r>
            <a:endParaRPr lang="zh-CN" altLang="en-US" dirty="0">
              <a:latin typeface="楷体" panose="02010609060101010101" pitchFamily="49" charset="-122"/>
              <a:ea typeface="楷体" panose="02010609060101010101" pitchFamily="49" charset="-122"/>
            </a:endParaRPr>
          </a:p>
        </p:txBody>
      </p:sp>
      <p:sp>
        <p:nvSpPr>
          <p:cNvPr id="1281041" name="矩形 1281040"/>
          <p:cNvSpPr/>
          <p:nvPr/>
        </p:nvSpPr>
        <p:spPr>
          <a:xfrm>
            <a:off x="7509193" y="5686425"/>
            <a:ext cx="468630" cy="368300"/>
          </a:xfrm>
          <a:prstGeom prst="rect">
            <a:avLst/>
          </a:prstGeom>
          <a:noFill/>
          <a:ln w="9525">
            <a:noFill/>
          </a:ln>
        </p:spPr>
        <p:txBody>
          <a:bodyPr wrap="none" anchor="ctr" anchorCtr="0">
            <a:spAutoFit/>
          </a:bodyPr>
          <a:p>
            <a:pPr algn="l"/>
            <a:r>
              <a:rPr lang="zh-CN" altLang="en-US" dirty="0">
                <a:latin typeface="Times New Roman" panose="02020603050405020304" pitchFamily="18" charset="0"/>
                <a:ea typeface="隶书" panose="02010509060101010101" pitchFamily="49" charset="-122"/>
                <a:cs typeface="Times New Roman" panose="02020603050405020304" pitchFamily="18" charset="0"/>
              </a:rPr>
              <a:t>。</a:t>
            </a:r>
            <a:r>
              <a:rPr lang="zh-CN" altLang="en-US" dirty="0">
                <a:latin typeface="Times New Roman" panose="02020603050405020304" pitchFamily="18" charset="0"/>
                <a:ea typeface="隶书" panose="02010509060101010101" pitchFamily="49" charset="-122"/>
              </a:rPr>
              <a:t> </a:t>
            </a:r>
            <a:endParaRPr lang="zh-CN" altLang="en-US" dirty="0">
              <a:latin typeface="Times New Roman" panose="02020603050405020304" pitchFamily="18" charset="0"/>
              <a:ea typeface="隶书" panose="02010509060101010101" pitchFamily="49" charset="-122"/>
            </a:endParaRPr>
          </a:p>
        </p:txBody>
      </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spd="slow">
    <p:randomBar dir="ver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2053" name="矩形 1282052"/>
          <p:cNvSpPr/>
          <p:nvPr/>
        </p:nvSpPr>
        <p:spPr>
          <a:xfrm>
            <a:off x="2895283" y="886778"/>
            <a:ext cx="13258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3</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k=1</a:t>
            </a:r>
            <a:r>
              <a:rPr lang="zh-CN" altLang="en-US" dirty="0">
                <a:latin typeface="楷体" panose="02010609060101010101" pitchFamily="49" charset="-122"/>
                <a:ea typeface="楷体" panose="02010609060101010101" pitchFamily="49" charset="-122"/>
                <a:cs typeface="楷体" panose="02010609060101010101" pitchFamily="49" charset="-122"/>
              </a:rPr>
              <a:t>时</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282055" name="矩形 1282054"/>
          <p:cNvSpPr/>
          <p:nvPr/>
        </p:nvSpPr>
        <p:spPr>
          <a:xfrm>
            <a:off x="1524000" y="3009900"/>
            <a:ext cx="9144000" cy="0"/>
          </a:xfrm>
          <a:prstGeom prst="rect">
            <a:avLst/>
          </a:prstGeom>
          <a:noFill/>
          <a:ln w="9525">
            <a:noFill/>
          </a:ln>
        </p:spPr>
        <p:txBody>
          <a:bodyPr/>
          <a:p>
            <a:endParaRPr lang="zh-CN" altLang="en-US"/>
          </a:p>
        </p:txBody>
      </p:sp>
      <p:graphicFrame>
        <p:nvGraphicFramePr>
          <p:cNvPr id="1282054" name="对象 1282053"/>
          <p:cNvGraphicFramePr/>
          <p:nvPr/>
        </p:nvGraphicFramePr>
        <p:xfrm>
          <a:off x="3184208" y="1490028"/>
          <a:ext cx="4176712" cy="1865312"/>
        </p:xfrm>
        <a:graphic>
          <a:graphicData uri="http://schemas.openxmlformats.org/presentationml/2006/ole">
            <mc:AlternateContent xmlns:mc="http://schemas.openxmlformats.org/markup-compatibility/2006">
              <mc:Choice xmlns:v="urn:schemas-microsoft-com:vml" Requires="v">
                <p:oleObj spid="_x0000_s3213" name="" r:id="rId1" imgW="1879600" imgH="838200" progId="Equation.3">
                  <p:embed/>
                </p:oleObj>
              </mc:Choice>
              <mc:Fallback>
                <p:oleObj name="" r:id="rId1" imgW="1879600" imgH="838200" progId="Equation.3">
                  <p:embed/>
                  <p:pic>
                    <p:nvPicPr>
                      <p:cNvPr id="0" name="图片 3212"/>
                      <p:cNvPicPr/>
                      <p:nvPr/>
                    </p:nvPicPr>
                    <p:blipFill>
                      <a:blip r:embed="rId2"/>
                      <a:stretch>
                        <a:fillRect/>
                      </a:stretch>
                    </p:blipFill>
                    <p:spPr>
                      <a:xfrm>
                        <a:off x="3184208" y="1490028"/>
                        <a:ext cx="4176712" cy="1865312"/>
                      </a:xfrm>
                      <a:prstGeom prst="rect">
                        <a:avLst/>
                      </a:prstGeom>
                      <a:noFill/>
                      <a:ln w="38100">
                        <a:noFill/>
                        <a:miter/>
                      </a:ln>
                    </p:spPr>
                  </p:pic>
                </p:oleObj>
              </mc:Fallback>
            </mc:AlternateContent>
          </a:graphicData>
        </a:graphic>
      </p:graphicFrame>
      <p:graphicFrame>
        <p:nvGraphicFramePr>
          <p:cNvPr id="1282059" name="对象 1282058"/>
          <p:cNvGraphicFramePr/>
          <p:nvPr/>
        </p:nvGraphicFramePr>
        <p:xfrm>
          <a:off x="3542983" y="3514090"/>
          <a:ext cx="790575" cy="412750"/>
        </p:xfrm>
        <a:graphic>
          <a:graphicData uri="http://schemas.openxmlformats.org/presentationml/2006/ole">
            <mc:AlternateContent xmlns:mc="http://schemas.openxmlformats.org/markup-compatibility/2006">
              <mc:Choice xmlns:v="urn:schemas-microsoft-com:vml" Requires="v">
                <p:oleObj spid="_x0000_s3204" name="" r:id="rId3" imgW="419100" imgH="215900" progId="Equation.3">
                  <p:embed/>
                </p:oleObj>
              </mc:Choice>
              <mc:Fallback>
                <p:oleObj name="" r:id="rId3" imgW="419100" imgH="215900" progId="Equation.3">
                  <p:embed/>
                  <p:pic>
                    <p:nvPicPr>
                      <p:cNvPr id="0" name="图片 3203"/>
                      <p:cNvPicPr/>
                      <p:nvPr/>
                    </p:nvPicPr>
                    <p:blipFill>
                      <a:blip r:embed="rId4"/>
                      <a:stretch>
                        <a:fillRect/>
                      </a:stretch>
                    </p:blipFill>
                    <p:spPr>
                      <a:xfrm>
                        <a:off x="3542983" y="3514090"/>
                        <a:ext cx="790575" cy="412750"/>
                      </a:xfrm>
                      <a:prstGeom prst="rect">
                        <a:avLst/>
                      </a:prstGeom>
                      <a:noFill/>
                      <a:ln w="38100">
                        <a:noFill/>
                        <a:miter/>
                      </a:ln>
                    </p:spPr>
                  </p:pic>
                </p:oleObj>
              </mc:Fallback>
            </mc:AlternateContent>
          </a:graphicData>
        </a:graphic>
      </p:graphicFrame>
      <p:graphicFrame>
        <p:nvGraphicFramePr>
          <p:cNvPr id="1282058" name="对象 1282057"/>
          <p:cNvGraphicFramePr/>
          <p:nvPr/>
        </p:nvGraphicFramePr>
        <p:xfrm>
          <a:off x="4984433" y="3495040"/>
          <a:ext cx="792162" cy="414338"/>
        </p:xfrm>
        <a:graphic>
          <a:graphicData uri="http://schemas.openxmlformats.org/presentationml/2006/ole">
            <mc:AlternateContent xmlns:mc="http://schemas.openxmlformats.org/markup-compatibility/2006">
              <mc:Choice xmlns:v="urn:schemas-microsoft-com:vml" Requires="v">
                <p:oleObj spid="_x0000_s3208" name="" r:id="rId5" imgW="419100" imgH="215900" progId="Equation.3">
                  <p:embed/>
                </p:oleObj>
              </mc:Choice>
              <mc:Fallback>
                <p:oleObj name="" r:id="rId5" imgW="419100" imgH="215900" progId="Equation.3">
                  <p:embed/>
                  <p:pic>
                    <p:nvPicPr>
                      <p:cNvPr id="0" name="图片 3207"/>
                      <p:cNvPicPr/>
                      <p:nvPr/>
                    </p:nvPicPr>
                    <p:blipFill>
                      <a:blip r:embed="rId6"/>
                      <a:stretch>
                        <a:fillRect/>
                      </a:stretch>
                    </p:blipFill>
                    <p:spPr>
                      <a:xfrm>
                        <a:off x="4984433" y="3495040"/>
                        <a:ext cx="792162" cy="414338"/>
                      </a:xfrm>
                      <a:prstGeom prst="rect">
                        <a:avLst/>
                      </a:prstGeom>
                      <a:noFill/>
                      <a:ln w="38100">
                        <a:noFill/>
                        <a:miter/>
                      </a:ln>
                    </p:spPr>
                  </p:pic>
                </p:oleObj>
              </mc:Fallback>
            </mc:AlternateContent>
          </a:graphicData>
        </a:graphic>
      </p:graphicFrame>
      <p:graphicFrame>
        <p:nvGraphicFramePr>
          <p:cNvPr id="1282057" name="对象 1282056"/>
          <p:cNvGraphicFramePr/>
          <p:nvPr/>
        </p:nvGraphicFramePr>
        <p:xfrm>
          <a:off x="7724458" y="3495040"/>
          <a:ext cx="1219200" cy="406400"/>
        </p:xfrm>
        <a:graphic>
          <a:graphicData uri="http://schemas.openxmlformats.org/presentationml/2006/ole">
            <mc:AlternateContent xmlns:mc="http://schemas.openxmlformats.org/markup-compatibility/2006">
              <mc:Choice xmlns:v="urn:schemas-microsoft-com:vml" Requires="v">
                <p:oleObj spid="_x0000_s3205" name="" r:id="rId7" imgW="660400" imgH="215900" progId="Equation.3">
                  <p:embed/>
                </p:oleObj>
              </mc:Choice>
              <mc:Fallback>
                <p:oleObj name="" r:id="rId7" imgW="660400" imgH="215900" progId="Equation.3">
                  <p:embed/>
                  <p:pic>
                    <p:nvPicPr>
                      <p:cNvPr id="0" name="图片 3204"/>
                      <p:cNvPicPr/>
                      <p:nvPr/>
                    </p:nvPicPr>
                    <p:blipFill>
                      <a:blip r:embed="rId8"/>
                      <a:stretch>
                        <a:fillRect/>
                      </a:stretch>
                    </p:blipFill>
                    <p:spPr>
                      <a:xfrm>
                        <a:off x="7724458" y="3495040"/>
                        <a:ext cx="1219200" cy="406400"/>
                      </a:xfrm>
                      <a:prstGeom prst="rect">
                        <a:avLst/>
                      </a:prstGeom>
                      <a:noFill/>
                      <a:ln w="38100">
                        <a:noFill/>
                        <a:miter/>
                      </a:ln>
                    </p:spPr>
                  </p:pic>
                </p:oleObj>
              </mc:Fallback>
            </mc:AlternateContent>
          </a:graphicData>
        </a:graphic>
      </p:graphicFrame>
      <p:graphicFrame>
        <p:nvGraphicFramePr>
          <p:cNvPr id="1282056" name="对象 1282055"/>
          <p:cNvGraphicFramePr/>
          <p:nvPr/>
        </p:nvGraphicFramePr>
        <p:xfrm>
          <a:off x="3831908" y="4645978"/>
          <a:ext cx="1106487" cy="1597025"/>
        </p:xfrm>
        <a:graphic>
          <a:graphicData uri="http://schemas.openxmlformats.org/presentationml/2006/ole">
            <mc:AlternateContent xmlns:mc="http://schemas.openxmlformats.org/markup-compatibility/2006">
              <mc:Choice xmlns:v="urn:schemas-microsoft-com:vml" Requires="v">
                <p:oleObj spid="_x0000_s3209" name="" r:id="rId9" imgW="495300" imgH="711200" progId="Equation.3">
                  <p:embed/>
                </p:oleObj>
              </mc:Choice>
              <mc:Fallback>
                <p:oleObj name="" r:id="rId9" imgW="495300" imgH="711200" progId="Equation.3">
                  <p:embed/>
                  <p:pic>
                    <p:nvPicPr>
                      <p:cNvPr id="0" name="图片 3208"/>
                      <p:cNvPicPr/>
                      <p:nvPr/>
                    </p:nvPicPr>
                    <p:blipFill>
                      <a:blip r:embed="rId10"/>
                      <a:stretch>
                        <a:fillRect/>
                      </a:stretch>
                    </p:blipFill>
                    <p:spPr>
                      <a:xfrm>
                        <a:off x="3831908" y="4645978"/>
                        <a:ext cx="1106487" cy="1597025"/>
                      </a:xfrm>
                      <a:prstGeom prst="rect">
                        <a:avLst/>
                      </a:prstGeom>
                      <a:noFill/>
                      <a:ln w="38100">
                        <a:noFill/>
                        <a:miter/>
                      </a:ln>
                    </p:spPr>
                  </p:pic>
                </p:oleObj>
              </mc:Fallback>
            </mc:AlternateContent>
          </a:graphicData>
        </a:graphic>
      </p:graphicFrame>
      <p:sp>
        <p:nvSpPr>
          <p:cNvPr id="1282060" name="矩形 1282059"/>
          <p:cNvSpPr/>
          <p:nvPr/>
        </p:nvSpPr>
        <p:spPr>
          <a:xfrm>
            <a:off x="3039745" y="3539490"/>
            <a:ext cx="4114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当</a:t>
            </a:r>
            <a:endParaRPr lang="zh-CN" altLang="en-US" dirty="0">
              <a:latin typeface="楷体" panose="02010609060101010101" pitchFamily="49" charset="-122"/>
              <a:ea typeface="楷体" panose="02010609060101010101" pitchFamily="49" charset="-122"/>
            </a:endParaRPr>
          </a:p>
        </p:txBody>
      </p:sp>
      <p:sp>
        <p:nvSpPr>
          <p:cNvPr id="1282061" name="矩形 1282060"/>
          <p:cNvSpPr/>
          <p:nvPr/>
        </p:nvSpPr>
        <p:spPr>
          <a:xfrm>
            <a:off x="4335145" y="3539490"/>
            <a:ext cx="6400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时，</a:t>
            </a:r>
            <a:endParaRPr lang="zh-CN" altLang="en-US" dirty="0">
              <a:latin typeface="楷体" panose="02010609060101010101" pitchFamily="49" charset="-122"/>
              <a:ea typeface="楷体" panose="02010609060101010101" pitchFamily="49" charset="-122"/>
            </a:endParaRPr>
          </a:p>
        </p:txBody>
      </p:sp>
      <p:sp>
        <p:nvSpPr>
          <p:cNvPr id="1282062" name="矩形 1282061"/>
          <p:cNvSpPr/>
          <p:nvPr/>
        </p:nvSpPr>
        <p:spPr>
          <a:xfrm>
            <a:off x="5848033" y="3539490"/>
            <a:ext cx="1554480"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取得最大值，</a:t>
            </a:r>
            <a:endParaRPr lang="zh-CN" altLang="en-US" dirty="0">
              <a:latin typeface="楷体" panose="02010609060101010101" pitchFamily="49" charset="-122"/>
              <a:ea typeface="楷体" panose="02010609060101010101" pitchFamily="49" charset="-122"/>
            </a:endParaRPr>
          </a:p>
        </p:txBody>
      </p:sp>
      <p:sp>
        <p:nvSpPr>
          <p:cNvPr id="1282063" name="矩形 1282062"/>
          <p:cNvSpPr/>
          <p:nvPr/>
        </p:nvSpPr>
        <p:spPr>
          <a:xfrm>
            <a:off x="3111183" y="4115753"/>
            <a:ext cx="5689600" cy="368300"/>
          </a:xfrm>
          <a:prstGeom prst="rect">
            <a:avLst/>
          </a:prstGeom>
          <a:noFill/>
          <a:ln w="9525">
            <a:noFill/>
          </a:ln>
        </p:spPr>
        <p:txBody>
          <a:bodyPr anchor="ctr" anchorCtr="0">
            <a:spAutoFit/>
          </a:bodyPr>
          <a:p>
            <a:pPr algn="l"/>
            <a:r>
              <a:rPr lang="zh-CN" altLang="en-US" dirty="0">
                <a:latin typeface="楷体" panose="02010609060101010101" pitchFamily="49" charset="-122"/>
                <a:ea typeface="楷体" panose="02010609060101010101" pitchFamily="49" charset="-122"/>
                <a:cs typeface="楷体" panose="02010609060101010101" pitchFamily="49" charset="-122"/>
              </a:rPr>
              <a:t>此时</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30000">
                <a:latin typeface="楷体" panose="02010609060101010101" pitchFamily="49" charset="-122"/>
                <a:ea typeface="楷体" panose="02010609060101010101" pitchFamily="49" charset="-122"/>
                <a:cs typeface="楷体" panose="02010609060101010101" pitchFamily="49" charset="-122"/>
              </a:rPr>
              <a:t>2</a:t>
            </a:r>
            <a:r>
              <a:rPr lang="en-US" altLang="zh-CN">
                <a:latin typeface="楷体" panose="02010609060101010101" pitchFamily="49" charset="-122"/>
                <a:ea typeface="楷体" panose="02010609060101010101" pitchFamily="49" charset="-122"/>
                <a:cs typeface="楷体" panose="02010609060101010101" pitchFamily="49" charset="-122"/>
              </a:rPr>
              <a:t>=4</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x</a:t>
            </a:r>
            <a:r>
              <a:rPr lang="en-US" altLang="zh-CN" baseline="-30000">
                <a:latin typeface="楷体" panose="02010609060101010101" pitchFamily="49" charset="-122"/>
                <a:ea typeface="楷体" panose="02010609060101010101" pitchFamily="49" charset="-122"/>
                <a:cs typeface="楷体" panose="02010609060101010101" pitchFamily="49" charset="-122"/>
              </a:rPr>
              <a:t>2</a:t>
            </a:r>
            <a:r>
              <a:rPr lang="en-US" altLang="zh-CN">
                <a:latin typeface="楷体" panose="02010609060101010101" pitchFamily="49" charset="-122"/>
                <a:ea typeface="楷体" panose="02010609060101010101" pitchFamily="49" charset="-122"/>
                <a:cs typeface="楷体" panose="02010609060101010101" pitchFamily="49" charset="-122"/>
              </a:rPr>
              <a:t>=3</a:t>
            </a:r>
            <a:r>
              <a:rPr lang="zh-CN" altLang="en-US" dirty="0">
                <a:latin typeface="楷体" panose="02010609060101010101" pitchFamily="49" charset="-122"/>
                <a:ea typeface="楷体" panose="02010609060101010101" pitchFamily="49" charset="-122"/>
                <a:cs typeface="楷体" panose="02010609060101010101" pitchFamily="49" charset="-122"/>
              </a:rPr>
              <a:t>，</a:t>
            </a:r>
            <a:r>
              <a:rPr lang="en-US" altLang="zh-CN">
                <a:latin typeface="楷体" panose="02010609060101010101" pitchFamily="49" charset="-122"/>
                <a:ea typeface="楷体" panose="02010609060101010101" pitchFamily="49" charset="-122"/>
                <a:cs typeface="楷体" panose="02010609060101010101" pitchFamily="49" charset="-122"/>
              </a:rPr>
              <a:t>R</a:t>
            </a:r>
            <a:r>
              <a:rPr lang="en-US" altLang="zh-CN" baseline="-30000">
                <a:latin typeface="楷体" panose="02010609060101010101" pitchFamily="49" charset="-122"/>
                <a:ea typeface="楷体" panose="02010609060101010101" pitchFamily="49" charset="-122"/>
                <a:cs typeface="楷体" panose="02010609060101010101" pitchFamily="49" charset="-122"/>
              </a:rPr>
              <a:t>3</a:t>
            </a:r>
            <a:r>
              <a:rPr lang="en-US" altLang="zh-CN">
                <a:latin typeface="楷体" panose="02010609060101010101" pitchFamily="49" charset="-122"/>
                <a:ea typeface="楷体" panose="02010609060101010101" pitchFamily="49" charset="-122"/>
                <a:cs typeface="楷体" panose="02010609060101010101" pitchFamily="49" charset="-122"/>
              </a:rPr>
              <a:t>=1,x</a:t>
            </a:r>
            <a:r>
              <a:rPr lang="en-US" altLang="zh-CN" baseline="-30000">
                <a:latin typeface="楷体" panose="02010609060101010101" pitchFamily="49" charset="-122"/>
                <a:ea typeface="楷体" panose="02010609060101010101" pitchFamily="49" charset="-122"/>
                <a:cs typeface="楷体" panose="02010609060101010101" pitchFamily="49" charset="-122"/>
              </a:rPr>
              <a:t>3</a:t>
            </a:r>
            <a:r>
              <a:rPr lang="en-US" altLang="zh-CN">
                <a:latin typeface="楷体" panose="02010609060101010101" pitchFamily="49" charset="-122"/>
                <a:ea typeface="楷体" panose="02010609060101010101" pitchFamily="49" charset="-122"/>
                <a:cs typeface="楷体" panose="02010609060101010101" pitchFamily="49" charset="-122"/>
              </a:rPr>
              <a:t>=1</a:t>
            </a:r>
            <a:r>
              <a:rPr lang="zh-CN" altLang="en-US" dirty="0">
                <a:latin typeface="楷体" panose="02010609060101010101" pitchFamily="49" charset="-122"/>
                <a:ea typeface="楷体" panose="02010609060101010101" pitchFamily="49" charset="-122"/>
                <a:cs typeface="楷体" panose="02010609060101010101" pitchFamily="49" charset="-122"/>
              </a:rPr>
              <a:t>。即当</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282064" name="矩形 1282063"/>
          <p:cNvSpPr/>
          <p:nvPr/>
        </p:nvSpPr>
        <p:spPr>
          <a:xfrm>
            <a:off x="5127308" y="5195253"/>
            <a:ext cx="2064385" cy="368300"/>
          </a:xfrm>
          <a:prstGeom prst="rect">
            <a:avLst/>
          </a:prstGeom>
          <a:noFill/>
          <a:ln w="9525">
            <a:noFill/>
          </a:ln>
        </p:spPr>
        <p:txBody>
          <a:bodyPr wrap="none" anchor="ctr" anchorCtr="0">
            <a:spAutoFit/>
          </a:bodyPr>
          <a:p>
            <a:pPr algn="l"/>
            <a:r>
              <a:rPr lang="zh-CN" altLang="en-US" dirty="0">
                <a:latin typeface="楷体" panose="02010609060101010101" pitchFamily="49" charset="-122"/>
                <a:ea typeface="楷体" panose="02010609060101010101" pitchFamily="49" charset="-122"/>
              </a:rPr>
              <a:t>时</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max</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=9</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隶书" panose="02010509060101010101" pitchFamily="49" charset="-122"/>
            </a:endParaRPr>
          </a:p>
        </p:txBody>
      </p:sp>
      <p:sp>
        <p:nvSpPr>
          <p:cNvPr id="8" name="标题 1"/>
          <p:cNvSpPr>
            <a:spLocks noGrp="1"/>
          </p:cNvSpPr>
          <p:nvPr/>
        </p:nvSpPr>
        <p:spPr>
          <a:xfrm>
            <a:off x="838200" y="82550"/>
            <a:ext cx="10515600" cy="820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sym typeface="+mn-ea"/>
              </a:rPr>
              <a:t>动态规划的应用(</a:t>
            </a:r>
            <a:r>
              <a:rPr lang="en-US" altLang="zh-CN" dirty="0">
                <a:sym typeface="+mn-ea"/>
              </a:rPr>
              <a:t>3</a:t>
            </a:r>
            <a:r>
              <a:rPr lang="zh-CN" altLang="en-US" dirty="0">
                <a:sym typeface="+mn-ea"/>
              </a:rPr>
              <a:t>)</a:t>
            </a:r>
            <a:endParaRPr lang="zh-CN" altLang="en-US" dirty="0">
              <a:sym typeface="+mn-ea"/>
            </a:endParaRPr>
          </a:p>
        </p:txBody>
      </p:sp>
    </p:spTree>
  </p:cSld>
  <p:clrMapOvr>
    <a:masterClrMapping/>
  </p:clrMapOvr>
  <p:transition spd="slow">
    <p:randomBar dir="ver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本章总结</a:t>
            </a:r>
            <a:endParaRPr lang="en-US" dirty="0"/>
          </a:p>
        </p:txBody>
      </p:sp>
      <p:sp>
        <p:nvSpPr>
          <p:cNvPr id="3" name="Content Placeholder 2"/>
          <p:cNvSpPr>
            <a:spLocks noGrp="1"/>
          </p:cNvSpPr>
          <p:nvPr>
            <p:ph idx="1"/>
          </p:nvPr>
        </p:nvSpPr>
        <p:spPr/>
        <p:txBody>
          <a:bodyPr>
            <a:normAutofit lnSpcReduction="10000"/>
          </a:bodyPr>
          <a:lstStyle/>
          <a:p>
            <a:r>
              <a:rPr lang="zh-CN" altLang="en-US"/>
              <a:t>多阶段决策过程最优化问题的求解思路</a:t>
            </a:r>
            <a:endParaRPr lang="zh-CN" altLang="en-US"/>
          </a:p>
          <a:p>
            <a:r>
              <a:rPr lang="zh-CN" altLang="en-US"/>
              <a:t>动态规划的基本概念、基本方程与最优化原理</a:t>
            </a:r>
            <a:endParaRPr lang="zh-CN" altLang="en-US"/>
          </a:p>
          <a:p>
            <a:pPr marL="685800" lvl="1" indent="-228600">
              <a:buFont typeface="Arial" panose="020B0604020202020204" pitchFamily="34" charset="0"/>
              <a:buChar char="•"/>
            </a:pPr>
            <a:r>
              <a:rPr lang="zh-CN" altLang="en-US">
                <a:solidFill>
                  <a:schemeClr val="tx1"/>
                </a:solidFill>
              </a:rPr>
              <a:t>基本概念和基本方程的</a:t>
            </a:r>
            <a:r>
              <a:rPr lang="zh-CN" altLang="en-US">
                <a:solidFill>
                  <a:schemeClr val="tx1"/>
                </a:solidFill>
              </a:rPr>
              <a:t>理解</a:t>
            </a:r>
            <a:endParaRPr lang="zh-CN" altLang="en-US">
              <a:solidFill>
                <a:schemeClr val="tx1"/>
              </a:solidFill>
            </a:endParaRPr>
          </a:p>
          <a:p>
            <a:pPr marL="685800" lvl="1" indent="-228600">
              <a:buFont typeface="Arial" panose="020B0604020202020204" pitchFamily="34" charset="0"/>
              <a:buChar char="•"/>
            </a:pPr>
            <a:r>
              <a:rPr lang="zh-CN" altLang="en-US">
                <a:solidFill>
                  <a:schemeClr val="tx1"/>
                </a:solidFill>
              </a:rPr>
              <a:t>结合基本概念和基本方程构建动态规划</a:t>
            </a:r>
            <a:r>
              <a:rPr lang="zh-CN" altLang="en-US">
                <a:solidFill>
                  <a:schemeClr val="tx1"/>
                </a:solidFill>
              </a:rPr>
              <a:t>模型</a:t>
            </a:r>
            <a:endParaRPr lang="zh-CN" altLang="en-US">
              <a:solidFill>
                <a:schemeClr val="tx1"/>
              </a:solidFill>
            </a:endParaRPr>
          </a:p>
          <a:p>
            <a:r>
              <a:rPr lang="zh-CN" altLang="en-US"/>
              <a:t>动态规划的应用</a:t>
            </a:r>
            <a:endParaRPr lang="en-US" altLang="zh-CN" dirty="0"/>
          </a:p>
          <a:p>
            <a:pPr lvl="1"/>
            <a:r>
              <a:rPr lang="zh-CN" altLang="en-US" dirty="0"/>
              <a:t>离散确定性动态</a:t>
            </a:r>
            <a:r>
              <a:rPr lang="zh-CN" altLang="en-US" dirty="0"/>
              <a:t>规划</a:t>
            </a:r>
            <a:endParaRPr lang="zh-CN" altLang="en-US" dirty="0"/>
          </a:p>
          <a:p>
            <a:pPr lvl="1"/>
            <a:r>
              <a:rPr lang="zh-CN" altLang="en-US" dirty="0">
                <a:sym typeface="+mn-ea"/>
              </a:rPr>
              <a:t>连续确定性动态规划</a:t>
            </a:r>
            <a:endParaRPr lang="zh-CN" altLang="en-US" dirty="0"/>
          </a:p>
          <a:p>
            <a:pPr lvl="1"/>
            <a:r>
              <a:rPr lang="zh-CN" altLang="en-US" dirty="0"/>
              <a:t>离散随机性动态</a:t>
            </a:r>
            <a:r>
              <a:rPr lang="zh-CN" altLang="en-US" dirty="0"/>
              <a:t>规划</a:t>
            </a:r>
            <a:endParaRPr lang="zh-CN" altLang="en-US" dirty="0"/>
          </a:p>
          <a:p>
            <a:pPr lvl="1"/>
            <a:r>
              <a:rPr lang="zh-CN" altLang="en-US" dirty="0"/>
              <a:t>运用动态规划求解一般线性</a:t>
            </a:r>
            <a:r>
              <a:rPr lang="zh-CN" altLang="en-US" dirty="0"/>
              <a:t>规划</a:t>
            </a:r>
            <a:endParaRPr lang="zh-CN" altLang="en-US" dirty="0"/>
          </a:p>
        </p:txBody>
      </p:sp>
    </p:spTree>
  </p:cSld>
  <p:clrMapOvr>
    <a:masterClrMapping/>
  </p:clrMapOvr>
</p:sld>
</file>

<file path=ppt/tags/tag1.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2.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3.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4.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5.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6.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7.xml><?xml version="1.0" encoding="utf-8"?>
<p:tagLst xmlns:p="http://schemas.openxmlformats.org/presentationml/2006/main">
  <p:tag name="KSO_WM_DIAGRAM_VIRTUALLY_FRAME" val="{&quot;height&quot;:385.94338582677153,&quot;left&quot;:133.1627559055118,&quot;top&quot;:79.05669291338583,&quot;width&quot;:642.4056692913385}"/>
</p:tagLst>
</file>

<file path=ppt/tags/tag8.xml><?xml version="1.0" encoding="utf-8"?>
<p:tagLst xmlns:p="http://schemas.openxmlformats.org/presentationml/2006/main">
  <p:tag name="KSO_WM_DIAGRAM_VIRTUALLY_FRAME" val="{&quot;height&quot;:330.2500787401575,&quot;left&quot;:139.75007874015748,&quot;top&quot;:149.48826771653543,&quot;width&quot;:340.75}"/>
</p:tagLst>
</file>

<file path=ppt/tags/tag9.xml><?xml version="1.0" encoding="utf-8"?>
<p:tagLst xmlns:p="http://schemas.openxmlformats.org/presentationml/2006/main">
  <p:tag name="KSO_WM_DIAGRAM_VIRTUALLY_FRAME" val="{&quot;height&quot;:330.2500787401575,&quot;left&quot;:139.75007874015748,&quot;top&quot;:149.48826771653543,&quot;width&quot;:340.75}"/>
</p:tagLst>
</file>

<file path=ppt/tags/tag10.xml><?xml version="1.0" encoding="utf-8"?>
<p:tagLst xmlns:p="http://schemas.openxmlformats.org/presentationml/2006/main">
  <p:tag name="KSO_WM_DIAGRAM_VIRTUALLY_FRAME" val="{&quot;height&quot;:330.2500787401575,&quot;left&quot;:139.75007874015748,&quot;top&quot;:149.48826771653543,&quot;width&quot;:340.75}"/>
</p:tagLst>
</file>

<file path=ppt/tags/tag11.xml><?xml version="1.0" encoding="utf-8"?>
<p:tagLst xmlns:p="http://schemas.openxmlformats.org/presentationml/2006/main">
  <p:tag name="KSO_WM_DIAGRAM_VIRTUALLY_FRAME" val="{&quot;height&quot;:330.2500787401575,&quot;left&quot;:139.75007874015748,&quot;top&quot;:149.48826771653543,&quot;width&quot;:340.75}"/>
</p:tagLst>
</file>

<file path=ppt/tags/tag12.xml><?xml version="1.0" encoding="utf-8"?>
<p:tagLst xmlns:p="http://schemas.openxmlformats.org/presentationml/2006/main">
  <p:tag name="KSO_WM_DIAGRAM_VIRTUALLY_FRAME" val="{&quot;height&quot;:330.2500787401575,&quot;left&quot;:139.75007874015748,&quot;top&quot;:149.48826771653543,&quot;width&quot;:340.75}"/>
</p:tagLst>
</file>

<file path=ppt/tags/tag13.xml><?xml version="1.0" encoding="utf-8"?>
<p:tagLst xmlns:p="http://schemas.openxmlformats.org/presentationml/2006/main">
  <p:tag name="KSO_WM_DIAGRAM_VIRTUALLY_FRAME" val="{&quot;height&quot;:330.2500787401575,&quot;left&quot;:139.75007874015748,&quot;top&quot;:149.48826771653543,&quot;width&quot;:340.75}"/>
</p:tagLst>
</file>

<file path=ppt/tags/tag14.xml><?xml version="1.0" encoding="utf-8"?>
<p:tagLst xmlns:p="http://schemas.openxmlformats.org/presentationml/2006/main">
  <p:tag name="KSO_WM_DIAGRAM_VIRTUALLY_FRAME" val="{&quot;height&quot;:330.2500787401575,&quot;left&quot;:139.75007874015748,&quot;top&quot;:149.48826771653543,&quot;width&quot;:340.75}"/>
</p:tagLst>
</file>

<file path=ppt/tags/tag15.xml><?xml version="1.0" encoding="utf-8"?>
<p:tagLst xmlns:p="http://schemas.openxmlformats.org/presentationml/2006/main">
  <p:tag name="KSO_WM_DIAGRAM_VIRTUALLY_FRAME" val="{&quot;height&quot;:330.2500787401575,&quot;left&quot;:139.75007874015748,&quot;top&quot;:149.48826771653543,&quot;width&quot;:340.75}"/>
</p:tagLst>
</file>

<file path=ppt/tags/tag16.xml><?xml version="1.0" encoding="utf-8"?>
<p:tagLst xmlns:p="http://schemas.openxmlformats.org/presentationml/2006/main">
  <p:tag name="KSO_WM_DIAGRAM_VIRTUALLY_FRAME" val="{&quot;height&quot;:330.2500787401575,&quot;left&quot;:139.75007874015748,&quot;top&quot;:149.48826771653543,&quot;width&quot;:340.75}"/>
</p:tagLst>
</file>

<file path=ppt/tags/tag17.xml><?xml version="1.0" encoding="utf-8"?>
<p:tagLst xmlns:p="http://schemas.openxmlformats.org/presentationml/2006/main">
  <p:tag name="KSO_WM_DIAGRAM_VIRTUALLY_FRAME" val="{&quot;height&quot;:330.2500787401575,&quot;left&quot;:139.75007874015748,&quot;top&quot;:149.48826771653543,&quot;width&quot;:340.75}"/>
</p:tagLst>
</file>

<file path=ppt/tags/tag18.xml><?xml version="1.0" encoding="utf-8"?>
<p:tagLst xmlns:p="http://schemas.openxmlformats.org/presentationml/2006/main">
  <p:tag name="KSO_WM_DIAGRAM_VIRTUALLY_FRAME" val="{&quot;height&quot;:330.2500787401575,&quot;left&quot;:139.75007874015748,&quot;top&quot;:149.48826771653543,&quot;width&quot;:340.75}"/>
</p:tagLst>
</file>

<file path=ppt/tags/tag19.xml><?xml version="1.0" encoding="utf-8"?>
<p:tagLst xmlns:p="http://schemas.openxmlformats.org/presentationml/2006/main">
  <p:tag name="KSO_WM_DIAGRAM_VIRTUALLY_FRAME" val="{&quot;height&quot;:330.2500787401575,&quot;left&quot;:139.75007874015748,&quot;top&quot;:149.48826771653543,&quot;width&quot;:340.75}"/>
</p:tagLst>
</file>

<file path=ppt/theme/theme1.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26339</Words>
  <Application>WPS 演示</Application>
  <PresentationFormat>宽屏</PresentationFormat>
  <Paragraphs>3497</Paragraphs>
  <Slides>103</Slides>
  <Notes>0</Notes>
  <HiddenSlides>0</HiddenSlides>
  <MMClips>0</MMClips>
  <ScaleCrop>false</ScaleCrop>
  <HeadingPairs>
    <vt:vector size="8" baseType="variant">
      <vt:variant>
        <vt:lpstr>已用的字体</vt:lpstr>
      </vt:variant>
      <vt:variant>
        <vt:i4>20</vt:i4>
      </vt:variant>
      <vt:variant>
        <vt:lpstr>主题</vt:lpstr>
      </vt:variant>
      <vt:variant>
        <vt:i4>4</vt:i4>
      </vt:variant>
      <vt:variant>
        <vt:lpstr>嵌入 OLE 服务器</vt:lpstr>
      </vt:variant>
      <vt:variant>
        <vt:i4>128</vt:i4>
      </vt:variant>
      <vt:variant>
        <vt:lpstr>幻灯片标题</vt:lpstr>
      </vt:variant>
      <vt:variant>
        <vt:i4>103</vt:i4>
      </vt:variant>
    </vt:vector>
  </HeadingPairs>
  <TitlesOfParts>
    <vt:vector size="255" baseType="lpstr">
      <vt:lpstr>Arial</vt:lpstr>
      <vt:lpstr>宋体</vt:lpstr>
      <vt:lpstr>Wingdings</vt:lpstr>
      <vt:lpstr>微软雅黑</vt:lpstr>
      <vt:lpstr>DIN Light</vt:lpstr>
      <vt:lpstr>微软雅黑 Light</vt:lpstr>
      <vt:lpstr>楷体</vt:lpstr>
      <vt:lpstr>等线</vt:lpstr>
      <vt:lpstr>Segoe UI Light</vt:lpstr>
      <vt:lpstr>Times New Roman</vt:lpstr>
      <vt:lpstr>Garamond</vt:lpstr>
      <vt:lpstr>楷体_GB2312</vt:lpstr>
      <vt:lpstr>新宋体</vt:lpstr>
      <vt:lpstr>Courant</vt:lpstr>
      <vt:lpstr>Arial Unicode MS</vt:lpstr>
      <vt:lpstr>Calibri</vt:lpstr>
      <vt:lpstr>Cambria Math</vt:lpstr>
      <vt:lpstr>仿宋</vt:lpstr>
      <vt:lpstr>Symbol</vt:lpstr>
      <vt:lpstr>隶书</vt:lpstr>
      <vt:lpstr>主题1</vt:lpstr>
      <vt:lpstr>自定义设计方案</vt:lpstr>
      <vt:lpstr>1_Office 主题​​</vt:lpstr>
      <vt:lpstr>1_主题1</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本章内容</vt:lpstr>
      <vt:lpstr>PowerPoint 演示文稿</vt:lpstr>
      <vt:lpstr>PowerPoint 演示文稿</vt:lpstr>
      <vt:lpstr>前言-多阶段决策问题的典型例子</vt:lpstr>
      <vt:lpstr>前言-多阶段决策问题的典型例子</vt:lpstr>
      <vt:lpstr>前言-动态规划方法的特点</vt:lpstr>
      <vt:lpstr>前言-动态规划方法的特点</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Lee</cp:lastModifiedBy>
  <cp:revision>115</cp:revision>
  <dcterms:created xsi:type="dcterms:W3CDTF">2023-06-01T01:49:00Z</dcterms:created>
  <dcterms:modified xsi:type="dcterms:W3CDTF">2025-11-05T09:15:29Z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B703A3B8371F4B6EB91042E468083405_12</vt:lpwstr>
  </property>
  <property fmtid="{D5CDD505-2E9C-101B-9397-08002B2CF9AE}" pid="3" name="KSOProductBuildVer">
    <vt:lpwstr>2052-12.1.0.19302</vt:lpwstr>
  </property>
</Properties>
</file>