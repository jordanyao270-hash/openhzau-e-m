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2" r:id="rId4"/>
  </p:sldMasterIdLst>
  <p:notesMasterIdLst>
    <p:notesMasterId r:id="rId9"/>
  </p:notesMasterIdLst>
  <p:sldIdLst>
    <p:sldId id="258" r:id="rId5"/>
    <p:sldId id="257" r:id="rId6"/>
    <p:sldId id="259" r:id="rId7"/>
    <p:sldId id="291" r:id="rId8"/>
    <p:sldId id="261" r:id="rId10"/>
    <p:sldId id="292" r:id="rId11"/>
    <p:sldId id="260" r:id="rId12"/>
    <p:sldId id="262" r:id="rId13"/>
    <p:sldId id="293" r:id="rId14"/>
    <p:sldId id="294" r:id="rId15"/>
    <p:sldId id="277" r:id="rId16"/>
    <p:sldId id="263" r:id="rId17"/>
    <p:sldId id="295" r:id="rId18"/>
    <p:sldId id="296" r:id="rId19"/>
    <p:sldId id="279" r:id="rId20"/>
    <p:sldId id="264" r:id="rId21"/>
    <p:sldId id="297" r:id="rId22"/>
    <p:sldId id="280" r:id="rId23"/>
    <p:sldId id="281" r:id="rId24"/>
    <p:sldId id="265" r:id="rId25"/>
    <p:sldId id="298" r:id="rId26"/>
    <p:sldId id="299" r:id="rId27"/>
    <p:sldId id="300" r:id="rId28"/>
    <p:sldId id="301" r:id="rId29"/>
    <p:sldId id="271" r:id="rId30"/>
    <p:sldId id="267" r:id="rId31"/>
    <p:sldId id="268" r:id="rId32"/>
    <p:sldId id="266" r:id="rId33"/>
    <p:sldId id="269" r:id="rId34"/>
    <p:sldId id="302" r:id="rId35"/>
    <p:sldId id="303" r:id="rId36"/>
    <p:sldId id="304" r:id="rId37"/>
    <p:sldId id="305" r:id="rId38"/>
    <p:sldId id="270" r:id="rId39"/>
    <p:sldId id="323" r:id="rId40"/>
    <p:sldId id="324" r:id="rId41"/>
    <p:sldId id="325" r:id="rId42"/>
    <p:sldId id="326" r:id="rId43"/>
    <p:sldId id="278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94719"/>
  </p:normalViewPr>
  <p:slideViewPr>
    <p:cSldViewPr snapToGrid="0">
      <p:cViewPr varScale="1">
        <p:scale>
          <a:sx n="148" d="100"/>
          <a:sy n="148" d="100"/>
        </p:scale>
        <p:origin x="1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40AB71-64B7-4C0A-AFBF-BFDA25B97C9A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6E1509-729D-4455-980B-0354CCEE1FF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DDD78E-A330-4259-8B34-7E43564CC8B2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约束条件？每步分别出来？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7E3F64-EF28-4FF8-9091-D49D84AF6F1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约束条件？每步分别出来？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7E3F64-EF28-4FF8-9091-D49D84AF6F1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约束条件？每步分别出来？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7E3F64-EF28-4FF8-9091-D49D84AF6F1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约束条件？每步分别出来？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7E3F64-EF28-4FF8-9091-D49D84AF6F1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约束条件？每步分别出来？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7E3F64-EF28-4FF8-9091-D49D84AF6F17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6230319"/>
            <a:ext cx="12192000" cy="627681"/>
            <a:chOff x="0" y="5888735"/>
            <a:chExt cx="12192000" cy="969265"/>
          </a:xfrm>
        </p:grpSpPr>
        <p:sp>
          <p:nvSpPr>
            <p:cNvPr id="7" name="任意多边形: 形状 6"/>
            <p:cNvSpPr/>
            <p:nvPr/>
          </p:nvSpPr>
          <p:spPr>
            <a:xfrm>
              <a:off x="0" y="5888736"/>
              <a:ext cx="12192000" cy="969264"/>
            </a:xfrm>
            <a:custGeom>
              <a:avLst/>
              <a:gdLst>
                <a:gd name="connsiteX0" fmla="*/ 12192000 w 12192000"/>
                <a:gd name="connsiteY0" fmla="*/ 0 h 834158"/>
                <a:gd name="connsiteX1" fmla="*/ 12192000 w 12192000"/>
                <a:gd name="connsiteY1" fmla="*/ 834158 h 834158"/>
                <a:gd name="connsiteX2" fmla="*/ 0 w 12192000"/>
                <a:gd name="connsiteY2" fmla="*/ 834158 h 834158"/>
                <a:gd name="connsiteX3" fmla="*/ 0 w 12192000"/>
                <a:gd name="connsiteY3" fmla="*/ 421770 h 834158"/>
                <a:gd name="connsiteX4" fmla="*/ 703930 w 12192000"/>
                <a:gd name="connsiteY4" fmla="*/ 493800 h 834158"/>
                <a:gd name="connsiteX5" fmla="*/ 4867275 w 12192000"/>
                <a:gd name="connsiteY5" fmla="*/ 671363 h 834158"/>
                <a:gd name="connsiteX6" fmla="*/ 12109997 w 12192000"/>
                <a:gd name="connsiteY6" fmla="*/ 22736 h 8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34158">
                  <a:moveTo>
                    <a:pt x="12192000" y="0"/>
                  </a:moveTo>
                  <a:lnTo>
                    <a:pt x="12192000" y="834158"/>
                  </a:lnTo>
                  <a:lnTo>
                    <a:pt x="0" y="834158"/>
                  </a:lnTo>
                  <a:lnTo>
                    <a:pt x="0" y="421770"/>
                  </a:lnTo>
                  <a:lnTo>
                    <a:pt x="703930" y="493800"/>
                  </a:lnTo>
                  <a:cubicBezTo>
                    <a:pt x="1941539" y="607040"/>
                    <a:pt x="3359810" y="671363"/>
                    <a:pt x="4867275" y="671363"/>
                  </a:cubicBezTo>
                  <a:cubicBezTo>
                    <a:pt x="7882206" y="671363"/>
                    <a:pt x="10540358" y="414071"/>
                    <a:pt x="12109997" y="22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1" y="5888735"/>
              <a:ext cx="6540284" cy="693261"/>
            </a:xfrm>
            <a:custGeom>
              <a:avLst/>
              <a:gdLst>
                <a:gd name="connsiteX0" fmla="*/ 0 w 5170531"/>
                <a:gd name="connsiteY0" fmla="*/ 0 h 794504"/>
                <a:gd name="connsiteX1" fmla="*/ 509126 w 5170531"/>
                <a:gd name="connsiteY1" fmla="*/ 127114 h 794504"/>
                <a:gd name="connsiteX2" fmla="*/ 4499910 w 5170531"/>
                <a:gd name="connsiteY2" fmla="*/ 720789 h 794504"/>
                <a:gd name="connsiteX3" fmla="*/ 5170531 w 5170531"/>
                <a:gd name="connsiteY3" fmla="*/ 768690 h 794504"/>
                <a:gd name="connsiteX4" fmla="*/ 4943847 w 5170531"/>
                <a:gd name="connsiteY4" fmla="*/ 779391 h 794504"/>
                <a:gd name="connsiteX5" fmla="*/ 3958041 w 5170531"/>
                <a:gd name="connsiteY5" fmla="*/ 794504 h 794504"/>
                <a:gd name="connsiteX6" fmla="*/ 499235 w 5170531"/>
                <a:gd name="connsiteY6" fmla="*/ 576626 h 794504"/>
                <a:gd name="connsiteX7" fmla="*/ 0 w 5170531"/>
                <a:gd name="connsiteY7" fmla="*/ 484608 h 79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0531" h="794504">
                  <a:moveTo>
                    <a:pt x="0" y="0"/>
                  </a:moveTo>
                  <a:lnTo>
                    <a:pt x="509126" y="127114"/>
                  </a:lnTo>
                  <a:cubicBezTo>
                    <a:pt x="1656276" y="394427"/>
                    <a:pt x="3011164" y="598944"/>
                    <a:pt x="4499910" y="720789"/>
                  </a:cubicBezTo>
                  <a:lnTo>
                    <a:pt x="5170531" y="768690"/>
                  </a:lnTo>
                  <a:lnTo>
                    <a:pt x="4943847" y="779391"/>
                  </a:lnTo>
                  <a:cubicBezTo>
                    <a:pt x="4625423" y="789300"/>
                    <a:pt x="4295728" y="794504"/>
                    <a:pt x="3958041" y="794504"/>
                  </a:cubicBezTo>
                  <a:cubicBezTo>
                    <a:pt x="2607293" y="794504"/>
                    <a:pt x="1384420" y="711242"/>
                    <a:pt x="499235" y="576626"/>
                  </a:cubicBezTo>
                  <a:lnTo>
                    <a:pt x="0" y="48460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梯形 9"/>
          <p:cNvSpPr/>
          <p:nvPr userDrawn="1"/>
        </p:nvSpPr>
        <p:spPr>
          <a:xfrm rot="16200000">
            <a:off x="72797" y="79396"/>
            <a:ext cx="375889" cy="808817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DIN Light"/>
              <a:ea typeface="微软雅黑 Light" panose="020B0502040204020203" charset="-122"/>
            </a:endParaRPr>
          </a:p>
        </p:txBody>
      </p:sp>
      <p:sp>
        <p:nvSpPr>
          <p:cNvPr id="11" name="梯形 10"/>
          <p:cNvSpPr/>
          <p:nvPr userDrawn="1"/>
        </p:nvSpPr>
        <p:spPr>
          <a:xfrm rot="16200000">
            <a:off x="57549" y="238020"/>
            <a:ext cx="267255" cy="669682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Light"/>
              <a:ea typeface="微软雅黑 Light" panose="020B0502040204020203" charset="-122"/>
              <a:cs typeface="+mn-cs"/>
            </a:endParaRPr>
          </a:p>
        </p:txBody>
      </p:sp>
      <p:pic>
        <p:nvPicPr>
          <p:cNvPr id="12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205156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6230319"/>
            <a:ext cx="12192000" cy="627681"/>
            <a:chOff x="0" y="5888735"/>
            <a:chExt cx="12192000" cy="969265"/>
          </a:xfrm>
        </p:grpSpPr>
        <p:sp>
          <p:nvSpPr>
            <p:cNvPr id="7" name="任意多边形: 形状 6"/>
            <p:cNvSpPr/>
            <p:nvPr/>
          </p:nvSpPr>
          <p:spPr>
            <a:xfrm>
              <a:off x="0" y="5888736"/>
              <a:ext cx="12192000" cy="969264"/>
            </a:xfrm>
            <a:custGeom>
              <a:avLst/>
              <a:gdLst>
                <a:gd name="connsiteX0" fmla="*/ 12192000 w 12192000"/>
                <a:gd name="connsiteY0" fmla="*/ 0 h 834158"/>
                <a:gd name="connsiteX1" fmla="*/ 12192000 w 12192000"/>
                <a:gd name="connsiteY1" fmla="*/ 834158 h 834158"/>
                <a:gd name="connsiteX2" fmla="*/ 0 w 12192000"/>
                <a:gd name="connsiteY2" fmla="*/ 834158 h 834158"/>
                <a:gd name="connsiteX3" fmla="*/ 0 w 12192000"/>
                <a:gd name="connsiteY3" fmla="*/ 421770 h 834158"/>
                <a:gd name="connsiteX4" fmla="*/ 703930 w 12192000"/>
                <a:gd name="connsiteY4" fmla="*/ 493800 h 834158"/>
                <a:gd name="connsiteX5" fmla="*/ 4867275 w 12192000"/>
                <a:gd name="connsiteY5" fmla="*/ 671363 h 834158"/>
                <a:gd name="connsiteX6" fmla="*/ 12109997 w 12192000"/>
                <a:gd name="connsiteY6" fmla="*/ 22736 h 8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34158">
                  <a:moveTo>
                    <a:pt x="12192000" y="0"/>
                  </a:moveTo>
                  <a:lnTo>
                    <a:pt x="12192000" y="834158"/>
                  </a:lnTo>
                  <a:lnTo>
                    <a:pt x="0" y="834158"/>
                  </a:lnTo>
                  <a:lnTo>
                    <a:pt x="0" y="421770"/>
                  </a:lnTo>
                  <a:lnTo>
                    <a:pt x="703930" y="493800"/>
                  </a:lnTo>
                  <a:cubicBezTo>
                    <a:pt x="1941539" y="607040"/>
                    <a:pt x="3359810" y="671363"/>
                    <a:pt x="4867275" y="671363"/>
                  </a:cubicBezTo>
                  <a:cubicBezTo>
                    <a:pt x="7882206" y="671363"/>
                    <a:pt x="10540358" y="414071"/>
                    <a:pt x="12109997" y="22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1" y="5888735"/>
              <a:ext cx="6540284" cy="693261"/>
            </a:xfrm>
            <a:custGeom>
              <a:avLst/>
              <a:gdLst>
                <a:gd name="connsiteX0" fmla="*/ 0 w 5170531"/>
                <a:gd name="connsiteY0" fmla="*/ 0 h 794504"/>
                <a:gd name="connsiteX1" fmla="*/ 509126 w 5170531"/>
                <a:gd name="connsiteY1" fmla="*/ 127114 h 794504"/>
                <a:gd name="connsiteX2" fmla="*/ 4499910 w 5170531"/>
                <a:gd name="connsiteY2" fmla="*/ 720789 h 794504"/>
                <a:gd name="connsiteX3" fmla="*/ 5170531 w 5170531"/>
                <a:gd name="connsiteY3" fmla="*/ 768690 h 794504"/>
                <a:gd name="connsiteX4" fmla="*/ 4943847 w 5170531"/>
                <a:gd name="connsiteY4" fmla="*/ 779391 h 794504"/>
                <a:gd name="connsiteX5" fmla="*/ 3958041 w 5170531"/>
                <a:gd name="connsiteY5" fmla="*/ 794504 h 794504"/>
                <a:gd name="connsiteX6" fmla="*/ 499235 w 5170531"/>
                <a:gd name="connsiteY6" fmla="*/ 576626 h 794504"/>
                <a:gd name="connsiteX7" fmla="*/ 0 w 5170531"/>
                <a:gd name="connsiteY7" fmla="*/ 484608 h 79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0531" h="794504">
                  <a:moveTo>
                    <a:pt x="0" y="0"/>
                  </a:moveTo>
                  <a:lnTo>
                    <a:pt x="509126" y="127114"/>
                  </a:lnTo>
                  <a:cubicBezTo>
                    <a:pt x="1656276" y="394427"/>
                    <a:pt x="3011164" y="598944"/>
                    <a:pt x="4499910" y="720789"/>
                  </a:cubicBezTo>
                  <a:lnTo>
                    <a:pt x="5170531" y="768690"/>
                  </a:lnTo>
                  <a:lnTo>
                    <a:pt x="4943847" y="779391"/>
                  </a:lnTo>
                  <a:cubicBezTo>
                    <a:pt x="4625423" y="789300"/>
                    <a:pt x="4295728" y="794504"/>
                    <a:pt x="3958041" y="794504"/>
                  </a:cubicBezTo>
                  <a:cubicBezTo>
                    <a:pt x="2607293" y="794504"/>
                    <a:pt x="1384420" y="711242"/>
                    <a:pt x="499235" y="576626"/>
                  </a:cubicBezTo>
                  <a:lnTo>
                    <a:pt x="0" y="48460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梯形 9"/>
          <p:cNvSpPr/>
          <p:nvPr userDrawn="1"/>
        </p:nvSpPr>
        <p:spPr>
          <a:xfrm rot="16200000">
            <a:off x="72797" y="79396"/>
            <a:ext cx="375889" cy="808817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DIN Light"/>
              <a:ea typeface="微软雅黑 Light" panose="020B0502040204020203" charset="-122"/>
            </a:endParaRPr>
          </a:p>
        </p:txBody>
      </p:sp>
      <p:sp>
        <p:nvSpPr>
          <p:cNvPr id="11" name="梯形 10"/>
          <p:cNvSpPr/>
          <p:nvPr userDrawn="1"/>
        </p:nvSpPr>
        <p:spPr>
          <a:xfrm rot="16200000">
            <a:off x="57549" y="238020"/>
            <a:ext cx="267255" cy="669682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Light"/>
              <a:ea typeface="微软雅黑 Light" panose="020B0502040204020203" charset="-122"/>
              <a:cs typeface="+mn-cs"/>
            </a:endParaRPr>
          </a:p>
        </p:txBody>
      </p:sp>
      <p:pic>
        <p:nvPicPr>
          <p:cNvPr id="12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205156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357BD-B2ED-064A-96A0-848357F5E2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59357BD-B2ED-064A-96A0-848357F5E29F}" type="slidenum">
              <a:rPr lang="en-US" smtClean="0"/>
            </a:fld>
            <a:endParaRPr lang="en-US"/>
          </a:p>
        </p:txBody>
      </p:sp>
      <p:grpSp>
        <p:nvGrpSpPr>
          <p:cNvPr id="7" name="组合 5"/>
          <p:cNvGrpSpPr/>
          <p:nvPr userDrawn="1"/>
        </p:nvGrpSpPr>
        <p:grpSpPr>
          <a:xfrm>
            <a:off x="0" y="6204867"/>
            <a:ext cx="12192000" cy="627681"/>
            <a:chOff x="0" y="5888735"/>
            <a:chExt cx="12192000" cy="969265"/>
          </a:xfrm>
        </p:grpSpPr>
        <p:sp>
          <p:nvSpPr>
            <p:cNvPr id="8" name="任意多边形: 形状 6"/>
            <p:cNvSpPr/>
            <p:nvPr/>
          </p:nvSpPr>
          <p:spPr>
            <a:xfrm>
              <a:off x="0" y="5888736"/>
              <a:ext cx="12192000" cy="969264"/>
            </a:xfrm>
            <a:custGeom>
              <a:avLst/>
              <a:gdLst>
                <a:gd name="connsiteX0" fmla="*/ 12192000 w 12192000"/>
                <a:gd name="connsiteY0" fmla="*/ 0 h 834158"/>
                <a:gd name="connsiteX1" fmla="*/ 12192000 w 12192000"/>
                <a:gd name="connsiteY1" fmla="*/ 834158 h 834158"/>
                <a:gd name="connsiteX2" fmla="*/ 0 w 12192000"/>
                <a:gd name="connsiteY2" fmla="*/ 834158 h 834158"/>
                <a:gd name="connsiteX3" fmla="*/ 0 w 12192000"/>
                <a:gd name="connsiteY3" fmla="*/ 421770 h 834158"/>
                <a:gd name="connsiteX4" fmla="*/ 703930 w 12192000"/>
                <a:gd name="connsiteY4" fmla="*/ 493800 h 834158"/>
                <a:gd name="connsiteX5" fmla="*/ 4867275 w 12192000"/>
                <a:gd name="connsiteY5" fmla="*/ 671363 h 834158"/>
                <a:gd name="connsiteX6" fmla="*/ 12109997 w 12192000"/>
                <a:gd name="connsiteY6" fmla="*/ 22736 h 8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34158">
                  <a:moveTo>
                    <a:pt x="12192000" y="0"/>
                  </a:moveTo>
                  <a:lnTo>
                    <a:pt x="12192000" y="834158"/>
                  </a:lnTo>
                  <a:lnTo>
                    <a:pt x="0" y="834158"/>
                  </a:lnTo>
                  <a:lnTo>
                    <a:pt x="0" y="421770"/>
                  </a:lnTo>
                  <a:lnTo>
                    <a:pt x="703930" y="493800"/>
                  </a:lnTo>
                  <a:cubicBezTo>
                    <a:pt x="1941539" y="607040"/>
                    <a:pt x="3359810" y="671363"/>
                    <a:pt x="4867275" y="671363"/>
                  </a:cubicBezTo>
                  <a:cubicBezTo>
                    <a:pt x="7882206" y="671363"/>
                    <a:pt x="10540358" y="414071"/>
                    <a:pt x="12109997" y="22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任意多边形: 形状 7"/>
            <p:cNvSpPr/>
            <p:nvPr/>
          </p:nvSpPr>
          <p:spPr>
            <a:xfrm>
              <a:off x="1" y="5888735"/>
              <a:ext cx="6540284" cy="693261"/>
            </a:xfrm>
            <a:custGeom>
              <a:avLst/>
              <a:gdLst>
                <a:gd name="connsiteX0" fmla="*/ 0 w 5170531"/>
                <a:gd name="connsiteY0" fmla="*/ 0 h 794504"/>
                <a:gd name="connsiteX1" fmla="*/ 509126 w 5170531"/>
                <a:gd name="connsiteY1" fmla="*/ 127114 h 794504"/>
                <a:gd name="connsiteX2" fmla="*/ 4499910 w 5170531"/>
                <a:gd name="connsiteY2" fmla="*/ 720789 h 794504"/>
                <a:gd name="connsiteX3" fmla="*/ 5170531 w 5170531"/>
                <a:gd name="connsiteY3" fmla="*/ 768690 h 794504"/>
                <a:gd name="connsiteX4" fmla="*/ 4943847 w 5170531"/>
                <a:gd name="connsiteY4" fmla="*/ 779391 h 794504"/>
                <a:gd name="connsiteX5" fmla="*/ 3958041 w 5170531"/>
                <a:gd name="connsiteY5" fmla="*/ 794504 h 794504"/>
                <a:gd name="connsiteX6" fmla="*/ 499235 w 5170531"/>
                <a:gd name="connsiteY6" fmla="*/ 576626 h 794504"/>
                <a:gd name="connsiteX7" fmla="*/ 0 w 5170531"/>
                <a:gd name="connsiteY7" fmla="*/ 484608 h 79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0531" h="794504">
                  <a:moveTo>
                    <a:pt x="0" y="0"/>
                  </a:moveTo>
                  <a:lnTo>
                    <a:pt x="509126" y="127114"/>
                  </a:lnTo>
                  <a:cubicBezTo>
                    <a:pt x="1656276" y="394427"/>
                    <a:pt x="3011164" y="598944"/>
                    <a:pt x="4499910" y="720789"/>
                  </a:cubicBezTo>
                  <a:lnTo>
                    <a:pt x="5170531" y="768690"/>
                  </a:lnTo>
                  <a:lnTo>
                    <a:pt x="4943847" y="779391"/>
                  </a:lnTo>
                  <a:cubicBezTo>
                    <a:pt x="4625423" y="789300"/>
                    <a:pt x="4295728" y="794504"/>
                    <a:pt x="3958041" y="794504"/>
                  </a:cubicBezTo>
                  <a:cubicBezTo>
                    <a:pt x="2607293" y="794504"/>
                    <a:pt x="1384420" y="711242"/>
                    <a:pt x="499235" y="576626"/>
                  </a:cubicBezTo>
                  <a:lnTo>
                    <a:pt x="0" y="48460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梯形 9"/>
          <p:cNvSpPr/>
          <p:nvPr userDrawn="1"/>
        </p:nvSpPr>
        <p:spPr>
          <a:xfrm rot="16200000">
            <a:off x="72797" y="53944"/>
            <a:ext cx="375889" cy="808817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DIN Light"/>
              <a:ea typeface="微软雅黑 Light" panose="020B0502040204020203" charset="-122"/>
            </a:endParaRPr>
          </a:p>
        </p:txBody>
      </p:sp>
      <p:sp>
        <p:nvSpPr>
          <p:cNvPr id="11" name="梯形 10"/>
          <p:cNvSpPr/>
          <p:nvPr userDrawn="1"/>
        </p:nvSpPr>
        <p:spPr>
          <a:xfrm rot="16200000">
            <a:off x="57549" y="212568"/>
            <a:ext cx="267255" cy="669682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Light"/>
              <a:ea typeface="微软雅黑 Light" panose="020B0502040204020203" charset="-122"/>
              <a:cs typeface="+mn-cs"/>
            </a:endParaRPr>
          </a:p>
        </p:txBody>
      </p:sp>
      <p:pic>
        <p:nvPicPr>
          <p:cNvPr id="12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 userDrawn="1"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179704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FAB52-0D75-4FB4-963F-CFC9BE82CF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E8295-D660-4793-94DB-7FA6302251F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19EF2-DC72-DB4C-90DA-CE6A6957EAE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59357BD-B2ED-064A-96A0-848357F5E29F}" type="slidenum">
              <a:rPr lang="en-US" smtClean="0"/>
            </a:fld>
            <a:endParaRPr lang="en-US"/>
          </a:p>
        </p:txBody>
      </p:sp>
      <p:grpSp>
        <p:nvGrpSpPr>
          <p:cNvPr id="7" name="组合 5"/>
          <p:cNvGrpSpPr/>
          <p:nvPr userDrawn="1"/>
        </p:nvGrpSpPr>
        <p:grpSpPr>
          <a:xfrm>
            <a:off x="0" y="6204867"/>
            <a:ext cx="12192000" cy="627681"/>
            <a:chOff x="0" y="5888735"/>
            <a:chExt cx="12192000" cy="969265"/>
          </a:xfrm>
        </p:grpSpPr>
        <p:sp>
          <p:nvSpPr>
            <p:cNvPr id="8" name="任意多边形: 形状 6"/>
            <p:cNvSpPr/>
            <p:nvPr/>
          </p:nvSpPr>
          <p:spPr>
            <a:xfrm>
              <a:off x="0" y="5888736"/>
              <a:ext cx="12192000" cy="969264"/>
            </a:xfrm>
            <a:custGeom>
              <a:avLst/>
              <a:gdLst>
                <a:gd name="connsiteX0" fmla="*/ 12192000 w 12192000"/>
                <a:gd name="connsiteY0" fmla="*/ 0 h 834158"/>
                <a:gd name="connsiteX1" fmla="*/ 12192000 w 12192000"/>
                <a:gd name="connsiteY1" fmla="*/ 834158 h 834158"/>
                <a:gd name="connsiteX2" fmla="*/ 0 w 12192000"/>
                <a:gd name="connsiteY2" fmla="*/ 834158 h 834158"/>
                <a:gd name="connsiteX3" fmla="*/ 0 w 12192000"/>
                <a:gd name="connsiteY3" fmla="*/ 421770 h 834158"/>
                <a:gd name="connsiteX4" fmla="*/ 703930 w 12192000"/>
                <a:gd name="connsiteY4" fmla="*/ 493800 h 834158"/>
                <a:gd name="connsiteX5" fmla="*/ 4867275 w 12192000"/>
                <a:gd name="connsiteY5" fmla="*/ 671363 h 834158"/>
                <a:gd name="connsiteX6" fmla="*/ 12109997 w 12192000"/>
                <a:gd name="connsiteY6" fmla="*/ 22736 h 8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34158">
                  <a:moveTo>
                    <a:pt x="12192000" y="0"/>
                  </a:moveTo>
                  <a:lnTo>
                    <a:pt x="12192000" y="834158"/>
                  </a:lnTo>
                  <a:lnTo>
                    <a:pt x="0" y="834158"/>
                  </a:lnTo>
                  <a:lnTo>
                    <a:pt x="0" y="421770"/>
                  </a:lnTo>
                  <a:lnTo>
                    <a:pt x="703930" y="493800"/>
                  </a:lnTo>
                  <a:cubicBezTo>
                    <a:pt x="1941539" y="607040"/>
                    <a:pt x="3359810" y="671363"/>
                    <a:pt x="4867275" y="671363"/>
                  </a:cubicBezTo>
                  <a:cubicBezTo>
                    <a:pt x="7882206" y="671363"/>
                    <a:pt x="10540358" y="414071"/>
                    <a:pt x="12109997" y="22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任意多边形: 形状 7"/>
            <p:cNvSpPr/>
            <p:nvPr/>
          </p:nvSpPr>
          <p:spPr>
            <a:xfrm>
              <a:off x="1" y="5888735"/>
              <a:ext cx="6540284" cy="693261"/>
            </a:xfrm>
            <a:custGeom>
              <a:avLst/>
              <a:gdLst>
                <a:gd name="connsiteX0" fmla="*/ 0 w 5170531"/>
                <a:gd name="connsiteY0" fmla="*/ 0 h 794504"/>
                <a:gd name="connsiteX1" fmla="*/ 509126 w 5170531"/>
                <a:gd name="connsiteY1" fmla="*/ 127114 h 794504"/>
                <a:gd name="connsiteX2" fmla="*/ 4499910 w 5170531"/>
                <a:gd name="connsiteY2" fmla="*/ 720789 h 794504"/>
                <a:gd name="connsiteX3" fmla="*/ 5170531 w 5170531"/>
                <a:gd name="connsiteY3" fmla="*/ 768690 h 794504"/>
                <a:gd name="connsiteX4" fmla="*/ 4943847 w 5170531"/>
                <a:gd name="connsiteY4" fmla="*/ 779391 h 794504"/>
                <a:gd name="connsiteX5" fmla="*/ 3958041 w 5170531"/>
                <a:gd name="connsiteY5" fmla="*/ 794504 h 794504"/>
                <a:gd name="connsiteX6" fmla="*/ 499235 w 5170531"/>
                <a:gd name="connsiteY6" fmla="*/ 576626 h 794504"/>
                <a:gd name="connsiteX7" fmla="*/ 0 w 5170531"/>
                <a:gd name="connsiteY7" fmla="*/ 484608 h 79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0531" h="794504">
                  <a:moveTo>
                    <a:pt x="0" y="0"/>
                  </a:moveTo>
                  <a:lnTo>
                    <a:pt x="509126" y="127114"/>
                  </a:lnTo>
                  <a:cubicBezTo>
                    <a:pt x="1656276" y="394427"/>
                    <a:pt x="3011164" y="598944"/>
                    <a:pt x="4499910" y="720789"/>
                  </a:cubicBezTo>
                  <a:lnTo>
                    <a:pt x="5170531" y="768690"/>
                  </a:lnTo>
                  <a:lnTo>
                    <a:pt x="4943847" y="779391"/>
                  </a:lnTo>
                  <a:cubicBezTo>
                    <a:pt x="4625423" y="789300"/>
                    <a:pt x="4295728" y="794504"/>
                    <a:pt x="3958041" y="794504"/>
                  </a:cubicBezTo>
                  <a:cubicBezTo>
                    <a:pt x="2607293" y="794504"/>
                    <a:pt x="1384420" y="711242"/>
                    <a:pt x="499235" y="576626"/>
                  </a:cubicBezTo>
                  <a:lnTo>
                    <a:pt x="0" y="48460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梯形 9"/>
          <p:cNvSpPr/>
          <p:nvPr userDrawn="1"/>
        </p:nvSpPr>
        <p:spPr>
          <a:xfrm rot="16200000">
            <a:off x="72797" y="53944"/>
            <a:ext cx="375889" cy="808817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DIN Light"/>
              <a:ea typeface="微软雅黑 Light" panose="020B0502040204020203" charset="-122"/>
            </a:endParaRPr>
          </a:p>
        </p:txBody>
      </p:sp>
      <p:sp>
        <p:nvSpPr>
          <p:cNvPr id="11" name="梯形 10"/>
          <p:cNvSpPr/>
          <p:nvPr userDrawn="1"/>
        </p:nvSpPr>
        <p:spPr>
          <a:xfrm rot="16200000">
            <a:off x="57549" y="212568"/>
            <a:ext cx="267255" cy="669682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Light"/>
              <a:ea typeface="微软雅黑 Light" panose="020B0502040204020203" charset="-122"/>
              <a:cs typeface="+mn-cs"/>
            </a:endParaRPr>
          </a:p>
        </p:txBody>
      </p:sp>
      <p:pic>
        <p:nvPicPr>
          <p:cNvPr id="12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 userDrawn="1"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179704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39498" r="10496" b="1702"/>
          <a:stretch>
            <a:fillRect/>
          </a:stretch>
        </p:blipFill>
        <p:spPr>
          <a:xfrm>
            <a:off x="0" y="0"/>
            <a:ext cx="12192000" cy="33495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07712" y="4042399"/>
            <a:ext cx="10176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第四章：线性规划在工商管理中的应用</a:t>
            </a:r>
            <a:endParaRPr lang="zh-CN" altLang="en-US" sz="4000" b="1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339894"/>
            <a:ext cx="12192000" cy="1290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270038"/>
            <a:ext cx="12192000" cy="1290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25540" y="4869708"/>
            <a:ext cx="6140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HUAZHONG AGRICULTURAL UNIVERSITY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214084" y="5016125"/>
            <a:ext cx="1999647" cy="45719"/>
            <a:chOff x="9458460" y="4956809"/>
            <a:chExt cx="1999647" cy="45719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9504179" y="4982095"/>
              <a:ext cx="195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9458460" y="4956809"/>
              <a:ext cx="45719" cy="45719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980174" y="5016125"/>
            <a:ext cx="1999647" cy="45719"/>
            <a:chOff x="9458460" y="4956809"/>
            <a:chExt cx="1999647" cy="45719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9504179" y="4982095"/>
              <a:ext cx="195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9458460" y="4956809"/>
              <a:ext cx="45719" cy="45719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学习计划与重要知识点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人力资源分配问题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生产计划问题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套裁下料问题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配料问题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投资问题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人力资源分配问题</a:t>
            </a:r>
            <a:r>
              <a:rPr lang="en-US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每日值班安排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0487"/>
            <a:ext cx="10515600" cy="435133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．某昼夜服务的公交线路每天各时间段内所需司机和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乘务人员数如下：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1668642" y="5111750"/>
            <a:ext cx="81438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设司机和乘务人员分别在各时间段开始时上班，并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连续工作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八小时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，问该公交线路应怎样安排司机和乘务人员，既能满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足工作需要，又使配备司机和乘务人员的人数最少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" name="表格 1"/>
          <p:cNvGraphicFramePr>
            <a:graphicFrameLocks noGrp="1"/>
          </p:cNvGraphicFramePr>
          <p:nvPr/>
        </p:nvGraphicFramePr>
        <p:xfrm>
          <a:off x="2141717" y="2330450"/>
          <a:ext cx="6838949" cy="26638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3644"/>
                <a:gridCol w="3211661"/>
                <a:gridCol w="1813644"/>
              </a:tblGrid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班次</a:t>
                      </a:r>
                      <a:endParaRPr lang="zh-CN" altLang="en-US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时间</a:t>
                      </a:r>
                      <a:endParaRPr lang="zh-CN" altLang="en-US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所需人数</a:t>
                      </a:r>
                      <a:endParaRPr lang="zh-CN" altLang="en-US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6:00--10:00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60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10:00--14:00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70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14:00--18:00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60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4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18:00--22:00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22:00--2:00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0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2:00--6:00</a:t>
                      </a:r>
                      <a:endParaRPr lang="en-US" altLang="zh-CN" sz="24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baseline="0" dirty="0"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30</a:t>
                      </a:r>
                      <a:endParaRPr lang="en-US" altLang="zh-CN" sz="24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19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5-Point Star 5"/>
          <p:cNvSpPr/>
          <p:nvPr/>
        </p:nvSpPr>
        <p:spPr>
          <a:xfrm>
            <a:off x="9913426" y="760412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391" name="矩形 6"/>
              <p:cNvSpPr>
                <a:spLocks noChangeArrowheads="1"/>
              </p:cNvSpPr>
              <p:nvPr/>
            </p:nvSpPr>
            <p:spPr bwMode="auto">
              <a:xfrm>
                <a:off x="2733675" y="1500188"/>
                <a:ext cx="6996113" cy="1050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表示第</a:t>
                </a:r>
                <a14:m>
                  <m:oMath xmlns:m="http://schemas.openxmlformats.org/officeDocument/2006/math"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班次时开始上班的司机和乘务人员人数</a:t>
                </a:r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建立如下的数学模型：</a:t>
                </a:r>
                <a:endParaRPr kumimoji="0"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391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675" y="1500188"/>
                <a:ext cx="6996113" cy="1050290"/>
              </a:xfrm>
              <a:prstGeom prst="rect">
                <a:avLst/>
              </a:prstGeom>
              <a:blipFill rotWithShape="1">
                <a:blip r:embed="rId1"/>
                <a:stretch>
                  <a:fillRect t="-30" r="5" b="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392" name="矩形 7"/>
              <p:cNvSpPr>
                <a:spLocks noChangeArrowheads="1"/>
              </p:cNvSpPr>
              <p:nvPr/>
            </p:nvSpPr>
            <p:spPr bwMode="auto">
              <a:xfrm>
                <a:off x="4319588" y="2571750"/>
                <a:ext cx="4857750" cy="54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zh-CN" b="0" i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min</m:t>
                        </m:r>
                      </m:fName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16392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9588" y="2571750"/>
                <a:ext cx="4857750" cy="542290"/>
              </a:xfrm>
              <a:prstGeom prst="rect">
                <a:avLst/>
              </a:prstGeom>
              <a:blipFill rotWithShape="1">
                <a:blip r:embed="rId2"/>
                <a:stretch>
                  <a:fillRect l="-7" r="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090738" y="1570038"/>
            <a:ext cx="79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0" lang="zh-CN" altLang="en-US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endParaRPr lang="zh-CN" altLang="en-US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2736850" y="2554288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2751138" y="3043238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4374238" y="3053109"/>
                <a:ext cx="2479040" cy="2030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6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60</m:t>
                      </m:r>
                    </m:oMath>
                  </m:oMathPara>
                </a14:m>
                <a:endParaRPr kumimoji="0" lang="en-US" altLang="zh-CN" b="0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r>
                  <a:rPr kumimoji="0" lang="en-US" altLang="zh-CN" dirty="0">
                    <a:latin typeface="Arial" panose="020B0604020202020204" pitchFamily="34" charset="0"/>
                    <a:ea typeface="楷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≥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7</m:t>
                    </m:r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60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6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,⋯,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238" y="3053109"/>
                <a:ext cx="2479040" cy="2030095"/>
              </a:xfrm>
              <a:prstGeom prst="rect">
                <a:avLst/>
              </a:prstGeom>
              <a:blipFill rotWithShape="1">
                <a:blip r:embed="rId3"/>
                <a:stretch>
                  <a:fillRect l="-14" t="-1" r="1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人力资源分配问题</a:t>
            </a:r>
            <a:r>
              <a:rPr lang="en-US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每日值班安排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  <p:bldP spid="16392" grpId="0"/>
      <p:bldP spid="15" grpId="0"/>
      <p:bldP spid="16" grpId="0"/>
      <p:bldP spid="17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人力资源分配问题</a:t>
            </a:r>
            <a:r>
              <a:rPr lang="en-US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每周值班安排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．百货商场对售货员的需求如下表。要求售货员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每周工作五天，连续休息两天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。问：应该如何安排售货员，满足工作需要，同时使配备的售货员人数最少？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表格 1"/>
          <p:cNvGraphicFramePr>
            <a:graphicFrameLocks noGrp="1"/>
          </p:cNvGraphicFramePr>
          <p:nvPr/>
        </p:nvGraphicFramePr>
        <p:xfrm>
          <a:off x="2119134" y="3100118"/>
          <a:ext cx="7272337" cy="2987056"/>
        </p:xfrm>
        <a:graphic>
          <a:graphicData uri="http://schemas.openxmlformats.org/drawingml/2006/table">
            <a:tbl>
              <a:tblPr/>
              <a:tblGrid>
                <a:gridCol w="3636962"/>
                <a:gridCol w="3635375"/>
              </a:tblGrid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时间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所需售货员人数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星期一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15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星期二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19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星期五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31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星期六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28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星期日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仿宋" panose="02010609060101010101" pitchFamily="49" charset="-122"/>
                        </a:rPr>
                        <a:t>28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仿宋" panose="02010609060101010101" pitchFamily="49" charset="-122"/>
                      </a:endParaRPr>
                    </a:p>
                  </a:txBody>
                  <a:tcPr marL="7620" marR="7620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5" name="5-Point Star 4"/>
          <p:cNvSpPr/>
          <p:nvPr/>
        </p:nvSpPr>
        <p:spPr>
          <a:xfrm>
            <a:off x="9540815" y="766043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090738" y="1570038"/>
            <a:ext cx="79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0" lang="zh-CN" altLang="en-US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2709863" y="1557338"/>
                <a:ext cx="7000875" cy="829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,⋯,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7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表示星期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开始休息的人数</a:t>
                </a:r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建立如下的数学模型：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9863" y="1557338"/>
                <a:ext cx="7000875" cy="829945"/>
              </a:xfrm>
              <a:prstGeom prst="rect">
                <a:avLst/>
              </a:prstGeom>
              <a:blipFill rotWithShape="1">
                <a:blip r:embed="rId1"/>
                <a:stretch>
                  <a:fillRect l="-5" t="-38" r="5" b="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7"/>
              <p:cNvSpPr>
                <a:spLocks noChangeArrowheads="1"/>
              </p:cNvSpPr>
              <p:nvPr/>
            </p:nvSpPr>
            <p:spPr bwMode="auto">
              <a:xfrm>
                <a:off x="4319588" y="2571750"/>
                <a:ext cx="4857750" cy="540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zh-CN" b="0" i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min</m:t>
                        </m:r>
                      </m:fName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zh-CN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7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23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9588" y="2571750"/>
                <a:ext cx="4857750" cy="540385"/>
              </a:xfrm>
              <a:prstGeom prst="rect">
                <a:avLst/>
              </a:prstGeom>
              <a:blipFill rotWithShape="1">
                <a:blip r:embed="rId2"/>
                <a:stretch>
                  <a:fillRect l="-7" r="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2736850" y="2554288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2751138" y="3043238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4715269" y="3053109"/>
                <a:ext cx="3521075" cy="23069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0" lang="en-US" altLang="zh-CN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6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15</m:t>
                      </m:r>
                    </m:oMath>
                  </m:oMathPara>
                </a14:m>
                <a:endParaRPr kumimoji="0" lang="en-US" altLang="zh-CN" b="0" i="1" dirty="0">
                  <a:latin typeface="Cambria Math" panose="02040503050406030204" charset="0"/>
                  <a:ea typeface="楷体" panose="02010609060101010101" pitchFamily="49" charset="-122"/>
                </a:endParaRPr>
              </a:p>
              <a:p>
                <a:pPr algn="ctr"/>
                <a:r>
                  <a:rPr kumimoji="0"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b>
                    </m:sSub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sub>
                    </m:sSub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6</m:t>
                        </m:r>
                      </m:sub>
                    </m:sSub>
                    <m:r>
                      <a:rPr kumimoji="0" lang="en-US" altLang="zh-CN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7</m:t>
                        </m:r>
                      </m:sub>
                    </m:sSub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≥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24</m:t>
                    </m:r>
                  </m:oMath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6</m:t>
                          </m:r>
                        </m:sub>
                      </m:sSub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7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6</m:t>
                          </m:r>
                        </m:sub>
                      </m:sSub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7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29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6</m:t>
                          </m:r>
                        </m:sub>
                      </m:sSub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7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7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28</m:t>
                      </m:r>
                    </m:oMath>
                  </m:oMathPara>
                </a14:m>
                <a:endParaRPr kumimoji="0" lang="en-US" altLang="zh-CN" b="0" i="1" dirty="0">
                  <a:latin typeface="Cambria Math" panose="02040503050406030204" charset="0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0" lang="en-US" altLang="zh-CN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28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,⋯,</m:t>
                      </m:r>
                      <m:r>
                        <a:rPr kumimoji="0" lang="en-US" altLang="zh-CN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269" y="3053109"/>
                <a:ext cx="3521075" cy="2306955"/>
              </a:xfrm>
              <a:prstGeom prst="rect">
                <a:avLst/>
              </a:prstGeom>
              <a:blipFill rotWithShape="1">
                <a:blip r:embed="rId3"/>
                <a:stretch>
                  <a:fillRect l="-11" t="-1" r="1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人力资源分配问题</a:t>
            </a:r>
            <a:r>
              <a:rPr lang="en-US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每周值班安排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人力资源分配问题-</a:t>
            </a:r>
            <a:r>
              <a:rPr lang="zh-CN" alt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需要注意的</a:t>
            </a:r>
            <a:r>
              <a:rPr lang="zh-CN" alt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问题</a:t>
            </a:r>
            <a:endParaRPr lang="zh-CN" altLang="en-US" dirty="0" err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实际中，服务行业企业一周内对人力资源的需求往往像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所描述的方式变化，而每天各时间段的需求又像例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所描述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的那样变化。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我们只要用例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的方法，分别求出周一到周六、周日每天的人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员需求，再用例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的方法，即可求出该公司的最小编制。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．公司面临外包协作、自行生产的问题。甲、乙、丙产品都需要经过铸造、机加工和装配三道工序。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铸造工序中甲、乙可外包，亦可自产，丙必须自产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，其余工序必须本厂完成。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问：为获取最大利润，三种产品各生产多少件？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甲、乙的铸件有多少由本公司铸造？有多少由外包协作？</a:t>
            </a:r>
            <a:endParaRPr 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1"/>
          <p:cNvGraphicFramePr>
            <a:graphicFrameLocks noGrp="1"/>
          </p:cNvGraphicFramePr>
          <p:nvPr/>
        </p:nvGraphicFramePr>
        <p:xfrm>
          <a:off x="2027237" y="3662363"/>
          <a:ext cx="8137525" cy="2514600"/>
        </p:xfrm>
        <a:graphic>
          <a:graphicData uri="http://schemas.openxmlformats.org/drawingml/2006/table">
            <a:tbl>
              <a:tblPr/>
              <a:tblGrid>
                <a:gridCol w="2592387"/>
                <a:gridCol w="1008063"/>
                <a:gridCol w="1512887"/>
                <a:gridCol w="1511300"/>
                <a:gridCol w="1512888"/>
              </a:tblGrid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甲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乙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丙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资源限制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每件铸造工时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小时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8000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每件机械加工工时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小时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12000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每件装配工时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小时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自行生产铸件每件成本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元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外包协作铸件每件成本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元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--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机械加工每件成本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元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装配每件成本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元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每件产品售价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元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7621" marR="7621" marT="7622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5" name="5-Point Star 4"/>
          <p:cNvSpPr/>
          <p:nvPr/>
        </p:nvSpPr>
        <p:spPr>
          <a:xfrm>
            <a:off x="4720240" y="681037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462" name="Rectangle 3"/>
              <p:cNvSpPr txBox="1">
                <a:spLocks noChangeArrowheads="1"/>
              </p:cNvSpPr>
              <p:nvPr/>
            </p:nvSpPr>
            <p:spPr bwMode="auto">
              <a:xfrm>
                <a:off x="2158677" y="1294364"/>
                <a:ext cx="8148960" cy="1785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algn="just" eaLnBrk="1" hangingPunct="1">
                  <a:lnSpc>
                    <a:spcPct val="150000"/>
                  </a:lnSpc>
                </a:pPr>
                <a:r>
                  <a:rPr kumimoji="0" lang="zh-CN" altLang="en-US" sz="2000" dirty="0">
                    <a:latin typeface="宋体" panose="02010600030101010101" pitchFamily="2" charset="-122"/>
                    <a:ea typeface="楷体_GB2312" pitchFamily="49" charset="-122"/>
                  </a:rPr>
                  <a:t> </a:t>
                </a: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分别为三道工序都由本公司加工的甲、乙、丙三种产品的件数，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b>
                    </m:sSub>
                    <m:r>
                      <a:rPr kumimoji="0" lang="en-US" altLang="zh-CN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sub>
                    </m:sSub>
                    <m:r>
                      <a:rPr kumimoji="0" lang="en-US" altLang="zh-CN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分别为由外包铸造再由本公司加工和装配的甲、乙两种产品的件数。</a:t>
                </a:r>
                <a:r>
                  <a:rPr kumimoji="0" lang="zh-CN" altLang="en-US" sz="2000" dirty="0">
                    <a:latin typeface="宋体" panose="02010600030101010101" pitchFamily="2" charset="-122"/>
                    <a:ea typeface="楷体_GB2312" pitchFamily="49" charset="-122"/>
                  </a:rPr>
                  <a:t>    </a:t>
                </a:r>
                <a:endParaRPr kumimoji="0" lang="zh-CN" altLang="en-US" sz="1600" dirty="0">
                  <a:latin typeface="宋体" panose="02010600030101010101" pitchFamily="2" charset="-122"/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1946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8677" y="1294364"/>
                <a:ext cx="8148960" cy="1785937"/>
              </a:xfrm>
              <a:prstGeom prst="rect">
                <a:avLst/>
              </a:prstGeom>
              <a:blipFill rotWithShape="1">
                <a:blip r:embed="rId1"/>
                <a:stretch>
                  <a:fillRect l="-4" t="-13" r="4" b="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33550" y="1397000"/>
            <a:ext cx="79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0" lang="zh-CN" altLang="en-US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>
                <a:spLocks noChangeArrowheads="1"/>
              </p:cNvSpPr>
              <p:nvPr/>
            </p:nvSpPr>
            <p:spPr bwMode="auto">
              <a:xfrm>
                <a:off x="1833563" y="5505450"/>
                <a:ext cx="8205787" cy="645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可得到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0" lang="en-US" altLang="zh-CN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的利润分别为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15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13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9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元。</a:t>
                </a:r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3563" y="5505450"/>
                <a:ext cx="8205787" cy="645160"/>
              </a:xfrm>
              <a:prstGeom prst="rect">
                <a:avLst/>
              </a:prstGeom>
              <a:blipFill rotWithShape="1">
                <a:blip r:embed="rId2"/>
                <a:stretch>
                  <a:fillRect l="-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>
                <a:spLocks noChangeArrowheads="1"/>
              </p:cNvSpPr>
              <p:nvPr/>
            </p:nvSpPr>
            <p:spPr bwMode="auto">
              <a:xfrm>
                <a:off x="1855788" y="2854325"/>
                <a:ext cx="7929562" cy="645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的利润：利润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售价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-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各成本之和；</a:t>
                </a:r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5788" y="2854325"/>
                <a:ext cx="7929562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839913" y="3268663"/>
            <a:ext cx="82867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产品甲全部自制的利润                  </a:t>
            </a:r>
            <a:r>
              <a:rPr kumimoji="0"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=23-(3+2+3)=15</a:t>
            </a: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en-US" altLang="zh-CN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839913" y="3713163"/>
            <a:ext cx="84296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产品甲铸造外包，其余自制的利润        </a:t>
            </a:r>
            <a:r>
              <a:rPr kumimoji="0"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=23-(5+2+3)=13</a:t>
            </a: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en-US" altLang="zh-CN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841500" y="4184650"/>
            <a:ext cx="84296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产品乙全部自制的利润                  </a:t>
            </a:r>
            <a:r>
              <a:rPr kumimoji="0"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=18-(5+1+2)=10</a:t>
            </a: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en-US" altLang="zh-CN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824038" y="4643438"/>
            <a:ext cx="82153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产品乙铸造外包，其余自制的利润        </a:t>
            </a:r>
            <a:r>
              <a:rPr kumimoji="0"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=18-(6+1+2)=9</a:t>
            </a: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en-US" altLang="zh-CN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824038" y="5070475"/>
            <a:ext cx="824706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产品丙的利润                          </a:t>
            </a:r>
            <a:r>
              <a:rPr kumimoji="0"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=16-(4+3+2)=7</a:t>
            </a:r>
            <a:r>
              <a:rPr kumimoji="0"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0" lang="en-US" altLang="zh-CN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868488" y="1724025"/>
            <a:ext cx="621506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通过以上分析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可建立如下的数学模型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911350" y="2438400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914525" y="2925763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3482975" y="2439988"/>
                <a:ext cx="664368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b="0" i="0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max</m:t>
                          </m:r>
                        </m:fName>
                        <m:e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15</m:t>
                          </m:r>
                          <m:sSub>
                            <m:sSubPr>
                              <m:ctrlP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10</m:t>
                          </m:r>
                          <m:sSub>
                            <m:sSubPr>
                              <m:ctrlP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7</m:t>
                          </m:r>
                          <m:sSub>
                            <m:sSubPr>
                              <m:ctrlP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13</m:t>
                          </m:r>
                          <m:sSub>
                            <m:sSubPr>
                              <m:ctrlP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</m:sub>
                          </m:sSub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kumimoji="0" lang="en-US" altLang="zh-CN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9</m:t>
                          </m:r>
                          <m:sSub>
                            <m:sSubPr>
                              <m:ctrlP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5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2975" y="2439988"/>
                <a:ext cx="6643688" cy="460375"/>
              </a:xfrm>
              <a:prstGeom prst="rect">
                <a:avLst/>
              </a:prstGeom>
              <a:blipFill rotWithShape="1">
                <a:blip r:embed="rId1"/>
                <a:stretch>
                  <a:fillRect t="-69" r="5" b="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2410619" y="3463199"/>
                <a:ext cx="6215062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10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7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≤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8000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（铸造工时）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0619" y="3463199"/>
                <a:ext cx="6215062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3" t="-118" r="8" b="-25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2399506" y="3982312"/>
                <a:ext cx="801528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6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8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6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≤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12000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（机械加工工时）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9506" y="3982312"/>
                <a:ext cx="8015288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6" t="-49" r="-2018" b="-2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2416969" y="4485549"/>
                <a:ext cx="7358062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≤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10000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（装配工时）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6969" y="4485549"/>
                <a:ext cx="7358062" cy="460375"/>
              </a:xfrm>
              <a:prstGeom prst="rect">
                <a:avLst/>
              </a:prstGeom>
              <a:blipFill rotWithShape="1">
                <a:blip r:embed="rId4"/>
                <a:stretch>
                  <a:fillRect l="-2" t="-118" r="-2850" b="-25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2413794" y="4955449"/>
                <a:ext cx="300037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≥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794" y="4955449"/>
                <a:ext cx="3000375" cy="460375"/>
              </a:xfrm>
              <a:prstGeom prst="rect">
                <a:avLst/>
              </a:prstGeom>
              <a:blipFill rotWithShape="1">
                <a:blip r:embed="rId5"/>
                <a:stretch>
                  <a:fillRect l="-5" t="-118" r="5" b="-25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生产计划问题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-</a:t>
            </a:r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例3最优解</a:t>
            </a:r>
            <a:endParaRPr lang="en-US" dirty="0" err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680" y="1463040"/>
            <a:ext cx="6867525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例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．机械厂生产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Ⅰ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Ⅱ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Ⅲ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产品，均要经过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两道工序。两种规格的设备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Arial" panose="020B0604020202020204" pitchFamily="34" charset="0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Arial" panose="020B0604020202020204" pitchFamily="34" charset="0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能完成 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A 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工序；三种规格的设备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en-US" altLang="zh-CN" sz="2000" baseline="-25000" dirty="0">
                <a:latin typeface="Arial" panose="020B0604020202020204" pitchFamily="34" charset="0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en-US" altLang="zh-CN" sz="2000" baseline="-25000" dirty="0">
                <a:latin typeface="Arial" panose="020B0604020202020204" pitchFamily="34" charset="0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en-US" altLang="zh-CN" sz="2000" baseline="-25000" dirty="0">
                <a:latin typeface="Arial" panose="020B0604020202020204" pitchFamily="34" charset="0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能完成 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</a:rPr>
              <a:t>B 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工序。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Ⅰ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可在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的任何规格的设备上加工；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Ⅱ 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可在任意规格的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上加工，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工序只能在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en-US" altLang="zh-CN" sz="2000" baseline="-25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上加工；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Ⅲ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只能在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B</a:t>
            </a:r>
            <a:r>
              <a:rPr lang="en-US" altLang="zh-CN" sz="2000" baseline="-25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上加工。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</a:rPr>
              <a:t>问：为获得最大利润，应如何制定最优的产品加工方案？</a:t>
            </a:r>
            <a:endParaRPr lang="en-US" sz="2000" dirty="0"/>
          </a:p>
        </p:txBody>
      </p:sp>
      <p:graphicFrame>
        <p:nvGraphicFramePr>
          <p:cNvPr id="7" name="表格 1"/>
          <p:cNvGraphicFramePr>
            <a:graphicFrameLocks noGrp="1"/>
          </p:cNvGraphicFramePr>
          <p:nvPr/>
        </p:nvGraphicFramePr>
        <p:xfrm>
          <a:off x="1804193" y="3429000"/>
          <a:ext cx="8583613" cy="2508250"/>
        </p:xfrm>
        <a:graphic>
          <a:graphicData uri="http://schemas.openxmlformats.org/drawingml/2006/table">
            <a:tbl>
              <a:tblPr/>
              <a:tblGrid>
                <a:gridCol w="3035300"/>
                <a:gridCol w="1114425"/>
                <a:gridCol w="1112838"/>
                <a:gridCol w="1112837"/>
                <a:gridCol w="1104900"/>
                <a:gridCol w="1103313"/>
              </a:tblGrid>
              <a:tr h="273050">
                <a:tc row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设备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产品单件工时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设备的有效台时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满负荷时的设备费用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279400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I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II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III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9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321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4000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250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7000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783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4000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原料（元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件）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0.25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0.35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0.50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售价（元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件）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1.25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2.00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2.80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5" name="5-Point Star 4"/>
          <p:cNvSpPr/>
          <p:nvPr/>
        </p:nvSpPr>
        <p:spPr>
          <a:xfrm>
            <a:off x="4720240" y="681037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19263" y="1204913"/>
            <a:ext cx="79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0" lang="zh-CN" altLang="en-US" dirty="0">
                <a:ea typeface="楷体_GB2312" pitchFamily="49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>
                <a:spLocks noChangeArrowheads="1"/>
              </p:cNvSpPr>
              <p:nvPr/>
            </p:nvSpPr>
            <p:spPr bwMode="auto">
              <a:xfrm>
                <a:off x="2260600" y="1177925"/>
                <a:ext cx="8215313" cy="977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algn="just" eaLnBrk="1" hangingPunct="1">
                  <a:lnSpc>
                    <a:spcPct val="120000"/>
                  </a:lnSpc>
                </a:pP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 err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𝑖𝑗𝑘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表示产品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在工序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𝑗</m:t>
                    </m:r>
                  </m:oMath>
                </a14:m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（工序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A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用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1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表示，工序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B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用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2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表示）的设备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上加工的数量，建立如下的数学模型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endParaRPr kumimoji="0" lang="en-US" altLang="zh-CN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0600" y="1177925"/>
                <a:ext cx="8215313" cy="977265"/>
              </a:xfrm>
              <a:prstGeom prst="rect">
                <a:avLst/>
              </a:prstGeom>
              <a:blipFill rotWithShape="1">
                <a:blip r:embed="rId1"/>
                <a:stretch>
                  <a:fillRect r="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2422525" y="2016125"/>
                <a:ext cx="8215313" cy="534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111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10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211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     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    ≤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6000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    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（ 设备 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baseline="-25000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525" y="2016125"/>
                <a:ext cx="8215313" cy="534035"/>
              </a:xfrm>
              <a:prstGeom prst="rect">
                <a:avLst/>
              </a:prstGeom>
              <a:blipFill rotWithShape="1">
                <a:blip r:embed="rId2"/>
                <a:stretch>
                  <a:fillRect r="4" b="-21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2427288" y="2386013"/>
                <a:ext cx="7715250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9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≤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10000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设备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7288" y="2386013"/>
                <a:ext cx="7715250" cy="542925"/>
              </a:xfrm>
              <a:prstGeom prst="rect">
                <a:avLst/>
              </a:prstGeom>
              <a:blipFill rotWithShape="1">
                <a:blip r:embed="rId3"/>
                <a:stretch>
                  <a:fillRect l="-4" t="-59" r="4" b="-20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2422525" y="2741613"/>
                <a:ext cx="7286625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8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     ≤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4000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设备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525" y="2741613"/>
                <a:ext cx="7286625" cy="542925"/>
              </a:xfrm>
              <a:prstGeom prst="rect">
                <a:avLst/>
              </a:prstGeom>
              <a:blipFill rotWithShape="1">
                <a:blip r:embed="rId4"/>
                <a:stretch>
                  <a:fillRect t="-59" b="-20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2413000" y="3095625"/>
                <a:ext cx="7643813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    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≤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7000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设备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0" y="3095625"/>
                <a:ext cx="7643813" cy="542925"/>
              </a:xfrm>
              <a:prstGeom prst="rect">
                <a:avLst/>
              </a:prstGeom>
              <a:blipFill rotWithShape="1">
                <a:blip r:embed="rId5"/>
                <a:stretch>
                  <a:fillRect r="4" b="-21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2413000" y="3465513"/>
                <a:ext cx="7643813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             ≤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4000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设备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0" y="3465513"/>
                <a:ext cx="7643813" cy="542925"/>
              </a:xfrm>
              <a:prstGeom prst="rect">
                <a:avLst/>
              </a:prstGeom>
              <a:blipFill rotWithShape="1">
                <a:blip r:embed="rId6"/>
                <a:stretch>
                  <a:fillRect t="-59" r="4" b="-20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2403475" y="3822700"/>
                <a:ext cx="5492725" cy="993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0" lang="en-US" altLang="zh-CN" i="1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CN" altLang="en-US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Ⅰ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产品在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、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工序加工的数量相等）</m:t>
                      </m:r>
                    </m:oMath>
                  </m:oMathPara>
                </a14:m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3475" y="3822700"/>
                <a:ext cx="5492725" cy="993775"/>
              </a:xfrm>
              <a:prstGeom prst="rect">
                <a:avLst/>
              </a:prstGeom>
              <a:blipFill rotWithShape="1">
                <a:blip r:embed="rId7"/>
                <a:stretch>
                  <a:fillRect r="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>
                <a:spLocks noChangeArrowheads="1"/>
              </p:cNvSpPr>
              <p:nvPr/>
            </p:nvSpPr>
            <p:spPr bwMode="auto">
              <a:xfrm>
                <a:off x="2401888" y="4622800"/>
                <a:ext cx="8929687" cy="977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212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     =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</m:t>
                      </m:r>
                    </m:oMath>
                  </m:oMathPara>
                </a14:m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Ⅱ</a:t>
                </a: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产品在</a:t>
                </a:r>
                <a:r>
                  <a:rPr kumimoji="0" lang="en-US" altLang="zh-CN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工序加工的数量相等）</a:t>
                </a:r>
                <a:endParaRPr kumimoji="0"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1888" y="4622800"/>
                <a:ext cx="8929687" cy="977265"/>
              </a:xfrm>
              <a:prstGeom prst="rect">
                <a:avLst/>
              </a:prstGeom>
              <a:blipFill rotWithShape="1">
                <a:blip r:embed="rId8"/>
                <a:stretch>
                  <a:fillRect l="-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1712913" y="2022475"/>
                <a:ext cx="76136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𝑠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𝑡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 </m:t>
                      </m:r>
                    </m:oMath>
                  </m:oMathPara>
                </a14:m>
                <a:endParaRPr lang="zh-CN" altLang="en-US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2913" y="2022475"/>
                <a:ext cx="761365" cy="460375"/>
              </a:xfrm>
              <a:prstGeom prst="rect">
                <a:avLst/>
              </a:prstGeom>
              <a:blipFill rotWithShape="1">
                <a:blip r:embed="rId9"/>
                <a:stretch>
                  <a:fillRect l="-42" r="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>
                <a:spLocks noChangeArrowheads="1"/>
              </p:cNvSpPr>
              <p:nvPr/>
            </p:nvSpPr>
            <p:spPr bwMode="auto">
              <a:xfrm>
                <a:off x="2379663" y="5405438"/>
                <a:ext cx="8258175" cy="977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312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  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       =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</m:t>
                      </m:r>
                    </m:oMath>
                  </m:oMathPara>
                </a14:m>
                <a:endParaRPr kumimoji="0" lang="en-US" altLang="zh-CN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Ⅲ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产品在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工序加工的数量相等）</a:t>
                </a:r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9663" y="5405438"/>
                <a:ext cx="8258175" cy="977265"/>
              </a:xfrm>
              <a:prstGeom prst="rect">
                <a:avLst/>
              </a:prstGeom>
              <a:blipFill rotWithShape="1">
                <a:blip r:embed="rId10"/>
                <a:stretch>
                  <a:fillRect l="-4" t="-33" r="4" b="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>
                <a:spLocks noChangeArrowheads="1"/>
              </p:cNvSpPr>
              <p:nvPr/>
            </p:nvSpPr>
            <p:spPr bwMode="auto">
              <a:xfrm>
                <a:off x="2406650" y="6180138"/>
                <a:ext cx="6572250" cy="534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𝑖𝑗𝑘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≥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kumimoji="0" lang="en-US" altLang="zh-CN" i="1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;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𝑗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;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</m:oMath>
                  </m:oMathPara>
                </a14:m>
                <a:endParaRPr kumimoji="0" lang="en-US" altLang="zh-CN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6650" y="6180138"/>
                <a:ext cx="6572250" cy="534035"/>
              </a:xfrm>
              <a:prstGeom prst="rect">
                <a:avLst/>
              </a:prstGeom>
              <a:blipFill rotWithShape="1">
                <a:blip r:embed="rId11"/>
                <a:stretch>
                  <a:fillRect t="-60" b="-20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589089" y="1857375"/>
            <a:ext cx="8990012" cy="105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利润 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 [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（销售单价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原料单价）* 产品件数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之和 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（每台时的设备费用*设备实际使用的总台时数）之和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595438" y="1357313"/>
            <a:ext cx="7286625" cy="5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目标函数为计算利润最大化，利润的计算公式为：</a:t>
            </a:r>
            <a:endParaRPr kumimoji="0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68571" y="3068656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677988" y="5412432"/>
            <a:ext cx="14020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整理得：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3094038" y="3033713"/>
                <a:ext cx="7500937" cy="2399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𝑀𝑎𝑥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𝑧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= (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25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25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)(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)+(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35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 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 ) +(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80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312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 –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300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/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6000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321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/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10000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7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9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312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)−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250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/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4000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6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8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783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/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7000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4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322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200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/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4000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7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123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).</m:t>
                      </m:r>
                    </m:oMath>
                  </m:oMathPara>
                </a14:m>
                <a:endParaRPr lang="zh-CN" altLang="en-US" sz="2000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038" y="3033713"/>
                <a:ext cx="7500937" cy="2399665"/>
              </a:xfrm>
              <a:prstGeom prst="rect">
                <a:avLst/>
              </a:prstGeom>
              <a:blipFill rotWithShape="1">
                <a:blip r:embed="rId1"/>
                <a:stretch>
                  <a:fillRect l="-4" t="-13" b="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2800041" y="5313244"/>
                <a:ext cx="7858125" cy="1476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𝑀𝑎𝑥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b="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75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7753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211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3611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212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9148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312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375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221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4474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2304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322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35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cs typeface="Arial" panose="020B0604020202020204" pitchFamily="34" charset="0"/>
                        </a:rPr>
                        <m:t>123</m:t>
                      </m:r>
                    </m:oMath>
                  </m:oMathPara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0041" y="5313244"/>
                <a:ext cx="7858125" cy="1476375"/>
              </a:xfrm>
              <a:prstGeom prst="rect">
                <a:avLst/>
              </a:prstGeom>
              <a:blipFill rotWithShape="1">
                <a:blip r:embed="rId2"/>
                <a:stretch>
                  <a:fillRect l="-4" t="-13" r="4" b="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生产计划问题-</a:t>
            </a:r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需要注意的问题</a:t>
            </a:r>
            <a:endParaRPr lang="zh-CN" altLang="en-US" dirty="0" err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30000"/>
              </a:lnSpc>
              <a:spcBef>
                <a:spcPct val="20000"/>
              </a:spcBef>
              <a:buAutoNum type="arabicPeriod"/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合并同类项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，自行完成；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20000"/>
              </a:spcBef>
              <a:buAutoNum type="arabicPeriod"/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移项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问题；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20000"/>
              </a:spcBef>
              <a:buAutoNum type="arabicPeriod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变量下标的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转换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问题；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把变量设定中两维和三维下标将为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一维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套裁下料问题</a:t>
            </a:r>
            <a:endParaRPr lang="en-US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．工厂要做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套钢架，每套用长为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2.9 m,2.1 m,1.5 m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圆钢各一根。已知原料每根长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7.4 m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，问：应如何下料，可使所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用原料最省？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5-Point Star 4"/>
          <p:cNvSpPr/>
          <p:nvPr/>
        </p:nvSpPr>
        <p:spPr>
          <a:xfrm>
            <a:off x="4702485" y="681037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76239" y="3717032"/>
          <a:ext cx="8715377" cy="25734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9321"/>
                <a:gridCol w="927007"/>
                <a:gridCol w="927007"/>
                <a:gridCol w="927007"/>
                <a:gridCol w="927007"/>
                <a:gridCol w="927007"/>
                <a:gridCol w="927007"/>
                <a:gridCol w="927007"/>
                <a:gridCol w="927007"/>
              </a:tblGrid>
              <a:tr h="428906">
                <a:tc>
                  <a:txBody>
                    <a:bodyPr/>
                    <a:p>
                      <a:pPr algn="ctr" fontAlgn="ctr"/>
                      <a:endParaRPr lang="zh-CN" altLang="en-US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方案</a:t>
                      </a:r>
                      <a:r>
                        <a:rPr lang="en-US" altLang="zh-CN" sz="2800" b="1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28906">
                <a:tc>
                  <a:txBody>
                    <a:bodyPr/>
                    <a:p>
                      <a:pPr algn="ctr" fontAlgn="ctr"/>
                      <a:r>
                        <a:rPr lang="en-US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2.9m</a:t>
                      </a:r>
                      <a:endParaRPr lang="en-US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28906">
                <a:tc>
                  <a:txBody>
                    <a:bodyPr/>
                    <a:p>
                      <a:pPr algn="ctr" fontAlgn="ctr"/>
                      <a:r>
                        <a:rPr lang="en-US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2.1m</a:t>
                      </a:r>
                      <a:endParaRPr lang="en-US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28906">
                <a:tc>
                  <a:txBody>
                    <a:bodyPr/>
                    <a:p>
                      <a:pPr algn="ctr" fontAlgn="ctr"/>
                      <a:r>
                        <a:rPr lang="en-US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1.5m</a:t>
                      </a:r>
                      <a:endParaRPr lang="en-US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28906"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合计</a:t>
                      </a:r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en-US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7.4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7.3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7.2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7.1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6.6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6.5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6.3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28906"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料头</a:t>
                      </a:r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en-US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0.1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0.2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0.3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0.8</a:t>
                      </a:r>
                      <a:endParaRPr lang="en-US" altLang="zh-CN" sz="2800" b="0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0.9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1.1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baseline="0" dirty="0"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1.4</a:t>
                      </a:r>
                      <a:endParaRPr lang="en-US" altLang="zh-CN" sz="2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>
                <a:spLocks noChangeArrowheads="1"/>
              </p:cNvSpPr>
              <p:nvPr/>
            </p:nvSpPr>
            <p:spPr bwMode="auto">
              <a:xfrm>
                <a:off x="1763713" y="1841500"/>
                <a:ext cx="8815387" cy="1198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设按上述方案下料的原材料根数分别为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6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7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8</m:t>
                    </m:r>
                  </m:oMath>
                </a14:m>
                <a:endParaRPr lang="en-US" altLang="zh-CN" baseline="-25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建立如下的数学模型：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/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1841500"/>
                <a:ext cx="8815387" cy="1198880"/>
              </a:xfrm>
              <a:prstGeom prst="rect">
                <a:avLst/>
              </a:prstGeom>
              <a:blipFill rotWithShape="1">
                <a:blip r:embed="rId1"/>
                <a:stretch>
                  <a:fillRect l="-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92288" y="2865438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795463" y="3606800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3262389" y="2865735"/>
                <a:ext cx="7284614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𝑀𝑖𝑛</m:t>
                      </m:r>
                      <m:r>
                        <a:rPr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</m:t>
                      </m:r>
                      <m:r>
                        <a:rPr lang="en-US" altLang="zh-CN" b="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b="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 </m:t>
                      </m:r>
                      <m:r>
                        <a:rPr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8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2389" y="2865735"/>
                <a:ext cx="7284614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5" t="-134" r="4" b="-24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2555876" y="3629026"/>
                <a:ext cx="7348537" cy="466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6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  ≥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100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（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9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圆钢）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6" y="3629026"/>
                <a:ext cx="7348537" cy="466725"/>
              </a:xfrm>
              <a:prstGeom prst="rect">
                <a:avLst/>
              </a:prstGeom>
              <a:blipFill rotWithShape="1">
                <a:blip r:embed="rId3"/>
                <a:stretch>
                  <a:fillRect r="4" b="-25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3289299" y="4084638"/>
                <a:ext cx="5503863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≥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9299" y="4084638"/>
                <a:ext cx="5503863" cy="460375"/>
              </a:xfrm>
              <a:prstGeom prst="rect">
                <a:avLst/>
              </a:prstGeom>
              <a:blipFill rotWithShape="1">
                <a:blip r:embed="rId4"/>
                <a:stretch>
                  <a:fillRect l="-12" t="-69" r="6" b="-25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3367084" y="4507483"/>
                <a:ext cx="635158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6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8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≥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100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7084" y="4507483"/>
                <a:ext cx="6351588" cy="460375"/>
              </a:xfrm>
              <a:prstGeom prst="rect">
                <a:avLst/>
              </a:prstGeom>
              <a:blipFill rotWithShape="1">
                <a:blip r:embed="rId5"/>
                <a:stretch>
                  <a:fillRect l="-5" t="-55" r="10" b="-25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3367084" y="4912303"/>
                <a:ext cx="408463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8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≥ </m:t>
                      </m:r>
                      <m:r>
                        <a:rPr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7084" y="4912303"/>
                <a:ext cx="4084638" cy="460375"/>
              </a:xfrm>
              <a:prstGeom prst="rect">
                <a:avLst/>
              </a:prstGeom>
              <a:blipFill rotWithShape="1">
                <a:blip r:embed="rId6"/>
                <a:stretch>
                  <a:fillRect l="-8" t="-126" r="15" b="-24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套裁下料问题</a:t>
            </a:r>
            <a:endParaRPr lang="en-US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套裁下料</a:t>
            </a:r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问题-</a:t>
            </a:r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需要注意的问题</a:t>
            </a:r>
            <a:endParaRPr lang="zh-CN" altLang="en-US" dirty="0" err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 eaLnBrk="1" hangingPunct="1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</a:rPr>
              <a:t>1.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</a:rPr>
              <a:t>在建立此类型数学模型时，约束条件用</a:t>
            </a:r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大于等于号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</a:rPr>
              <a:t>比用等于号要好。因为有时在套用一些下料方案时可能会多出一根某种规格的圆钢，但它可能是最优方案。如果用等于号，这一方案就不是可行解了。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2.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</a:rPr>
              <a:t>若可能的下料方案太多，可以先设计出较好的几个下料方案。首先要求每个方案下料后的</a:t>
            </a:r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料头较短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</a:rPr>
              <a:t>；其次方案总体能裁下所有各种规格的圆钢，且不同方案有着</a:t>
            </a:r>
            <a:r>
              <a:rPr lang="zh-CN" altLang="en-US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不同的各种所需圆钢的比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</a:rPr>
              <a:t>。这样套裁即使不是最优解，也是次优解，也能满足要求并达到省料目的。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sym typeface="+mn-ea"/>
              </a:rPr>
              <a:t>套裁下料</a:t>
            </a:r>
            <a:r>
              <a:rPr 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问题-</a:t>
            </a:r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需要注意的问题</a:t>
            </a:r>
            <a:endParaRPr lang="zh-CN" altLang="en-US" dirty="0" err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3.  像例 5 那样在一个给定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长度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的原料上裁出不同长度的产品，是一个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线裁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问题；如果在一个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给定形状的面积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上，裁出不同形状的产品，这是一个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面裁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问题，当然类似地还有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体裁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问题。例 5 告诉我们用套裁下料的方法解决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线裁优化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的问题，是否可以推广到面裁、体裁呢。答案是肯定的，我们只要像例 5 那样，设计出一些较好的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下料方案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sym typeface="+mn-ea"/>
              </a:rPr>
              <a:t>，然后用类似的线性规划模型，即可解决这些问题。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．工厂要用三种原料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混合调配出不同规格的产品甲、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乙、丙。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问：该厂应如何安排生产，使利润最大？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表格 1"/>
          <p:cNvGraphicFramePr>
            <a:graphicFrameLocks noGrp="1"/>
          </p:cNvGraphicFramePr>
          <p:nvPr/>
        </p:nvGraphicFramePr>
        <p:xfrm>
          <a:off x="1892300" y="3284536"/>
          <a:ext cx="8407400" cy="1365252"/>
        </p:xfrm>
        <a:graphic>
          <a:graphicData uri="http://schemas.openxmlformats.org/drawingml/2006/table">
            <a:tbl>
              <a:tblPr/>
              <a:tblGrid>
                <a:gridCol w="1944688"/>
                <a:gridCol w="4786312"/>
                <a:gridCol w="1676400"/>
              </a:tblGrid>
              <a:tr h="3413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产品名称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规格要求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单价（元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/kg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）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3413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甲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原材料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不少于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50%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，原材料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不超过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25%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413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原材料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不少于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25%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，原材料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不超过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50%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413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不限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5638" y="4941886"/>
          <a:ext cx="8353425" cy="1550989"/>
        </p:xfrm>
        <a:graphic>
          <a:graphicData uri="http://schemas.openxmlformats.org/drawingml/2006/table">
            <a:tbl>
              <a:tblPr/>
              <a:tblGrid>
                <a:gridCol w="1944687"/>
                <a:gridCol w="4679950"/>
                <a:gridCol w="1728788"/>
              </a:tblGrid>
              <a:tr h="4318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原材料名称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每天最多供应量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单价（元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/kg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）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仿宋" panose="02010609060101010101" pitchFamily="49" charset="-122"/>
                        </a:rPr>
                        <a:t>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仿宋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6" name="5-Point Star 4"/>
          <p:cNvSpPr/>
          <p:nvPr/>
        </p:nvSpPr>
        <p:spPr>
          <a:xfrm>
            <a:off x="3264302" y="766043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881188" y="1571625"/>
            <a:ext cx="79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0" lang="zh-CN" altLang="en-US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>
                <a:spLocks noChangeArrowheads="1"/>
              </p:cNvSpPr>
              <p:nvPr/>
            </p:nvSpPr>
            <p:spPr bwMode="auto">
              <a:xfrm>
                <a:off x="2435225" y="1557338"/>
                <a:ext cx="7786688" cy="829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 err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𝑖𝑗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种（我们分别用</a:t>
                </a:r>
                <a:r>
                  <a:rPr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1,2,3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表示产品甲、乙、丙）产品中原料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的含量。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5225" y="1557338"/>
                <a:ext cx="7786688" cy="829945"/>
              </a:xfrm>
              <a:prstGeom prst="rect">
                <a:avLst/>
              </a:prstGeom>
              <a:blipFill rotWithShape="1">
                <a:blip r:embed="rId1"/>
                <a:stretch>
                  <a:fillRect t="-38" r="4" b="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422525" y="2311400"/>
            <a:ext cx="6357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建立数学模型时，要考虑：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2393950" y="2727325"/>
                <a:ext cx="519938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甲产品的数量为：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11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13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3950" y="2727325"/>
                <a:ext cx="5199380" cy="460375"/>
              </a:xfrm>
              <a:prstGeom prst="rect">
                <a:avLst/>
              </a:prstGeom>
              <a:blipFill rotWithShape="1">
                <a:blip r:embed="rId2"/>
                <a:stretch>
                  <a:fillRect r="-1172" b="-26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2422525" y="3111500"/>
                <a:ext cx="5745163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乙产品的数量为：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23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525" y="3111500"/>
                <a:ext cx="5745163" cy="460375"/>
              </a:xfrm>
              <a:prstGeom prst="rect">
                <a:avLst/>
              </a:prstGeom>
              <a:blipFill rotWithShape="1">
                <a:blip r:embed="rId3"/>
                <a:stretch>
                  <a:fillRect r="6" b="-26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2452688" y="3513138"/>
                <a:ext cx="522287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丙产品的数量为：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33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2688" y="3513138"/>
                <a:ext cx="5222875" cy="460375"/>
              </a:xfrm>
              <a:prstGeom prst="rect">
                <a:avLst/>
              </a:prstGeom>
              <a:blipFill rotWithShape="1">
                <a:blip r:embed="rId4"/>
                <a:stretch>
                  <a:fillRect l="-6" t="-69" r="-1161" b="-25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2422525" y="3927475"/>
                <a:ext cx="671512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原料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的总需求量为：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525" y="3927475"/>
                <a:ext cx="6715125" cy="460375"/>
              </a:xfrm>
              <a:prstGeom prst="rect">
                <a:avLst/>
              </a:prstGeom>
              <a:blipFill rotWithShape="1">
                <a:blip r:embed="rId5"/>
                <a:stretch>
                  <a:fillRect b="-26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2438400" y="4357688"/>
                <a:ext cx="6157913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原料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的总需求量为：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32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 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4357688"/>
                <a:ext cx="6157913" cy="460375"/>
              </a:xfrm>
              <a:prstGeom prst="rect">
                <a:avLst/>
              </a:prstGeom>
              <a:blipFill rotWithShape="1">
                <a:blip r:embed="rId6"/>
                <a:stretch>
                  <a:fillRect t="-69" r="5" b="-25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2435225" y="4772025"/>
                <a:ext cx="594677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原料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的总需求量为：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13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23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+ 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33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zh-CN" altLang="en-US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5225" y="4772025"/>
                <a:ext cx="5946775" cy="460375"/>
              </a:xfrm>
              <a:prstGeom prst="rect">
                <a:avLst/>
              </a:prstGeom>
              <a:blipFill rotWithShape="1">
                <a:blip r:embed="rId7"/>
                <a:stretch>
                  <a:fillRect b="-26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970088" y="5537200"/>
            <a:ext cx="7500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 利润最大，利润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收入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原料支出 </a:t>
            </a:r>
            <a:endParaRPr lang="zh-CN" altLang="en-US" dirty="0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970088" y="5908675"/>
            <a:ext cx="7858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 规格要求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个；  供应量限制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881188" y="1500188"/>
            <a:ext cx="8786812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利润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总收入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总成本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甲乙丙三种产品的销售单价*产品数量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甲乙丙使用的原料单价*原料数量，故有：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881188" y="2368550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884363" y="4021733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3311463" y="2342864"/>
                <a:ext cx="7396286" cy="19107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𝑀𝑎𝑥</m:t>
                      </m:r>
                      <m:r>
                        <a:rPr kumimoji="0" lang="en-US" altLang="zh-CN" sz="18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1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kumimoji="0" lang="en-US" altLang="zh-CN" sz="1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 </m:t>
                      </m:r>
                      <m:r>
                        <a:rPr kumimoji="0" lang="en-US" altLang="zh-CN" sz="1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50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35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23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65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35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23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zh-CN" altLang="en-US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0"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 −</m:t>
                      </m:r>
                      <m:r>
                        <a:rPr kumimoji="0" lang="en-US" altLang="zh-CN" sz="18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15</m:t>
                      </m:r>
                      <m:r>
                        <a:rPr kumimoji="0" lang="en-US" altLang="zh-CN" sz="18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15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30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40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18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en-US" altLang="zh-CN" sz="18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0"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1463" y="2342864"/>
                <a:ext cx="7396286" cy="1910715"/>
              </a:xfrm>
              <a:prstGeom prst="rect">
                <a:avLst/>
              </a:prstGeom>
              <a:blipFill rotWithShape="1">
                <a:blip r:embed="rId1"/>
                <a:stretch>
                  <a:fillRect l="-8" t="-18" r="5" b="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536950" y="4036020"/>
            <a:ext cx="2468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从第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个表中有：</a:t>
            </a:r>
            <a:endParaRPr kumimoji="0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3565525" y="4477345"/>
                <a:ext cx="6888163" cy="448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 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（甲含原材料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的比例）</m:t>
                      </m:r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5525" y="4477345"/>
                <a:ext cx="6888163" cy="448310"/>
              </a:xfrm>
              <a:prstGeom prst="rect">
                <a:avLst/>
              </a:prstGeom>
              <a:blipFill rotWithShape="1">
                <a:blip r:embed="rId2"/>
                <a:stretch>
                  <a:fillRect t="-133" r="5" b="-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3568700" y="4950420"/>
                <a:ext cx="372427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≤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25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(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13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8700" y="4950420"/>
                <a:ext cx="3724275" cy="460375"/>
              </a:xfrm>
              <a:prstGeom prst="rect">
                <a:avLst/>
              </a:prstGeom>
              <a:blipFill rotWithShape="1">
                <a:blip r:embed="rId3"/>
                <a:stretch>
                  <a:fillRect t="-129" b="-24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3578225" y="5391745"/>
                <a:ext cx="366014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≥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25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(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0" lang="en-US" altLang="zh-CN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8225" y="5391745"/>
                <a:ext cx="3660140" cy="460375"/>
              </a:xfrm>
              <a:prstGeom prst="rect">
                <a:avLst/>
              </a:prstGeom>
              <a:blipFill rotWithShape="1">
                <a:blip r:embed="rId4"/>
                <a:stretch>
                  <a:fillRect t="-129" r="-1666" b="-24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>
                <a:spLocks noChangeArrowheads="1"/>
              </p:cNvSpPr>
              <p:nvPr/>
            </p:nvSpPr>
            <p:spPr bwMode="auto">
              <a:xfrm>
                <a:off x="3608388" y="5847358"/>
                <a:ext cx="349123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≤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(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</a:rPr>
                        <m:t>23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0" lang="en-US" altLang="zh-CN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8388" y="5847358"/>
                <a:ext cx="3491230" cy="460375"/>
              </a:xfrm>
              <a:prstGeom prst="rect">
                <a:avLst/>
              </a:prstGeom>
              <a:blipFill rotWithShape="1">
                <a:blip r:embed="rId5"/>
                <a:stretch>
                  <a:fillRect l="-9" t="-60" r="-1737" b="-25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952625" y="1571625"/>
            <a:ext cx="8715375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从第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个表中，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生产甲乙丙的原材料不能超过原材料的供应限额，故有：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>
                <a:spLocks noChangeArrowheads="1"/>
              </p:cNvSpPr>
              <p:nvPr/>
            </p:nvSpPr>
            <p:spPr bwMode="auto">
              <a:xfrm>
                <a:off x="3575720" y="3052763"/>
                <a:ext cx="6597923" cy="446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)≤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100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（原材料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zh-CN" altLang="en-US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的供应限额）</m:t>
                      </m:r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5720" y="3052763"/>
                <a:ext cx="6597923" cy="446405"/>
              </a:xfrm>
              <a:prstGeom prst="rect">
                <a:avLst/>
              </a:prstGeom>
              <a:blipFill rotWithShape="1">
                <a:blip r:embed="rId1"/>
                <a:stretch>
                  <a:fillRect l="-1" t="-71" r="5" b="-26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3519488" y="3571875"/>
                <a:ext cx="331406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)≤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100</m:t>
                      </m:r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9488" y="3571875"/>
                <a:ext cx="3314065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10" r="-354" b="-26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3522663" y="4071938"/>
                <a:ext cx="314452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)≤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60</m:t>
                      </m:r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2663" y="4071938"/>
                <a:ext cx="3144520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10" t="-69" r="-374" b="-25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34679" y="1681163"/>
            <a:ext cx="38404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通过整理，得到以下模型：</a:t>
            </a:r>
            <a:endParaRPr kumimoji="0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631504" y="2209800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目标函数：</a:t>
            </a:r>
            <a:endParaRPr lang="zh-CN" altLang="en-US" dirty="0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647379" y="2665413"/>
            <a:ext cx="1706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约束条件：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3021459" y="2251016"/>
                <a:ext cx="7800776" cy="3987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𝑀𝑎𝑥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−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15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1459" y="2251016"/>
                <a:ext cx="7800776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2" t="-144" r="7" b="-4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3206304" y="2693988"/>
                <a:ext cx="6572250" cy="407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≥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（原材料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不少于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%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6304" y="2693988"/>
                <a:ext cx="6572250" cy="407035"/>
              </a:xfrm>
              <a:prstGeom prst="rect">
                <a:avLst/>
              </a:prstGeom>
              <a:blipFill rotWithShape="1">
                <a:blip r:embed="rId2"/>
                <a:stretch>
                  <a:fillRect l="-3" t="-78" r="3" b="-5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3206304" y="3109913"/>
                <a:ext cx="6929437" cy="407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75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≤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（原材料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不超过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%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6304" y="3109913"/>
                <a:ext cx="6929437" cy="407035"/>
              </a:xfrm>
              <a:prstGeom prst="rect">
                <a:avLst/>
              </a:prstGeom>
              <a:blipFill rotWithShape="1">
                <a:blip r:embed="rId3"/>
                <a:stretch>
                  <a:fillRect l="-3" t="-78" r="7" b="-5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3099940" y="3538538"/>
                <a:ext cx="6850063" cy="407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75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−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23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≥ 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zh-CN" altLang="en-US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（原材料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zh-CN" altLang="en-US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不少于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%</m:t>
                    </m:r>
                    <m:r>
                      <a:rPr kumimoji="0" lang="zh-CN" altLang="en-US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）</m:t>
                    </m:r>
                  </m:oMath>
                </a14:m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9940" y="3538538"/>
                <a:ext cx="6850063" cy="407035"/>
              </a:xfrm>
              <a:prstGeom prst="rect">
                <a:avLst/>
              </a:prstGeom>
              <a:blipFill rotWithShape="1">
                <a:blip r:embed="rId4"/>
                <a:stretch>
                  <a:fillRect l="-7" t="-78" r="3" b="-5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3234879" y="3938588"/>
                <a:ext cx="6715125" cy="502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−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≤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（原材料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不超过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%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0"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4879" y="3938588"/>
                <a:ext cx="6715125" cy="502285"/>
              </a:xfrm>
              <a:prstGeom prst="rect">
                <a:avLst/>
              </a:prstGeom>
              <a:blipFill rotWithShape="1">
                <a:blip r:embed="rId5"/>
                <a:stretch>
                  <a:fillRect l="-3" t="-63" r="3" b="-1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>
                <a:spLocks noChangeArrowheads="1"/>
              </p:cNvSpPr>
              <p:nvPr/>
            </p:nvSpPr>
            <p:spPr bwMode="auto">
              <a:xfrm>
                <a:off x="3279329" y="4324350"/>
                <a:ext cx="6072187" cy="473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≤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(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供应量限制）</m:t>
                      </m:r>
                    </m:oMath>
                  </m:oMathPara>
                </a14:m>
                <a:endParaRPr kumimoji="0"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9329" y="4324350"/>
                <a:ext cx="6072187" cy="473075"/>
              </a:xfrm>
              <a:prstGeom prst="rect">
                <a:avLst/>
              </a:prstGeom>
              <a:blipFill rotWithShape="1">
                <a:blip r:embed="rId6"/>
                <a:stretch>
                  <a:fillRect l="-3" r="8" b="-4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3296791" y="4781550"/>
                <a:ext cx="6072188" cy="473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≤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100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(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供应量限制）</m:t>
                      </m:r>
                    </m:oMath>
                  </m:oMathPara>
                </a14:m>
                <a:endParaRPr kumimoji="0"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6791" y="4781550"/>
                <a:ext cx="6072188" cy="473075"/>
              </a:xfrm>
              <a:prstGeom prst="rect">
                <a:avLst/>
              </a:prstGeom>
              <a:blipFill rotWithShape="1">
                <a:blip r:embed="rId7"/>
                <a:stretch>
                  <a:fillRect l="-8" r="3" b="-4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>
                <a:spLocks noChangeArrowheads="1"/>
              </p:cNvSpPr>
              <p:nvPr/>
            </p:nvSpPr>
            <p:spPr bwMode="auto">
              <a:xfrm>
                <a:off x="3306316" y="5243513"/>
                <a:ext cx="6572250" cy="473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+   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≤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60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  (</m:t>
                      </m:r>
                      <m:r>
                        <a:rPr kumimoji="0" lang="zh-CN" altLang="en-US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供应量限制）</m:t>
                      </m:r>
                    </m:oMath>
                  </m:oMathPara>
                </a14:m>
                <a:endParaRPr kumimoji="0"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6316" y="5243513"/>
                <a:ext cx="6572250" cy="473075"/>
              </a:xfrm>
              <a:prstGeom prst="rect">
                <a:avLst/>
              </a:prstGeom>
              <a:blipFill rotWithShape="1">
                <a:blip r:embed="rId8"/>
                <a:stretch>
                  <a:fillRect l="-8" t="-67" r="8" b="-3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>
                <a:spLocks noChangeArrowheads="1"/>
              </p:cNvSpPr>
              <p:nvPr/>
            </p:nvSpPr>
            <p:spPr bwMode="auto">
              <a:xfrm>
                <a:off x="3319016" y="5694363"/>
                <a:ext cx="4572000" cy="491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 err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𝑖𝑗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≥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, </m:t>
                      </m:r>
                      <m:r>
                        <a:rPr kumimoji="0" lang="en-US" altLang="zh-CN" sz="2000" i="1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;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𝑗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</m:oMath>
                  </m:oMathPara>
                </a14:m>
                <a:endParaRPr kumimoji="0"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9016" y="5694363"/>
                <a:ext cx="4572000" cy="491490"/>
              </a:xfrm>
              <a:prstGeom prst="rect">
                <a:avLst/>
              </a:prstGeom>
              <a:blipFill rotWithShape="1">
                <a:blip r:embed="rId9"/>
                <a:stretch>
                  <a:fillRect l="-11" t="-65" r="11" b="-1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楷体" panose="02010609060101010101" pitchFamily="49" charset="-122"/>
                <a:ea typeface="楷体" panose="02010609060101010101" pitchFamily="49" charset="-122"/>
              </a:rPr>
              <a:t>现实生活中的配料问题</a:t>
            </a:r>
            <a:r>
              <a:rPr lang="en-US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汽油标号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抗爆性强，发动机启动更容易，车辆怠速平稳、提速快、发动机动力更强，磨损也更少。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异辛烷的纯度越高，汽油的抗爆性越好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algn="l">
              <a:buClrTx/>
              <a:buSzTx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92 号汽油的异辛烷含量为 92%，正庚烷含量为 8%，主要适用于常见的中低端轿车。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algn="l">
              <a:buClrTx/>
              <a:buSzTx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algn="l">
              <a:buClrTx/>
              <a:buSzTx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95 号汽油的异辛烷含量为 95%，正庚烷含量为 5%，适用于大部分中高端轿车。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algn="l">
              <a:buClrTx/>
              <a:buSzTx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algn="l">
              <a:buClrTx/>
              <a:buSzTx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98 号汽油的异辛烷含量为 98%，正庚烷含量为 2%，适用于高性能跑车和顶级豪华轿车。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7.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汽油混合问题。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汽油的特性用“辛烷数”描述点火特性，用“蒸汽压力”描述挥发性。炼油厂有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种标准汽油，性能与库存信息如表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将这四种混合，可得到标号为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的两种飞机汽油，性能指标如表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问：如何根据库存情况适量混合各种标准汽油，既满足飞机汽油的性能指标，又使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号汽油满足需求，并使得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号汽油产量最高？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（提示：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分压定律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graphicFrame>
        <p:nvGraphicFramePr>
          <p:cNvPr id="4" name="Group 74"/>
          <p:cNvGraphicFramePr>
            <a:graphicFrameLocks noGrp="1"/>
          </p:cNvGraphicFramePr>
          <p:nvPr/>
        </p:nvGraphicFramePr>
        <p:xfrm>
          <a:off x="2032419" y="2195512"/>
          <a:ext cx="7858125" cy="1981200"/>
        </p:xfrm>
        <a:graphic>
          <a:graphicData uri="http://schemas.openxmlformats.org/drawingml/2006/table">
            <a:tbl>
              <a:tblPr/>
              <a:tblGrid>
                <a:gridCol w="1508125"/>
                <a:gridCol w="1398588"/>
                <a:gridCol w="2987675"/>
                <a:gridCol w="1963737"/>
              </a:tblGrid>
              <a:tr h="3063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标准汽油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辛烷数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蒸汽压力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(g/cm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库存量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(L)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107.5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7.11</a:t>
                      </a:r>
                      <a:r>
                        <a:rPr kumimoji="1" lang="ru-R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×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-2</a:t>
                      </a:r>
                      <a:endParaRPr kumimoji="1" lang="ru-RU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380000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93.0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11.38 </a:t>
                      </a:r>
                      <a:r>
                        <a:rPr kumimoji="1" lang="ru-R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×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-2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265200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87.0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5.69</a:t>
                      </a:r>
                      <a:r>
                        <a:rPr kumimoji="1" lang="ru-R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×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-2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408100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108.0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28.45 </a:t>
                      </a:r>
                      <a:r>
                        <a:rPr kumimoji="1" lang="ru-R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×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-2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130100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89"/>
          <p:cNvGraphicFramePr>
            <a:graphicFrameLocks noGrp="1"/>
          </p:cNvGraphicFramePr>
          <p:nvPr/>
        </p:nvGraphicFramePr>
        <p:xfrm>
          <a:off x="2019719" y="4840287"/>
          <a:ext cx="7889875" cy="1336676"/>
        </p:xfrm>
        <a:graphic>
          <a:graphicData uri="http://schemas.openxmlformats.org/drawingml/2006/table">
            <a:tbl>
              <a:tblPr/>
              <a:tblGrid>
                <a:gridCol w="1585913"/>
                <a:gridCol w="1612900"/>
                <a:gridCol w="2559050"/>
                <a:gridCol w="2132012"/>
              </a:tblGrid>
              <a:tr h="4460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飞机汽油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辛烷数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蒸汽压力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(g/cm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产量需求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不小于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不大于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9.96 </a:t>
                      </a:r>
                      <a:r>
                        <a:rPr kumimoji="1" lang="ru-R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×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越多越好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4460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不小于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不大于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9.96 </a:t>
                      </a:r>
                      <a:r>
                        <a:rPr kumimoji="1" lang="ru-RU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×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不少于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250000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247107" y="1766887"/>
            <a:ext cx="242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" name="矩形 10"/>
          <p:cNvSpPr>
            <a:spLocks noChangeArrowheads="1"/>
          </p:cNvSpPr>
          <p:nvPr/>
        </p:nvSpPr>
        <p:spPr bwMode="auto">
          <a:xfrm>
            <a:off x="5388394" y="4470399"/>
            <a:ext cx="2428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" name="5-Point Star 4"/>
          <p:cNvSpPr/>
          <p:nvPr/>
        </p:nvSpPr>
        <p:spPr>
          <a:xfrm>
            <a:off x="3335323" y="681037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．现有资金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万元，今后五年内考虑给以下的项目投资。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u="sng" dirty="0"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lang="en-US" altLang="zh-CN" sz="2800" i="1" u="sng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：从第一年到第五年每年年初都可投资，当年末能收回本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利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110%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u="sng" dirty="0"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lang="en-US" altLang="zh-CN" sz="2800" i="1" u="sng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：从第一年到第四年每年年初都可投资，次年末能收回本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利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125%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，但规定每年最大投资额不能超过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万元；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u="sng" dirty="0"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lang="en-US" altLang="zh-CN" sz="2800" i="1" u="sng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：需在第三年年初投资，第五年末能收回本利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140%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，但规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定最大投资额不能超过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80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万元；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u="sng" dirty="0"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lang="en-US" altLang="zh-CN" sz="2800" i="1" u="sng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：需在第二年年初投资，第五年末能收回本利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155%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，但规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定最大投资额不能超过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万元。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1838475" y="3833813"/>
            <a:ext cx="78136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问：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）应如何确定这些项目的每年投资额，使得第五年</a:t>
            </a:r>
            <a:endParaRPr lang="en-US" altLang="zh-CN" sz="24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年末拥有资金的本利金额为最大？ </a:t>
            </a:r>
            <a:endParaRPr lang="en-US" altLang="zh-CN" sz="24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     b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）应如何确定这些项目的每年投资额，使得第五年</a:t>
            </a:r>
            <a:endParaRPr lang="en-US" altLang="zh-CN" sz="24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年末拥有资金的本利在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330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万元的基础上使得其</a:t>
            </a:r>
            <a:endParaRPr lang="en-US" altLang="zh-CN" sz="24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投资总的风险系数为最小？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722587" y="1690688"/>
            <a:ext cx="6286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据测定每万元每次投资的风险指数如表：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336950" y="2249488"/>
          <a:ext cx="6769100" cy="1524000"/>
        </p:xfrm>
        <a:graphic>
          <a:graphicData uri="http://schemas.openxmlformats.org/drawingml/2006/table">
            <a:tbl>
              <a:tblPr/>
              <a:tblGrid>
                <a:gridCol w="2520950"/>
                <a:gridCol w="4248150"/>
              </a:tblGrid>
              <a:tr h="273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项目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风险指数（次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万元）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73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7" name="5-Point Star 4"/>
          <p:cNvSpPr/>
          <p:nvPr/>
        </p:nvSpPr>
        <p:spPr>
          <a:xfrm>
            <a:off x="3335323" y="681037"/>
            <a:ext cx="672860" cy="52372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2578100" y="967759"/>
                <a:ext cx="8089900" cy="1198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kumimoji="0" lang="zh-CN" altLang="en-US" dirty="0">
                    <a:latin typeface="宋体" panose="02010600030101010101" pitchFamily="2" charset="-122"/>
                    <a:ea typeface="楷体_GB2312" pitchFamily="49" charset="-122"/>
                  </a:rPr>
                  <a:t>：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）确定决策变量：连续投资问题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i="1" baseline="-25000" dirty="0" err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𝑖𝑗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表示第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年初投资于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𝑗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𝑗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𝑗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𝑗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项目的金额。这样我们建立如下的决策变量：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100" y="967759"/>
                <a:ext cx="8089900" cy="1198880"/>
              </a:xfrm>
              <a:prstGeom prst="rect">
                <a:avLst/>
              </a:prstGeom>
              <a:blipFill rotWithShape="1">
                <a:blip r:embed="rId1"/>
                <a:stretch>
                  <a:fillRect t="-2" b="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620655" y="4236701"/>
            <a:ext cx="2164080" cy="51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）约束条件：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2578100" y="4630764"/>
                <a:ext cx="7870826" cy="93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第一年：</a:t>
                </a:r>
                <a:r>
                  <a:rPr kumimoji="0" lang="en-US" altLang="zh-CN" dirty="0">
                    <a:solidFill>
                      <a:srgbClr val="FF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dirty="0">
                    <a:solidFill>
                      <a:srgbClr val="FF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项目当年末可收回投资，故第一年年初应把全部资金投出去，于是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11</m:t>
                    </m:r>
                    <m:r>
                      <a:rPr kumimoji="0"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12</m:t>
                    </m:r>
                    <m:r>
                      <a:rPr kumimoji="0" lang="en-US" altLang="zh-CN" i="1" baseline="-25000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 </m:t>
                    </m:r>
                    <m:r>
                      <a:rPr kumimoji="0" lang="en-US" altLang="zh-CN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200</m:t>
                    </m:r>
                  </m:oMath>
                </a14:m>
                <a:r>
                  <a:rPr kumimoji="0" lang="zh-CN" altLang="en-US" dirty="0">
                    <a:solidFill>
                      <a:srgbClr val="FF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；</a:t>
                </a:r>
                <a:endParaRPr kumimoji="0" lang="zh-CN" altLang="en-US" dirty="0">
                  <a:solidFill>
                    <a:srgbClr val="FF0000"/>
                  </a:solidFill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100" y="4630764"/>
                <a:ext cx="7870826" cy="939800"/>
              </a:xfrm>
              <a:prstGeom prst="rect">
                <a:avLst/>
              </a:prstGeom>
              <a:blipFill rotWithShape="1">
                <a:blip r:embed="rId2"/>
                <a:stretch>
                  <a:fillRect t="-37" b="-7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2578100" y="5603875"/>
                <a:ext cx="7870826" cy="93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第二年：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项目次年末才可收回投资，故第二年年初有资金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11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，于是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11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；</a:t>
                </a:r>
                <a:endParaRPr kumimoji="0" lang="zh-CN" altLang="en-US" dirty="0"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100" y="5603875"/>
                <a:ext cx="7870826" cy="939800"/>
              </a:xfrm>
              <a:prstGeom prst="rect">
                <a:avLst/>
              </a:prstGeom>
              <a:blipFill rotWithShape="1">
                <a:blip r:embed="rId3"/>
                <a:stretch>
                  <a:fillRect b="-8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3048000" y="2240118"/>
              <a:ext cx="6096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/>
                    <a:gridCol w="1016000"/>
                    <a:gridCol w="1016000"/>
                    <a:gridCol w="1016000"/>
                    <a:gridCol w="1016000"/>
                    <a:gridCol w="1016000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11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21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31</m:t>
                                </m:r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41</m:t>
                                </m:r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51</m:t>
                                </m:r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zh-CN" sz="240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12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22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32</m:t>
                                </m:r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lang="en-US" altLang="zh-CN" sz="240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33</m:t>
                                </m:r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   </m:t>
                                </m:r>
                              </m:oMath>
                            </m:oMathPara>
                          </a14:m>
                          <a:endParaRPr lang="en-US" altLang="zh-CN" sz="240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240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altLang="zh-CN" sz="2400" baseline="-2500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3048000" y="2240118"/>
              <a:ext cx="6096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/>
                    <a:gridCol w="1016000"/>
                    <a:gridCol w="1016000"/>
                    <a:gridCol w="1016000"/>
                    <a:gridCol w="1016000"/>
                    <a:gridCol w="1016000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1"/>
          <p:cNvSpPr>
            <a:spLocks noGrp="1"/>
          </p:cNvSpPr>
          <p:nvPr/>
        </p:nvSpPr>
        <p:spPr>
          <a:xfrm>
            <a:off x="838200" y="349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>
                <a:spLocks noChangeArrowheads="1"/>
              </p:cNvSpPr>
              <p:nvPr/>
            </p:nvSpPr>
            <p:spPr bwMode="auto">
              <a:xfrm>
                <a:off x="2149475" y="1271683"/>
                <a:ext cx="7786688" cy="4760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algn="just"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第三年：第三年年初的资金是从项目</a:t>
                </a:r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第二年投资和项目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第一年投资所回收的本息总和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12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just"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于是 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31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33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12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第四年：同上分析，年初有资金 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于是 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41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42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第五年：同上分析，年初有资金 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32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于是 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51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=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25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32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𝐵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kumimoji="0"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的投资限制： 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en-US" altLang="zh-CN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kumimoji="0" lang="en-US" altLang="zh-CN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0" lang="en-US" altLang="zh-CN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≤</m:t>
                    </m:r>
                    <m:r>
                      <a:rPr kumimoji="0" lang="en-US" altLang="zh-CN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30</m:t>
                    </m:r>
                    <m:r>
                      <a:rPr kumimoji="0" lang="en-US" altLang="zh-CN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0" lang="en-US" altLang="zh-CN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kumimoji="0" lang="en-US" altLang="zh-CN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zh-CN" altLang="en-US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、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)</m:t>
                    </m:r>
                  </m:oMath>
                </a14:m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en-US" altLang="zh-CN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33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≤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80</m:t>
                    </m:r>
                  </m:oMath>
                </a14:m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:r>
                  <a:rPr kumimoji="0" lang="en-US" altLang="zh-CN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24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≤ 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100</m:t>
                    </m:r>
                    <m:r>
                      <a:rPr kumimoji="0" lang="en-US" altLang="zh-CN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endParaRPr kumimoji="0"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9475" y="1271683"/>
                <a:ext cx="7786688" cy="4760595"/>
              </a:xfrm>
              <a:prstGeom prst="rect">
                <a:avLst/>
              </a:prstGeom>
              <a:blipFill rotWithShape="1">
                <a:blip r:embed="rId1"/>
                <a:stretch>
                  <a:fillRect t="-9" r="4" b="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1422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1533128" y="5471419"/>
                <a:ext cx="9134872" cy="992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algn="just" eaLnBrk="1" hangingPunct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𝑏</m:t>
                    </m:r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dirty="0">
                    <a:latin typeface="Arial" panose="020B0604020202020204" pitchFamily="34" charset="0"/>
                    <a:ea typeface="楷体" panose="02010609060101010101" pitchFamily="49" charset="-122"/>
                  </a:rPr>
                  <a:t>所设变量与问题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dirty="0">
                    <a:latin typeface="Arial" panose="020B0604020202020204" pitchFamily="34" charset="0"/>
                    <a:ea typeface="楷体" panose="02010609060101010101" pitchFamily="49" charset="-122"/>
                  </a:rPr>
                  <a:t>相同，目标函数为风险最小，有 </a:t>
                </a:r>
                <a:br>
                  <a:rPr kumimoji="0" lang="zh-CN" altLang="en-US" dirty="0">
                    <a:latin typeface="Arial" panose="020B0604020202020204" pitchFamily="34" charset="0"/>
                    <a:ea typeface="楷体" panose="02010609060101010101" pitchFamily="49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𝑀𝑖𝑛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kumimoji="0" lang="en-US" altLang="zh-CN" sz="2000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51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42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</m:t>
                      </m:r>
                      <m:r>
                        <a:rPr kumimoji="0" lang="en-US" altLang="zh-CN" sz="2000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24</m:t>
                      </m:r>
                      <m:r>
                        <a:rPr kumimoji="0" lang="en-US" altLang="zh-CN" sz="2000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0" lang="en-US" altLang="zh-CN" sz="2000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marL="0" indent="0" algn="just" eaLnBrk="1" hangingPunct="1">
                  <a:lnSpc>
                    <a:spcPct val="150000"/>
                  </a:lnSpc>
                </a:pPr>
                <a:r>
                  <a:rPr kumimoji="0"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endParaRPr kumimoji="0"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3128" y="5471419"/>
                <a:ext cx="9134872" cy="992188"/>
              </a:xfrm>
              <a:prstGeom prst="rect">
                <a:avLst/>
              </a:prstGeom>
              <a:blipFill rotWithShape="1">
                <a:blip r:embed="rId1"/>
                <a:stretch>
                  <a:fillRect l="-3" t="-26" b="-612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775" name="矩形 11"/>
              <p:cNvSpPr>
                <a:spLocks noChangeArrowheads="1"/>
              </p:cNvSpPr>
              <p:nvPr/>
            </p:nvSpPr>
            <p:spPr bwMode="auto">
              <a:xfrm>
                <a:off x="2202656" y="1320000"/>
                <a:ext cx="7786687" cy="3826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𝑎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 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𝑀𝑎𝑥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 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42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33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 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55</m:t>
                      </m:r>
                      <m:r>
                        <a:rPr kumimoji="0" lang="en-US" altLang="zh-CN" i="1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24</m:t>
                      </m:r>
                      <m:r>
                        <a:rPr kumimoji="0" lang="en-US" altLang="zh-CN" i="1" baseline="-25000" dirty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𝑠</m:t>
                      </m:r>
                      <m:r>
                        <a:rPr kumimoji="0" lang="en-US" altLang="zh-CN" i="1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kumimoji="0" lang="en-US" altLang="zh-CN" i="1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𝑡</m:t>
                      </m:r>
                      <m:r>
                        <a:rPr kumimoji="0" lang="en-US" altLang="zh-CN" i="1" dirty="0" err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.  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altLang="zh-CN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zh-CN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12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200</m:t>
                              </m:r>
                            </m:e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21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22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24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11</m:t>
                              </m:r>
                            </m:e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31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32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33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25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12</m:t>
                              </m:r>
                            </m:e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41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42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25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22</m:t>
                              </m:r>
                            </m:e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51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.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25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CN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𝑖</m:t>
                                  </m:r>
                                  <m:r>
                                    <a:rPr kumimoji="0" lang="en-US" altLang="zh-CN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30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kumimoji="0" lang="en-US" altLang="zh-CN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kumimoji="0" lang="en-US" altLang="zh-CN" i="1" dirty="0" err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)</m:t>
                              </m:r>
                            </m:e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33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≤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80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，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24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≤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100</m:t>
                              </m:r>
                            </m:e>
                            <m:e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0" lang="en-US" altLang="zh-CN" i="1" baseline="-25000" dirty="0" err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𝑖𝑗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≥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 ( </m:t>
                              </m:r>
                              <m:r>
                                <a:rPr kumimoji="0" lang="en-US" altLang="zh-CN" i="1" dirty="0" err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5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；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𝑗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 = 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、</m:t>
                              </m:r>
                              <m:r>
                                <a:rPr kumimoji="0" lang="en-US" altLang="zh-CN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  <m:r>
                                <a:rPr kumimoji="0" lang="zh-CN" altLang="en-US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en-US" altLang="zh-CN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2775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2656" y="1320000"/>
                <a:ext cx="7786687" cy="3826510"/>
              </a:xfrm>
              <a:prstGeom prst="rect">
                <a:avLst/>
              </a:prstGeom>
              <a:blipFill rotWithShape="1">
                <a:blip r:embed="rId2"/>
                <a:stretch>
                  <a:fillRect l="-6" t="-12" r="-634" b="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989137" y="841281"/>
            <a:ext cx="3078480" cy="51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）目标函数及模型：</a:t>
            </a:r>
            <a:endParaRPr lang="zh-CN" altLang="en-US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838200" y="-6350"/>
            <a:ext cx="10515600" cy="1072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2775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>
                <a:spLocks noChangeArrowheads="1"/>
              </p:cNvSpPr>
              <p:nvPr/>
            </p:nvSpPr>
            <p:spPr bwMode="auto">
              <a:xfrm>
                <a:off x="1988342" y="1057202"/>
                <a:ext cx="8215313" cy="829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即在问题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𝑎</m:t>
                    </m:r>
                  </m:oMath>
                </a14:m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的约束条件中加上“第五年末拥有资金本利在</a:t>
                </a:r>
                <a:r>
                  <a:rPr kumimoji="0" lang="en-US" altLang="zh-CN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330</a:t>
                </a:r>
                <a:r>
                  <a:rPr kumimoji="0" lang="zh-CN" altLang="en-US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万元”的条件，得模型：</a:t>
                </a:r>
                <a:endParaRPr lang="zh-CN" altLang="en-US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8342" y="1057202"/>
                <a:ext cx="8215313" cy="829945"/>
              </a:xfrm>
              <a:prstGeom prst="rect">
                <a:avLst/>
              </a:prstGeom>
              <a:blipFill rotWithShape="1">
                <a:blip r:embed="rId1"/>
                <a:stretch>
                  <a:fillRect l="-2" t="-68" r="6" b="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1524000" y="2146942"/>
                <a:ext cx="9144000" cy="3163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/>
                <a14:m>
                  <m:oMath xmlns:m="http://schemas.openxmlformats.org/officeDocument/2006/math"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𝑀𝑖𝑛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 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 (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11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21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31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41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51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12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22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32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42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4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33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kumimoji="0" lang="en-US" altLang="zh-CN" sz="2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𝑥</m:t>
                    </m:r>
                    <m:r>
                      <a:rPr kumimoji="0" lang="en-US" altLang="zh-CN" sz="2000" i="1" baseline="-25000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24</m:t>
                    </m:r>
                    <m:r>
                      <a:rPr kumimoji="0" lang="en-US" altLang="zh-CN" sz="2000" i="1" baseline="-25000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kumimoji="0" lang="en-US" altLang="zh-CN" sz="2000" dirty="0">
                    <a:latin typeface="Arial" panose="020B0604020202020204" pitchFamily="34" charset="0"/>
                    <a:ea typeface="楷体" panose="02010609060101010101" pitchFamily="49" charset="-122"/>
                  </a:rPr>
                  <a:t> </a:t>
                </a:r>
                <a:endParaRPr kumimoji="0" lang="en-US" altLang="zh-CN" sz="2000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marL="0" indent="0" eaLnBrk="1" hangingPunct="1"/>
                <a:r>
                  <a:rPr kumimoji="0" lang="en-US" altLang="zh-CN" sz="2000" dirty="0">
                    <a:latin typeface="Arial" panose="020B0604020202020204" pitchFamily="34" charset="0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𝑠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𝑡</m:t>
                    </m:r>
                    <m:r>
                      <a:rPr kumimoji="0" lang="en-US" altLang="zh-CN" sz="2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kumimoji="0" lang="en-US" altLang="zh-CN" sz="20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200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21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22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24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=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11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；</m:t>
                            </m:r>
                            <m:r>
                              <m:rPr>
                                <m:nor/>
                              </m:rPr>
                              <a:rPr kumimoji="0" lang="zh-CN" altLang="en-US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  <m:e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31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32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33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=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25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12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；</m:t>
                            </m:r>
                            <m:r>
                              <m:rPr>
                                <m:nor/>
                              </m:rPr>
                              <a:rPr kumimoji="0" lang="zh-CN" altLang="en-US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  <m:e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41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42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=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25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22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；</m:t>
                            </m:r>
                            <m:r>
                              <m:rPr>
                                <m:nor/>
                              </m:rPr>
                              <a:rPr kumimoji="0" lang="zh-CN" altLang="en-US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  <m:e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51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25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32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；</m:t>
                            </m:r>
                            <m:r>
                              <m:rPr>
                                <m:nor/>
                              </m:rPr>
                              <a:rPr kumimoji="0" lang="zh-CN" altLang="en-US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kumimoji="0" lang="en-US" altLang="zh-CN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kumimoji="0" lang="en-US" altLang="zh-CN" b="0" i="1" dirty="0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altLang="zh-CN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≤</m:t>
                            </m:r>
                            <m:r>
                              <a:rPr kumimoji="0" lang="en-US" altLang="zh-CN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30</m:t>
                            </m:r>
                            <m:r>
                              <a:rPr kumimoji="0" lang="en-US" altLang="zh-CN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,(</m:t>
                            </m:r>
                            <m:r>
                              <a:rPr kumimoji="0" lang="en-US" altLang="zh-CN" i="1" dirty="0" err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)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，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33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≤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80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，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24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≤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100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US" altLang="zh-CN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  <m:e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kumimoji="0" lang="en-US" altLang="zh-CN" b="1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  <m:r>
                              <a:rPr kumimoji="0" lang="en-US" altLang="zh-CN" b="1" i="1" baseline="-25000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kumimoji="0" lang="en-US" altLang="zh-CN" b="1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kumimoji="0" lang="en-US" altLang="zh-CN" b="1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kumimoji="0" lang="en-US" altLang="zh-CN" b="1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𝟐𝟓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kumimoji="0" lang="en-US" altLang="zh-CN" b="1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𝟒𝟐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𝟒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kumimoji="0" lang="en-US" altLang="zh-CN" b="1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𝟑𝟑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 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.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𝟓𝟓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kumimoji="0" lang="en-US" altLang="zh-CN" b="1" i="1" baseline="-25000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𝟐𝟒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≥ </m:t>
                            </m:r>
                            <m:r>
                              <a:rPr kumimoji="0" lang="en-US" altLang="zh-CN" b="1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𝟑𝟑𝟎</m:t>
                            </m:r>
                            <m:r>
                              <m:rPr>
                                <m:nor/>
                              </m:rPr>
                              <a:rPr kumimoji="0" lang="en-US" altLang="zh-CN" b="1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  <m:e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kumimoji="0" lang="en-US" altLang="zh-CN" i="1" baseline="-25000" dirty="0" err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𝑖𝑗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≥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 ( </m:t>
                            </m:r>
                            <m:r>
                              <a:rPr kumimoji="0" lang="en-US" altLang="zh-CN" i="1" dirty="0" err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；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𝑗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 = 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、</m:t>
                            </m:r>
                            <m:r>
                              <a:rPr kumimoji="0" lang="en-US" altLang="zh-CN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kumimoji="0" lang="zh-CN" altLang="en-US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）</m:t>
                            </m:r>
                            <m:r>
                              <m:rPr>
                                <m:nor/>
                              </m:rPr>
                              <a:rPr kumimoji="0" lang="zh-CN" altLang="en-US" dirty="0">
                                <a:latin typeface="Arial" panose="020B0604020202020204" pitchFamily="34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kumimoji="0" lang="en-US" altLang="zh-CN" sz="2000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ct val="135000"/>
                  </a:lnSpc>
                  <a:spcBef>
                    <a:spcPct val="20000"/>
                  </a:spcBef>
                </a:pPr>
                <a:endParaRPr kumimoji="0" lang="en-US" altLang="zh-CN" sz="1800" dirty="0">
                  <a:latin typeface="Arial" panose="020B0604020202020204" pitchFamily="34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2146942"/>
                <a:ext cx="9144000" cy="3163886"/>
              </a:xfrm>
              <a:prstGeom prst="rect">
                <a:avLst/>
              </a:prstGeom>
              <a:blipFill rotWithShape="1">
                <a:blip r:embed="rId2"/>
                <a:stretch>
                  <a:fillRect b="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89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华文楷体" panose="02010600040101010101" charset="-122"/>
                <a:ea typeface="华文楷体" panose="02010600040101010101" charset="-122"/>
              </a:rPr>
              <a:t>总结</a:t>
            </a:r>
            <a:endParaRPr lang="en-US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525"/>
            <a:ext cx="10515600" cy="4770755"/>
          </a:xfrm>
        </p:spPr>
        <p:txBody>
          <a:bodyPr>
            <a:normAutofit fontScale="60000"/>
          </a:bodyPr>
          <a:lstStyle/>
          <a:p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人力资源分配问题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每个员工的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排班要求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是什么？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列出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排班表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生产计划问题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每种产品的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生产流程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是什么样的？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画出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生产流程图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套裁下料问题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单位耗材有多少种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裁切方案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用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树状图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分析可能得套裁方案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配料问题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每种产品的各个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组成比例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是多少？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将每种产品的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每个组成部分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都看做一个决策变量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投资问题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每年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年初的投资计划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和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年末的回报收入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各是多少？</a:t>
            </a:r>
            <a:endParaRPr lang="en-US" altLang="zh-CN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pPr lvl="1"/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分别列出每年的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投资计划表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和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收入回报表</a:t>
            </a:r>
            <a:r>
              <a:rPr lang="zh-CN" altLang="en-US" sz="2665" dirty="0">
                <a:latin typeface="华文楷体" panose="02010600040101010101" charset="-122"/>
                <a:ea typeface="华文楷体" panose="02010600040101010101" charset="-122"/>
              </a:rPr>
              <a:t>，并将</a:t>
            </a:r>
            <a:r>
              <a:rPr lang="zh-CN" altLang="en-US" sz="2665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头年年末的收入回报视为次年年初投资计划的额度上限</a:t>
            </a:r>
            <a:endParaRPr lang="zh-CN" altLang="en-US" sz="2665" dirty="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en-US" sz="2665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89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</a:rPr>
              <a:t>课堂练习</a:t>
            </a:r>
            <a:r>
              <a:rPr lang="en-US" altLang="zh-CN" dirty="0" err="1">
                <a:latin typeface="华文楷体" panose="02010600040101010101" charset="-122"/>
                <a:ea typeface="华文楷体" panose="02010600040101010101" charset="-122"/>
              </a:rPr>
              <a:t>1</a:t>
            </a:r>
            <a:endParaRPr lang="en-US" altLang="zh-CN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945" y="1397000"/>
            <a:ext cx="106756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一贸易公司专门经营某种种子的批发业务。公司现有库存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5000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担的仓库，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月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日，公司拥有库存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1000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担种子，并有资金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20000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元。估计第三季度种子价格如表所示。如买进的种子当月到货，但需到下月才能卖出，且规定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货到付款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。公司希望本季末库存为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2000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担，问应采取什么样的买进和卖出的策略使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个月总的获利最大？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44575" y="3334385"/>
          <a:ext cx="10547985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995"/>
                <a:gridCol w="3515995"/>
                <a:gridCol w="3515995"/>
              </a:tblGrid>
              <a:tr h="7334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进货价</a:t>
                      </a: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/</a:t>
                      </a: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元</a:t>
                      </a: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/</a:t>
                      </a: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担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出货价</a:t>
                      </a: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元</a:t>
                      </a: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担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  <a:tr h="733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7</a:t>
                      </a: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月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2.85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3.10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  <a:tr h="733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8</a:t>
                      </a: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月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3.05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3.25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  <a:tr h="733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9</a:t>
                      </a: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月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2.90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2.95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89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</a:rPr>
              <a:t>课堂练习</a:t>
            </a:r>
            <a:r>
              <a:rPr lang="en-US" altLang="zh-CN" dirty="0" err="1">
                <a:latin typeface="华文楷体" panose="02010600040101010101" charset="-122"/>
                <a:ea typeface="华文楷体" panose="02010600040101010101" charset="-122"/>
              </a:rPr>
              <a:t>2</a:t>
            </a:r>
            <a:endParaRPr lang="en-US" altLang="zh-CN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945" y="1125855"/>
            <a:ext cx="10675620" cy="2303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某法律公司拥有一支庞大的有初级合伙人资格的年轻律师队伍，为了有效地利用自己的人力资源，来寻求将律师与客户进行匹配的合适方法。在与客户合作时，规则如下：每位律师至多能够受理一个案件，而且每位律师的技能和专业兴趣有所不同。为了有效地将律师安排到各个客户，有下面这个表格，其中给出了各位律师受理每个新案例的有效性的估计值（度量从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至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9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,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问：四个案例如何分配使有效性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最高？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771650" y="3495675"/>
          <a:ext cx="853376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 rowSpan="2"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公司的有效性评价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离婚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公司并购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贪污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抢劫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律师</a:t>
                      </a: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A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8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7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律师</a:t>
                      </a: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B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9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8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律师</a:t>
                      </a: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C</a:t>
                      </a:r>
                      <a:endParaRPr lang="en-US" altLang="zh-CN" sz="18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8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律师</a:t>
                      </a: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D</a:t>
                      </a:r>
                      <a:endParaRPr lang="en-US" altLang="zh-CN" sz="18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89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</a:rPr>
              <a:t>课堂练习</a:t>
            </a:r>
            <a:r>
              <a:rPr lang="en-US" altLang="zh-CN" dirty="0" err="1">
                <a:latin typeface="华文楷体" panose="02010600040101010101" charset="-122"/>
                <a:ea typeface="华文楷体" panose="02010600040101010101" charset="-122"/>
              </a:rPr>
              <a:t>3</a:t>
            </a:r>
            <a:endParaRPr lang="en-US" altLang="zh-CN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945" y="1397000"/>
            <a:ext cx="106756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某企业有三个部门，现有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项工作，每项工作可由各部门单独完成，也可把一项工作分给几个部分完成。每个部门完成各项工作所需的时间、单位成本及可用时间如下表所示。如何安排才能使完成工作的成本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最低？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57910" y="2593975"/>
          <a:ext cx="9747885" cy="386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495"/>
                <a:gridCol w="609600"/>
                <a:gridCol w="609600"/>
                <a:gridCol w="609600"/>
                <a:gridCol w="609600"/>
                <a:gridCol w="2436495"/>
                <a:gridCol w="2436495"/>
              </a:tblGrid>
              <a:tr h="80645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部门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每件工作所需的时间</a:t>
                      </a:r>
                      <a:r>
                        <a:rPr lang="en-US" altLang="zh-CN" sz="16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/h</a:t>
                      </a:r>
                      <a:endParaRPr lang="en-US" altLang="zh-CN" sz="16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每小时工作成本</a:t>
                      </a: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元</a:t>
                      </a:r>
                      <a:endParaRPr lang="zh-CN" altLang="en-US" sz="18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可用时间</a:t>
                      </a: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/h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  <a:tr h="506095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工作</a:t>
                      </a: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</a:t>
                      </a:r>
                      <a:endParaRPr lang="en-US" altLang="zh-CN" sz="12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工作2</a:t>
                      </a:r>
                      <a:endParaRPr lang="zh-CN" altLang="en-US" sz="12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工作3</a:t>
                      </a:r>
                      <a:endParaRPr lang="zh-CN" altLang="en-US" sz="12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工作4</a:t>
                      </a:r>
                      <a:endParaRPr lang="zh-CN" altLang="en-US" sz="12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  <a:tc vMerge="1">
                  <a:tcPr anchor="ctr" anchorCtr="0"/>
                </a:tc>
              </a:tr>
              <a:tr h="806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endParaRPr 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120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60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100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200</a:t>
                      </a:r>
                      <a:endParaRPr lang="en-US" altLang="zh-CN" sz="18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200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  <a:tr h="806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endParaRPr 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140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120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180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200</a:t>
                      </a:r>
                      <a:endParaRPr lang="en-US" altLang="zh-CN" sz="18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806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120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50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110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170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200</a:t>
                      </a:r>
                      <a:endParaRPr lang="en-US" altLang="zh-CN" sz="18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89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</a:rPr>
              <a:t>课堂练习</a:t>
            </a:r>
            <a:r>
              <a:rPr lang="en-US" altLang="zh-CN" dirty="0" err="1">
                <a:latin typeface="华文楷体" panose="02010600040101010101" charset="-122"/>
                <a:ea typeface="华文楷体" panose="02010600040101010101" charset="-122"/>
              </a:rPr>
              <a:t>4</a:t>
            </a:r>
            <a:endParaRPr lang="en-US" altLang="zh-CN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945" y="1125855"/>
            <a:ext cx="10675620" cy="2303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某饭店筵席部预计一周每天接待的客人数如下表所示。规定每位客人每天用餐巾一条。所有餐巾中可购买新的，每条成本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元，或者用已经洗净的餐巾。附近有两家洗衣店；甲店洗净一条餐巾收费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元，隔一天后送还；乙店洗净一条收费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元，隔两天后送还。假定第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天后餐巾应该换新的，且每周开始时没有旧餐巾。问：饭店后勤部应如何安排每天的餐巾的供应，以使总成本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最低？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04240" y="3188970"/>
          <a:ext cx="10601960" cy="2226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245"/>
                <a:gridCol w="1325245"/>
                <a:gridCol w="1325245"/>
                <a:gridCol w="1325245"/>
                <a:gridCol w="1325245"/>
                <a:gridCol w="1325245"/>
                <a:gridCol w="1325245"/>
                <a:gridCol w="1325245"/>
              </a:tblGrid>
              <a:tr h="11131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星期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7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11131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华文楷体" panose="02010600040101010101" charset="-122"/>
                          <a:ea typeface="华文楷体" panose="02010600040101010101" charset="-122"/>
                        </a:rPr>
                        <a:t>人数</a:t>
                      </a:r>
                      <a:endParaRPr lang="zh-CN" altLang="en-US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50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60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70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80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70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90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latin typeface="华文楷体" panose="02010600040101010101" charset="-122"/>
                          <a:ea typeface="华文楷体" panose="02010600040101010101" charset="-122"/>
                        </a:rPr>
                        <a:t>100</a:t>
                      </a:r>
                      <a:endParaRPr lang="en-US" altLang="zh-CN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</a:rPr>
              <a:t>课后</a:t>
            </a:r>
            <a:r>
              <a:rPr lang="zh-CN" altLang="en-US" dirty="0" err="1">
                <a:latin typeface="华文楷体" panose="02010600040101010101" charset="-122"/>
                <a:ea typeface="华文楷体" panose="02010600040101010101" charset="-122"/>
              </a:rPr>
              <a:t>作业</a:t>
            </a:r>
            <a:endParaRPr lang="zh-CN" altLang="en-US" dirty="0" err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第四章课后习题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）（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12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15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17  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（第五版）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或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第四章课后习题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）（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9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11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（第四版）</a:t>
            </a:r>
            <a:endParaRPr lang="en-US" altLang="zh-CN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818*230"/>
  <p:tag name="TABLE_ENDDRAG_RECT" val="93*262*819*230"/>
</p:tagLst>
</file>

<file path=ppt/tags/tag2.xml><?xml version="1.0" encoding="utf-8"?>
<p:tagLst xmlns:p="http://schemas.openxmlformats.org/presentationml/2006/main">
  <p:tag name="TABLE_ENDDRAG_ORIGIN_RECT" val="767*317"/>
  <p:tag name="TABLE_ENDDRAG_RECT" val="83*204*767*317"/>
</p:tagLst>
</file>

<file path=ppt/tags/tag3.xml><?xml version="1.0" encoding="utf-8"?>
<p:tagLst xmlns:p="http://schemas.openxmlformats.org/presentationml/2006/main">
  <p:tag name="TABLE_ENDDRAG_ORIGIN_RECT" val="834*175"/>
  <p:tag name="TABLE_ENDDRAG_RECT" val="71*242*834*175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华中农业大学应届生毕业论文答辩通用ppt模板</Template>
  <TotalTime>0</TotalTime>
  <Words>9226</Words>
  <Application>WPS 演示</Application>
  <PresentationFormat>Widescreen</PresentationFormat>
  <Paragraphs>1142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62" baseType="lpstr">
      <vt:lpstr>Arial</vt:lpstr>
      <vt:lpstr>宋体</vt:lpstr>
      <vt:lpstr>Wingdings</vt:lpstr>
      <vt:lpstr>微软雅黑</vt:lpstr>
      <vt:lpstr>DIN Light</vt:lpstr>
      <vt:lpstr>微软雅黑 Light</vt:lpstr>
      <vt:lpstr>等线</vt:lpstr>
      <vt:lpstr>Segoe UI Light</vt:lpstr>
      <vt:lpstr>楷体</vt:lpstr>
      <vt:lpstr>Calibri</vt:lpstr>
      <vt:lpstr>仿宋</vt:lpstr>
      <vt:lpstr>Times New Roman</vt:lpstr>
      <vt:lpstr>Cambria Math</vt:lpstr>
      <vt:lpstr>楷体_GB2312</vt:lpstr>
      <vt:lpstr>新宋体</vt:lpstr>
      <vt:lpstr>Arial</vt:lpstr>
      <vt:lpstr>华文楷体</vt:lpstr>
      <vt:lpstr>Courant</vt:lpstr>
      <vt:lpstr>Arial Unicode MS</vt:lpstr>
      <vt:lpstr>等线 Light</vt:lpstr>
      <vt:lpstr>Office 主题​​</vt:lpstr>
      <vt:lpstr>1_Office 主题​​</vt:lpstr>
      <vt:lpstr>2_Office 主题​​</vt:lpstr>
      <vt:lpstr>PowerPoint 演示文稿</vt:lpstr>
      <vt:lpstr>学习计划与重要知识点</vt:lpstr>
      <vt:lpstr>人力资源分配问题-每日值班安排</vt:lpstr>
      <vt:lpstr>PowerPoint 演示文稿</vt:lpstr>
      <vt:lpstr>人力资源分配问题-每周值班安排</vt:lpstr>
      <vt:lpstr>PowerPoint 演示文稿</vt:lpstr>
      <vt:lpstr>人力资源分配问题-需要注意的问题</vt:lpstr>
      <vt:lpstr>生产计划问题</vt:lpstr>
      <vt:lpstr>PowerPoint 演示文稿</vt:lpstr>
      <vt:lpstr>PowerPoint 演示文稿</vt:lpstr>
      <vt:lpstr>生产计划问题-例3最优解</vt:lpstr>
      <vt:lpstr>生产计划问题</vt:lpstr>
      <vt:lpstr>PowerPoint 演示文稿</vt:lpstr>
      <vt:lpstr>PowerPoint 演示文稿</vt:lpstr>
      <vt:lpstr>生产计划问题-需要注意的问题</vt:lpstr>
      <vt:lpstr>套裁下料问题</vt:lpstr>
      <vt:lpstr>PowerPoint 演示文稿</vt:lpstr>
      <vt:lpstr>套裁下料问题-需要注意的问题</vt:lpstr>
      <vt:lpstr>套裁下料问题-需要注意的问题</vt:lpstr>
      <vt:lpstr>配料问题</vt:lpstr>
      <vt:lpstr>PowerPoint 演示文稿</vt:lpstr>
      <vt:lpstr>PowerPoint 演示文稿</vt:lpstr>
      <vt:lpstr>PowerPoint 演示文稿</vt:lpstr>
      <vt:lpstr>PowerPoint 演示文稿</vt:lpstr>
      <vt:lpstr>现实生活中的配料问题-汽油标号</vt:lpstr>
      <vt:lpstr>配料问题</vt:lpstr>
      <vt:lpstr>配料问题</vt:lpstr>
      <vt:lpstr>投资问题</vt:lpstr>
      <vt:lpstr>投资问题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PowerPoint 演示文稿</vt:lpstr>
      <vt:lpstr>PowerPoint 演示文稿</vt:lpstr>
      <vt:lpstr>PowerPoint 演示文稿</vt:lpstr>
      <vt:lpstr>课后作业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Bian, Siyu</dc:creator>
  <cp:lastModifiedBy>Lee</cp:lastModifiedBy>
  <cp:revision>45</cp:revision>
  <dcterms:created xsi:type="dcterms:W3CDTF">2023-05-15T07:09:00Z</dcterms:created>
  <dcterms:modified xsi:type="dcterms:W3CDTF">2025-10-21T15:01:32Z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AA7CD6ECB6754C11B12CB2E7522BB31A_12</vt:lpwstr>
  </property>
  <property fmtid="{D5CDD505-2E9C-101B-9397-08002B2CF9AE}" pid="3" name="KSOProductBuildVer">
    <vt:lpwstr>2052-12.1.0.19302</vt:lpwstr>
  </property>
</Properties>
</file>