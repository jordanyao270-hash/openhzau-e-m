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sldIdLst>
    <p:sldId id="258" r:id="rId6"/>
    <p:sldId id="259" r:id="rId7"/>
    <p:sldId id="260" r:id="rId8"/>
    <p:sldId id="478" r:id="rId9"/>
    <p:sldId id="479" r:id="rId10"/>
    <p:sldId id="480" r:id="rId11"/>
    <p:sldId id="481" r:id="rId12"/>
    <p:sldId id="482" r:id="rId13"/>
    <p:sldId id="469" r:id="rId14"/>
    <p:sldId id="470" r:id="rId15"/>
    <p:sldId id="471" r:id="rId16"/>
    <p:sldId id="472" r:id="rId17"/>
    <p:sldId id="473" r:id="rId18"/>
    <p:sldId id="474" r:id="rId19"/>
    <p:sldId id="261" r:id="rId20"/>
    <p:sldId id="475" r:id="rId21"/>
    <p:sldId id="476" r:id="rId22"/>
    <p:sldId id="477" r:id="rId23"/>
    <p:sldId id="339" r:id="rId24"/>
    <p:sldId id="262" r:id="rId25"/>
    <p:sldId id="264" r:id="rId26"/>
    <p:sldId id="263" r:id="rId27"/>
    <p:sldId id="265" r:id="rId28"/>
    <p:sldId id="266" r:id="rId29"/>
    <p:sldId id="267" r:id="rId30"/>
    <p:sldId id="268" r:id="rId31"/>
    <p:sldId id="269" r:id="rId32"/>
    <p:sldId id="270" r:id="rId33"/>
    <p:sldId id="271" r:id="rId34"/>
    <p:sldId id="273" r:id="rId35"/>
    <p:sldId id="275" r:id="rId36"/>
    <p:sldId id="412" r:id="rId37"/>
    <p:sldId id="411" r:id="rId38"/>
    <p:sldId id="338" r:id="rId39"/>
    <p:sldId id="276" r:id="rId40"/>
    <p:sldId id="277" r:id="rId41"/>
    <p:sldId id="278" r:id="rId42"/>
    <p:sldId id="280" r:id="rId43"/>
    <p:sldId id="281" r:id="rId44"/>
    <p:sldId id="282" r:id="rId45"/>
    <p:sldId id="283" r:id="rId46"/>
    <p:sldId id="284" r:id="rId47"/>
    <p:sldId id="285" r:id="rId48"/>
    <p:sldId id="286" r:id="rId49"/>
    <p:sldId id="287" r:id="rId50"/>
    <p:sldId id="289" r:id="rId51"/>
    <p:sldId id="418" r:id="rId52"/>
    <p:sldId id="565" r:id="rId53"/>
    <p:sldId id="413" r:id="rId54"/>
    <p:sldId id="414" r:id="rId55"/>
    <p:sldId id="415" r:id="rId56"/>
    <p:sldId id="416" r:id="rId57"/>
    <p:sldId id="290" r:id="rId58"/>
    <p:sldId id="291" r:id="rId59"/>
    <p:sldId id="292" r:id="rId60"/>
    <p:sldId id="293" r:id="rId61"/>
    <p:sldId id="333" r:id="rId62"/>
    <p:sldId id="294" r:id="rId63"/>
    <p:sldId id="295" r:id="rId64"/>
    <p:sldId id="296" r:id="rId65"/>
    <p:sldId id="297" r:id="rId66"/>
    <p:sldId id="298" r:id="rId67"/>
    <p:sldId id="299" r:id="rId68"/>
    <p:sldId id="300" r:id="rId69"/>
    <p:sldId id="301" r:id="rId70"/>
    <p:sldId id="483" r:id="rId71"/>
    <p:sldId id="336" r:id="rId72"/>
    <p:sldId id="304" r:id="rId73"/>
    <p:sldId id="306" r:id="rId74"/>
    <p:sldId id="307" r:id="rId75"/>
    <p:sldId id="308" r:id="rId76"/>
    <p:sldId id="309" r:id="rId77"/>
    <p:sldId id="310" r:id="rId78"/>
    <p:sldId id="311" r:id="rId79"/>
    <p:sldId id="312" r:id="rId80"/>
    <p:sldId id="484" r:id="rId81"/>
    <p:sldId id="337" r:id="rId82"/>
    <p:sldId id="313" r:id="rId83"/>
    <p:sldId id="314" r:id="rId84"/>
    <p:sldId id="315" r:id="rId85"/>
    <p:sldId id="316" r:id="rId86"/>
    <p:sldId id="320" r:id="rId87"/>
    <p:sldId id="317" r:id="rId88"/>
    <p:sldId id="321" r:id="rId89"/>
    <p:sldId id="318" r:id="rId90"/>
    <p:sldId id="322" r:id="rId91"/>
    <p:sldId id="340" r:id="rId92"/>
    <p:sldId id="341" r:id="rId93"/>
    <p:sldId id="319" r:id="rId94"/>
    <p:sldId id="323" r:id="rId95"/>
    <p:sldId id="331" r:id="rId9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34" autoAdjust="0"/>
    <p:restoredTop sz="94660"/>
  </p:normalViewPr>
  <p:slideViewPr>
    <p:cSldViewPr snapToGrid="0">
      <p:cViewPr varScale="1">
        <p:scale>
          <a:sx n="134" d="100"/>
          <a:sy n="134" d="100"/>
        </p:scale>
        <p:origin x="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atin typeface="楷体" panose="02010609060101010101" pitchFamily="49" charset="-122"/>
                <a:ea typeface="楷体" panose="02010609060101010101" pitchFamily="49" charset="-122"/>
              </a:defRPr>
            </a:lvl1p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楷体" panose="02010609060101010101" pitchFamily="49" charset="-122"/>
                <a:ea typeface="楷体" panose="02010609060101010101" pitchFamily="49"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defRPr>
            </a:lvl1pPr>
          </a:lstStyle>
          <a:p>
            <a:fld id="{D69C00F6-3019-447B-B625-0F42BFF949D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D69C00F6-3019-447B-B625-0F42BFF949D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atin typeface="楷体" panose="02010609060101010101" pitchFamily="49" charset="-122"/>
                <a:ea typeface="楷体" panose="02010609060101010101" pitchFamily="49" charset="-122"/>
              </a:defRPr>
            </a:lvl1p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楷体" panose="02010609060101010101" pitchFamily="49" charset="-122"/>
                <a:ea typeface="楷体" panose="02010609060101010101" pitchFamily="49"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楷体" panose="02010609060101010101" pitchFamily="49" charset="-122"/>
                <a:ea typeface="楷体" panose="02010609060101010101" pitchFamily="49" charset="-122"/>
              </a:defRPr>
            </a:lvl1pPr>
          </a:lstStyle>
          <a:p>
            <a:fld id="{D69C00F6-3019-447B-B625-0F42BFF949D1}"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D69C00F6-3019-447B-B625-0F42BFF949D1}"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84CFBC8-05B7-4067-B055-F408B0550A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9C00F6-3019-447B-B625-0F42BFF949D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4CFBC8-05B7-4067-B055-F408B0550A7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D69C00F6-3019-447B-B625-0F42BFF949D1}"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9C00F6-3019-447B-B625-0F42BFF949D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4CFBC8-05B7-4067-B055-F408B0550A7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D69C00F6-3019-447B-B625-0F42BFF949D1}"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69C00F6-3019-447B-B625-0F42BFF949D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hyperlink" Target="http://www.ecocn.org/forum.php?mod=viewthread&amp;tid=181601&amp;from=portal"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hyperlink" Target="http://www.ecocn.org/forum.php?mod=viewthread&amp;tid=181601&amp;from=porta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emf"/></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emf"/></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emf"/><Relationship Id="rId1" Type="http://schemas.openxmlformats.org/officeDocument/2006/relationships/image" Target="../media/image37.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7886"/>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第八章：决策分析</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本章内容</a:t>
            </a:r>
            <a:endParaRPr lang="zh-CN" altLang="en-US" dirty="0"/>
          </a:p>
        </p:txBody>
      </p:sp>
      <p:sp>
        <p:nvSpPr>
          <p:cNvPr id="3" name="内容占位符 2"/>
          <p:cNvSpPr>
            <a:spLocks noGrp="1"/>
          </p:cNvSpPr>
          <p:nvPr>
            <p:ph idx="1"/>
          </p:nvPr>
        </p:nvSpPr>
        <p:spPr/>
        <p:txBody>
          <a:bodyPr/>
          <a:lstStyle/>
          <a:p>
            <a:r>
              <a:rPr lang="zh-CN" altLang="en-US" dirty="0"/>
              <a:t>决策分析概述</a:t>
            </a:r>
            <a:endParaRPr lang="en-US" altLang="zh-CN" dirty="0"/>
          </a:p>
          <a:p>
            <a:r>
              <a:rPr lang="zh-CN" altLang="en-US" dirty="0"/>
              <a:t>确定型决策问题</a:t>
            </a:r>
            <a:endParaRPr lang="en-US" altLang="zh-CN" dirty="0"/>
          </a:p>
          <a:p>
            <a:r>
              <a:rPr lang="zh-CN" altLang="en-US" dirty="0"/>
              <a:t>不确定型决策问题</a:t>
            </a:r>
            <a:endParaRPr lang="en-US" altLang="zh-CN" dirty="0"/>
          </a:p>
          <a:p>
            <a:r>
              <a:rPr lang="zh-CN" altLang="en-US" dirty="0"/>
              <a:t>风险型决策问题</a:t>
            </a:r>
            <a:endParaRPr lang="en-US" altLang="zh-CN" dirty="0"/>
          </a:p>
          <a:p>
            <a:r>
              <a:rPr lang="zh-CN" altLang="en-US" dirty="0"/>
              <a:t>层次分析法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决策分析概述</a:t>
            </a:r>
            <a:endParaRPr lang="zh-CN" altLang="en-US" dirty="0"/>
          </a:p>
        </p:txBody>
      </p:sp>
      <p:sp>
        <p:nvSpPr>
          <p:cNvPr id="3" name="内容占位符 2"/>
          <p:cNvSpPr>
            <a:spLocks noGrp="1"/>
          </p:cNvSpPr>
          <p:nvPr>
            <p:ph idx="1"/>
          </p:nvPr>
        </p:nvSpPr>
        <p:spPr/>
        <p:txBody>
          <a:bodyPr>
            <a:normAutofit fontScale="90000" lnSpcReduction="10000"/>
          </a:bodyPr>
          <a:lstStyle/>
          <a:p>
            <a:r>
              <a:rPr lang="zh-CN" altLang="en-US" dirty="0"/>
              <a:t>决策分析（</a:t>
            </a:r>
            <a:r>
              <a:rPr lang="en-US" altLang="zh-CN" dirty="0"/>
              <a:t>decision making</a:t>
            </a:r>
            <a:r>
              <a:rPr lang="zh-CN" altLang="en-US" dirty="0"/>
              <a:t>）是为处理</a:t>
            </a:r>
            <a:r>
              <a:rPr lang="zh-CN" altLang="en-US" dirty="0">
                <a:solidFill>
                  <a:srgbClr val="FF0000"/>
                </a:solidFill>
              </a:rPr>
              <a:t>当前或未来</a:t>
            </a:r>
            <a:r>
              <a:rPr lang="en-US" altLang="zh-CN" dirty="0"/>
              <a:t>可能发生的问题，选择</a:t>
            </a:r>
            <a:r>
              <a:rPr lang="en-US" altLang="zh-CN" dirty="0">
                <a:solidFill>
                  <a:srgbClr val="FF0000"/>
                </a:solidFill>
              </a:rPr>
              <a:t>最佳方案</a:t>
            </a:r>
            <a:r>
              <a:rPr lang="zh-CN" altLang="en-US" dirty="0"/>
              <a:t>的一种过程。</a:t>
            </a:r>
            <a:endParaRPr lang="en-US" altLang="zh-CN" dirty="0"/>
          </a:p>
          <a:p>
            <a:r>
              <a:rPr lang="zh-CN" altLang="en-US" dirty="0"/>
              <a:t>例如：某企业对其新产品的市场需求情况不明，即需求可能被概括为好、中、差三种情况：</a:t>
            </a:r>
            <a:endParaRPr lang="en-US" altLang="zh-CN" dirty="0"/>
          </a:p>
          <a:p>
            <a:pPr lvl="1"/>
            <a:r>
              <a:rPr lang="zh-CN" altLang="en-US" dirty="0"/>
              <a:t>需求好，企业能够获利</a:t>
            </a:r>
            <a:endParaRPr lang="en-US" altLang="zh-CN" dirty="0"/>
          </a:p>
          <a:p>
            <a:pPr lvl="1"/>
            <a:r>
              <a:rPr lang="zh-CN" altLang="en-US" dirty="0"/>
              <a:t>需求中等，企业不赔不赚</a:t>
            </a:r>
            <a:endParaRPr lang="en-US" altLang="zh-CN" dirty="0"/>
          </a:p>
          <a:p>
            <a:pPr lvl="1"/>
            <a:r>
              <a:rPr lang="zh-CN" altLang="en-US" dirty="0"/>
              <a:t>需求差，企业亏损</a:t>
            </a:r>
            <a:endParaRPr lang="en-US" altLang="zh-CN" dirty="0"/>
          </a:p>
          <a:p>
            <a:pPr lvl="1"/>
            <a:r>
              <a:rPr lang="zh-CN" altLang="en-US" dirty="0"/>
              <a:t>基于上述三种情况，究竟要不要投产新产品就依赖于企业决策分析的结果。</a:t>
            </a:r>
            <a:endParaRPr lang="en-US" altLang="zh-CN" dirty="0"/>
          </a:p>
          <a:p>
            <a:r>
              <a:rPr lang="zh-CN" altLang="en-US" dirty="0"/>
              <a:t>决策问题一般由</a:t>
            </a:r>
            <a:r>
              <a:rPr lang="zh-CN" altLang="en-US" dirty="0">
                <a:solidFill>
                  <a:srgbClr val="FF0000"/>
                </a:solidFill>
              </a:rPr>
              <a:t>决策目标</a:t>
            </a:r>
            <a:r>
              <a:rPr lang="zh-CN" altLang="en-US" dirty="0"/>
              <a:t>、</a:t>
            </a:r>
            <a:r>
              <a:rPr lang="zh-CN" altLang="en-US" dirty="0">
                <a:solidFill>
                  <a:srgbClr val="FF0000"/>
                </a:solidFill>
              </a:rPr>
              <a:t>行动方案</a:t>
            </a:r>
            <a:r>
              <a:rPr lang="zh-CN" altLang="en-US" dirty="0"/>
              <a:t>、</a:t>
            </a:r>
            <a:r>
              <a:rPr lang="zh-CN" altLang="en-US" dirty="0">
                <a:solidFill>
                  <a:srgbClr val="FF0000"/>
                </a:solidFill>
              </a:rPr>
              <a:t>自然状态和效益值</a:t>
            </a:r>
            <a:r>
              <a:rPr lang="zh-CN" altLang="en-US" dirty="0"/>
              <a:t>等</a:t>
            </a:r>
            <a:r>
              <a:rPr lang="zh-CN" altLang="en-US" dirty="0"/>
              <a:t>四个要素构成</a:t>
            </a:r>
            <a:endParaRPr lang="en-US" altLang="zh-CN" dirty="0"/>
          </a:p>
          <a:p>
            <a:r>
              <a:rPr lang="zh-CN" altLang="en-US" dirty="0">
                <a:sym typeface="+mn-ea"/>
              </a:rPr>
              <a:t>根据</a:t>
            </a:r>
            <a:r>
              <a:rPr lang="zh-CN" altLang="en-US" dirty="0">
                <a:solidFill>
                  <a:srgbClr val="FF0000"/>
                </a:solidFill>
                <a:sym typeface="+mn-ea"/>
              </a:rPr>
              <a:t>环境的不确定性</a:t>
            </a:r>
            <a:r>
              <a:rPr lang="zh-CN" altLang="en-US" dirty="0">
                <a:sym typeface="+mn-ea"/>
              </a:rPr>
              <a:t>可以</a:t>
            </a:r>
            <a:r>
              <a:rPr lang="zh-CN" altLang="en-US" dirty="0"/>
              <a:t>将决策分析问题分为三类：</a:t>
            </a:r>
            <a:r>
              <a:rPr lang="zh-CN" altLang="en-US" dirty="0">
                <a:solidFill>
                  <a:srgbClr val="FF0000"/>
                </a:solidFill>
              </a:rPr>
              <a:t>确定型</a:t>
            </a:r>
            <a:r>
              <a:rPr lang="zh-CN" altLang="en-US" dirty="0"/>
              <a:t>、</a:t>
            </a:r>
            <a:r>
              <a:rPr lang="zh-CN" altLang="en-US" dirty="0">
                <a:solidFill>
                  <a:srgbClr val="FF0000"/>
                </a:solidFill>
              </a:rPr>
              <a:t>风险型</a:t>
            </a:r>
            <a:r>
              <a:rPr lang="zh-CN" altLang="en-US" dirty="0"/>
              <a:t>、</a:t>
            </a:r>
            <a:r>
              <a:rPr lang="zh-CN" altLang="en-US" dirty="0">
                <a:solidFill>
                  <a:srgbClr val="FF0000"/>
                </a:solidFill>
              </a:rPr>
              <a:t>不确定型</a:t>
            </a:r>
            <a:endParaRPr lang="en-US" altLang="zh-CN"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1779" name="文本占位符 331778"/>
          <p:cNvSpPr>
            <a:spLocks noGrp="1"/>
          </p:cNvSpPr>
          <p:nvPr>
            <p:ph type="body" idx="1"/>
          </p:nvPr>
        </p:nvSpPr>
        <p:spPr>
          <a:xfrm>
            <a:off x="2856230" y="2205355"/>
            <a:ext cx="7647940" cy="2771775"/>
          </a:xfrm>
        </p:spPr>
        <p:txBody>
          <a:bodyPr/>
          <a:p>
            <a:pPr>
              <a:lnSpc>
                <a:spcPct val="120000"/>
              </a:lnSpc>
            </a:pPr>
            <a:r>
              <a:rPr lang="zh-CN" altLang="en-US" sz="2800" dirty="0">
                <a:solidFill>
                  <a:schemeClr val="tx1"/>
                </a:solidFill>
                <a:cs typeface="楷体" panose="02010609060101010101" pitchFamily="49" charset="-122"/>
              </a:rPr>
              <a:t>华中农业大学经济管理学院</a:t>
            </a:r>
            <a:r>
              <a:rPr lang="zh-CN" altLang="en-US" sz="2800" dirty="0">
                <a:solidFill>
                  <a:schemeClr val="tx1"/>
                </a:solidFill>
                <a:cs typeface="楷体" panose="02010609060101010101" pitchFamily="49" charset="-122"/>
              </a:rPr>
              <a:t>本科生张三最近为毕业出路问题而闷闷不乐：</a:t>
            </a:r>
            <a:endParaRPr lang="zh-CN" altLang="en-US" sz="2800" dirty="0">
              <a:solidFill>
                <a:schemeClr val="tx1"/>
              </a:solidFill>
              <a:cs typeface="楷体" panose="02010609060101010101" pitchFamily="49" charset="-122"/>
            </a:endParaRPr>
          </a:p>
          <a:p>
            <a:pPr lvl="1">
              <a:lnSpc>
                <a:spcPct val="120000"/>
              </a:lnSpc>
            </a:pPr>
            <a:r>
              <a:rPr lang="zh-CN" altLang="en-US" sz="2400" dirty="0">
                <a:solidFill>
                  <a:srgbClr val="8D2772"/>
                </a:solidFill>
                <a:cs typeface="楷体" panose="02010609060101010101" pitchFamily="49" charset="-122"/>
              </a:rPr>
              <a:t>（</a:t>
            </a:r>
            <a:r>
              <a:rPr lang="en-US" altLang="zh-CN" sz="2400">
                <a:solidFill>
                  <a:srgbClr val="8D2772"/>
                </a:solidFill>
                <a:cs typeface="楷体" panose="02010609060101010101" pitchFamily="49" charset="-122"/>
              </a:rPr>
              <a:t>1</a:t>
            </a:r>
            <a:r>
              <a:rPr lang="zh-CN" altLang="en-US" sz="2400" dirty="0">
                <a:solidFill>
                  <a:srgbClr val="8D2772"/>
                </a:solidFill>
                <a:cs typeface="楷体" panose="02010609060101010101" pitchFamily="49" charset="-122"/>
              </a:rPr>
              <a:t>）是直接找工作？</a:t>
            </a:r>
            <a:endParaRPr lang="zh-CN" altLang="en-US" sz="2400" dirty="0">
              <a:solidFill>
                <a:srgbClr val="8D2772"/>
              </a:solidFill>
              <a:cs typeface="楷体" panose="02010609060101010101" pitchFamily="49" charset="-122"/>
            </a:endParaRPr>
          </a:p>
          <a:p>
            <a:pPr lvl="1">
              <a:lnSpc>
                <a:spcPct val="120000"/>
              </a:lnSpc>
            </a:pPr>
            <a:r>
              <a:rPr lang="zh-CN" altLang="en-US" sz="2400" dirty="0">
                <a:solidFill>
                  <a:srgbClr val="8D2772"/>
                </a:solidFill>
                <a:cs typeface="楷体" panose="02010609060101010101" pitchFamily="49" charset="-122"/>
              </a:rPr>
              <a:t>（</a:t>
            </a:r>
            <a:r>
              <a:rPr lang="en-US" altLang="zh-CN" sz="2400">
                <a:solidFill>
                  <a:srgbClr val="8D2772"/>
                </a:solidFill>
                <a:cs typeface="楷体" panose="02010609060101010101" pitchFamily="49" charset="-122"/>
              </a:rPr>
              <a:t>2</a:t>
            </a:r>
            <a:r>
              <a:rPr lang="zh-CN" altLang="en-US" sz="2400" dirty="0">
                <a:solidFill>
                  <a:srgbClr val="8D2772"/>
                </a:solidFill>
                <a:cs typeface="楷体" panose="02010609060101010101" pitchFamily="49" charset="-122"/>
              </a:rPr>
              <a:t>）还是准备读博？</a:t>
            </a:r>
            <a:endParaRPr lang="zh-CN" altLang="en-US" sz="2400" dirty="0">
              <a:solidFill>
                <a:srgbClr val="8D2772"/>
              </a:solidFill>
              <a:cs typeface="楷体" panose="02010609060101010101" pitchFamily="49" charset="-122"/>
            </a:endParaRPr>
          </a:p>
          <a:p>
            <a:pPr lvl="1">
              <a:lnSpc>
                <a:spcPct val="120000"/>
              </a:lnSpc>
            </a:pPr>
            <a:r>
              <a:rPr lang="zh-CN" altLang="en-US" sz="2400" dirty="0">
                <a:solidFill>
                  <a:srgbClr val="8D2772"/>
                </a:solidFill>
                <a:cs typeface="楷体" panose="02010609060101010101" pitchFamily="49" charset="-122"/>
              </a:rPr>
              <a:t>（</a:t>
            </a:r>
            <a:r>
              <a:rPr lang="en-US" altLang="zh-CN" sz="2400">
                <a:solidFill>
                  <a:srgbClr val="8D2772"/>
                </a:solidFill>
                <a:cs typeface="楷体" panose="02010609060101010101" pitchFamily="49" charset="-122"/>
              </a:rPr>
              <a:t>3</a:t>
            </a:r>
            <a:r>
              <a:rPr lang="zh-CN" altLang="en-US" sz="2400" dirty="0">
                <a:solidFill>
                  <a:srgbClr val="8D2772"/>
                </a:solidFill>
                <a:cs typeface="楷体" panose="02010609060101010101" pitchFamily="49" charset="-122"/>
              </a:rPr>
              <a:t>）或者准备出国？</a:t>
            </a:r>
            <a:endParaRPr lang="zh-CN" altLang="en-US" sz="2400" dirty="0">
              <a:solidFill>
                <a:srgbClr val="8D2772"/>
              </a:solidFill>
              <a:cs typeface="楷体" panose="02010609060101010101" pitchFamily="49" charset="-122"/>
            </a:endParaRPr>
          </a:p>
        </p:txBody>
      </p:sp>
      <p:graphicFrame>
        <p:nvGraphicFramePr>
          <p:cNvPr id="331780" name="对象 331779"/>
          <p:cNvGraphicFramePr/>
          <p:nvPr/>
        </p:nvGraphicFramePr>
        <p:xfrm>
          <a:off x="1666875" y="2457450"/>
          <a:ext cx="825500" cy="1512888"/>
        </p:xfrm>
        <a:graphic>
          <a:graphicData uri="http://schemas.openxmlformats.org/presentationml/2006/ole">
            <mc:AlternateContent xmlns:mc="http://schemas.openxmlformats.org/markup-compatibility/2006">
              <mc:Choice xmlns:v="urn:schemas-microsoft-com:vml" Requires="v">
                <p:oleObj spid="_x0000_s3076" name="" r:id="rId1" imgW="1431925" imgH="3437255" progId="MS_ClipArt_Gallery.2">
                  <p:embed/>
                </p:oleObj>
              </mc:Choice>
              <mc:Fallback>
                <p:oleObj name="" r:id="rId1" imgW="1431925" imgH="3437255" progId="MS_ClipArt_Gallery.2">
                  <p:embed/>
                  <p:pic>
                    <p:nvPicPr>
                      <p:cNvPr id="0" name="图片 3075"/>
                      <p:cNvPicPr/>
                      <p:nvPr/>
                    </p:nvPicPr>
                    <p:blipFill>
                      <a:blip r:embed="rId2"/>
                      <a:stretch>
                        <a:fillRect/>
                      </a:stretch>
                    </p:blipFill>
                    <p:spPr>
                      <a:xfrm>
                        <a:off x="1666875" y="2457450"/>
                        <a:ext cx="825500" cy="1512888"/>
                      </a:xfrm>
                      <a:prstGeom prst="rect">
                        <a:avLst/>
                      </a:prstGeom>
                      <a:noFill/>
                      <a:ln w="38100">
                        <a:noFill/>
                        <a:miter/>
                      </a:ln>
                    </p:spPr>
                  </p:pic>
                </p:oleObj>
              </mc:Fallback>
            </mc:AlternateContent>
          </a:graphicData>
        </a:graphic>
      </p:graphicFrame>
      <p:sp>
        <p:nvSpPr>
          <p:cNvPr id="331781" name="矩形 331780"/>
          <p:cNvSpPr>
            <a:spLocks noChangeAspect="1"/>
          </p:cNvSpPr>
          <p:nvPr/>
        </p:nvSpPr>
        <p:spPr>
          <a:xfrm>
            <a:off x="1739900" y="0"/>
            <a:ext cx="7021513" cy="954088"/>
          </a:xfrm>
          <a:prstGeom prst="rect">
            <a:avLst/>
          </a:prstGeom>
          <a:noFill/>
          <a:ln w="9525">
            <a:noFill/>
          </a:ln>
        </p:spPr>
        <p:txBody>
          <a:bodyPr/>
          <a:p>
            <a:endParaRPr lang="zh-CN" altLang="en-US"/>
          </a:p>
        </p:txBody>
      </p:sp>
      <p:grpSp>
        <p:nvGrpSpPr>
          <p:cNvPr id="331782" name="组合 331781"/>
          <p:cNvGrpSpPr/>
          <p:nvPr/>
        </p:nvGrpSpPr>
        <p:grpSpPr>
          <a:xfrm>
            <a:off x="3100388" y="5403850"/>
            <a:ext cx="6480175" cy="611188"/>
            <a:chOff x="0" y="76"/>
            <a:chExt cx="4082" cy="385"/>
          </a:xfrm>
        </p:grpSpPr>
        <p:sp>
          <p:nvSpPr>
            <p:cNvPr id="331783" name="文本框 331782"/>
            <p:cNvSpPr txBox="1"/>
            <p:nvPr/>
          </p:nvSpPr>
          <p:spPr>
            <a:xfrm>
              <a:off x="521" y="156"/>
              <a:ext cx="385" cy="122"/>
            </a:xfrm>
            <a:prstGeom prst="rect">
              <a:avLst/>
            </a:prstGeom>
            <a:solidFill>
              <a:srgbClr val="FFFFFF"/>
            </a:solidFill>
            <a:ln w="9525">
              <a:noFill/>
            </a:ln>
          </p:spPr>
          <p:txBody>
            <a:bodyPr lIns="0" tIns="0" rIns="0" bIns="0"/>
            <a:p>
              <a:pPr algn="ctr"/>
              <a:r>
                <a:rPr lang="zh-CN" altLang="en-US" sz="1600" dirty="0">
                  <a:latin typeface="Times New Roman" panose="02020603050405020304" pitchFamily="18" charset="0"/>
                </a:rPr>
                <a:t>简化</a:t>
              </a:r>
              <a:endParaRPr lang="zh-CN" altLang="en-US" sz="1600" dirty="0">
                <a:latin typeface="Tahoma" panose="020B0604030504040204" pitchFamily="34" charset="0"/>
              </a:endParaRPr>
            </a:p>
          </p:txBody>
        </p:sp>
        <p:sp>
          <p:nvSpPr>
            <p:cNvPr id="331784" name="文本框 331783"/>
            <p:cNvSpPr txBox="1"/>
            <p:nvPr/>
          </p:nvSpPr>
          <p:spPr>
            <a:xfrm>
              <a:off x="1655" y="142"/>
              <a:ext cx="674" cy="122"/>
            </a:xfrm>
            <a:prstGeom prst="rect">
              <a:avLst/>
            </a:prstGeom>
            <a:solidFill>
              <a:srgbClr val="FFFFFF"/>
            </a:solidFill>
            <a:ln w="9525">
              <a:noFill/>
            </a:ln>
          </p:spPr>
          <p:txBody>
            <a:bodyPr lIns="0" tIns="0" rIns="0" bIns="0"/>
            <a:p>
              <a:pPr algn="ctr"/>
              <a:r>
                <a:rPr lang="zh-CN" altLang="en-US" sz="1600" dirty="0">
                  <a:latin typeface="Times New Roman" panose="02020603050405020304" pitchFamily="18" charset="0"/>
                </a:rPr>
                <a:t>数学处理</a:t>
              </a:r>
              <a:endParaRPr lang="zh-CN" altLang="en-US" sz="1600" dirty="0">
                <a:latin typeface="Tahoma" panose="020B0604030504040204" pitchFamily="34" charset="0"/>
              </a:endParaRPr>
            </a:p>
          </p:txBody>
        </p:sp>
        <p:sp>
          <p:nvSpPr>
            <p:cNvPr id="331785" name="文本框 331784"/>
            <p:cNvSpPr txBox="1"/>
            <p:nvPr/>
          </p:nvSpPr>
          <p:spPr>
            <a:xfrm>
              <a:off x="2903" y="142"/>
              <a:ext cx="673" cy="122"/>
            </a:xfrm>
            <a:prstGeom prst="rect">
              <a:avLst/>
            </a:prstGeom>
            <a:solidFill>
              <a:srgbClr val="FFFFFF"/>
            </a:solidFill>
            <a:ln w="9525">
              <a:noFill/>
            </a:ln>
          </p:spPr>
          <p:txBody>
            <a:bodyPr lIns="0" tIns="0" rIns="0" bIns="0"/>
            <a:p>
              <a:pPr algn="ctr"/>
              <a:r>
                <a:rPr lang="zh-CN" altLang="en-US" sz="1600" dirty="0">
                  <a:latin typeface="Times New Roman" panose="02020603050405020304" pitchFamily="18" charset="0"/>
                </a:rPr>
                <a:t>选择</a:t>
              </a:r>
              <a:endParaRPr lang="zh-CN" altLang="en-US" sz="1600" dirty="0">
                <a:latin typeface="Times New Roman" panose="02020603050405020304" pitchFamily="18" charset="0"/>
              </a:endParaRPr>
            </a:p>
            <a:p>
              <a:endParaRPr lang="zh-CN" altLang="en-US" sz="1800" dirty="0">
                <a:latin typeface="Tahoma" panose="020B0604030504040204" pitchFamily="34" charset="0"/>
              </a:endParaRPr>
            </a:p>
          </p:txBody>
        </p:sp>
        <p:sp>
          <p:nvSpPr>
            <p:cNvPr id="331786" name="文本框 331785"/>
            <p:cNvSpPr txBox="1"/>
            <p:nvPr/>
          </p:nvSpPr>
          <p:spPr>
            <a:xfrm>
              <a:off x="0" y="89"/>
              <a:ext cx="386" cy="368"/>
            </a:xfrm>
            <a:prstGeom prst="rect">
              <a:avLst/>
            </a:prstGeom>
            <a:solidFill>
              <a:srgbClr val="99FFCC"/>
            </a:solidFill>
            <a:ln w="9525" cap="flat" cmpd="sng">
              <a:solidFill>
                <a:schemeClr val="tx1"/>
              </a:solidFill>
              <a:prstDash val="solid"/>
              <a:miter/>
              <a:headEnd type="none" w="med" len="med"/>
              <a:tailEnd type="none" w="med" len="med"/>
            </a:ln>
          </p:spPr>
          <p:txBody>
            <a:bodyPr>
              <a:spAutoFit/>
            </a:bodyPr>
            <a:p>
              <a:pPr algn="ctr"/>
              <a:r>
                <a:rPr lang="zh-CN" altLang="en-US" sz="1600" dirty="0">
                  <a:latin typeface="Tahoma" panose="020B0604030504040204" pitchFamily="34" charset="0"/>
                </a:rPr>
                <a:t>实际</a:t>
              </a:r>
              <a:endParaRPr lang="zh-CN" altLang="en-US" sz="1600" dirty="0">
                <a:latin typeface="Tahoma" panose="020B0604030504040204" pitchFamily="34" charset="0"/>
              </a:endParaRPr>
            </a:p>
            <a:p>
              <a:pPr algn="ctr"/>
              <a:r>
                <a:rPr lang="zh-CN" altLang="en-US" sz="1600" dirty="0">
                  <a:latin typeface="Tahoma" panose="020B0604030504040204" pitchFamily="34" charset="0"/>
                </a:rPr>
                <a:t>问题</a:t>
              </a:r>
              <a:endParaRPr lang="zh-CN" altLang="en-US" sz="1600" dirty="0">
                <a:latin typeface="Tahoma" panose="020B0604030504040204" pitchFamily="34" charset="0"/>
              </a:endParaRPr>
            </a:p>
          </p:txBody>
        </p:sp>
        <p:sp>
          <p:nvSpPr>
            <p:cNvPr id="331787" name="右箭头 331786"/>
            <p:cNvSpPr/>
            <p:nvPr/>
          </p:nvSpPr>
          <p:spPr>
            <a:xfrm>
              <a:off x="408" y="304"/>
              <a:ext cx="839" cy="76"/>
            </a:xfrm>
            <a:prstGeom prst="rightArrow">
              <a:avLst>
                <a:gd name="adj1" fmla="val 50000"/>
                <a:gd name="adj2" fmla="val 275986"/>
              </a:avLst>
            </a:prstGeom>
            <a:solidFill>
              <a:schemeClr val="hlink"/>
            </a:solidFill>
            <a:ln w="9525" cap="flat" cmpd="sng">
              <a:solidFill>
                <a:schemeClr val="tx1"/>
              </a:solidFill>
              <a:prstDash val="solid"/>
              <a:miter/>
              <a:headEnd type="none" w="med" len="med"/>
              <a:tailEnd type="none" w="med" len="med"/>
            </a:ln>
          </p:spPr>
          <p:txBody>
            <a:bodyPr/>
            <a:p>
              <a:endParaRPr lang="zh-CN" altLang="en-US"/>
            </a:p>
          </p:txBody>
        </p:sp>
        <p:sp>
          <p:nvSpPr>
            <p:cNvPr id="331788" name="文本框 331787"/>
            <p:cNvSpPr txBox="1"/>
            <p:nvPr/>
          </p:nvSpPr>
          <p:spPr>
            <a:xfrm>
              <a:off x="1247" y="76"/>
              <a:ext cx="386" cy="368"/>
            </a:xfrm>
            <a:prstGeom prst="rect">
              <a:avLst/>
            </a:prstGeom>
            <a:solidFill>
              <a:srgbClr val="99FFCC"/>
            </a:solidFill>
            <a:ln w="9525" cap="flat" cmpd="sng">
              <a:solidFill>
                <a:schemeClr val="tx1"/>
              </a:solidFill>
              <a:prstDash val="solid"/>
              <a:miter/>
              <a:headEnd type="none" w="med" len="med"/>
              <a:tailEnd type="none" w="med" len="med"/>
            </a:ln>
          </p:spPr>
          <p:txBody>
            <a:bodyPr>
              <a:spAutoFit/>
            </a:bodyPr>
            <a:p>
              <a:pPr algn="ctr"/>
              <a:r>
                <a:rPr lang="zh-CN" altLang="en-US" sz="1600" dirty="0">
                  <a:latin typeface="Tahoma" panose="020B0604030504040204" pitchFamily="34" charset="0"/>
                </a:rPr>
                <a:t>数学模型</a:t>
              </a:r>
              <a:endParaRPr lang="zh-CN" altLang="en-US" sz="1600" dirty="0">
                <a:latin typeface="Tahoma" panose="020B0604030504040204" pitchFamily="34" charset="0"/>
              </a:endParaRPr>
            </a:p>
          </p:txBody>
        </p:sp>
        <p:sp>
          <p:nvSpPr>
            <p:cNvPr id="331789" name="文本框 331788"/>
            <p:cNvSpPr txBox="1"/>
            <p:nvPr/>
          </p:nvSpPr>
          <p:spPr>
            <a:xfrm>
              <a:off x="2472" y="89"/>
              <a:ext cx="386" cy="368"/>
            </a:xfrm>
            <a:prstGeom prst="rect">
              <a:avLst/>
            </a:prstGeom>
            <a:solidFill>
              <a:srgbClr val="99FFCC"/>
            </a:solidFill>
            <a:ln w="9525" cap="flat" cmpd="sng">
              <a:solidFill>
                <a:schemeClr val="tx1"/>
              </a:solidFill>
              <a:prstDash val="solid"/>
              <a:miter/>
              <a:headEnd type="none" w="med" len="med"/>
              <a:tailEnd type="none" w="med" len="med"/>
            </a:ln>
          </p:spPr>
          <p:txBody>
            <a:bodyPr>
              <a:spAutoFit/>
            </a:bodyPr>
            <a:p>
              <a:pPr algn="ctr"/>
              <a:r>
                <a:rPr lang="zh-CN" altLang="en-US" sz="1600" dirty="0">
                  <a:latin typeface="Tahoma" panose="020B0604030504040204" pitchFamily="34" charset="0"/>
                </a:rPr>
                <a:t>运算结果</a:t>
              </a:r>
              <a:endParaRPr lang="zh-CN" altLang="en-US" sz="1600" dirty="0">
                <a:latin typeface="Tahoma" panose="020B0604030504040204" pitchFamily="34" charset="0"/>
              </a:endParaRPr>
            </a:p>
          </p:txBody>
        </p:sp>
        <p:sp>
          <p:nvSpPr>
            <p:cNvPr id="331790" name="文本框 331789"/>
            <p:cNvSpPr txBox="1"/>
            <p:nvPr/>
          </p:nvSpPr>
          <p:spPr>
            <a:xfrm>
              <a:off x="3696" y="93"/>
              <a:ext cx="386" cy="368"/>
            </a:xfrm>
            <a:prstGeom prst="rect">
              <a:avLst/>
            </a:prstGeom>
            <a:solidFill>
              <a:srgbClr val="99FFCC"/>
            </a:solidFill>
            <a:ln w="9525" cap="flat" cmpd="sng">
              <a:solidFill>
                <a:schemeClr val="tx1"/>
              </a:solidFill>
              <a:prstDash val="solid"/>
              <a:miter/>
              <a:headEnd type="none" w="med" len="med"/>
              <a:tailEnd type="none" w="med" len="med"/>
            </a:ln>
          </p:spPr>
          <p:txBody>
            <a:bodyPr>
              <a:spAutoFit/>
            </a:bodyPr>
            <a:p>
              <a:pPr algn="ctr"/>
              <a:r>
                <a:rPr lang="zh-CN" altLang="en-US" sz="1600" dirty="0">
                  <a:latin typeface="Tahoma" panose="020B0604030504040204" pitchFamily="34" charset="0"/>
                </a:rPr>
                <a:t>具体结论</a:t>
              </a:r>
              <a:endParaRPr lang="zh-CN" altLang="en-US" sz="1600" dirty="0">
                <a:latin typeface="Tahoma" panose="020B0604030504040204" pitchFamily="34" charset="0"/>
              </a:endParaRPr>
            </a:p>
          </p:txBody>
        </p:sp>
        <p:sp>
          <p:nvSpPr>
            <p:cNvPr id="331791" name="右箭头 331790"/>
            <p:cNvSpPr/>
            <p:nvPr/>
          </p:nvSpPr>
          <p:spPr>
            <a:xfrm>
              <a:off x="1633" y="291"/>
              <a:ext cx="839" cy="76"/>
            </a:xfrm>
            <a:prstGeom prst="rightArrow">
              <a:avLst>
                <a:gd name="adj1" fmla="val 50000"/>
                <a:gd name="adj2" fmla="val 275986"/>
              </a:avLst>
            </a:prstGeom>
            <a:solidFill>
              <a:schemeClr val="hlink"/>
            </a:solidFill>
            <a:ln w="9525" cap="flat" cmpd="sng">
              <a:solidFill>
                <a:schemeClr val="tx1"/>
              </a:solidFill>
              <a:prstDash val="solid"/>
              <a:miter/>
              <a:headEnd type="none" w="med" len="med"/>
              <a:tailEnd type="none" w="med" len="med"/>
            </a:ln>
          </p:spPr>
          <p:txBody>
            <a:bodyPr/>
            <a:p>
              <a:endParaRPr lang="zh-CN" altLang="en-US"/>
            </a:p>
          </p:txBody>
        </p:sp>
        <p:sp>
          <p:nvSpPr>
            <p:cNvPr id="331792" name="右箭头 331791"/>
            <p:cNvSpPr/>
            <p:nvPr/>
          </p:nvSpPr>
          <p:spPr>
            <a:xfrm>
              <a:off x="2857" y="291"/>
              <a:ext cx="839" cy="76"/>
            </a:xfrm>
            <a:prstGeom prst="rightArrow">
              <a:avLst>
                <a:gd name="adj1" fmla="val 50000"/>
                <a:gd name="adj2" fmla="val 275986"/>
              </a:avLst>
            </a:prstGeom>
            <a:solidFill>
              <a:schemeClr val="hlink"/>
            </a:solidFill>
            <a:ln w="9525" cap="flat" cmpd="sng">
              <a:solidFill>
                <a:schemeClr val="tx1"/>
              </a:solidFill>
              <a:prstDash val="solid"/>
              <a:miter/>
              <a:headEnd type="none" w="med" len="med"/>
              <a:tailEnd type="none" w="med" len="med"/>
            </a:ln>
          </p:spPr>
          <p:txBody>
            <a:bodyPr/>
            <a:p>
              <a:endParaRPr lang="zh-CN" altLang="en-US"/>
            </a:p>
          </p:txBody>
        </p:sp>
      </p:grpSp>
      <p:sp>
        <p:nvSpPr>
          <p:cNvPr id="315394" name="标题 315393"/>
          <p:cNvSpPr>
            <a:spLocks noGrp="1"/>
          </p:cNvSpPr>
          <p:nvPr>
            <p:ph type="title"/>
          </p:nvPr>
        </p:nvSpPr>
        <p:spPr/>
        <p:txBody>
          <a:bodyPr anchor="b" anchorCtr="0"/>
          <a:p>
            <a:r>
              <a:rPr lang="zh-CN" altLang="en-US" dirty="0"/>
              <a:t>决策的例子</a:t>
            </a:r>
            <a:r>
              <a:rPr lang="en-US" altLang="zh-CN" dirty="0"/>
              <a:t>1</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1782"/>
                                        </p:tgtEl>
                                        <p:attrNameLst>
                                          <p:attrName>style.visibility</p:attrName>
                                        </p:attrNameLst>
                                      </p:cBhvr>
                                      <p:to>
                                        <p:strVal val="visible"/>
                                      </p:to>
                                    </p:set>
                                    <p:anim calcmode="lin" valueType="num">
                                      <p:cBhvr additive="base">
                                        <p:cTn id="7" dur="500" fill="hold"/>
                                        <p:tgtEl>
                                          <p:spTgt spid="331782"/>
                                        </p:tgtEl>
                                        <p:attrNameLst>
                                          <p:attrName>ppt_x</p:attrName>
                                        </p:attrNameLst>
                                      </p:cBhvr>
                                      <p:tavLst>
                                        <p:tav tm="0">
                                          <p:val>
                                            <p:strVal val="#ppt_x"/>
                                          </p:val>
                                        </p:tav>
                                        <p:tav tm="100000">
                                          <p:val>
                                            <p:strVal val="#ppt_x"/>
                                          </p:val>
                                        </p:tav>
                                      </p:tavLst>
                                    </p:anim>
                                    <p:anim calcmode="lin" valueType="num">
                                      <p:cBhvr additive="base">
                                        <p:cTn id="8" dur="500" fill="hold"/>
                                        <p:tgtEl>
                                          <p:spTgt spid="3317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标题 332801"/>
          <p:cNvSpPr>
            <a:spLocks noGrp="1"/>
          </p:cNvSpPr>
          <p:nvPr>
            <p:ph type="title"/>
          </p:nvPr>
        </p:nvSpPr>
        <p:spPr/>
        <p:txBody>
          <a:bodyPr anchor="b" anchorCtr="0"/>
          <a:p>
            <a:pPr algn="ctr"/>
            <a:r>
              <a:rPr lang="zh-CN" altLang="en-US" dirty="0"/>
              <a:t>决策问题的特点</a:t>
            </a:r>
            <a:r>
              <a:rPr lang="en-US" altLang="zh-CN"/>
              <a:t>:</a:t>
            </a:r>
            <a:endParaRPr lang="en-US" altLang="zh-CN"/>
          </a:p>
        </p:txBody>
      </p:sp>
      <p:sp>
        <p:nvSpPr>
          <p:cNvPr id="332803" name="文本占位符 332802"/>
          <p:cNvSpPr>
            <a:spLocks noGrp="1"/>
          </p:cNvSpPr>
          <p:nvPr>
            <p:ph type="body" idx="1"/>
          </p:nvPr>
        </p:nvSpPr>
        <p:spPr>
          <a:xfrm>
            <a:off x="2711450" y="2024063"/>
            <a:ext cx="7772400" cy="1549400"/>
          </a:xfrm>
        </p:spPr>
        <p:txBody>
          <a:bodyPr/>
          <a:p>
            <a:r>
              <a:rPr lang="zh-CN" altLang="en-US" sz="2800" dirty="0">
                <a:solidFill>
                  <a:srgbClr val="996600"/>
                </a:solidFill>
              </a:rPr>
              <a:t>决策人面临选择，行动不唯一；</a:t>
            </a:r>
            <a:endParaRPr lang="zh-CN" altLang="en-US" sz="2800">
              <a:solidFill>
                <a:srgbClr val="996600"/>
              </a:solidFill>
            </a:endParaRPr>
          </a:p>
          <a:p>
            <a:r>
              <a:rPr lang="zh-CN" altLang="en-US" sz="2800" dirty="0">
                <a:solidFill>
                  <a:schemeClr val="folHlink"/>
                </a:solidFill>
              </a:rPr>
              <a:t>自然状态的不确定性；</a:t>
            </a:r>
            <a:endParaRPr lang="zh-CN" altLang="en-US" sz="2800" dirty="0">
              <a:solidFill>
                <a:schemeClr val="folHlink"/>
              </a:solidFill>
            </a:endParaRPr>
          </a:p>
          <a:p>
            <a:r>
              <a:rPr lang="zh-CN" altLang="en-US" sz="2800" dirty="0">
                <a:solidFill>
                  <a:schemeClr val="hlink"/>
                </a:solidFill>
              </a:rPr>
              <a:t>后果（效益</a:t>
            </a:r>
            <a:r>
              <a:rPr lang="zh-CN" altLang="en-US" sz="2800" dirty="0">
                <a:solidFill>
                  <a:schemeClr val="hlink"/>
                </a:solidFill>
              </a:rPr>
              <a:t>值）不确定。</a:t>
            </a:r>
            <a:endParaRPr lang="zh-CN" altLang="en-US" sz="2800" dirty="0">
              <a:solidFill>
                <a:schemeClr val="hlink"/>
              </a:solidFill>
            </a:endParaRPr>
          </a:p>
        </p:txBody>
      </p:sp>
      <p:pic>
        <p:nvPicPr>
          <p:cNvPr id="332804" name="图片 332803" descr="j0149481"/>
          <p:cNvPicPr>
            <a:picLocks noChangeAspect="1"/>
          </p:cNvPicPr>
          <p:nvPr/>
        </p:nvPicPr>
        <p:blipFill>
          <a:blip r:embed="rId1"/>
          <a:stretch>
            <a:fillRect/>
          </a:stretch>
        </p:blipFill>
        <p:spPr>
          <a:xfrm>
            <a:off x="5483225" y="3779838"/>
            <a:ext cx="1655763" cy="935037"/>
          </a:xfrm>
          <a:prstGeom prst="rect">
            <a:avLst/>
          </a:prstGeom>
          <a:noFill/>
          <a:ln w="9525">
            <a:noFill/>
          </a:ln>
        </p:spPr>
      </p:pic>
      <p:grpSp>
        <p:nvGrpSpPr>
          <p:cNvPr id="332805" name="组合 332804"/>
          <p:cNvGrpSpPr/>
          <p:nvPr/>
        </p:nvGrpSpPr>
        <p:grpSpPr>
          <a:xfrm>
            <a:off x="3178175" y="4157663"/>
            <a:ext cx="6516688" cy="2474912"/>
            <a:chOff x="1360" y="1366"/>
            <a:chExt cx="4105" cy="2041"/>
          </a:xfrm>
        </p:grpSpPr>
        <p:pic>
          <p:nvPicPr>
            <p:cNvPr id="332806" name="内容占位符 332805" descr="j0301252"/>
            <p:cNvPicPr>
              <a:picLocks noChangeAspect="1"/>
            </p:cNvPicPr>
            <p:nvPr>
              <p:ph sz="quarter" idx="2"/>
            </p:nvPr>
          </p:nvPicPr>
          <p:blipFill>
            <a:blip r:embed="rId2"/>
            <a:stretch>
              <a:fillRect/>
            </a:stretch>
          </p:blipFill>
          <p:spPr>
            <a:xfrm>
              <a:off x="2993" y="2827"/>
              <a:ext cx="890" cy="580"/>
            </a:xfrm>
          </p:spPr>
        </p:pic>
        <p:pic>
          <p:nvPicPr>
            <p:cNvPr id="332807" name="内容占位符 332806" descr="j0195384"/>
            <p:cNvPicPr>
              <a:picLocks noChangeAspect="1"/>
            </p:cNvPicPr>
            <p:nvPr>
              <p:ph sz="quarter" idx="4"/>
            </p:nvPr>
          </p:nvPicPr>
          <p:blipFill>
            <a:blip r:embed="rId3"/>
            <a:stretch>
              <a:fillRect/>
            </a:stretch>
          </p:blipFill>
          <p:spPr>
            <a:xfrm>
              <a:off x="2971" y="2001"/>
              <a:ext cx="794" cy="545"/>
            </a:xfrm>
          </p:spPr>
        </p:pic>
        <p:sp>
          <p:nvSpPr>
            <p:cNvPr id="332808" name="文本框 332807"/>
            <p:cNvSpPr txBox="1"/>
            <p:nvPr/>
          </p:nvSpPr>
          <p:spPr>
            <a:xfrm>
              <a:off x="4020" y="2961"/>
              <a:ext cx="1445" cy="430"/>
            </a:xfrm>
            <a:prstGeom prst="rect">
              <a:avLst/>
            </a:prstGeom>
            <a:noFill/>
            <a:ln w="9525">
              <a:noFill/>
            </a:ln>
          </p:spPr>
          <p:txBody>
            <a:bodyPr>
              <a:spAutoFit/>
            </a:bodyPr>
            <a:p>
              <a:pPr algn="ctr">
                <a:spcBef>
                  <a:spcPct val="50000"/>
                </a:spcBef>
              </a:pPr>
              <a:r>
                <a:rPr lang="en-US" altLang="zh-CN" sz="2800">
                  <a:solidFill>
                    <a:schemeClr val="tx2"/>
                  </a:solidFill>
                  <a:latin typeface="Tahoma" panose="020B0604030504040204" pitchFamily="34" charset="0"/>
                </a:rPr>
                <a:t>A3:</a:t>
              </a:r>
              <a:r>
                <a:rPr lang="zh-CN" altLang="en-US" sz="2800" dirty="0">
                  <a:solidFill>
                    <a:schemeClr val="tx2"/>
                  </a:solidFill>
                  <a:latin typeface="Tahoma" panose="020B0604030504040204" pitchFamily="34" charset="0"/>
                </a:rPr>
                <a:t>出国留学</a:t>
              </a:r>
              <a:endParaRPr lang="zh-CN" altLang="en-US" sz="2800" dirty="0">
                <a:solidFill>
                  <a:schemeClr val="tx2"/>
                </a:solidFill>
                <a:latin typeface="Tahoma" panose="020B0604030504040204" pitchFamily="34" charset="0"/>
              </a:endParaRPr>
            </a:p>
          </p:txBody>
        </p:sp>
        <p:sp>
          <p:nvSpPr>
            <p:cNvPr id="332809" name="任意多边形 332808"/>
            <p:cNvSpPr/>
            <p:nvPr/>
          </p:nvSpPr>
          <p:spPr>
            <a:xfrm>
              <a:off x="2016" y="1366"/>
              <a:ext cx="746" cy="520"/>
            </a:xfrm>
            <a:custGeom>
              <a:avLst/>
              <a:gdLst>
                <a:gd name="txL" fmla="*/ 12427 w 21600"/>
                <a:gd name="txT" fmla="*/ 2912 h 21600"/>
                <a:gd name="txR" fmla="*/ 18227 w 21600"/>
                <a:gd name="txB" fmla="*/ 9246 h 21600"/>
              </a:gdLst>
              <a:ahLst/>
              <a:cxnLst>
                <a:cxn ang="270">
                  <a:pos x="15126" y="0"/>
                </a:cxn>
                <a:cxn ang="90">
                  <a:pos x="15126" y="12158"/>
                </a:cxn>
                <a:cxn ang="90">
                  <a:pos x="3237" y="21600"/>
                </a:cxn>
                <a:cxn ang="0">
                  <a:pos x="21600" y="6079"/>
                </a:cxn>
              </a:cxnLst>
              <a:rect l="txL" t="txT" r="txR" b="txB"/>
              <a:pathLst>
                <a:path w="21600" h="21600">
                  <a:moveTo>
                    <a:pt x="21600" y="6079"/>
                  </a:moveTo>
                  <a:lnTo>
                    <a:pt x="15126" y="0"/>
                  </a:lnTo>
                  <a:lnTo>
                    <a:pt x="15126" y="2912"/>
                  </a:lnTo>
                  <a:lnTo>
                    <a:pt x="12427" y="2912"/>
                  </a:lnTo>
                  <a:arcTo wR="12427" hR="9246" stAng="-5400000" swAng="-5400000"/>
                  <a:lnTo>
                    <a:pt x="0" y="21600"/>
                  </a:lnTo>
                  <a:lnTo>
                    <a:pt x="6474" y="21600"/>
                  </a:lnTo>
                  <a:lnTo>
                    <a:pt x="6474" y="12158"/>
                  </a:lnTo>
                  <a:arcTo wR="5953" hR="2912" stAng="10800000" swAng="5400000"/>
                  <a:lnTo>
                    <a:pt x="15126" y="9246"/>
                  </a:lnTo>
                  <a:lnTo>
                    <a:pt x="15126" y="12158"/>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32810" name="右箭头 332809"/>
            <p:cNvSpPr/>
            <p:nvPr/>
          </p:nvSpPr>
          <p:spPr>
            <a:xfrm>
              <a:off x="2016" y="2094"/>
              <a:ext cx="746" cy="278"/>
            </a:xfrm>
            <a:prstGeom prst="rightArrow">
              <a:avLst>
                <a:gd name="adj1" fmla="val 50000"/>
                <a:gd name="adj2" fmla="val 67086"/>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32811" name="任意多边形 332810"/>
            <p:cNvSpPr/>
            <p:nvPr/>
          </p:nvSpPr>
          <p:spPr>
            <a:xfrm rot="5400000">
              <a:off x="2158" y="2485"/>
              <a:ext cx="555" cy="745"/>
            </a:xfrm>
            <a:custGeom>
              <a:avLst/>
              <a:gdLst>
                <a:gd name="txL" fmla="*/ 12427 w 21600"/>
                <a:gd name="txT" fmla="*/ 2691 h 21600"/>
                <a:gd name="txR" fmla="*/ 17537 w 21600"/>
                <a:gd name="txB" fmla="*/ 9467 h 21600"/>
              </a:gdLst>
              <a:ahLst/>
              <a:cxnLst>
                <a:cxn ang="270">
                  <a:pos x="14310" y="0"/>
                </a:cxn>
                <a:cxn ang="90">
                  <a:pos x="14310" y="12158"/>
                </a:cxn>
                <a:cxn ang="90">
                  <a:pos x="3462" y="21600"/>
                </a:cxn>
                <a:cxn ang="0">
                  <a:pos x="21600" y="6079"/>
                </a:cxn>
              </a:cxnLst>
              <a:rect l="txL" t="txT" r="txR" b="txB"/>
              <a:pathLst>
                <a:path w="21600" h="21600">
                  <a:moveTo>
                    <a:pt x="21600" y="6079"/>
                  </a:moveTo>
                  <a:lnTo>
                    <a:pt x="14310" y="0"/>
                  </a:lnTo>
                  <a:lnTo>
                    <a:pt x="14310" y="2691"/>
                  </a:lnTo>
                  <a:lnTo>
                    <a:pt x="12427" y="2691"/>
                  </a:lnTo>
                  <a:arcTo wR="12427" hR="9467" stAng="-5400000" swAng="-5400000"/>
                  <a:lnTo>
                    <a:pt x="0" y="21600"/>
                  </a:lnTo>
                  <a:lnTo>
                    <a:pt x="6925" y="21600"/>
                  </a:lnTo>
                  <a:lnTo>
                    <a:pt x="6925" y="12158"/>
                  </a:lnTo>
                  <a:arcTo wR="5502" hR="2691" stAng="10800000" swAng="5400000"/>
                  <a:lnTo>
                    <a:pt x="14310" y="9467"/>
                  </a:lnTo>
                  <a:lnTo>
                    <a:pt x="14310" y="12158"/>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332812" name="文本框 332811"/>
            <p:cNvSpPr txBox="1"/>
            <p:nvPr/>
          </p:nvSpPr>
          <p:spPr>
            <a:xfrm>
              <a:off x="1360" y="1911"/>
              <a:ext cx="560" cy="837"/>
            </a:xfrm>
            <a:prstGeom prst="rect">
              <a:avLst/>
            </a:prstGeom>
            <a:noFill/>
            <a:ln w="9525">
              <a:noFill/>
            </a:ln>
          </p:spPr>
          <p:txBody>
            <a:bodyPr>
              <a:spAutoFit/>
            </a:bodyPr>
            <a:p>
              <a:pPr algn="ctr">
                <a:spcBef>
                  <a:spcPct val="50000"/>
                </a:spcBef>
              </a:pPr>
              <a:r>
                <a:rPr lang="en-US" altLang="zh-CN" sz="6000">
                  <a:solidFill>
                    <a:schemeClr val="hlink"/>
                  </a:solidFill>
                  <a:latin typeface="Tahoma" panose="020B0604030504040204" pitchFamily="34" charset="0"/>
                </a:rPr>
                <a:t>?</a:t>
              </a:r>
              <a:endParaRPr lang="en-US" altLang="zh-CN" sz="6000">
                <a:solidFill>
                  <a:schemeClr val="hlink"/>
                </a:solidFill>
                <a:latin typeface="Tahoma" panose="020B0604030504040204" pitchFamily="34" charset="0"/>
              </a:endParaRPr>
            </a:p>
          </p:txBody>
        </p:sp>
        <p:sp>
          <p:nvSpPr>
            <p:cNvPr id="332813" name="文本框 332812"/>
            <p:cNvSpPr txBox="1"/>
            <p:nvPr/>
          </p:nvSpPr>
          <p:spPr>
            <a:xfrm>
              <a:off x="3974" y="2163"/>
              <a:ext cx="1024" cy="430"/>
            </a:xfrm>
            <a:prstGeom prst="rect">
              <a:avLst/>
            </a:prstGeom>
            <a:noFill/>
            <a:ln w="9525">
              <a:noFill/>
            </a:ln>
          </p:spPr>
          <p:txBody>
            <a:bodyPr>
              <a:spAutoFit/>
            </a:bodyPr>
            <a:p>
              <a:pPr algn="ctr">
                <a:spcBef>
                  <a:spcPct val="50000"/>
                </a:spcBef>
              </a:pPr>
              <a:r>
                <a:rPr lang="en-US" altLang="zh-CN" sz="2800">
                  <a:solidFill>
                    <a:schemeClr val="tx2"/>
                  </a:solidFill>
                  <a:latin typeface="Tahoma" panose="020B0604030504040204" pitchFamily="34" charset="0"/>
                </a:rPr>
                <a:t>A2:</a:t>
              </a:r>
              <a:r>
                <a:rPr lang="zh-CN" altLang="en-US" sz="2800" dirty="0">
                  <a:solidFill>
                    <a:schemeClr val="tx2"/>
                  </a:solidFill>
                  <a:latin typeface="Tahoma" panose="020B0604030504040204" pitchFamily="34" charset="0"/>
                </a:rPr>
                <a:t>读博</a:t>
              </a:r>
              <a:endParaRPr lang="zh-CN" altLang="en-US" sz="2800" dirty="0">
                <a:solidFill>
                  <a:schemeClr val="tx2"/>
                </a:solidFill>
                <a:latin typeface="Tahoma" panose="020B0604030504040204" pitchFamily="34" charset="0"/>
              </a:endParaRPr>
            </a:p>
          </p:txBody>
        </p:sp>
        <p:sp>
          <p:nvSpPr>
            <p:cNvPr id="332814" name="文本框 332813"/>
            <p:cNvSpPr txBox="1"/>
            <p:nvPr/>
          </p:nvSpPr>
          <p:spPr>
            <a:xfrm>
              <a:off x="3974" y="1435"/>
              <a:ext cx="1211" cy="430"/>
            </a:xfrm>
            <a:prstGeom prst="rect">
              <a:avLst/>
            </a:prstGeom>
            <a:noFill/>
            <a:ln w="9525">
              <a:noFill/>
            </a:ln>
          </p:spPr>
          <p:txBody>
            <a:bodyPr>
              <a:spAutoFit/>
            </a:bodyPr>
            <a:p>
              <a:pPr algn="ctr">
                <a:spcBef>
                  <a:spcPct val="50000"/>
                </a:spcBef>
              </a:pPr>
              <a:r>
                <a:rPr lang="en-US" altLang="zh-CN" sz="2800">
                  <a:solidFill>
                    <a:schemeClr val="tx2"/>
                  </a:solidFill>
                  <a:latin typeface="Tahoma" panose="020B0604030504040204" pitchFamily="34" charset="0"/>
                </a:rPr>
                <a:t>A1:</a:t>
              </a:r>
              <a:r>
                <a:rPr lang="zh-CN" altLang="en-US" sz="2800" dirty="0">
                  <a:solidFill>
                    <a:schemeClr val="tx2"/>
                  </a:solidFill>
                  <a:latin typeface="Tahoma" panose="020B0604030504040204" pitchFamily="34" charset="0"/>
                </a:rPr>
                <a:t>找工作</a:t>
              </a:r>
              <a:endParaRPr lang="zh-CN" altLang="en-US" sz="2800" dirty="0">
                <a:solidFill>
                  <a:schemeClr val="tx2"/>
                </a:solidFill>
                <a:latin typeface="Tahoma" panose="020B0604030504040204" pitchFamily="34" charset="0"/>
              </a:endParaRPr>
            </a:p>
          </p:txBody>
        </p:sp>
      </p:grpSp>
      <p:graphicFrame>
        <p:nvGraphicFramePr>
          <p:cNvPr id="332815" name="对象 332814"/>
          <p:cNvGraphicFramePr/>
          <p:nvPr/>
        </p:nvGraphicFramePr>
        <p:xfrm>
          <a:off x="2387600" y="4473575"/>
          <a:ext cx="825500" cy="1512888"/>
        </p:xfrm>
        <a:graphic>
          <a:graphicData uri="http://schemas.openxmlformats.org/presentationml/2006/ole">
            <mc:AlternateContent xmlns:mc="http://schemas.openxmlformats.org/markup-compatibility/2006">
              <mc:Choice xmlns:v="urn:schemas-microsoft-com:vml" Requires="v">
                <p:oleObj spid="_x0000_s3077" name="" r:id="rId4" imgW="1431925" imgH="3437255" progId="MS_ClipArt_Gallery.2">
                  <p:embed/>
                </p:oleObj>
              </mc:Choice>
              <mc:Fallback>
                <p:oleObj name="" r:id="rId4" imgW="1431925" imgH="3437255" progId="MS_ClipArt_Gallery.2">
                  <p:embed/>
                  <p:pic>
                    <p:nvPicPr>
                      <p:cNvPr id="0" name="图片 3076"/>
                      <p:cNvPicPr/>
                      <p:nvPr/>
                    </p:nvPicPr>
                    <p:blipFill>
                      <a:blip r:embed="rId5"/>
                      <a:stretch>
                        <a:fillRect/>
                      </a:stretch>
                    </p:blipFill>
                    <p:spPr>
                      <a:xfrm>
                        <a:off x="2387600" y="4473575"/>
                        <a:ext cx="825500" cy="1512888"/>
                      </a:xfrm>
                      <a:prstGeom prst="rect">
                        <a:avLst/>
                      </a:prstGeom>
                      <a:noFill/>
                      <a:ln w="38100">
                        <a:noFill/>
                        <a:miter/>
                      </a:ln>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50" name="标题 334849"/>
          <p:cNvSpPr>
            <a:spLocks noGrp="1"/>
          </p:cNvSpPr>
          <p:nvPr>
            <p:ph type="title"/>
          </p:nvPr>
        </p:nvSpPr>
        <p:spPr/>
        <p:txBody>
          <a:bodyPr anchor="b" anchorCtr="0"/>
          <a:p>
            <a:pPr algn="ctr"/>
            <a:r>
              <a:rPr lang="zh-CN" altLang="en-US" dirty="0">
                <a:latin typeface="楷体" panose="02010609060101010101" pitchFamily="49" charset="-122"/>
                <a:ea typeface="楷体" panose="02010609060101010101" pitchFamily="49" charset="-122"/>
              </a:rPr>
              <a:t>张三的决策树模型</a:t>
            </a:r>
            <a:endParaRPr lang="zh-CN" altLang="en-US" dirty="0">
              <a:latin typeface="楷体" panose="02010609060101010101" pitchFamily="49" charset="-122"/>
              <a:ea typeface="楷体" panose="02010609060101010101" pitchFamily="49" charset="-122"/>
            </a:endParaRPr>
          </a:p>
        </p:txBody>
      </p:sp>
      <p:sp>
        <p:nvSpPr>
          <p:cNvPr id="334851" name="矩形 334850"/>
          <p:cNvSpPr/>
          <p:nvPr/>
        </p:nvSpPr>
        <p:spPr>
          <a:xfrm>
            <a:off x="2743200" y="4329113"/>
            <a:ext cx="976313" cy="477837"/>
          </a:xfrm>
          <a:prstGeom prst="rect">
            <a:avLst/>
          </a:prstGeom>
          <a:solidFill>
            <a:srgbClr val="FFFFFF"/>
          </a:solidFill>
          <a:ln w="9525" cap="flat" cmpd="sng">
            <a:solidFill>
              <a:srgbClr val="000000"/>
            </a:solidFill>
            <a:prstDash val="solid"/>
            <a:miter/>
            <a:headEnd type="none" w="med" len="med"/>
            <a:tailEnd type="none" w="med" len="med"/>
          </a:ln>
        </p:spPr>
        <p:txBody>
          <a:bodyPr/>
          <a:p>
            <a:pPr algn="ctr"/>
            <a:r>
              <a:rPr lang="zh-CN" altLang="en-US" dirty="0">
                <a:solidFill>
                  <a:schemeClr val="tx2"/>
                </a:solidFill>
                <a:latin typeface="Tahoma" panose="020B0604030504040204" pitchFamily="34" charset="0"/>
              </a:rPr>
              <a:t>张三</a:t>
            </a:r>
            <a:endParaRPr lang="zh-CN" altLang="en-US" dirty="0">
              <a:solidFill>
                <a:schemeClr val="tx2"/>
              </a:solidFill>
              <a:latin typeface="Tahoma" panose="020B0604030504040204" pitchFamily="34" charset="0"/>
            </a:endParaRPr>
          </a:p>
        </p:txBody>
      </p:sp>
      <p:sp>
        <p:nvSpPr>
          <p:cNvPr id="334852" name="直接连接符 334851"/>
          <p:cNvSpPr/>
          <p:nvPr/>
        </p:nvSpPr>
        <p:spPr>
          <a:xfrm>
            <a:off x="4187825" y="3536950"/>
            <a:ext cx="6350" cy="2012950"/>
          </a:xfrm>
          <a:prstGeom prst="line">
            <a:avLst/>
          </a:prstGeom>
          <a:ln w="9525" cap="flat" cmpd="sng">
            <a:solidFill>
              <a:srgbClr val="000000"/>
            </a:solidFill>
            <a:prstDash val="solid"/>
            <a:headEnd type="none" w="med" len="med"/>
            <a:tailEnd type="none" w="med" len="med"/>
          </a:ln>
        </p:spPr>
      </p:sp>
      <p:sp>
        <p:nvSpPr>
          <p:cNvPr id="334853" name="直接连接符 334852"/>
          <p:cNvSpPr/>
          <p:nvPr/>
        </p:nvSpPr>
        <p:spPr>
          <a:xfrm>
            <a:off x="4192588" y="3538538"/>
            <a:ext cx="1511300" cy="1587"/>
          </a:xfrm>
          <a:prstGeom prst="line">
            <a:avLst/>
          </a:prstGeom>
          <a:ln w="9525" cap="flat" cmpd="sng">
            <a:solidFill>
              <a:srgbClr val="000000"/>
            </a:solidFill>
            <a:prstDash val="solid"/>
            <a:headEnd type="none" w="med" len="med"/>
            <a:tailEnd type="none" w="med" len="med"/>
          </a:ln>
        </p:spPr>
      </p:sp>
      <p:sp>
        <p:nvSpPr>
          <p:cNvPr id="334854" name="椭圆 334853"/>
          <p:cNvSpPr/>
          <p:nvPr/>
        </p:nvSpPr>
        <p:spPr>
          <a:xfrm>
            <a:off x="5700713" y="3429000"/>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4855" name="直接连接符 334854"/>
          <p:cNvSpPr/>
          <p:nvPr/>
        </p:nvSpPr>
        <p:spPr>
          <a:xfrm>
            <a:off x="5808663" y="3321050"/>
            <a:ext cx="3175" cy="107950"/>
          </a:xfrm>
          <a:prstGeom prst="line">
            <a:avLst/>
          </a:prstGeom>
          <a:ln w="9525" cap="flat" cmpd="sng">
            <a:solidFill>
              <a:srgbClr val="000000"/>
            </a:solidFill>
            <a:prstDash val="solid"/>
            <a:headEnd type="none" w="med" len="med"/>
            <a:tailEnd type="none" w="med" len="med"/>
          </a:ln>
        </p:spPr>
      </p:sp>
      <p:sp>
        <p:nvSpPr>
          <p:cNvPr id="334856" name="直接连接符 334855"/>
          <p:cNvSpPr/>
          <p:nvPr/>
        </p:nvSpPr>
        <p:spPr>
          <a:xfrm>
            <a:off x="5808663" y="3321050"/>
            <a:ext cx="1727200" cy="1588"/>
          </a:xfrm>
          <a:prstGeom prst="line">
            <a:avLst/>
          </a:prstGeom>
          <a:ln w="9525" cap="flat" cmpd="sng">
            <a:solidFill>
              <a:srgbClr val="000000"/>
            </a:solidFill>
            <a:prstDash val="solid"/>
            <a:headEnd type="none" w="med" len="med"/>
            <a:tailEnd type="none" w="med" len="med"/>
          </a:ln>
        </p:spPr>
      </p:sp>
      <p:sp>
        <p:nvSpPr>
          <p:cNvPr id="334857" name="直接连接符 334856"/>
          <p:cNvSpPr/>
          <p:nvPr/>
        </p:nvSpPr>
        <p:spPr>
          <a:xfrm>
            <a:off x="5808663" y="3681413"/>
            <a:ext cx="1587" cy="142875"/>
          </a:xfrm>
          <a:prstGeom prst="line">
            <a:avLst/>
          </a:prstGeom>
          <a:ln w="9525" cap="flat" cmpd="sng">
            <a:solidFill>
              <a:srgbClr val="000000"/>
            </a:solidFill>
            <a:prstDash val="solid"/>
            <a:headEnd type="none" w="med" len="med"/>
            <a:tailEnd type="none" w="med" len="med"/>
          </a:ln>
        </p:spPr>
      </p:sp>
      <p:sp>
        <p:nvSpPr>
          <p:cNvPr id="334858" name="文本框 334857"/>
          <p:cNvSpPr txBox="1"/>
          <p:nvPr/>
        </p:nvSpPr>
        <p:spPr>
          <a:xfrm>
            <a:off x="6132513" y="2960688"/>
            <a:ext cx="836612" cy="287337"/>
          </a:xfrm>
          <a:prstGeom prst="rect">
            <a:avLst/>
          </a:prstGeom>
          <a:noFill/>
          <a:ln w="9525">
            <a:noFill/>
          </a:ln>
        </p:spPr>
        <p:txBody>
          <a:bodyPr lIns="0" tIns="0" rIns="0" bIns="0"/>
          <a:p>
            <a:pPr algn="ctr"/>
            <a:r>
              <a:rPr lang="zh-CN" altLang="en-US" dirty="0">
                <a:latin typeface="Times New Roman" panose="02020603050405020304" pitchFamily="18" charset="0"/>
              </a:rPr>
              <a:t>找到</a:t>
            </a:r>
            <a:endParaRPr lang="zh-CN" altLang="en-US" dirty="0">
              <a:latin typeface="Tahoma" panose="020B0604030504040204" pitchFamily="34" charset="0"/>
            </a:endParaRPr>
          </a:p>
        </p:txBody>
      </p:sp>
      <p:sp>
        <p:nvSpPr>
          <p:cNvPr id="334859" name="文本框 334858"/>
          <p:cNvSpPr txBox="1"/>
          <p:nvPr/>
        </p:nvSpPr>
        <p:spPr>
          <a:xfrm>
            <a:off x="4222750" y="3106738"/>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找工作</a:t>
            </a:r>
            <a:endParaRPr lang="zh-CN" altLang="en-US" dirty="0">
              <a:solidFill>
                <a:schemeClr val="tx2"/>
              </a:solidFill>
              <a:latin typeface="Tahoma" panose="020B0604030504040204" pitchFamily="34" charset="0"/>
            </a:endParaRPr>
          </a:p>
        </p:txBody>
      </p:sp>
      <p:sp>
        <p:nvSpPr>
          <p:cNvPr id="334860" name="直接连接符 334859"/>
          <p:cNvSpPr/>
          <p:nvPr/>
        </p:nvSpPr>
        <p:spPr>
          <a:xfrm>
            <a:off x="3719513" y="4570413"/>
            <a:ext cx="468312" cy="1587"/>
          </a:xfrm>
          <a:prstGeom prst="line">
            <a:avLst/>
          </a:prstGeom>
          <a:ln w="9525" cap="flat" cmpd="sng">
            <a:solidFill>
              <a:schemeClr val="tx1"/>
            </a:solidFill>
            <a:prstDash val="solid"/>
            <a:headEnd type="none" w="med" len="med"/>
            <a:tailEnd type="none" w="med" len="med"/>
          </a:ln>
        </p:spPr>
      </p:sp>
      <p:sp>
        <p:nvSpPr>
          <p:cNvPr id="334861" name="文本框 334860"/>
          <p:cNvSpPr txBox="1"/>
          <p:nvPr/>
        </p:nvSpPr>
        <p:spPr>
          <a:xfrm>
            <a:off x="4295775" y="1989138"/>
            <a:ext cx="1331913"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行动集</a:t>
            </a:r>
            <a:endParaRPr lang="zh-CN" altLang="en-US" sz="2400" dirty="0">
              <a:solidFill>
                <a:srgbClr val="996600"/>
              </a:solidFill>
              <a:latin typeface="Tahoma" panose="020B0604030504040204" pitchFamily="34" charset="0"/>
            </a:endParaRPr>
          </a:p>
        </p:txBody>
      </p:sp>
      <p:sp>
        <p:nvSpPr>
          <p:cNvPr id="334862" name="直接连接符 334861"/>
          <p:cNvSpPr/>
          <p:nvPr/>
        </p:nvSpPr>
        <p:spPr>
          <a:xfrm>
            <a:off x="4043363" y="1844675"/>
            <a:ext cx="1587" cy="4572000"/>
          </a:xfrm>
          <a:prstGeom prst="line">
            <a:avLst/>
          </a:prstGeom>
          <a:ln w="9525" cap="flat" cmpd="sng">
            <a:solidFill>
              <a:schemeClr val="tx1"/>
            </a:solidFill>
            <a:prstDash val="dash"/>
            <a:headEnd type="none" w="med" len="med"/>
            <a:tailEnd type="none" w="med" len="med"/>
          </a:ln>
        </p:spPr>
      </p:sp>
      <p:sp>
        <p:nvSpPr>
          <p:cNvPr id="334863" name="直接连接符 334862"/>
          <p:cNvSpPr/>
          <p:nvPr/>
        </p:nvSpPr>
        <p:spPr>
          <a:xfrm>
            <a:off x="5700713" y="1844675"/>
            <a:ext cx="1587" cy="4572000"/>
          </a:xfrm>
          <a:prstGeom prst="line">
            <a:avLst/>
          </a:prstGeom>
          <a:ln w="9525" cap="flat" cmpd="sng">
            <a:solidFill>
              <a:schemeClr val="tx1"/>
            </a:solidFill>
            <a:prstDash val="dash"/>
            <a:headEnd type="none" w="med" len="med"/>
            <a:tailEnd type="none" w="med" len="med"/>
          </a:ln>
        </p:spPr>
      </p:sp>
      <p:sp>
        <p:nvSpPr>
          <p:cNvPr id="334864" name="直接连接符 334863"/>
          <p:cNvSpPr/>
          <p:nvPr/>
        </p:nvSpPr>
        <p:spPr>
          <a:xfrm>
            <a:off x="7464425" y="1881188"/>
            <a:ext cx="1588" cy="4572000"/>
          </a:xfrm>
          <a:prstGeom prst="line">
            <a:avLst/>
          </a:prstGeom>
          <a:ln w="9525" cap="flat" cmpd="sng">
            <a:solidFill>
              <a:schemeClr val="tx1"/>
            </a:solidFill>
            <a:prstDash val="dash"/>
            <a:headEnd type="none" w="med" len="med"/>
            <a:tailEnd type="none" w="med" len="med"/>
          </a:ln>
        </p:spPr>
      </p:sp>
      <p:sp>
        <p:nvSpPr>
          <p:cNvPr id="334865" name="直接连接符 334864"/>
          <p:cNvSpPr/>
          <p:nvPr/>
        </p:nvSpPr>
        <p:spPr>
          <a:xfrm>
            <a:off x="2927350" y="2492375"/>
            <a:ext cx="5905500" cy="1588"/>
          </a:xfrm>
          <a:prstGeom prst="line">
            <a:avLst/>
          </a:prstGeom>
          <a:ln w="9525" cap="flat" cmpd="sng">
            <a:solidFill>
              <a:schemeClr val="tx1"/>
            </a:solidFill>
            <a:prstDash val="dashDot"/>
            <a:headEnd type="none" w="med" len="med"/>
            <a:tailEnd type="none" w="med" len="med"/>
          </a:ln>
        </p:spPr>
      </p:sp>
      <p:sp>
        <p:nvSpPr>
          <p:cNvPr id="334866" name="文本框 334865"/>
          <p:cNvSpPr txBox="1"/>
          <p:nvPr/>
        </p:nvSpPr>
        <p:spPr>
          <a:xfrm>
            <a:off x="2640013" y="1990725"/>
            <a:ext cx="1331912"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决策人</a:t>
            </a:r>
            <a:endParaRPr lang="zh-CN" altLang="en-US" sz="2400" dirty="0">
              <a:solidFill>
                <a:srgbClr val="996600"/>
              </a:solidFill>
              <a:latin typeface="Tahoma" panose="020B0604030504040204" pitchFamily="34" charset="0"/>
            </a:endParaRPr>
          </a:p>
        </p:txBody>
      </p:sp>
      <p:sp>
        <p:nvSpPr>
          <p:cNvPr id="334867" name="文本框 334866"/>
          <p:cNvSpPr txBox="1"/>
          <p:nvPr/>
        </p:nvSpPr>
        <p:spPr>
          <a:xfrm>
            <a:off x="5772150" y="1989138"/>
            <a:ext cx="1655763"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自然状态集</a:t>
            </a:r>
            <a:endParaRPr lang="zh-CN" altLang="en-US" sz="2400" dirty="0">
              <a:solidFill>
                <a:srgbClr val="996600"/>
              </a:solidFill>
              <a:latin typeface="Tahoma" panose="020B0604030504040204" pitchFamily="34" charset="0"/>
            </a:endParaRPr>
          </a:p>
        </p:txBody>
      </p:sp>
      <p:sp>
        <p:nvSpPr>
          <p:cNvPr id="334868" name="文本框 334867"/>
          <p:cNvSpPr txBox="1"/>
          <p:nvPr/>
        </p:nvSpPr>
        <p:spPr>
          <a:xfrm>
            <a:off x="7535863" y="2024063"/>
            <a:ext cx="1331912"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后果集</a:t>
            </a:r>
            <a:endParaRPr lang="zh-CN" altLang="en-US" sz="2400" dirty="0">
              <a:solidFill>
                <a:srgbClr val="996600"/>
              </a:solidFill>
              <a:latin typeface="Tahoma" panose="020B0604030504040204" pitchFamily="34" charset="0"/>
            </a:endParaRPr>
          </a:p>
        </p:txBody>
      </p:sp>
      <p:sp>
        <p:nvSpPr>
          <p:cNvPr id="334869" name="文本框 334868"/>
          <p:cNvSpPr txBox="1"/>
          <p:nvPr/>
        </p:nvSpPr>
        <p:spPr>
          <a:xfrm>
            <a:off x="6167438" y="3465513"/>
            <a:ext cx="836612" cy="287337"/>
          </a:xfrm>
          <a:prstGeom prst="rect">
            <a:avLst/>
          </a:prstGeom>
          <a:noFill/>
          <a:ln w="9525">
            <a:noFill/>
          </a:ln>
        </p:spPr>
        <p:txBody>
          <a:bodyPr lIns="0" tIns="0" rIns="0" bIns="0"/>
          <a:p>
            <a:pPr algn="ctr"/>
            <a:r>
              <a:rPr lang="zh-CN" altLang="en-US" dirty="0">
                <a:latin typeface="Times New Roman" panose="02020603050405020304" pitchFamily="18" charset="0"/>
              </a:rPr>
              <a:t>找不到</a:t>
            </a:r>
            <a:endParaRPr lang="zh-CN" altLang="en-US" dirty="0">
              <a:latin typeface="Tahoma" panose="020B0604030504040204" pitchFamily="34" charset="0"/>
            </a:endParaRPr>
          </a:p>
        </p:txBody>
      </p:sp>
      <p:sp>
        <p:nvSpPr>
          <p:cNvPr id="334870" name="直接连接符 334869"/>
          <p:cNvSpPr/>
          <p:nvPr/>
        </p:nvSpPr>
        <p:spPr>
          <a:xfrm>
            <a:off x="5808663" y="3824288"/>
            <a:ext cx="1727200" cy="1587"/>
          </a:xfrm>
          <a:prstGeom prst="line">
            <a:avLst/>
          </a:prstGeom>
          <a:ln w="9525" cap="flat" cmpd="sng">
            <a:solidFill>
              <a:srgbClr val="000000"/>
            </a:solidFill>
            <a:prstDash val="solid"/>
            <a:headEnd type="none" w="med" len="med"/>
            <a:tailEnd type="none" w="med" len="med"/>
          </a:ln>
        </p:spPr>
      </p:sp>
      <p:sp>
        <p:nvSpPr>
          <p:cNvPr id="334871" name="直接连接符 334870"/>
          <p:cNvSpPr/>
          <p:nvPr/>
        </p:nvSpPr>
        <p:spPr>
          <a:xfrm>
            <a:off x="4192588" y="4583113"/>
            <a:ext cx="1511300" cy="1587"/>
          </a:xfrm>
          <a:prstGeom prst="line">
            <a:avLst/>
          </a:prstGeom>
          <a:ln w="9525" cap="flat" cmpd="sng">
            <a:solidFill>
              <a:srgbClr val="000000"/>
            </a:solidFill>
            <a:prstDash val="solid"/>
            <a:headEnd type="none" w="med" len="med"/>
            <a:tailEnd type="none" w="med" len="med"/>
          </a:ln>
        </p:spPr>
      </p:sp>
      <p:sp>
        <p:nvSpPr>
          <p:cNvPr id="334872" name="椭圆 334871"/>
          <p:cNvSpPr/>
          <p:nvPr/>
        </p:nvSpPr>
        <p:spPr>
          <a:xfrm>
            <a:off x="5700713" y="4473575"/>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4873" name="直接连接符 334872"/>
          <p:cNvSpPr/>
          <p:nvPr/>
        </p:nvSpPr>
        <p:spPr>
          <a:xfrm>
            <a:off x="5808663" y="4365625"/>
            <a:ext cx="3175" cy="107950"/>
          </a:xfrm>
          <a:prstGeom prst="line">
            <a:avLst/>
          </a:prstGeom>
          <a:ln w="9525" cap="flat" cmpd="sng">
            <a:solidFill>
              <a:srgbClr val="000000"/>
            </a:solidFill>
            <a:prstDash val="solid"/>
            <a:headEnd type="none" w="med" len="med"/>
            <a:tailEnd type="none" w="med" len="med"/>
          </a:ln>
        </p:spPr>
      </p:sp>
      <p:sp>
        <p:nvSpPr>
          <p:cNvPr id="334874" name="直接连接符 334873"/>
          <p:cNvSpPr/>
          <p:nvPr/>
        </p:nvSpPr>
        <p:spPr>
          <a:xfrm>
            <a:off x="5808663" y="4365625"/>
            <a:ext cx="1727200" cy="1588"/>
          </a:xfrm>
          <a:prstGeom prst="line">
            <a:avLst/>
          </a:prstGeom>
          <a:ln w="9525" cap="flat" cmpd="sng">
            <a:solidFill>
              <a:srgbClr val="000000"/>
            </a:solidFill>
            <a:prstDash val="solid"/>
            <a:headEnd type="none" w="med" len="med"/>
            <a:tailEnd type="none" w="med" len="med"/>
          </a:ln>
        </p:spPr>
      </p:sp>
      <p:sp>
        <p:nvSpPr>
          <p:cNvPr id="334875" name="直接连接符 334874"/>
          <p:cNvSpPr/>
          <p:nvPr/>
        </p:nvSpPr>
        <p:spPr>
          <a:xfrm>
            <a:off x="5808663" y="4725988"/>
            <a:ext cx="1587" cy="142875"/>
          </a:xfrm>
          <a:prstGeom prst="line">
            <a:avLst/>
          </a:prstGeom>
          <a:ln w="9525" cap="flat" cmpd="sng">
            <a:solidFill>
              <a:srgbClr val="000000"/>
            </a:solidFill>
            <a:prstDash val="solid"/>
            <a:headEnd type="none" w="med" len="med"/>
            <a:tailEnd type="none" w="med" len="med"/>
          </a:ln>
        </p:spPr>
      </p:sp>
      <p:sp>
        <p:nvSpPr>
          <p:cNvPr id="334876" name="文本框 334875"/>
          <p:cNvSpPr txBox="1"/>
          <p:nvPr/>
        </p:nvSpPr>
        <p:spPr>
          <a:xfrm>
            <a:off x="6132513" y="4005263"/>
            <a:ext cx="836612" cy="287337"/>
          </a:xfrm>
          <a:prstGeom prst="rect">
            <a:avLst/>
          </a:prstGeom>
          <a:noFill/>
          <a:ln w="9525">
            <a:noFill/>
          </a:ln>
        </p:spPr>
        <p:txBody>
          <a:bodyPr lIns="0" tIns="0" rIns="0" bIns="0"/>
          <a:p>
            <a:pPr algn="ctr"/>
            <a:r>
              <a:rPr lang="zh-CN" altLang="en-US" dirty="0">
                <a:latin typeface="Times New Roman" panose="02020603050405020304" pitchFamily="18" charset="0"/>
              </a:rPr>
              <a:t>考上</a:t>
            </a:r>
            <a:endParaRPr lang="zh-CN" altLang="en-US" dirty="0">
              <a:latin typeface="Tahoma" panose="020B0604030504040204" pitchFamily="34" charset="0"/>
            </a:endParaRPr>
          </a:p>
        </p:txBody>
      </p:sp>
      <p:sp>
        <p:nvSpPr>
          <p:cNvPr id="334877" name="文本框 334876"/>
          <p:cNvSpPr txBox="1"/>
          <p:nvPr/>
        </p:nvSpPr>
        <p:spPr>
          <a:xfrm>
            <a:off x="4222750" y="4151313"/>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读博</a:t>
            </a:r>
            <a:endParaRPr lang="zh-CN" altLang="en-US" dirty="0">
              <a:solidFill>
                <a:schemeClr val="tx2"/>
              </a:solidFill>
              <a:latin typeface="Tahoma" panose="020B0604030504040204" pitchFamily="34" charset="0"/>
            </a:endParaRPr>
          </a:p>
        </p:txBody>
      </p:sp>
      <p:sp>
        <p:nvSpPr>
          <p:cNvPr id="334878" name="文本框 334877"/>
          <p:cNvSpPr txBox="1"/>
          <p:nvPr/>
        </p:nvSpPr>
        <p:spPr>
          <a:xfrm>
            <a:off x="6167438" y="4510088"/>
            <a:ext cx="836612" cy="323850"/>
          </a:xfrm>
          <a:prstGeom prst="rect">
            <a:avLst/>
          </a:prstGeom>
          <a:noFill/>
          <a:ln w="9525">
            <a:noFill/>
          </a:ln>
        </p:spPr>
        <p:txBody>
          <a:bodyPr lIns="0" tIns="0" rIns="0" bIns="0"/>
          <a:p>
            <a:pPr algn="ctr"/>
            <a:r>
              <a:rPr lang="zh-CN" altLang="en-US" dirty="0">
                <a:latin typeface="Tahoma" panose="020B0604030504040204" pitchFamily="34" charset="0"/>
              </a:rPr>
              <a:t>考不上</a:t>
            </a:r>
            <a:endParaRPr lang="zh-CN" altLang="en-US" dirty="0">
              <a:latin typeface="Times New Roman" panose="02020603050405020304" pitchFamily="18" charset="0"/>
            </a:endParaRPr>
          </a:p>
        </p:txBody>
      </p:sp>
      <p:sp>
        <p:nvSpPr>
          <p:cNvPr id="334879" name="直接连接符 334878"/>
          <p:cNvSpPr/>
          <p:nvPr/>
        </p:nvSpPr>
        <p:spPr>
          <a:xfrm>
            <a:off x="5808663" y="4868863"/>
            <a:ext cx="1727200" cy="1587"/>
          </a:xfrm>
          <a:prstGeom prst="line">
            <a:avLst/>
          </a:prstGeom>
          <a:ln w="9525" cap="flat" cmpd="sng">
            <a:solidFill>
              <a:srgbClr val="000000"/>
            </a:solidFill>
            <a:prstDash val="solid"/>
            <a:headEnd type="none" w="med" len="med"/>
            <a:tailEnd type="none" w="med" len="med"/>
          </a:ln>
        </p:spPr>
      </p:sp>
      <p:sp>
        <p:nvSpPr>
          <p:cNvPr id="334880" name="直接连接符 334879"/>
          <p:cNvSpPr/>
          <p:nvPr/>
        </p:nvSpPr>
        <p:spPr>
          <a:xfrm>
            <a:off x="4192588" y="5554663"/>
            <a:ext cx="1511300" cy="1587"/>
          </a:xfrm>
          <a:prstGeom prst="line">
            <a:avLst/>
          </a:prstGeom>
          <a:ln w="9525" cap="flat" cmpd="sng">
            <a:solidFill>
              <a:srgbClr val="000000"/>
            </a:solidFill>
            <a:prstDash val="solid"/>
            <a:headEnd type="none" w="med" len="med"/>
            <a:tailEnd type="none" w="med" len="med"/>
          </a:ln>
        </p:spPr>
      </p:sp>
      <p:sp>
        <p:nvSpPr>
          <p:cNvPr id="334881" name="椭圆 334880"/>
          <p:cNvSpPr/>
          <p:nvPr/>
        </p:nvSpPr>
        <p:spPr>
          <a:xfrm>
            <a:off x="5700713" y="5445125"/>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4882" name="直接连接符 334881"/>
          <p:cNvSpPr/>
          <p:nvPr/>
        </p:nvSpPr>
        <p:spPr>
          <a:xfrm>
            <a:off x="5808663" y="5337175"/>
            <a:ext cx="3175" cy="107950"/>
          </a:xfrm>
          <a:prstGeom prst="line">
            <a:avLst/>
          </a:prstGeom>
          <a:ln w="9525" cap="flat" cmpd="sng">
            <a:solidFill>
              <a:srgbClr val="000000"/>
            </a:solidFill>
            <a:prstDash val="solid"/>
            <a:headEnd type="none" w="med" len="med"/>
            <a:tailEnd type="none" w="med" len="med"/>
          </a:ln>
        </p:spPr>
      </p:sp>
      <p:sp>
        <p:nvSpPr>
          <p:cNvPr id="334883" name="直接连接符 334882"/>
          <p:cNvSpPr/>
          <p:nvPr/>
        </p:nvSpPr>
        <p:spPr>
          <a:xfrm>
            <a:off x="5808663" y="5337175"/>
            <a:ext cx="1727200" cy="1588"/>
          </a:xfrm>
          <a:prstGeom prst="line">
            <a:avLst/>
          </a:prstGeom>
          <a:ln w="9525" cap="flat" cmpd="sng">
            <a:solidFill>
              <a:srgbClr val="000000"/>
            </a:solidFill>
            <a:prstDash val="solid"/>
            <a:headEnd type="none" w="med" len="med"/>
            <a:tailEnd type="none" w="med" len="med"/>
          </a:ln>
        </p:spPr>
      </p:sp>
      <p:sp>
        <p:nvSpPr>
          <p:cNvPr id="334884" name="直接连接符 334883"/>
          <p:cNvSpPr/>
          <p:nvPr/>
        </p:nvSpPr>
        <p:spPr>
          <a:xfrm>
            <a:off x="5808663" y="5697538"/>
            <a:ext cx="1587" cy="142875"/>
          </a:xfrm>
          <a:prstGeom prst="line">
            <a:avLst/>
          </a:prstGeom>
          <a:ln w="9525" cap="flat" cmpd="sng">
            <a:solidFill>
              <a:srgbClr val="000000"/>
            </a:solidFill>
            <a:prstDash val="solid"/>
            <a:headEnd type="none" w="med" len="med"/>
            <a:tailEnd type="none" w="med" len="med"/>
          </a:ln>
        </p:spPr>
      </p:sp>
      <p:sp>
        <p:nvSpPr>
          <p:cNvPr id="334885" name="文本框 334884"/>
          <p:cNvSpPr txBox="1"/>
          <p:nvPr/>
        </p:nvSpPr>
        <p:spPr>
          <a:xfrm>
            <a:off x="6132513" y="4976813"/>
            <a:ext cx="836612" cy="287337"/>
          </a:xfrm>
          <a:prstGeom prst="rect">
            <a:avLst/>
          </a:prstGeom>
          <a:noFill/>
          <a:ln w="9525">
            <a:noFill/>
          </a:ln>
        </p:spPr>
        <p:txBody>
          <a:bodyPr lIns="0" tIns="0" rIns="0" bIns="0"/>
          <a:p>
            <a:pPr algn="ctr"/>
            <a:endParaRPr dirty="0">
              <a:latin typeface="Tahoma" panose="020B0604030504040204" pitchFamily="34" charset="0"/>
            </a:endParaRPr>
          </a:p>
        </p:txBody>
      </p:sp>
      <p:sp>
        <p:nvSpPr>
          <p:cNvPr id="334886" name="文本框 334885"/>
          <p:cNvSpPr txBox="1"/>
          <p:nvPr/>
        </p:nvSpPr>
        <p:spPr>
          <a:xfrm>
            <a:off x="4222750" y="5122863"/>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出国留学</a:t>
            </a:r>
            <a:endParaRPr lang="zh-CN" altLang="en-US" dirty="0">
              <a:solidFill>
                <a:schemeClr val="tx2"/>
              </a:solidFill>
              <a:latin typeface="Tahoma" panose="020B0604030504040204" pitchFamily="34" charset="0"/>
            </a:endParaRPr>
          </a:p>
        </p:txBody>
      </p:sp>
      <p:sp>
        <p:nvSpPr>
          <p:cNvPr id="334887" name="文本框 334886"/>
          <p:cNvSpPr txBox="1"/>
          <p:nvPr/>
        </p:nvSpPr>
        <p:spPr>
          <a:xfrm>
            <a:off x="6167438" y="5481638"/>
            <a:ext cx="836612" cy="287337"/>
          </a:xfrm>
          <a:prstGeom prst="rect">
            <a:avLst/>
          </a:prstGeom>
          <a:noFill/>
          <a:ln w="9525">
            <a:noFill/>
          </a:ln>
        </p:spPr>
        <p:txBody>
          <a:bodyPr lIns="0" tIns="0" rIns="0" bIns="0"/>
          <a:p>
            <a:pPr algn="ctr"/>
            <a:r>
              <a:rPr lang="zh-CN" altLang="en-US" dirty="0">
                <a:latin typeface="Times New Roman" panose="02020603050405020304" pitchFamily="18" charset="0"/>
              </a:rPr>
              <a:t>失</a:t>
            </a:r>
            <a:r>
              <a:rPr lang="zh-CN" altLang="en-US" sz="1800" dirty="0">
                <a:latin typeface="Times New Roman" panose="02020603050405020304" pitchFamily="18" charset="0"/>
              </a:rPr>
              <a:t>败</a:t>
            </a:r>
            <a:endParaRPr lang="zh-CN" altLang="en-US" sz="1800" dirty="0">
              <a:latin typeface="Tahoma" panose="020B0604030504040204" pitchFamily="34" charset="0"/>
            </a:endParaRPr>
          </a:p>
        </p:txBody>
      </p:sp>
      <p:sp>
        <p:nvSpPr>
          <p:cNvPr id="334888" name="直接连接符 334887"/>
          <p:cNvSpPr/>
          <p:nvPr/>
        </p:nvSpPr>
        <p:spPr>
          <a:xfrm>
            <a:off x="5808663" y="5840413"/>
            <a:ext cx="1727200" cy="1587"/>
          </a:xfrm>
          <a:prstGeom prst="line">
            <a:avLst/>
          </a:prstGeom>
          <a:ln w="9525" cap="flat" cmpd="sng">
            <a:solidFill>
              <a:srgbClr val="000000"/>
            </a:solidFill>
            <a:prstDash val="solid"/>
            <a:headEnd type="none" w="med" len="med"/>
            <a:tailEnd type="none" w="med" len="med"/>
          </a:ln>
        </p:spPr>
      </p:sp>
      <p:sp>
        <p:nvSpPr>
          <p:cNvPr id="334889" name="文本框 334888"/>
          <p:cNvSpPr txBox="1"/>
          <p:nvPr/>
        </p:nvSpPr>
        <p:spPr>
          <a:xfrm>
            <a:off x="6203950" y="5013325"/>
            <a:ext cx="836613" cy="287338"/>
          </a:xfrm>
          <a:prstGeom prst="rect">
            <a:avLst/>
          </a:prstGeom>
          <a:noFill/>
          <a:ln w="9525">
            <a:noFill/>
          </a:ln>
        </p:spPr>
        <p:txBody>
          <a:bodyPr lIns="0" tIns="0" rIns="0" bIns="0"/>
          <a:p>
            <a:pPr algn="ctr"/>
            <a:r>
              <a:rPr lang="zh-CN" altLang="en-US" dirty="0">
                <a:latin typeface="Tahoma" panose="020B0604030504040204" pitchFamily="34" charset="0"/>
              </a:rPr>
              <a:t>成功</a:t>
            </a:r>
            <a:endParaRPr lang="zh-CN" altLang="en-US" dirty="0">
              <a:latin typeface="Times New Roman" panose="02020603050405020304" pitchFamily="18" charset="0"/>
            </a:endParaRPr>
          </a:p>
        </p:txBody>
      </p:sp>
      <p:sp>
        <p:nvSpPr>
          <p:cNvPr id="334890" name="文本框 334889"/>
          <p:cNvSpPr txBox="1"/>
          <p:nvPr/>
        </p:nvSpPr>
        <p:spPr>
          <a:xfrm>
            <a:off x="8580438" y="3752850"/>
            <a:ext cx="1835150" cy="973138"/>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信息集？</a:t>
            </a:r>
            <a:endParaRPr lang="zh-CN" altLang="en-US" sz="2400" dirty="0">
              <a:solidFill>
                <a:srgbClr val="996600"/>
              </a:solidFill>
              <a:latin typeface="Times New Roman" panose="02020603050405020304" pitchFamily="18" charset="0"/>
            </a:endParaRPr>
          </a:p>
          <a:p>
            <a:pPr algn="ctr"/>
            <a:r>
              <a:rPr lang="en-US" altLang="zh-CN" sz="2400">
                <a:solidFill>
                  <a:srgbClr val="996600"/>
                </a:solidFill>
                <a:latin typeface="Times New Roman" panose="02020603050405020304" pitchFamily="18" charset="0"/>
              </a:rPr>
              <a:t>(</a:t>
            </a:r>
            <a:r>
              <a:rPr lang="zh-CN" altLang="en-US" sz="2400" dirty="0">
                <a:solidFill>
                  <a:srgbClr val="996600"/>
                </a:solidFill>
                <a:latin typeface="Times New Roman" panose="02020603050405020304" pitchFamily="18" charset="0"/>
              </a:rPr>
              <a:t>概率和效用</a:t>
            </a:r>
            <a:r>
              <a:rPr lang="en-US" altLang="zh-CN" sz="2400">
                <a:solidFill>
                  <a:srgbClr val="996600"/>
                </a:solidFill>
                <a:latin typeface="Times New Roman" panose="02020603050405020304" pitchFamily="18" charset="0"/>
              </a:rPr>
              <a:t>)</a:t>
            </a:r>
            <a:endParaRPr lang="en-US" altLang="zh-CN" sz="2400">
              <a:solidFill>
                <a:srgbClr val="996600"/>
              </a:solidFill>
              <a:latin typeface="Tahoma" panose="020B0604030504040204" pitchFamily="34" charset="0"/>
            </a:endParaRPr>
          </a:p>
        </p:txBody>
      </p:sp>
      <p:sp>
        <p:nvSpPr>
          <p:cNvPr id="334891" name="文本框 334890"/>
          <p:cNvSpPr txBox="1"/>
          <p:nvPr/>
        </p:nvSpPr>
        <p:spPr>
          <a:xfrm>
            <a:off x="7500938" y="3681413"/>
            <a:ext cx="973137" cy="287337"/>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2</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4892" name="文本框 334891"/>
          <p:cNvSpPr txBox="1"/>
          <p:nvPr/>
        </p:nvSpPr>
        <p:spPr>
          <a:xfrm>
            <a:off x="7535863" y="4184650"/>
            <a:ext cx="973137" cy="287338"/>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3</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4893" name="文本框 334892"/>
          <p:cNvSpPr txBox="1"/>
          <p:nvPr/>
        </p:nvSpPr>
        <p:spPr>
          <a:xfrm>
            <a:off x="7535863" y="4724400"/>
            <a:ext cx="973137" cy="287338"/>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4</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4894" name="文本框 334893"/>
          <p:cNvSpPr txBox="1"/>
          <p:nvPr/>
        </p:nvSpPr>
        <p:spPr>
          <a:xfrm>
            <a:off x="7535863" y="5157788"/>
            <a:ext cx="973137" cy="287337"/>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5</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4895" name="文本框 334894"/>
          <p:cNvSpPr txBox="1"/>
          <p:nvPr/>
        </p:nvSpPr>
        <p:spPr>
          <a:xfrm>
            <a:off x="7535863" y="5697538"/>
            <a:ext cx="973137" cy="287337"/>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6</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4896" name="文本框 334895"/>
          <p:cNvSpPr txBox="1"/>
          <p:nvPr/>
        </p:nvSpPr>
        <p:spPr>
          <a:xfrm>
            <a:off x="7535863" y="3176588"/>
            <a:ext cx="973137" cy="287337"/>
          </a:xfrm>
          <a:prstGeom prst="rect">
            <a:avLst/>
          </a:prstGeom>
          <a:noFill/>
          <a:ln w="9525">
            <a:noFill/>
          </a:ln>
        </p:spPr>
        <p:txBody>
          <a:bodyPr lIns="0" tIns="0" rIns="0" bIns="0"/>
          <a:p>
            <a:pPr algn="ctr"/>
            <a:r>
              <a:rPr lang="zh-CN" altLang="en-US" dirty="0">
                <a:solidFill>
                  <a:schemeClr val="hlink"/>
                </a:solidFill>
                <a:latin typeface="Times New Roman" panose="02020603050405020304" pitchFamily="18" charset="0"/>
              </a:rPr>
              <a:t>后果</a:t>
            </a:r>
            <a:r>
              <a:rPr lang="en-US" altLang="zh-CN">
                <a:solidFill>
                  <a:schemeClr val="hlink"/>
                </a:solidFill>
                <a:latin typeface="Times New Roman" panose="02020603050405020304" pitchFamily="18" charset="0"/>
              </a:rPr>
              <a:t>1</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5874" name="标题 335873"/>
          <p:cNvSpPr>
            <a:spLocks noGrp="1"/>
          </p:cNvSpPr>
          <p:nvPr>
            <p:ph type="title"/>
          </p:nvPr>
        </p:nvSpPr>
        <p:spPr/>
        <p:txBody>
          <a:bodyPr anchor="b" anchorCtr="0"/>
          <a:p>
            <a:pPr algn="ctr"/>
            <a:r>
              <a:rPr lang="zh-CN" altLang="en-US" dirty="0">
                <a:latin typeface="楷体" panose="02010609060101010101" pitchFamily="49" charset="-122"/>
                <a:ea typeface="楷体" panose="02010609060101010101" pitchFamily="49" charset="-122"/>
                <a:cs typeface="楷体" panose="02010609060101010101" pitchFamily="49" charset="-122"/>
              </a:rPr>
              <a:t>张三的决策树模型</a:t>
            </a:r>
            <a:r>
              <a:rPr lang="en-US" altLang="zh-CN">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有概率信息</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335875" name="矩形 335874"/>
          <p:cNvSpPr/>
          <p:nvPr/>
        </p:nvSpPr>
        <p:spPr>
          <a:xfrm>
            <a:off x="2743200" y="4329113"/>
            <a:ext cx="976313" cy="477837"/>
          </a:xfrm>
          <a:prstGeom prst="rect">
            <a:avLst/>
          </a:prstGeom>
          <a:solidFill>
            <a:srgbClr val="FFFFFF"/>
          </a:solidFill>
          <a:ln w="9525" cap="flat" cmpd="sng">
            <a:solidFill>
              <a:srgbClr val="000000"/>
            </a:solidFill>
            <a:prstDash val="solid"/>
            <a:miter/>
            <a:headEnd type="none" w="med" len="med"/>
            <a:tailEnd type="none" w="med" len="med"/>
          </a:ln>
        </p:spPr>
        <p:txBody>
          <a:bodyPr/>
          <a:p>
            <a:pPr algn="ctr"/>
            <a:r>
              <a:rPr lang="zh-CN" altLang="en-US" dirty="0">
                <a:solidFill>
                  <a:schemeClr val="tx2"/>
                </a:solidFill>
                <a:latin typeface="Tahoma" panose="020B0604030504040204" pitchFamily="34" charset="0"/>
              </a:rPr>
              <a:t>张三</a:t>
            </a:r>
            <a:endParaRPr lang="zh-CN" altLang="en-US" dirty="0">
              <a:solidFill>
                <a:schemeClr val="tx2"/>
              </a:solidFill>
              <a:latin typeface="Tahoma" panose="020B0604030504040204" pitchFamily="34" charset="0"/>
            </a:endParaRPr>
          </a:p>
        </p:txBody>
      </p:sp>
      <p:sp>
        <p:nvSpPr>
          <p:cNvPr id="335876" name="直接连接符 335875"/>
          <p:cNvSpPr/>
          <p:nvPr/>
        </p:nvSpPr>
        <p:spPr>
          <a:xfrm>
            <a:off x="4187825" y="3536950"/>
            <a:ext cx="6350" cy="2012950"/>
          </a:xfrm>
          <a:prstGeom prst="line">
            <a:avLst/>
          </a:prstGeom>
          <a:ln w="9525" cap="flat" cmpd="sng">
            <a:solidFill>
              <a:srgbClr val="000000"/>
            </a:solidFill>
            <a:prstDash val="solid"/>
            <a:headEnd type="none" w="med" len="med"/>
            <a:tailEnd type="none" w="med" len="med"/>
          </a:ln>
        </p:spPr>
      </p:sp>
      <p:sp>
        <p:nvSpPr>
          <p:cNvPr id="335877" name="直接连接符 335876"/>
          <p:cNvSpPr/>
          <p:nvPr/>
        </p:nvSpPr>
        <p:spPr>
          <a:xfrm>
            <a:off x="4192588" y="3538538"/>
            <a:ext cx="1511300" cy="1587"/>
          </a:xfrm>
          <a:prstGeom prst="line">
            <a:avLst/>
          </a:prstGeom>
          <a:ln w="9525" cap="flat" cmpd="sng">
            <a:solidFill>
              <a:srgbClr val="000000"/>
            </a:solidFill>
            <a:prstDash val="solid"/>
            <a:headEnd type="none" w="med" len="med"/>
            <a:tailEnd type="none" w="med" len="med"/>
          </a:ln>
        </p:spPr>
      </p:sp>
      <p:sp>
        <p:nvSpPr>
          <p:cNvPr id="335878" name="椭圆 335877"/>
          <p:cNvSpPr/>
          <p:nvPr/>
        </p:nvSpPr>
        <p:spPr>
          <a:xfrm>
            <a:off x="5700713" y="3429000"/>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5879" name="直接连接符 335878"/>
          <p:cNvSpPr/>
          <p:nvPr/>
        </p:nvSpPr>
        <p:spPr>
          <a:xfrm>
            <a:off x="5808663" y="3321050"/>
            <a:ext cx="3175" cy="107950"/>
          </a:xfrm>
          <a:prstGeom prst="line">
            <a:avLst/>
          </a:prstGeom>
          <a:ln w="9525" cap="flat" cmpd="sng">
            <a:solidFill>
              <a:srgbClr val="000000"/>
            </a:solidFill>
            <a:prstDash val="solid"/>
            <a:headEnd type="none" w="med" len="med"/>
            <a:tailEnd type="none" w="med" len="med"/>
          </a:ln>
        </p:spPr>
      </p:sp>
      <p:sp>
        <p:nvSpPr>
          <p:cNvPr id="335880" name="直接连接符 335879"/>
          <p:cNvSpPr/>
          <p:nvPr/>
        </p:nvSpPr>
        <p:spPr>
          <a:xfrm>
            <a:off x="5808663" y="3321050"/>
            <a:ext cx="1727200" cy="1588"/>
          </a:xfrm>
          <a:prstGeom prst="line">
            <a:avLst/>
          </a:prstGeom>
          <a:ln w="9525" cap="flat" cmpd="sng">
            <a:solidFill>
              <a:srgbClr val="000000"/>
            </a:solidFill>
            <a:prstDash val="solid"/>
            <a:headEnd type="none" w="med" len="med"/>
            <a:tailEnd type="none" w="med" len="med"/>
          </a:ln>
        </p:spPr>
      </p:sp>
      <p:sp>
        <p:nvSpPr>
          <p:cNvPr id="335881" name="直接连接符 335880"/>
          <p:cNvSpPr/>
          <p:nvPr/>
        </p:nvSpPr>
        <p:spPr>
          <a:xfrm>
            <a:off x="5808663" y="3681413"/>
            <a:ext cx="1587" cy="142875"/>
          </a:xfrm>
          <a:prstGeom prst="line">
            <a:avLst/>
          </a:prstGeom>
          <a:ln w="9525" cap="flat" cmpd="sng">
            <a:solidFill>
              <a:srgbClr val="000000"/>
            </a:solidFill>
            <a:prstDash val="solid"/>
            <a:headEnd type="none" w="med" len="med"/>
            <a:tailEnd type="none" w="med" len="med"/>
          </a:ln>
        </p:spPr>
      </p:sp>
      <p:sp>
        <p:nvSpPr>
          <p:cNvPr id="335882" name="文本框 335881"/>
          <p:cNvSpPr txBox="1"/>
          <p:nvPr/>
        </p:nvSpPr>
        <p:spPr>
          <a:xfrm>
            <a:off x="5988050" y="2960688"/>
            <a:ext cx="1331913" cy="287337"/>
          </a:xfrm>
          <a:prstGeom prst="rect">
            <a:avLst/>
          </a:prstGeom>
          <a:noFill/>
          <a:ln w="9525">
            <a:noFill/>
          </a:ln>
        </p:spPr>
        <p:txBody>
          <a:bodyPr lIns="0" tIns="0" rIns="0" bIns="0"/>
          <a:p>
            <a:pPr algn="ctr"/>
            <a:r>
              <a:rPr lang="zh-CN" altLang="en-US" dirty="0">
                <a:latin typeface="Times New Roman" panose="02020603050405020304" pitchFamily="18" charset="0"/>
              </a:rPr>
              <a:t>找到</a:t>
            </a:r>
            <a:r>
              <a:rPr lang="en-US" altLang="zh-CN">
                <a:latin typeface="Times New Roman" panose="02020603050405020304" pitchFamily="18" charset="0"/>
              </a:rPr>
              <a:t>(99%)</a:t>
            </a:r>
            <a:endParaRPr lang="en-US" altLang="zh-CN">
              <a:latin typeface="Tahoma" panose="020B0604030504040204" pitchFamily="34" charset="0"/>
            </a:endParaRPr>
          </a:p>
        </p:txBody>
      </p:sp>
      <p:sp>
        <p:nvSpPr>
          <p:cNvPr id="335883" name="文本框 335882"/>
          <p:cNvSpPr txBox="1"/>
          <p:nvPr/>
        </p:nvSpPr>
        <p:spPr>
          <a:xfrm>
            <a:off x="4222750" y="3106738"/>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找工作</a:t>
            </a:r>
            <a:endParaRPr lang="zh-CN" altLang="en-US" dirty="0">
              <a:solidFill>
                <a:schemeClr val="tx2"/>
              </a:solidFill>
              <a:latin typeface="Tahoma" panose="020B0604030504040204" pitchFamily="34" charset="0"/>
            </a:endParaRPr>
          </a:p>
        </p:txBody>
      </p:sp>
      <p:sp>
        <p:nvSpPr>
          <p:cNvPr id="335884" name="直接连接符 335883"/>
          <p:cNvSpPr/>
          <p:nvPr/>
        </p:nvSpPr>
        <p:spPr>
          <a:xfrm>
            <a:off x="3719513" y="4570413"/>
            <a:ext cx="468312" cy="1587"/>
          </a:xfrm>
          <a:prstGeom prst="line">
            <a:avLst/>
          </a:prstGeom>
          <a:ln w="9525" cap="flat" cmpd="sng">
            <a:solidFill>
              <a:schemeClr val="tx1"/>
            </a:solidFill>
            <a:prstDash val="solid"/>
            <a:headEnd type="none" w="med" len="med"/>
            <a:tailEnd type="none" w="med" len="med"/>
          </a:ln>
        </p:spPr>
      </p:sp>
      <p:sp>
        <p:nvSpPr>
          <p:cNvPr id="335885" name="文本框 335884"/>
          <p:cNvSpPr txBox="1"/>
          <p:nvPr/>
        </p:nvSpPr>
        <p:spPr>
          <a:xfrm>
            <a:off x="4295775" y="1989138"/>
            <a:ext cx="1331913"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行动集</a:t>
            </a:r>
            <a:endParaRPr lang="zh-CN" altLang="en-US" sz="2400" dirty="0">
              <a:solidFill>
                <a:srgbClr val="996600"/>
              </a:solidFill>
              <a:latin typeface="Tahoma" panose="020B0604030504040204" pitchFamily="34" charset="0"/>
            </a:endParaRPr>
          </a:p>
        </p:txBody>
      </p:sp>
      <p:sp>
        <p:nvSpPr>
          <p:cNvPr id="335886" name="直接连接符 335885"/>
          <p:cNvSpPr/>
          <p:nvPr/>
        </p:nvSpPr>
        <p:spPr>
          <a:xfrm>
            <a:off x="4043363" y="1844675"/>
            <a:ext cx="1587" cy="4572000"/>
          </a:xfrm>
          <a:prstGeom prst="line">
            <a:avLst/>
          </a:prstGeom>
          <a:ln w="9525" cap="flat" cmpd="sng">
            <a:solidFill>
              <a:schemeClr val="tx1"/>
            </a:solidFill>
            <a:prstDash val="dash"/>
            <a:headEnd type="none" w="med" len="med"/>
            <a:tailEnd type="none" w="med" len="med"/>
          </a:ln>
        </p:spPr>
      </p:sp>
      <p:sp>
        <p:nvSpPr>
          <p:cNvPr id="335887" name="直接连接符 335886"/>
          <p:cNvSpPr/>
          <p:nvPr/>
        </p:nvSpPr>
        <p:spPr>
          <a:xfrm>
            <a:off x="5700713" y="1844675"/>
            <a:ext cx="1587" cy="4572000"/>
          </a:xfrm>
          <a:prstGeom prst="line">
            <a:avLst/>
          </a:prstGeom>
          <a:ln w="9525" cap="flat" cmpd="sng">
            <a:solidFill>
              <a:schemeClr val="tx1"/>
            </a:solidFill>
            <a:prstDash val="dash"/>
            <a:headEnd type="none" w="med" len="med"/>
            <a:tailEnd type="none" w="med" len="med"/>
          </a:ln>
        </p:spPr>
      </p:sp>
      <p:sp>
        <p:nvSpPr>
          <p:cNvPr id="335888" name="直接连接符 335887"/>
          <p:cNvSpPr/>
          <p:nvPr/>
        </p:nvSpPr>
        <p:spPr>
          <a:xfrm>
            <a:off x="7464425" y="1881188"/>
            <a:ext cx="1588" cy="4572000"/>
          </a:xfrm>
          <a:prstGeom prst="line">
            <a:avLst/>
          </a:prstGeom>
          <a:ln w="9525" cap="flat" cmpd="sng">
            <a:solidFill>
              <a:schemeClr val="tx1"/>
            </a:solidFill>
            <a:prstDash val="dash"/>
            <a:headEnd type="none" w="med" len="med"/>
            <a:tailEnd type="none" w="med" len="med"/>
          </a:ln>
        </p:spPr>
      </p:sp>
      <p:sp>
        <p:nvSpPr>
          <p:cNvPr id="335889" name="直接连接符 335888"/>
          <p:cNvSpPr/>
          <p:nvPr/>
        </p:nvSpPr>
        <p:spPr>
          <a:xfrm>
            <a:off x="2927350" y="2492375"/>
            <a:ext cx="5905500" cy="1588"/>
          </a:xfrm>
          <a:prstGeom prst="line">
            <a:avLst/>
          </a:prstGeom>
          <a:ln w="9525" cap="flat" cmpd="sng">
            <a:solidFill>
              <a:schemeClr val="tx1"/>
            </a:solidFill>
            <a:prstDash val="dashDot"/>
            <a:headEnd type="none" w="med" len="med"/>
            <a:tailEnd type="none" w="med" len="med"/>
          </a:ln>
        </p:spPr>
      </p:sp>
      <p:sp>
        <p:nvSpPr>
          <p:cNvPr id="335890" name="文本框 335889"/>
          <p:cNvSpPr txBox="1"/>
          <p:nvPr/>
        </p:nvSpPr>
        <p:spPr>
          <a:xfrm>
            <a:off x="2640013" y="1990725"/>
            <a:ext cx="1331912"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决策人</a:t>
            </a:r>
            <a:endParaRPr lang="zh-CN" altLang="en-US" sz="2400" dirty="0">
              <a:solidFill>
                <a:srgbClr val="996600"/>
              </a:solidFill>
              <a:latin typeface="Tahoma" panose="020B0604030504040204" pitchFamily="34" charset="0"/>
            </a:endParaRPr>
          </a:p>
        </p:txBody>
      </p:sp>
      <p:sp>
        <p:nvSpPr>
          <p:cNvPr id="335891" name="文本框 335890"/>
          <p:cNvSpPr txBox="1"/>
          <p:nvPr/>
        </p:nvSpPr>
        <p:spPr>
          <a:xfrm>
            <a:off x="5772150" y="1989138"/>
            <a:ext cx="1655763" cy="358775"/>
          </a:xfrm>
          <a:prstGeom prst="rect">
            <a:avLst/>
          </a:prstGeom>
          <a:noFill/>
          <a:ln w="9525">
            <a:noFill/>
          </a:ln>
        </p:spPr>
        <p:txBody>
          <a:bodyPr lIns="0" tIns="0" rIns="0" bIns="0"/>
          <a:p>
            <a:pPr algn="ctr"/>
            <a:r>
              <a:rPr lang="zh-CN" altLang="en-US" sz="2400" dirty="0">
                <a:solidFill>
                  <a:schemeClr val="hlink"/>
                </a:solidFill>
                <a:latin typeface="Times New Roman" panose="02020603050405020304" pitchFamily="18" charset="0"/>
              </a:rPr>
              <a:t>自然状态集</a:t>
            </a:r>
            <a:endParaRPr lang="zh-CN" altLang="en-US" sz="2400" dirty="0">
              <a:solidFill>
                <a:schemeClr val="hlink"/>
              </a:solidFill>
              <a:latin typeface="Tahoma" panose="020B0604030504040204" pitchFamily="34" charset="0"/>
            </a:endParaRPr>
          </a:p>
        </p:txBody>
      </p:sp>
      <p:sp>
        <p:nvSpPr>
          <p:cNvPr id="335892" name="文本框 335891"/>
          <p:cNvSpPr txBox="1"/>
          <p:nvPr/>
        </p:nvSpPr>
        <p:spPr>
          <a:xfrm>
            <a:off x="7535863" y="2024063"/>
            <a:ext cx="1331912" cy="358775"/>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后果集</a:t>
            </a:r>
            <a:endParaRPr lang="zh-CN" altLang="en-US" sz="2400" dirty="0">
              <a:solidFill>
                <a:srgbClr val="996600"/>
              </a:solidFill>
              <a:latin typeface="Tahoma" panose="020B0604030504040204" pitchFamily="34" charset="0"/>
            </a:endParaRPr>
          </a:p>
        </p:txBody>
      </p:sp>
      <p:sp>
        <p:nvSpPr>
          <p:cNvPr id="335893" name="文本框 335892"/>
          <p:cNvSpPr txBox="1"/>
          <p:nvPr/>
        </p:nvSpPr>
        <p:spPr>
          <a:xfrm>
            <a:off x="5916613" y="3465513"/>
            <a:ext cx="1331912" cy="287337"/>
          </a:xfrm>
          <a:prstGeom prst="rect">
            <a:avLst/>
          </a:prstGeom>
          <a:noFill/>
          <a:ln w="9525">
            <a:noFill/>
          </a:ln>
        </p:spPr>
        <p:txBody>
          <a:bodyPr lIns="0" tIns="0" rIns="0" bIns="0"/>
          <a:p>
            <a:pPr algn="ctr"/>
            <a:r>
              <a:rPr lang="zh-CN" altLang="en-US" dirty="0">
                <a:latin typeface="Times New Roman" panose="02020603050405020304" pitchFamily="18" charset="0"/>
              </a:rPr>
              <a:t>找不到</a:t>
            </a:r>
            <a:r>
              <a:rPr lang="en-US" altLang="zh-CN">
                <a:latin typeface="Times New Roman" panose="02020603050405020304" pitchFamily="18" charset="0"/>
              </a:rPr>
              <a:t>(1%)</a:t>
            </a:r>
            <a:endParaRPr lang="en-US" altLang="zh-CN">
              <a:latin typeface="Tahoma" panose="020B0604030504040204" pitchFamily="34" charset="0"/>
            </a:endParaRPr>
          </a:p>
        </p:txBody>
      </p:sp>
      <p:sp>
        <p:nvSpPr>
          <p:cNvPr id="335894" name="直接连接符 335893"/>
          <p:cNvSpPr/>
          <p:nvPr/>
        </p:nvSpPr>
        <p:spPr>
          <a:xfrm>
            <a:off x="5808663" y="3824288"/>
            <a:ext cx="1727200" cy="1587"/>
          </a:xfrm>
          <a:prstGeom prst="line">
            <a:avLst/>
          </a:prstGeom>
          <a:ln w="9525" cap="flat" cmpd="sng">
            <a:solidFill>
              <a:srgbClr val="000000"/>
            </a:solidFill>
            <a:prstDash val="solid"/>
            <a:headEnd type="none" w="med" len="med"/>
            <a:tailEnd type="none" w="med" len="med"/>
          </a:ln>
        </p:spPr>
      </p:sp>
      <p:sp>
        <p:nvSpPr>
          <p:cNvPr id="335895" name="直接连接符 335894"/>
          <p:cNvSpPr/>
          <p:nvPr/>
        </p:nvSpPr>
        <p:spPr>
          <a:xfrm>
            <a:off x="4192588" y="4583113"/>
            <a:ext cx="1511300" cy="1587"/>
          </a:xfrm>
          <a:prstGeom prst="line">
            <a:avLst/>
          </a:prstGeom>
          <a:ln w="9525" cap="flat" cmpd="sng">
            <a:solidFill>
              <a:srgbClr val="000000"/>
            </a:solidFill>
            <a:prstDash val="solid"/>
            <a:headEnd type="none" w="med" len="med"/>
            <a:tailEnd type="none" w="med" len="med"/>
          </a:ln>
        </p:spPr>
      </p:sp>
      <p:sp>
        <p:nvSpPr>
          <p:cNvPr id="335896" name="椭圆 335895"/>
          <p:cNvSpPr/>
          <p:nvPr/>
        </p:nvSpPr>
        <p:spPr>
          <a:xfrm>
            <a:off x="5700713" y="4473575"/>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5897" name="直接连接符 335896"/>
          <p:cNvSpPr/>
          <p:nvPr/>
        </p:nvSpPr>
        <p:spPr>
          <a:xfrm>
            <a:off x="5808663" y="4365625"/>
            <a:ext cx="3175" cy="107950"/>
          </a:xfrm>
          <a:prstGeom prst="line">
            <a:avLst/>
          </a:prstGeom>
          <a:ln w="9525" cap="flat" cmpd="sng">
            <a:solidFill>
              <a:srgbClr val="000000"/>
            </a:solidFill>
            <a:prstDash val="solid"/>
            <a:headEnd type="none" w="med" len="med"/>
            <a:tailEnd type="none" w="med" len="med"/>
          </a:ln>
        </p:spPr>
      </p:sp>
      <p:sp>
        <p:nvSpPr>
          <p:cNvPr id="335898" name="直接连接符 335897"/>
          <p:cNvSpPr/>
          <p:nvPr/>
        </p:nvSpPr>
        <p:spPr>
          <a:xfrm>
            <a:off x="5808663" y="4365625"/>
            <a:ext cx="1727200" cy="1588"/>
          </a:xfrm>
          <a:prstGeom prst="line">
            <a:avLst/>
          </a:prstGeom>
          <a:ln w="9525" cap="flat" cmpd="sng">
            <a:solidFill>
              <a:srgbClr val="000000"/>
            </a:solidFill>
            <a:prstDash val="solid"/>
            <a:headEnd type="none" w="med" len="med"/>
            <a:tailEnd type="none" w="med" len="med"/>
          </a:ln>
        </p:spPr>
      </p:sp>
      <p:sp>
        <p:nvSpPr>
          <p:cNvPr id="335899" name="直接连接符 335898"/>
          <p:cNvSpPr/>
          <p:nvPr/>
        </p:nvSpPr>
        <p:spPr>
          <a:xfrm>
            <a:off x="5808663" y="4725988"/>
            <a:ext cx="1587" cy="142875"/>
          </a:xfrm>
          <a:prstGeom prst="line">
            <a:avLst/>
          </a:prstGeom>
          <a:ln w="9525" cap="flat" cmpd="sng">
            <a:solidFill>
              <a:srgbClr val="000000"/>
            </a:solidFill>
            <a:prstDash val="solid"/>
            <a:headEnd type="none" w="med" len="med"/>
            <a:tailEnd type="none" w="med" len="med"/>
          </a:ln>
        </p:spPr>
      </p:sp>
      <p:sp>
        <p:nvSpPr>
          <p:cNvPr id="335900" name="文本框 335899"/>
          <p:cNvSpPr txBox="1"/>
          <p:nvPr/>
        </p:nvSpPr>
        <p:spPr>
          <a:xfrm>
            <a:off x="5880100" y="4005263"/>
            <a:ext cx="1368425" cy="287337"/>
          </a:xfrm>
          <a:prstGeom prst="rect">
            <a:avLst/>
          </a:prstGeom>
          <a:noFill/>
          <a:ln w="9525">
            <a:noFill/>
          </a:ln>
        </p:spPr>
        <p:txBody>
          <a:bodyPr lIns="0" tIns="0" rIns="0" bIns="0"/>
          <a:p>
            <a:pPr algn="ctr"/>
            <a:r>
              <a:rPr lang="zh-CN" altLang="en-US" dirty="0">
                <a:latin typeface="Times New Roman" panose="02020603050405020304" pitchFamily="18" charset="0"/>
              </a:rPr>
              <a:t>考上</a:t>
            </a:r>
            <a:r>
              <a:rPr lang="en-US" altLang="zh-CN">
                <a:latin typeface="Times New Roman" panose="02020603050405020304" pitchFamily="18" charset="0"/>
              </a:rPr>
              <a:t>(80%)</a:t>
            </a:r>
            <a:endParaRPr lang="en-US" altLang="zh-CN">
              <a:latin typeface="Tahoma" panose="020B0604030504040204" pitchFamily="34" charset="0"/>
            </a:endParaRPr>
          </a:p>
        </p:txBody>
      </p:sp>
      <p:sp>
        <p:nvSpPr>
          <p:cNvPr id="335901" name="文本框 335900"/>
          <p:cNvSpPr txBox="1"/>
          <p:nvPr/>
        </p:nvSpPr>
        <p:spPr>
          <a:xfrm>
            <a:off x="4222750" y="4151313"/>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读博</a:t>
            </a:r>
            <a:endParaRPr lang="zh-CN" altLang="en-US" dirty="0">
              <a:solidFill>
                <a:schemeClr val="tx2"/>
              </a:solidFill>
              <a:latin typeface="Tahoma" panose="020B0604030504040204" pitchFamily="34" charset="0"/>
            </a:endParaRPr>
          </a:p>
        </p:txBody>
      </p:sp>
      <p:sp>
        <p:nvSpPr>
          <p:cNvPr id="335902" name="文本框 335901"/>
          <p:cNvSpPr txBox="1"/>
          <p:nvPr/>
        </p:nvSpPr>
        <p:spPr>
          <a:xfrm>
            <a:off x="5951538" y="4545013"/>
            <a:ext cx="1439862" cy="323850"/>
          </a:xfrm>
          <a:prstGeom prst="rect">
            <a:avLst/>
          </a:prstGeom>
          <a:noFill/>
          <a:ln w="9525">
            <a:noFill/>
          </a:ln>
        </p:spPr>
        <p:txBody>
          <a:bodyPr lIns="0" tIns="0" rIns="0" bIns="0"/>
          <a:p>
            <a:pPr algn="ctr"/>
            <a:r>
              <a:rPr lang="zh-CN" altLang="en-US" dirty="0">
                <a:latin typeface="Tahoma" panose="020B0604030504040204" pitchFamily="34" charset="0"/>
              </a:rPr>
              <a:t>考不上</a:t>
            </a:r>
            <a:r>
              <a:rPr lang="en-US" altLang="zh-CN">
                <a:latin typeface="Tahoma" panose="020B0604030504040204" pitchFamily="34" charset="0"/>
              </a:rPr>
              <a:t>(20%)</a:t>
            </a:r>
            <a:endParaRPr lang="en-US" altLang="zh-CN">
              <a:latin typeface="Times New Roman" panose="02020603050405020304" pitchFamily="18" charset="0"/>
            </a:endParaRPr>
          </a:p>
        </p:txBody>
      </p:sp>
      <p:sp>
        <p:nvSpPr>
          <p:cNvPr id="335903" name="直接连接符 335902"/>
          <p:cNvSpPr/>
          <p:nvPr/>
        </p:nvSpPr>
        <p:spPr>
          <a:xfrm>
            <a:off x="5808663" y="4868863"/>
            <a:ext cx="1727200" cy="1587"/>
          </a:xfrm>
          <a:prstGeom prst="line">
            <a:avLst/>
          </a:prstGeom>
          <a:ln w="9525" cap="flat" cmpd="sng">
            <a:solidFill>
              <a:srgbClr val="000000"/>
            </a:solidFill>
            <a:prstDash val="solid"/>
            <a:headEnd type="none" w="med" len="med"/>
            <a:tailEnd type="none" w="med" len="med"/>
          </a:ln>
        </p:spPr>
      </p:sp>
      <p:sp>
        <p:nvSpPr>
          <p:cNvPr id="335904" name="直接连接符 335903"/>
          <p:cNvSpPr/>
          <p:nvPr/>
        </p:nvSpPr>
        <p:spPr>
          <a:xfrm>
            <a:off x="4192588" y="5554663"/>
            <a:ext cx="1511300" cy="1587"/>
          </a:xfrm>
          <a:prstGeom prst="line">
            <a:avLst/>
          </a:prstGeom>
          <a:ln w="9525" cap="flat" cmpd="sng">
            <a:solidFill>
              <a:srgbClr val="000000"/>
            </a:solidFill>
            <a:prstDash val="solid"/>
            <a:headEnd type="none" w="med" len="med"/>
            <a:tailEnd type="none" w="med" len="med"/>
          </a:ln>
        </p:spPr>
      </p:sp>
      <p:sp>
        <p:nvSpPr>
          <p:cNvPr id="335905" name="椭圆 335904"/>
          <p:cNvSpPr/>
          <p:nvPr/>
        </p:nvSpPr>
        <p:spPr>
          <a:xfrm>
            <a:off x="5700713" y="5445125"/>
            <a:ext cx="223837" cy="252413"/>
          </a:xfrm>
          <a:prstGeom prst="ellipse">
            <a:avLst/>
          </a:prstGeom>
          <a:solidFill>
            <a:srgbClr val="FFFFFF"/>
          </a:solidFill>
          <a:ln w="9525" cap="flat" cmpd="sng">
            <a:solidFill>
              <a:srgbClr val="000000"/>
            </a:solidFill>
            <a:prstDash val="solid"/>
            <a:headEnd type="none" w="med" len="med"/>
            <a:tailEnd type="none" w="med" len="med"/>
          </a:ln>
        </p:spPr>
        <p:txBody>
          <a:bodyPr/>
          <a:p>
            <a:endParaRPr lang="zh-CN" altLang="en-US"/>
          </a:p>
        </p:txBody>
      </p:sp>
      <p:sp>
        <p:nvSpPr>
          <p:cNvPr id="335906" name="直接连接符 335905"/>
          <p:cNvSpPr/>
          <p:nvPr/>
        </p:nvSpPr>
        <p:spPr>
          <a:xfrm>
            <a:off x="5808663" y="5337175"/>
            <a:ext cx="3175" cy="107950"/>
          </a:xfrm>
          <a:prstGeom prst="line">
            <a:avLst/>
          </a:prstGeom>
          <a:ln w="9525" cap="flat" cmpd="sng">
            <a:solidFill>
              <a:srgbClr val="000000"/>
            </a:solidFill>
            <a:prstDash val="solid"/>
            <a:headEnd type="none" w="med" len="med"/>
            <a:tailEnd type="none" w="med" len="med"/>
          </a:ln>
        </p:spPr>
      </p:sp>
      <p:sp>
        <p:nvSpPr>
          <p:cNvPr id="335907" name="直接连接符 335906"/>
          <p:cNvSpPr/>
          <p:nvPr/>
        </p:nvSpPr>
        <p:spPr>
          <a:xfrm>
            <a:off x="5808663" y="5337175"/>
            <a:ext cx="1727200" cy="1588"/>
          </a:xfrm>
          <a:prstGeom prst="line">
            <a:avLst/>
          </a:prstGeom>
          <a:ln w="9525" cap="flat" cmpd="sng">
            <a:solidFill>
              <a:srgbClr val="000000"/>
            </a:solidFill>
            <a:prstDash val="solid"/>
            <a:headEnd type="none" w="med" len="med"/>
            <a:tailEnd type="none" w="med" len="med"/>
          </a:ln>
        </p:spPr>
      </p:sp>
      <p:sp>
        <p:nvSpPr>
          <p:cNvPr id="335908" name="直接连接符 335907"/>
          <p:cNvSpPr/>
          <p:nvPr/>
        </p:nvSpPr>
        <p:spPr>
          <a:xfrm>
            <a:off x="5808663" y="5697538"/>
            <a:ext cx="1587" cy="142875"/>
          </a:xfrm>
          <a:prstGeom prst="line">
            <a:avLst/>
          </a:prstGeom>
          <a:ln w="9525" cap="flat" cmpd="sng">
            <a:solidFill>
              <a:srgbClr val="000000"/>
            </a:solidFill>
            <a:prstDash val="solid"/>
            <a:headEnd type="none" w="med" len="med"/>
            <a:tailEnd type="none" w="med" len="med"/>
          </a:ln>
        </p:spPr>
      </p:sp>
      <p:sp>
        <p:nvSpPr>
          <p:cNvPr id="335909" name="文本框 335908"/>
          <p:cNvSpPr txBox="1"/>
          <p:nvPr/>
        </p:nvSpPr>
        <p:spPr>
          <a:xfrm>
            <a:off x="6132513" y="4976813"/>
            <a:ext cx="836612" cy="287337"/>
          </a:xfrm>
          <a:prstGeom prst="rect">
            <a:avLst/>
          </a:prstGeom>
          <a:noFill/>
          <a:ln w="9525">
            <a:noFill/>
          </a:ln>
        </p:spPr>
        <p:txBody>
          <a:bodyPr lIns="0" tIns="0" rIns="0" bIns="0"/>
          <a:p>
            <a:pPr algn="ctr"/>
            <a:endParaRPr dirty="0">
              <a:latin typeface="Tahoma" panose="020B0604030504040204" pitchFamily="34" charset="0"/>
            </a:endParaRPr>
          </a:p>
        </p:txBody>
      </p:sp>
      <p:sp>
        <p:nvSpPr>
          <p:cNvPr id="335910" name="文本框 335909"/>
          <p:cNvSpPr txBox="1"/>
          <p:nvPr/>
        </p:nvSpPr>
        <p:spPr>
          <a:xfrm>
            <a:off x="4222750" y="5122863"/>
            <a:ext cx="1584325" cy="358775"/>
          </a:xfrm>
          <a:prstGeom prst="rect">
            <a:avLst/>
          </a:prstGeom>
          <a:noFill/>
          <a:ln w="9525">
            <a:noFill/>
          </a:ln>
        </p:spPr>
        <p:txBody>
          <a:bodyPr lIns="0" tIns="0" rIns="0" bIns="0"/>
          <a:p>
            <a:pPr algn="ctr"/>
            <a:r>
              <a:rPr lang="zh-CN" altLang="en-US" dirty="0">
                <a:solidFill>
                  <a:schemeClr val="tx2"/>
                </a:solidFill>
                <a:latin typeface="Tahoma" panose="020B0604030504040204" pitchFamily="34" charset="0"/>
              </a:rPr>
              <a:t>出国留学</a:t>
            </a:r>
            <a:endParaRPr lang="zh-CN" altLang="en-US" dirty="0">
              <a:solidFill>
                <a:schemeClr val="tx2"/>
              </a:solidFill>
              <a:latin typeface="Tahoma" panose="020B0604030504040204" pitchFamily="34" charset="0"/>
            </a:endParaRPr>
          </a:p>
        </p:txBody>
      </p:sp>
      <p:sp>
        <p:nvSpPr>
          <p:cNvPr id="335911" name="文本框 335910"/>
          <p:cNvSpPr txBox="1"/>
          <p:nvPr/>
        </p:nvSpPr>
        <p:spPr>
          <a:xfrm>
            <a:off x="5988050" y="5481638"/>
            <a:ext cx="1223963" cy="287337"/>
          </a:xfrm>
          <a:prstGeom prst="rect">
            <a:avLst/>
          </a:prstGeom>
          <a:noFill/>
          <a:ln w="9525">
            <a:noFill/>
          </a:ln>
        </p:spPr>
        <p:txBody>
          <a:bodyPr lIns="0" tIns="0" rIns="0" bIns="0"/>
          <a:p>
            <a:pPr algn="ctr"/>
            <a:r>
              <a:rPr lang="zh-CN" altLang="en-US" dirty="0">
                <a:latin typeface="Times New Roman" panose="02020603050405020304" pitchFamily="18" charset="0"/>
              </a:rPr>
              <a:t>失</a:t>
            </a:r>
            <a:r>
              <a:rPr lang="zh-CN" altLang="en-US" sz="1800" dirty="0">
                <a:latin typeface="Times New Roman" panose="02020603050405020304" pitchFamily="18" charset="0"/>
              </a:rPr>
              <a:t>败</a:t>
            </a:r>
            <a:r>
              <a:rPr lang="en-US" altLang="zh-CN">
                <a:latin typeface="Times New Roman" panose="02020603050405020304" pitchFamily="18" charset="0"/>
              </a:rPr>
              <a:t>(70%)</a:t>
            </a:r>
            <a:endParaRPr lang="en-US" altLang="zh-CN">
              <a:latin typeface="Tahoma" panose="020B0604030504040204" pitchFamily="34" charset="0"/>
            </a:endParaRPr>
          </a:p>
        </p:txBody>
      </p:sp>
      <p:sp>
        <p:nvSpPr>
          <p:cNvPr id="335912" name="直接连接符 335911"/>
          <p:cNvSpPr/>
          <p:nvPr/>
        </p:nvSpPr>
        <p:spPr>
          <a:xfrm>
            <a:off x="5808663" y="5840413"/>
            <a:ext cx="1727200" cy="1587"/>
          </a:xfrm>
          <a:prstGeom prst="line">
            <a:avLst/>
          </a:prstGeom>
          <a:ln w="9525" cap="flat" cmpd="sng">
            <a:solidFill>
              <a:srgbClr val="000000"/>
            </a:solidFill>
            <a:prstDash val="solid"/>
            <a:headEnd type="none" w="med" len="med"/>
            <a:tailEnd type="none" w="med" len="med"/>
          </a:ln>
        </p:spPr>
      </p:sp>
      <p:sp>
        <p:nvSpPr>
          <p:cNvPr id="335913" name="文本框 335912"/>
          <p:cNvSpPr txBox="1"/>
          <p:nvPr/>
        </p:nvSpPr>
        <p:spPr>
          <a:xfrm>
            <a:off x="5988050" y="5013325"/>
            <a:ext cx="1295400" cy="287338"/>
          </a:xfrm>
          <a:prstGeom prst="rect">
            <a:avLst/>
          </a:prstGeom>
          <a:noFill/>
          <a:ln w="9525">
            <a:noFill/>
          </a:ln>
        </p:spPr>
        <p:txBody>
          <a:bodyPr lIns="0" tIns="0" rIns="0" bIns="0"/>
          <a:p>
            <a:pPr algn="ctr"/>
            <a:r>
              <a:rPr lang="zh-CN" altLang="en-US" dirty="0">
                <a:latin typeface="Tahoma" panose="020B0604030504040204" pitchFamily="34" charset="0"/>
              </a:rPr>
              <a:t>成功</a:t>
            </a:r>
            <a:r>
              <a:rPr lang="en-US" altLang="zh-CN">
                <a:latin typeface="Tahoma" panose="020B0604030504040204" pitchFamily="34" charset="0"/>
              </a:rPr>
              <a:t>(30%)</a:t>
            </a:r>
            <a:endParaRPr lang="en-US" altLang="zh-CN">
              <a:latin typeface="Times New Roman" panose="02020603050405020304" pitchFamily="18" charset="0"/>
            </a:endParaRPr>
          </a:p>
        </p:txBody>
      </p:sp>
      <p:sp>
        <p:nvSpPr>
          <p:cNvPr id="335914" name="文本框 335913"/>
          <p:cNvSpPr txBox="1"/>
          <p:nvPr/>
        </p:nvSpPr>
        <p:spPr>
          <a:xfrm>
            <a:off x="8580438" y="3752850"/>
            <a:ext cx="1835150" cy="973138"/>
          </a:xfrm>
          <a:prstGeom prst="rect">
            <a:avLst/>
          </a:prstGeom>
          <a:noFill/>
          <a:ln w="9525">
            <a:noFill/>
          </a:ln>
        </p:spPr>
        <p:txBody>
          <a:bodyPr lIns="0" tIns="0" rIns="0" bIns="0"/>
          <a:p>
            <a:pPr algn="ctr"/>
            <a:r>
              <a:rPr lang="zh-CN" altLang="en-US" sz="2400" dirty="0">
                <a:solidFill>
                  <a:srgbClr val="996600"/>
                </a:solidFill>
                <a:latin typeface="Times New Roman" panose="02020603050405020304" pitchFamily="18" charset="0"/>
              </a:rPr>
              <a:t>信息集？</a:t>
            </a:r>
            <a:endParaRPr lang="zh-CN" altLang="en-US" sz="2400" dirty="0">
              <a:solidFill>
                <a:srgbClr val="996600"/>
              </a:solidFill>
              <a:latin typeface="Times New Roman" panose="02020603050405020304" pitchFamily="18" charset="0"/>
            </a:endParaRPr>
          </a:p>
          <a:p>
            <a:pPr algn="ctr"/>
            <a:r>
              <a:rPr lang="en-US" altLang="zh-CN" sz="2400">
                <a:solidFill>
                  <a:srgbClr val="996600"/>
                </a:solidFill>
                <a:latin typeface="Times New Roman" panose="02020603050405020304" pitchFamily="18" charset="0"/>
              </a:rPr>
              <a:t>(</a:t>
            </a:r>
            <a:r>
              <a:rPr lang="zh-CN" altLang="en-US" sz="2400" dirty="0">
                <a:solidFill>
                  <a:srgbClr val="996600"/>
                </a:solidFill>
                <a:latin typeface="Times New Roman" panose="02020603050405020304" pitchFamily="18" charset="0"/>
              </a:rPr>
              <a:t>概率和效用</a:t>
            </a:r>
            <a:r>
              <a:rPr lang="en-US" altLang="zh-CN" sz="2400">
                <a:solidFill>
                  <a:srgbClr val="996600"/>
                </a:solidFill>
                <a:latin typeface="Times New Roman" panose="02020603050405020304" pitchFamily="18" charset="0"/>
              </a:rPr>
              <a:t>)</a:t>
            </a:r>
            <a:endParaRPr lang="en-US" altLang="zh-CN" sz="2400">
              <a:solidFill>
                <a:srgbClr val="996600"/>
              </a:solidFill>
              <a:latin typeface="Tahoma" panose="020B0604030504040204" pitchFamily="34" charset="0"/>
            </a:endParaRPr>
          </a:p>
        </p:txBody>
      </p:sp>
      <p:sp>
        <p:nvSpPr>
          <p:cNvPr id="335915" name="文本框 335914"/>
          <p:cNvSpPr txBox="1"/>
          <p:nvPr/>
        </p:nvSpPr>
        <p:spPr>
          <a:xfrm>
            <a:off x="7500938" y="3681413"/>
            <a:ext cx="973137" cy="287337"/>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C2</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5916" name="文本框 335915"/>
          <p:cNvSpPr txBox="1"/>
          <p:nvPr/>
        </p:nvSpPr>
        <p:spPr>
          <a:xfrm>
            <a:off x="7535863" y="4184650"/>
            <a:ext cx="973137" cy="287338"/>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C3</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5917" name="文本框 335916"/>
          <p:cNvSpPr txBox="1"/>
          <p:nvPr/>
        </p:nvSpPr>
        <p:spPr>
          <a:xfrm>
            <a:off x="7535863" y="4724400"/>
            <a:ext cx="973137" cy="287338"/>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C4</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5918" name="文本框 335917"/>
          <p:cNvSpPr txBox="1"/>
          <p:nvPr/>
        </p:nvSpPr>
        <p:spPr>
          <a:xfrm>
            <a:off x="7535863" y="5157788"/>
            <a:ext cx="973137" cy="287337"/>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C5</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5919" name="文本框 335918"/>
          <p:cNvSpPr txBox="1"/>
          <p:nvPr/>
        </p:nvSpPr>
        <p:spPr>
          <a:xfrm>
            <a:off x="7535863" y="5697538"/>
            <a:ext cx="973137" cy="287337"/>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C6</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
        <p:nvSpPr>
          <p:cNvPr id="335920" name="文本框 335919"/>
          <p:cNvSpPr txBox="1"/>
          <p:nvPr/>
        </p:nvSpPr>
        <p:spPr>
          <a:xfrm>
            <a:off x="7535863" y="3176588"/>
            <a:ext cx="973137" cy="287337"/>
          </a:xfrm>
          <a:prstGeom prst="rect">
            <a:avLst/>
          </a:prstGeom>
          <a:noFill/>
          <a:ln w="9525">
            <a:noFill/>
          </a:ln>
        </p:spPr>
        <p:txBody>
          <a:bodyPr lIns="0" tIns="0" rIns="0" bIns="0"/>
          <a:p>
            <a:pPr algn="ctr"/>
            <a:r>
              <a:rPr lang="en-US" altLang="zh-CN">
                <a:solidFill>
                  <a:schemeClr val="hlink"/>
                </a:solidFill>
                <a:latin typeface="Times New Roman" panose="02020603050405020304" pitchFamily="18" charset="0"/>
              </a:rPr>
              <a:t>C1</a:t>
            </a:r>
            <a:r>
              <a:rPr lang="zh-CN" altLang="en-US" dirty="0">
                <a:solidFill>
                  <a:schemeClr val="hlink"/>
                </a:solidFill>
                <a:latin typeface="Times New Roman" panose="02020603050405020304" pitchFamily="18" charset="0"/>
              </a:rPr>
              <a:t>？</a:t>
            </a:r>
            <a:endParaRPr lang="zh-CN" altLang="en-US" dirty="0">
              <a:solidFill>
                <a:schemeClr val="hlink"/>
              </a:solidFill>
              <a:latin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3042" name="标题 343041"/>
          <p:cNvSpPr>
            <a:spLocks noGrp="1"/>
          </p:cNvSpPr>
          <p:nvPr>
            <p:ph type="title"/>
          </p:nvPr>
        </p:nvSpPr>
        <p:spPr/>
        <p:txBody>
          <a:bodyPr anchor="b" anchorCtr="0"/>
          <a:p>
            <a:pPr algn="l"/>
            <a:r>
              <a:rPr lang="zh-CN" altLang="en-US" dirty="0"/>
              <a:t>例子</a:t>
            </a:r>
            <a:r>
              <a:rPr lang="en-US" altLang="zh-CN"/>
              <a:t>1</a:t>
            </a:r>
            <a:r>
              <a:rPr lang="zh-CN" altLang="en-US" dirty="0"/>
              <a:t>中的疑问</a:t>
            </a:r>
            <a:endParaRPr lang="zh-CN" altLang="en-US"/>
          </a:p>
        </p:txBody>
      </p:sp>
      <p:sp>
        <p:nvSpPr>
          <p:cNvPr id="343043" name="文本占位符 343042"/>
          <p:cNvSpPr>
            <a:spLocks noGrp="1"/>
          </p:cNvSpPr>
          <p:nvPr>
            <p:ph type="body" idx="1"/>
          </p:nvPr>
        </p:nvSpPr>
        <p:spPr>
          <a:xfrm>
            <a:off x="3143250" y="1989138"/>
            <a:ext cx="6767513" cy="4114800"/>
          </a:xfrm>
        </p:spPr>
        <p:txBody>
          <a:bodyPr>
            <a:normAutofit lnSpcReduction="10000"/>
          </a:bodyPr>
          <a:p>
            <a:pPr>
              <a:lnSpc>
                <a:spcPct val="80000"/>
              </a:lnSpc>
            </a:pPr>
            <a:r>
              <a:rPr lang="zh-CN" altLang="en-US" sz="2800" dirty="0">
                <a:solidFill>
                  <a:schemeClr val="tx1"/>
                </a:solidFill>
                <a:cs typeface="楷体" panose="02010609060101010101" pitchFamily="49" charset="-122"/>
              </a:rPr>
              <a:t>问题</a:t>
            </a:r>
            <a:r>
              <a:rPr lang="en-US" altLang="zh-CN" sz="2800">
                <a:solidFill>
                  <a:schemeClr val="tx1"/>
                </a:solidFill>
                <a:cs typeface="楷体" panose="02010609060101010101" pitchFamily="49" charset="-122"/>
              </a:rPr>
              <a:t>1: </a:t>
            </a:r>
            <a:r>
              <a:rPr lang="zh-CN" altLang="en-US" sz="2800" dirty="0">
                <a:solidFill>
                  <a:schemeClr val="tx1"/>
                </a:solidFill>
                <a:cs typeface="楷体" panose="02010609060101010101" pitchFamily="49" charset="-122"/>
              </a:rPr>
              <a:t>张三是谁？</a:t>
            </a:r>
            <a:r>
              <a:rPr lang="en-US" altLang="zh-CN" sz="2800">
                <a:solidFill>
                  <a:schemeClr val="tx1"/>
                </a:solidFill>
                <a:cs typeface="楷体" panose="02010609060101010101" pitchFamily="49" charset="-122"/>
              </a:rPr>
              <a:t>(</a:t>
            </a:r>
            <a:r>
              <a:rPr lang="zh-CN" altLang="en-US" sz="2800" dirty="0">
                <a:solidFill>
                  <a:schemeClr val="tx1"/>
                </a:solidFill>
                <a:cs typeface="楷体" panose="02010609060101010101" pitchFamily="49" charset="-122"/>
              </a:rPr>
              <a:t>决策问题的理性假设，问题的简化</a:t>
            </a:r>
            <a:r>
              <a:rPr lang="en-US" altLang="zh-CN" sz="2800">
                <a:solidFill>
                  <a:schemeClr val="tx1"/>
                </a:solidFill>
                <a:cs typeface="楷体" panose="02010609060101010101" pitchFamily="49" charset="-122"/>
              </a:rPr>
              <a:t>)</a:t>
            </a:r>
            <a:endParaRPr lang="en-US" altLang="zh-CN" sz="2800">
              <a:solidFill>
                <a:schemeClr val="tx1"/>
              </a:solidFill>
              <a:cs typeface="楷体" panose="02010609060101010101" pitchFamily="49" charset="-122"/>
            </a:endParaRPr>
          </a:p>
          <a:p>
            <a:pPr>
              <a:lnSpc>
                <a:spcPct val="80000"/>
              </a:lnSpc>
            </a:pPr>
            <a:endParaRPr lang="en-US" altLang="zh-CN" sz="2800">
              <a:solidFill>
                <a:schemeClr val="tx1"/>
              </a:solidFill>
              <a:cs typeface="楷体" panose="02010609060101010101" pitchFamily="49" charset="-122"/>
            </a:endParaRPr>
          </a:p>
          <a:p>
            <a:pPr>
              <a:lnSpc>
                <a:spcPct val="80000"/>
              </a:lnSpc>
            </a:pPr>
            <a:r>
              <a:rPr lang="zh-CN" altLang="en-US" sz="2800" dirty="0">
                <a:solidFill>
                  <a:schemeClr val="tx1"/>
                </a:solidFill>
                <a:cs typeface="楷体" panose="02010609060101010101" pitchFamily="49" charset="-122"/>
              </a:rPr>
              <a:t>问题</a:t>
            </a:r>
            <a:r>
              <a:rPr lang="en-US" altLang="zh-CN" sz="2800">
                <a:solidFill>
                  <a:schemeClr val="tx1"/>
                </a:solidFill>
                <a:cs typeface="楷体" panose="02010609060101010101" pitchFamily="49" charset="-122"/>
              </a:rPr>
              <a:t>2: </a:t>
            </a:r>
            <a:r>
              <a:rPr lang="zh-CN" altLang="en-US" sz="2800" dirty="0">
                <a:solidFill>
                  <a:schemeClr val="tx1"/>
                </a:solidFill>
                <a:cs typeface="楷体" panose="02010609060101010101" pitchFamily="49" charset="-122"/>
              </a:rPr>
              <a:t>张三决策时，哪些因素是小王可以控制的？哪些是不可控制的？</a:t>
            </a:r>
            <a:endParaRPr lang="zh-CN" altLang="en-US" sz="2800">
              <a:solidFill>
                <a:schemeClr val="tx1"/>
              </a:solidFill>
              <a:cs typeface="楷体" panose="02010609060101010101" pitchFamily="49" charset="-122"/>
            </a:endParaRPr>
          </a:p>
          <a:p>
            <a:pPr>
              <a:lnSpc>
                <a:spcPct val="80000"/>
              </a:lnSpc>
              <a:buNone/>
            </a:pPr>
            <a:endParaRPr lang="zh-CN" altLang="en-US" sz="2800">
              <a:solidFill>
                <a:schemeClr val="tx1"/>
              </a:solidFill>
              <a:cs typeface="楷体" panose="02010609060101010101" pitchFamily="49" charset="-122"/>
            </a:endParaRPr>
          </a:p>
          <a:p>
            <a:pPr>
              <a:lnSpc>
                <a:spcPct val="80000"/>
              </a:lnSpc>
            </a:pPr>
            <a:r>
              <a:rPr lang="zh-CN" altLang="en-US" sz="2800" dirty="0">
                <a:solidFill>
                  <a:schemeClr val="tx1"/>
                </a:solidFill>
                <a:cs typeface="楷体" panose="02010609060101010101" pitchFamily="49" charset="-122"/>
              </a:rPr>
              <a:t>问题</a:t>
            </a:r>
            <a:r>
              <a:rPr lang="en-US" altLang="zh-CN" sz="2800">
                <a:solidFill>
                  <a:schemeClr val="tx1"/>
                </a:solidFill>
                <a:cs typeface="楷体" panose="02010609060101010101" pitchFamily="49" charset="-122"/>
              </a:rPr>
              <a:t>3: </a:t>
            </a:r>
            <a:r>
              <a:rPr lang="zh-CN" altLang="en-US" sz="2800" dirty="0">
                <a:solidFill>
                  <a:schemeClr val="tx1"/>
                </a:solidFill>
                <a:cs typeface="楷体" panose="02010609060101010101" pitchFamily="49" charset="-122"/>
              </a:rPr>
              <a:t>自然状态与后果集是主观还是客观？</a:t>
            </a:r>
            <a:endParaRPr lang="zh-CN" altLang="en-US" sz="2800" dirty="0">
              <a:solidFill>
                <a:schemeClr val="tx1"/>
              </a:solidFill>
              <a:cs typeface="楷体" panose="02010609060101010101" pitchFamily="49" charset="-122"/>
            </a:endParaRPr>
          </a:p>
          <a:p>
            <a:pPr>
              <a:lnSpc>
                <a:spcPct val="80000"/>
              </a:lnSpc>
              <a:buNone/>
            </a:pPr>
            <a:endParaRPr lang="zh-CN" altLang="en-US" sz="2800" dirty="0">
              <a:solidFill>
                <a:schemeClr val="tx1"/>
              </a:solidFill>
              <a:cs typeface="楷体" panose="02010609060101010101" pitchFamily="49" charset="-122"/>
            </a:endParaRPr>
          </a:p>
          <a:p>
            <a:pPr>
              <a:lnSpc>
                <a:spcPct val="80000"/>
              </a:lnSpc>
            </a:pPr>
            <a:r>
              <a:rPr lang="zh-CN" altLang="en-US" sz="2800" dirty="0">
                <a:solidFill>
                  <a:schemeClr val="tx1"/>
                </a:solidFill>
                <a:cs typeface="楷体" panose="02010609060101010101" pitchFamily="49" charset="-122"/>
              </a:rPr>
              <a:t>问题</a:t>
            </a:r>
            <a:r>
              <a:rPr lang="en-US" altLang="zh-CN" sz="2800">
                <a:solidFill>
                  <a:schemeClr val="tx1"/>
                </a:solidFill>
                <a:cs typeface="楷体" panose="02010609060101010101" pitchFamily="49" charset="-122"/>
              </a:rPr>
              <a:t>4: </a:t>
            </a:r>
            <a:r>
              <a:rPr lang="zh-CN" altLang="en-US" sz="2800" dirty="0">
                <a:solidFill>
                  <a:schemeClr val="tx1"/>
                </a:solidFill>
                <a:cs typeface="楷体" panose="02010609060101010101" pitchFamily="49" charset="-122"/>
              </a:rPr>
              <a:t>决策分析与主观臆断的区别？</a:t>
            </a:r>
            <a:endParaRPr lang="zh-CN" altLang="en-US" sz="2800" dirty="0">
              <a:solidFill>
                <a:schemeClr val="tx1"/>
              </a:solidFill>
              <a:cs typeface="楷体" panose="02010609060101010101" pitchFamily="49" charset="-122"/>
            </a:endParaRPr>
          </a:p>
        </p:txBody>
      </p:sp>
      <p:pic>
        <p:nvPicPr>
          <p:cNvPr id="343044" name="图片 343043" descr="t01b704abe51830aea8"/>
          <p:cNvPicPr>
            <a:picLocks noChangeAspect="1"/>
          </p:cNvPicPr>
          <p:nvPr/>
        </p:nvPicPr>
        <p:blipFill>
          <a:blip r:embed="rId1"/>
          <a:stretch>
            <a:fillRect/>
          </a:stretch>
        </p:blipFill>
        <p:spPr>
          <a:xfrm>
            <a:off x="1524000" y="2097088"/>
            <a:ext cx="1511300" cy="18002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5394" name="标题 315393"/>
          <p:cNvSpPr>
            <a:spLocks noGrp="1"/>
          </p:cNvSpPr>
          <p:nvPr>
            <p:ph type="title"/>
          </p:nvPr>
        </p:nvSpPr>
        <p:spPr/>
        <p:txBody>
          <a:bodyPr anchor="b" anchorCtr="0"/>
          <a:p>
            <a:r>
              <a:rPr lang="zh-CN" altLang="en-US" dirty="0"/>
              <a:t>决策的例子</a:t>
            </a:r>
            <a:r>
              <a:rPr lang="en-US" altLang="zh-CN"/>
              <a:t>2</a:t>
            </a:r>
            <a:endParaRPr lang="en-US" altLang="zh-CN"/>
          </a:p>
        </p:txBody>
      </p:sp>
      <p:sp>
        <p:nvSpPr>
          <p:cNvPr id="315395" name="文本占位符 315394"/>
          <p:cNvSpPr>
            <a:spLocks noGrp="1"/>
          </p:cNvSpPr>
          <p:nvPr>
            <p:ph type="body" idx="1"/>
          </p:nvPr>
        </p:nvSpPr>
        <p:spPr>
          <a:xfrm>
            <a:off x="838200" y="1952625"/>
            <a:ext cx="9916795" cy="4608830"/>
          </a:xfrm>
        </p:spPr>
        <p:txBody>
          <a:bodyPr/>
          <a:p>
            <a:pPr>
              <a:lnSpc>
                <a:spcPct val="80000"/>
              </a:lnSpc>
            </a:pPr>
            <a:r>
              <a:rPr lang="zh-CN" altLang="en-US" sz="2800" dirty="0">
                <a:solidFill>
                  <a:srgbClr val="FF0000"/>
                </a:solidFill>
                <a:cs typeface="楷体" panose="02010609060101010101" pitchFamily="49" charset="-122"/>
              </a:rPr>
              <a:t>案例</a:t>
            </a:r>
            <a:r>
              <a:rPr lang="en-US" altLang="zh-CN" sz="2800">
                <a:solidFill>
                  <a:srgbClr val="FF0000"/>
                </a:solidFill>
                <a:cs typeface="楷体" panose="02010609060101010101" pitchFamily="49" charset="-122"/>
              </a:rPr>
              <a:t>2</a:t>
            </a:r>
            <a:r>
              <a:rPr lang="zh-CN" altLang="en-US" sz="2800" dirty="0">
                <a:solidFill>
                  <a:srgbClr val="FF0000"/>
                </a:solidFill>
                <a:cs typeface="楷体" panose="02010609060101010101" pitchFamily="49" charset="-122"/>
              </a:rPr>
              <a:t>：古巴导弹危机</a:t>
            </a:r>
            <a:endParaRPr lang="zh-CN" altLang="en-US" sz="2800" dirty="0">
              <a:solidFill>
                <a:schemeClr val="tx1"/>
              </a:solidFill>
              <a:cs typeface="楷体" panose="02010609060101010101" pitchFamily="49" charset="-122"/>
            </a:endParaRPr>
          </a:p>
          <a:p>
            <a:pPr lvl="1">
              <a:lnSpc>
                <a:spcPct val="80000"/>
              </a:lnSpc>
            </a:pPr>
            <a:r>
              <a:rPr lang="en-US" altLang="zh-CN" sz="2400">
                <a:solidFill>
                  <a:schemeClr val="tx1"/>
                </a:solidFill>
                <a:cs typeface="楷体" panose="02010609060101010101" pitchFamily="49" charset="-122"/>
              </a:rPr>
              <a:t>1962</a:t>
            </a:r>
            <a:r>
              <a:rPr lang="zh-CN" altLang="en-US" sz="2400" dirty="0">
                <a:solidFill>
                  <a:schemeClr val="tx1"/>
                </a:solidFill>
                <a:cs typeface="楷体" panose="02010609060101010101" pitchFamily="49" charset="-122"/>
              </a:rPr>
              <a:t>年冷战时期在美国、苏联与古巴之间爆发的一场极其严重的政治、军事危机。事件爆发的直接原因是苏联在古巴部署导弹。</a:t>
            </a:r>
            <a:endParaRPr lang="zh-CN" altLang="en-US" sz="2400" dirty="0">
              <a:solidFill>
                <a:schemeClr val="tx1"/>
              </a:solidFill>
              <a:cs typeface="楷体" panose="02010609060101010101" pitchFamily="49" charset="-122"/>
            </a:endParaRPr>
          </a:p>
          <a:p>
            <a:pPr lvl="1">
              <a:lnSpc>
                <a:spcPct val="80000"/>
              </a:lnSpc>
            </a:pPr>
            <a:r>
              <a:rPr lang="zh-CN" altLang="en-US" sz="2400" dirty="0">
                <a:solidFill>
                  <a:schemeClr val="tx1"/>
                </a:solidFill>
                <a:cs typeface="楷体" panose="02010609060101010101" pitchFamily="49" charset="-122"/>
              </a:rPr>
              <a:t>美国制定了六个可供选择的方案：</a:t>
            </a:r>
            <a:endParaRPr lang="zh-CN" altLang="en-US" sz="24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1</a:t>
            </a:r>
            <a:r>
              <a:rPr lang="zh-CN" altLang="en-US" sz="2000" dirty="0">
                <a:solidFill>
                  <a:schemeClr val="tx1"/>
                </a:solidFill>
                <a:cs typeface="楷体" panose="02010609060101010101" pitchFamily="49" charset="-122"/>
              </a:rPr>
              <a:t>）无所作为；</a:t>
            </a:r>
            <a:endParaRPr lang="zh-CN" altLang="en-US" sz="20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2</a:t>
            </a:r>
            <a:r>
              <a:rPr lang="zh-CN" altLang="en-US" sz="2000" dirty="0">
                <a:solidFill>
                  <a:schemeClr val="tx1"/>
                </a:solidFill>
                <a:cs typeface="楷体" panose="02010609060101010101" pitchFamily="49" charset="-122"/>
              </a:rPr>
              <a:t>）施加外交压力；</a:t>
            </a:r>
            <a:endParaRPr lang="zh-CN" altLang="en-US" sz="20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3</a:t>
            </a:r>
            <a:r>
              <a:rPr lang="zh-CN" altLang="en-US" sz="2000" dirty="0">
                <a:solidFill>
                  <a:schemeClr val="tx1"/>
                </a:solidFill>
                <a:cs typeface="楷体" panose="02010609060101010101" pitchFamily="49" charset="-122"/>
              </a:rPr>
              <a:t>）同卡斯特罗谈判；</a:t>
            </a:r>
            <a:endParaRPr lang="zh-CN" altLang="en-US" sz="20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4</a:t>
            </a:r>
            <a:r>
              <a:rPr lang="zh-CN" altLang="en-US" sz="2000" dirty="0">
                <a:solidFill>
                  <a:schemeClr val="tx1"/>
                </a:solidFill>
                <a:cs typeface="楷体" panose="02010609060101010101" pitchFamily="49" charset="-122"/>
              </a:rPr>
              <a:t>）全面入侵；</a:t>
            </a:r>
            <a:endParaRPr lang="zh-CN" altLang="en-US" sz="20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5</a:t>
            </a:r>
            <a:r>
              <a:rPr lang="zh-CN" altLang="en-US" sz="2000" dirty="0">
                <a:solidFill>
                  <a:schemeClr val="tx1"/>
                </a:solidFill>
                <a:cs typeface="楷体" panose="02010609060101010101" pitchFamily="49" charset="-122"/>
              </a:rPr>
              <a:t>）空袭损毁导弹基地；</a:t>
            </a:r>
            <a:endParaRPr lang="zh-CN" altLang="en-US" sz="2000" dirty="0">
              <a:solidFill>
                <a:schemeClr val="tx1"/>
              </a:solidFill>
              <a:cs typeface="楷体" panose="02010609060101010101" pitchFamily="49" charset="-122"/>
            </a:endParaRPr>
          </a:p>
          <a:p>
            <a:pPr lvl="2">
              <a:lnSpc>
                <a:spcPct val="80000"/>
              </a:lnSpc>
            </a:pPr>
            <a:r>
              <a:rPr lang="zh-CN" altLang="en-US" sz="2000" dirty="0">
                <a:solidFill>
                  <a:schemeClr val="tx1"/>
                </a:solidFill>
                <a:cs typeface="楷体" panose="02010609060101010101" pitchFamily="49" charset="-122"/>
              </a:rPr>
              <a:t>（</a:t>
            </a:r>
            <a:r>
              <a:rPr lang="en-US" altLang="zh-CN" sz="2000">
                <a:solidFill>
                  <a:schemeClr val="tx1"/>
                </a:solidFill>
                <a:cs typeface="楷体" panose="02010609060101010101" pitchFamily="49" charset="-122"/>
              </a:rPr>
              <a:t>6</a:t>
            </a:r>
            <a:r>
              <a:rPr lang="zh-CN" altLang="en-US" sz="2000" dirty="0">
                <a:solidFill>
                  <a:schemeClr val="tx1"/>
                </a:solidFill>
                <a:cs typeface="楷体" panose="02010609060101010101" pitchFamily="49" charset="-122"/>
              </a:rPr>
              <a:t>）封锁海面。</a:t>
            </a:r>
            <a:endParaRPr lang="zh-CN" altLang="en-US" sz="2000" dirty="0">
              <a:solidFill>
                <a:schemeClr val="tx1"/>
              </a:solidFill>
              <a:cs typeface="楷体" panose="02010609060101010101" pitchFamily="49" charset="-122"/>
            </a:endParaRPr>
          </a:p>
          <a:p>
            <a:pPr lvl="1">
              <a:lnSpc>
                <a:spcPct val="80000"/>
              </a:lnSpc>
            </a:pPr>
            <a:r>
              <a:rPr lang="zh-CN" altLang="en-US" sz="2400" dirty="0">
                <a:solidFill>
                  <a:schemeClr val="tx1"/>
                </a:solidFill>
                <a:cs typeface="楷体" panose="02010609060101010101" pitchFamily="49" charset="-122"/>
              </a:rPr>
              <a:t>最后，肯尼迪政府选择了</a:t>
            </a:r>
            <a:r>
              <a:rPr lang="zh-CN" altLang="en-US" sz="2400" dirty="0">
                <a:solidFill>
                  <a:srgbClr val="FF0000"/>
                </a:solidFill>
                <a:cs typeface="楷体" panose="02010609060101010101" pitchFamily="49" charset="-122"/>
              </a:rPr>
              <a:t>第六方案</a:t>
            </a:r>
            <a:r>
              <a:rPr lang="zh-CN" altLang="en-US" sz="2400" dirty="0">
                <a:solidFill>
                  <a:schemeClr val="tx1"/>
                </a:solidFill>
                <a:cs typeface="楷体" panose="02010609060101010101" pitchFamily="49" charset="-122"/>
              </a:rPr>
              <a:t>，迫使苏联将导弹基地撤出了古巴。</a:t>
            </a:r>
            <a:endParaRPr lang="zh-CN" altLang="en-US" sz="2400" dirty="0">
              <a:solidFill>
                <a:schemeClr val="tx1"/>
              </a:solidFill>
              <a:cs typeface="楷体" panose="02010609060101010101" pitchFamily="49" charset="-122"/>
            </a:endParaRPr>
          </a:p>
        </p:txBody>
      </p:sp>
      <p:pic>
        <p:nvPicPr>
          <p:cNvPr id="315396" name="图片 315395" descr="f99dcf008249ba21738b653d"/>
          <p:cNvPicPr>
            <a:picLocks noChangeAspect="1"/>
          </p:cNvPicPr>
          <p:nvPr/>
        </p:nvPicPr>
        <p:blipFill>
          <a:blip r:embed="rId1"/>
          <a:stretch>
            <a:fillRect/>
          </a:stretch>
        </p:blipFill>
        <p:spPr>
          <a:xfrm>
            <a:off x="7967663" y="404813"/>
            <a:ext cx="2700337" cy="1692275"/>
          </a:xfrm>
          <a:prstGeom prst="rect">
            <a:avLst/>
          </a:prstGeom>
          <a:noFill/>
          <a:ln w="9525" cap="flat" cmpd="sng">
            <a:solidFill>
              <a:schemeClr val="hlink"/>
            </a:solidFill>
            <a:prstDash val="solid"/>
            <a:miter/>
            <a:headEnd type="none" w="med" len="med"/>
            <a:tailEnd type="none" w="med" len="med"/>
          </a:ln>
          <a:effectLst>
            <a:outerShdw dist="107763" dir="8100000" algn="ctr" rotWithShape="0">
              <a:srgbClr val="80808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5395">
                                            <p:txEl>
                                              <p:charRg st="149" end="181"/>
                                            </p:txEl>
                                          </p:spTgt>
                                        </p:tgtEl>
                                        <p:attrNameLst>
                                          <p:attrName>style.visibility</p:attrName>
                                        </p:attrNameLst>
                                      </p:cBhvr>
                                      <p:to>
                                        <p:strVal val="visible"/>
                                      </p:to>
                                    </p:set>
                                    <p:anim calcmode="lin" valueType="num">
                                      <p:cBhvr additive="base">
                                        <p:cTn id="7" dur="500" fill="hold"/>
                                        <p:tgtEl>
                                          <p:spTgt spid="315395">
                                            <p:txEl>
                                              <p:charRg st="149" end="18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5395">
                                            <p:txEl>
                                              <p:charRg st="149" end="18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3282" name="标题 353281"/>
          <p:cNvSpPr>
            <a:spLocks noGrp="1"/>
          </p:cNvSpPr>
          <p:nvPr>
            <p:ph type="title"/>
          </p:nvPr>
        </p:nvSpPr>
        <p:spPr/>
        <p:txBody>
          <a:bodyPr anchor="b" anchorCtr="0"/>
          <a:p>
            <a:pPr algn="l"/>
            <a:r>
              <a:rPr lang="zh-CN" altLang="en-US" dirty="0"/>
              <a:t>决策的例子</a:t>
            </a:r>
            <a:r>
              <a:rPr lang="en-US" altLang="zh-CN"/>
              <a:t>3</a:t>
            </a:r>
            <a:endParaRPr lang="en-US" altLang="zh-CN"/>
          </a:p>
        </p:txBody>
      </p:sp>
      <p:sp>
        <p:nvSpPr>
          <p:cNvPr id="353283" name="文本占位符 353282"/>
          <p:cNvSpPr>
            <a:spLocks noGrp="1"/>
          </p:cNvSpPr>
          <p:nvPr>
            <p:ph type="body" idx="1"/>
          </p:nvPr>
        </p:nvSpPr>
        <p:spPr>
          <a:xfrm>
            <a:off x="4475163" y="1989138"/>
            <a:ext cx="6048375" cy="4114800"/>
          </a:xfrm>
        </p:spPr>
        <p:txBody>
          <a:bodyPr/>
          <a:p>
            <a:pPr>
              <a:lnSpc>
                <a:spcPct val="90000"/>
              </a:lnSpc>
            </a:pPr>
            <a:r>
              <a:rPr lang="zh-CN" altLang="en-US" dirty="0"/>
              <a:t>如果</a:t>
            </a:r>
            <a:r>
              <a:rPr lang="en-US" altLang="zh-CN"/>
              <a:t>《The Economist》</a:t>
            </a:r>
            <a:r>
              <a:rPr lang="zh-CN" altLang="en-US" dirty="0"/>
              <a:t>杂志订购广告这样写的：</a:t>
            </a:r>
            <a:endParaRPr lang="zh-CN" altLang="en-US" dirty="0"/>
          </a:p>
          <a:p>
            <a:pPr lvl="1">
              <a:lnSpc>
                <a:spcPct val="90000"/>
              </a:lnSpc>
            </a:pPr>
            <a:r>
              <a:rPr lang="en-US" altLang="zh-CN"/>
              <a:t>A. </a:t>
            </a:r>
            <a:r>
              <a:rPr lang="zh-CN" altLang="en-US" dirty="0"/>
              <a:t>网络版：         年费</a:t>
            </a:r>
            <a:r>
              <a:rPr lang="en-US" altLang="zh-CN"/>
              <a:t>59</a:t>
            </a:r>
            <a:r>
              <a:rPr lang="zh-CN" altLang="en-US" dirty="0"/>
              <a:t>美元。</a:t>
            </a:r>
            <a:endParaRPr lang="zh-CN" altLang="en-US" dirty="0"/>
          </a:p>
          <a:p>
            <a:pPr lvl="1">
              <a:lnSpc>
                <a:spcPct val="90000"/>
              </a:lnSpc>
            </a:pPr>
            <a:endParaRPr lang="zh-CN" altLang="en-US" dirty="0"/>
          </a:p>
          <a:p>
            <a:pPr lvl="1">
              <a:lnSpc>
                <a:spcPct val="90000"/>
              </a:lnSpc>
            </a:pPr>
            <a:r>
              <a:rPr lang="en-US" altLang="zh-CN"/>
              <a:t>C. </a:t>
            </a:r>
            <a:r>
              <a:rPr lang="zh-CN" altLang="en-US" dirty="0"/>
              <a:t>纸版</a:t>
            </a:r>
            <a:r>
              <a:rPr lang="en-US" altLang="zh-CN"/>
              <a:t>+</a:t>
            </a:r>
            <a:r>
              <a:rPr lang="zh-CN" altLang="en-US" dirty="0"/>
              <a:t>网络版：年费</a:t>
            </a:r>
            <a:r>
              <a:rPr lang="en-US" altLang="zh-CN"/>
              <a:t>125</a:t>
            </a:r>
            <a:r>
              <a:rPr lang="zh-CN" altLang="en-US" dirty="0"/>
              <a:t>美元。</a:t>
            </a:r>
            <a:endParaRPr lang="zh-CN" altLang="en-US" dirty="0"/>
          </a:p>
          <a:p>
            <a:pPr lvl="1">
              <a:lnSpc>
                <a:spcPct val="90000"/>
              </a:lnSpc>
            </a:pPr>
            <a:endParaRPr lang="zh-CN" altLang="en-US" dirty="0"/>
          </a:p>
          <a:p>
            <a:pPr>
              <a:lnSpc>
                <a:spcPct val="90000"/>
              </a:lnSpc>
            </a:pPr>
            <a:r>
              <a:rPr lang="zh-CN" altLang="en-US" dirty="0"/>
              <a:t>当你看到这样一个广告，你选</a:t>
            </a:r>
            <a:r>
              <a:rPr lang="en-US" altLang="zh-CN"/>
              <a:t>A</a:t>
            </a:r>
            <a:r>
              <a:rPr lang="zh-CN" altLang="en-US" dirty="0"/>
              <a:t>，还是选</a:t>
            </a:r>
            <a:r>
              <a:rPr lang="en-US" altLang="zh-CN"/>
              <a:t>C</a:t>
            </a:r>
            <a:r>
              <a:rPr lang="zh-CN" altLang="en-US" dirty="0"/>
              <a:t>？</a:t>
            </a:r>
            <a:endParaRPr lang="zh-CN" altLang="en-US" dirty="0"/>
          </a:p>
        </p:txBody>
      </p:sp>
      <p:pic>
        <p:nvPicPr>
          <p:cNvPr id="353284" name="图片 353283" descr="1f208baf1245a4df2e08cacc994ab9bd">
            <a:hlinkClick r:id="rId1"/>
          </p:cNvPr>
          <p:cNvPicPr>
            <a:picLocks noChangeAspect="1"/>
          </p:cNvPicPr>
          <p:nvPr/>
        </p:nvPicPr>
        <p:blipFill>
          <a:blip r:embed="rId2"/>
          <a:stretch>
            <a:fillRect/>
          </a:stretch>
        </p:blipFill>
        <p:spPr>
          <a:xfrm>
            <a:off x="1524000" y="1989138"/>
            <a:ext cx="2857500" cy="3810000"/>
          </a:xfrm>
          <a:prstGeom prst="rect">
            <a:avLst/>
          </a:prstGeom>
          <a:noFill/>
          <a:ln w="9525">
            <a:noFill/>
          </a:ln>
        </p:spPr>
      </p:pic>
      <p:sp>
        <p:nvSpPr>
          <p:cNvPr id="353285" name="矩形 353284"/>
          <p:cNvSpPr/>
          <p:nvPr/>
        </p:nvSpPr>
        <p:spPr>
          <a:xfrm>
            <a:off x="2063750" y="6308725"/>
            <a:ext cx="7272338" cy="368300"/>
          </a:xfrm>
          <a:prstGeom prst="rect">
            <a:avLst/>
          </a:prstGeom>
          <a:noFill/>
          <a:ln w="9525">
            <a:noFill/>
          </a:ln>
        </p:spPr>
        <p:txBody>
          <a:bodyPr>
            <a:spAutoFit/>
          </a:bodyPr>
          <a:p>
            <a:pPr>
              <a:buChar char="•"/>
            </a:pP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MIT</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斯隆管理学院的</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100</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名学生的实验结果：</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A-68</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C-32</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a:t>
            </a:r>
            <a:endPar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3285"/>
                                        </p:tgtEl>
                                        <p:attrNameLst>
                                          <p:attrName>style.visibility</p:attrName>
                                        </p:attrNameLst>
                                      </p:cBhvr>
                                      <p:to>
                                        <p:strVal val="visible"/>
                                      </p:to>
                                    </p:set>
                                    <p:animEffect transition="in" filter="blinds(horizontal)">
                                      <p:cBhvr>
                                        <p:cTn id="7" dur="500"/>
                                        <p:tgtEl>
                                          <p:spTgt spid="353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标题 354305"/>
          <p:cNvSpPr>
            <a:spLocks noGrp="1"/>
          </p:cNvSpPr>
          <p:nvPr>
            <p:ph type="title"/>
          </p:nvPr>
        </p:nvSpPr>
        <p:spPr/>
        <p:txBody>
          <a:bodyPr anchor="b" anchorCtr="0"/>
          <a:p>
            <a:pPr algn="l"/>
            <a:r>
              <a:rPr lang="zh-CN" altLang="en-US" dirty="0"/>
              <a:t>决策的例子</a:t>
            </a:r>
            <a:r>
              <a:rPr lang="en-US" altLang="zh-CN"/>
              <a:t>4</a:t>
            </a:r>
            <a:endParaRPr lang="en-US" altLang="zh-CN"/>
          </a:p>
        </p:txBody>
      </p:sp>
      <p:sp>
        <p:nvSpPr>
          <p:cNvPr id="354307" name="文本占位符 354306"/>
          <p:cNvSpPr>
            <a:spLocks noGrp="1"/>
          </p:cNvSpPr>
          <p:nvPr>
            <p:ph type="body" idx="1"/>
          </p:nvPr>
        </p:nvSpPr>
        <p:spPr>
          <a:xfrm>
            <a:off x="4619625" y="1989138"/>
            <a:ext cx="6048375" cy="4114800"/>
          </a:xfrm>
        </p:spPr>
        <p:txBody>
          <a:bodyPr/>
          <a:p>
            <a:pPr>
              <a:lnSpc>
                <a:spcPct val="90000"/>
              </a:lnSpc>
            </a:pPr>
            <a:r>
              <a:rPr lang="zh-CN" altLang="en-US" dirty="0"/>
              <a:t>几年前，</a:t>
            </a:r>
            <a:r>
              <a:rPr lang="en-US" altLang="zh-CN"/>
              <a:t>《The Economist》</a:t>
            </a:r>
            <a:r>
              <a:rPr lang="zh-CN" altLang="en-US" dirty="0"/>
              <a:t>杂志订购广告这样写的：</a:t>
            </a:r>
            <a:endParaRPr lang="zh-CN" altLang="en-US" dirty="0"/>
          </a:p>
          <a:p>
            <a:pPr lvl="1">
              <a:lnSpc>
                <a:spcPct val="90000"/>
              </a:lnSpc>
            </a:pPr>
            <a:r>
              <a:rPr lang="en-US" altLang="zh-CN"/>
              <a:t>A. </a:t>
            </a:r>
            <a:r>
              <a:rPr lang="zh-CN" altLang="en-US" dirty="0"/>
              <a:t>网络版：         </a:t>
            </a:r>
            <a:r>
              <a:rPr lang="en-US" altLang="zh-CN"/>
              <a:t>59</a:t>
            </a:r>
            <a:r>
              <a:rPr lang="zh-CN" altLang="en-US" dirty="0"/>
              <a:t>美元</a:t>
            </a:r>
            <a:r>
              <a:rPr lang="en-US" altLang="zh-CN"/>
              <a:t>/</a:t>
            </a:r>
            <a:r>
              <a:rPr lang="zh-CN" altLang="en-US" dirty="0"/>
              <a:t>年。</a:t>
            </a:r>
            <a:endParaRPr lang="zh-CN" altLang="en-US" dirty="0"/>
          </a:p>
          <a:p>
            <a:pPr lvl="1">
              <a:lnSpc>
                <a:spcPct val="90000"/>
              </a:lnSpc>
            </a:pPr>
            <a:r>
              <a:rPr lang="en-US" altLang="zh-CN"/>
              <a:t>B. </a:t>
            </a:r>
            <a:r>
              <a:rPr lang="zh-CN" altLang="en-US" dirty="0"/>
              <a:t>纸版：            </a:t>
            </a:r>
            <a:r>
              <a:rPr lang="en-US" altLang="zh-CN"/>
              <a:t>125</a:t>
            </a:r>
            <a:r>
              <a:rPr lang="zh-CN" altLang="en-US" dirty="0"/>
              <a:t>美元</a:t>
            </a:r>
            <a:r>
              <a:rPr lang="en-US" altLang="zh-CN"/>
              <a:t>/</a:t>
            </a:r>
            <a:r>
              <a:rPr lang="zh-CN" altLang="en-US" dirty="0"/>
              <a:t>年。</a:t>
            </a:r>
            <a:endParaRPr lang="zh-CN" altLang="en-US" dirty="0"/>
          </a:p>
          <a:p>
            <a:pPr lvl="1">
              <a:lnSpc>
                <a:spcPct val="90000"/>
              </a:lnSpc>
            </a:pPr>
            <a:r>
              <a:rPr lang="en-US" altLang="zh-CN"/>
              <a:t>C. </a:t>
            </a:r>
            <a:r>
              <a:rPr lang="zh-CN" altLang="en-US" dirty="0"/>
              <a:t>纸版</a:t>
            </a:r>
            <a:r>
              <a:rPr lang="en-US" altLang="zh-CN"/>
              <a:t>+</a:t>
            </a:r>
            <a:r>
              <a:rPr lang="zh-CN" altLang="en-US" dirty="0"/>
              <a:t>网络版：</a:t>
            </a:r>
            <a:r>
              <a:rPr lang="en-US" altLang="zh-CN"/>
              <a:t>125</a:t>
            </a:r>
            <a:r>
              <a:rPr lang="zh-CN" altLang="en-US" dirty="0"/>
              <a:t>美元</a:t>
            </a:r>
            <a:r>
              <a:rPr lang="en-US" altLang="zh-CN"/>
              <a:t>/</a:t>
            </a:r>
            <a:r>
              <a:rPr lang="zh-CN" altLang="en-US" dirty="0"/>
              <a:t>年。</a:t>
            </a:r>
            <a:endParaRPr lang="zh-CN" altLang="en-US" dirty="0"/>
          </a:p>
          <a:p>
            <a:pPr lvl="1">
              <a:lnSpc>
                <a:spcPct val="90000"/>
              </a:lnSpc>
              <a:buNone/>
            </a:pPr>
            <a:endParaRPr lang="zh-CN" altLang="en-US" dirty="0"/>
          </a:p>
          <a:p>
            <a:pPr>
              <a:lnSpc>
                <a:spcPct val="90000"/>
              </a:lnSpc>
            </a:pPr>
            <a:r>
              <a:rPr lang="zh-CN" altLang="en-US" dirty="0"/>
              <a:t>当你看到这样一个广告，你选</a:t>
            </a:r>
            <a:r>
              <a:rPr lang="en-US" altLang="zh-CN"/>
              <a:t>A</a:t>
            </a:r>
            <a:r>
              <a:rPr lang="zh-CN" altLang="en-US" dirty="0"/>
              <a:t>，选</a:t>
            </a:r>
            <a:r>
              <a:rPr lang="en-US" altLang="zh-CN"/>
              <a:t>B</a:t>
            </a:r>
            <a:r>
              <a:rPr lang="zh-CN" altLang="en-US" dirty="0"/>
              <a:t>，还是选</a:t>
            </a:r>
            <a:r>
              <a:rPr lang="en-US" altLang="zh-CN"/>
              <a:t>C</a:t>
            </a:r>
            <a:r>
              <a:rPr lang="zh-CN" altLang="en-US" dirty="0"/>
              <a:t>？</a:t>
            </a:r>
            <a:endParaRPr lang="zh-CN" altLang="en-US" dirty="0"/>
          </a:p>
        </p:txBody>
      </p:sp>
      <p:pic>
        <p:nvPicPr>
          <p:cNvPr id="354308" name="图片 354307" descr="1f208baf1245a4df2e08cacc994ab9bd">
            <a:hlinkClick r:id="rId1"/>
          </p:cNvPr>
          <p:cNvPicPr>
            <a:picLocks noChangeAspect="1"/>
          </p:cNvPicPr>
          <p:nvPr/>
        </p:nvPicPr>
        <p:blipFill>
          <a:blip r:embed="rId2"/>
          <a:stretch>
            <a:fillRect/>
          </a:stretch>
        </p:blipFill>
        <p:spPr>
          <a:xfrm>
            <a:off x="1666875" y="2024063"/>
            <a:ext cx="2857500" cy="3810000"/>
          </a:xfrm>
          <a:prstGeom prst="rect">
            <a:avLst/>
          </a:prstGeom>
          <a:noFill/>
          <a:ln w="9525">
            <a:noFill/>
          </a:ln>
        </p:spPr>
      </p:pic>
      <p:sp>
        <p:nvSpPr>
          <p:cNvPr id="354309" name="矩形 354308"/>
          <p:cNvSpPr/>
          <p:nvPr/>
        </p:nvSpPr>
        <p:spPr>
          <a:xfrm>
            <a:off x="1992313" y="6092825"/>
            <a:ext cx="7596187" cy="368300"/>
          </a:xfrm>
          <a:prstGeom prst="rect">
            <a:avLst/>
          </a:prstGeom>
          <a:noFill/>
          <a:ln w="9525">
            <a:noFill/>
          </a:ln>
        </p:spPr>
        <p:txBody>
          <a:bodyPr>
            <a:spAutoFit/>
          </a:bodyPr>
          <a:p>
            <a:pPr>
              <a:buChar char="•"/>
            </a:pP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MIT</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斯隆管理学院的</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100</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名学生的实验结果：</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A-16</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B-0</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C-84</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a:t>
            </a:r>
            <a:endPar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4309"/>
                                        </p:tgtEl>
                                        <p:attrNameLst>
                                          <p:attrName>style.visibility</p:attrName>
                                        </p:attrNameLst>
                                      </p:cBhvr>
                                      <p:to>
                                        <p:strVal val="visible"/>
                                      </p:to>
                                    </p:set>
                                    <p:animEffect transition="in" filter="blinds(horizontal)">
                                      <p:cBhvr>
                                        <p:cTn id="7" dur="500"/>
                                        <p:tgtEl>
                                          <p:spTgt spid="354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55331" name="组合 355330"/>
          <p:cNvGrpSpPr/>
          <p:nvPr/>
        </p:nvGrpSpPr>
        <p:grpSpPr>
          <a:xfrm>
            <a:off x="1739900" y="1490663"/>
            <a:ext cx="8642350" cy="4860925"/>
            <a:chOff x="136" y="1185"/>
            <a:chExt cx="5444" cy="3062"/>
          </a:xfrm>
        </p:grpSpPr>
        <p:sp>
          <p:nvSpPr>
            <p:cNvPr id="355332" name="矩形 355331"/>
            <p:cNvSpPr>
              <a:spLocks noChangeAspect="1"/>
            </p:cNvSpPr>
            <p:nvPr/>
          </p:nvSpPr>
          <p:spPr>
            <a:xfrm>
              <a:off x="136" y="1185"/>
              <a:ext cx="5444" cy="3062"/>
            </a:xfrm>
            <a:prstGeom prst="rect">
              <a:avLst/>
            </a:prstGeom>
            <a:noFill/>
            <a:ln w="38100" cap="flat" cmpd="sng">
              <a:solidFill>
                <a:srgbClr val="33872D"/>
              </a:solidFill>
              <a:prstDash val="dash"/>
              <a:miter/>
              <a:headEnd type="none" w="med" len="med"/>
              <a:tailEnd type="none" w="med" len="med"/>
            </a:ln>
          </p:spPr>
          <p:txBody>
            <a:bodyPr/>
            <a:p>
              <a:endParaRPr lang="zh-CN" altLang="en-US"/>
            </a:p>
          </p:txBody>
        </p:sp>
        <p:grpSp>
          <p:nvGrpSpPr>
            <p:cNvPr id="355333" name="组合 355332"/>
            <p:cNvGrpSpPr/>
            <p:nvPr/>
          </p:nvGrpSpPr>
          <p:grpSpPr>
            <a:xfrm>
              <a:off x="2839" y="1366"/>
              <a:ext cx="2604" cy="2438"/>
              <a:chOff x="4948" y="920"/>
              <a:chExt cx="2604" cy="2438"/>
            </a:xfrm>
          </p:grpSpPr>
          <p:sp>
            <p:nvSpPr>
              <p:cNvPr id="355334" name="直接连接符 355333"/>
              <p:cNvSpPr/>
              <p:nvPr/>
            </p:nvSpPr>
            <p:spPr>
              <a:xfrm>
                <a:off x="5303" y="920"/>
                <a:ext cx="1" cy="2106"/>
              </a:xfrm>
              <a:prstGeom prst="line">
                <a:avLst/>
              </a:prstGeom>
              <a:ln w="28575" cap="flat" cmpd="sng">
                <a:solidFill>
                  <a:srgbClr val="000000"/>
                </a:solidFill>
                <a:prstDash val="solid"/>
                <a:headEnd type="triangle" w="med" len="med"/>
                <a:tailEnd type="none" w="med" len="med"/>
              </a:ln>
            </p:spPr>
          </p:sp>
          <p:sp>
            <p:nvSpPr>
              <p:cNvPr id="355335" name="直接连接符 355334"/>
              <p:cNvSpPr/>
              <p:nvPr/>
            </p:nvSpPr>
            <p:spPr>
              <a:xfrm>
                <a:off x="5304" y="3026"/>
                <a:ext cx="2011" cy="1"/>
              </a:xfrm>
              <a:prstGeom prst="line">
                <a:avLst/>
              </a:prstGeom>
              <a:ln w="28575" cap="flat" cmpd="sng">
                <a:solidFill>
                  <a:srgbClr val="000000"/>
                </a:solidFill>
                <a:prstDash val="solid"/>
                <a:headEnd type="none" w="med" len="med"/>
                <a:tailEnd type="triangle" w="med" len="med"/>
              </a:ln>
            </p:spPr>
          </p:sp>
          <p:sp>
            <p:nvSpPr>
              <p:cNvPr id="355336" name="文本框 355335"/>
              <p:cNvSpPr txBox="1"/>
              <p:nvPr/>
            </p:nvSpPr>
            <p:spPr>
              <a:xfrm>
                <a:off x="5303" y="2250"/>
                <a:ext cx="828" cy="333"/>
              </a:xfrm>
              <a:prstGeom prst="rect">
                <a:avLst/>
              </a:prstGeom>
              <a:noFill/>
              <a:ln w="9525">
                <a:noFill/>
              </a:ln>
            </p:spPr>
            <p:txBody>
              <a:bodyPr/>
              <a:p>
                <a:pPr algn="just"/>
                <a:r>
                  <a:rPr lang="en-US" altLang="zh-CN" sz="1800">
                    <a:latin typeface="Times New Roman" panose="02020603050405020304" pitchFamily="18" charset="0"/>
                  </a:rPr>
                  <a:t>A</a:t>
                </a:r>
                <a:r>
                  <a:rPr lang="zh-CN" altLang="en-US" sz="1800" dirty="0">
                    <a:latin typeface="Times New Roman" panose="02020603050405020304" pitchFamily="18" charset="0"/>
                  </a:rPr>
                  <a:t>（网络）</a:t>
                </a:r>
                <a:endParaRPr lang="zh-CN" altLang="en-US" sz="1800" dirty="0">
                  <a:latin typeface="Tahoma" panose="020B0604030504040204" pitchFamily="34" charset="0"/>
                </a:endParaRPr>
              </a:p>
            </p:txBody>
          </p:sp>
          <p:sp>
            <p:nvSpPr>
              <p:cNvPr id="355337" name="文本框 355336"/>
              <p:cNvSpPr txBox="1"/>
              <p:nvPr/>
            </p:nvSpPr>
            <p:spPr>
              <a:xfrm>
                <a:off x="7078" y="3026"/>
                <a:ext cx="474" cy="332"/>
              </a:xfrm>
              <a:prstGeom prst="rect">
                <a:avLst/>
              </a:prstGeom>
              <a:noFill/>
              <a:ln w="9525">
                <a:noFill/>
              </a:ln>
            </p:spPr>
            <p:txBody>
              <a:bodyPr/>
              <a:p>
                <a:pPr algn="just"/>
                <a:r>
                  <a:rPr lang="zh-CN" altLang="en-US" sz="1800" dirty="0">
                    <a:latin typeface="Times New Roman" panose="02020603050405020304" pitchFamily="18" charset="0"/>
                  </a:rPr>
                  <a:t>费用</a:t>
                </a:r>
                <a:endParaRPr lang="zh-CN" altLang="en-US" sz="1800" dirty="0">
                  <a:latin typeface="Tahoma" panose="020B0604030504040204" pitchFamily="34" charset="0"/>
                </a:endParaRPr>
              </a:p>
            </p:txBody>
          </p:sp>
          <p:sp>
            <p:nvSpPr>
              <p:cNvPr id="355338" name="椭圆 355337"/>
              <p:cNvSpPr/>
              <p:nvPr/>
            </p:nvSpPr>
            <p:spPr>
              <a:xfrm>
                <a:off x="5658" y="2139"/>
                <a:ext cx="118" cy="111"/>
              </a:xfrm>
              <a:prstGeom prst="ellipse">
                <a:avLst/>
              </a:prstGeom>
              <a:solidFill>
                <a:srgbClr val="0000FF"/>
              </a:solidFill>
              <a:ln w="9525" cap="flat" cmpd="sng">
                <a:solidFill>
                  <a:srgbClr val="000000"/>
                </a:solidFill>
                <a:prstDash val="solid"/>
                <a:headEnd type="none" w="med" len="med"/>
                <a:tailEnd type="none" w="med" len="med"/>
              </a:ln>
            </p:spPr>
            <p:txBody>
              <a:bodyPr/>
              <a:p>
                <a:endParaRPr lang="zh-CN" altLang="en-US"/>
              </a:p>
            </p:txBody>
          </p:sp>
          <p:sp>
            <p:nvSpPr>
              <p:cNvPr id="355339" name="文本框 355338"/>
              <p:cNvSpPr txBox="1"/>
              <p:nvPr/>
            </p:nvSpPr>
            <p:spPr>
              <a:xfrm>
                <a:off x="6329" y="1795"/>
                <a:ext cx="828" cy="333"/>
              </a:xfrm>
              <a:prstGeom prst="rect">
                <a:avLst/>
              </a:prstGeom>
              <a:noFill/>
              <a:ln w="9525">
                <a:noFill/>
              </a:ln>
            </p:spPr>
            <p:txBody>
              <a:bodyPr/>
              <a:p>
                <a:pPr algn="just"/>
                <a:r>
                  <a:rPr lang="en-US" altLang="zh-CN" sz="1800">
                    <a:latin typeface="Times New Roman" panose="02020603050405020304" pitchFamily="18" charset="0"/>
                  </a:rPr>
                  <a:t>B</a:t>
                </a:r>
                <a:r>
                  <a:rPr lang="zh-CN" altLang="en-US" sz="1800" dirty="0">
                    <a:latin typeface="Times New Roman" panose="02020603050405020304" pitchFamily="18" charset="0"/>
                  </a:rPr>
                  <a:t>（纸质）</a:t>
                </a:r>
                <a:endParaRPr lang="zh-CN" altLang="en-US" sz="1800" dirty="0">
                  <a:latin typeface="Tahoma" panose="020B0604030504040204" pitchFamily="34" charset="0"/>
                </a:endParaRPr>
              </a:p>
            </p:txBody>
          </p:sp>
          <p:sp>
            <p:nvSpPr>
              <p:cNvPr id="355340" name="椭圆 355339"/>
              <p:cNvSpPr/>
              <p:nvPr/>
            </p:nvSpPr>
            <p:spPr>
              <a:xfrm>
                <a:off x="6723" y="1253"/>
                <a:ext cx="119" cy="110"/>
              </a:xfrm>
              <a:prstGeom prst="ellipse">
                <a:avLst/>
              </a:prstGeom>
              <a:solidFill>
                <a:srgbClr val="FF0000"/>
              </a:solidFill>
              <a:ln w="9525" cap="flat" cmpd="sng">
                <a:solidFill>
                  <a:srgbClr val="000000"/>
                </a:solidFill>
                <a:prstDash val="solid"/>
                <a:headEnd type="none" w="med" len="med"/>
                <a:tailEnd type="none" w="med" len="med"/>
              </a:ln>
            </p:spPr>
            <p:txBody>
              <a:bodyPr/>
              <a:p>
                <a:endParaRPr lang="zh-CN" altLang="en-US"/>
              </a:p>
            </p:txBody>
          </p:sp>
          <p:sp>
            <p:nvSpPr>
              <p:cNvPr id="355341" name="文本框 355340"/>
              <p:cNvSpPr txBox="1"/>
              <p:nvPr/>
            </p:nvSpPr>
            <p:spPr>
              <a:xfrm>
                <a:off x="4948" y="920"/>
                <a:ext cx="355" cy="554"/>
              </a:xfrm>
              <a:prstGeom prst="rect">
                <a:avLst/>
              </a:prstGeom>
              <a:noFill/>
              <a:ln w="9525">
                <a:noFill/>
              </a:ln>
            </p:spPr>
            <p:txBody>
              <a:bodyPr/>
              <a:p>
                <a:pPr algn="ctr"/>
                <a:r>
                  <a:rPr lang="zh-CN" altLang="en-US" sz="1800" dirty="0">
                    <a:latin typeface="Times New Roman" panose="02020603050405020304" pitchFamily="18" charset="0"/>
                  </a:rPr>
                  <a:t>媒介</a:t>
                </a:r>
                <a:endParaRPr lang="zh-CN" altLang="en-US" sz="1800" dirty="0">
                  <a:latin typeface="Tahoma" panose="020B0604030504040204" pitchFamily="34" charset="0"/>
                </a:endParaRPr>
              </a:p>
            </p:txBody>
          </p:sp>
          <p:sp>
            <p:nvSpPr>
              <p:cNvPr id="355342" name="直接连接符 355341"/>
              <p:cNvSpPr/>
              <p:nvPr/>
            </p:nvSpPr>
            <p:spPr>
              <a:xfrm flipV="1">
                <a:off x="5707" y="2250"/>
                <a:ext cx="1" cy="776"/>
              </a:xfrm>
              <a:prstGeom prst="line">
                <a:avLst/>
              </a:prstGeom>
              <a:ln w="9525" cap="flat" cmpd="sng">
                <a:solidFill>
                  <a:srgbClr val="000000"/>
                </a:solidFill>
                <a:prstDash val="dash"/>
                <a:headEnd type="none" w="med" len="med"/>
                <a:tailEnd type="none" w="med" len="med"/>
              </a:ln>
            </p:spPr>
          </p:sp>
          <p:sp>
            <p:nvSpPr>
              <p:cNvPr id="355343" name="直接连接符 355342"/>
              <p:cNvSpPr/>
              <p:nvPr/>
            </p:nvSpPr>
            <p:spPr>
              <a:xfrm>
                <a:off x="5293" y="2192"/>
                <a:ext cx="428" cy="1"/>
              </a:xfrm>
              <a:prstGeom prst="line">
                <a:avLst/>
              </a:prstGeom>
              <a:ln w="9525" cap="flat" cmpd="sng">
                <a:solidFill>
                  <a:srgbClr val="000000"/>
                </a:solidFill>
                <a:prstDash val="dash"/>
                <a:headEnd type="none" w="med" len="med"/>
                <a:tailEnd type="none" w="med" len="med"/>
              </a:ln>
            </p:spPr>
          </p:sp>
          <p:sp>
            <p:nvSpPr>
              <p:cNvPr id="355344" name="直接连接符 355343"/>
              <p:cNvSpPr/>
              <p:nvPr/>
            </p:nvSpPr>
            <p:spPr>
              <a:xfrm>
                <a:off x="5293" y="1289"/>
                <a:ext cx="1491" cy="1"/>
              </a:xfrm>
              <a:prstGeom prst="line">
                <a:avLst/>
              </a:prstGeom>
              <a:ln w="9525" cap="flat" cmpd="sng">
                <a:solidFill>
                  <a:srgbClr val="000000"/>
                </a:solidFill>
                <a:prstDash val="dash"/>
                <a:headEnd type="none" w="med" len="med"/>
                <a:tailEnd type="none" w="med" len="med"/>
              </a:ln>
            </p:spPr>
          </p:sp>
          <p:sp>
            <p:nvSpPr>
              <p:cNvPr id="355345" name="直接连接符 355344"/>
              <p:cNvSpPr/>
              <p:nvPr/>
            </p:nvSpPr>
            <p:spPr>
              <a:xfrm flipV="1">
                <a:off x="6771" y="1284"/>
                <a:ext cx="14" cy="1745"/>
              </a:xfrm>
              <a:prstGeom prst="line">
                <a:avLst/>
              </a:prstGeom>
              <a:ln w="9525" cap="flat" cmpd="sng">
                <a:solidFill>
                  <a:srgbClr val="000000"/>
                </a:solidFill>
                <a:prstDash val="dash"/>
                <a:headEnd type="none" w="med" len="med"/>
                <a:tailEnd type="none" w="med" len="med"/>
              </a:ln>
            </p:spPr>
          </p:sp>
          <p:sp>
            <p:nvSpPr>
              <p:cNvPr id="355346" name="椭圆 355345"/>
              <p:cNvSpPr/>
              <p:nvPr/>
            </p:nvSpPr>
            <p:spPr>
              <a:xfrm>
                <a:off x="6715" y="1685"/>
                <a:ext cx="119" cy="110"/>
              </a:xfrm>
              <a:prstGeom prst="ellipse">
                <a:avLst/>
              </a:prstGeom>
              <a:solidFill>
                <a:srgbClr val="993366"/>
              </a:solidFill>
              <a:ln w="9525" cap="flat" cmpd="sng">
                <a:solidFill>
                  <a:srgbClr val="000000"/>
                </a:solidFill>
                <a:prstDash val="solid"/>
                <a:headEnd type="none" w="med" len="med"/>
                <a:tailEnd type="none" w="med" len="med"/>
              </a:ln>
            </p:spPr>
            <p:txBody>
              <a:bodyPr/>
              <a:p>
                <a:endParaRPr lang="zh-CN" altLang="en-US"/>
              </a:p>
            </p:txBody>
          </p:sp>
          <p:sp>
            <p:nvSpPr>
              <p:cNvPr id="355347" name="文本框 355346"/>
              <p:cNvSpPr txBox="1"/>
              <p:nvPr/>
            </p:nvSpPr>
            <p:spPr>
              <a:xfrm>
                <a:off x="6191" y="958"/>
                <a:ext cx="1201" cy="333"/>
              </a:xfrm>
              <a:prstGeom prst="rect">
                <a:avLst/>
              </a:prstGeom>
              <a:noFill/>
              <a:ln w="9525">
                <a:noFill/>
              </a:ln>
            </p:spPr>
            <p:txBody>
              <a:bodyPr/>
              <a:p>
                <a:pPr algn="ctr"/>
                <a:r>
                  <a:rPr lang="en-US" altLang="zh-CN" sz="1800">
                    <a:latin typeface="Times New Roman" panose="02020603050405020304" pitchFamily="18" charset="0"/>
                  </a:rPr>
                  <a:t>C</a:t>
                </a:r>
                <a:r>
                  <a:rPr lang="zh-CN" altLang="en-US" sz="1800" dirty="0">
                    <a:latin typeface="Times New Roman" panose="02020603050405020304" pitchFamily="18" charset="0"/>
                  </a:rPr>
                  <a:t>（纸质</a:t>
                </a:r>
                <a:r>
                  <a:rPr lang="en-US" altLang="zh-CN" sz="1800">
                    <a:latin typeface="Times New Roman" panose="02020603050405020304" pitchFamily="18" charset="0"/>
                  </a:rPr>
                  <a:t>+</a:t>
                </a:r>
                <a:r>
                  <a:rPr lang="zh-CN" altLang="en-US" sz="1800" dirty="0">
                    <a:latin typeface="Times New Roman" panose="02020603050405020304" pitchFamily="18" charset="0"/>
                  </a:rPr>
                  <a:t>网络）</a:t>
                </a:r>
                <a:endParaRPr lang="zh-CN" altLang="en-US" sz="1800" dirty="0">
                  <a:latin typeface="Tahoma" panose="020B0604030504040204" pitchFamily="34" charset="0"/>
                </a:endParaRPr>
              </a:p>
            </p:txBody>
          </p:sp>
          <p:sp>
            <p:nvSpPr>
              <p:cNvPr id="355348" name="直接连接符 355347"/>
              <p:cNvSpPr/>
              <p:nvPr/>
            </p:nvSpPr>
            <p:spPr>
              <a:xfrm>
                <a:off x="5293" y="1751"/>
                <a:ext cx="1491" cy="0"/>
              </a:xfrm>
              <a:prstGeom prst="line">
                <a:avLst/>
              </a:prstGeom>
              <a:ln w="9525" cap="flat" cmpd="sng">
                <a:solidFill>
                  <a:srgbClr val="000000"/>
                </a:solidFill>
                <a:prstDash val="dash"/>
                <a:headEnd type="none" w="med" len="med"/>
                <a:tailEnd type="none" w="med" len="med"/>
              </a:ln>
            </p:spPr>
          </p:sp>
        </p:grpSp>
        <p:grpSp>
          <p:nvGrpSpPr>
            <p:cNvPr id="355349" name="组合 355348"/>
            <p:cNvGrpSpPr/>
            <p:nvPr/>
          </p:nvGrpSpPr>
          <p:grpSpPr>
            <a:xfrm>
              <a:off x="181" y="1366"/>
              <a:ext cx="2627" cy="2438"/>
              <a:chOff x="2736" y="1585"/>
              <a:chExt cx="2627" cy="2438"/>
            </a:xfrm>
          </p:grpSpPr>
          <p:sp>
            <p:nvSpPr>
              <p:cNvPr id="355350" name="直接连接符 355349"/>
              <p:cNvSpPr/>
              <p:nvPr/>
            </p:nvSpPr>
            <p:spPr>
              <a:xfrm>
                <a:off x="3114" y="1585"/>
                <a:ext cx="1" cy="2106"/>
              </a:xfrm>
              <a:prstGeom prst="line">
                <a:avLst/>
              </a:prstGeom>
              <a:ln w="28575" cap="flat" cmpd="sng">
                <a:solidFill>
                  <a:srgbClr val="000000"/>
                </a:solidFill>
                <a:prstDash val="solid"/>
                <a:headEnd type="triangle" w="med" len="med"/>
                <a:tailEnd type="none" w="med" len="med"/>
              </a:ln>
            </p:spPr>
          </p:sp>
          <p:sp>
            <p:nvSpPr>
              <p:cNvPr id="355351" name="直接连接符 355350"/>
              <p:cNvSpPr/>
              <p:nvPr/>
            </p:nvSpPr>
            <p:spPr>
              <a:xfrm>
                <a:off x="3115" y="3691"/>
                <a:ext cx="2011" cy="1"/>
              </a:xfrm>
              <a:prstGeom prst="line">
                <a:avLst/>
              </a:prstGeom>
              <a:ln w="28575" cap="flat" cmpd="sng">
                <a:solidFill>
                  <a:srgbClr val="000000"/>
                </a:solidFill>
                <a:prstDash val="solid"/>
                <a:headEnd type="none" w="med" len="med"/>
                <a:tailEnd type="triangle" w="med" len="med"/>
              </a:ln>
            </p:spPr>
          </p:sp>
          <p:sp>
            <p:nvSpPr>
              <p:cNvPr id="355352" name="文本框 355351"/>
              <p:cNvSpPr txBox="1"/>
              <p:nvPr/>
            </p:nvSpPr>
            <p:spPr>
              <a:xfrm>
                <a:off x="3114" y="2915"/>
                <a:ext cx="829" cy="333"/>
              </a:xfrm>
              <a:prstGeom prst="rect">
                <a:avLst/>
              </a:prstGeom>
              <a:noFill/>
              <a:ln w="9525">
                <a:noFill/>
              </a:ln>
            </p:spPr>
            <p:txBody>
              <a:bodyPr/>
              <a:p>
                <a:pPr algn="just"/>
                <a:r>
                  <a:rPr lang="en-US" altLang="zh-CN" sz="1800">
                    <a:latin typeface="Times New Roman" panose="02020603050405020304" pitchFamily="18" charset="0"/>
                  </a:rPr>
                  <a:t>A</a:t>
                </a:r>
                <a:r>
                  <a:rPr lang="zh-CN" altLang="en-US" sz="1800" dirty="0">
                    <a:latin typeface="Times New Roman" panose="02020603050405020304" pitchFamily="18" charset="0"/>
                  </a:rPr>
                  <a:t>（网络）</a:t>
                </a:r>
                <a:endParaRPr lang="zh-CN" altLang="en-US" sz="1800" dirty="0">
                  <a:latin typeface="Tahoma" panose="020B0604030504040204" pitchFamily="34" charset="0"/>
                </a:endParaRPr>
              </a:p>
            </p:txBody>
          </p:sp>
          <p:sp>
            <p:nvSpPr>
              <p:cNvPr id="355353" name="文本框 355352"/>
              <p:cNvSpPr txBox="1"/>
              <p:nvPr/>
            </p:nvSpPr>
            <p:spPr>
              <a:xfrm>
                <a:off x="4890" y="3691"/>
                <a:ext cx="473" cy="332"/>
              </a:xfrm>
              <a:prstGeom prst="rect">
                <a:avLst/>
              </a:prstGeom>
              <a:noFill/>
              <a:ln w="9525">
                <a:noFill/>
              </a:ln>
            </p:spPr>
            <p:txBody>
              <a:bodyPr/>
              <a:p>
                <a:pPr algn="just"/>
                <a:r>
                  <a:rPr lang="zh-CN" altLang="en-US" sz="1800" dirty="0">
                    <a:latin typeface="Times New Roman" panose="02020603050405020304" pitchFamily="18" charset="0"/>
                  </a:rPr>
                  <a:t>费用</a:t>
                </a:r>
                <a:endParaRPr lang="zh-CN" altLang="en-US" sz="1800" dirty="0">
                  <a:latin typeface="Tahoma" panose="020B0604030504040204" pitchFamily="34" charset="0"/>
                </a:endParaRPr>
              </a:p>
            </p:txBody>
          </p:sp>
          <p:sp>
            <p:nvSpPr>
              <p:cNvPr id="355354" name="椭圆 355353"/>
              <p:cNvSpPr/>
              <p:nvPr/>
            </p:nvSpPr>
            <p:spPr>
              <a:xfrm>
                <a:off x="3469" y="2804"/>
                <a:ext cx="119" cy="111"/>
              </a:xfrm>
              <a:prstGeom prst="ellipse">
                <a:avLst/>
              </a:prstGeom>
              <a:solidFill>
                <a:srgbClr val="0000FF"/>
              </a:solidFill>
              <a:ln w="9525" cap="flat" cmpd="sng">
                <a:solidFill>
                  <a:srgbClr val="000000"/>
                </a:solidFill>
                <a:prstDash val="solid"/>
                <a:headEnd type="none" w="med" len="med"/>
                <a:tailEnd type="none" w="med" len="med"/>
              </a:ln>
            </p:spPr>
            <p:txBody>
              <a:bodyPr/>
              <a:p>
                <a:endParaRPr lang="zh-CN" altLang="en-US"/>
              </a:p>
            </p:txBody>
          </p:sp>
          <p:sp>
            <p:nvSpPr>
              <p:cNvPr id="355355" name="椭圆 355354"/>
              <p:cNvSpPr/>
              <p:nvPr/>
            </p:nvSpPr>
            <p:spPr>
              <a:xfrm>
                <a:off x="4535" y="1918"/>
                <a:ext cx="118" cy="110"/>
              </a:xfrm>
              <a:prstGeom prst="ellipse">
                <a:avLst/>
              </a:prstGeom>
              <a:solidFill>
                <a:srgbClr val="FF0000"/>
              </a:solidFill>
              <a:ln w="9525" cap="flat" cmpd="sng">
                <a:solidFill>
                  <a:srgbClr val="000000"/>
                </a:solidFill>
                <a:prstDash val="solid"/>
                <a:headEnd type="none" w="med" len="med"/>
                <a:tailEnd type="none" w="med" len="med"/>
              </a:ln>
            </p:spPr>
            <p:txBody>
              <a:bodyPr/>
              <a:p>
                <a:endParaRPr lang="zh-CN" altLang="en-US"/>
              </a:p>
            </p:txBody>
          </p:sp>
          <p:sp>
            <p:nvSpPr>
              <p:cNvPr id="355356" name="直接连接符 355355"/>
              <p:cNvSpPr/>
              <p:nvPr/>
            </p:nvSpPr>
            <p:spPr>
              <a:xfrm flipV="1">
                <a:off x="3519" y="2915"/>
                <a:ext cx="0" cy="776"/>
              </a:xfrm>
              <a:prstGeom prst="line">
                <a:avLst/>
              </a:prstGeom>
              <a:ln w="9525" cap="flat" cmpd="sng">
                <a:solidFill>
                  <a:srgbClr val="000000"/>
                </a:solidFill>
                <a:prstDash val="dash"/>
                <a:headEnd type="none" w="med" len="med"/>
                <a:tailEnd type="none" w="med" len="med"/>
              </a:ln>
            </p:spPr>
          </p:sp>
          <p:sp>
            <p:nvSpPr>
              <p:cNvPr id="355357" name="直接连接符 355356"/>
              <p:cNvSpPr/>
              <p:nvPr/>
            </p:nvSpPr>
            <p:spPr>
              <a:xfrm>
                <a:off x="3105" y="2857"/>
                <a:ext cx="428" cy="1"/>
              </a:xfrm>
              <a:prstGeom prst="line">
                <a:avLst/>
              </a:prstGeom>
              <a:ln w="9525" cap="flat" cmpd="sng">
                <a:solidFill>
                  <a:srgbClr val="000000"/>
                </a:solidFill>
                <a:prstDash val="dash"/>
                <a:headEnd type="none" w="med" len="med"/>
                <a:tailEnd type="none" w="med" len="med"/>
              </a:ln>
            </p:spPr>
          </p:sp>
          <p:sp>
            <p:nvSpPr>
              <p:cNvPr id="355358" name="直接连接符 355357"/>
              <p:cNvSpPr/>
              <p:nvPr/>
            </p:nvSpPr>
            <p:spPr>
              <a:xfrm>
                <a:off x="3105" y="1954"/>
                <a:ext cx="1491" cy="1"/>
              </a:xfrm>
              <a:prstGeom prst="line">
                <a:avLst/>
              </a:prstGeom>
              <a:ln w="9525" cap="flat" cmpd="sng">
                <a:solidFill>
                  <a:srgbClr val="000000"/>
                </a:solidFill>
                <a:prstDash val="dash"/>
                <a:headEnd type="none" w="med" len="med"/>
                <a:tailEnd type="none" w="med" len="med"/>
              </a:ln>
            </p:spPr>
          </p:sp>
          <p:sp>
            <p:nvSpPr>
              <p:cNvPr id="355359" name="直接连接符 355358"/>
              <p:cNvSpPr/>
              <p:nvPr/>
            </p:nvSpPr>
            <p:spPr>
              <a:xfrm flipV="1">
                <a:off x="4582" y="1949"/>
                <a:ext cx="14" cy="1745"/>
              </a:xfrm>
              <a:prstGeom prst="line">
                <a:avLst/>
              </a:prstGeom>
              <a:ln w="9525" cap="flat" cmpd="sng">
                <a:solidFill>
                  <a:srgbClr val="000000"/>
                </a:solidFill>
                <a:prstDash val="dash"/>
                <a:headEnd type="none" w="med" len="med"/>
                <a:tailEnd type="none" w="med" len="med"/>
              </a:ln>
            </p:spPr>
          </p:sp>
          <p:sp>
            <p:nvSpPr>
              <p:cNvPr id="355360" name="文本框 355359"/>
              <p:cNvSpPr txBox="1"/>
              <p:nvPr/>
            </p:nvSpPr>
            <p:spPr>
              <a:xfrm>
                <a:off x="4002" y="1624"/>
                <a:ext cx="1201" cy="332"/>
              </a:xfrm>
              <a:prstGeom prst="rect">
                <a:avLst/>
              </a:prstGeom>
              <a:noFill/>
              <a:ln w="9525">
                <a:noFill/>
              </a:ln>
            </p:spPr>
            <p:txBody>
              <a:bodyPr/>
              <a:p>
                <a:pPr algn="ctr"/>
                <a:r>
                  <a:rPr lang="en-US" altLang="zh-CN" sz="1800">
                    <a:latin typeface="Times New Roman" panose="02020603050405020304" pitchFamily="18" charset="0"/>
                  </a:rPr>
                  <a:t>C</a:t>
                </a:r>
                <a:r>
                  <a:rPr lang="zh-CN" altLang="en-US" sz="1800" dirty="0">
                    <a:latin typeface="Times New Roman" panose="02020603050405020304" pitchFamily="18" charset="0"/>
                  </a:rPr>
                  <a:t>（纸质</a:t>
                </a:r>
                <a:r>
                  <a:rPr lang="en-US" altLang="zh-CN" sz="1800">
                    <a:latin typeface="Times New Roman" panose="02020603050405020304" pitchFamily="18" charset="0"/>
                  </a:rPr>
                  <a:t>+</a:t>
                </a:r>
                <a:r>
                  <a:rPr lang="zh-CN" altLang="en-US" sz="1800" dirty="0">
                    <a:latin typeface="Times New Roman" panose="02020603050405020304" pitchFamily="18" charset="0"/>
                  </a:rPr>
                  <a:t>网络）</a:t>
                </a:r>
                <a:endParaRPr lang="zh-CN" altLang="en-US" sz="1800" dirty="0">
                  <a:latin typeface="Tahoma" panose="020B0604030504040204" pitchFamily="34" charset="0"/>
                </a:endParaRPr>
              </a:p>
            </p:txBody>
          </p:sp>
          <p:sp>
            <p:nvSpPr>
              <p:cNvPr id="355361" name="文本框 355360"/>
              <p:cNvSpPr txBox="1"/>
              <p:nvPr/>
            </p:nvSpPr>
            <p:spPr>
              <a:xfrm>
                <a:off x="2736" y="1734"/>
                <a:ext cx="355" cy="554"/>
              </a:xfrm>
              <a:prstGeom prst="rect">
                <a:avLst/>
              </a:prstGeom>
              <a:noFill/>
              <a:ln w="9525">
                <a:noFill/>
              </a:ln>
            </p:spPr>
            <p:txBody>
              <a:bodyPr/>
              <a:p>
                <a:pPr algn="ctr"/>
                <a:r>
                  <a:rPr lang="zh-CN" altLang="en-US" sz="1800" dirty="0">
                    <a:latin typeface="Times New Roman" panose="02020603050405020304" pitchFamily="18" charset="0"/>
                  </a:rPr>
                  <a:t>媒介</a:t>
                </a:r>
                <a:endParaRPr lang="zh-CN" altLang="en-US" sz="1800" dirty="0">
                  <a:latin typeface="Tahoma" panose="020B0604030504040204" pitchFamily="34" charset="0"/>
                </a:endParaRPr>
              </a:p>
            </p:txBody>
          </p:sp>
        </p:grpSp>
        <p:sp>
          <p:nvSpPr>
            <p:cNvPr id="355362" name="矩形 355361"/>
            <p:cNvSpPr/>
            <p:nvPr/>
          </p:nvSpPr>
          <p:spPr>
            <a:xfrm>
              <a:off x="249" y="3961"/>
              <a:ext cx="3211" cy="232"/>
            </a:xfrm>
            <a:prstGeom prst="rect">
              <a:avLst/>
            </a:prstGeom>
            <a:noFill/>
            <a:ln w="9525">
              <a:noFill/>
            </a:ln>
          </p:spPr>
          <p:txBody>
            <a:bodyPr wrap="none" anchor="ctr" anchorCtr="0">
              <a:spAutoFit/>
            </a:bodyPr>
            <a:p>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这种现象被称作“诱饵效应”（</a:t>
              </a:r>
              <a:r>
                <a:rPr lang="en-US" altLang="zh-CN">
                  <a:solidFill>
                    <a:srgbClr val="FF0000"/>
                  </a:solidFill>
                  <a:latin typeface="楷体" panose="02010609060101010101" pitchFamily="49" charset="-122"/>
                  <a:ea typeface="楷体" panose="02010609060101010101" pitchFamily="49" charset="-122"/>
                  <a:cs typeface="楷体" panose="02010609060101010101" pitchFamily="49" charset="-122"/>
                </a:rPr>
                <a:t>decoy effect</a:t>
              </a:r>
              <a:r>
                <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lang="zh-CN" altLang="en-US"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9491" name="图片 319490"/>
          <p:cNvPicPr>
            <a:picLocks noChangeAspect="1"/>
          </p:cNvPicPr>
          <p:nvPr/>
        </p:nvPicPr>
        <p:blipFill>
          <a:blip r:embed="rId1"/>
          <a:stretch>
            <a:fillRect/>
          </a:stretch>
        </p:blipFill>
        <p:spPr>
          <a:xfrm>
            <a:off x="2505075" y="940753"/>
            <a:ext cx="7956550" cy="4976812"/>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标题 320513"/>
          <p:cNvSpPr>
            <a:spLocks noGrp="1"/>
          </p:cNvSpPr>
          <p:nvPr>
            <p:ph type="title"/>
          </p:nvPr>
        </p:nvSpPr>
        <p:spPr/>
        <p:txBody>
          <a:bodyPr anchor="b" anchorCtr="0"/>
          <a:p>
            <a:pPr algn="l"/>
            <a:r>
              <a:rPr lang="zh-CN" altLang="en-US" dirty="0"/>
              <a:t>扩展模型的应用</a:t>
            </a:r>
            <a:endParaRPr lang="zh-CN" altLang="en-US" dirty="0"/>
          </a:p>
        </p:txBody>
      </p:sp>
      <p:sp>
        <p:nvSpPr>
          <p:cNvPr id="320515" name="文本占位符 320514"/>
          <p:cNvSpPr>
            <a:spLocks noGrp="1"/>
          </p:cNvSpPr>
          <p:nvPr>
            <p:ph type="body" idx="1"/>
          </p:nvPr>
        </p:nvSpPr>
        <p:spPr>
          <a:xfrm>
            <a:off x="2895600" y="1881505"/>
            <a:ext cx="8343900" cy="4752975"/>
          </a:xfrm>
        </p:spPr>
        <p:txBody>
          <a:bodyPr/>
          <a:p>
            <a:pPr>
              <a:lnSpc>
                <a:spcPct val="80000"/>
              </a:lnSpc>
            </a:pPr>
            <a:r>
              <a:rPr lang="zh-CN" altLang="en-US" sz="2800" dirty="0"/>
              <a:t>应用</a:t>
            </a:r>
            <a:r>
              <a:rPr lang="en-US" altLang="zh-CN" sz="2800"/>
              <a:t>1</a:t>
            </a:r>
            <a:r>
              <a:rPr lang="zh-CN" altLang="en-US" sz="2800" dirty="0"/>
              <a:t>：烤面包机的故事</a:t>
            </a:r>
            <a:endParaRPr lang="zh-CN" altLang="en-US" sz="2800" dirty="0"/>
          </a:p>
          <a:p>
            <a:pPr lvl="1">
              <a:lnSpc>
                <a:spcPct val="80000"/>
              </a:lnSpc>
            </a:pPr>
            <a:r>
              <a:rPr lang="zh-CN" altLang="en-US" sz="2400" dirty="0">
                <a:solidFill>
                  <a:schemeClr val="tx1"/>
                </a:solidFill>
              </a:rPr>
              <a:t>威廉斯</a:t>
            </a:r>
            <a:r>
              <a:rPr lang="en-US" altLang="zh-CN" sz="2400">
                <a:solidFill>
                  <a:schemeClr val="tx1"/>
                </a:solidFill>
              </a:rPr>
              <a:t>-</a:t>
            </a:r>
            <a:r>
              <a:rPr lang="zh-CN" altLang="en-US" sz="2400" dirty="0">
                <a:solidFill>
                  <a:schemeClr val="tx1"/>
                </a:solidFill>
              </a:rPr>
              <a:t>索诺马公司首次推出家用烤面包机（售价</a:t>
            </a:r>
            <a:r>
              <a:rPr lang="en-US" altLang="zh-CN" sz="2400">
                <a:solidFill>
                  <a:schemeClr val="tx1"/>
                </a:solidFill>
              </a:rPr>
              <a:t>275</a:t>
            </a:r>
            <a:r>
              <a:rPr lang="zh-CN" altLang="en-US" sz="2400" dirty="0">
                <a:solidFill>
                  <a:schemeClr val="tx1"/>
                </a:solidFill>
              </a:rPr>
              <a:t>美元）时，多数消费者不感兴趣。家用烤面包机到底是个什么东西？我们真的需要在家烤面包吗？有钱为什么不买台样式新颖的咖啡机？</a:t>
            </a:r>
            <a:endParaRPr lang="zh-CN" altLang="en-US" sz="2400" dirty="0">
              <a:solidFill>
                <a:schemeClr val="tx1"/>
              </a:solidFill>
            </a:endParaRPr>
          </a:p>
          <a:p>
            <a:pPr lvl="1">
              <a:lnSpc>
                <a:spcPct val="80000"/>
              </a:lnSpc>
            </a:pPr>
            <a:r>
              <a:rPr lang="zh-CN" altLang="en-US" sz="2400" dirty="0">
                <a:solidFill>
                  <a:schemeClr val="tx1"/>
                </a:solidFill>
              </a:rPr>
              <a:t>糟糕的销售业绩迫使该公司请来了一家营销咨询公司，他们提出了一个补救的办法：再推出一个新型号的面包机，不仅个头比现在的要大，价格也要比现有型号高出一半左右。</a:t>
            </a:r>
            <a:endParaRPr lang="zh-CN" altLang="en-US" sz="2400" dirty="0">
              <a:solidFill>
                <a:schemeClr val="tx1"/>
              </a:solidFill>
            </a:endParaRPr>
          </a:p>
          <a:p>
            <a:pPr lvl="1">
              <a:lnSpc>
                <a:spcPct val="80000"/>
              </a:lnSpc>
            </a:pPr>
            <a:r>
              <a:rPr lang="zh-CN" altLang="en-US" sz="2400" dirty="0">
                <a:solidFill>
                  <a:schemeClr val="tx1"/>
                </a:solidFill>
              </a:rPr>
              <a:t>结果：</a:t>
            </a:r>
            <a:r>
              <a:rPr lang="zh-CN" altLang="en-US" sz="2400" dirty="0">
                <a:solidFill>
                  <a:srgbClr val="FF0000"/>
                </a:solidFill>
              </a:rPr>
              <a:t>销售开始上升了，尽管卖出的并不是大号面包机</a:t>
            </a:r>
            <a:r>
              <a:rPr lang="zh-CN" altLang="en-US" sz="2400" dirty="0">
                <a:solidFill>
                  <a:schemeClr val="tx1"/>
                </a:solidFill>
              </a:rPr>
              <a:t>。</a:t>
            </a:r>
            <a:endParaRPr lang="zh-CN" altLang="en-US" sz="2400" dirty="0">
              <a:solidFill>
                <a:schemeClr val="tx1"/>
              </a:solidFill>
            </a:endParaRPr>
          </a:p>
          <a:p>
            <a:pPr lvl="1">
              <a:lnSpc>
                <a:spcPct val="80000"/>
              </a:lnSpc>
              <a:buNone/>
            </a:pPr>
            <a:endParaRPr lang="zh-CN" altLang="en-US" sz="2400" dirty="0">
              <a:solidFill>
                <a:schemeClr val="hlink"/>
              </a:solidFill>
            </a:endParaRPr>
          </a:p>
          <a:p>
            <a:pPr>
              <a:lnSpc>
                <a:spcPct val="80000"/>
              </a:lnSpc>
            </a:pPr>
            <a:r>
              <a:rPr lang="zh-CN" altLang="en-US" sz="2800" dirty="0"/>
              <a:t>应用</a:t>
            </a:r>
            <a:r>
              <a:rPr lang="en-US" altLang="zh-CN" sz="2800"/>
              <a:t>2</a:t>
            </a:r>
            <a:r>
              <a:rPr lang="zh-CN" altLang="en-US" sz="2800" dirty="0"/>
              <a:t>：单身的你希望在即将参加的舞会上吸引更多的未来约会的对象，该怎么办呢？</a:t>
            </a:r>
            <a:endParaRPr lang="zh-CN" altLang="en-US" sz="2800" dirty="0"/>
          </a:p>
        </p:txBody>
      </p:sp>
      <p:pic>
        <p:nvPicPr>
          <p:cNvPr id="320516" name="图片 320515" descr="u=595603338,2835332714&amp;fm=21&amp;gp=0"/>
          <p:cNvPicPr>
            <a:picLocks noChangeAspect="1"/>
          </p:cNvPicPr>
          <p:nvPr/>
        </p:nvPicPr>
        <p:blipFill>
          <a:blip r:embed="rId1"/>
          <a:stretch>
            <a:fillRect/>
          </a:stretch>
        </p:blipFill>
        <p:spPr>
          <a:xfrm>
            <a:off x="1524000" y="3644900"/>
            <a:ext cx="1590675" cy="1428750"/>
          </a:xfrm>
          <a:prstGeom prst="rect">
            <a:avLst/>
          </a:prstGeom>
          <a:noFill/>
          <a:ln w="9525">
            <a:noFill/>
          </a:ln>
        </p:spPr>
      </p:pic>
      <p:pic>
        <p:nvPicPr>
          <p:cNvPr id="320517" name="图片 320516" descr="u=998319295,1446176834&amp;fm=21&amp;gp=0"/>
          <p:cNvPicPr>
            <a:picLocks noChangeAspect="1"/>
          </p:cNvPicPr>
          <p:nvPr/>
        </p:nvPicPr>
        <p:blipFill>
          <a:blip r:embed="rId2"/>
          <a:stretch>
            <a:fillRect/>
          </a:stretch>
        </p:blipFill>
        <p:spPr>
          <a:xfrm>
            <a:off x="1524000" y="2276475"/>
            <a:ext cx="1476375" cy="140335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确定型决策分析</a:t>
            </a:r>
            <a:endParaRPr lang="zh-CN" altLang="en-US" dirty="0"/>
          </a:p>
        </p:txBody>
      </p:sp>
      <p:sp>
        <p:nvSpPr>
          <p:cNvPr id="3" name="内容占位符 2"/>
          <p:cNvSpPr>
            <a:spLocks noGrp="1"/>
          </p:cNvSpPr>
          <p:nvPr>
            <p:ph idx="1"/>
          </p:nvPr>
        </p:nvSpPr>
        <p:spPr/>
        <p:txBody>
          <a:bodyPr/>
          <a:lstStyle/>
          <a:p>
            <a:r>
              <a:rPr lang="zh-CN" altLang="en-US" dirty="0"/>
              <a:t>确定型决策分析是在决策环境完全确定的环境下进行的，其所作决策的结果也是确定的。</a:t>
            </a:r>
            <a:endParaRPr lang="en-US" altLang="zh-CN" dirty="0"/>
          </a:p>
          <a:p>
            <a:r>
              <a:rPr lang="zh-CN" altLang="en-US" dirty="0"/>
              <a:t>我们此前学习的规划模型为确定型分析模型：</a:t>
            </a:r>
            <a:endParaRPr lang="en-US" altLang="zh-CN" dirty="0"/>
          </a:p>
          <a:p>
            <a:pPr lvl="1"/>
            <a:r>
              <a:rPr lang="zh-CN" altLang="en-US" dirty="0"/>
              <a:t>线性规划</a:t>
            </a:r>
            <a:endParaRPr lang="en-US" altLang="zh-CN" dirty="0"/>
          </a:p>
          <a:p>
            <a:pPr lvl="1"/>
            <a:r>
              <a:rPr lang="zh-CN" altLang="en-US" dirty="0"/>
              <a:t>整数规划</a:t>
            </a:r>
            <a:endParaRPr lang="zh-CN" altLang="en-US" dirty="0"/>
          </a:p>
          <a:p>
            <a:pPr lvl="1"/>
            <a:r>
              <a:rPr lang="zh-CN" altLang="en-US" dirty="0">
                <a:sym typeface="+mn-ea"/>
              </a:rPr>
              <a:t>目标规划</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1" name="文本占位符 268290"/>
          <p:cNvSpPr>
            <a:spLocks noGrp="1"/>
          </p:cNvSpPr>
          <p:nvPr>
            <p:ph type="body" idx="4294967295"/>
          </p:nvPr>
        </p:nvSpPr>
        <p:spPr>
          <a:xfrm>
            <a:off x="1010285" y="2060575"/>
            <a:ext cx="10473690" cy="3787775"/>
          </a:xfrm>
        </p:spPr>
        <p:txBody>
          <a:bodyPr/>
          <a:p>
            <a:pPr>
              <a:lnSpc>
                <a:spcPct val="90000"/>
              </a:lnSpc>
            </a:pPr>
            <a:r>
              <a:rPr lang="en-US" altLang="zh-CN" sz="3600" dirty="0">
                <a:latin typeface="楷体" panose="02010609060101010101" pitchFamily="49" charset="-122"/>
                <a:ea typeface="楷体" panose="02010609060101010101" pitchFamily="49" charset="-122"/>
                <a:cs typeface="楷体" panose="02010609060101010101" pitchFamily="49" charset="-122"/>
              </a:rPr>
              <a:t> </a:t>
            </a:r>
            <a:r>
              <a:rPr lang="zh-CN" altLang="en-US" sz="3600" dirty="0">
                <a:latin typeface="楷体" panose="02010609060101010101" pitchFamily="49" charset="-122"/>
                <a:ea typeface="楷体" panose="02010609060101010101" pitchFamily="49" charset="-122"/>
                <a:cs typeface="楷体" panose="02010609060101010101" pitchFamily="49" charset="-122"/>
              </a:rPr>
              <a:t>某企业产品的销售价格为</a:t>
            </a:r>
            <a:r>
              <a:rPr lang="en-US" altLang="zh-CN" sz="3600">
                <a:latin typeface="楷体" panose="02010609060101010101" pitchFamily="49" charset="-122"/>
                <a:ea typeface="楷体" panose="02010609060101010101" pitchFamily="49" charset="-122"/>
                <a:cs typeface="楷体" panose="02010609060101010101" pitchFamily="49" charset="-122"/>
              </a:rPr>
              <a:t>10</a:t>
            </a:r>
            <a:r>
              <a:rPr lang="zh-CN" altLang="en-US" sz="3600" dirty="0">
                <a:latin typeface="楷体" panose="02010609060101010101" pitchFamily="49" charset="-122"/>
                <a:ea typeface="楷体" panose="02010609060101010101" pitchFamily="49" charset="-122"/>
                <a:cs typeface="楷体" panose="02010609060101010101" pitchFamily="49" charset="-122"/>
              </a:rPr>
              <a:t>万元</a:t>
            </a:r>
            <a:r>
              <a:rPr lang="en-US" altLang="zh-CN" sz="3600">
                <a:latin typeface="楷体" panose="02010609060101010101" pitchFamily="49" charset="-122"/>
                <a:ea typeface="楷体" panose="02010609060101010101" pitchFamily="49" charset="-122"/>
                <a:cs typeface="楷体" panose="02010609060101010101" pitchFamily="49" charset="-122"/>
              </a:rPr>
              <a:t>/</a:t>
            </a:r>
            <a:r>
              <a:rPr lang="zh-CN" altLang="en-US" sz="3600" dirty="0">
                <a:latin typeface="楷体" panose="02010609060101010101" pitchFamily="49" charset="-122"/>
                <a:ea typeface="楷体" panose="02010609060101010101" pitchFamily="49" charset="-122"/>
                <a:cs typeface="楷体" panose="02010609060101010101" pitchFamily="49" charset="-122"/>
              </a:rPr>
              <a:t>台，单位变动成本为</a:t>
            </a:r>
            <a:r>
              <a:rPr lang="en-US" altLang="zh-CN" sz="3600">
                <a:latin typeface="楷体" panose="02010609060101010101" pitchFamily="49" charset="-122"/>
                <a:ea typeface="楷体" panose="02010609060101010101" pitchFamily="49" charset="-122"/>
                <a:cs typeface="楷体" panose="02010609060101010101" pitchFamily="49" charset="-122"/>
              </a:rPr>
              <a:t>6</a:t>
            </a:r>
            <a:r>
              <a:rPr lang="zh-CN" altLang="en-US" sz="3600" dirty="0">
                <a:latin typeface="楷体" panose="02010609060101010101" pitchFamily="49" charset="-122"/>
                <a:ea typeface="楷体" panose="02010609060101010101" pitchFamily="49" charset="-122"/>
                <a:cs typeface="楷体" panose="02010609060101010101" pitchFamily="49" charset="-122"/>
              </a:rPr>
              <a:t>万元，固定成本为</a:t>
            </a:r>
            <a:r>
              <a:rPr lang="en-US" altLang="zh-CN" sz="3600">
                <a:latin typeface="楷体" panose="02010609060101010101" pitchFamily="49" charset="-122"/>
                <a:ea typeface="楷体" panose="02010609060101010101" pitchFamily="49" charset="-122"/>
                <a:cs typeface="楷体" panose="02010609060101010101" pitchFamily="49" charset="-122"/>
              </a:rPr>
              <a:t>400</a:t>
            </a:r>
            <a:r>
              <a:rPr lang="zh-CN" altLang="en-US" sz="3600" dirty="0">
                <a:latin typeface="楷体" panose="02010609060101010101" pitchFamily="49" charset="-122"/>
                <a:ea typeface="楷体" panose="02010609060101010101" pitchFamily="49" charset="-122"/>
                <a:cs typeface="楷体" panose="02010609060101010101" pitchFamily="49" charset="-122"/>
              </a:rPr>
              <a:t>万元，求：</a:t>
            </a:r>
            <a:endParaRPr lang="zh-CN" altLang="en-US" sz="3600" dirty="0">
              <a:latin typeface="楷体" panose="02010609060101010101" pitchFamily="49" charset="-122"/>
              <a:ea typeface="楷体" panose="02010609060101010101" pitchFamily="49" charset="-122"/>
              <a:cs typeface="楷体" panose="02010609060101010101" pitchFamily="49" charset="-122"/>
            </a:endParaRPr>
          </a:p>
          <a:p>
            <a:pPr lvl="1">
              <a:lnSpc>
                <a:spcPct val="90000"/>
              </a:lnSpc>
            </a:pPr>
            <a:r>
              <a:rPr lang="en-US" altLang="zh-CN" sz="3200">
                <a:latin typeface="楷体" panose="02010609060101010101" pitchFamily="49" charset="-122"/>
                <a:ea typeface="楷体" panose="02010609060101010101" pitchFamily="49" charset="-122"/>
                <a:cs typeface="楷体" panose="02010609060101010101" pitchFamily="49" charset="-122"/>
              </a:rPr>
              <a:t>(1) </a:t>
            </a:r>
            <a:r>
              <a:rPr lang="zh-CN" altLang="en-US" sz="3200" dirty="0">
                <a:latin typeface="楷体" panose="02010609060101010101" pitchFamily="49" charset="-122"/>
                <a:ea typeface="楷体" panose="02010609060101010101" pitchFamily="49" charset="-122"/>
                <a:cs typeface="楷体" panose="02010609060101010101" pitchFamily="49" charset="-122"/>
              </a:rPr>
              <a:t>临界产量为多少？</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a:p>
            <a:pPr lvl="1">
              <a:lnSpc>
                <a:spcPct val="90000"/>
              </a:lnSpc>
            </a:pPr>
            <a:r>
              <a:rPr lang="en-US" altLang="zh-CN" sz="3200">
                <a:latin typeface="楷体" panose="02010609060101010101" pitchFamily="49" charset="-122"/>
                <a:ea typeface="楷体" panose="02010609060101010101" pitchFamily="49" charset="-122"/>
                <a:cs typeface="楷体" panose="02010609060101010101" pitchFamily="49" charset="-122"/>
              </a:rPr>
              <a:t>(2) </a:t>
            </a:r>
            <a:r>
              <a:rPr lang="zh-CN" altLang="en-US" sz="3200" dirty="0">
                <a:latin typeface="楷体" panose="02010609060101010101" pitchFamily="49" charset="-122"/>
                <a:ea typeface="楷体" panose="02010609060101010101" pitchFamily="49" charset="-122"/>
                <a:cs typeface="楷体" panose="02010609060101010101" pitchFamily="49" charset="-122"/>
              </a:rPr>
              <a:t>临界产量的销售额是多少？</a:t>
            </a:r>
            <a:endParaRPr lang="zh-CN" altLang="en-US" sz="3200" dirty="0">
              <a:latin typeface="楷体" panose="02010609060101010101" pitchFamily="49" charset="-122"/>
              <a:ea typeface="楷体" panose="02010609060101010101" pitchFamily="49" charset="-122"/>
              <a:cs typeface="楷体" panose="02010609060101010101" pitchFamily="49" charset="-122"/>
            </a:endParaRPr>
          </a:p>
          <a:p>
            <a:pPr lvl="1">
              <a:lnSpc>
                <a:spcPct val="90000"/>
              </a:lnSpc>
            </a:pPr>
            <a:r>
              <a:rPr lang="en-US" altLang="zh-CN" sz="3200">
                <a:latin typeface="楷体" panose="02010609060101010101" pitchFamily="49" charset="-122"/>
                <a:ea typeface="楷体" panose="02010609060101010101" pitchFamily="49" charset="-122"/>
                <a:cs typeface="楷体" panose="02010609060101010101" pitchFamily="49" charset="-122"/>
              </a:rPr>
              <a:t>(3) </a:t>
            </a:r>
            <a:r>
              <a:rPr lang="zh-CN" altLang="en-US" sz="3200" dirty="0">
                <a:latin typeface="楷体" panose="02010609060101010101" pitchFamily="49" charset="-122"/>
                <a:ea typeface="楷体" panose="02010609060101010101" pitchFamily="49" charset="-122"/>
                <a:cs typeface="楷体" panose="02010609060101010101" pitchFamily="49" charset="-122"/>
              </a:rPr>
              <a:t>若计划完成</a:t>
            </a:r>
            <a:r>
              <a:rPr lang="en-US" altLang="zh-CN" sz="3200">
                <a:latin typeface="楷体" panose="02010609060101010101" pitchFamily="49" charset="-122"/>
                <a:ea typeface="楷体" panose="02010609060101010101" pitchFamily="49" charset="-122"/>
                <a:cs typeface="楷体" panose="02010609060101010101" pitchFamily="49" charset="-122"/>
              </a:rPr>
              <a:t>200</a:t>
            </a:r>
            <a:r>
              <a:rPr lang="zh-CN" altLang="en-US" sz="3200" dirty="0">
                <a:latin typeface="楷体" panose="02010609060101010101" pitchFamily="49" charset="-122"/>
                <a:ea typeface="楷体" panose="02010609060101010101" pitchFamily="49" charset="-122"/>
                <a:cs typeface="楷体" panose="02010609060101010101" pitchFamily="49" charset="-122"/>
              </a:rPr>
              <a:t>台能否盈利？盈利额为多大？</a:t>
            </a: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
        <p:nvSpPr>
          <p:cNvPr id="2" name="标题 1"/>
          <p:cNvSpPr>
            <a:spLocks noGrp="1"/>
          </p:cNvSpPr>
          <p:nvPr>
            <p:ph type="title"/>
          </p:nvPr>
        </p:nvSpPr>
        <p:spPr/>
        <p:txBody>
          <a:bodyPr/>
          <a:p>
            <a:r>
              <a:rPr lang="zh-CN" altLang="en-US" dirty="0">
                <a:latin typeface="楷体" panose="02010609060101010101" pitchFamily="49" charset="-122"/>
                <a:ea typeface="楷体" panose="02010609060101010101" pitchFamily="49" charset="-122"/>
              </a:rPr>
              <a:t>确定型决策分析</a:t>
            </a: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标题 269313"/>
          <p:cNvSpPr>
            <a:spLocks noGrp="1"/>
          </p:cNvSpPr>
          <p:nvPr>
            <p:ph type="title"/>
          </p:nvPr>
        </p:nvSpPr>
        <p:spPr/>
        <p:txBody>
          <a:bodyPr anchor="b" anchorCtr="0"/>
          <a:p>
            <a:pPr algn="l"/>
            <a:r>
              <a:rPr lang="zh-CN" altLang="en-US" dirty="0">
                <a:latin typeface="楷体" panose="02010609060101010101" pitchFamily="49" charset="-122"/>
                <a:ea typeface="楷体" panose="02010609060101010101" pitchFamily="49" charset="-122"/>
              </a:rPr>
              <a:t>盈亏平衡分析示意图</a:t>
            </a:r>
            <a:endParaRPr lang="zh-CN" altLang="en-US" dirty="0">
              <a:latin typeface="楷体" panose="02010609060101010101" pitchFamily="49" charset="-122"/>
              <a:ea typeface="楷体" panose="02010609060101010101" pitchFamily="49" charset="-122"/>
            </a:endParaRPr>
          </a:p>
        </p:txBody>
      </p:sp>
      <p:grpSp>
        <p:nvGrpSpPr>
          <p:cNvPr id="269315" name="组合 269314"/>
          <p:cNvGrpSpPr/>
          <p:nvPr/>
        </p:nvGrpSpPr>
        <p:grpSpPr>
          <a:xfrm>
            <a:off x="1882775" y="1952625"/>
            <a:ext cx="7921625" cy="4781265"/>
            <a:chOff x="385" y="754"/>
            <a:chExt cx="4808" cy="3309"/>
          </a:xfrm>
        </p:grpSpPr>
        <p:sp>
          <p:nvSpPr>
            <p:cNvPr id="269316" name="直接连接符 269315"/>
            <p:cNvSpPr/>
            <p:nvPr/>
          </p:nvSpPr>
          <p:spPr>
            <a:xfrm>
              <a:off x="1020" y="890"/>
              <a:ext cx="0" cy="2676"/>
            </a:xfrm>
            <a:prstGeom prst="line">
              <a:avLst/>
            </a:prstGeom>
            <a:ln w="57150" cap="flat" cmpd="sng">
              <a:solidFill>
                <a:schemeClr val="tx1"/>
              </a:solidFill>
              <a:prstDash val="solid"/>
              <a:headEnd type="triangle" w="med" len="med"/>
              <a:tailEnd type="none" w="med" len="med"/>
            </a:ln>
          </p:spPr>
        </p:sp>
        <p:sp>
          <p:nvSpPr>
            <p:cNvPr id="269317" name="直接连接符 269316"/>
            <p:cNvSpPr/>
            <p:nvPr/>
          </p:nvSpPr>
          <p:spPr>
            <a:xfrm>
              <a:off x="1020" y="3566"/>
              <a:ext cx="4083" cy="0"/>
            </a:xfrm>
            <a:prstGeom prst="line">
              <a:avLst/>
            </a:prstGeom>
            <a:ln w="57150" cap="flat" cmpd="sng">
              <a:solidFill>
                <a:schemeClr val="tx1"/>
              </a:solidFill>
              <a:prstDash val="solid"/>
              <a:headEnd type="none" w="med" len="med"/>
              <a:tailEnd type="triangle" w="med" len="med"/>
            </a:ln>
          </p:spPr>
        </p:sp>
        <p:sp>
          <p:nvSpPr>
            <p:cNvPr id="269318" name="直接连接符 269317"/>
            <p:cNvSpPr/>
            <p:nvPr/>
          </p:nvSpPr>
          <p:spPr>
            <a:xfrm>
              <a:off x="1020" y="2795"/>
              <a:ext cx="3357" cy="0"/>
            </a:xfrm>
            <a:prstGeom prst="line">
              <a:avLst/>
            </a:prstGeom>
            <a:ln w="57150" cap="flat" cmpd="sng">
              <a:solidFill>
                <a:schemeClr val="tx1"/>
              </a:solidFill>
              <a:prstDash val="solid"/>
              <a:headEnd type="none" w="med" len="med"/>
              <a:tailEnd type="none" w="med" len="med"/>
            </a:ln>
          </p:spPr>
        </p:sp>
        <p:sp>
          <p:nvSpPr>
            <p:cNvPr id="269319" name="直接连接符 269318"/>
            <p:cNvSpPr/>
            <p:nvPr/>
          </p:nvSpPr>
          <p:spPr>
            <a:xfrm flipV="1">
              <a:off x="1020" y="1117"/>
              <a:ext cx="2041" cy="2449"/>
            </a:xfrm>
            <a:prstGeom prst="line">
              <a:avLst/>
            </a:prstGeom>
            <a:ln w="57150" cap="flat" cmpd="sng">
              <a:solidFill>
                <a:schemeClr val="tx1"/>
              </a:solidFill>
              <a:prstDash val="solid"/>
              <a:headEnd type="none" w="med" len="med"/>
              <a:tailEnd type="none" w="med" len="med"/>
            </a:ln>
          </p:spPr>
        </p:sp>
        <p:sp>
          <p:nvSpPr>
            <p:cNvPr id="269320" name="直接连接符 269319"/>
            <p:cNvSpPr/>
            <p:nvPr/>
          </p:nvSpPr>
          <p:spPr>
            <a:xfrm flipV="1">
              <a:off x="1020" y="1071"/>
              <a:ext cx="3175" cy="1724"/>
            </a:xfrm>
            <a:prstGeom prst="line">
              <a:avLst/>
            </a:prstGeom>
            <a:ln w="57150" cap="flat" cmpd="sng">
              <a:solidFill>
                <a:schemeClr val="tx1"/>
              </a:solidFill>
              <a:prstDash val="solid"/>
              <a:headEnd type="none" w="med" len="med"/>
              <a:tailEnd type="none" w="med" len="med"/>
            </a:ln>
          </p:spPr>
        </p:sp>
        <p:sp>
          <p:nvSpPr>
            <p:cNvPr id="269321" name="直接连接符 269320"/>
            <p:cNvSpPr/>
            <p:nvPr/>
          </p:nvSpPr>
          <p:spPr>
            <a:xfrm>
              <a:off x="2200" y="2160"/>
              <a:ext cx="0" cy="1406"/>
            </a:xfrm>
            <a:prstGeom prst="line">
              <a:avLst/>
            </a:prstGeom>
            <a:ln w="57150" cap="rnd" cmpd="sng">
              <a:solidFill>
                <a:schemeClr val="tx1"/>
              </a:solidFill>
              <a:prstDash val="sysDot"/>
              <a:headEnd type="none" w="med" len="med"/>
              <a:tailEnd type="none" w="med" len="med"/>
            </a:ln>
          </p:spPr>
        </p:sp>
        <p:sp>
          <p:nvSpPr>
            <p:cNvPr id="269322" name="直接连接符 269321"/>
            <p:cNvSpPr/>
            <p:nvPr/>
          </p:nvSpPr>
          <p:spPr>
            <a:xfrm flipH="1">
              <a:off x="1020" y="2160"/>
              <a:ext cx="1180" cy="0"/>
            </a:xfrm>
            <a:prstGeom prst="line">
              <a:avLst/>
            </a:prstGeom>
            <a:ln w="57150" cap="rnd" cmpd="sng">
              <a:solidFill>
                <a:schemeClr val="tx1"/>
              </a:solidFill>
              <a:prstDash val="sysDot"/>
              <a:headEnd type="none" w="med" len="med"/>
              <a:tailEnd type="none" w="med" len="med"/>
            </a:ln>
          </p:spPr>
        </p:sp>
        <p:sp>
          <p:nvSpPr>
            <p:cNvPr id="269323" name="文本框 269322"/>
            <p:cNvSpPr txBox="1"/>
            <p:nvPr/>
          </p:nvSpPr>
          <p:spPr>
            <a:xfrm>
              <a:off x="4604" y="3702"/>
              <a:ext cx="589" cy="361"/>
            </a:xfrm>
            <a:prstGeom prst="rect">
              <a:avLst/>
            </a:prstGeom>
            <a:solidFill>
              <a:schemeClr val="bg1"/>
            </a:solidFill>
            <a:ln w="9525">
              <a:noFill/>
            </a:ln>
          </p:spPr>
          <p:txBody>
            <a:bodyPr>
              <a:spAutoFit/>
            </a:bodyPr>
            <a:p>
              <a:pPr>
                <a:spcBef>
                  <a:spcPct val="50000"/>
                </a:spcBef>
              </a:pPr>
              <a:r>
                <a:rPr lang="zh-CN" altLang="en-US" sz="2800" dirty="0">
                  <a:solidFill>
                    <a:schemeClr val="tx1"/>
                  </a:solidFill>
                  <a:latin typeface="楷体" panose="02010609060101010101" pitchFamily="49" charset="-122"/>
                  <a:ea typeface="楷体" panose="02010609060101010101" pitchFamily="49" charset="-122"/>
                </a:rPr>
                <a:t>产量</a:t>
              </a:r>
              <a:endParaRPr lang="zh-CN" altLang="en-US" sz="2800" dirty="0">
                <a:solidFill>
                  <a:schemeClr val="tx1"/>
                </a:solidFill>
                <a:latin typeface="楷体" panose="02010609060101010101" pitchFamily="49" charset="-122"/>
                <a:ea typeface="楷体" panose="02010609060101010101" pitchFamily="49" charset="-122"/>
              </a:endParaRPr>
            </a:p>
          </p:txBody>
        </p:sp>
        <p:sp>
          <p:nvSpPr>
            <p:cNvPr id="269324" name="文本框 269323"/>
            <p:cNvSpPr txBox="1"/>
            <p:nvPr/>
          </p:nvSpPr>
          <p:spPr>
            <a:xfrm>
              <a:off x="2018" y="3565"/>
              <a:ext cx="454" cy="361"/>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en-US" altLang="zh-CN" sz="2800" b="1">
                  <a:solidFill>
                    <a:schemeClr val="tx2"/>
                  </a:solidFill>
                  <a:latin typeface="Arial" panose="020B0604020202020204" pitchFamily="34" charset="0"/>
                </a:rPr>
                <a:t>X</a:t>
              </a:r>
              <a:r>
                <a:rPr lang="en-US" altLang="zh-CN" sz="2800" b="1" baseline="-25000">
                  <a:solidFill>
                    <a:schemeClr val="tx2"/>
                  </a:solidFill>
                  <a:latin typeface="Arial" panose="020B0604020202020204" pitchFamily="34" charset="0"/>
                </a:rPr>
                <a:t>0</a:t>
              </a:r>
              <a:endParaRPr lang="en-US" altLang="zh-CN" sz="2800" b="1" baseline="-25000">
                <a:solidFill>
                  <a:schemeClr val="tx2"/>
                </a:solidFill>
                <a:latin typeface="Arial" panose="020B0604020202020204" pitchFamily="34" charset="0"/>
              </a:endParaRPr>
            </a:p>
          </p:txBody>
        </p:sp>
        <p:sp>
          <p:nvSpPr>
            <p:cNvPr id="269325" name="文本框 269324"/>
            <p:cNvSpPr txBox="1"/>
            <p:nvPr/>
          </p:nvSpPr>
          <p:spPr>
            <a:xfrm>
              <a:off x="748" y="1979"/>
              <a:ext cx="454" cy="361"/>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en-US" altLang="zh-CN" sz="2800" b="1">
                  <a:solidFill>
                    <a:schemeClr val="tx1"/>
                  </a:solidFill>
                  <a:latin typeface="楷体" panose="02010609060101010101" pitchFamily="49" charset="-122"/>
                  <a:ea typeface="楷体" panose="02010609060101010101" pitchFamily="49" charset="-122"/>
                </a:rPr>
                <a:t>I</a:t>
              </a:r>
              <a:r>
                <a:rPr lang="en-US" altLang="zh-CN" sz="2800" b="1" baseline="-25000">
                  <a:solidFill>
                    <a:schemeClr val="tx1"/>
                  </a:solidFill>
                  <a:latin typeface="楷体" panose="02010609060101010101" pitchFamily="49" charset="-122"/>
                  <a:ea typeface="楷体" panose="02010609060101010101" pitchFamily="49" charset="-122"/>
                </a:rPr>
                <a:t>0</a:t>
              </a:r>
              <a:endParaRPr lang="en-US" altLang="zh-CN" sz="2800" b="1" baseline="-25000">
                <a:solidFill>
                  <a:schemeClr val="tx1"/>
                </a:solidFill>
                <a:latin typeface="楷体" panose="02010609060101010101" pitchFamily="49" charset="-122"/>
                <a:ea typeface="楷体" panose="02010609060101010101" pitchFamily="49" charset="-122"/>
              </a:endParaRPr>
            </a:p>
          </p:txBody>
        </p:sp>
        <p:sp>
          <p:nvSpPr>
            <p:cNvPr id="269326" name="文本框 269325"/>
            <p:cNvSpPr txBox="1"/>
            <p:nvPr/>
          </p:nvSpPr>
          <p:spPr>
            <a:xfrm>
              <a:off x="884" y="3565"/>
              <a:ext cx="363" cy="361"/>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en-US" altLang="zh-CN" sz="2800" b="1">
                  <a:solidFill>
                    <a:schemeClr val="tx2"/>
                  </a:solidFill>
                  <a:latin typeface="Arial" panose="020B0604020202020204" pitchFamily="34" charset="0"/>
                </a:rPr>
                <a:t>0</a:t>
              </a:r>
              <a:endParaRPr lang="en-US" altLang="zh-CN" sz="2800" b="1">
                <a:solidFill>
                  <a:schemeClr val="tx2"/>
                </a:solidFill>
                <a:latin typeface="Arial" panose="020B0604020202020204" pitchFamily="34" charset="0"/>
              </a:endParaRPr>
            </a:p>
          </p:txBody>
        </p:sp>
        <p:sp>
          <p:nvSpPr>
            <p:cNvPr id="269327" name="右大括号 269326"/>
            <p:cNvSpPr/>
            <p:nvPr/>
          </p:nvSpPr>
          <p:spPr>
            <a:xfrm>
              <a:off x="3560" y="2931"/>
              <a:ext cx="182" cy="590"/>
            </a:xfrm>
            <a:prstGeom prst="rightBrace">
              <a:avLst>
                <a:gd name="adj1" fmla="val 27014"/>
                <a:gd name="adj2" fmla="val 50000"/>
              </a:avLst>
            </a:prstGeom>
            <a:noFill/>
            <a:ln w="9525" cap="flat" cmpd="sng">
              <a:solidFill>
                <a:schemeClr val="tx1"/>
              </a:solidFill>
              <a:prstDash val="soli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p>
              <a:endParaRPr lang="zh-CN" altLang="en-US"/>
            </a:p>
          </p:txBody>
        </p:sp>
        <p:sp>
          <p:nvSpPr>
            <p:cNvPr id="269328" name="文本框 269327"/>
            <p:cNvSpPr txBox="1"/>
            <p:nvPr/>
          </p:nvSpPr>
          <p:spPr>
            <a:xfrm>
              <a:off x="3969" y="3022"/>
              <a:ext cx="1089" cy="361"/>
            </a:xfrm>
            <a:prstGeom prst="rect">
              <a:avLst/>
            </a:prstGeom>
            <a:solidFill>
              <a:schemeClr val="bg1"/>
            </a:solidFill>
            <a:ln w="9525">
              <a:noFill/>
            </a:ln>
          </p:spPr>
          <p:txBody>
            <a:bodyPr>
              <a:spAutoFit/>
            </a:bodyPr>
            <a:p>
              <a:pPr>
                <a:spcBef>
                  <a:spcPct val="50000"/>
                </a:spcBef>
              </a:pPr>
              <a:r>
                <a:rPr lang="zh-CN" altLang="en-US" sz="2800" b="1" dirty="0">
                  <a:solidFill>
                    <a:schemeClr val="tx1"/>
                  </a:solidFill>
                  <a:latin typeface="楷体" panose="02010609060101010101" pitchFamily="49" charset="-122"/>
                  <a:ea typeface="楷体" panose="02010609060101010101" pitchFamily="49" charset="-122"/>
                </a:rPr>
                <a:t>固定成本</a:t>
              </a:r>
              <a:endParaRPr lang="zh-CN" altLang="en-US" sz="2800" b="1" dirty="0">
                <a:solidFill>
                  <a:schemeClr val="tx1"/>
                </a:solidFill>
                <a:latin typeface="楷体" panose="02010609060101010101" pitchFamily="49" charset="-122"/>
                <a:ea typeface="楷体" panose="02010609060101010101" pitchFamily="49" charset="-122"/>
              </a:endParaRPr>
            </a:p>
          </p:txBody>
        </p:sp>
        <p:sp>
          <p:nvSpPr>
            <p:cNvPr id="269329" name="右大括号 269328"/>
            <p:cNvSpPr/>
            <p:nvPr/>
          </p:nvSpPr>
          <p:spPr>
            <a:xfrm>
              <a:off x="3560" y="1480"/>
              <a:ext cx="227" cy="1270"/>
            </a:xfrm>
            <a:prstGeom prst="rightBrace">
              <a:avLst>
                <a:gd name="adj1" fmla="val 46622"/>
                <a:gd name="adj2" fmla="val 50000"/>
              </a:avLst>
            </a:prstGeom>
            <a:noFill/>
            <a:ln w="9525" cap="flat" cmpd="sng">
              <a:solidFill>
                <a:schemeClr val="tx1"/>
              </a:solidFill>
              <a:prstDash val="solid"/>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p>
              <a:endParaRPr lang="zh-CN" altLang="en-US"/>
            </a:p>
          </p:txBody>
        </p:sp>
        <p:sp>
          <p:nvSpPr>
            <p:cNvPr id="269330" name="文本框 269329"/>
            <p:cNvSpPr txBox="1"/>
            <p:nvPr/>
          </p:nvSpPr>
          <p:spPr>
            <a:xfrm>
              <a:off x="3969" y="1841"/>
              <a:ext cx="1134" cy="361"/>
            </a:xfrm>
            <a:prstGeom prst="rect">
              <a:avLst/>
            </a:prstGeom>
            <a:solidFill>
              <a:schemeClr val="bg1"/>
            </a:solidFill>
            <a:ln w="9525">
              <a:noFill/>
            </a:ln>
          </p:spPr>
          <p:txBody>
            <a:bodyPr>
              <a:spAutoFit/>
            </a:bodyPr>
            <a:p>
              <a:pPr>
                <a:spcBef>
                  <a:spcPct val="50000"/>
                </a:spcBef>
              </a:pPr>
              <a:r>
                <a:rPr lang="zh-CN" altLang="en-US" sz="2800" b="1" dirty="0">
                  <a:solidFill>
                    <a:schemeClr val="tx1"/>
                  </a:solidFill>
                  <a:latin typeface="楷体" panose="02010609060101010101" pitchFamily="49" charset="-122"/>
                  <a:ea typeface="楷体" panose="02010609060101010101" pitchFamily="49" charset="-122"/>
                </a:rPr>
                <a:t>变动成本</a:t>
              </a:r>
              <a:endParaRPr lang="zh-CN" altLang="en-US" sz="2800" b="1" dirty="0">
                <a:solidFill>
                  <a:schemeClr val="tx1"/>
                </a:solidFill>
                <a:latin typeface="楷体" panose="02010609060101010101" pitchFamily="49" charset="-122"/>
                <a:ea typeface="楷体" panose="02010609060101010101" pitchFamily="49" charset="-122"/>
              </a:endParaRPr>
            </a:p>
          </p:txBody>
        </p:sp>
        <p:sp>
          <p:nvSpPr>
            <p:cNvPr id="269331" name="文本框 269330"/>
            <p:cNvSpPr txBox="1"/>
            <p:nvPr/>
          </p:nvSpPr>
          <p:spPr>
            <a:xfrm>
              <a:off x="385" y="845"/>
              <a:ext cx="635" cy="660"/>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r>
                <a:rPr lang="zh-CN" altLang="en-US" sz="2800" b="1" dirty="0">
                  <a:solidFill>
                    <a:schemeClr val="tx1"/>
                  </a:solidFill>
                  <a:latin typeface="楷体" panose="02010609060101010101" pitchFamily="49" charset="-122"/>
                  <a:ea typeface="楷体" panose="02010609060101010101" pitchFamily="49" charset="-122"/>
                </a:rPr>
                <a:t>收入</a:t>
              </a:r>
              <a:endParaRPr lang="zh-CN" altLang="en-US" sz="2800" b="1" dirty="0">
                <a:solidFill>
                  <a:schemeClr val="tx1"/>
                </a:solidFill>
                <a:latin typeface="楷体" panose="02010609060101010101" pitchFamily="49" charset="-122"/>
                <a:ea typeface="楷体" panose="02010609060101010101" pitchFamily="49" charset="-122"/>
              </a:endParaRPr>
            </a:p>
            <a:p>
              <a:r>
                <a:rPr lang="zh-CN" altLang="en-US" sz="2800" b="1" dirty="0">
                  <a:solidFill>
                    <a:schemeClr val="tx1"/>
                  </a:solidFill>
                  <a:latin typeface="楷体" panose="02010609060101010101" pitchFamily="49" charset="-122"/>
                  <a:ea typeface="楷体" panose="02010609060101010101" pitchFamily="49" charset="-122"/>
                </a:rPr>
                <a:t>成本</a:t>
              </a:r>
              <a:endParaRPr lang="zh-CN" altLang="en-US" sz="2800" b="1" dirty="0">
                <a:solidFill>
                  <a:schemeClr val="tx1"/>
                </a:solidFill>
                <a:latin typeface="楷体" panose="02010609060101010101" pitchFamily="49" charset="-122"/>
                <a:ea typeface="楷体" panose="02010609060101010101" pitchFamily="49" charset="-122"/>
              </a:endParaRPr>
            </a:p>
          </p:txBody>
        </p:sp>
        <p:sp>
          <p:nvSpPr>
            <p:cNvPr id="269332" name="文本框 269331"/>
            <p:cNvSpPr txBox="1"/>
            <p:nvPr/>
          </p:nvSpPr>
          <p:spPr>
            <a:xfrm>
              <a:off x="4241" y="845"/>
              <a:ext cx="907" cy="361"/>
            </a:xfrm>
            <a:prstGeom prst="rect">
              <a:avLst/>
            </a:prstGeom>
            <a:solidFill>
              <a:schemeClr val="bg1"/>
            </a:solidFill>
            <a:ln w="9525">
              <a:noFill/>
            </a:ln>
          </p:spPr>
          <p:txBody>
            <a:bodyPr>
              <a:spAutoFit/>
            </a:bodyPr>
            <a:p>
              <a:pPr>
                <a:spcBef>
                  <a:spcPct val="50000"/>
                </a:spcBef>
              </a:pPr>
              <a:r>
                <a:rPr lang="zh-CN" altLang="en-US" sz="2800" b="1" dirty="0">
                  <a:solidFill>
                    <a:schemeClr val="tx1"/>
                  </a:solidFill>
                  <a:latin typeface="楷体" panose="02010609060101010101" pitchFamily="49" charset="-122"/>
                  <a:ea typeface="楷体" panose="02010609060101010101" pitchFamily="49" charset="-122"/>
                </a:rPr>
                <a:t>总成本</a:t>
              </a:r>
              <a:endParaRPr lang="zh-CN" altLang="en-US" sz="2800" b="1" dirty="0">
                <a:solidFill>
                  <a:schemeClr val="tx1"/>
                </a:solidFill>
                <a:latin typeface="楷体" panose="02010609060101010101" pitchFamily="49" charset="-122"/>
                <a:ea typeface="楷体" panose="02010609060101010101" pitchFamily="49" charset="-122"/>
              </a:endParaRPr>
            </a:p>
          </p:txBody>
        </p:sp>
        <p:sp>
          <p:nvSpPr>
            <p:cNvPr id="269333" name="文本框 269332"/>
            <p:cNvSpPr txBox="1"/>
            <p:nvPr/>
          </p:nvSpPr>
          <p:spPr>
            <a:xfrm>
              <a:off x="2699" y="754"/>
              <a:ext cx="862" cy="361"/>
            </a:xfrm>
            <a:prstGeom prst="rect">
              <a:avLst/>
            </a:prstGeom>
            <a:solidFill>
              <a:schemeClr val="bg1"/>
            </a:solidFill>
            <a:ln w="9525">
              <a:noFill/>
            </a:ln>
          </p:spPr>
          <p:txBody>
            <a:bodyPr>
              <a:spAutoFit/>
            </a:bodyPr>
            <a:p>
              <a:pPr>
                <a:spcBef>
                  <a:spcPct val="50000"/>
                </a:spcBef>
              </a:pPr>
              <a:r>
                <a:rPr lang="zh-CN" altLang="en-US" sz="2800" b="1" dirty="0">
                  <a:solidFill>
                    <a:schemeClr val="tx1"/>
                  </a:solidFill>
                  <a:latin typeface="楷体" panose="02010609060101010101" pitchFamily="49" charset="-122"/>
                  <a:ea typeface="楷体" panose="02010609060101010101" pitchFamily="49" charset="-122"/>
                </a:rPr>
                <a:t>总收入</a:t>
              </a:r>
              <a:endParaRPr lang="zh-CN" altLang="en-US" sz="2800" b="1" dirty="0">
                <a:solidFill>
                  <a:schemeClr val="tx1"/>
                </a:solidFill>
                <a:latin typeface="楷体" panose="02010609060101010101" pitchFamily="49" charset="-122"/>
                <a:ea typeface="楷体" panose="02010609060101010101" pitchFamily="49" charset="-122"/>
              </a:endParaRPr>
            </a:p>
          </p:txBody>
        </p:sp>
        <p:sp>
          <p:nvSpPr>
            <p:cNvPr id="269334" name="文本框 269333"/>
            <p:cNvSpPr txBox="1"/>
            <p:nvPr/>
          </p:nvSpPr>
          <p:spPr>
            <a:xfrm rot="1915253">
              <a:off x="1193" y="1658"/>
              <a:ext cx="1088" cy="319"/>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zh-CN" altLang="en-US" sz="2400" b="1" dirty="0">
                  <a:solidFill>
                    <a:schemeClr val="tx1"/>
                  </a:solidFill>
                  <a:latin typeface="楷体" panose="02010609060101010101" pitchFamily="49" charset="-122"/>
                  <a:ea typeface="楷体" panose="02010609060101010101" pitchFamily="49" charset="-122"/>
                </a:rPr>
                <a:t>盈亏平衡点</a:t>
              </a:r>
              <a:endParaRPr lang="zh-CN" altLang="en-US" sz="2400" b="1" dirty="0">
                <a:solidFill>
                  <a:schemeClr val="tx1"/>
                </a:solidFill>
                <a:latin typeface="楷体" panose="02010609060101010101" pitchFamily="49" charset="-122"/>
                <a:ea typeface="楷体" panose="02010609060101010101" pitchFamily="49" charset="-122"/>
              </a:endParaRPr>
            </a:p>
          </p:txBody>
        </p:sp>
        <p:sp>
          <p:nvSpPr>
            <p:cNvPr id="269335" name="文本框 269334"/>
            <p:cNvSpPr txBox="1"/>
            <p:nvPr/>
          </p:nvSpPr>
          <p:spPr>
            <a:xfrm rot="-1771380">
              <a:off x="2612" y="1387"/>
              <a:ext cx="771" cy="319"/>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zh-CN" altLang="en-US" sz="2400" b="1" dirty="0">
                  <a:solidFill>
                    <a:schemeClr val="tx1"/>
                  </a:solidFill>
                  <a:latin typeface="楷体" panose="02010609060101010101" pitchFamily="49" charset="-122"/>
                  <a:ea typeface="楷体" panose="02010609060101010101" pitchFamily="49" charset="-122"/>
                </a:rPr>
                <a:t>盈利区</a:t>
              </a:r>
              <a:endParaRPr lang="zh-CN" altLang="en-US" sz="2400" b="1" dirty="0">
                <a:solidFill>
                  <a:schemeClr val="tx1"/>
                </a:solidFill>
                <a:latin typeface="楷体" panose="02010609060101010101" pitchFamily="49" charset="-122"/>
                <a:ea typeface="楷体" panose="02010609060101010101" pitchFamily="49" charset="-122"/>
              </a:endParaRPr>
            </a:p>
          </p:txBody>
        </p:sp>
        <p:sp>
          <p:nvSpPr>
            <p:cNvPr id="269336" name="文本框 269335"/>
            <p:cNvSpPr txBox="1"/>
            <p:nvPr/>
          </p:nvSpPr>
          <p:spPr>
            <a:xfrm rot="-3035960">
              <a:off x="1070" y="2605"/>
              <a:ext cx="816" cy="279"/>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zh-CN" altLang="en-US" sz="2400" b="1" dirty="0">
                  <a:solidFill>
                    <a:schemeClr val="tx1"/>
                  </a:solidFill>
                  <a:latin typeface="楷体" panose="02010609060101010101" pitchFamily="49" charset="-122"/>
                  <a:ea typeface="楷体" panose="02010609060101010101" pitchFamily="49" charset="-122"/>
                </a:rPr>
                <a:t>亏损区</a:t>
              </a:r>
              <a:endParaRPr lang="zh-CN" altLang="en-US" sz="2400" b="1" dirty="0">
                <a:solidFill>
                  <a:schemeClr val="tx1"/>
                </a:solidFill>
                <a:latin typeface="楷体" panose="02010609060101010101" pitchFamily="49" charset="-122"/>
                <a:ea typeface="楷体" panose="02010609060101010101" pitchFamily="49" charset="-122"/>
              </a:endParaRPr>
            </a:p>
          </p:txBody>
        </p:sp>
        <p:sp>
          <p:nvSpPr>
            <p:cNvPr id="269337" name="文本框 269336"/>
            <p:cNvSpPr txBox="1"/>
            <p:nvPr/>
          </p:nvSpPr>
          <p:spPr>
            <a:xfrm>
              <a:off x="2200" y="2115"/>
              <a:ext cx="318" cy="361"/>
            </a:xfrm>
            <a:prstGeom prst="rect">
              <a:avLst/>
            </a:prstGeom>
            <a:noFill/>
            <a:ln w="9525">
              <a:noFill/>
            </a:ln>
            <a:scene3d>
              <a:camera prst="legacyObliqueTopRight">
                <a:rot lat="0" lon="0" rev="0"/>
              </a:camera>
              <a:lightRig rig="legacyFlat3" dir="b"/>
            </a:scene3d>
            <a:sp3d extrusionH="430200" prstMaterial="legacyMatte">
              <a:bevelT w="13500" h="13500" prst="angle"/>
              <a:bevelB w="13500" h="13500" prst="angle"/>
              <a:extrusionClr>
                <a:schemeClr val="tx1"/>
              </a:extrusionClr>
            </a:sp3d>
          </p:spPr>
          <p:txBody>
            <a:bodyPr>
              <a:spAutoFit/>
              <a:flatTx/>
            </a:bodyPr>
            <a:p>
              <a:pPr>
                <a:spcBef>
                  <a:spcPct val="50000"/>
                </a:spcBef>
              </a:pPr>
              <a:r>
                <a:rPr lang="en-US" altLang="zh-CN" sz="2800" b="1">
                  <a:solidFill>
                    <a:srgbClr val="FF0000"/>
                  </a:solidFill>
                  <a:latin typeface="楷体" panose="02010609060101010101" pitchFamily="49" charset="-122"/>
                  <a:ea typeface="楷体" panose="02010609060101010101" pitchFamily="49" charset="-122"/>
                </a:rPr>
                <a:t>E</a:t>
              </a:r>
              <a:endParaRPr lang="en-US" altLang="zh-CN" sz="2800" b="1">
                <a:solidFill>
                  <a:srgbClr val="FF0000"/>
                </a:solidFill>
                <a:latin typeface="楷体" panose="02010609060101010101" pitchFamily="49" charset="-122"/>
                <a:ea typeface="楷体" panose="02010609060101010101" pitchFamily="49"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9" name="矩形 270338"/>
          <p:cNvSpPr/>
          <p:nvPr/>
        </p:nvSpPr>
        <p:spPr>
          <a:xfrm>
            <a:off x="909955" y="1699260"/>
            <a:ext cx="10240645" cy="4326890"/>
          </a:xfrm>
          <a:prstGeom prst="rect">
            <a:avLst/>
          </a:prstGeom>
          <a:noFill/>
          <a:ln w="9525">
            <a:noFill/>
          </a:ln>
        </p:spPr>
        <p:txBody>
          <a:bodyPr wrap="square">
            <a:noAutofit/>
          </a:bodyPr>
          <a:p>
            <a:r>
              <a:rPr lang="en-US" altLang="zh-CN" sz="2400" b="1">
                <a:latin typeface="楷体" panose="02010609060101010101" pitchFamily="49" charset="-122"/>
                <a:ea typeface="楷体" panose="02010609060101010101" pitchFamily="49" charset="-122"/>
                <a:cs typeface="楷体" panose="02010609060101010101" pitchFamily="49" charset="-122"/>
              </a:rPr>
              <a:t>(1)</a:t>
            </a:r>
            <a:r>
              <a:rPr lang="zh-CN" altLang="en-US" sz="2400" b="1" dirty="0">
                <a:latin typeface="楷体" panose="02010609060101010101" pitchFamily="49" charset="-122"/>
                <a:ea typeface="楷体" panose="02010609060101010101" pitchFamily="49" charset="-122"/>
                <a:cs typeface="楷体" panose="02010609060101010101" pitchFamily="49" charset="-122"/>
              </a:rPr>
              <a:t>直接利用盈亏平衡点公式：</a:t>
            </a:r>
            <a:endParaRPr lang="zh-CN" altLang="en-US" sz="2400" b="1" dirty="0">
              <a:latin typeface="楷体" panose="02010609060101010101" pitchFamily="49" charset="-122"/>
              <a:ea typeface="楷体" panose="02010609060101010101" pitchFamily="49" charset="-122"/>
              <a:cs typeface="楷体" panose="02010609060101010101" pitchFamily="49" charset="-122"/>
            </a:endParaRPr>
          </a:p>
          <a:p>
            <a:r>
              <a:rPr lang="en-US" altLang="zh-CN" sz="2400" b="1">
                <a:latin typeface="楷体" panose="02010609060101010101" pitchFamily="49" charset="-122"/>
                <a:ea typeface="楷体" panose="02010609060101010101" pitchFamily="49" charset="-122"/>
                <a:cs typeface="楷体" panose="02010609060101010101" pitchFamily="49" charset="-122"/>
              </a:rPr>
              <a:t>X0=C/(S-V)=400/(10-6)=100(</a:t>
            </a:r>
            <a:r>
              <a:rPr lang="zh-CN" altLang="en-US" sz="2400" b="1" dirty="0">
                <a:latin typeface="楷体" panose="02010609060101010101" pitchFamily="49" charset="-122"/>
                <a:ea typeface="楷体" panose="02010609060101010101" pitchFamily="49" charset="-122"/>
                <a:cs typeface="楷体" panose="02010609060101010101" pitchFamily="49" charset="-122"/>
              </a:rPr>
              <a:t>台</a:t>
            </a:r>
            <a:r>
              <a:rPr lang="en-US" altLang="zh-CN" sz="2400" b="1">
                <a:latin typeface="楷体" panose="02010609060101010101" pitchFamily="49" charset="-122"/>
                <a:ea typeface="楷体" panose="02010609060101010101" pitchFamily="49" charset="-122"/>
                <a:cs typeface="楷体" panose="02010609060101010101" pitchFamily="49" charset="-122"/>
              </a:rPr>
              <a:t>)</a:t>
            </a:r>
            <a:endParaRPr lang="en-US" altLang="zh-CN" sz="2400" b="1">
              <a:latin typeface="楷体" panose="02010609060101010101" pitchFamily="49" charset="-122"/>
              <a:ea typeface="楷体" panose="02010609060101010101" pitchFamily="49" charset="-122"/>
              <a:cs typeface="楷体" panose="02010609060101010101" pitchFamily="49" charset="-122"/>
            </a:endParaRPr>
          </a:p>
          <a:p>
            <a:endParaRPr lang="en-US" altLang="zh-CN" sz="2400" b="1">
              <a:latin typeface="楷体" panose="02010609060101010101" pitchFamily="49" charset="-122"/>
              <a:ea typeface="楷体" panose="02010609060101010101" pitchFamily="49" charset="-122"/>
              <a:cs typeface="楷体" panose="02010609060101010101" pitchFamily="49" charset="-122"/>
            </a:endParaRPr>
          </a:p>
          <a:p>
            <a:r>
              <a:rPr lang="en-US" altLang="zh-CN" sz="2400" b="1">
                <a:latin typeface="楷体" panose="02010609060101010101" pitchFamily="49" charset="-122"/>
                <a:ea typeface="楷体" panose="02010609060101010101" pitchFamily="49" charset="-122"/>
                <a:cs typeface="楷体" panose="02010609060101010101" pitchFamily="49" charset="-122"/>
              </a:rPr>
              <a:t>(2)</a:t>
            </a:r>
            <a:r>
              <a:rPr lang="zh-CN" altLang="en-US" sz="2400" b="1" dirty="0">
                <a:latin typeface="楷体" panose="02010609060101010101" pitchFamily="49" charset="-122"/>
                <a:ea typeface="楷体" panose="02010609060101010101" pitchFamily="49" charset="-122"/>
                <a:cs typeface="楷体" panose="02010609060101010101" pitchFamily="49" charset="-122"/>
              </a:rPr>
              <a:t>利用公式：</a:t>
            </a:r>
            <a:r>
              <a:rPr lang="en-US" altLang="zh-CN" sz="2400" b="1">
                <a:latin typeface="楷体" panose="02010609060101010101" pitchFamily="49" charset="-122"/>
                <a:ea typeface="楷体" panose="02010609060101010101" pitchFamily="49" charset="-122"/>
                <a:cs typeface="楷体" panose="02010609060101010101" pitchFamily="49" charset="-122"/>
              </a:rPr>
              <a:t>I0=S·</a:t>
            </a:r>
            <a:r>
              <a:rPr lang="en-US" altLang="zh-CN" sz="2400" b="1">
                <a:latin typeface="楷体" panose="02010609060101010101" pitchFamily="49" charset="-122"/>
                <a:ea typeface="楷体" panose="02010609060101010101" pitchFamily="49" charset="-122"/>
                <a:cs typeface="楷体" panose="02010609060101010101" pitchFamily="49" charset="-122"/>
              </a:rPr>
              <a:t>X0</a:t>
            </a:r>
            <a:endParaRPr lang="en-US" altLang="zh-CN" sz="2400" b="1">
              <a:latin typeface="楷体" panose="02010609060101010101" pitchFamily="49" charset="-122"/>
              <a:ea typeface="楷体" panose="02010609060101010101" pitchFamily="49" charset="-122"/>
              <a:cs typeface="楷体" panose="02010609060101010101" pitchFamily="49" charset="-122"/>
            </a:endParaRPr>
          </a:p>
          <a:p>
            <a:r>
              <a:rPr lang="en-US" altLang="zh-CN" sz="2400" b="1">
                <a:latin typeface="楷体" panose="02010609060101010101" pitchFamily="49" charset="-122"/>
                <a:ea typeface="楷体" panose="02010609060101010101" pitchFamily="49" charset="-122"/>
                <a:cs typeface="楷体" panose="02010609060101010101" pitchFamily="49" charset="-122"/>
              </a:rPr>
              <a:t>    I0=10</a:t>
            </a:r>
            <a:r>
              <a:rPr lang="zh-CN" altLang="en-US" sz="2400" b="1" dirty="0">
                <a:latin typeface="楷体" panose="02010609060101010101" pitchFamily="49" charset="-122"/>
                <a:ea typeface="楷体" panose="02010609060101010101" pitchFamily="49" charset="-122"/>
                <a:cs typeface="楷体" panose="02010609060101010101" pitchFamily="49" charset="-122"/>
              </a:rPr>
              <a:t>万元</a:t>
            </a:r>
            <a:r>
              <a:rPr lang="en-US" altLang="zh-CN"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100=1000</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万元</a:t>
            </a:r>
            <a:endPar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endParaRPr>
          </a:p>
          <a:p>
            <a:endPar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endParaRPr>
          </a:p>
          <a:p>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(3)</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由于计划产量</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200</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台大于临界产量</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100</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台，所以能够盈利，盈利额的计算则有两种方法：</a:t>
            </a:r>
            <a:endPar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endParaRPr>
          </a:p>
          <a:p>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方法一：</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P=I-Z=X</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·(S-V)-C=200(10-6)-400=400</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万元</a:t>
            </a:r>
            <a:endPar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endParaRPr>
          </a:p>
          <a:p>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方法二：</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P=(S-V)</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·(X-X0)=(10-6)</a:t>
            </a:r>
            <a:r>
              <a:rPr lang="en-US" altLang="zh-CN" sz="2400" b="1">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·(200-100)=400</a:t>
            </a:r>
            <a:r>
              <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rPr>
              <a:t>万元</a:t>
            </a:r>
            <a:endParaRPr lang="zh-CN" altLang="en-US" sz="2400" b="1" dirty="0">
              <a:latin typeface="楷体" panose="02010609060101010101" pitchFamily="49" charset="-122"/>
              <a:ea typeface="楷体" panose="02010609060101010101" pitchFamily="49" charset="-122"/>
              <a:cs typeface="楷体" panose="02010609060101010101" pitchFamily="49" charset="-122"/>
              <a:sym typeface="Symbol" panose="05050102010706020507" pitchFamily="18" charset="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6722" r="16722" b="9445"/>
          <a:stretch>
            <a:fillRect/>
          </a:stretch>
        </p:blipFill>
        <p:spPr>
          <a:xfrm>
            <a:off x="0" y="647700"/>
            <a:ext cx="12192000" cy="6210300"/>
          </a:xfrm>
          <a:prstGeom prst="rect">
            <a:avLst/>
          </a:prstGeom>
        </p:spPr>
      </p:pic>
      <p:sp>
        <p:nvSpPr>
          <p:cNvPr id="6" name="矩形 5"/>
          <p:cNvSpPr/>
          <p:nvPr/>
        </p:nvSpPr>
        <p:spPr>
          <a:xfrm>
            <a:off x="0" y="0"/>
            <a:ext cx="12192000" cy="6858000"/>
          </a:xfrm>
          <a:prstGeom prst="rect">
            <a:avLst/>
          </a:prstGeom>
          <a:gradFill>
            <a:gsLst>
              <a:gs pos="10000">
                <a:schemeClr val="bg1"/>
              </a:gs>
              <a:gs pos="100000">
                <a:schemeClr val="bg1">
                  <a:alpha val="0"/>
                </a:schemeClr>
              </a:gs>
              <a:gs pos="48000">
                <a:schemeClr val="bg1">
                  <a:alpha val="50000"/>
                </a:schemeClr>
              </a:gs>
            </a:gsLst>
            <a:lin ang="5400000" scaled="1"/>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grpSp>
        <p:nvGrpSpPr>
          <p:cNvPr id="7" name="组合 6"/>
          <p:cNvGrpSpPr/>
          <p:nvPr/>
        </p:nvGrpSpPr>
        <p:grpSpPr>
          <a:xfrm>
            <a:off x="2759783" y="1443985"/>
            <a:ext cx="6672434" cy="2278148"/>
            <a:chOff x="2759783" y="1278885"/>
            <a:chExt cx="6672434" cy="2278148"/>
          </a:xfrm>
        </p:grpSpPr>
        <p:grpSp>
          <p:nvGrpSpPr>
            <p:cNvPr id="3" name="组合 2"/>
            <p:cNvGrpSpPr/>
            <p:nvPr/>
          </p:nvGrpSpPr>
          <p:grpSpPr>
            <a:xfrm>
              <a:off x="2759783" y="1278885"/>
              <a:ext cx="6672434" cy="2278148"/>
              <a:chOff x="3233566" y="1418585"/>
              <a:chExt cx="6672434" cy="2278148"/>
            </a:xfrm>
          </p:grpSpPr>
          <p:sp>
            <p:nvSpPr>
              <p:cNvPr id="8" name="文本框 7"/>
              <p:cNvSpPr txBox="1"/>
              <p:nvPr/>
            </p:nvSpPr>
            <p:spPr>
              <a:xfrm>
                <a:off x="3233566" y="2332993"/>
                <a:ext cx="667243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不确定型</a:t>
                </a:r>
                <a:r>
                  <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决策</a:t>
                </a:r>
                <a:endPar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nvSpPr>
            <p:spPr>
              <a:xfrm>
                <a:off x="3694999" y="3327401"/>
                <a:ext cx="5749567" cy="369332"/>
              </a:xfrm>
              <a:prstGeom prst="rect">
                <a:avLst/>
              </a:prstGeom>
              <a:noFill/>
            </p:spPr>
            <p:txBody>
              <a:bodyPr wrap="square" rtlCol="0">
                <a:spAutoFit/>
              </a:bodyPr>
              <a:lstStyle/>
              <a:p>
                <a:pPr lvl="0" algn="ctr">
                  <a:defRPr/>
                </a:pPr>
                <a:r>
                  <a:rPr lang="en-US" altLang="zh-CN" spc="300" dirty="0">
                    <a:solidFill>
                      <a:schemeClr val="tx1">
                        <a:lumMod val="75000"/>
                        <a:lumOff val="25000"/>
                      </a:schemeClr>
                    </a:solidFill>
                    <a:latin typeface="Segoe UI Light" panose="020B0502040204020203" pitchFamily="34" charset="0"/>
                    <a:ea typeface="思源黑体 CN Light" panose="020B0300000000000000" pitchFamily="34" charset="-122"/>
                    <a:cs typeface="Segoe UI Light" panose="020B0502040204020203" pitchFamily="34" charset="0"/>
                  </a:rPr>
                  <a:t>ENTER YOUR SUBTITLE</a:t>
                </a:r>
                <a:endParaRPr kumimoji="0" lang="zh-CN" altLang="en-US" sz="1800" b="0" i="0" u="none" strike="noStrike" kern="1200" cap="none" spc="300" normalizeH="0" baseline="0" noProof="0" dirty="0">
                  <a:ln>
                    <a:noFill/>
                  </a:ln>
                  <a:solidFill>
                    <a:schemeClr val="tx1">
                      <a:lumMod val="75000"/>
                      <a:lumOff val="25000"/>
                    </a:schemeClr>
                  </a:solidFill>
                  <a:effectLst/>
                  <a:uLnTx/>
                  <a:uFillTx/>
                  <a:latin typeface="Segoe UI Light" panose="020B0502040204020203" pitchFamily="34" charset="0"/>
                  <a:ea typeface="思源黑体 CN Light" panose="020B0300000000000000" pitchFamily="34" charset="-122"/>
                  <a:cs typeface="Segoe UI Light" panose="020B0502040204020203" pitchFamily="34" charset="0"/>
                </a:endParaRPr>
              </a:p>
            </p:txBody>
          </p:sp>
          <p:sp>
            <p:nvSpPr>
              <p:cNvPr id="10" name="文本框 9"/>
              <p:cNvSpPr txBox="1"/>
              <p:nvPr/>
            </p:nvSpPr>
            <p:spPr>
              <a:xfrm>
                <a:off x="5393018" y="1418585"/>
                <a:ext cx="235353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PART 01</a:t>
                </a:r>
                <a:endParaRPr kumimoji="0" lang="zh-CN" altLang="en-US"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grpSp>
        <p:cxnSp>
          <p:nvCxnSpPr>
            <p:cNvPr id="4" name="直接连接符 3"/>
            <p:cNvCxnSpPr/>
            <p:nvPr/>
          </p:nvCxnSpPr>
          <p:spPr>
            <a:xfrm>
              <a:off x="5924550" y="2006600"/>
              <a:ext cx="3429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a:t>不确定型决策分析问题具备以下几种要素：</a:t>
            </a:r>
            <a:endParaRPr lang="en-US" altLang="zh-CN" dirty="0"/>
          </a:p>
          <a:p>
            <a:pPr lvl="1"/>
            <a:r>
              <a:rPr lang="zh-CN" altLang="en-US" dirty="0"/>
              <a:t>决策者</a:t>
            </a:r>
            <a:r>
              <a:rPr lang="zh-CN" altLang="en-US" dirty="0">
                <a:solidFill>
                  <a:srgbClr val="FF0000"/>
                </a:solidFill>
              </a:rPr>
              <a:t>知道</a:t>
            </a:r>
            <a:r>
              <a:rPr lang="zh-CN" altLang="en-US" dirty="0"/>
              <a:t>将要面对的一些</a:t>
            </a:r>
            <a:r>
              <a:rPr lang="zh-CN" altLang="en-US" dirty="0">
                <a:solidFill>
                  <a:srgbClr val="FF0000"/>
                </a:solidFill>
              </a:rPr>
              <a:t>自然状态</a:t>
            </a:r>
            <a:endParaRPr lang="en-US" altLang="zh-CN" dirty="0">
              <a:solidFill>
                <a:srgbClr val="FF0000"/>
              </a:solidFill>
            </a:endParaRPr>
          </a:p>
          <a:p>
            <a:pPr lvl="1"/>
            <a:r>
              <a:rPr lang="zh-CN" altLang="en-US" dirty="0"/>
              <a:t>决策者</a:t>
            </a:r>
            <a:r>
              <a:rPr lang="zh-CN" altLang="en-US" dirty="0">
                <a:solidFill>
                  <a:srgbClr val="FF0000"/>
                </a:solidFill>
              </a:rPr>
              <a:t>知道</a:t>
            </a:r>
            <a:r>
              <a:rPr lang="zh-CN" altLang="en-US" dirty="0"/>
              <a:t>将采用的几种</a:t>
            </a:r>
            <a:r>
              <a:rPr lang="zh-CN" altLang="en-US" dirty="0">
                <a:solidFill>
                  <a:srgbClr val="FF0000"/>
                </a:solidFill>
              </a:rPr>
              <a:t>行动方案在各个不同的自然状态下所获得的的相应的收益值</a:t>
            </a:r>
            <a:endParaRPr lang="en-US" altLang="zh-CN" dirty="0">
              <a:solidFill>
                <a:srgbClr val="FF0000"/>
              </a:solidFill>
            </a:endParaRPr>
          </a:p>
          <a:p>
            <a:pPr lvl="1"/>
            <a:r>
              <a:rPr lang="zh-CN" altLang="en-US" dirty="0"/>
              <a:t>决策者</a:t>
            </a:r>
            <a:r>
              <a:rPr lang="zh-CN" altLang="en-US" dirty="0">
                <a:solidFill>
                  <a:srgbClr val="FF0000"/>
                </a:solidFill>
              </a:rPr>
              <a:t>不能预先估计或计算</a:t>
            </a:r>
            <a:r>
              <a:rPr lang="zh-CN" altLang="en-US" dirty="0"/>
              <a:t>出各种</a:t>
            </a:r>
            <a:r>
              <a:rPr lang="zh-CN" altLang="en-US" dirty="0">
                <a:solidFill>
                  <a:srgbClr val="FF0000"/>
                </a:solidFill>
              </a:rPr>
              <a:t>自然状态出现的概率</a:t>
            </a:r>
            <a:endParaRPr lang="en-US" altLang="zh-CN" dirty="0">
              <a:solidFill>
                <a:srgbClr val="FF0000"/>
              </a:solidFill>
            </a:endParaRPr>
          </a:p>
          <a:p>
            <a:r>
              <a:rPr lang="zh-CN" altLang="en-US" dirty="0"/>
              <a:t>基于以上特点，决策者需要根据具体情况，选择一个最合适的准则进行决策。常见的准则有：</a:t>
            </a:r>
            <a:endParaRPr lang="en-US" altLang="zh-CN" dirty="0"/>
          </a:p>
          <a:p>
            <a:pPr lvl="1"/>
            <a:r>
              <a:rPr lang="zh-CN" altLang="en-US" dirty="0"/>
              <a:t>最大最小准则</a:t>
            </a:r>
            <a:endParaRPr lang="en-US" altLang="zh-CN" dirty="0"/>
          </a:p>
          <a:p>
            <a:pPr lvl="1"/>
            <a:r>
              <a:rPr lang="zh-CN" altLang="en-US" dirty="0"/>
              <a:t>最大最大准则</a:t>
            </a:r>
            <a:endParaRPr lang="en-US" altLang="zh-CN" dirty="0"/>
          </a:p>
          <a:p>
            <a:pPr lvl="1"/>
            <a:r>
              <a:rPr lang="zh-CN" altLang="en-US" dirty="0"/>
              <a:t>等可能性准则</a:t>
            </a:r>
            <a:endParaRPr lang="en-US" altLang="zh-CN" dirty="0"/>
          </a:p>
          <a:p>
            <a:pPr lvl="1"/>
            <a:r>
              <a:rPr lang="zh-CN" altLang="en-US" dirty="0"/>
              <a:t>乐观系数准则</a:t>
            </a:r>
            <a:endParaRPr lang="en-US" altLang="zh-CN" dirty="0"/>
          </a:p>
          <a:p>
            <a:pPr lvl="1"/>
            <a:r>
              <a:rPr lang="zh-CN" altLang="en-US" dirty="0"/>
              <a:t>后悔值准则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例</a:t>
            </a:r>
            <a:r>
              <a:rPr lang="en-US" altLang="zh-CN" dirty="0"/>
              <a:t>1</a:t>
            </a:r>
            <a:endParaRPr lang="zh-CN" altLang="en-US" dirty="0"/>
          </a:p>
        </p:txBody>
      </p:sp>
      <p:sp>
        <p:nvSpPr>
          <p:cNvPr id="3" name="内容占位符 2"/>
          <p:cNvSpPr>
            <a:spLocks noGrp="1"/>
          </p:cNvSpPr>
          <p:nvPr>
            <p:ph idx="1"/>
          </p:nvPr>
        </p:nvSpPr>
        <p:spPr/>
        <p:txBody>
          <a:bodyPr/>
          <a:lstStyle/>
          <a:p>
            <a:pPr marL="0" indent="0">
              <a:spcBef>
                <a:spcPts val="600"/>
              </a:spcBef>
              <a:spcAft>
                <a:spcPts val="600"/>
              </a:spcAft>
              <a:buNone/>
              <a:defRPr/>
            </a:pPr>
            <a:r>
              <a:rPr lang="zh-CN" altLang="en-US" dirty="0"/>
              <a:t>例</a:t>
            </a:r>
            <a:r>
              <a:rPr lang="en-US" altLang="zh-CN" dirty="0"/>
              <a:t>1</a:t>
            </a:r>
            <a:r>
              <a:rPr lang="zh-CN" altLang="en-US" dirty="0"/>
              <a:t>：某公司需要对某新产品生产批量作出决策，各种批量在不同的自然状态下的收益情况如下表（</a:t>
            </a:r>
            <a:r>
              <a:rPr lang="zh-CN" altLang="en-US" dirty="0">
                <a:solidFill>
                  <a:srgbClr val="C00000"/>
                </a:solidFill>
              </a:rPr>
              <a:t>收益矩阵</a:t>
            </a:r>
            <a:r>
              <a:rPr lang="zh-CN" altLang="en-US" dirty="0"/>
              <a:t>）：</a:t>
            </a:r>
            <a:endParaRPr lang="en-US" altLang="zh-CN" dirty="0"/>
          </a:p>
          <a:p>
            <a:pPr marL="0" indent="0">
              <a:buNone/>
            </a:pPr>
            <a:endParaRPr lang="zh-CN" altLang="en-US" dirty="0"/>
          </a:p>
        </p:txBody>
      </p:sp>
      <p:graphicFrame>
        <p:nvGraphicFramePr>
          <p:cNvPr id="4" name="表格 3"/>
          <p:cNvGraphicFramePr>
            <a:graphicFrameLocks noGrp="1"/>
          </p:cNvGraphicFramePr>
          <p:nvPr/>
        </p:nvGraphicFramePr>
        <p:xfrm>
          <a:off x="2315369" y="3429000"/>
          <a:ext cx="7561262" cy="2501900"/>
        </p:xfrm>
        <a:graphic>
          <a:graphicData uri="http://schemas.openxmlformats.org/drawingml/2006/table">
            <a:tbl>
              <a:tblPr/>
              <a:tblGrid>
                <a:gridCol w="2835256"/>
                <a:gridCol w="2442137"/>
                <a:gridCol w="2283869"/>
              </a:tblGrid>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             </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N</a:t>
                      </a:r>
                      <a:r>
                        <a:rPr lang="en-US" altLang="zh-CN" sz="2800" kern="1200" baseline="-25000" dirty="0">
                          <a:solidFill>
                            <a:schemeClr val="tx1"/>
                          </a:solidFill>
                          <a:latin typeface="Arial" panose="020B0604020202020204" pitchFamily="34" charset="0"/>
                          <a:ea typeface="楷体" panose="02010609060101010101" pitchFamily="49" charset="-122"/>
                          <a:cs typeface="+mn-cs"/>
                        </a:rPr>
                        <a:t>1</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r>
                        <a:rPr lang="zh-CN" altLang="en-US" sz="2800" kern="1200" baseline="0" dirty="0">
                          <a:solidFill>
                            <a:schemeClr val="tx1"/>
                          </a:solidFill>
                          <a:latin typeface="Arial" panose="020B0604020202020204" pitchFamily="34" charset="0"/>
                          <a:ea typeface="楷体" panose="02010609060101010101" pitchFamily="49" charset="-122"/>
                          <a:cs typeface="+mn-cs"/>
                        </a:rPr>
                        <a:t>需求量大</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N</a:t>
                      </a:r>
                      <a:r>
                        <a:rPr lang="en-US" altLang="zh-CN" sz="2800" kern="1200" baseline="-25000" dirty="0">
                          <a:solidFill>
                            <a:schemeClr val="tx1"/>
                          </a:solidFill>
                          <a:latin typeface="Arial" panose="020B0604020202020204" pitchFamily="34" charset="0"/>
                          <a:ea typeface="楷体" panose="02010609060101010101" pitchFamily="49" charset="-122"/>
                          <a:cs typeface="+mn-cs"/>
                        </a:rPr>
                        <a:t>2</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r>
                        <a:rPr lang="zh-CN" altLang="en-US" sz="2800" kern="1200" baseline="0" dirty="0">
                          <a:solidFill>
                            <a:schemeClr val="tx1"/>
                          </a:solidFill>
                          <a:latin typeface="Arial" panose="020B0604020202020204" pitchFamily="34" charset="0"/>
                          <a:ea typeface="楷体" panose="02010609060101010101" pitchFamily="49" charset="-122"/>
                          <a:cs typeface="+mn-cs"/>
                        </a:rPr>
                        <a:t>需求量小</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r>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S</a:t>
                      </a:r>
                      <a:r>
                        <a:rPr lang="en-US" altLang="zh-CN" sz="2800" kern="1200" baseline="-25000" dirty="0">
                          <a:solidFill>
                            <a:schemeClr val="tx1"/>
                          </a:solidFill>
                          <a:latin typeface="Arial" panose="020B0604020202020204" pitchFamily="34" charset="0"/>
                          <a:ea typeface="楷体" panose="02010609060101010101" pitchFamily="49" charset="-122"/>
                          <a:cs typeface="+mn-cs"/>
                        </a:rPr>
                        <a:t>1</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r>
                        <a:rPr lang="zh-CN" altLang="en-US" sz="2800" kern="1200" baseline="0" dirty="0">
                          <a:solidFill>
                            <a:schemeClr val="tx1"/>
                          </a:solidFill>
                          <a:latin typeface="Arial" panose="020B0604020202020204" pitchFamily="34" charset="0"/>
                          <a:ea typeface="楷体" panose="02010609060101010101" pitchFamily="49" charset="-122"/>
                          <a:cs typeface="+mn-cs"/>
                        </a:rPr>
                        <a:t>大批量生产</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30</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-6</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S</a:t>
                      </a:r>
                      <a:r>
                        <a:rPr lang="en-US" altLang="zh-CN" sz="2800" kern="1200" baseline="-25000" dirty="0">
                          <a:solidFill>
                            <a:schemeClr val="tx1"/>
                          </a:solidFill>
                          <a:latin typeface="Arial" panose="020B0604020202020204" pitchFamily="34" charset="0"/>
                          <a:ea typeface="楷体" panose="02010609060101010101" pitchFamily="49" charset="-122"/>
                          <a:cs typeface="+mn-cs"/>
                        </a:rPr>
                        <a:t>2</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r>
                        <a:rPr lang="zh-CN" altLang="en-US" sz="2800" kern="1200" baseline="0" dirty="0">
                          <a:solidFill>
                            <a:schemeClr val="tx1"/>
                          </a:solidFill>
                          <a:latin typeface="Arial" panose="020B0604020202020204" pitchFamily="34" charset="0"/>
                          <a:ea typeface="楷体" panose="02010609060101010101" pitchFamily="49" charset="-122"/>
                          <a:cs typeface="+mn-cs"/>
                        </a:rPr>
                        <a:t>中批量生产</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20</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-2</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r h="62547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S</a:t>
                      </a:r>
                      <a:r>
                        <a:rPr lang="en-US" altLang="zh-CN" sz="2800" kern="1200" baseline="-25000" dirty="0">
                          <a:solidFill>
                            <a:schemeClr val="tx1"/>
                          </a:solidFill>
                          <a:latin typeface="Arial" panose="020B0604020202020204" pitchFamily="34" charset="0"/>
                          <a:ea typeface="楷体" panose="02010609060101010101" pitchFamily="49" charset="-122"/>
                          <a:cs typeface="+mn-cs"/>
                        </a:rPr>
                        <a:t>3</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r>
                        <a:rPr lang="zh-CN" altLang="en-US" sz="2800" kern="1200" baseline="0" dirty="0">
                          <a:solidFill>
                            <a:schemeClr val="tx1"/>
                          </a:solidFill>
                          <a:latin typeface="Arial" panose="020B0604020202020204" pitchFamily="34" charset="0"/>
                          <a:ea typeface="楷体" panose="02010609060101010101" pitchFamily="49" charset="-122"/>
                          <a:cs typeface="+mn-cs"/>
                        </a:rPr>
                        <a:t>小批量生产</a:t>
                      </a:r>
                      <a:r>
                        <a:rPr lang="en-US" altLang="zh-CN" sz="2800" kern="1200" baseline="0" dirty="0">
                          <a:solidFill>
                            <a:schemeClr val="tx1"/>
                          </a:solidFill>
                          <a:latin typeface="Arial" panose="020B0604020202020204" pitchFamily="34" charset="0"/>
                          <a:ea typeface="楷体" panose="02010609060101010101" pitchFamily="49" charset="-122"/>
                          <a:cs typeface="+mn-cs"/>
                        </a:rPr>
                        <a:t>)</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10</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lang="en-US" altLang="zh-CN" sz="2800" kern="1200" baseline="0" dirty="0">
                          <a:solidFill>
                            <a:schemeClr val="tx1"/>
                          </a:solidFill>
                          <a:latin typeface="Arial" panose="020B0604020202020204" pitchFamily="34" charset="0"/>
                          <a:ea typeface="楷体" panose="02010609060101010101" pitchFamily="49" charset="-122"/>
                          <a:cs typeface="+mn-cs"/>
                        </a:rPr>
                        <a:t>5</a:t>
                      </a:r>
                      <a:endParaRPr lang="en-US" altLang="zh-CN" sz="2800" kern="1200" baseline="0" dirty="0">
                        <a:solidFill>
                          <a:schemeClr val="tx1"/>
                        </a:solidFill>
                        <a:latin typeface="Arial" panose="020B0604020202020204" pitchFamily="34" charset="0"/>
                        <a:ea typeface="楷体" panose="02010609060101010101" pitchFamily="49" charset="-122"/>
                        <a:cs typeface="+mn-cs"/>
                      </a:endParaRPr>
                    </a:p>
                  </a:txBody>
                  <a:tcPr marL="91435" marR="9143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最大最小准则</a:t>
            </a:r>
            <a:endParaRPr lang="zh-CN" altLang="en-US" dirty="0"/>
          </a:p>
        </p:txBody>
      </p:sp>
      <p:sp>
        <p:nvSpPr>
          <p:cNvPr id="3" name="内容占位符 2"/>
          <p:cNvSpPr>
            <a:spLocks noGrp="1"/>
          </p:cNvSpPr>
          <p:nvPr>
            <p:ph idx="1"/>
          </p:nvPr>
        </p:nvSpPr>
        <p:spPr/>
        <p:txBody>
          <a:bodyPr/>
          <a:lstStyle/>
          <a:p>
            <a:pPr marL="0" indent="0">
              <a:buNone/>
            </a:pPr>
            <a:r>
              <a:rPr lang="zh-CN" altLang="en-US" dirty="0"/>
              <a:t>最大最小准则（悲观准则）</a:t>
            </a:r>
            <a:endParaRPr lang="en-US" altLang="zh-CN" dirty="0"/>
          </a:p>
          <a:p>
            <a:r>
              <a:rPr lang="zh-CN" altLang="en-US" dirty="0"/>
              <a:t>决策者从最不利的角度去考虑问题：</a:t>
            </a:r>
            <a:endParaRPr lang="en-US" altLang="zh-CN" dirty="0"/>
          </a:p>
          <a:p>
            <a:pPr marL="914400" lvl="1" indent="-457200">
              <a:buFont typeface="+mj-lt"/>
              <a:buAutoNum type="arabicPeriod"/>
            </a:pPr>
            <a:r>
              <a:rPr lang="zh-CN" altLang="en-US" dirty="0"/>
              <a:t>选出每个方案在不同自然状态下的最小收益值（最保险情况）</a:t>
            </a:r>
            <a:endParaRPr lang="en-US" altLang="zh-CN" dirty="0"/>
          </a:p>
          <a:p>
            <a:pPr marL="914400" lvl="1" indent="-457200">
              <a:buFont typeface="+mj-lt"/>
              <a:buAutoNum type="arabicPeriod"/>
            </a:pPr>
            <a:r>
              <a:rPr lang="zh-CN" altLang="en-US" dirty="0"/>
              <a:t>从这些最小收益值中去最大的，从而确定行动方案</a:t>
            </a: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最大最小准则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515600" cy="4351338"/>
              </a:xfrm>
            </p:spPr>
            <p:txBody>
              <a:bodyPr/>
              <a:lstStyle/>
              <a:p>
                <a:pPr marL="0" indent="0">
                  <a:buNone/>
                </a:pPr>
                <a:r>
                  <a:rPr lang="zh-CN" altLang="en-US" dirty="0">
                    <a:solidFill>
                      <a:schemeClr val="tx1"/>
                    </a:solidFill>
                  </a:rPr>
                  <a:t>用</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14:m>
                  <m:oMath xmlns:m="http://schemas.openxmlformats.org/officeDocument/2006/math">
                    <m:sSub>
                      <m:sSubPr>
                        <m:ctrlPr>
                          <a:rPr lang="en-US" altLang="zh-CN" b="0" i="1" smtClean="0">
                            <a:solidFill>
                              <a:schemeClr val="tx1"/>
                            </a:solidFill>
                            <a:latin typeface="Cambria Math" panose="02040503050406030204" pitchFamily="18" charset="0"/>
                            <a:sym typeface="Symbol" panose="05050102010706020507" pitchFamily="18" charset="2"/>
                          </a:rPr>
                        </m:ctrlPr>
                      </m:sSubPr>
                      <m:e>
                        <m:r>
                          <a:rPr lang="en-US" altLang="zh-CN" b="0" i="1" smtClean="0">
                            <a:solidFill>
                              <a:schemeClr val="tx1"/>
                            </a:solidFill>
                            <a:latin typeface="Cambria Math" panose="02040503050406030204" pitchFamily="18" charset="0"/>
                            <a:sym typeface="Symbol" panose="05050102010706020507" pitchFamily="18" charset="2"/>
                          </a:rPr>
                          <m:t>𝑆</m:t>
                        </m:r>
                      </m:e>
                      <m:sub>
                        <m:r>
                          <a:rPr lang="en-US" altLang="zh-CN" b="0" i="1" smtClean="0">
                            <a:solidFill>
                              <a:schemeClr val="tx1"/>
                            </a:solidFill>
                            <a:latin typeface="Cambria Math" panose="02040503050406030204" pitchFamily="18" charset="0"/>
                            <a:sym typeface="Symbol" panose="05050102010706020507" pitchFamily="18" charset="2"/>
                          </a:rPr>
                          <m:t>𝑖</m:t>
                        </m:r>
                      </m:sub>
                    </m:sSub>
                    <m:r>
                      <a:rPr lang="en-US" altLang="zh-CN" b="0" i="1" smtClean="0">
                        <a:solidFill>
                          <a:schemeClr val="tx1"/>
                        </a:solidFill>
                        <a:latin typeface="Cambria Math" panose="02040503050406030204" pitchFamily="18" charset="0"/>
                        <a:sym typeface="Symbol" panose="05050102010706020507" pitchFamily="18" charset="2"/>
                      </a:rPr>
                      <m:t>,</m:t>
                    </m:r>
                    <m:sSub>
                      <m:sSubPr>
                        <m:ctrlPr>
                          <a:rPr lang="en-US" altLang="zh-CN" b="0" i="1" smtClean="0">
                            <a:solidFill>
                              <a:schemeClr val="tx1"/>
                            </a:solidFill>
                            <a:latin typeface="Cambria Math" panose="02040503050406030204" pitchFamily="18" charset="0"/>
                            <a:sym typeface="Symbol" panose="05050102010706020507" pitchFamily="18" charset="2"/>
                          </a:rPr>
                        </m:ctrlPr>
                      </m:sSubPr>
                      <m:e>
                        <m:r>
                          <a:rPr lang="en-US" altLang="zh-CN" b="0" i="1" smtClean="0">
                            <a:solidFill>
                              <a:schemeClr val="tx1"/>
                            </a:solidFill>
                            <a:latin typeface="Cambria Math" panose="02040503050406030204" pitchFamily="18" charset="0"/>
                            <a:sym typeface="Symbol" panose="05050102010706020507" pitchFamily="18" charset="2"/>
                          </a:rPr>
                          <m:t>𝑁</m:t>
                        </m:r>
                      </m:e>
                      <m:sub>
                        <m:r>
                          <a:rPr lang="en-US" altLang="zh-CN" b="0" i="1" smtClean="0">
                            <a:solidFill>
                              <a:schemeClr val="tx1"/>
                            </a:solidFill>
                            <a:latin typeface="Cambria Math" panose="02040503050406030204" pitchFamily="18" charset="0"/>
                            <a:sym typeface="Symbol" panose="05050102010706020507" pitchFamily="18" charset="2"/>
                          </a:rPr>
                          <m:t>𝑗</m:t>
                        </m:r>
                      </m:sub>
                    </m:sSub>
                  </m:oMath>
                </a14:m>
                <a:r>
                  <a:rPr lang="en-US" altLang="zh-CN" dirty="0">
                    <a:solidFill>
                      <a:schemeClr val="tx1"/>
                    </a:solidFill>
                    <a:sym typeface="Symbol" panose="05050102010706020507" pitchFamily="18" charset="2"/>
                  </a:rPr>
                  <a:t>)</a:t>
                </a:r>
                <a:r>
                  <a:rPr lang="zh-CN" altLang="en-US" dirty="0">
                    <a:solidFill>
                      <a:schemeClr val="tx1"/>
                    </a:solidFill>
                  </a:rPr>
                  <a:t>表示收益值</a:t>
                </a:r>
                <a:endParaRPr lang="zh-CN" altLang="en-US" dirty="0">
                  <a:solidFill>
                    <a:schemeClr val="tx1"/>
                  </a:solidFill>
                </a:endParaRPr>
              </a:p>
              <a:p>
                <a:pPr marL="0" indent="0">
                  <a:buNone/>
                </a:pP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10515600" cy="4351338"/>
              </a:xfrm>
              <a:blipFill rotWithShape="1">
                <a:blip r:embed="rId1"/>
                <a:stretch>
                  <a:fillRect t="-292" b="7"/>
                </a:stretch>
              </a:blipFill>
            </p:spPr>
            <p:txBody>
              <a:bodyPr/>
              <a:lstStyle/>
              <a:p>
                <a:r>
                  <a:rPr lang="zh-CN" altLang="en-US">
                    <a:noFill/>
                  </a:rPr>
                  <a:t> </a:t>
                </a:r>
              </a:p>
            </p:txBody>
          </p:sp>
        </mc:Fallback>
      </mc:AlternateContent>
      <p:graphicFrame>
        <p:nvGraphicFramePr>
          <p:cNvPr id="5" name="表格 4"/>
          <p:cNvGraphicFramePr>
            <a:graphicFrameLocks noGrp="1"/>
          </p:cNvGraphicFramePr>
          <p:nvPr/>
        </p:nvGraphicFramePr>
        <p:xfrm>
          <a:off x="2039937" y="3429000"/>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zh-CN" altLang="en-US" sz="2000" b="0" i="0" u="none" strike="noStrike" baseline="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graphicFrame>
        <p:nvGraphicFramePr>
          <p:cNvPr id="6" name="Object 68"/>
          <p:cNvGraphicFramePr>
            <a:graphicFrameLocks noChangeAspect="1"/>
          </p:cNvGraphicFramePr>
          <p:nvPr/>
        </p:nvGraphicFramePr>
        <p:xfrm>
          <a:off x="8321467" y="3541565"/>
          <a:ext cx="1746250" cy="538162"/>
        </p:xfrm>
        <a:graphic>
          <a:graphicData uri="http://schemas.openxmlformats.org/presentationml/2006/ole">
            <mc:AlternateContent xmlns:mc="http://schemas.openxmlformats.org/markup-compatibility/2006">
              <mc:Choice xmlns:v="urn:schemas-microsoft-com:vml" Requires="v">
                <p:oleObj spid="_x0000_s4" name="Equation" r:id="rId2" imgW="1028065" imgH="317500" progId="Equation.DSMT4">
                  <p:embed/>
                </p:oleObj>
              </mc:Choice>
              <mc:Fallback>
                <p:oleObj name="Equation" r:id="rId2" imgW="1028065" imgH="317500" progId="Equation.DSMT4">
                  <p:embed/>
                  <p:pic>
                    <p:nvPicPr>
                      <p:cNvPr id="0" name="Object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1467" y="3541565"/>
                        <a:ext cx="1746250"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4269996" y="4228051"/>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269995" y="4807605"/>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269995" y="5387159"/>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540685" y="4079727"/>
            <a:ext cx="1244338"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8"/>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a:t>
            </a:r>
            <a:r>
              <a:rPr lang="en-US" altLang="zh-CN" dirty="0"/>
              <a:t> – </a:t>
            </a:r>
            <a:r>
              <a:rPr lang="zh-CN" altLang="en-US" dirty="0"/>
              <a:t>最大最大准则</a:t>
            </a:r>
            <a:endParaRPr lang="zh-CN" altLang="en-US" dirty="0"/>
          </a:p>
        </p:txBody>
      </p:sp>
      <p:sp>
        <p:nvSpPr>
          <p:cNvPr id="3" name="内容占位符 2"/>
          <p:cNvSpPr>
            <a:spLocks noGrp="1"/>
          </p:cNvSpPr>
          <p:nvPr>
            <p:ph idx="1"/>
          </p:nvPr>
        </p:nvSpPr>
        <p:spPr/>
        <p:txBody>
          <a:bodyPr/>
          <a:lstStyle/>
          <a:p>
            <a:pPr marL="0" indent="0">
              <a:buNone/>
            </a:pPr>
            <a:r>
              <a:rPr lang="zh-CN" altLang="en-US" dirty="0"/>
              <a:t>最大最大准则（乐观准则）</a:t>
            </a:r>
            <a:endParaRPr lang="en-US" altLang="zh-CN" dirty="0"/>
          </a:p>
          <a:p>
            <a:pPr marL="0" indent="0">
              <a:buNone/>
            </a:pPr>
            <a:r>
              <a:rPr lang="zh-CN" altLang="en-US" dirty="0"/>
              <a:t>决策者从最有利的角度去考虑问题：</a:t>
            </a:r>
            <a:endParaRPr lang="en-US" altLang="zh-CN" dirty="0"/>
          </a:p>
          <a:p>
            <a:pPr marL="514350" indent="-514350">
              <a:buFont typeface="+mj-lt"/>
              <a:buAutoNum type="arabicPeriod"/>
            </a:pPr>
            <a:r>
              <a:rPr lang="zh-CN" altLang="en-US" dirty="0"/>
              <a:t>选出每个方案在不同自然状态下的最大收益值（最乐观值）</a:t>
            </a:r>
            <a:endParaRPr lang="en-US" altLang="zh-CN" dirty="0"/>
          </a:p>
          <a:p>
            <a:pPr marL="514350" indent="-514350">
              <a:buFont typeface="+mj-lt"/>
              <a:buAutoNum type="arabicPeriod"/>
            </a:pPr>
            <a:r>
              <a:rPr lang="zh-CN" altLang="en-US" dirty="0"/>
              <a:t>从这些最大收益值中选择产生最大值的决策，从而确定行动方案</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最大最大值</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用</a:t>
                </a:r>
                <a14:m>
                  <m:oMath xmlns:m="http://schemas.openxmlformats.org/officeDocument/2006/math">
                    <m:r>
                      <a:rPr lang="en-US" altLang="zh-CN" b="0" i="1" smtClean="0">
                        <a:latin typeface="Cambria Math" panose="02040503050406030204" pitchFamily="18" charset="0"/>
                      </a:rPr>
                      <m:t>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oMath>
                </a14:m>
                <a:r>
                  <a:rPr lang="zh-CN" altLang="en-US" dirty="0"/>
                  <a:t>表示收益值</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2039937" y="3429000"/>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14:m>
                            <m:oMath xmlns:m="http://schemas.openxmlformats.org/officeDocument/2006/math">
                              <m:func>
                                <m:func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funcPr>
                                <m:fName>
                                  <m:limLow>
                                    <m:limLow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limLowPr>
                                    <m:e>
                                      <m:r>
                                        <m:rPr>
                                          <m:sty m:val="p"/>
                                        </m:rPr>
                                        <a:rPr lang="en-US" altLang="zh-CN" sz="2000" b="0" i="0" u="none" strike="noStrike" baseline="0" smtClean="0">
                                          <a:solidFill>
                                            <a:srgbClr val="000000"/>
                                          </a:solidFill>
                                          <a:effectLst/>
                                          <a:latin typeface="Cambria Math" panose="02040503050406030204" pitchFamily="18" charset="0"/>
                                          <a:ea typeface="仿宋" panose="02010609060101010101" pitchFamily="49" charset="-122"/>
                                        </a:rPr>
                                        <m:t>max</m:t>
                                      </m:r>
                                    </m:e>
                                    <m:lim>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1</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𝑗</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2</m:t>
                                      </m:r>
                                    </m:lim>
                                  </m:limLow>
                                </m:fName>
                                <m:e>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𝛼</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sSub>
                                    <m:sSub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sSubPr>
                                    <m:e>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𝑆</m:t>
                                      </m:r>
                                    </m:e>
                                    <m:sub>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𝑖</m:t>
                                      </m:r>
                                    </m:sub>
                                  </m:sSub>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sSub>
                                    <m:sSub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sSubPr>
                                    <m:e>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𝑁</m:t>
                                      </m:r>
                                    </m:e>
                                    <m:sub>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𝑗</m:t>
                                      </m:r>
                                    </m:sub>
                                  </m:sSub>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e>
                              </m:func>
                            </m:oMath>
                          </a14:m>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mc:Choice>
        <mc:Fallback xmlns="">
          <p:graphicFrame>
            <p:nvGraphicFramePr>
              <p:cNvPr id="4" name="表格 3"/>
              <p:cNvGraphicFramePr>
                <a:graphicFrameLocks noGrp="1"/>
              </p:cNvGraphicFramePr>
              <p:nvPr/>
            </p:nvGraphicFramePr>
            <p:xfrm>
              <a:off x="2039937" y="3429000"/>
              <a:ext cx="8112126" cy="2487614"/>
            </p:xfrm>
            <a:graphic>
              <a:graphicData uri="http://schemas.openxmlformats.org/drawingml/2006/table">
                <a:tbl>
                  <a:tblPr/>
                  <a:tblGrid>
                    <a:gridCol w="2068434"/>
                    <a:gridCol w="2286030"/>
                    <a:gridCol w="1843112"/>
                    <a:gridCol w="1914550"/>
                  </a:tblGrid>
                  <a:tr h="74993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endParaRPr lang="zh-CN"/>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mc:Fallback>
      </mc:AlternateContent>
      <p:sp>
        <p:nvSpPr>
          <p:cNvPr id="6" name="矩形 5"/>
          <p:cNvSpPr/>
          <p:nvPr/>
        </p:nvSpPr>
        <p:spPr>
          <a:xfrm>
            <a:off x="4269996" y="4228051"/>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269995" y="4807605"/>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269995" y="5387159"/>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540685" y="4079727"/>
            <a:ext cx="1244338"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7"/>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等可能性准则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等可能性准则（</a:t>
                </a:r>
                <a:r>
                  <a:rPr lang="en-US" altLang="zh-CN" dirty="0"/>
                  <a:t>Laplace</a:t>
                </a:r>
                <a:r>
                  <a:rPr lang="zh-CN" altLang="en-US" dirty="0"/>
                  <a:t>准则）</a:t>
                </a:r>
                <a:endParaRPr lang="en-US" altLang="zh-CN" dirty="0"/>
              </a:p>
              <a:p>
                <a:pPr marL="0" indent="0">
                  <a:buNone/>
                </a:pPr>
                <a:r>
                  <a:rPr lang="zh-CN" altLang="en-US" dirty="0"/>
                  <a:t>决策者把各个自然状态发生的机会看成是等可能的：</a:t>
                </a:r>
                <a:endParaRPr lang="en-US" altLang="zh-CN" dirty="0"/>
              </a:p>
              <a:p>
                <a:pPr marL="514350" indent="-514350">
                  <a:buFont typeface="+mj-lt"/>
                  <a:buAutoNum type="arabicPeriod"/>
                </a:pPr>
                <a:r>
                  <a:rPr lang="zh-CN" altLang="en-US" dirty="0"/>
                  <a:t>设每个自然数状态发生的概率为</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1</m:t>
                        </m:r>
                      </m:num>
                      <m:den>
                        <m:r>
                          <a:rPr lang="zh-CN" altLang="en-US" i="1">
                            <a:latin typeface="Cambria Math" panose="02040503050406030204" pitchFamily="18" charset="0"/>
                          </a:rPr>
                          <m:t>自然</m:t>
                        </m:r>
                        <m:r>
                          <a:rPr lang="zh-CN" altLang="en-US" i="1" smtClean="0">
                            <a:latin typeface="Cambria Math" panose="02040503050406030204" pitchFamily="18" charset="0"/>
                          </a:rPr>
                          <m:t>状态</m:t>
                        </m:r>
                        <m:r>
                          <a:rPr lang="zh-CN" altLang="en-US" i="1">
                            <a:latin typeface="Cambria Math" panose="02040503050406030204" pitchFamily="18" charset="0"/>
                          </a:rPr>
                          <m:t>数</m:t>
                        </m:r>
                      </m:den>
                    </m:f>
                  </m:oMath>
                </a14:m>
                <a:endParaRPr lang="en-US" altLang="zh-CN" dirty="0"/>
              </a:p>
              <a:p>
                <a:pPr marL="514350" indent="-514350">
                  <a:buFont typeface="+mj-lt"/>
                  <a:buAutoNum type="arabicPeriod"/>
                </a:pPr>
                <a:r>
                  <a:rPr lang="zh-CN" altLang="en-US" dirty="0"/>
                  <a:t>计算各行动方案的收益期望值</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等可能性准则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用</a:t>
                </a:r>
                <a14:m>
                  <m:oMath xmlns:m="http://schemas.openxmlformats.org/officeDocument/2006/math">
                    <m:r>
                      <a:rPr lang="en-US" altLang="zh-CN" b="0" i="1" smtClean="0">
                        <a:latin typeface="Cambria Math" panose="02040503050406030204" pitchFamily="18" charset="0"/>
                      </a:rPr>
                      <m:t>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e>
                    </m:d>
                  </m:oMath>
                </a14:m>
                <a:r>
                  <a:rPr lang="zh-CN" altLang="en-US" dirty="0"/>
                  <a:t>表示第</a:t>
                </a:r>
                <a:r>
                  <a:rPr lang="en-US" altLang="zh-CN" dirty="0" err="1"/>
                  <a:t>i</a:t>
                </a:r>
                <a:r>
                  <a:rPr lang="zh-CN" altLang="en-US" dirty="0"/>
                  <a:t>方案的收益期望值</a:t>
                </a:r>
                <a:endParaRPr lang="en-US" altLang="zh-CN" dirty="0"/>
              </a:p>
              <a:p>
                <a:pPr marL="0" indent="0" algn="ctr">
                  <a:buNone/>
                </a:pP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2039937" y="2757487"/>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P=1/2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P=1/2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收益期望值</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E</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S</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i</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9</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
        <p:nvSpPr>
          <p:cNvPr id="5" name="矩形 4"/>
          <p:cNvSpPr/>
          <p:nvPr/>
        </p:nvSpPr>
        <p:spPr>
          <a:xfrm>
            <a:off x="4279423" y="3556538"/>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279422" y="4136092"/>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279422" y="4715646"/>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550112" y="3408214"/>
            <a:ext cx="1244338"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乐观系数准则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乐观系数准则（折衷准则或</a:t>
                </a:r>
                <a:r>
                  <a:rPr lang="en-US" altLang="zh-CN" dirty="0" err="1"/>
                  <a:t>Hurwicz</a:t>
                </a:r>
                <a:r>
                  <a:rPr lang="zh-CN" altLang="en-US" dirty="0"/>
                  <a:t>准则）</a:t>
                </a:r>
                <a:endParaRPr lang="en-US" altLang="zh-CN" dirty="0"/>
              </a:p>
              <a:p>
                <a:pPr marL="0" indent="0">
                  <a:buNone/>
                </a:pPr>
                <a:r>
                  <a:rPr lang="zh-CN" altLang="en-US" dirty="0"/>
                  <a:t>决策者在乐观准则和悲观准则中取折衷结果：</a:t>
                </a:r>
                <a:endParaRPr lang="en-US" altLang="zh-CN" dirty="0"/>
              </a:p>
              <a:p>
                <a:pPr marL="514350" indent="-514350">
                  <a:buFont typeface="+mj-lt"/>
                  <a:buAutoNum type="arabicPeriod"/>
                </a:pPr>
                <a:r>
                  <a:rPr lang="zh-CN" altLang="en-US" dirty="0"/>
                  <a:t>确定一个乐观系数</a:t>
                </a:r>
                <a14:m>
                  <m:oMath xmlns:m="http://schemas.openxmlformats.org/officeDocument/2006/math">
                    <m:r>
                      <a:rPr lang="en-US" altLang="zh-CN" b="0" i="1" smtClean="0">
                        <a:latin typeface="Cambria Math" panose="02040503050406030204" pitchFamily="18" charset="0"/>
                      </a:rPr>
                      <m:t>𝛽</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oMath>
                </a14:m>
                <a:endParaRPr lang="en-US" altLang="zh-CN" b="0" dirty="0"/>
              </a:p>
              <a:p>
                <a:pPr marL="514350" indent="-514350">
                  <a:buFont typeface="+mj-lt"/>
                  <a:buAutoNum type="arabicPeriod"/>
                </a:pPr>
                <a:r>
                  <a:rPr lang="zh-CN" altLang="en-US" dirty="0"/>
                  <a:t>计算折衷</a:t>
                </a:r>
                <a14:m>
                  <m:oMath xmlns:m="http://schemas.openxmlformats.org/officeDocument/2006/math">
                    <m:r>
                      <a:rPr lang="zh-CN" altLang="en-US" b="0" i="1" dirty="0">
                        <a:latin typeface="Cambria Math" panose="02040503050406030204" pitchFamily="18" charset="0"/>
                      </a:rPr>
                      <m:t>标准</m:t>
                    </m:r>
                    <m:r>
                      <a:rPr lang="zh-CN" altLang="en-US" i="1" dirty="0" smtClean="0">
                        <a:latin typeface="Cambria Math" panose="02040503050406030204" pitchFamily="18" charset="0"/>
                      </a:rPr>
                      <m:t>下</m:t>
                    </m:r>
                    <m:r>
                      <a:rPr lang="zh-CN" altLang="en-US" i="1" dirty="0">
                        <a:latin typeface="Cambria Math" panose="02040503050406030204" pitchFamily="18" charset="0"/>
                      </a:rPr>
                      <m:t>的</m:t>
                    </m:r>
                    <m:r>
                      <a:rPr lang="zh-CN" altLang="en-US" i="1" dirty="0" smtClean="0">
                        <a:latin typeface="Cambria Math" panose="02040503050406030204" pitchFamily="18" charset="0"/>
                      </a:rPr>
                      <m:t>收益值</m:t>
                    </m:r>
                    <m:r>
                      <a:rPr lang="en-US" altLang="zh-CN" b="0" i="1" smtClean="0">
                        <a:latin typeface="Cambria Math" panose="02040503050406030204" pitchFamily="18" charset="0"/>
                      </a:rPr>
                      <m:t>𝐶</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𝛽</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r>
                              <a:rPr lang="en-US" altLang="zh-CN" b="0" i="1" smtClean="0">
                                <a:latin typeface="Cambria Math" panose="02040503050406030204" pitchFamily="18" charset="0"/>
                              </a:rPr>
                              <m:t>𝑗</m:t>
                            </m:r>
                          </m:lim>
                        </m:limLow>
                      </m:fName>
                      <m:e>
                        <m:r>
                          <a:rPr lang="en-US" altLang="zh-CN" b="0" i="1" smtClean="0">
                            <a:latin typeface="Cambria Math" panose="02040503050406030204" pitchFamily="18" charset="0"/>
                          </a:rPr>
                          <m:t>𝛼</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e>
                        </m:d>
                      </m:e>
                    </m:func>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𝛽</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0" i="1" smtClean="0">
                                <a:latin typeface="Cambria Math" panose="02040503050406030204" pitchFamily="18" charset="0"/>
                              </a:rPr>
                              <m:t>𝑗</m:t>
                            </m:r>
                          </m:lim>
                        </m:limLow>
                      </m:fName>
                      <m:e>
                        <m:r>
                          <a:rPr lang="en-US" altLang="zh-CN" b="0" i="1" smtClean="0">
                            <a:latin typeface="Cambria Math" panose="02040503050406030204" pitchFamily="18" charset="0"/>
                          </a:rPr>
                          <m:t>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func>
                  </m:oMath>
                </a14:m>
                <a:endParaRPr lang="en-US" altLang="zh-CN" dirty="0"/>
              </a:p>
              <a:p>
                <a:pPr marL="514350" indent="-514350">
                  <a:buFont typeface="+mj-lt"/>
                  <a:buAutoNum type="arabicPeriod"/>
                </a:pPr>
                <a:r>
                  <a:rPr lang="zh-CN" altLang="en-US" dirty="0"/>
                  <a:t>在各个收益值中选择最大的，从而确定行动方案</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乐观系数准则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取</a:t>
                </a:r>
                <a14:m>
                  <m:oMath xmlns:m="http://schemas.openxmlformats.org/officeDocument/2006/math">
                    <m:r>
                      <a:rPr lang="en-US" altLang="zh-CN" b="0" i="1" smtClean="0">
                        <a:latin typeface="Cambria Math" panose="02040503050406030204" pitchFamily="18" charset="0"/>
                      </a:rPr>
                      <m:t>𝛽</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m:t>
                    </m:r>
                  </m:oMath>
                </a14:m>
                <a:endParaRPr lang="en-US" altLang="zh-CN" b="0" dirty="0"/>
              </a:p>
              <a:p>
                <a:pPr marL="0" indent="0">
                  <a:buNone/>
                </a:pP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1736677" y="2757487"/>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altLang="zh-CN" sz="2000" b="0" i="0" u="none" strike="noStrike" baseline="0" dirty="0" err="1">
                          <a:solidFill>
                            <a:srgbClr val="000000"/>
                          </a:solidFill>
                          <a:effectLst/>
                          <a:latin typeface="Arial" panose="020B0604020202020204" pitchFamily="34" charset="0"/>
                          <a:ea typeface="仿宋" panose="02010609060101010101" pitchFamily="49" charset="-122"/>
                        </a:rPr>
                        <a:t>CV</a:t>
                      </a:r>
                      <a:r>
                        <a:rPr lang="en-US" altLang="zh-CN" sz="2000" b="0" i="0" u="none" strike="noStrike" baseline="-25000" dirty="0" err="1">
                          <a:solidFill>
                            <a:srgbClr val="000000"/>
                          </a:solidFill>
                          <a:effectLst/>
                          <a:latin typeface="Arial" panose="020B0604020202020204" pitchFamily="34" charset="0"/>
                          <a:ea typeface="仿宋" panose="02010609060101010101" pitchFamily="49" charset="-122"/>
                        </a:rPr>
                        <a:t>i</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19.2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13.4</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8.5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
        <p:nvSpPr>
          <p:cNvPr id="5" name="矩形 4"/>
          <p:cNvSpPr/>
          <p:nvPr/>
        </p:nvSpPr>
        <p:spPr>
          <a:xfrm>
            <a:off x="4279423" y="3556538"/>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279422" y="4136092"/>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279422" y="4715646"/>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47244" y="3408214"/>
            <a:ext cx="1373827"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后悔值准则</a:t>
            </a:r>
            <a:endParaRPr lang="zh-CN" altLang="en-US" dirty="0"/>
          </a:p>
        </p:txBody>
      </p:sp>
      <p:sp>
        <p:nvSpPr>
          <p:cNvPr id="3" name="内容占位符 2"/>
          <p:cNvSpPr>
            <a:spLocks noGrp="1"/>
          </p:cNvSpPr>
          <p:nvPr>
            <p:ph idx="1"/>
          </p:nvPr>
        </p:nvSpPr>
        <p:spPr/>
        <p:txBody>
          <a:bodyPr/>
          <a:lstStyle/>
          <a:p>
            <a:pPr marL="0" indent="0">
              <a:buNone/>
            </a:pPr>
            <a:r>
              <a:rPr lang="zh-CN" altLang="en-US" dirty="0"/>
              <a:t>决策者从后悔的角度去考虑问题：</a:t>
            </a:r>
            <a:endParaRPr lang="en-US" altLang="zh-CN" dirty="0"/>
          </a:p>
          <a:p>
            <a:pPr marL="514350" indent="-514350">
              <a:buFont typeface="+mj-lt"/>
              <a:buAutoNum type="arabicPeriod"/>
            </a:pPr>
            <a:r>
              <a:rPr lang="zh-CN" altLang="en-US" dirty="0"/>
              <a:t>计算不同自然状态下的最大收益值作为理想目标，并将各方案的收益值与这个最大收益值的差成为未达到理想目标的后悔值</a:t>
            </a:r>
            <a:endParaRPr lang="en-US" altLang="zh-CN" dirty="0"/>
          </a:p>
          <a:p>
            <a:pPr marL="514350" indent="-514350">
              <a:buFont typeface="+mj-lt"/>
              <a:buAutoNum type="arabicPeriod"/>
            </a:pPr>
            <a:r>
              <a:rPr lang="zh-CN" altLang="en-US" dirty="0"/>
              <a:t>从各方案的最大后悔值中取最小者，从而确定行动方案</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不确定型决策分析 </a:t>
            </a:r>
            <a:r>
              <a:rPr lang="en-US" altLang="zh-CN" dirty="0"/>
              <a:t>– </a:t>
            </a:r>
            <a:r>
              <a:rPr lang="zh-CN" altLang="en-US" dirty="0"/>
              <a:t>后悔值准则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用</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𝛼</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m:t>
                        </m:r>
                      </m:sup>
                    </m:sSubSup>
                  </m:oMath>
                </a14:m>
                <a:r>
                  <a:rPr lang="zh-CN" altLang="en-US" dirty="0"/>
                  <a:t>来表示后悔值，进而构造后悔值矩阵</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2039937" y="2686778"/>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14:m>
                            <m:oMathPara xmlns:m="http://schemas.openxmlformats.org/officeDocument/2006/math">
                              <m:oMathParaPr>
                                <m:jc m:val="centerGroup"/>
                              </m:oMathParaPr>
                              <m:oMath xmlns:m="http://schemas.openxmlformats.org/officeDocument/2006/math">
                                <m:func>
                                  <m:func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funcPr>
                                  <m:fName>
                                    <m:limLow>
                                      <m:limLowPr>
                                        <m:ctrlP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ctrlPr>
                                      </m:limLowPr>
                                      <m:e>
                                        <m:r>
                                          <m:rPr>
                                            <m:sty m:val="p"/>
                                          </m:rPr>
                                          <a:rPr lang="en-US" altLang="zh-CN" sz="2000" b="0" i="0" u="none" strike="noStrike" baseline="0" smtClean="0">
                                            <a:solidFill>
                                              <a:srgbClr val="000000"/>
                                            </a:solidFill>
                                            <a:effectLst/>
                                            <a:latin typeface="Cambria Math" panose="02040503050406030204" pitchFamily="18" charset="0"/>
                                            <a:ea typeface="仿宋" panose="02010609060101010101" pitchFamily="49" charset="-122"/>
                                          </a:rPr>
                                          <m:t>max</m:t>
                                        </m:r>
                                      </m:e>
                                      <m:lim>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𝑗</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1</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m:t>
                                        </m:r>
                                        <m:r>
                                          <a:rPr lang="en-US" altLang="zh-CN" sz="2000" b="0" i="1" u="none" strike="noStrike" baseline="0" smtClean="0">
                                            <a:solidFill>
                                              <a:srgbClr val="000000"/>
                                            </a:solidFill>
                                            <a:effectLst/>
                                            <a:latin typeface="Cambria Math" panose="02040503050406030204" pitchFamily="18" charset="0"/>
                                            <a:ea typeface="仿宋" panose="02010609060101010101" pitchFamily="49" charset="-122"/>
                                          </a:rPr>
                                          <m:t>2</m:t>
                                        </m:r>
                                      </m:lim>
                                    </m:limLow>
                                  </m:fName>
                                  <m:e>
                                    <m:sSubSup>
                                      <m:sSubSupPr>
                                        <m:ctrlPr>
                                          <a:rPr lang="en-US" altLang="zh-CN" sz="2000" b="0" i="1" smtClean="0">
                                            <a:latin typeface="Cambria Math" panose="02040503050406030204" pitchFamily="18" charset="0"/>
                                          </a:rPr>
                                        </m:ctrlPr>
                                      </m:sSubSupPr>
                                      <m:e>
                                        <m:r>
                                          <a:rPr lang="en-US" altLang="zh-CN" sz="2000" b="0" i="1" smtClean="0">
                                            <a:latin typeface="Cambria Math" panose="02040503050406030204" pitchFamily="18" charset="0"/>
                                          </a:rPr>
                                          <m:t>𝛼</m:t>
                                        </m:r>
                                      </m:e>
                                      <m:sub>
                                        <m:r>
                                          <a:rPr lang="en-US" altLang="zh-CN" sz="2000" b="0" i="1" smtClean="0">
                                            <a:latin typeface="Cambria Math" panose="02040503050406030204" pitchFamily="18" charset="0"/>
                                          </a:rPr>
                                          <m:t>𝑖𝑗</m:t>
                                        </m:r>
                                      </m:sub>
                                      <m:sup>
                                        <m:r>
                                          <a:rPr lang="en-US" altLang="zh-CN" sz="2000" b="0" i="1" smtClean="0">
                                            <a:latin typeface="Cambria Math" panose="02040503050406030204" pitchFamily="18" charset="0"/>
                                          </a:rPr>
                                          <m:t>′</m:t>
                                        </m:r>
                                      </m:sup>
                                    </m:sSubSup>
                                  </m:e>
                                </m:func>
                              </m:oMath>
                            </m:oMathPara>
                          </a14:m>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11=(</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 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min</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 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 =(</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mc:Choice>
        <mc:Fallback xmlns="">
          <p:graphicFrame>
            <p:nvGraphicFramePr>
              <p:cNvPr id="4" name="表格 3"/>
              <p:cNvGraphicFramePr>
                <a:graphicFrameLocks noGrp="1"/>
              </p:cNvGraphicFramePr>
              <p:nvPr/>
            </p:nvGraphicFramePr>
            <p:xfrm>
              <a:off x="2039937" y="2686778"/>
              <a:ext cx="8112126" cy="2487614"/>
            </p:xfrm>
            <a:graphic>
              <a:graphicData uri="http://schemas.openxmlformats.org/drawingml/2006/table">
                <a:tbl>
                  <a:tblPr/>
                  <a:tblGrid>
                    <a:gridCol w="2068434"/>
                    <a:gridCol w="2286030"/>
                    <a:gridCol w="1843112"/>
                    <a:gridCol w="1914550"/>
                  </a:tblGrid>
                  <a:tr h="74993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endParaRPr lang="zh-CN"/>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blip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11=(</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11</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 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min</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30</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 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 =(</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mc:Fallback>
      </mc:AlternateContent>
      <p:sp>
        <p:nvSpPr>
          <p:cNvPr id="5" name="矩形 4"/>
          <p:cNvSpPr/>
          <p:nvPr/>
        </p:nvSpPr>
        <p:spPr>
          <a:xfrm>
            <a:off x="4472716" y="3485829"/>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472715" y="4065383"/>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472715" y="4644937"/>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340537" y="3337505"/>
            <a:ext cx="1373827"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10000"/>
          </a:bodyPr>
          <a:lstStyle/>
          <a:p>
            <a:pPr marL="0" indent="0">
              <a:buNone/>
            </a:pPr>
            <a:r>
              <a:rPr lang="zh-CN" altLang="en-US"/>
              <a:t>决策准则的选取主要取决于决策者的</a:t>
            </a:r>
            <a:r>
              <a:rPr lang="zh-CN" altLang="en-US">
                <a:solidFill>
                  <a:srgbClr val="FF0000"/>
                </a:solidFill>
              </a:rPr>
              <a:t>性格和态度</a:t>
            </a:r>
            <a:r>
              <a:rPr lang="zh-CN" altLang="en-US"/>
              <a:t>，以及制定决策时的</a:t>
            </a:r>
            <a:r>
              <a:rPr lang="zh-CN" altLang="en-US">
                <a:solidFill>
                  <a:srgbClr val="FF0000"/>
                </a:solidFill>
              </a:rPr>
              <a:t>环境</a:t>
            </a:r>
            <a:r>
              <a:rPr lang="zh-CN" altLang="en-US"/>
              <a:t>。</a:t>
            </a:r>
            <a:endParaRPr lang="zh-CN" altLang="en-US"/>
          </a:p>
          <a:p>
            <a:pPr marL="0" indent="0">
              <a:buNone/>
            </a:pPr>
            <a:r>
              <a:rPr lang="zh-CN" altLang="en-US"/>
              <a:t>所有的决策准则都</a:t>
            </a:r>
            <a:r>
              <a:rPr lang="zh-CN" altLang="en-US">
                <a:solidFill>
                  <a:srgbClr val="FF0000"/>
                </a:solidFill>
              </a:rPr>
              <a:t>不能保证</a:t>
            </a:r>
            <a:r>
              <a:rPr lang="zh-CN" altLang="en-US"/>
              <a:t>所选择的方案在实际情况发生时会成为最优方案。</a:t>
            </a:r>
            <a:endParaRPr lang="zh-CN" altLang="en-US"/>
          </a:p>
          <a:p>
            <a:pPr marL="0" indent="0">
              <a:buNone/>
            </a:pPr>
            <a:endParaRPr lang="zh-CN" altLang="en-US"/>
          </a:p>
        </p:txBody>
      </p:sp>
      <p:sp>
        <p:nvSpPr>
          <p:cNvPr id="4" name="标题 3"/>
          <p:cNvSpPr/>
          <p:nvPr>
            <p:ph type="title"/>
          </p:nvPr>
        </p:nvSpPr>
        <p:spPr/>
        <p:txBody>
          <a:bodyPr>
            <a:normAutofit/>
          </a:bodyPr>
          <a:p>
            <a:r>
              <a:rPr lang="zh-CN" altLang="en-US"/>
              <a:t>问题：不确定型决策问题存在</a:t>
            </a:r>
            <a:r>
              <a:rPr lang="en-US" altLang="zh-CN"/>
              <a:t>“</a:t>
            </a:r>
            <a:r>
              <a:rPr lang="zh-CN" altLang="en-US"/>
              <a:t>最优方案</a:t>
            </a:r>
            <a:r>
              <a:rPr lang="en-US" altLang="zh-CN"/>
              <a:t>”</a:t>
            </a:r>
            <a:r>
              <a:rPr lang="zh-CN" altLang="en-US"/>
              <a:t>吗？</a:t>
            </a: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a:t>
            </a:r>
            <a:r>
              <a:rPr lang="zh-CN" altLang="en-US" dirty="0"/>
              <a:t>练习</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a:t>某鲜花店每天所需鲜花数可能是下面各个数量中的某一个：</a:t>
            </a:r>
            <a:r>
              <a:rPr lang="en-US" altLang="zh-CN"/>
              <a:t>100</a:t>
            </a:r>
            <a:r>
              <a:rPr lang="zh-CN" altLang="en-US"/>
              <a:t>，</a:t>
            </a:r>
            <a:r>
              <a:rPr lang="en-US" altLang="zh-CN"/>
              <a:t>150</a:t>
            </a:r>
            <a:r>
              <a:rPr lang="zh-CN" altLang="en-US"/>
              <a:t>，</a:t>
            </a:r>
            <a:r>
              <a:rPr lang="en-US" altLang="zh-CN"/>
              <a:t>200</a:t>
            </a:r>
            <a:r>
              <a:rPr lang="zh-CN" altLang="en-US"/>
              <a:t>，</a:t>
            </a:r>
            <a:r>
              <a:rPr lang="en-US" altLang="zh-CN"/>
              <a:t>250</a:t>
            </a:r>
            <a:r>
              <a:rPr lang="zh-CN" altLang="en-US"/>
              <a:t>，</a:t>
            </a:r>
            <a:r>
              <a:rPr lang="en-US" altLang="zh-CN"/>
              <a:t>300</a:t>
            </a:r>
            <a:r>
              <a:rPr lang="zh-CN" altLang="en-US"/>
              <a:t>。而其概率分布不知道。如果一支鲜花当天没有卖掉，则可在当天结束时以</a:t>
            </a:r>
            <a:r>
              <a:rPr lang="en-US" altLang="zh-CN"/>
              <a:t>1.5</a:t>
            </a:r>
            <a:r>
              <a:rPr lang="zh-CN" altLang="en-US"/>
              <a:t>元钱处理掉。鲜花每支平均售价为</a:t>
            </a:r>
            <a:r>
              <a:rPr lang="en-US" altLang="zh-CN"/>
              <a:t>4.9</a:t>
            </a:r>
            <a:r>
              <a:rPr lang="zh-CN" altLang="en-US"/>
              <a:t>元，成本为</a:t>
            </a:r>
            <a:r>
              <a:rPr lang="en-US" altLang="zh-CN"/>
              <a:t>2.5</a:t>
            </a:r>
            <a:r>
              <a:rPr lang="zh-CN" altLang="en-US"/>
              <a:t>元。假设进货量限定为需求量中的某一个。分别用以下五种方法求解最优行动方案：</a:t>
            </a:r>
            <a:endParaRPr lang="zh-CN" altLang="en-US"/>
          </a:p>
          <a:p>
            <a:pPr marL="0" indent="0">
              <a:buNone/>
            </a:pPr>
            <a:r>
              <a:rPr lang="zh-CN" altLang="en-US"/>
              <a:t>（</a:t>
            </a:r>
            <a:r>
              <a:rPr lang="en-US" altLang="zh-CN"/>
              <a:t>1</a:t>
            </a:r>
            <a:r>
              <a:rPr lang="zh-CN" altLang="en-US"/>
              <a:t>）悲观主义准测；</a:t>
            </a:r>
            <a:endParaRPr lang="zh-CN" altLang="en-US"/>
          </a:p>
          <a:p>
            <a:pPr marL="0" indent="0">
              <a:buNone/>
            </a:pPr>
            <a:r>
              <a:rPr lang="zh-CN" altLang="en-US"/>
              <a:t>（</a:t>
            </a:r>
            <a:r>
              <a:rPr lang="en-US" altLang="zh-CN"/>
              <a:t>2</a:t>
            </a:r>
            <a:r>
              <a:rPr lang="zh-CN" altLang="en-US"/>
              <a:t>）乐观主义准则；</a:t>
            </a:r>
            <a:endParaRPr lang="zh-CN" altLang="en-US"/>
          </a:p>
          <a:p>
            <a:pPr marL="0" indent="0">
              <a:buNone/>
            </a:pPr>
            <a:r>
              <a:rPr lang="zh-CN" altLang="en-US"/>
              <a:t>（</a:t>
            </a:r>
            <a:r>
              <a:rPr lang="en-US" altLang="zh-CN"/>
              <a:t>3</a:t>
            </a:r>
            <a:r>
              <a:rPr lang="zh-CN" altLang="en-US"/>
              <a:t>）等可能准则；</a:t>
            </a:r>
            <a:endParaRPr lang="zh-CN" altLang="en-US"/>
          </a:p>
          <a:p>
            <a:pPr marL="0" indent="0">
              <a:buNone/>
            </a:pPr>
            <a:r>
              <a:rPr lang="zh-CN" altLang="en-US"/>
              <a:t>（</a:t>
            </a:r>
            <a:r>
              <a:rPr lang="en-US" altLang="zh-CN"/>
              <a:t>4</a:t>
            </a:r>
            <a:r>
              <a:rPr lang="zh-CN" altLang="en-US"/>
              <a:t>）乐观系数准则（乐观系数为</a:t>
            </a:r>
            <a:r>
              <a:rPr lang="en-US" altLang="zh-CN"/>
              <a:t>0.3</a:t>
            </a:r>
            <a:r>
              <a:rPr lang="zh-CN" altLang="en-US"/>
              <a:t>）；</a:t>
            </a:r>
            <a:endParaRPr lang="zh-CN" altLang="en-US"/>
          </a:p>
          <a:p>
            <a:pPr marL="0" indent="0">
              <a:buNone/>
            </a:pPr>
            <a:r>
              <a:rPr lang="zh-CN" altLang="en-US"/>
              <a:t>（</a:t>
            </a:r>
            <a:r>
              <a:rPr lang="en-US" altLang="zh-CN"/>
              <a:t>5</a:t>
            </a:r>
            <a:r>
              <a:rPr lang="zh-CN" altLang="en-US"/>
              <a:t>）后悔值准则。</a:t>
            </a:r>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6722" r="16722" b="9445"/>
          <a:stretch>
            <a:fillRect/>
          </a:stretch>
        </p:blipFill>
        <p:spPr>
          <a:xfrm>
            <a:off x="0" y="647700"/>
            <a:ext cx="12192000" cy="6210300"/>
          </a:xfrm>
          <a:prstGeom prst="rect">
            <a:avLst/>
          </a:prstGeom>
        </p:spPr>
      </p:pic>
      <p:sp>
        <p:nvSpPr>
          <p:cNvPr id="6" name="矩形 5"/>
          <p:cNvSpPr/>
          <p:nvPr/>
        </p:nvSpPr>
        <p:spPr>
          <a:xfrm>
            <a:off x="0" y="0"/>
            <a:ext cx="12192000" cy="6858000"/>
          </a:xfrm>
          <a:prstGeom prst="rect">
            <a:avLst/>
          </a:prstGeom>
          <a:gradFill>
            <a:gsLst>
              <a:gs pos="10000">
                <a:schemeClr val="bg1"/>
              </a:gs>
              <a:gs pos="100000">
                <a:schemeClr val="bg1">
                  <a:alpha val="0"/>
                </a:schemeClr>
              </a:gs>
              <a:gs pos="48000">
                <a:schemeClr val="bg1">
                  <a:alpha val="50000"/>
                </a:schemeClr>
              </a:gs>
            </a:gsLst>
            <a:lin ang="5400000" scaled="1"/>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grpSp>
        <p:nvGrpSpPr>
          <p:cNvPr id="7" name="组合 6"/>
          <p:cNvGrpSpPr/>
          <p:nvPr/>
        </p:nvGrpSpPr>
        <p:grpSpPr>
          <a:xfrm>
            <a:off x="2759783" y="1443985"/>
            <a:ext cx="6672434" cy="2278148"/>
            <a:chOff x="2759783" y="1278885"/>
            <a:chExt cx="6672434" cy="2278148"/>
          </a:xfrm>
        </p:grpSpPr>
        <p:grpSp>
          <p:nvGrpSpPr>
            <p:cNvPr id="3" name="组合 2"/>
            <p:cNvGrpSpPr/>
            <p:nvPr/>
          </p:nvGrpSpPr>
          <p:grpSpPr>
            <a:xfrm>
              <a:off x="2759783" y="1278885"/>
              <a:ext cx="6672434" cy="2278148"/>
              <a:chOff x="3233566" y="1418585"/>
              <a:chExt cx="6672434" cy="2278148"/>
            </a:xfrm>
          </p:grpSpPr>
          <p:sp>
            <p:nvSpPr>
              <p:cNvPr id="8" name="文本框 7"/>
              <p:cNvSpPr txBox="1"/>
              <p:nvPr/>
            </p:nvSpPr>
            <p:spPr>
              <a:xfrm>
                <a:off x="3233566" y="2332993"/>
                <a:ext cx="667243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风险型决策</a:t>
                </a:r>
                <a:endPar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nvSpPr>
            <p:spPr>
              <a:xfrm>
                <a:off x="3694999" y="3327401"/>
                <a:ext cx="5749567" cy="369332"/>
              </a:xfrm>
              <a:prstGeom prst="rect">
                <a:avLst/>
              </a:prstGeom>
              <a:noFill/>
            </p:spPr>
            <p:txBody>
              <a:bodyPr wrap="square" rtlCol="0">
                <a:spAutoFit/>
              </a:bodyPr>
              <a:lstStyle/>
              <a:p>
                <a:pPr lvl="0" algn="ctr">
                  <a:defRPr/>
                </a:pPr>
                <a:r>
                  <a:rPr lang="en-US" altLang="zh-CN" spc="300" dirty="0">
                    <a:solidFill>
                      <a:schemeClr val="tx1">
                        <a:lumMod val="75000"/>
                        <a:lumOff val="25000"/>
                      </a:schemeClr>
                    </a:solidFill>
                    <a:latin typeface="Segoe UI Light" panose="020B0502040204020203" pitchFamily="34" charset="0"/>
                    <a:ea typeface="思源黑体 CN Light" panose="020B0300000000000000" pitchFamily="34" charset="-122"/>
                    <a:cs typeface="Segoe UI Light" panose="020B0502040204020203" pitchFamily="34" charset="0"/>
                  </a:rPr>
                  <a:t>ENTER YOUR SUBTITLE</a:t>
                </a:r>
                <a:endParaRPr kumimoji="0" lang="zh-CN" altLang="en-US" sz="1800" b="0" i="0" u="none" strike="noStrike" kern="1200" cap="none" spc="300" normalizeH="0" baseline="0" noProof="0" dirty="0">
                  <a:ln>
                    <a:noFill/>
                  </a:ln>
                  <a:solidFill>
                    <a:schemeClr val="tx1">
                      <a:lumMod val="75000"/>
                      <a:lumOff val="25000"/>
                    </a:schemeClr>
                  </a:solidFill>
                  <a:effectLst/>
                  <a:uLnTx/>
                  <a:uFillTx/>
                  <a:latin typeface="Segoe UI Light" panose="020B0502040204020203" pitchFamily="34" charset="0"/>
                  <a:ea typeface="思源黑体 CN Light" panose="020B0300000000000000" pitchFamily="34" charset="-122"/>
                  <a:cs typeface="Segoe UI Light" panose="020B0502040204020203" pitchFamily="34" charset="0"/>
                </a:endParaRPr>
              </a:p>
            </p:txBody>
          </p:sp>
          <p:sp>
            <p:nvSpPr>
              <p:cNvPr id="10" name="文本框 9"/>
              <p:cNvSpPr txBox="1"/>
              <p:nvPr/>
            </p:nvSpPr>
            <p:spPr>
              <a:xfrm>
                <a:off x="5393018" y="1418585"/>
                <a:ext cx="235353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PART 02</a:t>
                </a:r>
                <a:endParaRPr kumimoji="0" lang="zh-CN" altLang="en-US"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grpSp>
        <p:cxnSp>
          <p:nvCxnSpPr>
            <p:cNvPr id="4" name="直接连接符 3"/>
            <p:cNvCxnSpPr/>
            <p:nvPr/>
          </p:nvCxnSpPr>
          <p:spPr>
            <a:xfrm>
              <a:off x="5924550" y="2006600"/>
              <a:ext cx="3429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风险型决策分析问题具备以下几种要素：</a:t>
            </a:r>
            <a:endParaRPr lang="en-US" altLang="zh-CN" dirty="0"/>
          </a:p>
          <a:p>
            <a:pPr lvl="1"/>
            <a:r>
              <a:rPr lang="zh-CN" altLang="en-US" dirty="0"/>
              <a:t>决策者</a:t>
            </a:r>
            <a:r>
              <a:rPr lang="zh-CN" altLang="en-US" dirty="0">
                <a:solidFill>
                  <a:srgbClr val="FF0000"/>
                </a:solidFill>
              </a:rPr>
              <a:t>知道</a:t>
            </a:r>
            <a:r>
              <a:rPr lang="zh-CN" altLang="en-US" dirty="0"/>
              <a:t>将要面对的一些</a:t>
            </a:r>
            <a:r>
              <a:rPr lang="zh-CN" altLang="en-US" dirty="0">
                <a:solidFill>
                  <a:srgbClr val="FF0000"/>
                </a:solidFill>
              </a:rPr>
              <a:t>自然状态</a:t>
            </a:r>
            <a:endParaRPr lang="en-US" altLang="zh-CN" dirty="0">
              <a:solidFill>
                <a:srgbClr val="FF0000"/>
              </a:solidFill>
            </a:endParaRPr>
          </a:p>
          <a:p>
            <a:pPr lvl="1"/>
            <a:r>
              <a:rPr lang="zh-CN" altLang="en-US" dirty="0"/>
              <a:t>决策者</a:t>
            </a:r>
            <a:r>
              <a:rPr lang="zh-CN" altLang="en-US" dirty="0">
                <a:solidFill>
                  <a:srgbClr val="FF0000"/>
                </a:solidFill>
              </a:rPr>
              <a:t>知道</a:t>
            </a:r>
            <a:r>
              <a:rPr lang="zh-CN" altLang="en-US" dirty="0"/>
              <a:t>将采用的几种</a:t>
            </a:r>
            <a:r>
              <a:rPr lang="zh-CN" altLang="en-US" dirty="0">
                <a:solidFill>
                  <a:srgbClr val="FF0000"/>
                </a:solidFill>
              </a:rPr>
              <a:t>行动方案在各个不同的自然状态下所获得的的相应的收益值</a:t>
            </a:r>
            <a:endParaRPr lang="en-US" altLang="zh-CN" dirty="0">
              <a:solidFill>
                <a:srgbClr val="FF0000"/>
              </a:solidFill>
            </a:endParaRPr>
          </a:p>
          <a:p>
            <a:pPr lvl="1"/>
            <a:r>
              <a:rPr lang="zh-CN" altLang="en-US" dirty="0"/>
              <a:t>决策者</a:t>
            </a:r>
            <a:r>
              <a:rPr lang="zh-CN" altLang="en-US" dirty="0">
                <a:solidFill>
                  <a:srgbClr val="FF0000"/>
                </a:solidFill>
              </a:rPr>
              <a:t>知道</a:t>
            </a:r>
            <a:r>
              <a:rPr lang="zh-CN" altLang="en-US" dirty="0"/>
              <a:t>各种</a:t>
            </a:r>
            <a:r>
              <a:rPr lang="zh-CN" altLang="en-US" dirty="0">
                <a:solidFill>
                  <a:srgbClr val="FF0000"/>
                </a:solidFill>
              </a:rPr>
              <a:t>自然状态出现的概率</a:t>
            </a:r>
            <a:endParaRPr lang="en-US" altLang="zh-CN" dirty="0">
              <a:solidFill>
                <a:srgbClr val="FF0000"/>
              </a:solidFill>
            </a:endParaRPr>
          </a:p>
          <a:p>
            <a:r>
              <a:rPr lang="zh-CN" altLang="en-US" dirty="0"/>
              <a:t>基于以上特点，决策者需要根据具体情况，选择一个最合适的方法进行决策。常见的方法有：</a:t>
            </a:r>
            <a:endParaRPr lang="en-US" altLang="zh-CN" dirty="0"/>
          </a:p>
          <a:p>
            <a:pPr lvl="1"/>
            <a:r>
              <a:rPr lang="zh-CN" altLang="en-US" dirty="0"/>
              <a:t>最大可能准则</a:t>
            </a:r>
            <a:endParaRPr lang="en-US" altLang="zh-CN" dirty="0"/>
          </a:p>
          <a:p>
            <a:pPr lvl="1"/>
            <a:r>
              <a:rPr lang="zh-CN" altLang="en-US" dirty="0"/>
              <a:t>期望值准则</a:t>
            </a:r>
            <a:endParaRPr lang="en-US" altLang="zh-CN" dirty="0"/>
          </a:p>
          <a:p>
            <a:pPr lvl="2"/>
            <a:r>
              <a:rPr lang="zh-CN" altLang="en-US" dirty="0"/>
              <a:t>决策树法</a:t>
            </a:r>
            <a:endParaRPr lang="en-US" altLang="zh-CN" dirty="0"/>
          </a:p>
          <a:p>
            <a:pPr lvl="1"/>
            <a:r>
              <a:rPr lang="zh-CN" altLang="en-US" dirty="0"/>
              <a:t>效用理论</a:t>
            </a:r>
            <a:endParaRPr lang="en-US" altLang="zh-CN" dirty="0"/>
          </a:p>
          <a:p>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例</a:t>
            </a:r>
            <a:r>
              <a:rPr lang="en-US" altLang="zh-CN" dirty="0"/>
              <a:t>2</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我们在例</a:t>
                </a:r>
                <a:r>
                  <a:rPr lang="en-US" altLang="zh-CN" dirty="0"/>
                  <a:t>1</a:t>
                </a:r>
                <a:r>
                  <a:rPr lang="zh-CN" altLang="en-US" dirty="0"/>
                  <a:t>的基础上，根据以往经验，估计出需求量大这个自然状态出现的概率为</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oMath>
                </a14:m>
                <a:r>
                  <a:rPr lang="zh-CN" altLang="en-US" dirty="0"/>
                  <a:t>，需求量小这个自然状态出现的概率为</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m:t>
                    </m:r>
                  </m:oMath>
                </a14:m>
                <a:r>
                  <a:rPr lang="zh-CN" altLang="en-US" dirty="0"/>
                  <a:t>。</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2997212" y="3429000"/>
          <a:ext cx="6197576" cy="2487614"/>
        </p:xfrm>
        <a:graphic>
          <a:graphicData uri="http://schemas.openxmlformats.org/drawingml/2006/table">
            <a:tbl>
              <a:tblPr/>
              <a:tblGrid>
                <a:gridCol w="2068434"/>
                <a:gridCol w="2286030"/>
                <a:gridCol w="1843112"/>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FF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FF0000"/>
                          </a:solidFill>
                          <a:effectLst/>
                          <a:latin typeface="Arial" panose="020B0604020202020204" pitchFamily="34" charset="0"/>
                          <a:ea typeface="仿宋" panose="02010609060101010101" pitchFamily="49" charset="-122"/>
                        </a:rPr>
                        <a:t>1</a:t>
                      </a:r>
                      <a:r>
                        <a:rPr lang="zh-CN" altLang="en-US" sz="2000" b="0" i="0" u="none" strike="noStrike" baseline="0" dirty="0">
                          <a:solidFill>
                            <a:srgbClr val="FF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 0.3</a:t>
                      </a:r>
                      <a:endParaRPr lang="en-US" altLang="zh-CN" sz="2000" b="0" i="0" u="none" strike="noStrike" baseline="0" dirty="0">
                        <a:solidFill>
                          <a:srgbClr val="FF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FF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FF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FF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FF0000"/>
                          </a:solidFill>
                          <a:effectLst/>
                          <a:latin typeface="Arial" panose="020B0604020202020204" pitchFamily="34" charset="0"/>
                          <a:ea typeface="仿宋" panose="02010609060101010101" pitchFamily="49" charset="-122"/>
                        </a:rPr>
                        <a:t>=0.7</a:t>
                      </a:r>
                      <a:endParaRPr lang="en-US" altLang="zh-CN" sz="2000" b="0" i="0" u="none" strike="noStrike" baseline="0" dirty="0">
                        <a:solidFill>
                          <a:srgbClr val="FF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最大可能准则</a:t>
            </a:r>
            <a:endParaRPr lang="zh-CN" altLang="en-US" dirty="0"/>
          </a:p>
        </p:txBody>
      </p:sp>
      <p:sp>
        <p:nvSpPr>
          <p:cNvPr id="3" name="内容占位符 2"/>
          <p:cNvSpPr>
            <a:spLocks noGrp="1"/>
          </p:cNvSpPr>
          <p:nvPr>
            <p:ph idx="1"/>
          </p:nvPr>
        </p:nvSpPr>
        <p:spPr/>
        <p:txBody>
          <a:bodyPr/>
          <a:lstStyle/>
          <a:p>
            <a:pPr marL="0" indent="0">
              <a:buNone/>
            </a:pPr>
            <a:r>
              <a:rPr lang="zh-CN" altLang="en-US" dirty="0"/>
              <a:t>根据最大可能准则，决策者将在一次或极少数几次的决策中，选择概率最大的自然状态，然后按照确定型决策问题进行讨论。</a:t>
            </a:r>
            <a:endParaRPr lang="zh-CN" altLang="en-US" dirty="0"/>
          </a:p>
        </p:txBody>
      </p:sp>
      <p:graphicFrame>
        <p:nvGraphicFramePr>
          <p:cNvPr id="4" name="表格 3"/>
          <p:cNvGraphicFramePr>
            <a:graphicFrameLocks noGrp="1"/>
          </p:cNvGraphicFramePr>
          <p:nvPr/>
        </p:nvGraphicFramePr>
        <p:xfrm>
          <a:off x="2039937" y="3429000"/>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1</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0.3</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=0.7</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概率最大的自然状态</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
        <p:nvSpPr>
          <p:cNvPr id="5" name="矩形 4"/>
          <p:cNvSpPr/>
          <p:nvPr/>
        </p:nvSpPr>
        <p:spPr>
          <a:xfrm>
            <a:off x="4548217" y="4228051"/>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548216" y="4807605"/>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548216" y="5387159"/>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416038" y="4079727"/>
            <a:ext cx="1373827"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6"/>
                                        </p:tgtEl>
                                        <p:attrNameLst>
                                          <p:attrName>style.visibility</p:attrName>
                                        </p:attrNameLst>
                                      </p:cBhvr>
                                      <p:to>
                                        <p:strVal val="hidden"/>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7"/>
                                        </p:tgtEl>
                                        <p:attrNameLst>
                                          <p:attrName>style.visibility</p:attrName>
                                        </p:attrNameLst>
                                      </p:cBhvr>
                                      <p:to>
                                        <p:strVal val="hidden"/>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期望值准则</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根据各自然状态发生的概率，求出不同方案的期望收益值，并取其中最大者为选择的方案</a:t>
                </a:r>
                <a:endParaRPr lang="en-US" altLang="zh-CN" dirty="0"/>
              </a:p>
              <a:p>
                <a:pPr marL="0" indent="0" algn="ctr">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nary>
                        <m:naryPr>
                          <m:chr m:val="∑"/>
                          <m:subHide m:val="on"/>
                          <m:supHide m:val="on"/>
                          <m:ctrlPr>
                            <a:rPr lang="en-US" altLang="zh-CN" b="0" i="1" smtClean="0">
                              <a:latin typeface="Cambria Math" panose="02040503050406030204" pitchFamily="18" charset="0"/>
                            </a:rPr>
                          </m:ctrlPr>
                        </m:naryPr>
                        <m:sub/>
                        <m:sup/>
                        <m:e>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m:oMathPara>
                </a14:m>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aphicFrame>
        <p:nvGraphicFramePr>
          <p:cNvPr id="4" name="表格 3"/>
          <p:cNvGraphicFramePr>
            <a:graphicFrameLocks noGrp="1"/>
          </p:cNvGraphicFramePr>
          <p:nvPr/>
        </p:nvGraphicFramePr>
        <p:xfrm>
          <a:off x="2039937" y="3429000"/>
          <a:ext cx="8112126" cy="2487611"/>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1</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0.3</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=0.7</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E(S</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i</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2">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大批量生产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30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4.8</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2">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中批量生产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-2</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4.6</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2">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小批量生产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a:solidFill>
                            <a:srgbClr val="000000"/>
                          </a:solidFill>
                          <a:effectLst/>
                          <a:latin typeface="Arial" panose="020B0604020202020204" pitchFamily="34" charset="0"/>
                          <a:ea typeface="仿宋" panose="02010609060101010101" pitchFamily="49" charset="-122"/>
                        </a:rPr>
                        <a:t>5</a:t>
                      </a:r>
                      <a:endParaRPr lang="en-US" altLang="zh-CN" sz="2000" b="0" i="0" u="none" strike="noStrike" baseline="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6.5</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max</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
        <p:nvSpPr>
          <p:cNvPr id="5" name="矩形 4"/>
          <p:cNvSpPr/>
          <p:nvPr/>
        </p:nvSpPr>
        <p:spPr>
          <a:xfrm>
            <a:off x="4548217" y="4228051"/>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548216" y="4807605"/>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548216" y="5387159"/>
            <a:ext cx="5679347" cy="4446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416038" y="4079727"/>
            <a:ext cx="1373827" cy="19718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6"/>
                                        </p:tgtEl>
                                        <p:attrNameLst>
                                          <p:attrName>style.visibility</p:attrName>
                                        </p:attrNameLst>
                                      </p:cBhvr>
                                      <p:to>
                                        <p:strVal val="hidden"/>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决策树法</a:t>
            </a:r>
            <a:endParaRPr lang="zh-CN" altLang="en-US" dirty="0"/>
          </a:p>
        </p:txBody>
      </p:sp>
      <p:sp>
        <p:nvSpPr>
          <p:cNvPr id="3" name="内容占位符 2"/>
          <p:cNvSpPr>
            <a:spLocks noGrp="1"/>
          </p:cNvSpPr>
          <p:nvPr>
            <p:ph idx="1"/>
          </p:nvPr>
        </p:nvSpPr>
        <p:spPr/>
        <p:txBody>
          <a:bodyPr/>
          <a:lstStyle/>
          <a:p>
            <a:r>
              <a:rPr lang="zh-CN" altLang="en-US" dirty="0"/>
              <a:t>当我们面对多级决策问题时，普通的表格难以进行表达和分析。因此，我们引入了决策树法，并同样采用期望值准则进行决策。</a:t>
            </a:r>
            <a:endParaRPr lang="en-US" altLang="zh-CN" dirty="0"/>
          </a:p>
          <a:p>
            <a:r>
              <a:rPr lang="zh-CN" altLang="en-US" dirty="0"/>
              <a:t>相较于表格形式，决策树法更加形象直观，思路也更为清晰。</a:t>
            </a:r>
            <a:endParaRPr lang="en-US" altLang="zh-CN" dirty="0"/>
          </a:p>
          <a:p>
            <a:r>
              <a:rPr lang="zh-CN" altLang="en-US" dirty="0"/>
              <a:t>决策树法的具体步骤为：</a:t>
            </a:r>
            <a:endParaRPr lang="en-US" altLang="zh-CN" dirty="0"/>
          </a:p>
          <a:p>
            <a:pPr marL="914400" lvl="1" indent="-457200">
              <a:buFont typeface="+mj-lt"/>
              <a:buAutoNum type="arabicPeriod"/>
            </a:pPr>
            <a:r>
              <a:rPr lang="zh-CN" altLang="en-US" dirty="0"/>
              <a:t>从左向右绘制决策树；</a:t>
            </a:r>
            <a:endParaRPr lang="en-US" altLang="zh-CN" dirty="0"/>
          </a:p>
          <a:p>
            <a:pPr marL="914400" lvl="1" indent="-457200">
              <a:buFont typeface="+mj-lt"/>
              <a:buAutoNum type="arabicPeriod"/>
            </a:pPr>
            <a:r>
              <a:rPr lang="zh-CN" altLang="en-US" dirty="0"/>
              <a:t>从右向左计算各方案的期望值，并将结果标在相应方案节点的上方；</a:t>
            </a:r>
            <a:endParaRPr lang="en-US" altLang="zh-CN" dirty="0"/>
          </a:p>
          <a:p>
            <a:pPr marL="914400" lvl="1" indent="-457200">
              <a:buFont typeface="+mj-lt"/>
              <a:buAutoNum type="arabicPeriod"/>
            </a:pPr>
            <a:r>
              <a:rPr lang="zh-CN" altLang="en-US" dirty="0"/>
              <a:t>选收益期望值最大（或损失期望值最小）的方案为最优方案，并在其他方案分支上打</a:t>
            </a:r>
            <a:r>
              <a:rPr lang="en-US" altLang="zh-CN" dirty="0"/>
              <a:t>//</a:t>
            </a:r>
            <a:r>
              <a:rPr lang="zh-CN" altLang="en-US" dirty="0"/>
              <a:t>记号。</a:t>
            </a:r>
            <a:endParaRPr lang="en-US" altLang="zh-CN" dirty="0"/>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a:t>
            </a:r>
            <a:r>
              <a:rPr lang="en-US" altLang="zh-CN" dirty="0"/>
              <a:t> – </a:t>
            </a:r>
            <a:r>
              <a:rPr lang="zh-CN" altLang="en-US" dirty="0"/>
              <a:t>决策树法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515600" cy="4351338"/>
              </a:xfrm>
            </p:spPr>
            <p:txBody>
              <a:bodyPr/>
              <a:lstStyle/>
              <a:p>
                <a:r>
                  <a:rPr lang="zh-CN" altLang="en-US" dirty="0"/>
                  <a:t>主要符合：</a:t>
                </a:r>
                <a:endParaRPr lang="en-US" altLang="zh-CN" dirty="0"/>
              </a:p>
              <a:p>
                <a:pPr marL="0" indent="0">
                  <a:spcBef>
                    <a:spcPts val="600"/>
                  </a:spcBef>
                  <a:spcAft>
                    <a:spcPts val="600"/>
                  </a:spcAft>
                  <a:buNone/>
                  <a:defRPr/>
                </a:pPr>
                <a:r>
                  <a:rPr lang="en-US" altLang="zh-CN" dirty="0"/>
                  <a:t>	</a:t>
                </a:r>
                <a:r>
                  <a:rPr lang="zh-CN" altLang="en-US" dirty="0"/>
                  <a:t>决策点     </a:t>
                </a:r>
                <a:endParaRPr lang="en-US" altLang="zh-CN" dirty="0"/>
              </a:p>
              <a:p>
                <a:pPr marL="0" indent="0">
                  <a:spcBef>
                    <a:spcPts val="600"/>
                  </a:spcBef>
                  <a:spcAft>
                    <a:spcPts val="600"/>
                  </a:spcAft>
                  <a:buNone/>
                  <a:defRPr/>
                </a:pPr>
                <a:r>
                  <a:rPr lang="en-US" altLang="zh-CN" dirty="0"/>
                  <a:t>	</a:t>
                </a:r>
                <a:r>
                  <a:rPr lang="zh-CN" altLang="en-US" dirty="0"/>
                  <a:t>方案节点</a:t>
                </a:r>
                <a:r>
                  <a:rPr lang="en-US" altLang="zh-CN" dirty="0"/>
                  <a:t>(</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oMath>
                </a14:m>
                <a:r>
                  <a:rPr lang="en-US" altLang="zh-CN" dirty="0"/>
                  <a:t>)</a:t>
                </a:r>
                <a:r>
                  <a:rPr lang="zh-CN" altLang="en-US" dirty="0"/>
                  <a:t> </a:t>
                </a:r>
                <a:endParaRPr lang="en-US" altLang="zh-CN" dirty="0"/>
              </a:p>
              <a:p>
                <a:pPr marL="0" indent="0">
                  <a:spcBef>
                    <a:spcPts val="600"/>
                  </a:spcBef>
                  <a:spcAft>
                    <a:spcPts val="600"/>
                  </a:spcAft>
                  <a:buNone/>
                  <a:defRPr/>
                </a:pPr>
                <a:r>
                  <a:rPr lang="en-US" altLang="zh-CN" dirty="0"/>
                  <a:t>	</a:t>
                </a:r>
                <a:r>
                  <a:rPr lang="zh-CN" altLang="en-US" dirty="0"/>
                  <a:t>结果节点</a:t>
                </a:r>
                <a:r>
                  <a:rPr lang="en-US" altLang="zh-CN" dirty="0"/>
                  <a:t>(</a:t>
                </a:r>
                <a14:m>
                  <m:oMath xmlns:m="http://schemas.openxmlformats.org/officeDocument/2006/math">
                    <m:r>
                      <a:rPr lang="en-US" altLang="zh-CN" b="0" i="1" smtClean="0">
                        <a:latin typeface="Cambria Math" panose="02040503050406030204" pitchFamily="18" charset="0"/>
                      </a:rPr>
                      <m:t>𝛼</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oMath>
                </a14:m>
                <a:r>
                  <a:rPr lang="en-US" altLang="zh-CN" dirty="0"/>
                  <a:t>)</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10515600" cy="4351338"/>
              </a:xfrm>
              <a:blipFill rotWithShape="1">
                <a:blip r:embed="rId1"/>
                <a:stretch>
                  <a:fillRect b="7"/>
                </a:stretch>
              </a:blipFill>
            </p:spPr>
            <p:txBody>
              <a:bodyPr/>
              <a:lstStyle/>
              <a:p>
                <a:r>
                  <a:rPr lang="zh-CN" altLang="en-US">
                    <a:noFill/>
                  </a:rPr>
                  <a:t> </a:t>
                </a:r>
              </a:p>
            </p:txBody>
          </p:sp>
        </mc:Fallback>
      </mc:AlternateContent>
      <p:sp>
        <p:nvSpPr>
          <p:cNvPr id="4" name="Rectangle 4"/>
          <p:cNvSpPr>
            <a:spLocks noChangeArrowheads="1"/>
          </p:cNvSpPr>
          <p:nvPr/>
        </p:nvSpPr>
        <p:spPr bwMode="auto">
          <a:xfrm>
            <a:off x="5540565" y="2245628"/>
            <a:ext cx="347662" cy="34925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ea typeface="微软雅黑" panose="020B0503020204020204" pitchFamily="34" charset="-122"/>
            </a:endParaRPr>
          </a:p>
        </p:txBody>
      </p:sp>
      <p:sp>
        <p:nvSpPr>
          <p:cNvPr id="5" name="Oval 5"/>
          <p:cNvSpPr>
            <a:spLocks noChangeArrowheads="1"/>
          </p:cNvSpPr>
          <p:nvPr/>
        </p:nvSpPr>
        <p:spPr bwMode="auto">
          <a:xfrm>
            <a:off x="5556440" y="2864753"/>
            <a:ext cx="368300" cy="381000"/>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ea typeface="微软雅黑" panose="020B0503020204020204" pitchFamily="34" charset="-122"/>
            </a:endParaRPr>
          </a:p>
        </p:txBody>
      </p:sp>
      <p:sp>
        <p:nvSpPr>
          <p:cNvPr id="6" name="AutoShape 6"/>
          <p:cNvSpPr>
            <a:spLocks noChangeArrowheads="1"/>
          </p:cNvSpPr>
          <p:nvPr/>
        </p:nvSpPr>
        <p:spPr bwMode="auto">
          <a:xfrm>
            <a:off x="5575490" y="3445778"/>
            <a:ext cx="3683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决策树法</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r>
                  <a:rPr lang="zh-CN" altLang="en-US" dirty="0"/>
                  <a:t>例</a:t>
                </a:r>
                <a:r>
                  <a:rPr lang="en-US" altLang="zh-CN" dirty="0"/>
                  <a:t>2</a:t>
                </a:r>
                <a:r>
                  <a:rPr lang="zh-CN" altLang="en-US" dirty="0"/>
                  <a:t>中的表格被转化为下列决策树，根据下图说明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3</m:t>
                        </m:r>
                      </m:sub>
                    </m:sSub>
                  </m:oMath>
                </a14:m>
                <a:r>
                  <a:rPr lang="zh-CN" altLang="en-US" dirty="0"/>
                  <a:t>是最优方案，收益期望值为</a:t>
                </a:r>
                <a:r>
                  <a:rPr lang="en-US" altLang="zh-CN" dirty="0"/>
                  <a:t>6.5</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AutoShape 3"/>
          <p:cNvSpPr>
            <a:spLocks noChangeArrowheads="1"/>
          </p:cNvSpPr>
          <p:nvPr/>
        </p:nvSpPr>
        <p:spPr bwMode="auto">
          <a:xfrm>
            <a:off x="7941768" y="25245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5" name="Oval 4"/>
          <p:cNvSpPr>
            <a:spLocks noChangeArrowheads="1"/>
          </p:cNvSpPr>
          <p:nvPr/>
        </p:nvSpPr>
        <p:spPr bwMode="auto">
          <a:xfrm>
            <a:off x="4131768" y="2676991"/>
            <a:ext cx="609600" cy="609600"/>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6" name="Rectangle 5"/>
          <p:cNvSpPr>
            <a:spLocks noChangeArrowheads="1"/>
          </p:cNvSpPr>
          <p:nvPr/>
        </p:nvSpPr>
        <p:spPr bwMode="auto">
          <a:xfrm>
            <a:off x="1693368" y="3591391"/>
            <a:ext cx="457200" cy="9906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7" name="AutoShape 7"/>
          <p:cNvSpPr>
            <a:spLocks noChangeArrowheads="1"/>
          </p:cNvSpPr>
          <p:nvPr/>
        </p:nvSpPr>
        <p:spPr bwMode="auto">
          <a:xfrm>
            <a:off x="7941768" y="31341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8" name="AutoShape 8"/>
          <p:cNvSpPr>
            <a:spLocks noChangeArrowheads="1"/>
          </p:cNvSpPr>
          <p:nvPr/>
        </p:nvSpPr>
        <p:spPr bwMode="auto">
          <a:xfrm>
            <a:off x="7941768" y="38199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9" name="AutoShape 9"/>
          <p:cNvSpPr>
            <a:spLocks noChangeArrowheads="1"/>
          </p:cNvSpPr>
          <p:nvPr/>
        </p:nvSpPr>
        <p:spPr bwMode="auto">
          <a:xfrm>
            <a:off x="7941768" y="44295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10" name="AutoShape 10"/>
          <p:cNvSpPr>
            <a:spLocks noChangeArrowheads="1"/>
          </p:cNvSpPr>
          <p:nvPr/>
        </p:nvSpPr>
        <p:spPr bwMode="auto">
          <a:xfrm>
            <a:off x="7941768" y="51915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11" name="AutoShape 11"/>
          <p:cNvSpPr>
            <a:spLocks noChangeArrowheads="1"/>
          </p:cNvSpPr>
          <p:nvPr/>
        </p:nvSpPr>
        <p:spPr bwMode="auto">
          <a:xfrm>
            <a:off x="7941768" y="5801191"/>
            <a:ext cx="381000" cy="381000"/>
          </a:xfrm>
          <a:prstGeom prst="triangle">
            <a:avLst>
              <a:gd name="adj" fmla="val 50000"/>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12" name="Oval 12"/>
          <p:cNvSpPr>
            <a:spLocks noChangeArrowheads="1"/>
          </p:cNvSpPr>
          <p:nvPr/>
        </p:nvSpPr>
        <p:spPr bwMode="auto">
          <a:xfrm>
            <a:off x="4131768" y="3896191"/>
            <a:ext cx="609600" cy="609600"/>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13" name="Oval 13"/>
          <p:cNvSpPr>
            <a:spLocks noChangeArrowheads="1"/>
          </p:cNvSpPr>
          <p:nvPr/>
        </p:nvSpPr>
        <p:spPr bwMode="auto">
          <a:xfrm>
            <a:off x="4131768" y="5343991"/>
            <a:ext cx="609600" cy="609600"/>
          </a:xfrm>
          <a:prstGeom prst="ellipse">
            <a:avLst/>
          </a:pr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endParaRPr lang="zh-CN" altLang="en-US" sz="1800">
              <a:latin typeface="楷体" panose="02010609060101010101" pitchFamily="49" charset="-122"/>
              <a:ea typeface="楷体" panose="02010609060101010101" pitchFamily="49" charset="-122"/>
            </a:endParaRPr>
          </a:p>
        </p:txBody>
      </p:sp>
      <p:sp>
        <p:nvSpPr>
          <p:cNvPr id="14" name="Line 14"/>
          <p:cNvSpPr>
            <a:spLocks noChangeShapeType="1"/>
          </p:cNvSpPr>
          <p:nvPr/>
        </p:nvSpPr>
        <p:spPr bwMode="auto">
          <a:xfrm flipV="1">
            <a:off x="2150568" y="2981791"/>
            <a:ext cx="1981200" cy="609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5"/>
          <p:cNvSpPr>
            <a:spLocks noChangeShapeType="1"/>
          </p:cNvSpPr>
          <p:nvPr/>
        </p:nvSpPr>
        <p:spPr bwMode="auto">
          <a:xfrm>
            <a:off x="2150568" y="4124791"/>
            <a:ext cx="1981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6"/>
          <p:cNvSpPr>
            <a:spLocks noChangeShapeType="1"/>
          </p:cNvSpPr>
          <p:nvPr/>
        </p:nvSpPr>
        <p:spPr bwMode="auto">
          <a:xfrm>
            <a:off x="2150568" y="4581991"/>
            <a:ext cx="1981200" cy="990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7"/>
          <p:cNvSpPr>
            <a:spLocks noChangeShapeType="1"/>
          </p:cNvSpPr>
          <p:nvPr/>
        </p:nvSpPr>
        <p:spPr bwMode="auto">
          <a:xfrm>
            <a:off x="5198568" y="27531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8"/>
          <p:cNvSpPr>
            <a:spLocks noChangeShapeType="1"/>
          </p:cNvSpPr>
          <p:nvPr/>
        </p:nvSpPr>
        <p:spPr bwMode="auto">
          <a:xfrm>
            <a:off x="5198568" y="33627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9"/>
          <p:cNvSpPr>
            <a:spLocks noChangeShapeType="1"/>
          </p:cNvSpPr>
          <p:nvPr/>
        </p:nvSpPr>
        <p:spPr bwMode="auto">
          <a:xfrm>
            <a:off x="5198568" y="40485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0"/>
          <p:cNvSpPr>
            <a:spLocks noChangeShapeType="1"/>
          </p:cNvSpPr>
          <p:nvPr/>
        </p:nvSpPr>
        <p:spPr bwMode="auto">
          <a:xfrm>
            <a:off x="5198568" y="46581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21"/>
          <p:cNvSpPr>
            <a:spLocks noChangeShapeType="1"/>
          </p:cNvSpPr>
          <p:nvPr/>
        </p:nvSpPr>
        <p:spPr bwMode="auto">
          <a:xfrm>
            <a:off x="5198568" y="54201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2"/>
          <p:cNvSpPr>
            <a:spLocks noChangeShapeType="1"/>
          </p:cNvSpPr>
          <p:nvPr/>
        </p:nvSpPr>
        <p:spPr bwMode="auto">
          <a:xfrm>
            <a:off x="5198568" y="6029791"/>
            <a:ext cx="281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3"/>
          <p:cNvSpPr>
            <a:spLocks noChangeShapeType="1"/>
          </p:cNvSpPr>
          <p:nvPr/>
        </p:nvSpPr>
        <p:spPr bwMode="auto">
          <a:xfrm flipH="1">
            <a:off x="4741368" y="2753191"/>
            <a:ext cx="457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4"/>
          <p:cNvSpPr>
            <a:spLocks noChangeShapeType="1"/>
          </p:cNvSpPr>
          <p:nvPr/>
        </p:nvSpPr>
        <p:spPr bwMode="auto">
          <a:xfrm flipH="1">
            <a:off x="4741368" y="4048591"/>
            <a:ext cx="457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5"/>
          <p:cNvSpPr>
            <a:spLocks noChangeShapeType="1"/>
          </p:cNvSpPr>
          <p:nvPr/>
        </p:nvSpPr>
        <p:spPr bwMode="auto">
          <a:xfrm flipH="1">
            <a:off x="4741368" y="5420191"/>
            <a:ext cx="457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6"/>
          <p:cNvSpPr>
            <a:spLocks noChangeShapeType="1"/>
          </p:cNvSpPr>
          <p:nvPr/>
        </p:nvSpPr>
        <p:spPr bwMode="auto">
          <a:xfrm flipH="1" flipV="1">
            <a:off x="4741368" y="3134191"/>
            <a:ext cx="4572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7"/>
          <p:cNvSpPr>
            <a:spLocks noChangeShapeType="1"/>
          </p:cNvSpPr>
          <p:nvPr/>
        </p:nvSpPr>
        <p:spPr bwMode="auto">
          <a:xfrm flipH="1" flipV="1">
            <a:off x="4665168" y="4429591"/>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8"/>
          <p:cNvSpPr>
            <a:spLocks noChangeShapeType="1"/>
          </p:cNvSpPr>
          <p:nvPr/>
        </p:nvSpPr>
        <p:spPr bwMode="auto">
          <a:xfrm flipH="1" flipV="1">
            <a:off x="4665168" y="5801191"/>
            <a:ext cx="533400" cy="228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Text Box 29"/>
          <p:cNvSpPr txBox="1">
            <a:spLocks noChangeArrowheads="1"/>
          </p:cNvSpPr>
          <p:nvPr/>
        </p:nvSpPr>
        <p:spPr bwMode="auto">
          <a:xfrm>
            <a:off x="1693368" y="3667591"/>
            <a:ext cx="457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2400" b="1">
                <a:latin typeface="楷体" panose="02010609060101010101" pitchFamily="49" charset="-122"/>
                <a:ea typeface="楷体" panose="02010609060101010101" pitchFamily="49" charset="-122"/>
              </a:rPr>
              <a:t>决策</a:t>
            </a:r>
            <a:endParaRPr kumimoji="1" lang="zh-CN" altLang="en-US" sz="2400" b="1">
              <a:latin typeface="楷体" panose="02010609060101010101" pitchFamily="49" charset="-122"/>
              <a:ea typeface="楷体" panose="02010609060101010101" pitchFamily="49" charset="-122"/>
            </a:endParaRPr>
          </a:p>
        </p:txBody>
      </p:sp>
      <p:sp>
        <p:nvSpPr>
          <p:cNvPr id="30" name="Text Box 30"/>
          <p:cNvSpPr txBox="1">
            <a:spLocks noChangeArrowheads="1"/>
          </p:cNvSpPr>
          <p:nvPr/>
        </p:nvSpPr>
        <p:spPr bwMode="auto">
          <a:xfrm>
            <a:off x="4207968" y="27531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S</a:t>
            </a:r>
            <a:r>
              <a:rPr kumimoji="1" lang="en-US" altLang="zh-CN" sz="2400" b="1" baseline="-25000">
                <a:latin typeface="楷体" panose="02010609060101010101" pitchFamily="49" charset="-122"/>
                <a:ea typeface="楷体" panose="02010609060101010101" pitchFamily="49" charset="-122"/>
              </a:rPr>
              <a:t>1</a:t>
            </a:r>
            <a:endParaRPr kumimoji="1" lang="en-US" altLang="zh-CN" sz="2400" b="1">
              <a:latin typeface="楷体" panose="02010609060101010101" pitchFamily="49" charset="-122"/>
              <a:ea typeface="楷体" panose="02010609060101010101" pitchFamily="49" charset="-122"/>
            </a:endParaRPr>
          </a:p>
        </p:txBody>
      </p:sp>
      <p:sp>
        <p:nvSpPr>
          <p:cNvPr id="31" name="Text Box 31"/>
          <p:cNvSpPr txBox="1">
            <a:spLocks noChangeArrowheads="1"/>
          </p:cNvSpPr>
          <p:nvPr/>
        </p:nvSpPr>
        <p:spPr bwMode="auto">
          <a:xfrm>
            <a:off x="4207968" y="39723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S</a:t>
            </a:r>
            <a:r>
              <a:rPr kumimoji="1" lang="en-US" altLang="zh-CN" sz="2400" b="1" baseline="-25000">
                <a:latin typeface="楷体" panose="02010609060101010101" pitchFamily="49" charset="-122"/>
                <a:ea typeface="楷体" panose="02010609060101010101" pitchFamily="49" charset="-122"/>
              </a:rPr>
              <a:t>2</a:t>
            </a:r>
            <a:endParaRPr kumimoji="1" lang="en-US" altLang="zh-CN" sz="2400" b="1">
              <a:latin typeface="楷体" panose="02010609060101010101" pitchFamily="49" charset="-122"/>
              <a:ea typeface="楷体" panose="02010609060101010101" pitchFamily="49" charset="-122"/>
            </a:endParaRPr>
          </a:p>
        </p:txBody>
      </p:sp>
      <p:sp>
        <p:nvSpPr>
          <p:cNvPr id="32" name="Text Box 32"/>
          <p:cNvSpPr txBox="1">
            <a:spLocks noChangeArrowheads="1"/>
          </p:cNvSpPr>
          <p:nvPr/>
        </p:nvSpPr>
        <p:spPr bwMode="auto">
          <a:xfrm>
            <a:off x="4207968" y="54201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S</a:t>
            </a:r>
            <a:r>
              <a:rPr kumimoji="1" lang="en-US" altLang="zh-CN" sz="2400" b="1" baseline="-25000">
                <a:latin typeface="楷体" panose="02010609060101010101" pitchFamily="49" charset="-122"/>
                <a:ea typeface="楷体" panose="02010609060101010101" pitchFamily="49" charset="-122"/>
              </a:rPr>
              <a:t>3</a:t>
            </a:r>
            <a:endParaRPr kumimoji="1" lang="en-US" altLang="zh-CN" sz="2400" b="1">
              <a:latin typeface="楷体" panose="02010609060101010101" pitchFamily="49" charset="-122"/>
              <a:ea typeface="楷体" panose="02010609060101010101" pitchFamily="49" charset="-122"/>
            </a:endParaRPr>
          </a:p>
        </p:txBody>
      </p:sp>
      <p:sp>
        <p:nvSpPr>
          <p:cNvPr id="33" name="Text Box 33"/>
          <p:cNvSpPr txBox="1">
            <a:spLocks noChangeArrowheads="1"/>
          </p:cNvSpPr>
          <p:nvPr/>
        </p:nvSpPr>
        <p:spPr bwMode="auto">
          <a:xfrm>
            <a:off x="2379168" y="2843679"/>
            <a:ext cx="1371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1800" b="1">
                <a:latin typeface="楷体" panose="02010609060101010101" pitchFamily="49" charset="-122"/>
                <a:ea typeface="楷体" panose="02010609060101010101" pitchFamily="49" charset="-122"/>
              </a:rPr>
              <a:t>大批量生产</a:t>
            </a:r>
            <a:endParaRPr kumimoji="1" lang="zh-CN" altLang="en-US" sz="1800" b="1">
              <a:latin typeface="楷体" panose="02010609060101010101" pitchFamily="49" charset="-122"/>
              <a:ea typeface="楷体" panose="02010609060101010101" pitchFamily="49" charset="-122"/>
            </a:endParaRPr>
          </a:p>
        </p:txBody>
      </p:sp>
      <p:sp>
        <p:nvSpPr>
          <p:cNvPr id="34" name="Text Box 34"/>
          <p:cNvSpPr txBox="1">
            <a:spLocks noChangeArrowheads="1"/>
          </p:cNvSpPr>
          <p:nvPr/>
        </p:nvSpPr>
        <p:spPr bwMode="auto">
          <a:xfrm>
            <a:off x="2531568" y="3743791"/>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1800" b="1">
                <a:latin typeface="楷体" panose="02010609060101010101" pitchFamily="49" charset="-122"/>
                <a:ea typeface="楷体" panose="02010609060101010101" pitchFamily="49" charset="-122"/>
              </a:rPr>
              <a:t>中批量生产</a:t>
            </a:r>
            <a:endParaRPr kumimoji="1" lang="zh-CN" altLang="en-US" sz="1800" b="1">
              <a:latin typeface="楷体" panose="02010609060101010101" pitchFamily="49" charset="-122"/>
              <a:ea typeface="楷体" panose="02010609060101010101" pitchFamily="49" charset="-122"/>
            </a:endParaRPr>
          </a:p>
        </p:txBody>
      </p:sp>
      <p:sp>
        <p:nvSpPr>
          <p:cNvPr id="35" name="Text Box 35"/>
          <p:cNvSpPr txBox="1">
            <a:spLocks noChangeArrowheads="1"/>
          </p:cNvSpPr>
          <p:nvPr/>
        </p:nvSpPr>
        <p:spPr bwMode="auto">
          <a:xfrm>
            <a:off x="2531568" y="5282079"/>
            <a:ext cx="1371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1800" b="1">
                <a:latin typeface="楷体" panose="02010609060101010101" pitchFamily="49" charset="-122"/>
                <a:ea typeface="楷体" panose="02010609060101010101" pitchFamily="49" charset="-122"/>
              </a:rPr>
              <a:t>小批量生产</a:t>
            </a:r>
            <a:endParaRPr kumimoji="1" lang="zh-CN" altLang="en-US" sz="1800" b="1">
              <a:latin typeface="楷体" panose="02010609060101010101" pitchFamily="49" charset="-122"/>
              <a:ea typeface="楷体" panose="02010609060101010101" pitchFamily="49" charset="-122"/>
            </a:endParaRPr>
          </a:p>
        </p:txBody>
      </p:sp>
      <p:sp>
        <p:nvSpPr>
          <p:cNvPr id="36" name="Text Box 37"/>
          <p:cNvSpPr txBox="1">
            <a:spLocks noChangeArrowheads="1"/>
          </p:cNvSpPr>
          <p:nvPr/>
        </p:nvSpPr>
        <p:spPr bwMode="auto">
          <a:xfrm>
            <a:off x="4969968" y="3681879"/>
            <a:ext cx="3276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楷体" panose="02010609060101010101" pitchFamily="49" charset="-122"/>
                <a:ea typeface="楷体" panose="02010609060101010101" pitchFamily="49" charset="-122"/>
              </a:rPr>
              <a:t>N</a:t>
            </a:r>
            <a:r>
              <a:rPr kumimoji="1" lang="en-US" altLang="zh-CN" sz="1800" b="1" baseline="-25000">
                <a:latin typeface="楷体" panose="02010609060101010101" pitchFamily="49" charset="-122"/>
                <a:ea typeface="楷体" panose="02010609060101010101" pitchFamily="49" charset="-122"/>
              </a:rPr>
              <a:t>1</a:t>
            </a:r>
            <a:r>
              <a:rPr kumimoji="1" lang="en-US" altLang="zh-CN" sz="1800" b="1">
                <a:latin typeface="楷体" panose="02010609060101010101" pitchFamily="49" charset="-122"/>
                <a:ea typeface="楷体" panose="02010609060101010101" pitchFamily="49" charset="-122"/>
              </a:rPr>
              <a:t>( </a:t>
            </a:r>
            <a:r>
              <a:rPr kumimoji="1" lang="zh-CN" altLang="en-US" sz="1800" b="1">
                <a:latin typeface="楷体" panose="02010609060101010101" pitchFamily="49" charset="-122"/>
                <a:ea typeface="楷体" panose="02010609060101010101" pitchFamily="49" charset="-122"/>
              </a:rPr>
              <a:t>需求量大 </a:t>
            </a:r>
            <a:r>
              <a:rPr kumimoji="1" lang="en-US" altLang="zh-CN" sz="1800" b="1">
                <a:latin typeface="楷体" panose="02010609060101010101" pitchFamily="49" charset="-122"/>
                <a:ea typeface="楷体" panose="02010609060101010101" pitchFamily="49" charset="-122"/>
              </a:rPr>
              <a:t>)</a:t>
            </a:r>
            <a:r>
              <a:rPr kumimoji="1" lang="zh-CN" altLang="en-US" sz="1800" b="1">
                <a:latin typeface="楷体" panose="02010609060101010101" pitchFamily="49" charset="-122"/>
                <a:ea typeface="楷体" panose="02010609060101010101" pitchFamily="49" charset="-122"/>
              </a:rPr>
              <a:t>；</a:t>
            </a:r>
            <a:r>
              <a:rPr kumimoji="1" lang="en-US" altLang="zh-CN" sz="1800" b="1">
                <a:latin typeface="楷体" panose="02010609060101010101" pitchFamily="49" charset="-122"/>
                <a:ea typeface="楷体" panose="02010609060101010101" pitchFamily="49" charset="-122"/>
              </a:rPr>
              <a:t>P(N</a:t>
            </a:r>
            <a:r>
              <a:rPr kumimoji="1" lang="en-US" altLang="zh-CN" sz="1800" b="1" baseline="-25000">
                <a:latin typeface="楷体" panose="02010609060101010101" pitchFamily="49" charset="-122"/>
                <a:ea typeface="楷体" panose="02010609060101010101" pitchFamily="49" charset="-122"/>
              </a:rPr>
              <a:t>1</a:t>
            </a:r>
            <a:r>
              <a:rPr kumimoji="1" lang="en-US" altLang="zh-CN" sz="1800" b="1">
                <a:latin typeface="楷体" panose="02010609060101010101" pitchFamily="49" charset="-122"/>
                <a:ea typeface="楷体" panose="02010609060101010101" pitchFamily="49" charset="-122"/>
              </a:rPr>
              <a:t>) = 0.3</a:t>
            </a:r>
            <a:endParaRPr kumimoji="1" lang="en-US" altLang="zh-CN" sz="1800" b="1">
              <a:latin typeface="楷体" panose="02010609060101010101" pitchFamily="49" charset="-122"/>
              <a:ea typeface="楷体" panose="02010609060101010101" pitchFamily="49" charset="-122"/>
            </a:endParaRPr>
          </a:p>
        </p:txBody>
      </p:sp>
      <p:sp>
        <p:nvSpPr>
          <p:cNvPr id="37" name="Text Box 38"/>
          <p:cNvSpPr txBox="1">
            <a:spLocks noChangeArrowheads="1"/>
          </p:cNvSpPr>
          <p:nvPr/>
        </p:nvSpPr>
        <p:spPr bwMode="auto">
          <a:xfrm>
            <a:off x="4969968" y="5039191"/>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楷体" panose="02010609060101010101" pitchFamily="49" charset="-122"/>
                <a:ea typeface="楷体" panose="02010609060101010101" pitchFamily="49" charset="-122"/>
              </a:rPr>
              <a:t>N</a:t>
            </a:r>
            <a:r>
              <a:rPr kumimoji="1" lang="en-US" altLang="zh-CN" sz="1800" b="1" baseline="-25000">
                <a:latin typeface="楷体" panose="02010609060101010101" pitchFamily="49" charset="-122"/>
                <a:ea typeface="楷体" panose="02010609060101010101" pitchFamily="49" charset="-122"/>
              </a:rPr>
              <a:t>1</a:t>
            </a:r>
            <a:r>
              <a:rPr kumimoji="1" lang="en-US" altLang="zh-CN" sz="1800" b="1">
                <a:latin typeface="楷体" panose="02010609060101010101" pitchFamily="49" charset="-122"/>
                <a:ea typeface="楷体" panose="02010609060101010101" pitchFamily="49" charset="-122"/>
              </a:rPr>
              <a:t>( </a:t>
            </a:r>
            <a:r>
              <a:rPr kumimoji="1" lang="zh-CN" altLang="en-US" sz="1800" b="1">
                <a:latin typeface="楷体" panose="02010609060101010101" pitchFamily="49" charset="-122"/>
                <a:ea typeface="楷体" panose="02010609060101010101" pitchFamily="49" charset="-122"/>
              </a:rPr>
              <a:t>需求量大 </a:t>
            </a:r>
            <a:r>
              <a:rPr kumimoji="1" lang="en-US" altLang="zh-CN" sz="1800" b="1">
                <a:latin typeface="楷体" panose="02010609060101010101" pitchFamily="49" charset="-122"/>
                <a:ea typeface="楷体" panose="02010609060101010101" pitchFamily="49" charset="-122"/>
              </a:rPr>
              <a:t>)</a:t>
            </a:r>
            <a:r>
              <a:rPr kumimoji="1" lang="zh-CN" altLang="en-US" sz="1800" b="1">
                <a:latin typeface="楷体" panose="02010609060101010101" pitchFamily="49" charset="-122"/>
                <a:ea typeface="楷体" panose="02010609060101010101" pitchFamily="49" charset="-122"/>
              </a:rPr>
              <a:t>；</a:t>
            </a:r>
            <a:r>
              <a:rPr kumimoji="1" lang="en-US" altLang="zh-CN" sz="1800" b="1">
                <a:latin typeface="楷体" panose="02010609060101010101" pitchFamily="49" charset="-122"/>
                <a:ea typeface="楷体" panose="02010609060101010101" pitchFamily="49" charset="-122"/>
              </a:rPr>
              <a:t>P(N</a:t>
            </a:r>
            <a:r>
              <a:rPr kumimoji="1" lang="en-US" altLang="zh-CN" sz="1800" b="1" baseline="-25000">
                <a:latin typeface="楷体" panose="02010609060101010101" pitchFamily="49" charset="-122"/>
                <a:ea typeface="楷体" panose="02010609060101010101" pitchFamily="49" charset="-122"/>
              </a:rPr>
              <a:t>1</a:t>
            </a:r>
            <a:r>
              <a:rPr kumimoji="1" lang="en-US" altLang="zh-CN" sz="1800" b="1">
                <a:latin typeface="楷体" panose="02010609060101010101" pitchFamily="49" charset="-122"/>
                <a:ea typeface="楷体" panose="02010609060101010101" pitchFamily="49" charset="-122"/>
              </a:rPr>
              <a:t>) = 0.3</a:t>
            </a:r>
            <a:endParaRPr kumimoji="1" lang="en-US" altLang="zh-CN" sz="1800" b="1">
              <a:latin typeface="楷体" panose="02010609060101010101" pitchFamily="49" charset="-122"/>
              <a:ea typeface="楷体" panose="02010609060101010101" pitchFamily="49" charset="-122"/>
            </a:endParaRPr>
          </a:p>
        </p:txBody>
      </p:sp>
      <p:sp>
        <p:nvSpPr>
          <p:cNvPr id="38" name="Text Box 39"/>
          <p:cNvSpPr txBox="1">
            <a:spLocks noChangeArrowheads="1"/>
          </p:cNvSpPr>
          <p:nvPr/>
        </p:nvSpPr>
        <p:spPr bwMode="auto">
          <a:xfrm>
            <a:off x="4931868" y="2996079"/>
            <a:ext cx="3390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楷体" panose="02010609060101010101" pitchFamily="49" charset="-122"/>
                <a:ea typeface="楷体" panose="02010609060101010101" pitchFamily="49" charset="-122"/>
              </a:rPr>
              <a:t>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a:t>
            </a:r>
            <a:r>
              <a:rPr kumimoji="1" lang="zh-CN" altLang="en-US" sz="1800" b="1">
                <a:latin typeface="楷体" panose="02010609060101010101" pitchFamily="49" charset="-122"/>
                <a:ea typeface="楷体" panose="02010609060101010101" pitchFamily="49" charset="-122"/>
              </a:rPr>
              <a:t>需求量小 </a:t>
            </a:r>
            <a:r>
              <a:rPr kumimoji="1" lang="en-US" altLang="zh-CN" sz="1800" b="1">
                <a:latin typeface="楷体" panose="02010609060101010101" pitchFamily="49" charset="-122"/>
                <a:ea typeface="楷体" panose="02010609060101010101" pitchFamily="49" charset="-122"/>
              </a:rPr>
              <a:t>)</a:t>
            </a:r>
            <a:r>
              <a:rPr kumimoji="1" lang="zh-CN" altLang="en-US" sz="1800" b="1">
                <a:latin typeface="楷体" panose="02010609060101010101" pitchFamily="49" charset="-122"/>
                <a:ea typeface="楷体" panose="02010609060101010101" pitchFamily="49" charset="-122"/>
              </a:rPr>
              <a:t>；</a:t>
            </a:r>
            <a:r>
              <a:rPr kumimoji="1" lang="en-US" altLang="zh-CN" sz="1800" b="1">
                <a:latin typeface="楷体" panose="02010609060101010101" pitchFamily="49" charset="-122"/>
                <a:ea typeface="楷体" panose="02010609060101010101" pitchFamily="49" charset="-122"/>
              </a:rPr>
              <a:t>P(N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 0.7</a:t>
            </a:r>
            <a:endParaRPr kumimoji="1" lang="en-US" altLang="zh-CN" sz="1800" b="1">
              <a:latin typeface="楷体" panose="02010609060101010101" pitchFamily="49" charset="-122"/>
              <a:ea typeface="楷体" panose="02010609060101010101" pitchFamily="49" charset="-122"/>
            </a:endParaRPr>
          </a:p>
        </p:txBody>
      </p:sp>
      <p:sp>
        <p:nvSpPr>
          <p:cNvPr id="39" name="Text Box 40"/>
          <p:cNvSpPr txBox="1">
            <a:spLocks noChangeArrowheads="1"/>
          </p:cNvSpPr>
          <p:nvPr/>
        </p:nvSpPr>
        <p:spPr bwMode="auto">
          <a:xfrm>
            <a:off x="4969968" y="4277191"/>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楷体" panose="02010609060101010101" pitchFamily="49" charset="-122"/>
                <a:ea typeface="楷体" panose="02010609060101010101" pitchFamily="49" charset="-122"/>
              </a:rPr>
              <a:t>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a:t>
            </a:r>
            <a:r>
              <a:rPr kumimoji="1" lang="zh-CN" altLang="en-US" sz="1800" b="1">
                <a:latin typeface="楷体" panose="02010609060101010101" pitchFamily="49" charset="-122"/>
                <a:ea typeface="楷体" panose="02010609060101010101" pitchFamily="49" charset="-122"/>
              </a:rPr>
              <a:t>需求量小 </a:t>
            </a:r>
            <a:r>
              <a:rPr kumimoji="1" lang="en-US" altLang="zh-CN" sz="1800" b="1">
                <a:latin typeface="楷体" panose="02010609060101010101" pitchFamily="49" charset="-122"/>
                <a:ea typeface="楷体" panose="02010609060101010101" pitchFamily="49" charset="-122"/>
              </a:rPr>
              <a:t>)</a:t>
            </a:r>
            <a:r>
              <a:rPr kumimoji="1" lang="zh-CN" altLang="en-US" sz="1800" b="1">
                <a:latin typeface="楷体" panose="02010609060101010101" pitchFamily="49" charset="-122"/>
                <a:ea typeface="楷体" panose="02010609060101010101" pitchFamily="49" charset="-122"/>
              </a:rPr>
              <a:t>；</a:t>
            </a:r>
            <a:r>
              <a:rPr kumimoji="1" lang="en-US" altLang="zh-CN" sz="1800" b="1">
                <a:latin typeface="楷体" panose="02010609060101010101" pitchFamily="49" charset="-122"/>
                <a:ea typeface="楷体" panose="02010609060101010101" pitchFamily="49" charset="-122"/>
              </a:rPr>
              <a:t>P(N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 0.7</a:t>
            </a:r>
            <a:endParaRPr kumimoji="1" lang="en-US" altLang="zh-CN" sz="1800" b="1">
              <a:latin typeface="楷体" panose="02010609060101010101" pitchFamily="49" charset="-122"/>
              <a:ea typeface="楷体" panose="02010609060101010101" pitchFamily="49" charset="-122"/>
            </a:endParaRPr>
          </a:p>
        </p:txBody>
      </p:sp>
      <p:sp>
        <p:nvSpPr>
          <p:cNvPr id="40" name="Text Box 41"/>
          <p:cNvSpPr txBox="1">
            <a:spLocks noChangeArrowheads="1"/>
          </p:cNvSpPr>
          <p:nvPr/>
        </p:nvSpPr>
        <p:spPr bwMode="auto">
          <a:xfrm>
            <a:off x="4969968" y="5648791"/>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楷体" panose="02010609060101010101" pitchFamily="49" charset="-122"/>
                <a:ea typeface="楷体" panose="02010609060101010101" pitchFamily="49" charset="-122"/>
              </a:rPr>
              <a:t>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a:t>
            </a:r>
            <a:r>
              <a:rPr kumimoji="1" lang="zh-CN" altLang="en-US" sz="1800" b="1">
                <a:latin typeface="楷体" panose="02010609060101010101" pitchFamily="49" charset="-122"/>
                <a:ea typeface="楷体" panose="02010609060101010101" pitchFamily="49" charset="-122"/>
              </a:rPr>
              <a:t>需求量小 </a:t>
            </a:r>
            <a:r>
              <a:rPr kumimoji="1" lang="en-US" altLang="zh-CN" sz="1800" b="1">
                <a:latin typeface="楷体" panose="02010609060101010101" pitchFamily="49" charset="-122"/>
                <a:ea typeface="楷体" panose="02010609060101010101" pitchFamily="49" charset="-122"/>
              </a:rPr>
              <a:t>)</a:t>
            </a:r>
            <a:r>
              <a:rPr kumimoji="1" lang="zh-CN" altLang="en-US" sz="1800" b="1">
                <a:latin typeface="楷体" panose="02010609060101010101" pitchFamily="49" charset="-122"/>
                <a:ea typeface="楷体" panose="02010609060101010101" pitchFamily="49" charset="-122"/>
              </a:rPr>
              <a:t>；</a:t>
            </a:r>
            <a:r>
              <a:rPr kumimoji="1" lang="en-US" altLang="zh-CN" sz="1800" b="1">
                <a:latin typeface="楷体" panose="02010609060101010101" pitchFamily="49" charset="-122"/>
                <a:ea typeface="楷体" panose="02010609060101010101" pitchFamily="49" charset="-122"/>
              </a:rPr>
              <a:t>P(N</a:t>
            </a:r>
            <a:r>
              <a:rPr kumimoji="1" lang="en-US" altLang="zh-CN" sz="1800" b="1" baseline="-25000">
                <a:latin typeface="楷体" panose="02010609060101010101" pitchFamily="49" charset="-122"/>
                <a:ea typeface="楷体" panose="02010609060101010101" pitchFamily="49" charset="-122"/>
              </a:rPr>
              <a:t>2</a:t>
            </a:r>
            <a:r>
              <a:rPr kumimoji="1" lang="en-US" altLang="zh-CN" sz="1800" b="1">
                <a:latin typeface="楷体" panose="02010609060101010101" pitchFamily="49" charset="-122"/>
                <a:ea typeface="楷体" panose="02010609060101010101" pitchFamily="49" charset="-122"/>
              </a:rPr>
              <a:t>) = 0.7</a:t>
            </a:r>
            <a:endParaRPr kumimoji="1" lang="en-US" altLang="zh-CN" sz="1800" b="1">
              <a:latin typeface="楷体" panose="02010609060101010101" pitchFamily="49" charset="-122"/>
              <a:ea typeface="楷体" panose="02010609060101010101" pitchFamily="49" charset="-122"/>
            </a:endParaRPr>
          </a:p>
        </p:txBody>
      </p:sp>
      <p:sp>
        <p:nvSpPr>
          <p:cNvPr id="41" name="Text Box 42"/>
          <p:cNvSpPr txBox="1">
            <a:spLocks noChangeArrowheads="1"/>
          </p:cNvSpPr>
          <p:nvPr/>
        </p:nvSpPr>
        <p:spPr bwMode="auto">
          <a:xfrm>
            <a:off x="8322768" y="24483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30</a:t>
            </a:r>
            <a:endParaRPr kumimoji="1" lang="en-US" altLang="zh-CN" sz="2400" b="1">
              <a:latin typeface="楷体" panose="02010609060101010101" pitchFamily="49" charset="-122"/>
              <a:ea typeface="楷体" panose="02010609060101010101" pitchFamily="49" charset="-122"/>
            </a:endParaRPr>
          </a:p>
        </p:txBody>
      </p:sp>
      <p:sp>
        <p:nvSpPr>
          <p:cNvPr id="42" name="Text Box 43"/>
          <p:cNvSpPr txBox="1">
            <a:spLocks noChangeArrowheads="1"/>
          </p:cNvSpPr>
          <p:nvPr/>
        </p:nvSpPr>
        <p:spPr bwMode="auto">
          <a:xfrm>
            <a:off x="8322768" y="31341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-6</a:t>
            </a:r>
            <a:endParaRPr kumimoji="1" lang="en-US" altLang="zh-CN" sz="2400" b="1">
              <a:latin typeface="楷体" panose="02010609060101010101" pitchFamily="49" charset="-122"/>
              <a:ea typeface="楷体" panose="02010609060101010101" pitchFamily="49" charset="-122"/>
            </a:endParaRPr>
          </a:p>
        </p:txBody>
      </p:sp>
      <p:sp>
        <p:nvSpPr>
          <p:cNvPr id="43" name="Text Box 44"/>
          <p:cNvSpPr txBox="1">
            <a:spLocks noChangeArrowheads="1"/>
          </p:cNvSpPr>
          <p:nvPr/>
        </p:nvSpPr>
        <p:spPr bwMode="auto">
          <a:xfrm>
            <a:off x="8322768" y="38199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20</a:t>
            </a:r>
            <a:endParaRPr kumimoji="1" lang="en-US" altLang="zh-CN" sz="2400" b="1">
              <a:latin typeface="楷体" panose="02010609060101010101" pitchFamily="49" charset="-122"/>
              <a:ea typeface="楷体" panose="02010609060101010101" pitchFamily="49" charset="-122"/>
            </a:endParaRPr>
          </a:p>
        </p:txBody>
      </p:sp>
      <p:sp>
        <p:nvSpPr>
          <p:cNvPr id="44" name="Text Box 45"/>
          <p:cNvSpPr txBox="1">
            <a:spLocks noChangeArrowheads="1"/>
          </p:cNvSpPr>
          <p:nvPr/>
        </p:nvSpPr>
        <p:spPr bwMode="auto">
          <a:xfrm>
            <a:off x="8246568" y="51915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10</a:t>
            </a:r>
            <a:endParaRPr kumimoji="1" lang="en-US" altLang="zh-CN" sz="2400" b="1">
              <a:latin typeface="楷体" panose="02010609060101010101" pitchFamily="49" charset="-122"/>
              <a:ea typeface="楷体" panose="02010609060101010101" pitchFamily="49" charset="-122"/>
            </a:endParaRPr>
          </a:p>
        </p:txBody>
      </p:sp>
      <p:sp>
        <p:nvSpPr>
          <p:cNvPr id="45" name="Text Box 46"/>
          <p:cNvSpPr txBox="1">
            <a:spLocks noChangeArrowheads="1"/>
          </p:cNvSpPr>
          <p:nvPr/>
        </p:nvSpPr>
        <p:spPr bwMode="auto">
          <a:xfrm>
            <a:off x="8322768" y="44295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-2</a:t>
            </a:r>
            <a:endParaRPr kumimoji="1" lang="en-US" altLang="zh-CN" sz="2400" b="1">
              <a:latin typeface="楷体" panose="02010609060101010101" pitchFamily="49" charset="-122"/>
              <a:ea typeface="楷体" panose="02010609060101010101" pitchFamily="49" charset="-122"/>
            </a:endParaRPr>
          </a:p>
        </p:txBody>
      </p:sp>
      <p:sp>
        <p:nvSpPr>
          <p:cNvPr id="46" name="Text Box 47"/>
          <p:cNvSpPr txBox="1">
            <a:spLocks noChangeArrowheads="1"/>
          </p:cNvSpPr>
          <p:nvPr/>
        </p:nvSpPr>
        <p:spPr bwMode="auto">
          <a:xfrm>
            <a:off x="8322768" y="5801191"/>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楷体" panose="02010609060101010101" pitchFamily="49" charset="-122"/>
                <a:ea typeface="楷体" panose="02010609060101010101" pitchFamily="49" charset="-122"/>
              </a:rPr>
              <a:t>5</a:t>
            </a:r>
            <a:endParaRPr kumimoji="1" lang="en-US" altLang="zh-CN" sz="2400" b="1">
              <a:latin typeface="楷体" panose="02010609060101010101" pitchFamily="49" charset="-122"/>
              <a:ea typeface="楷体" panose="02010609060101010101" pitchFamily="49" charset="-122"/>
            </a:endParaRPr>
          </a:p>
        </p:txBody>
      </p:sp>
      <p:sp>
        <p:nvSpPr>
          <p:cNvPr id="47" name="Text Box 49"/>
          <p:cNvSpPr txBox="1">
            <a:spLocks noChangeArrowheads="1"/>
          </p:cNvSpPr>
          <p:nvPr/>
        </p:nvSpPr>
        <p:spPr bwMode="auto">
          <a:xfrm>
            <a:off x="4131768" y="3575516"/>
            <a:ext cx="800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000" b="1">
                <a:latin typeface="楷体" panose="02010609060101010101" pitchFamily="49" charset="-122"/>
                <a:ea typeface="楷体" panose="02010609060101010101" pitchFamily="49" charset="-122"/>
              </a:rPr>
              <a:t>4.6</a:t>
            </a:r>
            <a:endParaRPr kumimoji="1" lang="en-US" altLang="zh-CN" sz="2400" b="1">
              <a:latin typeface="楷体" panose="02010609060101010101" pitchFamily="49" charset="-122"/>
              <a:ea typeface="楷体" panose="02010609060101010101" pitchFamily="49" charset="-122"/>
            </a:endParaRPr>
          </a:p>
        </p:txBody>
      </p:sp>
      <p:sp>
        <p:nvSpPr>
          <p:cNvPr id="48" name="Text Box 50"/>
          <p:cNvSpPr txBox="1">
            <a:spLocks noChangeArrowheads="1"/>
          </p:cNvSpPr>
          <p:nvPr/>
        </p:nvSpPr>
        <p:spPr bwMode="auto">
          <a:xfrm>
            <a:off x="4131768" y="5023316"/>
            <a:ext cx="800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000" b="1">
                <a:latin typeface="楷体" panose="02010609060101010101" pitchFamily="49" charset="-122"/>
                <a:ea typeface="楷体" panose="02010609060101010101" pitchFamily="49" charset="-122"/>
              </a:rPr>
              <a:t>6.5</a:t>
            </a:r>
            <a:endParaRPr kumimoji="1" lang="en-US" altLang="zh-CN" sz="2400" b="1">
              <a:latin typeface="楷体" panose="02010609060101010101" pitchFamily="49" charset="-122"/>
              <a:ea typeface="楷体" panose="02010609060101010101" pitchFamily="49" charset="-122"/>
            </a:endParaRPr>
          </a:p>
        </p:txBody>
      </p:sp>
      <p:sp>
        <p:nvSpPr>
          <p:cNvPr id="49" name="Text Box 51"/>
          <p:cNvSpPr txBox="1">
            <a:spLocks noChangeArrowheads="1"/>
          </p:cNvSpPr>
          <p:nvPr/>
        </p:nvSpPr>
        <p:spPr bwMode="auto">
          <a:xfrm>
            <a:off x="1693368" y="3210391"/>
            <a:ext cx="66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000" b="1">
                <a:latin typeface="楷体" panose="02010609060101010101" pitchFamily="49" charset="-122"/>
                <a:ea typeface="楷体" panose="02010609060101010101" pitchFamily="49" charset="-122"/>
              </a:rPr>
              <a:t>6.5</a:t>
            </a:r>
            <a:endParaRPr kumimoji="1" lang="en-US" altLang="zh-CN" sz="2400" b="1">
              <a:latin typeface="楷体" panose="02010609060101010101" pitchFamily="49" charset="-122"/>
              <a:ea typeface="楷体" panose="02010609060101010101" pitchFamily="49" charset="-122"/>
            </a:endParaRPr>
          </a:p>
        </p:txBody>
      </p:sp>
      <p:sp>
        <p:nvSpPr>
          <p:cNvPr id="50" name="Line 52"/>
          <p:cNvSpPr>
            <a:spLocks noChangeShapeType="1"/>
          </p:cNvSpPr>
          <p:nvPr/>
        </p:nvSpPr>
        <p:spPr bwMode="auto">
          <a:xfrm>
            <a:off x="2741118" y="3307542"/>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53"/>
          <p:cNvSpPr>
            <a:spLocks noChangeShapeType="1"/>
          </p:cNvSpPr>
          <p:nvPr/>
        </p:nvSpPr>
        <p:spPr bwMode="auto">
          <a:xfrm>
            <a:off x="2836368" y="4048591"/>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Text Box 36"/>
          <p:cNvSpPr txBox="1">
            <a:spLocks noChangeArrowheads="1"/>
          </p:cNvSpPr>
          <p:nvPr/>
        </p:nvSpPr>
        <p:spPr bwMode="auto">
          <a:xfrm>
            <a:off x="4931868" y="2380128"/>
            <a:ext cx="331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dirty="0">
                <a:latin typeface="楷体" panose="02010609060101010101" pitchFamily="49" charset="-122"/>
                <a:ea typeface="楷体" panose="02010609060101010101" pitchFamily="49" charset="-122"/>
              </a:rPr>
              <a:t>N</a:t>
            </a:r>
            <a:r>
              <a:rPr kumimoji="1" lang="en-US" altLang="zh-CN" sz="1800" b="1" baseline="-25000" dirty="0">
                <a:latin typeface="楷体" panose="02010609060101010101" pitchFamily="49" charset="-122"/>
                <a:ea typeface="楷体" panose="02010609060101010101" pitchFamily="49" charset="-122"/>
              </a:rPr>
              <a:t>1</a:t>
            </a:r>
            <a:r>
              <a:rPr kumimoji="1" lang="en-US" altLang="zh-CN" sz="1800" b="1" dirty="0">
                <a:latin typeface="楷体" panose="02010609060101010101" pitchFamily="49" charset="-122"/>
                <a:ea typeface="楷体" panose="02010609060101010101" pitchFamily="49" charset="-122"/>
              </a:rPr>
              <a:t>( </a:t>
            </a:r>
            <a:r>
              <a:rPr kumimoji="1" lang="zh-CN" altLang="en-US" sz="1800" b="1" dirty="0">
                <a:latin typeface="楷体" panose="02010609060101010101" pitchFamily="49" charset="-122"/>
                <a:ea typeface="楷体" panose="02010609060101010101" pitchFamily="49" charset="-122"/>
              </a:rPr>
              <a:t>需求量大 </a:t>
            </a:r>
            <a:r>
              <a:rPr kumimoji="1" lang="en-US" altLang="zh-CN" sz="1800" b="1" dirty="0">
                <a:latin typeface="楷体" panose="02010609060101010101" pitchFamily="49" charset="-122"/>
                <a:ea typeface="楷体" panose="02010609060101010101" pitchFamily="49" charset="-122"/>
              </a:rPr>
              <a:t>)</a:t>
            </a:r>
            <a:r>
              <a:rPr kumimoji="1" lang="zh-CN" altLang="en-US" sz="1800" b="1" dirty="0">
                <a:latin typeface="楷体" panose="02010609060101010101" pitchFamily="49" charset="-122"/>
                <a:ea typeface="楷体" panose="02010609060101010101" pitchFamily="49" charset="-122"/>
              </a:rPr>
              <a:t>；</a:t>
            </a:r>
            <a:r>
              <a:rPr kumimoji="1" lang="en-US" altLang="zh-CN" sz="1800" b="1" dirty="0">
                <a:latin typeface="楷体" panose="02010609060101010101" pitchFamily="49" charset="-122"/>
                <a:ea typeface="楷体" panose="02010609060101010101" pitchFamily="49" charset="-122"/>
              </a:rPr>
              <a:t>P(N</a:t>
            </a:r>
            <a:r>
              <a:rPr kumimoji="1" lang="en-US" altLang="zh-CN" sz="1800" b="1" baseline="-25000" dirty="0">
                <a:latin typeface="楷体" panose="02010609060101010101" pitchFamily="49" charset="-122"/>
                <a:ea typeface="楷体" panose="02010609060101010101" pitchFamily="49" charset="-122"/>
              </a:rPr>
              <a:t>1</a:t>
            </a:r>
            <a:r>
              <a:rPr kumimoji="1" lang="en-US" altLang="zh-CN" sz="1800" b="1" dirty="0">
                <a:latin typeface="楷体" panose="02010609060101010101" pitchFamily="49" charset="-122"/>
                <a:ea typeface="楷体" panose="02010609060101010101" pitchFamily="49" charset="-122"/>
              </a:rPr>
              <a:t>) = 0.3</a:t>
            </a:r>
            <a:endParaRPr kumimoji="1" lang="en-US" altLang="zh-CN" sz="1800" b="1" dirty="0">
              <a:latin typeface="楷体" panose="02010609060101010101" pitchFamily="49" charset="-122"/>
              <a:ea typeface="楷体" panose="02010609060101010101" pitchFamily="49" charset="-122"/>
            </a:endParaRPr>
          </a:p>
        </p:txBody>
      </p:sp>
      <p:sp>
        <p:nvSpPr>
          <p:cNvPr id="54" name="Text Box 48"/>
          <p:cNvSpPr txBox="1">
            <a:spLocks noChangeArrowheads="1"/>
          </p:cNvSpPr>
          <p:nvPr/>
        </p:nvSpPr>
        <p:spPr bwMode="auto">
          <a:xfrm>
            <a:off x="4131768" y="2303928"/>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000" b="1" dirty="0">
                <a:latin typeface="楷体" panose="02010609060101010101" pitchFamily="49" charset="-122"/>
                <a:ea typeface="楷体" panose="02010609060101010101" pitchFamily="49" charset="-122"/>
              </a:rPr>
              <a:t>4.8</a:t>
            </a:r>
            <a:endParaRPr kumimoji="1" lang="en-US" altLang="zh-CN" sz="2400" b="1"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ppt_x"/>
                                          </p:val>
                                        </p:tav>
                                        <p:tav tm="100000">
                                          <p:val>
                                            <p:strVal val="#ppt_x"/>
                                          </p:val>
                                        </p:tav>
                                      </p:tavLst>
                                    </p:anim>
                                    <p:anim calcmode="lin" valueType="num">
                                      <p:cBhvr additive="base">
                                        <p:cTn id="80" dur="500" fill="hold"/>
                                        <p:tgtEl>
                                          <p:spTgt spid="22"/>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ppt_x"/>
                                          </p:val>
                                        </p:tav>
                                        <p:tav tm="100000">
                                          <p:val>
                                            <p:strVal val="#ppt_x"/>
                                          </p:val>
                                        </p:tav>
                                      </p:tavLst>
                                    </p:anim>
                                    <p:anim calcmode="lin" valueType="num">
                                      <p:cBhvr additive="base">
                                        <p:cTn id="84" dur="500" fill="hold"/>
                                        <p:tgtEl>
                                          <p:spTgt spid="23"/>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ppt_x"/>
                                          </p:val>
                                        </p:tav>
                                        <p:tav tm="100000">
                                          <p:val>
                                            <p:strVal val="#ppt_x"/>
                                          </p:val>
                                        </p:tav>
                                      </p:tavLst>
                                    </p:anim>
                                    <p:anim calcmode="lin" valueType="num">
                                      <p:cBhvr additive="base">
                                        <p:cTn id="92" dur="500" fill="hold"/>
                                        <p:tgtEl>
                                          <p:spTgt spid="25"/>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00" fill="hold"/>
                                        <p:tgtEl>
                                          <p:spTgt spid="27"/>
                                        </p:tgtEl>
                                        <p:attrNameLst>
                                          <p:attrName>ppt_x</p:attrName>
                                        </p:attrNameLst>
                                      </p:cBhvr>
                                      <p:tavLst>
                                        <p:tav tm="0">
                                          <p:val>
                                            <p:strVal val="#ppt_x"/>
                                          </p:val>
                                        </p:tav>
                                        <p:tav tm="100000">
                                          <p:val>
                                            <p:strVal val="#ppt_x"/>
                                          </p:val>
                                        </p:tav>
                                      </p:tavLst>
                                    </p:anim>
                                    <p:anim calcmode="lin" valueType="num">
                                      <p:cBhvr additive="base">
                                        <p:cTn id="100" dur="500" fill="hold"/>
                                        <p:tgtEl>
                                          <p:spTgt spid="27"/>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8"/>
                                        </p:tgtEl>
                                        <p:attrNameLst>
                                          <p:attrName>style.visibility</p:attrName>
                                        </p:attrNameLst>
                                      </p:cBhvr>
                                      <p:to>
                                        <p:strVal val="visible"/>
                                      </p:to>
                                    </p:set>
                                    <p:anim calcmode="lin" valueType="num">
                                      <p:cBhvr additive="base">
                                        <p:cTn id="103" dur="500" fill="hold"/>
                                        <p:tgtEl>
                                          <p:spTgt spid="28"/>
                                        </p:tgtEl>
                                        <p:attrNameLst>
                                          <p:attrName>ppt_x</p:attrName>
                                        </p:attrNameLst>
                                      </p:cBhvr>
                                      <p:tavLst>
                                        <p:tav tm="0">
                                          <p:val>
                                            <p:strVal val="#ppt_x"/>
                                          </p:val>
                                        </p:tav>
                                        <p:tav tm="100000">
                                          <p:val>
                                            <p:strVal val="#ppt_x"/>
                                          </p:val>
                                        </p:tav>
                                      </p:tavLst>
                                    </p:anim>
                                    <p:anim calcmode="lin" valueType="num">
                                      <p:cBhvr additive="base">
                                        <p:cTn id="104" dur="500" fill="hold"/>
                                        <p:tgtEl>
                                          <p:spTgt spid="28"/>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ppt_x"/>
                                          </p:val>
                                        </p:tav>
                                        <p:tav tm="100000">
                                          <p:val>
                                            <p:strVal val="#ppt_x"/>
                                          </p:val>
                                        </p:tav>
                                      </p:tavLst>
                                    </p:anim>
                                    <p:anim calcmode="lin" valueType="num">
                                      <p:cBhvr additive="base">
                                        <p:cTn id="108" dur="500" fill="hold"/>
                                        <p:tgtEl>
                                          <p:spTgt spid="29"/>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500" fill="hold"/>
                                        <p:tgtEl>
                                          <p:spTgt spid="30"/>
                                        </p:tgtEl>
                                        <p:attrNameLst>
                                          <p:attrName>ppt_x</p:attrName>
                                        </p:attrNameLst>
                                      </p:cBhvr>
                                      <p:tavLst>
                                        <p:tav tm="0">
                                          <p:val>
                                            <p:strVal val="#ppt_x"/>
                                          </p:val>
                                        </p:tav>
                                        <p:tav tm="100000">
                                          <p:val>
                                            <p:strVal val="#ppt_x"/>
                                          </p:val>
                                        </p:tav>
                                      </p:tavLst>
                                    </p:anim>
                                    <p:anim calcmode="lin" valueType="num">
                                      <p:cBhvr additive="base">
                                        <p:cTn id="112" dur="500" fill="hold"/>
                                        <p:tgtEl>
                                          <p:spTgt spid="30"/>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1"/>
                                        </p:tgtEl>
                                        <p:attrNameLst>
                                          <p:attrName>style.visibility</p:attrName>
                                        </p:attrNameLst>
                                      </p:cBhvr>
                                      <p:to>
                                        <p:strVal val="visible"/>
                                      </p:to>
                                    </p:set>
                                    <p:anim calcmode="lin" valueType="num">
                                      <p:cBhvr additive="base">
                                        <p:cTn id="115" dur="500" fill="hold"/>
                                        <p:tgtEl>
                                          <p:spTgt spid="31"/>
                                        </p:tgtEl>
                                        <p:attrNameLst>
                                          <p:attrName>ppt_x</p:attrName>
                                        </p:attrNameLst>
                                      </p:cBhvr>
                                      <p:tavLst>
                                        <p:tav tm="0">
                                          <p:val>
                                            <p:strVal val="#ppt_x"/>
                                          </p:val>
                                        </p:tav>
                                        <p:tav tm="100000">
                                          <p:val>
                                            <p:strVal val="#ppt_x"/>
                                          </p:val>
                                        </p:tav>
                                      </p:tavLst>
                                    </p:anim>
                                    <p:anim calcmode="lin" valueType="num">
                                      <p:cBhvr additive="base">
                                        <p:cTn id="116" dur="500" fill="hold"/>
                                        <p:tgtEl>
                                          <p:spTgt spid="31"/>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2"/>
                                        </p:tgtEl>
                                        <p:attrNameLst>
                                          <p:attrName>style.visibility</p:attrName>
                                        </p:attrNameLst>
                                      </p:cBhvr>
                                      <p:to>
                                        <p:strVal val="visible"/>
                                      </p:to>
                                    </p:set>
                                    <p:anim calcmode="lin" valueType="num">
                                      <p:cBhvr additive="base">
                                        <p:cTn id="119" dur="500" fill="hold"/>
                                        <p:tgtEl>
                                          <p:spTgt spid="32"/>
                                        </p:tgtEl>
                                        <p:attrNameLst>
                                          <p:attrName>ppt_x</p:attrName>
                                        </p:attrNameLst>
                                      </p:cBhvr>
                                      <p:tavLst>
                                        <p:tav tm="0">
                                          <p:val>
                                            <p:strVal val="#ppt_x"/>
                                          </p:val>
                                        </p:tav>
                                        <p:tav tm="100000">
                                          <p:val>
                                            <p:strVal val="#ppt_x"/>
                                          </p:val>
                                        </p:tav>
                                      </p:tavLst>
                                    </p:anim>
                                    <p:anim calcmode="lin" valueType="num">
                                      <p:cBhvr additive="base">
                                        <p:cTn id="120" dur="500" fill="hold"/>
                                        <p:tgtEl>
                                          <p:spTgt spid="32"/>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3"/>
                                        </p:tgtEl>
                                        <p:attrNameLst>
                                          <p:attrName>style.visibility</p:attrName>
                                        </p:attrNameLst>
                                      </p:cBhvr>
                                      <p:to>
                                        <p:strVal val="visible"/>
                                      </p:to>
                                    </p:set>
                                    <p:anim calcmode="lin" valueType="num">
                                      <p:cBhvr additive="base">
                                        <p:cTn id="123" dur="500" fill="hold"/>
                                        <p:tgtEl>
                                          <p:spTgt spid="33"/>
                                        </p:tgtEl>
                                        <p:attrNameLst>
                                          <p:attrName>ppt_x</p:attrName>
                                        </p:attrNameLst>
                                      </p:cBhvr>
                                      <p:tavLst>
                                        <p:tav tm="0">
                                          <p:val>
                                            <p:strVal val="#ppt_x"/>
                                          </p:val>
                                        </p:tav>
                                        <p:tav tm="100000">
                                          <p:val>
                                            <p:strVal val="#ppt_x"/>
                                          </p:val>
                                        </p:tav>
                                      </p:tavLst>
                                    </p:anim>
                                    <p:anim calcmode="lin" valueType="num">
                                      <p:cBhvr additive="base">
                                        <p:cTn id="124" dur="500" fill="hold"/>
                                        <p:tgtEl>
                                          <p:spTgt spid="33"/>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4"/>
                                        </p:tgtEl>
                                        <p:attrNameLst>
                                          <p:attrName>style.visibility</p:attrName>
                                        </p:attrNameLst>
                                      </p:cBhvr>
                                      <p:to>
                                        <p:strVal val="visible"/>
                                      </p:to>
                                    </p:set>
                                    <p:anim calcmode="lin" valueType="num">
                                      <p:cBhvr additive="base">
                                        <p:cTn id="127" dur="500" fill="hold"/>
                                        <p:tgtEl>
                                          <p:spTgt spid="34"/>
                                        </p:tgtEl>
                                        <p:attrNameLst>
                                          <p:attrName>ppt_x</p:attrName>
                                        </p:attrNameLst>
                                      </p:cBhvr>
                                      <p:tavLst>
                                        <p:tav tm="0">
                                          <p:val>
                                            <p:strVal val="#ppt_x"/>
                                          </p:val>
                                        </p:tav>
                                        <p:tav tm="100000">
                                          <p:val>
                                            <p:strVal val="#ppt_x"/>
                                          </p:val>
                                        </p:tav>
                                      </p:tavLst>
                                    </p:anim>
                                    <p:anim calcmode="lin" valueType="num">
                                      <p:cBhvr additive="base">
                                        <p:cTn id="128" dur="500" fill="hold"/>
                                        <p:tgtEl>
                                          <p:spTgt spid="34"/>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35"/>
                                        </p:tgtEl>
                                        <p:attrNameLst>
                                          <p:attrName>style.visibility</p:attrName>
                                        </p:attrNameLst>
                                      </p:cBhvr>
                                      <p:to>
                                        <p:strVal val="visible"/>
                                      </p:to>
                                    </p:set>
                                    <p:anim calcmode="lin" valueType="num">
                                      <p:cBhvr additive="base">
                                        <p:cTn id="131" dur="500" fill="hold"/>
                                        <p:tgtEl>
                                          <p:spTgt spid="35"/>
                                        </p:tgtEl>
                                        <p:attrNameLst>
                                          <p:attrName>ppt_x</p:attrName>
                                        </p:attrNameLst>
                                      </p:cBhvr>
                                      <p:tavLst>
                                        <p:tav tm="0">
                                          <p:val>
                                            <p:strVal val="#ppt_x"/>
                                          </p:val>
                                        </p:tav>
                                        <p:tav tm="100000">
                                          <p:val>
                                            <p:strVal val="#ppt_x"/>
                                          </p:val>
                                        </p:tav>
                                      </p:tavLst>
                                    </p:anim>
                                    <p:anim calcmode="lin" valueType="num">
                                      <p:cBhvr additive="base">
                                        <p:cTn id="132" dur="500" fill="hold"/>
                                        <p:tgtEl>
                                          <p:spTgt spid="35"/>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36"/>
                                        </p:tgtEl>
                                        <p:attrNameLst>
                                          <p:attrName>style.visibility</p:attrName>
                                        </p:attrNameLst>
                                      </p:cBhvr>
                                      <p:to>
                                        <p:strVal val="visible"/>
                                      </p:to>
                                    </p:set>
                                    <p:anim calcmode="lin" valueType="num">
                                      <p:cBhvr additive="base">
                                        <p:cTn id="135" dur="500" fill="hold"/>
                                        <p:tgtEl>
                                          <p:spTgt spid="36"/>
                                        </p:tgtEl>
                                        <p:attrNameLst>
                                          <p:attrName>ppt_x</p:attrName>
                                        </p:attrNameLst>
                                      </p:cBhvr>
                                      <p:tavLst>
                                        <p:tav tm="0">
                                          <p:val>
                                            <p:strVal val="#ppt_x"/>
                                          </p:val>
                                        </p:tav>
                                        <p:tav tm="100000">
                                          <p:val>
                                            <p:strVal val="#ppt_x"/>
                                          </p:val>
                                        </p:tav>
                                      </p:tavLst>
                                    </p:anim>
                                    <p:anim calcmode="lin" valueType="num">
                                      <p:cBhvr additive="base">
                                        <p:cTn id="136" dur="500" fill="hold"/>
                                        <p:tgtEl>
                                          <p:spTgt spid="36"/>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37"/>
                                        </p:tgtEl>
                                        <p:attrNameLst>
                                          <p:attrName>style.visibility</p:attrName>
                                        </p:attrNameLst>
                                      </p:cBhvr>
                                      <p:to>
                                        <p:strVal val="visible"/>
                                      </p:to>
                                    </p:set>
                                    <p:anim calcmode="lin" valueType="num">
                                      <p:cBhvr additive="base">
                                        <p:cTn id="139" dur="500" fill="hold"/>
                                        <p:tgtEl>
                                          <p:spTgt spid="37"/>
                                        </p:tgtEl>
                                        <p:attrNameLst>
                                          <p:attrName>ppt_x</p:attrName>
                                        </p:attrNameLst>
                                      </p:cBhvr>
                                      <p:tavLst>
                                        <p:tav tm="0">
                                          <p:val>
                                            <p:strVal val="#ppt_x"/>
                                          </p:val>
                                        </p:tav>
                                        <p:tav tm="100000">
                                          <p:val>
                                            <p:strVal val="#ppt_x"/>
                                          </p:val>
                                        </p:tav>
                                      </p:tavLst>
                                    </p:anim>
                                    <p:anim calcmode="lin" valueType="num">
                                      <p:cBhvr additive="base">
                                        <p:cTn id="140" dur="500" fill="hold"/>
                                        <p:tgtEl>
                                          <p:spTgt spid="37"/>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38"/>
                                        </p:tgtEl>
                                        <p:attrNameLst>
                                          <p:attrName>style.visibility</p:attrName>
                                        </p:attrNameLst>
                                      </p:cBhvr>
                                      <p:to>
                                        <p:strVal val="visible"/>
                                      </p:to>
                                    </p:set>
                                    <p:anim calcmode="lin" valueType="num">
                                      <p:cBhvr additive="base">
                                        <p:cTn id="143" dur="500" fill="hold"/>
                                        <p:tgtEl>
                                          <p:spTgt spid="38"/>
                                        </p:tgtEl>
                                        <p:attrNameLst>
                                          <p:attrName>ppt_x</p:attrName>
                                        </p:attrNameLst>
                                      </p:cBhvr>
                                      <p:tavLst>
                                        <p:tav tm="0">
                                          <p:val>
                                            <p:strVal val="#ppt_x"/>
                                          </p:val>
                                        </p:tav>
                                        <p:tav tm="100000">
                                          <p:val>
                                            <p:strVal val="#ppt_x"/>
                                          </p:val>
                                        </p:tav>
                                      </p:tavLst>
                                    </p:anim>
                                    <p:anim calcmode="lin" valueType="num">
                                      <p:cBhvr additive="base">
                                        <p:cTn id="144" dur="500" fill="hold"/>
                                        <p:tgtEl>
                                          <p:spTgt spid="38"/>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39"/>
                                        </p:tgtEl>
                                        <p:attrNameLst>
                                          <p:attrName>style.visibility</p:attrName>
                                        </p:attrNameLst>
                                      </p:cBhvr>
                                      <p:to>
                                        <p:strVal val="visible"/>
                                      </p:to>
                                    </p:set>
                                    <p:anim calcmode="lin" valueType="num">
                                      <p:cBhvr additive="base">
                                        <p:cTn id="147" dur="500" fill="hold"/>
                                        <p:tgtEl>
                                          <p:spTgt spid="39"/>
                                        </p:tgtEl>
                                        <p:attrNameLst>
                                          <p:attrName>ppt_x</p:attrName>
                                        </p:attrNameLst>
                                      </p:cBhvr>
                                      <p:tavLst>
                                        <p:tav tm="0">
                                          <p:val>
                                            <p:strVal val="#ppt_x"/>
                                          </p:val>
                                        </p:tav>
                                        <p:tav tm="100000">
                                          <p:val>
                                            <p:strVal val="#ppt_x"/>
                                          </p:val>
                                        </p:tav>
                                      </p:tavLst>
                                    </p:anim>
                                    <p:anim calcmode="lin" valueType="num">
                                      <p:cBhvr additive="base">
                                        <p:cTn id="148" dur="500" fill="hold"/>
                                        <p:tgtEl>
                                          <p:spTgt spid="39"/>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40"/>
                                        </p:tgtEl>
                                        <p:attrNameLst>
                                          <p:attrName>style.visibility</p:attrName>
                                        </p:attrNameLst>
                                      </p:cBhvr>
                                      <p:to>
                                        <p:strVal val="visible"/>
                                      </p:to>
                                    </p:set>
                                    <p:anim calcmode="lin" valueType="num">
                                      <p:cBhvr additive="base">
                                        <p:cTn id="151" dur="500" fill="hold"/>
                                        <p:tgtEl>
                                          <p:spTgt spid="40"/>
                                        </p:tgtEl>
                                        <p:attrNameLst>
                                          <p:attrName>ppt_x</p:attrName>
                                        </p:attrNameLst>
                                      </p:cBhvr>
                                      <p:tavLst>
                                        <p:tav tm="0">
                                          <p:val>
                                            <p:strVal val="#ppt_x"/>
                                          </p:val>
                                        </p:tav>
                                        <p:tav tm="100000">
                                          <p:val>
                                            <p:strVal val="#ppt_x"/>
                                          </p:val>
                                        </p:tav>
                                      </p:tavLst>
                                    </p:anim>
                                    <p:anim calcmode="lin" valueType="num">
                                      <p:cBhvr additive="base">
                                        <p:cTn id="152" dur="500" fill="hold"/>
                                        <p:tgtEl>
                                          <p:spTgt spid="40"/>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41"/>
                                        </p:tgtEl>
                                        <p:attrNameLst>
                                          <p:attrName>style.visibility</p:attrName>
                                        </p:attrNameLst>
                                      </p:cBhvr>
                                      <p:to>
                                        <p:strVal val="visible"/>
                                      </p:to>
                                    </p:set>
                                    <p:anim calcmode="lin" valueType="num">
                                      <p:cBhvr additive="base">
                                        <p:cTn id="155" dur="500" fill="hold"/>
                                        <p:tgtEl>
                                          <p:spTgt spid="41"/>
                                        </p:tgtEl>
                                        <p:attrNameLst>
                                          <p:attrName>ppt_x</p:attrName>
                                        </p:attrNameLst>
                                      </p:cBhvr>
                                      <p:tavLst>
                                        <p:tav tm="0">
                                          <p:val>
                                            <p:strVal val="#ppt_x"/>
                                          </p:val>
                                        </p:tav>
                                        <p:tav tm="100000">
                                          <p:val>
                                            <p:strVal val="#ppt_x"/>
                                          </p:val>
                                        </p:tav>
                                      </p:tavLst>
                                    </p:anim>
                                    <p:anim calcmode="lin" valueType="num">
                                      <p:cBhvr additive="base">
                                        <p:cTn id="156" dur="500" fill="hold"/>
                                        <p:tgtEl>
                                          <p:spTgt spid="41"/>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42"/>
                                        </p:tgtEl>
                                        <p:attrNameLst>
                                          <p:attrName>style.visibility</p:attrName>
                                        </p:attrNameLst>
                                      </p:cBhvr>
                                      <p:to>
                                        <p:strVal val="visible"/>
                                      </p:to>
                                    </p:set>
                                    <p:anim calcmode="lin" valueType="num">
                                      <p:cBhvr additive="base">
                                        <p:cTn id="159" dur="500" fill="hold"/>
                                        <p:tgtEl>
                                          <p:spTgt spid="42"/>
                                        </p:tgtEl>
                                        <p:attrNameLst>
                                          <p:attrName>ppt_x</p:attrName>
                                        </p:attrNameLst>
                                      </p:cBhvr>
                                      <p:tavLst>
                                        <p:tav tm="0">
                                          <p:val>
                                            <p:strVal val="#ppt_x"/>
                                          </p:val>
                                        </p:tav>
                                        <p:tav tm="100000">
                                          <p:val>
                                            <p:strVal val="#ppt_x"/>
                                          </p:val>
                                        </p:tav>
                                      </p:tavLst>
                                    </p:anim>
                                    <p:anim calcmode="lin" valueType="num">
                                      <p:cBhvr additive="base">
                                        <p:cTn id="160" dur="500" fill="hold"/>
                                        <p:tgtEl>
                                          <p:spTgt spid="42"/>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43"/>
                                        </p:tgtEl>
                                        <p:attrNameLst>
                                          <p:attrName>style.visibility</p:attrName>
                                        </p:attrNameLst>
                                      </p:cBhvr>
                                      <p:to>
                                        <p:strVal val="visible"/>
                                      </p:to>
                                    </p:set>
                                    <p:anim calcmode="lin" valueType="num">
                                      <p:cBhvr additive="base">
                                        <p:cTn id="163" dur="500" fill="hold"/>
                                        <p:tgtEl>
                                          <p:spTgt spid="43"/>
                                        </p:tgtEl>
                                        <p:attrNameLst>
                                          <p:attrName>ppt_x</p:attrName>
                                        </p:attrNameLst>
                                      </p:cBhvr>
                                      <p:tavLst>
                                        <p:tav tm="0">
                                          <p:val>
                                            <p:strVal val="#ppt_x"/>
                                          </p:val>
                                        </p:tav>
                                        <p:tav tm="100000">
                                          <p:val>
                                            <p:strVal val="#ppt_x"/>
                                          </p:val>
                                        </p:tav>
                                      </p:tavLst>
                                    </p:anim>
                                    <p:anim calcmode="lin" valueType="num">
                                      <p:cBhvr additive="base">
                                        <p:cTn id="164" dur="500" fill="hold"/>
                                        <p:tgtEl>
                                          <p:spTgt spid="43"/>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44"/>
                                        </p:tgtEl>
                                        <p:attrNameLst>
                                          <p:attrName>style.visibility</p:attrName>
                                        </p:attrNameLst>
                                      </p:cBhvr>
                                      <p:to>
                                        <p:strVal val="visible"/>
                                      </p:to>
                                    </p:set>
                                    <p:anim calcmode="lin" valueType="num">
                                      <p:cBhvr additive="base">
                                        <p:cTn id="167" dur="500" fill="hold"/>
                                        <p:tgtEl>
                                          <p:spTgt spid="44"/>
                                        </p:tgtEl>
                                        <p:attrNameLst>
                                          <p:attrName>ppt_x</p:attrName>
                                        </p:attrNameLst>
                                      </p:cBhvr>
                                      <p:tavLst>
                                        <p:tav tm="0">
                                          <p:val>
                                            <p:strVal val="#ppt_x"/>
                                          </p:val>
                                        </p:tav>
                                        <p:tav tm="100000">
                                          <p:val>
                                            <p:strVal val="#ppt_x"/>
                                          </p:val>
                                        </p:tav>
                                      </p:tavLst>
                                    </p:anim>
                                    <p:anim calcmode="lin" valueType="num">
                                      <p:cBhvr additive="base">
                                        <p:cTn id="168" dur="500" fill="hold"/>
                                        <p:tgtEl>
                                          <p:spTgt spid="44"/>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45"/>
                                        </p:tgtEl>
                                        <p:attrNameLst>
                                          <p:attrName>style.visibility</p:attrName>
                                        </p:attrNameLst>
                                      </p:cBhvr>
                                      <p:to>
                                        <p:strVal val="visible"/>
                                      </p:to>
                                    </p:set>
                                    <p:anim calcmode="lin" valueType="num">
                                      <p:cBhvr additive="base">
                                        <p:cTn id="171" dur="500" fill="hold"/>
                                        <p:tgtEl>
                                          <p:spTgt spid="45"/>
                                        </p:tgtEl>
                                        <p:attrNameLst>
                                          <p:attrName>ppt_x</p:attrName>
                                        </p:attrNameLst>
                                      </p:cBhvr>
                                      <p:tavLst>
                                        <p:tav tm="0">
                                          <p:val>
                                            <p:strVal val="#ppt_x"/>
                                          </p:val>
                                        </p:tav>
                                        <p:tav tm="100000">
                                          <p:val>
                                            <p:strVal val="#ppt_x"/>
                                          </p:val>
                                        </p:tav>
                                      </p:tavLst>
                                    </p:anim>
                                    <p:anim calcmode="lin" valueType="num">
                                      <p:cBhvr additive="base">
                                        <p:cTn id="172" dur="500" fill="hold"/>
                                        <p:tgtEl>
                                          <p:spTgt spid="45"/>
                                        </p:tgtEl>
                                        <p:attrNameLst>
                                          <p:attrName>ppt_y</p:attrName>
                                        </p:attrNameLst>
                                      </p:cBhvr>
                                      <p:tavLst>
                                        <p:tav tm="0">
                                          <p:val>
                                            <p:strVal val="1+#ppt_h/2"/>
                                          </p:val>
                                        </p:tav>
                                        <p:tav tm="100000">
                                          <p:val>
                                            <p:strVal val="#ppt_y"/>
                                          </p:val>
                                        </p:tav>
                                      </p:tavLst>
                                    </p:anim>
                                  </p:childTnLst>
                                </p:cTn>
                              </p:par>
                              <p:par>
                                <p:cTn id="173" presetID="2" presetClass="entr" presetSubtype="4" fill="hold" grpId="0" nodeType="withEffect">
                                  <p:stCondLst>
                                    <p:cond delay="0"/>
                                  </p:stCondLst>
                                  <p:childTnLst>
                                    <p:set>
                                      <p:cBhvr>
                                        <p:cTn id="174" dur="1" fill="hold">
                                          <p:stCondLst>
                                            <p:cond delay="0"/>
                                          </p:stCondLst>
                                        </p:cTn>
                                        <p:tgtEl>
                                          <p:spTgt spid="46"/>
                                        </p:tgtEl>
                                        <p:attrNameLst>
                                          <p:attrName>style.visibility</p:attrName>
                                        </p:attrNameLst>
                                      </p:cBhvr>
                                      <p:to>
                                        <p:strVal val="visible"/>
                                      </p:to>
                                    </p:set>
                                    <p:anim calcmode="lin" valueType="num">
                                      <p:cBhvr additive="base">
                                        <p:cTn id="175" dur="500" fill="hold"/>
                                        <p:tgtEl>
                                          <p:spTgt spid="46"/>
                                        </p:tgtEl>
                                        <p:attrNameLst>
                                          <p:attrName>ppt_x</p:attrName>
                                        </p:attrNameLst>
                                      </p:cBhvr>
                                      <p:tavLst>
                                        <p:tav tm="0">
                                          <p:val>
                                            <p:strVal val="#ppt_x"/>
                                          </p:val>
                                        </p:tav>
                                        <p:tav tm="100000">
                                          <p:val>
                                            <p:strVal val="#ppt_x"/>
                                          </p:val>
                                        </p:tav>
                                      </p:tavLst>
                                    </p:anim>
                                    <p:anim calcmode="lin" valueType="num">
                                      <p:cBhvr additive="base">
                                        <p:cTn id="176" dur="500" fill="hold"/>
                                        <p:tgtEl>
                                          <p:spTgt spid="46"/>
                                        </p:tgtEl>
                                        <p:attrNameLst>
                                          <p:attrName>ppt_y</p:attrName>
                                        </p:attrNameLst>
                                      </p:cBhvr>
                                      <p:tavLst>
                                        <p:tav tm="0">
                                          <p:val>
                                            <p:strVal val="1+#ppt_h/2"/>
                                          </p:val>
                                        </p:tav>
                                        <p:tav tm="100000">
                                          <p:val>
                                            <p:strVal val="#ppt_y"/>
                                          </p:val>
                                        </p:tav>
                                      </p:tavLst>
                                    </p:anim>
                                  </p:childTnLst>
                                </p:cTn>
                              </p:par>
                              <p:par>
                                <p:cTn id="177" presetID="2" presetClass="entr" presetSubtype="4" fill="hold" grpId="0" nodeType="withEffect">
                                  <p:stCondLst>
                                    <p:cond delay="0"/>
                                  </p:stCondLst>
                                  <p:childTnLst>
                                    <p:set>
                                      <p:cBhvr>
                                        <p:cTn id="178" dur="1" fill="hold">
                                          <p:stCondLst>
                                            <p:cond delay="0"/>
                                          </p:stCondLst>
                                        </p:cTn>
                                        <p:tgtEl>
                                          <p:spTgt spid="53"/>
                                        </p:tgtEl>
                                        <p:attrNameLst>
                                          <p:attrName>style.visibility</p:attrName>
                                        </p:attrNameLst>
                                      </p:cBhvr>
                                      <p:to>
                                        <p:strVal val="visible"/>
                                      </p:to>
                                    </p:set>
                                    <p:anim calcmode="lin" valueType="num">
                                      <p:cBhvr additive="base">
                                        <p:cTn id="179" dur="500" fill="hold"/>
                                        <p:tgtEl>
                                          <p:spTgt spid="53"/>
                                        </p:tgtEl>
                                        <p:attrNameLst>
                                          <p:attrName>ppt_x</p:attrName>
                                        </p:attrNameLst>
                                      </p:cBhvr>
                                      <p:tavLst>
                                        <p:tav tm="0">
                                          <p:val>
                                            <p:strVal val="#ppt_x"/>
                                          </p:val>
                                        </p:tav>
                                        <p:tav tm="100000">
                                          <p:val>
                                            <p:strVal val="#ppt_x"/>
                                          </p:val>
                                        </p:tav>
                                      </p:tavLst>
                                    </p:anim>
                                    <p:anim calcmode="lin" valueType="num">
                                      <p:cBhvr additive="base">
                                        <p:cTn id="18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2" presetClass="entr" presetSubtype="4" fill="hold" grpId="0" nodeType="clickEffect">
                                  <p:stCondLst>
                                    <p:cond delay="0"/>
                                  </p:stCondLst>
                                  <p:childTnLst>
                                    <p:set>
                                      <p:cBhvr>
                                        <p:cTn id="184" dur="1" fill="hold">
                                          <p:stCondLst>
                                            <p:cond delay="0"/>
                                          </p:stCondLst>
                                        </p:cTn>
                                        <p:tgtEl>
                                          <p:spTgt spid="54"/>
                                        </p:tgtEl>
                                        <p:attrNameLst>
                                          <p:attrName>style.visibility</p:attrName>
                                        </p:attrNameLst>
                                      </p:cBhvr>
                                      <p:to>
                                        <p:strVal val="visible"/>
                                      </p:to>
                                    </p:set>
                                    <p:anim calcmode="lin" valueType="num">
                                      <p:cBhvr additive="base">
                                        <p:cTn id="185" dur="500" fill="hold"/>
                                        <p:tgtEl>
                                          <p:spTgt spid="54"/>
                                        </p:tgtEl>
                                        <p:attrNameLst>
                                          <p:attrName>ppt_x</p:attrName>
                                        </p:attrNameLst>
                                      </p:cBhvr>
                                      <p:tavLst>
                                        <p:tav tm="0">
                                          <p:val>
                                            <p:strVal val="#ppt_x"/>
                                          </p:val>
                                        </p:tav>
                                        <p:tav tm="100000">
                                          <p:val>
                                            <p:strVal val="#ppt_x"/>
                                          </p:val>
                                        </p:tav>
                                      </p:tavLst>
                                    </p:anim>
                                    <p:anim calcmode="lin" valueType="num">
                                      <p:cBhvr additive="base">
                                        <p:cTn id="186"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2" presetClass="entr" presetSubtype="4" fill="hold" grpId="0" nodeType="clickEffect">
                                  <p:stCondLst>
                                    <p:cond delay="0"/>
                                  </p:stCondLst>
                                  <p:childTnLst>
                                    <p:set>
                                      <p:cBhvr>
                                        <p:cTn id="190" dur="1" fill="hold">
                                          <p:stCondLst>
                                            <p:cond delay="0"/>
                                          </p:stCondLst>
                                        </p:cTn>
                                        <p:tgtEl>
                                          <p:spTgt spid="47"/>
                                        </p:tgtEl>
                                        <p:attrNameLst>
                                          <p:attrName>style.visibility</p:attrName>
                                        </p:attrNameLst>
                                      </p:cBhvr>
                                      <p:to>
                                        <p:strVal val="visible"/>
                                      </p:to>
                                    </p:set>
                                    <p:anim calcmode="lin" valueType="num">
                                      <p:cBhvr additive="base">
                                        <p:cTn id="191" dur="500" fill="hold"/>
                                        <p:tgtEl>
                                          <p:spTgt spid="47"/>
                                        </p:tgtEl>
                                        <p:attrNameLst>
                                          <p:attrName>ppt_x</p:attrName>
                                        </p:attrNameLst>
                                      </p:cBhvr>
                                      <p:tavLst>
                                        <p:tav tm="0">
                                          <p:val>
                                            <p:strVal val="#ppt_x"/>
                                          </p:val>
                                        </p:tav>
                                        <p:tav tm="100000">
                                          <p:val>
                                            <p:strVal val="#ppt_x"/>
                                          </p:val>
                                        </p:tav>
                                      </p:tavLst>
                                    </p:anim>
                                    <p:anim calcmode="lin" valueType="num">
                                      <p:cBhvr additive="base">
                                        <p:cTn id="19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4" fill="hold" grpId="0" nodeType="clickEffect">
                                  <p:stCondLst>
                                    <p:cond delay="0"/>
                                  </p:stCondLst>
                                  <p:childTnLst>
                                    <p:set>
                                      <p:cBhvr>
                                        <p:cTn id="196" dur="1" fill="hold">
                                          <p:stCondLst>
                                            <p:cond delay="0"/>
                                          </p:stCondLst>
                                        </p:cTn>
                                        <p:tgtEl>
                                          <p:spTgt spid="48"/>
                                        </p:tgtEl>
                                        <p:attrNameLst>
                                          <p:attrName>style.visibility</p:attrName>
                                        </p:attrNameLst>
                                      </p:cBhvr>
                                      <p:to>
                                        <p:strVal val="visible"/>
                                      </p:to>
                                    </p:set>
                                    <p:anim calcmode="lin" valueType="num">
                                      <p:cBhvr additive="base">
                                        <p:cTn id="197" dur="500" fill="hold"/>
                                        <p:tgtEl>
                                          <p:spTgt spid="48"/>
                                        </p:tgtEl>
                                        <p:attrNameLst>
                                          <p:attrName>ppt_x</p:attrName>
                                        </p:attrNameLst>
                                      </p:cBhvr>
                                      <p:tavLst>
                                        <p:tav tm="0">
                                          <p:val>
                                            <p:strVal val="#ppt_x"/>
                                          </p:val>
                                        </p:tav>
                                        <p:tav tm="100000">
                                          <p:val>
                                            <p:strVal val="#ppt_x"/>
                                          </p:val>
                                        </p:tav>
                                      </p:tavLst>
                                    </p:anim>
                                    <p:anim calcmode="lin" valueType="num">
                                      <p:cBhvr additive="base">
                                        <p:cTn id="19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2" presetClass="entr" presetSubtype="4" fill="hold" nodeType="clickEffect">
                                  <p:stCondLst>
                                    <p:cond delay="0"/>
                                  </p:stCondLst>
                                  <p:childTnLst>
                                    <p:set>
                                      <p:cBhvr>
                                        <p:cTn id="202" dur="1" fill="hold">
                                          <p:stCondLst>
                                            <p:cond delay="0"/>
                                          </p:stCondLst>
                                        </p:cTn>
                                        <p:tgtEl>
                                          <p:spTgt spid="50"/>
                                        </p:tgtEl>
                                        <p:attrNameLst>
                                          <p:attrName>style.visibility</p:attrName>
                                        </p:attrNameLst>
                                      </p:cBhvr>
                                      <p:to>
                                        <p:strVal val="visible"/>
                                      </p:to>
                                    </p:set>
                                    <p:anim calcmode="lin" valueType="num">
                                      <p:cBhvr additive="base">
                                        <p:cTn id="203" dur="500" fill="hold"/>
                                        <p:tgtEl>
                                          <p:spTgt spid="50"/>
                                        </p:tgtEl>
                                        <p:attrNameLst>
                                          <p:attrName>ppt_x</p:attrName>
                                        </p:attrNameLst>
                                      </p:cBhvr>
                                      <p:tavLst>
                                        <p:tav tm="0">
                                          <p:val>
                                            <p:strVal val="#ppt_x"/>
                                          </p:val>
                                        </p:tav>
                                        <p:tav tm="100000">
                                          <p:val>
                                            <p:strVal val="#ppt_x"/>
                                          </p:val>
                                        </p:tav>
                                      </p:tavLst>
                                    </p:anim>
                                    <p:anim calcmode="lin" valueType="num">
                                      <p:cBhvr additive="base">
                                        <p:cTn id="204" dur="500" fill="hold"/>
                                        <p:tgtEl>
                                          <p:spTgt spid="50"/>
                                        </p:tgtEl>
                                        <p:attrNameLst>
                                          <p:attrName>ppt_y</p:attrName>
                                        </p:attrNameLst>
                                      </p:cBhvr>
                                      <p:tavLst>
                                        <p:tav tm="0">
                                          <p:val>
                                            <p:strVal val="1+#ppt_h/2"/>
                                          </p:val>
                                        </p:tav>
                                        <p:tav tm="100000">
                                          <p:val>
                                            <p:strVal val="#ppt_y"/>
                                          </p:val>
                                        </p:tav>
                                      </p:tavLst>
                                    </p:anim>
                                  </p:childTnLst>
                                </p:cTn>
                              </p:par>
                              <p:par>
                                <p:cTn id="205" presetID="2" presetClass="entr" presetSubtype="4" fill="hold" nodeType="withEffect">
                                  <p:stCondLst>
                                    <p:cond delay="0"/>
                                  </p:stCondLst>
                                  <p:childTnLst>
                                    <p:set>
                                      <p:cBhvr>
                                        <p:cTn id="206" dur="1" fill="hold">
                                          <p:stCondLst>
                                            <p:cond delay="0"/>
                                          </p:stCondLst>
                                        </p:cTn>
                                        <p:tgtEl>
                                          <p:spTgt spid="51"/>
                                        </p:tgtEl>
                                        <p:attrNameLst>
                                          <p:attrName>style.visibility</p:attrName>
                                        </p:attrNameLst>
                                      </p:cBhvr>
                                      <p:to>
                                        <p:strVal val="visible"/>
                                      </p:to>
                                    </p:set>
                                    <p:anim calcmode="lin" valueType="num">
                                      <p:cBhvr additive="base">
                                        <p:cTn id="207" dur="500" fill="hold"/>
                                        <p:tgtEl>
                                          <p:spTgt spid="51"/>
                                        </p:tgtEl>
                                        <p:attrNameLst>
                                          <p:attrName>ppt_x</p:attrName>
                                        </p:attrNameLst>
                                      </p:cBhvr>
                                      <p:tavLst>
                                        <p:tav tm="0">
                                          <p:val>
                                            <p:strVal val="#ppt_x"/>
                                          </p:val>
                                        </p:tav>
                                        <p:tav tm="100000">
                                          <p:val>
                                            <p:strVal val="#ppt_x"/>
                                          </p:val>
                                        </p:tav>
                                      </p:tavLst>
                                    </p:anim>
                                    <p:anim calcmode="lin" valueType="num">
                                      <p:cBhvr additive="base">
                                        <p:cTn id="20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09" fill="hold">
                      <p:stCondLst>
                        <p:cond delay="indefinite"/>
                      </p:stCondLst>
                      <p:childTnLst>
                        <p:par>
                          <p:cTn id="210" fill="hold">
                            <p:stCondLst>
                              <p:cond delay="0"/>
                            </p:stCondLst>
                            <p:childTnLst>
                              <p:par>
                                <p:cTn id="211" presetID="2" presetClass="entr" presetSubtype="4" fill="hold" grpId="0" nodeType="clickEffect">
                                  <p:stCondLst>
                                    <p:cond delay="0"/>
                                  </p:stCondLst>
                                  <p:childTnLst>
                                    <p:set>
                                      <p:cBhvr>
                                        <p:cTn id="212" dur="1" fill="hold">
                                          <p:stCondLst>
                                            <p:cond delay="0"/>
                                          </p:stCondLst>
                                        </p:cTn>
                                        <p:tgtEl>
                                          <p:spTgt spid="49"/>
                                        </p:tgtEl>
                                        <p:attrNameLst>
                                          <p:attrName>style.visibility</p:attrName>
                                        </p:attrNameLst>
                                      </p:cBhvr>
                                      <p:to>
                                        <p:strVal val="visible"/>
                                      </p:to>
                                    </p:set>
                                    <p:anim calcmode="lin" valueType="num">
                                      <p:cBhvr additive="base">
                                        <p:cTn id="213" dur="500" fill="hold"/>
                                        <p:tgtEl>
                                          <p:spTgt spid="49"/>
                                        </p:tgtEl>
                                        <p:attrNameLst>
                                          <p:attrName>ppt_x</p:attrName>
                                        </p:attrNameLst>
                                      </p:cBhvr>
                                      <p:tavLst>
                                        <p:tav tm="0">
                                          <p:val>
                                            <p:strVal val="#ppt_x"/>
                                          </p:val>
                                        </p:tav>
                                        <p:tav tm="100000">
                                          <p:val>
                                            <p:strVal val="#ppt_x"/>
                                          </p:val>
                                        </p:tav>
                                      </p:tavLst>
                                    </p:anim>
                                    <p:anim calcmode="lin" valueType="num">
                                      <p:cBhvr additive="base">
                                        <p:cTn id="21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3" grpId="0"/>
      <p:bldP spid="5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a:t>
            </a:r>
            <a:r>
              <a:rPr lang="zh-CN" altLang="en-US" dirty="0"/>
              <a:t>灵敏度分析</a:t>
            </a:r>
            <a:endParaRPr lang="zh-CN" altLang="en-US" dirty="0"/>
          </a:p>
        </p:txBody>
      </p:sp>
      <p:sp>
        <p:nvSpPr>
          <p:cNvPr id="3" name="内容占位符 2"/>
          <p:cNvSpPr>
            <a:spLocks noGrp="1"/>
          </p:cNvSpPr>
          <p:nvPr>
            <p:ph idx="1"/>
          </p:nvPr>
        </p:nvSpPr>
        <p:spPr/>
        <p:txBody>
          <a:bodyPr/>
          <a:lstStyle/>
          <a:p>
            <a:pPr marL="0" indent="0">
              <a:buNone/>
            </a:pPr>
            <a:r>
              <a:rPr lang="zh-CN" altLang="en-US" dirty="0"/>
              <a:t>灵敏度分析</a:t>
            </a:r>
            <a:endParaRPr lang="en-US" altLang="zh-CN" dirty="0"/>
          </a:p>
          <a:p>
            <a:r>
              <a:rPr lang="zh-CN" altLang="en-US" dirty="0"/>
              <a:t>研究分析决策所用的数据在什么范围内变化时，原最优决策方案仍然有效。</a:t>
            </a:r>
            <a:endParaRPr lang="zh-CN" altLang="en-US" dirty="0"/>
          </a:p>
        </p:txBody>
      </p:sp>
      <p:sp>
        <p:nvSpPr>
          <p:cNvPr id="4" name="矩形 3"/>
          <p:cNvSpPr/>
          <p:nvPr/>
        </p:nvSpPr>
        <p:spPr>
          <a:xfrm>
            <a:off x="1622855" y="3369771"/>
            <a:ext cx="9335894" cy="2306955"/>
          </a:xfrm>
          <a:prstGeom prst="rect">
            <a:avLst/>
          </a:prstGeom>
          <a:solidFill>
            <a:schemeClr val="accent1">
              <a:lumMod val="20000"/>
              <a:lumOff val="80000"/>
            </a:schemeClr>
          </a:solidFill>
        </p:spPr>
        <p:txBody>
          <a:bodyPr wrap="square">
            <a:spAutoFit/>
          </a:bodyPr>
          <a:lstStyle/>
          <a:p>
            <a:pPr eaLnBrk="1" fontAlgn="auto" hangingPunct="1">
              <a:lnSpc>
                <a:spcPct val="150000"/>
              </a:lnSpc>
              <a:spcBef>
                <a:spcPts val="0"/>
              </a:spcBef>
              <a:spcAft>
                <a:spcPts val="0"/>
              </a:spcAft>
              <a:defRPr/>
            </a:pPr>
            <a:r>
              <a:rPr lang="zh-CN" altLang="en-US"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前例 取  </a:t>
            </a:r>
            <a:r>
              <a:rPr lang="en-US" altLang="zh-CN" sz="2400" b="1" dirty="0">
                <a:latin typeface="楷体" panose="02010609060101010101" pitchFamily="49" charset="-122"/>
                <a:ea typeface="楷体" panose="02010609060101010101" pitchFamily="49" charset="-122"/>
              </a:rPr>
              <a:t>P(N</a:t>
            </a:r>
            <a:r>
              <a:rPr lang="en-US" altLang="zh-CN" sz="2400" b="1" baseline="-25000" dirty="0">
                <a:latin typeface="楷体" panose="02010609060101010101" pitchFamily="49" charset="-122"/>
                <a:ea typeface="楷体" panose="02010609060101010101" pitchFamily="49" charset="-122"/>
              </a:rPr>
              <a:t>1</a:t>
            </a:r>
            <a:r>
              <a:rPr lang="en-US" altLang="zh-CN" sz="2400" b="1" dirty="0">
                <a:latin typeface="楷体" panose="02010609060101010101" pitchFamily="49" charset="-122"/>
                <a:ea typeface="楷体" panose="02010609060101010101" pitchFamily="49" charset="-122"/>
              </a:rPr>
              <a:t>) = p ,  P(N</a:t>
            </a:r>
            <a:r>
              <a:rPr lang="en-US" altLang="zh-CN" sz="2400" b="1" baseline="-25000" dirty="0">
                <a:latin typeface="楷体" panose="02010609060101010101" pitchFamily="49" charset="-122"/>
                <a:ea typeface="楷体" panose="02010609060101010101" pitchFamily="49" charset="-122"/>
              </a:rPr>
              <a:t>2</a:t>
            </a:r>
            <a:r>
              <a:rPr lang="en-US" altLang="zh-CN" sz="2400" b="1" dirty="0">
                <a:latin typeface="楷体" panose="02010609060101010101" pitchFamily="49" charset="-122"/>
                <a:ea typeface="楷体" panose="02010609060101010101" pitchFamily="49" charset="-122"/>
              </a:rPr>
              <a:t>) = 1- p </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那么</a:t>
            </a:r>
            <a:endParaRPr lang="zh-CN" altLang="en-US" sz="2400" b="1" dirty="0">
              <a:latin typeface="楷体" panose="02010609060101010101" pitchFamily="49" charset="-122"/>
              <a:ea typeface="楷体" panose="02010609060101010101" pitchFamily="49" charset="-122"/>
            </a:endParaRPr>
          </a:p>
          <a:p>
            <a:pPr eaLnBrk="1" fontAlgn="auto" hangingPunct="1">
              <a:lnSpc>
                <a:spcPct val="150000"/>
              </a:lnSpc>
              <a:spcBef>
                <a:spcPts val="0"/>
              </a:spcBef>
              <a:spcAft>
                <a:spcPts val="0"/>
              </a:spcAft>
              <a:defRPr/>
            </a:pPr>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E(S</a:t>
            </a:r>
            <a:r>
              <a:rPr lang="en-US" altLang="zh-CN" sz="2400" b="1" baseline="-25000" dirty="0">
                <a:latin typeface="楷体" panose="02010609060101010101" pitchFamily="49" charset="-122"/>
                <a:ea typeface="楷体" panose="02010609060101010101" pitchFamily="49" charset="-122"/>
              </a:rPr>
              <a:t>1</a:t>
            </a:r>
            <a:r>
              <a:rPr lang="en-US" altLang="zh-CN" sz="2400" b="1" dirty="0">
                <a:latin typeface="楷体" panose="02010609060101010101" pitchFamily="49" charset="-122"/>
                <a:ea typeface="楷体" panose="02010609060101010101" pitchFamily="49" charset="-122"/>
              </a:rPr>
              <a:t>) = p</a:t>
            </a:r>
            <a:r>
              <a:rPr lang="en-US" altLang="zh-CN" sz="2400" b="1" dirty="0">
                <a:latin typeface="楷体" panose="02010609060101010101" pitchFamily="49" charset="-122"/>
                <a:ea typeface="楷体" panose="02010609060101010101" pitchFamily="49" charset="-122"/>
                <a:sym typeface="Symbol" panose="05050102010706020507" pitchFamily="18" charset="2"/>
              </a:rPr>
              <a:t></a:t>
            </a:r>
            <a:r>
              <a:rPr lang="en-US" altLang="zh-CN" sz="2400" b="1" dirty="0">
                <a:latin typeface="楷体" panose="02010609060101010101" pitchFamily="49" charset="-122"/>
                <a:ea typeface="楷体" panose="02010609060101010101" pitchFamily="49" charset="-122"/>
              </a:rPr>
              <a:t>30 + (1-p)</a:t>
            </a:r>
            <a:r>
              <a:rPr lang="en-US" altLang="zh-CN" sz="2400" b="1" dirty="0">
                <a:latin typeface="楷体" panose="02010609060101010101" pitchFamily="49" charset="-122"/>
                <a:ea typeface="楷体" panose="02010609060101010101" pitchFamily="49" charset="-122"/>
                <a:sym typeface="Symbol" panose="05050102010706020507" pitchFamily="18" charset="2"/>
              </a:rPr>
              <a:t></a:t>
            </a:r>
            <a:r>
              <a:rPr lang="en-US" altLang="zh-CN" sz="2400" b="1" dirty="0">
                <a:latin typeface="楷体" panose="02010609060101010101" pitchFamily="49" charset="-122"/>
                <a:ea typeface="楷体" panose="02010609060101010101" pitchFamily="49" charset="-122"/>
              </a:rPr>
              <a:t>(-6) = 36p - 6    </a:t>
            </a:r>
            <a:endParaRPr lang="zh-CN" altLang="en-US" sz="2400" b="1" dirty="0">
              <a:latin typeface="楷体" panose="02010609060101010101" pitchFamily="49" charset="-122"/>
              <a:ea typeface="楷体" panose="02010609060101010101" pitchFamily="49" charset="-122"/>
            </a:endParaRPr>
          </a:p>
          <a:p>
            <a:pPr eaLnBrk="1" fontAlgn="auto" hangingPunct="1">
              <a:lnSpc>
                <a:spcPct val="150000"/>
              </a:lnSpc>
              <a:spcBef>
                <a:spcPts val="0"/>
              </a:spcBef>
              <a:spcAft>
                <a:spcPts val="0"/>
              </a:spcAft>
              <a:defRPr/>
            </a:pPr>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E(S</a:t>
            </a:r>
            <a:r>
              <a:rPr lang="en-US" altLang="zh-CN" sz="2400" b="1" baseline="-25000" dirty="0">
                <a:latin typeface="楷体" panose="02010609060101010101" pitchFamily="49" charset="-122"/>
                <a:ea typeface="楷体" panose="02010609060101010101" pitchFamily="49" charset="-122"/>
              </a:rPr>
              <a:t>2</a:t>
            </a:r>
            <a:r>
              <a:rPr lang="en-US" altLang="zh-CN" sz="2400" b="1" dirty="0">
                <a:latin typeface="楷体" panose="02010609060101010101" pitchFamily="49" charset="-122"/>
                <a:ea typeface="楷体" panose="02010609060101010101" pitchFamily="49" charset="-122"/>
              </a:rPr>
              <a:t>) = p</a:t>
            </a:r>
            <a:r>
              <a:rPr lang="en-US" altLang="zh-CN" sz="2400" b="1" dirty="0">
                <a:latin typeface="楷体" panose="02010609060101010101" pitchFamily="49" charset="-122"/>
                <a:ea typeface="楷体" panose="02010609060101010101" pitchFamily="49" charset="-122"/>
                <a:sym typeface="Symbol" panose="05050102010706020507" pitchFamily="18" charset="2"/>
              </a:rPr>
              <a:t>2</a:t>
            </a:r>
            <a:r>
              <a:rPr lang="en-US" altLang="zh-CN" sz="2400" b="1" dirty="0">
                <a:latin typeface="楷体" panose="02010609060101010101" pitchFamily="49" charset="-122"/>
                <a:ea typeface="楷体" panose="02010609060101010101" pitchFamily="49" charset="-122"/>
              </a:rPr>
              <a:t>0 + (1-p)</a:t>
            </a:r>
            <a:r>
              <a:rPr lang="en-US" altLang="zh-CN" sz="2400" b="1" dirty="0">
                <a:latin typeface="楷体" panose="02010609060101010101" pitchFamily="49" charset="-122"/>
                <a:ea typeface="楷体" panose="02010609060101010101" pitchFamily="49" charset="-122"/>
                <a:sym typeface="Symbol" panose="05050102010706020507" pitchFamily="18" charset="2"/>
              </a:rPr>
              <a:t></a:t>
            </a:r>
            <a:r>
              <a:rPr lang="en-US" altLang="zh-CN" sz="2400" b="1" dirty="0">
                <a:latin typeface="楷体" panose="02010609060101010101" pitchFamily="49" charset="-122"/>
                <a:ea typeface="楷体" panose="02010609060101010101" pitchFamily="49" charset="-122"/>
              </a:rPr>
              <a:t>(-2) = 22p - 2    </a:t>
            </a:r>
            <a:endParaRPr lang="zh-CN" altLang="en-US" sz="2400" b="1" dirty="0">
              <a:latin typeface="楷体" panose="02010609060101010101" pitchFamily="49" charset="-122"/>
              <a:ea typeface="楷体" panose="02010609060101010101" pitchFamily="49" charset="-122"/>
            </a:endParaRPr>
          </a:p>
          <a:p>
            <a:pPr eaLnBrk="1" fontAlgn="auto" hangingPunct="1">
              <a:lnSpc>
                <a:spcPct val="150000"/>
              </a:lnSpc>
              <a:spcBef>
                <a:spcPts val="0"/>
              </a:spcBef>
              <a:spcAft>
                <a:spcPts val="0"/>
              </a:spcAft>
              <a:defRPr/>
            </a:pPr>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E(S</a:t>
            </a:r>
            <a:r>
              <a:rPr lang="en-US" altLang="zh-CN" sz="2400" b="1" baseline="-25000" dirty="0">
                <a:latin typeface="楷体" panose="02010609060101010101" pitchFamily="49" charset="-122"/>
                <a:ea typeface="楷体" panose="02010609060101010101" pitchFamily="49" charset="-122"/>
              </a:rPr>
              <a:t>3</a:t>
            </a:r>
            <a:r>
              <a:rPr lang="en-US" altLang="zh-CN" sz="2400" b="1" dirty="0">
                <a:latin typeface="楷体" panose="02010609060101010101" pitchFamily="49" charset="-122"/>
                <a:ea typeface="楷体" panose="02010609060101010101" pitchFamily="49" charset="-122"/>
              </a:rPr>
              <a:t>) = p</a:t>
            </a:r>
            <a:r>
              <a:rPr lang="en-US" altLang="zh-CN" sz="2400" b="1" dirty="0">
                <a:latin typeface="楷体" panose="02010609060101010101" pitchFamily="49" charset="-122"/>
                <a:ea typeface="楷体" panose="02010609060101010101" pitchFamily="49" charset="-122"/>
                <a:sym typeface="Symbol" panose="05050102010706020507" pitchFamily="18" charset="2"/>
              </a:rPr>
              <a:t>1</a:t>
            </a:r>
            <a:r>
              <a:rPr lang="en-US" altLang="zh-CN" sz="2400" b="1" dirty="0">
                <a:latin typeface="楷体" panose="02010609060101010101" pitchFamily="49" charset="-122"/>
                <a:ea typeface="楷体" panose="02010609060101010101" pitchFamily="49" charset="-122"/>
              </a:rPr>
              <a:t>0 + (1-p)</a:t>
            </a:r>
            <a:r>
              <a:rPr lang="en-US" altLang="zh-CN" sz="2400" b="1" dirty="0">
                <a:latin typeface="楷体" panose="02010609060101010101" pitchFamily="49" charset="-122"/>
                <a:ea typeface="楷体" panose="02010609060101010101" pitchFamily="49" charset="-122"/>
                <a:sym typeface="Symbol" panose="05050102010706020507" pitchFamily="18" charset="2"/>
              </a:rPr>
              <a:t></a:t>
            </a:r>
            <a:r>
              <a:rPr lang="en-US" altLang="zh-CN" sz="2400" b="1" dirty="0">
                <a:latin typeface="楷体" panose="02010609060101010101" pitchFamily="49" charset="-122"/>
                <a:ea typeface="楷体" panose="02010609060101010101" pitchFamily="49" charset="-122"/>
              </a:rPr>
              <a:t>(+5) =  5p + 5   </a:t>
            </a:r>
            <a:endParaRPr lang="zh-CN" altLang="en-US" sz="2400" dirty="0">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a:t>
            </a:r>
            <a:r>
              <a:rPr lang="zh-CN" altLang="en-US" dirty="0"/>
              <a:t>灵敏度分析</a:t>
            </a:r>
            <a:endParaRPr lang="zh-CN" altLang="en-US" dirty="0"/>
          </a:p>
        </p:txBody>
      </p:sp>
      <p:grpSp>
        <p:nvGrpSpPr>
          <p:cNvPr id="4" name="Group 10"/>
          <p:cNvGrpSpPr/>
          <p:nvPr/>
        </p:nvGrpSpPr>
        <p:grpSpPr bwMode="auto">
          <a:xfrm>
            <a:off x="2082567" y="1690688"/>
            <a:ext cx="8591550" cy="4298950"/>
            <a:chOff x="480" y="2208"/>
            <a:chExt cx="4752" cy="1824"/>
          </a:xfrm>
        </p:grpSpPr>
        <p:sp>
          <p:nvSpPr>
            <p:cNvPr id="5" name="Line 4"/>
            <p:cNvSpPr>
              <a:spLocks noChangeShapeType="1"/>
            </p:cNvSpPr>
            <p:nvPr/>
          </p:nvSpPr>
          <p:spPr bwMode="auto">
            <a:xfrm>
              <a:off x="720" y="2352"/>
              <a:ext cx="0" cy="16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5"/>
            <p:cNvSpPr>
              <a:spLocks noChangeShapeType="1"/>
            </p:cNvSpPr>
            <p:nvPr/>
          </p:nvSpPr>
          <p:spPr bwMode="auto">
            <a:xfrm>
              <a:off x="480" y="3696"/>
              <a:ext cx="45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6"/>
            <p:cNvSpPr>
              <a:spLocks noChangeShapeType="1"/>
            </p:cNvSpPr>
            <p:nvPr/>
          </p:nvSpPr>
          <p:spPr bwMode="auto">
            <a:xfrm flipV="1">
              <a:off x="720" y="2304"/>
              <a:ext cx="3696" cy="15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
            <p:cNvSpPr>
              <a:spLocks noChangeShapeType="1"/>
            </p:cNvSpPr>
            <p:nvPr/>
          </p:nvSpPr>
          <p:spPr bwMode="auto">
            <a:xfrm>
              <a:off x="4416" y="2208"/>
              <a:ext cx="0" cy="15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flipV="1">
              <a:off x="720" y="2832"/>
              <a:ext cx="3696" cy="9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9"/>
            <p:cNvSpPr>
              <a:spLocks noChangeShapeType="1"/>
            </p:cNvSpPr>
            <p:nvPr/>
          </p:nvSpPr>
          <p:spPr bwMode="auto">
            <a:xfrm flipV="1">
              <a:off x="720" y="3264"/>
              <a:ext cx="3696" cy="24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0"/>
            <p:cNvSpPr>
              <a:spLocks noChangeShapeType="1"/>
            </p:cNvSpPr>
            <p:nvPr/>
          </p:nvSpPr>
          <p:spPr bwMode="auto">
            <a:xfrm flipV="1">
              <a:off x="1776" y="2448"/>
              <a:ext cx="0" cy="12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1"/>
            <p:cNvSpPr txBox="1">
              <a:spLocks noChangeArrowheads="1"/>
            </p:cNvSpPr>
            <p:nvPr/>
          </p:nvSpPr>
          <p:spPr bwMode="auto">
            <a:xfrm>
              <a:off x="3048" y="2315"/>
              <a:ext cx="960"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E(S</a:t>
              </a:r>
              <a:r>
                <a:rPr kumimoji="1" lang="en-US" altLang="zh-CN" sz="1800" b="1" baseline="-25000">
                  <a:latin typeface="Times New Roman" panose="02020603050405020304" pitchFamily="18" charset="0"/>
                </a:rPr>
                <a:t>1</a:t>
              </a:r>
              <a:r>
                <a:rPr kumimoji="1" lang="en-US" altLang="zh-CN" sz="1800" b="1">
                  <a:latin typeface="Times New Roman" panose="02020603050405020304" pitchFamily="18" charset="0"/>
                </a:rPr>
                <a:t>)=36p-6</a:t>
              </a:r>
              <a:endParaRPr kumimoji="1" lang="en-US" altLang="zh-CN" sz="1800" b="1">
                <a:latin typeface="Times New Roman" panose="02020603050405020304" pitchFamily="18" charset="0"/>
              </a:endParaRPr>
            </a:p>
          </p:txBody>
        </p:sp>
        <p:sp>
          <p:nvSpPr>
            <p:cNvPr id="13" name="Text Box 12"/>
            <p:cNvSpPr txBox="1">
              <a:spLocks noChangeArrowheads="1"/>
            </p:cNvSpPr>
            <p:nvPr/>
          </p:nvSpPr>
          <p:spPr bwMode="auto">
            <a:xfrm>
              <a:off x="3499" y="2717"/>
              <a:ext cx="917"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E(S</a:t>
              </a:r>
              <a:r>
                <a:rPr kumimoji="1" lang="en-US" altLang="zh-CN" sz="1800" b="1" baseline="-25000">
                  <a:latin typeface="Times New Roman" panose="02020603050405020304" pitchFamily="18" charset="0"/>
                </a:rPr>
                <a:t>2</a:t>
              </a:r>
              <a:r>
                <a:rPr kumimoji="1" lang="en-US" altLang="zh-CN" sz="1800" b="1">
                  <a:latin typeface="Times New Roman" panose="02020603050405020304" pitchFamily="18" charset="0"/>
                </a:rPr>
                <a:t>)=22p-2</a:t>
              </a:r>
              <a:endParaRPr kumimoji="1" lang="en-US" altLang="zh-CN" sz="1800" b="1">
                <a:latin typeface="Times New Roman" panose="02020603050405020304" pitchFamily="18" charset="0"/>
              </a:endParaRPr>
            </a:p>
          </p:txBody>
        </p:sp>
        <p:sp>
          <p:nvSpPr>
            <p:cNvPr id="14" name="Text Box 13"/>
            <p:cNvSpPr txBox="1">
              <a:spLocks noChangeArrowheads="1"/>
            </p:cNvSpPr>
            <p:nvPr/>
          </p:nvSpPr>
          <p:spPr bwMode="auto">
            <a:xfrm>
              <a:off x="3720" y="3096"/>
              <a:ext cx="904"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E(S</a:t>
              </a:r>
              <a:r>
                <a:rPr kumimoji="1" lang="en-US" altLang="zh-CN" sz="1800" b="1" baseline="-25000">
                  <a:latin typeface="Times New Roman" panose="02020603050405020304" pitchFamily="18" charset="0"/>
                </a:rPr>
                <a:t>3</a:t>
              </a:r>
              <a:r>
                <a:rPr kumimoji="1" lang="en-US" altLang="zh-CN" sz="1800" b="1">
                  <a:latin typeface="Times New Roman" panose="02020603050405020304" pitchFamily="18" charset="0"/>
                </a:rPr>
                <a:t>)=5p+5</a:t>
              </a:r>
              <a:endParaRPr kumimoji="1" lang="en-US" altLang="zh-CN" sz="1800" b="1">
                <a:latin typeface="Times New Roman" panose="02020603050405020304" pitchFamily="18" charset="0"/>
              </a:endParaRPr>
            </a:p>
          </p:txBody>
        </p:sp>
        <p:sp>
          <p:nvSpPr>
            <p:cNvPr id="15" name="Text Box 14"/>
            <p:cNvSpPr txBox="1">
              <a:spLocks noChangeArrowheads="1"/>
            </p:cNvSpPr>
            <p:nvPr/>
          </p:nvSpPr>
          <p:spPr bwMode="auto">
            <a:xfrm>
              <a:off x="576" y="3657"/>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0</a:t>
              </a:r>
              <a:endParaRPr kumimoji="1" lang="en-US" altLang="zh-CN" sz="1800" b="1">
                <a:latin typeface="Times New Roman" panose="02020603050405020304" pitchFamily="18" charset="0"/>
              </a:endParaRPr>
            </a:p>
          </p:txBody>
        </p:sp>
        <p:sp>
          <p:nvSpPr>
            <p:cNvPr id="16" name="Text Box 15"/>
            <p:cNvSpPr txBox="1">
              <a:spLocks noChangeArrowheads="1"/>
            </p:cNvSpPr>
            <p:nvPr/>
          </p:nvSpPr>
          <p:spPr bwMode="auto">
            <a:xfrm>
              <a:off x="4416" y="3657"/>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1</a:t>
              </a:r>
              <a:endParaRPr kumimoji="1" lang="en-US" altLang="zh-CN" sz="1800" b="1">
                <a:latin typeface="Times New Roman" panose="02020603050405020304" pitchFamily="18" charset="0"/>
              </a:endParaRPr>
            </a:p>
          </p:txBody>
        </p:sp>
        <p:sp>
          <p:nvSpPr>
            <p:cNvPr id="17" name="Text Box 16"/>
            <p:cNvSpPr txBox="1">
              <a:spLocks noChangeArrowheads="1"/>
            </p:cNvSpPr>
            <p:nvPr/>
          </p:nvSpPr>
          <p:spPr bwMode="auto">
            <a:xfrm>
              <a:off x="1584" y="3657"/>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800" b="1">
                  <a:latin typeface="Times New Roman" panose="02020603050405020304" pitchFamily="18" charset="0"/>
                </a:rPr>
                <a:t>0.35</a:t>
              </a:r>
              <a:endParaRPr kumimoji="1" lang="en-US" altLang="zh-CN" sz="1800" b="1">
                <a:latin typeface="Times New Roman" panose="02020603050405020304" pitchFamily="18" charset="0"/>
              </a:endParaRPr>
            </a:p>
          </p:txBody>
        </p:sp>
        <p:sp>
          <p:nvSpPr>
            <p:cNvPr id="18" name="Text Box 17"/>
            <p:cNvSpPr txBox="1">
              <a:spLocks noChangeArrowheads="1"/>
            </p:cNvSpPr>
            <p:nvPr/>
          </p:nvSpPr>
          <p:spPr bwMode="auto">
            <a:xfrm>
              <a:off x="4992" y="35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2400" b="1">
                  <a:latin typeface="Times New Roman" panose="02020603050405020304" pitchFamily="18" charset="0"/>
                </a:rPr>
                <a:t>p</a:t>
              </a:r>
              <a:endParaRPr kumimoji="1" lang="en-US" altLang="zh-CN" sz="1800" b="1">
                <a:latin typeface="Times New Roman" panose="02020603050405020304" pitchFamily="18" charset="0"/>
              </a:endParaRPr>
            </a:p>
          </p:txBody>
        </p:sp>
        <p:sp>
          <p:nvSpPr>
            <p:cNvPr id="19" name="Text Box 18"/>
            <p:cNvSpPr txBox="1">
              <a:spLocks noChangeArrowheads="1"/>
            </p:cNvSpPr>
            <p:nvPr/>
          </p:nvSpPr>
          <p:spPr bwMode="auto">
            <a:xfrm>
              <a:off x="1008" y="2496"/>
              <a:ext cx="432"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2000" b="1">
                  <a:latin typeface="楷体" panose="02010609060101010101" pitchFamily="49" charset="-122"/>
                  <a:ea typeface="楷体" panose="02010609060101010101" pitchFamily="49" charset="-122"/>
                </a:rPr>
                <a:t>取</a:t>
              </a:r>
              <a:r>
                <a:rPr kumimoji="1" lang="en-US" altLang="zh-CN" sz="2000" b="1">
                  <a:latin typeface="Times New Roman" panose="02020603050405020304" pitchFamily="18" charset="0"/>
                </a:rPr>
                <a:t>S</a:t>
              </a:r>
              <a:r>
                <a:rPr kumimoji="1" lang="en-US" altLang="zh-CN" sz="2000" b="1" baseline="-25000">
                  <a:latin typeface="Times New Roman" panose="02020603050405020304" pitchFamily="18" charset="0"/>
                </a:rPr>
                <a:t>3</a:t>
              </a:r>
              <a:endParaRPr kumimoji="1" lang="en-US" altLang="zh-CN" sz="2400" b="1">
                <a:latin typeface="Times New Roman" panose="02020603050405020304" pitchFamily="18" charset="0"/>
              </a:endParaRPr>
            </a:p>
          </p:txBody>
        </p:sp>
        <p:sp>
          <p:nvSpPr>
            <p:cNvPr id="20" name="Text Box 19"/>
            <p:cNvSpPr txBox="1">
              <a:spLocks noChangeArrowheads="1"/>
            </p:cNvSpPr>
            <p:nvPr/>
          </p:nvSpPr>
          <p:spPr bwMode="auto">
            <a:xfrm>
              <a:off x="2304" y="2496"/>
              <a:ext cx="432"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2000" b="1">
                  <a:latin typeface="楷体" panose="02010609060101010101" pitchFamily="49" charset="-122"/>
                  <a:ea typeface="楷体" panose="02010609060101010101" pitchFamily="49" charset="-122"/>
                </a:rPr>
                <a:t>取</a:t>
              </a:r>
              <a:r>
                <a:rPr kumimoji="1" lang="en-US" altLang="zh-CN" sz="2000" b="1">
                  <a:latin typeface="Times New Roman" panose="02020603050405020304" pitchFamily="18" charset="0"/>
                </a:rPr>
                <a:t>S</a:t>
              </a:r>
              <a:r>
                <a:rPr kumimoji="1" lang="en-US" altLang="zh-CN" sz="2000" b="1" baseline="-25000">
                  <a:latin typeface="Times New Roman" panose="02020603050405020304" pitchFamily="18" charset="0"/>
                </a:rPr>
                <a:t>1</a:t>
              </a:r>
              <a:endParaRPr kumimoji="1" lang="en-US" altLang="zh-CN" sz="2400" b="1">
                <a:latin typeface="Times New Roman" panose="02020603050405020304" pitchFamily="18" charset="0"/>
              </a:endParaRPr>
            </a:p>
          </p:txBody>
        </p:sp>
        <p:sp>
          <p:nvSpPr>
            <p:cNvPr id="21" name="Line 20"/>
            <p:cNvSpPr>
              <a:spLocks noChangeShapeType="1"/>
            </p:cNvSpPr>
            <p:nvPr/>
          </p:nvSpPr>
          <p:spPr bwMode="auto">
            <a:xfrm>
              <a:off x="1392" y="2640"/>
              <a:ext cx="384"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21"/>
            <p:cNvSpPr>
              <a:spLocks noChangeShapeType="1"/>
            </p:cNvSpPr>
            <p:nvPr/>
          </p:nvSpPr>
          <p:spPr bwMode="auto">
            <a:xfrm>
              <a:off x="2688" y="2640"/>
              <a:ext cx="1728"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2"/>
            <p:cNvSpPr>
              <a:spLocks noChangeShapeType="1"/>
            </p:cNvSpPr>
            <p:nvPr/>
          </p:nvSpPr>
          <p:spPr bwMode="auto">
            <a:xfrm flipH="1">
              <a:off x="1776" y="2640"/>
              <a:ext cx="576"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3"/>
            <p:cNvSpPr>
              <a:spLocks noChangeShapeType="1"/>
            </p:cNvSpPr>
            <p:nvPr/>
          </p:nvSpPr>
          <p:spPr bwMode="auto">
            <a:xfrm flipH="1">
              <a:off x="720" y="2640"/>
              <a:ext cx="336"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cxnSp>
        <p:nvCxnSpPr>
          <p:cNvPr id="26" name="Straight Connector 25"/>
          <p:cNvCxnSpPr>
            <a:stCxn id="10" idx="0"/>
          </p:cNvCxnSpPr>
          <p:nvPr/>
        </p:nvCxnSpPr>
        <p:spPr>
          <a:xfrm flipV="1">
            <a:off x="2516484" y="4580238"/>
            <a:ext cx="1909233" cy="1649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4425716" y="1891031"/>
            <a:ext cx="4773083" cy="27012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a:t>
            </a:r>
            <a:r>
              <a:rPr lang="zh-CN" altLang="en-US" dirty="0"/>
              <a:t>灵敏度分析</a:t>
            </a:r>
            <a:endParaRPr lang="zh-CN" altLang="en-US" dirty="0"/>
          </a:p>
        </p:txBody>
      </p:sp>
      <p:sp>
        <p:nvSpPr>
          <p:cNvPr id="3" name="内容占位符 2"/>
          <p:cNvSpPr>
            <a:spLocks noGrp="1"/>
          </p:cNvSpPr>
          <p:nvPr>
            <p:ph idx="1"/>
          </p:nvPr>
        </p:nvSpPr>
        <p:spPr/>
        <p:txBody>
          <a:bodyPr/>
          <a:lstStyle/>
          <a:p>
            <a:r>
              <a:rPr lang="zh-CN" altLang="en-US" dirty="0"/>
              <a:t>在实际工作中，如果状态概率、收益值在其可能发生的变化的范围内变化时，最优方案保持不变，则这个方案是比较稳定的。</a:t>
            </a:r>
            <a:endParaRPr lang="zh-CN" altLang="en-US" dirty="0"/>
          </a:p>
          <a:p>
            <a:r>
              <a:rPr lang="zh-CN" altLang="en-US" dirty="0"/>
              <a:t>反之如果参数稍有变化时，最优方案就有变化，则这个方案就不稳定的，需要我们作进一步的分析。 </a:t>
            </a:r>
            <a:endParaRPr lang="en-US" altLang="zh-CN" dirty="0"/>
          </a:p>
          <a:p>
            <a:r>
              <a:rPr lang="zh-CN" altLang="en-US" dirty="0"/>
              <a:t>就自然状态</a:t>
            </a:r>
            <a:r>
              <a:rPr lang="en-US" altLang="zh-CN" dirty="0"/>
              <a:t>N</a:t>
            </a:r>
            <a:r>
              <a:rPr lang="en-US" altLang="zh-CN" sz="1800" dirty="0"/>
              <a:t>1</a:t>
            </a:r>
            <a:r>
              <a:rPr lang="zh-CN" altLang="en-US" dirty="0"/>
              <a:t>的概率而言，当其概率值越远离转折概率，则其相应的最优方案就越稳定；反之，就越不稳定。</a:t>
            </a:r>
            <a:endParaRPr lang="zh-CN" altLang="en-US" dirty="0"/>
          </a:p>
          <a:p>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全情报价值</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全情报是指关于自然状态</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𝑗</m:t>
                        </m:r>
                      </m:sub>
                    </m:sSub>
                  </m:oMath>
                </a14:m>
                <a:r>
                  <a:rPr lang="zh-CN" altLang="en-US" dirty="0"/>
                  <a:t>的确切消息</a:t>
                </a:r>
                <a:endParaRPr lang="en-US" altLang="zh-CN" dirty="0"/>
              </a:p>
              <a:p>
                <a:r>
                  <a:rPr lang="zh-CN" altLang="en-US" dirty="0">
                    <a:solidFill>
                      <a:srgbClr val="FF0000"/>
                    </a:solidFill>
                  </a:rPr>
                  <a:t>全情报价值（</a:t>
                </a:r>
                <a:r>
                  <a:rPr lang="en-US" altLang="zh-CN" dirty="0">
                    <a:solidFill>
                      <a:srgbClr val="FF0000"/>
                    </a:solidFill>
                  </a:rPr>
                  <a:t>EVPI</a:t>
                </a:r>
                <a:r>
                  <a:rPr lang="zh-CN" altLang="en-US" dirty="0">
                    <a:solidFill>
                      <a:srgbClr val="FF0000"/>
                    </a:solidFill>
                  </a:rPr>
                  <a:t>）</a:t>
                </a:r>
                <a:r>
                  <a:rPr lang="zh-CN" altLang="en-US" dirty="0"/>
                  <a:t>是指全情报所带来的的额外收益</a:t>
                </a:r>
                <a:endParaRPr lang="en-US" altLang="zh-CN" dirty="0"/>
              </a:p>
              <a:p>
                <a:r>
                  <a:rPr lang="zh-CN" altLang="en-US" dirty="0"/>
                  <a:t>在前例中，当我们不掌握全情报时，我们得到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3</m:t>
                        </m:r>
                      </m:sub>
                    </m:sSub>
                  </m:oMath>
                </a14:m>
                <a:r>
                  <a:rPr lang="zh-CN" altLang="en-US" dirty="0"/>
                  <a:t>是最优方案，其数学期望最大值为：</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6</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zh-CN" altLang="en-US" i="1">
                          <a:latin typeface="Cambria Math" panose="02040503050406030204" pitchFamily="18" charset="0"/>
                        </a:rPr>
                        <m:t>万</m:t>
                      </m:r>
                    </m:oMath>
                  </m:oMathPara>
                </a14:m>
                <a:endParaRPr lang="en-US" altLang="zh-CN" dirty="0"/>
              </a:p>
              <a:p>
                <a:r>
                  <a:rPr lang="zh-CN" altLang="en-US" dirty="0"/>
                  <a:t>我们将这一数值记为</a:t>
                </a:r>
                <a14:m>
                  <m:oMath xmlns:m="http://schemas.openxmlformats.org/officeDocument/2006/math">
                    <m:r>
                      <a:rPr lang="en-US" altLang="zh-CN" b="0" i="1" smtClean="0">
                        <a:latin typeface="Cambria Math" panose="02040503050406030204" pitchFamily="18" charset="0"/>
                      </a:rPr>
                      <m:t>𝐸</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𝑊𝑂</m:t>
                        </m:r>
                      </m:sub>
                    </m:sSub>
                    <m:r>
                      <a:rPr lang="en-US" altLang="zh-CN" b="0" i="1" smtClean="0">
                        <a:latin typeface="Cambria Math" panose="02040503050406030204" pitchFamily="18" charset="0"/>
                      </a:rPr>
                      <m:t>𝑃𝐼</m:t>
                    </m:r>
                  </m:oMath>
                </a14:m>
                <a:r>
                  <a:rPr lang="zh-CN" altLang="en-US" dirty="0"/>
                  <a:t>，即没有全情报的期望收益</a:t>
                </a:r>
                <a:endParaRPr lang="en-US" altLang="zh-CN" dirty="0"/>
              </a:p>
              <a:p>
                <a14:m>
                  <m:oMath xmlns:m="http://schemas.openxmlformats.org/officeDocument/2006/math">
                    <m:r>
                      <a:rPr lang="en-US" altLang="zh-CN" b="0" i="1" smtClean="0">
                        <a:latin typeface="Cambria Math" panose="02040503050406030204" pitchFamily="18" charset="0"/>
                      </a:rPr>
                      <m:t>𝐸</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𝑊𝑂</m:t>
                        </m:r>
                      </m:sub>
                    </m:sSub>
                    <m:r>
                      <a:rPr lang="en-US" altLang="zh-CN" b="0" i="1" smtClean="0">
                        <a:latin typeface="Cambria Math" panose="02040503050406030204" pitchFamily="18" charset="0"/>
                      </a:rPr>
                      <m:t>𝑃𝐼</m:t>
                    </m:r>
                  </m:oMath>
                </a14:m>
                <a:r>
                  <a:rPr lang="en-US" altLang="zh-CN" dirty="0"/>
                  <a:t>: “Expected Value Without Perfect Information”</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7"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全情报价值</a:t>
            </a:r>
            <a:endParaRPr lang="zh-CN" altLang="en-US" dirty="0"/>
          </a:p>
        </p:txBody>
      </p:sp>
      <p:sp>
        <p:nvSpPr>
          <p:cNvPr id="3" name="内容占位符 2"/>
          <p:cNvSpPr>
            <a:spLocks noGrp="1"/>
          </p:cNvSpPr>
          <p:nvPr>
            <p:ph idx="1"/>
          </p:nvPr>
        </p:nvSpPr>
        <p:spPr/>
        <p:txBody>
          <a:bodyPr/>
          <a:lstStyle/>
          <a:p>
            <a:r>
              <a:rPr lang="zh-CN" altLang="en-US" dirty="0"/>
              <a:t>若得到全情报：</a:t>
            </a:r>
            <a:endParaRPr lang="en-US" altLang="zh-CN" dirty="0"/>
          </a:p>
          <a:p>
            <a:pPr lvl="1"/>
            <a:r>
              <a:rPr lang="zh-CN" altLang="en-US" dirty="0"/>
              <a:t>当知道自然状态为</a:t>
            </a:r>
            <a:r>
              <a:rPr lang="en-US" altLang="zh-CN" dirty="0"/>
              <a:t>N</a:t>
            </a:r>
            <a:r>
              <a:rPr lang="en-US" altLang="zh-CN" baseline="-25000" dirty="0"/>
              <a:t>1</a:t>
            </a:r>
            <a:r>
              <a:rPr lang="zh-CN" altLang="en-US" dirty="0"/>
              <a:t>时，决策者必采取方案</a:t>
            </a:r>
            <a:r>
              <a:rPr lang="en-US" altLang="zh-CN" dirty="0"/>
              <a:t>S</a:t>
            </a:r>
            <a:r>
              <a:rPr lang="en-US" altLang="zh-CN" baseline="-25000" dirty="0"/>
              <a:t>1</a:t>
            </a:r>
            <a:r>
              <a:rPr lang="zh-CN" altLang="en-US" dirty="0"/>
              <a:t>，可获得收益</a:t>
            </a:r>
            <a:r>
              <a:rPr lang="en-US" altLang="zh-CN" dirty="0"/>
              <a:t>30</a:t>
            </a:r>
            <a:r>
              <a:rPr lang="zh-CN" altLang="en-US" dirty="0"/>
              <a:t>万，概率</a:t>
            </a:r>
            <a:r>
              <a:rPr lang="en-US" altLang="zh-CN" dirty="0"/>
              <a:t>0.3</a:t>
            </a:r>
            <a:r>
              <a:rPr lang="zh-CN" altLang="en-US" dirty="0"/>
              <a:t>；</a:t>
            </a:r>
            <a:endParaRPr lang="en-US" altLang="zh-CN" dirty="0"/>
          </a:p>
          <a:p>
            <a:pPr lvl="1"/>
            <a:r>
              <a:rPr lang="zh-CN" altLang="en-US" dirty="0"/>
              <a:t>当知道自然状态为</a:t>
            </a:r>
            <a:r>
              <a:rPr lang="en-US" altLang="zh-CN" dirty="0"/>
              <a:t>N</a:t>
            </a:r>
            <a:r>
              <a:rPr lang="en-US" altLang="zh-CN" baseline="-25000" dirty="0"/>
              <a:t>2</a:t>
            </a:r>
            <a:r>
              <a:rPr lang="zh-CN" altLang="en-US" dirty="0"/>
              <a:t>时，决策者必采取方案</a:t>
            </a:r>
            <a:r>
              <a:rPr lang="en-US" altLang="zh-CN" dirty="0"/>
              <a:t>S</a:t>
            </a:r>
            <a:r>
              <a:rPr lang="en-US" altLang="zh-CN" baseline="-25000" dirty="0"/>
              <a:t>3</a:t>
            </a:r>
            <a:r>
              <a:rPr lang="zh-CN" altLang="en-US" dirty="0"/>
              <a:t>，可获得收益</a:t>
            </a:r>
            <a:r>
              <a:rPr lang="en-US" altLang="zh-CN" dirty="0"/>
              <a:t>5</a:t>
            </a:r>
            <a:r>
              <a:rPr lang="zh-CN" altLang="en-US" dirty="0"/>
              <a:t>万</a:t>
            </a:r>
            <a:r>
              <a:rPr lang="en-US" altLang="zh-CN" dirty="0"/>
              <a:t>, </a:t>
            </a:r>
            <a:r>
              <a:rPr lang="zh-CN" altLang="en-US" dirty="0"/>
              <a:t>概率</a:t>
            </a:r>
            <a:r>
              <a:rPr lang="en-US" altLang="zh-CN" dirty="0"/>
              <a:t>0.7</a:t>
            </a:r>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7267" name="文本占位符 267266"/>
          <p:cNvSpPr>
            <a:spLocks noGrp="1"/>
          </p:cNvSpPr>
          <p:nvPr>
            <p:ph type="body" idx="1"/>
          </p:nvPr>
        </p:nvSpPr>
        <p:spPr>
          <a:xfrm>
            <a:off x="838200" y="1902460"/>
            <a:ext cx="10431780" cy="4201795"/>
          </a:xfrm>
        </p:spPr>
        <p:txBody>
          <a:bodyPr/>
          <a:p>
            <a:r>
              <a:rPr lang="zh-CN" altLang="en-US" sz="2800" dirty="0"/>
              <a:t>黔驴技穷的故事</a:t>
            </a:r>
            <a:endParaRPr lang="en-US" altLang="zh-CN" sz="2800"/>
          </a:p>
          <a:p>
            <a:pPr lvl="1"/>
            <a:r>
              <a:rPr lang="zh-CN" altLang="en-US" sz="2400" dirty="0">
                <a:solidFill>
                  <a:schemeClr val="tx2"/>
                </a:solidFill>
              </a:rPr>
              <a:t>黔无驴，有好事者船载以入。至则无可用，放之山下。虎见之，庞然大物也，以为神，蔽林间窥之。稍出近之，应应然，莫相知。他日，驴一鸣，虎大骇，远遁；以为且噬已也，甚恐。</a:t>
            </a:r>
            <a:r>
              <a:rPr lang="zh-CN" altLang="en-US" sz="2400" dirty="0">
                <a:solidFill>
                  <a:schemeClr val="hlink"/>
                </a:solidFill>
              </a:rPr>
              <a:t>然往来视之，觉无异能者；益习其声，又近出前后，终不敢搏。稍近，益狎，荡倚冲冒。驴不胜怒，蹄之。虎因喜，计之曰：“技止此耳！”因跳踉大喊，断其喉，尽其肉，乃去。</a:t>
            </a:r>
            <a:r>
              <a:rPr lang="zh-CN" altLang="en-US" sz="2400" dirty="0"/>
              <a:t>  </a:t>
            </a:r>
            <a:r>
              <a:rPr lang="en-US" altLang="zh-CN" sz="2400"/>
              <a:t>【</a:t>
            </a:r>
            <a:r>
              <a:rPr lang="zh-CN" altLang="en-US" sz="2400" dirty="0"/>
              <a:t>出自</a:t>
            </a:r>
            <a:r>
              <a:rPr lang="en-US" altLang="zh-CN" sz="2400"/>
              <a:t>】</a:t>
            </a:r>
            <a:r>
              <a:rPr lang="zh-CN" altLang="en-US" sz="2400" dirty="0"/>
              <a:t>：唐</a:t>
            </a:r>
            <a:r>
              <a:rPr lang="en-US" altLang="zh-CN" sz="2400">
                <a:latin typeface="Arial" panose="020B0604020202020204" pitchFamily="34" charset="0"/>
              </a:rPr>
              <a:t>·</a:t>
            </a:r>
            <a:r>
              <a:rPr lang="zh-CN" altLang="en-US" sz="2400" dirty="0"/>
              <a:t>柳宗元</a:t>
            </a:r>
            <a:r>
              <a:rPr lang="en-US" altLang="zh-CN" sz="2400"/>
              <a:t>《</a:t>
            </a:r>
            <a:r>
              <a:rPr lang="zh-CN" altLang="en-US" sz="2400" dirty="0"/>
              <a:t>三戒</a:t>
            </a:r>
            <a:r>
              <a:rPr lang="en-US" altLang="zh-CN" sz="2400">
                <a:latin typeface="Arial" panose="020B0604020202020204" pitchFamily="34" charset="0"/>
              </a:rPr>
              <a:t>·</a:t>
            </a:r>
            <a:r>
              <a:rPr lang="zh-CN" altLang="en-US" sz="2400" dirty="0"/>
              <a:t>黔之驴</a:t>
            </a:r>
            <a:r>
              <a:rPr lang="en-US" altLang="zh-CN" sz="2400"/>
              <a:t>》 </a:t>
            </a:r>
            <a:endParaRPr lang="zh-CN" altLang="en-US" sz="2400" dirty="0"/>
          </a:p>
        </p:txBody>
      </p:sp>
      <p:sp>
        <p:nvSpPr>
          <p:cNvPr id="268290" name="标题 268289"/>
          <p:cNvSpPr>
            <a:spLocks noGrp="1"/>
          </p:cNvSpPr>
          <p:nvPr>
            <p:ph type="title"/>
          </p:nvPr>
        </p:nvSpPr>
        <p:spPr/>
        <p:txBody>
          <a:bodyPr anchor="b" anchorCtr="0"/>
          <a:p>
            <a:pPr algn="ctr"/>
            <a:r>
              <a:rPr lang="zh-CN" altLang="en-US" dirty="0">
                <a:sym typeface="+mn-ea"/>
              </a:rPr>
              <a:t>风险型决策分析 </a:t>
            </a:r>
            <a:r>
              <a:rPr lang="en-US" altLang="zh-CN" dirty="0">
                <a:sym typeface="+mn-ea"/>
              </a:rPr>
              <a:t>– </a:t>
            </a:r>
            <a:r>
              <a:rPr lang="zh-CN" altLang="en-US" dirty="0"/>
              <a:t>黔驴技穷的决策模型</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全情报价值</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825625"/>
                <a:ext cx="10515600" cy="4351338"/>
              </a:xfrm>
            </p:spPr>
            <p:txBody>
              <a:bodyPr>
                <a:normAutofit/>
              </a:bodyPr>
              <a:lstStyle/>
              <a:p>
                <a:r>
                  <a:rPr lang="zh-CN" altLang="en-US" dirty="0"/>
                  <a:t>因此，全情报的期望收益为：</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𝑊</m:t>
                          </m:r>
                        </m:sub>
                      </m:sSub>
                      <m:r>
                        <a:rPr lang="en-US" altLang="zh-CN" b="0" i="1" smtClean="0">
                          <a:latin typeface="Cambria Math" panose="02040503050406030204" pitchFamily="18" charset="0"/>
                        </a:rPr>
                        <m:t>𝑃𝐼</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30</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12</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zh-CN" altLang="en-US" i="1">
                          <a:latin typeface="Cambria Math" panose="02040503050406030204" pitchFamily="18" charset="0"/>
                        </a:rPr>
                        <m:t>万</m:t>
                      </m:r>
                    </m:oMath>
                  </m:oMathPara>
                </a14:m>
                <a:endParaRPr lang="en-US" altLang="zh-CN" dirty="0"/>
              </a:p>
              <a:p>
                <a:pPr marL="0" indent="0">
                  <a:buNone/>
                </a:pPr>
                <a:r>
                  <a:rPr lang="zh-CN" altLang="en-US" dirty="0"/>
                  <a:t>（</a:t>
                </a:r>
                <a14:m>
                  <m:oMath xmlns:m="http://schemas.openxmlformats.org/officeDocument/2006/math">
                    <m:r>
                      <a:rPr lang="en-US" altLang="zh-CN" i="1">
                        <a:latin typeface="Cambria Math" panose="02040503050406030204" pitchFamily="18" charset="0"/>
                      </a:rPr>
                      <m:t>𝐸</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𝑊</m:t>
                        </m:r>
                      </m:sub>
                    </m:sSub>
                    <m:r>
                      <a:rPr lang="en-US" altLang="zh-CN" i="1">
                        <a:latin typeface="Cambria Math" panose="02040503050406030204" pitchFamily="18" charset="0"/>
                      </a:rPr>
                      <m:t>𝑃𝐼</m:t>
                    </m:r>
                  </m:oMath>
                </a14:m>
                <a:r>
                  <a:rPr lang="en-US" altLang="zh-CN" dirty="0"/>
                  <a:t>: “Expected Value </a:t>
                </a:r>
                <a:r>
                  <a:rPr lang="en-US" altLang="zh-CN" dirty="0">
                    <a:solidFill>
                      <a:srgbClr val="FF0000"/>
                    </a:solidFill>
                  </a:rPr>
                  <a:t>With</a:t>
                </a:r>
                <a:r>
                  <a:rPr lang="en-US" altLang="zh-CN" dirty="0"/>
                  <a:t> Perfect Information”</a:t>
                </a:r>
                <a:r>
                  <a:rPr lang="zh-CN" altLang="en-US" dirty="0"/>
                  <a:t>）</a:t>
                </a:r>
                <a:endParaRPr lang="en-US" altLang="zh-CN" dirty="0"/>
              </a:p>
              <a:p>
                <a:pPr marL="0" indent="0">
                  <a:buNone/>
                </a:pPr>
                <a:r>
                  <a:rPr lang="zh-CN" altLang="en-US" dirty="0"/>
                  <a:t>那么，</a:t>
                </a:r>
                <a14:m>
                  <m:oMath xmlns:m="http://schemas.openxmlformats.org/officeDocument/2006/math">
                    <m:r>
                      <a:rPr lang="en-US" altLang="zh-CN" b="0" i="1" smtClean="0">
                        <a:latin typeface="Cambria Math" panose="02040503050406030204" pitchFamily="18" charset="0"/>
                      </a:rPr>
                      <m:t>𝐸𝑉𝑃𝐼</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𝑊</m:t>
                        </m:r>
                      </m:sub>
                    </m:sSub>
                    <m:r>
                      <a:rPr lang="en-US" altLang="zh-CN" b="0" i="1" smtClean="0">
                        <a:latin typeface="Cambria Math" panose="02040503050406030204" pitchFamily="18" charset="0"/>
                      </a:rPr>
                      <m:t>𝑃𝐼</m:t>
                    </m:r>
                    <m:r>
                      <a:rPr lang="en-US" altLang="zh-CN" b="0" i="1" smtClean="0">
                        <a:latin typeface="Cambria Math" panose="02040503050406030204" pitchFamily="18" charset="0"/>
                      </a:rPr>
                      <m:t>−</m:t>
                    </m:r>
                    <m:r>
                      <a:rPr lang="en-US" altLang="zh-CN" b="0" i="1" smtClean="0">
                        <a:latin typeface="Cambria Math" panose="02040503050406030204" pitchFamily="18" charset="0"/>
                      </a:rPr>
                      <m:t>𝐸</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𝑊𝑂</m:t>
                        </m:r>
                      </m:sub>
                    </m:sSub>
                    <m:r>
                      <a:rPr lang="en-US" altLang="zh-CN" b="0" i="1" smtClean="0">
                        <a:latin typeface="Cambria Math" panose="02040503050406030204" pitchFamily="18" charset="0"/>
                      </a:rPr>
                      <m:t>𝑃𝐼</m:t>
                    </m:r>
                    <m:r>
                      <a:rPr lang="en-US" altLang="zh-CN" b="0" i="1" smtClean="0">
                        <a:latin typeface="Cambria Math" panose="02040503050406030204" pitchFamily="18" charset="0"/>
                      </a:rPr>
                      <m:t>=</m:t>
                    </m:r>
                    <m:r>
                      <a:rPr lang="en-US" altLang="zh-CN" b="0" i="1" smtClean="0">
                        <a:latin typeface="Cambria Math" panose="02040503050406030204" pitchFamily="18" charset="0"/>
                      </a:rPr>
                      <m:t>12</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6</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6</m:t>
                    </m:r>
                    <m:r>
                      <a:rPr lang="zh-CN" altLang="en-US" i="1">
                        <a:latin typeface="Cambria Math" panose="02040503050406030204" pitchFamily="18" charset="0"/>
                      </a:rPr>
                      <m:t>万</m:t>
                    </m:r>
                  </m:oMath>
                </a14:m>
                <a:endParaRPr lang="en-US" altLang="zh-CN" dirty="0"/>
              </a:p>
              <a:p>
                <a:pPr marL="0" indent="0">
                  <a:buNone/>
                </a:pPr>
                <a:r>
                  <a:rPr lang="zh-CN" altLang="en-US" dirty="0"/>
                  <a:t>因此，该问题中关于自然状态的全情报价值为</a:t>
                </a:r>
                <a:r>
                  <a:rPr lang="en-US" altLang="zh-CN" dirty="0"/>
                  <a:t>6</a:t>
                </a:r>
                <a:r>
                  <a:rPr lang="zh-CN" altLang="en-US" dirty="0"/>
                  <a:t>万元。当获得这个全情报所需要的成本小于</a:t>
                </a:r>
                <a:r>
                  <a:rPr lang="en-US" altLang="zh-CN" dirty="0"/>
                  <a:t>6</a:t>
                </a:r>
                <a:r>
                  <a:rPr lang="zh-CN" altLang="en-US" dirty="0"/>
                  <a:t>万时，决策者应该对取得全情报进行投资，否则不应该投资。</a:t>
                </a:r>
                <a:endParaRPr lang="en-US" altLang="zh-CN" dirty="0"/>
              </a:p>
              <a:p>
                <a:pPr marL="0" indent="0">
                  <a:buNone/>
                </a:pPr>
                <a:endParaRPr lang="en-US" altLang="zh-CN" dirty="0"/>
              </a:p>
              <a:p>
                <a:pPr marL="0" indent="0">
                  <a:buNone/>
                </a:pPr>
                <a:r>
                  <a:rPr lang="zh-CN" altLang="en-US" dirty="0"/>
                  <a:t>注意：一般“全”情报仍然存在可靠性问题。</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8200" y="1825625"/>
                <a:ext cx="10515600" cy="4351338"/>
              </a:xfrm>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8290" name="标题 268289"/>
          <p:cNvSpPr>
            <a:spLocks noGrp="1"/>
          </p:cNvSpPr>
          <p:nvPr>
            <p:ph type="title"/>
          </p:nvPr>
        </p:nvSpPr>
        <p:spPr/>
        <p:txBody>
          <a:bodyPr anchor="b" anchorCtr="0"/>
          <a:p>
            <a:pPr algn="ctr"/>
            <a:r>
              <a:rPr lang="zh-CN" altLang="en-US" dirty="0">
                <a:sym typeface="+mn-ea"/>
              </a:rPr>
              <a:t>风险型决策分析 </a:t>
            </a:r>
            <a:r>
              <a:rPr lang="en-US" altLang="zh-CN" dirty="0">
                <a:sym typeface="+mn-ea"/>
              </a:rPr>
              <a:t>– </a:t>
            </a:r>
            <a:r>
              <a:rPr lang="zh-CN" altLang="en-US" dirty="0"/>
              <a:t>黔驴技穷的决策模型</a:t>
            </a:r>
            <a:endParaRPr lang="zh-CN" altLang="en-US" dirty="0"/>
          </a:p>
        </p:txBody>
      </p:sp>
      <p:sp>
        <p:nvSpPr>
          <p:cNvPr id="268291" name="文本占位符 268290"/>
          <p:cNvSpPr>
            <a:spLocks noGrp="1"/>
          </p:cNvSpPr>
          <p:nvPr>
            <p:ph type="body" idx="1"/>
          </p:nvPr>
        </p:nvSpPr>
        <p:spPr>
          <a:xfrm>
            <a:off x="2387600" y="1916113"/>
            <a:ext cx="5905500" cy="1260475"/>
          </a:xfrm>
        </p:spPr>
        <p:txBody>
          <a:bodyPr>
            <a:normAutofit lnSpcReduction="10000"/>
          </a:bodyPr>
          <a:p>
            <a:pPr>
              <a:lnSpc>
                <a:spcPct val="90000"/>
              </a:lnSpc>
            </a:pPr>
            <a:r>
              <a:rPr lang="zh-CN" altLang="en-US" sz="2400" dirty="0"/>
              <a:t>决策者：老虎</a:t>
            </a:r>
            <a:endParaRPr lang="zh-CN" altLang="en-US" sz="2400" dirty="0"/>
          </a:p>
          <a:p>
            <a:pPr>
              <a:lnSpc>
                <a:spcPct val="90000"/>
              </a:lnSpc>
            </a:pPr>
            <a:r>
              <a:rPr lang="zh-CN" altLang="en-US" sz="2400" dirty="0"/>
              <a:t>自然界的不确定性：驴厉害吗？</a:t>
            </a:r>
            <a:endParaRPr lang="zh-CN" altLang="en-US" sz="2400" dirty="0"/>
          </a:p>
          <a:p>
            <a:pPr>
              <a:lnSpc>
                <a:spcPct val="90000"/>
              </a:lnSpc>
            </a:pPr>
            <a:r>
              <a:rPr lang="zh-CN" altLang="en-US" sz="2400" dirty="0"/>
              <a:t>决策行为：吃驴</a:t>
            </a:r>
            <a:r>
              <a:rPr lang="en-US" altLang="zh-CN" sz="2400"/>
              <a:t>/</a:t>
            </a:r>
            <a:r>
              <a:rPr lang="zh-CN" altLang="en-US" sz="2400" dirty="0"/>
              <a:t>不吃</a:t>
            </a:r>
            <a:endParaRPr lang="zh-CN" altLang="en-US" sz="2400" dirty="0"/>
          </a:p>
        </p:txBody>
      </p:sp>
      <p:grpSp>
        <p:nvGrpSpPr>
          <p:cNvPr id="268319" name="组合 268318"/>
          <p:cNvGrpSpPr/>
          <p:nvPr/>
        </p:nvGrpSpPr>
        <p:grpSpPr>
          <a:xfrm>
            <a:off x="2208213" y="3249613"/>
            <a:ext cx="7916862" cy="2809875"/>
            <a:chOff x="431" y="2047"/>
            <a:chExt cx="4987" cy="1770"/>
          </a:xfrm>
        </p:grpSpPr>
        <p:sp>
          <p:nvSpPr>
            <p:cNvPr id="268294" name="Rectangle 4"/>
            <p:cNvSpPr/>
            <p:nvPr/>
          </p:nvSpPr>
          <p:spPr>
            <a:xfrm>
              <a:off x="431" y="2863"/>
              <a:ext cx="472" cy="290"/>
            </a:xfrm>
            <a:prstGeom prst="rect">
              <a:avLst/>
            </a:prstGeom>
            <a:solidFill>
              <a:srgbClr val="FFA042"/>
            </a:solidFill>
            <a:ln w="1588" cap="flat" cmpd="sng">
              <a:solidFill>
                <a:srgbClr val="000000"/>
              </a:solidFill>
              <a:prstDash val="solid"/>
              <a:miter/>
              <a:headEnd type="none" w="med" len="med"/>
              <a:tailEnd type="none" w="med" len="med"/>
            </a:ln>
          </p:spPr>
          <p:txBody>
            <a:bodyPr/>
            <a:p>
              <a:r>
                <a:rPr lang="zh-CN" altLang="en-US" sz="2000" b="1" dirty="0">
                  <a:latin typeface="Verdana" panose="020B0604030504040204" pitchFamily="34" charset="0"/>
                </a:rPr>
                <a:t>老虎</a:t>
              </a:r>
              <a:endParaRPr lang="zh-CN" altLang="en-US" sz="2000" b="1" dirty="0">
                <a:latin typeface="Verdana" panose="020B0604030504040204" pitchFamily="34" charset="0"/>
              </a:endParaRPr>
            </a:p>
          </p:txBody>
        </p:sp>
        <p:sp>
          <p:nvSpPr>
            <p:cNvPr id="268295" name="Freeform 5"/>
            <p:cNvSpPr/>
            <p:nvPr/>
          </p:nvSpPr>
          <p:spPr>
            <a:xfrm>
              <a:off x="2051" y="2339"/>
              <a:ext cx="383" cy="288"/>
            </a:xfrm>
            <a:custGeom>
              <a:avLst/>
              <a:gdLst>
                <a:gd name="txL" fmla="*/ 0 w 321"/>
                <a:gd name="txT" fmla="*/ 0 h 320"/>
                <a:gd name="txR" fmla="*/ 321 w 321"/>
                <a:gd name="txB" fmla="*/ 320 h 320"/>
              </a:gdLst>
              <a:ahLst/>
              <a:cxnLst>
                <a:cxn ang="0">
                  <a:pos x="0" y="160"/>
                </a:cxn>
                <a:cxn ang="0">
                  <a:pos x="3" y="130"/>
                </a:cxn>
                <a:cxn ang="0">
                  <a:pos x="10" y="102"/>
                </a:cxn>
                <a:cxn ang="0">
                  <a:pos x="24" y="74"/>
                </a:cxn>
                <a:cxn ang="0">
                  <a:pos x="41" y="52"/>
                </a:cxn>
                <a:cxn ang="0">
                  <a:pos x="63" y="32"/>
                </a:cxn>
                <a:cxn ang="0">
                  <a:pos x="88" y="16"/>
                </a:cxn>
                <a:cxn ang="0">
                  <a:pos x="116" y="4"/>
                </a:cxn>
                <a:cxn ang="0">
                  <a:pos x="146" y="0"/>
                </a:cxn>
                <a:cxn ang="0">
                  <a:pos x="176" y="0"/>
                </a:cxn>
                <a:cxn ang="0">
                  <a:pos x="204" y="4"/>
                </a:cxn>
                <a:cxn ang="0">
                  <a:pos x="231" y="16"/>
                </a:cxn>
                <a:cxn ang="0">
                  <a:pos x="257" y="32"/>
                </a:cxn>
                <a:cxn ang="0">
                  <a:pos x="279" y="52"/>
                </a:cxn>
                <a:cxn ang="0">
                  <a:pos x="297" y="74"/>
                </a:cxn>
                <a:cxn ang="0">
                  <a:pos x="310" y="102"/>
                </a:cxn>
                <a:cxn ang="0">
                  <a:pos x="319" y="130"/>
                </a:cxn>
                <a:cxn ang="0">
                  <a:pos x="321" y="160"/>
                </a:cxn>
                <a:cxn ang="0">
                  <a:pos x="319" y="189"/>
                </a:cxn>
                <a:cxn ang="0">
                  <a:pos x="310" y="217"/>
                </a:cxn>
                <a:cxn ang="0">
                  <a:pos x="297" y="245"/>
                </a:cxn>
                <a:cxn ang="0">
                  <a:pos x="279" y="267"/>
                </a:cxn>
                <a:cxn ang="0">
                  <a:pos x="257" y="287"/>
                </a:cxn>
                <a:cxn ang="0">
                  <a:pos x="231" y="303"/>
                </a:cxn>
                <a:cxn ang="0">
                  <a:pos x="204" y="315"/>
                </a:cxn>
                <a:cxn ang="0">
                  <a:pos x="176" y="320"/>
                </a:cxn>
                <a:cxn ang="0">
                  <a:pos x="146" y="320"/>
                </a:cxn>
                <a:cxn ang="0">
                  <a:pos x="116" y="315"/>
                </a:cxn>
                <a:cxn ang="0">
                  <a:pos x="88" y="303"/>
                </a:cxn>
                <a:cxn ang="0">
                  <a:pos x="63" y="287"/>
                </a:cxn>
                <a:cxn ang="0">
                  <a:pos x="41" y="267"/>
                </a:cxn>
                <a:cxn ang="0">
                  <a:pos x="24" y="245"/>
                </a:cxn>
                <a:cxn ang="0">
                  <a:pos x="10" y="217"/>
                </a:cxn>
                <a:cxn ang="0">
                  <a:pos x="3" y="189"/>
                </a:cxn>
                <a:cxn ang="0">
                  <a:pos x="0" y="160"/>
                </a:cxn>
              </a:cxnLst>
              <a:rect l="txL" t="txT" r="txR" b="txB"/>
              <a:pathLst>
                <a:path w="321" h="320">
                  <a:moveTo>
                    <a:pt x="0" y="160"/>
                  </a:moveTo>
                  <a:lnTo>
                    <a:pt x="3" y="130"/>
                  </a:lnTo>
                  <a:lnTo>
                    <a:pt x="10" y="102"/>
                  </a:lnTo>
                  <a:lnTo>
                    <a:pt x="24" y="74"/>
                  </a:lnTo>
                  <a:lnTo>
                    <a:pt x="41" y="52"/>
                  </a:lnTo>
                  <a:lnTo>
                    <a:pt x="63" y="32"/>
                  </a:lnTo>
                  <a:lnTo>
                    <a:pt x="88" y="16"/>
                  </a:lnTo>
                  <a:lnTo>
                    <a:pt x="116" y="4"/>
                  </a:lnTo>
                  <a:lnTo>
                    <a:pt x="146" y="0"/>
                  </a:lnTo>
                  <a:lnTo>
                    <a:pt x="176" y="0"/>
                  </a:lnTo>
                  <a:lnTo>
                    <a:pt x="204" y="4"/>
                  </a:lnTo>
                  <a:lnTo>
                    <a:pt x="231" y="16"/>
                  </a:lnTo>
                  <a:lnTo>
                    <a:pt x="257" y="32"/>
                  </a:lnTo>
                  <a:lnTo>
                    <a:pt x="279" y="52"/>
                  </a:lnTo>
                  <a:lnTo>
                    <a:pt x="297" y="74"/>
                  </a:lnTo>
                  <a:lnTo>
                    <a:pt x="310" y="102"/>
                  </a:lnTo>
                  <a:lnTo>
                    <a:pt x="319" y="130"/>
                  </a:lnTo>
                  <a:lnTo>
                    <a:pt x="321" y="160"/>
                  </a:lnTo>
                  <a:lnTo>
                    <a:pt x="319" y="189"/>
                  </a:lnTo>
                  <a:lnTo>
                    <a:pt x="310" y="217"/>
                  </a:lnTo>
                  <a:lnTo>
                    <a:pt x="297" y="245"/>
                  </a:lnTo>
                  <a:lnTo>
                    <a:pt x="279" y="267"/>
                  </a:lnTo>
                  <a:lnTo>
                    <a:pt x="257" y="287"/>
                  </a:lnTo>
                  <a:lnTo>
                    <a:pt x="231" y="303"/>
                  </a:lnTo>
                  <a:lnTo>
                    <a:pt x="204" y="315"/>
                  </a:lnTo>
                  <a:lnTo>
                    <a:pt x="176" y="320"/>
                  </a:lnTo>
                  <a:lnTo>
                    <a:pt x="146" y="320"/>
                  </a:lnTo>
                  <a:lnTo>
                    <a:pt x="116" y="315"/>
                  </a:lnTo>
                  <a:lnTo>
                    <a:pt x="88" y="303"/>
                  </a:lnTo>
                  <a:lnTo>
                    <a:pt x="63" y="287"/>
                  </a:lnTo>
                  <a:lnTo>
                    <a:pt x="41" y="267"/>
                  </a:lnTo>
                  <a:lnTo>
                    <a:pt x="24" y="245"/>
                  </a:lnTo>
                  <a:lnTo>
                    <a:pt x="10" y="217"/>
                  </a:lnTo>
                  <a:lnTo>
                    <a:pt x="3" y="189"/>
                  </a:lnTo>
                  <a:lnTo>
                    <a:pt x="0" y="160"/>
                  </a:lnTo>
                  <a:close/>
                </a:path>
              </a:pathLst>
            </a:custGeom>
            <a:solidFill>
              <a:srgbClr val="FFFF80">
                <a:alpha val="100000"/>
              </a:srgbClr>
            </a:solidFill>
            <a:ln w="1588" cap="flat" cmpd="sng">
              <a:solidFill>
                <a:srgbClr val="000000">
                  <a:alpha val="100000"/>
                </a:srgbClr>
              </a:solidFill>
              <a:prstDash val="solid"/>
              <a:round/>
              <a:headEnd type="none" w="med" len="med"/>
              <a:tailEnd type="none" w="med" len="med"/>
            </a:ln>
          </p:spPr>
          <p:txBody>
            <a:bodyPr/>
            <a:p>
              <a:endParaRPr lang="zh-CN" altLang="en-US"/>
            </a:p>
          </p:txBody>
        </p:sp>
        <p:sp>
          <p:nvSpPr>
            <p:cNvPr id="268296" name="Rectangle 6"/>
            <p:cNvSpPr/>
            <p:nvPr/>
          </p:nvSpPr>
          <p:spPr>
            <a:xfrm>
              <a:off x="2148" y="2322"/>
              <a:ext cx="131" cy="349"/>
            </a:xfrm>
            <a:prstGeom prst="rect">
              <a:avLst/>
            </a:prstGeom>
            <a:noFill/>
            <a:ln w="9525">
              <a:noFill/>
            </a:ln>
          </p:spPr>
          <p:txBody>
            <a:bodyPr wrap="none" lIns="0" tIns="0" rIns="0" bIns="0">
              <a:spAutoFit/>
            </a:bodyPr>
            <a:p>
              <a:pPr algn="l" eaLnBrk="0" hangingPunct="0"/>
              <a:r>
                <a:rPr lang="en-US" altLang="zh-CN" sz="3600">
                  <a:solidFill>
                    <a:srgbClr val="000000"/>
                  </a:solidFill>
                  <a:latin typeface="Arial Narrow" panose="020B0606020202030204" pitchFamily="34" charset="0"/>
                </a:rPr>
                <a:t>1</a:t>
              </a:r>
              <a:endParaRPr lang="en-US" altLang="zh-CN" sz="2400">
                <a:latin typeface="Arial Narrow" panose="020B0606020202030204" pitchFamily="34" charset="0"/>
              </a:endParaRPr>
            </a:p>
          </p:txBody>
        </p:sp>
        <p:sp>
          <p:nvSpPr>
            <p:cNvPr id="268297" name="Freeform 7"/>
            <p:cNvSpPr/>
            <p:nvPr/>
          </p:nvSpPr>
          <p:spPr>
            <a:xfrm>
              <a:off x="2048" y="3306"/>
              <a:ext cx="383" cy="289"/>
            </a:xfrm>
            <a:custGeom>
              <a:avLst/>
              <a:gdLst>
                <a:gd name="txL" fmla="*/ 0 w 322"/>
                <a:gd name="txT" fmla="*/ 0 h 320"/>
                <a:gd name="txR" fmla="*/ 322 w 322"/>
                <a:gd name="txB" fmla="*/ 320 h 320"/>
              </a:gdLst>
              <a:ahLst/>
              <a:cxnLst>
                <a:cxn ang="0">
                  <a:pos x="0" y="160"/>
                </a:cxn>
                <a:cxn ang="0">
                  <a:pos x="3" y="130"/>
                </a:cxn>
                <a:cxn ang="0">
                  <a:pos x="10" y="101"/>
                </a:cxn>
                <a:cxn ang="0">
                  <a:pos x="24" y="74"/>
                </a:cxn>
                <a:cxn ang="0">
                  <a:pos x="41" y="51"/>
                </a:cxn>
                <a:cxn ang="0">
                  <a:pos x="63" y="31"/>
                </a:cxn>
                <a:cxn ang="0">
                  <a:pos x="89" y="16"/>
                </a:cxn>
                <a:cxn ang="0">
                  <a:pos x="116" y="4"/>
                </a:cxn>
                <a:cxn ang="0">
                  <a:pos x="146" y="0"/>
                </a:cxn>
                <a:cxn ang="0">
                  <a:pos x="176" y="0"/>
                </a:cxn>
                <a:cxn ang="0">
                  <a:pos x="204" y="4"/>
                </a:cxn>
                <a:cxn ang="0">
                  <a:pos x="231" y="16"/>
                </a:cxn>
                <a:cxn ang="0">
                  <a:pos x="257" y="31"/>
                </a:cxn>
                <a:cxn ang="0">
                  <a:pos x="279" y="51"/>
                </a:cxn>
                <a:cxn ang="0">
                  <a:pos x="297" y="74"/>
                </a:cxn>
                <a:cxn ang="0">
                  <a:pos x="310" y="101"/>
                </a:cxn>
                <a:cxn ang="0">
                  <a:pos x="319" y="130"/>
                </a:cxn>
                <a:cxn ang="0">
                  <a:pos x="322" y="160"/>
                </a:cxn>
                <a:cxn ang="0">
                  <a:pos x="319" y="189"/>
                </a:cxn>
                <a:cxn ang="0">
                  <a:pos x="310" y="217"/>
                </a:cxn>
                <a:cxn ang="0">
                  <a:pos x="297" y="244"/>
                </a:cxn>
                <a:cxn ang="0">
                  <a:pos x="279" y="267"/>
                </a:cxn>
                <a:cxn ang="0">
                  <a:pos x="257" y="287"/>
                </a:cxn>
                <a:cxn ang="0">
                  <a:pos x="231" y="303"/>
                </a:cxn>
                <a:cxn ang="0">
                  <a:pos x="204" y="314"/>
                </a:cxn>
                <a:cxn ang="0">
                  <a:pos x="176" y="320"/>
                </a:cxn>
                <a:cxn ang="0">
                  <a:pos x="146" y="320"/>
                </a:cxn>
                <a:cxn ang="0">
                  <a:pos x="116" y="314"/>
                </a:cxn>
                <a:cxn ang="0">
                  <a:pos x="89" y="303"/>
                </a:cxn>
                <a:cxn ang="0">
                  <a:pos x="63" y="287"/>
                </a:cxn>
                <a:cxn ang="0">
                  <a:pos x="41" y="267"/>
                </a:cxn>
                <a:cxn ang="0">
                  <a:pos x="24" y="244"/>
                </a:cxn>
                <a:cxn ang="0">
                  <a:pos x="10" y="217"/>
                </a:cxn>
                <a:cxn ang="0">
                  <a:pos x="3" y="189"/>
                </a:cxn>
                <a:cxn ang="0">
                  <a:pos x="0" y="160"/>
                </a:cxn>
              </a:cxnLst>
              <a:rect l="txL" t="txT" r="txR" b="txB"/>
              <a:pathLst>
                <a:path w="322" h="320">
                  <a:moveTo>
                    <a:pt x="0" y="160"/>
                  </a:moveTo>
                  <a:lnTo>
                    <a:pt x="3" y="130"/>
                  </a:lnTo>
                  <a:lnTo>
                    <a:pt x="10" y="101"/>
                  </a:lnTo>
                  <a:lnTo>
                    <a:pt x="24" y="74"/>
                  </a:lnTo>
                  <a:lnTo>
                    <a:pt x="41" y="51"/>
                  </a:lnTo>
                  <a:lnTo>
                    <a:pt x="63" y="31"/>
                  </a:lnTo>
                  <a:lnTo>
                    <a:pt x="89" y="16"/>
                  </a:lnTo>
                  <a:lnTo>
                    <a:pt x="116" y="4"/>
                  </a:lnTo>
                  <a:lnTo>
                    <a:pt x="146" y="0"/>
                  </a:lnTo>
                  <a:lnTo>
                    <a:pt x="176" y="0"/>
                  </a:lnTo>
                  <a:lnTo>
                    <a:pt x="204" y="4"/>
                  </a:lnTo>
                  <a:lnTo>
                    <a:pt x="231" y="16"/>
                  </a:lnTo>
                  <a:lnTo>
                    <a:pt x="257" y="31"/>
                  </a:lnTo>
                  <a:lnTo>
                    <a:pt x="279" y="51"/>
                  </a:lnTo>
                  <a:lnTo>
                    <a:pt x="297" y="74"/>
                  </a:lnTo>
                  <a:lnTo>
                    <a:pt x="310" y="101"/>
                  </a:lnTo>
                  <a:lnTo>
                    <a:pt x="319" y="130"/>
                  </a:lnTo>
                  <a:lnTo>
                    <a:pt x="322" y="160"/>
                  </a:lnTo>
                  <a:lnTo>
                    <a:pt x="319" y="189"/>
                  </a:lnTo>
                  <a:lnTo>
                    <a:pt x="310" y="217"/>
                  </a:lnTo>
                  <a:lnTo>
                    <a:pt x="297" y="244"/>
                  </a:lnTo>
                  <a:lnTo>
                    <a:pt x="279" y="267"/>
                  </a:lnTo>
                  <a:lnTo>
                    <a:pt x="257" y="287"/>
                  </a:lnTo>
                  <a:lnTo>
                    <a:pt x="231" y="303"/>
                  </a:lnTo>
                  <a:lnTo>
                    <a:pt x="204" y="314"/>
                  </a:lnTo>
                  <a:lnTo>
                    <a:pt x="176" y="320"/>
                  </a:lnTo>
                  <a:lnTo>
                    <a:pt x="146" y="320"/>
                  </a:lnTo>
                  <a:lnTo>
                    <a:pt x="116" y="314"/>
                  </a:lnTo>
                  <a:lnTo>
                    <a:pt x="89" y="303"/>
                  </a:lnTo>
                  <a:lnTo>
                    <a:pt x="63" y="287"/>
                  </a:lnTo>
                  <a:lnTo>
                    <a:pt x="41" y="267"/>
                  </a:lnTo>
                  <a:lnTo>
                    <a:pt x="24" y="244"/>
                  </a:lnTo>
                  <a:lnTo>
                    <a:pt x="10" y="217"/>
                  </a:lnTo>
                  <a:lnTo>
                    <a:pt x="3" y="189"/>
                  </a:lnTo>
                  <a:lnTo>
                    <a:pt x="0" y="160"/>
                  </a:lnTo>
                  <a:close/>
                </a:path>
              </a:pathLst>
            </a:custGeom>
            <a:solidFill>
              <a:srgbClr val="FFFF80">
                <a:alpha val="100000"/>
              </a:srgbClr>
            </a:solidFill>
            <a:ln w="1588" cap="flat" cmpd="sng">
              <a:solidFill>
                <a:srgbClr val="000000">
                  <a:alpha val="100000"/>
                </a:srgbClr>
              </a:solidFill>
              <a:prstDash val="solid"/>
              <a:round/>
              <a:headEnd type="none" w="med" len="med"/>
              <a:tailEnd type="none" w="med" len="med"/>
            </a:ln>
          </p:spPr>
          <p:txBody>
            <a:bodyPr/>
            <a:p>
              <a:endParaRPr lang="zh-CN" altLang="en-US"/>
            </a:p>
          </p:txBody>
        </p:sp>
        <p:sp>
          <p:nvSpPr>
            <p:cNvPr id="268298" name="Rectangle 8"/>
            <p:cNvSpPr/>
            <p:nvPr/>
          </p:nvSpPr>
          <p:spPr>
            <a:xfrm>
              <a:off x="2144" y="3290"/>
              <a:ext cx="131" cy="349"/>
            </a:xfrm>
            <a:prstGeom prst="rect">
              <a:avLst/>
            </a:prstGeom>
            <a:noFill/>
            <a:ln w="9525">
              <a:noFill/>
            </a:ln>
          </p:spPr>
          <p:txBody>
            <a:bodyPr wrap="none" lIns="0" tIns="0" rIns="0" bIns="0">
              <a:spAutoFit/>
            </a:bodyPr>
            <a:p>
              <a:pPr algn="l" eaLnBrk="0" hangingPunct="0"/>
              <a:r>
                <a:rPr lang="en-US" altLang="zh-CN" sz="3600">
                  <a:solidFill>
                    <a:srgbClr val="000000"/>
                  </a:solidFill>
                  <a:latin typeface="Arial Narrow" panose="020B0606020202030204" pitchFamily="34" charset="0"/>
                </a:rPr>
                <a:t>2</a:t>
              </a:r>
              <a:endParaRPr lang="en-US" altLang="zh-CN" sz="2400">
                <a:latin typeface="Arial Narrow" panose="020B0606020202030204" pitchFamily="34" charset="0"/>
              </a:endParaRPr>
            </a:p>
          </p:txBody>
        </p:sp>
        <p:sp>
          <p:nvSpPr>
            <p:cNvPr id="268299" name="Freeform 9"/>
            <p:cNvSpPr/>
            <p:nvPr/>
          </p:nvSpPr>
          <p:spPr>
            <a:xfrm>
              <a:off x="2431" y="3257"/>
              <a:ext cx="1595" cy="193"/>
            </a:xfrm>
            <a:custGeom>
              <a:avLst/>
              <a:gdLst>
                <a:gd name="txL" fmla="*/ 0 w 1338"/>
                <a:gd name="txT" fmla="*/ 0 h 214"/>
                <a:gd name="txR" fmla="*/ 1338 w 1338"/>
                <a:gd name="txB" fmla="*/ 214 h 214"/>
              </a:gdLst>
              <a:ahLst/>
              <a:cxnLst>
                <a:cxn ang="0">
                  <a:pos x="0" y="214"/>
                </a:cxn>
                <a:cxn ang="0">
                  <a:pos x="52" y="0"/>
                </a:cxn>
                <a:cxn ang="0">
                  <a:pos x="1338" y="0"/>
                </a:cxn>
              </a:cxnLst>
              <a:rect l="txL" t="txT" r="txR" b="txB"/>
              <a:pathLst>
                <a:path w="1338" h="214">
                  <a:moveTo>
                    <a:pt x="0" y="214"/>
                  </a:moveTo>
                  <a:lnTo>
                    <a:pt x="52" y="0"/>
                  </a:lnTo>
                  <a:lnTo>
                    <a:pt x="1338" y="0"/>
                  </a:lnTo>
                </a:path>
              </a:pathLst>
            </a:custGeom>
            <a:noFill/>
            <a:ln w="30163" cap="flat" cmpd="sng">
              <a:solidFill>
                <a:srgbClr val="CDCDCD">
                  <a:alpha val="100000"/>
                </a:srgbClr>
              </a:solidFill>
              <a:prstDash val="solid"/>
              <a:round/>
              <a:headEnd type="none" w="med" len="med"/>
              <a:tailEnd type="none" w="med" len="med"/>
            </a:ln>
          </p:spPr>
          <p:txBody>
            <a:bodyPr/>
            <a:p>
              <a:endParaRPr lang="zh-CN" altLang="en-US"/>
            </a:p>
          </p:txBody>
        </p:sp>
        <p:sp>
          <p:nvSpPr>
            <p:cNvPr id="268300" name="Freeform 10"/>
            <p:cNvSpPr/>
            <p:nvPr/>
          </p:nvSpPr>
          <p:spPr>
            <a:xfrm>
              <a:off x="2431" y="3450"/>
              <a:ext cx="1595" cy="193"/>
            </a:xfrm>
            <a:custGeom>
              <a:avLst/>
              <a:gdLst>
                <a:gd name="txL" fmla="*/ 0 w 1338"/>
                <a:gd name="txT" fmla="*/ 0 h 214"/>
                <a:gd name="txR" fmla="*/ 1338 w 1338"/>
                <a:gd name="txB" fmla="*/ 214 h 214"/>
              </a:gdLst>
              <a:ahLst/>
              <a:cxnLst>
                <a:cxn ang="0">
                  <a:pos x="0" y="0"/>
                </a:cxn>
                <a:cxn ang="0">
                  <a:pos x="52" y="214"/>
                </a:cxn>
                <a:cxn ang="0">
                  <a:pos x="1338" y="214"/>
                </a:cxn>
              </a:cxnLst>
              <a:rect l="txL" t="txT" r="txR" b="txB"/>
              <a:pathLst>
                <a:path w="1338" h="214">
                  <a:moveTo>
                    <a:pt x="0" y="0"/>
                  </a:moveTo>
                  <a:lnTo>
                    <a:pt x="52" y="214"/>
                  </a:lnTo>
                  <a:lnTo>
                    <a:pt x="1338" y="214"/>
                  </a:lnTo>
                </a:path>
              </a:pathLst>
            </a:custGeom>
            <a:noFill/>
            <a:ln w="30163" cap="flat" cmpd="sng">
              <a:solidFill>
                <a:srgbClr val="CDCDCD">
                  <a:alpha val="100000"/>
                </a:srgbClr>
              </a:solidFill>
              <a:prstDash val="solid"/>
              <a:round/>
              <a:headEnd type="none" w="med" len="med"/>
              <a:tailEnd type="none" w="med" len="med"/>
            </a:ln>
          </p:spPr>
          <p:txBody>
            <a:bodyPr/>
            <a:p>
              <a:endParaRPr lang="zh-CN" altLang="en-US"/>
            </a:p>
          </p:txBody>
        </p:sp>
        <p:sp>
          <p:nvSpPr>
            <p:cNvPr id="268301" name="Freeform 11"/>
            <p:cNvSpPr/>
            <p:nvPr/>
          </p:nvSpPr>
          <p:spPr>
            <a:xfrm>
              <a:off x="2434" y="2290"/>
              <a:ext cx="1595" cy="193"/>
            </a:xfrm>
            <a:custGeom>
              <a:avLst/>
              <a:gdLst>
                <a:gd name="txL" fmla="*/ 0 w 1339"/>
                <a:gd name="txT" fmla="*/ 0 h 214"/>
                <a:gd name="txR" fmla="*/ 1339 w 1339"/>
                <a:gd name="txB" fmla="*/ 214 h 214"/>
              </a:gdLst>
              <a:ahLst/>
              <a:cxnLst>
                <a:cxn ang="0">
                  <a:pos x="0" y="214"/>
                </a:cxn>
                <a:cxn ang="0">
                  <a:pos x="53" y="0"/>
                </a:cxn>
                <a:cxn ang="0">
                  <a:pos x="1339" y="0"/>
                </a:cxn>
              </a:cxnLst>
              <a:rect l="txL" t="txT" r="txR" b="txB"/>
              <a:pathLst>
                <a:path w="1339" h="214">
                  <a:moveTo>
                    <a:pt x="0" y="214"/>
                  </a:moveTo>
                  <a:lnTo>
                    <a:pt x="53" y="0"/>
                  </a:lnTo>
                  <a:lnTo>
                    <a:pt x="1339" y="0"/>
                  </a:lnTo>
                </a:path>
              </a:pathLst>
            </a:custGeom>
            <a:noFill/>
            <a:ln w="30163" cap="flat" cmpd="sng">
              <a:solidFill>
                <a:srgbClr val="CDCDCD">
                  <a:alpha val="100000"/>
                </a:srgbClr>
              </a:solidFill>
              <a:prstDash val="solid"/>
              <a:round/>
              <a:headEnd type="none" w="med" len="med"/>
              <a:tailEnd type="none" w="med" len="med"/>
            </a:ln>
          </p:spPr>
          <p:txBody>
            <a:bodyPr/>
            <a:p>
              <a:endParaRPr lang="zh-CN" altLang="en-US"/>
            </a:p>
          </p:txBody>
        </p:sp>
        <p:sp>
          <p:nvSpPr>
            <p:cNvPr id="268302" name="Freeform 12"/>
            <p:cNvSpPr/>
            <p:nvPr/>
          </p:nvSpPr>
          <p:spPr>
            <a:xfrm>
              <a:off x="2434" y="2483"/>
              <a:ext cx="1595" cy="194"/>
            </a:xfrm>
            <a:custGeom>
              <a:avLst/>
              <a:gdLst>
                <a:gd name="txL" fmla="*/ 0 w 1339"/>
                <a:gd name="txT" fmla="*/ 0 h 215"/>
                <a:gd name="txR" fmla="*/ 1339 w 1339"/>
                <a:gd name="txB" fmla="*/ 215 h 215"/>
              </a:gdLst>
              <a:ahLst/>
              <a:cxnLst>
                <a:cxn ang="0">
                  <a:pos x="0" y="0"/>
                </a:cxn>
                <a:cxn ang="0">
                  <a:pos x="53" y="215"/>
                </a:cxn>
                <a:cxn ang="0">
                  <a:pos x="1339" y="215"/>
                </a:cxn>
              </a:cxnLst>
              <a:rect l="txL" t="txT" r="txR" b="txB"/>
              <a:pathLst>
                <a:path w="1339" h="215">
                  <a:moveTo>
                    <a:pt x="0" y="0"/>
                  </a:moveTo>
                  <a:lnTo>
                    <a:pt x="53" y="215"/>
                  </a:lnTo>
                  <a:lnTo>
                    <a:pt x="1339" y="215"/>
                  </a:lnTo>
                </a:path>
              </a:pathLst>
            </a:custGeom>
            <a:noFill/>
            <a:ln w="30163" cap="flat" cmpd="sng">
              <a:solidFill>
                <a:srgbClr val="CDCDCD">
                  <a:alpha val="100000"/>
                </a:srgbClr>
              </a:solidFill>
              <a:prstDash val="solid"/>
              <a:round/>
              <a:headEnd type="none" w="med" len="med"/>
              <a:tailEnd type="none" w="med" len="med"/>
            </a:ln>
          </p:spPr>
          <p:txBody>
            <a:bodyPr/>
            <a:p>
              <a:endParaRPr lang="zh-CN" altLang="en-US"/>
            </a:p>
          </p:txBody>
        </p:sp>
        <p:sp>
          <p:nvSpPr>
            <p:cNvPr id="268303" name="Line 13"/>
            <p:cNvSpPr/>
            <p:nvPr/>
          </p:nvSpPr>
          <p:spPr>
            <a:xfrm flipV="1">
              <a:off x="901" y="2483"/>
              <a:ext cx="1150" cy="531"/>
            </a:xfrm>
            <a:prstGeom prst="line">
              <a:avLst/>
            </a:prstGeom>
            <a:ln w="30163" cap="flat" cmpd="sng">
              <a:solidFill>
                <a:srgbClr val="CDCDCD"/>
              </a:solidFill>
              <a:prstDash val="solid"/>
              <a:headEnd type="none" w="med" len="med"/>
              <a:tailEnd type="none" w="med" len="med"/>
            </a:ln>
          </p:spPr>
        </p:sp>
        <p:sp>
          <p:nvSpPr>
            <p:cNvPr id="268304" name="Rectangle 14"/>
            <p:cNvSpPr/>
            <p:nvPr/>
          </p:nvSpPr>
          <p:spPr>
            <a:xfrm>
              <a:off x="2835" y="2047"/>
              <a:ext cx="432" cy="174"/>
            </a:xfrm>
            <a:prstGeom prst="rect">
              <a:avLst/>
            </a:prstGeom>
            <a:noFill/>
            <a:ln w="9525">
              <a:noFill/>
            </a:ln>
          </p:spPr>
          <p:txBody>
            <a:bodyPr wrap="none" lIns="0" tIns="0" rIns="0" bIns="0">
              <a:spAutoFit/>
            </a:bodyPr>
            <a:p>
              <a:pPr algn="l" eaLnBrk="0" hangingPunct="0"/>
              <a:r>
                <a:rPr lang="zh-CN" altLang="en-US" dirty="0">
                  <a:latin typeface="Arial Narrow" panose="020B0606020202030204" pitchFamily="34" charset="0"/>
                </a:rPr>
                <a:t>驴厉害</a:t>
              </a:r>
              <a:endParaRPr lang="zh-CN" altLang="en-US" dirty="0">
                <a:latin typeface="Arial Narrow" panose="020B0606020202030204" pitchFamily="34" charset="0"/>
              </a:endParaRPr>
            </a:p>
          </p:txBody>
        </p:sp>
        <p:sp>
          <p:nvSpPr>
            <p:cNvPr id="268305" name="Rectangle 15"/>
            <p:cNvSpPr/>
            <p:nvPr/>
          </p:nvSpPr>
          <p:spPr>
            <a:xfrm>
              <a:off x="2789" y="2432"/>
              <a:ext cx="576" cy="174"/>
            </a:xfrm>
            <a:prstGeom prst="rect">
              <a:avLst/>
            </a:prstGeom>
            <a:noFill/>
            <a:ln w="9525">
              <a:noFill/>
            </a:ln>
          </p:spPr>
          <p:txBody>
            <a:bodyPr wrap="none" lIns="0" tIns="0" rIns="0" bIns="0">
              <a:spAutoFit/>
            </a:bodyPr>
            <a:p>
              <a:pPr algn="l" eaLnBrk="0" hangingPunct="0"/>
              <a:r>
                <a:rPr lang="zh-CN" altLang="en-US" dirty="0">
                  <a:latin typeface="Arial Narrow" panose="020B0606020202030204" pitchFamily="34" charset="0"/>
                </a:rPr>
                <a:t>驴不厉害</a:t>
              </a:r>
              <a:endParaRPr lang="zh-CN" altLang="en-US" dirty="0">
                <a:latin typeface="Arial Narrow" panose="020B0606020202030204" pitchFamily="34" charset="0"/>
              </a:endParaRPr>
            </a:p>
          </p:txBody>
        </p:sp>
        <p:sp>
          <p:nvSpPr>
            <p:cNvPr id="268306" name="Rectangle 16"/>
            <p:cNvSpPr/>
            <p:nvPr/>
          </p:nvSpPr>
          <p:spPr>
            <a:xfrm>
              <a:off x="2866" y="2976"/>
              <a:ext cx="432" cy="174"/>
            </a:xfrm>
            <a:prstGeom prst="rect">
              <a:avLst/>
            </a:prstGeom>
            <a:noFill/>
            <a:ln w="9525">
              <a:noFill/>
            </a:ln>
          </p:spPr>
          <p:txBody>
            <a:bodyPr wrap="none" lIns="0" tIns="0" rIns="0" bIns="0">
              <a:spAutoFit/>
            </a:bodyPr>
            <a:p>
              <a:pPr algn="l" eaLnBrk="0" hangingPunct="0"/>
              <a:r>
                <a:rPr lang="zh-CN" altLang="en-US" dirty="0">
                  <a:latin typeface="Times New Roman" panose="02020603050405020304" pitchFamily="18" charset="0"/>
                </a:rPr>
                <a:t>驴厉害</a:t>
              </a:r>
              <a:endParaRPr lang="zh-CN" altLang="en-US">
                <a:latin typeface="Times New Roman" panose="02020603050405020304" pitchFamily="18" charset="0"/>
              </a:endParaRPr>
            </a:p>
          </p:txBody>
        </p:sp>
        <p:sp>
          <p:nvSpPr>
            <p:cNvPr id="268307" name="Rectangle 17"/>
            <p:cNvSpPr/>
            <p:nvPr/>
          </p:nvSpPr>
          <p:spPr>
            <a:xfrm>
              <a:off x="2812" y="3385"/>
              <a:ext cx="576" cy="174"/>
            </a:xfrm>
            <a:prstGeom prst="rect">
              <a:avLst/>
            </a:prstGeom>
            <a:noFill/>
            <a:ln w="9525">
              <a:noFill/>
            </a:ln>
          </p:spPr>
          <p:txBody>
            <a:bodyPr wrap="none" lIns="0" tIns="0" rIns="0" bIns="0">
              <a:spAutoFit/>
            </a:bodyPr>
            <a:p>
              <a:pPr algn="l" eaLnBrk="0" hangingPunct="0"/>
              <a:r>
                <a:rPr lang="zh-CN" altLang="en-US" dirty="0">
                  <a:latin typeface="Times New Roman" panose="02020603050405020304" pitchFamily="18" charset="0"/>
                </a:rPr>
                <a:t>驴不厉害</a:t>
              </a:r>
              <a:endParaRPr lang="zh-CN" altLang="en-US">
                <a:latin typeface="Times New Roman" panose="02020603050405020304" pitchFamily="18" charset="0"/>
              </a:endParaRPr>
            </a:p>
          </p:txBody>
        </p:sp>
        <p:sp>
          <p:nvSpPr>
            <p:cNvPr id="268308" name="Rectangle 18"/>
            <p:cNvSpPr/>
            <p:nvPr/>
          </p:nvSpPr>
          <p:spPr>
            <a:xfrm rot="-1889762">
              <a:off x="1202" y="2568"/>
              <a:ext cx="288" cy="174"/>
            </a:xfrm>
            <a:prstGeom prst="rect">
              <a:avLst/>
            </a:prstGeom>
            <a:noFill/>
            <a:ln w="9525">
              <a:noFill/>
            </a:ln>
          </p:spPr>
          <p:txBody>
            <a:bodyPr wrap="none" lIns="0" tIns="0" rIns="0" bIns="0">
              <a:spAutoFit/>
            </a:bodyPr>
            <a:p>
              <a:pPr algn="l" eaLnBrk="0" hangingPunct="0"/>
              <a:r>
                <a:rPr lang="zh-CN" altLang="en-US" dirty="0">
                  <a:latin typeface="Arial Narrow" panose="020B0606020202030204" pitchFamily="34" charset="0"/>
                </a:rPr>
                <a:t>吃驴</a:t>
              </a:r>
              <a:endParaRPr lang="zh-CN" altLang="en-US" dirty="0">
                <a:latin typeface="Arial Narrow" panose="020B0606020202030204" pitchFamily="34" charset="0"/>
              </a:endParaRPr>
            </a:p>
          </p:txBody>
        </p:sp>
        <p:sp>
          <p:nvSpPr>
            <p:cNvPr id="268309" name="Rectangle 19"/>
            <p:cNvSpPr/>
            <p:nvPr/>
          </p:nvSpPr>
          <p:spPr>
            <a:xfrm rot="1603753">
              <a:off x="1247" y="2999"/>
              <a:ext cx="288" cy="174"/>
            </a:xfrm>
            <a:prstGeom prst="rect">
              <a:avLst/>
            </a:prstGeom>
            <a:noFill/>
            <a:ln w="9525">
              <a:noFill/>
            </a:ln>
          </p:spPr>
          <p:txBody>
            <a:bodyPr wrap="none" lIns="0" tIns="0" rIns="0" bIns="0">
              <a:spAutoFit/>
            </a:bodyPr>
            <a:p>
              <a:pPr algn="l" eaLnBrk="0" hangingPunct="0"/>
              <a:r>
                <a:rPr lang="zh-CN" altLang="en-US" dirty="0">
                  <a:latin typeface="Arial Narrow" panose="020B0606020202030204" pitchFamily="34" charset="0"/>
                </a:rPr>
                <a:t>不吃</a:t>
              </a:r>
              <a:endParaRPr lang="zh-CN" altLang="en-US" dirty="0">
                <a:latin typeface="Arial Narrow" panose="020B0606020202030204" pitchFamily="34" charset="0"/>
              </a:endParaRPr>
            </a:p>
          </p:txBody>
        </p:sp>
        <p:sp>
          <p:nvSpPr>
            <p:cNvPr id="268310" name="Line 20"/>
            <p:cNvSpPr/>
            <p:nvPr/>
          </p:nvSpPr>
          <p:spPr>
            <a:xfrm>
              <a:off x="901" y="3014"/>
              <a:ext cx="1147" cy="436"/>
            </a:xfrm>
            <a:prstGeom prst="line">
              <a:avLst/>
            </a:prstGeom>
            <a:ln w="30163" cap="flat" cmpd="sng">
              <a:solidFill>
                <a:srgbClr val="CDCDCD"/>
              </a:solidFill>
              <a:prstDash val="solid"/>
              <a:headEnd type="none" w="med" len="med"/>
              <a:tailEnd type="none" w="med" len="med"/>
            </a:ln>
          </p:spPr>
        </p:sp>
        <p:sp>
          <p:nvSpPr>
            <p:cNvPr id="203798" name="Rectangle 22"/>
            <p:cNvSpPr>
              <a:spLocks noChangeArrowheads="1"/>
            </p:cNvSpPr>
            <p:nvPr/>
          </p:nvSpPr>
          <p:spPr bwMode="auto">
            <a:xfrm>
              <a:off x="4014" y="2160"/>
              <a:ext cx="1404" cy="302"/>
            </a:xfrm>
            <a:prstGeom prst="rect">
              <a:avLst/>
            </a:prstGeom>
            <a:noFill/>
            <a:ln w="12700">
              <a:noFill/>
              <a:miter lim="800000"/>
            </a:ln>
            <a:effectLst>
              <a:outerShdw dist="35921" dir="2700000" algn="ctr" rotWithShape="0">
                <a:schemeClr val="bg2"/>
              </a:outerShdw>
            </a:effectLst>
          </p:spPr>
          <p:txBody>
            <a:bodyPr lIns="82724" tIns="40636" rIns="82724" bIns="40636">
              <a:spAutoFit/>
            </a:bodyPr>
            <a:lstStyle/>
            <a:p>
              <a:pPr marL="0" marR="0" lvl="0" indent="0" algn="l" defTabSz="836930" rtl="0" eaLnBrk="0" fontAlgn="base" latinLnBrk="0" hangingPunct="0">
                <a:lnSpc>
                  <a:spcPct val="100000"/>
                </a:lnSpc>
                <a:spcBef>
                  <a:spcPct val="50000"/>
                </a:spcBef>
                <a:spcAft>
                  <a:spcPct val="0"/>
                </a:spcAft>
                <a:buClrTx/>
                <a:buSzTx/>
                <a:buFontTx/>
                <a:buNone/>
                <a:defRPr/>
              </a:pPr>
              <a:r>
                <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rPr>
                <a:t>Outcome 1</a:t>
              </a:r>
              <a:endPar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endParaRPr>
            </a:p>
          </p:txBody>
        </p:sp>
        <p:sp>
          <p:nvSpPr>
            <p:cNvPr id="203799" name="Rectangle 23"/>
            <p:cNvSpPr>
              <a:spLocks noChangeArrowheads="1"/>
            </p:cNvSpPr>
            <p:nvPr/>
          </p:nvSpPr>
          <p:spPr bwMode="auto">
            <a:xfrm>
              <a:off x="4003" y="2557"/>
              <a:ext cx="1404" cy="302"/>
            </a:xfrm>
            <a:prstGeom prst="rect">
              <a:avLst/>
            </a:prstGeom>
            <a:noFill/>
            <a:ln w="12700">
              <a:noFill/>
              <a:miter lim="800000"/>
            </a:ln>
            <a:effectLst>
              <a:outerShdw dist="35921" dir="2700000" algn="ctr" rotWithShape="0">
                <a:schemeClr val="bg2"/>
              </a:outerShdw>
            </a:effectLst>
          </p:spPr>
          <p:txBody>
            <a:bodyPr lIns="82724" tIns="40636" rIns="82724" bIns="40636">
              <a:spAutoFit/>
            </a:bodyPr>
            <a:lstStyle/>
            <a:p>
              <a:pPr marL="0" marR="0" lvl="0" indent="0" algn="l" defTabSz="836930" rtl="0" eaLnBrk="0" fontAlgn="base" latinLnBrk="0" hangingPunct="0">
                <a:lnSpc>
                  <a:spcPct val="100000"/>
                </a:lnSpc>
                <a:spcBef>
                  <a:spcPct val="50000"/>
                </a:spcBef>
                <a:spcAft>
                  <a:spcPct val="0"/>
                </a:spcAft>
                <a:buClrTx/>
                <a:buSzTx/>
                <a:buFontTx/>
                <a:buNone/>
                <a:defRPr/>
              </a:pPr>
              <a:r>
                <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rPr>
                <a:t>Outcome 2</a:t>
              </a:r>
              <a:endPar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endParaRPr>
            </a:p>
          </p:txBody>
        </p:sp>
        <p:sp>
          <p:nvSpPr>
            <p:cNvPr id="203800" name="Rectangle 24"/>
            <p:cNvSpPr>
              <a:spLocks noChangeArrowheads="1"/>
            </p:cNvSpPr>
            <p:nvPr/>
          </p:nvSpPr>
          <p:spPr bwMode="auto">
            <a:xfrm>
              <a:off x="4009" y="3097"/>
              <a:ext cx="1402" cy="302"/>
            </a:xfrm>
            <a:prstGeom prst="rect">
              <a:avLst/>
            </a:prstGeom>
            <a:noFill/>
            <a:ln w="12700">
              <a:noFill/>
              <a:miter lim="800000"/>
            </a:ln>
            <a:effectLst>
              <a:outerShdw dist="35921" dir="2700000" algn="ctr" rotWithShape="0">
                <a:schemeClr val="bg2"/>
              </a:outerShdw>
            </a:effectLst>
          </p:spPr>
          <p:txBody>
            <a:bodyPr lIns="82724" tIns="40636" rIns="82724" bIns="40636">
              <a:spAutoFit/>
            </a:bodyPr>
            <a:lstStyle/>
            <a:p>
              <a:pPr marL="0" marR="0" lvl="0" indent="0" algn="l" defTabSz="836930" rtl="0" eaLnBrk="0" fontAlgn="base" latinLnBrk="0" hangingPunct="0">
                <a:lnSpc>
                  <a:spcPct val="100000"/>
                </a:lnSpc>
                <a:spcBef>
                  <a:spcPct val="50000"/>
                </a:spcBef>
                <a:spcAft>
                  <a:spcPct val="0"/>
                </a:spcAft>
                <a:buClrTx/>
                <a:buSzTx/>
                <a:buFontTx/>
                <a:buNone/>
                <a:defRPr/>
              </a:pPr>
              <a:r>
                <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rPr>
                <a:t>Outcome 3</a:t>
              </a:r>
              <a:endPar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endParaRPr>
            </a:p>
          </p:txBody>
        </p:sp>
        <p:sp>
          <p:nvSpPr>
            <p:cNvPr id="203801" name="Rectangle 25"/>
            <p:cNvSpPr>
              <a:spLocks noChangeArrowheads="1"/>
            </p:cNvSpPr>
            <p:nvPr/>
          </p:nvSpPr>
          <p:spPr bwMode="auto">
            <a:xfrm>
              <a:off x="3988" y="3515"/>
              <a:ext cx="1402" cy="302"/>
            </a:xfrm>
            <a:prstGeom prst="rect">
              <a:avLst/>
            </a:prstGeom>
            <a:noFill/>
            <a:ln w="12700">
              <a:noFill/>
              <a:miter lim="800000"/>
            </a:ln>
            <a:effectLst>
              <a:outerShdw dist="35921" dir="2700000" algn="ctr" rotWithShape="0">
                <a:schemeClr val="bg2"/>
              </a:outerShdw>
            </a:effectLst>
          </p:spPr>
          <p:txBody>
            <a:bodyPr lIns="82724" tIns="40636" rIns="82724" bIns="40636">
              <a:spAutoFit/>
            </a:bodyPr>
            <a:lstStyle/>
            <a:p>
              <a:pPr marL="0" marR="0" lvl="0" indent="0" algn="l" defTabSz="836930" rtl="0" eaLnBrk="0" fontAlgn="base" latinLnBrk="0" hangingPunct="0">
                <a:lnSpc>
                  <a:spcPct val="100000"/>
                </a:lnSpc>
                <a:spcBef>
                  <a:spcPct val="50000"/>
                </a:spcBef>
                <a:spcAft>
                  <a:spcPct val="0"/>
                </a:spcAft>
                <a:buClrTx/>
                <a:buSzTx/>
                <a:buFontTx/>
                <a:buNone/>
                <a:defRPr/>
              </a:pPr>
              <a:r>
                <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rPr>
                <a:t>Outcome 4</a:t>
              </a:r>
              <a:endParaRPr kumimoji="0" lang="en-US" sz="2600" b="0" i="0" u="none" strike="noStrike" kern="1200" cap="none" spc="0" normalizeH="0" baseline="0" noProof="0">
                <a:ln>
                  <a:noFill/>
                </a:ln>
                <a:solidFill>
                  <a:srgbClr val="FFFF00"/>
                </a:solidFill>
                <a:effectLst/>
                <a:uLnTx/>
                <a:uFillTx/>
                <a:latin typeface="Arial Narrow" panose="020B0606020202030204" pitchFamily="34" charset="0"/>
                <a:ea typeface="+mn-ea"/>
                <a:cs typeface="+mn-cs"/>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9314" name="标题 269313"/>
          <p:cNvSpPr>
            <a:spLocks noGrp="1"/>
          </p:cNvSpPr>
          <p:nvPr>
            <p:ph type="title"/>
          </p:nvPr>
        </p:nvSpPr>
        <p:spPr>
          <a:xfrm>
            <a:off x="2640013" y="188913"/>
            <a:ext cx="7793037" cy="1462087"/>
          </a:xfrm>
        </p:spPr>
        <p:txBody>
          <a:bodyPr anchor="b" anchorCtr="0"/>
          <a:p>
            <a:r>
              <a:rPr lang="zh-CN" altLang="en-US" dirty="0"/>
              <a:t>老虎的先验概率：驴厉害吗？</a:t>
            </a:r>
            <a:endParaRPr lang="zh-CN" altLang="en-US" dirty="0"/>
          </a:p>
        </p:txBody>
      </p:sp>
      <p:sp>
        <p:nvSpPr>
          <p:cNvPr id="269315" name="文本占位符 269314"/>
          <p:cNvSpPr>
            <a:spLocks noGrp="1"/>
          </p:cNvSpPr>
          <p:nvPr>
            <p:ph type="body" idx="1"/>
          </p:nvPr>
        </p:nvSpPr>
        <p:spPr/>
        <p:txBody>
          <a:bodyPr/>
          <a:p>
            <a:pPr>
              <a:lnSpc>
                <a:spcPct val="80000"/>
              </a:lnSpc>
            </a:pPr>
            <a:r>
              <a:rPr lang="zh-CN" altLang="en-US" sz="2800" u="sng" dirty="0">
                <a:solidFill>
                  <a:srgbClr val="996600"/>
                </a:solidFill>
              </a:rPr>
              <a:t>“黔无驴，有好事者船载以入。”</a:t>
            </a:r>
            <a:endParaRPr lang="zh-CN" altLang="en-US" sz="2800" u="sng" dirty="0">
              <a:solidFill>
                <a:srgbClr val="996600"/>
              </a:solidFill>
            </a:endParaRPr>
          </a:p>
          <a:p>
            <a:pPr lvl="1">
              <a:lnSpc>
                <a:spcPct val="80000"/>
              </a:lnSpc>
            </a:pPr>
            <a:r>
              <a:rPr lang="zh-CN" altLang="en-US" sz="2400" dirty="0"/>
              <a:t>说明老虎对驴完全不了解，在面临一个不确定性的事情时，老虎只能通过回忆类似的事情来判断驴是否厉害，即老虎对驴的先验概率。</a:t>
            </a:r>
            <a:endParaRPr lang="zh-CN" altLang="en-US" sz="2400" dirty="0"/>
          </a:p>
          <a:p>
            <a:pPr lvl="1">
              <a:lnSpc>
                <a:spcPct val="80000"/>
              </a:lnSpc>
              <a:buNone/>
            </a:pPr>
            <a:endParaRPr lang="zh-CN" altLang="en-US" sz="2400" dirty="0"/>
          </a:p>
          <a:p>
            <a:pPr>
              <a:lnSpc>
                <a:spcPct val="80000"/>
              </a:lnSpc>
            </a:pPr>
            <a:r>
              <a:rPr lang="zh-CN" altLang="en-US" sz="2800" u="sng" dirty="0">
                <a:solidFill>
                  <a:srgbClr val="996600"/>
                </a:solidFill>
              </a:rPr>
              <a:t>“虎见之，庞然大物也，以为神，蔽林间窥之。稍出近之，应应然，莫相知。他日，驴一鸣，虎大骇，远遁；以为且噬已也，甚恐。”</a:t>
            </a:r>
            <a:endParaRPr lang="zh-CN" altLang="en-US" sz="2800" u="sng" dirty="0">
              <a:solidFill>
                <a:srgbClr val="996600"/>
              </a:solidFill>
            </a:endParaRPr>
          </a:p>
          <a:p>
            <a:pPr lvl="1">
              <a:lnSpc>
                <a:spcPct val="80000"/>
              </a:lnSpc>
            </a:pPr>
            <a:r>
              <a:rPr lang="zh-CN" altLang="en-US" sz="2400" dirty="0"/>
              <a:t>老虎通过“观其形，听其鸣”，加上以前的经验得出了先验概率。</a:t>
            </a:r>
            <a:endParaRPr lang="zh-CN" altLang="en-US" sz="2400" dirty="0"/>
          </a:p>
          <a:p>
            <a:pPr lvl="1">
              <a:lnSpc>
                <a:spcPct val="80000"/>
              </a:lnSpc>
            </a:pPr>
            <a:r>
              <a:rPr lang="en-US" altLang="zh-CN" sz="2400">
                <a:solidFill>
                  <a:schemeClr val="hlink"/>
                </a:solidFill>
              </a:rPr>
              <a:t>P(</a:t>
            </a:r>
            <a:r>
              <a:rPr lang="zh-CN" altLang="en-US" sz="2400" dirty="0">
                <a:solidFill>
                  <a:schemeClr val="hlink"/>
                </a:solidFill>
              </a:rPr>
              <a:t>驴厉害</a:t>
            </a:r>
            <a:r>
              <a:rPr lang="en-US" altLang="zh-CN" sz="2400">
                <a:solidFill>
                  <a:schemeClr val="hlink"/>
                </a:solidFill>
              </a:rPr>
              <a:t>)=0.9 </a:t>
            </a:r>
            <a:r>
              <a:rPr lang="zh-CN" altLang="en-US" sz="2400" dirty="0"/>
              <a:t>（问题： </a:t>
            </a:r>
            <a:r>
              <a:rPr lang="en-US" altLang="zh-CN" sz="2400"/>
              <a:t>P(</a:t>
            </a:r>
            <a:r>
              <a:rPr lang="zh-CN" altLang="en-US" sz="2400" dirty="0"/>
              <a:t>驴厉害</a:t>
            </a:r>
            <a:r>
              <a:rPr lang="en-US" altLang="zh-CN" sz="2400"/>
              <a:t>)=1.0</a:t>
            </a:r>
            <a:r>
              <a:rPr lang="zh-CN" altLang="en-US" sz="2400" dirty="0"/>
              <a:t>可以吗？ ）</a:t>
            </a:r>
            <a:endParaRPr lang="zh-CN" alt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0338" name="标题 270337"/>
          <p:cNvSpPr>
            <a:spLocks noGrp="1"/>
          </p:cNvSpPr>
          <p:nvPr>
            <p:ph type="title"/>
          </p:nvPr>
        </p:nvSpPr>
        <p:spPr/>
        <p:txBody>
          <a:bodyPr anchor="b" anchorCtr="0"/>
          <a:p>
            <a:r>
              <a:rPr lang="zh-CN" altLang="en-US" dirty="0"/>
              <a:t>老虎先验概率的修正：</a:t>
            </a:r>
            <a:endParaRPr lang="en-US" altLang="zh-CN"/>
          </a:p>
        </p:txBody>
      </p:sp>
      <p:sp>
        <p:nvSpPr>
          <p:cNvPr id="270339" name="文本占位符 270338"/>
          <p:cNvSpPr>
            <a:spLocks noGrp="1"/>
          </p:cNvSpPr>
          <p:nvPr>
            <p:ph type="body" idx="1"/>
          </p:nvPr>
        </p:nvSpPr>
        <p:spPr/>
        <p:txBody>
          <a:bodyPr/>
          <a:p>
            <a:r>
              <a:rPr lang="zh-CN" altLang="en-US" sz="2800" u="sng" dirty="0">
                <a:solidFill>
                  <a:srgbClr val="996600"/>
                </a:solidFill>
              </a:rPr>
              <a:t>“然往来视之，觉无异能者；益习其声，又近出前后，终不敢搏。稍近，益狎，荡倚冲冒。驴不胜怒，蹄之。”</a:t>
            </a:r>
            <a:endParaRPr lang="zh-CN" altLang="en-US" sz="2800" u="sng" dirty="0">
              <a:solidFill>
                <a:srgbClr val="996600"/>
              </a:solidFill>
            </a:endParaRPr>
          </a:p>
          <a:p>
            <a:pPr lvl="1"/>
            <a:r>
              <a:rPr lang="zh-CN" altLang="en-US" dirty="0"/>
              <a:t>老虎不甘心，通过试探的方式，获取对驴的新的信息，以修正先去设定的先验概率。</a:t>
            </a:r>
            <a:endParaRPr lang="zh-CN" altLang="en-US" dirty="0"/>
          </a:p>
          <a:p>
            <a:pPr lvl="1"/>
            <a:r>
              <a:rPr lang="en-US" altLang="zh-CN">
                <a:solidFill>
                  <a:schemeClr val="hlink"/>
                </a:solidFill>
              </a:rPr>
              <a:t>P(</a:t>
            </a:r>
            <a:r>
              <a:rPr lang="zh-CN" altLang="en-US" dirty="0">
                <a:solidFill>
                  <a:schemeClr val="hlink"/>
                </a:solidFill>
              </a:rPr>
              <a:t>驴厉害</a:t>
            </a:r>
            <a:r>
              <a:rPr lang="en-US" altLang="zh-CN">
                <a:solidFill>
                  <a:schemeClr val="hlink"/>
                </a:solidFill>
              </a:rPr>
              <a:t>|</a:t>
            </a:r>
            <a:r>
              <a:rPr lang="zh-CN" altLang="en-US" dirty="0">
                <a:solidFill>
                  <a:schemeClr val="hlink"/>
                </a:solidFill>
              </a:rPr>
              <a:t>老虎靠近，驴不敢搏</a:t>
            </a:r>
            <a:r>
              <a:rPr lang="en-US" altLang="zh-CN">
                <a:solidFill>
                  <a:schemeClr val="hlink"/>
                </a:solidFill>
              </a:rPr>
              <a:t>)=?</a:t>
            </a:r>
            <a:endParaRPr lang="en-US" altLang="zh-CN">
              <a:solidFill>
                <a:schemeClr val="hlink"/>
              </a:solidFill>
            </a:endParaRPr>
          </a:p>
          <a:p>
            <a:pPr lvl="1"/>
            <a:r>
              <a:rPr lang="en-US" altLang="zh-CN">
                <a:solidFill>
                  <a:schemeClr val="hlink"/>
                </a:solidFill>
              </a:rPr>
              <a:t>P(</a:t>
            </a:r>
            <a:r>
              <a:rPr lang="zh-CN" altLang="en-US" dirty="0">
                <a:solidFill>
                  <a:schemeClr val="hlink"/>
                </a:solidFill>
              </a:rPr>
              <a:t>驴厉害</a:t>
            </a:r>
            <a:r>
              <a:rPr lang="en-US" altLang="zh-CN">
                <a:solidFill>
                  <a:schemeClr val="hlink"/>
                </a:solidFill>
              </a:rPr>
              <a:t>|</a:t>
            </a:r>
            <a:r>
              <a:rPr lang="zh-CN" altLang="en-US" dirty="0">
                <a:solidFill>
                  <a:schemeClr val="hlink"/>
                </a:solidFill>
              </a:rPr>
              <a:t>老虎冲撞，驴蹄之</a:t>
            </a:r>
            <a:r>
              <a:rPr lang="en-US" altLang="zh-CN">
                <a:solidFill>
                  <a:schemeClr val="hlink"/>
                </a:solidFill>
              </a:rPr>
              <a:t>)=?</a:t>
            </a:r>
            <a:endParaRPr lang="zh-CN" altLang="en-US" dirty="0">
              <a:solidFill>
                <a:schemeClr val="hlink"/>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1362" name="标题 271361"/>
          <p:cNvSpPr>
            <a:spLocks noGrp="1"/>
          </p:cNvSpPr>
          <p:nvPr>
            <p:ph type="title"/>
          </p:nvPr>
        </p:nvSpPr>
        <p:spPr/>
        <p:txBody>
          <a:bodyPr anchor="b" anchorCtr="0"/>
          <a:p>
            <a:r>
              <a:rPr lang="zh-CN" altLang="en-US" dirty="0"/>
              <a:t>老虎的后验概率：</a:t>
            </a:r>
            <a:endParaRPr lang="zh-CN" altLang="en-US" dirty="0"/>
          </a:p>
        </p:txBody>
      </p:sp>
      <p:sp>
        <p:nvSpPr>
          <p:cNvPr id="271363" name="文本占位符 271362"/>
          <p:cNvSpPr>
            <a:spLocks noGrp="1"/>
          </p:cNvSpPr>
          <p:nvPr>
            <p:ph type="body" idx="1"/>
          </p:nvPr>
        </p:nvSpPr>
        <p:spPr/>
        <p:txBody>
          <a:bodyPr/>
          <a:p>
            <a:r>
              <a:rPr lang="zh-CN" altLang="en-US" sz="2800" u="sng" dirty="0">
                <a:solidFill>
                  <a:srgbClr val="996600"/>
                </a:solidFill>
              </a:rPr>
              <a:t>“虎因喜，计之曰：“技止此耳！”</a:t>
            </a:r>
            <a:endParaRPr lang="zh-CN" altLang="en-US" sz="2800" u="sng" dirty="0">
              <a:solidFill>
                <a:srgbClr val="996600"/>
              </a:solidFill>
            </a:endParaRPr>
          </a:p>
          <a:p>
            <a:pPr lvl="1"/>
            <a:r>
              <a:rPr lang="zh-CN" altLang="en-US" sz="2400" dirty="0"/>
              <a:t>老虎的先验概率：</a:t>
            </a:r>
            <a:r>
              <a:rPr lang="en-US" altLang="zh-CN" sz="2400">
                <a:solidFill>
                  <a:schemeClr val="hlink"/>
                </a:solidFill>
              </a:rPr>
              <a:t>P(</a:t>
            </a:r>
            <a:r>
              <a:rPr lang="zh-CN" altLang="en-US" sz="2400" dirty="0">
                <a:solidFill>
                  <a:schemeClr val="hlink"/>
                </a:solidFill>
              </a:rPr>
              <a:t>驴厉害</a:t>
            </a:r>
            <a:r>
              <a:rPr lang="en-US" altLang="zh-CN" sz="2400">
                <a:solidFill>
                  <a:schemeClr val="hlink"/>
                </a:solidFill>
              </a:rPr>
              <a:t>)=0.9 </a:t>
            </a:r>
            <a:endParaRPr lang="en-US" altLang="zh-CN" sz="2400">
              <a:solidFill>
                <a:schemeClr val="hlink"/>
              </a:solidFill>
            </a:endParaRPr>
          </a:p>
          <a:p>
            <a:pPr lvl="1"/>
            <a:r>
              <a:rPr lang="zh-CN" altLang="en-US" sz="2400" dirty="0"/>
              <a:t>老虎的后验概率：</a:t>
            </a:r>
            <a:r>
              <a:rPr lang="en-US" altLang="zh-CN" sz="2400">
                <a:solidFill>
                  <a:schemeClr val="hlink"/>
                </a:solidFill>
              </a:rPr>
              <a:t>P(</a:t>
            </a:r>
            <a:r>
              <a:rPr lang="zh-CN" altLang="en-US" sz="2400" dirty="0">
                <a:solidFill>
                  <a:schemeClr val="hlink"/>
                </a:solidFill>
              </a:rPr>
              <a:t>驴厉害</a:t>
            </a:r>
            <a:r>
              <a:rPr lang="en-US" altLang="zh-CN" sz="2400">
                <a:solidFill>
                  <a:schemeClr val="hlink"/>
                </a:solidFill>
              </a:rPr>
              <a:t>|</a:t>
            </a:r>
            <a:r>
              <a:rPr lang="zh-CN" altLang="en-US" sz="2400" dirty="0">
                <a:solidFill>
                  <a:schemeClr val="hlink"/>
                </a:solidFill>
              </a:rPr>
              <a:t>老虎多次试探后驴的反应</a:t>
            </a:r>
            <a:r>
              <a:rPr lang="en-US" altLang="zh-CN" sz="2400">
                <a:solidFill>
                  <a:schemeClr val="hlink"/>
                </a:solidFill>
              </a:rPr>
              <a:t>) &lt;&lt;0.9</a:t>
            </a:r>
            <a:endParaRPr lang="en-US" altLang="zh-CN" sz="2400">
              <a:solidFill>
                <a:schemeClr val="hlink"/>
              </a:solidFill>
            </a:endParaRPr>
          </a:p>
          <a:p>
            <a:pPr lvl="1">
              <a:buNone/>
            </a:pPr>
            <a:endParaRPr lang="zh-CN" altLang="en-US" sz="2400" dirty="0">
              <a:solidFill>
                <a:schemeClr val="hlink"/>
              </a:solidFill>
            </a:endParaRPr>
          </a:p>
          <a:p>
            <a:r>
              <a:rPr lang="zh-CN" altLang="en-US" dirty="0"/>
              <a:t>老虎的决策行为：</a:t>
            </a:r>
            <a:r>
              <a:rPr lang="zh-CN" altLang="en-US" sz="2800" u="sng" dirty="0">
                <a:solidFill>
                  <a:srgbClr val="996600"/>
                </a:solidFill>
              </a:rPr>
              <a:t>“因跳踉大喊，断其喉，尽其肉，乃去。”</a:t>
            </a:r>
            <a:r>
              <a:rPr lang="zh-CN" altLang="en-US" dirty="0"/>
              <a:t>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具有样本情报的决策</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基于样本情报的决策分析</a:t>
                </a:r>
                <a:r>
                  <a:rPr lang="zh-CN" altLang="en-US" dirty="0"/>
                  <a:t>（又称贝叶斯决策）</a:t>
                </a:r>
                <a:endParaRPr lang="en-US" altLang="zh-CN" dirty="0"/>
              </a:p>
              <a:p>
                <a:pPr lvl="1"/>
                <a:r>
                  <a:rPr lang="en-US" dirty="0" err="1"/>
                  <a:t>先验概率</a:t>
                </a:r>
                <a:r>
                  <a:rPr lang="zh-CN" altLang="en-US" dirty="0"/>
                  <a:t>：由过去经验或专家估计的将发生时间的概率</a:t>
                </a:r>
                <a:endParaRPr lang="en-US" altLang="zh-CN" dirty="0"/>
              </a:p>
              <a:p>
                <a:pPr lvl="1"/>
                <a:r>
                  <a:rPr lang="zh-CN" altLang="en-US" dirty="0"/>
                  <a:t>后验分析：利用样本情报对先验概率修正后得到的概率</a:t>
                </a:r>
                <a:endParaRPr lang="en-US" altLang="zh-CN" dirty="0"/>
              </a:p>
              <a:p>
                <a:r>
                  <a:rPr lang="zh-CN" altLang="en-US" dirty="0"/>
                  <a:t>贝叶斯决策是基于贝叶斯法则的一种决策方法：</a:t>
                </a:r>
                <a:endParaRPr lang="en-US" altLang="zh-CN" dirty="0"/>
              </a:p>
              <a:p>
                <a:pPr lvl="1"/>
                <a:r>
                  <a:rPr lang="zh-CN" altLang="en-US" dirty="0"/>
                  <a:t>全概率公式：假设</a:t>
                </a:r>
                <a:r>
                  <a:rPr lang="en-US" altLang="zh-CN" dirty="0"/>
                  <a:t>A</a:t>
                </a:r>
                <a:r>
                  <a:rPr lang="zh-CN" altLang="en-US" dirty="0"/>
                  <a:t>和</a:t>
                </a:r>
                <a:r>
                  <a:rPr lang="en-US" altLang="zh-CN" dirty="0"/>
                  <a:t>B</a:t>
                </a:r>
                <a:r>
                  <a:rPr lang="zh-CN" altLang="en-US" dirty="0"/>
                  <a:t>分别代表两种事件，则它们二者间的概率分布符合</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panose="02040503050406030204" pitchFamily="18" charset="0"/>
                          </a:rPr>
                          <m:t>𝐵</m:t>
                        </m:r>
                      </m:e>
                    </m:d>
                  </m:oMath>
                </a14:m>
                <a:endParaRPr lang="en-US" altLang="zh-CN" b="0" dirty="0"/>
              </a:p>
              <a:p>
                <a:pPr lvl="1"/>
                <a:r>
                  <a:rPr lang="en-US" dirty="0" err="1"/>
                  <a:t>该公式的变形被称为贝叶斯法则</a:t>
                </a:r>
                <a:r>
                  <a:rPr lang="zh-CN" altLang="en-US" dirty="0"/>
                  <a:t>：</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oMath>
                </a14:m>
                <a:endParaRPr lang="en-US" dirty="0"/>
              </a:p>
              <a:p>
                <a:pPr lvl="2"/>
                <a:r>
                  <a:rPr lang="en-US" dirty="0" err="1"/>
                  <a:t>其中</a:t>
                </a:r>
                <a:r>
                  <a:rPr lang="zh-CN" altLang="en-US" dirty="0"/>
                  <a:t>，</a:t>
                </a:r>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oMath>
                </a14:m>
                <a:r>
                  <a:rPr lang="en-US" dirty="0"/>
                  <a:t>即为先验概率</a:t>
                </a:r>
                <a:r>
                  <a:rPr lang="zh-CN" altLang="en-US" dirty="0"/>
                  <a:t>，</a:t>
                </a:r>
                <a:r>
                  <a:rPr lang="en-US" altLang="zh-CN" dirty="0"/>
                  <a:t> </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𝐵</m:t>
                        </m:r>
                      </m:e>
                      <m:e>
                        <m:r>
                          <a:rPr lang="en-US" altLang="zh-CN" i="1">
                            <a:latin typeface="Cambria Math" panose="02040503050406030204" pitchFamily="18" charset="0"/>
                          </a:rPr>
                          <m:t>𝐴</m:t>
                        </m:r>
                      </m:e>
                    </m:d>
                  </m:oMath>
                </a14:m>
                <a:r>
                  <a:rPr lang="en-US" dirty="0"/>
                  <a:t>与</a:t>
                </a:r>
                <a:r>
                  <a:rPr lang="en-US" altLang="zh-CN" dirty="0"/>
                  <a:t> </a:t>
                </a:r>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𝐴</m:t>
                        </m:r>
                      </m:e>
                      <m:e>
                        <m:r>
                          <a:rPr lang="en-US" altLang="zh-CN" b="0" i="1" smtClean="0">
                            <a:latin typeface="Cambria Math" panose="02040503050406030204" pitchFamily="18" charset="0"/>
                          </a:rPr>
                          <m:t>𝐵</m:t>
                        </m:r>
                      </m:e>
                    </m:d>
                  </m:oMath>
                </a14:m>
                <a:r>
                  <a:rPr lang="en-US" dirty="0"/>
                  <a:t>则被称为后验概率</a:t>
                </a: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例</a:t>
            </a:r>
            <a:r>
              <a:rPr lang="en-US" altLang="zh-CN" dirty="0"/>
              <a:t>3</a:t>
            </a:r>
            <a:endParaRPr lang="en-US" dirty="0"/>
          </a:p>
        </p:txBody>
      </p:sp>
      <p:sp>
        <p:nvSpPr>
          <p:cNvPr id="3" name="Content Placeholder 2"/>
          <p:cNvSpPr>
            <a:spLocks noGrp="1"/>
          </p:cNvSpPr>
          <p:nvPr>
            <p:ph idx="1"/>
          </p:nvPr>
        </p:nvSpPr>
        <p:spPr/>
        <p:txBody>
          <a:bodyPr>
            <a:normAutofit/>
          </a:bodyPr>
          <a:lstStyle/>
          <a:p>
            <a:pPr marL="0" indent="0">
              <a:buNone/>
            </a:pPr>
            <a:r>
              <a:rPr lang="zh-CN" altLang="en-US" sz="2000" dirty="0">
                <a:latin typeface="楷体" panose="02010609060101010101" pitchFamily="49" charset="-122"/>
                <a:ea typeface="楷体" panose="02010609060101010101" pitchFamily="49" charset="-122"/>
                <a:cs typeface="楷体" panose="02010609060101010101" pitchFamily="49" charset="-122"/>
              </a:rPr>
              <a:t>某公司现有三种备选行动方案。</a:t>
            </a:r>
            <a:r>
              <a:rPr lang="en-US" altLang="zh-CN" sz="2000" dirty="0">
                <a:latin typeface="楷体" panose="02010609060101010101" pitchFamily="49" charset="-122"/>
                <a:ea typeface="楷体" panose="02010609060101010101" pitchFamily="49" charset="-122"/>
                <a:cs typeface="楷体" panose="02010609060101010101" pitchFamily="49" charset="-122"/>
              </a:rPr>
              <a:t>S</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zh-CN" altLang="en-US" sz="2000" dirty="0">
                <a:latin typeface="楷体" panose="02010609060101010101" pitchFamily="49" charset="-122"/>
                <a:ea typeface="楷体" panose="02010609060101010101" pitchFamily="49" charset="-122"/>
                <a:cs typeface="楷体" panose="02010609060101010101" pitchFamily="49" charset="-122"/>
              </a:rPr>
              <a:t>：大批量生产； </a:t>
            </a:r>
            <a:r>
              <a:rPr lang="en-US" altLang="zh-CN" sz="2000" dirty="0">
                <a:latin typeface="楷体" panose="02010609060101010101" pitchFamily="49" charset="-122"/>
                <a:ea typeface="楷体" panose="02010609060101010101" pitchFamily="49" charset="-122"/>
                <a:cs typeface="楷体" panose="02010609060101010101" pitchFamily="49" charset="-122"/>
              </a:rPr>
              <a:t>S</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 </a:t>
            </a:r>
            <a:r>
              <a:rPr lang="zh-CN" altLang="en-US" sz="2000" dirty="0">
                <a:latin typeface="楷体" panose="02010609060101010101" pitchFamily="49" charset="-122"/>
                <a:ea typeface="楷体" panose="02010609060101010101" pitchFamily="49" charset="-122"/>
                <a:cs typeface="楷体" panose="02010609060101010101" pitchFamily="49" charset="-122"/>
              </a:rPr>
              <a:t>：中批量生产； </a:t>
            </a:r>
            <a:r>
              <a:rPr lang="en-US" altLang="zh-CN" sz="2000" dirty="0">
                <a:latin typeface="楷体" panose="02010609060101010101" pitchFamily="49" charset="-122"/>
                <a:ea typeface="楷体" panose="02010609060101010101" pitchFamily="49" charset="-122"/>
                <a:cs typeface="楷体" panose="02010609060101010101" pitchFamily="49" charset="-122"/>
              </a:rPr>
              <a:t>S</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3 </a:t>
            </a:r>
            <a:r>
              <a:rPr lang="zh-CN" altLang="en-US" sz="2000" dirty="0">
                <a:latin typeface="楷体" panose="02010609060101010101" pitchFamily="49" charset="-122"/>
                <a:ea typeface="楷体" panose="02010609060101010101" pitchFamily="49" charset="-122"/>
                <a:cs typeface="楷体" panose="02010609060101010101" pitchFamily="49" charset="-122"/>
              </a:rPr>
              <a:t>：小批量生产。未来市场对这种产品需求情况有两种可能发生的自然状态。</a:t>
            </a:r>
            <a:r>
              <a:rPr lang="en-US" altLang="zh-CN" sz="2000" dirty="0">
                <a:latin typeface="楷体" panose="02010609060101010101" pitchFamily="49" charset="-122"/>
                <a:ea typeface="楷体" panose="02010609060101010101" pitchFamily="49" charset="-122"/>
                <a:cs typeface="楷体" panose="02010609060101010101" pitchFamily="49" charset="-122"/>
              </a:rPr>
              <a:t>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：需求量大； </a:t>
            </a:r>
            <a:r>
              <a:rPr lang="en-US" altLang="zh-CN" sz="2000" dirty="0">
                <a:latin typeface="楷体" panose="02010609060101010101" pitchFamily="49" charset="-122"/>
                <a:ea typeface="楷体" panose="02010609060101010101" pitchFamily="49" charset="-122"/>
                <a:cs typeface="楷体" panose="02010609060101010101" pitchFamily="49" charset="-122"/>
              </a:rPr>
              <a:t>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：需求量小，且</a:t>
            </a:r>
            <a:r>
              <a:rPr lang="en-US" altLang="zh-CN" sz="2000" dirty="0">
                <a:latin typeface="楷体" panose="02010609060101010101" pitchFamily="49" charset="-122"/>
                <a:ea typeface="楷体" panose="02010609060101010101" pitchFamily="49" charset="-122"/>
                <a:cs typeface="楷体" panose="02010609060101010101" pitchFamily="49" charset="-122"/>
              </a:rPr>
              <a:t>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zh-CN" altLang="en-US" sz="2000" dirty="0">
                <a:latin typeface="楷体" panose="02010609060101010101" pitchFamily="49" charset="-122"/>
                <a:ea typeface="楷体" panose="02010609060101010101" pitchFamily="49" charset="-122"/>
                <a:cs typeface="楷体" panose="02010609060101010101" pitchFamily="49" charset="-122"/>
              </a:rPr>
              <a:t>的发生概率即</a:t>
            </a:r>
            <a:r>
              <a:rPr lang="en-US" altLang="zh-CN" sz="2000" dirty="0">
                <a:latin typeface="楷体" panose="02010609060101010101" pitchFamily="49" charset="-122"/>
                <a:ea typeface="楷体" panose="02010609060101010101" pitchFamily="49" charset="-122"/>
                <a:cs typeface="楷体" panose="02010609060101010101" pitchFamily="49" charset="-122"/>
              </a:rPr>
              <a:t>P(N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1</a:t>
            </a:r>
            <a:r>
              <a:rPr lang="en-US" altLang="zh-CN" sz="2000" dirty="0">
                <a:latin typeface="楷体" panose="02010609060101010101" pitchFamily="49" charset="-122"/>
                <a:ea typeface="楷体" panose="02010609060101010101" pitchFamily="49" charset="-122"/>
                <a:cs typeface="楷体" panose="02010609060101010101" pitchFamily="49" charset="-122"/>
              </a:rPr>
              <a:t>)=0.3</a:t>
            </a: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a:t>
            </a:r>
            <a:r>
              <a:rPr lang="zh-CN" altLang="en-US" sz="2000" dirty="0">
                <a:latin typeface="楷体" panose="02010609060101010101" pitchFamily="49" charset="-122"/>
                <a:ea typeface="楷体" panose="02010609060101010101" pitchFamily="49" charset="-122"/>
                <a:cs typeface="楷体" panose="02010609060101010101" pitchFamily="49" charset="-122"/>
              </a:rPr>
              <a:t>的发生概率即</a:t>
            </a:r>
            <a:r>
              <a:rPr lang="en-US" altLang="zh-CN" sz="2000" dirty="0">
                <a:latin typeface="楷体" panose="02010609060101010101" pitchFamily="49" charset="-122"/>
                <a:ea typeface="楷体" panose="02010609060101010101" pitchFamily="49" charset="-122"/>
                <a:cs typeface="楷体" panose="02010609060101010101" pitchFamily="49" charset="-122"/>
              </a:rPr>
              <a:t>P(N</a:t>
            </a:r>
            <a:r>
              <a:rPr lang="en-US" altLang="zh-CN" sz="2000" baseline="-25000" dirty="0">
                <a:latin typeface="楷体" panose="02010609060101010101" pitchFamily="49" charset="-122"/>
                <a:ea typeface="楷体" panose="02010609060101010101" pitchFamily="49" charset="-122"/>
                <a:cs typeface="楷体" panose="02010609060101010101" pitchFamily="49" charset="-122"/>
              </a:rPr>
              <a:t>2</a:t>
            </a:r>
            <a:r>
              <a:rPr lang="en-US" altLang="zh-CN" sz="2000" dirty="0">
                <a:latin typeface="楷体" panose="02010609060101010101" pitchFamily="49" charset="-122"/>
                <a:ea typeface="楷体" panose="02010609060101010101" pitchFamily="49" charset="-122"/>
                <a:cs typeface="楷体" panose="02010609060101010101" pitchFamily="49" charset="-122"/>
              </a:rPr>
              <a:t>)=0.7 </a:t>
            </a:r>
            <a:r>
              <a:rPr lang="zh-CN" altLang="en-US" sz="2000" dirty="0">
                <a:latin typeface="楷体" panose="02010609060101010101" pitchFamily="49" charset="-122"/>
                <a:ea typeface="楷体" panose="02010609060101010101" pitchFamily="49" charset="-122"/>
                <a:cs typeface="楷体" panose="02010609060101010101" pitchFamily="49" charset="-122"/>
              </a:rPr>
              <a:t>。经估计，采用某一行动方案而实际发生某一自然状态时，公司的收益下表所示 ：</a:t>
            </a:r>
            <a:endParaRPr lang="en-US" sz="2000" dirty="0"/>
          </a:p>
        </p:txBody>
      </p:sp>
      <p:graphicFrame>
        <p:nvGraphicFramePr>
          <p:cNvPr id="4" name="表格 14"/>
          <p:cNvGraphicFramePr>
            <a:graphicFrameLocks noGrp="1"/>
          </p:cNvGraphicFramePr>
          <p:nvPr/>
        </p:nvGraphicFramePr>
        <p:xfrm>
          <a:off x="2236788" y="3121559"/>
          <a:ext cx="8112125" cy="3286125"/>
        </p:xfrm>
        <a:graphic>
          <a:graphicData uri="http://schemas.openxmlformats.org/drawingml/2006/table">
            <a:tbl>
              <a:tblPr/>
              <a:tblGrid>
                <a:gridCol w="2706687"/>
                <a:gridCol w="2992438"/>
                <a:gridCol w="2413000"/>
              </a:tblGrid>
              <a:tr h="99060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             </a:t>
                      </a:r>
                      <a:endPar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9CDE5"/>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N</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需求量大</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P</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N</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 0.3</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9CDE5"/>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N</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需求量小</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P</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N</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=0.7</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9CDE5"/>
                    </a:solidFill>
                  </a:tcPr>
                </a:tc>
              </a:tr>
              <a:tr h="765175">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大批量生产</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30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-6</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r>
              <a:tr h="765175">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中批量生产</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CE6F2"/>
                    </a:solidFill>
                  </a:tcPr>
                </a:tc>
              </a:tr>
              <a:tr h="765175">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3</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小批量生产</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CE6F2"/>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5</a:t>
                      </a:r>
                      <a:endParaRPr kumimoji="0" lang="en-US" altLang="zh-CN" sz="2000" b="0"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CE6F2"/>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样本概率估计</a:t>
            </a:r>
            <a:endParaRPr lang="en-US" dirty="0"/>
          </a:p>
        </p:txBody>
      </p:sp>
      <p:sp>
        <p:nvSpPr>
          <p:cNvPr id="3" name="Content Placeholder 2"/>
          <p:cNvSpPr>
            <a:spLocks noGrp="1"/>
          </p:cNvSpPr>
          <p:nvPr>
            <p:ph idx="1"/>
          </p:nvPr>
        </p:nvSpPr>
        <p:spPr/>
        <p:txBody>
          <a:bodyPr/>
          <a:lstStyle/>
          <a:p>
            <a:pPr marL="0" indent="0">
              <a:buNone/>
            </a:pPr>
            <a:r>
              <a:rPr lang="ja-JP" altLang="en-US"/>
              <a:t>现在该公司欲委托一个咨询公司作市场调查。咨询公司调查的结果也有两种， </a:t>
            </a:r>
            <a:r>
              <a:rPr lang="en-US" dirty="0"/>
              <a:t>I1 ：</a:t>
            </a:r>
            <a:r>
              <a:rPr lang="ja-JP" altLang="en-US"/>
              <a:t>需求量大； </a:t>
            </a:r>
            <a:r>
              <a:rPr lang="en-US" dirty="0"/>
              <a:t>I2 ：</a:t>
            </a:r>
            <a:r>
              <a:rPr lang="ja-JP" altLang="en-US"/>
              <a:t>需求量小。并且根据该咨询公司积累的资料统计得知，当市场需求量已知时，咨询公司调查结论的条件概率如下表所示：</a:t>
            </a:r>
            <a:endParaRPr lang="ja-JP" altLang="en-US"/>
          </a:p>
          <a:p>
            <a:pPr marL="0" indent="0">
              <a:buNone/>
            </a:pPr>
            <a:endParaRPr lang="ja-JP" altLang="en-US"/>
          </a:p>
          <a:p>
            <a:pPr marL="0" indent="0">
              <a:buNone/>
            </a:pPr>
            <a:endParaRPr lang="en-US" dirty="0"/>
          </a:p>
        </p:txBody>
      </p:sp>
      <p:graphicFrame>
        <p:nvGraphicFramePr>
          <p:cNvPr id="4" name="Group 218"/>
          <p:cNvGraphicFramePr>
            <a:graphicFrameLocks noGrp="1"/>
          </p:cNvGraphicFramePr>
          <p:nvPr/>
        </p:nvGraphicFramePr>
        <p:xfrm>
          <a:off x="2005800" y="3562350"/>
          <a:ext cx="8064500" cy="2614613"/>
        </p:xfrm>
        <a:graphic>
          <a:graphicData uri="http://schemas.openxmlformats.org/drawingml/2006/table">
            <a:tbl>
              <a:tblPr/>
              <a:tblGrid>
                <a:gridCol w="2088129"/>
                <a:gridCol w="3989103"/>
                <a:gridCol w="1987268"/>
              </a:tblGrid>
              <a:tr h="1152419">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r>
              <a:tr h="7146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)=0.8</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)=0.1</a:t>
                      </a:r>
                      <a:endParaRPr kumimoji="1" lang="en-US" altLang="zh-CN" sz="3600" b="0" i="0" u="none" strike="noStrike" cap="none" normalizeH="0" baseline="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747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)=0.2</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)=0.9</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后验概率解读</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后验概率是</a:t>
                </a:r>
                <a:r>
                  <a:rPr lang="zh-CN" altLang="en-US" dirty="0"/>
                  <a:t>利用样本情报对先验概率修正后得到的概率</a:t>
                </a:r>
                <a:endParaRPr lang="en-US" altLang="zh-CN" sz="2400" dirty="0"/>
              </a:p>
              <a:p>
                <a:pPr marL="685800" lvl="2">
                  <a:spcBef>
                    <a:spcPts val="1000"/>
                  </a:spcBef>
                </a:pPr>
                <a14:m>
                  <m:oMath xmlns:m="http://schemas.openxmlformats.org/officeDocument/2006/math">
                    <m:r>
                      <a:rPr lang="en-US" altLang="zh-CN" sz="2400">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𝐼</m:t>
                            </m:r>
                          </m:e>
                          <m:sub>
                            <m:r>
                              <a:rPr lang="en-US" altLang="zh-CN" sz="2400">
                                <a:latin typeface="Cambria Math" panose="02040503050406030204" pitchFamily="18" charset="0"/>
                              </a:rPr>
                              <m:t>1</m:t>
                            </m:r>
                          </m:sub>
                        </m:sSub>
                      </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𝑁</m:t>
                            </m:r>
                          </m:e>
                          <m:sub>
                            <m:r>
                              <a:rPr lang="en-US" altLang="zh-CN" sz="2400">
                                <a:latin typeface="Cambria Math" panose="02040503050406030204" pitchFamily="18" charset="0"/>
                              </a:rPr>
                              <m:t>1</m:t>
                            </m:r>
                          </m:sub>
                        </m:sSub>
                      </m:e>
                    </m:d>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8</m:t>
                    </m:r>
                  </m:oMath>
                </a14:m>
                <a:r>
                  <a:rPr lang="en-US" altLang="zh-CN" sz="2400" dirty="0"/>
                  <a:t>:</a:t>
                </a:r>
                <a:r>
                  <a:rPr lang="zh-CN" altLang="en-US" sz="2400" dirty="0"/>
                  <a:t> 当市场需求量大时，咨询公司调查结论也为市场需求量大的概率是</a:t>
                </a:r>
                <a:r>
                  <a:rPr lang="en-US" altLang="zh-CN" sz="2400" dirty="0"/>
                  <a:t>80%</a:t>
                </a:r>
                <a:r>
                  <a:rPr lang="zh-CN" altLang="en-US" sz="2400" dirty="0"/>
                  <a:t>。</a:t>
                </a:r>
                <a:endParaRPr lang="en-US" altLang="zh-CN" sz="2400" dirty="0"/>
              </a:p>
              <a:p>
                <a:pPr marL="685800" lvl="2">
                  <a:spcBef>
                    <a:spcPts val="1000"/>
                  </a:spcBef>
                </a:pPr>
                <a14:m>
                  <m:oMath xmlns:m="http://schemas.openxmlformats.org/officeDocument/2006/math">
                    <m:r>
                      <a:rPr lang="en-US" altLang="zh-CN" sz="2400" smtClean="0">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𝐼</m:t>
                            </m:r>
                          </m:e>
                          <m:sub>
                            <m:r>
                              <a:rPr lang="en-US" altLang="zh-CN" sz="2400">
                                <a:latin typeface="Cambria Math" panose="02040503050406030204" pitchFamily="18" charset="0"/>
                              </a:rPr>
                              <m:t>1</m:t>
                            </m:r>
                          </m:sub>
                        </m:sSub>
                      </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𝑁</m:t>
                            </m:r>
                          </m:e>
                          <m:sub>
                            <m:r>
                              <a:rPr lang="en-US" altLang="zh-CN" sz="2400" b="0" i="0" smtClean="0">
                                <a:latin typeface="Cambria Math" panose="02040503050406030204" pitchFamily="18" charset="0"/>
                              </a:rPr>
                              <m:t>2</m:t>
                            </m:r>
                          </m:sub>
                        </m:sSub>
                      </m:e>
                    </m:d>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b="0" i="0" smtClean="0">
                        <a:latin typeface="Cambria Math" panose="02040503050406030204" pitchFamily="18" charset="0"/>
                      </a:rPr>
                      <m:t>1</m:t>
                    </m:r>
                  </m:oMath>
                </a14:m>
                <a:r>
                  <a:rPr lang="en-US" altLang="zh-CN" sz="2400" dirty="0"/>
                  <a:t>:</a:t>
                </a:r>
                <a:r>
                  <a:rPr lang="zh-CN" altLang="en-US" sz="2400" dirty="0"/>
                  <a:t> 当市场需求量小时，咨询公司调查结论也为市场需求量大的概率是</a:t>
                </a:r>
                <a:r>
                  <a:rPr lang="en-US" altLang="zh-CN" sz="2400" dirty="0"/>
                  <a:t>10%</a:t>
                </a:r>
                <a:r>
                  <a:rPr lang="zh-CN" altLang="en-US" sz="2400" dirty="0"/>
                  <a:t>。</a:t>
                </a:r>
                <a:endParaRPr lang="en-US" altLang="zh-CN" sz="2400" dirty="0"/>
              </a:p>
              <a:p>
                <a:pPr marL="685800" lvl="2">
                  <a:spcBef>
                    <a:spcPts val="1000"/>
                  </a:spcBef>
                </a:pPr>
                <a14:m>
                  <m:oMath xmlns:m="http://schemas.openxmlformats.org/officeDocument/2006/math">
                    <m:r>
                      <a:rPr lang="en-US" altLang="zh-CN" sz="2400" smtClean="0">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𝐼</m:t>
                            </m:r>
                          </m:e>
                          <m:sub>
                            <m:r>
                              <a:rPr lang="en-US" altLang="zh-CN" sz="2400" b="0" i="0" smtClean="0">
                                <a:latin typeface="Cambria Math" panose="02040503050406030204" pitchFamily="18" charset="0"/>
                              </a:rPr>
                              <m:t>2</m:t>
                            </m:r>
                          </m:sub>
                        </m:sSub>
                      </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𝑁</m:t>
                            </m:r>
                          </m:e>
                          <m:sub>
                            <m:r>
                              <a:rPr lang="en-US" altLang="zh-CN" sz="2400">
                                <a:latin typeface="Cambria Math" panose="02040503050406030204" pitchFamily="18" charset="0"/>
                              </a:rPr>
                              <m:t>1</m:t>
                            </m:r>
                          </m:sub>
                        </m:sSub>
                      </m:e>
                    </m:d>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b="0" i="0" smtClean="0">
                        <a:latin typeface="Cambria Math" panose="02040503050406030204" pitchFamily="18" charset="0"/>
                      </a:rPr>
                      <m:t>2</m:t>
                    </m:r>
                  </m:oMath>
                </a14:m>
                <a:r>
                  <a:rPr lang="en-US" altLang="zh-CN" sz="2400" dirty="0"/>
                  <a:t>:</a:t>
                </a:r>
                <a:r>
                  <a:rPr lang="zh-CN" altLang="en-US" sz="2400" dirty="0"/>
                  <a:t> 当市场需求量大时，咨询公司调查结论也为市场需求量小的概率是</a:t>
                </a:r>
                <a:r>
                  <a:rPr lang="en-US" altLang="zh-CN" sz="2400" dirty="0"/>
                  <a:t>20%</a:t>
                </a:r>
                <a:r>
                  <a:rPr lang="zh-CN" altLang="en-US" sz="2400" dirty="0"/>
                  <a:t>。</a:t>
                </a:r>
                <a:endParaRPr lang="en-US" altLang="zh-CN" sz="2400" dirty="0"/>
              </a:p>
              <a:p>
                <a:pPr marL="685800" lvl="2">
                  <a:spcBef>
                    <a:spcPts val="1000"/>
                  </a:spcBef>
                </a:pPr>
                <a14:m>
                  <m:oMath xmlns:m="http://schemas.openxmlformats.org/officeDocument/2006/math">
                    <m:r>
                      <a:rPr lang="en-US" altLang="zh-CN" sz="2400" smtClean="0">
                        <a:latin typeface="Cambria Math" panose="02040503050406030204" pitchFamily="18" charset="0"/>
                      </a:rPr>
                      <m:t>𝑃</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𝐼</m:t>
                            </m:r>
                          </m:e>
                          <m:sub>
                            <m:r>
                              <a:rPr lang="en-US" altLang="zh-CN" sz="2400" b="0" i="0" smtClean="0">
                                <a:latin typeface="Cambria Math" panose="02040503050406030204" pitchFamily="18" charset="0"/>
                              </a:rPr>
                              <m:t>2</m:t>
                            </m:r>
                          </m:sub>
                        </m:sSub>
                      </m:e>
                      <m:e>
                        <m:sSub>
                          <m:sSubPr>
                            <m:ctrlPr>
                              <a:rPr lang="en-US" altLang="zh-CN" sz="2400" i="1">
                                <a:latin typeface="Cambria Math" panose="02040503050406030204" pitchFamily="18" charset="0"/>
                              </a:rPr>
                            </m:ctrlPr>
                          </m:sSubPr>
                          <m:e>
                            <m:r>
                              <a:rPr lang="en-US" altLang="zh-CN" sz="2400">
                                <a:latin typeface="Cambria Math" panose="02040503050406030204" pitchFamily="18" charset="0"/>
                              </a:rPr>
                              <m:t>𝑁</m:t>
                            </m:r>
                          </m:e>
                          <m:sub>
                            <m:r>
                              <a:rPr lang="en-US" altLang="zh-CN" sz="2400" b="0" i="0" smtClean="0">
                                <a:latin typeface="Cambria Math" panose="02040503050406030204" pitchFamily="18" charset="0"/>
                              </a:rPr>
                              <m:t>2</m:t>
                            </m:r>
                          </m:sub>
                        </m:sSub>
                      </m:e>
                    </m:d>
                    <m:r>
                      <a:rPr lang="en-US" altLang="zh-CN" sz="2400">
                        <a:latin typeface="Cambria Math" panose="02040503050406030204" pitchFamily="18" charset="0"/>
                      </a:rPr>
                      <m: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b="0" i="0" smtClean="0">
                        <a:latin typeface="Cambria Math" panose="02040503050406030204" pitchFamily="18" charset="0"/>
                      </a:rPr>
                      <m:t>9</m:t>
                    </m:r>
                  </m:oMath>
                </a14:m>
                <a:r>
                  <a:rPr lang="en-US" altLang="zh-CN" sz="2400" dirty="0"/>
                  <a:t>:</a:t>
                </a:r>
                <a:r>
                  <a:rPr lang="zh-CN" altLang="en-US" sz="2400" dirty="0"/>
                  <a:t> 当市场需求量小时，咨询公司调查结论也为市场需求量小的概率是</a:t>
                </a:r>
                <a:r>
                  <a:rPr lang="en-US" altLang="zh-CN" sz="2400" dirty="0"/>
                  <a:t>90%</a:t>
                </a:r>
                <a:r>
                  <a:rPr lang="zh-CN" altLang="en-US" sz="2400" dirty="0"/>
                  <a:t>。</a:t>
                </a:r>
                <a:endParaRPr lang="en-US" altLang="zh-CN" sz="2400" dirty="0"/>
              </a:p>
              <a:p>
                <a:pPr marL="228600" lvl="1">
                  <a:spcBef>
                    <a:spcPts val="1000"/>
                  </a:spcBef>
                </a:pPr>
                <a:r>
                  <a:rPr lang="zh-CN" altLang="en-US" sz="2800" dirty="0"/>
                  <a:t>咨询公司估计正确的情况是</a:t>
                </a:r>
                <a14:m>
                  <m:oMath xmlns:m="http://schemas.openxmlformats.org/officeDocument/2006/math">
                    <m:r>
                      <a:rPr lang="en-US" altLang="zh-CN" sz="2800" smtClean="0">
                        <a:latin typeface="Cambria Math" panose="02040503050406030204" pitchFamily="18" charset="0"/>
                      </a:rPr>
                      <m:t>𝑃</m:t>
                    </m:r>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𝐼</m:t>
                            </m:r>
                          </m:e>
                          <m:sub>
                            <m:r>
                              <a:rPr lang="en-US" altLang="zh-CN" sz="2800">
                                <a:latin typeface="Cambria Math" panose="02040503050406030204" pitchFamily="18" charset="0"/>
                              </a:rPr>
                              <m:t>1</m:t>
                            </m:r>
                          </m:sub>
                        </m:sSub>
                      </m:e>
                      <m:e>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𝑁</m:t>
                            </m:r>
                          </m:e>
                          <m:sub>
                            <m:r>
                              <a:rPr lang="en-US" altLang="zh-CN" sz="2800">
                                <a:latin typeface="Cambria Math" panose="02040503050406030204" pitchFamily="18" charset="0"/>
                              </a:rPr>
                              <m:t>1</m:t>
                            </m:r>
                          </m:sub>
                        </m:sSub>
                      </m:e>
                    </m:d>
                  </m:oMath>
                </a14:m>
                <a:r>
                  <a:rPr lang="zh-CN" altLang="en-US" sz="2800" dirty="0"/>
                  <a:t>和</a:t>
                </a:r>
                <a14:m>
                  <m:oMath xmlns:m="http://schemas.openxmlformats.org/officeDocument/2006/math">
                    <m:r>
                      <a:rPr lang="en-US" altLang="zh-CN" sz="2800">
                        <a:latin typeface="Cambria Math" panose="02040503050406030204" pitchFamily="18" charset="0"/>
                      </a:rPr>
                      <m:t>𝑃</m:t>
                    </m:r>
                    <m:d>
                      <m:dPr>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𝐼</m:t>
                            </m:r>
                          </m:e>
                          <m:sub>
                            <m:r>
                              <a:rPr lang="en-US" altLang="zh-CN" sz="2800">
                                <a:latin typeface="Cambria Math" panose="02040503050406030204" pitchFamily="18" charset="0"/>
                              </a:rPr>
                              <m:t>2</m:t>
                            </m:r>
                          </m:sub>
                        </m:sSub>
                      </m:e>
                      <m:e>
                        <m:sSub>
                          <m:sSubPr>
                            <m:ctrlPr>
                              <a:rPr lang="en-US" altLang="zh-CN" sz="2800" i="1">
                                <a:latin typeface="Cambria Math" panose="02040503050406030204" pitchFamily="18" charset="0"/>
                              </a:rPr>
                            </m:ctrlPr>
                          </m:sSubPr>
                          <m:e>
                            <m:r>
                              <a:rPr lang="en-US" altLang="zh-CN" sz="2800">
                                <a:latin typeface="Cambria Math" panose="02040503050406030204" pitchFamily="18" charset="0"/>
                              </a:rPr>
                              <m:t>𝑁</m:t>
                            </m:r>
                          </m:e>
                          <m:sub>
                            <m:r>
                              <a:rPr lang="en-US" altLang="zh-CN" sz="2800">
                                <a:latin typeface="Cambria Math" panose="02040503050406030204" pitchFamily="18" charset="0"/>
                              </a:rPr>
                              <m:t>2</m:t>
                            </m:r>
                          </m:sub>
                        </m:sSub>
                      </m:e>
                    </m:d>
                  </m:oMath>
                </a14:m>
                <a:endParaRPr lang="en-US" altLang="zh-CN" sz="2800" dirty="0"/>
              </a:p>
              <a:p>
                <a:pPr marL="457200" lvl="1" indent="0">
                  <a:buNone/>
                </a:pP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2765"/>
                </a:stretch>
              </a:blipFill>
            </p:spPr>
            <p:txBody>
              <a:bodyPr/>
              <a:lstStyle/>
              <a:p>
                <a:r>
                  <a:rPr lang="zh-CN" altLang="en-US">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样本概率估计</a:t>
            </a:r>
            <a:endParaRPr lang="en-US" dirty="0"/>
          </a:p>
        </p:txBody>
      </p:sp>
      <p:sp>
        <p:nvSpPr>
          <p:cNvPr id="3" name="Content Placeholder 2"/>
          <p:cNvSpPr>
            <a:spLocks noGrp="1"/>
          </p:cNvSpPr>
          <p:nvPr>
            <p:ph idx="1"/>
          </p:nvPr>
        </p:nvSpPr>
        <p:spPr/>
        <p:txBody>
          <a:bodyPr/>
          <a:lstStyle/>
          <a:p>
            <a:pPr marL="0" indent="0">
              <a:buNone/>
            </a:pPr>
            <a:r>
              <a:rPr lang="ja-JP" altLang="en-US"/>
              <a:t>作为</a:t>
            </a:r>
            <a:r>
              <a:rPr lang="ja-JP" altLang="en-US"/>
              <a:t>乙方</a:t>
            </a:r>
            <a:r>
              <a:rPr lang="zh-CN" altLang="en-US" dirty="0"/>
              <a:t>，公司真正关心的是如果咨询公司的调查结果为</a:t>
            </a:r>
            <a:r>
              <a:rPr lang="en-US" altLang="zh-CN" dirty="0"/>
              <a:t>I</a:t>
            </a:r>
            <a:r>
              <a:rPr lang="en-US" altLang="zh-CN" baseline="-25000" dirty="0"/>
              <a:t>1</a:t>
            </a:r>
            <a:r>
              <a:rPr lang="zh-CN" altLang="en-US" dirty="0"/>
              <a:t>（</a:t>
            </a:r>
            <a:r>
              <a:rPr lang="en-US" altLang="zh-CN" dirty="0"/>
              <a:t>I</a:t>
            </a:r>
            <a:r>
              <a:rPr lang="en-US" altLang="zh-CN" baseline="-25000" dirty="0"/>
              <a:t>2</a:t>
            </a:r>
            <a:r>
              <a:rPr lang="zh-CN" altLang="en-US" dirty="0"/>
              <a:t>）时，实际需求为</a:t>
            </a:r>
            <a:r>
              <a:rPr lang="en-US" altLang="zh-CN" dirty="0"/>
              <a:t>N</a:t>
            </a:r>
            <a:r>
              <a:rPr lang="en-US" altLang="zh-CN" baseline="-25000" dirty="0"/>
              <a:t>1</a:t>
            </a:r>
            <a:r>
              <a:rPr lang="zh-CN" altLang="en-US" dirty="0"/>
              <a:t>和</a:t>
            </a:r>
            <a:r>
              <a:rPr lang="en-US" altLang="zh-CN" dirty="0"/>
              <a:t>N</a:t>
            </a:r>
            <a:r>
              <a:rPr lang="en-US" altLang="zh-CN" baseline="-25000" dirty="0"/>
              <a:t>2</a:t>
            </a:r>
            <a:r>
              <a:rPr lang="zh-CN" altLang="en-US" dirty="0"/>
              <a:t>的概率分别是多少，并决定是否要雇佣咨询公司进行调研</a:t>
            </a:r>
            <a:endParaRPr lang="ja-JP" altLang="en-US"/>
          </a:p>
        </p:txBody>
      </p:sp>
      <p:graphicFrame>
        <p:nvGraphicFramePr>
          <p:cNvPr id="4" name="Group 218"/>
          <p:cNvGraphicFramePr>
            <a:graphicFrameLocks noGrp="1"/>
          </p:cNvGraphicFramePr>
          <p:nvPr/>
        </p:nvGraphicFramePr>
        <p:xfrm>
          <a:off x="2063750" y="3562350"/>
          <a:ext cx="8064500" cy="2614613"/>
        </p:xfrm>
        <a:graphic>
          <a:graphicData uri="http://schemas.openxmlformats.org/drawingml/2006/table">
            <a:tbl>
              <a:tblPr/>
              <a:tblGrid>
                <a:gridCol w="2088129"/>
                <a:gridCol w="3989103"/>
                <a:gridCol w="1987268"/>
              </a:tblGrid>
              <a:tr h="1152419">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r>
              <a:tr h="7146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r>
                        <a:rPr kumimoji="1" lang="zh-CN" altLang="en-US"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r>
                        <a:rPr kumimoji="1" lang="zh-CN" altLang="en-US"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747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r>
                        <a:rPr kumimoji="1" lang="zh-CN" altLang="en-US"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r>
                        <a:rPr kumimoji="1" lang="zh-CN" altLang="en-US"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基于样本概率的决策树</a:t>
            </a:r>
            <a:endParaRPr lang="en-US" dirty="0"/>
          </a:p>
        </p:txBody>
      </p:sp>
      <p:pic>
        <p:nvPicPr>
          <p:cNvPr id="4"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5701" y="1112837"/>
            <a:ext cx="7336007" cy="5376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8844595" y="4628645"/>
            <a:ext cx="315590" cy="369332"/>
          </a:xfrm>
          <a:prstGeom prst="rect">
            <a:avLst/>
          </a:prstGeom>
          <a:noFill/>
        </p:spPr>
        <p:txBody>
          <a:bodyPr wrap="square" rtlCol="0">
            <a:spAutoFit/>
          </a:bodyPr>
          <a:lstStyle/>
          <a:p>
            <a:r>
              <a:rPr lang="en-US" altLang="zh-CN" dirty="0"/>
              <a:t>-</a:t>
            </a:r>
            <a:endParaRPr lang="en-US" dirty="0"/>
          </a:p>
        </p:txBody>
      </p:sp>
      <p:sp>
        <p:nvSpPr>
          <p:cNvPr id="7" name="Rectangle 6"/>
          <p:cNvSpPr/>
          <p:nvPr/>
        </p:nvSpPr>
        <p:spPr>
          <a:xfrm>
            <a:off x="4183582" y="2039193"/>
            <a:ext cx="793020" cy="40217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8" name="TextBox 7"/>
              <p:cNvSpPr txBox="1"/>
              <p:nvPr/>
            </p:nvSpPr>
            <p:spPr>
              <a:xfrm>
                <a:off x="501706" y="2856488"/>
                <a:ext cx="2735108" cy="1380699"/>
              </a:xfrm>
              <a:prstGeom prst="rect">
                <a:avLst/>
              </a:prstGeom>
              <a:noFill/>
            </p:spPr>
            <p:txBody>
              <a:bodyPr wrap="square" rtlCol="0">
                <a:spAutoFit/>
              </a:bodyPr>
              <a:lstStyle/>
              <a:p>
                <a:pPr marL="285750" indent="-285750">
                  <a:buFont typeface="Arial" panose="020B0604020202020204" pitchFamily="34" charset="0"/>
                  <a:buChar char="•"/>
                </a:pPr>
                <a:r>
                  <a:rPr lang="en-US" dirty="0"/>
                  <a:t>先通过全概率公式求解</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a14:m>
                <a:r>
                  <a:rPr lang="en-US" dirty="0"/>
                  <a:t>和</a:t>
                </a:r>
                <a14:m>
                  <m:oMath xmlns:m="http://schemas.openxmlformats.org/officeDocument/2006/math">
                    <m:r>
                      <a:rPr lang="en-US" altLang="zh-CN" b="0" i="1" dirty="0" smtClean="0">
                        <a:latin typeface="Cambria Math" panose="02040503050406030204" pitchFamily="18" charset="0"/>
                      </a:rPr>
                      <m:t>𝑃</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𝐼</m:t>
                            </m:r>
                          </m:e>
                          <m:sub>
                            <m:r>
                              <a:rPr lang="en-US" altLang="zh-CN" b="0" i="1" dirty="0" smtClean="0">
                                <a:latin typeface="Cambria Math" panose="02040503050406030204" pitchFamily="18" charset="0"/>
                              </a:rPr>
                              <m:t>2</m:t>
                            </m:r>
                          </m:sub>
                        </m:sSub>
                      </m:e>
                    </m:d>
                  </m:oMath>
                </a14:m>
                <a:endParaRPr lang="en-US" altLang="zh-CN" b="0" dirty="0"/>
              </a:p>
              <a:p>
                <a:pPr marL="285750" indent="-285750">
                  <a:buFont typeface="Arial" panose="020B0604020202020204" pitchFamily="34" charset="0"/>
                  <a:buChar char="•"/>
                </a:pPr>
                <a:r>
                  <a:rPr lang="en-US" dirty="0" err="1"/>
                  <a:t>再通过贝叶斯法则求解</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𝑖</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𝑗</m:t>
                            </m:r>
                          </m:sub>
                        </m:sSub>
                      </m:den>
                    </m:f>
                    <m:r>
                      <a:rPr lang="en-US" altLang="zh-CN" b="0" i="1" smtClean="0">
                        <a:latin typeface="Cambria Math" panose="02040503050406030204" pitchFamily="18" charset="0"/>
                      </a:rPr>
                      <m:t>)</m:t>
                    </m:r>
                  </m:oMath>
                </a14:m>
                <a:endParaRPr lang="en-US" dirty="0"/>
              </a:p>
            </p:txBody>
          </p:sp>
        </mc:Choice>
        <mc:Fallback>
          <p:sp>
            <p:nvSpPr>
              <p:cNvPr id="8" name="TextBox 7"/>
              <p:cNvSpPr txBox="1">
                <a:spLocks noRot="1" noChangeAspect="1" noMove="1" noResize="1" noEditPoints="1" noAdjustHandles="1" noChangeArrowheads="1" noChangeShapeType="1" noTextEdit="1"/>
              </p:cNvSpPr>
              <p:nvPr/>
            </p:nvSpPr>
            <p:spPr>
              <a:xfrm>
                <a:off x="501706" y="2856488"/>
                <a:ext cx="2735108" cy="1380699"/>
              </a:xfrm>
              <a:prstGeom prst="rect">
                <a:avLst/>
              </a:prstGeom>
              <a:blipFill rotWithShape="1">
                <a:blip r:embed="rId2"/>
                <a:stretch>
                  <a:fillRect l="-2" t="-19" r="8" b="34"/>
                </a:stretch>
              </a:blipFill>
            </p:spPr>
            <p:txBody>
              <a:bodyPr/>
              <a:lstStyle/>
              <a:p>
                <a:r>
                  <a:rPr lang="zh-CN" altLang="en-US">
                    <a:noFill/>
                  </a:rPr>
                  <a:t> </a:t>
                </a:r>
              </a:p>
            </p:txBody>
          </p:sp>
        </mc:Fallback>
      </mc:AlternateContent>
      <p:sp>
        <p:nvSpPr>
          <p:cNvPr id="9" name="Rectangle 8"/>
          <p:cNvSpPr/>
          <p:nvPr/>
        </p:nvSpPr>
        <p:spPr>
          <a:xfrm>
            <a:off x="8023123" y="1112837"/>
            <a:ext cx="698090" cy="54747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xit" presetSubtype="10" fill="hold" grpId="1" nodeType="clickEffect">
                                  <p:stCondLst>
                                    <p:cond delay="0"/>
                                  </p:stCondLst>
                                  <p:childTnLst>
                                    <p:animEffect transition="out" filter="blinds(horizontal)">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par>
                                <p:cTn id="14" presetID="1" presetClass="entr" presetSubtype="0" fill="hold" nodeType="with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求得样本概率</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r>
                  <a:rPr lang="en-US" dirty="0"/>
                  <a:t>由全概率公式可得</a:t>
                </a:r>
                <a:r>
                  <a:rPr lang="zh-CN" altLang="en-US" dirty="0"/>
                  <a:t>：</a:t>
                </a:r>
                <a:endParaRPr lang="en-US" altLang="zh-CN" dirty="0"/>
              </a:p>
              <a:p>
                <a:pPr lvl="1"/>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f>
                          <m:fPr>
                            <m:type m:val="skw"/>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type m:val="skw"/>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2</m:t>
                                </m:r>
                              </m:sub>
                            </m:sSub>
                          </m:den>
                        </m:f>
                      </m:e>
                    </m:d>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3</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8</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7</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1</m:t>
                    </m:r>
                  </m:oMath>
                </a14:m>
                <a:r>
                  <a:rPr lang="en-US" altLang="zh-CN" dirty="0"/>
                  <a:t>=0.31</a:t>
                </a:r>
                <a:endParaRPr lang="en-US" altLang="zh-CN" dirty="0"/>
              </a:p>
              <a:p>
                <a:pPr lvl="1"/>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e>
                    </m:d>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1</m:t>
                            </m:r>
                          </m:sub>
                        </m:sSub>
                      </m:e>
                    </m:d>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type m:val="skw"/>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den>
                        </m:f>
                      </m:e>
                    </m:d>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e>
                    </m:d>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type m:val="skw"/>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9</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69</m:t>
                    </m:r>
                  </m:oMath>
                </a14:m>
                <a:endParaRPr lang="en-US" altLang="zh-CN" dirty="0"/>
              </a:p>
              <a:p>
                <a:r>
                  <a:rPr lang="zh-CN" altLang="en-US" dirty="0"/>
                  <a:t>由贝叶斯法则可得：</a:t>
                </a:r>
                <a:endParaRPr lang="en-US" altLang="zh-CN" dirty="0"/>
              </a:p>
              <a:p>
                <a:pPr lvl="1"/>
                <a14:m>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den>
                        </m:f>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e>
                        </m:d>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1</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1</m:t>
                                </m:r>
                              </m:sub>
                            </m:sSub>
                          </m:den>
                        </m:f>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8</m:t>
                        </m:r>
                      </m:num>
                      <m:den>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31</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7742</m:t>
                    </m:r>
                  </m:oMath>
                </a14:m>
                <a:endParaRPr lang="en-US" altLang="zh-CN" dirty="0"/>
              </a:p>
              <a:p>
                <a:pPr lvl="1"/>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1</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2</m:t>
                                </m:r>
                              </m:sub>
                            </m:sSub>
                          </m:e>
                        </m:d>
                      </m:num>
                      <m:den>
                        <m:r>
                          <a:rPr lang="en-US" altLang="zh-CN" i="1">
                            <a:latin typeface="Cambria Math" panose="02040503050406030204" pitchFamily="18" charset="0"/>
                          </a:rPr>
                          <m:t>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1</m:t>
                            </m:r>
                          </m:sub>
                        </m:sSub>
                        <m:r>
                          <a:rPr lang="en-US" altLang="zh-CN" i="1">
                            <a:latin typeface="Cambria Math" panose="02040503050406030204" pitchFamily="18" charset="0"/>
                          </a:rPr>
                          <m:t>)</m:t>
                        </m:r>
                      </m:den>
                    </m:f>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i="1">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b="0" i="1" smtClean="0">
                                    <a:latin typeface="Cambria Math" panose="02040503050406030204" pitchFamily="18" charset="0"/>
                                  </a:rPr>
                                  <m:t>2</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7</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1</m:t>
                        </m:r>
                      </m:num>
                      <m:den>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31</m:t>
                        </m:r>
                      </m:den>
                    </m:f>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2258</m:t>
                    </m:r>
                  </m:oMath>
                </a14:m>
                <a:endParaRPr lang="en-US" altLang="zh-CN" dirty="0"/>
              </a:p>
              <a:p>
                <a:pPr lvl="1"/>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e>
                        </m:d>
                      </m:num>
                      <m:den>
                        <m:r>
                          <a:rPr lang="en-US" altLang="zh-CN" i="1">
                            <a:latin typeface="Cambria Math" panose="02040503050406030204" pitchFamily="18" charset="0"/>
                          </a:rPr>
                          <m:t>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den>
                    </m:f>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3</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2</m:t>
                        </m:r>
                      </m:num>
                      <m:den>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69</m:t>
                        </m:r>
                      </m:den>
                    </m:f>
                    <m:r>
                      <a:rPr lang="en-US" altLang="zh-CN" i="1">
                        <a:latin typeface="Cambria Math" panose="02040503050406030204" pitchFamily="18" charset="0"/>
                      </a:rPr>
                      <m:t>≈</m:t>
                    </m:r>
                    <m:r>
                      <a:rPr lang="en-US" altLang="zh-CN" i="1">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087</m:t>
                    </m:r>
                  </m:oMath>
                </a14:m>
                <a:endParaRPr lang="en-US" altLang="zh-CN" dirty="0"/>
              </a:p>
              <a:p>
                <a:pPr lvl="1"/>
                <a14:m>
                  <m:oMath xmlns:m="http://schemas.openxmlformats.org/officeDocument/2006/math">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𝑃</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e>
                        </m:d>
                      </m:num>
                      <m:den>
                        <m:r>
                          <a:rPr lang="en-US" altLang="zh-CN" i="1">
                            <a:latin typeface="Cambria Math" panose="02040503050406030204" pitchFamily="18" charset="0"/>
                          </a:rPr>
                          <m:t>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den>
                    </m:f>
                    <m:r>
                      <a:rPr lang="en-US" altLang="zh-CN" i="1">
                        <a:latin typeface="Cambria Math" panose="02040503050406030204" pitchFamily="18" charset="0"/>
                      </a:rPr>
                      <m:t>⋅</m:t>
                    </m:r>
                    <m:r>
                      <a:rPr lang="en-US" altLang="zh-CN" i="1">
                        <a:latin typeface="Cambria Math" panose="02040503050406030204" pitchFamily="18" charset="0"/>
                      </a:rPr>
                      <m:t>𝑃</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den>
                        </m:f>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0</m:t>
                        </m:r>
                        <m:r>
                          <a:rPr lang="en-US" altLang="zh-CN" i="1">
                            <a:latin typeface="Cambria Math" panose="02040503050406030204" pitchFamily="18" charset="0"/>
                          </a:rPr>
                          <m:t>.</m:t>
                        </m:r>
                        <m:r>
                          <a:rPr lang="en-US" altLang="zh-CN" i="1">
                            <a:latin typeface="Cambria Math" panose="02040503050406030204" pitchFamily="18" charset="0"/>
                          </a:rPr>
                          <m:t>7</m:t>
                        </m:r>
                        <m:r>
                          <a:rPr lang="en-US" altLang="zh-CN" i="1">
                            <a:latin typeface="Cambria Math" panose="02040503050406030204" pitchFamily="18" charset="0"/>
                          </a:rPr>
                          <m:t>×</m:t>
                        </m:r>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9</m:t>
                        </m:r>
                      </m:num>
                      <m:den>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69</m:t>
                        </m:r>
                      </m:den>
                    </m:f>
                    <m:r>
                      <a:rPr lang="en-US" altLang="zh-CN" i="1">
                        <a:latin typeface="Cambria Math" panose="02040503050406030204" pitchFamily="18" charset="0"/>
                      </a:rPr>
                      <m:t>≈</m:t>
                    </m:r>
                    <m:r>
                      <a:rPr lang="en-US" altLang="zh-CN" i="1">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913</m:t>
                    </m:r>
                  </m:oMath>
                </a14:m>
                <a:br>
                  <a:rPr lang="en-US" altLang="zh-CN" dirty="0"/>
                </a:br>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272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基于样本概率的决策树</a:t>
            </a:r>
            <a:endParaRPr 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8175" y="1557338"/>
            <a:ext cx="5715000"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8343150" y="4638477"/>
            <a:ext cx="315590" cy="369332"/>
          </a:xfrm>
          <a:prstGeom prst="rect">
            <a:avLst/>
          </a:prstGeom>
          <a:noFill/>
        </p:spPr>
        <p:txBody>
          <a:bodyPr wrap="square" rtlCol="0">
            <a:spAutoFit/>
          </a:bodyPr>
          <a:lstStyle/>
          <a:p>
            <a:r>
              <a:rPr lang="en-US" altLang="zh-CN" dirty="0"/>
              <a:t>-</a:t>
            </a:r>
            <a:endParaRPr lang="en-US" dirty="0"/>
          </a:p>
        </p:txBody>
      </p:sp>
      <p:sp>
        <p:nvSpPr>
          <p:cNvPr id="6" name="Line 52"/>
          <p:cNvSpPr>
            <a:spLocks noChangeShapeType="1"/>
          </p:cNvSpPr>
          <p:nvPr/>
        </p:nvSpPr>
        <p:spPr bwMode="auto">
          <a:xfrm>
            <a:off x="5524778" y="2652087"/>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52"/>
          <p:cNvSpPr>
            <a:spLocks noChangeShapeType="1"/>
          </p:cNvSpPr>
          <p:nvPr/>
        </p:nvSpPr>
        <p:spPr bwMode="auto">
          <a:xfrm>
            <a:off x="5524778" y="3352559"/>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52"/>
          <p:cNvSpPr>
            <a:spLocks noChangeShapeType="1"/>
          </p:cNvSpPr>
          <p:nvPr/>
        </p:nvSpPr>
        <p:spPr bwMode="auto">
          <a:xfrm>
            <a:off x="5524778" y="4638477"/>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52"/>
          <p:cNvSpPr>
            <a:spLocks noChangeShapeType="1"/>
          </p:cNvSpPr>
          <p:nvPr/>
        </p:nvSpPr>
        <p:spPr bwMode="auto">
          <a:xfrm>
            <a:off x="5524778" y="5339521"/>
            <a:ext cx="152400" cy="152400"/>
          </a:xfrm>
          <a:prstGeom prst="line">
            <a:avLst/>
          </a:prstGeom>
          <a:noFill/>
          <a:ln w="76200" cmpd="dbl">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Box 9"/>
          <p:cNvSpPr txBox="1"/>
          <p:nvPr/>
        </p:nvSpPr>
        <p:spPr>
          <a:xfrm>
            <a:off x="2548992" y="4021743"/>
            <a:ext cx="847668" cy="307777"/>
          </a:xfrm>
          <a:prstGeom prst="rect">
            <a:avLst/>
          </a:prstGeom>
          <a:noFill/>
        </p:spPr>
        <p:txBody>
          <a:bodyPr wrap="square" rtlCol="0">
            <a:spAutoFit/>
          </a:bodyPr>
          <a:lstStyle/>
          <a:p>
            <a:r>
              <a:rPr lang="en-US" altLang="zh-CN" sz="1400" dirty="0"/>
              <a:t>10.5302</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样本情报价值</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sz="2800" dirty="0">
                    <a:latin typeface="楷体" panose="02010609060101010101" pitchFamily="49" charset="-122"/>
                    <a:ea typeface="楷体" panose="02010609060101010101" pitchFamily="49" charset="-122"/>
                    <a:cs typeface="楷体" panose="02010609060101010101" pitchFamily="49" charset="-122"/>
                  </a:rPr>
                  <a:t>由决策树上的计算可知，公司的期望收益可达到</a:t>
                </a:r>
                <a:r>
                  <a:rPr lang="en-US" altLang="zh-CN" sz="2800" dirty="0">
                    <a:latin typeface="楷体" panose="02010609060101010101" pitchFamily="49" charset="-122"/>
                    <a:ea typeface="楷体" panose="02010609060101010101" pitchFamily="49" charset="-122"/>
                    <a:cs typeface="楷体" panose="02010609060101010101" pitchFamily="49" charset="-122"/>
                  </a:rPr>
                  <a:t>10.5302</a:t>
                </a:r>
                <a:r>
                  <a:rPr lang="zh-CN" altLang="en-US" sz="2800" dirty="0">
                    <a:latin typeface="楷体" panose="02010609060101010101" pitchFamily="49" charset="-122"/>
                    <a:ea typeface="楷体" panose="02010609060101010101" pitchFamily="49" charset="-122"/>
                    <a:cs typeface="楷体" panose="02010609060101010101" pitchFamily="49" charset="-122"/>
                  </a:rPr>
                  <a:t>万元，比不进行市场调查的公司收益</a:t>
                </a:r>
                <a:r>
                  <a:rPr lang="en-US" altLang="zh-CN" sz="2800" dirty="0">
                    <a:latin typeface="楷体" panose="02010609060101010101" pitchFamily="49" charset="-122"/>
                    <a:ea typeface="楷体" panose="02010609060101010101" pitchFamily="49" charset="-122"/>
                    <a:cs typeface="楷体" panose="02010609060101010101" pitchFamily="49" charset="-122"/>
                  </a:rPr>
                  <a:t>6.5</a:t>
                </a:r>
                <a:r>
                  <a:rPr lang="zh-CN" altLang="en-US" sz="2800" dirty="0">
                    <a:latin typeface="楷体" panose="02010609060101010101" pitchFamily="49" charset="-122"/>
                    <a:ea typeface="楷体" panose="02010609060101010101" pitchFamily="49" charset="-122"/>
                    <a:cs typeface="楷体" panose="02010609060101010101" pitchFamily="49" charset="-122"/>
                  </a:rPr>
                  <a:t>万元要高，其差额就是样本情报的价值，记为</a:t>
                </a:r>
                <a:r>
                  <a:rPr lang="en-US" altLang="zh-CN" sz="2800" dirty="0">
                    <a:latin typeface="楷体" panose="02010609060101010101" pitchFamily="49" charset="-122"/>
                    <a:ea typeface="楷体" panose="02010609060101010101" pitchFamily="49" charset="-122"/>
                    <a:cs typeface="楷体" panose="02010609060101010101" pitchFamily="49" charset="-122"/>
                  </a:rPr>
                  <a:t>EVSI</a:t>
                </a:r>
                <a:r>
                  <a:rPr lang="zh-CN" altLang="en-US" sz="2800" dirty="0">
                    <a:latin typeface="楷体" panose="02010609060101010101" pitchFamily="49" charset="-122"/>
                    <a:ea typeface="楷体" panose="02010609060101010101" pitchFamily="49" charset="-122"/>
                    <a:cs typeface="楷体" panose="02010609060101010101" pitchFamily="49" charset="-122"/>
                  </a:rPr>
                  <a:t>。</a:t>
                </a:r>
                <a:endParaRPr lang="en-US" altLang="zh-CN" sz="2800" dirty="0">
                  <a:latin typeface="楷体" panose="02010609060101010101" pitchFamily="49" charset="-122"/>
                  <a:ea typeface="楷体" panose="02010609060101010101" pitchFamily="49" charset="-122"/>
                  <a:cs typeface="楷体" panose="02010609060101010101" pitchFamily="49" charset="-122"/>
                </a:endParaRPr>
              </a:p>
              <a:p>
                <a14:m>
                  <m:oMath xmlns:m="http://schemas.openxmlformats.org/officeDocument/2006/math">
                    <m:r>
                      <a:rPr lang="en-US" altLang="zh-CN" b="0" i="1" smtClean="0">
                        <a:latin typeface="Cambria Math" panose="02040503050406030204" pitchFamily="18" charset="0"/>
                      </a:rPr>
                      <m:t>𝐸𝑉𝑆𝐼</m:t>
                    </m:r>
                    <m:r>
                      <a:rPr lang="en-US" altLang="zh-CN" b="0" i="1" smtClean="0">
                        <a:latin typeface="Cambria Math" panose="02040503050406030204" pitchFamily="18" charset="0"/>
                      </a:rPr>
                      <m:t>=</m:t>
                    </m:r>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5302</m:t>
                    </m:r>
                    <m:r>
                      <a:rPr lang="en-US" altLang="zh-CN" b="0" i="1" smtClean="0">
                        <a:latin typeface="Cambria Math" panose="02040503050406030204" pitchFamily="18" charset="0"/>
                      </a:rPr>
                      <m:t>−</m:t>
                    </m:r>
                    <m:r>
                      <a:rPr lang="en-US" altLang="zh-CN" b="0" i="1" smtClean="0">
                        <a:latin typeface="Cambria Math" panose="02040503050406030204" pitchFamily="18" charset="0"/>
                      </a:rPr>
                      <m:t>6</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r>
                      <a:rPr lang="en-US" altLang="zh-CN" b="0" i="1" smtClean="0">
                        <a:latin typeface="Cambria Math" panose="02040503050406030204" pitchFamily="18" charset="0"/>
                      </a:rPr>
                      <m:t>.</m:t>
                    </m:r>
                    <m:r>
                      <a:rPr lang="en-US" altLang="zh-CN" b="0" i="1" smtClean="0">
                        <a:latin typeface="Cambria Math" panose="02040503050406030204" pitchFamily="18" charset="0"/>
                      </a:rPr>
                      <m:t>0302</m:t>
                    </m:r>
                    <m:r>
                      <a:rPr lang="zh-CN" altLang="en-US" i="1">
                        <a:latin typeface="Cambria Math" panose="02040503050406030204" pitchFamily="18" charset="0"/>
                      </a:rPr>
                      <m:t>万元</m:t>
                    </m:r>
                  </m:oMath>
                </a14:m>
                <a:endParaRPr lang="en-US" dirty="0"/>
              </a:p>
              <a:p>
                <a:r>
                  <a:rPr lang="zh-CN" altLang="en-US" sz="2800" dirty="0">
                    <a:latin typeface="楷体" panose="02010609060101010101" pitchFamily="49" charset="-122"/>
                    <a:ea typeface="楷体" panose="02010609060101010101" pitchFamily="49" charset="-122"/>
                    <a:cs typeface="楷体" panose="02010609060101010101" pitchFamily="49" charset="-122"/>
                  </a:rPr>
                  <a:t>所以当咨询公司市场调查的要价低于</a:t>
                </a:r>
                <a:r>
                  <a:rPr lang="en-US" altLang="zh-CN" sz="2800" dirty="0">
                    <a:latin typeface="楷体" panose="02010609060101010101" pitchFamily="49" charset="-122"/>
                    <a:ea typeface="楷体" panose="02010609060101010101" pitchFamily="49" charset="-122"/>
                    <a:cs typeface="楷体" panose="02010609060101010101" pitchFamily="49" charset="-122"/>
                  </a:rPr>
                  <a:t>4.0302</a:t>
                </a:r>
                <a:r>
                  <a:rPr lang="zh-CN" altLang="en-US" sz="2800" dirty="0">
                    <a:latin typeface="楷体" panose="02010609060101010101" pitchFamily="49" charset="-122"/>
                    <a:ea typeface="楷体" panose="02010609060101010101" pitchFamily="49" charset="-122"/>
                    <a:cs typeface="楷体" panose="02010609060101010101" pitchFamily="49" charset="-122"/>
                  </a:rPr>
                  <a:t>万元时，公司可考虑委托其进行市场调查，否则就不进行市场调查。</a:t>
                </a:r>
                <a:endParaRPr lang="en-US" altLang="zh-CN" sz="2800" dirty="0">
                  <a:latin typeface="楷体" panose="02010609060101010101" pitchFamily="49" charset="-122"/>
                  <a:ea typeface="楷体" panose="02010609060101010101" pitchFamily="49" charset="-122"/>
                  <a:cs typeface="楷体" panose="02010609060101010101" pitchFamily="49" charset="-122"/>
                </a:endParaRPr>
              </a:p>
              <a:p>
                <a:r>
                  <a:rPr lang="zh-CN" altLang="en-US" sz="2800" dirty="0">
                    <a:latin typeface="楷体" panose="02010609060101010101" pitchFamily="49" charset="-122"/>
                    <a:ea typeface="楷体" panose="02010609060101010101" pitchFamily="49" charset="-122"/>
                    <a:cs typeface="楷体" panose="02010609060101010101" pitchFamily="49" charset="-122"/>
                  </a:rPr>
                  <a:t>在这里，因为公司要价</a:t>
                </a:r>
                <a:r>
                  <a:rPr lang="en-US" altLang="zh-CN" sz="2800" dirty="0">
                    <a:latin typeface="楷体" panose="02010609060101010101" pitchFamily="49" charset="-122"/>
                    <a:ea typeface="楷体" panose="02010609060101010101" pitchFamily="49" charset="-122"/>
                    <a:cs typeface="楷体" panose="02010609060101010101" pitchFamily="49" charset="-122"/>
                  </a:rPr>
                  <a:t>3</a:t>
                </a:r>
                <a:r>
                  <a:rPr lang="zh-CN" altLang="en-US" sz="2800" dirty="0">
                    <a:latin typeface="楷体" panose="02010609060101010101" pitchFamily="49" charset="-122"/>
                    <a:ea typeface="楷体" panose="02010609060101010101" pitchFamily="49" charset="-122"/>
                    <a:cs typeface="楷体" panose="02010609060101010101" pitchFamily="49" charset="-122"/>
                  </a:rPr>
                  <a:t>万元，所以应该委托其进行市场调查。</a:t>
                </a:r>
                <a:endParaRPr lang="en-US" altLang="zh-CN" sz="2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思考题</a:t>
            </a:r>
            <a:endParaRPr lang="en-US" dirty="0"/>
          </a:p>
        </p:txBody>
      </p:sp>
      <p:sp>
        <p:nvSpPr>
          <p:cNvPr id="3" name="Content Placeholder 2"/>
          <p:cNvSpPr>
            <a:spLocks noGrp="1"/>
          </p:cNvSpPr>
          <p:nvPr>
            <p:ph idx="1"/>
          </p:nvPr>
        </p:nvSpPr>
        <p:spPr/>
        <p:txBody>
          <a:bodyPr/>
          <a:lstStyle/>
          <a:p>
            <a:r>
              <a:rPr lang="zh-CN" altLang="en-US" dirty="0"/>
              <a:t>许多咨询公司在为客户提供服务时为什么会要求客户签署保密协议？这样做的目的是什么？</a:t>
            </a:r>
            <a:endParaRPr lang="en-US" dirty="0"/>
          </a:p>
          <a:p>
            <a:endParaRPr lang="en-US" dirty="0"/>
          </a:p>
        </p:txBody>
      </p:sp>
      <p:graphicFrame>
        <p:nvGraphicFramePr>
          <p:cNvPr id="4" name="Group 218"/>
          <p:cNvGraphicFramePr>
            <a:graphicFrameLocks noGrp="1"/>
          </p:cNvGraphicFramePr>
          <p:nvPr/>
        </p:nvGraphicFramePr>
        <p:xfrm>
          <a:off x="2005800" y="3562350"/>
          <a:ext cx="8064500" cy="2614613"/>
        </p:xfrm>
        <a:graphic>
          <a:graphicData uri="http://schemas.openxmlformats.org/drawingml/2006/table">
            <a:tbl>
              <a:tblPr/>
              <a:tblGrid>
                <a:gridCol w="2088129"/>
                <a:gridCol w="3989103"/>
                <a:gridCol w="1987268"/>
              </a:tblGrid>
              <a:tr h="1152419">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tx1"/>
                        </a:solidFill>
                        <a:effectLst/>
                        <a:latin typeface="Arial" panose="020B0604020202020204" pitchFamily="34" charset="0"/>
                        <a:ea typeface="仿宋" panose="02010609060101010101" pitchFamily="49" charset="-122"/>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40000"/>
                        <a:lumOff val="60000"/>
                      </a:schemeClr>
                    </a:solidFill>
                  </a:tcPr>
                </a:tc>
              </a:tr>
              <a:tr h="7146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endPar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)=0.8</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)=0.1</a:t>
                      </a:r>
                      <a:endParaRPr kumimoji="1" lang="en-US" altLang="zh-CN" sz="3600" b="0" i="0" u="none" strike="noStrike" cap="none" normalizeH="0" baseline="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r h="747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I</a:t>
                      </a:r>
                      <a:r>
                        <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endParaRPr kumimoji="1" lang="en-US" altLang="zh-CN" sz="1800" b="1"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1</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)=0.2</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P(I</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 /N</a:t>
                      </a:r>
                      <a:r>
                        <a:rPr kumimoji="1" lang="en-US" altLang="zh-CN" sz="1800" b="1" i="0" u="none" strike="noStrike" cap="none" normalizeH="0" baseline="-2500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2</a:t>
                      </a:r>
                      <a:r>
                        <a:rPr kumimoji="1" lang="en-US" altLang="zh-CN" sz="1800" b="1" i="0" u="none" strike="noStrike" cap="none" normalizeH="0" baseline="0" dirty="0">
                          <a:ln>
                            <a:noFill/>
                          </a:ln>
                          <a:solidFill>
                            <a:srgbClr val="000000"/>
                          </a:solidFill>
                          <a:effectLst/>
                          <a:latin typeface="Arial" panose="020B0604020202020204" pitchFamily="34" charset="0"/>
                          <a:ea typeface="仿宋" panose="02010609060101010101" pitchFamily="49" charset="-122"/>
                          <a:cs typeface="Times New Roman" panose="02020603050405020304" pitchFamily="18" charset="0"/>
                        </a:rPr>
                        <a:t>)=0.9</a:t>
                      </a:r>
                      <a:endParaRPr kumimoji="1" lang="en-US" altLang="zh-CN" sz="3600" b="0"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Times New Roman" panose="02020603050405020304" pitchFamily="18" charset="0"/>
                      </a:endParaRPr>
                    </a:p>
                  </a:txBody>
                  <a:tcPr marL="91435" marR="91435" marT="45732" marB="4573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样本情报价值效率</a:t>
            </a:r>
            <a:endParaRPr lang="en-US" dirty="0"/>
          </a:p>
        </p:txBody>
      </p:sp>
      <p:sp>
        <p:nvSpPr>
          <p:cNvPr id="3" name="Content Placeholder 2"/>
          <p:cNvSpPr>
            <a:spLocks noGrp="1"/>
          </p:cNvSpPr>
          <p:nvPr>
            <p:ph idx="1"/>
          </p:nvPr>
        </p:nvSpPr>
        <p:spPr/>
        <p:txBody>
          <a:bodyPr/>
          <a:lstStyle/>
          <a:p>
            <a:r>
              <a:rPr lang="zh-CN" altLang="en-US" sz="2800" dirty="0">
                <a:latin typeface="楷体" panose="02010609060101010101" pitchFamily="49" charset="-122"/>
                <a:ea typeface="楷体" panose="02010609060101010101" pitchFamily="49" charset="-122"/>
                <a:cs typeface="楷体" panose="02010609060101010101" pitchFamily="49" charset="-122"/>
              </a:rPr>
              <a:t>进一步，我们可以利用样本情报的价值与前面的全情报的价值</a:t>
            </a:r>
            <a:r>
              <a:rPr lang="en-US" altLang="zh-CN" sz="2800" dirty="0">
                <a:latin typeface="楷体" panose="02010609060101010101" pitchFamily="49" charset="-122"/>
                <a:ea typeface="楷体" panose="02010609060101010101" pitchFamily="49" charset="-122"/>
                <a:cs typeface="楷体" panose="02010609060101010101" pitchFamily="49" charset="-122"/>
              </a:rPr>
              <a:t>(EVPI)</a:t>
            </a:r>
            <a:r>
              <a:rPr lang="zh-CN" altLang="en-US" sz="2800" dirty="0">
                <a:latin typeface="楷体" panose="02010609060101010101" pitchFamily="49" charset="-122"/>
                <a:ea typeface="楷体" panose="02010609060101010101" pitchFamily="49" charset="-122"/>
                <a:cs typeface="楷体" panose="02010609060101010101" pitchFamily="49" charset="-122"/>
              </a:rPr>
              <a:t>的比值来定义样本情报的效率，作为样本情报的度量标准。</a:t>
            </a:r>
            <a:endParaRPr lang="en-US" altLang="zh-CN" sz="2800" dirty="0">
              <a:latin typeface="楷体" panose="02010609060101010101" pitchFamily="49" charset="-122"/>
              <a:ea typeface="楷体" panose="02010609060101010101" pitchFamily="49" charset="-122"/>
              <a:cs typeface="楷体" panose="02010609060101010101" pitchFamily="49" charset="-122"/>
            </a:endParaRPr>
          </a:p>
          <a:p>
            <a:r>
              <a:rPr lang="zh-CN" altLang="en-US" sz="2800" dirty="0">
                <a:latin typeface="楷体" panose="02010609060101010101" pitchFamily="49" charset="-122"/>
                <a:ea typeface="楷体" panose="02010609060101010101" pitchFamily="49" charset="-122"/>
                <a:cs typeface="楷体" panose="02010609060101010101" pitchFamily="49" charset="-122"/>
              </a:rPr>
              <a:t>样本情报效率</a:t>
            </a:r>
            <a:r>
              <a:rPr lang="en-US" altLang="zh-CN" sz="2800" dirty="0">
                <a:latin typeface="楷体" panose="02010609060101010101" pitchFamily="49" charset="-122"/>
                <a:ea typeface="楷体" panose="02010609060101010101" pitchFamily="49" charset="-122"/>
                <a:cs typeface="楷体" panose="02010609060101010101" pitchFamily="49" charset="-122"/>
              </a:rPr>
              <a:t>=EVSI/EVPI×100%</a:t>
            </a:r>
            <a:endParaRPr lang="en-US" altLang="zh-CN" dirty="0">
              <a:cs typeface="楷体" panose="02010609060101010101" pitchFamily="49" charset="-122"/>
            </a:endParaRPr>
          </a:p>
          <a:p>
            <a:pPr>
              <a:lnSpc>
                <a:spcPct val="100000"/>
              </a:lnSpc>
              <a:spcBef>
                <a:spcPts val="1200"/>
              </a:spcBef>
            </a:pPr>
            <a:r>
              <a:rPr lang="zh-CN" altLang="en-US" sz="2800" dirty="0">
                <a:latin typeface="楷体" panose="02010609060101010101" pitchFamily="49" charset="-122"/>
                <a:ea typeface="楷体" panose="02010609060101010101" pitchFamily="49" charset="-122"/>
                <a:cs typeface="楷体" panose="02010609060101010101" pitchFamily="49" charset="-122"/>
              </a:rPr>
              <a:t>上例中，样本情报价值的效率为：</a:t>
            </a:r>
            <a:endParaRPr lang="en-US" altLang="zh-CN" sz="2800" dirty="0">
              <a:latin typeface="楷体" panose="02010609060101010101" pitchFamily="49" charset="-122"/>
              <a:ea typeface="楷体" panose="02010609060101010101" pitchFamily="49" charset="-122"/>
              <a:cs typeface="楷体" panose="02010609060101010101" pitchFamily="49" charset="-122"/>
            </a:endParaRPr>
          </a:p>
          <a:p>
            <a:pPr lvl="1">
              <a:lnSpc>
                <a:spcPct val="100000"/>
              </a:lnSpc>
              <a:spcBef>
                <a:spcPts val="1200"/>
              </a:spcBef>
            </a:pPr>
            <a:r>
              <a:rPr lang="en-US" altLang="zh-CN" dirty="0">
                <a:latin typeface="楷体" panose="02010609060101010101" pitchFamily="49" charset="-122"/>
                <a:ea typeface="楷体" panose="02010609060101010101" pitchFamily="49" charset="-122"/>
                <a:cs typeface="楷体" panose="02010609060101010101" pitchFamily="49" charset="-122"/>
              </a:rPr>
              <a:t>4.0302/6×100%=67.17%</a:t>
            </a:r>
            <a:endParaRPr lang="en-US" altLang="zh-CN" dirty="0">
              <a:cs typeface="楷体" panose="02010609060101010101" pitchFamily="49" charset="-122"/>
            </a:endParaRPr>
          </a:p>
          <a:p>
            <a:pPr lvl="1">
              <a:lnSpc>
                <a:spcPct val="100000"/>
              </a:lnSpc>
              <a:spcBef>
                <a:spcPts val="1200"/>
              </a:spcBef>
            </a:pPr>
            <a:r>
              <a:rPr lang="zh-CN" altLang="en-US" sz="2800" dirty="0">
                <a:latin typeface="楷体" panose="02010609060101010101" pitchFamily="49" charset="-122"/>
                <a:ea typeface="楷体" panose="02010609060101010101" pitchFamily="49" charset="-122"/>
                <a:cs typeface="楷体" panose="02010609060101010101" pitchFamily="49" charset="-122"/>
              </a:rPr>
              <a:t>也就是说，这个样本情报相当于全情报效果的</a:t>
            </a:r>
            <a:r>
              <a:rPr lang="en-US" altLang="zh-CN" sz="2800" dirty="0">
                <a:latin typeface="楷体" panose="02010609060101010101" pitchFamily="49" charset="-122"/>
                <a:ea typeface="楷体" panose="02010609060101010101" pitchFamily="49" charset="-122"/>
                <a:cs typeface="楷体" panose="02010609060101010101" pitchFamily="49" charset="-122"/>
              </a:rPr>
              <a:t>67.17%</a:t>
            </a:r>
            <a:r>
              <a:rPr lang="zh-CN" altLang="en-US" sz="1600" dirty="0">
                <a:latin typeface="楷体" panose="02010609060101010101" pitchFamily="49" charset="-122"/>
                <a:ea typeface="楷体" panose="02010609060101010101" pitchFamily="49" charset="-122"/>
                <a:cs typeface="楷体" panose="02010609060101010101" pitchFamily="49" charset="-122"/>
              </a:rPr>
              <a:t>。</a:t>
            </a:r>
            <a:endParaRPr lang="zh-CN" altLang="en-US" sz="1600" dirty="0">
              <a:ea typeface="微软雅黑" panose="020B0503020204020204" pitchFamily="34" charset="-122"/>
            </a:endParaRP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多级决策树问题</a:t>
            </a:r>
            <a:endParaRPr lang="en-US" dirty="0"/>
          </a:p>
        </p:txBody>
      </p:sp>
      <p:sp>
        <p:nvSpPr>
          <p:cNvPr id="3" name="Content Placeholder 2"/>
          <p:cNvSpPr>
            <a:spLocks noGrp="1"/>
          </p:cNvSpPr>
          <p:nvPr>
            <p:ph idx="1"/>
          </p:nvPr>
        </p:nvSpPr>
        <p:spPr/>
        <p:txBody>
          <a:bodyPr/>
          <a:lstStyle/>
          <a:p>
            <a:r>
              <a:rPr lang="zh-CN" altLang="en-US" sz="2800" dirty="0">
                <a:latin typeface="楷体" panose="02010609060101010101" pitchFamily="49" charset="-122"/>
                <a:ea typeface="楷体" panose="02010609060101010101" pitchFamily="49" charset="-122"/>
                <a:cs typeface="楷体" panose="02010609060101010101" pitchFamily="49" charset="-122"/>
              </a:rPr>
              <a:t>如将前面两个决策树进行合并，可以得到一个两级决策问题：首先决策是否要进行市场调查；然后根据调查结果如何安排生产。</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风险型决策分析</a:t>
            </a:r>
            <a:r>
              <a:rPr lang="zh-CN" altLang="en-US" dirty="0"/>
              <a:t> </a:t>
            </a:r>
            <a:r>
              <a:rPr lang="en-US" altLang="zh-CN" dirty="0"/>
              <a:t>–</a:t>
            </a:r>
            <a:r>
              <a:rPr lang="zh-CN" altLang="en-US" dirty="0"/>
              <a:t> 多级决策树</a:t>
            </a:r>
            <a:endParaRPr lang="en-US" dirty="0"/>
          </a:p>
        </p:txBody>
      </p:sp>
      <p:grpSp>
        <p:nvGrpSpPr>
          <p:cNvPr id="4" name="Group 14"/>
          <p:cNvGrpSpPr/>
          <p:nvPr/>
        </p:nvGrpSpPr>
        <p:grpSpPr bwMode="auto">
          <a:xfrm>
            <a:off x="3466734" y="1690688"/>
            <a:ext cx="5258531" cy="4887716"/>
            <a:chOff x="1202" y="210"/>
            <a:chExt cx="3154" cy="3966"/>
          </a:xfrm>
        </p:grpSpPr>
        <p:sp>
          <p:nvSpPr>
            <p:cNvPr id="5" name="Line 15"/>
            <p:cNvSpPr>
              <a:spLocks noChangeShapeType="1"/>
            </p:cNvSpPr>
            <p:nvPr/>
          </p:nvSpPr>
          <p:spPr bwMode="auto">
            <a:xfrm>
              <a:off x="1622" y="104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grpSp>
          <p:nvGrpSpPr>
            <p:cNvPr id="6" name="Group 16"/>
            <p:cNvGrpSpPr/>
            <p:nvPr/>
          </p:nvGrpSpPr>
          <p:grpSpPr bwMode="auto">
            <a:xfrm>
              <a:off x="1202" y="210"/>
              <a:ext cx="3154" cy="3966"/>
              <a:chOff x="1202" y="210"/>
              <a:chExt cx="3154" cy="3966"/>
            </a:xfrm>
          </p:grpSpPr>
          <p:grpSp>
            <p:nvGrpSpPr>
              <p:cNvPr id="20" name="Group 17"/>
              <p:cNvGrpSpPr/>
              <p:nvPr/>
            </p:nvGrpSpPr>
            <p:grpSpPr bwMode="auto">
              <a:xfrm>
                <a:off x="1202" y="210"/>
                <a:ext cx="3154" cy="3966"/>
                <a:chOff x="1202" y="210"/>
                <a:chExt cx="3154" cy="3966"/>
              </a:xfrm>
            </p:grpSpPr>
            <p:pic>
              <p:nvPicPr>
                <p:cNvPr id="22" name="Picture 18"/>
                <p:cNvPicPr>
                  <a:picLocks noChangeAspect="1" noChangeArrowheads="1"/>
                </p:cNvPicPr>
                <p:nvPr/>
              </p:nvPicPr>
              <p:blipFill>
                <a:blip r:embed="rId1" cstate="hqprint">
                  <a:extLst>
                    <a:ext uri="{28A0092B-C50C-407E-A947-70E740481C1C}">
                      <a14:useLocalDpi xmlns:a14="http://schemas.microsoft.com/office/drawing/2010/main" val="0"/>
                    </a:ext>
                  </a:extLst>
                </a:blip>
                <a:srcRect/>
                <a:stretch>
                  <a:fillRect/>
                </a:stretch>
              </p:blipFill>
              <p:spPr bwMode="auto">
                <a:xfrm>
                  <a:off x="1888" y="210"/>
                  <a:ext cx="1760" cy="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19"/>
                <p:cNvGrpSpPr/>
                <p:nvPr/>
              </p:nvGrpSpPr>
              <p:grpSpPr bwMode="auto">
                <a:xfrm>
                  <a:off x="1202" y="754"/>
                  <a:ext cx="3154" cy="3422"/>
                  <a:chOff x="1202" y="754"/>
                  <a:chExt cx="3154" cy="3422"/>
                </a:xfrm>
              </p:grpSpPr>
              <p:sp>
                <p:nvSpPr>
                  <p:cNvPr id="24" name="Text Box 20"/>
                  <p:cNvSpPr txBox="1">
                    <a:spLocks noChangeArrowheads="1"/>
                  </p:cNvSpPr>
                  <p:nvPr/>
                </p:nvSpPr>
                <p:spPr bwMode="auto">
                  <a:xfrm>
                    <a:off x="1202" y="754"/>
                    <a:ext cx="70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kumimoji="1" lang="en-US" altLang="zh-CN" sz="1000">
                        <a:latin typeface="Times New Roman" panose="02020603050405020304" pitchFamily="18" charset="0"/>
                      </a:rPr>
                      <a:t>S4:</a:t>
                    </a:r>
                    <a:r>
                      <a:rPr kumimoji="1" lang="zh-CN" altLang="en-US" sz="1000">
                        <a:latin typeface="Times New Roman" panose="02020603050405020304" pitchFamily="18" charset="0"/>
                      </a:rPr>
                      <a:t>不搞市场调查</a:t>
                    </a:r>
                    <a:endParaRPr kumimoji="1" lang="zh-CN" altLang="en-US" sz="1000">
                      <a:latin typeface="Times New Roman" panose="02020603050405020304" pitchFamily="18" charset="0"/>
                    </a:endParaRPr>
                  </a:p>
                </p:txBody>
              </p:sp>
              <p:sp>
                <p:nvSpPr>
                  <p:cNvPr id="25" name="Text Box 21"/>
                  <p:cNvSpPr txBox="1">
                    <a:spLocks noChangeArrowheads="1"/>
                  </p:cNvSpPr>
                  <p:nvPr/>
                </p:nvSpPr>
                <p:spPr bwMode="auto">
                  <a:xfrm>
                    <a:off x="1338" y="3113"/>
                    <a:ext cx="62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kumimoji="1" lang="en-US" altLang="zh-CN" sz="1000">
                        <a:latin typeface="Times New Roman" panose="02020603050405020304" pitchFamily="18" charset="0"/>
                      </a:rPr>
                      <a:t>S5:</a:t>
                    </a:r>
                    <a:r>
                      <a:rPr kumimoji="1" lang="zh-CN" altLang="en-US" sz="1000">
                        <a:latin typeface="Times New Roman" panose="02020603050405020304" pitchFamily="18" charset="0"/>
                      </a:rPr>
                      <a:t>搞市场调查</a:t>
                    </a:r>
                    <a:endParaRPr kumimoji="1" lang="zh-CN" altLang="en-US" sz="1000">
                      <a:latin typeface="Times New Roman" panose="02020603050405020304" pitchFamily="18" charset="0"/>
                    </a:endParaRPr>
                  </a:p>
                </p:txBody>
              </p:sp>
              <p:sp>
                <p:nvSpPr>
                  <p:cNvPr id="26" name="Line 22"/>
                  <p:cNvSpPr>
                    <a:spLocks noChangeShapeType="1"/>
                  </p:cNvSpPr>
                  <p:nvPr/>
                </p:nvSpPr>
                <p:spPr bwMode="auto">
                  <a:xfrm>
                    <a:off x="1705" y="908"/>
                    <a:ext cx="12" cy="20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pic>
                <p:nvPicPr>
                  <p:cNvPr id="27" name="Picture 23"/>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836" y="1441"/>
                    <a:ext cx="2520" cy="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1" name="Rectangle 24"/>
              <p:cNvSpPr>
                <a:spLocks noChangeArrowheads="1"/>
              </p:cNvSpPr>
              <p:nvPr/>
            </p:nvSpPr>
            <p:spPr bwMode="auto">
              <a:xfrm>
                <a:off x="1621" y="1773"/>
                <a:ext cx="168" cy="167"/>
              </a:xfrm>
              <a:prstGeom prst="rect">
                <a:avLst/>
              </a:prstGeom>
              <a:solidFill>
                <a:schemeClr val="bg1"/>
              </a:solidFill>
              <a:ln w="9525">
                <a:solidFill>
                  <a:schemeClr val="tx1"/>
                </a:solidFill>
                <a:miter lim="800000"/>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buFontTx/>
                  <a:buNone/>
                </a:pPr>
                <a:r>
                  <a:rPr lang="en-US" altLang="zh-CN" sz="1000">
                    <a:latin typeface="Times New Roman" panose="02020603050405020304" pitchFamily="18" charset="0"/>
                    <a:ea typeface="微软雅黑" panose="020B0503020204020204" pitchFamily="34" charset="-122"/>
                  </a:rPr>
                  <a:t>1</a:t>
                </a:r>
                <a:endParaRPr lang="en-US" altLang="zh-CN" sz="1000">
                  <a:latin typeface="Times New Roman" panose="02020603050405020304" pitchFamily="18" charset="0"/>
                  <a:ea typeface="微软雅黑" panose="020B0503020204020204" pitchFamily="34" charset="-122"/>
                </a:endParaRPr>
              </a:p>
            </p:txBody>
          </p:sp>
        </p:grpSp>
        <p:sp>
          <p:nvSpPr>
            <p:cNvPr id="7" name="Line 15"/>
            <p:cNvSpPr>
              <a:spLocks noChangeShapeType="1"/>
            </p:cNvSpPr>
            <p:nvPr/>
          </p:nvSpPr>
          <p:spPr bwMode="auto">
            <a:xfrm>
              <a:off x="1617" y="1160"/>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8" name="Line 15"/>
            <p:cNvSpPr>
              <a:spLocks noChangeShapeType="1"/>
            </p:cNvSpPr>
            <p:nvPr/>
          </p:nvSpPr>
          <p:spPr bwMode="auto">
            <a:xfrm>
              <a:off x="1888" y="516"/>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9" name="Line 15"/>
            <p:cNvSpPr>
              <a:spLocks noChangeShapeType="1"/>
            </p:cNvSpPr>
            <p:nvPr/>
          </p:nvSpPr>
          <p:spPr bwMode="auto">
            <a:xfrm>
              <a:off x="1883" y="62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0" name="Line 15"/>
            <p:cNvSpPr>
              <a:spLocks noChangeShapeType="1"/>
            </p:cNvSpPr>
            <p:nvPr/>
          </p:nvSpPr>
          <p:spPr bwMode="auto">
            <a:xfrm>
              <a:off x="2143" y="735"/>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1" name="Line 15"/>
            <p:cNvSpPr>
              <a:spLocks noChangeShapeType="1"/>
            </p:cNvSpPr>
            <p:nvPr/>
          </p:nvSpPr>
          <p:spPr bwMode="auto">
            <a:xfrm>
              <a:off x="2138" y="847"/>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2" name="Line 15"/>
            <p:cNvSpPr>
              <a:spLocks noChangeShapeType="1"/>
            </p:cNvSpPr>
            <p:nvPr/>
          </p:nvSpPr>
          <p:spPr bwMode="auto">
            <a:xfrm>
              <a:off x="2856" y="202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3" name="Line 15"/>
            <p:cNvSpPr>
              <a:spLocks noChangeShapeType="1"/>
            </p:cNvSpPr>
            <p:nvPr/>
          </p:nvSpPr>
          <p:spPr bwMode="auto">
            <a:xfrm>
              <a:off x="2851" y="2140"/>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4" name="Line 15"/>
            <p:cNvSpPr>
              <a:spLocks noChangeShapeType="1"/>
            </p:cNvSpPr>
            <p:nvPr/>
          </p:nvSpPr>
          <p:spPr bwMode="auto">
            <a:xfrm>
              <a:off x="2843" y="244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5" name="Line 15"/>
            <p:cNvSpPr>
              <a:spLocks noChangeShapeType="1"/>
            </p:cNvSpPr>
            <p:nvPr/>
          </p:nvSpPr>
          <p:spPr bwMode="auto">
            <a:xfrm>
              <a:off x="2838" y="2560"/>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6" name="Line 15"/>
            <p:cNvSpPr>
              <a:spLocks noChangeShapeType="1"/>
            </p:cNvSpPr>
            <p:nvPr/>
          </p:nvSpPr>
          <p:spPr bwMode="auto">
            <a:xfrm>
              <a:off x="2615" y="3246"/>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7" name="Line 15"/>
            <p:cNvSpPr>
              <a:spLocks noChangeShapeType="1"/>
            </p:cNvSpPr>
            <p:nvPr/>
          </p:nvSpPr>
          <p:spPr bwMode="auto">
            <a:xfrm>
              <a:off x="2610" y="335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8" name="Line 15"/>
            <p:cNvSpPr>
              <a:spLocks noChangeShapeType="1"/>
            </p:cNvSpPr>
            <p:nvPr/>
          </p:nvSpPr>
          <p:spPr bwMode="auto">
            <a:xfrm>
              <a:off x="2848" y="3568"/>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19" name="Line 15"/>
            <p:cNvSpPr>
              <a:spLocks noChangeShapeType="1"/>
            </p:cNvSpPr>
            <p:nvPr/>
          </p:nvSpPr>
          <p:spPr bwMode="auto">
            <a:xfrm>
              <a:off x="2843" y="3680"/>
              <a:ext cx="182" cy="1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en-US"/>
            </a:p>
          </p:txBody>
        </p:sp>
      </p:grpSp>
      <p:sp>
        <p:nvSpPr>
          <p:cNvPr id="28" name="Line 40"/>
          <p:cNvSpPr>
            <a:spLocks noChangeShapeType="1"/>
          </p:cNvSpPr>
          <p:nvPr/>
        </p:nvSpPr>
        <p:spPr bwMode="auto">
          <a:xfrm flipV="1">
            <a:off x="4327038" y="5019344"/>
            <a:ext cx="286769"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US"/>
          </a:p>
        </p:txBody>
      </p:sp>
      <p:sp>
        <p:nvSpPr>
          <p:cNvPr id="29" name="Line 40"/>
          <p:cNvSpPr>
            <a:spLocks noChangeShapeType="1"/>
          </p:cNvSpPr>
          <p:nvPr/>
        </p:nvSpPr>
        <p:spPr bwMode="auto">
          <a:xfrm flipV="1">
            <a:off x="4302029" y="2559533"/>
            <a:ext cx="286769"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课堂练习</a:t>
            </a:r>
            <a:r>
              <a:rPr lang="en-US" altLang="zh-CN" dirty="0"/>
              <a:t>--</a:t>
            </a:r>
            <a:r>
              <a:rPr lang="zh-CN" altLang="en-US" dirty="0"/>
              <a:t>试用最小机会损失准则</a:t>
            </a:r>
            <a:r>
              <a:rPr lang="zh-CN" altLang="en-US" dirty="0"/>
              <a:t>分析</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a:t>某石油公司勘探某地区石油情况，根据情况估计该地区有油的概率</a:t>
            </a:r>
            <a:r>
              <a:rPr lang="en-US" altLang="zh-CN"/>
              <a:t>P(O)=0.5;</a:t>
            </a:r>
            <a:r>
              <a:rPr lang="zh-CN" altLang="en-US"/>
              <a:t>无油的概率</a:t>
            </a:r>
            <a:r>
              <a:rPr lang="en-US" altLang="zh-CN">
                <a:sym typeface="+mn-ea"/>
              </a:rPr>
              <a:t>P(D)=0.5</a:t>
            </a:r>
            <a:r>
              <a:rPr lang="zh-CN" altLang="en-US">
                <a:sym typeface="+mn-ea"/>
              </a:rPr>
              <a:t>。若可对该地区进行油田开采或不开采，若进行开采，发现油田可获利</a:t>
            </a:r>
            <a:r>
              <a:rPr lang="en-US" altLang="zh-CN">
                <a:sym typeface="+mn-ea"/>
              </a:rPr>
              <a:t>1000</a:t>
            </a:r>
            <a:r>
              <a:rPr lang="zh-CN" altLang="en-US">
                <a:sym typeface="+mn-ea"/>
              </a:rPr>
              <a:t>万元；发现无油，要损失</a:t>
            </a:r>
            <a:r>
              <a:rPr lang="en-US" altLang="zh-CN">
                <a:sym typeface="+mn-ea"/>
              </a:rPr>
              <a:t>200</a:t>
            </a:r>
            <a:r>
              <a:rPr lang="zh-CN" altLang="en-US">
                <a:sym typeface="+mn-ea"/>
              </a:rPr>
              <a:t>万元，不开采则无利也无</a:t>
            </a:r>
            <a:r>
              <a:rPr lang="zh-CN" altLang="en-US">
                <a:sym typeface="+mn-ea"/>
              </a:rPr>
              <a:t>损失。</a:t>
            </a:r>
            <a:endParaRPr lang="zh-CN" altLang="en-US">
              <a:sym typeface="+mn-ea"/>
            </a:endParaRPr>
          </a:p>
          <a:p>
            <a:pPr marL="0" indent="0">
              <a:buNone/>
            </a:pPr>
            <a:r>
              <a:rPr lang="en-US" altLang="zh-CN">
                <a:sym typeface="+mn-ea"/>
              </a:rPr>
              <a:t>1.</a:t>
            </a:r>
            <a:r>
              <a:rPr lang="zh-CN" altLang="en-US">
                <a:sym typeface="+mn-ea"/>
              </a:rPr>
              <a:t>不考虑其他因素，应该如何</a:t>
            </a:r>
            <a:r>
              <a:rPr lang="zh-CN" altLang="en-US">
                <a:sym typeface="+mn-ea"/>
              </a:rPr>
              <a:t>决策？</a:t>
            </a:r>
            <a:endParaRPr lang="zh-CN" altLang="en-US">
              <a:sym typeface="+mn-ea"/>
            </a:endParaRPr>
          </a:p>
          <a:p>
            <a:pPr marL="0" indent="0">
              <a:buNone/>
            </a:pPr>
            <a:r>
              <a:rPr lang="en-US" altLang="zh-CN">
                <a:sym typeface="+mn-ea"/>
              </a:rPr>
              <a:t>2.</a:t>
            </a:r>
            <a:r>
              <a:rPr lang="zh-CN" altLang="en-US">
                <a:sym typeface="+mn-ea"/>
              </a:rPr>
              <a:t>为提高效果，可先做地震测试。根据资料，凡有油区做测试，试验结果好的概率为</a:t>
            </a:r>
            <a:r>
              <a:rPr lang="en-US" altLang="zh-CN">
                <a:sym typeface="+mn-ea"/>
              </a:rPr>
              <a:t>P</a:t>
            </a:r>
            <a:r>
              <a:rPr lang="zh-CN" altLang="en-US">
                <a:sym typeface="+mn-ea"/>
              </a:rPr>
              <a:t>（</a:t>
            </a:r>
            <a:r>
              <a:rPr lang="en-US" altLang="zh-CN">
                <a:sym typeface="+mn-ea"/>
              </a:rPr>
              <a:t>F|O</a:t>
            </a:r>
            <a:r>
              <a:rPr lang="zh-CN" altLang="en-US">
                <a:sym typeface="+mn-ea"/>
              </a:rPr>
              <a:t>）</a:t>
            </a:r>
            <a:r>
              <a:rPr lang="en-US" altLang="zh-CN">
                <a:sym typeface="+mn-ea"/>
              </a:rPr>
              <a:t>=0.9</a:t>
            </a:r>
            <a:r>
              <a:rPr lang="zh-CN" altLang="en-US">
                <a:sym typeface="+mn-ea"/>
              </a:rPr>
              <a:t>，结果不好的概率为</a:t>
            </a:r>
            <a:r>
              <a:rPr lang="en-US" altLang="zh-CN">
                <a:sym typeface="+mn-ea"/>
              </a:rPr>
              <a:t>P</a:t>
            </a:r>
            <a:r>
              <a:rPr lang="zh-CN" altLang="en-US">
                <a:sym typeface="+mn-ea"/>
              </a:rPr>
              <a:t>（</a:t>
            </a:r>
            <a:r>
              <a:rPr lang="en-US" altLang="zh-CN">
                <a:sym typeface="+mn-ea"/>
              </a:rPr>
              <a:t>U</a:t>
            </a:r>
            <a:r>
              <a:rPr lang="en-US" altLang="zh-CN">
                <a:sym typeface="+mn-ea"/>
              </a:rPr>
              <a:t>|O</a:t>
            </a:r>
            <a:r>
              <a:rPr lang="zh-CN" altLang="en-US">
                <a:sym typeface="+mn-ea"/>
              </a:rPr>
              <a:t>）</a:t>
            </a:r>
            <a:r>
              <a:rPr lang="en-US" altLang="zh-CN">
                <a:sym typeface="+mn-ea"/>
              </a:rPr>
              <a:t>=0.1;</a:t>
            </a:r>
            <a:endParaRPr lang="en-US" altLang="zh-CN">
              <a:sym typeface="+mn-ea"/>
            </a:endParaRPr>
          </a:p>
          <a:p>
            <a:pPr marL="0" indent="0">
              <a:buNone/>
            </a:pPr>
            <a:r>
              <a:rPr lang="zh-CN" altLang="en-US">
                <a:sym typeface="+mn-ea"/>
              </a:rPr>
              <a:t>凡无油区做测试，试验结果好的概率为</a:t>
            </a:r>
            <a:r>
              <a:rPr lang="en-US" altLang="zh-CN">
                <a:sym typeface="+mn-ea"/>
              </a:rPr>
              <a:t>P</a:t>
            </a:r>
            <a:r>
              <a:rPr lang="zh-CN" altLang="en-US">
                <a:sym typeface="+mn-ea"/>
              </a:rPr>
              <a:t>（</a:t>
            </a:r>
            <a:r>
              <a:rPr lang="en-US" altLang="zh-CN">
                <a:sym typeface="+mn-ea"/>
              </a:rPr>
              <a:t>F|D</a:t>
            </a:r>
            <a:r>
              <a:rPr lang="zh-CN" altLang="en-US">
                <a:sym typeface="+mn-ea"/>
              </a:rPr>
              <a:t>）</a:t>
            </a:r>
            <a:r>
              <a:rPr lang="en-US" altLang="zh-CN">
                <a:sym typeface="+mn-ea"/>
              </a:rPr>
              <a:t>=0.2</a:t>
            </a:r>
            <a:r>
              <a:rPr lang="zh-CN" altLang="en-US">
                <a:sym typeface="+mn-ea"/>
              </a:rPr>
              <a:t>，结果不好的概率为</a:t>
            </a:r>
            <a:r>
              <a:rPr lang="en-US" altLang="zh-CN">
                <a:sym typeface="+mn-ea"/>
              </a:rPr>
              <a:t>P</a:t>
            </a:r>
            <a:r>
              <a:rPr lang="zh-CN" altLang="en-US">
                <a:sym typeface="+mn-ea"/>
              </a:rPr>
              <a:t>（</a:t>
            </a:r>
            <a:r>
              <a:rPr lang="en-US" altLang="zh-CN">
                <a:sym typeface="+mn-ea"/>
              </a:rPr>
              <a:t>U|D</a:t>
            </a:r>
            <a:r>
              <a:rPr lang="zh-CN" altLang="en-US">
                <a:sym typeface="+mn-ea"/>
              </a:rPr>
              <a:t>）</a:t>
            </a:r>
            <a:r>
              <a:rPr lang="en-US" altLang="zh-CN">
                <a:sym typeface="+mn-ea"/>
              </a:rPr>
              <a:t>=0.8</a:t>
            </a:r>
            <a:r>
              <a:rPr lang="zh-CN" altLang="en-US">
                <a:sym typeface="+mn-ea"/>
              </a:rPr>
              <a:t>。试根据实验结果做出</a:t>
            </a:r>
            <a:r>
              <a:rPr lang="zh-CN" altLang="en-US">
                <a:sym typeface="+mn-ea"/>
              </a:rPr>
              <a:t>决策。</a:t>
            </a:r>
            <a:endParaRPr lang="zh-CN" altLang="en-US">
              <a:sym typeface="+mn-ea"/>
            </a:endParaRPr>
          </a:p>
          <a:p>
            <a:pPr marL="0" indent="0">
              <a:buNone/>
            </a:pPr>
            <a:r>
              <a:rPr lang="en-US" altLang="zh-CN">
                <a:sym typeface="+mn-ea"/>
              </a:rPr>
              <a:t>3.</a:t>
            </a:r>
            <a:r>
              <a:rPr lang="zh-CN" altLang="en-US">
                <a:sym typeface="+mn-ea"/>
              </a:rPr>
              <a:t>计算做地震测试的情报</a:t>
            </a:r>
            <a:r>
              <a:rPr lang="zh-CN" altLang="en-US">
                <a:sym typeface="+mn-ea"/>
              </a:rPr>
              <a:t>价值。</a:t>
            </a:r>
            <a:endParaRPr lang="zh-CN" altLang="en-US">
              <a:sym typeface="+mn-ea"/>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6722" r="16722" b="9445"/>
          <a:stretch>
            <a:fillRect/>
          </a:stretch>
        </p:blipFill>
        <p:spPr>
          <a:xfrm>
            <a:off x="0" y="647700"/>
            <a:ext cx="12192000" cy="6210300"/>
          </a:xfrm>
          <a:prstGeom prst="rect">
            <a:avLst/>
          </a:prstGeom>
        </p:spPr>
      </p:pic>
      <p:sp>
        <p:nvSpPr>
          <p:cNvPr id="6" name="矩形 5"/>
          <p:cNvSpPr/>
          <p:nvPr/>
        </p:nvSpPr>
        <p:spPr>
          <a:xfrm>
            <a:off x="0" y="234669"/>
            <a:ext cx="12192000" cy="6858000"/>
          </a:xfrm>
          <a:prstGeom prst="rect">
            <a:avLst/>
          </a:prstGeom>
          <a:gradFill>
            <a:gsLst>
              <a:gs pos="10000">
                <a:schemeClr val="bg1"/>
              </a:gs>
              <a:gs pos="100000">
                <a:schemeClr val="bg1">
                  <a:alpha val="0"/>
                </a:schemeClr>
              </a:gs>
              <a:gs pos="48000">
                <a:schemeClr val="bg1">
                  <a:alpha val="50000"/>
                </a:schemeClr>
              </a:gs>
            </a:gsLst>
            <a:lin ang="5400000" scaled="1"/>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grpSp>
        <p:nvGrpSpPr>
          <p:cNvPr id="7" name="组合 6"/>
          <p:cNvGrpSpPr/>
          <p:nvPr/>
        </p:nvGrpSpPr>
        <p:grpSpPr>
          <a:xfrm>
            <a:off x="2759783" y="1443985"/>
            <a:ext cx="6672434" cy="2278148"/>
            <a:chOff x="2759783" y="1278885"/>
            <a:chExt cx="6672434" cy="2278148"/>
          </a:xfrm>
        </p:grpSpPr>
        <p:grpSp>
          <p:nvGrpSpPr>
            <p:cNvPr id="3" name="组合 2"/>
            <p:cNvGrpSpPr/>
            <p:nvPr/>
          </p:nvGrpSpPr>
          <p:grpSpPr>
            <a:xfrm>
              <a:off x="2759783" y="1278885"/>
              <a:ext cx="6672434" cy="2278148"/>
              <a:chOff x="3233566" y="1418585"/>
              <a:chExt cx="6672434" cy="2278148"/>
            </a:xfrm>
          </p:grpSpPr>
          <p:sp>
            <p:nvSpPr>
              <p:cNvPr id="8" name="文本框 7"/>
              <p:cNvSpPr txBox="1"/>
              <p:nvPr/>
            </p:nvSpPr>
            <p:spPr>
              <a:xfrm>
                <a:off x="3233566" y="2332993"/>
                <a:ext cx="667243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效用理论</a:t>
                </a:r>
                <a:endPar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nvSpPr>
            <p:spPr>
              <a:xfrm>
                <a:off x="3694999" y="3327401"/>
                <a:ext cx="5749567" cy="369332"/>
              </a:xfrm>
              <a:prstGeom prst="rect">
                <a:avLst/>
              </a:prstGeom>
              <a:noFill/>
            </p:spPr>
            <p:txBody>
              <a:bodyPr wrap="square" rtlCol="0">
                <a:spAutoFit/>
              </a:bodyPr>
              <a:lstStyle/>
              <a:p>
                <a:pPr lvl="0" algn="ctr">
                  <a:defRPr/>
                </a:pPr>
                <a:r>
                  <a:rPr lang="en-US" altLang="zh-CN" spc="300" dirty="0">
                    <a:solidFill>
                      <a:schemeClr val="tx1">
                        <a:lumMod val="75000"/>
                        <a:lumOff val="25000"/>
                      </a:schemeClr>
                    </a:solidFill>
                    <a:latin typeface="Segoe UI Light" panose="020B0502040204020203" pitchFamily="34" charset="0"/>
                    <a:ea typeface="思源黑体 CN Light" panose="020B0300000000000000" pitchFamily="34" charset="-122"/>
                    <a:cs typeface="Segoe UI Light" panose="020B0502040204020203" pitchFamily="34" charset="0"/>
                  </a:rPr>
                  <a:t>ENTER YOUR SUBTITLE</a:t>
                </a:r>
                <a:endParaRPr kumimoji="0" lang="zh-CN" altLang="en-US" sz="1800" b="0" i="0" u="none" strike="noStrike" kern="1200" cap="none" spc="300" normalizeH="0" baseline="0" noProof="0" dirty="0">
                  <a:ln>
                    <a:noFill/>
                  </a:ln>
                  <a:solidFill>
                    <a:schemeClr val="tx1">
                      <a:lumMod val="75000"/>
                      <a:lumOff val="25000"/>
                    </a:schemeClr>
                  </a:solidFill>
                  <a:effectLst/>
                  <a:uLnTx/>
                  <a:uFillTx/>
                  <a:latin typeface="Segoe UI Light" panose="020B0502040204020203" pitchFamily="34" charset="0"/>
                  <a:ea typeface="思源黑体 CN Light" panose="020B0300000000000000" pitchFamily="34" charset="-122"/>
                  <a:cs typeface="Segoe UI Light" panose="020B0502040204020203" pitchFamily="34" charset="0"/>
                </a:endParaRPr>
              </a:p>
            </p:txBody>
          </p:sp>
          <p:sp>
            <p:nvSpPr>
              <p:cNvPr id="10" name="文本框 9"/>
              <p:cNvSpPr txBox="1"/>
              <p:nvPr/>
            </p:nvSpPr>
            <p:spPr>
              <a:xfrm>
                <a:off x="5393018" y="1418585"/>
                <a:ext cx="235353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PART 03</a:t>
                </a:r>
                <a:endParaRPr kumimoji="0" lang="zh-CN" altLang="en-US"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grpSp>
        <p:cxnSp>
          <p:nvCxnSpPr>
            <p:cNvPr id="4" name="直接连接符 3"/>
            <p:cNvCxnSpPr/>
            <p:nvPr/>
          </p:nvCxnSpPr>
          <p:spPr>
            <a:xfrm>
              <a:off x="5924550" y="2006600"/>
              <a:ext cx="3429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风险型决策分析</a:t>
            </a:r>
            <a:r>
              <a:rPr lang="zh-CN" altLang="en-US" dirty="0"/>
              <a:t> </a:t>
            </a:r>
            <a:r>
              <a:rPr lang="en-US" altLang="zh-CN" dirty="0"/>
              <a:t>–</a:t>
            </a:r>
            <a:r>
              <a:rPr lang="zh-CN" altLang="en-US" dirty="0"/>
              <a:t> 效用理论</a:t>
            </a:r>
            <a:endParaRPr lang="zh-CN" altLang="en-US" dirty="0"/>
          </a:p>
        </p:txBody>
      </p:sp>
      <p:sp>
        <p:nvSpPr>
          <p:cNvPr id="3" name="内容占位符 2"/>
          <p:cNvSpPr>
            <a:spLocks noGrp="1"/>
          </p:cNvSpPr>
          <p:nvPr>
            <p:ph idx="1"/>
          </p:nvPr>
        </p:nvSpPr>
        <p:spPr/>
        <p:txBody>
          <a:bodyPr/>
          <a:lstStyle/>
          <a:p>
            <a:r>
              <a:rPr lang="zh-CN" altLang="en-US" dirty="0"/>
              <a:t>效用：</a:t>
            </a:r>
            <a:r>
              <a:rPr lang="zh-CN" altLang="en-US" dirty="0">
                <a:solidFill>
                  <a:srgbClr val="C00000"/>
                </a:solidFill>
              </a:rPr>
              <a:t>衡量决策方案的总体指标，反映决策者对决策问题各种因素的总体看法。</a:t>
            </a:r>
            <a:endParaRPr lang="zh-CN" altLang="en-US" dirty="0">
              <a:solidFill>
                <a:srgbClr val="C00000"/>
              </a:solidFill>
            </a:endParaRPr>
          </a:p>
          <a:p>
            <a:r>
              <a:rPr lang="zh-CN" altLang="en-US" dirty="0"/>
              <a:t>使用效用值进行决策：</a:t>
            </a:r>
            <a:r>
              <a:rPr lang="zh-CN" altLang="en-US" dirty="0">
                <a:solidFill>
                  <a:srgbClr val="C00000"/>
                </a:solidFill>
              </a:rPr>
              <a:t>首先把要考虑的因素折合成效用值，然后用决策准则下选出效用值最大的方案，作为最优方案。</a:t>
            </a:r>
            <a:endParaRPr lang="zh-CN" altLang="en-US" dirty="0">
              <a:solidFill>
                <a:srgbClr val="C00000"/>
              </a:solidFill>
            </a:endParaRPr>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效用理论</a:t>
            </a:r>
            <a:endParaRPr lang="zh-CN" altLang="en-US" dirty="0"/>
          </a:p>
        </p:txBody>
      </p:sp>
      <p:sp>
        <p:nvSpPr>
          <p:cNvPr id="3" name="内容占位符 2"/>
          <p:cNvSpPr>
            <a:spLocks noGrp="1"/>
          </p:cNvSpPr>
          <p:nvPr>
            <p:ph idx="1"/>
          </p:nvPr>
        </p:nvSpPr>
        <p:spPr/>
        <p:txBody>
          <a:bodyPr/>
          <a:lstStyle/>
          <a:p>
            <a:pPr>
              <a:lnSpc>
                <a:spcPct val="110000"/>
              </a:lnSpc>
              <a:spcBef>
                <a:spcPct val="0"/>
              </a:spcBef>
              <a:buNone/>
            </a:pPr>
            <a:r>
              <a:rPr lang="zh-CN" altLang="en-US" sz="2400" dirty="0"/>
              <a:t>例</a:t>
            </a:r>
            <a:r>
              <a:rPr lang="en-US" altLang="zh-CN" sz="2400" dirty="0"/>
              <a:t>4</a:t>
            </a:r>
            <a:r>
              <a:rPr lang="zh-CN" altLang="en-US" sz="2400" dirty="0"/>
              <a:t>：求下表显示问题的最优方案（万元）</a:t>
            </a:r>
            <a:r>
              <a:rPr lang="en-US" altLang="zh-CN" sz="2400" dirty="0"/>
              <a:t>:</a:t>
            </a:r>
            <a:endParaRPr lang="en-US" altLang="zh-CN" sz="2400" dirty="0"/>
          </a:p>
          <a:p>
            <a:pPr marL="0" indent="0">
              <a:lnSpc>
                <a:spcPct val="110000"/>
              </a:lnSpc>
              <a:spcBef>
                <a:spcPct val="0"/>
              </a:spcBef>
              <a:buNone/>
            </a:pPr>
            <a:r>
              <a:rPr lang="zh-CN" altLang="en-US" sz="2400" dirty="0"/>
              <a:t>某公司是一个小型的进出口公司，目前他面临着两笔进口生意，项目</a:t>
            </a:r>
            <a:r>
              <a:rPr lang="en-US" altLang="zh-CN" sz="2400" dirty="0"/>
              <a:t>A</a:t>
            </a:r>
            <a:r>
              <a:rPr lang="zh-CN" altLang="en-US" sz="2400" dirty="0"/>
              <a:t>和</a:t>
            </a:r>
            <a:r>
              <a:rPr lang="en-US" altLang="zh-CN" sz="2400" dirty="0"/>
              <a:t>B</a:t>
            </a:r>
            <a:r>
              <a:rPr lang="zh-CN" altLang="en-US" sz="2400" dirty="0"/>
              <a:t>，这两笔生意都需要现金支付。鉴于公司目前财务状况，公司至多做</a:t>
            </a:r>
            <a:r>
              <a:rPr lang="en-US" altLang="zh-CN" sz="2400" dirty="0"/>
              <a:t>A</a:t>
            </a:r>
            <a:r>
              <a:rPr lang="zh-CN" altLang="en-US" sz="2400" dirty="0"/>
              <a:t>、</a:t>
            </a:r>
            <a:r>
              <a:rPr lang="en-US" altLang="zh-CN" sz="2400" dirty="0"/>
              <a:t>B</a:t>
            </a:r>
            <a:r>
              <a:rPr lang="zh-CN" altLang="en-US" sz="2400" dirty="0"/>
              <a:t>中的一笔生意，根据以往的经验，各自然状态商品需求量大、中、小的发生概率以及在各自然状况下做项目</a:t>
            </a:r>
            <a:r>
              <a:rPr lang="en-US" altLang="zh-CN" sz="2400" dirty="0"/>
              <a:t>A</a:t>
            </a:r>
            <a:r>
              <a:rPr lang="zh-CN" altLang="en-US" sz="2400" dirty="0"/>
              <a:t>或项目</a:t>
            </a:r>
            <a:r>
              <a:rPr lang="en-US" altLang="zh-CN" sz="2400" dirty="0"/>
              <a:t>B</a:t>
            </a:r>
            <a:r>
              <a:rPr lang="zh-CN" altLang="en-US" sz="2400" dirty="0"/>
              <a:t>以及不作任何项目的收益如下表：</a:t>
            </a:r>
            <a:endParaRPr lang="zh-CN" altLang="en-US" sz="2400" dirty="0">
              <a:solidFill>
                <a:srgbClr val="C00000"/>
              </a:solidFill>
            </a:endParaRPr>
          </a:p>
          <a:p>
            <a:pPr marL="0" indent="0">
              <a:buNone/>
            </a:pPr>
            <a:endParaRPr lang="zh-CN" altLang="en-US" dirty="0"/>
          </a:p>
        </p:txBody>
      </p:sp>
      <p:graphicFrame>
        <p:nvGraphicFramePr>
          <p:cNvPr id="4" name="表格 3"/>
          <p:cNvGraphicFramePr>
            <a:graphicFrameLocks noGrp="1"/>
          </p:cNvGraphicFramePr>
          <p:nvPr/>
        </p:nvGraphicFramePr>
        <p:xfrm>
          <a:off x="2039937" y="4001294"/>
          <a:ext cx="8112126" cy="2487614"/>
        </p:xfrm>
        <a:graphic>
          <a:graphicData uri="http://schemas.openxmlformats.org/drawingml/2006/table">
            <a:tbl>
              <a:tblPr/>
              <a:tblGrid>
                <a:gridCol w="2068434"/>
                <a:gridCol w="2286030"/>
                <a:gridCol w="1843112"/>
                <a:gridCol w="1914550"/>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1</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0.3</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需求量中</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3</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40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B)</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-40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不做项目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效用理论</a:t>
            </a:r>
            <a:endParaRPr lang="zh-CN" altLang="en-US" dirty="0"/>
          </a:p>
        </p:txBody>
      </p:sp>
      <p:sp>
        <p:nvSpPr>
          <p:cNvPr id="3" name="内容占位符 2"/>
          <p:cNvSpPr>
            <a:spLocks noGrp="1"/>
          </p:cNvSpPr>
          <p:nvPr>
            <p:ph idx="1"/>
          </p:nvPr>
        </p:nvSpPr>
        <p:spPr/>
        <p:txBody>
          <a:bodyPr/>
          <a:lstStyle/>
          <a:p>
            <a:pPr>
              <a:spcBef>
                <a:spcPts val="600"/>
              </a:spcBef>
            </a:pPr>
            <a:r>
              <a:rPr lang="zh-CN" altLang="en-US" dirty="0"/>
              <a:t>用收益期望值法：</a:t>
            </a:r>
            <a:endParaRPr lang="zh-CN" altLang="en-US" dirty="0"/>
          </a:p>
          <a:p>
            <a:pPr lvl="1">
              <a:spcBef>
                <a:spcPts val="600"/>
              </a:spcBef>
            </a:pPr>
            <a:r>
              <a:rPr lang="zh-CN" altLang="en-US" dirty="0"/>
              <a:t> </a:t>
            </a:r>
            <a:r>
              <a:rPr lang="en-US" altLang="zh-CN" dirty="0"/>
              <a:t>E(S</a:t>
            </a:r>
            <a:r>
              <a:rPr lang="en-US" altLang="zh-CN" baseline="-25000" dirty="0"/>
              <a:t>1</a:t>
            </a:r>
            <a:r>
              <a:rPr lang="en-US" altLang="zh-CN" dirty="0"/>
              <a:t>) = 0.3</a:t>
            </a:r>
            <a:r>
              <a:rPr lang="en-US" altLang="zh-CN" dirty="0">
                <a:sym typeface="Symbol" panose="05050102010706020507" pitchFamily="18" charset="2"/>
              </a:rPr>
              <a:t>60</a:t>
            </a:r>
            <a:r>
              <a:rPr lang="en-US" altLang="zh-CN" dirty="0"/>
              <a:t> + 0.5</a:t>
            </a:r>
            <a:r>
              <a:rPr lang="en-US" altLang="zh-CN" dirty="0">
                <a:sym typeface="Symbol" panose="05050102010706020507" pitchFamily="18" charset="2"/>
              </a:rPr>
              <a:t>40</a:t>
            </a:r>
            <a:r>
              <a:rPr lang="en-US" altLang="zh-CN" dirty="0"/>
              <a:t> + 0.2</a:t>
            </a:r>
            <a:r>
              <a:rPr lang="en-US" altLang="zh-CN" dirty="0">
                <a:sym typeface="Symbol" panose="05050102010706020507" pitchFamily="18" charset="2"/>
              </a:rPr>
              <a:t></a:t>
            </a:r>
            <a:r>
              <a:rPr lang="en-US" altLang="zh-CN" dirty="0"/>
              <a:t>(-100) = 18</a:t>
            </a:r>
            <a:r>
              <a:rPr lang="zh-CN" altLang="en-US" dirty="0"/>
              <a:t>万</a:t>
            </a:r>
            <a:endParaRPr lang="zh-CN" altLang="en-US" dirty="0"/>
          </a:p>
          <a:p>
            <a:pPr lvl="1">
              <a:spcBef>
                <a:spcPts val="600"/>
              </a:spcBef>
            </a:pPr>
            <a:r>
              <a:rPr lang="zh-CN" altLang="en-US" dirty="0"/>
              <a:t> </a:t>
            </a:r>
            <a:r>
              <a:rPr lang="en-US" altLang="zh-CN" dirty="0"/>
              <a:t>E(S</a:t>
            </a:r>
            <a:r>
              <a:rPr lang="en-US" altLang="zh-CN" baseline="-25000" dirty="0"/>
              <a:t>2</a:t>
            </a:r>
            <a:r>
              <a:rPr lang="en-US" altLang="zh-CN" dirty="0"/>
              <a:t>) = 0.3</a:t>
            </a:r>
            <a:r>
              <a:rPr lang="en-US" altLang="zh-CN" dirty="0">
                <a:sym typeface="Symbol" panose="05050102010706020507" pitchFamily="18" charset="2"/>
              </a:rPr>
              <a:t>100</a:t>
            </a:r>
            <a:r>
              <a:rPr lang="en-US" altLang="zh-CN" dirty="0"/>
              <a:t> + 0.5</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-40</a:t>
            </a:r>
            <a:r>
              <a:rPr lang="zh-CN" altLang="en-US" dirty="0">
                <a:sym typeface="Symbol" panose="05050102010706020507" pitchFamily="18" charset="2"/>
              </a:rPr>
              <a:t>）</a:t>
            </a:r>
            <a:r>
              <a:rPr lang="en-US" altLang="zh-CN" dirty="0"/>
              <a:t>+ 0.2</a:t>
            </a:r>
            <a:r>
              <a:rPr lang="en-US" altLang="zh-CN" dirty="0">
                <a:sym typeface="Symbol" panose="05050102010706020507" pitchFamily="18" charset="2"/>
              </a:rPr>
              <a:t></a:t>
            </a:r>
            <a:r>
              <a:rPr lang="en-US" altLang="zh-CN" dirty="0"/>
              <a:t>(-60) = -2</a:t>
            </a:r>
            <a:r>
              <a:rPr lang="zh-CN" altLang="en-US" dirty="0"/>
              <a:t>万</a:t>
            </a:r>
            <a:endParaRPr lang="zh-CN" altLang="en-US" dirty="0"/>
          </a:p>
          <a:p>
            <a:pPr lvl="1">
              <a:spcBef>
                <a:spcPts val="600"/>
              </a:spcBef>
            </a:pPr>
            <a:r>
              <a:rPr lang="zh-CN" altLang="en-US" dirty="0"/>
              <a:t> </a:t>
            </a:r>
            <a:r>
              <a:rPr lang="en-US" altLang="zh-CN" dirty="0"/>
              <a:t>E(S</a:t>
            </a:r>
            <a:r>
              <a:rPr lang="en-US" altLang="zh-CN" baseline="-25000" dirty="0"/>
              <a:t>3</a:t>
            </a:r>
            <a:r>
              <a:rPr lang="en-US" altLang="zh-CN" dirty="0"/>
              <a:t>) = 0.3</a:t>
            </a:r>
            <a:r>
              <a:rPr lang="en-US" altLang="zh-CN" dirty="0">
                <a:sym typeface="Symbol" panose="05050102010706020507" pitchFamily="18" charset="2"/>
              </a:rPr>
              <a:t>0</a:t>
            </a:r>
            <a:r>
              <a:rPr lang="en-US" altLang="zh-CN" dirty="0"/>
              <a:t> + 0.5</a:t>
            </a:r>
            <a:r>
              <a:rPr lang="en-US" altLang="zh-CN" dirty="0">
                <a:sym typeface="Symbol" panose="05050102010706020507" pitchFamily="18" charset="2"/>
              </a:rPr>
              <a:t>0</a:t>
            </a:r>
            <a:r>
              <a:rPr lang="en-US" altLang="zh-CN" dirty="0"/>
              <a:t> + 0.2</a:t>
            </a:r>
            <a:r>
              <a:rPr lang="en-US" altLang="zh-CN" dirty="0">
                <a:sym typeface="Symbol" panose="05050102010706020507" pitchFamily="18" charset="2"/>
              </a:rPr>
              <a:t></a:t>
            </a:r>
            <a:r>
              <a:rPr lang="en-US" altLang="zh-CN" dirty="0"/>
              <a:t>0 = 0</a:t>
            </a:r>
            <a:r>
              <a:rPr lang="zh-CN" altLang="en-US" dirty="0"/>
              <a:t>万</a:t>
            </a:r>
            <a:endParaRPr lang="en-US" altLang="zh-CN" dirty="0"/>
          </a:p>
          <a:p>
            <a:pPr lvl="1">
              <a:spcBef>
                <a:spcPts val="600"/>
              </a:spcBef>
            </a:pPr>
            <a:r>
              <a:rPr lang="zh-CN" altLang="en-US" dirty="0"/>
              <a:t>得到 </a:t>
            </a:r>
            <a:r>
              <a:rPr lang="en-US" altLang="zh-CN" dirty="0"/>
              <a:t>S</a:t>
            </a:r>
            <a:r>
              <a:rPr lang="en-US" altLang="zh-CN" baseline="-25000" dirty="0"/>
              <a:t>1</a:t>
            </a:r>
            <a:r>
              <a:rPr lang="en-US" altLang="zh-CN" dirty="0"/>
              <a:t> </a:t>
            </a:r>
            <a:r>
              <a:rPr lang="zh-CN" altLang="en-US" dirty="0"/>
              <a:t>是最优方案，最高期望收益</a:t>
            </a:r>
            <a:r>
              <a:rPr lang="en-US" altLang="zh-CN" dirty="0"/>
              <a:t>18</a:t>
            </a:r>
            <a:r>
              <a:rPr lang="zh-CN" altLang="en-US" dirty="0"/>
              <a:t>万。</a:t>
            </a:r>
            <a:endParaRPr lang="en-US" altLang="zh-CN" dirty="0"/>
          </a:p>
          <a:p>
            <a:pPr>
              <a:spcBef>
                <a:spcPts val="600"/>
              </a:spcBef>
            </a:pPr>
            <a:r>
              <a:rPr lang="zh-CN" altLang="en-US" dirty="0"/>
              <a:t>然而在现实生活中，决策者还会有别的考虑：</a:t>
            </a:r>
            <a:endParaRPr lang="en-US" altLang="zh-CN" dirty="0"/>
          </a:p>
          <a:p>
            <a:pPr lvl="1">
              <a:spcBef>
                <a:spcPts val="600"/>
              </a:spcBef>
            </a:pPr>
            <a:r>
              <a:rPr lang="zh-CN" altLang="en-US" dirty="0"/>
              <a:t>由于财务情况不佳，公司无法承受</a:t>
            </a:r>
            <a:r>
              <a:rPr lang="en-US" altLang="zh-CN" dirty="0"/>
              <a:t>S</a:t>
            </a:r>
            <a:r>
              <a:rPr lang="en-US" altLang="zh-CN" baseline="-25000" dirty="0"/>
              <a:t>1</a:t>
            </a:r>
            <a:r>
              <a:rPr lang="zh-CN" altLang="en-US" dirty="0"/>
              <a:t>中亏损</a:t>
            </a:r>
            <a:r>
              <a:rPr lang="en-US" altLang="zh-CN" dirty="0"/>
              <a:t>100</a:t>
            </a:r>
            <a:r>
              <a:rPr lang="zh-CN" altLang="en-US" dirty="0"/>
              <a:t>万的风险，也无法承受</a:t>
            </a:r>
            <a:r>
              <a:rPr lang="en-US" altLang="zh-CN" dirty="0"/>
              <a:t>S</a:t>
            </a:r>
            <a:r>
              <a:rPr lang="en-US" altLang="zh-CN" baseline="-25000" dirty="0"/>
              <a:t>2</a:t>
            </a:r>
            <a:r>
              <a:rPr lang="zh-CN" altLang="en-US" dirty="0"/>
              <a:t>中亏损</a:t>
            </a:r>
            <a:r>
              <a:rPr lang="en-US" altLang="zh-CN" dirty="0"/>
              <a:t>50</a:t>
            </a:r>
            <a:r>
              <a:rPr lang="zh-CN" altLang="en-US" dirty="0"/>
              <a:t>万以上的风险，结果公司选择</a:t>
            </a:r>
            <a:r>
              <a:rPr lang="en-US" altLang="zh-CN" dirty="0"/>
              <a:t>S</a:t>
            </a:r>
            <a:r>
              <a:rPr lang="en-US" altLang="zh-CN" baseline="-25000" dirty="0"/>
              <a:t>3</a:t>
            </a:r>
            <a:r>
              <a:rPr lang="zh-CN" altLang="en-US" dirty="0"/>
              <a:t>，即不作任何项目。</a:t>
            </a:r>
            <a:endParaRPr lang="zh-CN" altLang="en-US"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效用函数</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我们可以通过效用函数来解释决策者看似非理性的决策行为：</a:t>
                </a:r>
                <a:endParaRPr lang="en-US" altLang="zh-CN" dirty="0"/>
              </a:p>
              <a:p>
                <a:pPr lvl="1"/>
                <a:r>
                  <a:rPr lang="zh-CN" altLang="en-US" dirty="0"/>
                  <a:t>把上表中的最大收益值</a:t>
                </a:r>
                <a:r>
                  <a:rPr lang="en-US" altLang="zh-CN" dirty="0"/>
                  <a:t>100</a:t>
                </a:r>
                <a:r>
                  <a:rPr lang="zh-CN" altLang="en-US" dirty="0"/>
                  <a:t>万元的效用定为</a:t>
                </a:r>
                <a:r>
                  <a:rPr lang="en-US" altLang="zh-CN" dirty="0"/>
                  <a:t>10</a:t>
                </a:r>
                <a:r>
                  <a:rPr lang="zh-CN" altLang="en-US" dirty="0"/>
                  <a:t>，即</a:t>
                </a:r>
                <a:r>
                  <a:rPr lang="en-US" altLang="zh-CN" dirty="0"/>
                  <a:t>U(100) = 10</a:t>
                </a:r>
                <a:r>
                  <a:rPr lang="zh-CN" altLang="en-US" dirty="0"/>
                  <a:t>；最小收益值</a:t>
                </a:r>
                <a:r>
                  <a:rPr lang="en-US" altLang="zh-CN" dirty="0"/>
                  <a:t>-100</a:t>
                </a:r>
                <a:r>
                  <a:rPr lang="zh-CN" altLang="en-US" dirty="0"/>
                  <a:t>万元的效用定为</a:t>
                </a:r>
                <a:r>
                  <a:rPr lang="en-US" altLang="zh-CN" dirty="0"/>
                  <a:t>0</a:t>
                </a:r>
                <a:r>
                  <a:rPr lang="zh-CN" altLang="en-US" dirty="0"/>
                  <a:t>，即</a:t>
                </a:r>
                <a:r>
                  <a:rPr lang="en-US" altLang="zh-CN" dirty="0"/>
                  <a:t>U(-100) = 0</a:t>
                </a:r>
                <a:r>
                  <a:rPr lang="zh-CN" altLang="en-US" dirty="0"/>
                  <a:t>。</a:t>
                </a:r>
                <a:endParaRPr lang="en-US" altLang="zh-CN" dirty="0"/>
              </a:p>
              <a:p>
                <a:pPr lvl="1"/>
                <a:r>
                  <a:rPr lang="zh-CN" altLang="en-US" dirty="0"/>
                  <a:t>对收益</a:t>
                </a:r>
                <a:r>
                  <a:rPr lang="en-US" altLang="zh-CN" dirty="0"/>
                  <a:t>60</a:t>
                </a:r>
                <a:r>
                  <a:rPr lang="zh-CN" altLang="en-US" dirty="0"/>
                  <a:t>万元确定其效用值：设经理认为使下两项等价的 </a:t>
                </a:r>
                <a:r>
                  <a:rPr lang="en-US" altLang="zh-CN" dirty="0"/>
                  <a:t>p=0.95</a:t>
                </a:r>
                <a:endParaRPr lang="en-US" altLang="zh-CN" dirty="0"/>
              </a:p>
              <a:p>
                <a:pPr marL="1371600" lvl="2" indent="-457200">
                  <a:buFont typeface="+mj-lt"/>
                  <a:buAutoNum type="arabicPeriod"/>
                </a:pPr>
                <a:r>
                  <a:rPr lang="zh-CN" altLang="en-US" dirty="0"/>
                  <a:t>得到确定的收益</a:t>
                </a:r>
                <a:r>
                  <a:rPr lang="en-US" altLang="zh-CN" dirty="0"/>
                  <a:t>60</a:t>
                </a:r>
                <a:r>
                  <a:rPr lang="zh-CN" altLang="en-US" dirty="0"/>
                  <a:t>万；</a:t>
                </a:r>
                <a:endParaRPr lang="zh-CN" altLang="en-US" dirty="0"/>
              </a:p>
              <a:p>
                <a:pPr marL="1371600" lvl="2" indent="-457200">
                  <a:buFont typeface="+mj-lt"/>
                  <a:buAutoNum type="arabicPeriod"/>
                </a:pPr>
                <a:r>
                  <a:rPr lang="zh-CN" altLang="en-US" dirty="0"/>
                  <a:t>以 </a:t>
                </a:r>
                <a:r>
                  <a:rPr lang="en-US" altLang="zh-CN" dirty="0"/>
                  <a:t>p </a:t>
                </a:r>
                <a:r>
                  <a:rPr lang="zh-CN" altLang="en-US" dirty="0"/>
                  <a:t>的概率得到</a:t>
                </a:r>
                <a:r>
                  <a:rPr lang="en-US" altLang="zh-CN" dirty="0"/>
                  <a:t>100</a:t>
                </a:r>
                <a:r>
                  <a:rPr lang="zh-CN" altLang="en-US" dirty="0"/>
                  <a:t>万，以 </a:t>
                </a:r>
                <a:r>
                  <a:rPr lang="en-US" altLang="zh-CN" dirty="0"/>
                  <a:t>1- p </a:t>
                </a:r>
                <a:r>
                  <a:rPr lang="zh-CN" altLang="en-US" dirty="0"/>
                  <a:t>的概率损失</a:t>
                </a:r>
                <a:r>
                  <a:rPr lang="en-US" altLang="zh-CN" dirty="0"/>
                  <a:t>100</a:t>
                </a:r>
                <a:r>
                  <a:rPr lang="zh-CN" altLang="en-US" dirty="0"/>
                  <a:t>万。 </a:t>
                </a:r>
                <a:endParaRPr lang="en-US" altLang="zh-CN" dirty="0"/>
              </a:p>
              <a:p>
                <a:pPr marL="1371600" lvl="2" indent="-457200">
                  <a:buFont typeface="+mj-lt"/>
                  <a:buAutoNum type="arabicPeriod"/>
                </a:pPr>
                <a:r>
                  <a:rPr lang="zh-CN" altLang="en-US" dirty="0"/>
                  <a:t>通过计算可以得到：</a:t>
                </a:r>
                <a14:m>
                  <m:oMath xmlns:m="http://schemas.openxmlformats.org/officeDocument/2006/math">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60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100</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r>
                          <a:rPr lang="en-US" altLang="zh-CN" b="0" i="1" smtClean="0">
                            <a:latin typeface="Cambria Math" panose="02040503050406030204" pitchFamily="18" charset="0"/>
                          </a:rPr>
                          <m:t>100</m:t>
                        </m:r>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95</m:t>
                    </m:r>
                    <m:r>
                      <a:rPr lang="en-US" altLang="zh-CN" b="0" i="1" smtClean="0">
                        <a:latin typeface="Cambria Math" panose="02040503050406030204" pitchFamily="18" charset="0"/>
                      </a:rPr>
                      <m:t>×</m:t>
                    </m:r>
                    <m:r>
                      <a:rPr lang="en-US" altLang="zh-CN" b="0" i="1" smtClean="0">
                        <a:latin typeface="Cambria Math" panose="02040503050406030204" pitchFamily="18" charset="0"/>
                      </a:rPr>
                      <m:t>10</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05</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9</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oMath>
                </a14:m>
                <a:endParaRPr lang="en-US" altLang="zh-CN" dirty="0"/>
              </a:p>
              <a:p>
                <a:pPr marL="1371600" lvl="2" indent="-457200">
                  <a:buFont typeface="+mj-lt"/>
                  <a:buAutoNum type="arabicPeriod"/>
                </a:pPr>
                <a:r>
                  <a:rPr lang="zh-CN" altLang="en-US" dirty="0"/>
                  <a:t>类似地，设收益值为</a:t>
                </a:r>
                <a:r>
                  <a:rPr lang="en-US" altLang="zh-CN" dirty="0"/>
                  <a:t>40</a:t>
                </a:r>
                <a:r>
                  <a:rPr lang="zh-CN" altLang="en-US" dirty="0"/>
                  <a:t>、</a:t>
                </a:r>
                <a:r>
                  <a:rPr lang="en-US" altLang="zh-CN" dirty="0"/>
                  <a:t>0</a:t>
                </a:r>
                <a:r>
                  <a:rPr lang="zh-CN" altLang="en-US" dirty="0"/>
                  <a:t>、</a:t>
                </a:r>
                <a:r>
                  <a:rPr lang="en-US" altLang="zh-CN" dirty="0"/>
                  <a:t>-40</a:t>
                </a:r>
                <a:r>
                  <a:rPr lang="zh-CN" altLang="en-US" dirty="0"/>
                  <a:t>、</a:t>
                </a:r>
                <a:r>
                  <a:rPr lang="en-US" altLang="zh-CN" dirty="0"/>
                  <a:t>-60</a:t>
                </a:r>
                <a:r>
                  <a:rPr lang="zh-CN" altLang="en-US" dirty="0"/>
                  <a:t>，相应等价的概率分别为</a:t>
                </a:r>
                <a:r>
                  <a:rPr lang="en-US" altLang="zh-CN" dirty="0"/>
                  <a:t>0.9,0.75,0.55,0.4</a:t>
                </a:r>
                <a:r>
                  <a:rPr lang="zh-CN" altLang="en-US" dirty="0"/>
                  <a:t>，可得到各效用值：</a:t>
                </a:r>
                <a:endParaRPr lang="en-US" altLang="zh-CN" dirty="0"/>
              </a:p>
              <a:p>
                <a:pPr marL="914400" lvl="2" indent="0">
                  <a:buNone/>
                </a:pPr>
                <a:r>
                  <a:rPr lang="en-US" altLang="zh-CN" dirty="0"/>
                  <a:t>	</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效用函数</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类似地，设收益值为</a:t>
                </a:r>
                <a:r>
                  <a:rPr lang="en-US" altLang="zh-CN" dirty="0"/>
                  <a:t>40</a:t>
                </a:r>
                <a:r>
                  <a:rPr lang="zh-CN" altLang="en-US" dirty="0"/>
                  <a:t>、</a:t>
                </a:r>
                <a:r>
                  <a:rPr lang="en-US" altLang="zh-CN" dirty="0"/>
                  <a:t>0</a:t>
                </a:r>
                <a:r>
                  <a:rPr lang="zh-CN" altLang="en-US" dirty="0"/>
                  <a:t>、</a:t>
                </a:r>
                <a:r>
                  <a:rPr lang="en-US" altLang="zh-CN" dirty="0"/>
                  <a:t>-40</a:t>
                </a:r>
                <a:r>
                  <a:rPr lang="zh-CN" altLang="en-US" dirty="0"/>
                  <a:t>、</a:t>
                </a:r>
                <a:r>
                  <a:rPr lang="en-US" altLang="zh-CN" dirty="0"/>
                  <a:t>-60</a:t>
                </a:r>
                <a:r>
                  <a:rPr lang="zh-CN" altLang="en-US" dirty="0"/>
                  <a:t>，相应等价的概率分别为</a:t>
                </a:r>
                <a:r>
                  <a:rPr lang="en-US" altLang="zh-CN" dirty="0"/>
                  <a:t>0.9,0.75,0.55,0.4</a:t>
                </a:r>
                <a:r>
                  <a:rPr lang="zh-CN" altLang="en-US" dirty="0"/>
                  <a:t>，可得到各效用值：</a:t>
                </a:r>
                <a:endParaRPr lang="en-US" altLang="zh-CN" dirty="0"/>
              </a:p>
              <a:p>
                <a:pPr lvl="1"/>
                <a14:m>
                  <m:oMath xmlns:m="http://schemas.openxmlformats.org/officeDocument/2006/math">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40</m:t>
                        </m:r>
                      </m:e>
                    </m:d>
                    <m:r>
                      <a:rPr lang="en-US" altLang="zh-CN" b="0" i="1" smtClean="0">
                        <a:latin typeface="Cambria Math" panose="02040503050406030204" pitchFamily="18" charset="0"/>
                      </a:rPr>
                      <m:t>=</m:t>
                    </m:r>
                    <m:r>
                      <a:rPr lang="en-US" altLang="zh-CN" b="0" i="1" smtClean="0">
                        <a:latin typeface="Cambria Math" panose="02040503050406030204" pitchFamily="18" charset="0"/>
                      </a:rPr>
                      <m:t>9</m:t>
                    </m:r>
                  </m:oMath>
                </a14:m>
                <a:endParaRPr lang="en-US" altLang="zh-CN" dirty="0"/>
              </a:p>
              <a:p>
                <a:pPr lvl="1"/>
                <a14:m>
                  <m:oMath xmlns:m="http://schemas.openxmlformats.org/officeDocument/2006/math">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7</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oMath>
                </a14:m>
                <a:endParaRPr lang="en-US" altLang="zh-CN" dirty="0"/>
              </a:p>
              <a:p>
                <a:pPr lvl="1"/>
                <a14:m>
                  <m:oMath xmlns:m="http://schemas.openxmlformats.org/officeDocument/2006/math">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r>
                          <a:rPr lang="en-US" altLang="zh-CN" b="0" i="1" smtClean="0">
                            <a:latin typeface="Cambria Math" panose="02040503050406030204" pitchFamily="18" charset="0"/>
                          </a:rPr>
                          <m:t>40</m:t>
                        </m:r>
                      </m:e>
                    </m:d>
                    <m:r>
                      <a:rPr lang="en-US" altLang="zh-CN" b="0" i="1" smtClean="0">
                        <a:latin typeface="Cambria Math" panose="02040503050406030204" pitchFamily="18" charset="0"/>
                      </a:rPr>
                      <m:t>=</m:t>
                    </m:r>
                    <m:r>
                      <a:rPr lang="en-US" altLang="zh-CN" b="0" i="1" smtClean="0">
                        <a:latin typeface="Cambria Math" panose="02040503050406030204" pitchFamily="18" charset="0"/>
                      </a:rPr>
                      <m:t>5</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oMath>
                </a14:m>
                <a:endParaRPr lang="en-US" altLang="zh-CN" dirty="0"/>
              </a:p>
              <a:p>
                <a:pPr lvl="1"/>
                <a14:m>
                  <m:oMath xmlns:m="http://schemas.openxmlformats.org/officeDocument/2006/math">
                    <m:r>
                      <a:rPr lang="en-US" altLang="zh-CN" b="0" i="1" smtClean="0">
                        <a:latin typeface="Cambria Math" panose="02040503050406030204" pitchFamily="18" charset="0"/>
                      </a:rPr>
                      <m:t>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m:t>
                        </m:r>
                        <m:r>
                          <a:rPr lang="en-US" altLang="zh-CN" b="0" i="1" smtClean="0">
                            <a:latin typeface="Cambria Math" panose="02040503050406030204" pitchFamily="18" charset="0"/>
                          </a:rPr>
                          <m:t>60</m:t>
                        </m:r>
                      </m:e>
                    </m:d>
                    <m:r>
                      <a:rPr lang="en-US" altLang="zh-CN" b="0" i="1" smtClean="0">
                        <a:latin typeface="Cambria Math" panose="02040503050406030204" pitchFamily="18" charset="0"/>
                      </a:rPr>
                      <m:t>=</m:t>
                    </m:r>
                    <m:r>
                      <a:rPr lang="en-US" altLang="zh-CN" b="0" i="1" smtClean="0">
                        <a:latin typeface="Cambria Math" panose="02040503050406030204" pitchFamily="18" charset="0"/>
                      </a:rPr>
                      <m:t>4</m:t>
                    </m:r>
                  </m:oMath>
                </a14:m>
                <a:endParaRPr lang="en-US" altLang="zh-CN" dirty="0"/>
              </a:p>
              <a:p>
                <a:r>
                  <a:rPr lang="zh-CN" altLang="en-US" dirty="0"/>
                  <a:t>我们将效用值代入此前的收益值表中并替换其中的收益值，进而使用效用值计算最大期望，如下表：</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效用期望</a:t>
            </a:r>
            <a:endParaRPr lang="zh-CN" altLang="en-US" dirty="0"/>
          </a:p>
        </p:txBody>
      </p:sp>
      <p:graphicFrame>
        <p:nvGraphicFramePr>
          <p:cNvPr id="4" name="内容占位符 3"/>
          <p:cNvGraphicFramePr>
            <a:graphicFrameLocks noGrp="1"/>
          </p:cNvGraphicFramePr>
          <p:nvPr>
            <p:ph idx="1"/>
          </p:nvPr>
        </p:nvGraphicFramePr>
        <p:xfrm>
          <a:off x="1897062" y="1690688"/>
          <a:ext cx="8397875" cy="2487614"/>
        </p:xfrm>
        <a:graphic>
          <a:graphicData uri="http://schemas.openxmlformats.org/drawingml/2006/table">
            <a:tbl>
              <a:tblPr/>
              <a:tblGrid>
                <a:gridCol w="1732424"/>
                <a:gridCol w="1784431"/>
                <a:gridCol w="1673945"/>
                <a:gridCol w="1683604"/>
                <a:gridCol w="1523471"/>
              </a:tblGrid>
              <a:tr h="749765">
                <a:tc>
                  <a:txBody>
                    <a:bodyPr/>
                    <a:lstStyle/>
                    <a:p>
                      <a:pPr algn="ctr" rtl="0" fontAlgn="ct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             </a:t>
                      </a:r>
                      <a:endParaRPr lang="zh-CN" altLang="en-US"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需求量大</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1</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 0.3</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N</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需求量中</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2</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需求量小</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P</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N</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3</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=0.2</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E[U(S</a:t>
                      </a:r>
                      <a:r>
                        <a:rPr lang="en-US" altLang="zh-CN" sz="2000" b="0" i="0" u="none" strike="noStrike" baseline="-25000" dirty="0">
                          <a:solidFill>
                            <a:srgbClr val="000000"/>
                          </a:solidFill>
                          <a:effectLst/>
                          <a:latin typeface="Arial" panose="020B0604020202020204" pitchFamily="34" charset="0"/>
                          <a:ea typeface="仿宋" panose="02010609060101010101" pitchFamily="49" charset="-122"/>
                        </a:rPr>
                        <a:t>i</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9CDE5"/>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1</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9.5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9.0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7.35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2</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B)</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10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5.5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4.0</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6.55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r h="579283">
                <a:tc>
                  <a:txBody>
                    <a:bodyPr/>
                    <a:lstStyle/>
                    <a:p>
                      <a:pPr algn="ctr" rtl="0" fontAlgn="ctr"/>
                      <a:r>
                        <a:rPr lang="en-US" sz="2000" b="0" i="0" u="none" strike="noStrike" baseline="0" dirty="0">
                          <a:solidFill>
                            <a:srgbClr val="000000"/>
                          </a:solidFill>
                          <a:effectLst/>
                          <a:latin typeface="Arial" panose="020B0604020202020204" pitchFamily="34" charset="0"/>
                          <a:ea typeface="仿宋" panose="02010609060101010101" pitchFamily="49" charset="-122"/>
                        </a:rPr>
                        <a:t>S</a:t>
                      </a:r>
                      <a:r>
                        <a:rPr lang="en-US" sz="2000" b="0" i="0" u="none" strike="noStrike" baseline="-25000" dirty="0">
                          <a:solidFill>
                            <a:srgbClr val="000000"/>
                          </a:solidFill>
                          <a:effectLst/>
                          <a:latin typeface="Arial" panose="020B0604020202020204" pitchFamily="34" charset="0"/>
                          <a:ea typeface="仿宋" panose="02010609060101010101" pitchFamily="49" charset="-122"/>
                        </a:rPr>
                        <a:t>3</a:t>
                      </a:r>
                      <a:r>
                        <a:rPr lang="en-US" sz="2000" b="0" i="0" u="none" strike="noStrike" baseline="0" dirty="0">
                          <a:solidFill>
                            <a:srgbClr val="000000"/>
                          </a:solidFill>
                          <a:effectLst/>
                          <a:latin typeface="Arial" panose="020B0604020202020204" pitchFamily="34" charset="0"/>
                          <a:ea typeface="仿宋" panose="02010609060101010101" pitchFamily="49" charset="-122"/>
                        </a:rPr>
                        <a:t>(</a:t>
                      </a:r>
                      <a:r>
                        <a:rPr lang="zh-CN" altLang="en-US" sz="2000" b="0" i="0" u="none" strike="noStrike" baseline="0" dirty="0">
                          <a:solidFill>
                            <a:srgbClr val="000000"/>
                          </a:solidFill>
                          <a:effectLst/>
                          <a:latin typeface="Arial" panose="020B0604020202020204" pitchFamily="34" charset="0"/>
                          <a:ea typeface="仿宋" panose="02010609060101010101" pitchFamily="49" charset="-122"/>
                        </a:rPr>
                        <a:t>不做项目</a:t>
                      </a: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7.5</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c>
                  <a:txBody>
                    <a:bodyPr/>
                    <a:lstStyle/>
                    <a:p>
                      <a:pPr algn="ctr" rtl="0" fontAlgn="ctr"/>
                      <a:r>
                        <a:rPr lang="en-US" altLang="zh-CN" sz="2000" b="0" i="0" u="none" strike="noStrike" baseline="0" dirty="0">
                          <a:solidFill>
                            <a:srgbClr val="000000"/>
                          </a:solidFill>
                          <a:effectLst/>
                          <a:latin typeface="Arial" panose="020B0604020202020204" pitchFamily="34" charset="0"/>
                          <a:ea typeface="仿宋" panose="02010609060101010101" pitchFamily="49" charset="-122"/>
                        </a:rPr>
                        <a:t>7.5(max)</a:t>
                      </a:r>
                      <a:endParaRPr lang="en-US" altLang="zh-CN" sz="2000" b="0" i="0" u="none" strike="noStrike" baseline="0" dirty="0">
                        <a:solidFill>
                          <a:srgbClr val="000000"/>
                        </a:solidFill>
                        <a:effectLst/>
                        <a:latin typeface="Arial" panose="020B0604020202020204" pitchFamily="34" charset="0"/>
                        <a:ea typeface="仿宋" panose="02010609060101010101" pitchFamily="49" charset="-122"/>
                      </a:endParaRPr>
                    </a:p>
                  </a:txBody>
                  <a:tcPr marL="9525" marR="9525" marT="9525"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2"/>
                    </a:solidFill>
                  </a:tcPr>
                </a:tc>
              </a:tr>
            </a:tbl>
          </a:graphicData>
        </a:graphic>
      </p:graphicFrame>
      <p:sp>
        <p:nvSpPr>
          <p:cNvPr id="5" name="文本框 4"/>
          <p:cNvSpPr txBox="1"/>
          <p:nvPr/>
        </p:nvSpPr>
        <p:spPr>
          <a:xfrm>
            <a:off x="838200" y="4404220"/>
            <a:ext cx="1051560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一般，若收益期望值能合理地反映决策者的看法和偏好，可以用收益期望值进行决策。否则，需要进行效用分析。</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效用与收益期望</a:t>
            </a:r>
            <a:endParaRPr lang="zh-CN" altLang="en-US" dirty="0"/>
          </a:p>
        </p:txBody>
      </p:sp>
      <p:sp>
        <p:nvSpPr>
          <p:cNvPr id="3" name="内容占位符 2"/>
          <p:cNvSpPr>
            <a:spLocks noGrp="1"/>
          </p:cNvSpPr>
          <p:nvPr>
            <p:ph idx="1"/>
          </p:nvPr>
        </p:nvSpPr>
        <p:spPr/>
        <p:txBody>
          <a:bodyPr/>
          <a:lstStyle/>
          <a:p>
            <a:r>
              <a:rPr lang="zh-CN" altLang="en-US" dirty="0"/>
              <a:t>当效用与收益间为线性关系时，二者决策结果是一致的；反之，则可能相背离。</a:t>
            </a:r>
            <a:endParaRPr lang="en-US" altLang="zh-CN" dirty="0"/>
          </a:p>
          <a:p>
            <a:pPr lvl="1"/>
            <a:r>
              <a:rPr lang="zh-CN" altLang="en-US" dirty="0"/>
              <a:t>直线方程为：</a:t>
            </a:r>
            <a:r>
              <a:rPr lang="en-US" altLang="zh-CN" dirty="0"/>
              <a:t>y=5x/100+5,</a:t>
            </a:r>
            <a:r>
              <a:rPr lang="zh-CN" altLang="en-US" dirty="0"/>
              <a:t>于是求得：</a:t>
            </a:r>
            <a:r>
              <a:rPr lang="en-US" altLang="zh-CN" dirty="0"/>
              <a:t>U(-60)=2, U(-40)=3,U(0)=5,U(40)=7,U(60)=8</a:t>
            </a:r>
            <a:endParaRPr lang="en-US" altLang="zh-CN" dirty="0"/>
          </a:p>
          <a:p>
            <a:pPr lvl="1"/>
            <a:r>
              <a:rPr lang="zh-CN" altLang="en-US" dirty="0"/>
              <a:t>红色点为此前我们所计算的各个收益值对应的效用函数值，曲线对应效用函数</a:t>
            </a:r>
            <a:endParaRPr lang="en-US" altLang="zh-CN" dirty="0"/>
          </a:p>
          <a:p>
            <a:endParaRPr lang="zh-CN" altLang="en-US" dirty="0"/>
          </a:p>
        </p:txBody>
      </p:sp>
      <p:sp>
        <p:nvSpPr>
          <p:cNvPr id="4" name="Line 7"/>
          <p:cNvSpPr>
            <a:spLocks noChangeShapeType="1"/>
          </p:cNvSpPr>
          <p:nvPr/>
        </p:nvSpPr>
        <p:spPr bwMode="auto">
          <a:xfrm>
            <a:off x="3805252" y="5972175"/>
            <a:ext cx="3889375" cy="0"/>
          </a:xfrm>
          <a:prstGeom prst="line">
            <a:avLst/>
          </a:prstGeom>
          <a:noFill/>
          <a:ln w="19050">
            <a:solidFill>
              <a:srgbClr val="000000"/>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 name="Line 8"/>
          <p:cNvSpPr>
            <a:spLocks noChangeShapeType="1"/>
          </p:cNvSpPr>
          <p:nvPr/>
        </p:nvSpPr>
        <p:spPr bwMode="auto">
          <a:xfrm>
            <a:off x="5676914" y="4100513"/>
            <a:ext cx="0" cy="1871662"/>
          </a:xfrm>
          <a:prstGeom prst="line">
            <a:avLst/>
          </a:prstGeom>
          <a:noFill/>
          <a:ln w="19050">
            <a:solidFill>
              <a:srgbClr val="000000"/>
            </a:solidFill>
            <a:round/>
            <a:head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 name="Line 9"/>
          <p:cNvSpPr>
            <a:spLocks noChangeShapeType="1"/>
          </p:cNvSpPr>
          <p:nvPr/>
        </p:nvSpPr>
        <p:spPr bwMode="auto">
          <a:xfrm>
            <a:off x="5965839"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7" name="Line 10"/>
          <p:cNvSpPr>
            <a:spLocks noChangeShapeType="1"/>
          </p:cNvSpPr>
          <p:nvPr/>
        </p:nvSpPr>
        <p:spPr bwMode="auto">
          <a:xfrm>
            <a:off x="6253177"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 name="Line 11"/>
          <p:cNvSpPr>
            <a:spLocks noChangeShapeType="1"/>
          </p:cNvSpPr>
          <p:nvPr/>
        </p:nvSpPr>
        <p:spPr bwMode="auto">
          <a:xfrm>
            <a:off x="6542102"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 name="Line 12"/>
          <p:cNvSpPr>
            <a:spLocks noChangeShapeType="1"/>
          </p:cNvSpPr>
          <p:nvPr/>
        </p:nvSpPr>
        <p:spPr bwMode="auto">
          <a:xfrm>
            <a:off x="6829439"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0" name="Line 13"/>
          <p:cNvSpPr>
            <a:spLocks noChangeShapeType="1"/>
          </p:cNvSpPr>
          <p:nvPr/>
        </p:nvSpPr>
        <p:spPr bwMode="auto">
          <a:xfrm>
            <a:off x="7118364"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1" name="Line 14"/>
          <p:cNvSpPr>
            <a:spLocks noChangeShapeType="1"/>
          </p:cNvSpPr>
          <p:nvPr/>
        </p:nvSpPr>
        <p:spPr bwMode="auto">
          <a:xfrm>
            <a:off x="7405702"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2" name="Line 15"/>
          <p:cNvSpPr>
            <a:spLocks noChangeShapeType="1"/>
          </p:cNvSpPr>
          <p:nvPr/>
        </p:nvSpPr>
        <p:spPr bwMode="auto">
          <a:xfrm>
            <a:off x="5676914" y="5684838"/>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3" name="Line 16"/>
          <p:cNvSpPr>
            <a:spLocks noChangeShapeType="1"/>
          </p:cNvSpPr>
          <p:nvPr/>
        </p:nvSpPr>
        <p:spPr bwMode="auto">
          <a:xfrm>
            <a:off x="5676914" y="5397500"/>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 name="Line 17"/>
          <p:cNvSpPr>
            <a:spLocks noChangeShapeType="1"/>
          </p:cNvSpPr>
          <p:nvPr/>
        </p:nvSpPr>
        <p:spPr bwMode="auto">
          <a:xfrm>
            <a:off x="5676914" y="5108575"/>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5" name="Line 18"/>
          <p:cNvSpPr>
            <a:spLocks noChangeShapeType="1"/>
          </p:cNvSpPr>
          <p:nvPr/>
        </p:nvSpPr>
        <p:spPr bwMode="auto">
          <a:xfrm>
            <a:off x="5676914" y="4821238"/>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 name="Line 19"/>
          <p:cNvSpPr>
            <a:spLocks noChangeShapeType="1"/>
          </p:cNvSpPr>
          <p:nvPr/>
        </p:nvSpPr>
        <p:spPr bwMode="auto">
          <a:xfrm>
            <a:off x="5676914" y="4532313"/>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 name="Line 20"/>
          <p:cNvSpPr>
            <a:spLocks noChangeShapeType="1"/>
          </p:cNvSpPr>
          <p:nvPr/>
        </p:nvSpPr>
        <p:spPr bwMode="auto">
          <a:xfrm>
            <a:off x="5389577"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8" name="Line 21"/>
          <p:cNvSpPr>
            <a:spLocks noChangeShapeType="1"/>
          </p:cNvSpPr>
          <p:nvPr/>
        </p:nvSpPr>
        <p:spPr bwMode="auto">
          <a:xfrm>
            <a:off x="5102239"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9" name="Line 22"/>
          <p:cNvSpPr>
            <a:spLocks noChangeShapeType="1"/>
          </p:cNvSpPr>
          <p:nvPr/>
        </p:nvSpPr>
        <p:spPr bwMode="auto">
          <a:xfrm>
            <a:off x="4813314"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0" name="Line 23"/>
          <p:cNvSpPr>
            <a:spLocks noChangeShapeType="1"/>
          </p:cNvSpPr>
          <p:nvPr/>
        </p:nvSpPr>
        <p:spPr bwMode="auto">
          <a:xfrm>
            <a:off x="4525977"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1" name="Line 24"/>
          <p:cNvSpPr>
            <a:spLocks noChangeShapeType="1"/>
          </p:cNvSpPr>
          <p:nvPr/>
        </p:nvSpPr>
        <p:spPr bwMode="auto">
          <a:xfrm>
            <a:off x="4237052"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 name="Line 25"/>
          <p:cNvSpPr>
            <a:spLocks noChangeShapeType="1"/>
          </p:cNvSpPr>
          <p:nvPr/>
        </p:nvSpPr>
        <p:spPr bwMode="auto">
          <a:xfrm>
            <a:off x="3949714" y="5900738"/>
            <a:ext cx="0" cy="7143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3" name="Line 26"/>
          <p:cNvSpPr>
            <a:spLocks noChangeShapeType="1"/>
          </p:cNvSpPr>
          <p:nvPr/>
        </p:nvSpPr>
        <p:spPr bwMode="auto">
          <a:xfrm>
            <a:off x="5676914" y="4244975"/>
            <a:ext cx="73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4" name="Text Box 27"/>
          <p:cNvSpPr txBox="1">
            <a:spLocks noChangeArrowheads="1"/>
          </p:cNvSpPr>
          <p:nvPr/>
        </p:nvSpPr>
        <p:spPr bwMode="auto">
          <a:xfrm>
            <a:off x="3951302" y="5900738"/>
            <a:ext cx="5746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-100</a:t>
            </a:r>
            <a:endParaRPr kumimoji="1" lang="en-US" altLang="zh-CN" sz="1200" b="1">
              <a:latin typeface="宋体" panose="02010600030101010101" pitchFamily="2" charset="-122"/>
            </a:endParaRPr>
          </a:p>
        </p:txBody>
      </p:sp>
      <p:sp>
        <p:nvSpPr>
          <p:cNvPr id="25" name="Text Box 28"/>
          <p:cNvSpPr txBox="1">
            <a:spLocks noChangeArrowheads="1"/>
          </p:cNvSpPr>
          <p:nvPr/>
        </p:nvSpPr>
        <p:spPr bwMode="auto">
          <a:xfrm>
            <a:off x="6902464" y="590073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dirty="0">
                <a:latin typeface="宋体" panose="02010600030101010101" pitchFamily="2" charset="-122"/>
              </a:rPr>
              <a:t>100</a:t>
            </a:r>
            <a:endParaRPr kumimoji="1" lang="en-US" altLang="zh-CN" sz="1200" b="1" dirty="0">
              <a:latin typeface="宋体" panose="02010600030101010101" pitchFamily="2" charset="-122"/>
            </a:endParaRPr>
          </a:p>
        </p:txBody>
      </p:sp>
      <p:sp>
        <p:nvSpPr>
          <p:cNvPr id="26" name="Text Box 29"/>
          <p:cNvSpPr txBox="1">
            <a:spLocks noChangeArrowheads="1"/>
          </p:cNvSpPr>
          <p:nvPr/>
        </p:nvSpPr>
        <p:spPr bwMode="auto">
          <a:xfrm>
            <a:off x="5821377" y="590073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dirty="0">
                <a:latin typeface="宋体" panose="02010600030101010101" pitchFamily="2" charset="-122"/>
              </a:rPr>
              <a:t>20</a:t>
            </a:r>
            <a:endParaRPr kumimoji="1" lang="en-US" altLang="zh-CN" sz="1200" b="1" dirty="0">
              <a:latin typeface="宋体" panose="02010600030101010101" pitchFamily="2" charset="-122"/>
            </a:endParaRPr>
          </a:p>
        </p:txBody>
      </p:sp>
      <p:sp>
        <p:nvSpPr>
          <p:cNvPr id="27" name="Text Box 30"/>
          <p:cNvSpPr txBox="1">
            <a:spLocks noChangeArrowheads="1"/>
          </p:cNvSpPr>
          <p:nvPr/>
        </p:nvSpPr>
        <p:spPr bwMode="auto">
          <a:xfrm>
            <a:off x="5245114" y="590073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20</a:t>
            </a:r>
            <a:endParaRPr kumimoji="1" lang="en-US" altLang="zh-CN" sz="1200" b="1">
              <a:latin typeface="宋体" panose="02010600030101010101" pitchFamily="2" charset="-122"/>
            </a:endParaRPr>
          </a:p>
        </p:txBody>
      </p:sp>
      <p:sp>
        <p:nvSpPr>
          <p:cNvPr id="28" name="Text Box 31"/>
          <p:cNvSpPr txBox="1">
            <a:spLocks noChangeArrowheads="1"/>
          </p:cNvSpPr>
          <p:nvPr/>
        </p:nvSpPr>
        <p:spPr bwMode="auto">
          <a:xfrm>
            <a:off x="6367477" y="590073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60</a:t>
            </a:r>
            <a:endParaRPr kumimoji="1" lang="en-US" altLang="zh-CN" sz="1200" b="1">
              <a:latin typeface="宋体" panose="02010600030101010101" pitchFamily="2" charset="-122"/>
            </a:endParaRPr>
          </a:p>
        </p:txBody>
      </p:sp>
      <p:sp>
        <p:nvSpPr>
          <p:cNvPr id="29" name="Text Box 32"/>
          <p:cNvSpPr txBox="1">
            <a:spLocks noChangeArrowheads="1"/>
          </p:cNvSpPr>
          <p:nvPr/>
        </p:nvSpPr>
        <p:spPr bwMode="auto">
          <a:xfrm>
            <a:off x="4635514" y="590073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60</a:t>
            </a:r>
            <a:endParaRPr kumimoji="1" lang="en-US" altLang="zh-CN" sz="1200" b="1">
              <a:latin typeface="宋体" panose="02010600030101010101" pitchFamily="2" charset="-122"/>
            </a:endParaRPr>
          </a:p>
        </p:txBody>
      </p:sp>
      <p:sp>
        <p:nvSpPr>
          <p:cNvPr id="30" name="Text Box 33"/>
          <p:cNvSpPr txBox="1">
            <a:spLocks noChangeArrowheads="1"/>
          </p:cNvSpPr>
          <p:nvPr/>
        </p:nvSpPr>
        <p:spPr bwMode="auto">
          <a:xfrm>
            <a:off x="5446727" y="5511800"/>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2</a:t>
            </a:r>
            <a:endParaRPr kumimoji="1" lang="en-US" altLang="zh-CN" sz="1200" b="1">
              <a:latin typeface="宋体" panose="02010600030101010101" pitchFamily="2" charset="-122"/>
            </a:endParaRPr>
          </a:p>
        </p:txBody>
      </p:sp>
      <p:sp>
        <p:nvSpPr>
          <p:cNvPr id="31" name="Text Box 34"/>
          <p:cNvSpPr txBox="1">
            <a:spLocks noChangeArrowheads="1"/>
          </p:cNvSpPr>
          <p:nvPr/>
        </p:nvSpPr>
        <p:spPr bwMode="auto">
          <a:xfrm>
            <a:off x="5451489" y="4954588"/>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6</a:t>
            </a:r>
            <a:endParaRPr kumimoji="1" lang="en-US" altLang="zh-CN" sz="1200" b="1">
              <a:latin typeface="宋体" panose="02010600030101010101" pitchFamily="2" charset="-122"/>
            </a:endParaRPr>
          </a:p>
        </p:txBody>
      </p:sp>
      <p:sp>
        <p:nvSpPr>
          <p:cNvPr id="32" name="Text Box 35"/>
          <p:cNvSpPr txBox="1">
            <a:spLocks noChangeArrowheads="1"/>
          </p:cNvSpPr>
          <p:nvPr/>
        </p:nvSpPr>
        <p:spPr bwMode="auto">
          <a:xfrm>
            <a:off x="5384814" y="4354513"/>
            <a:ext cx="431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10</a:t>
            </a:r>
            <a:endParaRPr kumimoji="1" lang="en-US" altLang="zh-CN" sz="1200" b="1">
              <a:latin typeface="宋体" panose="02010600030101010101" pitchFamily="2" charset="-122"/>
            </a:endParaRPr>
          </a:p>
        </p:txBody>
      </p:sp>
      <p:sp>
        <p:nvSpPr>
          <p:cNvPr id="33" name="Text Box 36"/>
          <p:cNvSpPr txBox="1">
            <a:spLocks noChangeArrowheads="1"/>
          </p:cNvSpPr>
          <p:nvPr/>
        </p:nvSpPr>
        <p:spPr bwMode="auto">
          <a:xfrm>
            <a:off x="4025914" y="5613400"/>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B</a:t>
            </a:r>
            <a:endParaRPr kumimoji="1" lang="en-US" altLang="zh-CN" sz="1200" b="1">
              <a:latin typeface="宋体" panose="02010600030101010101" pitchFamily="2" charset="-122"/>
            </a:endParaRPr>
          </a:p>
        </p:txBody>
      </p:sp>
      <p:sp>
        <p:nvSpPr>
          <p:cNvPr id="34" name="Line 37"/>
          <p:cNvSpPr>
            <a:spLocks noChangeShapeType="1"/>
          </p:cNvSpPr>
          <p:nvPr/>
        </p:nvSpPr>
        <p:spPr bwMode="auto">
          <a:xfrm flipV="1">
            <a:off x="4237052" y="4532313"/>
            <a:ext cx="2881312" cy="1439862"/>
          </a:xfrm>
          <a:prstGeom prst="line">
            <a:avLst/>
          </a:prstGeom>
          <a:noFill/>
          <a:ln w="1905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5" name="Text Box 40"/>
          <p:cNvSpPr txBox="1">
            <a:spLocks noChangeArrowheads="1"/>
          </p:cNvSpPr>
          <p:nvPr/>
        </p:nvSpPr>
        <p:spPr bwMode="auto">
          <a:xfrm>
            <a:off x="7118364" y="4244975"/>
            <a:ext cx="2873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en-US" altLang="zh-CN" sz="1200" b="1">
                <a:latin typeface="宋体" panose="02010600030101010101" pitchFamily="2" charset="-122"/>
              </a:rPr>
              <a:t>A</a:t>
            </a:r>
            <a:endParaRPr kumimoji="1" lang="en-US" altLang="zh-CN" sz="1200" b="1">
              <a:latin typeface="宋体" panose="02010600030101010101" pitchFamily="2" charset="-122"/>
            </a:endParaRPr>
          </a:p>
        </p:txBody>
      </p:sp>
      <p:sp>
        <p:nvSpPr>
          <p:cNvPr id="36" name="Text Box 41"/>
          <p:cNvSpPr txBox="1">
            <a:spLocks noChangeArrowheads="1"/>
          </p:cNvSpPr>
          <p:nvPr/>
        </p:nvSpPr>
        <p:spPr bwMode="auto">
          <a:xfrm>
            <a:off x="7405702" y="5949950"/>
            <a:ext cx="647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1200" b="1">
                <a:latin typeface="宋体" panose="02010600030101010101" pitchFamily="2" charset="-122"/>
              </a:rPr>
              <a:t>收益值</a:t>
            </a:r>
            <a:endParaRPr kumimoji="1" lang="zh-CN" altLang="en-US" sz="1200" b="1">
              <a:latin typeface="宋体" panose="02010600030101010101" pitchFamily="2" charset="-122"/>
            </a:endParaRPr>
          </a:p>
        </p:txBody>
      </p:sp>
      <p:sp>
        <p:nvSpPr>
          <p:cNvPr id="37" name="Text Box 42"/>
          <p:cNvSpPr txBox="1">
            <a:spLocks noChangeArrowheads="1"/>
          </p:cNvSpPr>
          <p:nvPr/>
        </p:nvSpPr>
        <p:spPr bwMode="auto">
          <a:xfrm>
            <a:off x="5245114" y="3956050"/>
            <a:ext cx="431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50000"/>
              </a:spcBef>
              <a:buFontTx/>
              <a:buNone/>
            </a:pPr>
            <a:r>
              <a:rPr kumimoji="1" lang="zh-CN" altLang="en-US" sz="1200" b="1">
                <a:latin typeface="宋体" panose="02010600030101010101" pitchFamily="2" charset="-122"/>
              </a:rPr>
              <a:t>效用值</a:t>
            </a:r>
            <a:endParaRPr kumimoji="1" lang="zh-CN" altLang="en-US" sz="1200" b="1">
              <a:latin typeface="宋体" panose="02010600030101010101" pitchFamily="2" charset="-122"/>
            </a:endParaRPr>
          </a:p>
        </p:txBody>
      </p:sp>
      <p:sp>
        <p:nvSpPr>
          <p:cNvPr id="39" name="椭圆 38"/>
          <p:cNvSpPr/>
          <p:nvPr/>
        </p:nvSpPr>
        <p:spPr>
          <a:xfrm>
            <a:off x="6182095" y="4579303"/>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7087545" y="4509452"/>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6470226" y="4511878"/>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4811727" y="5394100"/>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5629071" y="4917024"/>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5046706" y="5229384"/>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4208259" y="5954057"/>
            <a:ext cx="67112"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形状 46"/>
          <p:cNvSpPr/>
          <p:nvPr/>
        </p:nvSpPr>
        <p:spPr>
          <a:xfrm>
            <a:off x="4235465" y="4529945"/>
            <a:ext cx="2877424" cy="1452867"/>
          </a:xfrm>
          <a:custGeom>
            <a:avLst/>
            <a:gdLst>
              <a:gd name="connsiteX0" fmla="*/ 0 w 2877424"/>
              <a:gd name="connsiteY0" fmla="*/ 1452867 h 1452867"/>
              <a:gd name="connsiteX1" fmla="*/ 595619 w 2877424"/>
              <a:gd name="connsiteY1" fmla="*/ 899193 h 1452867"/>
              <a:gd name="connsiteX2" fmla="*/ 847288 w 2877424"/>
              <a:gd name="connsiteY2" fmla="*/ 706247 h 1452867"/>
              <a:gd name="connsiteX3" fmla="*/ 1417740 w 2877424"/>
              <a:gd name="connsiteY3" fmla="*/ 395854 h 1452867"/>
              <a:gd name="connsiteX4" fmla="*/ 1971413 w 2877424"/>
              <a:gd name="connsiteY4" fmla="*/ 60294 h 1452867"/>
              <a:gd name="connsiteX5" fmla="*/ 2877424 w 2877424"/>
              <a:gd name="connsiteY5" fmla="*/ 1571 h 1452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7424" h="1452867">
                <a:moveTo>
                  <a:pt x="0" y="1452867"/>
                </a:moveTo>
                <a:cubicBezTo>
                  <a:pt x="227202" y="1238248"/>
                  <a:pt x="454404" y="1023630"/>
                  <a:pt x="595619" y="899193"/>
                </a:cubicBezTo>
                <a:cubicBezTo>
                  <a:pt x="736834" y="774756"/>
                  <a:pt x="710268" y="790137"/>
                  <a:pt x="847288" y="706247"/>
                </a:cubicBezTo>
                <a:cubicBezTo>
                  <a:pt x="984308" y="622357"/>
                  <a:pt x="1230386" y="503513"/>
                  <a:pt x="1417740" y="395854"/>
                </a:cubicBezTo>
                <a:cubicBezTo>
                  <a:pt x="1605094" y="288195"/>
                  <a:pt x="1728133" y="126008"/>
                  <a:pt x="1971413" y="60294"/>
                </a:cubicBezTo>
                <a:cubicBezTo>
                  <a:pt x="2214693" y="-5420"/>
                  <a:pt x="2546058" y="-1925"/>
                  <a:pt x="2877424" y="157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additive="base">
                                        <p:cTn id="79" dur="500" fill="hold"/>
                                        <p:tgtEl>
                                          <p:spTgt spid="22"/>
                                        </p:tgtEl>
                                        <p:attrNameLst>
                                          <p:attrName>ppt_x</p:attrName>
                                        </p:attrNameLst>
                                      </p:cBhvr>
                                      <p:tavLst>
                                        <p:tav tm="0">
                                          <p:val>
                                            <p:strVal val="#ppt_x"/>
                                          </p:val>
                                        </p:tav>
                                        <p:tav tm="100000">
                                          <p:val>
                                            <p:strVal val="#ppt_x"/>
                                          </p:val>
                                        </p:tav>
                                      </p:tavLst>
                                    </p:anim>
                                    <p:anim calcmode="lin" valueType="num">
                                      <p:cBhvr additive="base">
                                        <p:cTn id="80" dur="500" fill="hold"/>
                                        <p:tgtEl>
                                          <p:spTgt spid="22"/>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3"/>
                                        </p:tgtEl>
                                        <p:attrNameLst>
                                          <p:attrName>style.visibility</p:attrName>
                                        </p:attrNameLst>
                                      </p:cBhvr>
                                      <p:to>
                                        <p:strVal val="visible"/>
                                      </p:to>
                                    </p:set>
                                    <p:anim calcmode="lin" valueType="num">
                                      <p:cBhvr additive="base">
                                        <p:cTn id="83" dur="500" fill="hold"/>
                                        <p:tgtEl>
                                          <p:spTgt spid="23"/>
                                        </p:tgtEl>
                                        <p:attrNameLst>
                                          <p:attrName>ppt_x</p:attrName>
                                        </p:attrNameLst>
                                      </p:cBhvr>
                                      <p:tavLst>
                                        <p:tav tm="0">
                                          <p:val>
                                            <p:strVal val="#ppt_x"/>
                                          </p:val>
                                        </p:tav>
                                        <p:tav tm="100000">
                                          <p:val>
                                            <p:strVal val="#ppt_x"/>
                                          </p:val>
                                        </p:tav>
                                      </p:tavLst>
                                    </p:anim>
                                    <p:anim calcmode="lin" valueType="num">
                                      <p:cBhvr additive="base">
                                        <p:cTn id="8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
                                            <p:txEl>
                                              <p:pRg st="1" end="1"/>
                                            </p:txEl>
                                          </p:spTgt>
                                        </p:tgtEl>
                                        <p:attrNameLst>
                                          <p:attrName>style.visibility</p:attrName>
                                        </p:attrNameLst>
                                      </p:cBhvr>
                                      <p:to>
                                        <p:strVal val="visible"/>
                                      </p:to>
                                    </p:set>
                                  </p:childTnLst>
                                </p:cTn>
                              </p:par>
                              <p:par>
                                <p:cTn id="89" presetID="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ppt_x"/>
                                          </p:val>
                                        </p:tav>
                                        <p:tav tm="100000">
                                          <p:val>
                                            <p:strVal val="#ppt_x"/>
                                          </p:val>
                                        </p:tav>
                                      </p:tavLst>
                                    </p:anim>
                                    <p:anim calcmode="lin" valueType="num">
                                      <p:cBhvr additive="base">
                                        <p:cTn id="92" dur="500" fill="hold"/>
                                        <p:tgtEl>
                                          <p:spTgt spid="2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ppt_x</p:attrName>
                                        </p:attrNameLst>
                                      </p:cBhvr>
                                      <p:tavLst>
                                        <p:tav tm="0">
                                          <p:val>
                                            <p:strVal val="#ppt_x"/>
                                          </p:val>
                                        </p:tav>
                                        <p:tav tm="100000">
                                          <p:val>
                                            <p:strVal val="#ppt_x"/>
                                          </p:val>
                                        </p:tav>
                                      </p:tavLst>
                                    </p:anim>
                                    <p:anim calcmode="lin" valueType="num">
                                      <p:cBhvr additive="base">
                                        <p:cTn id="100" dur="500" fill="hold"/>
                                        <p:tgtEl>
                                          <p:spTgt spid="26"/>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ppt_x"/>
                                          </p:val>
                                        </p:tav>
                                        <p:tav tm="100000">
                                          <p:val>
                                            <p:strVal val="#ppt_x"/>
                                          </p:val>
                                        </p:tav>
                                      </p:tavLst>
                                    </p:anim>
                                    <p:anim calcmode="lin" valueType="num">
                                      <p:cBhvr additive="base">
                                        <p:cTn id="104" dur="500" fill="hold"/>
                                        <p:tgtEl>
                                          <p:spTgt spid="27"/>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ppt_x</p:attrName>
                                        </p:attrNameLst>
                                      </p:cBhvr>
                                      <p:tavLst>
                                        <p:tav tm="0">
                                          <p:val>
                                            <p:strVal val="#ppt_x"/>
                                          </p:val>
                                        </p:tav>
                                        <p:tav tm="100000">
                                          <p:val>
                                            <p:strVal val="#ppt_x"/>
                                          </p:val>
                                        </p:tav>
                                      </p:tavLst>
                                    </p:anim>
                                    <p:anim calcmode="lin" valueType="num">
                                      <p:cBhvr additive="base">
                                        <p:cTn id="112" dur="500" fill="hold"/>
                                        <p:tgtEl>
                                          <p:spTgt spid="29"/>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ppt_x</p:attrName>
                                        </p:attrNameLst>
                                      </p:cBhvr>
                                      <p:tavLst>
                                        <p:tav tm="0">
                                          <p:val>
                                            <p:strVal val="#ppt_x"/>
                                          </p:val>
                                        </p:tav>
                                        <p:tav tm="100000">
                                          <p:val>
                                            <p:strVal val="#ppt_x"/>
                                          </p:val>
                                        </p:tav>
                                      </p:tavLst>
                                    </p:anim>
                                    <p:anim calcmode="lin" valueType="num">
                                      <p:cBhvr additive="base">
                                        <p:cTn id="116" dur="500" fill="hold"/>
                                        <p:tgtEl>
                                          <p:spTgt spid="3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00" fill="hold"/>
                                        <p:tgtEl>
                                          <p:spTgt spid="31"/>
                                        </p:tgtEl>
                                        <p:attrNameLst>
                                          <p:attrName>ppt_x</p:attrName>
                                        </p:attrNameLst>
                                      </p:cBhvr>
                                      <p:tavLst>
                                        <p:tav tm="0">
                                          <p:val>
                                            <p:strVal val="#ppt_x"/>
                                          </p:val>
                                        </p:tav>
                                        <p:tav tm="100000">
                                          <p:val>
                                            <p:strVal val="#ppt_x"/>
                                          </p:val>
                                        </p:tav>
                                      </p:tavLst>
                                    </p:anim>
                                    <p:anim calcmode="lin" valueType="num">
                                      <p:cBhvr additive="base">
                                        <p:cTn id="120" dur="500" fill="hold"/>
                                        <p:tgtEl>
                                          <p:spTgt spid="31"/>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00" fill="hold"/>
                                        <p:tgtEl>
                                          <p:spTgt spid="32"/>
                                        </p:tgtEl>
                                        <p:attrNameLst>
                                          <p:attrName>ppt_x</p:attrName>
                                        </p:attrNameLst>
                                      </p:cBhvr>
                                      <p:tavLst>
                                        <p:tav tm="0">
                                          <p:val>
                                            <p:strVal val="#ppt_x"/>
                                          </p:val>
                                        </p:tav>
                                        <p:tav tm="100000">
                                          <p:val>
                                            <p:strVal val="#ppt_x"/>
                                          </p:val>
                                        </p:tav>
                                      </p:tavLst>
                                    </p:anim>
                                    <p:anim calcmode="lin" valueType="num">
                                      <p:cBhvr additive="base">
                                        <p:cTn id="124" dur="500" fill="hold"/>
                                        <p:tgtEl>
                                          <p:spTgt spid="32"/>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ppt_x"/>
                                          </p:val>
                                        </p:tav>
                                        <p:tav tm="100000">
                                          <p:val>
                                            <p:strVal val="#ppt_x"/>
                                          </p:val>
                                        </p:tav>
                                      </p:tavLst>
                                    </p:anim>
                                    <p:anim calcmode="lin" valueType="num">
                                      <p:cBhvr additive="base">
                                        <p:cTn id="128" dur="500" fill="hold"/>
                                        <p:tgtEl>
                                          <p:spTgt spid="33"/>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00" fill="hold"/>
                                        <p:tgtEl>
                                          <p:spTgt spid="34"/>
                                        </p:tgtEl>
                                        <p:attrNameLst>
                                          <p:attrName>ppt_x</p:attrName>
                                        </p:attrNameLst>
                                      </p:cBhvr>
                                      <p:tavLst>
                                        <p:tav tm="0">
                                          <p:val>
                                            <p:strVal val="#ppt_x"/>
                                          </p:val>
                                        </p:tav>
                                        <p:tav tm="100000">
                                          <p:val>
                                            <p:strVal val="#ppt_x"/>
                                          </p:val>
                                        </p:tav>
                                      </p:tavLst>
                                    </p:anim>
                                    <p:anim calcmode="lin" valueType="num">
                                      <p:cBhvr additive="base">
                                        <p:cTn id="132" dur="500" fill="hold"/>
                                        <p:tgtEl>
                                          <p:spTgt spid="34"/>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500" fill="hold"/>
                                        <p:tgtEl>
                                          <p:spTgt spid="35"/>
                                        </p:tgtEl>
                                        <p:attrNameLst>
                                          <p:attrName>ppt_x</p:attrName>
                                        </p:attrNameLst>
                                      </p:cBhvr>
                                      <p:tavLst>
                                        <p:tav tm="0">
                                          <p:val>
                                            <p:strVal val="#ppt_x"/>
                                          </p:val>
                                        </p:tav>
                                        <p:tav tm="100000">
                                          <p:val>
                                            <p:strVal val="#ppt_x"/>
                                          </p:val>
                                        </p:tav>
                                      </p:tavLst>
                                    </p:anim>
                                    <p:anim calcmode="lin" valueType="num">
                                      <p:cBhvr additive="base">
                                        <p:cTn id="136" dur="500" fill="hold"/>
                                        <p:tgtEl>
                                          <p:spTgt spid="35"/>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37"/>
                                        </p:tgtEl>
                                        <p:attrNameLst>
                                          <p:attrName>style.visibility</p:attrName>
                                        </p:attrNameLst>
                                      </p:cBhvr>
                                      <p:to>
                                        <p:strVal val="visible"/>
                                      </p:to>
                                    </p:set>
                                    <p:anim calcmode="lin" valueType="num">
                                      <p:cBhvr additive="base">
                                        <p:cTn id="139" dur="500" fill="hold"/>
                                        <p:tgtEl>
                                          <p:spTgt spid="37"/>
                                        </p:tgtEl>
                                        <p:attrNameLst>
                                          <p:attrName>ppt_x</p:attrName>
                                        </p:attrNameLst>
                                      </p:cBhvr>
                                      <p:tavLst>
                                        <p:tav tm="0">
                                          <p:val>
                                            <p:strVal val="#ppt_x"/>
                                          </p:val>
                                        </p:tav>
                                        <p:tav tm="100000">
                                          <p:val>
                                            <p:strVal val="#ppt_x"/>
                                          </p:val>
                                        </p:tav>
                                      </p:tavLst>
                                    </p:anim>
                                    <p:anim calcmode="lin" valueType="num">
                                      <p:cBhvr additive="base">
                                        <p:cTn id="140" dur="500" fill="hold"/>
                                        <p:tgtEl>
                                          <p:spTgt spid="37"/>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36"/>
                                        </p:tgtEl>
                                        <p:attrNameLst>
                                          <p:attrName>style.visibility</p:attrName>
                                        </p:attrNameLst>
                                      </p:cBhvr>
                                      <p:to>
                                        <p:strVal val="visible"/>
                                      </p:to>
                                    </p:set>
                                    <p:anim calcmode="lin" valueType="num">
                                      <p:cBhvr additive="base">
                                        <p:cTn id="143" dur="500" fill="hold"/>
                                        <p:tgtEl>
                                          <p:spTgt spid="36"/>
                                        </p:tgtEl>
                                        <p:attrNameLst>
                                          <p:attrName>ppt_x</p:attrName>
                                        </p:attrNameLst>
                                      </p:cBhvr>
                                      <p:tavLst>
                                        <p:tav tm="0">
                                          <p:val>
                                            <p:strVal val="#ppt_x"/>
                                          </p:val>
                                        </p:tav>
                                        <p:tav tm="100000">
                                          <p:val>
                                            <p:strVal val="#ppt_x"/>
                                          </p:val>
                                        </p:tav>
                                      </p:tavLst>
                                    </p:anim>
                                    <p:anim calcmode="lin" valueType="num">
                                      <p:cBhvr additive="base">
                                        <p:cTn id="14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3">
                                            <p:txEl>
                                              <p:pRg st="2" end="2"/>
                                            </p:txEl>
                                          </p:spTgt>
                                        </p:tgtEl>
                                        <p:attrNameLst>
                                          <p:attrName>style.visibility</p:attrName>
                                        </p:attrNameLst>
                                      </p:cBhvr>
                                      <p:to>
                                        <p:strVal val="visible"/>
                                      </p:to>
                                    </p:set>
                                  </p:childTnLst>
                                </p:cTn>
                              </p:par>
                              <p:par>
                                <p:cTn id="149" presetID="10" presetClass="entr" presetSubtype="0" fill="hold" grpId="0" nodeType="with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500"/>
                                        <p:tgtEl>
                                          <p:spTgt spid="39"/>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00"/>
                                        <p:tgtEl>
                                          <p:spTgt spid="40"/>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500"/>
                                        <p:tgtEl>
                                          <p:spTgt spid="4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500"/>
                                        <p:tgtEl>
                                          <p:spTgt spid="4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500"/>
                                        <p:tgtEl>
                                          <p:spTgt spid="43"/>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500"/>
                                        <p:tgtEl>
                                          <p:spTgt spid="44"/>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500"/>
                                        <p:tgtEl>
                                          <p:spTgt spid="45"/>
                                        </p:tgtEl>
                                      </p:cBhvr>
                                    </p:animEffect>
                                  </p:childTnLst>
                                </p:cTn>
                              </p:par>
                            </p:childTnLst>
                          </p:cTn>
                        </p:par>
                        <p:par>
                          <p:cTn id="170" fill="hold">
                            <p:stCondLst>
                              <p:cond delay="0"/>
                            </p:stCondLst>
                            <p:childTnLst>
                              <p:par>
                                <p:cTn id="171" presetID="10" presetClass="entr" presetSubtype="0" fill="hold" grpId="0" nodeType="afterEffect">
                                  <p:stCondLst>
                                    <p:cond delay="0"/>
                                  </p:stCondLst>
                                  <p:childTnLst>
                                    <p:set>
                                      <p:cBhvr>
                                        <p:cTn id="172" dur="1" fill="hold">
                                          <p:stCondLst>
                                            <p:cond delay="0"/>
                                          </p:stCondLst>
                                        </p:cTn>
                                        <p:tgtEl>
                                          <p:spTgt spid="47"/>
                                        </p:tgtEl>
                                        <p:attrNameLst>
                                          <p:attrName>style.visibility</p:attrName>
                                        </p:attrNameLst>
                                      </p:cBhvr>
                                      <p:to>
                                        <p:strVal val="visible"/>
                                      </p:to>
                                    </p:set>
                                    <p:animEffect transition="in" filter="fade">
                                      <p:cBhvr>
                                        <p:cTn id="17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p:bldP spid="30" grpId="0"/>
      <p:bldP spid="31" grpId="0"/>
      <p:bldP spid="32" grpId="0"/>
      <p:bldP spid="33" grpId="0"/>
      <p:bldP spid="35" grpId="0"/>
      <p:bldP spid="36" grpId="0"/>
      <p:bldP spid="37" grpId="0"/>
      <p:bldP spid="39" grpId="0" animBg="1"/>
      <p:bldP spid="40" grpId="0" animBg="1"/>
      <p:bldP spid="41" grpId="0" animBg="1"/>
      <p:bldP spid="42" grpId="0" animBg="1"/>
      <p:bldP spid="43" grpId="0" animBg="1"/>
      <p:bldP spid="44" grpId="0" animBg="1"/>
      <p:bldP spid="45" grpId="0" animBg="1"/>
      <p:bldP spid="4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风险型决策分析 </a:t>
            </a:r>
            <a:r>
              <a:rPr lang="en-US" altLang="zh-CN" dirty="0"/>
              <a:t>– </a:t>
            </a:r>
            <a:r>
              <a:rPr lang="zh-CN" altLang="en-US" dirty="0"/>
              <a:t>效用与收益期望</a:t>
            </a:r>
            <a:endParaRPr lang="zh-CN" altLang="en-US" dirty="0"/>
          </a:p>
        </p:txBody>
      </p:sp>
      <p:sp>
        <p:nvSpPr>
          <p:cNvPr id="3" name="内容占位符 2"/>
          <p:cNvSpPr>
            <a:spLocks noGrp="1"/>
          </p:cNvSpPr>
          <p:nvPr>
            <p:ph idx="1"/>
          </p:nvPr>
        </p:nvSpPr>
        <p:spPr/>
        <p:txBody>
          <a:bodyPr/>
          <a:lstStyle/>
          <a:p>
            <a:r>
              <a:rPr lang="zh-CN" altLang="en-US" dirty="0"/>
              <a:t>基于直线方程</a:t>
            </a:r>
            <a:r>
              <a:rPr lang="en-US" altLang="zh-CN" dirty="0"/>
              <a:t>y=5x/100+5</a:t>
            </a:r>
            <a:r>
              <a:rPr lang="zh-CN" altLang="en-US" dirty="0"/>
              <a:t>的效用函数所产生的决策结果与基于效用值的决策是一致的</a:t>
            </a:r>
            <a:endParaRPr lang="zh-CN" altLang="en-US" dirty="0"/>
          </a:p>
        </p:txBody>
      </p:sp>
      <p:graphicFrame>
        <p:nvGraphicFramePr>
          <p:cNvPr id="4" name="Group 96"/>
          <p:cNvGraphicFramePr>
            <a:graphicFrameLocks noGrp="1"/>
          </p:cNvGraphicFramePr>
          <p:nvPr/>
        </p:nvGraphicFramePr>
        <p:xfrm>
          <a:off x="1951831" y="3308349"/>
          <a:ext cx="8288337" cy="2868614"/>
        </p:xfrm>
        <a:graphic>
          <a:graphicData uri="http://schemas.openxmlformats.org/drawingml/2006/table">
            <a:tbl>
              <a:tblPr/>
              <a:tblGrid>
                <a:gridCol w="2141537"/>
                <a:gridCol w="1393825"/>
                <a:gridCol w="1436688"/>
                <a:gridCol w="1658937"/>
                <a:gridCol w="1657350"/>
              </a:tblGrid>
              <a:tr h="920750">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             </a:t>
                      </a: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自然状态</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行动方案</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需求量大</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(P=0.3)</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需求量大</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2</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(P=0.5)</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需求量大</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3</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 (P=0.2)</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E[U(S</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i</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r>
              <a:tr h="649288">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做项目</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8</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7</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0</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5.9(max)</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r>
              <a:tr h="649288">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做项目</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B)</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10</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3</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2</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4.9</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r>
              <a:tr h="649288">
                <a:tc>
                  <a:txBody>
                    <a:body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3</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r>
                        <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不做项目</a:t>
                      </a: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5</a:t>
                      </a:r>
                      <a:endPar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5</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5</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5</a:t>
                      </a:r>
                      <a:endPar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638175"/>
          </a:xfrm>
        </p:spPr>
        <p:txBody>
          <a:bodyPr>
            <a:normAutofit fontScale="90000"/>
          </a:bodyPr>
          <a:lstStyle/>
          <a:p>
            <a:r>
              <a:rPr lang="zh-CN" altLang="en-US" dirty="0"/>
              <a:t>课堂练习</a:t>
            </a:r>
            <a:endParaRPr lang="zh-CN" altLang="en-US" dirty="0"/>
          </a:p>
        </p:txBody>
      </p:sp>
      <p:sp>
        <p:nvSpPr>
          <p:cNvPr id="3" name="内容占位符 2"/>
          <p:cNvSpPr>
            <a:spLocks noGrp="1"/>
          </p:cNvSpPr>
          <p:nvPr>
            <p:ph idx="1"/>
          </p:nvPr>
        </p:nvSpPr>
        <p:spPr>
          <a:xfrm>
            <a:off x="615950" y="1321435"/>
            <a:ext cx="11135360" cy="5282565"/>
          </a:xfrm>
        </p:spPr>
        <p:txBody>
          <a:bodyPr>
            <a:normAutofit/>
          </a:bodyPr>
          <a:lstStyle/>
          <a:p>
            <a:pPr marL="0" indent="0">
              <a:buNone/>
            </a:pPr>
            <a:r>
              <a:rPr lang="zh-CN" altLang="en-US"/>
              <a:t>某核电厂正在考虑试现在还是明年扩大生产规模问题，单位（</a:t>
            </a:r>
            <a:r>
              <a:rPr lang="zh-CN" altLang="en-US"/>
              <a:t>亿元）。</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对于核电厂来说，获得</a:t>
            </a:r>
            <a:r>
              <a:rPr lang="en-US" altLang="zh-CN"/>
              <a:t>10</a:t>
            </a:r>
            <a:r>
              <a:rPr lang="zh-CN" altLang="en-US"/>
              <a:t>亿元的效用值为</a:t>
            </a:r>
            <a:r>
              <a:rPr lang="en-US" altLang="zh-CN"/>
              <a:t>10</a:t>
            </a:r>
            <a:r>
              <a:rPr lang="zh-CN" altLang="en-US"/>
              <a:t>，损失</a:t>
            </a:r>
            <a:r>
              <a:rPr lang="en-US" altLang="zh-CN"/>
              <a:t>1</a:t>
            </a:r>
            <a:r>
              <a:rPr lang="zh-CN" altLang="en-US"/>
              <a:t>亿元的效用值为</a:t>
            </a:r>
            <a:r>
              <a:rPr lang="en-US" altLang="zh-CN"/>
              <a:t>0</a:t>
            </a:r>
            <a:r>
              <a:rPr lang="zh-CN" altLang="en-US"/>
              <a:t>，对核电厂进行了询问，结果</a:t>
            </a:r>
            <a:r>
              <a:rPr lang="zh-CN" altLang="en-US"/>
              <a:t>如下：</a:t>
            </a:r>
            <a:endParaRPr lang="zh-CN" altLang="en-US"/>
          </a:p>
          <a:p>
            <a:pPr marL="0" indent="0">
              <a:buNone/>
            </a:pPr>
            <a:r>
              <a:rPr lang="en-US" altLang="zh-CN" sz="2220"/>
              <a:t>“</a:t>
            </a:r>
            <a:r>
              <a:rPr lang="zh-CN" altLang="en-US" sz="2220"/>
              <a:t>以</a:t>
            </a:r>
            <a:r>
              <a:rPr lang="en-US" altLang="zh-CN" sz="2220"/>
              <a:t>90%</a:t>
            </a:r>
            <a:r>
              <a:rPr lang="zh-CN" altLang="en-US" sz="2220"/>
              <a:t>的概率获得</a:t>
            </a:r>
            <a:r>
              <a:rPr lang="en-US" altLang="zh-CN" sz="2220"/>
              <a:t>10</a:t>
            </a:r>
            <a:r>
              <a:rPr lang="zh-CN" altLang="en-US" sz="2220"/>
              <a:t>亿元和以</a:t>
            </a:r>
            <a:r>
              <a:rPr lang="en-US" altLang="zh-CN" sz="2220"/>
              <a:t>10%</a:t>
            </a:r>
            <a:r>
              <a:rPr lang="zh-CN" altLang="en-US" sz="2220"/>
              <a:t>的概率损失</a:t>
            </a:r>
            <a:r>
              <a:rPr lang="en-US" altLang="zh-CN" sz="2220"/>
              <a:t>1</a:t>
            </a:r>
            <a:r>
              <a:rPr lang="zh-CN" altLang="en-US" sz="2220"/>
              <a:t>亿元</a:t>
            </a:r>
            <a:r>
              <a:rPr lang="en-US" altLang="zh-CN" sz="2220"/>
              <a:t>”</a:t>
            </a:r>
            <a:r>
              <a:rPr lang="zh-CN" altLang="en-US" sz="2220"/>
              <a:t>和</a:t>
            </a:r>
            <a:r>
              <a:rPr lang="en-US" altLang="zh-CN" sz="2220"/>
              <a:t>“</a:t>
            </a:r>
            <a:r>
              <a:rPr lang="zh-CN" altLang="en-US" sz="2220"/>
              <a:t>稳赚</a:t>
            </a:r>
            <a:r>
              <a:rPr lang="en-US" altLang="zh-CN" sz="2220"/>
              <a:t>8</a:t>
            </a:r>
            <a:r>
              <a:rPr lang="zh-CN" altLang="en-US" sz="2220"/>
              <a:t>亿元</a:t>
            </a:r>
            <a:r>
              <a:rPr lang="en-US" altLang="zh-CN" sz="2220"/>
              <a:t>”</a:t>
            </a:r>
            <a:r>
              <a:rPr lang="zh-CN" altLang="en-US" sz="2220"/>
              <a:t>是相当的。</a:t>
            </a:r>
            <a:endParaRPr lang="zh-CN" altLang="en-US" sz="2220"/>
          </a:p>
          <a:p>
            <a:pPr marL="0" indent="0">
              <a:buNone/>
            </a:pPr>
            <a:r>
              <a:rPr lang="en-US" altLang="zh-CN" sz="2220">
                <a:sym typeface="+mn-ea"/>
              </a:rPr>
              <a:t>“</a:t>
            </a:r>
            <a:r>
              <a:rPr lang="zh-CN" altLang="en-US" sz="2220">
                <a:sym typeface="+mn-ea"/>
              </a:rPr>
              <a:t>以</a:t>
            </a:r>
            <a:r>
              <a:rPr lang="en-US" altLang="zh-CN" sz="2220">
                <a:sym typeface="+mn-ea"/>
              </a:rPr>
              <a:t>80%</a:t>
            </a:r>
            <a:r>
              <a:rPr lang="zh-CN" altLang="en-US" sz="2220">
                <a:sym typeface="+mn-ea"/>
              </a:rPr>
              <a:t>的概率获得</a:t>
            </a:r>
            <a:r>
              <a:rPr lang="en-US" altLang="zh-CN" sz="2220">
                <a:sym typeface="+mn-ea"/>
              </a:rPr>
              <a:t>10</a:t>
            </a:r>
            <a:r>
              <a:rPr lang="zh-CN" altLang="en-US" sz="2220">
                <a:sym typeface="+mn-ea"/>
              </a:rPr>
              <a:t>亿元和以</a:t>
            </a:r>
            <a:r>
              <a:rPr lang="en-US" altLang="zh-CN" sz="2220">
                <a:sym typeface="+mn-ea"/>
              </a:rPr>
              <a:t>20%</a:t>
            </a:r>
            <a:r>
              <a:rPr lang="zh-CN" altLang="en-US" sz="2220">
                <a:sym typeface="+mn-ea"/>
              </a:rPr>
              <a:t>的概率损失</a:t>
            </a:r>
            <a:r>
              <a:rPr lang="en-US" altLang="zh-CN" sz="2220">
                <a:sym typeface="+mn-ea"/>
              </a:rPr>
              <a:t>1</a:t>
            </a:r>
            <a:r>
              <a:rPr lang="zh-CN" altLang="en-US" sz="2220">
                <a:sym typeface="+mn-ea"/>
              </a:rPr>
              <a:t>亿元</a:t>
            </a:r>
            <a:r>
              <a:rPr lang="en-US" altLang="zh-CN" sz="2220">
                <a:sym typeface="+mn-ea"/>
              </a:rPr>
              <a:t>”</a:t>
            </a:r>
            <a:r>
              <a:rPr lang="zh-CN" altLang="en-US" sz="2220">
                <a:sym typeface="+mn-ea"/>
              </a:rPr>
              <a:t>和</a:t>
            </a:r>
            <a:r>
              <a:rPr lang="en-US" altLang="zh-CN" sz="2220">
                <a:sym typeface="+mn-ea"/>
              </a:rPr>
              <a:t>“</a:t>
            </a:r>
            <a:r>
              <a:rPr lang="zh-CN" altLang="en-US" sz="2220">
                <a:sym typeface="+mn-ea"/>
              </a:rPr>
              <a:t>稳赚</a:t>
            </a:r>
            <a:r>
              <a:rPr lang="en-US" altLang="zh-CN" sz="2220">
                <a:sym typeface="+mn-ea"/>
              </a:rPr>
              <a:t>6</a:t>
            </a:r>
            <a:r>
              <a:rPr lang="zh-CN" altLang="en-US" sz="2220">
                <a:sym typeface="+mn-ea"/>
              </a:rPr>
              <a:t>亿元</a:t>
            </a:r>
            <a:r>
              <a:rPr lang="en-US" altLang="zh-CN" sz="2220">
                <a:sym typeface="+mn-ea"/>
              </a:rPr>
              <a:t>”</a:t>
            </a:r>
            <a:r>
              <a:rPr lang="zh-CN" altLang="en-US" sz="2220">
                <a:sym typeface="+mn-ea"/>
              </a:rPr>
              <a:t>是相当的。</a:t>
            </a:r>
            <a:endParaRPr lang="zh-CN" altLang="en-US" sz="2220"/>
          </a:p>
          <a:p>
            <a:pPr marL="0" indent="0">
              <a:buNone/>
            </a:pPr>
            <a:r>
              <a:rPr lang="en-US" altLang="zh-CN" sz="2220">
                <a:sym typeface="+mn-ea"/>
              </a:rPr>
              <a:t>“</a:t>
            </a:r>
            <a:r>
              <a:rPr lang="zh-CN" altLang="en-US" sz="2220">
                <a:sym typeface="+mn-ea"/>
              </a:rPr>
              <a:t>以</a:t>
            </a:r>
            <a:r>
              <a:rPr lang="en-US" altLang="zh-CN" sz="2220">
                <a:sym typeface="+mn-ea"/>
              </a:rPr>
              <a:t>25%</a:t>
            </a:r>
            <a:r>
              <a:rPr lang="zh-CN" altLang="en-US" sz="2220">
                <a:sym typeface="+mn-ea"/>
              </a:rPr>
              <a:t>的概率获得</a:t>
            </a:r>
            <a:r>
              <a:rPr lang="en-US" altLang="zh-CN" sz="2220">
                <a:sym typeface="+mn-ea"/>
              </a:rPr>
              <a:t>10</a:t>
            </a:r>
            <a:r>
              <a:rPr lang="zh-CN" altLang="en-US" sz="2220">
                <a:sym typeface="+mn-ea"/>
              </a:rPr>
              <a:t>亿元和以</a:t>
            </a:r>
            <a:r>
              <a:rPr lang="en-US" altLang="zh-CN" sz="2220">
                <a:sym typeface="+mn-ea"/>
              </a:rPr>
              <a:t>75%</a:t>
            </a:r>
            <a:r>
              <a:rPr lang="zh-CN" altLang="en-US" sz="2220">
                <a:sym typeface="+mn-ea"/>
              </a:rPr>
              <a:t>的概率损失</a:t>
            </a:r>
            <a:r>
              <a:rPr lang="en-US" altLang="zh-CN" sz="2220">
                <a:sym typeface="+mn-ea"/>
              </a:rPr>
              <a:t>1</a:t>
            </a:r>
            <a:r>
              <a:rPr lang="zh-CN" altLang="en-US" sz="2220">
                <a:sym typeface="+mn-ea"/>
              </a:rPr>
              <a:t>亿元</a:t>
            </a:r>
            <a:r>
              <a:rPr lang="en-US" altLang="zh-CN" sz="2220">
                <a:sym typeface="+mn-ea"/>
              </a:rPr>
              <a:t>”</a:t>
            </a:r>
            <a:r>
              <a:rPr lang="zh-CN" altLang="en-US" sz="2220">
                <a:sym typeface="+mn-ea"/>
              </a:rPr>
              <a:t>和</a:t>
            </a:r>
            <a:r>
              <a:rPr lang="en-US" altLang="zh-CN" sz="2220">
                <a:sym typeface="+mn-ea"/>
              </a:rPr>
              <a:t>“</a:t>
            </a:r>
            <a:r>
              <a:rPr lang="zh-CN" altLang="en-US" sz="2220">
                <a:sym typeface="+mn-ea"/>
              </a:rPr>
              <a:t>稳赚</a:t>
            </a:r>
            <a:r>
              <a:rPr lang="en-US" altLang="zh-CN" sz="2220">
                <a:sym typeface="+mn-ea"/>
              </a:rPr>
              <a:t>1</a:t>
            </a:r>
            <a:r>
              <a:rPr lang="zh-CN" altLang="en-US" sz="2220">
                <a:sym typeface="+mn-ea"/>
              </a:rPr>
              <a:t>亿元</a:t>
            </a:r>
            <a:r>
              <a:rPr lang="en-US" altLang="zh-CN" sz="2220">
                <a:sym typeface="+mn-ea"/>
              </a:rPr>
              <a:t>”</a:t>
            </a:r>
            <a:r>
              <a:rPr lang="zh-CN" altLang="en-US" sz="2220">
                <a:sym typeface="+mn-ea"/>
              </a:rPr>
              <a:t>是相当的。</a:t>
            </a:r>
            <a:endParaRPr lang="zh-CN" altLang="en-US" sz="2220"/>
          </a:p>
          <a:p>
            <a:pPr marL="0" indent="0">
              <a:buNone/>
            </a:pPr>
            <a:r>
              <a:rPr lang="zh-CN" altLang="en-US" sz="2220"/>
              <a:t>分别根据</a:t>
            </a:r>
            <a:r>
              <a:rPr lang="zh-CN" altLang="en-US" sz="2220">
                <a:solidFill>
                  <a:srgbClr val="FF0000"/>
                </a:solidFill>
              </a:rPr>
              <a:t>实际盈利</a:t>
            </a:r>
            <a:r>
              <a:rPr lang="zh-CN" altLang="en-US" sz="2220"/>
              <a:t>和</a:t>
            </a:r>
            <a:r>
              <a:rPr lang="zh-CN" altLang="en-US" sz="2220">
                <a:solidFill>
                  <a:srgbClr val="FF0000"/>
                </a:solidFill>
              </a:rPr>
              <a:t>效用值按期望值法</a:t>
            </a:r>
            <a:r>
              <a:rPr lang="zh-CN" altLang="en-US" sz="2220"/>
              <a:t>确定</a:t>
            </a:r>
            <a:r>
              <a:rPr lang="zh-CN" altLang="en-US" sz="2220"/>
              <a:t>方案。</a:t>
            </a:r>
            <a:endParaRPr lang="zh-CN" altLang="en-US" sz="2220"/>
          </a:p>
        </p:txBody>
      </p:sp>
      <p:graphicFrame>
        <p:nvGraphicFramePr>
          <p:cNvPr id="5" name="Group 96"/>
          <p:cNvGraphicFramePr>
            <a:graphicFrameLocks noGrp="1"/>
          </p:cNvGraphicFramePr>
          <p:nvPr>
            <p:custDataLst>
              <p:tags r:id="rId1"/>
            </p:custDataLst>
          </p:nvPr>
        </p:nvGraphicFramePr>
        <p:xfrm>
          <a:off x="1247140" y="1779270"/>
          <a:ext cx="6630670" cy="1945005"/>
        </p:xfrm>
        <a:graphic>
          <a:graphicData uri="http://schemas.openxmlformats.org/drawingml/2006/table">
            <a:tbl>
              <a:tblPr/>
              <a:tblGrid>
                <a:gridCol w="2141220"/>
                <a:gridCol w="1403350"/>
                <a:gridCol w="1369060"/>
                <a:gridCol w="1717040"/>
              </a:tblGrid>
              <a:tr h="694690">
                <a:tc>
                  <a:txBody>
                    <a:bodyPr/>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             </a:t>
                      </a: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自然状态</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行动方案</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销路好</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(P=0.2)</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a:ln>
                            <a:noFill/>
                          </a:ln>
                          <a:effectLst/>
                          <a:latin typeface="Arial" panose="020B0604020202020204" pitchFamily="34" charset="0"/>
                          <a:ea typeface="仿宋" panose="02010609060101010101" pitchFamily="49" charset="-122"/>
                          <a:cs typeface="仿宋" panose="02010609060101010101" pitchFamily="49" charset="-122"/>
                          <a:sym typeface="+mn-ea"/>
                        </a:rPr>
                        <a:t>销路中</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2</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(P=0.5)</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1800" b="1">
                          <a:ln>
                            <a:noFill/>
                          </a:ln>
                          <a:effectLst/>
                          <a:latin typeface="Arial" panose="020B0604020202020204" pitchFamily="34" charset="0"/>
                          <a:ea typeface="仿宋" panose="02010609060101010101" pitchFamily="49" charset="-122"/>
                          <a:cs typeface="仿宋" panose="02010609060101010101" pitchFamily="49" charset="-122"/>
                          <a:sym typeface="+mn-ea"/>
                        </a:rPr>
                        <a:t>销路差</a:t>
                      </a:r>
                      <a:endParaRPr kumimoji="1" lang="zh-CN" altLang="en-US"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N</a:t>
                      </a:r>
                      <a:r>
                        <a:rPr kumimoji="1" lang="en-US" altLang="zh-CN" sz="1800" b="1" i="0" u="none" strike="noStrike" cap="none" normalizeH="0" baseline="-2500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3</a:t>
                      </a:r>
                      <a:r>
                        <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 (P=0.3)</a:t>
                      </a:r>
                      <a:endParaRPr kumimoji="1" lang="en-US" altLang="zh-CN" sz="18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9CDE5"/>
                    </a:solidFill>
                  </a:tcPr>
                </a:tc>
              </a:tr>
              <a:tr h="416560">
                <a:tc>
                  <a:txBody>
                    <a:bodyPr/>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1</a:t>
                      </a:r>
                      <a:r>
                        <a:rPr kumimoji="0" lang="zh-CN" altLang="en-US" sz="2000" b="0" i="0" u="none" strike="noStrike" cap="none" normalizeH="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现在扩大</a:t>
                      </a:r>
                      <a:endParaRPr kumimoji="0" lang="zh-CN" altLang="en-US" sz="2000" b="0" i="0" u="none" strike="noStrike" cap="none" normalizeH="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10</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8</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CE6F2"/>
                    </a:solidFill>
                  </a:tcPr>
                </a:tc>
              </a:tr>
              <a:tr h="417195">
                <a:tc>
                  <a:txBody>
                    <a:bodyPr/>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S</a:t>
                      </a:r>
                      <a:r>
                        <a:rPr kumimoji="0" lang="en-US" altLang="zh-CN" sz="2000" b="0" i="0" u="none" strike="noStrike" cap="none" normalizeH="0" baseline="-25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rPr>
                        <a:t>2</a:t>
                      </a:r>
                      <a:r>
                        <a:rPr lang="zh-CN" altLang="en-US" sz="200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sym typeface="+mn-ea"/>
                        </a:rPr>
                        <a:t>明年扩大</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cs typeface="仿宋" panose="02010609060101010101" pitchFamily="49" charset="-122"/>
                      </a:endParaRPr>
                    </a:p>
                  </a:txBody>
                  <a:tcPr marL="9525" marR="9525" marT="9525"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8</a:t>
                      </a:r>
                      <a:endParaRPr kumimoji="1" lang="en-US" altLang="zh-CN" sz="2000" b="1" i="0" u="none" strike="noStrike" cap="none" normalizeH="0" baseline="0" dirty="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6</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c>
                  <a:txBody>
                    <a:bodyPr/>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rPr>
                        <a:t>1</a:t>
                      </a:r>
                      <a:endParaRPr kumimoji="1"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cs typeface="仿宋"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CE6F2"/>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16722" r="16722" b="9445"/>
          <a:stretch>
            <a:fillRect/>
          </a:stretch>
        </p:blipFill>
        <p:spPr>
          <a:xfrm>
            <a:off x="0" y="647700"/>
            <a:ext cx="12192000" cy="6210300"/>
          </a:xfrm>
          <a:prstGeom prst="rect">
            <a:avLst/>
          </a:prstGeom>
        </p:spPr>
      </p:pic>
      <p:sp>
        <p:nvSpPr>
          <p:cNvPr id="6" name="矩形 5"/>
          <p:cNvSpPr/>
          <p:nvPr/>
        </p:nvSpPr>
        <p:spPr>
          <a:xfrm>
            <a:off x="0" y="0"/>
            <a:ext cx="12192000" cy="6858000"/>
          </a:xfrm>
          <a:prstGeom prst="rect">
            <a:avLst/>
          </a:prstGeom>
          <a:gradFill>
            <a:gsLst>
              <a:gs pos="10000">
                <a:schemeClr val="bg1"/>
              </a:gs>
              <a:gs pos="100000">
                <a:schemeClr val="bg1">
                  <a:alpha val="0"/>
                </a:schemeClr>
              </a:gs>
              <a:gs pos="48000">
                <a:schemeClr val="bg1">
                  <a:alpha val="50000"/>
                </a:schemeClr>
              </a:gs>
            </a:gsLst>
            <a:lin ang="5400000" scaled="1"/>
          </a:gra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grpSp>
        <p:nvGrpSpPr>
          <p:cNvPr id="7" name="组合 6"/>
          <p:cNvGrpSpPr/>
          <p:nvPr/>
        </p:nvGrpSpPr>
        <p:grpSpPr>
          <a:xfrm>
            <a:off x="2759783" y="1443985"/>
            <a:ext cx="6672434" cy="2278148"/>
            <a:chOff x="2759783" y="1278885"/>
            <a:chExt cx="6672434" cy="2278148"/>
          </a:xfrm>
        </p:grpSpPr>
        <p:grpSp>
          <p:nvGrpSpPr>
            <p:cNvPr id="3" name="组合 2"/>
            <p:cNvGrpSpPr/>
            <p:nvPr/>
          </p:nvGrpSpPr>
          <p:grpSpPr>
            <a:xfrm>
              <a:off x="2759783" y="1278885"/>
              <a:ext cx="6672434" cy="2278148"/>
              <a:chOff x="3233566" y="1418585"/>
              <a:chExt cx="6672434" cy="2278148"/>
            </a:xfrm>
          </p:grpSpPr>
          <p:sp>
            <p:nvSpPr>
              <p:cNvPr id="8" name="文本框 7"/>
              <p:cNvSpPr txBox="1"/>
              <p:nvPr/>
            </p:nvSpPr>
            <p:spPr>
              <a:xfrm>
                <a:off x="3233566" y="2332993"/>
                <a:ext cx="667243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层次分析法</a:t>
                </a:r>
                <a:endParaRPr kumimoji="0" lang="zh-CN" altLang="en-US" sz="6000" b="1" i="0" u="none" strike="noStrike" kern="1200" cap="none" spc="2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sp>
            <p:nvSpPr>
              <p:cNvPr id="9" name="文本框 8"/>
              <p:cNvSpPr txBox="1"/>
              <p:nvPr/>
            </p:nvSpPr>
            <p:spPr>
              <a:xfrm>
                <a:off x="3694999" y="3327401"/>
                <a:ext cx="5749567" cy="369332"/>
              </a:xfrm>
              <a:prstGeom prst="rect">
                <a:avLst/>
              </a:prstGeom>
              <a:noFill/>
            </p:spPr>
            <p:txBody>
              <a:bodyPr wrap="square" rtlCol="0">
                <a:spAutoFit/>
              </a:bodyPr>
              <a:lstStyle/>
              <a:p>
                <a:pPr lvl="0" algn="ctr">
                  <a:defRPr/>
                </a:pPr>
                <a:r>
                  <a:rPr lang="en-US" altLang="zh-CN" spc="300" dirty="0">
                    <a:solidFill>
                      <a:schemeClr val="tx1">
                        <a:lumMod val="75000"/>
                        <a:lumOff val="25000"/>
                      </a:schemeClr>
                    </a:solidFill>
                    <a:latin typeface="Segoe UI Light" panose="020B0502040204020203" pitchFamily="34" charset="0"/>
                    <a:ea typeface="思源黑体 CN Light" panose="020B0300000000000000" pitchFamily="34" charset="-122"/>
                    <a:cs typeface="Segoe UI Light" panose="020B0502040204020203" pitchFamily="34" charset="0"/>
                  </a:rPr>
                  <a:t>ENTER YOUR SUBTITLE</a:t>
                </a:r>
                <a:endParaRPr kumimoji="0" lang="zh-CN" altLang="en-US" sz="1800" b="0" i="0" u="none" strike="noStrike" kern="1200" cap="none" spc="300" normalizeH="0" baseline="0" noProof="0" dirty="0">
                  <a:ln>
                    <a:noFill/>
                  </a:ln>
                  <a:solidFill>
                    <a:schemeClr val="tx1">
                      <a:lumMod val="75000"/>
                      <a:lumOff val="25000"/>
                    </a:schemeClr>
                  </a:solidFill>
                  <a:effectLst/>
                  <a:uLnTx/>
                  <a:uFillTx/>
                  <a:latin typeface="Segoe UI Light" panose="020B0502040204020203" pitchFamily="34" charset="0"/>
                  <a:ea typeface="思源黑体 CN Light" panose="020B0300000000000000" pitchFamily="34" charset="-122"/>
                  <a:cs typeface="Segoe UI Light" panose="020B0502040204020203" pitchFamily="34" charset="0"/>
                </a:endParaRPr>
              </a:p>
            </p:txBody>
          </p:sp>
          <p:sp>
            <p:nvSpPr>
              <p:cNvPr id="10" name="文本框 9"/>
              <p:cNvSpPr txBox="1"/>
              <p:nvPr/>
            </p:nvSpPr>
            <p:spPr>
              <a:xfrm>
                <a:off x="5393018" y="1418585"/>
                <a:ext cx="235353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rPr>
                  <a:t>PART 04</a:t>
                </a:r>
                <a:endParaRPr kumimoji="0" lang="zh-CN" altLang="en-US" sz="3200" b="0" i="0" u="none" strike="noStrike" kern="1200" cap="none" spc="10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endParaRPr>
              </a:p>
            </p:txBody>
          </p:sp>
        </p:grpSp>
        <p:cxnSp>
          <p:nvCxnSpPr>
            <p:cNvPr id="4" name="直接连接符 3"/>
            <p:cNvCxnSpPr/>
            <p:nvPr/>
          </p:nvCxnSpPr>
          <p:spPr>
            <a:xfrm>
              <a:off x="5924550" y="2006600"/>
              <a:ext cx="3429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基本概念</a:t>
            </a:r>
            <a:endParaRPr lang="zh-CN" altLang="en-US" dirty="0"/>
          </a:p>
        </p:txBody>
      </p:sp>
      <p:sp>
        <p:nvSpPr>
          <p:cNvPr id="3" name="内容占位符 2"/>
          <p:cNvSpPr>
            <a:spLocks noGrp="1"/>
          </p:cNvSpPr>
          <p:nvPr>
            <p:ph idx="1"/>
          </p:nvPr>
        </p:nvSpPr>
        <p:spPr/>
        <p:txBody>
          <a:bodyPr/>
          <a:lstStyle/>
          <a:p>
            <a:r>
              <a:rPr lang="zh-CN" altLang="en-US" dirty="0"/>
              <a:t>层次分析法主要用于解决多目标决策分析</a:t>
            </a:r>
            <a:endParaRPr lang="en-US" altLang="zh-CN" dirty="0"/>
          </a:p>
          <a:p>
            <a:pPr lvl="1"/>
            <a:r>
              <a:rPr lang="zh-CN" altLang="en-US" dirty="0"/>
              <a:t>决策者根据经验判断各衡量目标能否实现的标准间的相对重要程度</a:t>
            </a:r>
            <a:endParaRPr lang="en-US" altLang="zh-CN" dirty="0"/>
          </a:p>
          <a:p>
            <a:pPr lvl="1"/>
            <a:r>
              <a:rPr lang="zh-CN" altLang="en-US" dirty="0"/>
              <a:t>合理地为每个决策方案的每个标准赋权</a:t>
            </a:r>
            <a:endParaRPr lang="en-US" altLang="zh-CN" dirty="0"/>
          </a:p>
          <a:p>
            <a:pPr lvl="1"/>
            <a:r>
              <a:rPr lang="zh-CN" altLang="en-US" dirty="0"/>
              <a:t>利用权数求出各方案的优劣次序</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问题提出</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假设客户要从</a:t>
            </a:r>
            <a:r>
              <a:rPr lang="en-US" altLang="zh-CN" dirty="0"/>
              <a:t>A</a:t>
            </a:r>
            <a:r>
              <a:rPr lang="zh-CN" altLang="en-US" dirty="0"/>
              <a:t>、</a:t>
            </a:r>
            <a:r>
              <a:rPr lang="en-US" altLang="zh-CN" dirty="0"/>
              <a:t>B</a:t>
            </a:r>
            <a:r>
              <a:rPr lang="zh-CN" altLang="en-US" dirty="0"/>
              <a:t>、</a:t>
            </a:r>
            <a:r>
              <a:rPr lang="en-US" altLang="zh-CN" dirty="0"/>
              <a:t>C</a:t>
            </a:r>
            <a:r>
              <a:rPr lang="zh-CN" altLang="en-US" dirty="0"/>
              <a:t>三套候选房子中选购一套，问题是如何在这三套房子里选出一套较为满意的房子？客户从房地产公司得到三套房子的相关资料包括以下数据和资料：</a:t>
            </a:r>
            <a:endParaRPr lang="en-US" altLang="zh-CN" dirty="0"/>
          </a:p>
          <a:p>
            <a:pPr marL="914400" lvl="1" indent="-457200">
              <a:buFont typeface="+mj-lt"/>
              <a:buAutoNum type="arabicPeriod"/>
            </a:pPr>
            <a:r>
              <a:rPr lang="zh-CN" altLang="en-US" dirty="0"/>
              <a:t>住房的地理位置</a:t>
            </a:r>
            <a:endParaRPr lang="en-US" altLang="zh-CN" dirty="0"/>
          </a:p>
          <a:p>
            <a:pPr marL="914400" lvl="1" indent="-457200">
              <a:buFont typeface="+mj-lt"/>
              <a:buAutoNum type="arabicPeriod"/>
            </a:pPr>
            <a:r>
              <a:rPr lang="zh-CN" altLang="en-US" dirty="0"/>
              <a:t>住房的交通情况</a:t>
            </a:r>
            <a:endParaRPr lang="en-US" altLang="zh-CN" dirty="0"/>
          </a:p>
          <a:p>
            <a:pPr marL="914400" lvl="1" indent="-457200">
              <a:buFont typeface="+mj-lt"/>
              <a:buAutoNum type="arabicPeriod"/>
            </a:pPr>
            <a:r>
              <a:rPr lang="zh-CN" altLang="en-US" dirty="0"/>
              <a:t>住房附近的商业、卫生、教育资源情况</a:t>
            </a:r>
            <a:endParaRPr lang="en-US" altLang="zh-CN" dirty="0"/>
          </a:p>
          <a:p>
            <a:pPr marL="914400" lvl="1" indent="-457200">
              <a:buFont typeface="+mj-lt"/>
              <a:buAutoNum type="arabicPeriod"/>
            </a:pPr>
            <a:r>
              <a:rPr lang="zh-CN" altLang="en-US" dirty="0"/>
              <a:t>住房小区的绿化、清洁、安静等自然环境</a:t>
            </a:r>
            <a:endParaRPr lang="en-US" altLang="zh-CN" dirty="0"/>
          </a:p>
          <a:p>
            <a:pPr marL="914400" lvl="1" indent="-457200">
              <a:buFont typeface="+mj-lt"/>
              <a:buAutoNum type="arabicPeriod"/>
            </a:pPr>
            <a:r>
              <a:rPr lang="zh-CN" altLang="en-US" dirty="0"/>
              <a:t>建筑结构</a:t>
            </a:r>
            <a:endParaRPr lang="en-US" altLang="zh-CN" dirty="0"/>
          </a:p>
          <a:p>
            <a:pPr marL="914400" lvl="1" indent="-457200">
              <a:buFont typeface="+mj-lt"/>
              <a:buAutoNum type="arabicPeriod"/>
            </a:pPr>
            <a:r>
              <a:rPr lang="zh-CN" altLang="en-US" dirty="0"/>
              <a:t>建筑材料</a:t>
            </a:r>
            <a:endParaRPr lang="en-US" altLang="zh-CN" dirty="0"/>
          </a:p>
          <a:p>
            <a:pPr marL="914400" lvl="1" indent="-457200">
              <a:buFont typeface="+mj-lt"/>
              <a:buAutoNum type="arabicPeriod"/>
            </a:pPr>
            <a:r>
              <a:rPr lang="zh-CN" altLang="en-US" dirty="0"/>
              <a:t>房子布局</a:t>
            </a:r>
            <a:endParaRPr lang="en-US" altLang="zh-CN" dirty="0"/>
          </a:p>
          <a:p>
            <a:pPr marL="914400" lvl="1" indent="-457200">
              <a:buFont typeface="+mj-lt"/>
              <a:buAutoNum type="arabicPeriod"/>
            </a:pPr>
            <a:r>
              <a:rPr lang="zh-CN" altLang="en-US" dirty="0"/>
              <a:t>房子设备</a:t>
            </a:r>
            <a:endParaRPr lang="en-US" altLang="zh-CN" dirty="0"/>
          </a:p>
          <a:p>
            <a:pPr marL="914400" lvl="1" indent="-457200">
              <a:buFont typeface="+mj-lt"/>
              <a:buAutoNum type="arabicPeriod"/>
            </a:pPr>
            <a:r>
              <a:rPr lang="zh-CN" altLang="en-US" dirty="0"/>
              <a:t>房子面积</a:t>
            </a:r>
            <a:endParaRPr lang="en-US" altLang="zh-CN" dirty="0"/>
          </a:p>
          <a:p>
            <a:pPr marL="914400" lvl="1" indent="-457200">
              <a:buFont typeface="+mj-lt"/>
              <a:buAutoNum type="arabicPeriod"/>
            </a:pPr>
            <a:r>
              <a:rPr lang="zh-CN" altLang="en-US" dirty="0"/>
              <a:t>房子单价</a:t>
            </a:r>
            <a:endParaRPr lang="zh-CN" altLang="en-US" dirty="0"/>
          </a:p>
        </p:txBody>
      </p:sp>
      <p:sp>
        <p:nvSpPr>
          <p:cNvPr id="4" name="右大括号 3"/>
          <p:cNvSpPr/>
          <p:nvPr/>
        </p:nvSpPr>
        <p:spPr>
          <a:xfrm>
            <a:off x="6954473" y="2718033"/>
            <a:ext cx="50334" cy="5452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7097086" y="2806009"/>
            <a:ext cx="2944536" cy="369332"/>
          </a:xfrm>
          <a:prstGeom prst="rect">
            <a:avLst/>
          </a:prstGeom>
          <a:noFill/>
        </p:spPr>
        <p:txBody>
          <a:bodyPr wrap="square" rtlCol="0">
            <a:spAutoFit/>
          </a:bodyPr>
          <a:lstStyle/>
          <a:p>
            <a:r>
              <a:rPr lang="zh-CN" altLang="en-US" dirty="0"/>
              <a:t>地理位置与交通</a:t>
            </a:r>
            <a:endParaRPr lang="zh-CN" altLang="en-US" dirty="0"/>
          </a:p>
        </p:txBody>
      </p:sp>
      <p:sp>
        <p:nvSpPr>
          <p:cNvPr id="6" name="右大括号 5"/>
          <p:cNvSpPr/>
          <p:nvPr/>
        </p:nvSpPr>
        <p:spPr>
          <a:xfrm>
            <a:off x="7097086" y="3341024"/>
            <a:ext cx="50334" cy="5452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7239699" y="3429000"/>
            <a:ext cx="2944536" cy="369332"/>
          </a:xfrm>
          <a:prstGeom prst="rect">
            <a:avLst/>
          </a:prstGeom>
          <a:noFill/>
        </p:spPr>
        <p:txBody>
          <a:bodyPr wrap="square" rtlCol="0">
            <a:spAutoFit/>
          </a:bodyPr>
          <a:lstStyle/>
          <a:p>
            <a:r>
              <a:rPr lang="zh-CN" altLang="en-US" dirty="0"/>
              <a:t>居住环境</a:t>
            </a:r>
            <a:endParaRPr lang="zh-CN" altLang="en-US" dirty="0"/>
          </a:p>
        </p:txBody>
      </p:sp>
      <p:sp>
        <p:nvSpPr>
          <p:cNvPr id="8" name="右大括号 7"/>
          <p:cNvSpPr/>
          <p:nvPr/>
        </p:nvSpPr>
        <p:spPr>
          <a:xfrm>
            <a:off x="6954473" y="3938285"/>
            <a:ext cx="45719" cy="12377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7122253" y="4372480"/>
            <a:ext cx="2634143" cy="369332"/>
          </a:xfrm>
          <a:prstGeom prst="rect">
            <a:avLst/>
          </a:prstGeom>
          <a:noFill/>
        </p:spPr>
        <p:txBody>
          <a:bodyPr wrap="square" rtlCol="0">
            <a:spAutoFit/>
          </a:bodyPr>
          <a:lstStyle/>
          <a:p>
            <a:r>
              <a:rPr lang="zh-CN" altLang="en-US" dirty="0"/>
              <a:t>结构、布局与设施</a:t>
            </a:r>
            <a:endParaRPr lang="zh-CN" altLang="en-US" dirty="0"/>
          </a:p>
        </p:txBody>
      </p:sp>
      <p:sp>
        <p:nvSpPr>
          <p:cNvPr id="10" name="右大括号 9"/>
          <p:cNvSpPr/>
          <p:nvPr/>
        </p:nvSpPr>
        <p:spPr>
          <a:xfrm>
            <a:off x="6954473" y="5310944"/>
            <a:ext cx="45719" cy="32645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p:cNvSpPr txBox="1"/>
          <p:nvPr/>
        </p:nvSpPr>
        <p:spPr>
          <a:xfrm flipH="1">
            <a:off x="7142805" y="5303442"/>
            <a:ext cx="2697481" cy="369332"/>
          </a:xfrm>
          <a:prstGeom prst="rect">
            <a:avLst/>
          </a:prstGeom>
          <a:noFill/>
        </p:spPr>
        <p:txBody>
          <a:bodyPr wrap="square" rtlCol="0">
            <a:spAutoFit/>
          </a:bodyPr>
          <a:lstStyle/>
          <a:p>
            <a:r>
              <a:rPr lang="zh-CN" altLang="en-US" dirty="0"/>
              <a:t>单价</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层次结构图</a:t>
            </a:r>
            <a:endParaRPr lang="zh-CN" altLang="en-US" dirty="0"/>
          </a:p>
        </p:txBody>
      </p:sp>
      <p:sp>
        <p:nvSpPr>
          <p:cNvPr id="4" name="矩形 3"/>
          <p:cNvSpPr/>
          <p:nvPr/>
        </p:nvSpPr>
        <p:spPr>
          <a:xfrm>
            <a:off x="4504888" y="1853967"/>
            <a:ext cx="2684477" cy="3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满意的房子</a:t>
            </a:r>
            <a:endParaRPr lang="zh-CN" altLang="en-US" dirty="0"/>
          </a:p>
        </p:txBody>
      </p:sp>
      <p:sp>
        <p:nvSpPr>
          <p:cNvPr id="9" name="矩形 8"/>
          <p:cNvSpPr/>
          <p:nvPr/>
        </p:nvSpPr>
        <p:spPr>
          <a:xfrm>
            <a:off x="3334623" y="2642529"/>
            <a:ext cx="436228" cy="2172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地理位置及交通情况</a:t>
            </a:r>
            <a:endParaRPr lang="zh-CN" altLang="en-US" sz="1400" dirty="0"/>
          </a:p>
        </p:txBody>
      </p:sp>
      <p:sp>
        <p:nvSpPr>
          <p:cNvPr id="10" name="矩形 9"/>
          <p:cNvSpPr/>
          <p:nvPr/>
        </p:nvSpPr>
        <p:spPr>
          <a:xfrm>
            <a:off x="4820873" y="2642532"/>
            <a:ext cx="436228" cy="2172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居住环境</a:t>
            </a:r>
            <a:endParaRPr lang="zh-CN" altLang="en-US" dirty="0"/>
          </a:p>
        </p:txBody>
      </p:sp>
      <p:sp>
        <p:nvSpPr>
          <p:cNvPr id="11" name="矩形 10"/>
          <p:cNvSpPr/>
          <p:nvPr/>
        </p:nvSpPr>
        <p:spPr>
          <a:xfrm>
            <a:off x="6307123" y="2642530"/>
            <a:ext cx="436228" cy="2172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结构</a:t>
            </a:r>
            <a:endParaRPr lang="en-US" altLang="zh-CN" sz="1600" dirty="0"/>
          </a:p>
          <a:p>
            <a:pPr algn="ctr"/>
            <a:r>
              <a:rPr lang="zh-CN" altLang="en-US" sz="1600" dirty="0"/>
              <a:t>、布局</a:t>
            </a:r>
            <a:endParaRPr lang="en-US" altLang="zh-CN" sz="1600" dirty="0"/>
          </a:p>
          <a:p>
            <a:pPr algn="ctr"/>
            <a:r>
              <a:rPr lang="zh-CN" altLang="en-US" sz="1600" dirty="0"/>
              <a:t>、设施</a:t>
            </a:r>
            <a:endParaRPr lang="zh-CN" altLang="en-US" sz="1600" dirty="0"/>
          </a:p>
        </p:txBody>
      </p:sp>
      <p:sp>
        <p:nvSpPr>
          <p:cNvPr id="12" name="矩形 11"/>
          <p:cNvSpPr/>
          <p:nvPr/>
        </p:nvSpPr>
        <p:spPr>
          <a:xfrm>
            <a:off x="7793373" y="2642529"/>
            <a:ext cx="436228" cy="21727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每平方米单价</a:t>
            </a:r>
            <a:endParaRPr lang="zh-CN" altLang="en-US" dirty="0"/>
          </a:p>
        </p:txBody>
      </p:sp>
      <p:sp>
        <p:nvSpPr>
          <p:cNvPr id="13" name="矩形 12"/>
          <p:cNvSpPr/>
          <p:nvPr/>
        </p:nvSpPr>
        <p:spPr>
          <a:xfrm>
            <a:off x="3674378" y="5645791"/>
            <a:ext cx="1146495" cy="3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购买房子</a:t>
            </a:r>
            <a:r>
              <a:rPr lang="en-US" altLang="zh-CN" sz="1600" dirty="0"/>
              <a:t>A</a:t>
            </a:r>
            <a:endParaRPr lang="zh-CN" altLang="en-US" sz="1600" dirty="0"/>
          </a:p>
        </p:txBody>
      </p:sp>
      <p:sp>
        <p:nvSpPr>
          <p:cNvPr id="14" name="矩形 13"/>
          <p:cNvSpPr/>
          <p:nvPr/>
        </p:nvSpPr>
        <p:spPr>
          <a:xfrm>
            <a:off x="5273878" y="5645791"/>
            <a:ext cx="1146495" cy="3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购买房子</a:t>
            </a:r>
            <a:r>
              <a:rPr lang="en-US" altLang="zh-CN" sz="1600" dirty="0"/>
              <a:t>B</a:t>
            </a:r>
            <a:endParaRPr lang="zh-CN" altLang="en-US" sz="1600" dirty="0"/>
          </a:p>
        </p:txBody>
      </p:sp>
      <p:sp>
        <p:nvSpPr>
          <p:cNvPr id="15" name="矩形 14"/>
          <p:cNvSpPr/>
          <p:nvPr/>
        </p:nvSpPr>
        <p:spPr>
          <a:xfrm>
            <a:off x="6864992" y="5645791"/>
            <a:ext cx="1146495" cy="3858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购买房子</a:t>
            </a:r>
            <a:r>
              <a:rPr lang="en-US" altLang="zh-CN" sz="1600" dirty="0"/>
              <a:t>C</a:t>
            </a:r>
            <a:endParaRPr lang="zh-CN" altLang="en-US" sz="1600" dirty="0"/>
          </a:p>
        </p:txBody>
      </p:sp>
      <p:cxnSp>
        <p:nvCxnSpPr>
          <p:cNvPr id="17" name="连接符: 肘形 16"/>
          <p:cNvCxnSpPr>
            <a:stCxn id="4" idx="2"/>
            <a:endCxn id="9" idx="0"/>
          </p:cNvCxnSpPr>
          <p:nvPr/>
        </p:nvCxnSpPr>
        <p:spPr>
          <a:xfrm rot="5400000">
            <a:off x="4498598" y="1294000"/>
            <a:ext cx="402668" cy="229439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0" name="连接符: 肘形 19"/>
          <p:cNvCxnSpPr>
            <a:stCxn id="4" idx="2"/>
            <a:endCxn id="10" idx="0"/>
          </p:cNvCxnSpPr>
          <p:nvPr/>
        </p:nvCxnSpPr>
        <p:spPr>
          <a:xfrm rot="5400000">
            <a:off x="5241722" y="2037126"/>
            <a:ext cx="402671" cy="80814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4" name="连接符: 肘形 23"/>
          <p:cNvCxnSpPr>
            <a:stCxn id="4" idx="2"/>
            <a:endCxn id="11" idx="0"/>
          </p:cNvCxnSpPr>
          <p:nvPr/>
        </p:nvCxnSpPr>
        <p:spPr>
          <a:xfrm rot="16200000" flipH="1">
            <a:off x="5984848" y="2102140"/>
            <a:ext cx="402669" cy="67811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6" name="连接符: 肘形 25"/>
          <p:cNvCxnSpPr>
            <a:stCxn id="4" idx="2"/>
            <a:endCxn id="12" idx="0"/>
          </p:cNvCxnSpPr>
          <p:nvPr/>
        </p:nvCxnSpPr>
        <p:spPr>
          <a:xfrm rot="16200000" flipH="1">
            <a:off x="6727973" y="1359015"/>
            <a:ext cx="402668" cy="216436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0" name="连接符: 肘形 29"/>
          <p:cNvCxnSpPr>
            <a:stCxn id="9" idx="2"/>
            <a:endCxn id="13" idx="0"/>
          </p:cNvCxnSpPr>
          <p:nvPr/>
        </p:nvCxnSpPr>
        <p:spPr>
          <a:xfrm rot="16200000" flipH="1">
            <a:off x="3484925" y="4883089"/>
            <a:ext cx="830513" cy="69488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4" name="连接符: 肘形 33"/>
          <p:cNvCxnSpPr>
            <a:stCxn id="13" idx="0"/>
            <a:endCxn id="10" idx="2"/>
          </p:cNvCxnSpPr>
          <p:nvPr/>
        </p:nvCxnSpPr>
        <p:spPr>
          <a:xfrm rot="5400000" flipH="1" flipV="1">
            <a:off x="4228051" y="4834856"/>
            <a:ext cx="830510" cy="79136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5" name="连接符: 肘形 34"/>
          <p:cNvCxnSpPr>
            <a:stCxn id="13" idx="0"/>
            <a:endCxn id="11" idx="2"/>
          </p:cNvCxnSpPr>
          <p:nvPr/>
        </p:nvCxnSpPr>
        <p:spPr>
          <a:xfrm rot="5400000" flipH="1" flipV="1">
            <a:off x="4971175" y="4091730"/>
            <a:ext cx="830512" cy="227761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 name="连接符: 肘形 37"/>
          <p:cNvCxnSpPr>
            <a:stCxn id="13" idx="0"/>
            <a:endCxn id="12" idx="2"/>
          </p:cNvCxnSpPr>
          <p:nvPr/>
        </p:nvCxnSpPr>
        <p:spPr>
          <a:xfrm rot="5400000" flipH="1" flipV="1">
            <a:off x="5714300" y="3348605"/>
            <a:ext cx="830513" cy="376386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14" idx="0"/>
          </p:cNvCxnSpPr>
          <p:nvPr/>
        </p:nvCxnSpPr>
        <p:spPr>
          <a:xfrm flipH="1" flipV="1">
            <a:off x="5847125" y="5230533"/>
            <a:ext cx="1" cy="415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15" idx="0"/>
          </p:cNvCxnSpPr>
          <p:nvPr/>
        </p:nvCxnSpPr>
        <p:spPr>
          <a:xfrm flipH="1" flipV="1">
            <a:off x="7438239" y="5230533"/>
            <a:ext cx="1" cy="415258"/>
          </a:xfrm>
          <a:prstGeom prst="line">
            <a:avLst/>
          </a:prstGeom>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2734811" y="1853967"/>
            <a:ext cx="1512814" cy="369332"/>
          </a:xfrm>
          <a:prstGeom prst="rect">
            <a:avLst/>
          </a:prstGeom>
          <a:noFill/>
        </p:spPr>
        <p:txBody>
          <a:bodyPr wrap="square" rtlCol="0">
            <a:spAutoFit/>
          </a:bodyPr>
          <a:lstStyle/>
          <a:p>
            <a:r>
              <a:rPr lang="zh-CN" altLang="en-US" dirty="0"/>
              <a:t>目标层</a:t>
            </a:r>
            <a:endParaRPr lang="zh-CN" altLang="en-US" dirty="0"/>
          </a:p>
        </p:txBody>
      </p:sp>
      <p:sp>
        <p:nvSpPr>
          <p:cNvPr id="46" name="文本框 45"/>
          <p:cNvSpPr txBox="1"/>
          <p:nvPr/>
        </p:nvSpPr>
        <p:spPr>
          <a:xfrm>
            <a:off x="1591811" y="3544237"/>
            <a:ext cx="1512814" cy="369332"/>
          </a:xfrm>
          <a:prstGeom prst="rect">
            <a:avLst/>
          </a:prstGeom>
          <a:noFill/>
        </p:spPr>
        <p:txBody>
          <a:bodyPr wrap="square" rtlCol="0">
            <a:spAutoFit/>
          </a:bodyPr>
          <a:lstStyle/>
          <a:p>
            <a:r>
              <a:rPr lang="zh-CN" altLang="en-US" dirty="0"/>
              <a:t>标准层</a:t>
            </a:r>
            <a:endParaRPr lang="zh-CN" altLang="en-US" dirty="0"/>
          </a:p>
        </p:txBody>
      </p:sp>
      <p:sp>
        <p:nvSpPr>
          <p:cNvPr id="47" name="文本框 46"/>
          <p:cNvSpPr txBox="1"/>
          <p:nvPr/>
        </p:nvSpPr>
        <p:spPr>
          <a:xfrm>
            <a:off x="2239861" y="5716984"/>
            <a:ext cx="1512814" cy="369332"/>
          </a:xfrm>
          <a:prstGeom prst="rect">
            <a:avLst/>
          </a:prstGeom>
          <a:noFill/>
        </p:spPr>
        <p:txBody>
          <a:bodyPr wrap="square" rtlCol="0">
            <a:spAutoFit/>
          </a:bodyPr>
          <a:lstStyle/>
          <a:p>
            <a:r>
              <a:rPr lang="zh-CN" altLang="en-US" dirty="0"/>
              <a:t>决策方案层</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相对重要性标度</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在讨论各标准层的衡量方法前，我们需要首先明确相对重要性标度</a:t>
                </a:r>
                <a:r>
                  <a:rPr lang="en-US" altLang="zh-CN" dirty="0"/>
                  <a:t>(</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oMath>
                </a14:m>
                <a:r>
                  <a:rPr lang="en-US" altLang="zh-CN" dirty="0"/>
                  <a:t>)</a:t>
                </a:r>
                <a:r>
                  <a:rPr lang="zh-CN" altLang="en-US" dirty="0"/>
                  <a:t>：</a:t>
                </a:r>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2032000" y="2732714"/>
              <a:ext cx="8128000" cy="3559302"/>
            </p:xfrm>
            <a:graphic>
              <a:graphicData uri="http://schemas.openxmlformats.org/drawingml/2006/table">
                <a:tbl>
                  <a:tblPr firstRow="1" bandRow="1">
                    <a:tableStyleId>{5C22544A-7EE6-4342-B048-85BDC9FD1C3A}</a:tableStyleId>
                  </a:tblPr>
                  <a:tblGrid>
                    <a:gridCol w="4064000"/>
                    <a:gridCol w="4064000"/>
                  </a:tblGrid>
                  <a:tr h="370840">
                    <a:tc>
                      <a:txBody>
                        <a:bodyPr/>
                        <a:lstStyle/>
                        <a:p>
                          <a:pPr algn="ctr"/>
                          <a:r>
                            <a:rPr lang="zh-CN" altLang="en-US" dirty="0"/>
                            <a:t>标度</a:t>
                          </a:r>
                          <a14:m>
                            <m:oMath xmlns:m="http://schemas.openxmlformats.org/officeDocument/2006/math">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𝒊𝒋</m:t>
                                  </m:r>
                                </m:sub>
                              </m:sSub>
                            </m:oMath>
                          </a14:m>
                          <a:endParaRPr lang="zh-CN" altLang="en-US" dirty="0"/>
                        </a:p>
                      </a:txBody>
                      <a:tcPr/>
                    </a:tc>
                    <a:tc>
                      <a:txBody>
                        <a:bodyPr/>
                        <a:lstStyle/>
                        <a:p>
                          <a:pPr algn="ctr"/>
                          <a:r>
                            <a:rPr lang="zh-CN" altLang="en-US" dirty="0"/>
                            <a:t>定义</a:t>
                          </a:r>
                          <a:endParaRPr lang="zh-CN" altLang="en-US" dirty="0"/>
                        </a:p>
                      </a:txBody>
                      <a:tcPr/>
                    </a:tc>
                  </a:tr>
                  <a:tr h="370840">
                    <a:tc>
                      <a:txBody>
                        <a:bodyPr/>
                        <a:lstStyle/>
                        <a:p>
                          <a:pPr algn="ctr"/>
                          <a:r>
                            <a:rPr lang="en-US" altLang="zh-CN" dirty="0"/>
                            <a:t>1</a:t>
                          </a:r>
                          <a:endParaRPr lang="zh-CN" altLang="en-US" dirty="0"/>
                        </a:p>
                      </a:txBody>
                      <a:tcPr/>
                    </a:tc>
                    <a:tc>
                      <a:txBody>
                        <a:bodyPr/>
                        <a:lstStyle/>
                        <a:p>
                          <a:pPr algn="ctr"/>
                          <a:r>
                            <a:rPr lang="en-US" altLang="zh-CN" dirty="0" err="1"/>
                            <a:t>i</a:t>
                          </a:r>
                          <a:r>
                            <a:rPr lang="zh-CN" altLang="en-US" dirty="0"/>
                            <a:t>因素与</a:t>
                          </a:r>
                          <a:r>
                            <a:rPr lang="en-US" altLang="zh-CN" dirty="0"/>
                            <a:t>j</a:t>
                          </a:r>
                          <a:r>
                            <a:rPr lang="zh-CN" altLang="en-US" dirty="0"/>
                            <a:t>因素相同重要</a:t>
                          </a:r>
                          <a:endParaRPr lang="zh-CN" altLang="en-US" dirty="0"/>
                        </a:p>
                      </a:txBody>
                      <a:tcPr/>
                    </a:tc>
                  </a:tr>
                  <a:tr h="370840">
                    <a:tc>
                      <a:txBody>
                        <a:bodyPr/>
                        <a:lstStyle/>
                        <a:p>
                          <a:pPr algn="ctr"/>
                          <a:r>
                            <a:rPr lang="en-US" altLang="zh-CN" dirty="0"/>
                            <a:t>3</a:t>
                          </a:r>
                          <a:endParaRPr lang="zh-CN" altLang="en-US" dirty="0"/>
                        </a:p>
                      </a:txBody>
                      <a:tcPr/>
                    </a:tc>
                    <a:tc>
                      <a:txBody>
                        <a:bodyPr/>
                        <a:lstStyle/>
                        <a:p>
                          <a:pPr algn="ctr"/>
                          <a:r>
                            <a:rPr lang="en-US" altLang="zh-CN" dirty="0" err="1"/>
                            <a:t>i</a:t>
                          </a:r>
                          <a:r>
                            <a:rPr lang="zh-CN" altLang="en-US" dirty="0"/>
                            <a:t>因素比</a:t>
                          </a:r>
                          <a:r>
                            <a:rPr lang="en-US" altLang="zh-CN" dirty="0"/>
                            <a:t>j</a:t>
                          </a:r>
                          <a:r>
                            <a:rPr lang="zh-CN" altLang="en-US" dirty="0"/>
                            <a:t>因素略重要</a:t>
                          </a:r>
                          <a:endParaRPr lang="zh-CN" altLang="en-US" dirty="0"/>
                        </a:p>
                      </a:txBody>
                      <a:tcPr/>
                    </a:tc>
                  </a:tr>
                  <a:tr h="370840">
                    <a:tc>
                      <a:txBody>
                        <a:bodyPr/>
                        <a:lstStyle/>
                        <a:p>
                          <a:pPr algn="ctr"/>
                          <a:r>
                            <a:rPr lang="en-US" altLang="zh-CN" dirty="0"/>
                            <a:t>5</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因素较重要</a:t>
                          </a:r>
                          <a:endParaRPr lang="zh-CN" altLang="en-US" dirty="0"/>
                        </a:p>
                      </a:txBody>
                      <a:tcPr/>
                    </a:tc>
                  </a:tr>
                  <a:tr h="370840">
                    <a:tc>
                      <a:txBody>
                        <a:bodyPr/>
                        <a:lstStyle/>
                        <a:p>
                          <a:pPr algn="ctr"/>
                          <a:r>
                            <a:rPr lang="en-US" altLang="zh-CN" dirty="0"/>
                            <a:t>7</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因素非常重要</a:t>
                          </a:r>
                          <a:endParaRPr lang="zh-CN" altLang="en-US" dirty="0"/>
                        </a:p>
                      </a:txBody>
                      <a:tcPr/>
                    </a:tc>
                  </a:tr>
                  <a:tr h="370840">
                    <a:tc>
                      <a:txBody>
                        <a:bodyPr/>
                        <a:lstStyle/>
                        <a:p>
                          <a:pPr algn="ctr"/>
                          <a:r>
                            <a:rPr lang="en-US" altLang="zh-CN" dirty="0"/>
                            <a:t>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因素绝对重要</a:t>
                          </a:r>
                          <a:endParaRPr lang="zh-CN" altLang="en-US" dirty="0"/>
                        </a:p>
                      </a:txBody>
                      <a:tcPr/>
                    </a:tc>
                  </a:tr>
                  <a:tr h="370840">
                    <a:tc>
                      <a:txBody>
                        <a:bodyPr/>
                        <a:lstStyle/>
                        <a:p>
                          <a:pPr algn="ctr"/>
                          <a:r>
                            <a:rPr lang="en-US" altLang="zh-CN" dirty="0"/>
                            <a:t>2</a:t>
                          </a:r>
                          <a:r>
                            <a:rPr lang="zh-CN" altLang="en-US" dirty="0"/>
                            <a:t>、</a:t>
                          </a:r>
                          <a:r>
                            <a:rPr lang="en-US" altLang="zh-CN" dirty="0"/>
                            <a:t>4</a:t>
                          </a:r>
                          <a:r>
                            <a:rPr lang="zh-CN" altLang="en-US" dirty="0"/>
                            <a:t>、</a:t>
                          </a:r>
                          <a:r>
                            <a:rPr lang="en-US" altLang="zh-CN" dirty="0"/>
                            <a:t>6</a:t>
                          </a:r>
                          <a:r>
                            <a:rPr lang="zh-CN" altLang="en-US" dirty="0"/>
                            <a:t>、</a:t>
                          </a:r>
                          <a:r>
                            <a:rPr lang="en-US" altLang="zh-CN" dirty="0"/>
                            <a:t>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为以上两判断之间的中间状态对应的标度</a:t>
                          </a:r>
                          <a:endParaRPr lang="zh-CN" altLang="en-US" dirty="0"/>
                        </a:p>
                      </a:txBody>
                      <a:tcPr/>
                    </a:tc>
                  </a:tr>
                  <a:tr h="370840">
                    <a:tc>
                      <a:txBody>
                        <a:bodyPr/>
                        <a:lstStyle/>
                        <a:p>
                          <a:pPr algn="ctr"/>
                          <a:r>
                            <a:rPr lang="zh-CN" altLang="en-US" dirty="0"/>
                            <a:t>倒数</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若</a:t>
                          </a:r>
                          <a:r>
                            <a:rPr lang="en-US" altLang="zh-CN" dirty="0"/>
                            <a:t>j</a:t>
                          </a:r>
                          <a:r>
                            <a:rPr lang="zh-CN" altLang="en-US" dirty="0"/>
                            <a:t>因素与</a:t>
                          </a:r>
                          <a:r>
                            <a:rPr lang="en-US" altLang="zh-CN" dirty="0" err="1"/>
                            <a:t>i</a:t>
                          </a:r>
                          <a:r>
                            <a:rPr lang="zh-CN" altLang="en-US" dirty="0"/>
                            <a:t>因素比较，得到的判断值为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𝑗𝑖</m:t>
                                  </m:r>
                                </m:sub>
                              </m:sSub>
                              <m:r>
                                <a:rPr lang="en-US" altLang="zh-CN" b="0" i="1" smtClean="0">
                                  <a:latin typeface="Cambria Math" panose="02040503050406030204" pitchFamily="18" charset="0"/>
                                </a:rPr>
                                <m:t>=</m:t>
                              </m:r>
                              <m:f>
                                <m:fPr>
                                  <m:type m:val="skw"/>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den>
                              </m:f>
                            </m:oMath>
                          </a14:m>
                          <a:endParaRPr lang="zh-CN" altLang="en-US" dirty="0"/>
                        </a:p>
                      </a:txBody>
                      <a:tcPr/>
                    </a:tc>
                  </a:tr>
                </a:tbl>
              </a:graphicData>
            </a:graphic>
          </p:graphicFrame>
        </mc:Choice>
        <mc:Fallback xmlns="">
          <p:graphicFrame>
            <p:nvGraphicFramePr>
              <p:cNvPr id="4" name="表格 3"/>
              <p:cNvGraphicFramePr>
                <a:graphicFrameLocks noGrp="1"/>
              </p:cNvGraphicFramePr>
              <p:nvPr/>
            </p:nvGraphicFramePr>
            <p:xfrm>
              <a:off x="2032000" y="2732714"/>
              <a:ext cx="8128000" cy="3559302"/>
            </p:xfrm>
            <a:graphic>
              <a:graphicData uri="http://schemas.openxmlformats.org/drawingml/2006/table">
                <a:tbl>
                  <a:tblPr firstRow="1" bandRow="1">
                    <a:tableStyleId>{5C22544A-7EE6-4342-B048-85BDC9FD1C3A}</a:tableStyleId>
                  </a:tblPr>
                  <a:tblGrid>
                    <a:gridCol w="4064000"/>
                    <a:gridCol w="4064000"/>
                  </a:tblGrid>
                  <a:tr h="402590">
                    <a:tc>
                      <a:txBody>
                        <a:bodyPr/>
                        <a:lstStyle/>
                        <a:p>
                          <a:endParaRPr lang="zh-CN"/>
                        </a:p>
                      </a:txBody>
                      <a:tcPr>
                        <a:blipFill>
                          <a:blip r:embed="rId2"/>
                        </a:blipFill>
                      </a:tcPr>
                    </a:tc>
                    <a:tc>
                      <a:txBody>
                        <a:bodyPr/>
                        <a:lstStyle/>
                        <a:p>
                          <a:pPr algn="ctr"/>
                          <a:r>
                            <a:rPr lang="zh-CN" altLang="en-US" dirty="0"/>
                            <a:t>定义</a:t>
                          </a:r>
                          <a:endParaRPr lang="zh-CN" altLang="en-US" dirty="0"/>
                        </a:p>
                      </a:txBody>
                      <a:tcPr/>
                    </a:tc>
                  </a:tr>
                  <a:tr h="370840">
                    <a:tc>
                      <a:txBody>
                        <a:bodyPr/>
                        <a:lstStyle/>
                        <a:p>
                          <a:pPr algn="ctr"/>
                          <a:r>
                            <a:rPr lang="en-US" altLang="zh-CN" dirty="0"/>
                            <a:t>1</a:t>
                          </a:r>
                          <a:endParaRPr lang="zh-CN" altLang="en-US" dirty="0"/>
                        </a:p>
                      </a:txBody>
                      <a:tcPr/>
                    </a:tc>
                    <a:tc>
                      <a:txBody>
                        <a:bodyPr/>
                        <a:lstStyle/>
                        <a:p>
                          <a:pPr algn="ctr"/>
                          <a:r>
                            <a:rPr lang="en-US" altLang="zh-CN" dirty="0" err="1"/>
                            <a:t>i</a:t>
                          </a:r>
                          <a:r>
                            <a:rPr lang="zh-CN" altLang="en-US" dirty="0"/>
                            <a:t>因素与</a:t>
                          </a:r>
                          <a:r>
                            <a:rPr lang="en-US" altLang="zh-CN" dirty="0"/>
                            <a:t>j</a:t>
                          </a:r>
                          <a:r>
                            <a:rPr lang="zh-CN" altLang="en-US" dirty="0"/>
                            <a:t>因素相同重要</a:t>
                          </a:r>
                          <a:endParaRPr lang="zh-CN" altLang="en-US" dirty="0"/>
                        </a:p>
                      </a:txBody>
                      <a:tcPr/>
                    </a:tc>
                  </a:tr>
                  <a:tr h="370840">
                    <a:tc>
                      <a:txBody>
                        <a:bodyPr/>
                        <a:lstStyle/>
                        <a:p>
                          <a:pPr algn="ctr"/>
                          <a:r>
                            <a:rPr lang="en-US" altLang="zh-CN" dirty="0"/>
                            <a:t>3</a:t>
                          </a:r>
                          <a:endParaRPr lang="zh-CN" altLang="en-US" dirty="0"/>
                        </a:p>
                      </a:txBody>
                      <a:tcPr/>
                    </a:tc>
                    <a:tc>
                      <a:txBody>
                        <a:bodyPr/>
                        <a:lstStyle/>
                        <a:p>
                          <a:pPr algn="ctr"/>
                          <a:r>
                            <a:rPr lang="en-US" altLang="zh-CN" dirty="0" err="1"/>
                            <a:t>i</a:t>
                          </a:r>
                          <a:r>
                            <a:rPr lang="zh-CN" altLang="en-US" dirty="0"/>
                            <a:t>因素比</a:t>
                          </a:r>
                          <a:r>
                            <a:rPr lang="en-US" altLang="zh-CN" dirty="0"/>
                            <a:t>j</a:t>
                          </a:r>
                          <a:r>
                            <a:rPr lang="zh-CN" altLang="en-US" dirty="0"/>
                            <a:t>因素略重要</a:t>
                          </a:r>
                          <a:endParaRPr lang="zh-CN" altLang="en-US" dirty="0"/>
                        </a:p>
                      </a:txBody>
                      <a:tcPr/>
                    </a:tc>
                  </a:tr>
                  <a:tr h="370840">
                    <a:tc>
                      <a:txBody>
                        <a:bodyPr/>
                        <a:lstStyle/>
                        <a:p>
                          <a:pPr algn="ctr"/>
                          <a:r>
                            <a:rPr lang="en-US" altLang="zh-CN" dirty="0"/>
                            <a:t>5</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因素较重要</a:t>
                          </a:r>
                          <a:endParaRPr lang="zh-CN" altLang="en-US" dirty="0"/>
                        </a:p>
                      </a:txBody>
                      <a:tcPr/>
                    </a:tc>
                  </a:tr>
                  <a:tr h="370840">
                    <a:tc>
                      <a:txBody>
                        <a:bodyPr/>
                        <a:lstStyle/>
                        <a:p>
                          <a:pPr algn="ctr"/>
                          <a:r>
                            <a:rPr lang="en-US" altLang="zh-CN" dirty="0"/>
                            <a:t>7</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因素非常重要</a:t>
                          </a:r>
                          <a:endParaRPr lang="zh-CN" altLang="en-US" dirty="0"/>
                        </a:p>
                      </a:txBody>
                      <a:tcPr/>
                    </a:tc>
                  </a:tr>
                  <a:tr h="370840">
                    <a:tc>
                      <a:txBody>
                        <a:bodyPr/>
                        <a:lstStyle/>
                        <a:p>
                          <a:pPr algn="ctr"/>
                          <a:r>
                            <a:rPr lang="en-US" altLang="zh-CN" dirty="0"/>
                            <a:t>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dirty="0" err="1"/>
                            <a:t>i</a:t>
                          </a:r>
                          <a:r>
                            <a:rPr lang="zh-CN" altLang="en-US" dirty="0"/>
                            <a:t>因素比</a:t>
                          </a:r>
                          <a:r>
                            <a:rPr lang="en-US" altLang="zh-CN" dirty="0"/>
                            <a:t>j</a:t>
                          </a:r>
                          <a:r>
                            <a:rPr lang="zh-CN" altLang="en-US" dirty="0"/>
                            <a:t>因素绝对重要</a:t>
                          </a:r>
                          <a:endParaRPr lang="zh-CN" altLang="en-US" dirty="0"/>
                        </a:p>
                      </a:txBody>
                      <a:tcPr/>
                    </a:tc>
                  </a:tr>
                  <a:tr h="370840">
                    <a:tc>
                      <a:txBody>
                        <a:bodyPr/>
                        <a:lstStyle/>
                        <a:p>
                          <a:pPr algn="ctr"/>
                          <a:r>
                            <a:rPr lang="en-US" altLang="zh-CN" dirty="0"/>
                            <a:t>2</a:t>
                          </a:r>
                          <a:r>
                            <a:rPr lang="zh-CN" altLang="en-US" dirty="0"/>
                            <a:t>、</a:t>
                          </a:r>
                          <a:r>
                            <a:rPr lang="en-US" altLang="zh-CN" dirty="0"/>
                            <a:t>4</a:t>
                          </a:r>
                          <a:r>
                            <a:rPr lang="zh-CN" altLang="en-US" dirty="0"/>
                            <a:t>、</a:t>
                          </a:r>
                          <a:r>
                            <a:rPr lang="en-US" altLang="zh-CN" dirty="0"/>
                            <a:t>6</a:t>
                          </a:r>
                          <a:r>
                            <a:rPr lang="zh-CN" altLang="en-US" dirty="0"/>
                            <a:t>、</a:t>
                          </a:r>
                          <a:r>
                            <a:rPr lang="en-US" altLang="zh-CN" dirty="0"/>
                            <a:t>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为以上两判断之间的中间状态对应的标度</a:t>
                          </a:r>
                          <a:endParaRPr lang="zh-CN" altLang="en-US" dirty="0"/>
                        </a:p>
                      </a:txBody>
                      <a:tcPr/>
                    </a:tc>
                  </a:tr>
                  <a:tr h="749935">
                    <a:tc>
                      <a:txBody>
                        <a:bodyPr/>
                        <a:lstStyle/>
                        <a:p>
                          <a:pPr algn="ctr"/>
                          <a:r>
                            <a:rPr lang="zh-CN" altLang="en-US" dirty="0"/>
                            <a:t>倒数</a:t>
                          </a:r>
                          <a:endParaRPr lang="zh-CN" altLang="en-US" dirty="0"/>
                        </a:p>
                      </a:txBody>
                      <a:tcPr/>
                    </a:tc>
                    <a:tc>
                      <a:txBody>
                        <a:bodyPr/>
                        <a:lstStyle/>
                        <a:p>
                          <a:endParaRPr lang="zh-CN"/>
                        </a:p>
                      </a:txBody>
                      <a:tcPr>
                        <a:blipFill>
                          <a:blip r:embed="rId2"/>
                        </a:blipFill>
                      </a:tcPr>
                    </a:tc>
                  </a:tr>
                </a:tbl>
              </a:graphicData>
            </a:graphic>
          </p:graphicFrame>
        </mc:Fallback>
      </mc:AlternateContent>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两两比较矩阵</a:t>
            </a:r>
            <a:endParaRPr lang="zh-CN" altLang="en-US" dirty="0"/>
          </a:p>
        </p:txBody>
      </p:sp>
      <p:graphicFrame>
        <p:nvGraphicFramePr>
          <p:cNvPr id="4" name="表格 3"/>
          <p:cNvGraphicFramePr>
            <a:graphicFrameLocks noGrp="1"/>
          </p:cNvGraphicFramePr>
          <p:nvPr/>
        </p:nvGraphicFramePr>
        <p:xfrm>
          <a:off x="2032000" y="2501900"/>
          <a:ext cx="8128000" cy="18542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rowSpan="2">
                  <a:txBody>
                    <a:bodyPr/>
                    <a:lstStyle/>
                    <a:p>
                      <a:endParaRPr lang="zh-CN" altLang="en-US" dirty="0"/>
                    </a:p>
                  </a:txBody>
                  <a:tcPr/>
                </a:tc>
                <a:tc gridSpan="3">
                  <a:txBody>
                    <a:bodyPr/>
                    <a:lstStyle/>
                    <a:p>
                      <a:pPr algn="ctr"/>
                      <a:r>
                        <a:rPr lang="zh-CN" altLang="en-US" dirty="0"/>
                        <a:t>地理位置及交通情况</a:t>
                      </a:r>
                      <a:endParaRPr lang="zh-CN" altLang="en-US" dirty="0"/>
                    </a:p>
                  </a:txBody>
                  <a:tcPr/>
                </a:tc>
                <a:tc hMerge="1">
                  <a:tcPr/>
                </a:tc>
                <a:tc hMerge="1">
                  <a:tcPr/>
                </a:tc>
              </a:tr>
              <a:tr h="370840">
                <a:tc vMerge="1">
                  <a:tcPr/>
                </a:tc>
                <a:tc>
                  <a:txBody>
                    <a:bodyPr/>
                    <a:lstStyle/>
                    <a:p>
                      <a:pPr algn="ctr"/>
                      <a:r>
                        <a:rPr lang="zh-CN" altLang="en-US" dirty="0"/>
                        <a:t>房子</a:t>
                      </a:r>
                      <a:r>
                        <a:rPr lang="en-US" altLang="zh-CN" dirty="0"/>
                        <a:t>A</a:t>
                      </a:r>
                      <a:endParaRPr lang="zh-CN" altLang="en-US" dirty="0"/>
                    </a:p>
                  </a:txBody>
                  <a:tcPr/>
                </a:tc>
                <a:tc>
                  <a:txBody>
                    <a:bodyPr/>
                    <a:lstStyle/>
                    <a:p>
                      <a:pPr algn="ctr"/>
                      <a:r>
                        <a:rPr lang="zh-CN" altLang="en-US" dirty="0"/>
                        <a:t>房子</a:t>
                      </a:r>
                      <a:r>
                        <a:rPr lang="en-US" altLang="zh-CN" dirty="0"/>
                        <a:t>B</a:t>
                      </a:r>
                      <a:endParaRPr lang="zh-CN" altLang="en-US" dirty="0"/>
                    </a:p>
                  </a:txBody>
                  <a:tcPr/>
                </a:tc>
                <a:tc>
                  <a:txBody>
                    <a:bodyPr/>
                    <a:lstStyle/>
                    <a:p>
                      <a:pPr algn="ctr"/>
                      <a:r>
                        <a:rPr lang="zh-CN" altLang="en-US" dirty="0"/>
                        <a:t>房子</a:t>
                      </a:r>
                      <a:r>
                        <a:rPr lang="en-US" altLang="zh-CN" dirty="0"/>
                        <a:t>C</a:t>
                      </a:r>
                      <a:endParaRPr lang="zh-CN" altLang="en-US" dirty="0"/>
                    </a:p>
                  </a:txBody>
                  <a:tcPr/>
                </a:tc>
              </a:tr>
              <a:tr h="370840">
                <a:tc>
                  <a:txBody>
                    <a:bodyPr/>
                    <a:lstStyle/>
                    <a:p>
                      <a:pPr algn="ctr"/>
                      <a:r>
                        <a:rPr lang="zh-CN" altLang="en-US" dirty="0"/>
                        <a:t>房子</a:t>
                      </a:r>
                      <a:r>
                        <a:rPr lang="en-US" altLang="zh-CN" dirty="0"/>
                        <a:t>A</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8</a:t>
                      </a:r>
                      <a:endParaRPr lang="zh-CN" altLang="en-US" dirty="0"/>
                    </a:p>
                  </a:txBody>
                  <a:tcPr/>
                </a:tc>
              </a:tr>
              <a:tr h="370840">
                <a:tc>
                  <a:txBody>
                    <a:bodyPr/>
                    <a:lstStyle/>
                    <a:p>
                      <a:pPr algn="ctr"/>
                      <a:r>
                        <a:rPr lang="zh-CN" altLang="en-US" dirty="0"/>
                        <a:t>房子</a:t>
                      </a:r>
                      <a:r>
                        <a:rPr lang="en-US" altLang="zh-CN" dirty="0"/>
                        <a:t>B</a:t>
                      </a:r>
                      <a:endParaRPr lang="zh-CN" altLang="en-US" dirty="0"/>
                    </a:p>
                  </a:txBody>
                  <a:tcPr/>
                </a:tc>
                <a:tc>
                  <a:txBody>
                    <a:bodyPr/>
                    <a:lstStyle/>
                    <a:p>
                      <a:pPr algn="ctr"/>
                      <a:r>
                        <a:rPr lang="en-US" altLang="zh-CN" dirty="0"/>
                        <a:t>1/2</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6</a:t>
                      </a:r>
                      <a:endParaRPr lang="zh-CN" altLang="en-US" dirty="0"/>
                    </a:p>
                  </a:txBody>
                  <a:tcPr/>
                </a:tc>
              </a:tr>
              <a:tr h="370840">
                <a:tc>
                  <a:txBody>
                    <a:bodyPr/>
                    <a:lstStyle/>
                    <a:p>
                      <a:pPr algn="ctr"/>
                      <a:r>
                        <a:rPr lang="zh-CN" altLang="en-US" dirty="0"/>
                        <a:t>房子</a:t>
                      </a:r>
                      <a:r>
                        <a:rPr lang="en-US" altLang="zh-CN" dirty="0"/>
                        <a:t>C</a:t>
                      </a:r>
                      <a:endParaRPr lang="zh-CN" altLang="en-US" dirty="0"/>
                    </a:p>
                  </a:txBody>
                  <a:tcPr/>
                </a:tc>
                <a:tc>
                  <a:txBody>
                    <a:bodyPr/>
                    <a:lstStyle/>
                    <a:p>
                      <a:pPr algn="ctr"/>
                      <a:r>
                        <a:rPr lang="en-US" altLang="zh-CN" dirty="0"/>
                        <a:t>1/8</a:t>
                      </a:r>
                      <a:endParaRPr lang="zh-CN" altLang="en-US" dirty="0"/>
                    </a:p>
                  </a:txBody>
                  <a:tcPr/>
                </a:tc>
                <a:tc>
                  <a:txBody>
                    <a:bodyPr/>
                    <a:lstStyle/>
                    <a:p>
                      <a:pPr algn="ctr"/>
                      <a:r>
                        <a:rPr lang="en-US" altLang="zh-CN" dirty="0"/>
                        <a:t>1/6</a:t>
                      </a:r>
                      <a:endParaRPr lang="zh-CN" altLang="en-US" dirty="0"/>
                    </a:p>
                  </a:txBody>
                  <a:tcPr/>
                </a:tc>
                <a:tc>
                  <a:txBody>
                    <a:bodyPr/>
                    <a:lstStyle/>
                    <a:p>
                      <a:pPr algn="ctr"/>
                      <a:r>
                        <a:rPr lang="en-US" altLang="zh-CN" dirty="0"/>
                        <a:t>1</a:t>
                      </a:r>
                      <a:endParaRPr lang="zh-CN" altLang="en-US" dirty="0"/>
                    </a:p>
                  </a:txBody>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特征向量</a:t>
            </a:r>
            <a:endParaRPr lang="zh-CN" altLang="en-US" dirty="0"/>
          </a:p>
        </p:txBody>
      </p:sp>
      <p:graphicFrame>
        <p:nvGraphicFramePr>
          <p:cNvPr id="4" name="表格 3"/>
          <p:cNvGraphicFramePr>
            <a:graphicFrameLocks noGrp="1"/>
          </p:cNvGraphicFramePr>
          <p:nvPr/>
        </p:nvGraphicFramePr>
        <p:xfrm>
          <a:off x="2032000" y="2501900"/>
          <a:ext cx="8128000" cy="18542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rowSpan="2">
                  <a:txBody>
                    <a:bodyPr/>
                    <a:lstStyle/>
                    <a:p>
                      <a:endParaRPr lang="zh-CN" altLang="en-US" dirty="0"/>
                    </a:p>
                  </a:txBody>
                  <a:tcPr/>
                </a:tc>
                <a:tc gridSpan="3">
                  <a:txBody>
                    <a:bodyPr/>
                    <a:lstStyle/>
                    <a:p>
                      <a:pPr algn="ctr"/>
                      <a:r>
                        <a:rPr lang="zh-CN" altLang="en-US" dirty="0"/>
                        <a:t>地理位置及交通情况</a:t>
                      </a:r>
                      <a:endParaRPr lang="zh-CN" altLang="en-US" dirty="0"/>
                    </a:p>
                  </a:txBody>
                  <a:tcPr/>
                </a:tc>
                <a:tc hMerge="1">
                  <a:tcPr/>
                </a:tc>
                <a:tc hMerge="1">
                  <a:tcPr/>
                </a:tc>
              </a:tr>
              <a:tr h="370840">
                <a:tc vMerge="1">
                  <a:tcPr/>
                </a:tc>
                <a:tc>
                  <a:txBody>
                    <a:bodyPr/>
                    <a:lstStyle/>
                    <a:p>
                      <a:pPr algn="ctr"/>
                      <a:r>
                        <a:rPr lang="zh-CN" altLang="en-US" dirty="0"/>
                        <a:t>房子</a:t>
                      </a:r>
                      <a:r>
                        <a:rPr lang="en-US" altLang="zh-CN" dirty="0"/>
                        <a:t>A</a:t>
                      </a:r>
                      <a:endParaRPr lang="zh-CN" altLang="en-US" dirty="0"/>
                    </a:p>
                  </a:txBody>
                  <a:tcPr/>
                </a:tc>
                <a:tc>
                  <a:txBody>
                    <a:bodyPr/>
                    <a:lstStyle/>
                    <a:p>
                      <a:pPr algn="ctr"/>
                      <a:r>
                        <a:rPr lang="zh-CN" altLang="en-US" dirty="0"/>
                        <a:t>房子</a:t>
                      </a:r>
                      <a:r>
                        <a:rPr lang="en-US" altLang="zh-CN" dirty="0"/>
                        <a:t>B</a:t>
                      </a:r>
                      <a:endParaRPr lang="zh-CN" altLang="en-US" dirty="0"/>
                    </a:p>
                  </a:txBody>
                  <a:tcPr/>
                </a:tc>
                <a:tc>
                  <a:txBody>
                    <a:bodyPr/>
                    <a:lstStyle/>
                    <a:p>
                      <a:pPr algn="ctr"/>
                      <a:r>
                        <a:rPr lang="zh-CN" altLang="en-US" dirty="0"/>
                        <a:t>房子</a:t>
                      </a:r>
                      <a:r>
                        <a:rPr lang="en-US" altLang="zh-CN" dirty="0"/>
                        <a:t>C</a:t>
                      </a:r>
                      <a:endParaRPr lang="zh-CN" altLang="en-US" dirty="0"/>
                    </a:p>
                  </a:txBody>
                  <a:tcPr/>
                </a:tc>
              </a:tr>
              <a:tr h="370840">
                <a:tc>
                  <a:txBody>
                    <a:bodyPr/>
                    <a:lstStyle/>
                    <a:p>
                      <a:pPr algn="ctr"/>
                      <a:r>
                        <a:rPr lang="zh-CN" altLang="en-US" dirty="0"/>
                        <a:t>房子</a:t>
                      </a:r>
                      <a:r>
                        <a:rPr lang="en-US" altLang="zh-CN" dirty="0"/>
                        <a:t>A</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8</a:t>
                      </a:r>
                      <a:endParaRPr lang="zh-CN" altLang="en-US" dirty="0"/>
                    </a:p>
                  </a:txBody>
                  <a:tcPr/>
                </a:tc>
              </a:tr>
              <a:tr h="370840">
                <a:tc>
                  <a:txBody>
                    <a:bodyPr/>
                    <a:lstStyle/>
                    <a:p>
                      <a:pPr algn="ctr"/>
                      <a:r>
                        <a:rPr lang="zh-CN" altLang="en-US" dirty="0"/>
                        <a:t>房子</a:t>
                      </a:r>
                      <a:r>
                        <a:rPr lang="en-US" altLang="zh-CN" dirty="0"/>
                        <a:t>B</a:t>
                      </a:r>
                      <a:endParaRPr lang="zh-CN" altLang="en-US" dirty="0"/>
                    </a:p>
                  </a:txBody>
                  <a:tcPr/>
                </a:tc>
                <a:tc>
                  <a:txBody>
                    <a:bodyPr/>
                    <a:lstStyle/>
                    <a:p>
                      <a:pPr algn="ctr"/>
                      <a:r>
                        <a:rPr lang="en-US" altLang="zh-CN" dirty="0"/>
                        <a:t>1/2</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6</a:t>
                      </a:r>
                      <a:endParaRPr lang="zh-CN" altLang="en-US" dirty="0"/>
                    </a:p>
                  </a:txBody>
                  <a:tcPr/>
                </a:tc>
              </a:tr>
              <a:tr h="370840">
                <a:tc>
                  <a:txBody>
                    <a:bodyPr/>
                    <a:lstStyle/>
                    <a:p>
                      <a:pPr algn="ctr"/>
                      <a:r>
                        <a:rPr lang="zh-CN" altLang="en-US" dirty="0"/>
                        <a:t>房子</a:t>
                      </a:r>
                      <a:r>
                        <a:rPr lang="en-US" altLang="zh-CN" dirty="0"/>
                        <a:t>C</a:t>
                      </a:r>
                      <a:endParaRPr lang="zh-CN" altLang="en-US" dirty="0"/>
                    </a:p>
                  </a:txBody>
                  <a:tcPr/>
                </a:tc>
                <a:tc>
                  <a:txBody>
                    <a:bodyPr/>
                    <a:lstStyle/>
                    <a:p>
                      <a:pPr algn="ctr"/>
                      <a:r>
                        <a:rPr lang="en-US" altLang="zh-CN" dirty="0"/>
                        <a:t>1/8</a:t>
                      </a:r>
                      <a:endParaRPr lang="zh-CN" altLang="en-US" dirty="0"/>
                    </a:p>
                  </a:txBody>
                  <a:tcPr/>
                </a:tc>
                <a:tc>
                  <a:txBody>
                    <a:bodyPr/>
                    <a:lstStyle/>
                    <a:p>
                      <a:pPr algn="ctr"/>
                      <a:r>
                        <a:rPr lang="en-US" altLang="zh-CN" dirty="0"/>
                        <a:t>1/6</a:t>
                      </a:r>
                      <a:endParaRPr lang="zh-CN" altLang="en-US" dirty="0"/>
                    </a:p>
                  </a:txBody>
                  <a:tcPr/>
                </a:tc>
                <a:tc>
                  <a:txBody>
                    <a:bodyPr/>
                    <a:lstStyle/>
                    <a:p>
                      <a:pPr algn="ctr"/>
                      <a:r>
                        <a:rPr lang="en-US" altLang="zh-CN" dirty="0"/>
                        <a:t>1</a:t>
                      </a:r>
                      <a:endParaRPr lang="zh-CN" altLang="en-US" dirty="0"/>
                    </a:p>
                  </a:txBody>
                  <a:tcPr/>
                </a:tc>
              </a:tr>
            </a:tbl>
          </a:graphicData>
        </a:graphic>
      </p:graphicFrame>
      <p:graphicFrame>
        <p:nvGraphicFramePr>
          <p:cNvPr id="5" name="表格 4"/>
          <p:cNvGraphicFramePr>
            <a:graphicFrameLocks noGrp="1"/>
          </p:cNvGraphicFramePr>
          <p:nvPr/>
        </p:nvGraphicFramePr>
        <p:xfrm>
          <a:off x="2032000" y="4356100"/>
          <a:ext cx="8128000" cy="37084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pPr algn="ctr"/>
                      <a:r>
                        <a:rPr lang="zh-CN" altLang="en-US" dirty="0"/>
                        <a:t>列总和</a:t>
                      </a:r>
                      <a:endParaRPr lang="zh-CN" altLang="en-US" dirty="0"/>
                    </a:p>
                  </a:txBody>
                  <a:tcPr/>
                </a:tc>
                <a:tc>
                  <a:txBody>
                    <a:bodyPr/>
                    <a:lstStyle/>
                    <a:p>
                      <a:pPr algn="ctr"/>
                      <a:r>
                        <a:rPr lang="en-US" altLang="zh-CN" dirty="0"/>
                        <a:t>13/8</a:t>
                      </a:r>
                      <a:endParaRPr lang="zh-CN" altLang="en-US" dirty="0"/>
                    </a:p>
                  </a:txBody>
                  <a:tcPr/>
                </a:tc>
                <a:tc>
                  <a:txBody>
                    <a:bodyPr/>
                    <a:lstStyle/>
                    <a:p>
                      <a:pPr algn="ctr"/>
                      <a:r>
                        <a:rPr lang="en-US" altLang="zh-CN" dirty="0"/>
                        <a:t>19/6</a:t>
                      </a:r>
                      <a:endParaRPr lang="zh-CN" altLang="en-US" dirty="0"/>
                    </a:p>
                  </a:txBody>
                  <a:tcPr/>
                </a:tc>
                <a:tc>
                  <a:txBody>
                    <a:bodyPr/>
                    <a:lstStyle/>
                    <a:p>
                      <a:pPr algn="ctr"/>
                      <a:r>
                        <a:rPr lang="en-US" altLang="zh-CN" dirty="0"/>
                        <a:t>15</a:t>
                      </a:r>
                      <a:endParaRPr lang="zh-CN" altLang="en-US" dirty="0"/>
                    </a:p>
                  </a:txBody>
                  <a:tcPr/>
                </a:tc>
              </a:tr>
            </a:tbl>
          </a:graphicData>
        </a:graphic>
      </p:graphicFrame>
      <p:graphicFrame>
        <p:nvGraphicFramePr>
          <p:cNvPr id="6" name="表格 5"/>
          <p:cNvGraphicFramePr>
            <a:graphicFrameLocks noGrp="1"/>
          </p:cNvGraphicFramePr>
          <p:nvPr/>
        </p:nvGraphicFramePr>
        <p:xfrm>
          <a:off x="2032000" y="2501900"/>
          <a:ext cx="8128000" cy="185420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rowSpan="2">
                  <a:txBody>
                    <a:bodyPr/>
                    <a:lstStyle/>
                    <a:p>
                      <a:endParaRPr lang="zh-CN" altLang="en-US" dirty="0"/>
                    </a:p>
                  </a:txBody>
                  <a:tcPr/>
                </a:tc>
                <a:tc gridSpan="3">
                  <a:txBody>
                    <a:bodyPr/>
                    <a:lstStyle/>
                    <a:p>
                      <a:pPr algn="ctr"/>
                      <a:r>
                        <a:rPr lang="zh-CN" altLang="en-US" dirty="0"/>
                        <a:t>地理位置及交通情况</a:t>
                      </a:r>
                      <a:endParaRPr lang="zh-CN" altLang="en-US" dirty="0"/>
                    </a:p>
                  </a:txBody>
                  <a:tcPr/>
                </a:tc>
                <a:tc hMerge="1">
                  <a:tcPr/>
                </a:tc>
                <a:tc hMerge="1">
                  <a:tcPr/>
                </a:tc>
              </a:tr>
              <a:tr h="370840">
                <a:tc vMerge="1">
                  <a:tcPr/>
                </a:tc>
                <a:tc>
                  <a:txBody>
                    <a:bodyPr/>
                    <a:lstStyle/>
                    <a:p>
                      <a:pPr algn="ctr"/>
                      <a:r>
                        <a:rPr lang="zh-CN" altLang="en-US" dirty="0"/>
                        <a:t>房子</a:t>
                      </a:r>
                      <a:r>
                        <a:rPr lang="en-US" altLang="zh-CN" dirty="0"/>
                        <a:t>A</a:t>
                      </a:r>
                      <a:endParaRPr lang="zh-CN" altLang="en-US" dirty="0"/>
                    </a:p>
                  </a:txBody>
                  <a:tcPr/>
                </a:tc>
                <a:tc>
                  <a:txBody>
                    <a:bodyPr/>
                    <a:lstStyle/>
                    <a:p>
                      <a:pPr algn="ctr"/>
                      <a:r>
                        <a:rPr lang="zh-CN" altLang="en-US" dirty="0"/>
                        <a:t>房子</a:t>
                      </a:r>
                      <a:r>
                        <a:rPr lang="en-US" altLang="zh-CN" dirty="0"/>
                        <a:t>B</a:t>
                      </a:r>
                      <a:endParaRPr lang="zh-CN" altLang="en-US" dirty="0"/>
                    </a:p>
                  </a:txBody>
                  <a:tcPr/>
                </a:tc>
                <a:tc>
                  <a:txBody>
                    <a:bodyPr/>
                    <a:lstStyle/>
                    <a:p>
                      <a:pPr algn="ctr"/>
                      <a:r>
                        <a:rPr lang="zh-CN" altLang="en-US" dirty="0"/>
                        <a:t>房子</a:t>
                      </a:r>
                      <a:r>
                        <a:rPr lang="en-US" altLang="zh-CN" dirty="0"/>
                        <a:t>C</a:t>
                      </a:r>
                      <a:endParaRPr lang="zh-CN" altLang="en-US" dirty="0"/>
                    </a:p>
                  </a:txBody>
                  <a:tcPr/>
                </a:tc>
              </a:tr>
              <a:tr h="370840">
                <a:tc>
                  <a:txBody>
                    <a:bodyPr/>
                    <a:lstStyle/>
                    <a:p>
                      <a:pPr algn="ctr"/>
                      <a:r>
                        <a:rPr lang="zh-CN" altLang="en-US" dirty="0"/>
                        <a:t>房子</a:t>
                      </a:r>
                      <a:r>
                        <a:rPr lang="en-US" altLang="zh-CN" dirty="0"/>
                        <a:t>A</a:t>
                      </a:r>
                      <a:endParaRPr lang="zh-CN" altLang="en-US" dirty="0"/>
                    </a:p>
                  </a:txBody>
                  <a:tcPr/>
                </a:tc>
                <a:tc>
                  <a:txBody>
                    <a:bodyPr/>
                    <a:lstStyle/>
                    <a:p>
                      <a:pPr algn="ctr"/>
                      <a:r>
                        <a:rPr lang="en-US" altLang="zh-CN" dirty="0"/>
                        <a:t>8/13</a:t>
                      </a:r>
                      <a:endParaRPr lang="zh-CN" altLang="en-US" dirty="0"/>
                    </a:p>
                  </a:txBody>
                  <a:tcPr/>
                </a:tc>
                <a:tc>
                  <a:txBody>
                    <a:bodyPr/>
                    <a:lstStyle/>
                    <a:p>
                      <a:pPr algn="ctr"/>
                      <a:r>
                        <a:rPr lang="en-US" altLang="zh-CN" dirty="0"/>
                        <a:t>12/19</a:t>
                      </a:r>
                      <a:endParaRPr lang="zh-CN" altLang="en-US" dirty="0"/>
                    </a:p>
                  </a:txBody>
                  <a:tcPr/>
                </a:tc>
                <a:tc>
                  <a:txBody>
                    <a:bodyPr/>
                    <a:lstStyle/>
                    <a:p>
                      <a:pPr algn="ctr"/>
                      <a:r>
                        <a:rPr lang="en-US" altLang="zh-CN" dirty="0"/>
                        <a:t>8/15</a:t>
                      </a:r>
                      <a:endParaRPr lang="zh-CN" altLang="en-US" dirty="0"/>
                    </a:p>
                  </a:txBody>
                  <a:tcPr/>
                </a:tc>
              </a:tr>
              <a:tr h="370840">
                <a:tc>
                  <a:txBody>
                    <a:bodyPr/>
                    <a:lstStyle/>
                    <a:p>
                      <a:pPr algn="ctr"/>
                      <a:r>
                        <a:rPr lang="zh-CN" altLang="en-US" dirty="0"/>
                        <a:t>房子</a:t>
                      </a:r>
                      <a:r>
                        <a:rPr lang="en-US" altLang="zh-CN" dirty="0"/>
                        <a:t>B</a:t>
                      </a:r>
                      <a:endParaRPr lang="zh-CN" altLang="en-US" dirty="0"/>
                    </a:p>
                  </a:txBody>
                  <a:tcPr/>
                </a:tc>
                <a:tc>
                  <a:txBody>
                    <a:bodyPr/>
                    <a:lstStyle/>
                    <a:p>
                      <a:pPr algn="ctr"/>
                      <a:r>
                        <a:rPr lang="en-US" altLang="zh-CN" dirty="0"/>
                        <a:t>4/13</a:t>
                      </a:r>
                      <a:endParaRPr lang="zh-CN" altLang="en-US" dirty="0"/>
                    </a:p>
                  </a:txBody>
                  <a:tcPr/>
                </a:tc>
                <a:tc>
                  <a:txBody>
                    <a:bodyPr/>
                    <a:lstStyle/>
                    <a:p>
                      <a:pPr algn="ctr"/>
                      <a:r>
                        <a:rPr lang="en-US" altLang="zh-CN" dirty="0"/>
                        <a:t>6/19</a:t>
                      </a:r>
                      <a:endParaRPr lang="zh-CN" altLang="en-US" dirty="0"/>
                    </a:p>
                  </a:txBody>
                  <a:tcPr/>
                </a:tc>
                <a:tc>
                  <a:txBody>
                    <a:bodyPr/>
                    <a:lstStyle/>
                    <a:p>
                      <a:pPr algn="ctr"/>
                      <a:r>
                        <a:rPr lang="en-US" altLang="zh-CN" dirty="0"/>
                        <a:t>6/15</a:t>
                      </a:r>
                      <a:endParaRPr lang="zh-CN" altLang="en-US" dirty="0"/>
                    </a:p>
                  </a:txBody>
                  <a:tcPr/>
                </a:tc>
              </a:tr>
              <a:tr h="370840">
                <a:tc>
                  <a:txBody>
                    <a:bodyPr/>
                    <a:lstStyle/>
                    <a:p>
                      <a:pPr algn="ctr"/>
                      <a:r>
                        <a:rPr lang="zh-CN" altLang="en-US" dirty="0"/>
                        <a:t>房子</a:t>
                      </a:r>
                      <a:r>
                        <a:rPr lang="en-US" altLang="zh-CN" dirty="0"/>
                        <a:t>C</a:t>
                      </a:r>
                      <a:endParaRPr lang="zh-CN" altLang="en-US" dirty="0"/>
                    </a:p>
                  </a:txBody>
                  <a:tcPr/>
                </a:tc>
                <a:tc>
                  <a:txBody>
                    <a:bodyPr/>
                    <a:lstStyle/>
                    <a:p>
                      <a:pPr algn="ctr"/>
                      <a:r>
                        <a:rPr lang="en-US" altLang="zh-CN" dirty="0"/>
                        <a:t>1/13</a:t>
                      </a:r>
                      <a:endParaRPr lang="zh-CN" altLang="en-US" dirty="0"/>
                    </a:p>
                  </a:txBody>
                  <a:tcPr/>
                </a:tc>
                <a:tc>
                  <a:txBody>
                    <a:bodyPr/>
                    <a:lstStyle/>
                    <a:p>
                      <a:pPr algn="ctr"/>
                      <a:r>
                        <a:rPr lang="en-US" altLang="zh-CN" dirty="0"/>
                        <a:t>1/19</a:t>
                      </a:r>
                      <a:endParaRPr lang="zh-CN" altLang="en-US" dirty="0"/>
                    </a:p>
                  </a:txBody>
                  <a:tcPr/>
                </a:tc>
                <a:tc>
                  <a:txBody>
                    <a:bodyPr/>
                    <a:lstStyle/>
                    <a:p>
                      <a:pPr algn="ctr"/>
                      <a:r>
                        <a:rPr lang="en-US" altLang="zh-CN" dirty="0"/>
                        <a:t>1/15</a:t>
                      </a:r>
                      <a:endParaRPr lang="zh-CN" altLang="en-US" dirty="0"/>
                    </a:p>
                  </a:txBody>
                  <a:tcPr/>
                </a:tc>
              </a:tr>
            </a:tbl>
          </a:graphicData>
        </a:graphic>
      </p:graphicFrame>
      <p:graphicFrame>
        <p:nvGraphicFramePr>
          <p:cNvPr id="7" name="表格 6"/>
          <p:cNvGraphicFramePr>
            <a:graphicFrameLocks noGrp="1"/>
          </p:cNvGraphicFramePr>
          <p:nvPr/>
        </p:nvGraphicFramePr>
        <p:xfrm>
          <a:off x="10160000" y="2501900"/>
          <a:ext cx="1258047" cy="1854200"/>
        </p:xfrm>
        <a:graphic>
          <a:graphicData uri="http://schemas.openxmlformats.org/drawingml/2006/table">
            <a:tbl>
              <a:tblPr firstRow="1" bandRow="1">
                <a:tableStyleId>{5C22544A-7EE6-4342-B048-85BDC9FD1C3A}</a:tableStyleId>
              </a:tblPr>
              <a:tblGrid>
                <a:gridCol w="1258047"/>
              </a:tblGrid>
              <a:tr h="370840">
                <a:tc>
                  <a:txBody>
                    <a:bodyPr/>
                    <a:lstStyle/>
                    <a:p>
                      <a:pPr algn="ctr"/>
                      <a:endParaRPr lang="zh-CN" altLang="en-US" dirty="0"/>
                    </a:p>
                  </a:txBody>
                  <a:tcPr/>
                </a:tc>
              </a:tr>
              <a:tr h="370840">
                <a:tc>
                  <a:txBody>
                    <a:bodyPr/>
                    <a:lstStyle/>
                    <a:p>
                      <a:pPr algn="ctr"/>
                      <a:r>
                        <a:rPr lang="zh-CN" altLang="en-US" dirty="0"/>
                        <a:t>行平均值</a:t>
                      </a:r>
                      <a:endParaRPr lang="zh-CN" altLang="en-US" dirty="0"/>
                    </a:p>
                  </a:txBody>
                  <a:tcPr/>
                </a:tc>
              </a:tr>
              <a:tr h="370840">
                <a:tc>
                  <a:txBody>
                    <a:bodyPr/>
                    <a:lstStyle/>
                    <a:p>
                      <a:pPr algn="ctr"/>
                      <a:r>
                        <a:rPr lang="en-US" altLang="zh-CN" dirty="0"/>
                        <a:t>0.593</a:t>
                      </a:r>
                      <a:endParaRPr lang="zh-CN" altLang="en-US" dirty="0"/>
                    </a:p>
                  </a:txBody>
                  <a:tcPr/>
                </a:tc>
              </a:tr>
              <a:tr h="370840">
                <a:tc>
                  <a:txBody>
                    <a:bodyPr/>
                    <a:lstStyle/>
                    <a:p>
                      <a:pPr algn="ctr"/>
                      <a:r>
                        <a:rPr lang="en-US" altLang="zh-CN" dirty="0"/>
                        <a:t>0.341</a:t>
                      </a:r>
                      <a:endParaRPr lang="zh-CN" altLang="en-US" dirty="0"/>
                    </a:p>
                  </a:txBody>
                  <a:tcPr/>
                </a:tc>
              </a:tr>
              <a:tr h="370840">
                <a:tc>
                  <a:txBody>
                    <a:bodyPr/>
                    <a:lstStyle/>
                    <a:p>
                      <a:pPr algn="ctr"/>
                      <a:r>
                        <a:rPr lang="en-US" altLang="zh-CN" dirty="0"/>
                        <a:t>0.066</a:t>
                      </a:r>
                      <a:endParaRPr lang="zh-CN" altLang="en-US" dirty="0"/>
                    </a:p>
                  </a:txBody>
                  <a:tcPr/>
                </a:tc>
              </a:tr>
            </a:tbl>
          </a:graphicData>
        </a:graphic>
      </p:graphicFrame>
      <p:sp>
        <p:nvSpPr>
          <p:cNvPr id="8" name="矩形 7"/>
          <p:cNvSpPr/>
          <p:nvPr/>
        </p:nvSpPr>
        <p:spPr>
          <a:xfrm>
            <a:off x="10390094" y="3191435"/>
            <a:ext cx="779930" cy="132556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264588" y="4571869"/>
            <a:ext cx="1452282" cy="370840"/>
          </a:xfrm>
          <a:prstGeom prst="rect">
            <a:avLst/>
          </a:prstGeom>
          <a:noFill/>
        </p:spPr>
        <p:txBody>
          <a:bodyPr wrap="square" rtlCol="0">
            <a:spAutoFit/>
          </a:bodyPr>
          <a:lstStyle/>
          <a:p>
            <a:r>
              <a:rPr lang="zh-CN" altLang="en-US" dirty="0"/>
              <a:t>特征向量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 </a:t>
            </a:r>
            <a:r>
              <a:rPr lang="zh-CN" altLang="en-US" dirty="0"/>
              <a:t>各层次权重</a:t>
            </a:r>
            <a:endParaRPr lang="zh-CN" altLang="en-US" dirty="0"/>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nvGraphicFramePr>
            <p:xfrm>
              <a:off x="2032000" y="1690688"/>
              <a:ext cx="8128000" cy="175260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70840">
                    <a:tc>
                      <a:txBody>
                        <a:bodyPr/>
                        <a:lstStyle/>
                        <a:p>
                          <a:pPr algn="ctr"/>
                          <a:endParaRPr lang="zh-CN" altLang="en-US" dirty="0"/>
                        </a:p>
                      </a:txBody>
                      <a:tcPr/>
                    </a:tc>
                    <a:tc>
                      <a:txBody>
                        <a:bodyPr/>
                        <a:lstStyle/>
                        <a:p>
                          <a:pPr algn="ctr"/>
                          <a:r>
                            <a:rPr lang="zh-CN" altLang="en-US" dirty="0"/>
                            <a:t>地理位置及交通情况</a:t>
                          </a:r>
                          <a:endParaRPr lang="zh-CN" altLang="en-US" dirty="0"/>
                        </a:p>
                      </a:txBody>
                      <a:tcPr/>
                    </a:tc>
                    <a:tc>
                      <a:txBody>
                        <a:bodyPr/>
                        <a:lstStyle/>
                        <a:p>
                          <a:pPr algn="ctr"/>
                          <a:r>
                            <a:rPr lang="zh-CN" altLang="en-US" dirty="0"/>
                            <a:t>居住环境</a:t>
                          </a:r>
                          <a:endParaRPr lang="zh-CN" altLang="en-US" dirty="0"/>
                        </a:p>
                      </a:txBody>
                      <a:tcPr/>
                    </a:tc>
                    <a:tc>
                      <a:txBody>
                        <a:bodyPr/>
                        <a:lstStyle/>
                        <a:p>
                          <a:pPr algn="ctr"/>
                          <a:r>
                            <a:rPr lang="zh-CN" altLang="en-US" dirty="0"/>
                            <a:t>结构、布局、设施</a:t>
                          </a:r>
                          <a:endParaRPr lang="zh-CN" altLang="en-US" dirty="0"/>
                        </a:p>
                      </a:txBody>
                      <a:tcPr/>
                    </a:tc>
                    <a:tc>
                      <a:txBody>
                        <a:bodyPr/>
                        <a:lstStyle/>
                        <a:p>
                          <a:pPr algn="ctr"/>
                          <a:r>
                            <a:rPr lang="zh-CN" altLang="en-US" dirty="0"/>
                            <a:t>每平方米单价</a:t>
                          </a:r>
                          <a:endParaRPr lang="zh-CN" altLang="en-US" dirty="0"/>
                        </a:p>
                      </a:txBody>
                      <a:tcPr/>
                    </a:tc>
                  </a:tr>
                  <a:tr h="370840">
                    <a:tc>
                      <a:txBody>
                        <a:bodyPr/>
                        <a:lstStyle/>
                        <a:p>
                          <a:pPr algn="ctr"/>
                          <a:r>
                            <a:rPr lang="zh-CN" altLang="en-US" dirty="0"/>
                            <a:t>房子</a:t>
                          </a:r>
                          <a:r>
                            <a:rPr lang="en-US" altLang="zh-CN" dirty="0"/>
                            <a:t>A</a:t>
                          </a:r>
                          <a:endParaRPr lang="zh-CN" altLang="en-US" dirty="0"/>
                        </a:p>
                      </a:txBody>
                      <a:tcPr/>
                    </a:tc>
                    <a:tc rowSpan="3">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593</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341</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066</m:t>
                                          </m:r>
                                        </m:e>
                                      </m:mr>
                                    </m:m>
                                  </m:e>
                                </m:d>
                              </m:oMath>
                            </m:oMathPara>
                          </a14:m>
                          <a:endParaRPr lang="zh-CN" altLang="en-US" dirty="0"/>
                        </a:p>
                      </a:txBody>
                      <a:tcPr anchor="ctr"/>
                    </a:tc>
                    <a:tc rowSpan="3">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123</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320</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557</m:t>
                                          </m:r>
                                        </m:e>
                                      </m:mr>
                                    </m:m>
                                  </m:e>
                                </m:d>
                              </m:oMath>
                            </m:oMathPara>
                          </a14:m>
                          <a:endParaRPr lang="zh-CN" altLang="en-US" dirty="0"/>
                        </a:p>
                      </a:txBody>
                      <a:tcPr anchor="ctr"/>
                    </a:tc>
                    <a:tc rowSpan="3">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087</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274</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639</m:t>
                                          </m:r>
                                        </m:e>
                                      </m:mr>
                                    </m:m>
                                  </m:e>
                                </m:d>
                              </m:oMath>
                            </m:oMathPara>
                          </a14:m>
                          <a:endParaRPr lang="zh-CN" altLang="en-US" dirty="0"/>
                        </a:p>
                      </a:txBody>
                      <a:tcPr anchor="ctr"/>
                    </a:tc>
                    <a:tc rowSpan="3">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265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655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080</m:t>
                                          </m:r>
                                        </m:e>
                                      </m:mr>
                                    </m:m>
                                  </m:e>
                                </m:d>
                              </m:oMath>
                            </m:oMathPara>
                          </a14:m>
                          <a:endParaRPr lang="zh-CN" altLang="en-US" dirty="0"/>
                        </a:p>
                      </a:txBody>
                      <a:tcPr anchor="ctr"/>
                    </a:tc>
                  </a:tr>
                  <a:tr h="370840">
                    <a:tc>
                      <a:txBody>
                        <a:bodyPr/>
                        <a:lstStyle/>
                        <a:p>
                          <a:pPr algn="ctr"/>
                          <a:r>
                            <a:rPr lang="zh-CN" altLang="en-US" dirty="0"/>
                            <a:t>房子</a:t>
                          </a:r>
                          <a:r>
                            <a:rPr lang="en-US" altLang="zh-CN" dirty="0"/>
                            <a:t>B</a:t>
                          </a:r>
                          <a:endParaRPr lang="zh-CN" altLang="en-US" dirty="0"/>
                        </a:p>
                      </a:txBody>
                      <a:tcPr/>
                    </a:tc>
                    <a:tc vMerge="1">
                      <a:tcPr/>
                    </a:tc>
                    <a:tc vMerge="1">
                      <a:tcPr/>
                    </a:tc>
                    <a:tc vMerge="1">
                      <a:tcPr/>
                    </a:tc>
                    <a:tc vMerge="1">
                      <a:tcPr/>
                    </a:tc>
                  </a:tr>
                  <a:tr h="370840">
                    <a:tc>
                      <a:txBody>
                        <a:bodyPr/>
                        <a:lstStyle/>
                        <a:p>
                          <a:pPr algn="ctr"/>
                          <a:r>
                            <a:rPr lang="zh-CN" altLang="en-US" dirty="0"/>
                            <a:t>房子</a:t>
                          </a:r>
                          <a:r>
                            <a:rPr lang="en-US" altLang="zh-CN" dirty="0"/>
                            <a:t>C</a:t>
                          </a:r>
                          <a:endParaRPr lang="zh-CN" altLang="en-US" dirty="0"/>
                        </a:p>
                      </a:txBody>
                      <a:tcPr/>
                    </a:tc>
                    <a:tc vMerge="1">
                      <a:tcPr/>
                    </a:tc>
                    <a:tc vMerge="1">
                      <a:tcPr/>
                    </a:tc>
                    <a:tc vMerge="1">
                      <a:tcPr/>
                    </a:tc>
                    <a:tc vMerge="1">
                      <a:tcPr/>
                    </a:tc>
                  </a:tr>
                </a:tbl>
              </a:graphicData>
            </a:graphic>
          </p:graphicFrame>
        </mc:Choice>
        <mc:Fallback xmlns="">
          <p:graphicFrame>
            <p:nvGraphicFramePr>
              <p:cNvPr id="4" name="表格 3"/>
              <p:cNvGraphicFramePr>
                <a:graphicFrameLocks noGrp="1"/>
              </p:cNvGraphicFramePr>
              <p:nvPr/>
            </p:nvGraphicFramePr>
            <p:xfrm>
              <a:off x="2032000" y="1690688"/>
              <a:ext cx="8128000" cy="175260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70840">
                    <a:tc>
                      <a:txBody>
                        <a:bodyPr/>
                        <a:lstStyle/>
                        <a:p>
                          <a:pPr algn="ctr"/>
                          <a:endParaRPr lang="zh-CN" altLang="en-US" dirty="0"/>
                        </a:p>
                      </a:txBody>
                      <a:tcPr/>
                    </a:tc>
                    <a:tc>
                      <a:txBody>
                        <a:bodyPr/>
                        <a:lstStyle/>
                        <a:p>
                          <a:pPr algn="ctr"/>
                          <a:r>
                            <a:rPr lang="zh-CN" altLang="en-US" dirty="0"/>
                            <a:t>地理位置及交通情况</a:t>
                          </a:r>
                          <a:endParaRPr lang="zh-CN" altLang="en-US" dirty="0"/>
                        </a:p>
                      </a:txBody>
                      <a:tcPr/>
                    </a:tc>
                    <a:tc>
                      <a:txBody>
                        <a:bodyPr/>
                        <a:lstStyle/>
                        <a:p>
                          <a:pPr algn="ctr"/>
                          <a:r>
                            <a:rPr lang="zh-CN" altLang="en-US" dirty="0"/>
                            <a:t>居住环境</a:t>
                          </a:r>
                          <a:endParaRPr lang="zh-CN" altLang="en-US" dirty="0"/>
                        </a:p>
                      </a:txBody>
                      <a:tcPr/>
                    </a:tc>
                    <a:tc>
                      <a:txBody>
                        <a:bodyPr/>
                        <a:lstStyle/>
                        <a:p>
                          <a:pPr algn="ctr"/>
                          <a:r>
                            <a:rPr lang="zh-CN" altLang="en-US" dirty="0"/>
                            <a:t>结构、布局、设施</a:t>
                          </a:r>
                          <a:endParaRPr lang="zh-CN" altLang="en-US" dirty="0"/>
                        </a:p>
                      </a:txBody>
                      <a:tcPr/>
                    </a:tc>
                    <a:tc>
                      <a:txBody>
                        <a:bodyPr/>
                        <a:lstStyle/>
                        <a:p>
                          <a:pPr algn="ctr"/>
                          <a:r>
                            <a:rPr lang="zh-CN" altLang="en-US" dirty="0"/>
                            <a:t>每平方米单价</a:t>
                          </a:r>
                          <a:endParaRPr lang="zh-CN" altLang="en-US" dirty="0"/>
                        </a:p>
                      </a:txBody>
                      <a:tcPr/>
                    </a:tc>
                  </a:tr>
                  <a:tr h="370840">
                    <a:tc>
                      <a:txBody>
                        <a:bodyPr/>
                        <a:lstStyle/>
                        <a:p>
                          <a:pPr algn="ctr"/>
                          <a:r>
                            <a:rPr lang="zh-CN" altLang="en-US" dirty="0"/>
                            <a:t>房子</a:t>
                          </a:r>
                          <a:r>
                            <a:rPr lang="en-US" altLang="zh-CN" dirty="0"/>
                            <a:t>A</a:t>
                          </a:r>
                          <a:endParaRPr lang="zh-CN" altLang="en-US" dirty="0"/>
                        </a:p>
                      </a:txBody>
                      <a:tcPr/>
                    </a:tc>
                    <a:tc rowSpan="3">
                      <a:txBody>
                        <a:bodyPr/>
                        <a:lstStyle/>
                        <a:p>
                          <a:endParaRPr lang="zh-CN"/>
                        </a:p>
                      </a:txBody>
                      <a:tcPr anchor="ctr">
                        <a:blipFill>
                          <a:blip r:embed="rId1"/>
                        </a:blipFill>
                      </a:tcPr>
                    </a:tc>
                    <a:tc rowSpan="3">
                      <a:txBody>
                        <a:bodyPr/>
                        <a:lstStyle/>
                        <a:p>
                          <a:endParaRPr lang="zh-CN"/>
                        </a:p>
                      </a:txBody>
                      <a:tcPr anchor="ctr">
                        <a:blipFill>
                          <a:blip r:embed="rId1"/>
                        </a:blipFill>
                      </a:tcPr>
                    </a:tc>
                    <a:tc rowSpan="3">
                      <a:txBody>
                        <a:bodyPr/>
                        <a:lstStyle/>
                        <a:p>
                          <a:endParaRPr lang="zh-CN"/>
                        </a:p>
                      </a:txBody>
                      <a:tcPr anchor="ctr">
                        <a:blipFill>
                          <a:blip r:embed="rId1"/>
                        </a:blipFill>
                      </a:tcPr>
                    </a:tc>
                    <a:tc rowSpan="3">
                      <a:txBody>
                        <a:bodyPr/>
                        <a:lstStyle/>
                        <a:p>
                          <a:endParaRPr lang="zh-CN"/>
                        </a:p>
                      </a:txBody>
                      <a:tcPr anchor="ctr">
                        <a:blipFill>
                          <a:blip r:embed="rId1"/>
                        </a:blipFill>
                      </a:tcPr>
                    </a:tc>
                  </a:tr>
                  <a:tr h="370840">
                    <a:tc>
                      <a:txBody>
                        <a:bodyPr/>
                        <a:lstStyle/>
                        <a:p>
                          <a:pPr algn="ctr"/>
                          <a:r>
                            <a:rPr lang="zh-CN" altLang="en-US" dirty="0"/>
                            <a:t>房子</a:t>
                          </a:r>
                          <a:r>
                            <a:rPr lang="en-US" altLang="zh-CN" dirty="0"/>
                            <a:t>B</a:t>
                          </a:r>
                          <a:endParaRPr lang="zh-CN" altLang="en-US" dirty="0"/>
                        </a:p>
                      </a:txBody>
                      <a:tcPr/>
                    </a:tc>
                    <a:tc vMerge="1">
                      <a:tcPr/>
                    </a:tc>
                    <a:tc vMerge="1">
                      <a:tcPr/>
                    </a:tc>
                    <a:tc vMerge="1">
                      <a:tcPr/>
                    </a:tc>
                    <a:tc vMerge="1">
                      <a:tcPr/>
                    </a:tc>
                  </a:tr>
                  <a:tr h="370840">
                    <a:tc>
                      <a:txBody>
                        <a:bodyPr/>
                        <a:lstStyle/>
                        <a:p>
                          <a:pPr algn="ctr"/>
                          <a:r>
                            <a:rPr lang="zh-CN" altLang="en-US" dirty="0"/>
                            <a:t>房子</a:t>
                          </a:r>
                          <a:r>
                            <a:rPr lang="en-US" altLang="zh-CN" dirty="0"/>
                            <a:t>C</a:t>
                          </a:r>
                          <a:endParaRPr lang="zh-CN" altLang="en-US" dirty="0"/>
                        </a:p>
                      </a:txBody>
                      <a:tcPr/>
                    </a:tc>
                    <a:tc vMerge="1">
                      <a:tcPr/>
                    </a:tc>
                    <a:tc vMerge="1">
                      <a:tcPr/>
                    </a:tc>
                    <a:tc vMerge="1">
                      <a:tcPr/>
                    </a:tc>
                    <a:tc vMerge="1">
                      <a:tcPr/>
                    </a:tc>
                  </a:tr>
                </a:tbl>
              </a:graphicData>
            </a:graphic>
          </p:graphicFrame>
        </mc:Fallback>
      </mc:AlternateContent>
      <p:graphicFrame>
        <p:nvGraphicFramePr>
          <p:cNvPr id="6" name="表格 5"/>
          <p:cNvGraphicFramePr>
            <a:graphicFrameLocks noGrp="1"/>
          </p:cNvGraphicFramePr>
          <p:nvPr/>
        </p:nvGraphicFramePr>
        <p:xfrm>
          <a:off x="77696" y="3956180"/>
          <a:ext cx="8128000" cy="222504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70840">
                <a:tc rowSpan="2">
                  <a:txBody>
                    <a:bodyPr/>
                    <a:lstStyle/>
                    <a:p>
                      <a:endParaRPr lang="zh-CN" altLang="en-US" dirty="0"/>
                    </a:p>
                  </a:txBody>
                  <a:tcPr/>
                </a:tc>
                <a:tc>
                  <a:txBody>
                    <a:bodyPr/>
                    <a:lstStyle/>
                    <a:p>
                      <a:endParaRPr lang="zh-CN" altLang="en-US"/>
                    </a:p>
                  </a:txBody>
                  <a:tcPr/>
                </a:tc>
                <a:tc>
                  <a:txBody>
                    <a:bodyPr/>
                    <a:lstStyle/>
                    <a:p>
                      <a:endParaRPr lang="zh-CN" altLang="en-US" dirty="0"/>
                    </a:p>
                  </a:txBody>
                  <a:tcPr/>
                </a:tc>
                <a:tc>
                  <a:txBody>
                    <a:bodyPr/>
                    <a:lstStyle/>
                    <a:p>
                      <a:endParaRPr lang="zh-CN" altLang="en-US" dirty="0"/>
                    </a:p>
                  </a:txBody>
                  <a:tcPr/>
                </a:tc>
                <a:tc>
                  <a:txBody>
                    <a:bodyPr/>
                    <a:lstStyle/>
                    <a:p>
                      <a:endParaRPr lang="zh-CN" altLang="en-US"/>
                    </a:p>
                  </a:txBody>
                  <a:tcPr/>
                </a:tc>
              </a:tr>
              <a:tr h="370840">
                <a:tc vMerge="1">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地理位置交通</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居住环境</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结构布局设施</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每平方米单价</a:t>
                      </a:r>
                      <a:endParaRPr lang="zh-CN" altLang="en-US" dirty="0"/>
                    </a:p>
                  </a:txBody>
                  <a:tcPr/>
                </a:tc>
              </a:tr>
              <a:tr h="370840">
                <a:tc>
                  <a:txBody>
                    <a:bodyPr/>
                    <a:lstStyle/>
                    <a:p>
                      <a:r>
                        <a:rPr lang="zh-CN" altLang="en-US" dirty="0"/>
                        <a:t>地理位置交通</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2</a:t>
                      </a:r>
                      <a:endParaRPr lang="zh-CN" altLang="en-US" dirty="0"/>
                    </a:p>
                  </a:txBody>
                  <a:tcPr/>
                </a:tc>
              </a:tr>
              <a:tr h="370840">
                <a:tc>
                  <a:txBody>
                    <a:bodyPr/>
                    <a:lstStyle/>
                    <a:p>
                      <a:r>
                        <a:rPr lang="zh-CN" altLang="en-US" dirty="0"/>
                        <a:t>居住环境</a:t>
                      </a:r>
                      <a:endParaRPr lang="zh-CN" altLang="en-US" dirty="0"/>
                    </a:p>
                  </a:txBody>
                  <a:tcPr/>
                </a:tc>
                <a:tc>
                  <a:txBody>
                    <a:bodyPr/>
                    <a:lstStyle/>
                    <a:p>
                      <a:pPr algn="ctr"/>
                      <a:r>
                        <a:rPr lang="en-US" altLang="zh-CN" dirty="0"/>
                        <a:t>½</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½</a:t>
                      </a:r>
                      <a:endParaRPr lang="zh-CN" altLang="en-US" dirty="0"/>
                    </a:p>
                  </a:txBody>
                  <a:tcPr/>
                </a:tc>
              </a:tr>
              <a:tr h="370840">
                <a:tc>
                  <a:txBody>
                    <a:bodyPr/>
                    <a:lstStyle/>
                    <a:p>
                      <a:r>
                        <a:rPr lang="zh-CN" altLang="en-US" dirty="0"/>
                        <a:t>结构布局设施</a:t>
                      </a:r>
                      <a:endParaRPr lang="zh-CN" altLang="en-US" dirty="0"/>
                    </a:p>
                  </a:txBody>
                  <a:tcPr/>
                </a:tc>
                <a:tc>
                  <a:txBody>
                    <a:bodyPr/>
                    <a:lstStyle/>
                    <a:p>
                      <a:pPr algn="ctr"/>
                      <a:r>
                        <a:rPr lang="en-US" altLang="zh-CN" dirty="0"/>
                        <a:t>1/3</a:t>
                      </a:r>
                      <a:endParaRPr lang="zh-CN" altLang="en-US" dirty="0"/>
                    </a:p>
                  </a:txBody>
                  <a:tcPr/>
                </a:tc>
                <a:tc>
                  <a:txBody>
                    <a:bodyPr/>
                    <a:lstStyle/>
                    <a:p>
                      <a:pPr algn="ctr"/>
                      <a:r>
                        <a:rPr lang="en-US" altLang="zh-CN" dirty="0"/>
                        <a:t>¼</a:t>
                      </a: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¼</a:t>
                      </a:r>
                      <a:endParaRPr lang="zh-CN" altLang="en-US" dirty="0"/>
                    </a:p>
                  </a:txBody>
                  <a:tcPr/>
                </a:tc>
              </a:tr>
              <a:tr h="370840">
                <a:tc>
                  <a:txBody>
                    <a:bodyPr/>
                    <a:lstStyle/>
                    <a:p>
                      <a:r>
                        <a:rPr lang="zh-CN" altLang="en-US" dirty="0"/>
                        <a:t>每平方米单价</a:t>
                      </a:r>
                      <a:endParaRPr lang="zh-CN" altLang="en-US" dirty="0"/>
                    </a:p>
                  </a:txBody>
                  <a:tcPr/>
                </a:tc>
                <a:tc>
                  <a:txBody>
                    <a:bodyPr/>
                    <a:lstStyle/>
                    <a:p>
                      <a:pPr algn="ctr"/>
                      <a:r>
                        <a:rPr lang="en-US" altLang="zh-CN" dirty="0"/>
                        <a:t>½</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1</a:t>
                      </a:r>
                      <a:endParaRPr lang="zh-CN" altLang="en-US" dirty="0"/>
                    </a:p>
                  </a:txBody>
                  <a:tcPr/>
                </a:tc>
              </a:tr>
            </a:tbl>
          </a:graphicData>
        </a:graphic>
      </p:graphicFrame>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nvGraphicFramePr>
            <p:xfrm>
              <a:off x="10357224" y="3956180"/>
              <a:ext cx="1625601" cy="2225040"/>
            </p:xfrm>
            <a:graphic>
              <a:graphicData uri="http://schemas.openxmlformats.org/drawingml/2006/table">
                <a:tbl>
                  <a:tblPr firstRow="1" bandRow="1">
                    <a:tableStyleId>{5C22544A-7EE6-4342-B048-85BDC9FD1C3A}</a:tableStyleId>
                  </a:tblPr>
                  <a:tblGrid>
                    <a:gridCol w="1625601"/>
                  </a:tblGrid>
                  <a:tr h="370840">
                    <a:tc>
                      <a:txBody>
                        <a:bodyPr/>
                        <a:lstStyle/>
                        <a:p>
                          <a:pPr algn="ctr"/>
                          <a:r>
                            <a:rPr lang="zh-CN" altLang="en-US" dirty="0"/>
                            <a:t>特征向量</a:t>
                          </a:r>
                          <a:endParaRPr lang="zh-CN" altLang="en-US" dirty="0"/>
                        </a:p>
                      </a:txBody>
                      <a:tcPr/>
                    </a:tc>
                  </a:tr>
                  <a:tr h="1854200">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398</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218</m:t>
                                          </m:r>
                                        </m:e>
                                      </m:mr>
                                      <m:mr>
                                        <m:e>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085</m:t>
                                              </m:r>
                                            </m:e>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299</m:t>
                                              </m:r>
                                            </m:e>
                                          </m:eqArr>
                                        </m:e>
                                      </m:mr>
                                    </m:m>
                                  </m:e>
                                </m:d>
                              </m:oMath>
                            </m:oMathPara>
                          </a14:m>
                          <a:endParaRPr lang="zh-CN" altLang="en-US" dirty="0"/>
                        </a:p>
                      </a:txBody>
                      <a:tcPr anchor="ctr"/>
                    </a:tc>
                  </a:tr>
                </a:tbl>
              </a:graphicData>
            </a:graphic>
          </p:graphicFrame>
        </mc:Choice>
        <mc:Fallback xmlns="">
          <p:graphicFrame>
            <p:nvGraphicFramePr>
              <p:cNvPr id="7" name="表格 6"/>
              <p:cNvGraphicFramePr>
                <a:graphicFrameLocks noGrp="1"/>
              </p:cNvGraphicFramePr>
              <p:nvPr/>
            </p:nvGraphicFramePr>
            <p:xfrm>
              <a:off x="10357224" y="3956180"/>
              <a:ext cx="1625601" cy="2225040"/>
            </p:xfrm>
            <a:graphic>
              <a:graphicData uri="http://schemas.openxmlformats.org/drawingml/2006/table">
                <a:tbl>
                  <a:tblPr firstRow="1" bandRow="1">
                    <a:tableStyleId>{5C22544A-7EE6-4342-B048-85BDC9FD1C3A}</a:tableStyleId>
                  </a:tblPr>
                  <a:tblGrid>
                    <a:gridCol w="1625601"/>
                  </a:tblGrid>
                  <a:tr h="370840">
                    <a:tc>
                      <a:txBody>
                        <a:bodyPr/>
                        <a:lstStyle/>
                        <a:p>
                          <a:pPr algn="ctr"/>
                          <a:r>
                            <a:rPr lang="zh-CN" altLang="en-US" dirty="0"/>
                            <a:t>特征向量</a:t>
                          </a:r>
                          <a:endParaRPr lang="zh-CN" altLang="en-US" dirty="0"/>
                        </a:p>
                      </a:txBody>
                      <a:tcPr/>
                    </a:tc>
                  </a:tr>
                  <a:tr h="1854200">
                    <a:tc>
                      <a:txBody>
                        <a:bodyPr/>
                        <a:lstStyle/>
                        <a:p>
                          <a:endParaRPr lang="zh-CN"/>
                        </a:p>
                      </a:txBody>
                      <a:tcPr anchor="ctr">
                        <a:blipFill>
                          <a:blip r:embed="rId2"/>
                        </a:blipFill>
                      </a:tcPr>
                    </a:tc>
                  </a:tr>
                </a:tbl>
              </a:graphicData>
            </a:graphic>
          </p:graphicFrame>
        </mc:Fallback>
      </mc:AlternateContent>
      <p:sp>
        <p:nvSpPr>
          <p:cNvPr id="8" name="箭头: 右 7"/>
          <p:cNvSpPr/>
          <p:nvPr/>
        </p:nvSpPr>
        <p:spPr>
          <a:xfrm>
            <a:off x="8480612" y="5068700"/>
            <a:ext cx="1541929" cy="3549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a:t>
            </a:r>
            <a:r>
              <a:rPr lang="zh-CN" altLang="en-US" dirty="0"/>
              <a:t>一致性检验的重要性</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dirty="0"/>
                  <a:t>两两比较矩阵的元素是通过两个因素两两比较得到的，而在很多这样的比较中，往往可能得到一些不一致的结论</a:t>
                </a:r>
                <a:endParaRPr lang="en-US" altLang="zh-CN" dirty="0"/>
              </a:p>
              <a:p>
                <a:pPr lvl="1"/>
                <a:r>
                  <a:rPr lang="zh-CN" altLang="en-US" dirty="0"/>
                  <a:t>例如当因素</a:t>
                </a:r>
                <a:r>
                  <a:rPr lang="en-US" altLang="zh-CN" dirty="0" err="1"/>
                  <a:t>i</a:t>
                </a:r>
                <a:r>
                  <a:rPr lang="zh-CN" altLang="en-US" dirty="0"/>
                  <a:t>、</a:t>
                </a:r>
                <a:r>
                  <a:rPr lang="en-US" altLang="zh-CN" dirty="0"/>
                  <a:t>j</a:t>
                </a:r>
                <a:r>
                  <a:rPr lang="zh-CN" altLang="en-US" dirty="0"/>
                  <a:t>、</a:t>
                </a:r>
                <a:r>
                  <a:rPr lang="en-US" altLang="zh-CN" dirty="0"/>
                  <a:t>k</a:t>
                </a:r>
                <a:r>
                  <a:rPr lang="zh-CN" altLang="en-US" dirty="0"/>
                  <a:t>的重要性很接近时，可能得到：</a:t>
                </a:r>
                <a:r>
                  <a:rPr lang="en-US" altLang="zh-CN" dirty="0" err="1"/>
                  <a:t>i</a:t>
                </a:r>
                <a14:m>
                  <m:oMath xmlns:m="http://schemas.openxmlformats.org/officeDocument/2006/math">
                    <m:r>
                      <a:rPr lang="en-US" altLang="zh-CN" b="0" i="1" smtClean="0">
                        <a:latin typeface="Cambria Math" panose="02040503050406030204" pitchFamily="18" charset="0"/>
                      </a:rPr>
                      <m:t>≥</m:t>
                    </m:r>
                  </m:oMath>
                </a14:m>
                <a:r>
                  <a:rPr lang="en-US" altLang="zh-CN" dirty="0"/>
                  <a:t>j, j</a:t>
                </a:r>
                <a14:m>
                  <m:oMath xmlns:m="http://schemas.openxmlformats.org/officeDocument/2006/math">
                    <m:r>
                      <a:rPr lang="en-US" altLang="zh-CN" b="0" i="1" smtClean="0">
                        <a:latin typeface="Cambria Math" panose="02040503050406030204" pitchFamily="18" charset="0"/>
                      </a:rPr>
                      <m:t>≥</m:t>
                    </m:r>
                  </m:oMath>
                </a14:m>
                <a:r>
                  <a:rPr lang="en-US" altLang="zh-CN" dirty="0"/>
                  <a:t>k, k</a:t>
                </a:r>
                <a14:m>
                  <m:oMath xmlns:m="http://schemas.openxmlformats.org/officeDocument/2006/math">
                    <m:r>
                      <a:rPr lang="en-US" altLang="zh-CN" b="0" i="1" smtClean="0">
                        <a:latin typeface="Cambria Math" panose="02040503050406030204" pitchFamily="18" charset="0"/>
                      </a:rPr>
                      <m:t>≥</m:t>
                    </m:r>
                  </m:oMath>
                </a14:m>
                <a:r>
                  <a:rPr lang="en-US" altLang="zh-CN" dirty="0" err="1"/>
                  <a:t>i</a:t>
                </a:r>
                <a:r>
                  <a:rPr lang="zh-CN" altLang="en-US" dirty="0"/>
                  <a:t>的矛盾结论</a:t>
                </a:r>
                <a:endParaRPr lang="en-US" altLang="zh-CN" dirty="0"/>
              </a:p>
              <a:p>
                <a:r>
                  <a:rPr lang="zh-CN" altLang="en-US" dirty="0"/>
                  <a:t>因此，在使用层次分析权重为各个策略排序前，我们需要确保比较矩阵的一致性</a:t>
                </a:r>
                <a:endParaRPr lang="en-US" altLang="zh-CN" dirty="0"/>
              </a:p>
              <a:p>
                <a:r>
                  <a:rPr lang="zh-CN" altLang="en-US" dirty="0"/>
                  <a:t>若矩阵中每个元素</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&gt;</m:t>
                    </m:r>
                    <m:r>
                      <a:rPr lang="en-US" altLang="zh-CN" b="0" i="1" smtClean="0">
                        <a:latin typeface="Cambria Math" panose="02040503050406030204" pitchFamily="18" charset="0"/>
                      </a:rPr>
                      <m:t>0</m:t>
                    </m:r>
                  </m:oMath>
                </a14:m>
                <a:r>
                  <a:rPr lang="zh-CN" altLang="en-US" dirty="0"/>
                  <a:t>且满足</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m:t>
                    </m:r>
                  </m:oMath>
                </a14:m>
                <a:r>
                  <a:rPr lang="zh-CN" altLang="en-US" dirty="0"/>
                  <a:t>，则我们称该矩阵为</a:t>
                </a:r>
                <a:r>
                  <a:rPr lang="zh-CN" altLang="en-US" dirty="0">
                    <a:solidFill>
                      <a:srgbClr val="FF0000"/>
                    </a:solidFill>
                  </a:rPr>
                  <a:t>正</a:t>
                </a:r>
                <a:r>
                  <a:rPr lang="zh-CN" altLang="en-US" dirty="0">
                    <a:solidFill>
                      <a:srgbClr val="FF0000"/>
                    </a:solidFill>
                  </a:rPr>
                  <a:t>互反</a:t>
                </a:r>
                <a:r>
                  <a:rPr lang="zh-CN" altLang="en-US" dirty="0">
                    <a:solidFill>
                      <a:srgbClr val="FF0000"/>
                    </a:solidFill>
                  </a:rPr>
                  <a:t>矩阵</a:t>
                </a:r>
                <a:r>
                  <a:rPr lang="zh-CN" altLang="en-US" dirty="0"/>
                  <a:t>。</a:t>
                </a:r>
                <a:endParaRPr lang="en-US" altLang="zh-CN" dirty="0"/>
              </a:p>
              <a:p>
                <a:pPr lvl="1"/>
                <a:r>
                  <a:rPr lang="zh-CN" altLang="en-US" dirty="0"/>
                  <a:t>若</a:t>
                </a:r>
                <a:r>
                  <a:rPr lang="zh-CN" altLang="en-US" dirty="0"/>
                  <a:t>正互反</a:t>
                </a:r>
                <a:r>
                  <a:rPr lang="zh-CN" altLang="en-US" dirty="0"/>
                  <a:t>矩阵满足</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𝑖</m:t>
                        </m:r>
                        <m:r>
                          <a:rPr lang="zh-CN" altLang="en-US" i="1">
                            <a:latin typeface="Cambria Math" panose="02040503050406030204" pitchFamily="18" charset="0"/>
                          </a:rPr>
                          <m:t>的</m:t>
                        </m:r>
                        <m:r>
                          <a:rPr lang="zh-CN" altLang="en-US" i="1" smtClean="0">
                            <a:latin typeface="Cambria Math" panose="02040503050406030204" pitchFamily="18" charset="0"/>
                          </a:rPr>
                          <m:t>重要程度</m:t>
                        </m:r>
                      </m:num>
                      <m:den>
                        <m:r>
                          <m:rPr>
                            <m:sty m:val="p"/>
                          </m:rPr>
                          <a:rPr lang="en-US" altLang="zh-CN" i="1">
                            <a:latin typeface="Cambria Math" panose="02040503050406030204" pitchFamily="18" charset="0"/>
                          </a:rPr>
                          <m:t>k</m:t>
                        </m:r>
                        <m:r>
                          <a:rPr lang="zh-CN" altLang="en-US" i="1" smtClean="0">
                            <a:latin typeface="Cambria Math" panose="02040503050406030204" pitchFamily="18" charset="0"/>
                          </a:rPr>
                          <m:t>的</m:t>
                        </m:r>
                        <m:r>
                          <a:rPr lang="zh-CN" altLang="en-US" i="1">
                            <a:latin typeface="Cambria Math" panose="02040503050406030204" pitchFamily="18" charset="0"/>
                          </a:rPr>
                          <m:t>重要</m:t>
                        </m:r>
                        <m:r>
                          <a:rPr lang="zh-CN" altLang="en-US" i="1" smtClean="0">
                            <a:latin typeface="Cambria Math" panose="02040503050406030204" pitchFamily="18" charset="0"/>
                          </a:rPr>
                          <m:t>程度</m:t>
                        </m:r>
                      </m:den>
                    </m:f>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𝑗𝑘</m:t>
                        </m:r>
                      </m:sub>
                    </m:sSub>
                  </m:oMath>
                </a14:m>
                <a:r>
                  <a:rPr lang="zh-CN" altLang="en-US" dirty="0"/>
                  <a:t>，则该矩阵为</a:t>
                </a:r>
                <a:r>
                  <a:rPr lang="zh-CN" altLang="en-US" dirty="0">
                    <a:solidFill>
                      <a:srgbClr val="FF0000"/>
                    </a:solidFill>
                  </a:rPr>
                  <a:t>一致矩阵</a:t>
                </a:r>
                <a:endParaRPr lang="zh-CN" altLang="en-US" dirty="0">
                  <a:solidFill>
                    <a:srgbClr val="FF0000"/>
                  </a:solidFill>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a:t>
            </a:r>
            <a:r>
              <a:rPr lang="zh-CN" altLang="en-US" dirty="0"/>
              <a:t>一致性检验的步骤</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一致性检验共有五个步骤组成，我们以“地理位置及交通状况”矩阵为例</a:t>
                </a:r>
                <a:r>
                  <a:rPr lang="en-US" altLang="zh-CN" dirty="0"/>
                  <a:t>,</a:t>
                </a:r>
                <a:r>
                  <a:rPr lang="zh-CN" altLang="en-US" dirty="0"/>
                  <a:t>其特征向量为</a:t>
                </a:r>
                <a14:m>
                  <m:oMath xmlns:m="http://schemas.openxmlformats.org/officeDocument/2006/math">
                    <m:d>
                      <m:dPr>
                        <m:begChr m:val="["/>
                        <m:endChr m:val="]"/>
                        <m:ctrlPr>
                          <a:rPr lang="en-US" altLang="zh-CN" sz="1800" i="1" smtClean="0">
                            <a:latin typeface="Cambria Math" panose="02040503050406030204" pitchFamily="18" charset="0"/>
                          </a:rPr>
                        </m:ctrlPr>
                      </m:dPr>
                      <m:e>
                        <m:m>
                          <m:mPr>
                            <m:mcs>
                              <m:mc>
                                <m:mcPr>
                                  <m:count m:val="1"/>
                                  <m:mcJc m:val="center"/>
                                </m:mcPr>
                              </m:mc>
                            </m:mcs>
                            <m:ctrlPr>
                              <a:rPr lang="en-US" altLang="zh-CN" sz="1800" i="1" smtClean="0">
                                <a:latin typeface="Cambria Math" panose="02040503050406030204" pitchFamily="18" charset="0"/>
                              </a:rPr>
                            </m:ctrlPr>
                          </m:mPr>
                          <m:mr>
                            <m:e>
                              <m:r>
                                <m:rPr>
                                  <m:brk m:alnAt="7"/>
                                </m:rP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593</m:t>
                              </m:r>
                            </m:e>
                          </m:mr>
                          <m:mr>
                            <m:e>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341</m:t>
                              </m:r>
                            </m:e>
                          </m:mr>
                          <m:mr>
                            <m:e>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066</m:t>
                              </m:r>
                            </m:e>
                          </m:mr>
                        </m:m>
                      </m:e>
                    </m:d>
                  </m:oMath>
                </a14:m>
                <a:r>
                  <a:rPr lang="en-US" altLang="zh-CN" dirty="0"/>
                  <a:t>:</a:t>
                </a:r>
                <a:endParaRPr lang="en-US" altLang="zh-CN" dirty="0"/>
              </a:p>
              <a:p>
                <a:pPr marL="971550" lvl="1" indent="-514350">
                  <a:buFont typeface="+mj-lt"/>
                  <a:buAutoNum type="arabicPeriod"/>
                </a:pPr>
                <a:r>
                  <a:rPr lang="zh-CN" altLang="en-US" dirty="0"/>
                  <a:t>由被检验的两两比较矩阵乘以其特征向量，得到赋权和向量</a:t>
                </a:r>
                <a:endParaRPr lang="en-US" altLang="zh-CN" dirty="0"/>
              </a:p>
              <a:p>
                <a:pPr marL="971550" lvl="1" indent="-514350">
                  <a:buFont typeface="+mj-lt"/>
                  <a:buAutoNum type="arabicPeriod"/>
                </a:pPr>
                <a:r>
                  <a:rPr lang="zh-CN" altLang="en-US" dirty="0"/>
                  <a:t>每个赋权和向量分别处以对应的特征向量分量</a:t>
                </a:r>
                <a:endParaRPr lang="en-US" altLang="zh-CN" dirty="0"/>
              </a:p>
              <a:p>
                <a:pPr marL="971550" lvl="1" indent="-514350">
                  <a:buFont typeface="+mj-lt"/>
                  <a:buAutoNum type="arabicPeriod"/>
                </a:pPr>
                <a:r>
                  <a:rPr lang="zh-CN" altLang="en-US" dirty="0"/>
                  <a:t>计算出第</a:t>
                </a:r>
                <a:r>
                  <a:rPr lang="en-US" altLang="zh-CN" dirty="0"/>
                  <a:t>2</a:t>
                </a:r>
                <a:r>
                  <a:rPr lang="zh-CN" altLang="en-US" dirty="0"/>
                  <a:t>步结果的平均值，记为</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𝜆</m:t>
                        </m:r>
                      </m:e>
                      <m:sub>
                        <m:r>
                          <a:rPr lang="en-US" altLang="zh-CN" b="0" i="1" smtClean="0">
                            <a:latin typeface="Cambria Math" panose="02040503050406030204" pitchFamily="18" charset="0"/>
                          </a:rPr>
                          <m:t>𝑚𝑎𝑥</m:t>
                        </m:r>
                      </m:sub>
                    </m:sSub>
                  </m:oMath>
                </a14:m>
                <a:endParaRPr lang="en-US" altLang="zh-CN" dirty="0"/>
              </a:p>
              <a:p>
                <a:pPr marL="971550" lvl="1" indent="-514350">
                  <a:buFont typeface="+mj-lt"/>
                  <a:buAutoNum type="arabicPeriod"/>
                </a:pPr>
                <a:r>
                  <a:rPr lang="zh-CN" altLang="en-US" dirty="0"/>
                  <a:t>计算一致性指标</a:t>
                </a:r>
                <a14:m>
                  <m:oMath xmlns:m="http://schemas.openxmlformats.org/officeDocument/2006/math">
                    <m:r>
                      <a:rPr lang="en-US" altLang="zh-CN" b="0" i="1" smtClean="0">
                        <a:latin typeface="Cambria Math" panose="02040503050406030204" pitchFamily="18" charset="0"/>
                      </a:rPr>
                      <m:t>𝐶𝐼</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𝜆</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den>
                    </m:f>
                  </m:oMath>
                </a14:m>
                <a:r>
                  <a:rPr lang="zh-CN" altLang="en-US" dirty="0"/>
                  <a:t>，其中</a:t>
                </a:r>
                <a:r>
                  <a:rPr lang="en-US" altLang="zh-CN" dirty="0"/>
                  <a:t>n</a:t>
                </a:r>
                <a:r>
                  <a:rPr lang="zh-CN" altLang="en-US" dirty="0"/>
                  <a:t>为策略数量（此处</a:t>
                </a:r>
                <a:r>
                  <a:rPr lang="en-US" altLang="zh-CN" dirty="0"/>
                  <a:t>n=3</a:t>
                </a:r>
                <a:r>
                  <a:rPr lang="zh-CN" altLang="en-US" dirty="0"/>
                  <a:t>）</a:t>
                </a:r>
                <a:endParaRPr lang="en-US" altLang="zh-CN" dirty="0"/>
              </a:p>
              <a:p>
                <a:pPr marL="971550" lvl="1" indent="-514350">
                  <a:buFont typeface="+mj-lt"/>
                  <a:buAutoNum type="arabicPeriod"/>
                </a:pPr>
                <a:r>
                  <a:rPr lang="zh-CN" altLang="en-US" dirty="0"/>
                  <a:t>计算出一致性率</a:t>
                </a:r>
                <a14:m>
                  <m:oMath xmlns:m="http://schemas.openxmlformats.org/officeDocument/2006/math">
                    <m:r>
                      <a:rPr lang="en-US" altLang="zh-CN" b="0" i="1" smtClean="0">
                        <a:latin typeface="Cambria Math" panose="02040503050406030204" pitchFamily="18" charset="0"/>
                      </a:rPr>
                      <m:t>𝐶𝑅</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𝐶𝐼</m:t>
                        </m:r>
                      </m:num>
                      <m:den>
                        <m:r>
                          <a:rPr lang="en-US" altLang="zh-CN" b="0" i="1" smtClean="0">
                            <a:latin typeface="Cambria Math" panose="02040503050406030204" pitchFamily="18" charset="0"/>
                          </a:rPr>
                          <m:t>𝑅𝐼</m:t>
                        </m:r>
                      </m:den>
                    </m:f>
                  </m:oMath>
                </a14:m>
                <a:r>
                  <a:rPr lang="zh-CN" altLang="en-US" dirty="0"/>
                  <a:t>，其中</a:t>
                </a:r>
                <a:r>
                  <a:rPr lang="en-US" altLang="zh-CN" dirty="0"/>
                  <a:t>RI</a:t>
                </a:r>
                <a:r>
                  <a:rPr lang="zh-CN" altLang="en-US" dirty="0"/>
                  <a:t>是自由度指标，一般需要</a:t>
                </a:r>
                <a14:m>
                  <m:oMath xmlns:m="http://schemas.openxmlformats.org/officeDocument/2006/math">
                    <m:r>
                      <a:rPr lang="en-US" altLang="zh-CN" b="0" i="1" smtClean="0">
                        <a:latin typeface="Cambria Math" panose="02040503050406030204" pitchFamily="18" charset="0"/>
                      </a:rPr>
                      <m:t>𝐶𝑅</m:t>
                    </m:r>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oMath>
                </a14:m>
                <a:endParaRPr lang="en-US" altLang="zh-CN"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graphicFrame>
        <p:nvGraphicFramePr>
          <p:cNvPr id="5" name="表格 4"/>
          <p:cNvGraphicFramePr>
            <a:graphicFrameLocks noGrp="1"/>
          </p:cNvGraphicFramePr>
          <p:nvPr/>
        </p:nvGraphicFramePr>
        <p:xfrm>
          <a:off x="2132853" y="5435283"/>
          <a:ext cx="8128000" cy="741680"/>
        </p:xfrm>
        <a:graphic>
          <a:graphicData uri="http://schemas.openxmlformats.org/drawingml/2006/table">
            <a:tbl>
              <a:tblPr firstRow="1" bandRow="1">
                <a:tableStyleId>{5C22544A-7EE6-4342-B048-85BDC9FD1C3A}</a:tableStyleId>
              </a:tblPr>
              <a:tblGrid>
                <a:gridCol w="812800"/>
                <a:gridCol w="812800"/>
                <a:gridCol w="812800"/>
                <a:gridCol w="812800"/>
                <a:gridCol w="812800"/>
                <a:gridCol w="812800"/>
                <a:gridCol w="812800"/>
                <a:gridCol w="812800"/>
                <a:gridCol w="812800"/>
                <a:gridCol w="812800"/>
              </a:tblGrid>
              <a:tr h="370840">
                <a:tc>
                  <a:txBody>
                    <a:bodyPr/>
                    <a:lstStyle/>
                    <a:p>
                      <a:pPr algn="ctr"/>
                      <a:r>
                        <a:rPr lang="zh-CN" altLang="en-US" sz="1600" dirty="0"/>
                        <a:t>维数</a:t>
                      </a:r>
                      <a:r>
                        <a:rPr lang="en-US" altLang="zh-CN" sz="1600" dirty="0"/>
                        <a:t>(n)</a:t>
                      </a:r>
                      <a:endParaRPr lang="zh-CN" altLang="en-US" sz="1600"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tr>
              <a:tr h="370840">
                <a:tc>
                  <a:txBody>
                    <a:bodyPr/>
                    <a:lstStyle/>
                    <a:p>
                      <a:pPr algn="ctr"/>
                      <a:r>
                        <a:rPr lang="en-US" altLang="zh-CN" dirty="0"/>
                        <a:t>RI</a:t>
                      </a:r>
                      <a:endParaRPr lang="zh-CN" altLang="en-US" dirty="0"/>
                    </a:p>
                  </a:txBody>
                  <a:tcPr/>
                </a:tc>
                <a:tc>
                  <a:txBody>
                    <a:bodyPr/>
                    <a:lstStyle/>
                    <a:p>
                      <a:pPr algn="ctr"/>
                      <a:r>
                        <a:rPr lang="en-US" altLang="zh-CN" dirty="0"/>
                        <a:t>0.00</a:t>
                      </a:r>
                      <a:endParaRPr lang="zh-CN" altLang="en-US" dirty="0"/>
                    </a:p>
                  </a:txBody>
                  <a:tcPr/>
                </a:tc>
                <a:tc>
                  <a:txBody>
                    <a:bodyPr/>
                    <a:lstStyle/>
                    <a:p>
                      <a:pPr algn="ctr"/>
                      <a:r>
                        <a:rPr lang="en-US" altLang="zh-CN" dirty="0"/>
                        <a:t>0.00</a:t>
                      </a:r>
                      <a:endParaRPr lang="zh-CN" altLang="en-US" dirty="0"/>
                    </a:p>
                  </a:txBody>
                  <a:tcPr/>
                </a:tc>
                <a:tc>
                  <a:txBody>
                    <a:bodyPr/>
                    <a:lstStyle/>
                    <a:p>
                      <a:pPr algn="ctr"/>
                      <a:r>
                        <a:rPr lang="en-US" altLang="zh-CN" dirty="0"/>
                        <a:t>0.58</a:t>
                      </a:r>
                      <a:endParaRPr lang="zh-CN" altLang="en-US" dirty="0"/>
                    </a:p>
                  </a:txBody>
                  <a:tcPr/>
                </a:tc>
                <a:tc>
                  <a:txBody>
                    <a:bodyPr/>
                    <a:lstStyle/>
                    <a:p>
                      <a:pPr algn="ctr"/>
                      <a:r>
                        <a:rPr lang="en-US" altLang="zh-CN" dirty="0"/>
                        <a:t>0.96</a:t>
                      </a:r>
                      <a:endParaRPr lang="zh-CN" altLang="en-US" dirty="0"/>
                    </a:p>
                  </a:txBody>
                  <a:tcPr/>
                </a:tc>
                <a:tc>
                  <a:txBody>
                    <a:bodyPr/>
                    <a:lstStyle/>
                    <a:p>
                      <a:pPr algn="ctr"/>
                      <a:r>
                        <a:rPr lang="en-US" altLang="zh-CN" dirty="0"/>
                        <a:t>1.12</a:t>
                      </a:r>
                      <a:endParaRPr lang="zh-CN" altLang="en-US" dirty="0"/>
                    </a:p>
                  </a:txBody>
                  <a:tcPr/>
                </a:tc>
                <a:tc>
                  <a:txBody>
                    <a:bodyPr/>
                    <a:lstStyle/>
                    <a:p>
                      <a:pPr algn="ctr"/>
                      <a:r>
                        <a:rPr lang="en-US" altLang="zh-CN" dirty="0"/>
                        <a:t>1.24</a:t>
                      </a:r>
                      <a:endParaRPr lang="zh-CN" altLang="en-US" dirty="0"/>
                    </a:p>
                  </a:txBody>
                  <a:tcPr/>
                </a:tc>
                <a:tc>
                  <a:txBody>
                    <a:bodyPr/>
                    <a:lstStyle/>
                    <a:p>
                      <a:pPr algn="ctr"/>
                      <a:r>
                        <a:rPr lang="en-US" altLang="zh-CN" dirty="0"/>
                        <a:t>1.32</a:t>
                      </a:r>
                      <a:endParaRPr lang="zh-CN" altLang="en-US" dirty="0"/>
                    </a:p>
                  </a:txBody>
                  <a:tcPr/>
                </a:tc>
                <a:tc>
                  <a:txBody>
                    <a:bodyPr/>
                    <a:lstStyle/>
                    <a:p>
                      <a:pPr algn="ctr"/>
                      <a:r>
                        <a:rPr lang="en-US" altLang="zh-CN" dirty="0"/>
                        <a:t>1.41</a:t>
                      </a:r>
                      <a:endParaRPr lang="zh-CN" altLang="en-US" dirty="0"/>
                    </a:p>
                  </a:txBody>
                  <a:tcPr/>
                </a:tc>
                <a:tc>
                  <a:txBody>
                    <a:bodyPr/>
                    <a:lstStyle/>
                    <a:p>
                      <a:pPr algn="ctr"/>
                      <a:r>
                        <a:rPr lang="en-US" altLang="zh-CN" dirty="0"/>
                        <a:t>1.45</a:t>
                      </a:r>
                      <a:endParaRPr lang="zh-CN" altLang="en-US"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以地理位置和交通条件矩阵为例</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r>
                  <a:rPr lang="en-US" dirty="0"/>
                  <a:t>计算赋权和向量</a:t>
                </a:r>
                <a:r>
                  <a:rPr lang="zh-CN" altLang="en-US" dirty="0"/>
                  <a:t>：</a:t>
                </a:r>
                <a:endParaRPr lang="en-US" altLang="zh-CN" dirty="0"/>
              </a:p>
              <a:p>
                <a:pPr marL="0" indent="0">
                  <a:buNone/>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m>
                            <m:mPr>
                              <m:mcs>
                                <m:mc>
                                  <m:mcPr>
                                    <m:count m:val="3"/>
                                    <m:mcJc m:val="center"/>
                                  </m:mcPr>
                                </m:mc>
                              </m:mcs>
                              <m:ctrlPr>
                                <a:rPr lang="en-US" i="1" smtClean="0">
                                  <a:latin typeface="Cambria Math" panose="02040503050406030204" pitchFamily="18" charset="0"/>
                                </a:rPr>
                              </m:ctrlPr>
                            </m:mPr>
                            <m:mr>
                              <m:e>
                                <m:r>
                                  <m:rPr>
                                    <m:brk m:alnAt="7"/>
                                  </m:rPr>
                                  <a:rPr lang="en-US" altLang="zh-CN" b="0" i="1" smtClean="0">
                                    <a:latin typeface="Cambria Math" panose="02040503050406030204" pitchFamily="18" charset="0"/>
                                  </a:rPr>
                                  <m:t>1</m:t>
                                </m:r>
                              </m:e>
                              <m:e>
                                <m:r>
                                  <a:rPr lang="en-US" altLang="zh-CN" b="0" i="1" smtClean="0">
                                    <a:latin typeface="Cambria Math" panose="02040503050406030204" pitchFamily="18" charset="0"/>
                                  </a:rPr>
                                  <m:t>2</m:t>
                                </m:r>
                              </m:e>
                              <m:e>
                                <m:r>
                                  <a:rPr lang="en-US" altLang="zh-CN" b="0" i="1" smtClean="0">
                                    <a:latin typeface="Cambria Math" panose="02040503050406030204" pitchFamily="18" charset="0"/>
                                  </a:rPr>
                                  <m:t>8</m:t>
                                </m:r>
                              </m:e>
                            </m:mr>
                            <m:mr>
                              <m:e>
                                <m:f>
                                  <m:fPr>
                                    <m:type m:val="skw"/>
                                    <m:ctrlPr>
                                      <a:rPr lang="en-US"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6</m:t>
                                </m:r>
                              </m:e>
                            </m:mr>
                            <m:mr>
                              <m:e>
                                <m:f>
                                  <m:fPr>
                                    <m:type m:val="skw"/>
                                    <m:ctrlPr>
                                      <a:rPr lang="en-US"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8</m:t>
                                    </m:r>
                                  </m:den>
                                </m:f>
                              </m:e>
                              <m:e>
                                <m:f>
                                  <m:fPr>
                                    <m:type m:val="skw"/>
                                    <m:ctrlPr>
                                      <a:rPr lang="en-US"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e>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593</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341</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066</m:t>
                                </m:r>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803</m:t>
                                </m:r>
                              </m:e>
                            </m:mr>
                            <m:mr>
                              <m:e>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034</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197</m:t>
                                </m:r>
                              </m:e>
                            </m:mr>
                          </m:m>
                        </m:e>
                      </m:d>
                    </m:oMath>
                  </m:oMathPara>
                </a14:m>
                <a:endParaRPr lang="en-US" altLang="zh-CN" b="0" dirty="0"/>
              </a:p>
              <a:p>
                <a:r>
                  <a:rPr lang="zh-CN" altLang="en-US" dirty="0"/>
                  <a:t>每个赋权和向量分别处以对应的特征向量分量</a:t>
                </a:r>
                <a:endParaRPr lang="en-US" altLang="zh-CN" dirty="0"/>
              </a:p>
              <a:p>
                <a:endParaRPr lang="en-US" altLang="zh-CN" dirty="0"/>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f>
                              <m:fPr>
                                <m:type m:val="skw"/>
                                <m:ctrlPr>
                                  <a:rPr lang="en-US" i="1" smtClean="0">
                                    <a:latin typeface="Cambria Math" panose="02040503050406030204" pitchFamily="18" charset="0"/>
                                  </a:rPr>
                                </m:ctrlPr>
                              </m:fPr>
                              <m:num>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803</m:t>
                                </m:r>
                              </m:num>
                              <m:den>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593</m:t>
                                </m:r>
                              </m:den>
                            </m:f>
                            <m:r>
                              <m:rPr>
                                <m:brk m:alnAt="7"/>
                              </m:rP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040</m:t>
                            </m:r>
                          </m:e>
                        </m:mr>
                        <m:mr>
                          <m:e>
                            <m:f>
                              <m:fPr>
                                <m:type m:val="skw"/>
                                <m:ctrlPr>
                                  <a:rPr lang="en-US" i="1">
                                    <a:latin typeface="Cambria Math" panose="02040503050406030204" pitchFamily="18" charset="0"/>
                                  </a:rPr>
                                </m:ctrlPr>
                              </m:fPr>
                              <m:num>
                                <m:r>
                                  <a:rPr lang="en-US" altLang="zh-CN" i="1">
                                    <a:latin typeface="Cambria Math" panose="02040503050406030204" pitchFamily="18" charset="0"/>
                                  </a:rPr>
                                  <m:t>1</m:t>
                                </m:r>
                                <m:r>
                                  <a:rPr lang="en-US" altLang="zh-CN" i="1">
                                    <a:latin typeface="Cambria Math" panose="02040503050406030204" pitchFamily="18" charset="0"/>
                                  </a:rPr>
                                  <m:t>.</m:t>
                                </m:r>
                                <m:r>
                                  <a:rPr lang="en-US" altLang="zh-CN" b="0" i="1" smtClean="0">
                                    <a:latin typeface="Cambria Math" panose="02040503050406030204" pitchFamily="18" charset="0"/>
                                  </a:rPr>
                                  <m:t>034</m:t>
                                </m:r>
                              </m:num>
                              <m:den>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341</m:t>
                                </m:r>
                              </m:den>
                            </m:f>
                            <m:r>
                              <m:rPr>
                                <m:brk m:alnAt="7"/>
                              </m:rPr>
                              <a:rPr lang="en-US" altLang="zh-CN" i="1">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032</m:t>
                            </m:r>
                          </m:e>
                        </m:mr>
                        <m:mr>
                          <m:e>
                            <m:f>
                              <m:fPr>
                                <m:type m:val="skw"/>
                                <m:ctrlPr>
                                  <a:rPr lang="en-US" i="1">
                                    <a:latin typeface="Cambria Math" panose="02040503050406030204" pitchFamily="18" charset="0"/>
                                  </a:rPr>
                                </m:ctrlPr>
                              </m:fPr>
                              <m:num>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197</m:t>
                                </m:r>
                              </m:num>
                              <m:den>
                                <m:r>
                                  <a:rPr lang="en-US" altLang="zh-CN" i="1">
                                    <a:latin typeface="Cambria Math" panose="02040503050406030204" pitchFamily="18" charset="0"/>
                                  </a:rPr>
                                  <m:t>0</m:t>
                                </m:r>
                                <m:r>
                                  <a:rPr lang="en-US" altLang="zh-CN" i="1">
                                    <a:latin typeface="Cambria Math" panose="02040503050406030204" pitchFamily="18" charset="0"/>
                                  </a:rPr>
                                  <m:t>.</m:t>
                                </m:r>
                                <m:r>
                                  <a:rPr lang="en-US" altLang="zh-CN" b="0" i="1" smtClean="0">
                                    <a:latin typeface="Cambria Math" panose="02040503050406030204" pitchFamily="18" charset="0"/>
                                  </a:rPr>
                                  <m:t>066</m:t>
                                </m:r>
                              </m:den>
                            </m:f>
                            <m:r>
                              <m:rPr>
                                <m:brk m:alnAt="7"/>
                              </m:rP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985</m:t>
                            </m:r>
                          </m:e>
                        </m:mr>
                      </m:m>
                    </m:oMath>
                  </m:oMathPara>
                </a14:m>
                <a:endParaRPr 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以地理位置和交通条件矩阵为例</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计算</a:t>
                </a:r>
                <a:r>
                  <a:rPr lang="en-US" dirty="0" err="1"/>
                  <a:t>平均结果</a:t>
                </a:r>
                <a:r>
                  <a:rPr lang="zh-CN" altLang="en-US" dirty="0"/>
                  <a:t>：</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𝜆</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040</m:t>
                          </m:r>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032</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r>
                            <a:rPr lang="en-US" altLang="zh-CN" b="0" i="1" smtClean="0">
                              <a:latin typeface="Cambria Math" panose="02040503050406030204" pitchFamily="18" charset="0"/>
                            </a:rPr>
                            <m:t>985</m:t>
                          </m:r>
                        </m:num>
                        <m:den>
                          <m:r>
                            <a:rPr lang="en-US" altLang="zh-CN" b="0" i="1" smtClean="0">
                              <a:latin typeface="Cambria Math" panose="02040503050406030204" pitchFamily="18" charset="0"/>
                            </a:rPr>
                            <m:t>3</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r>
                        <a:rPr lang="en-US" altLang="zh-CN" b="0" i="1" smtClean="0">
                          <a:latin typeface="Cambria Math" panose="02040503050406030204" pitchFamily="18" charset="0"/>
                        </a:rPr>
                        <m:t>019</m:t>
                      </m:r>
                    </m:oMath>
                  </m:oMathPara>
                </a14:m>
                <a:endParaRPr lang="en-US" altLang="zh-CN" b="0" dirty="0"/>
              </a:p>
              <a:p>
                <a:r>
                  <a:rPr lang="zh-CN" altLang="en-US" dirty="0"/>
                  <a:t>计算一致性指标：</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𝐶𝐼</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𝜆</m:t>
                              </m:r>
                            </m:e>
                            <m:sub>
                              <m:r>
                                <a:rPr lang="en-US" altLang="zh-CN" b="0" i="1" smtClean="0">
                                  <a:latin typeface="Cambria Math" panose="02040503050406030204" pitchFamily="18" charset="0"/>
                                </a:rPr>
                                <m:t>𝑚𝑎𝑥</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𝑛</m:t>
                          </m:r>
                        </m:num>
                        <m:den>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01</m:t>
                      </m:r>
                    </m:oMath>
                  </m:oMathPara>
                </a14:m>
                <a:endParaRPr lang="en-US" altLang="zh-CN" dirty="0"/>
              </a:p>
              <a:p>
                <a:r>
                  <a:rPr lang="zh-CN" altLang="en-US" dirty="0"/>
                  <a:t>计算一致性率：</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𝐶𝑅</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𝐶𝐼</m:t>
                          </m:r>
                        </m:num>
                        <m:den>
                          <m:r>
                            <a:rPr lang="en-US" altLang="zh-CN" b="0" i="1" smtClean="0">
                              <a:latin typeface="Cambria Math" panose="02040503050406030204" pitchFamily="18" charset="0"/>
                            </a:rPr>
                            <m:t>𝑅𝐼</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01</m:t>
                          </m:r>
                        </m:num>
                        <m:den>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58</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zh-CN" altLang="en-US" i="1">
                          <a:latin typeface="Cambria Math" panose="02040503050406030204" pitchFamily="18" charset="0"/>
                        </a:rPr>
                        <m:t>通过</m:t>
                      </m:r>
                      <m:r>
                        <a:rPr lang="zh-CN" altLang="en-US" i="1" smtClean="0">
                          <a:latin typeface="Cambria Math" panose="02040503050406030204" pitchFamily="18" charset="0"/>
                        </a:rPr>
                        <m:t>一致性</m:t>
                      </m:r>
                      <m:r>
                        <a:rPr lang="zh-CN" altLang="en-US" i="1">
                          <a:latin typeface="Cambria Math" panose="02040503050406030204" pitchFamily="18" charset="0"/>
                        </a:rPr>
                        <m:t>检验</m:t>
                      </m:r>
                      <m:r>
                        <a:rPr lang="zh-CN" altLang="en-US" b="0" i="1" smtClean="0">
                          <a:latin typeface="Cambria Math" panose="02040503050406030204" pitchFamily="18" charset="0"/>
                        </a:rPr>
                        <m:t>）</m:t>
                      </m:r>
                    </m:oMath>
                  </m:oMathPara>
                </a14:m>
                <a:endParaRPr lang="en-US"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 </a:t>
            </a:r>
            <a:r>
              <a:rPr lang="en-US" altLang="zh-CN" dirty="0"/>
              <a:t>–</a:t>
            </a:r>
            <a:r>
              <a:rPr lang="zh-CN" altLang="en-US" dirty="0"/>
              <a:t>方案排序</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d>
                        <m:dPr>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593</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341</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066</m:t>
                                </m:r>
                              </m:e>
                            </m:mr>
                          </m:m>
                          <m:r>
                            <a:rPr lang="en-US" altLang="zh-CN" b="0" i="1" smtClean="0">
                              <a:latin typeface="Cambria Math" panose="02040503050406030204" pitchFamily="18" charset="0"/>
                            </a:rPr>
                            <m:t> </m:t>
                          </m:r>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123</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320</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557</m:t>
                                </m:r>
                              </m:e>
                            </m:mr>
                          </m:m>
                          <m:r>
                            <a:rPr lang="en-US" altLang="zh-CN" b="0" i="1" smtClean="0">
                              <a:latin typeface="Cambria Math" panose="02040503050406030204" pitchFamily="18" charset="0"/>
                            </a:rPr>
                            <m:t> </m:t>
                          </m:r>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087</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274</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639</m:t>
                                </m:r>
                              </m:e>
                            </m:mr>
                          </m:m>
                          <m:r>
                            <a:rPr lang="en-US" altLang="zh-CN" b="0" i="1" smtClean="0">
                              <a:latin typeface="Cambria Math" panose="02040503050406030204" pitchFamily="18" charset="0"/>
                            </a:rPr>
                            <m:t> </m:t>
                          </m:r>
                          <m:m>
                            <m:mPr>
                              <m:mcs>
                                <m:mc>
                                  <m:mcPr>
                                    <m:count m:val="1"/>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265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655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080</m:t>
                                </m:r>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m>
                                  <m:mPr>
                                    <m:mcs>
                                      <m:mc>
                                        <m:mcPr>
                                          <m:count m:val="1"/>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398</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218</m:t>
                                      </m:r>
                                    </m:e>
                                  </m:mr>
                                </m:m>
                              </m:e>
                            </m:mr>
                            <m:mr>
                              <m:e>
                                <m:m>
                                  <m:mPr>
                                    <m:mcs>
                                      <m:mc>
                                        <m:mcPr>
                                          <m:count m:val="1"/>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085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299</m:t>
                                      </m:r>
                                    </m:e>
                                  </m:mr>
                                </m:m>
                              </m:e>
                            </m:mr>
                          </m:m>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349</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425</m:t>
                                </m:r>
                              </m:e>
                            </m:mr>
                            <m:mr>
                              <m:e>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226</m:t>
                                </m:r>
                              </m:e>
                            </m:mr>
                          </m:m>
                        </m:e>
                      </m:d>
                    </m:oMath>
                  </m:oMathPara>
                </a14:m>
                <a:endParaRPr lang="en-US" altLang="zh-CN" dirty="0"/>
              </a:p>
              <a:p>
                <a:r>
                  <a:rPr lang="zh-CN" altLang="en-US" dirty="0"/>
                  <a:t>根据上述计算可知，房子</a:t>
                </a:r>
                <a:r>
                  <a:rPr lang="en-US" altLang="zh-CN" dirty="0"/>
                  <a:t>A</a:t>
                </a:r>
                <a:r>
                  <a:rPr lang="zh-CN" altLang="en-US" dirty="0"/>
                  <a:t>、</a:t>
                </a:r>
                <a:r>
                  <a:rPr lang="en-US" altLang="zh-CN" dirty="0"/>
                  <a:t>B</a:t>
                </a:r>
                <a:r>
                  <a:rPr lang="zh-CN" altLang="en-US" dirty="0"/>
                  <a:t>、</a:t>
                </a:r>
                <a:r>
                  <a:rPr lang="en-US" altLang="zh-CN" dirty="0"/>
                  <a:t>C</a:t>
                </a:r>
                <a:r>
                  <a:rPr lang="zh-CN" altLang="en-US" dirty="0"/>
                  <a:t>的最终得分为</a:t>
                </a:r>
                <a:r>
                  <a:rPr lang="en-US" altLang="zh-CN" dirty="0"/>
                  <a:t>0.349</a:t>
                </a:r>
                <a:r>
                  <a:rPr lang="zh-CN" altLang="en-US" dirty="0"/>
                  <a:t>、</a:t>
                </a:r>
                <a:r>
                  <a:rPr lang="en-US" altLang="zh-CN" dirty="0"/>
                  <a:t>0.425</a:t>
                </a:r>
                <a:r>
                  <a:rPr lang="zh-CN" altLang="en-US" dirty="0"/>
                  <a:t>、</a:t>
                </a:r>
                <a:r>
                  <a:rPr lang="en-US" altLang="zh-CN" dirty="0"/>
                  <a:t>0.226</a:t>
                </a:r>
                <a:r>
                  <a:rPr lang="zh-CN" altLang="en-US" dirty="0"/>
                  <a:t>。因此，我们应选择购买房子</a:t>
                </a:r>
                <a:r>
                  <a:rPr lang="en-US" altLang="zh-CN" dirty="0"/>
                  <a:t>B</a:t>
                </a:r>
                <a:r>
                  <a:rPr lang="zh-CN" altLang="en-US" dirty="0"/>
                  <a:t>。</a:t>
                </a:r>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365"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层次分析法的优缺点</a:t>
            </a:r>
            <a:endParaRPr lang="zh-CN" altLang="en-US" dirty="0"/>
          </a:p>
        </p:txBody>
      </p:sp>
      <p:sp>
        <p:nvSpPr>
          <p:cNvPr id="3" name="内容占位符 2"/>
          <p:cNvSpPr>
            <a:spLocks noGrp="1"/>
          </p:cNvSpPr>
          <p:nvPr>
            <p:ph idx="1"/>
          </p:nvPr>
        </p:nvSpPr>
        <p:spPr/>
        <p:txBody>
          <a:bodyPr/>
          <a:lstStyle/>
          <a:p>
            <a:r>
              <a:rPr lang="zh-CN" altLang="en-US" dirty="0"/>
              <a:t>优点：</a:t>
            </a:r>
            <a:endParaRPr lang="en-US" altLang="zh-CN" dirty="0"/>
          </a:p>
          <a:p>
            <a:pPr lvl="1"/>
            <a:r>
              <a:rPr lang="zh-CN" altLang="en-US" dirty="0"/>
              <a:t>系统性：将任何一个决策对象视为一个系统</a:t>
            </a:r>
            <a:endParaRPr lang="en-US" altLang="zh-CN" dirty="0"/>
          </a:p>
          <a:p>
            <a:pPr lvl="1"/>
            <a:r>
              <a:rPr lang="zh-CN" altLang="en-US" dirty="0"/>
              <a:t>实用性：通过定性与定量相结合，解决传统优化方法无法解决的实际问题</a:t>
            </a:r>
            <a:endParaRPr lang="en-US" altLang="zh-CN" dirty="0"/>
          </a:p>
          <a:p>
            <a:pPr lvl="1"/>
            <a:r>
              <a:rPr lang="zh-CN" altLang="en-US" dirty="0"/>
              <a:t>简洁性：计算简便，结果明了</a:t>
            </a:r>
            <a:endParaRPr lang="en-US" altLang="zh-CN" dirty="0"/>
          </a:p>
          <a:p>
            <a:r>
              <a:rPr lang="zh-CN" altLang="en-US" dirty="0"/>
              <a:t>缺点：</a:t>
            </a:r>
            <a:endParaRPr lang="en-US" altLang="zh-CN" dirty="0"/>
          </a:p>
          <a:p>
            <a:pPr lvl="1"/>
            <a:r>
              <a:rPr lang="zh-CN" altLang="en-US" dirty="0"/>
              <a:t>只能在已有方案中选择一个，不能提出更好的新方案</a:t>
            </a:r>
            <a:endParaRPr lang="en-US" altLang="zh-CN" dirty="0"/>
          </a:p>
          <a:p>
            <a:pPr lvl="1"/>
            <a:r>
              <a:rPr lang="zh-CN" altLang="en-US" dirty="0"/>
              <a:t>计算粗略，不能用于判断精度较高的问题</a:t>
            </a:r>
            <a:endParaRPr lang="en-US" altLang="zh-CN" dirty="0"/>
          </a:p>
          <a:p>
            <a:pPr lvl="1"/>
            <a:r>
              <a:rPr lang="zh-CN" altLang="en-US" dirty="0"/>
              <a:t>比较权重的选择偏主观（可以通过专家群体集体判断克服）</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本章总结</a:t>
            </a:r>
            <a:endParaRPr lang="zh-CN" altLang="en-US" dirty="0"/>
          </a:p>
        </p:txBody>
      </p:sp>
      <p:sp>
        <p:nvSpPr>
          <p:cNvPr id="3" name="内容占位符 2"/>
          <p:cNvSpPr>
            <a:spLocks noGrp="1"/>
          </p:cNvSpPr>
          <p:nvPr>
            <p:ph idx="1"/>
          </p:nvPr>
        </p:nvSpPr>
        <p:spPr/>
        <p:txBody>
          <a:bodyPr>
            <a:normAutofit fontScale="55000" lnSpcReduction="20000"/>
          </a:bodyPr>
          <a:lstStyle/>
          <a:p>
            <a:r>
              <a:rPr lang="zh-CN" altLang="en-US" dirty="0"/>
              <a:t>决策分析概述</a:t>
            </a:r>
            <a:endParaRPr lang="en-US" altLang="zh-CN" dirty="0"/>
          </a:p>
          <a:p>
            <a:pPr lvl="1"/>
            <a:r>
              <a:rPr lang="zh-CN" altLang="en-US" dirty="0"/>
              <a:t>决策问题由哪些要素组成？</a:t>
            </a:r>
            <a:endParaRPr lang="en-US" altLang="zh-CN" dirty="0"/>
          </a:p>
          <a:p>
            <a:pPr lvl="1"/>
            <a:r>
              <a:rPr lang="zh-CN" altLang="en-US" dirty="0"/>
              <a:t>决策问题分为哪些类型？</a:t>
            </a:r>
            <a:endParaRPr lang="en-US" altLang="zh-CN" dirty="0"/>
          </a:p>
          <a:p>
            <a:r>
              <a:rPr lang="zh-CN" altLang="en-US" dirty="0"/>
              <a:t>确定型决策问题</a:t>
            </a:r>
            <a:endParaRPr lang="en-US" altLang="zh-CN" dirty="0"/>
          </a:p>
          <a:p>
            <a:pPr lvl="1"/>
            <a:r>
              <a:rPr lang="zh-CN" altLang="en-US" dirty="0"/>
              <a:t>我们学习过的模型中有哪些属于确定型决策？</a:t>
            </a:r>
            <a:endParaRPr lang="en-US" altLang="zh-CN" dirty="0"/>
          </a:p>
          <a:p>
            <a:r>
              <a:rPr lang="zh-CN" altLang="en-US" dirty="0"/>
              <a:t>不确定型决策问题</a:t>
            </a:r>
            <a:endParaRPr lang="en-US" altLang="zh-CN" dirty="0"/>
          </a:p>
          <a:p>
            <a:pPr lvl="1"/>
            <a:r>
              <a:rPr lang="zh-CN" altLang="en-US" dirty="0"/>
              <a:t>不确定型决策需要具备以下哪几种要素？</a:t>
            </a:r>
            <a:endParaRPr lang="en-US" altLang="zh-CN" dirty="0"/>
          </a:p>
          <a:p>
            <a:pPr lvl="1"/>
            <a:r>
              <a:rPr lang="zh-CN" altLang="en-US" dirty="0"/>
              <a:t>最大最大、最大最小、等可能、乐观系数、后悔值准则如何计算</a:t>
            </a:r>
            <a:endParaRPr lang="en-US" altLang="zh-CN" dirty="0"/>
          </a:p>
          <a:p>
            <a:r>
              <a:rPr lang="zh-CN" altLang="en-US" dirty="0"/>
              <a:t>风险型决策问题</a:t>
            </a:r>
            <a:endParaRPr lang="en-US" altLang="zh-CN" dirty="0"/>
          </a:p>
          <a:p>
            <a:pPr lvl="1"/>
            <a:r>
              <a:rPr lang="zh-CN" altLang="en-US" dirty="0"/>
              <a:t>期望值准则</a:t>
            </a:r>
            <a:endParaRPr lang="en-US" altLang="zh-CN" dirty="0"/>
          </a:p>
          <a:p>
            <a:pPr lvl="1"/>
            <a:r>
              <a:rPr lang="zh-CN" altLang="en-US" dirty="0"/>
              <a:t>决策树分析</a:t>
            </a:r>
            <a:endParaRPr lang="en-US" altLang="zh-CN" dirty="0"/>
          </a:p>
          <a:p>
            <a:pPr lvl="1"/>
            <a:r>
              <a:rPr lang="zh-CN" altLang="en-US" dirty="0"/>
              <a:t>全情报价值的定义</a:t>
            </a:r>
            <a:endParaRPr lang="en-US" altLang="zh-CN" dirty="0"/>
          </a:p>
          <a:p>
            <a:pPr lvl="1"/>
            <a:r>
              <a:rPr lang="zh-CN" altLang="en-US" dirty="0"/>
              <a:t>如何计算样本情报价值及其效率</a:t>
            </a:r>
            <a:endParaRPr lang="en-US" altLang="zh-CN" dirty="0"/>
          </a:p>
          <a:p>
            <a:pPr lvl="1"/>
            <a:r>
              <a:rPr lang="zh-CN" altLang="en-US" dirty="0"/>
              <a:t>如何根据等价概率计算收益值对应的效用？</a:t>
            </a:r>
            <a:endParaRPr lang="en-US" altLang="zh-CN" dirty="0"/>
          </a:p>
          <a:p>
            <a:r>
              <a:rPr lang="zh-CN" altLang="en-US" dirty="0"/>
              <a:t>层次分析法</a:t>
            </a:r>
            <a:endParaRPr lang="en-US" altLang="zh-CN" dirty="0"/>
          </a:p>
          <a:p>
            <a:pPr lvl="1"/>
            <a:r>
              <a:rPr lang="zh-CN" altLang="en-US" dirty="0"/>
              <a:t>如何计算特征向量</a:t>
            </a:r>
            <a:endParaRPr lang="en-US" altLang="zh-CN" dirty="0"/>
          </a:p>
          <a:p>
            <a:pPr lvl="1"/>
            <a:r>
              <a:rPr lang="zh-CN" altLang="en-US" dirty="0"/>
              <a:t>如何验证两两比较矩阵的一致性</a:t>
            </a:r>
            <a:endParaRPr lang="en-US" altLang="zh-CN" dirty="0"/>
          </a:p>
          <a:p>
            <a:pPr lvl="1"/>
            <a:r>
              <a:rPr lang="zh-CN" altLang="en-US" dirty="0"/>
              <a:t>如何给最终方案排序</a:t>
            </a:r>
            <a:endParaRPr lang="zh-CN" altLang="en-US" dirty="0"/>
          </a:p>
          <a:p>
            <a:endParaRPr lang="zh-CN" altLang="en-US" dirty="0"/>
          </a:p>
        </p:txBody>
      </p:sp>
    </p:spTree>
  </p:cSld>
  <p:clrMapOvr>
    <a:masterClrMapping/>
  </p:clrMapOvr>
</p:sld>
</file>

<file path=ppt/tags/tag1.xml><?xml version="1.0" encoding="utf-8"?>
<p:tagLst xmlns:p="http://schemas.openxmlformats.org/presentationml/2006/main">
  <p:tag name="TABLE_ENDDRAG_ORIGIN_RECT" val="522*153"/>
  <p:tag name="TABLE_ENDDRAG_RECT" val="98*140*522*153"/>
</p:tagLst>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14265</Words>
  <Application>WPS 演示</Application>
  <PresentationFormat>Widescreen</PresentationFormat>
  <Paragraphs>1734</Paragraphs>
  <Slides>91</Slides>
  <Notes>0</Notes>
  <HiddenSlides>0</HiddenSlides>
  <MMClips>0</MMClips>
  <ScaleCrop>false</ScaleCrop>
  <HeadingPairs>
    <vt:vector size="8" baseType="variant">
      <vt:variant>
        <vt:lpstr>已用的字体</vt:lpstr>
      </vt:variant>
      <vt:variant>
        <vt:i4>22</vt:i4>
      </vt:variant>
      <vt:variant>
        <vt:lpstr>主题</vt:lpstr>
      </vt:variant>
      <vt:variant>
        <vt:i4>4</vt:i4>
      </vt:variant>
      <vt:variant>
        <vt:lpstr>嵌入 OLE 服务器</vt:lpstr>
      </vt:variant>
      <vt:variant>
        <vt:i4>3</vt:i4>
      </vt:variant>
      <vt:variant>
        <vt:lpstr>幻灯片标题</vt:lpstr>
      </vt:variant>
      <vt:variant>
        <vt:i4>91</vt:i4>
      </vt:variant>
    </vt:vector>
  </HeadingPairs>
  <TitlesOfParts>
    <vt:vector size="120" baseType="lpstr">
      <vt:lpstr>Arial</vt:lpstr>
      <vt:lpstr>宋体</vt:lpstr>
      <vt:lpstr>Wingdings</vt:lpstr>
      <vt:lpstr>微软雅黑</vt:lpstr>
      <vt:lpstr>DIN Light</vt:lpstr>
      <vt:lpstr>微软雅黑 Light</vt:lpstr>
      <vt:lpstr>楷体</vt:lpstr>
      <vt:lpstr>等线</vt:lpstr>
      <vt:lpstr>Segoe UI Light</vt:lpstr>
      <vt:lpstr>Times New Roman</vt:lpstr>
      <vt:lpstr>Tahoma</vt:lpstr>
      <vt:lpstr>Courant</vt:lpstr>
      <vt:lpstr>Arial Unicode MS</vt:lpstr>
      <vt:lpstr>等线 Light</vt:lpstr>
      <vt:lpstr>Calibri</vt:lpstr>
      <vt:lpstr>Symbol</vt:lpstr>
      <vt:lpstr>思源黑体 CN Light</vt:lpstr>
      <vt:lpstr>黑体</vt:lpstr>
      <vt:lpstr>Cambria Math</vt:lpstr>
      <vt:lpstr>仿宋</vt:lpstr>
      <vt:lpstr>Verdana</vt:lpstr>
      <vt:lpstr>Arial Narrow</vt:lpstr>
      <vt:lpstr>主题1</vt:lpstr>
      <vt:lpstr>自定义设计方案</vt:lpstr>
      <vt:lpstr>1_Office 主题​​</vt:lpstr>
      <vt:lpstr>1_主题1</vt:lpstr>
      <vt:lpstr>MS_ClipArt_Gallery.2</vt:lpstr>
      <vt:lpstr>MS_ClipArt_Gallery.2</vt:lpstr>
      <vt:lpstr>Equation.DSMT4</vt:lpstr>
      <vt:lpstr>PowerPoint 演示文稿</vt:lpstr>
      <vt:lpstr>本章内容</vt:lpstr>
      <vt:lpstr>决策分析概述</vt:lpstr>
      <vt:lpstr>决策的例子1</vt:lpstr>
      <vt:lpstr>决策问题的特点:</vt:lpstr>
      <vt:lpstr>张三的决策树模型</vt:lpstr>
      <vt:lpstr>张三的决策树模型:有概率信息</vt:lpstr>
      <vt:lpstr>例子1中的疑问</vt:lpstr>
      <vt:lpstr>决策的例子2</vt:lpstr>
      <vt:lpstr>决策的例子3</vt:lpstr>
      <vt:lpstr>决策的例子4</vt:lpstr>
      <vt:lpstr>PowerPoint 演示文稿</vt:lpstr>
      <vt:lpstr>PowerPoint 演示文稿</vt:lpstr>
      <vt:lpstr>扩展模型的应用</vt:lpstr>
      <vt:lpstr>确定型决策分析</vt:lpstr>
      <vt:lpstr>确定型决策分析</vt:lpstr>
      <vt:lpstr>盈亏平衡分析示意图</vt:lpstr>
      <vt:lpstr>PowerPoint 演示文稿</vt:lpstr>
      <vt:lpstr>PowerPoint 演示文稿</vt:lpstr>
      <vt:lpstr>不确定型决策分析</vt:lpstr>
      <vt:lpstr>不确定型决策分析 – 例1</vt:lpstr>
      <vt:lpstr>不确定型决策分析 – 最大最小准则</vt:lpstr>
      <vt:lpstr>不确定型决策分析 – 最大最小准则</vt:lpstr>
      <vt:lpstr>不确定型决策分析 – 最大最大准则</vt:lpstr>
      <vt:lpstr>不确定型决策分析 – 最大最大值</vt:lpstr>
      <vt:lpstr>不确定型决策分析 – 等可能性准则</vt:lpstr>
      <vt:lpstr>不确定型决策分析 – 等可能性准则</vt:lpstr>
      <vt:lpstr>不确定型决策分析 – 乐观系数准则</vt:lpstr>
      <vt:lpstr>不确定型决策分析 – 乐观系数准则</vt:lpstr>
      <vt:lpstr>不确定型决策分析 – 后悔值准则</vt:lpstr>
      <vt:lpstr>不确定型决策分析 – 后悔值准则</vt:lpstr>
      <vt:lpstr>问题：不确定型决策问题存在“最优方案”吗？</vt:lpstr>
      <vt:lpstr>课堂练习</vt:lpstr>
      <vt:lpstr>PowerPoint 演示文稿</vt:lpstr>
      <vt:lpstr>风险型决策分析</vt:lpstr>
      <vt:lpstr>风险型决策分析 – 例2</vt:lpstr>
      <vt:lpstr>风险型决策分析 – 最大可能准则</vt:lpstr>
      <vt:lpstr>风险型决策分析 – 期望值准则</vt:lpstr>
      <vt:lpstr>风险型决策分析 – 决策树法</vt:lpstr>
      <vt:lpstr>风险型决策分析 – 决策树法</vt:lpstr>
      <vt:lpstr>风险型决策分析 – 决策树法</vt:lpstr>
      <vt:lpstr>风险型决策分析 –灵敏度分析</vt:lpstr>
      <vt:lpstr>风险型决策分析 –灵敏度分析</vt:lpstr>
      <vt:lpstr>风险型决策分析 –灵敏度分析</vt:lpstr>
      <vt:lpstr>风险型决策分析 – 全情报价值</vt:lpstr>
      <vt:lpstr>风险型决策分析 – 全情报价值</vt:lpstr>
      <vt:lpstr>风险型决策分析 – 黔驴技穷的决策模型</vt:lpstr>
      <vt:lpstr>风险型决策分析 – 全情报价值</vt:lpstr>
      <vt:lpstr>风险型决策分析 – 黔驴技穷的决策模型</vt:lpstr>
      <vt:lpstr>老虎的先验概率：驴厉害吗？</vt:lpstr>
      <vt:lpstr>老虎先验概率的修正：</vt:lpstr>
      <vt:lpstr>老虎的后验概率：</vt:lpstr>
      <vt:lpstr>风险型决策分析 – 具有样本情报的决策</vt:lpstr>
      <vt:lpstr>风险型决策分析 – 例3</vt:lpstr>
      <vt:lpstr>风险型决策分析 – 样本概率估计</vt:lpstr>
      <vt:lpstr>风险型决策分析 – 后验概率解读</vt:lpstr>
      <vt:lpstr>风险型决策分析 – 样本概率估计</vt:lpstr>
      <vt:lpstr>风险型决策分析 – 基于样本概率的决策树</vt:lpstr>
      <vt:lpstr>风险型决策分析 – 求得样本概率</vt:lpstr>
      <vt:lpstr>风险型决策分析 – 基于样本概率的决策树</vt:lpstr>
      <vt:lpstr>风险型决策分析 – 样本情报价值</vt:lpstr>
      <vt:lpstr>风险型决策分析 – 思考题</vt:lpstr>
      <vt:lpstr>风险型决策分析 – 样本情报价值效率</vt:lpstr>
      <vt:lpstr>风险型决策分析 – 多级决策树问题</vt:lpstr>
      <vt:lpstr>风险型决策分析 – 多级决策树</vt:lpstr>
      <vt:lpstr>课堂练习--试用最小机会损失准则分析</vt:lpstr>
      <vt:lpstr>PowerPoint 演示文稿</vt:lpstr>
      <vt:lpstr>风险型决策分析 – 效用理论</vt:lpstr>
      <vt:lpstr>风险型决策分析 – 效用理论</vt:lpstr>
      <vt:lpstr>风险型决策分析 – 效用理论</vt:lpstr>
      <vt:lpstr>风险型决策分析 – 效用函数</vt:lpstr>
      <vt:lpstr>风险型决策分析 – 效用函数</vt:lpstr>
      <vt:lpstr>风险型决策分析 – 效用期望</vt:lpstr>
      <vt:lpstr>风险型决策分析 – 效用与收益期望</vt:lpstr>
      <vt:lpstr>风险型决策分析 – 效用与收益期望</vt:lpstr>
      <vt:lpstr>课堂练习</vt:lpstr>
      <vt:lpstr>PowerPoint 演示文稿</vt:lpstr>
      <vt:lpstr>层次分析法 – 基本概念</vt:lpstr>
      <vt:lpstr>层次分析法 – 问题提出</vt:lpstr>
      <vt:lpstr>层次分析法 – 层次结构图</vt:lpstr>
      <vt:lpstr>层次分析法 – 相对重要性标度</vt:lpstr>
      <vt:lpstr>层次分析法 – 两两比较矩阵</vt:lpstr>
      <vt:lpstr>层次分析法 – 特征向量</vt:lpstr>
      <vt:lpstr>层次分析法 – 各层次权重</vt:lpstr>
      <vt:lpstr>层次分析法 –一致性检验的重要性</vt:lpstr>
      <vt:lpstr>层次分析法 –一致性检验的步骤</vt:lpstr>
      <vt:lpstr>以地理位置和交通条件矩阵为例</vt:lpstr>
      <vt:lpstr>以地理位置和交通条件矩阵为例</vt:lpstr>
      <vt:lpstr>层次分析法 –方案排序</vt:lpstr>
      <vt:lpstr>层次分析法的优缺点</vt:lpstr>
      <vt:lpstr>本章总结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world</cp:lastModifiedBy>
  <cp:revision>125</cp:revision>
  <dcterms:created xsi:type="dcterms:W3CDTF">2023-06-12T02:44:00Z</dcterms:created>
  <dcterms:modified xsi:type="dcterms:W3CDTF">2025-12-25T05:22:27Z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4A4465759933457097047B8EDF6DC158_12</vt:lpwstr>
  </property>
  <property fmtid="{D5CDD505-2E9C-101B-9397-08002B2CF9AE}" pid="3" name="KSOProductBuildVer">
    <vt:lpwstr>2052-12.1.0.19302</vt:lpwstr>
  </property>
</Properties>
</file>