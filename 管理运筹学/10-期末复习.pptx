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Lst>
  <p:notesMasterIdLst>
    <p:notesMasterId r:id="rId18"/>
  </p:notesMasterIdLst>
  <p:sldIdLst>
    <p:sldId id="258" r:id="rId6"/>
    <p:sldId id="259" r:id="rId7"/>
    <p:sldId id="260" r:id="rId8"/>
    <p:sldId id="293" r:id="rId9"/>
    <p:sldId id="340" r:id="rId10"/>
    <p:sldId id="294" r:id="rId11"/>
    <p:sldId id="277" r:id="rId12"/>
    <p:sldId id="341" r:id="rId13"/>
    <p:sldId id="342" r:id="rId14"/>
    <p:sldId id="343" r:id="rId15"/>
    <p:sldId id="261" r:id="rId16"/>
    <p:sldId id="296" r:id="rId17"/>
    <p:sldId id="297" r:id="rId19"/>
    <p:sldId id="298" r:id="rId20"/>
    <p:sldId id="344" r:id="rId21"/>
    <p:sldId id="262" r:id="rId22"/>
    <p:sldId id="312" r:id="rId23"/>
    <p:sldId id="313" r:id="rId24"/>
    <p:sldId id="314" r:id="rId25"/>
    <p:sldId id="315" r:id="rId26"/>
    <p:sldId id="317" r:id="rId27"/>
    <p:sldId id="264" r:id="rId28"/>
    <p:sldId id="316" r:id="rId29"/>
    <p:sldId id="333"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95" autoAdjust="0"/>
    <p:restoredTop sz="94660"/>
  </p:normalViewPr>
  <p:slideViewPr>
    <p:cSldViewPr snapToGrid="0">
      <p:cViewPr varScale="1">
        <p:scale>
          <a:sx n="126" d="100"/>
          <a:sy n="126" d="100"/>
        </p:scale>
        <p:origin x="224"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notesMaster" Target="notesMasters/notesMaster1.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49155" name="Rectangle 3"/>
          <p:cNvSpPr>
            <a:spLocks noGrp="1" noChangeArrowheads="1"/>
          </p:cNvSpPr>
          <p:nvPr>
            <p:ph type="body" idx="1"/>
          </p:nvPr>
        </p:nvSpPr>
        <p:spPr>
          <a:noFill/>
        </p:spPr>
        <p:txBody>
          <a:bodyPr/>
          <a:lstStyle/>
          <a:p>
            <a:pPr eaLnBrk="1" hangingPunct="1"/>
            <a:endParaRPr lang="zh-CN" altLang="zh-CN"/>
          </a:p>
        </p:txBody>
      </p:sp>
      <p:sp>
        <p:nvSpPr>
          <p:cNvPr id="49156"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49157"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58"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59"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49160"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1"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2"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3"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4"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5"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6"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7"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8"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69"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70"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
        <p:nvSpPr>
          <p:cNvPr id="49171"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14</a:t>
            </a:r>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53251" name="Rectangle 3"/>
          <p:cNvSpPr>
            <a:spLocks noGrp="1" noChangeArrowheads="1"/>
          </p:cNvSpPr>
          <p:nvPr>
            <p:ph type="body" idx="1"/>
          </p:nvPr>
        </p:nvSpPr>
        <p:spPr>
          <a:noFill/>
        </p:spPr>
        <p:txBody>
          <a:bodyPr/>
          <a:lstStyle/>
          <a:p>
            <a:pPr eaLnBrk="1" hangingPunct="1"/>
            <a:r>
              <a:rPr lang="zh-CN" altLang="zh-CN"/>
              <a:t>问题：</a:t>
            </a:r>
            <a:endParaRPr lang="zh-CN" altLang="zh-CN"/>
          </a:p>
          <a:p>
            <a:pPr eaLnBrk="1" hangingPunct="1"/>
            <a:r>
              <a:rPr lang="zh-CN" altLang="zh-CN"/>
              <a:t>生产中，若无生产活动，则无固定费用产生。</a:t>
            </a:r>
            <a:endParaRPr lang="zh-CN" altLang="zh-CN"/>
          </a:p>
          <a:p>
            <a:pPr eaLnBrk="1" hangingPunct="1"/>
            <a:r>
              <a:rPr lang="zh-CN" altLang="zh-CN"/>
              <a:t>（A）对</a:t>
            </a:r>
            <a:endParaRPr lang="zh-CN" altLang="zh-CN"/>
          </a:p>
          <a:p>
            <a:pPr eaLnBrk="1" hangingPunct="1"/>
            <a:r>
              <a:rPr lang="zh-CN" altLang="zh-CN"/>
              <a:t>（B）错</a:t>
            </a:r>
            <a:endParaRPr lang="zh-CN" altLang="zh-CN"/>
          </a:p>
        </p:txBody>
      </p:sp>
      <p:sp>
        <p:nvSpPr>
          <p:cNvPr id="53252"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53253"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4"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5"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3256"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7"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8"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59"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0"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1"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2"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3"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4"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5"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6"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
        <p:nvSpPr>
          <p:cNvPr id="53267"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15</a:t>
            </a: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55299" name="Rectangle 3"/>
          <p:cNvSpPr>
            <a:spLocks noGrp="1" noChangeArrowheads="1"/>
          </p:cNvSpPr>
          <p:nvPr>
            <p:ph type="body" idx="1"/>
          </p:nvPr>
        </p:nvSpPr>
        <p:spPr>
          <a:noFill/>
        </p:spPr>
        <p:txBody>
          <a:bodyPr/>
          <a:lstStyle/>
          <a:p>
            <a:pPr eaLnBrk="1" hangingPunct="1"/>
            <a:r>
              <a:rPr lang="zh-CN" altLang="zh-CN"/>
              <a:t>结束</a:t>
            </a:r>
            <a:endParaRPr lang="zh-CN" altLang="zh-CN"/>
          </a:p>
        </p:txBody>
      </p:sp>
      <p:sp>
        <p:nvSpPr>
          <p:cNvPr id="55300"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55301"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2"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3"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55304"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5"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6"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7"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8"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09"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0"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1"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2"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3"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4"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
        <p:nvSpPr>
          <p:cNvPr id="55315"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16</a:t>
            </a:r>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Rot="1" noChangeAspect="1" noChangeArrowheads="1" noTextEdit="1"/>
          </p:cNvSpPr>
          <p:nvPr>
            <p:ph type="sldImg"/>
          </p:nvPr>
        </p:nvSpPr>
        <p:spPr>
          <a:ln>
            <a:noFill/>
          </a:ln>
          <a:extLst>
            <a:ext uri="{91240B29-F687-4F45-9708-019B960494DF}">
              <a14:hiddenLine xmlns:a14="http://schemas.microsoft.com/office/drawing/2010/main" w="12700">
                <a:solidFill>
                  <a:srgbClr val="000000"/>
                </a:solidFill>
                <a:miter lim="800000"/>
                <a:headEnd/>
                <a:tailEnd/>
              </a14:hiddenLine>
            </a:ext>
          </a:extLst>
        </p:spPr>
      </p:sp>
      <p:sp>
        <p:nvSpPr>
          <p:cNvPr id="88067" name="Rectangle 3"/>
          <p:cNvSpPr>
            <a:spLocks noGrp="1" noChangeArrowheads="1"/>
          </p:cNvSpPr>
          <p:nvPr>
            <p:ph type="body" idx="1"/>
          </p:nvPr>
        </p:nvSpPr>
        <p:spPr>
          <a:noFill/>
        </p:spPr>
        <p:txBody>
          <a:bodyPr/>
          <a:lstStyle/>
          <a:p>
            <a:pPr eaLnBrk="1" hangingPunct="1"/>
            <a:endParaRPr lang="zh-CN" altLang="zh-CN"/>
          </a:p>
        </p:txBody>
      </p:sp>
      <p:sp>
        <p:nvSpPr>
          <p:cNvPr id="88068" name="Rectangle 4"/>
          <p:cNvSpPr>
            <a:spLocks noChangeArrowheads="1"/>
          </p:cNvSpPr>
          <p:nvPr/>
        </p:nvSpPr>
        <p:spPr bwMode="auto">
          <a:xfrm>
            <a:off x="0" y="0"/>
            <a:ext cx="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1" hangingPunct="1">
              <a:buClr>
                <a:srgbClr val="000000"/>
              </a:buClr>
              <a:buSzPct val="100000"/>
            </a:pPr>
            <a:r>
              <a:rPr lang="zh-CN" altLang="zh-CN"/>
              <a:t>7</a:t>
            </a:r>
            <a:endParaRPr lang="zh-CN" altLang="zh-CN"/>
          </a:p>
        </p:txBody>
      </p:sp>
      <p:sp>
        <p:nvSpPr>
          <p:cNvPr id="88069" name="Rectangle 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0" name="Rectangle 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1" name="Rectangle 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3</a:t>
            </a:r>
            <a:endParaRPr lang="zh-CN" altLang="zh-CN"/>
          </a:p>
        </p:txBody>
      </p:sp>
      <p:sp>
        <p:nvSpPr>
          <p:cNvPr id="88072" name="Rectangle 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3" name="Rectangle 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4" name="Rectangle 10"/>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5" name="Rectangle 11"/>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6" name="Rectangle 12"/>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7" name="Rectangle 13"/>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8" name="Rectangle 14"/>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79" name="Rectangle 15"/>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0" name="Rectangle 16"/>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1" name="Rectangle 17"/>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2" name="Rectangle 18"/>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
        <p:nvSpPr>
          <p:cNvPr id="88083" name="Rectangle 19"/>
          <p:cNvSpPr>
            <a:spLocks noChangeArrowheads="1"/>
          </p:cNvSpPr>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p>
            <a:pPr algn="r" eaLnBrk="1" hangingPunct="1">
              <a:buClr>
                <a:srgbClr val="000000"/>
              </a:buClr>
              <a:buSzPct val="100000"/>
            </a:pPr>
            <a:r>
              <a:rPr lang="zh-CN" altLang="zh-CN"/>
              <a:t>24</a:t>
            </a: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57A68B94-C734-4FAA-BA75-57D48D0BD3C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329AAA6-52A7-41A3-AAC3-F7EE08098636}" type="slidenum">
              <a:rPr lang="zh-CN" altLang="en-US" smtClean="0"/>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hasCustomPrompt="1"/>
          </p:nvPr>
        </p:nvSpPr>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B3FAB52-0D75-4FB4-963F-CFC9BE82CFA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113E8295-D660-4793-94DB-7FA6302251F4}" type="slidenum">
              <a:rPr lang="zh-CN" altLang="en-US" smtClean="0"/>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楷体" panose="02010609060101010101" pitchFamily="49" charset="-122"/>
                <a:ea typeface="楷体" panose="02010609060101010101" pitchFamily="49"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楷体" panose="02010609060101010101" pitchFamily="49" charset="-122"/>
                <a:ea typeface="楷体" panose="02010609060101010101" pitchFamily="49" charset="-122"/>
              </a:defRPr>
            </a:lvl1pPr>
            <a:lvl2pPr>
              <a:defRPr>
                <a:latin typeface="楷体" panose="02010609060101010101" pitchFamily="49" charset="-122"/>
                <a:ea typeface="楷体" panose="02010609060101010101" pitchFamily="49" charset="-122"/>
              </a:defRPr>
            </a:lvl2pPr>
            <a:lvl3pPr>
              <a:defRPr>
                <a:latin typeface="楷体" panose="02010609060101010101" pitchFamily="49" charset="-122"/>
                <a:ea typeface="楷体" panose="02010609060101010101" pitchFamily="49" charset="-122"/>
              </a:defRPr>
            </a:lvl3pPr>
            <a:lvl4pPr>
              <a:defRPr>
                <a:latin typeface="楷体" panose="02010609060101010101" pitchFamily="49" charset="-122"/>
                <a:ea typeface="楷体" panose="02010609060101010101" pitchFamily="49" charset="-122"/>
              </a:defRPr>
            </a:lvl4pPr>
            <a:lvl5pPr>
              <a:defRPr>
                <a:latin typeface="楷体" panose="02010609060101010101" pitchFamily="49" charset="-122"/>
                <a:ea typeface="楷体" panose="02010609060101010101" pitchFamily="49" charset="-122"/>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grpSp>
        <p:nvGrpSpPr>
          <p:cNvPr id="6" name="组合 5"/>
          <p:cNvGrpSpPr/>
          <p:nvPr/>
        </p:nvGrpSpPr>
        <p:grpSpPr>
          <a:xfrm>
            <a:off x="0" y="6230319"/>
            <a:ext cx="12192000" cy="627681"/>
            <a:chOff x="0" y="5888735"/>
            <a:chExt cx="12192000" cy="969265"/>
          </a:xfrm>
        </p:grpSpPr>
        <p:sp>
          <p:nvSpPr>
            <p:cNvPr id="7" name="任意多边形: 形状 6"/>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7"/>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bg1"/>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25D708E7-421C-4897-8E68-B23AD1A0DD70}"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249CBB7-750D-45CF-BA18-1B29131E3C6C}"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image" Target="../media/image1.jpeg"/><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08E7-421C-4897-8E68-B23AD1A0DD7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49CBB7-750D-45CF-BA18-1B29131E3C6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A68B94-C734-4FAA-BA75-57D48D0BD3C2}"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29AAA6-52A7-41A3-AAC3-F7EE0809863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3FAB52-0D75-4FB4-963F-CFC9BE82CFA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3E8295-D660-4793-94DB-7FA6302251F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D708E7-421C-4897-8E68-B23AD1A0DD70}"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9332976" y="6474587"/>
            <a:ext cx="2743200" cy="365125"/>
          </a:xfrm>
          <a:prstGeom prst="rect">
            <a:avLst/>
          </a:prstGeom>
        </p:spPr>
        <p:txBody>
          <a:bodyPr vert="horz" lIns="91440" tIns="45720" rIns="91440" bIns="45720" rtlCol="0" anchor="ctr"/>
          <a:lstStyle>
            <a:lvl1pPr algn="r">
              <a:defRPr sz="1100">
                <a:solidFill>
                  <a:schemeClr val="tx1">
                    <a:tint val="75000"/>
                  </a:schemeClr>
                </a:solidFill>
                <a:latin typeface="微软雅黑" panose="020B0503020204020204" pitchFamily="34" charset="-122"/>
                <a:ea typeface="微软雅黑" panose="020B0503020204020204" pitchFamily="34" charset="-122"/>
              </a:defRPr>
            </a:lvl1pPr>
          </a:lstStyle>
          <a:p>
            <a:fld id="{E249CBB7-750D-45CF-BA18-1B29131E3C6C}" type="slidenum">
              <a:rPr lang="zh-CN" altLang="en-US" smtClean="0"/>
            </a:fld>
            <a:endParaRPr lang="zh-CN" altLang="en-US"/>
          </a:p>
        </p:txBody>
      </p:sp>
      <p:grpSp>
        <p:nvGrpSpPr>
          <p:cNvPr id="7" name="组合 6"/>
          <p:cNvGrpSpPr/>
          <p:nvPr userDrawn="1"/>
        </p:nvGrpSpPr>
        <p:grpSpPr>
          <a:xfrm>
            <a:off x="0" y="6230319"/>
            <a:ext cx="12192000" cy="627681"/>
            <a:chOff x="0" y="5888735"/>
            <a:chExt cx="12192000" cy="969265"/>
          </a:xfrm>
        </p:grpSpPr>
        <p:sp>
          <p:nvSpPr>
            <p:cNvPr id="8" name="任意多边形: 形状 7"/>
            <p:cNvSpPr/>
            <p:nvPr/>
          </p:nvSpPr>
          <p:spPr>
            <a:xfrm>
              <a:off x="0" y="5888736"/>
              <a:ext cx="12192000" cy="969264"/>
            </a:xfrm>
            <a:custGeom>
              <a:avLst/>
              <a:gdLst>
                <a:gd name="connsiteX0" fmla="*/ 12192000 w 12192000"/>
                <a:gd name="connsiteY0" fmla="*/ 0 h 834158"/>
                <a:gd name="connsiteX1" fmla="*/ 12192000 w 12192000"/>
                <a:gd name="connsiteY1" fmla="*/ 834158 h 834158"/>
                <a:gd name="connsiteX2" fmla="*/ 0 w 12192000"/>
                <a:gd name="connsiteY2" fmla="*/ 834158 h 834158"/>
                <a:gd name="connsiteX3" fmla="*/ 0 w 12192000"/>
                <a:gd name="connsiteY3" fmla="*/ 421770 h 834158"/>
                <a:gd name="connsiteX4" fmla="*/ 703930 w 12192000"/>
                <a:gd name="connsiteY4" fmla="*/ 493800 h 834158"/>
                <a:gd name="connsiteX5" fmla="*/ 4867275 w 12192000"/>
                <a:gd name="connsiteY5" fmla="*/ 671363 h 834158"/>
                <a:gd name="connsiteX6" fmla="*/ 12109997 w 12192000"/>
                <a:gd name="connsiteY6" fmla="*/ 22736 h 83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834158">
                  <a:moveTo>
                    <a:pt x="12192000" y="0"/>
                  </a:moveTo>
                  <a:lnTo>
                    <a:pt x="12192000" y="834158"/>
                  </a:lnTo>
                  <a:lnTo>
                    <a:pt x="0" y="834158"/>
                  </a:lnTo>
                  <a:lnTo>
                    <a:pt x="0" y="421770"/>
                  </a:lnTo>
                  <a:lnTo>
                    <a:pt x="703930" y="493800"/>
                  </a:lnTo>
                  <a:cubicBezTo>
                    <a:pt x="1941539" y="607040"/>
                    <a:pt x="3359810" y="671363"/>
                    <a:pt x="4867275" y="671363"/>
                  </a:cubicBezTo>
                  <a:cubicBezTo>
                    <a:pt x="7882206" y="671363"/>
                    <a:pt x="10540358" y="414071"/>
                    <a:pt x="12109997" y="2273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任意多边形: 形状 8"/>
            <p:cNvSpPr/>
            <p:nvPr/>
          </p:nvSpPr>
          <p:spPr>
            <a:xfrm>
              <a:off x="1" y="5888735"/>
              <a:ext cx="6540284" cy="693261"/>
            </a:xfrm>
            <a:custGeom>
              <a:avLst/>
              <a:gdLst>
                <a:gd name="connsiteX0" fmla="*/ 0 w 5170531"/>
                <a:gd name="connsiteY0" fmla="*/ 0 h 794504"/>
                <a:gd name="connsiteX1" fmla="*/ 509126 w 5170531"/>
                <a:gd name="connsiteY1" fmla="*/ 127114 h 794504"/>
                <a:gd name="connsiteX2" fmla="*/ 4499910 w 5170531"/>
                <a:gd name="connsiteY2" fmla="*/ 720789 h 794504"/>
                <a:gd name="connsiteX3" fmla="*/ 5170531 w 5170531"/>
                <a:gd name="connsiteY3" fmla="*/ 768690 h 794504"/>
                <a:gd name="connsiteX4" fmla="*/ 4943847 w 5170531"/>
                <a:gd name="connsiteY4" fmla="*/ 779391 h 794504"/>
                <a:gd name="connsiteX5" fmla="*/ 3958041 w 5170531"/>
                <a:gd name="connsiteY5" fmla="*/ 794504 h 794504"/>
                <a:gd name="connsiteX6" fmla="*/ 499235 w 5170531"/>
                <a:gd name="connsiteY6" fmla="*/ 576626 h 794504"/>
                <a:gd name="connsiteX7" fmla="*/ 0 w 5170531"/>
                <a:gd name="connsiteY7" fmla="*/ 484608 h 794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70531" h="794504">
                  <a:moveTo>
                    <a:pt x="0" y="0"/>
                  </a:moveTo>
                  <a:lnTo>
                    <a:pt x="509126" y="127114"/>
                  </a:lnTo>
                  <a:cubicBezTo>
                    <a:pt x="1656276" y="394427"/>
                    <a:pt x="3011164" y="598944"/>
                    <a:pt x="4499910" y="720789"/>
                  </a:cubicBezTo>
                  <a:lnTo>
                    <a:pt x="5170531" y="768690"/>
                  </a:lnTo>
                  <a:lnTo>
                    <a:pt x="4943847" y="779391"/>
                  </a:lnTo>
                  <a:cubicBezTo>
                    <a:pt x="4625423" y="789300"/>
                    <a:pt x="4295728" y="794504"/>
                    <a:pt x="3958041" y="794504"/>
                  </a:cubicBezTo>
                  <a:cubicBezTo>
                    <a:pt x="2607293" y="794504"/>
                    <a:pt x="1384420" y="711242"/>
                    <a:pt x="499235" y="576626"/>
                  </a:cubicBezTo>
                  <a:lnTo>
                    <a:pt x="0" y="484608"/>
                  </a:ln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10" name="梯形 9"/>
          <p:cNvSpPr/>
          <p:nvPr userDrawn="1"/>
        </p:nvSpPr>
        <p:spPr>
          <a:xfrm rot="16200000">
            <a:off x="72797" y="79396"/>
            <a:ext cx="375889" cy="808817"/>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DIN Light"/>
              <a:ea typeface="微软雅黑 Light" panose="020B0502040204020203" charset="-122"/>
            </a:endParaRPr>
          </a:p>
        </p:txBody>
      </p:sp>
      <p:sp>
        <p:nvSpPr>
          <p:cNvPr id="11" name="梯形 10"/>
          <p:cNvSpPr/>
          <p:nvPr userDrawn="1"/>
        </p:nvSpPr>
        <p:spPr>
          <a:xfrm rot="16200000">
            <a:off x="57549" y="238020"/>
            <a:ext cx="267255" cy="669682"/>
          </a:xfrm>
          <a:prstGeom prst="trapezoid">
            <a:avLst>
              <a:gd name="adj" fmla="val 7230"/>
            </a:avLst>
          </a:prstGeom>
          <a:gradFill flip="none" rotWithShape="0">
            <a:gsLst>
              <a:gs pos="100000">
                <a:schemeClr val="accent1"/>
              </a:gs>
              <a:gs pos="0">
                <a:schemeClr val="accent1">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DIN Light"/>
              <a:ea typeface="微软雅黑 Light" panose="020B0502040204020203" charset="-122"/>
              <a:cs typeface="+mn-cs"/>
            </a:endParaRPr>
          </a:p>
        </p:txBody>
      </p:sp>
      <p:pic>
        <p:nvPicPr>
          <p:cNvPr id="12" name="Picture 2" descr="https://timgsa.baidu.com/timg?image&amp;quality=80&amp;size=b9999_10000&amp;sec=1543772355175&amp;di=c79abbaff2a9fe46052298e3846c46fe&amp;imgtype=0&amp;src=http%3A%2F%2Fpic44.photophoto.cn%2F20170707%2F0007019917203103_b.jpg"/>
          <p:cNvPicPr>
            <a:picLocks noChangeAspect="1" noChangeArrowheads="1"/>
          </p:cNvPicPr>
          <p:nvPr userDrawn="1"/>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b="1264"/>
          <a:stretch>
            <a:fillRect/>
          </a:stretch>
        </p:blipFill>
        <p:spPr bwMode="auto">
          <a:xfrm>
            <a:off x="11263773" y="205156"/>
            <a:ext cx="635716" cy="627680"/>
          </a:xfrm>
          <a:prstGeom prst="rect">
            <a:avLst/>
          </a:prstGeom>
          <a:noFill/>
          <a:extLst>
            <a:ext uri="{909E8E84-426E-40DD-AFC4-6F175D3DCCD1}">
              <a14:hiddenFill xmlns:a14="http://schemas.microsoft.com/office/drawing/2010/main">
                <a:solidFill>
                  <a:srgbClr val="FFFFFF"/>
                </a:solidFill>
              </a14:hiddenFill>
            </a:ext>
          </a:extLst>
        </p:spPr>
      </p:pic>
      <p:sp>
        <p:nvSpPr>
          <p:cNvPr id="13" name="灯片编号占位符 5"/>
          <p:cNvSpPr txBox="1"/>
          <p:nvPr userDrawn="1"/>
        </p:nvSpPr>
        <p:spPr>
          <a:xfrm>
            <a:off x="9332976" y="6474587"/>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100" kern="1200">
                <a:solidFill>
                  <a:schemeClr val="bg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E249CBB7-750D-45CF-BA18-1B29131E3C6C}"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slideLayout" Target="../slideLayouts/slideLayout7.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rotWithShape="1">
          <a:blip r:embed="rId1">
            <a:extLst>
              <a:ext uri="{28A0092B-C50C-407E-A947-70E740481C1C}">
                <a14:useLocalDpi xmlns:a14="http://schemas.microsoft.com/office/drawing/2010/main" val="0"/>
              </a:ext>
            </a:extLst>
          </a:blip>
          <a:srcRect l="9375" t="39498" r="10496" b="1702"/>
          <a:stretch>
            <a:fillRect/>
          </a:stretch>
        </p:blipFill>
        <p:spPr>
          <a:xfrm>
            <a:off x="0" y="0"/>
            <a:ext cx="12192000" cy="3349519"/>
          </a:xfrm>
          <a:prstGeom prst="rect">
            <a:avLst/>
          </a:prstGeom>
        </p:spPr>
      </p:pic>
      <p:sp>
        <p:nvSpPr>
          <p:cNvPr id="5" name="文本框 4"/>
          <p:cNvSpPr txBox="1"/>
          <p:nvPr/>
        </p:nvSpPr>
        <p:spPr>
          <a:xfrm>
            <a:off x="1007712" y="4042399"/>
            <a:ext cx="10176573" cy="706755"/>
          </a:xfrm>
          <a:prstGeom prst="rect">
            <a:avLst/>
          </a:prstGeom>
          <a:noFill/>
        </p:spPr>
        <p:txBody>
          <a:bodyPr wrap="square" rtlCol="0">
            <a:spAutoFit/>
          </a:bodyPr>
          <a:lstStyle/>
          <a:p>
            <a:pPr algn="ctr"/>
            <a:r>
              <a:rPr lang="zh-CN" altLang="en-US" sz="4000" b="1" spc="600" dirty="0">
                <a:solidFill>
                  <a:schemeClr val="accent1"/>
                </a:solidFill>
                <a:latin typeface="微软雅黑" panose="020B0503020204020204" pitchFamily="34" charset="-122"/>
                <a:ea typeface="微软雅黑" panose="020B0503020204020204" pitchFamily="34" charset="-122"/>
              </a:rPr>
              <a:t>《管理</a:t>
            </a:r>
            <a:r>
              <a:rPr lang="zh-CN" altLang="en-US" sz="4000" b="1" spc="600" dirty="0">
                <a:solidFill>
                  <a:schemeClr val="accent1"/>
                </a:solidFill>
                <a:latin typeface="微软雅黑" panose="020B0503020204020204" pitchFamily="34" charset="-122"/>
                <a:ea typeface="微软雅黑" panose="020B0503020204020204" pitchFamily="34" charset="-122"/>
              </a:rPr>
              <a:t>运筹学》</a:t>
            </a:r>
            <a:r>
              <a:rPr lang="zh-CN" altLang="en-US" sz="4000" b="1" spc="600" dirty="0">
                <a:solidFill>
                  <a:schemeClr val="accent1"/>
                </a:solidFill>
                <a:latin typeface="微软雅黑" panose="020B0503020204020204" pitchFamily="34" charset="-122"/>
                <a:ea typeface="微软雅黑" panose="020B0503020204020204" pitchFamily="34" charset="-122"/>
              </a:rPr>
              <a:t>课程复习</a:t>
            </a:r>
            <a:endParaRPr lang="zh-CN" altLang="en-US" sz="4000" b="1" spc="600" dirty="0">
              <a:solidFill>
                <a:schemeClr val="accent1"/>
              </a:solidFill>
              <a:latin typeface="微软雅黑" panose="020B0503020204020204" pitchFamily="34" charset="-122"/>
              <a:ea typeface="微软雅黑" panose="020B0503020204020204" pitchFamily="34" charset="-122"/>
            </a:endParaRPr>
          </a:p>
        </p:txBody>
      </p:sp>
      <p:sp>
        <p:nvSpPr>
          <p:cNvPr id="6" name="矩形 5"/>
          <p:cNvSpPr/>
          <p:nvPr/>
        </p:nvSpPr>
        <p:spPr>
          <a:xfrm>
            <a:off x="0" y="3339894"/>
            <a:ext cx="12192000" cy="12904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矩形 6"/>
          <p:cNvSpPr/>
          <p:nvPr/>
        </p:nvSpPr>
        <p:spPr>
          <a:xfrm>
            <a:off x="0" y="3270038"/>
            <a:ext cx="12192000" cy="129048"/>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文本框 7"/>
          <p:cNvSpPr txBox="1"/>
          <p:nvPr/>
        </p:nvSpPr>
        <p:spPr>
          <a:xfrm>
            <a:off x="3025540" y="4869708"/>
            <a:ext cx="6140919" cy="338554"/>
          </a:xfrm>
          <a:prstGeom prst="rect">
            <a:avLst/>
          </a:prstGeom>
          <a:noFill/>
        </p:spPr>
        <p:txBody>
          <a:bodyPr wrap="square" rtlCol="0">
            <a:spAutoFit/>
          </a:bodyPr>
          <a:lstStyle/>
          <a:p>
            <a:pPr algn="dist"/>
            <a:r>
              <a:rPr lang="en-US" altLang="zh-CN" sz="1600" dirty="0">
                <a:solidFill>
                  <a:schemeClr val="bg1">
                    <a:lumMod val="65000"/>
                  </a:schemeClr>
                </a:solidFill>
                <a:latin typeface="Segoe UI Light" panose="020B0502040204020203" pitchFamily="34" charset="0"/>
                <a:cs typeface="Segoe UI Light" panose="020B0502040204020203" pitchFamily="34" charset="0"/>
              </a:rPr>
              <a:t>HUAZHONG AGRICULTURAL UNIVERSITY</a:t>
            </a:r>
            <a:endParaRPr lang="zh-CN" altLang="en-US" sz="1600" dirty="0">
              <a:solidFill>
                <a:schemeClr val="bg1">
                  <a:lumMod val="65000"/>
                </a:schemeClr>
              </a:solidFill>
              <a:latin typeface="Segoe UI Light" panose="020B0502040204020203" pitchFamily="34" charset="0"/>
              <a:cs typeface="Segoe UI Light" panose="020B0502040204020203" pitchFamily="34" charset="0"/>
            </a:endParaRPr>
          </a:p>
        </p:txBody>
      </p:sp>
      <p:grpSp>
        <p:nvGrpSpPr>
          <p:cNvPr id="12" name="组合 11"/>
          <p:cNvGrpSpPr/>
          <p:nvPr/>
        </p:nvGrpSpPr>
        <p:grpSpPr>
          <a:xfrm>
            <a:off x="9214084" y="5016125"/>
            <a:ext cx="1999647" cy="45719"/>
            <a:chOff x="9458460" y="4956809"/>
            <a:chExt cx="1999647" cy="45719"/>
          </a:xfrm>
        </p:grpSpPr>
        <p:cxnSp>
          <p:nvCxnSpPr>
            <p:cNvPr id="10" name="直接连接符 9"/>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flipH="1">
            <a:off x="980174" y="5016125"/>
            <a:ext cx="1999647" cy="45719"/>
            <a:chOff x="9458460" y="4956809"/>
            <a:chExt cx="1999647" cy="45719"/>
          </a:xfrm>
        </p:grpSpPr>
        <p:cxnSp>
          <p:nvCxnSpPr>
            <p:cNvPr id="14" name="直接连接符 13"/>
            <p:cNvCxnSpPr/>
            <p:nvPr/>
          </p:nvCxnSpPr>
          <p:spPr>
            <a:xfrm>
              <a:off x="9504179" y="4982095"/>
              <a:ext cx="195392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椭圆 14"/>
            <p:cNvSpPr/>
            <p:nvPr/>
          </p:nvSpPr>
          <p:spPr>
            <a:xfrm>
              <a:off x="9458460" y="4956809"/>
              <a:ext cx="45719" cy="45719"/>
            </a:xfrm>
            <a:prstGeom prst="ellipse">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期末考试题型</a:t>
            </a:r>
            <a:endParaRPr lang="zh-CN" altLang="en-US" dirty="0"/>
          </a:p>
        </p:txBody>
      </p:sp>
      <p:sp>
        <p:nvSpPr>
          <p:cNvPr id="3" name="内容占位符 2"/>
          <p:cNvSpPr>
            <a:spLocks noGrp="1"/>
          </p:cNvSpPr>
          <p:nvPr>
            <p:ph idx="1"/>
          </p:nvPr>
        </p:nvSpPr>
        <p:spPr/>
        <p:txBody>
          <a:bodyPr/>
          <a:lstStyle/>
          <a:p>
            <a:r>
              <a:rPr lang="zh-CN" altLang="en-US" dirty="0"/>
              <a:t>填空题（</a:t>
            </a:r>
            <a:r>
              <a:rPr lang="en-US" altLang="zh-CN" dirty="0"/>
              <a:t>1</a:t>
            </a:r>
            <a:r>
              <a:rPr lang="zh-CN" altLang="en-US" dirty="0"/>
              <a:t>分</a:t>
            </a:r>
            <a:r>
              <a:rPr lang="en-US" altLang="zh-CN" dirty="0"/>
              <a:t>*6=6</a:t>
            </a:r>
            <a:r>
              <a:rPr lang="zh-CN" altLang="en-US" dirty="0"/>
              <a:t>分）</a:t>
            </a:r>
            <a:endParaRPr lang="zh-CN" altLang="en-US" dirty="0"/>
          </a:p>
          <a:p>
            <a:r>
              <a:rPr lang="zh-CN" altLang="en-US" dirty="0"/>
              <a:t>判断改错</a:t>
            </a:r>
            <a:r>
              <a:rPr lang="zh-CN" altLang="en-US" dirty="0">
                <a:sym typeface="+mn-ea"/>
              </a:rPr>
              <a:t>题（</a:t>
            </a:r>
            <a:r>
              <a:rPr lang="en-US" altLang="zh-CN" dirty="0">
                <a:sym typeface="+mn-ea"/>
              </a:rPr>
              <a:t>2</a:t>
            </a:r>
            <a:r>
              <a:rPr lang="zh-CN" altLang="en-US" dirty="0">
                <a:sym typeface="+mn-ea"/>
              </a:rPr>
              <a:t>分</a:t>
            </a:r>
            <a:r>
              <a:rPr lang="en-US" altLang="zh-CN" dirty="0">
                <a:sym typeface="+mn-ea"/>
              </a:rPr>
              <a:t>*7=14</a:t>
            </a:r>
            <a:r>
              <a:rPr lang="zh-CN" altLang="en-US" dirty="0">
                <a:sym typeface="+mn-ea"/>
              </a:rPr>
              <a:t>分）</a:t>
            </a:r>
            <a:endParaRPr lang="en-US" altLang="zh-CN" dirty="0"/>
          </a:p>
          <a:p>
            <a:r>
              <a:rPr lang="zh-CN" altLang="en-US" dirty="0"/>
              <a:t>简答题（</a:t>
            </a:r>
            <a:r>
              <a:rPr lang="en-US" altLang="zh-CN" dirty="0">
                <a:sym typeface="+mn-ea"/>
              </a:rPr>
              <a:t>10</a:t>
            </a:r>
            <a:r>
              <a:rPr lang="zh-CN" altLang="en-US" dirty="0">
                <a:sym typeface="+mn-ea"/>
              </a:rPr>
              <a:t>分</a:t>
            </a:r>
            <a:r>
              <a:rPr lang="en-US" altLang="zh-CN" dirty="0">
                <a:sym typeface="+mn-ea"/>
              </a:rPr>
              <a:t>*2=20</a:t>
            </a:r>
            <a:r>
              <a:rPr lang="zh-CN" altLang="en-US" dirty="0">
                <a:sym typeface="+mn-ea"/>
              </a:rPr>
              <a:t>分</a:t>
            </a:r>
            <a:r>
              <a:rPr lang="zh-CN" altLang="en-US" dirty="0"/>
              <a:t>）</a:t>
            </a:r>
            <a:endParaRPr lang="en-US" altLang="zh-CN" dirty="0"/>
          </a:p>
          <a:p>
            <a:r>
              <a:rPr lang="zh-CN" altLang="en-US" dirty="0"/>
              <a:t>建模分析题</a:t>
            </a:r>
            <a:r>
              <a:rPr lang="zh-CN" altLang="en-US" dirty="0">
                <a:sym typeface="+mn-ea"/>
              </a:rPr>
              <a:t>（</a:t>
            </a:r>
            <a:r>
              <a:rPr lang="en-US" altLang="zh-CN" dirty="0">
                <a:sym typeface="+mn-ea"/>
              </a:rPr>
              <a:t>10</a:t>
            </a:r>
            <a:r>
              <a:rPr lang="zh-CN" altLang="en-US" dirty="0">
                <a:sym typeface="+mn-ea"/>
              </a:rPr>
              <a:t>分</a:t>
            </a:r>
            <a:r>
              <a:rPr lang="en-US" altLang="zh-CN" dirty="0">
                <a:sym typeface="+mn-ea"/>
              </a:rPr>
              <a:t>*4=40</a:t>
            </a:r>
            <a:r>
              <a:rPr lang="zh-CN" altLang="en-US" dirty="0">
                <a:sym typeface="+mn-ea"/>
              </a:rPr>
              <a:t>分</a:t>
            </a:r>
            <a:r>
              <a:rPr lang="zh-CN" altLang="en-US" dirty="0">
                <a:sym typeface="+mn-ea"/>
              </a:rPr>
              <a:t>）</a:t>
            </a:r>
            <a:endParaRPr lang="en-US" altLang="zh-CN" dirty="0"/>
          </a:p>
          <a:p>
            <a:r>
              <a:rPr lang="zh-CN" altLang="en-US" dirty="0"/>
              <a:t>计算题（</a:t>
            </a:r>
            <a:r>
              <a:rPr lang="en-US" altLang="zh-CN" dirty="0">
                <a:sym typeface="+mn-ea"/>
              </a:rPr>
              <a:t>8</a:t>
            </a:r>
            <a:r>
              <a:rPr lang="zh-CN" altLang="en-US" dirty="0">
                <a:sym typeface="+mn-ea"/>
              </a:rPr>
              <a:t>分</a:t>
            </a:r>
            <a:r>
              <a:rPr lang="en-US" altLang="zh-CN" dirty="0">
                <a:sym typeface="+mn-ea"/>
              </a:rPr>
              <a:t>*3+</a:t>
            </a:r>
            <a:r>
              <a:rPr lang="en-US" altLang="zh-CN" dirty="0">
                <a:sym typeface="+mn-ea"/>
              </a:rPr>
              <a:t>6</a:t>
            </a:r>
            <a:r>
              <a:rPr lang="zh-CN" altLang="en-US" dirty="0">
                <a:sym typeface="+mn-ea"/>
              </a:rPr>
              <a:t>分</a:t>
            </a:r>
            <a:r>
              <a:rPr lang="en-US" altLang="zh-CN" dirty="0">
                <a:sym typeface="+mn-ea"/>
              </a:rPr>
              <a:t>=30</a:t>
            </a:r>
            <a:r>
              <a:rPr lang="zh-CN" altLang="en-US" dirty="0">
                <a:sym typeface="+mn-ea"/>
              </a:rPr>
              <a:t>分</a:t>
            </a:r>
            <a:r>
              <a:rPr lang="zh-CN" altLang="en-US" dirty="0"/>
              <a:t>）</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线性规划</a:t>
            </a:r>
            <a:endParaRPr lang="zh-CN" altLang="en-US" dirty="0"/>
          </a:p>
        </p:txBody>
      </p:sp>
      <p:sp>
        <p:nvSpPr>
          <p:cNvPr id="3" name="内容占位符 2"/>
          <p:cNvSpPr>
            <a:spLocks noGrp="1"/>
          </p:cNvSpPr>
          <p:nvPr>
            <p:ph idx="1"/>
          </p:nvPr>
        </p:nvSpPr>
        <p:spPr/>
        <p:txBody>
          <a:bodyPr>
            <a:normAutofit fontScale="50000"/>
          </a:bodyPr>
          <a:lstStyle/>
          <a:p>
            <a:r>
              <a:rPr lang="zh-CN" altLang="en-US" sz="2800" dirty="0">
                <a:sym typeface="+mn-ea"/>
              </a:rPr>
              <a:t>线性规划的意义</a:t>
            </a:r>
            <a:endParaRPr lang="en-US" altLang="zh-CN" sz="2800" dirty="0">
              <a:latin typeface="楷体" panose="02010609060101010101" pitchFamily="49" charset="-122"/>
            </a:endParaRPr>
          </a:p>
          <a:p>
            <a:pPr lvl="1"/>
            <a:r>
              <a:rPr lang="zh-CN" altLang="en-US" sz="2800" dirty="0">
                <a:sym typeface="+mn-ea"/>
              </a:rPr>
              <a:t>什么是线性函数？</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为什么要研究线性规划问题？</a:t>
            </a:r>
            <a:endParaRPr lang="en-US" altLang="zh-CN" sz="2800" dirty="0">
              <a:latin typeface="楷体" panose="02010609060101010101" pitchFamily="49" charset="-122"/>
              <a:ea typeface="楷体" panose="02010609060101010101" pitchFamily="49" charset="-122"/>
            </a:endParaRPr>
          </a:p>
          <a:p>
            <a:r>
              <a:rPr lang="zh-CN" altLang="en-US" sz="2800" dirty="0">
                <a:sym typeface="+mn-ea"/>
              </a:rPr>
              <a:t>线性规划问题的提出</a:t>
            </a:r>
            <a:endParaRPr lang="en-US" altLang="zh-CN" sz="2800" dirty="0">
              <a:latin typeface="楷体" panose="02010609060101010101" pitchFamily="49" charset="-122"/>
              <a:ea typeface="楷体" panose="02010609060101010101" pitchFamily="49" charset="-122"/>
            </a:endParaRPr>
          </a:p>
          <a:p>
            <a:pPr lvl="1"/>
            <a:r>
              <a:rPr lang="zh-CN" altLang="en-US" sz="2800" dirty="0">
                <a:solidFill>
                  <a:schemeClr val="tx1"/>
                </a:solidFill>
                <a:sym typeface="+mn-ea"/>
              </a:rPr>
              <a:t>线性规划的建模过程包含哪些步骤？</a:t>
            </a:r>
            <a:endParaRPr lang="en-US" altLang="zh-CN" sz="2800" dirty="0">
              <a:solidFill>
                <a:schemeClr val="tx1"/>
              </a:solidFill>
              <a:latin typeface="楷体" panose="02010609060101010101" pitchFamily="49" charset="-122"/>
            </a:endParaRPr>
          </a:p>
          <a:p>
            <a:pPr lvl="1"/>
            <a:r>
              <a:rPr lang="zh-CN" altLang="en-US" sz="2800" dirty="0">
                <a:sym typeface="+mn-ea"/>
              </a:rPr>
              <a:t>什么是线性规划的一般形式？</a:t>
            </a:r>
            <a:endParaRPr lang="en-US" altLang="zh-CN" sz="2800" dirty="0">
              <a:latin typeface="楷体" panose="02010609060101010101" pitchFamily="49" charset="-122"/>
              <a:ea typeface="楷体" panose="02010609060101010101" pitchFamily="49" charset="-122"/>
            </a:endParaRPr>
          </a:p>
          <a:p>
            <a:r>
              <a:rPr lang="zh-CN" altLang="en-US" sz="2800" dirty="0">
                <a:sym typeface="+mn-ea"/>
              </a:rPr>
              <a:t>线性规划问题的图解法</a:t>
            </a:r>
            <a:r>
              <a:rPr lang="zh-CN" altLang="en-US" sz="2800" dirty="0">
                <a:solidFill>
                  <a:srgbClr val="FF0000"/>
                </a:solidFill>
                <a:sym typeface="+mn-ea"/>
              </a:rPr>
              <a:t>（填空、判断、计算）</a:t>
            </a:r>
            <a:endParaRPr lang="en-US" altLang="zh-CN" sz="2800" dirty="0">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什么是线性规划问题的可行解、最优解、和最优值</a:t>
            </a:r>
            <a:r>
              <a:rPr lang="zh-CN" altLang="en-US" sz="2800" dirty="0">
                <a:sym typeface="+mn-ea"/>
              </a:rPr>
              <a:t>？</a:t>
            </a:r>
            <a:endParaRPr lang="en-US" altLang="zh-CN" sz="2800" dirty="0">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如何确定线性规划的可行域？</a:t>
            </a:r>
            <a:endParaRPr lang="en-US" altLang="zh-CN" sz="2800" dirty="0">
              <a:solidFill>
                <a:srgbClr val="FF0000"/>
              </a:solidFill>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如何利用图解法确定线性规划问题的最优解？</a:t>
            </a:r>
            <a:endParaRPr lang="en-US" altLang="zh-CN" sz="2800" dirty="0">
              <a:solidFill>
                <a:srgbClr val="FF0000"/>
              </a:solidFill>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线性规划中最优解的可能有哪些情况？</a:t>
            </a:r>
            <a:endParaRPr lang="en-US" altLang="zh-CN" sz="2800" dirty="0">
              <a:solidFill>
                <a:srgbClr val="FF0000"/>
              </a:solidFill>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什么是线性规划问题的标准化？（剩余变量与松弛变量）</a:t>
            </a:r>
            <a:endParaRPr lang="en-US" altLang="zh-CN" sz="2800" dirty="0">
              <a:solidFill>
                <a:srgbClr val="FF0000"/>
              </a:solidFill>
              <a:latin typeface="楷体" panose="02010609060101010101" pitchFamily="49" charset="-122"/>
              <a:ea typeface="楷体" panose="02010609060101010101" pitchFamily="49" charset="-122"/>
            </a:endParaRPr>
          </a:p>
          <a:p>
            <a:r>
              <a:rPr lang="zh-CN" altLang="en-US" sz="2800" dirty="0">
                <a:sym typeface="+mn-ea"/>
              </a:rPr>
              <a:t>图解法的灵敏度分析</a:t>
            </a:r>
            <a:r>
              <a:rPr lang="zh-CN" altLang="en-US" dirty="0">
                <a:solidFill>
                  <a:srgbClr val="FF0000"/>
                </a:solidFill>
                <a:sym typeface="+mn-ea"/>
              </a:rPr>
              <a:t>（填空、判断、计算）</a:t>
            </a:r>
            <a:endParaRPr lang="en-US" altLang="zh-CN" sz="2800" dirty="0">
              <a:latin typeface="楷体" panose="02010609060101010101" pitchFamily="49" charset="-122"/>
              <a:ea typeface="楷体" panose="02010609060101010101" pitchFamily="49" charset="-122"/>
            </a:endParaRPr>
          </a:p>
          <a:p>
            <a:pPr lvl="1"/>
            <a:r>
              <a:rPr lang="zh-CN" altLang="en-US" sz="2800" dirty="0">
                <a:solidFill>
                  <a:srgbClr val="FF0000"/>
                </a:solidFill>
                <a:sym typeface="+mn-ea"/>
              </a:rPr>
              <a:t>目标函数系数的灵敏度分析与斜率的关系</a:t>
            </a:r>
            <a:endParaRPr lang="en-US" altLang="zh-CN" sz="2800" dirty="0">
              <a:latin typeface="楷体" panose="02010609060101010101" pitchFamily="49" charset="-122"/>
            </a:endParaRPr>
          </a:p>
          <a:p>
            <a:pPr lvl="1"/>
            <a:r>
              <a:rPr lang="zh-CN" altLang="en-US" sz="2800" dirty="0">
                <a:solidFill>
                  <a:srgbClr val="FF0000"/>
                </a:solidFill>
                <a:sym typeface="+mn-ea"/>
              </a:rPr>
              <a:t>约束条件常数的灵敏度分析与</a:t>
            </a:r>
            <a:r>
              <a:rPr lang="zh-CN" altLang="en-US" sz="2800" dirty="0">
                <a:solidFill>
                  <a:srgbClr val="FF0000"/>
                </a:solidFill>
                <a:sym typeface="+mn-ea"/>
              </a:rPr>
              <a:t>对偶价格</a:t>
            </a:r>
            <a:endParaRPr lang="zh-CN" altLang="en-US" sz="2800" dirty="0">
              <a:solidFill>
                <a:srgbClr val="FF0000"/>
              </a:solidFill>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对偶价格对最优值的影响</a:t>
            </a:r>
            <a:endParaRPr lang="zh-CN" altLang="en-US" dirty="0"/>
          </a:p>
        </p:txBody>
      </p:sp>
      <p:sp>
        <p:nvSpPr>
          <p:cNvPr id="3" name="内容占位符 2"/>
          <p:cNvSpPr>
            <a:spLocks noGrp="1"/>
          </p:cNvSpPr>
          <p:nvPr>
            <p:ph idx="1"/>
          </p:nvPr>
        </p:nvSpPr>
        <p:spPr/>
        <p:txBody>
          <a:bodyPr/>
          <a:lstStyle/>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在</a:t>
            </a:r>
            <a:r>
              <a:rPr lang="zh-CN" altLang="en-US" sz="2800" dirty="0">
                <a:solidFill>
                  <a:srgbClr val="FF0000"/>
                </a:solidFill>
                <a:cs typeface="Times New Roman" panose="02020603050405020304" pitchFamily="18" charset="0"/>
              </a:rPr>
              <a:t>一定范围内</a:t>
            </a:r>
            <a:r>
              <a:rPr lang="zh-CN" altLang="en-US" sz="2800" dirty="0">
                <a:solidFill>
                  <a:srgbClr val="000000"/>
                </a:solidFill>
                <a:cs typeface="Times New Roman" panose="02020603050405020304" pitchFamily="18" charset="0"/>
              </a:rPr>
              <a:t>，当约束条件中常数项增加 </a:t>
            </a:r>
            <a:r>
              <a:rPr lang="en-US" altLang="zh-CN" sz="2800" dirty="0">
                <a:solidFill>
                  <a:srgbClr val="000000"/>
                </a:solidFill>
                <a:cs typeface="Times New Roman" panose="02020603050405020304" pitchFamily="18" charset="0"/>
              </a:rPr>
              <a:t>1 </a:t>
            </a:r>
            <a:r>
              <a:rPr lang="zh-CN" altLang="en-US" sz="2800" dirty="0">
                <a:solidFill>
                  <a:srgbClr val="000000"/>
                </a:solidFill>
                <a:cs typeface="Times New Roman" panose="02020603050405020304" pitchFamily="18" charset="0"/>
              </a:rPr>
              <a:t>个单位时，</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1</a:t>
            </a:r>
            <a:r>
              <a:rPr lang="zh-CN" altLang="en-US" sz="2800" dirty="0">
                <a:solidFill>
                  <a:srgbClr val="000000"/>
                </a:solidFill>
                <a:cs typeface="Times New Roman" panose="02020603050405020304" pitchFamily="18" charset="0"/>
              </a:rPr>
              <a:t>）对偶价格大于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，则其最优目标函数值得到改善，求</a:t>
            </a:r>
            <a:r>
              <a:rPr lang="en-US" altLang="zh-CN" sz="2800" dirty="0">
                <a:solidFill>
                  <a:srgbClr val="000000"/>
                </a:solidFill>
                <a:cs typeface="Times New Roman" panose="02020603050405020304" pitchFamily="18" charset="0"/>
              </a:rPr>
              <a:t>Max</a:t>
            </a:r>
            <a:r>
              <a:rPr lang="zh-CN" altLang="en-US" sz="2800" dirty="0">
                <a:solidFill>
                  <a:srgbClr val="000000"/>
                </a:solidFill>
                <a:cs typeface="Times New Roman" panose="02020603050405020304" pitchFamily="18" charset="0"/>
              </a:rPr>
              <a:t>则函数值增大，求</a:t>
            </a:r>
            <a:r>
              <a:rPr lang="en-US" altLang="zh-CN" sz="2800" dirty="0">
                <a:solidFill>
                  <a:srgbClr val="000000"/>
                </a:solidFill>
                <a:cs typeface="Times New Roman" panose="02020603050405020304" pitchFamily="18" charset="0"/>
              </a:rPr>
              <a:t>min</a:t>
            </a:r>
            <a:r>
              <a:rPr lang="zh-CN" altLang="en-US" sz="2800" dirty="0">
                <a:solidFill>
                  <a:srgbClr val="000000"/>
                </a:solidFill>
                <a:cs typeface="Times New Roman" panose="02020603050405020304" pitchFamily="18" charset="0"/>
              </a:rPr>
              <a:t>则函数值变小；</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2</a:t>
            </a:r>
            <a:r>
              <a:rPr lang="zh-CN" altLang="en-US" sz="2800" dirty="0">
                <a:solidFill>
                  <a:srgbClr val="000000"/>
                </a:solidFill>
                <a:cs typeface="Times New Roman" panose="02020603050405020304" pitchFamily="18" charset="0"/>
              </a:rPr>
              <a:t>）对偶价格小于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，则其最优目标函数值受到影响（变坏），求</a:t>
            </a:r>
            <a:r>
              <a:rPr lang="en-US" altLang="zh-CN" sz="2800" dirty="0">
                <a:solidFill>
                  <a:srgbClr val="000000"/>
                </a:solidFill>
                <a:cs typeface="Times New Roman" panose="02020603050405020304" pitchFamily="18" charset="0"/>
              </a:rPr>
              <a:t>Max</a:t>
            </a:r>
            <a:r>
              <a:rPr lang="zh-CN" altLang="en-US" sz="2800" dirty="0">
                <a:solidFill>
                  <a:srgbClr val="000000"/>
                </a:solidFill>
                <a:cs typeface="Times New Roman" panose="02020603050405020304" pitchFamily="18" charset="0"/>
              </a:rPr>
              <a:t>则函数值变小，求</a:t>
            </a:r>
            <a:r>
              <a:rPr lang="en-US" altLang="zh-CN" sz="2800" dirty="0">
                <a:solidFill>
                  <a:srgbClr val="000000"/>
                </a:solidFill>
                <a:cs typeface="Times New Roman" panose="02020603050405020304" pitchFamily="18" charset="0"/>
              </a:rPr>
              <a:t>min</a:t>
            </a:r>
            <a:r>
              <a:rPr lang="zh-CN" altLang="en-US" sz="2800" dirty="0">
                <a:solidFill>
                  <a:srgbClr val="000000"/>
                </a:solidFill>
                <a:cs typeface="Times New Roman" panose="02020603050405020304" pitchFamily="18" charset="0"/>
              </a:rPr>
              <a:t>则函数值增大；</a:t>
            </a:r>
            <a:endParaRPr lang="zh-CN" altLang="en-US" sz="2800" dirty="0">
              <a:solidFill>
                <a:srgbClr val="000000"/>
              </a:solidFill>
              <a:cs typeface="Times New Roman" panose="02020603050405020304" pitchFamily="18" charset="0"/>
            </a:endParaRPr>
          </a:p>
          <a:p>
            <a:pPr eaLnBrk="1" hangingPunct="1">
              <a:lnSpc>
                <a:spcPct val="100000"/>
              </a:lnSpc>
              <a:spcBef>
                <a:spcPct val="0"/>
              </a:spcBef>
              <a:buFontTx/>
              <a:buNone/>
            </a:pPr>
            <a:r>
              <a:rPr lang="zh-CN" altLang="en-US" sz="2800" dirty="0">
                <a:solidFill>
                  <a:srgbClr val="000000"/>
                </a:solidFill>
                <a:cs typeface="Times New Roman" panose="02020603050405020304" pitchFamily="18" charset="0"/>
              </a:rPr>
              <a:t>（</a:t>
            </a:r>
            <a:r>
              <a:rPr lang="en-US" altLang="zh-CN" sz="2800" dirty="0">
                <a:solidFill>
                  <a:srgbClr val="000000"/>
                </a:solidFill>
                <a:cs typeface="Times New Roman" panose="02020603050405020304" pitchFamily="18" charset="0"/>
              </a:rPr>
              <a:t>3</a:t>
            </a:r>
            <a:r>
              <a:rPr lang="zh-CN" altLang="en-US" sz="2800" dirty="0">
                <a:solidFill>
                  <a:srgbClr val="000000"/>
                </a:solidFill>
                <a:cs typeface="Times New Roman" panose="02020603050405020304" pitchFamily="18" charset="0"/>
              </a:rPr>
              <a:t>）对偶价格等于 </a:t>
            </a:r>
            <a:r>
              <a:rPr lang="en-US" altLang="zh-CN" sz="2800" dirty="0">
                <a:solidFill>
                  <a:srgbClr val="000000"/>
                </a:solidFill>
                <a:cs typeface="Times New Roman" panose="02020603050405020304" pitchFamily="18" charset="0"/>
              </a:rPr>
              <a:t>0</a:t>
            </a:r>
            <a:r>
              <a:rPr lang="zh-CN" altLang="en-US" sz="2800" dirty="0">
                <a:solidFill>
                  <a:srgbClr val="000000"/>
                </a:solidFill>
                <a:cs typeface="Times New Roman" panose="02020603050405020304" pitchFamily="18" charset="0"/>
              </a:rPr>
              <a:t>，则其最优目标函数值不变。</a:t>
            </a:r>
            <a:endParaRPr lang="en-US" altLang="zh-CN" sz="2800" dirty="0">
              <a:solidFill>
                <a:srgbClr val="000000"/>
              </a:solidFill>
              <a:cs typeface="Times New Roman" panose="02020603050405020304" pitchFamily="18" charset="0"/>
            </a:endParaRP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349375" y="1170940"/>
            <a:ext cx="7832725" cy="43408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a:t>
            </a:r>
            <a:r>
              <a:rPr lang="zh-CN" altLang="en-US" dirty="0"/>
              <a:t> </a:t>
            </a:r>
            <a:r>
              <a:rPr lang="zh-CN" altLang="en-US" dirty="0">
                <a:sym typeface="+mn-ea"/>
              </a:rPr>
              <a:t>线性规划的计算机求解</a:t>
            </a:r>
            <a:endParaRPr lang="zh-CN" altLang="en-US" dirty="0"/>
          </a:p>
        </p:txBody>
      </p:sp>
      <p:sp>
        <p:nvSpPr>
          <p:cNvPr id="3" name="内容占位符 2"/>
          <p:cNvSpPr>
            <a:spLocks noGrp="1"/>
          </p:cNvSpPr>
          <p:nvPr>
            <p:ph idx="1"/>
          </p:nvPr>
        </p:nvSpPr>
        <p:spPr/>
        <p:txBody>
          <a:bodyPr>
            <a:normAutofit fontScale="60000"/>
          </a:bodyPr>
          <a:lstStyle/>
          <a:p>
            <a:r>
              <a:rPr lang="zh-CN" altLang="en-US" sz="2800" dirty="0">
                <a:sym typeface="+mn-ea"/>
              </a:rPr>
              <a:t>管理运筹学软件的输出分析：在任意给定的输出结果中确定以下问题的答案：</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最优解和最优值是多少？</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对偶价格是多少？有什么含义？</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松弛</a:t>
            </a:r>
            <a:r>
              <a:rPr lang="en-US" altLang="zh-CN" sz="2800" dirty="0">
                <a:sym typeface="+mn-ea"/>
              </a:rPr>
              <a:t>/</a:t>
            </a:r>
            <a:r>
              <a:rPr lang="zh-CN" altLang="en-US" sz="2800" dirty="0">
                <a:sym typeface="+mn-ea"/>
              </a:rPr>
              <a:t>剩余变量是多少？有什么含义？</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相差值是多少？有什么含义？</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常数项的上下限是多少？有什么含义？</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目标函数系数的上下限是多少？有什么含义？</a:t>
            </a:r>
            <a:endParaRPr lang="en-US" altLang="zh-CN" sz="2800" dirty="0">
              <a:latin typeface="楷体" panose="02010609060101010101" pitchFamily="49" charset="-122"/>
              <a:ea typeface="楷体" panose="02010609060101010101" pitchFamily="49" charset="-122"/>
            </a:endParaRPr>
          </a:p>
          <a:p>
            <a:r>
              <a:rPr lang="zh-CN" altLang="en-US" sz="2800" dirty="0">
                <a:sym typeface="+mn-ea"/>
              </a:rPr>
              <a:t>百分之一百法则：</a:t>
            </a:r>
            <a:endParaRPr lang="en-US" altLang="zh-CN" sz="2800" dirty="0">
              <a:latin typeface="楷体" panose="02010609060101010101" pitchFamily="49" charset="-122"/>
              <a:ea typeface="楷体" panose="02010609060101010101" pitchFamily="49" charset="-122"/>
            </a:endParaRPr>
          </a:p>
          <a:p>
            <a:pPr lvl="1"/>
            <a:r>
              <a:rPr lang="zh-CN" altLang="en-US" sz="2800" dirty="0">
                <a:solidFill>
                  <a:schemeClr val="tx1"/>
                </a:solidFill>
                <a:sym typeface="+mn-ea"/>
              </a:rPr>
              <a:t>决策变量系数的百分之一百法则</a:t>
            </a:r>
            <a:endParaRPr lang="en-US" altLang="zh-CN" sz="2800" dirty="0">
              <a:solidFill>
                <a:schemeClr val="tx1"/>
              </a:solidFill>
              <a:latin typeface="楷体" panose="02010609060101010101" pitchFamily="49" charset="-122"/>
              <a:ea typeface="楷体" panose="02010609060101010101" pitchFamily="49" charset="-122"/>
            </a:endParaRPr>
          </a:p>
          <a:p>
            <a:pPr lvl="1"/>
            <a:r>
              <a:rPr lang="zh-CN" altLang="en-US" sz="2800" dirty="0">
                <a:solidFill>
                  <a:schemeClr val="tx1"/>
                </a:solidFill>
                <a:sym typeface="+mn-ea"/>
              </a:rPr>
              <a:t>常数项的百分之一百</a:t>
            </a:r>
            <a:r>
              <a:rPr lang="zh-CN" altLang="en-US" sz="2800" dirty="0">
                <a:solidFill>
                  <a:schemeClr val="tx1"/>
                </a:solidFill>
              </a:rPr>
              <a:t>法则</a:t>
            </a:r>
            <a:endParaRPr lang="zh-CN" altLang="en-US">
              <a:solidFill>
                <a:schemeClr val="tx1"/>
              </a:solidFill>
            </a:endParaRPr>
          </a:p>
          <a:p>
            <a:r>
              <a:rPr lang="zh-CN" altLang="en-US" sz="2800" dirty="0">
                <a:sym typeface="+mn-ea"/>
              </a:rPr>
              <a:t>其他注意问题：</a:t>
            </a:r>
            <a:endParaRPr lang="en-US" altLang="zh-CN" sz="2800" dirty="0">
              <a:latin typeface="楷体" panose="02010609060101010101" pitchFamily="49" charset="-122"/>
              <a:ea typeface="楷体" panose="02010609060101010101" pitchFamily="49" charset="-122"/>
            </a:endParaRPr>
          </a:p>
          <a:p>
            <a:pPr lvl="1"/>
            <a:r>
              <a:rPr lang="zh-CN" altLang="en-US" sz="2800" dirty="0">
                <a:sym typeface="+mn-ea"/>
              </a:rPr>
              <a:t>目标函数为求最小值时注意对偶价格符号</a:t>
            </a:r>
            <a:endParaRPr lang="zh-CN" altLang="en-US" sz="2800" dirty="0">
              <a:sym typeface="+mn-ea"/>
            </a:endParaRPr>
          </a:p>
          <a:p>
            <a:pPr lvl="1"/>
            <a:r>
              <a:rPr lang="zh-CN" altLang="en-US" sz="2800" dirty="0">
                <a:solidFill>
                  <a:schemeClr val="tx1"/>
                </a:solidFill>
                <a:sym typeface="+mn-ea"/>
              </a:rPr>
              <a:t>对偶价格与影子价格之间的关系</a:t>
            </a:r>
            <a:endParaRPr lang="zh-CN" altLang="en-US" sz="2800" dirty="0">
              <a:solidFill>
                <a:schemeClr val="tx1"/>
              </a:solidFill>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线性规划在工商管理中的应用</a:t>
            </a:r>
            <a:endParaRPr lang="zh-CN" altLang="en-US" dirty="0"/>
          </a:p>
        </p:txBody>
      </p:sp>
      <p:sp>
        <p:nvSpPr>
          <p:cNvPr id="3" name="内容占位符 2"/>
          <p:cNvSpPr>
            <a:spLocks noGrp="1"/>
          </p:cNvSpPr>
          <p:nvPr>
            <p:ph idx="1"/>
          </p:nvPr>
        </p:nvSpPr>
        <p:spPr/>
        <p:txBody>
          <a:bodyPr>
            <a:normAutofit fontScale="50000"/>
          </a:bodyPr>
          <a:lstStyle/>
          <a:p>
            <a:r>
              <a:rPr lang="zh-CN" altLang="en-US" sz="2800" dirty="0">
                <a:solidFill>
                  <a:schemeClr val="tx1"/>
                </a:solidFill>
                <a:latin typeface="华文楷体" panose="02010600040101010101" charset="-122"/>
                <a:ea typeface="华文楷体" panose="02010600040101010101" charset="-122"/>
                <a:sym typeface="+mn-ea"/>
              </a:rPr>
              <a:t>人力资源分配问题</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每个员工的排班要求是什么？</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列出排班表</a:t>
            </a:r>
            <a:endParaRPr lang="en-US" altLang="zh-CN" sz="2800" dirty="0">
              <a:solidFill>
                <a:schemeClr val="tx1"/>
              </a:solidFill>
              <a:latin typeface="华文楷体" panose="02010600040101010101" charset="-122"/>
              <a:ea typeface="华文楷体" panose="02010600040101010101" charset="-122"/>
            </a:endParaRPr>
          </a:p>
          <a:p>
            <a:r>
              <a:rPr lang="zh-CN" altLang="en-US" sz="2800" dirty="0">
                <a:solidFill>
                  <a:schemeClr val="tx1"/>
                </a:solidFill>
                <a:latin typeface="华文楷体" panose="02010600040101010101" charset="-122"/>
                <a:ea typeface="华文楷体" panose="02010600040101010101" charset="-122"/>
                <a:sym typeface="+mn-ea"/>
              </a:rPr>
              <a:t>生产计划问题</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每种产品的生产流程是什么样的？</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画出生产流程图</a:t>
            </a:r>
            <a:endParaRPr lang="en-US" altLang="zh-CN" sz="2800" dirty="0">
              <a:solidFill>
                <a:schemeClr val="tx1"/>
              </a:solidFill>
              <a:latin typeface="华文楷体" panose="02010600040101010101" charset="-122"/>
              <a:ea typeface="华文楷体" panose="02010600040101010101" charset="-122"/>
            </a:endParaRPr>
          </a:p>
          <a:p>
            <a:r>
              <a:rPr lang="zh-CN" altLang="en-US" sz="2800" dirty="0">
                <a:solidFill>
                  <a:schemeClr val="tx1"/>
                </a:solidFill>
                <a:latin typeface="华文楷体" panose="02010600040101010101" charset="-122"/>
                <a:ea typeface="华文楷体" panose="02010600040101010101" charset="-122"/>
                <a:sym typeface="+mn-ea"/>
              </a:rPr>
              <a:t>套裁下料问题</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单位耗材有多少种裁切方案？</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用树状图分析可能得套裁方案</a:t>
            </a:r>
            <a:endParaRPr lang="en-US" altLang="zh-CN" sz="2800" dirty="0">
              <a:solidFill>
                <a:schemeClr val="tx1"/>
              </a:solidFill>
              <a:latin typeface="华文楷体" panose="02010600040101010101" charset="-122"/>
              <a:ea typeface="华文楷体" panose="02010600040101010101" charset="-122"/>
            </a:endParaRPr>
          </a:p>
          <a:p>
            <a:r>
              <a:rPr lang="zh-CN" altLang="en-US" sz="2800" dirty="0">
                <a:solidFill>
                  <a:srgbClr val="FF0000"/>
                </a:solidFill>
                <a:latin typeface="华文楷体" panose="02010600040101010101" charset="-122"/>
                <a:ea typeface="华文楷体" panose="02010600040101010101" charset="-122"/>
                <a:sym typeface="+mn-ea"/>
              </a:rPr>
              <a:t>配料问题（</a:t>
            </a:r>
            <a:r>
              <a:rPr lang="zh-CN" altLang="en-US" sz="2800" dirty="0">
                <a:solidFill>
                  <a:srgbClr val="FF0000"/>
                </a:solidFill>
                <a:latin typeface="华文楷体" panose="02010600040101010101" charset="-122"/>
                <a:ea typeface="华文楷体" panose="02010600040101010101" charset="-122"/>
                <a:sym typeface="+mn-ea"/>
              </a:rPr>
              <a:t>建模）</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每种产品的各个组成比例是多少？</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将每种产品的每个组成部分都看做一个决策变量</a:t>
            </a:r>
            <a:endParaRPr lang="en-US" altLang="zh-CN" sz="2800" dirty="0">
              <a:solidFill>
                <a:schemeClr val="tx1"/>
              </a:solidFill>
              <a:latin typeface="华文楷体" panose="02010600040101010101" charset="-122"/>
              <a:ea typeface="华文楷体" panose="02010600040101010101" charset="-122"/>
            </a:endParaRPr>
          </a:p>
          <a:p>
            <a:r>
              <a:rPr lang="zh-CN" altLang="en-US" sz="2800" dirty="0">
                <a:solidFill>
                  <a:srgbClr val="FF0000"/>
                </a:solidFill>
                <a:latin typeface="华文楷体" panose="02010600040101010101" charset="-122"/>
                <a:ea typeface="华文楷体" panose="02010600040101010101" charset="-122"/>
                <a:sym typeface="+mn-ea"/>
              </a:rPr>
              <a:t>投资问题</a:t>
            </a:r>
            <a:r>
              <a:rPr lang="zh-CN" altLang="en-US" dirty="0">
                <a:solidFill>
                  <a:srgbClr val="FF0000"/>
                </a:solidFill>
                <a:latin typeface="华文楷体" panose="02010600040101010101" charset="-122"/>
                <a:ea typeface="华文楷体" panose="02010600040101010101" charset="-122"/>
                <a:sym typeface="+mn-ea"/>
              </a:rPr>
              <a:t>（建模）</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每年年初的投资计划和年末的回报收入各是多少？</a:t>
            </a:r>
            <a:endParaRPr lang="en-US" altLang="zh-CN" sz="2800" dirty="0">
              <a:solidFill>
                <a:schemeClr val="tx1"/>
              </a:solidFill>
              <a:latin typeface="华文楷体" panose="02010600040101010101" charset="-122"/>
              <a:ea typeface="华文楷体" panose="02010600040101010101" charset="-122"/>
            </a:endParaRPr>
          </a:p>
          <a:p>
            <a:pPr lvl="1"/>
            <a:r>
              <a:rPr lang="zh-CN" altLang="en-US" sz="2800" dirty="0">
                <a:solidFill>
                  <a:schemeClr val="tx1"/>
                </a:solidFill>
                <a:latin typeface="华文楷体" panose="02010600040101010101" charset="-122"/>
                <a:ea typeface="华文楷体" panose="02010600040101010101" charset="-122"/>
                <a:sym typeface="+mn-ea"/>
              </a:rPr>
              <a:t>分别列出每年的投资计划表和收入回报表，并将头年年末的收入回报视为次年年初投资计划的额度上限</a:t>
            </a:r>
            <a:endParaRPr lang="zh-CN" altLang="en-US" sz="2800" dirty="0">
              <a:solidFill>
                <a:schemeClr val="tx1"/>
              </a:solidFill>
              <a:latin typeface="华文楷体" panose="02010600040101010101" charset="-122"/>
              <a:ea typeface="华文楷体" panose="02010600040101010101"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华文楷体" panose="02010600040101010101" charset="-122"/>
                <a:ea typeface="华文楷体" panose="02010600040101010101" charset="-122"/>
              </a:rPr>
              <a:t>配料问题</a:t>
            </a:r>
            <a:endParaRPr lang="en-US" dirty="0">
              <a:latin typeface="华文楷体" panose="02010600040101010101" charset="-122"/>
              <a:ea typeface="华文楷体" panose="02010600040101010101" charset="-122"/>
            </a:endParaRPr>
          </a:p>
        </p:txBody>
      </p:sp>
      <p:sp>
        <p:nvSpPr>
          <p:cNvPr id="3" name="Content Placeholder 2"/>
          <p:cNvSpPr>
            <a:spLocks noGrp="1"/>
          </p:cNvSpPr>
          <p:nvPr>
            <p:ph idx="1"/>
          </p:nvPr>
        </p:nvSpPr>
        <p:spPr/>
        <p:txBody>
          <a:bodyPr/>
          <a:lstStyle/>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工厂要用三种原料</a:t>
            </a:r>
            <a:r>
              <a:rPr lang="en-US" altLang="zh-CN" sz="2800" dirty="0">
                <a:latin typeface="楷体" panose="02010609060101010101" pitchFamily="49" charset="-122"/>
                <a:ea typeface="楷体" panose="02010609060101010101" pitchFamily="49" charset="-122"/>
              </a:rPr>
              <a:t>1</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2</a:t>
            </a:r>
            <a:r>
              <a:rPr lang="zh-CN" altLang="en-US" sz="2800" dirty="0">
                <a:latin typeface="楷体" panose="02010609060101010101" pitchFamily="49" charset="-122"/>
                <a:ea typeface="楷体" panose="02010609060101010101" pitchFamily="49" charset="-122"/>
              </a:rPr>
              <a:t>、</a:t>
            </a:r>
            <a:r>
              <a:rPr lang="en-US" altLang="zh-CN" sz="2800" dirty="0">
                <a:latin typeface="楷体" panose="02010609060101010101" pitchFamily="49" charset="-122"/>
                <a:ea typeface="楷体" panose="02010609060101010101" pitchFamily="49" charset="-122"/>
              </a:rPr>
              <a:t>3</a:t>
            </a:r>
            <a:r>
              <a:rPr lang="zh-CN" altLang="en-US" sz="2800" dirty="0">
                <a:latin typeface="楷体" panose="02010609060101010101" pitchFamily="49" charset="-122"/>
                <a:ea typeface="楷体" panose="02010609060101010101" pitchFamily="49" charset="-122"/>
              </a:rPr>
              <a:t>混合调配出不同规格的产品甲、</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乙、丙。</a:t>
            </a:r>
            <a:endParaRPr lang="zh-CN" altLang="en-US"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问：该厂应如何安排生产，使利润最大？</a:t>
            </a:r>
            <a:endParaRPr lang="zh-CN" altLang="en-US" sz="2800" dirty="0">
              <a:latin typeface="楷体" panose="02010609060101010101" pitchFamily="49" charset="-122"/>
              <a:ea typeface="楷体" panose="02010609060101010101" pitchFamily="49" charset="-122"/>
            </a:endParaRPr>
          </a:p>
          <a:p>
            <a:pPr marL="0" indent="0">
              <a:buNone/>
            </a:pPr>
            <a:endParaRPr lang="en-US" dirty="0"/>
          </a:p>
        </p:txBody>
      </p:sp>
      <p:graphicFrame>
        <p:nvGraphicFramePr>
          <p:cNvPr id="4" name="表格 1"/>
          <p:cNvGraphicFramePr>
            <a:graphicFrameLocks noGrp="1"/>
          </p:cNvGraphicFramePr>
          <p:nvPr/>
        </p:nvGraphicFramePr>
        <p:xfrm>
          <a:off x="1892300" y="3284536"/>
          <a:ext cx="8407400" cy="1365252"/>
        </p:xfrm>
        <a:graphic>
          <a:graphicData uri="http://schemas.openxmlformats.org/drawingml/2006/table">
            <a:tbl>
              <a:tblPr/>
              <a:tblGrid>
                <a:gridCol w="1944688"/>
                <a:gridCol w="4786312"/>
                <a:gridCol w="1676400"/>
              </a:tblGrid>
              <a:tr h="3413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产品名称</a:t>
                      </a:r>
                      <a:endParaRPr kumimoji="0" lang="zh-CN"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规格要求</a:t>
                      </a:r>
                      <a:endParaRPr kumimoji="0" lang="zh-CN"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单价（元</a:t>
                      </a:r>
                      <a:r>
                        <a:rPr kumimoji="0"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/kg</a:t>
                      </a:r>
                      <a:r>
                        <a:rPr kumimoji="0" lang="en-US"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a:t>
                      </a:r>
                      <a:endParaRPr kumimoji="0" lang="en-US"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r>
              <a:tr h="3413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甲</a:t>
                      </a:r>
                      <a:endPar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原材料</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不少于</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50%</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，原材料</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不超过</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50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3413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乙</a:t>
                      </a:r>
                      <a:endPar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原材料</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不少于</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25%</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，原材料</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不超过</a:t>
                      </a: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50%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34131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丙</a:t>
                      </a:r>
                      <a:endPar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不限</a:t>
                      </a:r>
                      <a:endParaRPr kumimoji="0" lang="zh-CN" altLang="en-US"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bl>
          </a:graphicData>
        </a:graphic>
      </p:graphicFrame>
      <p:graphicFrame>
        <p:nvGraphicFramePr>
          <p:cNvPr id="5" name="表格 4"/>
          <p:cNvGraphicFramePr>
            <a:graphicFrameLocks noGrp="1"/>
          </p:cNvGraphicFramePr>
          <p:nvPr/>
        </p:nvGraphicFramePr>
        <p:xfrm>
          <a:off x="1925638" y="4941886"/>
          <a:ext cx="8353425" cy="1550989"/>
        </p:xfrm>
        <a:graphic>
          <a:graphicData uri="http://schemas.openxmlformats.org/drawingml/2006/table">
            <a:tbl>
              <a:tblPr/>
              <a:tblGrid>
                <a:gridCol w="1944687"/>
                <a:gridCol w="4679950"/>
                <a:gridCol w="1728788"/>
              </a:tblGrid>
              <a:tr h="43180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原材料名称</a:t>
                      </a:r>
                      <a:endParaRPr kumimoji="0" lang="zh-CN"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每天最多供应量</a:t>
                      </a:r>
                      <a:endParaRPr kumimoji="0" lang="zh-CN"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单价（元</a:t>
                      </a:r>
                      <a:r>
                        <a:rPr kumimoji="0" lang="en-US" altLang="zh-CN"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/kg</a:t>
                      </a:r>
                      <a:r>
                        <a:rPr kumimoji="0" lang="en-US" altLang="en-US" sz="2000" b="1" i="0" u="none" strike="noStrike" cap="none" normalizeH="0" baseline="0">
                          <a:ln>
                            <a:noFill/>
                          </a:ln>
                          <a:solidFill>
                            <a:schemeClr val="tx1"/>
                          </a:solidFill>
                          <a:effectLst/>
                          <a:latin typeface="Arial" panose="020B0604020202020204" pitchFamily="34" charset="0"/>
                          <a:ea typeface="仿宋" panose="02010609060101010101" pitchFamily="49" charset="-122"/>
                        </a:rPr>
                        <a:t>）</a:t>
                      </a:r>
                      <a:endParaRPr kumimoji="0" lang="en-US" altLang="en-US" sz="2000" b="1"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r>
              <a:tr h="37306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100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65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37306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100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25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373063">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60</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仿宋" panose="02010609060101010101" pitchFamily="49" charset="-122"/>
                        </a:rPr>
                        <a:t>35</a:t>
                      </a:r>
                      <a:endParaRPr kumimoji="0" lang="en-US" altLang="zh-CN" sz="2000" b="0" i="0" u="none" strike="noStrike" cap="none" normalizeH="0" baseline="0">
                        <a:ln>
                          <a:noFill/>
                        </a:ln>
                        <a:solidFill>
                          <a:srgbClr val="000000"/>
                        </a:solidFill>
                        <a:effectLst/>
                        <a:latin typeface="Arial" panose="020B0604020202020204" pitchFamily="34" charset="0"/>
                        <a:ea typeface="仿宋"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华文楷体" panose="02010600040101010101" charset="-122"/>
                <a:ea typeface="华文楷体" panose="02010600040101010101" charset="-122"/>
              </a:rPr>
              <a:t>投资问题</a:t>
            </a:r>
            <a:endParaRPr lang="en-US" dirty="0">
              <a:latin typeface="华文楷体" panose="02010600040101010101" charset="-122"/>
              <a:ea typeface="华文楷体" panose="02010600040101010101" charset="-122"/>
            </a:endParaRPr>
          </a:p>
        </p:txBody>
      </p:sp>
      <p:sp>
        <p:nvSpPr>
          <p:cNvPr id="3" name="Content Placeholder 2"/>
          <p:cNvSpPr>
            <a:spLocks noGrp="1"/>
          </p:cNvSpPr>
          <p:nvPr>
            <p:ph idx="1"/>
          </p:nvPr>
        </p:nvSpPr>
        <p:spPr/>
        <p:txBody>
          <a:bodyPr>
            <a:normAutofit lnSpcReduction="10000"/>
          </a:bodyPr>
          <a:lstStyle/>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现有资金</a:t>
            </a:r>
            <a:r>
              <a:rPr lang="en-US" altLang="zh-CN" sz="2800" dirty="0">
                <a:latin typeface="楷体" panose="02010609060101010101" pitchFamily="49" charset="-122"/>
                <a:ea typeface="楷体" panose="02010609060101010101" pitchFamily="49" charset="-122"/>
              </a:rPr>
              <a:t>200</a:t>
            </a:r>
            <a:r>
              <a:rPr lang="zh-CN" altLang="en-US" sz="2800" dirty="0">
                <a:latin typeface="楷体" panose="02010609060101010101" pitchFamily="49" charset="-122"/>
                <a:ea typeface="楷体" panose="02010609060101010101" pitchFamily="49" charset="-122"/>
              </a:rPr>
              <a:t>万元，今后五年内考虑给以下的项目投资。</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u="sng" dirty="0">
                <a:latin typeface="楷体" panose="02010609060101010101" pitchFamily="49" charset="-122"/>
                <a:ea typeface="楷体" panose="02010609060101010101" pitchFamily="49" charset="-122"/>
              </a:rPr>
              <a:t>项目</a:t>
            </a:r>
            <a:r>
              <a:rPr lang="en-US" altLang="zh-CN" sz="2800" i="1" u="sng" dirty="0">
                <a:latin typeface="楷体" panose="02010609060101010101" pitchFamily="49" charset="-122"/>
                <a:ea typeface="楷体" panose="02010609060101010101" pitchFamily="49" charset="-122"/>
              </a:rPr>
              <a:t>A</a:t>
            </a:r>
            <a:r>
              <a:rPr lang="zh-CN" altLang="en-US" sz="2800" dirty="0">
                <a:latin typeface="楷体" panose="02010609060101010101" pitchFamily="49" charset="-122"/>
                <a:ea typeface="楷体" panose="02010609060101010101" pitchFamily="49" charset="-122"/>
              </a:rPr>
              <a:t>：从第一年到第五年每年年初都可投资，当年末能收回本</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利</a:t>
            </a:r>
            <a:r>
              <a:rPr lang="en-US" altLang="zh-CN" sz="2800" dirty="0">
                <a:latin typeface="楷体" panose="02010609060101010101" pitchFamily="49" charset="-122"/>
                <a:ea typeface="楷体" panose="02010609060101010101" pitchFamily="49" charset="-122"/>
              </a:rPr>
              <a:t>110%</a:t>
            </a:r>
            <a:r>
              <a:rPr lang="zh-CN" altLang="en-US" sz="2800" dirty="0">
                <a:latin typeface="楷体" panose="02010609060101010101" pitchFamily="49" charset="-122"/>
                <a:ea typeface="楷体" panose="02010609060101010101" pitchFamily="49" charset="-122"/>
              </a:rPr>
              <a:t>；</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u="sng" dirty="0">
                <a:latin typeface="楷体" panose="02010609060101010101" pitchFamily="49" charset="-122"/>
                <a:ea typeface="楷体" panose="02010609060101010101" pitchFamily="49" charset="-122"/>
              </a:rPr>
              <a:t>项目</a:t>
            </a:r>
            <a:r>
              <a:rPr lang="en-US" altLang="zh-CN" sz="2800" i="1" u="sng" dirty="0">
                <a:latin typeface="楷体" panose="02010609060101010101" pitchFamily="49" charset="-122"/>
                <a:ea typeface="楷体" panose="02010609060101010101" pitchFamily="49" charset="-122"/>
              </a:rPr>
              <a:t>B</a:t>
            </a:r>
            <a:r>
              <a:rPr lang="zh-CN" altLang="en-US" sz="2800" dirty="0">
                <a:latin typeface="楷体" panose="02010609060101010101" pitchFamily="49" charset="-122"/>
                <a:ea typeface="楷体" panose="02010609060101010101" pitchFamily="49" charset="-122"/>
              </a:rPr>
              <a:t>：从第一年到第四年每年年初都可投资，次年末能收回本</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利</a:t>
            </a:r>
            <a:r>
              <a:rPr lang="en-US" altLang="zh-CN" sz="2800" dirty="0">
                <a:latin typeface="楷体" panose="02010609060101010101" pitchFamily="49" charset="-122"/>
                <a:ea typeface="楷体" panose="02010609060101010101" pitchFamily="49" charset="-122"/>
              </a:rPr>
              <a:t>125%</a:t>
            </a:r>
            <a:r>
              <a:rPr lang="zh-CN" altLang="en-US" sz="2800" dirty="0">
                <a:latin typeface="楷体" panose="02010609060101010101" pitchFamily="49" charset="-122"/>
                <a:ea typeface="楷体" panose="02010609060101010101" pitchFamily="49" charset="-122"/>
              </a:rPr>
              <a:t>，但规定每年最大投资额不能超过</a:t>
            </a:r>
            <a:r>
              <a:rPr lang="en-US" altLang="zh-CN" sz="2800" dirty="0">
                <a:latin typeface="楷体" panose="02010609060101010101" pitchFamily="49" charset="-122"/>
                <a:ea typeface="楷体" panose="02010609060101010101" pitchFamily="49" charset="-122"/>
              </a:rPr>
              <a:t>30</a:t>
            </a:r>
            <a:r>
              <a:rPr lang="zh-CN" altLang="en-US" sz="2800" dirty="0">
                <a:latin typeface="楷体" panose="02010609060101010101" pitchFamily="49" charset="-122"/>
                <a:ea typeface="楷体" panose="02010609060101010101" pitchFamily="49" charset="-122"/>
              </a:rPr>
              <a:t>万元；</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u="sng" dirty="0">
                <a:latin typeface="楷体" panose="02010609060101010101" pitchFamily="49" charset="-122"/>
                <a:ea typeface="楷体" panose="02010609060101010101" pitchFamily="49" charset="-122"/>
              </a:rPr>
              <a:t>项目</a:t>
            </a:r>
            <a:r>
              <a:rPr lang="en-US" altLang="zh-CN" sz="2800" i="1" u="sng" dirty="0">
                <a:latin typeface="楷体" panose="02010609060101010101" pitchFamily="49" charset="-122"/>
                <a:ea typeface="楷体" panose="02010609060101010101" pitchFamily="49" charset="-122"/>
              </a:rPr>
              <a:t>C</a:t>
            </a:r>
            <a:r>
              <a:rPr lang="zh-CN" altLang="en-US" sz="2800" dirty="0">
                <a:latin typeface="楷体" panose="02010609060101010101" pitchFamily="49" charset="-122"/>
                <a:ea typeface="楷体" panose="02010609060101010101" pitchFamily="49" charset="-122"/>
              </a:rPr>
              <a:t>：需在第三年年初投资，第五年末能收回本利</a:t>
            </a:r>
            <a:r>
              <a:rPr lang="en-US" altLang="zh-CN" sz="2800" dirty="0">
                <a:latin typeface="楷体" panose="02010609060101010101" pitchFamily="49" charset="-122"/>
                <a:ea typeface="楷体" panose="02010609060101010101" pitchFamily="49" charset="-122"/>
              </a:rPr>
              <a:t>140%</a:t>
            </a:r>
            <a:r>
              <a:rPr lang="zh-CN" altLang="en-US" sz="2800" dirty="0">
                <a:latin typeface="楷体" panose="02010609060101010101" pitchFamily="49" charset="-122"/>
                <a:ea typeface="楷体" panose="02010609060101010101" pitchFamily="49" charset="-122"/>
              </a:rPr>
              <a:t>，但规</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定最大投资额不能超过</a:t>
            </a:r>
            <a:r>
              <a:rPr lang="en-US" altLang="zh-CN" sz="2800" dirty="0">
                <a:latin typeface="楷体" panose="02010609060101010101" pitchFamily="49" charset="-122"/>
                <a:ea typeface="楷体" panose="02010609060101010101" pitchFamily="49" charset="-122"/>
              </a:rPr>
              <a:t>80</a:t>
            </a:r>
            <a:r>
              <a:rPr lang="zh-CN" altLang="en-US" sz="2800" dirty="0">
                <a:latin typeface="楷体" panose="02010609060101010101" pitchFamily="49" charset="-122"/>
                <a:ea typeface="楷体" panose="02010609060101010101" pitchFamily="49" charset="-122"/>
              </a:rPr>
              <a:t>万元；</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u="sng" dirty="0">
                <a:latin typeface="楷体" panose="02010609060101010101" pitchFamily="49" charset="-122"/>
                <a:ea typeface="楷体" panose="02010609060101010101" pitchFamily="49" charset="-122"/>
              </a:rPr>
              <a:t>项目</a:t>
            </a:r>
            <a:r>
              <a:rPr lang="en-US" altLang="zh-CN" sz="2800" i="1" u="sng" dirty="0">
                <a:latin typeface="楷体" panose="02010609060101010101" pitchFamily="49" charset="-122"/>
                <a:ea typeface="楷体" panose="02010609060101010101" pitchFamily="49" charset="-122"/>
              </a:rPr>
              <a:t>D</a:t>
            </a:r>
            <a:r>
              <a:rPr lang="zh-CN" altLang="en-US" sz="2800" dirty="0">
                <a:latin typeface="楷体" panose="02010609060101010101" pitchFamily="49" charset="-122"/>
                <a:ea typeface="楷体" panose="02010609060101010101" pitchFamily="49" charset="-122"/>
              </a:rPr>
              <a:t>：需在第二年年初投资，第五年末能收回本利</a:t>
            </a:r>
            <a:r>
              <a:rPr lang="en-US" altLang="zh-CN" sz="2800" dirty="0">
                <a:latin typeface="楷体" panose="02010609060101010101" pitchFamily="49" charset="-122"/>
                <a:ea typeface="楷体" panose="02010609060101010101" pitchFamily="49" charset="-122"/>
              </a:rPr>
              <a:t>155%</a:t>
            </a:r>
            <a:r>
              <a:rPr lang="zh-CN" altLang="en-US" sz="2800" dirty="0">
                <a:latin typeface="楷体" panose="02010609060101010101" pitchFamily="49" charset="-122"/>
                <a:ea typeface="楷体" panose="02010609060101010101" pitchFamily="49" charset="-122"/>
              </a:rPr>
              <a:t>，但规</a:t>
            </a:r>
            <a:endParaRPr lang="en-US" altLang="zh-CN" sz="2800" dirty="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zh-CN" altLang="en-US" sz="2800" dirty="0">
                <a:latin typeface="楷体" panose="02010609060101010101" pitchFamily="49" charset="-122"/>
                <a:ea typeface="楷体" panose="02010609060101010101" pitchFamily="49" charset="-122"/>
              </a:rPr>
              <a:t>定最大投资额不能超过</a:t>
            </a:r>
            <a:r>
              <a:rPr lang="en-US" altLang="zh-CN" sz="2800" dirty="0">
                <a:latin typeface="楷体" panose="02010609060101010101" pitchFamily="49" charset="-122"/>
                <a:ea typeface="楷体" panose="02010609060101010101" pitchFamily="49" charset="-122"/>
              </a:rPr>
              <a:t>100</a:t>
            </a:r>
            <a:r>
              <a:rPr lang="zh-CN" altLang="en-US" sz="2800" dirty="0">
                <a:latin typeface="楷体" panose="02010609060101010101" pitchFamily="49" charset="-122"/>
                <a:ea typeface="楷体" panose="02010609060101010101" pitchFamily="49" charset="-122"/>
              </a:rPr>
              <a:t>万元。</a:t>
            </a:r>
            <a:endParaRPr lang="zh-CN" altLang="en-US" sz="2800" dirty="0">
              <a:latin typeface="楷体" panose="02010609060101010101" pitchFamily="49" charset="-122"/>
              <a:ea typeface="楷体" panose="02010609060101010101" pitchFamily="49" charset="-122"/>
            </a:endParaRP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华文楷体" panose="02010600040101010101" charset="-122"/>
                <a:ea typeface="华文楷体" panose="02010600040101010101" charset="-122"/>
              </a:rPr>
              <a:t>投资问题</a:t>
            </a:r>
            <a:endParaRPr lang="en-US" dirty="0">
              <a:latin typeface="华文楷体" panose="02010600040101010101" charset="-122"/>
              <a:ea typeface="华文楷体" panose="02010600040101010101" charset="-122"/>
            </a:endParaRPr>
          </a:p>
        </p:txBody>
      </p:sp>
      <p:sp>
        <p:nvSpPr>
          <p:cNvPr id="4" name="矩形 1"/>
          <p:cNvSpPr>
            <a:spLocks noChangeArrowheads="1"/>
          </p:cNvSpPr>
          <p:nvPr/>
        </p:nvSpPr>
        <p:spPr bwMode="auto">
          <a:xfrm>
            <a:off x="1838475" y="3833813"/>
            <a:ext cx="7813675"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zh-CN" altLang="en-US" sz="2400" b="1">
                <a:latin typeface="楷体" panose="02010609060101010101" pitchFamily="49" charset="-122"/>
                <a:ea typeface="楷体" panose="02010609060101010101" pitchFamily="49" charset="-122"/>
              </a:rPr>
              <a:t>问：</a:t>
            </a:r>
            <a:r>
              <a:rPr lang="en-US" altLang="zh-CN" sz="2400">
                <a:latin typeface="楷体" panose="02010609060101010101" pitchFamily="49" charset="-122"/>
                <a:ea typeface="楷体" panose="02010609060101010101" pitchFamily="49" charset="-122"/>
              </a:rPr>
              <a:t>a</a:t>
            </a:r>
            <a:r>
              <a:rPr lang="zh-CN" altLang="en-US" sz="2400">
                <a:latin typeface="楷体" panose="02010609060101010101" pitchFamily="49" charset="-122"/>
                <a:ea typeface="楷体" panose="02010609060101010101" pitchFamily="49" charset="-122"/>
              </a:rPr>
              <a:t>）应如何确定这些项目的每年投资额，使得第五年</a:t>
            </a:r>
            <a:endParaRPr lang="en-US" altLang="zh-CN" sz="24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en-US" altLang="zh-CN" sz="2400">
                <a:latin typeface="楷体" panose="02010609060101010101" pitchFamily="49" charset="-122"/>
                <a:ea typeface="楷体" panose="02010609060101010101" pitchFamily="49" charset="-122"/>
              </a:rPr>
              <a:t>        </a:t>
            </a:r>
            <a:r>
              <a:rPr lang="zh-CN" altLang="en-US" sz="2400">
                <a:latin typeface="楷体" panose="02010609060101010101" pitchFamily="49" charset="-122"/>
                <a:ea typeface="楷体" panose="02010609060101010101" pitchFamily="49" charset="-122"/>
              </a:rPr>
              <a:t>年末拥有资金的本利金额为最大？ </a:t>
            </a:r>
            <a:endParaRPr lang="en-US" altLang="zh-CN" sz="2400">
              <a:latin typeface="楷体" panose="02010609060101010101" pitchFamily="49" charset="-122"/>
              <a:ea typeface="楷体" panose="02010609060101010101" pitchFamily="49" charset="-122"/>
            </a:endParaRPr>
          </a:p>
          <a:p>
            <a:pPr eaLnBrk="1" hangingPunct="1">
              <a:lnSpc>
                <a:spcPct val="100000"/>
              </a:lnSpc>
              <a:spcBef>
                <a:spcPct val="0"/>
              </a:spcBef>
              <a:buFontTx/>
              <a:buNone/>
            </a:pPr>
            <a:endParaRPr lang="en-US" altLang="zh-CN" sz="24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en-US" altLang="zh-CN" sz="2400">
                <a:latin typeface="楷体" panose="02010609060101010101" pitchFamily="49" charset="-122"/>
                <a:ea typeface="楷体" panose="02010609060101010101" pitchFamily="49" charset="-122"/>
              </a:rPr>
              <a:t>     b</a:t>
            </a:r>
            <a:r>
              <a:rPr lang="zh-CN" altLang="en-US" sz="2400">
                <a:latin typeface="楷体" panose="02010609060101010101" pitchFamily="49" charset="-122"/>
                <a:ea typeface="楷体" panose="02010609060101010101" pitchFamily="49" charset="-122"/>
              </a:rPr>
              <a:t>）应如何确定这些项目的每年投资额，使得第五年</a:t>
            </a:r>
            <a:endParaRPr lang="en-US" altLang="zh-CN" sz="24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en-US" altLang="zh-CN" sz="2400">
                <a:latin typeface="楷体" panose="02010609060101010101" pitchFamily="49" charset="-122"/>
                <a:ea typeface="楷体" panose="02010609060101010101" pitchFamily="49" charset="-122"/>
              </a:rPr>
              <a:t>        </a:t>
            </a:r>
            <a:r>
              <a:rPr lang="zh-CN" altLang="en-US" sz="2400">
                <a:latin typeface="楷体" panose="02010609060101010101" pitchFamily="49" charset="-122"/>
                <a:ea typeface="楷体" panose="02010609060101010101" pitchFamily="49" charset="-122"/>
              </a:rPr>
              <a:t>年末拥有资金的本利在</a:t>
            </a:r>
            <a:r>
              <a:rPr lang="en-US" altLang="zh-CN" sz="2400">
                <a:latin typeface="楷体" panose="02010609060101010101" pitchFamily="49" charset="-122"/>
                <a:ea typeface="楷体" panose="02010609060101010101" pitchFamily="49" charset="-122"/>
              </a:rPr>
              <a:t>330</a:t>
            </a:r>
            <a:r>
              <a:rPr lang="zh-CN" altLang="en-US" sz="2400">
                <a:latin typeface="楷体" panose="02010609060101010101" pitchFamily="49" charset="-122"/>
                <a:ea typeface="楷体" panose="02010609060101010101" pitchFamily="49" charset="-122"/>
              </a:rPr>
              <a:t>万元的基础上使得其</a:t>
            </a:r>
            <a:endParaRPr lang="en-US" altLang="zh-CN" sz="2400">
              <a:latin typeface="楷体" panose="02010609060101010101" pitchFamily="49" charset="-122"/>
              <a:ea typeface="楷体" panose="02010609060101010101" pitchFamily="49" charset="-122"/>
            </a:endParaRPr>
          </a:p>
          <a:p>
            <a:pPr eaLnBrk="1" hangingPunct="1">
              <a:lnSpc>
                <a:spcPct val="100000"/>
              </a:lnSpc>
              <a:spcBef>
                <a:spcPct val="0"/>
              </a:spcBef>
              <a:buFontTx/>
              <a:buNone/>
            </a:pPr>
            <a:r>
              <a:rPr lang="en-US" altLang="zh-CN" sz="2400">
                <a:latin typeface="楷体" panose="02010609060101010101" pitchFamily="49" charset="-122"/>
                <a:ea typeface="楷体" panose="02010609060101010101" pitchFamily="49" charset="-122"/>
              </a:rPr>
              <a:t>        </a:t>
            </a:r>
            <a:r>
              <a:rPr lang="zh-CN" altLang="en-US" sz="2400">
                <a:latin typeface="楷体" panose="02010609060101010101" pitchFamily="49" charset="-122"/>
                <a:ea typeface="楷体" panose="02010609060101010101" pitchFamily="49" charset="-122"/>
              </a:rPr>
              <a:t>投资总的风险系数为最小？</a:t>
            </a:r>
            <a:endParaRPr lang="zh-CN" altLang="en-US" sz="2400">
              <a:latin typeface="楷体" panose="02010609060101010101" pitchFamily="49" charset="-122"/>
              <a:ea typeface="楷体" panose="02010609060101010101" pitchFamily="49" charset="-122"/>
            </a:endParaRPr>
          </a:p>
        </p:txBody>
      </p:sp>
      <p:sp>
        <p:nvSpPr>
          <p:cNvPr id="5" name="矩形 2"/>
          <p:cNvSpPr>
            <a:spLocks noChangeArrowheads="1"/>
          </p:cNvSpPr>
          <p:nvPr/>
        </p:nvSpPr>
        <p:spPr bwMode="auto">
          <a:xfrm>
            <a:off x="1722587" y="1690688"/>
            <a:ext cx="62865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lnSpc>
                <a:spcPct val="100000"/>
              </a:lnSpc>
              <a:spcBef>
                <a:spcPct val="0"/>
              </a:spcBef>
              <a:buFontTx/>
              <a:buNone/>
            </a:pPr>
            <a:r>
              <a:rPr lang="zh-CN" altLang="en-US" sz="2400">
                <a:latin typeface="楷体" panose="02010609060101010101" pitchFamily="49" charset="-122"/>
                <a:ea typeface="楷体" panose="02010609060101010101" pitchFamily="49" charset="-122"/>
              </a:rPr>
              <a:t>据测定每万元每次投资的风险指数如表：</a:t>
            </a:r>
            <a:endParaRPr lang="zh-CN" altLang="en-US" sz="2400">
              <a:latin typeface="楷体" panose="02010609060101010101" pitchFamily="49" charset="-122"/>
              <a:ea typeface="楷体" panose="02010609060101010101" pitchFamily="49" charset="-122"/>
            </a:endParaRPr>
          </a:p>
        </p:txBody>
      </p:sp>
      <p:graphicFrame>
        <p:nvGraphicFramePr>
          <p:cNvPr id="6" name="表格 5"/>
          <p:cNvGraphicFramePr>
            <a:graphicFrameLocks noGrp="1"/>
          </p:cNvGraphicFramePr>
          <p:nvPr/>
        </p:nvGraphicFramePr>
        <p:xfrm>
          <a:off x="2336950" y="2249488"/>
          <a:ext cx="6769100" cy="1524000"/>
        </p:xfrm>
        <a:graphic>
          <a:graphicData uri="http://schemas.openxmlformats.org/drawingml/2006/table">
            <a:tbl>
              <a:tblPr/>
              <a:tblGrid>
                <a:gridCol w="2520950"/>
                <a:gridCol w="4248150"/>
              </a:tblGrid>
              <a:tr h="27305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楷体" panose="02010609060101010101" pitchFamily="49" charset="-122"/>
                        </a:rPr>
                        <a:t>项目</a:t>
                      </a:r>
                      <a:endParaRPr kumimoji="0" lang="zh-CN" altLang="en-US" sz="2000" b="1"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zh-CN" altLang="en-US" sz="2000" b="1" i="0" u="none" strike="noStrike" cap="none" normalizeH="0" baseline="0">
                          <a:ln>
                            <a:noFill/>
                          </a:ln>
                          <a:solidFill>
                            <a:schemeClr val="tx1"/>
                          </a:solidFill>
                          <a:effectLst/>
                          <a:latin typeface="Arial" panose="020B0604020202020204" pitchFamily="34" charset="0"/>
                          <a:ea typeface="楷体" panose="02010609060101010101" pitchFamily="49" charset="-122"/>
                        </a:rPr>
                        <a:t>风险指数（次</a:t>
                      </a:r>
                      <a:r>
                        <a:rPr kumimoji="0" lang="en-US" altLang="zh-CN" sz="2000" b="1" i="0" u="none" strike="noStrike" cap="none" normalizeH="0" baseline="0">
                          <a:ln>
                            <a:noFill/>
                          </a:ln>
                          <a:solidFill>
                            <a:schemeClr val="tx1"/>
                          </a:solidFill>
                          <a:effectLst/>
                          <a:latin typeface="Arial" panose="020B0604020202020204" pitchFamily="34" charset="0"/>
                          <a:ea typeface="楷体" panose="02010609060101010101" pitchFamily="49" charset="-122"/>
                        </a:rPr>
                        <a:t>/</a:t>
                      </a:r>
                      <a:r>
                        <a:rPr kumimoji="0" lang="zh-CN" altLang="en-US" sz="2000" b="1" i="0" u="none" strike="noStrike" cap="none" normalizeH="0" baseline="0">
                          <a:ln>
                            <a:noFill/>
                          </a:ln>
                          <a:solidFill>
                            <a:schemeClr val="tx1"/>
                          </a:solidFill>
                          <a:effectLst/>
                          <a:latin typeface="Arial" panose="020B0604020202020204" pitchFamily="34" charset="0"/>
                          <a:ea typeface="楷体" panose="02010609060101010101" pitchFamily="49" charset="-122"/>
                        </a:rPr>
                        <a:t>万元）</a:t>
                      </a:r>
                      <a:endParaRPr kumimoji="0" lang="zh-CN" altLang="en-US" sz="2000" b="1"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BDD7EE"/>
                    </a:solidFill>
                  </a:tcPr>
                </a:tc>
              </a:tr>
              <a:tr h="27305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A</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1</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27305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B</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3</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27305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C</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4</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r h="273050">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D</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c>
                  <a:txBody>
                    <a:bodyPr/>
                    <a:lstStyle>
                      <a:lvl1pPr>
                        <a:lnSpc>
                          <a:spcPct val="90000"/>
                        </a:lnSpc>
                        <a:spcBef>
                          <a:spcPts val="1000"/>
                        </a:spcBef>
                        <a:buFont typeface="Arial" panose="020B0604020202020204" pitchFamily="34" charset="0"/>
                        <a:defRPr sz="24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defRPr sz="20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defRPr>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defRPr sz="1600">
                          <a:solidFill>
                            <a:schemeClr val="tx1"/>
                          </a:solidFill>
                          <a:latin typeface="Calibri" panose="020F050202020403020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defRPr sz="1600">
                          <a:solidFill>
                            <a:schemeClr val="tx1"/>
                          </a:solidFill>
                          <a:latin typeface="Calibri" panose="020F0502020204030204" charset="0"/>
                          <a:ea typeface="宋体" panose="02010600030101010101" pitchFamily="2" charset="-122"/>
                        </a:defRPr>
                      </a:lvl9pPr>
                    </a:lstStyle>
                    <a:p>
                      <a:pPr marL="0" marR="0" lvl="0" indent="0" algn="ctr" defTabSz="914400" rtl="0" eaLnBrk="1" fontAlgn="ctr" latinLnBrk="0" hangingPunct="1">
                        <a:lnSpc>
                          <a:spcPct val="100000"/>
                        </a:lnSpc>
                        <a:spcBef>
                          <a:spcPct val="0"/>
                        </a:spcBef>
                        <a:spcAft>
                          <a:spcPct val="0"/>
                        </a:spcAft>
                        <a:buClrTx/>
                        <a:buSzTx/>
                        <a:buFontTx/>
                        <a:buNone/>
                      </a:pPr>
                      <a:r>
                        <a:rPr kumimoji="0" lang="en-US" altLang="zh-CN" sz="2000" b="0" i="0" u="none" strike="noStrike" cap="none" normalizeH="0" baseline="0">
                          <a:ln>
                            <a:noFill/>
                          </a:ln>
                          <a:solidFill>
                            <a:schemeClr val="tx1"/>
                          </a:solidFill>
                          <a:effectLst/>
                          <a:latin typeface="Arial" panose="020B0604020202020204" pitchFamily="34" charset="0"/>
                          <a:ea typeface="楷体" panose="02010609060101010101" pitchFamily="49" charset="-122"/>
                        </a:rPr>
                        <a:t>5.5</a:t>
                      </a:r>
                      <a:endParaRPr kumimoji="0" lang="en-US" altLang="zh-CN" sz="2000" b="0" i="0" u="none" strike="noStrike" cap="none" normalizeH="0" baseline="0">
                        <a:ln>
                          <a:noFill/>
                        </a:ln>
                        <a:solidFill>
                          <a:srgbClr val="000000"/>
                        </a:solidFill>
                        <a:effectLst/>
                        <a:latin typeface="Arial" panose="020B0604020202020204" pitchFamily="34" charset="0"/>
                        <a:ea typeface="楷体" panose="02010609060101010101"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EEBF7"/>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整数规划</a:t>
            </a:r>
            <a:endParaRPr lang="zh-CN" altLang="en-US" dirty="0"/>
          </a:p>
        </p:txBody>
      </p:sp>
      <p:sp>
        <p:nvSpPr>
          <p:cNvPr id="3" name="内容占位符 2"/>
          <p:cNvSpPr>
            <a:spLocks noGrp="1"/>
          </p:cNvSpPr>
          <p:nvPr>
            <p:ph idx="1"/>
          </p:nvPr>
        </p:nvSpPr>
        <p:spPr>
          <a:xfrm>
            <a:off x="838200" y="1424305"/>
            <a:ext cx="10515600" cy="4752975"/>
          </a:xfrm>
        </p:spPr>
        <p:txBody>
          <a:bodyPr>
            <a:noAutofit/>
          </a:bodyPr>
          <a:lstStyle/>
          <a:p>
            <a:r>
              <a:rPr lang="zh-CN" altLang="en-US" sz="1500" dirty="0">
                <a:solidFill>
                  <a:srgbClr val="FF0000"/>
                </a:solidFill>
                <a:sym typeface="+mn-ea"/>
              </a:rPr>
              <a:t>整数规划的定义（填空、</a:t>
            </a:r>
            <a:r>
              <a:rPr lang="zh-CN" altLang="en-US" sz="1500" dirty="0">
                <a:solidFill>
                  <a:srgbClr val="FF0000"/>
                </a:solidFill>
                <a:sym typeface="+mn-ea"/>
              </a:rPr>
              <a:t>判断）</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olidFill>
                  <a:srgbClr val="FF0000"/>
                </a:solidFill>
                <a:sym typeface="+mn-ea"/>
              </a:rPr>
              <a:t>什么是整数规划问题的定义？</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olidFill>
                  <a:srgbClr val="FF0000"/>
                </a:solidFill>
                <a:sym typeface="+mn-ea"/>
              </a:rPr>
              <a:t>整数规划问题包含哪些类型？</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olidFill>
                  <a:srgbClr val="FF0000"/>
                </a:solidFill>
                <a:sym typeface="+mn-ea"/>
              </a:rPr>
              <a:t>整数规划问题的最优解能否通过相应线性规划最优解取整或四舍五入得到？</a:t>
            </a:r>
            <a:endParaRPr lang="en-US" altLang="zh-CN" sz="1500" dirty="0">
              <a:solidFill>
                <a:srgbClr val="FF0000"/>
              </a:solidFill>
              <a:latin typeface="楷体" panose="02010609060101010101" pitchFamily="49" charset="-122"/>
              <a:ea typeface="楷体" panose="02010609060101010101" pitchFamily="49" charset="-122"/>
            </a:endParaRPr>
          </a:p>
          <a:p>
            <a:r>
              <a:rPr lang="zh-CN" altLang="en-US" sz="1500" dirty="0">
                <a:solidFill>
                  <a:srgbClr val="FF0000"/>
                </a:solidFill>
                <a:sym typeface="+mn-ea"/>
              </a:rPr>
              <a:t>整数规划的图解法</a:t>
            </a:r>
            <a:r>
              <a:rPr lang="zh-CN" altLang="en-US" sz="1500" dirty="0">
                <a:solidFill>
                  <a:srgbClr val="FF0000"/>
                </a:solidFill>
                <a:sym typeface="+mn-ea"/>
              </a:rPr>
              <a:t>（判断）</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olidFill>
                  <a:srgbClr val="FF0000"/>
                </a:solidFill>
                <a:sym typeface="+mn-ea"/>
              </a:rPr>
              <a:t>整数规划问题的性质</a:t>
            </a:r>
            <a:r>
              <a:rPr lang="en-US" altLang="zh-CN" sz="1500" dirty="0">
                <a:solidFill>
                  <a:srgbClr val="FF0000"/>
                </a:solidFill>
                <a:sym typeface="+mn-ea"/>
              </a:rPr>
              <a:t>1</a:t>
            </a:r>
            <a:endParaRPr lang="en-US" altLang="zh-CN" sz="1500" dirty="0">
              <a:solidFill>
                <a:srgbClr val="FF0000"/>
              </a:solidFill>
              <a:latin typeface="楷体" panose="02010609060101010101" pitchFamily="49" charset="-122"/>
              <a:ea typeface="楷体" panose="02010609060101010101" pitchFamily="49" charset="-122"/>
            </a:endParaRPr>
          </a:p>
          <a:p>
            <a:r>
              <a:rPr lang="zh-CN" altLang="en-US" sz="1500" dirty="0">
                <a:solidFill>
                  <a:srgbClr val="FF0000"/>
                </a:solidFill>
                <a:sym typeface="+mn-ea"/>
              </a:rPr>
              <a:t>整数规划的分枝定界法（简答）</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olidFill>
                  <a:srgbClr val="FF0000"/>
                </a:solidFill>
                <a:sym typeface="+mn-ea"/>
              </a:rPr>
              <a:t>当整数规划相应的线性规划问题最优解为何种情况时，我们可以使用分枝定界法求解？</a:t>
            </a:r>
            <a:endParaRPr lang="en-US" altLang="zh-CN" sz="1500" dirty="0">
              <a:solidFill>
                <a:srgbClr val="FF0000"/>
              </a:solidFill>
              <a:latin typeface="楷体" panose="02010609060101010101" pitchFamily="49" charset="-122"/>
              <a:ea typeface="楷体" panose="02010609060101010101" pitchFamily="49" charset="-122"/>
            </a:endParaRPr>
          </a:p>
          <a:p>
            <a:pPr lvl="1"/>
            <a:r>
              <a:rPr lang="zh-CN" altLang="en-US" sz="1500" dirty="0">
                <a:sym typeface="+mn-ea"/>
              </a:rPr>
              <a:t>整数规划的分枝定界法中所提到的性质</a:t>
            </a:r>
            <a:r>
              <a:rPr lang="en-US" altLang="zh-CN" sz="1500" dirty="0">
                <a:sym typeface="+mn-ea"/>
              </a:rPr>
              <a:t>2</a:t>
            </a:r>
            <a:endParaRPr lang="en-US" altLang="zh-CN" sz="1500" dirty="0">
              <a:latin typeface="楷体" panose="02010609060101010101" pitchFamily="49" charset="-122"/>
              <a:ea typeface="楷体" panose="02010609060101010101" pitchFamily="49" charset="-122"/>
            </a:endParaRPr>
          </a:p>
          <a:p>
            <a:r>
              <a:rPr lang="zh-CN" altLang="en-US" sz="1500" dirty="0">
                <a:solidFill>
                  <a:srgbClr val="FF0000"/>
                </a:solidFill>
                <a:sym typeface="+mn-ea"/>
              </a:rPr>
              <a:t>整数规划的应用（</a:t>
            </a:r>
            <a:r>
              <a:rPr lang="zh-CN" altLang="en-US" sz="1500" dirty="0">
                <a:solidFill>
                  <a:srgbClr val="FF0000"/>
                </a:solidFill>
                <a:sym typeface="+mn-ea"/>
              </a:rPr>
              <a:t>建模）</a:t>
            </a:r>
            <a:endParaRPr lang="zh-CN" altLang="en-US" sz="1500" dirty="0">
              <a:solidFill>
                <a:srgbClr val="FF0000"/>
              </a:solidFill>
              <a:sym typeface="+mn-ea"/>
            </a:endParaRPr>
          </a:p>
          <a:p>
            <a:pPr marL="685800" lvl="1" indent="-228600">
              <a:buFont typeface="Arial" panose="020B0604020202020204" pitchFamily="34" charset="0"/>
              <a:buChar char="•"/>
            </a:pPr>
            <a:r>
              <a:rPr lang="zh-CN" altLang="en-US" sz="1500" dirty="0">
                <a:sym typeface="+mn-ea"/>
              </a:rPr>
              <a:t>投资场所的选择</a:t>
            </a:r>
            <a:endParaRPr lang="en-US" altLang="zh-CN" sz="1500" dirty="0">
              <a:solidFill>
                <a:schemeClr val="tx1"/>
              </a:solidFill>
              <a:latin typeface="楷体" panose="02010609060101010101" pitchFamily="49" charset="-122"/>
              <a:ea typeface="楷体" panose="02010609060101010101" pitchFamily="49" charset="-122"/>
            </a:endParaRPr>
          </a:p>
          <a:p>
            <a:pPr marL="685800" lvl="1" indent="-228600">
              <a:buFont typeface="Arial" panose="020B0604020202020204" pitchFamily="34" charset="0"/>
              <a:buChar char="•"/>
            </a:pPr>
            <a:r>
              <a:rPr lang="zh-CN" altLang="en-US" sz="1500" dirty="0">
                <a:solidFill>
                  <a:srgbClr val="FF0000"/>
                </a:solidFill>
                <a:sym typeface="+mn-ea"/>
              </a:rPr>
              <a:t>固定成本问题</a:t>
            </a:r>
            <a:endParaRPr lang="en-US" altLang="zh-CN" sz="1500" dirty="0">
              <a:solidFill>
                <a:schemeClr val="tx1"/>
              </a:solidFill>
              <a:latin typeface="楷体" panose="02010609060101010101" pitchFamily="49" charset="-122"/>
              <a:ea typeface="楷体" panose="02010609060101010101" pitchFamily="49" charset="-122"/>
            </a:endParaRPr>
          </a:p>
          <a:p>
            <a:pPr marL="685800" lvl="1" indent="-228600">
              <a:buFont typeface="Arial" panose="020B0604020202020204" pitchFamily="34" charset="0"/>
              <a:buChar char="•"/>
            </a:pPr>
            <a:r>
              <a:rPr lang="zh-CN" altLang="en-US" sz="1500" dirty="0">
                <a:sym typeface="+mn-ea"/>
              </a:rPr>
              <a:t>指派问题</a:t>
            </a:r>
            <a:endParaRPr lang="en-US" altLang="zh-CN" sz="1500" dirty="0">
              <a:solidFill>
                <a:schemeClr val="tx1"/>
              </a:solidFill>
              <a:latin typeface="楷体" panose="02010609060101010101" pitchFamily="49" charset="-122"/>
              <a:ea typeface="楷体" panose="02010609060101010101" pitchFamily="49" charset="-122"/>
            </a:endParaRPr>
          </a:p>
          <a:p>
            <a:pPr marL="685800" lvl="1" indent="-228600">
              <a:buFont typeface="Arial" panose="020B0604020202020204" pitchFamily="34" charset="0"/>
              <a:buChar char="•"/>
            </a:pPr>
            <a:r>
              <a:rPr lang="zh-CN" altLang="en-US" sz="1500" dirty="0">
                <a:solidFill>
                  <a:schemeClr val="tx1"/>
                </a:solidFill>
                <a:sym typeface="+mn-ea"/>
              </a:rPr>
              <a:t>分布系统设计</a:t>
            </a:r>
            <a:endParaRPr lang="en-US" altLang="zh-CN" sz="1500" dirty="0">
              <a:solidFill>
                <a:schemeClr val="tx1"/>
              </a:solidFill>
              <a:latin typeface="楷体" panose="02010609060101010101" pitchFamily="49" charset="-122"/>
              <a:ea typeface="楷体" panose="02010609060101010101" pitchFamily="49" charset="-122"/>
            </a:endParaRPr>
          </a:p>
          <a:p>
            <a:pPr marL="685800" lvl="1" indent="-228600">
              <a:buFont typeface="Arial" panose="020B0604020202020204" pitchFamily="34" charset="0"/>
              <a:buChar char="•"/>
            </a:pPr>
            <a:r>
              <a:rPr lang="zh-CN" altLang="en-US" sz="1500" dirty="0">
                <a:solidFill>
                  <a:srgbClr val="FF0000"/>
                </a:solidFill>
                <a:sym typeface="+mn-ea"/>
              </a:rPr>
              <a:t>投资问题</a:t>
            </a:r>
            <a:endParaRPr lang="zh-CN" altLang="en-US" sz="1500" dirty="0">
              <a:solidFill>
                <a:srgbClr val="FF0000"/>
              </a:solidFill>
              <a:latin typeface="楷体" panose="02010609060101010101" pitchFamily="49" charset="-122"/>
              <a:ea typeface="楷体" panose="02010609060101010101" pitchFamily="49" charset="-122"/>
            </a:endParaRPr>
          </a:p>
          <a:p>
            <a:r>
              <a:rPr lang="en-US" altLang="zh-CN" sz="1500" dirty="0">
                <a:sym typeface="+mn-ea"/>
              </a:rPr>
              <a:t>0-1</a:t>
            </a:r>
            <a:r>
              <a:rPr lang="zh-CN" altLang="en-US" sz="1500" dirty="0">
                <a:sym typeface="+mn-ea"/>
              </a:rPr>
              <a:t>规划的解法</a:t>
            </a:r>
            <a:endParaRPr lang="zh-CN" altLang="en-US" sz="1500" dirty="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3" name="Rectangle 5"/>
          <p:cNvSpPr>
            <a:spLocks noChangeArrowheads="1"/>
          </p:cNvSpPr>
          <p:nvPr/>
        </p:nvSpPr>
        <p:spPr bwMode="auto">
          <a:xfrm>
            <a:off x="672465" y="859155"/>
            <a:ext cx="9871710" cy="50177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dirty="0">
                <a:latin typeface="Arial" panose="020B0604020202020204" pitchFamily="34" charset="0"/>
                <a:ea typeface="楷体" panose="02010609060101010101" pitchFamily="49" charset="-122"/>
              </a:rPr>
              <a:t>	高压容器公司制造小、中、大三种尺寸的金属容器，所用资源为金属板、劳动力和机器设备，制造一个容器所需的各种资源的数量如表。不考虑固定费用，每种容器单位利润分别为 4 万元、5 万元、6 万元，可使用的金属板 500 吨，劳动力 300 人/月，机器100 台/月，此外只要生产，须支付固定费用：小号是 l00 万元，中号为 150 万元，大号为 200 万元。制定一个生产计划，使获利最大。</a:t>
            </a:r>
            <a:endParaRPr lang="zh-CN" altLang="zh-CN"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endParaRPr lang="zh-CN" altLang="zh-CN" dirty="0">
              <a:latin typeface="Arial" panose="020B0604020202020204" pitchFamily="34" charset="0"/>
              <a:ea typeface="楷体" panose="02010609060101010101" pitchFamily="49" charset="-122"/>
            </a:endParaRPr>
          </a:p>
        </p:txBody>
      </p:sp>
      <p:sp>
        <p:nvSpPr>
          <p:cNvPr id="48134"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aphicFrame>
        <p:nvGraphicFramePr>
          <p:cNvPr id="3" name="表格 2"/>
          <p:cNvGraphicFramePr>
            <a:graphicFrameLocks noGrp="1"/>
          </p:cNvGraphicFramePr>
          <p:nvPr/>
        </p:nvGraphicFramePr>
        <p:xfrm>
          <a:off x="688209" y="3591884"/>
          <a:ext cx="9835584" cy="1960880"/>
        </p:xfrm>
        <a:graphic>
          <a:graphicData uri="http://schemas.openxmlformats.org/drawingml/2006/table">
            <a:tbl>
              <a:tblPr firstRow="1" bandRow="1">
                <a:tableStyleId>{5C22544A-7EE6-4342-B048-85BDC9FD1C3A}</a:tableStyleId>
              </a:tblPr>
              <a:tblGrid>
                <a:gridCol w="2779395"/>
                <a:gridCol w="2088232"/>
                <a:gridCol w="2088232"/>
                <a:gridCol w="2879725"/>
              </a:tblGrid>
              <a:tr h="490217">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资源</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127000" algn="l"/>
                          <a:tab pos="215900" algn="l"/>
                          <a:tab pos="254000" algn="l"/>
                        </a:tabLst>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tabLst>
                          <a:tab pos="127000" algn="l"/>
                          <a:tab pos="215900" algn="l"/>
                          <a:tab pos="254000" algn="l"/>
                        </a:tabLst>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tabLst>
                          <a:tab pos="127000" algn="l"/>
                          <a:tab pos="215900" algn="l"/>
                          <a:tab pos="254000" algn="l"/>
                        </a:tabLst>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tabLst>
                          <a:tab pos="127000" algn="l"/>
                          <a:tab pos="215900" algn="l"/>
                          <a:tab pos="254000" algn="l"/>
                        </a:tabLst>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tabLst>
                          <a:tab pos="127000" algn="l"/>
                          <a:tab pos="215900" algn="l"/>
                          <a:tab pos="254000" algn="l"/>
                        </a:tabLst>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tabLst>
                          <a:tab pos="127000" algn="l"/>
                          <a:tab pos="215900" algn="l"/>
                          <a:tab pos="254000" algn="l"/>
                        </a:tabLst>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127000" algn="l"/>
                          <a:tab pos="215900" algn="l"/>
                          <a:tab pos="254000" algn="l"/>
                        </a:tabLst>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  小号容器</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88900" algn="l"/>
                          <a:tab pos="215900" algn="l"/>
                          <a:tab pos="241300" algn="l"/>
                          <a:tab pos="279400" algn="l"/>
                        </a:tabLst>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tabLst>
                          <a:tab pos="88900" algn="l"/>
                          <a:tab pos="215900" algn="l"/>
                          <a:tab pos="241300" algn="l"/>
                          <a:tab pos="279400" algn="l"/>
                        </a:tabLst>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tabLst>
                          <a:tab pos="88900" algn="l"/>
                          <a:tab pos="215900" algn="l"/>
                          <a:tab pos="241300" algn="l"/>
                          <a:tab pos="279400" algn="l"/>
                        </a:tabLst>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tabLst>
                          <a:tab pos="88900" algn="l"/>
                          <a:tab pos="215900" algn="l"/>
                          <a:tab pos="241300" algn="l"/>
                          <a:tab pos="279400" algn="l"/>
                        </a:tabLst>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88900" algn="l"/>
                          <a:tab pos="215900" algn="l"/>
                          <a:tab pos="241300" algn="l"/>
                          <a:tab pos="279400" algn="l"/>
                        </a:tabLst>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中号容器</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tabLst>
                          <a:tab pos="25400" algn="l"/>
                          <a:tab pos="215900" algn="l"/>
                        </a:tabLst>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tabLst>
                          <a:tab pos="25400" algn="l"/>
                          <a:tab pos="215900" algn="l"/>
                        </a:tabLst>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tabLst>
                          <a:tab pos="25400" algn="l"/>
                          <a:tab pos="215900" algn="l"/>
                        </a:tabLst>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tabLst>
                          <a:tab pos="25400" algn="l"/>
                          <a:tab pos="215900" algn="l"/>
                        </a:tabLst>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tabLst>
                          <a:tab pos="25400" algn="l"/>
                          <a:tab pos="215900" algn="l"/>
                        </a:tabLst>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tabLst>
                          <a:tab pos="25400" algn="l"/>
                          <a:tab pos="215900" algn="l"/>
                        </a:tabLst>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tabLst>
                          <a:tab pos="25400" algn="l"/>
                          <a:tab pos="215900" algn="l"/>
                        </a:tabLst>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大号容器</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金属板/t</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8</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劳动力/（人/月）</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4</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r h="490217">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机器设备/（台/月）</a:t>
                      </a:r>
                      <a:endParaRPr kumimoji="0" lang="zh-CN" altLang="zh-CN" sz="2400" b="0" i="0" u="none" strike="noStrike" cap="none" normalizeH="0" baseline="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1</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2</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c>
                  <a:txBody>
                    <a:bodyPr/>
                    <a:lstStyle>
                      <a:lvl1pPr eaLnBrk="0" hangingPunct="0">
                        <a:spcBef>
                          <a:spcPct val="20000"/>
                        </a:spcBef>
                        <a:defRPr sz="2800">
                          <a:solidFill>
                            <a:schemeClr val="tx1"/>
                          </a:solidFill>
                          <a:latin typeface="Calibri" panose="020F0502020204030204" charset="0"/>
                          <a:ea typeface="微软雅黑" panose="020B0503020204020204" pitchFamily="34" charset="-122"/>
                        </a:defRPr>
                      </a:lvl1pPr>
                      <a:lvl2pPr marL="742950" indent="-285750" eaLnBrk="0" hangingPunct="0">
                        <a:spcBef>
                          <a:spcPct val="20000"/>
                        </a:spcBef>
                        <a:defRPr sz="2400">
                          <a:solidFill>
                            <a:schemeClr val="tx1"/>
                          </a:solidFill>
                          <a:latin typeface="Calibri" panose="020F0502020204030204" charset="0"/>
                          <a:ea typeface="微软雅黑" panose="020B0503020204020204" pitchFamily="34" charset="-122"/>
                        </a:defRPr>
                      </a:lvl2pPr>
                      <a:lvl3pPr marL="1143000" indent="-228600" eaLnBrk="0" hangingPunct="0">
                        <a:spcBef>
                          <a:spcPct val="20000"/>
                        </a:spcBef>
                        <a:defRPr sz="2000">
                          <a:solidFill>
                            <a:schemeClr val="tx1"/>
                          </a:solidFill>
                          <a:latin typeface="Calibri" panose="020F0502020204030204" charset="0"/>
                          <a:ea typeface="微软雅黑" panose="020B0503020204020204" pitchFamily="34" charset="-122"/>
                        </a:defRPr>
                      </a:lvl3pPr>
                      <a:lvl4pPr marL="1600200" indent="-228600" eaLnBrk="0" hangingPunct="0">
                        <a:spcBef>
                          <a:spcPct val="20000"/>
                        </a:spcBef>
                        <a:defRPr>
                          <a:solidFill>
                            <a:schemeClr val="tx1"/>
                          </a:solidFill>
                          <a:latin typeface="Calibri" panose="020F0502020204030204" charset="0"/>
                          <a:ea typeface="微软雅黑" panose="020B0503020204020204" pitchFamily="34" charset="-122"/>
                        </a:defRPr>
                      </a:lvl4pPr>
                      <a:lvl5pPr marL="2057400" indent="-228600" eaLnBrk="0" hangingPunct="0">
                        <a:spcBef>
                          <a:spcPct val="20000"/>
                        </a:spcBef>
                        <a:defRPr>
                          <a:solidFill>
                            <a:schemeClr val="tx1"/>
                          </a:solidFill>
                          <a:latin typeface="Calibri" panose="020F0502020204030204" charset="0"/>
                          <a:ea typeface="微软雅黑" panose="020B0503020204020204" pitchFamily="34" charset="-122"/>
                        </a:defRPr>
                      </a:lvl5pPr>
                      <a:lvl6pPr marL="25146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6pPr>
                      <a:lvl7pPr marL="29718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7pPr>
                      <a:lvl8pPr marL="34290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8pPr>
                      <a:lvl9pPr marL="3886200" indent="-228600" eaLnBrk="0" fontAlgn="base" hangingPunct="0">
                        <a:spcBef>
                          <a:spcPct val="20000"/>
                        </a:spcBef>
                        <a:spcAft>
                          <a:spcPct val="0"/>
                        </a:spcAft>
                        <a:buSzPct val="100000"/>
                        <a:defRPr>
                          <a:solidFill>
                            <a:schemeClr val="tx1"/>
                          </a:solidFill>
                          <a:latin typeface="Calibri" panose="020F0502020204030204" charset="0"/>
                          <a:ea typeface="微软雅黑" panose="020B0503020204020204" pitchFamily="34" charset="-122"/>
                        </a:defRPr>
                      </a:lvl9pPr>
                    </a:lstStyle>
                    <a:p>
                      <a:pPr marL="0" marR="0" lvl="0" indent="0" algn="ctr" defTabSz="914400" rtl="0" eaLnBrk="1" fontAlgn="base" latinLnBrk="0" hangingPunct="1">
                        <a:lnSpc>
                          <a:spcPct val="100000"/>
                        </a:lnSpc>
                        <a:spcBef>
                          <a:spcPct val="20000"/>
                        </a:spcBef>
                        <a:spcAft>
                          <a:spcPct val="0"/>
                        </a:spcAft>
                        <a:buClrTx/>
                        <a:buSzPct val="100000"/>
                        <a:buFontTx/>
                        <a:buNone/>
                      </a:pPr>
                      <a:r>
                        <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rPr>
                        <a:t>3</a:t>
                      </a:r>
                      <a:endParaRPr kumimoji="0" lang="zh-CN" altLang="zh-CN" sz="2400" b="0" i="0" u="none" strike="noStrike" cap="none" normalizeH="0" baseline="0" dirty="0">
                        <a:ln>
                          <a:noFill/>
                        </a:ln>
                        <a:solidFill>
                          <a:schemeClr val="tx1"/>
                        </a:solidFill>
                        <a:effectLst/>
                        <a:latin typeface="Times New Roman" panose="02020603050405020304" pitchFamily="18" charset="0"/>
                        <a:ea typeface="仿宋" panose="02010609060101010101" pitchFamily="49" charset="-122"/>
                        <a:cs typeface="Times New Roman" panose="02020603050405020304" pitchFamily="18" charset="0"/>
                      </a:endParaRPr>
                    </a:p>
                  </a:txBody>
                  <a:tcPr marL="68580" marR="68580" marT="0" marB="0" anchor="ctr" horzOverflow="overflow"/>
                </a:tc>
              </a:tr>
            </a:tbl>
          </a:graphicData>
        </a:graphic>
      </p:graphicFrame>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2229" name="Rectangle 5"/>
              <p:cNvSpPr>
                <a:spLocks noChangeArrowheads="1"/>
              </p:cNvSpPr>
              <p:nvPr/>
            </p:nvSpPr>
            <p:spPr bwMode="auto">
              <a:xfrm>
                <a:off x="1649412" y="1567592"/>
                <a:ext cx="8893175" cy="45204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解：整数规划问题</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设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oMath>
                </a14:m>
                <a:r>
                  <a:rPr lang="zh-CN" altLang="zh-CN" sz="2800" dirty="0">
                    <a:latin typeface="Arial" panose="020B0604020202020204" pitchFamily="34" charset="0"/>
                    <a:ea typeface="楷体" panose="02010609060101010101" pitchFamily="49" charset="-122"/>
                  </a:rPr>
                  <a:t> 分别为小号、中号和大号容器的生产数量。</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固定费用：</a:t>
                </a:r>
                <a:r>
                  <a:rPr lang="zh-CN" altLang="en-US" sz="2800" dirty="0">
                    <a:latin typeface="Arial" panose="020B0604020202020204" pitchFamily="34" charset="0"/>
                    <a:ea typeface="楷体" panose="02010609060101010101" pitchFamily="49" charset="-122"/>
                  </a:rPr>
                  <a:t>容器的生产与否</a:t>
                </a:r>
                <a:endParaRPr lang="en-US"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设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d>
                      <m:dPr>
                        <m:begChr m:val="{"/>
                        <m:endChr m:val=""/>
                        <m:ctrlPr>
                          <a:rPr lang="en-US" altLang="zh-CN" sz="2800" i="1" dirty="0" smtClean="0">
                            <a:latin typeface="Cambria Math" panose="02040503050406030204" pitchFamily="18" charset="0"/>
                            <a:ea typeface="楷体" panose="02010609060101010101" pitchFamily="49" charset="-122"/>
                          </a:rPr>
                        </m:ctrlPr>
                      </m:dPr>
                      <m:e>
                        <m:eqArr>
                          <m:eqArrPr>
                            <m:ctrlPr>
                              <a:rPr lang="en-US" altLang="zh-CN" sz="2800" i="1" dirty="0" smtClean="0">
                                <a:latin typeface="Cambria Math" panose="02040503050406030204" pitchFamily="18" charset="0"/>
                                <a:ea typeface="楷体" panose="02010609060101010101" pitchFamily="49" charset="-122"/>
                              </a:rPr>
                            </m:ctrlPr>
                          </m:eqArrPr>
                          <m:e>
                            <m:r>
                              <a:rPr lang="en-US" altLang="zh-CN" sz="2800" b="0" i="1" dirty="0" smtClean="0">
                                <a:latin typeface="Cambria Math" panose="02040503050406030204" pitchFamily="18" charset="0"/>
                                <a:ea typeface="楷体" panose="02010609060101010101" pitchFamily="49" charset="-122"/>
                              </a:rPr>
                              <m:t>1</m:t>
                            </m:r>
                            <m:r>
                              <a:rPr lang="en-US" altLang="zh-CN" sz="2800" b="0" i="1" dirty="0" smtClean="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当生产第</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种容器，即</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时</m:t>
                            </m:r>
                          </m:e>
                          <m:e>
                            <m:r>
                              <a:rPr lang="en-US" altLang="zh-CN" sz="2800" b="0" i="1" dirty="0" smtClean="0">
                                <a:latin typeface="Cambria Math" panose="02040503050406030204" pitchFamily="18" charset="0"/>
                                <a:ea typeface="楷体" panose="02010609060101010101" pitchFamily="49" charset="-122"/>
                              </a:rPr>
                              <m:t>0</m:t>
                            </m:r>
                            <m:r>
                              <a:rPr lang="en-US" altLang="zh-CN" sz="2800" b="0" i="1" dirty="0" smtClean="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当不生产第</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𝑖</m:t>
                            </m:r>
                            <m:r>
                              <m:rPr>
                                <m:nor/>
                              </m:rPr>
                              <a:rPr lang="zh-CN" altLang="zh-CN" sz="2800" dirty="0">
                                <a:latin typeface="Arial" panose="020B0604020202020204" pitchFamily="34" charset="0"/>
                                <a:ea typeface="楷体" panose="02010609060101010101" pitchFamily="49" charset="-122"/>
                              </a:rPr>
                              <m:t>种容器</m:t>
                            </m:r>
                            <m:r>
                              <a:rPr lang="zh-CN" altLang="en-US" sz="2800" i="1" dirty="0">
                                <a:latin typeface="Cambria Math" panose="02040503050406030204" pitchFamily="18" charset="0"/>
                                <a:ea typeface="楷体" panose="02010609060101010101" pitchFamily="49" charset="-122"/>
                              </a:rPr>
                              <m:t>，</m:t>
                            </m:r>
                            <m:r>
                              <m:rPr>
                                <m:nor/>
                              </m:rPr>
                              <a:rPr lang="zh-CN" altLang="zh-CN" sz="2800" dirty="0">
                                <a:latin typeface="Arial" panose="020B0604020202020204" pitchFamily="34" charset="0"/>
                                <a:ea typeface="楷体" panose="02010609060101010101" pitchFamily="49" charset="-122"/>
                              </a:rPr>
                              <m:t>即</m:t>
                            </m:r>
                            <m:r>
                              <m:rPr>
                                <m:nor/>
                              </m:rPr>
                              <a:rPr lang="zh-CN" altLang="zh-CN" sz="2800" dirty="0">
                                <a:latin typeface="Arial" panose="020B0604020202020204" pitchFamily="34"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m:rPr>
                                <m:nor/>
                              </m:rPr>
                              <a:rPr lang="zh-CN" altLang="zh-CN" sz="2800" dirty="0">
                                <a:latin typeface="Arial" panose="020B0604020202020204" pitchFamily="34" charset="0"/>
                                <a:ea typeface="楷体" panose="02010609060101010101" pitchFamily="49" charset="-122"/>
                              </a:rPr>
                              <m:t> </m:t>
                            </m:r>
                            <m:r>
                              <m:rPr>
                                <m:nor/>
                              </m:rPr>
                              <a:rPr lang="zh-CN" altLang="zh-CN" sz="2800" dirty="0">
                                <a:latin typeface="Arial" panose="020B0604020202020204" pitchFamily="34" charset="0"/>
                                <a:ea typeface="楷体" panose="02010609060101010101" pitchFamily="49" charset="-122"/>
                              </a:rPr>
                              <m:t>时</m:t>
                            </m:r>
                          </m:e>
                        </m:eqArr>
                      </m:e>
                    </m:d>
                  </m:oMath>
                </a14:m>
                <a:endParaRPr lang="zh-CN" altLang="zh-CN" sz="2800" dirty="0">
                  <a:latin typeface="Arial" panose="020B0604020202020204" pitchFamily="34" charset="0"/>
                  <a:ea typeface="楷体" panose="02010609060101010101" pitchFamily="49" charset="-122"/>
                </a:endParaRPr>
              </a:p>
            </p:txBody>
          </p:sp>
        </mc:Choice>
        <mc:Fallback>
          <p:sp>
            <p:nvSpPr>
              <p:cNvPr id="52229" name="Rectangle 5"/>
              <p:cNvSpPr>
                <a:spLocks noRot="1" noChangeAspect="1" noMove="1" noResize="1" noEditPoints="1" noAdjustHandles="1" noChangeArrowheads="1" noChangeShapeType="1" noTextEdit="1"/>
              </p:cNvSpPr>
              <p:nvPr/>
            </p:nvSpPr>
            <p:spPr bwMode="auto">
              <a:xfrm>
                <a:off x="1649412" y="1567592"/>
                <a:ext cx="8893175" cy="4520467"/>
              </a:xfrm>
              <a:prstGeom prst="rect">
                <a:avLst/>
              </a:prstGeom>
              <a:blipFill rotWithShape="1">
                <a:blip r:embed="rId1"/>
                <a:stretch>
                  <a:fillRect l="-4" t="-9" r="4" b="7"/>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52230"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7" name="Rectangle 5"/>
          <p:cNvSpPr>
            <a:spLocks noChangeArrowheads="1"/>
          </p:cNvSpPr>
          <p:nvPr/>
        </p:nvSpPr>
        <p:spPr bwMode="auto">
          <a:xfrm>
            <a:off x="1651000" y="1557338"/>
            <a:ext cx="8893175"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建立数学模型：		</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54278"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mc:AlternateContent xmlns:mc="http://schemas.openxmlformats.org/markup-compatibility/2006">
        <mc:Choice xmlns:a14="http://schemas.microsoft.com/office/drawing/2010/main" Requires="a14">
          <p:sp>
            <p:nvSpPr>
              <p:cNvPr id="33800" name="Rectangle 8"/>
              <p:cNvSpPr>
                <a:spLocks noChangeArrowheads="1"/>
              </p:cNvSpPr>
              <p:nvPr/>
            </p:nvSpPr>
            <p:spPr bwMode="auto">
              <a:xfrm>
                <a:off x="1608138" y="1985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m:rPr>
                        <m:sty m:val="p"/>
                      </m:rPr>
                      <a:rPr lang="zh-CN" altLang="zh-CN" sz="2800" i="1" dirty="0" smtClean="0">
                        <a:latin typeface="Cambria Math" panose="02040503050406030204" pitchFamily="18" charset="0"/>
                        <a:ea typeface="楷体" panose="02010609060101010101" pitchFamily="49" charset="-122"/>
                      </a:rPr>
                      <m:t>max</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𝑧</m:t>
                    </m:r>
                    <m:r>
                      <a:rPr lang="zh-CN" altLang="zh-CN" sz="2800" i="1" dirty="0" smtClean="0">
                        <a:latin typeface="Cambria Math" panose="02040503050406030204" pitchFamily="18" charset="0"/>
                        <a:ea typeface="楷体" panose="02010609060101010101" pitchFamily="49" charset="-122"/>
                      </a:rPr>
                      <m:t> = </m:t>
                    </m:r>
                    <m:r>
                      <a:rPr lang="zh-CN" altLang="zh-CN" sz="2800" i="1" dirty="0" smtClean="0">
                        <a:latin typeface="Cambria Math" panose="02040503050406030204" pitchFamily="18" charset="0"/>
                        <a:ea typeface="楷体" panose="02010609060101010101" pitchFamily="49" charset="-122"/>
                      </a:rPr>
                      <m:t>4</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5</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6</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150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200</m:t>
                    </m:r>
                    <m:r>
                      <a:rPr lang="zh-CN" altLang="zh-CN" sz="2800" i="1" dirty="0">
                        <a:latin typeface="Cambria Math" panose="02040503050406030204" pitchFamily="18" charset="0"/>
                        <a:ea typeface="楷体" panose="02010609060101010101" pitchFamily="49" charset="-122"/>
                      </a:rPr>
                      <m:t>𝑦</m:t>
                    </m:r>
                    <m:r>
                      <a:rPr lang="zh-CN" altLang="zh-CN" sz="2800" i="1" baseline="-25000" dirty="0">
                        <a:latin typeface="Cambria Math" panose="02040503050406030204" pitchFamily="18" charset="0"/>
                        <a:ea typeface="楷体" panose="02010609060101010101" pitchFamily="49" charset="-122"/>
                      </a:rPr>
                      <m:t>3</m:t>
                    </m:r>
                  </m:oMath>
                </a14:m>
                <a:endParaRPr lang="zh-CN" altLang="zh-CN" sz="2800" baseline="-25000" dirty="0">
                  <a:latin typeface="Arial" panose="020B0604020202020204" pitchFamily="34" charset="0"/>
                  <a:ea typeface="楷体" panose="02010609060101010101" pitchFamily="49" charset="-122"/>
                </a:endParaRPr>
              </a:p>
            </p:txBody>
          </p:sp>
        </mc:Choice>
        <mc:Fallback>
          <p:sp>
            <p:nvSpPr>
              <p:cNvPr id="33800" name="Rectangle 8"/>
              <p:cNvSpPr>
                <a:spLocks noRot="1" noChangeAspect="1" noMove="1" noResize="1" noEditPoints="1" noAdjustHandles="1" noChangeArrowheads="1" noChangeShapeType="1" noTextEdit="1"/>
              </p:cNvSpPr>
              <p:nvPr/>
            </p:nvSpPr>
            <p:spPr bwMode="auto">
              <a:xfrm>
                <a:off x="1608138" y="1985963"/>
                <a:ext cx="8893175" cy="506412"/>
              </a:xfrm>
              <a:prstGeom prst="rect">
                <a:avLst/>
              </a:prstGeom>
              <a:blipFill rotWithShape="1">
                <a:blip r:embed="rId1"/>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1" name="Rectangle 9"/>
              <p:cNvSpPr>
                <a:spLocks noChangeArrowheads="1"/>
              </p:cNvSpPr>
              <p:nvPr/>
            </p:nvSpPr>
            <p:spPr bwMode="auto">
              <a:xfrm>
                <a:off x="1589088" y="249396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𝑠</m:t>
                    </m:r>
                    <m:r>
                      <a:rPr lang="zh-CN" altLang="zh-CN" sz="2800" i="1" dirty="0" smtClean="0">
                        <a:latin typeface="Cambria Math" panose="02040503050406030204" pitchFamily="18" charset="0"/>
                        <a:ea typeface="楷体" panose="02010609060101010101" pitchFamily="49" charset="-122"/>
                      </a:rPr>
                      <m:t>.</m:t>
                    </m:r>
                    <m:r>
                      <a:rPr lang="zh-CN" altLang="zh-CN" sz="2800" i="1" dirty="0" smtClean="0">
                        <a:latin typeface="Cambria Math" panose="02040503050406030204" pitchFamily="18" charset="0"/>
                        <a:ea typeface="楷体" panose="02010609060101010101" pitchFamily="49" charset="-122"/>
                      </a:rPr>
                      <m:t>𝑡</m:t>
                    </m:r>
                    <m:r>
                      <a:rPr lang="zh-CN" altLang="zh-CN" sz="2800" i="1" dirty="0" smtClean="0">
                        <a:latin typeface="Cambria Math" panose="02040503050406030204" pitchFamily="18" charset="0"/>
                        <a:ea typeface="楷体" panose="02010609060101010101" pitchFamily="49" charset="-122"/>
                      </a:rPr>
                      <m:t>.   </m:t>
                    </m:r>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8</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500</m:t>
                    </m:r>
                    <m:r>
                      <a:rPr lang="zh-CN" altLang="zh-CN" sz="2800" i="1" dirty="0">
                        <a:latin typeface="Cambria Math" panose="02040503050406030204" pitchFamily="18" charset="0"/>
                        <a:ea typeface="楷体" panose="02010609060101010101" pitchFamily="49" charset="-122"/>
                      </a:rPr>
                      <m:t>      </m:t>
                    </m:r>
                  </m:oMath>
                </a14:m>
                <a:r>
                  <a:rPr lang="zh-CN" altLang="zh-CN" sz="2800" dirty="0">
                    <a:latin typeface="Arial" panose="020B0604020202020204" pitchFamily="34" charset="0"/>
                    <a:ea typeface="楷体" panose="02010609060101010101" pitchFamily="49" charset="-122"/>
                  </a:rPr>
                  <a:t>（金属板约束）</a:t>
                </a:r>
                <a:endParaRPr lang="zh-CN" altLang="zh-CN" sz="2800" dirty="0">
                  <a:latin typeface="Arial" panose="020B0604020202020204" pitchFamily="34" charset="0"/>
                  <a:ea typeface="楷体" panose="02010609060101010101" pitchFamily="49" charset="-122"/>
                </a:endParaRPr>
              </a:p>
            </p:txBody>
          </p:sp>
        </mc:Choice>
        <mc:Fallback>
          <p:sp>
            <p:nvSpPr>
              <p:cNvPr id="33801" name="Rectangle 9"/>
              <p:cNvSpPr>
                <a:spLocks noRot="1" noChangeAspect="1" noMove="1" noResize="1" noEditPoints="1" noAdjustHandles="1" noChangeArrowheads="1" noChangeShapeType="1" noTextEdit="1"/>
              </p:cNvSpPr>
              <p:nvPr/>
            </p:nvSpPr>
            <p:spPr bwMode="auto">
              <a:xfrm>
                <a:off x="1589088" y="2493963"/>
                <a:ext cx="8893175" cy="506412"/>
              </a:xfrm>
              <a:prstGeom prst="rect">
                <a:avLst/>
              </a:prstGeom>
              <a:blipFill rotWithShape="1">
                <a:blip r:embed="rId2"/>
                <a:stretch>
                  <a:fillRect l="-4" t="-63" r="4" b="-815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2" name="Rectangle 10"/>
              <p:cNvSpPr>
                <a:spLocks noChangeArrowheads="1"/>
              </p:cNvSpPr>
              <p:nvPr/>
            </p:nvSpPr>
            <p:spPr bwMode="auto">
              <a:xfrm>
                <a:off x="1570038" y="2982913"/>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2</m:t>
                    </m:r>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4</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300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（劳动力约束）</a:t>
                </a:r>
                <a:endParaRPr lang="zh-CN" altLang="zh-CN" sz="2800" dirty="0">
                  <a:latin typeface="Arial" panose="020B0604020202020204" pitchFamily="34" charset="0"/>
                  <a:ea typeface="楷体" panose="02010609060101010101" pitchFamily="49" charset="-122"/>
                </a:endParaRPr>
              </a:p>
            </p:txBody>
          </p:sp>
        </mc:Choice>
        <mc:Fallback>
          <p:sp>
            <p:nvSpPr>
              <p:cNvPr id="33802" name="Rectangle 10"/>
              <p:cNvSpPr>
                <a:spLocks noRot="1" noChangeAspect="1" noMove="1" noResize="1" noEditPoints="1" noAdjustHandles="1" noChangeArrowheads="1" noChangeShapeType="1" noTextEdit="1"/>
              </p:cNvSpPr>
              <p:nvPr/>
            </p:nvSpPr>
            <p:spPr bwMode="auto">
              <a:xfrm>
                <a:off x="1570038" y="2982913"/>
                <a:ext cx="8893175" cy="506412"/>
              </a:xfrm>
              <a:prstGeom prst="rect">
                <a:avLst/>
              </a:prstGeom>
              <a:blipFill rotWithShape="1">
                <a:blip r:embed="rId3"/>
                <a:stretch>
                  <a:fillRect l="-4" t="-63" r="4"/>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3" name="Rectangle 11"/>
              <p:cNvSpPr>
                <a:spLocks noChangeArrowheads="1"/>
              </p:cNvSpPr>
              <p:nvPr/>
            </p:nvSpPr>
            <p:spPr bwMode="auto">
              <a:xfrm>
                <a:off x="1550988" y="34893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baseline="-25000"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100</m:t>
                    </m:r>
                  </m:oMath>
                </a14:m>
                <a:r>
                  <a:rPr lang="en-US" altLang="zh-CN" sz="2800" dirty="0">
                    <a:latin typeface="Arial" panose="020B0604020202020204" pitchFamily="34" charset="0"/>
                    <a:ea typeface="楷体" panose="02010609060101010101" pitchFamily="49" charset="-122"/>
                  </a:rPr>
                  <a:t>       </a:t>
                </a:r>
                <a:r>
                  <a:rPr lang="zh-CN" altLang="zh-CN" sz="2800" dirty="0">
                    <a:latin typeface="Arial" panose="020B0604020202020204" pitchFamily="34" charset="0"/>
                    <a:ea typeface="楷体" panose="02010609060101010101" pitchFamily="49" charset="-122"/>
                  </a:rPr>
                  <a:t>（机器设备约束）</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3" name="Rectangle 11"/>
              <p:cNvSpPr>
                <a:spLocks noRot="1" noChangeAspect="1" noMove="1" noResize="1" noEditPoints="1" noAdjustHandles="1" noChangeArrowheads="1" noChangeShapeType="1" noTextEdit="1"/>
              </p:cNvSpPr>
              <p:nvPr/>
            </p:nvSpPr>
            <p:spPr bwMode="auto">
              <a:xfrm>
                <a:off x="1550988" y="3489325"/>
                <a:ext cx="8893175" cy="506413"/>
              </a:xfrm>
              <a:prstGeom prst="rect">
                <a:avLst/>
              </a:prstGeom>
              <a:blipFill rotWithShape="1">
                <a:blip r:embed="rId4"/>
                <a:stretch>
                  <a:fillRect l="-4" r="4" b="-6852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4" name="Rectangle 12"/>
              <p:cNvSpPr>
                <a:spLocks noChangeArrowheads="1"/>
              </p:cNvSpPr>
              <p:nvPr/>
            </p:nvSpPr>
            <p:spPr bwMode="auto">
              <a:xfrm>
                <a:off x="1524000" y="3976688"/>
                <a:ext cx="8893175" cy="506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b="1" i="1" dirty="0" smtClean="0">
                        <a:solidFill>
                          <a:srgbClr val="FF0000"/>
                        </a:solidFill>
                        <a:latin typeface="Cambria Math" panose="02040503050406030204" pitchFamily="18" charset="0"/>
                        <a:ea typeface="楷体" panose="02010609060101010101" pitchFamily="49" charset="-122"/>
                      </a:rPr>
                      <m:t>𝒙</m:t>
                    </m:r>
                    <m:r>
                      <a:rPr lang="zh-CN" altLang="zh-CN" sz="2800" b="1" i="1" baseline="-25000"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 </m:t>
                    </m:r>
                    <m:r>
                      <a:rPr lang="zh-CN" altLang="zh-CN" sz="2800" b="1" i="1" dirty="0">
                        <a:solidFill>
                          <a:srgbClr val="FF0000"/>
                        </a:solidFill>
                        <a:latin typeface="Cambria Math" panose="02040503050406030204" pitchFamily="18" charset="0"/>
                        <a:ea typeface="楷体" panose="02010609060101010101" pitchFamily="49" charset="-122"/>
                      </a:rPr>
                      <m:t>𝑴</m:t>
                    </m:r>
                    <m:r>
                      <a:rPr lang="en-US" altLang="zh-CN" sz="2800" b="1" i="1" dirty="0" smtClean="0">
                        <a:solidFill>
                          <a:srgbClr val="FF0000"/>
                        </a:solidFill>
                        <a:latin typeface="Cambria Math" panose="02040503050406030204" pitchFamily="18" charset="0"/>
                        <a:ea typeface="楷体" panose="02010609060101010101" pitchFamily="49" charset="-122"/>
                      </a:rPr>
                      <m:t>⋅</m:t>
                    </m:r>
                    <m:sSub>
                      <m:sSubPr>
                        <m:ctrlPr>
                          <a:rPr lang="en-US" altLang="zh-CN" sz="2800" b="1" i="1" dirty="0" smtClean="0">
                            <a:solidFill>
                              <a:srgbClr val="FF0000"/>
                            </a:solidFill>
                            <a:latin typeface="Cambria Math" panose="02040503050406030204" pitchFamily="18" charset="0"/>
                            <a:ea typeface="楷体" panose="02010609060101010101" pitchFamily="49" charset="-122"/>
                          </a:rPr>
                        </m:ctrlPr>
                      </m:sSubPr>
                      <m:e>
                        <m:r>
                          <a:rPr lang="zh-CN" altLang="zh-CN" sz="2800" b="1" i="1" dirty="0">
                            <a:solidFill>
                              <a:srgbClr val="FF0000"/>
                            </a:solidFill>
                            <a:latin typeface="Cambria Math" panose="02040503050406030204" pitchFamily="18" charset="0"/>
                            <a:ea typeface="楷体" panose="02010609060101010101" pitchFamily="49" charset="-122"/>
                          </a:rPr>
                          <m:t>𝒚</m:t>
                        </m:r>
                      </m:e>
                      <m:sub>
                        <m:r>
                          <a:rPr lang="en-US" altLang="zh-CN" sz="2800" b="1" i="1" dirty="0" smtClean="0">
                            <a:solidFill>
                              <a:srgbClr val="FF0000"/>
                            </a:solidFill>
                            <a:latin typeface="Cambria Math" panose="02040503050406030204" pitchFamily="18" charset="0"/>
                            <a:ea typeface="楷体" panose="02010609060101010101" pitchFamily="49" charset="-122"/>
                          </a:rPr>
                          <m:t>𝒊</m:t>
                        </m:r>
                      </m:sub>
                    </m:sSub>
                    <m:r>
                      <a:rPr lang="en-US" altLang="zh-CN" sz="2800" b="1" i="1" dirty="0" smtClean="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𝒊</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𝟏</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𝟐</m:t>
                    </m:r>
                    <m:r>
                      <a:rPr lang="zh-CN" altLang="zh-CN" sz="2800" b="1" i="1" dirty="0">
                        <a:solidFill>
                          <a:srgbClr val="FF0000"/>
                        </a:solidFill>
                        <a:latin typeface="Cambria Math" panose="02040503050406030204" pitchFamily="18" charset="0"/>
                        <a:ea typeface="楷体" panose="02010609060101010101" pitchFamily="49" charset="-122"/>
                      </a:rPr>
                      <m:t>,</m:t>
                    </m:r>
                    <m:r>
                      <a:rPr lang="zh-CN" altLang="zh-CN" sz="2800" b="1" i="1" dirty="0">
                        <a:solidFill>
                          <a:srgbClr val="FF0000"/>
                        </a:solidFill>
                        <a:latin typeface="Cambria Math" panose="02040503050406030204" pitchFamily="18" charset="0"/>
                        <a:ea typeface="楷体" panose="02010609060101010101" pitchFamily="49" charset="-122"/>
                      </a:rPr>
                      <m:t>𝟑</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𝑴</m:t>
                    </m:r>
                    <m:r>
                      <a:rPr lang="zh-CN" altLang="zh-CN" sz="2800" b="1" i="1" dirty="0">
                        <a:solidFill>
                          <a:srgbClr val="FF0000"/>
                        </a:solidFill>
                        <a:latin typeface="Cambria Math" panose="02040503050406030204" pitchFamily="18" charset="0"/>
                        <a:ea typeface="楷体" panose="02010609060101010101" pitchFamily="49" charset="-122"/>
                      </a:rPr>
                      <m:t> </m:t>
                    </m:r>
                    <m:r>
                      <a:rPr lang="zh-CN" altLang="zh-CN" sz="2800" b="1" i="1" dirty="0">
                        <a:solidFill>
                          <a:srgbClr val="FF0000"/>
                        </a:solidFill>
                        <a:latin typeface="Cambria Math" panose="02040503050406030204" pitchFamily="18" charset="0"/>
                        <a:ea typeface="楷体" panose="02010609060101010101" pitchFamily="49" charset="-122"/>
                      </a:rPr>
                      <m:t>充分大</m:t>
                    </m:r>
                  </m:oMath>
                </a14:m>
                <a:endParaRPr lang="zh-CN" altLang="zh-CN" sz="2800" b="1" dirty="0">
                  <a:latin typeface="Arial" panose="020B0604020202020204" pitchFamily="34" charset="0"/>
                  <a:ea typeface="楷体" panose="02010609060101010101" pitchFamily="49" charset="-122"/>
                </a:endParaRPr>
              </a:p>
            </p:txBody>
          </p:sp>
        </mc:Choice>
        <mc:Fallback>
          <p:sp>
            <p:nvSpPr>
              <p:cNvPr id="33804" name="Rectangle 12"/>
              <p:cNvSpPr>
                <a:spLocks noRot="1" noChangeAspect="1" noMove="1" noResize="1" noEditPoints="1" noAdjustHandles="1" noChangeArrowheads="1" noChangeShapeType="1" noTextEdit="1"/>
              </p:cNvSpPr>
              <p:nvPr/>
            </p:nvSpPr>
            <p:spPr bwMode="auto">
              <a:xfrm>
                <a:off x="1524000" y="3976688"/>
                <a:ext cx="8893175" cy="506412"/>
              </a:xfrm>
              <a:prstGeom prst="rect">
                <a:avLst/>
              </a:prstGeom>
              <a:blipFill rotWithShape="1">
                <a:blip r:embed="rId5"/>
                <a:stretch>
                  <a:fillRect t="-63"/>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5" name="Rectangle 13"/>
              <p:cNvSpPr>
                <a:spLocks noChangeArrowheads="1"/>
              </p:cNvSpPr>
              <p:nvPr/>
            </p:nvSpPr>
            <p:spPr bwMode="auto">
              <a:xfrm>
                <a:off x="1524000" y="4441825"/>
                <a:ext cx="8893175"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sSub>
                      <m:sSubPr>
                        <m:ctrlPr>
                          <a:rPr lang="en-US" altLang="zh-CN" sz="2800" b="0" i="1" dirty="0" smtClean="0">
                            <a:latin typeface="Cambria Math" panose="02040503050406030204" pitchFamily="18" charset="0"/>
                            <a:ea typeface="楷体" panose="02010609060101010101" pitchFamily="49" charset="-122"/>
                          </a:rPr>
                        </m:ctrlPr>
                      </m:sSubPr>
                      <m:e>
                        <m:r>
                          <a:rPr lang="zh-CN" altLang="zh-CN" sz="2800" i="1" dirty="0">
                            <a:latin typeface="Cambria Math" panose="02040503050406030204" pitchFamily="18" charset="0"/>
                            <a:ea typeface="楷体" panose="02010609060101010101" pitchFamily="49" charset="-122"/>
                          </a:rPr>
                          <m:t>𝑦</m:t>
                        </m:r>
                      </m:e>
                      <m:sub>
                        <m:r>
                          <a:rPr lang="en-US" altLang="zh-CN" sz="2800" b="0" i="1" dirty="0" smtClean="0">
                            <a:latin typeface="Cambria Math" panose="02040503050406030204" pitchFamily="18" charset="0"/>
                            <a:ea typeface="楷体" panose="02010609060101010101" pitchFamily="49" charset="-122"/>
                          </a:rPr>
                          <m:t>𝑖</m:t>
                        </m:r>
                      </m:sub>
                    </m:sSub>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为</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0</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 </m:t>
                    </m:r>
                    <m:r>
                      <a:rPr lang="zh-CN" altLang="zh-CN" sz="2800" i="1" dirty="0">
                        <a:latin typeface="Cambria Math" panose="02040503050406030204" pitchFamily="18" charset="0"/>
                        <a:ea typeface="楷体" panose="02010609060101010101" pitchFamily="49" charset="-122"/>
                      </a:rPr>
                      <m:t>变量</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𝑖</m:t>
                    </m:r>
                    <m:r>
                      <a:rPr lang="zh-CN" altLang="zh-CN" sz="2800" i="1" dirty="0">
                        <a:latin typeface="Cambria Math" panose="02040503050406030204" pitchFamily="18" charset="0"/>
                        <a:ea typeface="楷体" panose="02010609060101010101" pitchFamily="49" charset="-122"/>
                      </a:rPr>
                      <m:t> = </m:t>
                    </m:r>
                    <m:r>
                      <a:rPr lang="zh-CN" altLang="zh-CN" sz="2800" i="1"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3</m:t>
                    </m:r>
                  </m:oMath>
                </a14:m>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a:t>
                </a:r>
                <a:endParaRPr lang="zh-CN" altLang="zh-CN" sz="2800" dirty="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dirty="0">
                  <a:latin typeface="Arial" panose="020B0604020202020204" pitchFamily="34" charset="0"/>
                  <a:ea typeface="楷体" panose="02010609060101010101" pitchFamily="49" charset="-122"/>
                </a:endParaRPr>
              </a:p>
            </p:txBody>
          </p:sp>
        </mc:Choice>
        <mc:Fallback>
          <p:sp>
            <p:nvSpPr>
              <p:cNvPr id="33805" name="Rectangle 13"/>
              <p:cNvSpPr>
                <a:spLocks noRot="1" noChangeAspect="1" noMove="1" noResize="1" noEditPoints="1" noAdjustHandles="1" noChangeArrowheads="1" noChangeShapeType="1" noTextEdit="1"/>
              </p:cNvSpPr>
              <p:nvPr/>
            </p:nvSpPr>
            <p:spPr bwMode="auto">
              <a:xfrm>
                <a:off x="1524000" y="4441825"/>
                <a:ext cx="8893175" cy="506413"/>
              </a:xfrm>
              <a:prstGeom prst="rect">
                <a:avLst/>
              </a:prstGeom>
              <a:blipFill rotWithShape="1">
                <a:blip r:embed="rId6"/>
                <a:stretch>
                  <a:fillRect b="-153166"/>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806" name="Rectangle 14"/>
              <p:cNvSpPr>
                <a:spLocks noChangeArrowheads="1"/>
              </p:cNvSpPr>
              <p:nvPr/>
            </p:nvSpPr>
            <p:spPr bwMode="auto">
              <a:xfrm>
                <a:off x="1656464" y="5200513"/>
                <a:ext cx="8893175" cy="13686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软件计算：最大目标函数值为300，</a:t>
                </a:r>
                <a:endParaRPr lang="zh-CN" altLang="zh-CN" sz="2800" dirty="0">
                  <a:latin typeface="Arial" panose="020B0604020202020204" pitchFamily="34" charset="0"/>
                  <a:ea typeface="楷体" panose="02010609060101010101" pitchFamily="49" charset="-122"/>
                </a:endParaRPr>
              </a:p>
              <a:p>
                <a:pPr algn="just" eaLnBrk="1" hangingPunct="1">
                  <a:lnSpc>
                    <a:spcPct val="150000"/>
                  </a:lnSpc>
                  <a:buClr>
                    <a:srgbClr val="000000"/>
                  </a:buClr>
                  <a:buSzPct val="100000"/>
                  <a:tabLst>
                    <a:tab pos="190500" algn="l"/>
                    <a:tab pos="1993900" algn="l"/>
                  </a:tabLst>
                </a:pPr>
                <a:r>
                  <a:rPr lang="zh-CN" altLang="zh-CN" sz="2800" dirty="0">
                    <a:latin typeface="Arial" panose="020B0604020202020204" pitchFamily="34" charset="0"/>
                    <a:ea typeface="楷体" panose="02010609060101010101" pitchFamily="49" charset="-122"/>
                  </a:rPr>
                  <a:t>                 最优解为</a:t>
                </a:r>
                <a14:m>
                  <m:oMath xmlns:m="http://schemas.openxmlformats.org/officeDocument/2006/math">
                    <m:r>
                      <a:rPr lang="zh-CN" altLang="zh-CN" sz="2800" i="1" dirty="0" smtClean="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1</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100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2</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r>
                      <a:rPr lang="en-US" altLang="zh-CN" sz="2800" b="0" i="1" dirty="0" smtClean="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𝑥</m:t>
                    </m:r>
                    <m:r>
                      <a:rPr lang="zh-CN" altLang="zh-CN" sz="2800" i="1" baseline="-25000" dirty="0">
                        <a:latin typeface="Cambria Math" panose="02040503050406030204" pitchFamily="18" charset="0"/>
                        <a:ea typeface="楷体" panose="02010609060101010101" pitchFamily="49" charset="-122"/>
                      </a:rPr>
                      <m:t>3</m:t>
                    </m:r>
                    <m:r>
                      <a:rPr lang="zh-CN" altLang="zh-CN" sz="2800" i="1" dirty="0">
                        <a:latin typeface="Cambria Math" panose="02040503050406030204" pitchFamily="18" charset="0"/>
                        <a:ea typeface="楷体" panose="02010609060101010101" pitchFamily="49" charset="-122"/>
                      </a:rPr>
                      <m:t>=</m:t>
                    </m:r>
                    <m:r>
                      <a:rPr lang="zh-CN" altLang="zh-CN" sz="2800" i="1" dirty="0">
                        <a:latin typeface="Cambria Math" panose="02040503050406030204" pitchFamily="18" charset="0"/>
                        <a:ea typeface="楷体" panose="02010609060101010101" pitchFamily="49" charset="-122"/>
                      </a:rPr>
                      <m:t>0</m:t>
                    </m:r>
                  </m:oMath>
                </a14:m>
                <a:r>
                  <a:rPr lang="zh-CN" altLang="zh-CN" sz="2800" dirty="0">
                    <a:latin typeface="Arial" panose="020B0604020202020204" pitchFamily="34" charset="0"/>
                    <a:ea typeface="楷体" panose="02010609060101010101" pitchFamily="49" charset="-122"/>
                  </a:rPr>
                  <a:t>。</a:t>
                </a:r>
                <a:endParaRPr lang="zh-CN" altLang="zh-CN" sz="2800" dirty="0">
                  <a:latin typeface="Arial" panose="020B0604020202020204" pitchFamily="34" charset="0"/>
                  <a:ea typeface="楷体" panose="02010609060101010101" pitchFamily="49" charset="-122"/>
                </a:endParaRPr>
              </a:p>
            </p:txBody>
          </p:sp>
        </mc:Choice>
        <mc:Fallback>
          <p:sp>
            <p:nvSpPr>
              <p:cNvPr id="33806" name="Rectangle 14"/>
              <p:cNvSpPr>
                <a:spLocks noRot="1" noChangeAspect="1" noMove="1" noResize="1" noEditPoints="1" noAdjustHandles="1" noChangeArrowheads="1" noChangeShapeType="1" noTextEdit="1"/>
              </p:cNvSpPr>
              <p:nvPr/>
            </p:nvSpPr>
            <p:spPr bwMode="auto">
              <a:xfrm>
                <a:off x="1656464" y="5200513"/>
                <a:ext cx="8893175" cy="1368698"/>
              </a:xfrm>
              <a:prstGeom prst="rect">
                <a:avLst/>
              </a:prstGeom>
              <a:blipFill rotWithShape="1">
                <a:blip r:embed="rId7"/>
                <a:stretch>
                  <a:fillRect l="-4" t="-36" r="4" b="1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797"/>
                                        </p:tgtEl>
                                        <p:attrNameLst>
                                          <p:attrName>style.visibility</p:attrName>
                                        </p:attrNameLst>
                                      </p:cBhvr>
                                      <p:to>
                                        <p:strVal val="visible"/>
                                      </p:to>
                                    </p:set>
                                    <p:anim calcmode="lin" valueType="num">
                                      <p:cBhvr additive="base">
                                        <p:cTn id="7" dur="500" fill="hold"/>
                                        <p:tgtEl>
                                          <p:spTgt spid="33797"/>
                                        </p:tgtEl>
                                        <p:attrNameLst>
                                          <p:attrName>ppt_x</p:attrName>
                                        </p:attrNameLst>
                                      </p:cBhvr>
                                      <p:tavLst>
                                        <p:tav tm="0">
                                          <p:val>
                                            <p:strVal val="ppt_x"/>
                                          </p:val>
                                        </p:tav>
                                        <p:tav tm="100000">
                                          <p:val>
                                            <p:strVal val="ppt_x"/>
                                          </p:val>
                                        </p:tav>
                                      </p:tavLst>
                                    </p:anim>
                                    <p:anim calcmode="lin" valueType="num">
                                      <p:cBhvr additive="base">
                                        <p:cTn id="8" dur="500" fill="hold"/>
                                        <p:tgtEl>
                                          <p:spTgt spid="3379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3800"/>
                                        </p:tgtEl>
                                        <p:attrNameLst>
                                          <p:attrName>style.visibility</p:attrName>
                                        </p:attrNameLst>
                                      </p:cBhvr>
                                      <p:to>
                                        <p:strVal val="visible"/>
                                      </p:to>
                                    </p:set>
                                    <p:anim calcmode="lin" valueType="num">
                                      <p:cBhvr additive="base">
                                        <p:cTn id="13" dur="500" fill="hold"/>
                                        <p:tgtEl>
                                          <p:spTgt spid="33800"/>
                                        </p:tgtEl>
                                        <p:attrNameLst>
                                          <p:attrName>ppt_x</p:attrName>
                                        </p:attrNameLst>
                                      </p:cBhvr>
                                      <p:tavLst>
                                        <p:tav tm="0">
                                          <p:val>
                                            <p:strVal val="ppt_x"/>
                                          </p:val>
                                        </p:tav>
                                        <p:tav tm="100000">
                                          <p:val>
                                            <p:strVal val="ppt_x"/>
                                          </p:val>
                                        </p:tav>
                                      </p:tavLst>
                                    </p:anim>
                                    <p:anim calcmode="lin" valueType="num">
                                      <p:cBhvr additive="base">
                                        <p:cTn id="14" dur="500" fill="hold"/>
                                        <p:tgtEl>
                                          <p:spTgt spid="338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3801"/>
                                        </p:tgtEl>
                                        <p:attrNameLst>
                                          <p:attrName>style.visibility</p:attrName>
                                        </p:attrNameLst>
                                      </p:cBhvr>
                                      <p:to>
                                        <p:strVal val="visible"/>
                                      </p:to>
                                    </p:set>
                                    <p:anim calcmode="lin" valueType="num">
                                      <p:cBhvr additive="base">
                                        <p:cTn id="19" dur="500" fill="hold"/>
                                        <p:tgtEl>
                                          <p:spTgt spid="33801"/>
                                        </p:tgtEl>
                                        <p:attrNameLst>
                                          <p:attrName>ppt_x</p:attrName>
                                        </p:attrNameLst>
                                      </p:cBhvr>
                                      <p:tavLst>
                                        <p:tav tm="0">
                                          <p:val>
                                            <p:strVal val="ppt_x"/>
                                          </p:val>
                                        </p:tav>
                                        <p:tav tm="100000">
                                          <p:val>
                                            <p:strVal val="ppt_x"/>
                                          </p:val>
                                        </p:tav>
                                      </p:tavLst>
                                    </p:anim>
                                    <p:anim calcmode="lin" valueType="num">
                                      <p:cBhvr additive="base">
                                        <p:cTn id="20" dur="500" fill="hold"/>
                                        <p:tgtEl>
                                          <p:spTgt spid="3380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802"/>
                                        </p:tgtEl>
                                        <p:attrNameLst>
                                          <p:attrName>style.visibility</p:attrName>
                                        </p:attrNameLst>
                                      </p:cBhvr>
                                      <p:to>
                                        <p:strVal val="visible"/>
                                      </p:to>
                                    </p:set>
                                    <p:anim calcmode="lin" valueType="num">
                                      <p:cBhvr additive="base">
                                        <p:cTn id="25" dur="500" fill="hold"/>
                                        <p:tgtEl>
                                          <p:spTgt spid="33802"/>
                                        </p:tgtEl>
                                        <p:attrNameLst>
                                          <p:attrName>ppt_x</p:attrName>
                                        </p:attrNameLst>
                                      </p:cBhvr>
                                      <p:tavLst>
                                        <p:tav tm="0">
                                          <p:val>
                                            <p:strVal val="ppt_x"/>
                                          </p:val>
                                        </p:tav>
                                        <p:tav tm="100000">
                                          <p:val>
                                            <p:strVal val="ppt_x"/>
                                          </p:val>
                                        </p:tav>
                                      </p:tavLst>
                                    </p:anim>
                                    <p:anim calcmode="lin" valueType="num">
                                      <p:cBhvr additive="base">
                                        <p:cTn id="26" dur="500" fill="hold"/>
                                        <p:tgtEl>
                                          <p:spTgt spid="3380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3803"/>
                                        </p:tgtEl>
                                        <p:attrNameLst>
                                          <p:attrName>style.visibility</p:attrName>
                                        </p:attrNameLst>
                                      </p:cBhvr>
                                      <p:to>
                                        <p:strVal val="visible"/>
                                      </p:to>
                                    </p:set>
                                    <p:anim calcmode="lin" valueType="num">
                                      <p:cBhvr additive="base">
                                        <p:cTn id="31" dur="500" fill="hold"/>
                                        <p:tgtEl>
                                          <p:spTgt spid="33803"/>
                                        </p:tgtEl>
                                        <p:attrNameLst>
                                          <p:attrName>ppt_x</p:attrName>
                                        </p:attrNameLst>
                                      </p:cBhvr>
                                      <p:tavLst>
                                        <p:tav tm="0">
                                          <p:val>
                                            <p:strVal val="ppt_x"/>
                                          </p:val>
                                        </p:tav>
                                        <p:tav tm="100000">
                                          <p:val>
                                            <p:strVal val="ppt_x"/>
                                          </p:val>
                                        </p:tav>
                                      </p:tavLst>
                                    </p:anim>
                                    <p:anim calcmode="lin" valueType="num">
                                      <p:cBhvr additive="base">
                                        <p:cTn id="32" dur="500" fill="hold"/>
                                        <p:tgtEl>
                                          <p:spTgt spid="3380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3805"/>
                                        </p:tgtEl>
                                        <p:attrNameLst>
                                          <p:attrName>style.visibility</p:attrName>
                                        </p:attrNameLst>
                                      </p:cBhvr>
                                      <p:to>
                                        <p:strVal val="visible"/>
                                      </p:to>
                                    </p:set>
                                    <p:anim calcmode="lin" valueType="num">
                                      <p:cBhvr additive="base">
                                        <p:cTn id="37" dur="500" fill="hold"/>
                                        <p:tgtEl>
                                          <p:spTgt spid="33805"/>
                                        </p:tgtEl>
                                        <p:attrNameLst>
                                          <p:attrName>ppt_x</p:attrName>
                                        </p:attrNameLst>
                                      </p:cBhvr>
                                      <p:tavLst>
                                        <p:tav tm="0">
                                          <p:val>
                                            <p:strVal val="ppt_x"/>
                                          </p:val>
                                        </p:tav>
                                        <p:tav tm="100000">
                                          <p:val>
                                            <p:strVal val="ppt_x"/>
                                          </p:val>
                                        </p:tav>
                                      </p:tavLst>
                                    </p:anim>
                                    <p:anim calcmode="lin" valueType="num">
                                      <p:cBhvr additive="base">
                                        <p:cTn id="38" dur="500" fill="hold"/>
                                        <p:tgtEl>
                                          <p:spTgt spid="3380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3804"/>
                                        </p:tgtEl>
                                        <p:attrNameLst>
                                          <p:attrName>style.visibility</p:attrName>
                                        </p:attrNameLst>
                                      </p:cBhvr>
                                      <p:to>
                                        <p:strVal val="visible"/>
                                      </p:to>
                                    </p:set>
                                    <p:anim calcmode="lin" valueType="num">
                                      <p:cBhvr additive="base">
                                        <p:cTn id="43" dur="500" fill="hold"/>
                                        <p:tgtEl>
                                          <p:spTgt spid="33804"/>
                                        </p:tgtEl>
                                        <p:attrNameLst>
                                          <p:attrName>ppt_x</p:attrName>
                                        </p:attrNameLst>
                                      </p:cBhvr>
                                      <p:tavLst>
                                        <p:tav tm="0">
                                          <p:val>
                                            <p:strVal val="ppt_x"/>
                                          </p:val>
                                        </p:tav>
                                        <p:tav tm="100000">
                                          <p:val>
                                            <p:strVal val="ppt_x"/>
                                          </p:val>
                                        </p:tav>
                                      </p:tavLst>
                                    </p:anim>
                                    <p:anim calcmode="lin" valueType="num">
                                      <p:cBhvr additive="base">
                                        <p:cTn id="44" dur="500" fill="hold"/>
                                        <p:tgtEl>
                                          <p:spTgt spid="3380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3806"/>
                                        </p:tgtEl>
                                        <p:attrNameLst>
                                          <p:attrName>style.visibility</p:attrName>
                                        </p:attrNameLst>
                                      </p:cBhvr>
                                      <p:to>
                                        <p:strVal val="visible"/>
                                      </p:to>
                                    </p:set>
                                    <p:anim calcmode="lin" valueType="num">
                                      <p:cBhvr additive="base">
                                        <p:cTn id="49" dur="500" fill="hold"/>
                                        <p:tgtEl>
                                          <p:spTgt spid="33806"/>
                                        </p:tgtEl>
                                        <p:attrNameLst>
                                          <p:attrName>ppt_x</p:attrName>
                                        </p:attrNameLst>
                                      </p:cBhvr>
                                      <p:tavLst>
                                        <p:tav tm="0">
                                          <p:val>
                                            <p:strVal val="ppt_x"/>
                                          </p:val>
                                        </p:tav>
                                        <p:tav tm="100000">
                                          <p:val>
                                            <p:strVal val="ppt_x"/>
                                          </p:val>
                                        </p:tav>
                                      </p:tavLst>
                                    </p:anim>
                                    <p:anim calcmode="lin" valueType="num">
                                      <p:cBhvr additive="base">
                                        <p:cTn id="50" dur="500" fill="hold"/>
                                        <p:tgtEl>
                                          <p:spTgt spid="338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7" grpId="0" bldLvl="0" animBg="1"/>
      <p:bldP spid="33800" grpId="0" bldLvl="0" animBg="1"/>
      <p:bldP spid="33801" grpId="0" bldLvl="0" animBg="1"/>
      <p:bldP spid="33802" grpId="0" bldLvl="0" animBg="1"/>
      <p:bldP spid="33803" grpId="0" bldLvl="0" animBg="1"/>
      <p:bldP spid="33804" grpId="0" bldLvl="0" animBg="1"/>
      <p:bldP spid="33805" grpId="0" bldLvl="0" animBg="1"/>
      <p:bldP spid="33806"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5"/>
          <p:cNvSpPr>
            <a:spLocks noChangeArrowheads="1"/>
          </p:cNvSpPr>
          <p:nvPr/>
        </p:nvSpPr>
        <p:spPr bwMode="auto">
          <a:xfrm>
            <a:off x="1107440" y="1557655"/>
            <a:ext cx="9436735"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800">
                <a:latin typeface="Arial" panose="020B0604020202020204" pitchFamily="34" charset="0"/>
                <a:ea typeface="楷体" panose="02010609060101010101" pitchFamily="49" charset="-122"/>
              </a:rPr>
              <a:t>投资问题</a:t>
            </a: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a:p>
            <a:pPr eaLnBrk="1" hangingPunct="1">
              <a:buClr>
                <a:srgbClr val="000000"/>
              </a:buClr>
              <a:buSzPct val="100000"/>
              <a:tabLst>
                <a:tab pos="190500" algn="l"/>
                <a:tab pos="1993900" algn="l"/>
              </a:tabLst>
            </a:pPr>
            <a:endParaRPr lang="zh-CN" altLang="zh-CN" sz="2800">
              <a:latin typeface="Arial" panose="020B0604020202020204" pitchFamily="34" charset="0"/>
              <a:ea typeface="楷体" panose="02010609060101010101" pitchFamily="49" charset="-122"/>
            </a:endParaRPr>
          </a:p>
        </p:txBody>
      </p:sp>
      <p:sp>
        <p:nvSpPr>
          <p:cNvPr id="87046" name="Line 7"/>
          <p:cNvSpPr>
            <a:spLocks noChangeShapeType="1"/>
          </p:cNvSpPr>
          <p:nvPr/>
        </p:nvSpPr>
        <p:spPr bwMode="auto">
          <a:xfrm>
            <a:off x="1992313" y="3573463"/>
            <a:ext cx="1655762" cy="719137"/>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0184" name="Rectangle 8"/>
          <p:cNvSpPr>
            <a:spLocks noChangeArrowheads="1"/>
          </p:cNvSpPr>
          <p:nvPr/>
        </p:nvSpPr>
        <p:spPr bwMode="auto">
          <a:xfrm>
            <a:off x="1107440" y="1928495"/>
            <a:ext cx="9417685" cy="44526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lstStyle/>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某公司在今后五年内考虑给以下的项目投资。已知：</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A：从第一年到第四年每年年初需要投资，并于次年末回收本利115%，但要求第一年投资最低金额为 4 万元，第二、三、四年不限；</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B：第三年初需要投资，到第五年末能回收本利 128%，但规定最低投资金额为 3 万元，最高金额为 5 万元；</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C：第二年初需要投资，到第五年末能回收本利 140%，但规定其投资额或为 2 万元或为 4 万元，或为 6 万元或为 8 万元。</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项目 D：五年内每年初可购买公债，于当年末归还，并加利息 6%，此项投资金额不限。</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该部门现有资金 10 万元，问应如何确定给这些项目的每年投资额，使到第五年末拥有的资金本利总额为最大？</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r>
              <a:rPr lang="zh-CN" altLang="zh-CN" sz="2400" dirty="0">
                <a:ea typeface="楷体" panose="02010609060101010101" pitchFamily="49" charset="-122"/>
                <a:cs typeface="Times New Roman" panose="02020603050405020304" pitchFamily="18" charset="0"/>
              </a:rPr>
              <a:t>		</a:t>
            </a:r>
            <a:endParaRPr lang="zh-CN" altLang="zh-CN" sz="2400" dirty="0">
              <a:ea typeface="楷体" panose="02010609060101010101" pitchFamily="49" charset="-122"/>
              <a:cs typeface="Times New Roman" panose="02020603050405020304" pitchFamily="18" charset="0"/>
            </a:endParaRPr>
          </a:p>
          <a:p>
            <a:pPr eaLnBrk="1" hangingPunct="1">
              <a:buClr>
                <a:srgbClr val="000000"/>
              </a:buClr>
              <a:buSzPct val="100000"/>
              <a:tabLst>
                <a:tab pos="190500" algn="l"/>
                <a:tab pos="1993900" algn="l"/>
              </a:tabLst>
            </a:pPr>
            <a:endParaRPr lang="zh-CN" altLang="zh-CN" sz="2400" dirty="0">
              <a:ea typeface="楷体" panose="02010609060101010101" pitchFamily="49" charset="-122"/>
              <a:cs typeface="Times New Roman" panose="02020603050405020304" pitchFamily="18" charset="0"/>
            </a:endParaRPr>
          </a:p>
        </p:txBody>
      </p:sp>
      <p:sp>
        <p:nvSpPr>
          <p:cNvPr id="2" name="标题 1"/>
          <p:cNvSpPr>
            <a:spLocks noGrp="1"/>
          </p:cNvSpPr>
          <p:nvPr/>
        </p:nvSpPr>
        <p:spPr>
          <a:xfrm>
            <a:off x="838200" y="365125"/>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dirty="0">
                <a:latin typeface="楷体" panose="02010609060101010101" pitchFamily="49" charset="-122"/>
                <a:ea typeface="楷体" panose="02010609060101010101" pitchFamily="49" charset="-122"/>
              </a:rPr>
              <a:t>整数规划的应用</a:t>
            </a:r>
            <a:r>
              <a:rPr lang="en-US" dirty="0">
                <a:latin typeface="楷体" panose="02010609060101010101" pitchFamily="49" charset="-122"/>
                <a:ea typeface="楷体" panose="02010609060101010101" pitchFamily="49" charset="-122"/>
              </a:rPr>
              <a:t>-</a:t>
            </a:r>
            <a:r>
              <a:rPr lang="zh-CN" altLang="en-US" dirty="0">
                <a:latin typeface="楷体" panose="02010609060101010101" pitchFamily="49" charset="-122"/>
                <a:ea typeface="楷体" panose="02010609060101010101" pitchFamily="49" charset="-122"/>
              </a:rPr>
              <a:t>投资问题</a:t>
            </a:r>
            <a:endParaRPr lang="zh-CN" altLang="en-US" dirty="0">
              <a:latin typeface="楷体" panose="02010609060101010101" pitchFamily="49" charset="-122"/>
              <a:ea typeface="楷体" panose="02010609060101010101" pitchFamily="49" charset="-122"/>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 calcmode="lin" valueType="num">
                                      <p:cBhvr additive="base">
                                        <p:cTn id="7" dur="500" fill="hold"/>
                                        <p:tgtEl>
                                          <p:spTgt spid="50181"/>
                                        </p:tgtEl>
                                        <p:attrNameLst>
                                          <p:attrName>ppt_x</p:attrName>
                                        </p:attrNameLst>
                                      </p:cBhvr>
                                      <p:tavLst>
                                        <p:tav tm="0">
                                          <p:val>
                                            <p:strVal val="ppt_x"/>
                                          </p:val>
                                        </p:tav>
                                        <p:tav tm="100000">
                                          <p:val>
                                            <p:strVal val="ppt_x"/>
                                          </p:val>
                                        </p:tav>
                                      </p:tavLst>
                                    </p:anim>
                                    <p:anim calcmode="lin" valueType="num">
                                      <p:cBhvr additive="base">
                                        <p:cTn id="8" dur="500" fill="hold"/>
                                        <p:tgtEl>
                                          <p:spTgt spid="5018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0184"/>
                                        </p:tgtEl>
                                        <p:attrNameLst>
                                          <p:attrName>style.visibility</p:attrName>
                                        </p:attrNameLst>
                                      </p:cBhvr>
                                      <p:to>
                                        <p:strVal val="visible"/>
                                      </p:to>
                                    </p:set>
                                    <p:anim calcmode="lin" valueType="num">
                                      <p:cBhvr additive="base">
                                        <p:cTn id="13" dur="500" fill="hold"/>
                                        <p:tgtEl>
                                          <p:spTgt spid="50184"/>
                                        </p:tgtEl>
                                        <p:attrNameLst>
                                          <p:attrName>ppt_x</p:attrName>
                                        </p:attrNameLst>
                                      </p:cBhvr>
                                      <p:tavLst>
                                        <p:tav tm="0">
                                          <p:val>
                                            <p:strVal val="ppt_x"/>
                                          </p:val>
                                        </p:tav>
                                        <p:tav tm="100000">
                                          <p:val>
                                            <p:strVal val="ppt_x"/>
                                          </p:val>
                                        </p:tav>
                                      </p:tavLst>
                                    </p:anim>
                                    <p:anim calcmode="lin" valueType="num">
                                      <p:cBhvr additive="base">
                                        <p:cTn id="14" dur="500" fill="hold"/>
                                        <p:tgtEl>
                                          <p:spTgt spid="5018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1" grpId="0" bldLvl="0" animBg="1"/>
      <p:bldP spid="5018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目标规划</a:t>
            </a:r>
            <a:endParaRPr lang="zh-CN" altLang="en-US" dirty="0"/>
          </a:p>
        </p:txBody>
      </p:sp>
      <p:sp>
        <p:nvSpPr>
          <p:cNvPr id="3" name="内容占位符 2"/>
          <p:cNvSpPr>
            <a:spLocks noGrp="1"/>
          </p:cNvSpPr>
          <p:nvPr>
            <p:ph idx="1"/>
          </p:nvPr>
        </p:nvSpPr>
        <p:spPr/>
        <p:txBody>
          <a:bodyPr>
            <a:normAutofit lnSpcReduction="10000"/>
          </a:bodyPr>
          <a:lstStyle/>
          <a:p>
            <a:r>
              <a:rPr lang="zh-CN" altLang="en-US" sz="2800" dirty="0">
                <a:solidFill>
                  <a:srgbClr val="FF0000"/>
                </a:solidFill>
                <a:sym typeface="+mn-ea"/>
              </a:rPr>
              <a:t>目标规划问题举例（填空、判断、简答、建模）</a:t>
            </a:r>
            <a:endParaRPr lang="en-US" altLang="zh-CN" sz="2800" dirty="0">
              <a:solidFill>
                <a:srgbClr val="FF0000"/>
              </a:solidFill>
            </a:endParaRPr>
          </a:p>
          <a:p>
            <a:pPr lvl="1"/>
            <a:r>
              <a:rPr lang="zh-CN" altLang="en-US" sz="2800" dirty="0">
                <a:solidFill>
                  <a:srgbClr val="FF0000"/>
                </a:solidFill>
                <a:sym typeface="+mn-ea"/>
              </a:rPr>
              <a:t>什么是目标值、实现值、偏差变量？</a:t>
            </a:r>
            <a:endParaRPr lang="en-US" altLang="zh-CN" sz="2800" dirty="0">
              <a:solidFill>
                <a:srgbClr val="FF0000"/>
              </a:solidFill>
            </a:endParaRPr>
          </a:p>
          <a:p>
            <a:pPr lvl="1"/>
            <a:r>
              <a:rPr lang="zh-CN" altLang="en-US" sz="2800" dirty="0">
                <a:solidFill>
                  <a:srgbClr val="FF0000"/>
                </a:solidFill>
                <a:sym typeface="+mn-ea"/>
              </a:rPr>
              <a:t>要求恰好、不超过、和超过目标值时相应的目标函数该如何使用偏差变量表示？</a:t>
            </a:r>
            <a:endParaRPr lang="en-US" altLang="zh-CN" sz="2800" dirty="0">
              <a:solidFill>
                <a:srgbClr val="FF0000"/>
              </a:solidFill>
            </a:endParaRPr>
          </a:p>
          <a:p>
            <a:pPr lvl="1"/>
            <a:r>
              <a:rPr lang="zh-CN" altLang="en-US" sz="2800" dirty="0">
                <a:solidFill>
                  <a:srgbClr val="FF0000"/>
                </a:solidFill>
                <a:sym typeface="+mn-ea"/>
              </a:rPr>
              <a:t>目标规划与线性规划的区别</a:t>
            </a:r>
            <a:endParaRPr lang="en-US" altLang="zh-CN" sz="2800" dirty="0">
              <a:solidFill>
                <a:srgbClr val="FF0000"/>
              </a:solidFill>
            </a:endParaRPr>
          </a:p>
          <a:p>
            <a:pPr lvl="1"/>
            <a:r>
              <a:rPr lang="zh-CN" altLang="en-US" sz="2800" dirty="0">
                <a:solidFill>
                  <a:srgbClr val="FF0000"/>
                </a:solidFill>
                <a:sym typeface="+mn-ea"/>
              </a:rPr>
              <a:t>目标规划问题的建模步骤</a:t>
            </a:r>
            <a:endParaRPr lang="en-US" altLang="zh-CN" sz="2800" dirty="0">
              <a:solidFill>
                <a:srgbClr val="FF0000"/>
              </a:solidFill>
            </a:endParaRPr>
          </a:p>
          <a:p>
            <a:r>
              <a:rPr lang="zh-CN" altLang="en-US" sz="2800" dirty="0">
                <a:solidFill>
                  <a:srgbClr val="FF0000"/>
                </a:solidFill>
                <a:sym typeface="+mn-ea"/>
              </a:rPr>
              <a:t>目标规划的图解法（</a:t>
            </a:r>
            <a:r>
              <a:rPr lang="zh-CN" altLang="en-US" sz="2800" dirty="0">
                <a:solidFill>
                  <a:srgbClr val="FF0000"/>
                </a:solidFill>
                <a:sym typeface="+mn-ea"/>
              </a:rPr>
              <a:t>计算）</a:t>
            </a:r>
            <a:endParaRPr lang="en-US" altLang="zh-CN" sz="2800" dirty="0">
              <a:solidFill>
                <a:srgbClr val="FF0000"/>
              </a:solidFill>
            </a:endParaRPr>
          </a:p>
          <a:p>
            <a:pPr lvl="1"/>
            <a:r>
              <a:rPr lang="zh-CN" altLang="en-US" sz="2800" dirty="0">
                <a:solidFill>
                  <a:srgbClr val="FF0000"/>
                </a:solidFill>
                <a:sym typeface="+mn-ea"/>
              </a:rPr>
              <a:t>图解法的解题步骤</a:t>
            </a:r>
            <a:endParaRPr lang="en-US" altLang="zh-CN" sz="2800" dirty="0">
              <a:solidFill>
                <a:srgbClr val="FF0000"/>
              </a:solidFill>
            </a:endParaRPr>
          </a:p>
          <a:p>
            <a:r>
              <a:rPr lang="zh-CN" altLang="en-US" sz="2800" dirty="0">
                <a:solidFill>
                  <a:schemeClr val="tx1"/>
                </a:solidFill>
                <a:sym typeface="+mn-ea"/>
              </a:rPr>
              <a:t>复杂情况下的有优先权的目标规划</a:t>
            </a:r>
            <a:endParaRPr lang="en-US" altLang="zh-CN" sz="2800" dirty="0">
              <a:solidFill>
                <a:schemeClr val="tx1"/>
              </a:solidFill>
            </a:endParaRPr>
          </a:p>
          <a:p>
            <a:r>
              <a:rPr lang="zh-CN" altLang="en-US" sz="2800" dirty="0">
                <a:sym typeface="+mn-ea"/>
              </a:rPr>
              <a:t>加权目标规划</a:t>
            </a:r>
            <a:endParaRPr lang="zh-CN" altLang="en-US" sz="2800" dirty="0"/>
          </a:p>
          <a:p>
            <a:endParaRPr lang="en-US" altLang="zh-CN" dirty="0"/>
          </a:p>
          <a:p>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3397" name="Rectangle 69"/>
          <p:cNvSpPr>
            <a:spLocks noGrp="1" noChangeArrowheads="1"/>
          </p:cNvSpPr>
          <p:nvPr>
            <p:ph type="title" idx="4294967295"/>
          </p:nvPr>
        </p:nvSpPr>
        <p:spPr/>
        <p:txBody>
          <a:bodyPr>
            <a:normAutofit fontScale="90000"/>
          </a:bodyPr>
          <a:lstStyle/>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br>
              <a:rPr lang="zh-CN" altLang="en-US"/>
            </a:br>
            <a:endParaRPr lang="zh-CN" altLang="en-US"/>
          </a:p>
        </p:txBody>
      </p:sp>
      <p:sp>
        <p:nvSpPr>
          <p:cNvPr id="1123398" name="Rectangle 70"/>
          <p:cNvSpPr>
            <a:spLocks noGrp="1" noChangeArrowheads="1"/>
          </p:cNvSpPr>
          <p:nvPr>
            <p:ph type="body" idx="4294967295"/>
          </p:nvPr>
        </p:nvSpPr>
        <p:spPr>
          <a:xfrm>
            <a:off x="1855788" y="3517900"/>
            <a:ext cx="8507412" cy="2789238"/>
          </a:xfrm>
        </p:spPr>
        <p:txBody>
          <a:bodyPr/>
          <a:lstStyle/>
          <a:p>
            <a:r>
              <a:rPr lang="zh-CN" altLang="en-US" sz="2200" dirty="0" smtClean="0">
                <a:latin typeface="华文楷体" panose="02010600040101010101" charset="-122"/>
                <a:ea typeface="华文楷体" panose="02010600040101010101" charset="-122"/>
                <a:cs typeface="华文楷体" panose="02010600040101010101" charset="-122"/>
              </a:rPr>
              <a:t>四个目标：</a:t>
            </a:r>
            <a:endParaRPr lang="zh-CN" altLang="en-US" sz="2200" dirty="0" smtClean="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①原材料价格上涨，如果原材料短缺需要高价购买，因此需要严格控制原材料的使用量；</a:t>
            </a:r>
            <a:endParaRPr lang="zh-CN" altLang="en-US" sz="2200" dirty="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② 在市场方面，市场调研表明化肥</a:t>
            </a:r>
            <a:r>
              <a:rPr lang="en-US" altLang="zh-CN" sz="2200" dirty="0">
                <a:latin typeface="华文楷体" panose="02010600040101010101" charset="-122"/>
                <a:ea typeface="华文楷体" panose="02010600040101010101" charset="-122"/>
                <a:cs typeface="华文楷体" panose="02010600040101010101" charset="-122"/>
              </a:rPr>
              <a:t>I</a:t>
            </a:r>
            <a:r>
              <a:rPr lang="zh-CN" altLang="en-US" sz="2200" dirty="0">
                <a:latin typeface="华文楷体" panose="02010600040101010101" charset="-122"/>
                <a:ea typeface="华文楷体" panose="02010600040101010101" charset="-122"/>
                <a:cs typeface="华文楷体" panose="02010600040101010101" charset="-122"/>
              </a:rPr>
              <a:t>的需求在逐步萎缩，因此管理层决定化肥</a:t>
            </a:r>
            <a:r>
              <a:rPr lang="en-US" altLang="zh-CN" sz="2200" dirty="0">
                <a:latin typeface="华文楷体" panose="02010600040101010101" charset="-122"/>
                <a:ea typeface="华文楷体" panose="02010600040101010101" charset="-122"/>
                <a:cs typeface="华文楷体" panose="02010600040101010101" charset="-122"/>
              </a:rPr>
              <a:t>I</a:t>
            </a:r>
            <a:r>
              <a:rPr lang="zh-CN" altLang="en-US" sz="2200" dirty="0">
                <a:latin typeface="华文楷体" panose="02010600040101010101" charset="-122"/>
                <a:ea typeface="华文楷体" panose="02010600040101010101" charset="-122"/>
                <a:cs typeface="华文楷体" panose="02010600040101010101" charset="-122"/>
              </a:rPr>
              <a:t>的产量不高于化肥</a:t>
            </a:r>
            <a:r>
              <a:rPr lang="en-US" altLang="zh-CN" sz="2200" dirty="0">
                <a:latin typeface="华文楷体" panose="02010600040101010101" charset="-122"/>
                <a:ea typeface="华文楷体" panose="02010600040101010101" charset="-122"/>
                <a:cs typeface="华文楷体" panose="02010600040101010101" charset="-122"/>
              </a:rPr>
              <a:t>II</a:t>
            </a:r>
            <a:r>
              <a:rPr lang="zh-CN" altLang="en-US" sz="2200" dirty="0">
                <a:latin typeface="华文楷体" panose="02010600040101010101" charset="-122"/>
                <a:ea typeface="华文楷体" panose="02010600040101010101" charset="-122"/>
                <a:cs typeface="华文楷体" panose="02010600040101010101" charset="-122"/>
              </a:rPr>
              <a:t>的产量；</a:t>
            </a:r>
            <a:endParaRPr lang="zh-CN" altLang="en-US" sz="2200" dirty="0">
              <a:latin typeface="华文楷体" panose="02010600040101010101" charset="-122"/>
              <a:ea typeface="华文楷体" panose="02010600040101010101" charset="-122"/>
              <a:cs typeface="华文楷体" panose="02010600040101010101" charset="-122"/>
            </a:endParaRPr>
          </a:p>
          <a:p>
            <a:pPr lvl="1"/>
            <a:r>
              <a:rPr lang="zh-CN" altLang="en-US" sz="2200" dirty="0">
                <a:latin typeface="华文楷体" panose="02010600040101010101" charset="-122"/>
                <a:ea typeface="华文楷体" panose="02010600040101010101" charset="-122"/>
                <a:cs typeface="华文楷体" panose="02010600040101010101" charset="-122"/>
              </a:rPr>
              <a:t>③ </a:t>
            </a:r>
            <a:r>
              <a:rPr lang="zh-CN" altLang="en-US" sz="2200" dirty="0" smtClean="0">
                <a:latin typeface="华文楷体" panose="02010600040101010101" charset="-122"/>
                <a:ea typeface="华文楷体" panose="02010600040101010101" charset="-122"/>
                <a:cs typeface="华文楷体" panose="02010600040101010101" charset="-122"/>
              </a:rPr>
              <a:t>希望</a:t>
            </a:r>
            <a:r>
              <a:rPr lang="zh-CN" altLang="en-US" sz="2200" dirty="0">
                <a:latin typeface="华文楷体" panose="02010600040101010101" charset="-122"/>
                <a:ea typeface="华文楷体" panose="02010600040101010101" charset="-122"/>
                <a:cs typeface="华文楷体" panose="02010600040101010101" charset="-122"/>
              </a:rPr>
              <a:t>充分利用设备，但是尽量不要加班</a:t>
            </a:r>
            <a:r>
              <a:rPr lang="zh-CN" altLang="en-US" sz="2200" dirty="0" smtClean="0">
                <a:latin typeface="华文楷体" panose="02010600040101010101" charset="-122"/>
                <a:ea typeface="华文楷体" panose="02010600040101010101" charset="-122"/>
                <a:cs typeface="华文楷体" panose="02010600040101010101" charset="-122"/>
              </a:rPr>
              <a:t>；</a:t>
            </a:r>
            <a:endParaRPr lang="en-US" altLang="zh-CN" sz="2200" dirty="0" smtClean="0">
              <a:latin typeface="华文楷体" panose="02010600040101010101" charset="-122"/>
              <a:ea typeface="华文楷体" panose="02010600040101010101" charset="-122"/>
              <a:cs typeface="华文楷体" panose="02010600040101010101" charset="-122"/>
            </a:endParaRPr>
          </a:p>
          <a:p>
            <a:pPr lvl="1"/>
            <a:r>
              <a:rPr lang="zh-CN" altLang="en-US" sz="2200" dirty="0" smtClean="0">
                <a:latin typeface="华文楷体" panose="02010600040101010101" charset="-122"/>
                <a:ea typeface="华文楷体" panose="02010600040101010101" charset="-122"/>
                <a:cs typeface="华文楷体" panose="02010600040101010101" charset="-122"/>
              </a:rPr>
              <a:t>④ </a:t>
            </a:r>
            <a:r>
              <a:rPr lang="zh-CN" altLang="en-US" sz="2200" dirty="0">
                <a:latin typeface="华文楷体" panose="02010600040101010101" charset="-122"/>
                <a:ea typeface="华文楷体" panose="02010600040101010101" charset="-122"/>
                <a:cs typeface="华文楷体" panose="02010600040101010101" charset="-122"/>
              </a:rPr>
              <a:t>实现</a:t>
            </a:r>
            <a:r>
              <a:rPr lang="en-US" altLang="zh-CN" sz="2200" dirty="0">
                <a:latin typeface="华文楷体" panose="02010600040101010101" charset="-122"/>
                <a:ea typeface="华文楷体" panose="02010600040101010101" charset="-122"/>
                <a:cs typeface="华文楷体" panose="02010600040101010101" charset="-122"/>
              </a:rPr>
              <a:t>60</a:t>
            </a:r>
            <a:r>
              <a:rPr lang="zh-CN" altLang="en-US" sz="2200" dirty="0">
                <a:latin typeface="华文楷体" panose="02010600040101010101" charset="-122"/>
                <a:ea typeface="华文楷体" panose="02010600040101010101" charset="-122"/>
                <a:cs typeface="华文楷体" panose="02010600040101010101" charset="-122"/>
              </a:rPr>
              <a:t>万元的目标</a:t>
            </a:r>
            <a:r>
              <a:rPr lang="zh-CN" altLang="en-US" sz="2200" dirty="0" smtClean="0">
                <a:latin typeface="华文楷体" panose="02010600040101010101" charset="-122"/>
                <a:ea typeface="华文楷体" panose="02010600040101010101" charset="-122"/>
                <a:cs typeface="华文楷体" panose="02010600040101010101" charset="-122"/>
              </a:rPr>
              <a:t>利润。</a:t>
            </a:r>
            <a:endParaRPr lang="zh-CN" altLang="en-US" sz="2200" dirty="0" smtClean="0">
              <a:latin typeface="华文楷体" panose="02010600040101010101" charset="-122"/>
              <a:ea typeface="华文楷体" panose="02010600040101010101" charset="-122"/>
              <a:cs typeface="华文楷体" panose="02010600040101010101" charset="-122"/>
            </a:endParaRPr>
          </a:p>
        </p:txBody>
      </p:sp>
      <p:graphicFrame>
        <p:nvGraphicFramePr>
          <p:cNvPr id="1123396" name="Group 68"/>
          <p:cNvGraphicFramePr>
            <a:graphicFrameLocks noGrp="1"/>
          </p:cNvGraphicFramePr>
          <p:nvPr>
            <p:ph idx="4294967295"/>
          </p:nvPr>
        </p:nvGraphicFramePr>
        <p:xfrm>
          <a:off x="1884363" y="1366472"/>
          <a:ext cx="8507095" cy="1876426"/>
        </p:xfrm>
        <a:graphic>
          <a:graphicData uri="http://schemas.openxmlformats.org/drawingml/2006/table">
            <a:tbl>
              <a:tblPr/>
              <a:tblGrid>
                <a:gridCol w="2127250"/>
                <a:gridCol w="2127250"/>
                <a:gridCol w="2125345"/>
                <a:gridCol w="2127250"/>
              </a:tblGrid>
              <a:tr h="471488">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 </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en-US" sz="2000" kern="100" dirty="0">
                          <a:effectLst/>
                          <a:latin typeface="Cambria Math" panose="02040503050406030204" pitchFamily="18" charset="0"/>
                          <a:ea typeface="宋体" panose="02010600030101010101" pitchFamily="2" charset="-122"/>
                        </a:rPr>
                        <a:t>I</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II</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资源限制</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FF"/>
                    </a:solidFill>
                  </a:tcPr>
                </a:tc>
              </a:tr>
              <a:tr h="466725">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原材料（吨）</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1200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9900">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设备（小时）</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1000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8313">
                <a:tc>
                  <a:txBody>
                    <a:bodyPr/>
                    <a:lstStyle/>
                    <a:p>
                      <a:pPr indent="0" algn="ctr">
                        <a:lnSpc>
                          <a:spcPct val="100000"/>
                        </a:lnSpc>
                        <a:spcAft>
                          <a:spcPts val="0"/>
                        </a:spcAft>
                      </a:pPr>
                      <a:r>
                        <a:rPr lang="zh-CN" sz="2000" kern="100">
                          <a:effectLst/>
                          <a:latin typeface="Cambria Math" panose="02040503050406030204" pitchFamily="18" charset="0"/>
                          <a:ea typeface="宋体" panose="02010600030101010101" pitchFamily="2" charset="-122"/>
                        </a:rPr>
                        <a:t>利润（元</a:t>
                      </a:r>
                      <a:r>
                        <a:rPr lang="en-US" sz="2000" kern="100">
                          <a:effectLst/>
                          <a:latin typeface="Cambria Math" panose="02040503050406030204" pitchFamily="18" charset="0"/>
                          <a:ea typeface="宋体" panose="02010600030101010101" pitchFamily="2" charset="-122"/>
                        </a:rPr>
                        <a:t>/</a:t>
                      </a:r>
                      <a:r>
                        <a:rPr lang="zh-CN" sz="2000" kern="100">
                          <a:effectLst/>
                          <a:latin typeface="Cambria Math" panose="02040503050406030204" pitchFamily="18" charset="0"/>
                          <a:ea typeface="宋体" panose="02010600030101010101" pitchFamily="2" charset="-122"/>
                        </a:rPr>
                        <a:t>吨）</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600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a:effectLst/>
                          <a:latin typeface="Cambria Math" panose="02040503050406030204" pitchFamily="18" charset="0"/>
                          <a:ea typeface="宋体" panose="02010600030101010101" pitchFamily="2" charset="-122"/>
                        </a:rPr>
                        <a:t>1000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indent="0" algn="ctr">
                        <a:lnSpc>
                          <a:spcPct val="100000"/>
                        </a:lnSpc>
                        <a:spcAft>
                          <a:spcPts val="0"/>
                        </a:spcAft>
                      </a:pPr>
                      <a:r>
                        <a:rPr lang="en-US" sz="2000" kern="100" dirty="0">
                          <a:effectLst/>
                          <a:latin typeface="Cambria Math" panose="02040503050406030204" pitchFamily="18" charset="0"/>
                          <a:ea typeface="宋体" panose="02010600030101010101" pitchFamily="2" charset="-122"/>
                        </a:rPr>
                        <a:t> </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内容占位符 2"/>
              <p:cNvSpPr>
                <a:spLocks noGrp="1"/>
              </p:cNvSpPr>
              <p:nvPr>
                <p:ph idx="1"/>
              </p:nvPr>
            </p:nvSpPr>
            <p:spPr/>
            <p:txBody>
              <a:bodyPr>
                <a:normAutofit lnSpcReduction="20000"/>
              </a:bodyPr>
              <a:lstStyle/>
              <a:p>
                <a:r>
                  <a:rPr lang="zh-CN" altLang="en-US" dirty="0" smtClean="0"/>
                  <a:t>决策变量：</a:t>
                </a:r>
                <a:endParaRPr lang="en-US" altLang="zh-CN" dirty="0" smtClean="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1</m:t>
                        </m:r>
                      </m:sub>
                    </m:sSub>
                    <m:r>
                      <a:rPr lang="en-US" altLang="zh-CN" i="1">
                        <a:latin typeface="Cambria Math" panose="02040503050406030204" pitchFamily="18" charset="0"/>
                      </a:rPr>
                      <m:t>=</m:t>
                    </m:r>
                  </m:oMath>
                </a14:m>
                <a:r>
                  <a:rPr lang="en-US" altLang="zh-CN" dirty="0"/>
                  <a:t> </a:t>
                </a:r>
                <a:r>
                  <a:rPr lang="zh-CN" altLang="zh-CN" dirty="0"/>
                  <a:t>下个月化肥</a:t>
                </a:r>
                <a:r>
                  <a:rPr lang="en-US" altLang="zh-CN" dirty="0"/>
                  <a:t>I</a:t>
                </a:r>
                <a:r>
                  <a:rPr lang="zh-CN" altLang="zh-CN" dirty="0"/>
                  <a:t>的产量</a:t>
                </a:r>
                <a:endParaRPr lang="zh-CN" altLang="zh-CN" dirty="0"/>
              </a:p>
              <a:p>
                <a:pPr lvl="1"/>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i="1">
                            <a:latin typeface="Cambria Math" panose="02040503050406030204" pitchFamily="18" charset="0"/>
                          </a:rPr>
                          <m:t>2</m:t>
                        </m:r>
                      </m:sub>
                    </m:sSub>
                    <m:r>
                      <a:rPr lang="en-US" altLang="zh-CN" i="1">
                        <a:latin typeface="Cambria Math" panose="02040503050406030204" pitchFamily="18" charset="0"/>
                      </a:rPr>
                      <m:t>=</m:t>
                    </m:r>
                  </m:oMath>
                </a14:m>
                <a:r>
                  <a:rPr lang="en-US" altLang="zh-CN" dirty="0"/>
                  <a:t> </a:t>
                </a:r>
                <a:r>
                  <a:rPr lang="zh-CN" altLang="zh-CN" dirty="0"/>
                  <a:t>下个月化肥</a:t>
                </a:r>
                <a:r>
                  <a:rPr lang="en-US" altLang="zh-CN" dirty="0"/>
                  <a:t>II</a:t>
                </a:r>
                <a:r>
                  <a:rPr lang="zh-CN" altLang="zh-CN" dirty="0"/>
                  <a:t>的产量</a:t>
                </a:r>
                <a:endParaRPr lang="en-US" altLang="zh-CN" dirty="0" smtClean="0"/>
              </a:p>
              <a:p>
                <a:r>
                  <a:rPr lang="zh-CN" altLang="en-US" dirty="0" smtClean="0"/>
                  <a:t>引入偏差变量：</a:t>
                </a:r>
                <a:endParaRPr lang="en-US" altLang="zh-CN" dirty="0" smtClean="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实际剩余的原材料</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1</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实际超出的原材料</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相对于化肥</a:t>
                </a:r>
                <a:r>
                  <a:rPr lang="en-US" altLang="zh-CN" dirty="0"/>
                  <a:t>II</a:t>
                </a:r>
                <a:r>
                  <a:rPr lang="zh-CN" altLang="zh-CN" dirty="0"/>
                  <a:t>的产量而言，化肥</a:t>
                </a:r>
                <a:r>
                  <a:rPr lang="en-US" altLang="zh-CN" dirty="0"/>
                  <a:t>I</a:t>
                </a:r>
                <a:r>
                  <a:rPr lang="zh-CN" altLang="zh-CN" dirty="0"/>
                  <a:t>不足的部分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2</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相对于化肥</a:t>
                </a:r>
                <a:r>
                  <a:rPr lang="en-US" altLang="zh-CN" dirty="0"/>
                  <a:t>II</a:t>
                </a:r>
                <a:r>
                  <a:rPr lang="zh-CN" altLang="zh-CN" dirty="0"/>
                  <a:t>的产量而言，化肥</a:t>
                </a:r>
                <a:r>
                  <a:rPr lang="en-US" altLang="zh-CN" dirty="0"/>
                  <a:t>I</a:t>
                </a:r>
                <a:r>
                  <a:rPr lang="zh-CN" altLang="zh-CN" dirty="0"/>
                  <a:t>超出的部分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3</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实际剩余的设备工时</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3</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实际超出的设备工时（即需要加班实现的设备工时）</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a:t>
                </a:r>
                <a:r>
                  <a:rPr lang="en-US" altLang="zh-CN" dirty="0"/>
                  <a:t>60</a:t>
                </a:r>
                <a:r>
                  <a:rPr lang="zh-CN" altLang="zh-CN" dirty="0"/>
                  <a:t>万元的利润目标，实际利润不足的部分</a:t>
                </a:r>
                <a:endParaRPr lang="zh-CN" altLang="zh-CN" dirty="0"/>
              </a:p>
              <a:p>
                <a:pPr lvl="1"/>
                <a14:m>
                  <m:oMath xmlns:m="http://schemas.openxmlformats.org/officeDocument/2006/math">
                    <m:sSubSup>
                      <m:sSubSupPr>
                        <m:ctrlPr>
                          <a:rPr lang="zh-CN" altLang="zh-CN" i="1">
                            <a:latin typeface="Cambria Math" panose="02040503050406030204" pitchFamily="18" charset="0"/>
                          </a:rPr>
                        </m:ctrlPr>
                      </m:sSubSupPr>
                      <m:e>
                        <m:r>
                          <a:rPr lang="en-US" altLang="zh-CN" i="1">
                            <a:latin typeface="Cambria Math" panose="02040503050406030204" pitchFamily="18" charset="0"/>
                          </a:rPr>
                          <m:t>𝑑</m:t>
                        </m:r>
                      </m:e>
                      <m:sub>
                        <m:r>
                          <a:rPr lang="en-US" altLang="zh-CN" i="1">
                            <a:latin typeface="Cambria Math" panose="02040503050406030204" pitchFamily="18" charset="0"/>
                          </a:rPr>
                          <m:t>4</m:t>
                        </m:r>
                      </m:sub>
                      <m:sup>
                        <m:r>
                          <a:rPr lang="en-US" altLang="zh-CN" i="1">
                            <a:latin typeface="Cambria Math" panose="02040503050406030204" pitchFamily="18" charset="0"/>
                          </a:rPr>
                          <m:t>+</m:t>
                        </m:r>
                      </m:sup>
                    </m:sSubSup>
                    <m:r>
                      <a:rPr lang="en-US" altLang="zh-CN" i="1">
                        <a:latin typeface="Cambria Math" panose="02040503050406030204" pitchFamily="18" charset="0"/>
                      </a:rPr>
                      <m:t>=</m:t>
                    </m:r>
                  </m:oMath>
                </a14:m>
                <a:r>
                  <a:rPr lang="zh-CN" altLang="zh-CN" dirty="0"/>
                  <a:t>相对于</a:t>
                </a:r>
                <a:r>
                  <a:rPr lang="en-US" altLang="zh-CN" dirty="0"/>
                  <a:t>60</a:t>
                </a:r>
                <a:r>
                  <a:rPr lang="zh-CN" altLang="zh-CN" dirty="0"/>
                  <a:t>万元的利润目标，实际利润超出的部分</a:t>
                </a:r>
                <a:endParaRPr lang="zh-CN" altLang="zh-CN" dirty="0"/>
              </a:p>
              <a:p>
                <a:endParaRPr lang="zh-CN" altLang="en-US" dirty="0"/>
              </a:p>
            </p:txBody>
          </p:sp>
        </mc:Choice>
        <mc:Fallback>
          <p:sp>
            <p:nvSpPr>
              <p:cNvPr id="3" name="内容占位符 2"/>
              <p:cNvSpPr>
                <a:spLocks noRot="1" noChangeAspect="1" noMove="1" noResize="1" noEditPoints="1" noAdjustHandles="1" noChangeArrowheads="1" noChangeShapeType="1" noTextEdit="1"/>
              </p:cNvSpPr>
              <p:nvPr>
                <p:ph idx="1"/>
              </p:nvPr>
            </p:nvSpPr>
            <p:spPr>
              <a:blipFill rotWithShape="1">
                <a:blip r:embed="rId1"/>
                <a:stretch>
                  <a:fillRect t="-1109" b="-1744"/>
                </a:stretch>
              </a:blipFill>
            </p:spPr>
            <p:txBody>
              <a:bodyPr/>
              <a:lstStyle/>
              <a:p>
                <a:r>
                  <a:rPr lang="zh-CN" altLang="en-US">
                    <a:noFill/>
                  </a:rPr>
                  <a:t> </a:t>
                </a:r>
              </a:p>
            </p:txBody>
          </p:sp>
        </mc:Fallback>
      </mc:AlternateContent>
      <p:sp>
        <p:nvSpPr>
          <p:cNvPr id="1123397" name="Rectangle 69"/>
          <p:cNvSpPr>
            <a:spLocks noGrp="1" noChangeArrowheads="1"/>
          </p:cNvSpPr>
          <p:nvPr>
            <p:ph type="title" idx="4294967295"/>
          </p:nvPr>
        </p:nvSpPr>
        <p:spPr/>
        <p:txBody>
          <a:bodyPr>
            <a:normAutofit/>
          </a:bodyPr>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lnSpcReduction="20000"/>
          </a:bodyPr>
          <a:lstStyle/>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en-US" dirty="0"/>
          </a:p>
        </p:txBody>
      </p:sp>
      <mc:AlternateContent xmlns:mc="http://schemas.openxmlformats.org/markup-compatibility/2006">
        <mc:Choice xmlns:a14="http://schemas.microsoft.com/office/drawing/2010/main" Requires="a14">
          <p:sp>
            <p:nvSpPr>
              <p:cNvPr id="4" name="矩形 3"/>
              <p:cNvSpPr/>
              <p:nvPr/>
            </p:nvSpPr>
            <p:spPr>
              <a:xfrm>
                <a:off x="3823494" y="1812978"/>
                <a:ext cx="4572000" cy="2527300"/>
              </a:xfrm>
              <a:prstGeom prst="rect">
                <a:avLst/>
              </a:prstGeom>
            </p:spPr>
            <p:txBody>
              <a:bodyPr>
                <a:spAutoFit/>
              </a:bodyPr>
              <a:lstStyle/>
              <a:p>
                <a:pPr indent="266700" algn="just">
                  <a:lnSpc>
                    <a:spcPct val="115000"/>
                  </a:lnSpc>
                  <a:spcAft>
                    <a:spcPts val="0"/>
                  </a:spcAft>
                </a:pPr>
                <a:endParaRPr lang="zh-CN" altLang="zh-CN" kern="100" dirty="0">
                  <a:ea typeface="宋体" panose="02010600030101010101" pitchFamily="2" charset="-122"/>
                </a:endParaRPr>
              </a:p>
              <a:p>
                <a:pPr indent="266700">
                  <a:lnSpc>
                    <a:spcPct val="115000"/>
                  </a:lnSpc>
                  <a:spcAft>
                    <a:spcPts val="0"/>
                  </a:spcAft>
                </a:pPr>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宋体" panose="02010600030101010101" pitchFamily="2" charset="-122"/>
                        </a:rPr>
                        <m:t>𝑠</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𝑡</m:t>
                      </m:r>
                      <m:r>
                        <a:rPr lang="en-US" altLang="zh-CN" sz="1800" i="1" kern="100">
                          <a:effectLst/>
                          <a:latin typeface="Cambria Math" panose="02040503050406030204" pitchFamily="18" charset="0"/>
                          <a:ea typeface="宋体" panose="02010600030101010101" pitchFamily="2" charset="-122"/>
                        </a:rPr>
                        <m:t>.</m:t>
                      </m:r>
                      <m:d>
                        <m:dPr>
                          <m:begChr m:val="{"/>
                          <m:endChr m:val=""/>
                          <m:ctrlPr>
                            <a:rPr lang="zh-CN" altLang="zh-CN" sz="1800" i="1" kern="100">
                              <a:effectLst/>
                              <a:latin typeface="Cambria Math" panose="02040503050406030204" pitchFamily="18" charset="0"/>
                              <a:ea typeface="Cambria Math" panose="02040503050406030204" pitchFamily="18" charset="0"/>
                            </a:rPr>
                          </m:ctrlPr>
                        </m:dPr>
                        <m:e>
                          <m:eqArr>
                            <m:eqArrPr>
                              <m:ctrlPr>
                                <a:rPr lang="zh-CN" altLang="zh-CN" sz="1800" i="1" kern="100">
                                  <a:effectLst/>
                                  <a:latin typeface="Cambria Math" panose="02040503050406030204" pitchFamily="18" charset="0"/>
                                  <a:ea typeface="Cambria Math" panose="02040503050406030204" pitchFamily="18" charset="0"/>
                                </a:rPr>
                              </m:ctrlPr>
                            </m:eqArrPr>
                            <m:e>
                              <m:r>
                                <a:rPr lang="en-US" altLang="zh-CN" sz="1800" i="1" kern="100">
                                  <a:effectLst/>
                                  <a:latin typeface="Cambria Math" panose="02040503050406030204" pitchFamily="18" charset="0"/>
                                  <a:ea typeface="宋体" panose="02010600030101010101" pitchFamily="2" charset="-122"/>
                                </a:rPr>
                                <m:t>2</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1</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1</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1200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2</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2</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3</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3</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1000</m:t>
                              </m:r>
                            </m:e>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600</m:t>
                                  </m:r>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1000</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4</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4</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600000</m:t>
                              </m:r>
                            </m:e>
                            <m:e>
                              <m:m>
                                <m:mPr>
                                  <m:mcs>
                                    <m:mc>
                                      <m:mcPr>
                                        <m:count m:val="1"/>
                                        <m:mcJc m:val="center"/>
                                      </m:mcPr>
                                    </m:mc>
                                  </m:mcs>
                                  <m:ctrlPr>
                                    <a:rPr lang="zh-CN" altLang="zh-CN" sz="1800" i="1" kern="100">
                                      <a:effectLst/>
                                      <a:latin typeface="Cambria Math" panose="02040503050406030204" pitchFamily="18" charset="0"/>
                                      <a:ea typeface="Cambria Math" panose="02040503050406030204" pitchFamily="18" charset="0"/>
                                    </a:rPr>
                                  </m:ctrlPr>
                                </m:mPr>
                                <m:mr>
                                  <m:e>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1</m:t>
                                        </m:r>
                                      </m:sub>
                                    </m:sSub>
                                    <m:r>
                                      <a:rPr lang="en-US" altLang="zh-CN" sz="1800" i="1" kern="100">
                                        <a:effectLst/>
                                        <a:latin typeface="Cambria Math" panose="02040503050406030204" pitchFamily="18" charset="0"/>
                                        <a:ea typeface="宋体" panose="02010600030101010101" pitchFamily="2" charset="-122"/>
                                      </a:rPr>
                                      <m:t>,</m:t>
                                    </m:r>
                                    <m:sSub>
                                      <m:sSubPr>
                                        <m:ctrlPr>
                                          <a:rPr lang="zh-CN" altLang="zh-CN" sz="1800" i="1" kern="100">
                                            <a:effectLst/>
                                            <a:latin typeface="Cambria Math" panose="02040503050406030204" pitchFamily="18" charset="0"/>
                                            <a:ea typeface="Cambria Math" panose="02040503050406030204" pitchFamily="18" charset="0"/>
                                          </a:rPr>
                                        </m:ctrlPr>
                                      </m:sSubPr>
                                      <m:e>
                                        <m:r>
                                          <a:rPr lang="en-US" altLang="zh-CN" sz="1800" i="1" kern="100">
                                            <a:effectLst/>
                                            <a:latin typeface="Cambria Math" panose="02040503050406030204" pitchFamily="18" charset="0"/>
                                            <a:ea typeface="宋体" panose="02010600030101010101" pitchFamily="2" charset="-122"/>
                                          </a:rPr>
                                          <m:t>𝑥</m:t>
                                        </m:r>
                                      </m:e>
                                      <m:sub>
                                        <m:r>
                                          <a:rPr lang="en-US" altLang="zh-CN" sz="1800" i="1" kern="100">
                                            <a:effectLst/>
                                            <a:latin typeface="Cambria Math" panose="02040503050406030204" pitchFamily="18" charset="0"/>
                                            <a:ea typeface="宋体" panose="02010600030101010101" pitchFamily="2" charset="-122"/>
                                          </a:rPr>
                                          <m:t>2</m:t>
                                        </m:r>
                                      </m:sub>
                                    </m:sSub>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3</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4</m:t>
                                    </m:r>
                                  </m:e>
                                </m:mr>
                                <m:mr>
                                  <m:e>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sSubSup>
                                      <m:sSubSupPr>
                                        <m:ctrlPr>
                                          <a:rPr lang="zh-CN" altLang="zh-CN" sz="1800" i="1" kern="100">
                                            <a:effectLst/>
                                            <a:latin typeface="Cambria Math" panose="02040503050406030204" pitchFamily="18" charset="0"/>
                                            <a:ea typeface="Cambria Math" panose="02040503050406030204" pitchFamily="18" charset="0"/>
                                          </a:rPr>
                                        </m:ctrlPr>
                                      </m:sSubSupPr>
                                      <m:e>
                                        <m:r>
                                          <a:rPr lang="en-US" altLang="zh-CN" sz="1800" i="1" kern="100">
                                            <a:effectLst/>
                                            <a:latin typeface="Cambria Math" panose="02040503050406030204" pitchFamily="18" charset="0"/>
                                            <a:ea typeface="宋体" panose="02010600030101010101" pitchFamily="2" charset="-122"/>
                                          </a:rPr>
                                          <m:t>𝑑</m:t>
                                        </m:r>
                                      </m:e>
                                      <m:sub>
                                        <m:r>
                                          <a:rPr lang="en-US" altLang="zh-CN" sz="1800" i="1" kern="100">
                                            <a:effectLst/>
                                            <a:latin typeface="Cambria Math" panose="02040503050406030204" pitchFamily="18" charset="0"/>
                                            <a:ea typeface="宋体" panose="02010600030101010101" pitchFamily="2" charset="-122"/>
                                          </a:rPr>
                                          <m:t>𝑖</m:t>
                                        </m:r>
                                      </m:sub>
                                      <m:sup>
                                        <m:r>
                                          <a:rPr lang="en-US" altLang="zh-CN" sz="1800" i="1" kern="100">
                                            <a:effectLst/>
                                            <a:latin typeface="Cambria Math" panose="02040503050406030204" pitchFamily="18" charset="0"/>
                                            <a:ea typeface="宋体" panose="02010600030101010101" pitchFamily="2" charset="-122"/>
                                          </a:rPr>
                                          <m:t>−</m:t>
                                        </m:r>
                                      </m:sup>
                                    </m:sSubSup>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0</m:t>
                                    </m:r>
                                    <m:r>
                                      <a:rPr lang="en-US" altLang="zh-CN" sz="1800" i="1" kern="100">
                                        <a:effectLst/>
                                        <a:latin typeface="Cambria Math" panose="02040503050406030204" pitchFamily="18" charset="0"/>
                                        <a:ea typeface="宋体" panose="02010600030101010101" pitchFamily="2" charset="-122"/>
                                      </a:rPr>
                                      <m:t>, </m:t>
                                    </m:r>
                                    <m:r>
                                      <a:rPr lang="en-US" altLang="zh-CN" sz="1800" i="1" kern="100">
                                        <a:effectLst/>
                                        <a:latin typeface="Cambria Math" panose="02040503050406030204" pitchFamily="18" charset="0"/>
                                        <a:ea typeface="宋体" panose="02010600030101010101" pitchFamily="2" charset="-122"/>
                                      </a:rPr>
                                      <m:t>𝑖</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1</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2</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3</m:t>
                                    </m:r>
                                    <m:r>
                                      <a:rPr lang="en-US" altLang="zh-CN" sz="1800" i="1" kern="100">
                                        <a:effectLst/>
                                        <a:latin typeface="Cambria Math" panose="02040503050406030204" pitchFamily="18" charset="0"/>
                                        <a:ea typeface="宋体" panose="02010600030101010101" pitchFamily="2" charset="-122"/>
                                      </a:rPr>
                                      <m:t>,</m:t>
                                    </m:r>
                                    <m:r>
                                      <a:rPr lang="en-US" altLang="zh-CN" sz="1800" i="1" kern="100">
                                        <a:effectLst/>
                                        <a:latin typeface="Cambria Math" panose="02040503050406030204" pitchFamily="18" charset="0"/>
                                        <a:ea typeface="宋体" panose="02010600030101010101" pitchFamily="2" charset="-122"/>
                                      </a:rPr>
                                      <m:t>4</m:t>
                                    </m:r>
                                    <m:r>
                                      <a:rPr lang="en-US" altLang="zh-CN" sz="1800" i="1" kern="100">
                                        <a:effectLst/>
                                        <a:latin typeface="Cambria Math" panose="02040503050406030204" pitchFamily="18" charset="0"/>
                                        <a:ea typeface="宋体" panose="02010600030101010101" pitchFamily="2" charset="-122"/>
                                      </a:rPr>
                                      <m:t>  </m:t>
                                    </m:r>
                                  </m:e>
                                </m:mr>
                              </m:m>
                            </m:e>
                          </m:eqArr>
                        </m:e>
                      </m:d>
                    </m:oMath>
                  </m:oMathPara>
                </a14:m>
                <a:endParaRPr lang="zh-CN" altLang="zh-CN" kern="100" dirty="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3823494" y="1812978"/>
                <a:ext cx="4572000" cy="2527300"/>
              </a:xfrm>
              <a:prstGeom prst="rect">
                <a:avLst/>
              </a:prstGeom>
              <a:blipFill rotWithShape="1">
                <a:blip r:embed="rId1"/>
                <a:stretch>
                  <a:fillRect l="-3" t="-2" r="-2372" b="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矩形 5"/>
              <p:cNvSpPr/>
              <p:nvPr/>
            </p:nvSpPr>
            <p:spPr>
              <a:xfrm>
                <a:off x="3695972" y="1586834"/>
                <a:ext cx="4852035" cy="35941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m>
                        <m:mPr>
                          <m:mcs>
                            <m:mc>
                              <m:mcPr>
                                <m:count m:val="2"/>
                                <m:mcJc m:val="center"/>
                              </m:mcPr>
                            </m:mc>
                          </m:mcs>
                          <m:ctrlPr>
                            <a:rPr lang="zh-CN" altLang="en-US" i="1">
                              <a:latin typeface="Cambria Math" panose="02040503050406030204" pitchFamily="18" charset="0"/>
                            </a:rPr>
                          </m:ctrlPr>
                        </m:mPr>
                        <m:mr>
                          <m:e>
                            <m:r>
                              <m:rPr>
                                <m:sty m:val="p"/>
                              </m:rPr>
                              <a:rPr lang="zh-CN" altLang="en-US">
                                <a:latin typeface="Cambria Math" panose="02040503050406030204" pitchFamily="18" charset="0"/>
                              </a:rPr>
                              <m:t>m</m:t>
                            </m:r>
                            <m:r>
                              <m:rPr>
                                <m:sty m:val="p"/>
                              </m:rPr>
                              <a:rPr lang="zh-CN" altLang="en-US" i="0">
                                <a:latin typeface="Cambria Math" panose="02040503050406030204" pitchFamily="18" charset="0"/>
                              </a:rPr>
                              <m:t>in</m:t>
                            </m:r>
                          </m:e>
                          <m:e>
                            <m:r>
                              <a:rPr lang="zh-CN" altLang="en-US" i="1">
                                <a:latin typeface="Cambria Math" panose="02040503050406030204" pitchFamily="18" charset="0"/>
                              </a:rPr>
                              <m:t>𝑤</m:t>
                            </m:r>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1</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1</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2</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2</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3</m:t>
                                </m:r>
                              </m:sub>
                            </m:sSub>
                            <m:d>
                              <m:dPr>
                                <m:ctrlPr>
                                  <a:rPr lang="zh-CN" altLang="en-US" i="1">
                                    <a:latin typeface="Cambria Math" panose="02040503050406030204" pitchFamily="18" charset="0"/>
                                  </a:rPr>
                                </m:ctrlPr>
                              </m:dPr>
                              <m:e>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3</m:t>
                                    </m:r>
                                  </m:sub>
                                  <m:sup>
                                    <m:r>
                                      <a:rPr lang="zh-CN" altLang="en-US" i="0">
                                        <a:latin typeface="Cambria Math" panose="02040503050406030204" pitchFamily="18" charset="0"/>
                                      </a:rPr>
                                      <m:t>−</m:t>
                                    </m:r>
                                  </m:sup>
                                </m:sSubSup>
                                <m:r>
                                  <a:rPr lang="zh-CN" altLang="en-US" i="0">
                                    <a:latin typeface="Cambria Math" panose="02040503050406030204" pitchFamily="18" charset="0"/>
                                  </a:rPr>
                                  <m:t>+</m:t>
                                </m:r>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3</m:t>
                                    </m:r>
                                  </m:sub>
                                  <m:sup>
                                    <m:r>
                                      <a:rPr lang="zh-CN" altLang="en-US" i="0">
                                        <a:latin typeface="Cambria Math" panose="02040503050406030204" pitchFamily="18" charset="0"/>
                                      </a:rPr>
                                      <m:t>+</m:t>
                                    </m:r>
                                  </m:sup>
                                </m:sSubSup>
                              </m:e>
                            </m:d>
                            <m:r>
                              <a:rPr lang="zh-CN" altLang="en-US" i="0">
                                <a:latin typeface="Cambria Math" panose="02040503050406030204" pitchFamily="18" charset="0"/>
                              </a:rPr>
                              <m:t>+</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0">
                                    <a:latin typeface="Cambria Math" panose="02040503050406030204" pitchFamily="18" charset="0"/>
                                  </a:rPr>
                                  <m:t>4</m:t>
                                </m:r>
                              </m:sub>
                            </m:sSub>
                            <m:sSubSup>
                              <m:sSubSupPr>
                                <m:ctrlPr>
                                  <a:rPr lang="zh-CN" altLang="en-US" i="1">
                                    <a:latin typeface="Cambria Math" panose="02040503050406030204" pitchFamily="18" charset="0"/>
                                  </a:rPr>
                                </m:ctrlPr>
                              </m:sSubSupPr>
                              <m:e>
                                <m:r>
                                  <a:rPr lang="zh-CN" altLang="en-US" i="1">
                                    <a:latin typeface="Cambria Math" panose="02040503050406030204" pitchFamily="18" charset="0"/>
                                  </a:rPr>
                                  <m:t>𝑑</m:t>
                                </m:r>
                              </m:e>
                              <m:sub>
                                <m:r>
                                  <a:rPr lang="zh-CN" altLang="en-US" i="0">
                                    <a:latin typeface="Cambria Math" panose="02040503050406030204" pitchFamily="18" charset="0"/>
                                  </a:rPr>
                                  <m:t>4</m:t>
                                </m:r>
                              </m:sub>
                              <m:sup>
                                <m:r>
                                  <a:rPr lang="zh-CN" altLang="en-US" i="0">
                                    <a:latin typeface="Cambria Math" panose="02040503050406030204" pitchFamily="18" charset="0"/>
                                  </a:rPr>
                                  <m:t>−</m:t>
                                </m:r>
                              </m:sup>
                            </m:sSubSup>
                          </m:e>
                        </m:mr>
                      </m:m>
                    </m:oMath>
                  </m:oMathPara>
                </a14:m>
                <a:endParaRPr lang="zh-CN" altLang="en-US" dirty="0"/>
              </a:p>
            </p:txBody>
          </p:sp>
        </mc:Choice>
        <mc:Fallback>
          <p:sp>
            <p:nvSpPr>
              <p:cNvPr id="6" name="矩形 5"/>
              <p:cNvSpPr>
                <a:spLocks noRot="1" noChangeAspect="1" noMove="1" noResize="1" noEditPoints="1" noAdjustHandles="1" noChangeArrowheads="1" noChangeShapeType="1" noTextEdit="1"/>
              </p:cNvSpPr>
              <p:nvPr/>
            </p:nvSpPr>
            <p:spPr>
              <a:xfrm>
                <a:off x="3695972" y="1586834"/>
                <a:ext cx="4852035" cy="359410"/>
              </a:xfrm>
              <a:prstGeom prst="rect">
                <a:avLst/>
              </a:prstGeom>
              <a:blipFill rotWithShape="1">
                <a:blip r:embed="rId2"/>
                <a:stretch>
                  <a:fillRect l="-6" t="-168" r="6" b="168"/>
                </a:stretch>
              </a:blipFill>
            </p:spPr>
            <p:txBody>
              <a:bodyPr/>
              <a:lstStyle/>
              <a:p>
                <a:r>
                  <a:rPr lang="zh-CN" altLang="en-US">
                    <a:noFill/>
                  </a:rPr>
                  <a:t> </a:t>
                </a:r>
              </a:p>
            </p:txBody>
          </p:sp>
        </mc:Fallback>
      </mc:AlternateContent>
      <p:sp>
        <p:nvSpPr>
          <p:cNvPr id="1123397" name="Rectangle 69"/>
          <p:cNvSpPr>
            <a:spLocks noGrp="1" noChangeArrowheads="1"/>
          </p:cNvSpPr>
          <p:nvPr>
            <p:ph type="title" idx="4294967295"/>
          </p:nvPr>
        </p:nvSpPr>
        <p:spPr/>
        <p:txBody>
          <a:bodyPr>
            <a:normAutofit/>
          </a:bodyPr>
          <a:lstStyle/>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2054346" y="1700700"/>
            <a:ext cx="6238875" cy="4410075"/>
          </a:xfrm>
          <a:prstGeom prst="rect">
            <a:avLst/>
          </a:prstGeom>
        </p:spPr>
      </p:pic>
      <mc:AlternateContent xmlns:mc="http://schemas.openxmlformats.org/markup-compatibility/2006">
        <mc:Choice xmlns:a14="http://schemas.microsoft.com/office/drawing/2010/main" Requires="a14">
          <p:sp>
            <p:nvSpPr>
              <p:cNvPr id="2" name="矩形 1"/>
              <p:cNvSpPr/>
              <p:nvPr/>
            </p:nvSpPr>
            <p:spPr>
              <a:xfrm>
                <a:off x="6407199" y="1377204"/>
                <a:ext cx="4572000" cy="1998980"/>
              </a:xfrm>
              <a:prstGeom prst="rect">
                <a:avLst/>
              </a:prstGeom>
              <a:solidFill>
                <a:schemeClr val="bg1"/>
              </a:solidFill>
            </p:spPr>
            <p:txBody>
              <a:bodyPr>
                <a:spAutoFit/>
              </a:bodyPr>
              <a:lstStyle/>
              <a:p>
                <a:pPr indent="127000" algn="ctr">
                  <a:lnSpc>
                    <a:spcPct val="115000"/>
                  </a:lnSpc>
                  <a:spcAft>
                    <a:spcPts val="0"/>
                  </a:spcAft>
                </a:pPr>
                <a14:m>
                  <m:oMathPara xmlns:m="http://schemas.openxmlformats.org/officeDocument/2006/math">
                    <m:oMathParaPr>
                      <m:jc m:val="centerGroup"/>
                    </m:oMathParaPr>
                    <m:oMath xmlns:m="http://schemas.openxmlformats.org/officeDocument/2006/math">
                      <m:m>
                        <m:mPr>
                          <m:mcs>
                            <m:mc>
                              <m:mcPr>
                                <m:count m:val="2"/>
                                <m:mcJc m:val="center"/>
                              </m:mcPr>
                            </m:mc>
                          </m:mcs>
                          <m:ctrlPr>
                            <a:rPr lang="zh-CN" altLang="zh-CN" sz="1600" i="1" kern="100">
                              <a:latin typeface="Cambria Math" panose="02040503050406030204" pitchFamily="18" charset="0"/>
                              <a:ea typeface="Cambria Math" panose="02040503050406030204" pitchFamily="18" charset="0"/>
                            </a:rPr>
                          </m:ctrlPr>
                        </m:mPr>
                        <m:mr>
                          <m:e>
                            <m:r>
                              <m:rPr>
                                <m:sty m:val="p"/>
                              </m:rPr>
                              <a:rPr lang="en-US" altLang="zh-CN" sz="1600" kern="100">
                                <a:effectLst/>
                                <a:latin typeface="Cambria Math" panose="02040503050406030204" pitchFamily="18" charset="0"/>
                                <a:ea typeface="宋体" panose="02010600030101010101" pitchFamily="2" charset="-122"/>
                              </a:rPr>
                              <m:t>min</m:t>
                            </m:r>
                          </m:e>
                          <m:e>
                            <m:r>
                              <a:rPr lang="en-US" altLang="zh-CN" sz="1600" i="1" kern="100">
                                <a:effectLst/>
                                <a:latin typeface="Cambria Math" panose="02040503050406030204" pitchFamily="18" charset="0"/>
                                <a:ea typeface="宋体" panose="02010600030101010101" pitchFamily="2" charset="-122"/>
                              </a:rPr>
                              <m:t>𝑤</m:t>
                            </m:r>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1</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1</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2</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2</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3</m:t>
                                </m:r>
                              </m:sub>
                            </m:sSub>
                            <m:d>
                              <m:dPr>
                                <m:ctrlPr>
                                  <a:rPr lang="zh-CN" altLang="zh-CN" sz="1600" i="1" kern="100">
                                    <a:effectLst/>
                                    <a:latin typeface="Cambria Math" panose="02040503050406030204" pitchFamily="18" charset="0"/>
                                    <a:ea typeface="Cambria Math" panose="02040503050406030204" pitchFamily="18" charset="0"/>
                                  </a:rPr>
                                </m:ctrlPr>
                              </m:dPr>
                              <m:e>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3</m:t>
                                    </m:r>
                                  </m:sub>
                                  <m:sup>
                                    <m:r>
                                      <a:rPr lang="en-US" altLang="zh-CN" sz="1600" i="1" kern="100">
                                        <a:effectLst/>
                                        <a:latin typeface="Cambria Math" panose="02040503050406030204" pitchFamily="18" charset="0"/>
                                        <a:ea typeface="宋体" panose="02010600030101010101" pitchFamily="2" charset="-122"/>
                                      </a:rPr>
                                      <m:t>−</m:t>
                                    </m:r>
                                  </m:sup>
                                </m:sSubSup>
                                <m:r>
                                  <a:rPr lang="en-US" altLang="zh-CN" sz="1600" i="1" kern="100">
                                    <a:effectLst/>
                                    <a:latin typeface="Cambria Math" panose="02040503050406030204" pitchFamily="18" charset="0"/>
                                    <a:ea typeface="宋体" panose="02010600030101010101" pitchFamily="2" charset="-122"/>
                                  </a:rPr>
                                  <m:t>+</m:t>
                                </m:r>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3</m:t>
                                    </m:r>
                                  </m:sub>
                                  <m:sup>
                                    <m:r>
                                      <a:rPr lang="en-US" altLang="zh-CN" sz="1600" i="1" kern="100">
                                        <a:effectLst/>
                                        <a:latin typeface="Cambria Math" panose="02040503050406030204" pitchFamily="18" charset="0"/>
                                        <a:ea typeface="宋体" panose="02010600030101010101" pitchFamily="2" charset="-122"/>
                                      </a:rPr>
                                      <m:t>+</m:t>
                                    </m:r>
                                  </m:sup>
                                </m:sSubSup>
                              </m:e>
                            </m:d>
                            <m:r>
                              <a:rPr lang="en-US" altLang="zh-CN" sz="1600" i="1" kern="100">
                                <a:effectLst/>
                                <a:latin typeface="Cambria Math" panose="02040503050406030204" pitchFamily="18" charset="0"/>
                                <a:ea typeface="宋体" panose="02010600030101010101" pitchFamily="2" charset="-122"/>
                              </a:rPr>
                              <m:t>+</m:t>
                            </m:r>
                            <m:sSub>
                              <m:sSubPr>
                                <m:ctrlPr>
                                  <a:rPr lang="zh-CN" altLang="zh-CN" sz="1600" i="1" kern="100">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rPr>
                                  <m:t>𝑃</m:t>
                                </m:r>
                              </m:e>
                              <m:sub>
                                <m:r>
                                  <a:rPr lang="en-US" altLang="zh-CN" sz="1600" i="1" kern="100">
                                    <a:effectLst/>
                                    <a:latin typeface="Cambria Math" panose="02040503050406030204" pitchFamily="18" charset="0"/>
                                    <a:ea typeface="宋体" panose="02010600030101010101" pitchFamily="2" charset="-122"/>
                                  </a:rPr>
                                  <m:t>4</m:t>
                                </m:r>
                              </m:sub>
                            </m:sSub>
                            <m:sSubSup>
                              <m:sSubSupPr>
                                <m:ctrlPr>
                                  <a:rPr lang="zh-CN" altLang="zh-CN" sz="1600" i="1" kern="100">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rPr>
                                  <m:t>𝑑</m:t>
                                </m:r>
                              </m:e>
                              <m:sub>
                                <m:r>
                                  <a:rPr lang="en-US" altLang="zh-CN" sz="1600" i="1" kern="100">
                                    <a:effectLst/>
                                    <a:latin typeface="Cambria Math" panose="02040503050406030204" pitchFamily="18" charset="0"/>
                                    <a:ea typeface="宋体" panose="02010600030101010101" pitchFamily="2" charset="-122"/>
                                  </a:rPr>
                                  <m:t>4</m:t>
                                </m:r>
                              </m:sub>
                              <m:sup>
                                <m:r>
                                  <a:rPr lang="en-US" altLang="zh-CN" sz="1600" i="1" kern="100">
                                    <a:effectLst/>
                                    <a:latin typeface="Cambria Math" panose="02040503050406030204" pitchFamily="18" charset="0"/>
                                    <a:ea typeface="宋体" panose="02010600030101010101" pitchFamily="2" charset="-122"/>
                                  </a:rPr>
                                  <m:t>−</m:t>
                                </m:r>
                              </m:sup>
                            </m:sSubSup>
                          </m:e>
                        </m:mr>
                      </m:m>
                    </m:oMath>
                  </m:oMathPara>
                </a14:m>
                <a:endParaRPr lang="zh-CN" altLang="zh-CN" sz="1600" kern="100" dirty="0">
                  <a:ea typeface="宋体" panose="02010600030101010101" pitchFamily="2" charset="-122"/>
                </a:endParaRPr>
              </a:p>
              <a:p>
                <a14:m>
                  <m:oMathPara xmlns:m="http://schemas.openxmlformats.org/officeDocument/2006/math">
                    <m:oMathParaPr>
                      <m:jc m:val="centerGroup"/>
                    </m:oMathParaPr>
                    <m:oMath xmlns:m="http://schemas.openxmlformats.org/officeDocument/2006/math">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𝑠</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𝑡</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600" i="1">
                              <a:effectLst/>
                              <a:latin typeface="Cambria Math" panose="02040503050406030204" pitchFamily="18" charset="0"/>
                              <a:ea typeface="Cambria Math" panose="02040503050406030204" pitchFamily="18" charset="0"/>
                            </a:rPr>
                          </m:ctrlPr>
                        </m:dPr>
                        <m:e>
                          <m:eqArr>
                            <m:eqArrPr>
                              <m:ctrlPr>
                                <a:rPr lang="zh-CN" altLang="zh-CN" sz="1600" i="1">
                                  <a:effectLst/>
                                  <a:latin typeface="Cambria Math" panose="02040503050406030204" pitchFamily="18" charset="0"/>
                                  <a:ea typeface="Cambria Math" panose="02040503050406030204" pitchFamily="18" charset="0"/>
                                </a:rPr>
                              </m:ctrlPr>
                            </m:eqArr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1200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1000</m:t>
                              </m:r>
                            </m:e>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600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1000</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600000</m:t>
                              </m:r>
                            </m:e>
                            <m:e>
                              <m:m>
                                <m:mPr>
                                  <m:mcs>
                                    <m:mc>
                                      <m:mcPr>
                                        <m:count m:val="1"/>
                                        <m:mcJc m:val="center"/>
                                      </m:mcPr>
                                    </m:mc>
                                  </m:mcs>
                                  <m:ctrlPr>
                                    <a:rPr lang="zh-CN" altLang="zh-CN" sz="1600" i="1">
                                      <a:effectLst/>
                                      <a:latin typeface="Cambria Math" panose="02040503050406030204" pitchFamily="18" charset="0"/>
                                      <a:ea typeface="Cambria Math" panose="02040503050406030204" pitchFamily="18" charset="0"/>
                                    </a:rPr>
                                  </m:ctrlPr>
                                </m:mPr>
                                <m:mr>
                                  <m:e>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1600" i="1">
                                            <a:effectLst/>
                                            <a:latin typeface="Cambria Math" panose="02040503050406030204" pitchFamily="18" charset="0"/>
                                            <a:ea typeface="Cambria Math" panose="02040503050406030204" pitchFamily="18" charset="0"/>
                                          </a:rPr>
                                        </m:ctrlPr>
                                      </m:sSub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e>
                                </m:mr>
                                <m:mr>
                                  <m:e>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SubSup>
                                      <m:sSubSupPr>
                                        <m:ctrlPr>
                                          <a:rPr lang="zh-CN" altLang="zh-CN" sz="1600" i="1">
                                            <a:effectLst/>
                                            <a:latin typeface="Cambria Math" panose="02040503050406030204" pitchFamily="18" charset="0"/>
                                            <a:ea typeface="Cambria Math" panose="02040503050406030204" pitchFamily="18" charset="0"/>
                                          </a:rPr>
                                        </m:ctrlPr>
                                      </m:sSubSupPr>
                                      <m:e>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𝑑</m:t>
                                        </m:r>
                                      </m:e>
                                      <m:sub>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sub>
                                      <m: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sup>
                                    </m:sSubSup>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0</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1</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3</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4</m:t>
                                    </m:r>
                                    <m:r>
                                      <a:rPr lang="en-US" altLang="zh-CN" sz="1600" i="1" kern="100">
                                        <a:effectLst/>
                                        <a:latin typeface="Cambria Math" panose="02040503050406030204" pitchFamily="18" charset="0"/>
                                        <a:ea typeface="宋体" panose="02010600030101010101" pitchFamily="2" charset="-122"/>
                                        <a:cs typeface="Times New Roman" panose="02020603050405020304" pitchFamily="18" charset="0"/>
                                      </a:rPr>
                                      <m:t>  </m:t>
                                    </m:r>
                                  </m:e>
                                </m:mr>
                              </m:m>
                            </m:e>
                          </m:eqArr>
                        </m:e>
                      </m:d>
                    </m:oMath>
                  </m:oMathPara>
                </a14:m>
                <a:endParaRPr lang="zh-CN" altLang="en-US" sz="1600" dirty="0"/>
              </a:p>
            </p:txBody>
          </p:sp>
        </mc:Choice>
        <mc:Fallback>
          <p:sp>
            <p:nvSpPr>
              <p:cNvPr id="2" name="矩形 1"/>
              <p:cNvSpPr>
                <a:spLocks noRot="1" noChangeAspect="1" noMove="1" noResize="1" noEditPoints="1" noAdjustHandles="1" noChangeArrowheads="1" noChangeShapeType="1" noTextEdit="1"/>
              </p:cNvSpPr>
              <p:nvPr/>
            </p:nvSpPr>
            <p:spPr>
              <a:xfrm>
                <a:off x="6407199" y="1377204"/>
                <a:ext cx="4572000" cy="1998980"/>
              </a:xfrm>
              <a:prstGeom prst="rect">
                <a:avLst/>
              </a:prstGeom>
              <a:blipFill rotWithShape="1">
                <a:blip r:embed="rId2"/>
                <a:stretch>
                  <a:fillRect l="-1" t="-26" r="1" b="26"/>
                </a:stretch>
              </a:blipFill>
            </p:spPr>
            <p:txBody>
              <a:bodyPr/>
              <a:lstStyle/>
              <a:p>
                <a:r>
                  <a:rPr lang="zh-CN" altLang="en-US">
                    <a:noFill/>
                  </a:rPr>
                  <a:t> </a:t>
                </a:r>
              </a:p>
            </p:txBody>
          </p:sp>
        </mc:Fallback>
      </mc:AlternateContent>
      <p:sp>
        <p:nvSpPr>
          <p:cNvPr id="4" name="矩形 3"/>
          <p:cNvSpPr/>
          <p:nvPr/>
        </p:nvSpPr>
        <p:spPr>
          <a:xfrm>
            <a:off x="7709309" y="4330672"/>
            <a:ext cx="1940560" cy="368300"/>
          </a:xfrm>
          <a:prstGeom prst="rect">
            <a:avLst/>
          </a:prstGeom>
        </p:spPr>
        <p:txBody>
          <a:bodyPr wrap="none">
            <a:spAutoFit/>
          </a:bodyPr>
          <a:lstStyle/>
          <a:p>
            <a:r>
              <a:rPr lang="zh-CN" altLang="zh-CN" kern="100" dirty="0">
                <a:solidFill>
                  <a:srgbClr val="C00000"/>
                </a:solidFill>
                <a:ea typeface="宋体" panose="02010600030101010101" pitchFamily="2" charset="-122"/>
                <a:cs typeface="Times New Roman" panose="02020603050405020304" pitchFamily="18" charset="0"/>
              </a:rPr>
              <a:t>最优解对应于点</a:t>
            </a:r>
            <a:r>
              <a:rPr lang="en-US" altLang="zh-CN" kern="100" dirty="0">
                <a:solidFill>
                  <a:srgbClr val="C00000"/>
                </a:solidFill>
                <a:ea typeface="宋体" panose="02010600030101010101" pitchFamily="2" charset="-122"/>
              </a:rPr>
              <a:t>D</a:t>
            </a:r>
            <a:endParaRPr lang="zh-CN" altLang="en-US" dirty="0">
              <a:solidFill>
                <a:srgbClr val="C00000"/>
              </a:solidFill>
            </a:endParaRPr>
          </a:p>
        </p:txBody>
      </p:sp>
      <p:sp>
        <p:nvSpPr>
          <p:cNvPr id="1123397" name="Rectangle 69"/>
          <p:cNvSpPr>
            <a:spLocks noGrp="1" noChangeArrowheads="1"/>
          </p:cNvSpPr>
          <p:nvPr>
            <p:ph type="title" idx="4294967295"/>
          </p:nvPr>
        </p:nvSpPr>
        <p:spPr/>
        <p:txBody>
          <a:bodyPr>
            <a:normAutofit/>
          </a:bodyPr>
          <a:p>
            <a:r>
              <a:rPr lang="zh-CN" altLang="en-US">
                <a:latin typeface="华文楷体" panose="02010600040101010101" charset="-122"/>
                <a:ea typeface="华文楷体" panose="02010600040101010101" charset="-122"/>
                <a:cs typeface="华文楷体" panose="02010600040101010101" charset="-122"/>
              </a:rPr>
              <a:t>有优先权的目标规划的图解法</a:t>
            </a:r>
            <a:r>
              <a:rPr lang="en-US" altLang="zh-CN">
                <a:latin typeface="华文楷体" panose="02010600040101010101" charset="-122"/>
                <a:ea typeface="华文楷体" panose="02010600040101010101" charset="-122"/>
                <a:cs typeface="华文楷体" panose="02010600040101010101" charset="-122"/>
              </a:rPr>
              <a:t>-</a:t>
            </a:r>
            <a:r>
              <a:rPr lang="zh-CN" altLang="en-US">
                <a:latin typeface="华文楷体" panose="02010600040101010101" charset="-122"/>
                <a:ea typeface="华文楷体" panose="02010600040101010101" charset="-122"/>
                <a:cs typeface="华文楷体" panose="02010600040101010101" charset="-122"/>
              </a:rPr>
              <a:t>化肥生产</a:t>
            </a:r>
            <a:endParaRPr lang="zh-CN" altLang="en-US"/>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sym typeface="+mn-ea"/>
              </a:rPr>
              <a:t>考试重点 </a:t>
            </a:r>
            <a:r>
              <a:rPr lang="en-US" altLang="zh-CN" dirty="0">
                <a:sym typeface="+mn-ea"/>
              </a:rPr>
              <a:t>– </a:t>
            </a:r>
            <a:r>
              <a:rPr lang="zh-CN" altLang="en-US" dirty="0">
                <a:sym typeface="+mn-ea"/>
              </a:rPr>
              <a:t>动态规划</a:t>
            </a:r>
            <a:endParaRPr lang="en-US" dirty="0"/>
          </a:p>
        </p:txBody>
      </p:sp>
      <p:sp>
        <p:nvSpPr>
          <p:cNvPr id="3" name="Content Placeholder 2"/>
          <p:cNvSpPr>
            <a:spLocks noGrp="1"/>
          </p:cNvSpPr>
          <p:nvPr>
            <p:ph idx="1"/>
          </p:nvPr>
        </p:nvSpPr>
        <p:spPr/>
        <p:txBody>
          <a:bodyPr>
            <a:normAutofit lnSpcReduction="10000"/>
          </a:bodyPr>
          <a:lstStyle/>
          <a:p>
            <a:r>
              <a:rPr lang="zh-CN" altLang="en-US"/>
              <a:t>多阶段决策过程最优化问题的求解思路</a:t>
            </a:r>
            <a:endParaRPr lang="zh-CN" altLang="en-US"/>
          </a:p>
          <a:p>
            <a:r>
              <a:rPr lang="zh-CN" altLang="en-US"/>
              <a:t>动态规划的基本概念、基本方程与最优化原理</a:t>
            </a:r>
            <a:endParaRPr lang="zh-CN" altLang="en-US"/>
          </a:p>
          <a:p>
            <a:pPr marL="685800" lvl="1" indent="-228600">
              <a:buFont typeface="Arial" panose="020B0604020202020204" pitchFamily="34" charset="0"/>
              <a:buChar char="•"/>
            </a:pPr>
            <a:r>
              <a:rPr lang="zh-CN" altLang="en-US">
                <a:solidFill>
                  <a:schemeClr val="tx1"/>
                </a:solidFill>
              </a:rPr>
              <a:t>基本概念和基本方程的</a:t>
            </a:r>
            <a:r>
              <a:rPr lang="zh-CN" altLang="en-US">
                <a:solidFill>
                  <a:schemeClr val="tx1"/>
                </a:solidFill>
              </a:rPr>
              <a:t>理解</a:t>
            </a:r>
            <a:endParaRPr lang="zh-CN" altLang="en-US">
              <a:solidFill>
                <a:schemeClr val="tx1"/>
              </a:solidFill>
            </a:endParaRPr>
          </a:p>
          <a:p>
            <a:pPr marL="685800" lvl="1" indent="-228600">
              <a:buFont typeface="Arial" panose="020B0604020202020204" pitchFamily="34" charset="0"/>
              <a:buChar char="•"/>
            </a:pPr>
            <a:r>
              <a:rPr lang="zh-CN" altLang="en-US">
                <a:solidFill>
                  <a:schemeClr val="tx1"/>
                </a:solidFill>
              </a:rPr>
              <a:t>结合基本概念和基本方程构建动态规划</a:t>
            </a:r>
            <a:r>
              <a:rPr lang="zh-CN" altLang="en-US">
                <a:solidFill>
                  <a:schemeClr val="tx1"/>
                </a:solidFill>
              </a:rPr>
              <a:t>模型</a:t>
            </a:r>
            <a:endParaRPr lang="zh-CN" altLang="en-US">
              <a:solidFill>
                <a:schemeClr val="tx1"/>
              </a:solidFill>
            </a:endParaRPr>
          </a:p>
          <a:p>
            <a:r>
              <a:rPr lang="zh-CN" altLang="en-US">
                <a:solidFill>
                  <a:srgbClr val="FF0000"/>
                </a:solidFill>
              </a:rPr>
              <a:t>动态规划的应用（计算）</a:t>
            </a:r>
            <a:endParaRPr lang="en-US" altLang="zh-CN" dirty="0">
              <a:solidFill>
                <a:srgbClr val="FF0000"/>
              </a:solidFill>
            </a:endParaRPr>
          </a:p>
          <a:p>
            <a:pPr lvl="1"/>
            <a:r>
              <a:rPr lang="zh-CN" altLang="en-US" dirty="0"/>
              <a:t>离散确定性动态规划（资源分配问题、背包问题、生成与存储问题、系统可靠性</a:t>
            </a:r>
            <a:r>
              <a:rPr lang="zh-CN" altLang="en-US" dirty="0"/>
              <a:t>问题）</a:t>
            </a:r>
            <a:endParaRPr lang="zh-CN" altLang="en-US" dirty="0"/>
          </a:p>
          <a:p>
            <a:pPr lvl="1"/>
            <a:r>
              <a:rPr lang="zh-CN" altLang="en-US" dirty="0">
                <a:sym typeface="+mn-ea"/>
              </a:rPr>
              <a:t>连续确定性动态规划（机器负荷分配</a:t>
            </a:r>
            <a:r>
              <a:rPr lang="zh-CN" altLang="en-US" dirty="0">
                <a:sym typeface="+mn-ea"/>
              </a:rPr>
              <a:t>问题）</a:t>
            </a:r>
            <a:endParaRPr lang="zh-CN" altLang="en-US" dirty="0"/>
          </a:p>
          <a:p>
            <a:pPr lvl="1"/>
            <a:r>
              <a:rPr lang="zh-CN" altLang="en-US" dirty="0">
                <a:solidFill>
                  <a:schemeClr val="tx1"/>
                </a:solidFill>
              </a:rPr>
              <a:t>离散随机性动态规划</a:t>
            </a:r>
            <a:r>
              <a:rPr lang="zh-CN" altLang="en-US" dirty="0">
                <a:sym typeface="+mn-ea"/>
              </a:rPr>
              <a:t>（产品研发问题、随机采购</a:t>
            </a:r>
            <a:r>
              <a:rPr lang="zh-CN" altLang="en-US" dirty="0">
                <a:sym typeface="+mn-ea"/>
              </a:rPr>
              <a:t>问题）</a:t>
            </a:r>
            <a:endParaRPr lang="zh-CN" altLang="en-US" dirty="0"/>
          </a:p>
          <a:p>
            <a:pPr lvl="1"/>
            <a:r>
              <a:rPr lang="zh-CN" altLang="en-US" dirty="0"/>
              <a:t>运用动态规划求解一般线性</a:t>
            </a:r>
            <a:r>
              <a:rPr lang="zh-CN" altLang="en-US" dirty="0"/>
              <a:t>规划</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决策分析</a:t>
            </a:r>
            <a:endParaRPr lang="zh-CN" altLang="en-US" dirty="0"/>
          </a:p>
        </p:txBody>
      </p:sp>
      <p:sp>
        <p:nvSpPr>
          <p:cNvPr id="3" name="内容占位符 2"/>
          <p:cNvSpPr>
            <a:spLocks noGrp="1"/>
          </p:cNvSpPr>
          <p:nvPr>
            <p:ph idx="1"/>
          </p:nvPr>
        </p:nvSpPr>
        <p:spPr>
          <a:xfrm>
            <a:off x="838200" y="1301115"/>
            <a:ext cx="10515600" cy="4876165"/>
          </a:xfrm>
        </p:spPr>
        <p:txBody>
          <a:bodyPr>
            <a:noAutofit/>
          </a:bodyPr>
          <a:lstStyle/>
          <a:p>
            <a:r>
              <a:rPr lang="zh-CN" altLang="en-US" sz="1300" dirty="0">
                <a:solidFill>
                  <a:srgbClr val="FF0000"/>
                </a:solidFill>
                <a:sym typeface="+mn-ea"/>
              </a:rPr>
              <a:t>决策分析概述（判断）</a:t>
            </a:r>
            <a:endParaRPr lang="en-US" altLang="zh-CN" sz="1300" dirty="0">
              <a:solidFill>
                <a:srgbClr val="FF0000"/>
              </a:solidFill>
            </a:endParaRPr>
          </a:p>
          <a:p>
            <a:pPr lvl="1"/>
            <a:r>
              <a:rPr lang="zh-CN" altLang="en-US" sz="1300" dirty="0">
                <a:solidFill>
                  <a:srgbClr val="FF0000"/>
                </a:solidFill>
                <a:sym typeface="+mn-ea"/>
              </a:rPr>
              <a:t>决策问题由哪些要素组成？</a:t>
            </a:r>
            <a:endParaRPr lang="en-US" altLang="zh-CN" sz="1300" dirty="0">
              <a:solidFill>
                <a:srgbClr val="FF0000"/>
              </a:solidFill>
            </a:endParaRPr>
          </a:p>
          <a:p>
            <a:pPr lvl="1"/>
            <a:r>
              <a:rPr lang="zh-CN" altLang="en-US" sz="1300" dirty="0">
                <a:solidFill>
                  <a:srgbClr val="FF0000"/>
                </a:solidFill>
                <a:sym typeface="+mn-ea"/>
              </a:rPr>
              <a:t>决策问题分为哪些类型？</a:t>
            </a:r>
            <a:endParaRPr lang="en-US" altLang="zh-CN" sz="1300" dirty="0"/>
          </a:p>
          <a:p>
            <a:r>
              <a:rPr lang="zh-CN" altLang="en-US" sz="1300" dirty="0">
                <a:sym typeface="+mn-ea"/>
              </a:rPr>
              <a:t>确定型决策问题</a:t>
            </a:r>
            <a:endParaRPr lang="en-US" altLang="zh-CN" sz="1300" dirty="0"/>
          </a:p>
          <a:p>
            <a:pPr lvl="1"/>
            <a:r>
              <a:rPr lang="zh-CN" altLang="en-US" sz="1300" dirty="0">
                <a:solidFill>
                  <a:schemeClr val="tx1"/>
                </a:solidFill>
                <a:sym typeface="+mn-ea"/>
              </a:rPr>
              <a:t>我们学习过的模型中有哪些属于确定型决策？</a:t>
            </a:r>
            <a:endParaRPr lang="en-US" altLang="zh-CN" sz="1300" dirty="0">
              <a:solidFill>
                <a:schemeClr val="tx1"/>
              </a:solidFill>
            </a:endParaRPr>
          </a:p>
          <a:p>
            <a:r>
              <a:rPr lang="zh-CN" altLang="en-US" sz="1300" dirty="0">
                <a:solidFill>
                  <a:schemeClr val="tx1"/>
                </a:solidFill>
                <a:sym typeface="+mn-ea"/>
              </a:rPr>
              <a:t>不确定型决策问题</a:t>
            </a:r>
            <a:endParaRPr lang="en-US" altLang="zh-CN" sz="1300" dirty="0">
              <a:solidFill>
                <a:schemeClr val="tx1"/>
              </a:solidFill>
            </a:endParaRPr>
          </a:p>
          <a:p>
            <a:pPr lvl="1"/>
            <a:r>
              <a:rPr lang="zh-CN" altLang="en-US" sz="1300" dirty="0">
                <a:solidFill>
                  <a:schemeClr val="tx1"/>
                </a:solidFill>
                <a:sym typeface="+mn-ea"/>
              </a:rPr>
              <a:t>不确定型决策需要具备以下哪几种要素？</a:t>
            </a:r>
            <a:endParaRPr lang="en-US" altLang="zh-CN" sz="1300" dirty="0">
              <a:solidFill>
                <a:schemeClr val="tx1"/>
              </a:solidFill>
            </a:endParaRPr>
          </a:p>
          <a:p>
            <a:pPr lvl="1"/>
            <a:r>
              <a:rPr lang="zh-CN" altLang="en-US" sz="1300" dirty="0">
                <a:solidFill>
                  <a:schemeClr val="tx1"/>
                </a:solidFill>
                <a:sym typeface="+mn-ea"/>
              </a:rPr>
              <a:t>最大最大、最大最小、等可能、乐观系数、后悔值准则如何计算</a:t>
            </a:r>
            <a:endParaRPr lang="en-US" altLang="zh-CN" sz="1300" dirty="0">
              <a:solidFill>
                <a:schemeClr val="tx1"/>
              </a:solidFill>
            </a:endParaRPr>
          </a:p>
          <a:p>
            <a:r>
              <a:rPr lang="zh-CN" altLang="en-US" sz="1300" dirty="0">
                <a:solidFill>
                  <a:srgbClr val="FF0000"/>
                </a:solidFill>
                <a:sym typeface="+mn-ea"/>
              </a:rPr>
              <a:t>风险型决策问题（判断、</a:t>
            </a:r>
            <a:r>
              <a:rPr lang="zh-CN" altLang="en-US" sz="1300" dirty="0">
                <a:solidFill>
                  <a:srgbClr val="FF0000"/>
                </a:solidFill>
                <a:sym typeface="+mn-ea"/>
              </a:rPr>
              <a:t>计算）</a:t>
            </a:r>
            <a:endParaRPr lang="zh-CN" altLang="en-US" sz="1300" dirty="0">
              <a:solidFill>
                <a:srgbClr val="FF0000"/>
              </a:solidFill>
              <a:sym typeface="+mn-ea"/>
            </a:endParaRPr>
          </a:p>
          <a:p>
            <a:pPr marL="685800" lvl="1" indent="-228600">
              <a:buFont typeface="Arial" panose="020B0604020202020204" pitchFamily="34" charset="0"/>
              <a:buChar char="•"/>
            </a:pPr>
            <a:r>
              <a:rPr lang="zh-CN" altLang="en-US" sz="1300" dirty="0">
                <a:solidFill>
                  <a:schemeClr val="tx1"/>
                </a:solidFill>
                <a:sym typeface="+mn-ea"/>
              </a:rPr>
              <a:t>风险型决策需要具备以下哪几种要素</a:t>
            </a:r>
            <a:endParaRPr lang="en-US" altLang="zh-CN" sz="1300" dirty="0">
              <a:solidFill>
                <a:schemeClr val="tx1"/>
              </a:solidFill>
            </a:endParaRPr>
          </a:p>
          <a:p>
            <a:pPr lvl="1"/>
            <a:r>
              <a:rPr lang="zh-CN" altLang="en-US" sz="1300" dirty="0">
                <a:solidFill>
                  <a:srgbClr val="FF0000"/>
                </a:solidFill>
                <a:sym typeface="+mn-ea"/>
              </a:rPr>
              <a:t>期望值准则</a:t>
            </a:r>
            <a:endParaRPr lang="en-US" altLang="zh-CN" sz="1300" dirty="0">
              <a:solidFill>
                <a:srgbClr val="FF0000"/>
              </a:solidFill>
            </a:endParaRPr>
          </a:p>
          <a:p>
            <a:pPr lvl="1"/>
            <a:r>
              <a:rPr lang="zh-CN" altLang="en-US" sz="1300" dirty="0">
                <a:sym typeface="+mn-ea"/>
              </a:rPr>
              <a:t>决策树分析</a:t>
            </a:r>
            <a:endParaRPr lang="en-US" altLang="zh-CN" sz="1300" dirty="0"/>
          </a:p>
          <a:p>
            <a:pPr lvl="1"/>
            <a:r>
              <a:rPr lang="zh-CN" altLang="en-US" sz="1300" dirty="0">
                <a:solidFill>
                  <a:srgbClr val="FF0000"/>
                </a:solidFill>
                <a:sym typeface="+mn-ea"/>
              </a:rPr>
              <a:t>全情报价值的定义</a:t>
            </a:r>
            <a:endParaRPr lang="en-US" altLang="zh-CN" sz="1300" dirty="0"/>
          </a:p>
          <a:p>
            <a:pPr lvl="1"/>
            <a:r>
              <a:rPr lang="zh-CN" altLang="en-US" sz="1300" dirty="0">
                <a:solidFill>
                  <a:srgbClr val="FF0000"/>
                </a:solidFill>
                <a:sym typeface="+mn-ea"/>
              </a:rPr>
              <a:t>如何计算样本情报价值及其效率</a:t>
            </a:r>
            <a:endParaRPr lang="en-US" altLang="zh-CN" sz="1300" dirty="0">
              <a:solidFill>
                <a:srgbClr val="FF0000"/>
              </a:solidFill>
            </a:endParaRPr>
          </a:p>
          <a:p>
            <a:pPr lvl="1"/>
            <a:r>
              <a:rPr lang="zh-CN" altLang="en-US" sz="1300" dirty="0">
                <a:sym typeface="+mn-ea"/>
              </a:rPr>
              <a:t>如何根据等价概率计算收益值对应的效用？</a:t>
            </a:r>
            <a:endParaRPr lang="en-US" altLang="zh-CN" sz="1300" dirty="0"/>
          </a:p>
          <a:p>
            <a:r>
              <a:rPr lang="zh-CN" altLang="en-US" sz="1300" dirty="0">
                <a:sym typeface="+mn-ea"/>
              </a:rPr>
              <a:t>层次分析法</a:t>
            </a:r>
            <a:endParaRPr lang="en-US" altLang="zh-CN" sz="1300" dirty="0"/>
          </a:p>
          <a:p>
            <a:pPr lvl="1"/>
            <a:r>
              <a:rPr lang="zh-CN" altLang="en-US" sz="1300" dirty="0">
                <a:sym typeface="+mn-ea"/>
              </a:rPr>
              <a:t>如何计算特征向量</a:t>
            </a:r>
            <a:endParaRPr lang="en-US" altLang="zh-CN" sz="1300" dirty="0"/>
          </a:p>
          <a:p>
            <a:pPr lvl="1"/>
            <a:r>
              <a:rPr lang="zh-CN" altLang="en-US" sz="1300" dirty="0">
                <a:sym typeface="+mn-ea"/>
              </a:rPr>
              <a:t>如何验证两两比较矩阵的一致性</a:t>
            </a:r>
            <a:endParaRPr lang="en-US" altLang="zh-CN" sz="1300" dirty="0"/>
          </a:p>
          <a:p>
            <a:pPr lvl="1"/>
            <a:r>
              <a:rPr lang="zh-CN" altLang="en-US" sz="1300" dirty="0">
                <a:sym typeface="+mn-ea"/>
              </a:rPr>
              <a:t>如何给最终方案排序</a:t>
            </a:r>
            <a:endParaRPr lang="zh-CN" altLang="en-US" sz="1300" dirty="0">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考试重点 </a:t>
            </a:r>
            <a:r>
              <a:rPr lang="en-US" altLang="zh-CN" dirty="0"/>
              <a:t>– </a:t>
            </a:r>
            <a:r>
              <a:rPr lang="zh-CN" altLang="en-US" dirty="0"/>
              <a:t>图与网络</a:t>
            </a:r>
            <a:endParaRPr lang="zh-CN" altLang="en-US" dirty="0"/>
          </a:p>
        </p:txBody>
      </p:sp>
      <p:sp>
        <p:nvSpPr>
          <p:cNvPr id="3" name="内容占位符 2"/>
          <p:cNvSpPr>
            <a:spLocks noGrp="1"/>
          </p:cNvSpPr>
          <p:nvPr>
            <p:ph idx="1"/>
          </p:nvPr>
        </p:nvSpPr>
        <p:spPr/>
        <p:txBody>
          <a:bodyPr/>
          <a:lstStyle/>
          <a:p>
            <a:r>
              <a:rPr lang="zh-CN" altLang="en-US" dirty="0"/>
              <a:t>图的基本概念</a:t>
            </a:r>
            <a:endParaRPr lang="en-US" altLang="zh-CN" dirty="0"/>
          </a:p>
          <a:p>
            <a:r>
              <a:rPr lang="zh-CN" altLang="en-US" dirty="0"/>
              <a:t>最小生成树</a:t>
            </a:r>
            <a:endParaRPr lang="en-US" altLang="zh-CN" dirty="0"/>
          </a:p>
          <a:p>
            <a:r>
              <a:rPr lang="zh-CN" altLang="en-US" dirty="0"/>
              <a:t>最短路径问题</a:t>
            </a:r>
            <a:endParaRPr lang="en-US" altLang="zh-CN" dirty="0"/>
          </a:p>
          <a:p>
            <a:r>
              <a:rPr lang="zh-CN" altLang="en-US" dirty="0"/>
              <a:t>最大流与最小费最大流</a:t>
            </a:r>
            <a:endParaRPr lang="en-US" altLang="zh-CN" dirty="0"/>
          </a:p>
          <a:p>
            <a:pPr lvl="1"/>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152650" y="1351915"/>
            <a:ext cx="7886700" cy="3377565"/>
          </a:xfrm>
        </p:spPr>
        <p:txBody>
          <a:bodyPr/>
          <a:lstStyle/>
          <a:p>
            <a:pPr marL="0" indent="0">
              <a:buNone/>
            </a:pPr>
            <a:endParaRPr lang="zh-CN" altLang="en-US">
              <a:solidFill>
                <a:schemeClr val="tx1"/>
              </a:solidFill>
              <a:latin typeface="Times New Roman" panose="02020603050405020304" pitchFamily="18" charset="0"/>
              <a:ea typeface="仿宋" panose="02010609060101010101" pitchFamily="49" charset="-122"/>
              <a:cs typeface="+mj-cs"/>
              <a:sym typeface="+mn-ea"/>
            </a:endParaRPr>
          </a:p>
          <a:p>
            <a:pPr marL="0" indent="0">
              <a:buNone/>
            </a:pPr>
            <a:endParaRPr lang="zh-CN" altLang="en-US">
              <a:solidFill>
                <a:schemeClr val="tx1"/>
              </a:solidFill>
              <a:latin typeface="Times New Roman" panose="02020603050405020304" pitchFamily="18" charset="0"/>
              <a:ea typeface="仿宋" panose="02010609060101010101" pitchFamily="49" charset="-122"/>
              <a:cs typeface="+mj-cs"/>
              <a:sym typeface="+mn-ea"/>
            </a:endParaRPr>
          </a:p>
          <a:p>
            <a:pPr marL="0" indent="0" algn="ctr">
              <a:buNone/>
            </a:pPr>
            <a:r>
              <a:rPr lang="zh-CN" altLang="en-US">
                <a:solidFill>
                  <a:schemeClr val="tx1"/>
                </a:solidFill>
                <a:latin typeface="Times New Roman" panose="02020603050405020304" pitchFamily="18" charset="0"/>
                <a:ea typeface="仿宋" panose="02010609060101010101" pitchFamily="49" charset="-122"/>
                <a:cs typeface="+mj-cs"/>
                <a:sym typeface="+mn-ea"/>
              </a:rPr>
              <a:t>祝大家考试顺利！</a:t>
            </a:r>
            <a:endParaRPr lang="zh-CN" altLang="en-US" kern="1200">
              <a:solidFill>
                <a:schemeClr val="tx1"/>
              </a:solidFill>
              <a:latin typeface="Times New Roman" panose="02020603050405020304" pitchFamily="18" charset="0"/>
              <a:ea typeface="仿宋" panose="02010609060101010101" pitchFamily="49" charset="-122"/>
              <a:cs typeface="+mj-cs"/>
            </a:endParaRPr>
          </a:p>
          <a:p>
            <a:pPr marL="0" indent="0">
              <a:buNone/>
            </a:pPr>
            <a:endParaRPr lang="zh-CN" altLang="en-US" kern="1200">
              <a:solidFill>
                <a:schemeClr val="tx1"/>
              </a:solidFill>
              <a:latin typeface="Times New Roman" panose="02020603050405020304" pitchFamily="18" charset="0"/>
              <a:ea typeface="仿宋" panose="02010609060101010101" pitchFamily="49" charset="-122"/>
              <a:cs typeface="+mj-cs"/>
            </a:endParaRPr>
          </a:p>
        </p:txBody>
      </p:sp>
      <p:sp>
        <p:nvSpPr>
          <p:cNvPr id="4" name="日期占位符 3"/>
          <p:cNvSpPr>
            <a:spLocks noGrp="1"/>
          </p:cNvSpPr>
          <p:nvPr>
            <p:ph type="dt" sz="half" idx="10"/>
          </p:nvPr>
        </p:nvSpPr>
        <p:spPr/>
        <p:txBody>
          <a:bodyPr/>
          <a:lstStyle/>
          <a:p>
            <a:fld id="{74634FD6-E854-E649-BF94-A1E9E014DA3B}" type="datetime1">
              <a:rPr kumimoji="1" lang="zh-CN" altLang="en-US" smtClean="0"/>
            </a:fld>
            <a:endParaRPr kumimoji="1" lang="zh-CN" altLang="en-US"/>
          </a:p>
        </p:txBody>
      </p:sp>
      <p:sp>
        <p:nvSpPr>
          <p:cNvPr id="6" name="灯片编号占位符 5"/>
          <p:cNvSpPr>
            <a:spLocks noGrp="1"/>
          </p:cNvSpPr>
          <p:nvPr>
            <p:ph type="sldNum" sz="quarter" idx="12"/>
          </p:nvPr>
        </p:nvSpPr>
        <p:spPr/>
        <p:txBody>
          <a:bodyPr/>
          <a:lstStyle/>
          <a:p>
            <a:fld id="{8153EC3C-4D25-9D4F-BFDE-69280842F551}" type="slidenum">
              <a:rPr kumimoji="1" lang="zh-CN" altLang="en-US" smtClean="0"/>
            </a:fld>
            <a:endParaRPr kumimoji="1" lang="zh-CN" altLang="en-US"/>
          </a:p>
        </p:txBody>
      </p:sp>
    </p:spTree>
  </p:cSld>
  <p:clrMapOvr>
    <a:masterClrMapping/>
  </p:clrMapOvr>
</p:sld>
</file>

<file path=ppt/theme/theme1.xml><?xml version="1.0" encoding="utf-8"?>
<a:theme xmlns:a="http://schemas.openxmlformats.org/drawingml/2006/main" name="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主题1">
  <a:themeElements>
    <a:clrScheme name="自定义 6">
      <a:dk1>
        <a:sysClr val="windowText" lastClr="000000"/>
      </a:dk1>
      <a:lt1>
        <a:sysClr val="window" lastClr="FFFFFF"/>
      </a:lt1>
      <a:dk2>
        <a:srgbClr val="44546A"/>
      </a:dk2>
      <a:lt2>
        <a:srgbClr val="E7E6E6"/>
      </a:lt2>
      <a:accent1>
        <a:srgbClr val="006D39"/>
      </a:accent1>
      <a:accent2>
        <a:srgbClr val="008F77"/>
      </a:accent2>
      <a:accent3>
        <a:srgbClr val="ED7D31"/>
      </a:accent3>
      <a:accent4>
        <a:srgbClr val="FFC000"/>
      </a:accent4>
      <a:accent5>
        <a:srgbClr val="5B9BD5"/>
      </a:accent5>
      <a:accent6>
        <a:srgbClr val="F4F9F1"/>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4579</Words>
  <Application>WPS 演示</Application>
  <PresentationFormat>Widescreen</PresentationFormat>
  <Paragraphs>411</Paragraphs>
  <Slides>24</Slides>
  <Notes>0</Notes>
  <HiddenSlides>11</HiddenSlides>
  <MMClips>0</MMClips>
  <ScaleCrop>false</ScaleCrop>
  <HeadingPairs>
    <vt:vector size="6" baseType="variant">
      <vt:variant>
        <vt:lpstr>已用的字体</vt:lpstr>
      </vt:variant>
      <vt:variant>
        <vt:i4>21</vt:i4>
      </vt:variant>
      <vt:variant>
        <vt:lpstr>主题</vt:lpstr>
      </vt:variant>
      <vt:variant>
        <vt:i4>4</vt:i4>
      </vt:variant>
      <vt:variant>
        <vt:lpstr>幻灯片标题</vt:lpstr>
      </vt:variant>
      <vt:variant>
        <vt:i4>24</vt:i4>
      </vt:variant>
    </vt:vector>
  </HeadingPairs>
  <TitlesOfParts>
    <vt:vector size="49" baseType="lpstr">
      <vt:lpstr>Arial</vt:lpstr>
      <vt:lpstr>宋体</vt:lpstr>
      <vt:lpstr>Wingdings</vt:lpstr>
      <vt:lpstr>微软雅黑</vt:lpstr>
      <vt:lpstr>DIN Light</vt:lpstr>
      <vt:lpstr>微软雅黑 Light</vt:lpstr>
      <vt:lpstr>楷体</vt:lpstr>
      <vt:lpstr>等线</vt:lpstr>
      <vt:lpstr>Segoe UI Light</vt:lpstr>
      <vt:lpstr>Times New Roman</vt:lpstr>
      <vt:lpstr>华文楷体</vt:lpstr>
      <vt:lpstr>Calibri</vt:lpstr>
      <vt:lpstr>Arial</vt:lpstr>
      <vt:lpstr>仿宋</vt:lpstr>
      <vt:lpstr>楷体_GB2312</vt:lpstr>
      <vt:lpstr>新宋体</vt:lpstr>
      <vt:lpstr>Cambria Math</vt:lpstr>
      <vt:lpstr>Courant</vt:lpstr>
      <vt:lpstr>Arial Unicode MS</vt:lpstr>
      <vt:lpstr>等线 Light</vt:lpstr>
      <vt:lpstr>Symbol</vt:lpstr>
      <vt:lpstr>主题1</vt:lpstr>
      <vt:lpstr>自定义设计方案</vt:lpstr>
      <vt:lpstr>1_Office 主题​​</vt:lpstr>
      <vt:lpstr>1_主题1</vt:lpstr>
      <vt:lpstr>PowerPoint 演示文稿</vt:lpstr>
      <vt:lpstr>期末考试题型</vt:lpstr>
      <vt:lpstr>考试重点 – 线性规划</vt:lpstr>
      <vt:lpstr>对偶价格对最优值的影响</vt:lpstr>
      <vt:lpstr>PowerPoint 演示文稿</vt:lpstr>
      <vt:lpstr>考试重点 – 线性规划的计算机求解</vt:lpstr>
      <vt:lpstr>考试重点 – 线性规划在工商管理中的应用</vt:lpstr>
      <vt:lpstr>配料问题</vt:lpstr>
      <vt:lpstr>投资问题</vt:lpstr>
      <vt:lpstr>投资问题</vt:lpstr>
      <vt:lpstr>考试重点 – 整数规划</vt:lpstr>
      <vt:lpstr>PowerPoint 演示文稿</vt:lpstr>
      <vt:lpstr>PowerPoint 演示文稿</vt:lpstr>
      <vt:lpstr>PowerPoint 演示文稿</vt:lpstr>
      <vt:lpstr>PowerPoint 演示文稿</vt:lpstr>
      <vt:lpstr>考试重点 – 目标规划</vt:lpstr>
      <vt:lpstr>有优先权的目标规划的图解法-化肥生产 </vt:lpstr>
      <vt:lpstr>有优先权的目标规划的图解法-化肥生产</vt:lpstr>
      <vt:lpstr>有优先权的目标规划的图解法-化肥生产</vt:lpstr>
      <vt:lpstr>有优先权的目标规划的图解法-化肥生产</vt:lpstr>
      <vt:lpstr>考试重点 – 动态规划</vt:lpstr>
      <vt:lpstr>考试重点 – 决策分析</vt:lpstr>
      <vt:lpstr>考试重点 – 图与网络</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Siyu Bian</dc:creator>
  <cp:lastModifiedBy>world</cp:lastModifiedBy>
  <cp:revision>79</cp:revision>
  <dcterms:created xsi:type="dcterms:W3CDTF">2023-05-29T02:04:00Z</dcterms:created>
  <dcterms:modified xsi:type="dcterms:W3CDTF">2026-05-21T11:52:12Z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4AE12BECF34A46938658D3E743F50405_12</vt:lpwstr>
  </property>
  <property fmtid="{D5CDD505-2E9C-101B-9397-08002B2CF9AE}" pid="3" name="KSOProductBuildVer">
    <vt:lpwstr>2052-12.1.0.26375</vt:lpwstr>
  </property>
</Properties>
</file>