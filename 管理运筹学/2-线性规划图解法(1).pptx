
<file path=[Content_Types].xml><?xml version="1.0" encoding="utf-8"?>
<Types xmlns="http://schemas.openxmlformats.org/package/2006/content-types">
  <Default Extension="jpeg" ContentType="image/jpeg"/>
  <Default Extension="JPG" ContentType="image/.jpg"/>
  <Default Extension="wav" ContentType="audio/x-wav"/>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Lst>
  <p:sldIdLst>
    <p:sldId id="257" r:id="rId7"/>
    <p:sldId id="259" r:id="rId8"/>
    <p:sldId id="261" r:id="rId9"/>
    <p:sldId id="389" r:id="rId10"/>
    <p:sldId id="390" r:id="rId11"/>
    <p:sldId id="311" r:id="rId12"/>
    <p:sldId id="267" r:id="rId13"/>
    <p:sldId id="310" r:id="rId14"/>
    <p:sldId id="260" r:id="rId15"/>
    <p:sldId id="263" r:id="rId16"/>
    <p:sldId id="265" r:id="rId17"/>
    <p:sldId id="266" r:id="rId18"/>
    <p:sldId id="305" r:id="rId19"/>
    <p:sldId id="314" r:id="rId20"/>
    <p:sldId id="270" r:id="rId21"/>
    <p:sldId id="271" r:id="rId22"/>
    <p:sldId id="272" r:id="rId23"/>
    <p:sldId id="275" r:id="rId24"/>
    <p:sldId id="273" r:id="rId25"/>
    <p:sldId id="276" r:id="rId26"/>
    <p:sldId id="277" r:id="rId27"/>
    <p:sldId id="278" r:id="rId28"/>
    <p:sldId id="312" r:id="rId29"/>
    <p:sldId id="313" r:id="rId30"/>
    <p:sldId id="274" r:id="rId31"/>
    <p:sldId id="315" r:id="rId32"/>
    <p:sldId id="360" r:id="rId33"/>
    <p:sldId id="279" r:id="rId34"/>
    <p:sldId id="285" r:id="rId35"/>
    <p:sldId id="316" r:id="rId36"/>
    <p:sldId id="306" r:id="rId37"/>
    <p:sldId id="280" r:id="rId38"/>
    <p:sldId id="282" r:id="rId39"/>
    <p:sldId id="281" r:id="rId40"/>
    <p:sldId id="283" r:id="rId41"/>
    <p:sldId id="317" r:id="rId42"/>
    <p:sldId id="302" r:id="rId43"/>
    <p:sldId id="288" r:id="rId44"/>
    <p:sldId id="287" r:id="rId45"/>
    <p:sldId id="318" r:id="rId46"/>
    <p:sldId id="361" r:id="rId47"/>
    <p:sldId id="303" r:id="rId48"/>
    <p:sldId id="289" r:id="rId49"/>
    <p:sldId id="292" r:id="rId50"/>
    <p:sldId id="291" r:id="rId51"/>
    <p:sldId id="294" r:id="rId52"/>
    <p:sldId id="295" r:id="rId53"/>
    <p:sldId id="296" r:id="rId54"/>
    <p:sldId id="297" r:id="rId55"/>
    <p:sldId id="308" r:id="rId56"/>
    <p:sldId id="298" r:id="rId57"/>
    <p:sldId id="309" r:id="rId58"/>
    <p:sldId id="307" r:id="rId59"/>
    <p:sldId id="391" r:id="rId60"/>
    <p:sldId id="299" r:id="rId61"/>
    <p:sldId id="359" r:id="rId62"/>
  </p:sldIdLst>
  <p:sldSz cx="12192000" cy="6858000"/>
  <p:notesSz cx="6760845" cy="988187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245" autoAdjust="0"/>
    <p:restoredTop sz="94660"/>
  </p:normalViewPr>
  <p:slideViewPr>
    <p:cSldViewPr snapToGrid="0">
      <p:cViewPr varScale="1">
        <p:scale>
          <a:sx n="157" d="100"/>
          <a:sy n="157" d="100"/>
        </p:scale>
        <p:origin x="110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slide" Target="slides/slide1.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Master" Target="slideMasters/slideMaster5.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grpSp>
        <p:nvGrpSpPr>
          <p:cNvPr id="6" name="组合 5"/>
          <p:cNvGrpSpPr/>
          <p:nvPr/>
        </p:nvGrpSpPr>
        <p:grpSpPr>
          <a:xfrm>
            <a:off x="0" y="6230319"/>
            <a:ext cx="12192000" cy="627681"/>
            <a:chOff x="0" y="5888735"/>
            <a:chExt cx="12192000" cy="969265"/>
          </a:xfrm>
        </p:grpSpPr>
        <p:sp>
          <p:nvSpPr>
            <p:cNvPr id="7" name="任意多边形: 形状 6"/>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7"/>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bg1"/>
                </a:solidFill>
                <a:latin typeface="微软雅黑" panose="020B0503020204020204" pitchFamily="34" charset="-122"/>
                <a:ea typeface="微软雅黑" panose="020B0503020204020204" pitchFamily="34" charset="-122"/>
              </a:defRPr>
            </a:lvl1pPr>
          </a:lstStyle>
          <a:p>
            <a:fld id="{F3A81A38-B364-4909-B04A-2D2B638C186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aseline="0">
                <a:latin typeface="Times New Roman" panose="02020603050405020304" pitchFamily="18" charset="0"/>
                <a:ea typeface="楷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p:txBody>
          <a:bodyPr/>
          <a:lstStyle>
            <a:lvl1pPr>
              <a:defRPr baseline="0">
                <a:latin typeface="Times New Roman" panose="02020603050405020304" pitchFamily="18" charset="0"/>
                <a:ea typeface="楷体" panose="02010609060101010101" pitchFamily="49" charset="-122"/>
              </a:defRPr>
            </a:lvl1pPr>
            <a:lvl2pPr>
              <a:defRPr baseline="0">
                <a:latin typeface="Times New Roman" panose="02020603050405020304" pitchFamily="18" charset="0"/>
                <a:ea typeface="楷体" panose="02010609060101010101" pitchFamily="49" charset="-122"/>
              </a:defRPr>
            </a:lvl2pPr>
            <a:lvl3pPr>
              <a:defRPr baseline="0">
                <a:latin typeface="Times New Roman" panose="02020603050405020304" pitchFamily="18" charset="0"/>
                <a:ea typeface="楷体" panose="02010609060101010101" pitchFamily="49" charset="-122"/>
              </a:defRPr>
            </a:lvl3pPr>
            <a:lvl4pPr>
              <a:defRPr baseline="0">
                <a:latin typeface="Times New Roman" panose="02020603050405020304" pitchFamily="18" charset="0"/>
                <a:ea typeface="楷体" panose="02010609060101010101" pitchFamily="49" charset="-122"/>
              </a:defRPr>
            </a:lvl4pPr>
            <a:lvl5pPr>
              <a:defRPr baseline="0">
                <a:latin typeface="Times New Roman" panose="02020603050405020304" pitchFamily="18" charset="0"/>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grpSp>
        <p:nvGrpSpPr>
          <p:cNvPr id="6" name="组合 5"/>
          <p:cNvGrpSpPr/>
          <p:nvPr/>
        </p:nvGrpSpPr>
        <p:grpSpPr>
          <a:xfrm>
            <a:off x="0" y="6230319"/>
            <a:ext cx="12192000" cy="627681"/>
            <a:chOff x="0" y="5888735"/>
            <a:chExt cx="12192000" cy="969265"/>
          </a:xfrm>
        </p:grpSpPr>
        <p:sp>
          <p:nvSpPr>
            <p:cNvPr id="7" name="任意多边形: 形状 6"/>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7"/>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bg1"/>
                </a:solidFill>
                <a:latin typeface="微软雅黑" panose="020B0503020204020204" pitchFamily="34" charset="-122"/>
                <a:ea typeface="微软雅黑" panose="020B0503020204020204" pitchFamily="34" charset="-122"/>
              </a:defRPr>
            </a:lvl1pPr>
          </a:lstStyle>
          <a:p>
            <a:fld id="{F3A81A38-B364-4909-B04A-2D2B638C1862}"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grpSp>
        <p:nvGrpSpPr>
          <p:cNvPr id="6" name="组合 5"/>
          <p:cNvGrpSpPr/>
          <p:nvPr/>
        </p:nvGrpSpPr>
        <p:grpSpPr>
          <a:xfrm>
            <a:off x="0" y="6230319"/>
            <a:ext cx="12192000" cy="627681"/>
            <a:chOff x="0" y="5888735"/>
            <a:chExt cx="12192000" cy="969265"/>
          </a:xfrm>
        </p:grpSpPr>
        <p:sp>
          <p:nvSpPr>
            <p:cNvPr id="7" name="任意多边形: 形状 6"/>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7"/>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bg1"/>
                </a:solidFill>
                <a:latin typeface="微软雅黑" panose="020B0503020204020204" pitchFamily="34" charset="-122"/>
                <a:ea typeface="微软雅黑" panose="020B0503020204020204" pitchFamily="34" charset="-122"/>
              </a:defRPr>
            </a:lvl1pPr>
          </a:lstStyle>
          <a:p>
            <a:fld id="{F3A81A38-B364-4909-B04A-2D2B638C1862}" type="slidenum">
              <a:rPr lang="zh-CN" altLang="en-US" smtClean="0"/>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CA58B29-42DD-465C-8F7D-926F0ED8C4D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A81A38-B364-4909-B04A-2D2B638C186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2" Type="http://schemas.openxmlformats.org/officeDocument/2006/relationships/theme" Target="../theme/theme5.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A58B29-42DD-465C-8F7D-926F0ED8C4D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tx1">
                    <a:tint val="75000"/>
                  </a:schemeClr>
                </a:solidFill>
                <a:latin typeface="微软雅黑" panose="020B0503020204020204" pitchFamily="34" charset="-122"/>
                <a:ea typeface="微软雅黑" panose="020B0503020204020204" pitchFamily="34" charset="-122"/>
              </a:defRPr>
            </a:lvl1pPr>
          </a:lstStyle>
          <a:p>
            <a:fld id="{F3A81A38-B364-4909-B04A-2D2B638C1862}" type="slidenum">
              <a:rPr lang="zh-CN" altLang="en-US" smtClean="0"/>
            </a:fld>
            <a:endParaRPr lang="zh-CN" altLang="en-US"/>
          </a:p>
        </p:txBody>
      </p:sp>
      <p:grpSp>
        <p:nvGrpSpPr>
          <p:cNvPr id="7" name="组合 6"/>
          <p:cNvGrpSpPr/>
          <p:nvPr userDrawn="1"/>
        </p:nvGrpSpPr>
        <p:grpSpPr>
          <a:xfrm>
            <a:off x="0" y="6212031"/>
            <a:ext cx="12192000" cy="627681"/>
            <a:chOff x="0" y="5888735"/>
            <a:chExt cx="12192000" cy="969265"/>
          </a:xfrm>
        </p:grpSpPr>
        <p:sp>
          <p:nvSpPr>
            <p:cNvPr id="8" name="任意多边形: 形状 7"/>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userDrawn="1"/>
        </p:nvSpPr>
        <p:spPr>
          <a:xfrm rot="16200000">
            <a:off x="72797" y="61108"/>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userDrawn="1"/>
        </p:nvSpPr>
        <p:spPr>
          <a:xfrm rot="16200000">
            <a:off x="57549" y="219732"/>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userDrawn="1"/>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186868"/>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txBox="1"/>
          <p:nvPr userDrawn="1"/>
        </p:nvSpPr>
        <p:spPr>
          <a:xfrm>
            <a:off x="9332976" y="6456299"/>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100"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A81A38-B364-4909-B04A-2D2B638C186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3FAB52-0D75-4FB4-963F-CFC9BE82CFA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3E8295-D660-4793-94DB-7FA6302251F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A58B29-42DD-465C-8F7D-926F0ED8C4D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tx1">
                    <a:tint val="75000"/>
                  </a:schemeClr>
                </a:solidFill>
                <a:latin typeface="微软雅黑" panose="020B0503020204020204" pitchFamily="34" charset="-122"/>
                <a:ea typeface="微软雅黑" panose="020B0503020204020204" pitchFamily="34" charset="-122"/>
              </a:defRPr>
            </a:lvl1pPr>
          </a:lstStyle>
          <a:p>
            <a:fld id="{F3A81A38-B364-4909-B04A-2D2B638C186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A68B94-C734-4FAA-BA75-57D48D0BD3C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29AAA6-52A7-41A3-AAC3-F7EE0809863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A58B29-42DD-465C-8F7D-926F0ED8C4D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tx1">
                    <a:tint val="75000"/>
                  </a:schemeClr>
                </a:solidFill>
                <a:latin typeface="微软雅黑" panose="020B0503020204020204" pitchFamily="34" charset="-122"/>
                <a:ea typeface="微软雅黑" panose="020B0503020204020204" pitchFamily="34" charset="-122"/>
              </a:defRPr>
            </a:lvl1pPr>
          </a:lstStyle>
          <a:p>
            <a:fld id="{F3A81A38-B364-4909-B04A-2D2B638C186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5.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image" Target="../media/image6.png"/><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image" Target="../media/image5.png"/><Relationship Id="rId29" Type="http://schemas.openxmlformats.org/officeDocument/2006/relationships/slideLayout" Target="../slideLayouts/slideLayout3.xml"/><Relationship Id="rId28" Type="http://schemas.openxmlformats.org/officeDocument/2006/relationships/tags" Target="../tags/tag21.xml"/><Relationship Id="rId27" Type="http://schemas.openxmlformats.org/officeDocument/2006/relationships/tags" Target="../tags/tag20.xml"/><Relationship Id="rId26" Type="http://schemas.openxmlformats.org/officeDocument/2006/relationships/image" Target="../media/image11.png"/><Relationship Id="rId25" Type="http://schemas.openxmlformats.org/officeDocument/2006/relationships/tags" Target="../tags/tag19.xml"/><Relationship Id="rId24" Type="http://schemas.openxmlformats.org/officeDocument/2006/relationships/tags" Target="../tags/tag18.xml"/><Relationship Id="rId23" Type="http://schemas.openxmlformats.org/officeDocument/2006/relationships/tags" Target="../tags/tag17.xml"/><Relationship Id="rId22" Type="http://schemas.openxmlformats.org/officeDocument/2006/relationships/image" Target="../media/image10.png"/><Relationship Id="rId21" Type="http://schemas.openxmlformats.org/officeDocument/2006/relationships/tags" Target="../tags/tag16.xml"/><Relationship Id="rId20" Type="http://schemas.openxmlformats.org/officeDocument/2006/relationships/tags" Target="../tags/tag15.xml"/><Relationship Id="rId2" Type="http://schemas.openxmlformats.org/officeDocument/2006/relationships/tags" Target="../tags/tag2.xml"/><Relationship Id="rId19" Type="http://schemas.openxmlformats.org/officeDocument/2006/relationships/image" Target="../media/image9.png"/><Relationship Id="rId18" Type="http://schemas.openxmlformats.org/officeDocument/2006/relationships/tags" Target="../tags/tag14.xml"/><Relationship Id="rId17" Type="http://schemas.openxmlformats.org/officeDocument/2006/relationships/tags" Target="../tags/tag13.xml"/><Relationship Id="rId16" Type="http://schemas.openxmlformats.org/officeDocument/2006/relationships/tags" Target="../tags/tag12.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image" Target="../media/image8.png"/><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image" Target="../media/image24.png"/><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9" Type="http://schemas.openxmlformats.org/officeDocument/2006/relationships/image" Target="../media/image33.jpeg"/><Relationship Id="rId8" Type="http://schemas.openxmlformats.org/officeDocument/2006/relationships/image" Target="../media/image32.jpeg"/><Relationship Id="rId7" Type="http://schemas.openxmlformats.org/officeDocument/2006/relationships/image" Target="../media/image31.jpeg"/><Relationship Id="rId6" Type="http://schemas.openxmlformats.org/officeDocument/2006/relationships/image" Target="../media/image30.jpeg"/><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1" Type="http://schemas.openxmlformats.org/officeDocument/2006/relationships/slideLayout" Target="../slideLayouts/slideLayout3.xml"/><Relationship Id="rId10" Type="http://schemas.openxmlformats.org/officeDocument/2006/relationships/image" Target="../media/image34.jpeg"/><Relationship Id="rId1" Type="http://schemas.openxmlformats.org/officeDocument/2006/relationships/image" Target="../media/image25.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audio2.wav"/><Relationship Id="rId1" Type="http://schemas.openxmlformats.org/officeDocument/2006/relationships/audio" Target="../media/audio1.wav"/></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audio" Target="../media/audio3.wav"/><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audio1.wav"/><Relationship Id="rId1"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audio1.wav"/><Relationship Id="rId1"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3.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1" Type="http://schemas.openxmlformats.org/officeDocument/2006/relationships/slideLayout" Target="../slideLayouts/slideLayout7.xml"/><Relationship Id="rId10" Type="http://schemas.openxmlformats.org/officeDocument/2006/relationships/tags" Target="../tags/tag33.xml"/><Relationship Id="rId1" Type="http://schemas.openxmlformats.org/officeDocument/2006/relationships/tags" Target="../tags/tag24.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1.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3.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5.png"/><Relationship Id="rId1" Type="http://schemas.openxmlformats.org/officeDocument/2006/relationships/image" Target="../media/image4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6.jpe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7.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8.png"/></Relationships>
</file>

<file path=ppt/slides/_rels/slide37.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6" Type="http://schemas.openxmlformats.org/officeDocument/2006/relationships/slideLayout" Target="../slideLayouts/slideLayout7.xml"/><Relationship Id="rId15" Type="http://schemas.openxmlformats.org/officeDocument/2006/relationships/tags" Target="../tags/tag48.xml"/><Relationship Id="rId14" Type="http://schemas.openxmlformats.org/officeDocument/2006/relationships/tags" Target="../tags/tag47.xml"/><Relationship Id="rId13" Type="http://schemas.openxmlformats.org/officeDocument/2006/relationships/tags" Target="../tags/tag46.xml"/><Relationship Id="rId12" Type="http://schemas.openxmlformats.org/officeDocument/2006/relationships/tags" Target="../tags/tag45.xml"/><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tags" Target="../tags/tag3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0.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4.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5.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6.png"/></Relationships>
</file>

<file path=ppt/slides/_rels/slide45.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58.png"/><Relationship Id="rId1" Type="http://schemas.openxmlformats.org/officeDocument/2006/relationships/image" Target="../media/image57.png"/></Relationships>
</file>

<file path=ppt/slides/_rels/slide46.xml.rels><?xml version="1.0" encoding="UTF-8" standalone="yes"?>
<Relationships xmlns="http://schemas.openxmlformats.org/package/2006/relationships"><Relationship Id="rId9" Type="http://schemas.openxmlformats.org/officeDocument/2006/relationships/image" Target="../media/image61.png"/><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image" Target="../media/image60.png"/><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image" Target="../media/image59.png"/><Relationship Id="rId21" Type="http://schemas.openxmlformats.org/officeDocument/2006/relationships/slideLayout" Target="../slideLayouts/slideLayout7.xml"/><Relationship Id="rId20" Type="http://schemas.openxmlformats.org/officeDocument/2006/relationships/tags" Target="../tags/tag63.xml"/><Relationship Id="rId2" Type="http://schemas.openxmlformats.org/officeDocument/2006/relationships/tags" Target="../tags/tag50.xml"/><Relationship Id="rId19" Type="http://schemas.openxmlformats.org/officeDocument/2006/relationships/tags" Target="../tags/tag62.xml"/><Relationship Id="rId18" Type="http://schemas.openxmlformats.org/officeDocument/2006/relationships/tags" Target="../tags/tag61.xml"/><Relationship Id="rId17" Type="http://schemas.openxmlformats.org/officeDocument/2006/relationships/tags" Target="../tags/tag60.xml"/><Relationship Id="rId16" Type="http://schemas.openxmlformats.org/officeDocument/2006/relationships/tags" Target="../tags/tag59.xml"/><Relationship Id="rId15" Type="http://schemas.openxmlformats.org/officeDocument/2006/relationships/image" Target="../media/image63.png"/><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image" Target="../media/image62.png"/><Relationship Id="rId11" Type="http://schemas.openxmlformats.org/officeDocument/2006/relationships/tags" Target="../tags/tag56.xml"/><Relationship Id="rId10" Type="http://schemas.openxmlformats.org/officeDocument/2006/relationships/tags" Target="../tags/tag55.xml"/><Relationship Id="rId1" Type="http://schemas.openxmlformats.org/officeDocument/2006/relationships/tags" Target="../tags/tag49.xml"/></Relationships>
</file>

<file path=ppt/slides/_rels/slide47.xml.rels><?xml version="1.0" encoding="UTF-8" standalone="yes"?>
<Relationships xmlns="http://schemas.openxmlformats.org/package/2006/relationships"><Relationship Id="rId9" Type="http://schemas.openxmlformats.org/officeDocument/2006/relationships/image" Target="../media/image66.png"/><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image" Target="../media/image65.png"/><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image" Target="../media/image64.png"/><Relationship Id="rId21" Type="http://schemas.openxmlformats.org/officeDocument/2006/relationships/slideLayout" Target="../slideLayouts/slideLayout7.xml"/><Relationship Id="rId20" Type="http://schemas.openxmlformats.org/officeDocument/2006/relationships/tags" Target="../tags/tag78.xml"/><Relationship Id="rId2" Type="http://schemas.openxmlformats.org/officeDocument/2006/relationships/tags" Target="../tags/tag65.xml"/><Relationship Id="rId19" Type="http://schemas.openxmlformats.org/officeDocument/2006/relationships/tags" Target="../tags/tag77.xml"/><Relationship Id="rId18" Type="http://schemas.openxmlformats.org/officeDocument/2006/relationships/tags" Target="../tags/tag76.xml"/><Relationship Id="rId17" Type="http://schemas.openxmlformats.org/officeDocument/2006/relationships/tags" Target="../tags/tag75.xml"/><Relationship Id="rId16" Type="http://schemas.openxmlformats.org/officeDocument/2006/relationships/tags" Target="../tags/tag74.xml"/><Relationship Id="rId15" Type="http://schemas.openxmlformats.org/officeDocument/2006/relationships/image" Target="../media/image68.png"/><Relationship Id="rId14" Type="http://schemas.openxmlformats.org/officeDocument/2006/relationships/tags" Target="../tags/tag73.xml"/><Relationship Id="rId13" Type="http://schemas.openxmlformats.org/officeDocument/2006/relationships/tags" Target="../tags/tag72.xml"/><Relationship Id="rId12" Type="http://schemas.openxmlformats.org/officeDocument/2006/relationships/image" Target="../media/image67.png"/><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tags" Target="../tags/tag64.xml"/></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3.png"/><Relationship Id="rId1" Type="http://schemas.openxmlformats.org/officeDocument/2006/relationships/image" Target="../media/image7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5.jpeg"/><Relationship Id="rId1" Type="http://schemas.openxmlformats.org/officeDocument/2006/relationships/image" Target="../media/image74.png"/></Relationships>
</file>

<file path=ppt/slides/_rels/slide52.xml.rels><?xml version="1.0" encoding="UTF-8" standalone="yes"?>
<Relationships xmlns="http://schemas.openxmlformats.org/package/2006/relationships"><Relationship Id="rId9" Type="http://schemas.openxmlformats.org/officeDocument/2006/relationships/tags" Target="../tags/tag87.xml"/><Relationship Id="rId8" Type="http://schemas.openxmlformats.org/officeDocument/2006/relationships/tags" Target="../tags/tag86.xml"/><Relationship Id="rId7" Type="http://schemas.openxmlformats.org/officeDocument/2006/relationships/tags" Target="../tags/tag85.xml"/><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1" Type="http://schemas.openxmlformats.org/officeDocument/2006/relationships/slideLayout" Target="../slideLayouts/slideLayout7.xml"/><Relationship Id="rId10" Type="http://schemas.openxmlformats.org/officeDocument/2006/relationships/tags" Target="../tags/tag88.xml"/><Relationship Id="rId1" Type="http://schemas.openxmlformats.org/officeDocument/2006/relationships/tags" Target="../tags/tag79.xml"/></Relationships>
</file>

<file path=ppt/slides/_rels/slide5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94.xml"/><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9375" t="39498" r="10496" b="1702"/>
          <a:stretch>
            <a:fillRect/>
          </a:stretch>
        </p:blipFill>
        <p:spPr>
          <a:xfrm>
            <a:off x="0" y="0"/>
            <a:ext cx="12192000" cy="3349519"/>
          </a:xfrm>
          <a:prstGeom prst="rect">
            <a:avLst/>
          </a:prstGeom>
        </p:spPr>
      </p:pic>
      <p:sp>
        <p:nvSpPr>
          <p:cNvPr id="5" name="文本框 4"/>
          <p:cNvSpPr txBox="1"/>
          <p:nvPr/>
        </p:nvSpPr>
        <p:spPr>
          <a:xfrm>
            <a:off x="2084438" y="3946378"/>
            <a:ext cx="8023123" cy="707886"/>
          </a:xfrm>
          <a:prstGeom prst="rect">
            <a:avLst/>
          </a:prstGeom>
          <a:noFill/>
        </p:spPr>
        <p:txBody>
          <a:bodyPr wrap="square" rtlCol="0">
            <a:spAutoFit/>
          </a:bodyPr>
          <a:lstStyle/>
          <a:p>
            <a:pPr algn="ctr"/>
            <a:r>
              <a:rPr lang="zh-CN" altLang="en-US" sz="4000" b="1" spc="600" dirty="0">
                <a:solidFill>
                  <a:schemeClr val="accent1"/>
                </a:solidFill>
                <a:latin typeface="微软雅黑" panose="020B0503020204020204" pitchFamily="34" charset="-122"/>
                <a:ea typeface="微软雅黑" panose="020B0503020204020204" pitchFamily="34" charset="-122"/>
              </a:rPr>
              <a:t>第二章：线性规划图解法</a:t>
            </a:r>
            <a:endParaRPr lang="zh-CN" altLang="en-US" sz="4000" b="1" spc="600" dirty="0">
              <a:solidFill>
                <a:schemeClr val="accent1"/>
              </a:solidFill>
              <a:latin typeface="微软雅黑" panose="020B0503020204020204" pitchFamily="34" charset="-122"/>
              <a:ea typeface="微软雅黑" panose="020B0503020204020204" pitchFamily="34" charset="-122"/>
            </a:endParaRPr>
          </a:p>
        </p:txBody>
      </p:sp>
      <p:sp>
        <p:nvSpPr>
          <p:cNvPr id="6" name="矩形 5"/>
          <p:cNvSpPr/>
          <p:nvPr/>
        </p:nvSpPr>
        <p:spPr>
          <a:xfrm>
            <a:off x="0" y="3339894"/>
            <a:ext cx="12192000" cy="1290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矩形 6"/>
          <p:cNvSpPr/>
          <p:nvPr/>
        </p:nvSpPr>
        <p:spPr>
          <a:xfrm>
            <a:off x="0" y="3270038"/>
            <a:ext cx="12192000" cy="129048"/>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文本框 7"/>
          <p:cNvSpPr txBox="1"/>
          <p:nvPr/>
        </p:nvSpPr>
        <p:spPr>
          <a:xfrm>
            <a:off x="3025540" y="4869708"/>
            <a:ext cx="6140919" cy="338554"/>
          </a:xfrm>
          <a:prstGeom prst="rect">
            <a:avLst/>
          </a:prstGeom>
          <a:noFill/>
        </p:spPr>
        <p:txBody>
          <a:bodyPr wrap="square" rtlCol="0">
            <a:spAutoFit/>
          </a:bodyPr>
          <a:lstStyle/>
          <a:p>
            <a:pPr algn="dist"/>
            <a:r>
              <a:rPr lang="en-US" altLang="zh-CN" sz="1600" dirty="0">
                <a:solidFill>
                  <a:schemeClr val="bg1">
                    <a:lumMod val="65000"/>
                  </a:schemeClr>
                </a:solidFill>
                <a:latin typeface="Segoe UI Light" panose="020B0502040204020203" pitchFamily="34" charset="0"/>
                <a:cs typeface="Segoe UI Light" panose="020B0502040204020203" pitchFamily="34" charset="0"/>
              </a:rPr>
              <a:t>HUAZHONG AGRICULTURAL UNIVERSITY</a:t>
            </a:r>
            <a:endParaRPr lang="zh-CN" altLang="en-US" sz="1600" dirty="0">
              <a:solidFill>
                <a:schemeClr val="bg1">
                  <a:lumMod val="65000"/>
                </a:schemeClr>
              </a:solidFill>
              <a:latin typeface="Segoe UI Light" panose="020B0502040204020203" pitchFamily="34" charset="0"/>
              <a:cs typeface="Segoe UI Light" panose="020B0502040204020203" pitchFamily="34" charset="0"/>
            </a:endParaRPr>
          </a:p>
        </p:txBody>
      </p:sp>
      <p:grpSp>
        <p:nvGrpSpPr>
          <p:cNvPr id="12" name="组合 11"/>
          <p:cNvGrpSpPr/>
          <p:nvPr/>
        </p:nvGrpSpPr>
        <p:grpSpPr>
          <a:xfrm>
            <a:off x="9214084" y="5016125"/>
            <a:ext cx="1999647" cy="45719"/>
            <a:chOff x="9458460" y="4956809"/>
            <a:chExt cx="1999647" cy="45719"/>
          </a:xfrm>
        </p:grpSpPr>
        <p:cxnSp>
          <p:nvCxnSpPr>
            <p:cNvPr id="10" name="直接连接符 9"/>
            <p:cNvCxnSpPr/>
            <p:nvPr/>
          </p:nvCxnSpPr>
          <p:spPr>
            <a:xfrm>
              <a:off x="9504179" y="4982095"/>
              <a:ext cx="195392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9458460" y="4956809"/>
              <a:ext cx="45719" cy="45719"/>
            </a:xfrm>
            <a:prstGeom prst="ellips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flipH="1">
            <a:off x="980174" y="5016125"/>
            <a:ext cx="1999647" cy="45719"/>
            <a:chOff x="9458460" y="4956809"/>
            <a:chExt cx="1999647" cy="45719"/>
          </a:xfrm>
        </p:grpSpPr>
        <p:cxnSp>
          <p:nvCxnSpPr>
            <p:cNvPr id="14" name="直接连接符 13"/>
            <p:cNvCxnSpPr/>
            <p:nvPr/>
          </p:nvCxnSpPr>
          <p:spPr>
            <a:xfrm>
              <a:off x="9504179" y="4982095"/>
              <a:ext cx="195392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9458460" y="4956809"/>
              <a:ext cx="45719" cy="45719"/>
            </a:xfrm>
            <a:prstGeom prst="ellips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学习计划与重要知识点</a:t>
            </a:r>
            <a:endParaRPr lang="zh-CN" altLang="en-US" dirty="0"/>
          </a:p>
        </p:txBody>
      </p:sp>
      <p:sp>
        <p:nvSpPr>
          <p:cNvPr id="3" name="内容占位符 2"/>
          <p:cNvSpPr>
            <a:spLocks noGrp="1"/>
          </p:cNvSpPr>
          <p:nvPr>
            <p:ph idx="1"/>
          </p:nvPr>
        </p:nvSpPr>
        <p:spPr/>
        <p:txBody>
          <a:bodyPr/>
          <a:lstStyle/>
          <a:p>
            <a:r>
              <a:rPr lang="zh-CN" altLang="en-US" dirty="0">
                <a:latin typeface="楷体" panose="02010609060101010101" pitchFamily="49" charset="-122"/>
              </a:rPr>
              <a:t>线性规划的定义</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如何构建一个线性规划模型</a:t>
            </a:r>
            <a:endParaRPr lang="en-US" altLang="zh-CN" sz="2000"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线性规划问题的图解法</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图解法的灵敏度分析</a:t>
            </a:r>
            <a:endParaRPr lang="en-US" altLang="zh-CN" dirty="0">
              <a:latin typeface="楷体" panose="02010609060101010101" pitchFamily="49" charset="-122"/>
              <a:ea typeface="楷体" panose="02010609060101010101" pitchFamily="49" charset="-122"/>
            </a:endParaRPr>
          </a:p>
          <a:p>
            <a:endParaRPr lang="zh-CN" altLang="en-US" sz="2400" dirty="0">
              <a:latin typeface="楷体" panose="02010609060101010101" pitchFamily="49" charset="-122"/>
              <a:ea typeface="楷体" panose="02010609060101010101" pitchFamily="49" charset="-122"/>
            </a:endParaRPr>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rPr>
              <a:t>什么是线性规划</a:t>
            </a:r>
            <a:r>
              <a:rPr lang="zh-CN" altLang="en-US" dirty="0">
                <a:latin typeface="楷体" panose="02010609060101010101" pitchFamily="49" charset="-122"/>
                <a:ea typeface="楷体" panose="02010609060101010101" pitchFamily="49" charset="-122"/>
              </a:rPr>
              <a:t>？</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latin typeface="楷体" panose="02010609060101010101" pitchFamily="49" charset="-122"/>
                    <a:ea typeface="楷体" panose="02010609060101010101" pitchFamily="49" charset="-122"/>
                  </a:rPr>
                  <a:t>线性规划的英文名称为“</a:t>
                </a:r>
                <a:r>
                  <a:rPr lang="en-US" altLang="zh-CN" dirty="0">
                    <a:latin typeface="楷体" panose="02010609060101010101" pitchFamily="49" charset="-122"/>
                    <a:ea typeface="楷体" panose="02010609060101010101" pitchFamily="49" charset="-122"/>
                  </a:rPr>
                  <a:t>Linear Programming</a:t>
                </a:r>
                <a:r>
                  <a:rPr lang="zh-CN" altLang="en-US" dirty="0">
                    <a:latin typeface="楷体" panose="02010609060101010101" pitchFamily="49" charset="-122"/>
                    <a:ea typeface="楷体" panose="02010609060101010101" pitchFamily="49" charset="-122"/>
                  </a:rPr>
                  <a:t>”，简称“</a:t>
                </a:r>
                <a:r>
                  <a:rPr lang="en-US" altLang="zh-CN" dirty="0">
                    <a:latin typeface="楷体" panose="02010609060101010101" pitchFamily="49" charset="-122"/>
                    <a:ea typeface="楷体" panose="02010609060101010101" pitchFamily="49" charset="-122"/>
                  </a:rPr>
                  <a:t>LP</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“线性规划”</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“线性”</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“规划”</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“线性”：特指线性函数</a:t>
                </a:r>
                <a14:m>
                  <m:oMath xmlns:m="http://schemas.openxmlformats.org/officeDocument/2006/math">
                    <m:r>
                      <a:rPr lang="en-US" altLang="zh-CN" b="0" i="1" smtClean="0">
                        <a:latin typeface="Cambria Math" panose="02040503050406030204" pitchFamily="18" charset="0"/>
                        <a:ea typeface="楷体" panose="02010609060101010101" pitchFamily="49" charset="-122"/>
                      </a:rPr>
                      <m:t>𝑦</m:t>
                    </m:r>
                    <m:r>
                      <a:rPr lang="en-US" altLang="zh-CN" b="0" i="1" smtClean="0">
                        <a:latin typeface="Cambria Math" panose="02040503050406030204" pitchFamily="18" charset="0"/>
                        <a:ea typeface="楷体" panose="02010609060101010101" pitchFamily="49" charset="-122"/>
                      </a:rPr>
                      <m:t>=</m:t>
                    </m:r>
                    <m:r>
                      <a:rPr lang="en-US" altLang="zh-CN" b="0" i="1" smtClean="0">
                        <a:latin typeface="Cambria Math" panose="02040503050406030204" pitchFamily="18" charset="0"/>
                        <a:ea typeface="楷体" panose="02010609060101010101" pitchFamily="49" charset="-122"/>
                      </a:rPr>
                      <m:t>𝑓</m:t>
                    </m:r>
                    <m:d>
                      <m:dPr>
                        <m:ctrlPr>
                          <a:rPr lang="en-US" altLang="zh-CN" b="0" i="1" smtClean="0">
                            <a:latin typeface="Cambria Math" panose="02040503050406030204" pitchFamily="18" charset="0"/>
                            <a:ea typeface="楷体" panose="02010609060101010101" pitchFamily="49" charset="-122"/>
                          </a:rPr>
                        </m:ctrlPr>
                      </m:dPr>
                      <m:e>
                        <m:r>
                          <a:rPr lang="en-US" altLang="zh-CN" b="0" i="1" smtClean="0">
                            <a:latin typeface="Cambria Math" panose="02040503050406030204" pitchFamily="18" charset="0"/>
                            <a:ea typeface="楷体" panose="02010609060101010101" pitchFamily="49" charset="-122"/>
                          </a:rPr>
                          <m:t>𝑋</m:t>
                        </m:r>
                      </m:e>
                    </m:d>
                    <m:r>
                      <a:rPr lang="en-US" altLang="zh-CN" b="0" i="1" smtClean="0">
                        <a:latin typeface="Cambria Math" panose="02040503050406030204" pitchFamily="18" charset="0"/>
                        <a:ea typeface="楷体" panose="02010609060101010101" pitchFamily="49" charset="-122"/>
                      </a:rPr>
                      <m:t>=</m:t>
                    </m:r>
                    <m:r>
                      <a:rPr lang="en-US" altLang="zh-CN" b="0" i="1" smtClean="0">
                        <a:latin typeface="Cambria Math" panose="02040503050406030204" pitchFamily="18" charset="0"/>
                        <a:ea typeface="楷体" panose="02010609060101010101" pitchFamily="49" charset="-122"/>
                      </a:rPr>
                      <m:t>𝑎𝑋</m:t>
                    </m:r>
                    <m:r>
                      <a:rPr lang="en-US" altLang="zh-CN" b="0" i="1" smtClean="0">
                        <a:latin typeface="Cambria Math" panose="02040503050406030204" pitchFamily="18" charset="0"/>
                        <a:ea typeface="楷体" panose="02010609060101010101" pitchFamily="49" charset="-122"/>
                      </a:rPr>
                      <m:t>+</m:t>
                    </m:r>
                    <m:r>
                      <a:rPr lang="en-US" altLang="zh-CN" b="0" i="1" smtClean="0">
                        <a:latin typeface="Cambria Math" panose="02040503050406030204" pitchFamily="18" charset="0"/>
                        <a:ea typeface="楷体" panose="02010609060101010101" pitchFamily="49" charset="-122"/>
                      </a:rPr>
                      <m:t>𝑏</m:t>
                    </m:r>
                  </m:oMath>
                </a14:m>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“规划”：一种计算目标函数最大或最小值的数学模型</a:t>
                </a:r>
                <a:endParaRPr lang="en-US" altLang="zh-CN" dirty="0">
                  <a:latin typeface="楷体" panose="02010609060101010101" pitchFamily="49" charset="-122"/>
                  <a:ea typeface="楷体" panose="02010609060101010101" pitchFamily="49" charset="-122"/>
                </a:endParaRPr>
              </a:p>
              <a:p>
                <a:pPr lvl="1"/>
                <a:endParaRPr lang="en-US" altLang="zh-CN" dirty="0">
                  <a:latin typeface="楷体" panose="02010609060101010101" pitchFamily="49" charset="-122"/>
                  <a:ea typeface="楷体" panose="02010609060101010101" pitchFamily="49"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什么是线性函数？</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lvl="1"/>
                <a14:m>
                  <m:oMath xmlns:m="http://schemas.openxmlformats.org/officeDocument/2006/math">
                    <m:r>
                      <a:rPr lang="zh-CN" altLang="en-US" sz="2800" i="1" smtClean="0">
                        <a:latin typeface="Cambria Math" panose="02040503050406030204" pitchFamily="18" charset="0"/>
                      </a:rPr>
                      <m:t>数学</m:t>
                    </m:r>
                    <m:r>
                      <a:rPr lang="zh-CN" altLang="en-US" sz="2800" i="1">
                        <a:latin typeface="Cambria Math" panose="02040503050406030204" pitchFamily="18" charset="0"/>
                      </a:rPr>
                      <m:t>定义</m:t>
                    </m:r>
                    <m:r>
                      <a:rPr lang="zh-CN" altLang="en-US" sz="2800" i="1" smtClean="0">
                        <a:latin typeface="Cambria Math" panose="02040503050406030204" pitchFamily="18" charset="0"/>
                      </a:rPr>
                      <m:t>：</m:t>
                    </m:r>
                    <m:r>
                      <a:rPr lang="en-US" altLang="zh-CN" sz="2800" b="0" i="1" smtClean="0">
                        <a:latin typeface="Cambria Math" panose="02040503050406030204" pitchFamily="18" charset="0"/>
                        <a:ea typeface="楷体" panose="02010609060101010101" pitchFamily="49" charset="-122"/>
                      </a:rPr>
                      <m:t>𝑦</m:t>
                    </m:r>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𝑓</m:t>
                    </m:r>
                    <m:d>
                      <m:dPr>
                        <m:ctrlPr>
                          <a:rPr lang="en-US" altLang="zh-CN" sz="2800" b="0" i="1" smtClean="0">
                            <a:latin typeface="Cambria Math" panose="02040503050406030204" pitchFamily="18" charset="0"/>
                            <a:ea typeface="楷体" panose="02010609060101010101" pitchFamily="49" charset="-122"/>
                          </a:rPr>
                        </m:ctrlPr>
                      </m:dPr>
                      <m:e>
                        <m:r>
                          <a:rPr lang="en-US" altLang="zh-CN" sz="2800" b="0" i="1" smtClean="0">
                            <a:latin typeface="Cambria Math" panose="02040503050406030204" pitchFamily="18" charset="0"/>
                            <a:ea typeface="楷体" panose="02010609060101010101" pitchFamily="49" charset="-122"/>
                          </a:rPr>
                          <m:t>𝑋</m:t>
                        </m:r>
                      </m:e>
                    </m:d>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𝑎𝑋</m:t>
                    </m:r>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𝑏</m:t>
                    </m:r>
                  </m:oMath>
                </a14:m>
                <a:endParaRPr lang="en-US" altLang="zh-CN" sz="2800" dirty="0">
                  <a:latin typeface="楷体" panose="02010609060101010101" pitchFamily="49" charset="-122"/>
                  <a:ea typeface="楷体" panose="02010609060101010101" pitchFamily="49" charset="-122"/>
                </a:endParaRPr>
              </a:p>
              <a:p>
                <a:pPr lvl="1"/>
                <a:r>
                  <a:rPr lang="zh-CN" altLang="en-US" sz="2800" dirty="0">
                    <a:latin typeface="楷体" panose="02010609060101010101" pitchFamily="49" charset="-122"/>
                    <a:sym typeface="+mn-ea"/>
                  </a:rPr>
                  <a:t>线性函数的性质：</a:t>
                </a:r>
                <a:endParaRPr lang="zh-CN" altLang="en-US" sz="2800" dirty="0">
                  <a:latin typeface="楷体" panose="02010609060101010101" pitchFamily="49" charset="-122"/>
                  <a:sym typeface="+mn-ea"/>
                </a:endParaRPr>
              </a:p>
              <a:p>
                <a:pPr marL="1143000" lvl="2" indent="-228600">
                  <a:buFont typeface="Arial" panose="020B0604020202020204" pitchFamily="34" charset="0"/>
                  <a:buChar char="•"/>
                </a:pPr>
                <a14:m>
                  <m:oMath xmlns:m="http://schemas.openxmlformats.org/officeDocument/2006/math">
                    <m:r>
                      <a:rPr lang="en-US" altLang="zh-CN" sz="2800" b="0" i="1" smtClean="0">
                        <a:solidFill>
                          <a:schemeClr val="tx1"/>
                        </a:solidFill>
                        <a:latin typeface="Cambria Math" panose="02040503050406030204" pitchFamily="18" charset="0"/>
                        <a:ea typeface="楷体" panose="02010609060101010101" pitchFamily="49" charset="-122"/>
                        <a:cs typeface="Cambria Math" panose="02040503050406030204" pitchFamily="18" charset="0"/>
                      </a:rPr>
                      <m:t>𝑓</m:t>
                    </m:r>
                    <m:d>
                      <m:dPr>
                        <m:ctrlPr>
                          <a:rPr lang="en-US" altLang="zh-CN" sz="2800" b="0" i="1" smtClean="0">
                            <a:latin typeface="Cambria Math" panose="02040503050406030204" pitchFamily="18" charset="0"/>
                            <a:ea typeface="楷体" panose="02010609060101010101" pitchFamily="49" charset="-122"/>
                          </a:rPr>
                        </m:ctrlPr>
                      </m:dPr>
                      <m:e>
                        <m:r>
                          <a:rPr lang="en-US" altLang="zh-CN" sz="2800" b="0" i="1" smtClean="0">
                            <a:latin typeface="Cambria Math" panose="02040503050406030204" pitchFamily="18" charset="0"/>
                            <a:ea typeface="楷体" panose="02010609060101010101" pitchFamily="49" charset="-122"/>
                          </a:rPr>
                          <m:t>𝑥</m:t>
                        </m:r>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𝑦</m:t>
                        </m:r>
                      </m:e>
                    </m:d>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𝑓</m:t>
                    </m:r>
                    <m:d>
                      <m:dPr>
                        <m:ctrlPr>
                          <a:rPr lang="en-US" altLang="zh-CN" sz="2800" b="0" i="1" smtClean="0">
                            <a:latin typeface="Cambria Math" panose="02040503050406030204" pitchFamily="18" charset="0"/>
                            <a:ea typeface="楷体" panose="02010609060101010101" pitchFamily="49" charset="-122"/>
                          </a:rPr>
                        </m:ctrlPr>
                      </m:dPr>
                      <m:e>
                        <m:r>
                          <a:rPr lang="en-US" altLang="zh-CN" sz="2800" b="0" i="1" smtClean="0">
                            <a:latin typeface="Cambria Math" panose="02040503050406030204" pitchFamily="18" charset="0"/>
                            <a:ea typeface="楷体" panose="02010609060101010101" pitchFamily="49" charset="-122"/>
                          </a:rPr>
                          <m:t>𝑥</m:t>
                        </m:r>
                      </m:e>
                    </m:d>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𝑓</m:t>
                    </m:r>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𝑦</m:t>
                    </m:r>
                    <m:r>
                      <a:rPr lang="en-US" altLang="zh-CN" sz="2800" b="0" i="1" smtClean="0">
                        <a:latin typeface="Cambria Math" panose="02040503050406030204" pitchFamily="18" charset="0"/>
                        <a:ea typeface="楷体" panose="02010609060101010101" pitchFamily="49" charset="-122"/>
                      </a:rPr>
                      <m:t>)</m:t>
                    </m:r>
                  </m:oMath>
                </a14:m>
                <a:endParaRPr lang="en-US" altLang="zh-CN" sz="2800" b="0" i="1" smtClean="0">
                  <a:latin typeface="Cambria Math" panose="02040503050406030204" pitchFamily="18" charset="0"/>
                  <a:ea typeface="楷体" panose="02010609060101010101" pitchFamily="49" charset="-122"/>
                </a:endParaRPr>
              </a:p>
              <a:p>
                <a:pPr marL="1143000" lvl="2" indent="-228600">
                  <a:buFont typeface="Arial" panose="020B0604020202020204" pitchFamily="34" charset="0"/>
                  <a:buChar char="•"/>
                </a:pPr>
                <a14:m>
                  <m:oMath xmlns:m="http://schemas.openxmlformats.org/officeDocument/2006/math">
                    <m:r>
                      <a:rPr lang="en-US" altLang="zh-CN" sz="2800" b="0" i="1" smtClean="0">
                        <a:latin typeface="Cambria Math" panose="02040503050406030204" pitchFamily="18" charset="0"/>
                        <a:ea typeface="楷体" panose="02010609060101010101" pitchFamily="49" charset="-122"/>
                      </a:rPr>
                      <m:t>𝑓</m:t>
                    </m:r>
                    <m:d>
                      <m:dPr>
                        <m:ctrlPr>
                          <a:rPr lang="en-US" altLang="zh-CN" sz="2800" b="0" i="1" smtClean="0">
                            <a:latin typeface="Cambria Math" panose="02040503050406030204" pitchFamily="18" charset="0"/>
                            <a:ea typeface="楷体" panose="02010609060101010101" pitchFamily="49" charset="-122"/>
                          </a:rPr>
                        </m:ctrlPr>
                      </m:dPr>
                      <m:e>
                        <m:r>
                          <a:rPr lang="en-US" altLang="zh-CN" sz="2800" b="0" i="1" smtClean="0">
                            <a:latin typeface="Cambria Math" panose="02040503050406030204" pitchFamily="18" charset="0"/>
                            <a:ea typeface="楷体" panose="02010609060101010101" pitchFamily="49" charset="-122"/>
                          </a:rPr>
                          <m:t>𝑎𝑥</m:t>
                        </m:r>
                      </m:e>
                    </m:d>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𝑎𝑓</m:t>
                    </m:r>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𝑥</m:t>
                    </m:r>
                    <m:r>
                      <a:rPr lang="en-US" altLang="zh-CN" sz="2800" b="0" i="1" smtClean="0">
                        <a:latin typeface="Cambria Math" panose="02040503050406030204" pitchFamily="18" charset="0"/>
                        <a:ea typeface="楷体" panose="02010609060101010101" pitchFamily="49" charset="-122"/>
                      </a:rPr>
                      <m:t>)</m:t>
                    </m:r>
                  </m:oMath>
                </a14:m>
                <a:endParaRPr lang="en-US" altLang="zh-CN" sz="2800" dirty="0">
                  <a:latin typeface="楷体" panose="02010609060101010101" pitchFamily="49" charset="-122"/>
                  <a:ea typeface="楷体" panose="02010609060101010101" pitchFamily="49" charset="-122"/>
                </a:endParaRPr>
              </a:p>
              <a:p>
                <a:pPr lvl="1"/>
                <a:endParaRPr lang="en-US" altLang="zh-CN" dirty="0">
                  <a:latin typeface="楷体" panose="02010609060101010101" pitchFamily="49" charset="-122"/>
                  <a:ea typeface="楷体" panose="02010609060101010101" pitchFamily="49"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000000"/>
                </a:solidFill>
                <a:latin typeface="仿宋" panose="02010609060101010101" pitchFamily="49" charset="-122"/>
                <a:ea typeface="仿宋" panose="02010609060101010101" pitchFamily="49" charset="-122"/>
                <a:sym typeface="微软雅黑" panose="020B0503020204020204" pitchFamily="34" charset="-122"/>
              </a:rPr>
              <a:t>以下哪些函数是线性函数？</a:t>
            </a:r>
            <a:endParaRPr lang="zh-CN" altLang="en-US" dirty="0">
              <a:latin typeface="仿宋" panose="02010609060101010101" pitchFamily="49" charset="-122"/>
              <a:ea typeface="仿宋" panose="02010609060101010101" pitchFamily="49" charset="-122"/>
            </a:endParaRPr>
          </a:p>
        </p:txBody>
      </p:sp>
      <mc:AlternateContent xmlns:mc="http://schemas.openxmlformats.org/markup-compatibility/2006">
        <mc:Choice xmlns:a14="http://schemas.microsoft.com/office/drawing/2010/main" Requires="a14">
          <p:sp>
            <p:nvSpPr>
              <p:cNvPr id="7" name="文本框 6"/>
              <p:cNvSpPr txBox="1"/>
              <p:nvPr>
                <p:custDataLst>
                  <p:tags r:id="rId1"/>
                </p:custDataLst>
              </p:nvPr>
            </p:nvSpPr>
            <p:spPr>
              <a:xfrm>
                <a:off x="2438400" y="2307273"/>
                <a:ext cx="8534400" cy="642938"/>
              </a:xfrm>
              <a:prstGeom prst="rect">
                <a:avLst/>
              </a:prstGeom>
              <a:noFill/>
            </p:spPr>
            <p:txBody>
              <a:bodyPr vert="horz" rtlCol="0" anchor="ctr" anchorCtr="0">
                <a:noAutofit/>
              </a:bodyPr>
              <a:p>
                <a14:m>
                  <m:oMathPara xmlns:m="http://schemas.openxmlformats.org/officeDocument/2006/math">
                    <m:oMathParaPr>
                      <m:jc m:val="centerGroup"/>
                    </m:oMathParaPr>
                    <m:oMath xmlns:m="http://schemas.openxmlformats.org/officeDocument/2006/math">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𝑓</m:t>
                      </m:r>
                      <m:d>
                        <m:dPr>
                          <m:ctrlP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dPr>
                        <m:e>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𝑋</m:t>
                          </m:r>
                        </m:e>
                      </m:d>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3</m:t>
                      </m:r>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𝑋</m:t>
                      </m:r>
                    </m:oMath>
                  </m:oMathPara>
                </a14:m>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7" name="文本框 6"/>
              <p:cNvSpPr txBox="1">
                <a:spLocks noRot="1" noChangeAspect="1" noMove="1" noResize="1" noEditPoints="1" noAdjustHandles="1" noChangeArrowheads="1" noChangeShapeType="1" noTextEdit="1"/>
              </p:cNvSpPr>
              <p:nvPr>
                <p:custDataLst>
                  <p:tags r:id="rId2"/>
                </p:custDataLst>
              </p:nvPr>
            </p:nvSpPr>
            <p:spPr>
              <a:xfrm>
                <a:off x="2438400" y="2307273"/>
                <a:ext cx="8534400" cy="642938"/>
              </a:xfrm>
              <a:prstGeom prst="rect">
                <a:avLst/>
              </a:prstGeom>
              <a:blipFill rotWithShape="1">
                <a:blip r:embed="rId3"/>
                <a:stretch>
                  <a:fillRect t="-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custDataLst>
                  <p:tags r:id="rId4"/>
                </p:custDataLst>
              </p:nvPr>
            </p:nvSpPr>
            <p:spPr>
              <a:xfrm>
                <a:off x="2438400" y="2797130"/>
                <a:ext cx="8534400" cy="642938"/>
              </a:xfrm>
              <a:prstGeom prst="rect">
                <a:avLst/>
              </a:prstGeom>
              <a:noFill/>
            </p:spPr>
            <p:txBody>
              <a:bodyPr vert="horz" rtlCol="0" anchor="ctr" anchorCtr="0">
                <a:noAutofit/>
              </a:bodyPr>
              <a:p>
                <a14:m>
                  <m:oMathPara xmlns:m="http://schemas.openxmlformats.org/officeDocument/2006/math">
                    <m:oMathParaPr>
                      <m:jc m:val="centerGroup"/>
                    </m:oMathParaPr>
                    <m:oMath xmlns:m="http://schemas.openxmlformats.org/officeDocument/2006/math">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𝑓</m:t>
                      </m:r>
                      <m:d>
                        <m:dPr>
                          <m:ctrlP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dPr>
                        <m:e>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𝑋</m:t>
                          </m:r>
                        </m:e>
                      </m:d>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𝑋</m:t>
                      </m:r>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p>
                        <m:sSupPr>
                          <m:ctrlP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pPr>
                        <m:e>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𝑋</m:t>
                          </m:r>
                        </m:e>
                        <m:sup>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p>
                      </m:sSup>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p>
                        <m:sSupPr>
                          <m:ctrlP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pPr>
                        <m:e>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𝑋</m:t>
                          </m:r>
                        </m:e>
                        <m:sup>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3</m:t>
                          </m:r>
                        </m:sup>
                      </m:sSup>
                    </m:oMath>
                  </m:oMathPara>
                </a14:m>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8" name="文本框 7"/>
              <p:cNvSpPr txBox="1">
                <a:spLocks noRot="1" noChangeAspect="1" noMove="1" noResize="1" noEditPoints="1" noAdjustHandles="1" noChangeArrowheads="1" noChangeShapeType="1" noTextEdit="1"/>
              </p:cNvSpPr>
              <p:nvPr>
                <p:custDataLst>
                  <p:tags r:id="rId5"/>
                </p:custDataLst>
              </p:nvPr>
            </p:nvSpPr>
            <p:spPr>
              <a:xfrm>
                <a:off x="2438400" y="2797130"/>
                <a:ext cx="8534400" cy="642938"/>
              </a:xfrm>
              <a:prstGeom prst="rect">
                <a:avLst/>
              </a:prstGeom>
              <a:blipFill rotWithShape="1">
                <a:blip r:embed="rId6"/>
                <a:stretch>
                  <a:fillRect t="-92" b="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custDataLst>
                  <p:tags r:id="rId7"/>
                </p:custDataLst>
              </p:nvPr>
            </p:nvSpPr>
            <p:spPr>
              <a:xfrm>
                <a:off x="2438400" y="3286987"/>
                <a:ext cx="8534400" cy="642938"/>
              </a:xfrm>
              <a:prstGeom prst="rect">
                <a:avLst/>
              </a:prstGeom>
              <a:noFill/>
            </p:spPr>
            <p:txBody>
              <a:bodyPr vert="horz" rtlCol="0" anchor="ctr" anchorCtr="0">
                <a:noAutofit/>
              </a:bodyPr>
              <a:p>
                <a14:m>
                  <m:oMathPara xmlns:m="http://schemas.openxmlformats.org/officeDocument/2006/math">
                    <m:oMathParaPr>
                      <m:jc m:val="centerGroup"/>
                    </m:oMathParaPr>
                    <m:oMath xmlns:m="http://schemas.openxmlformats.org/officeDocument/2006/math">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𝑓</m:t>
                      </m:r>
                      <m:d>
                        <m:d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d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𝑋</m:t>
                          </m:r>
                        </m:e>
                      </m:d>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3</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𝑋</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oMath>
                  </m:oMathPara>
                </a14:m>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9" name="文本框 8"/>
              <p:cNvSpPr txBox="1">
                <a:spLocks noRot="1" noChangeAspect="1" noMove="1" noResize="1" noEditPoints="1" noAdjustHandles="1" noChangeArrowheads="1" noChangeShapeType="1" noTextEdit="1"/>
              </p:cNvSpPr>
              <p:nvPr>
                <p:custDataLst>
                  <p:tags r:id="rId8"/>
                </p:custDataLst>
              </p:nvPr>
            </p:nvSpPr>
            <p:spPr>
              <a:xfrm>
                <a:off x="2438400" y="3286987"/>
                <a:ext cx="8534400" cy="642938"/>
              </a:xfrm>
              <a:prstGeom prst="rect">
                <a:avLst/>
              </a:prstGeom>
              <a:blipFill rotWithShape="1">
                <a:blip r:embed="rId9"/>
                <a:stretch>
                  <a:fillRect t="-35" b="8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custDataLst>
                  <p:tags r:id="rId10"/>
                </p:custDataLst>
              </p:nvPr>
            </p:nvSpPr>
            <p:spPr>
              <a:xfrm>
                <a:off x="2438400" y="3776844"/>
                <a:ext cx="8534400" cy="642938"/>
              </a:xfrm>
              <a:prstGeom prst="rect">
                <a:avLst/>
              </a:prstGeom>
              <a:noFill/>
            </p:spPr>
            <p:txBody>
              <a:bodyPr vert="horz" rtlCol="0" anchor="ctr" anchorCtr="0">
                <a:noAutofit/>
              </a:bodyPr>
              <a:p>
                <a14:m>
                  <m:oMathPara xmlns:m="http://schemas.openxmlformats.org/officeDocument/2006/math">
                    <m:oMathParaPr>
                      <m:jc m:val="centerGroup"/>
                    </m:oMathParaPr>
                    <m:oMath xmlns:m="http://schemas.openxmlformats.org/officeDocument/2006/math">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𝑓</m:t>
                      </m:r>
                      <m:d>
                        <m:dPr>
                          <m:ctrlP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dPr>
                        <m:e>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𝑋</m:t>
                          </m:r>
                        </m:e>
                      </m:d>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Sub>
                        <m:sSubPr>
                          <m:ctrlP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𝑋</m:t>
                          </m:r>
                        </m:e>
                        <m:sub>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Sub>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3</m:t>
                      </m:r>
                      <m:sSub>
                        <m:sSubPr>
                          <m:ctrlP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𝑋</m:t>
                          </m:r>
                        </m:e>
                        <m:sub>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oMath>
                  </m:oMathPara>
                </a14:m>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10" name="文本框 9"/>
              <p:cNvSpPr txBox="1">
                <a:spLocks noRot="1" noChangeAspect="1" noMove="1" noResize="1" noEditPoints="1" noAdjustHandles="1" noChangeArrowheads="1" noChangeShapeType="1" noTextEdit="1"/>
              </p:cNvSpPr>
              <p:nvPr>
                <p:custDataLst>
                  <p:tags r:id="rId11"/>
                </p:custDataLst>
              </p:nvPr>
            </p:nvSpPr>
            <p:spPr>
              <a:xfrm>
                <a:off x="2438400" y="3776844"/>
                <a:ext cx="8534400" cy="642938"/>
              </a:xfrm>
              <a:prstGeom prst="rect">
                <a:avLst/>
              </a:prstGeom>
              <a:blipFill rotWithShape="1">
                <a:blip r:embed="rId12"/>
                <a:stretch>
                  <a:fillRect t="-78" b="28"/>
                </a:stretch>
              </a:blipFill>
            </p:spPr>
            <p:txBody>
              <a:bodyPr/>
              <a:lstStyle/>
              <a:p>
                <a:r>
                  <a:rPr lang="zh-CN" altLang="en-US">
                    <a:noFill/>
                  </a:rPr>
                  <a:t> </a:t>
                </a:r>
              </a:p>
            </p:txBody>
          </p:sp>
        </mc:Fallback>
      </mc:AlternateContent>
      <p:sp>
        <p:nvSpPr>
          <p:cNvPr id="11" name="矩形 10"/>
          <p:cNvSpPr>
            <a:spLocks noChangeAspect="1"/>
          </p:cNvSpPr>
          <p:nvPr>
            <p:custDataLst>
              <p:tags r:id="rId13"/>
            </p:custDataLst>
          </p:nvPr>
        </p:nvSpPr>
        <p:spPr>
          <a:xfrm>
            <a:off x="1571625" y="237156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1" forceAA="0" compatLnSpc="1">
            <a:noAutofit/>
          </a:bodyPr>
          <a:p>
            <a:pPr lvl="0" algn="ctr">
              <a:buClrTx/>
              <a:buSzTx/>
              <a:buFontTx/>
            </a:pP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a:spLocks noChangeAspect="1"/>
          </p:cNvSpPr>
          <p:nvPr>
            <p:custDataLst>
              <p:tags r:id="rId14"/>
            </p:custDataLst>
          </p:nvPr>
        </p:nvSpPr>
        <p:spPr>
          <a:xfrm>
            <a:off x="1571625" y="2861424"/>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12"/>
          <p:cNvSpPr>
            <a:spLocks noChangeAspect="1"/>
          </p:cNvSpPr>
          <p:nvPr>
            <p:custDataLst>
              <p:tags r:id="rId15"/>
            </p:custDataLst>
          </p:nvPr>
        </p:nvSpPr>
        <p:spPr>
          <a:xfrm>
            <a:off x="1571625" y="3351281"/>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1" forceAA="0" compatLnSpc="1">
            <a:noAutofit/>
          </a:bodyPr>
          <a:p>
            <a:pPr lvl="0" algn="ctr">
              <a:buClrTx/>
              <a:buSzTx/>
              <a:buFontTx/>
            </a:pP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矩形 13"/>
          <p:cNvSpPr>
            <a:spLocks noChangeAspect="1"/>
          </p:cNvSpPr>
          <p:nvPr>
            <p:custDataLst>
              <p:tags r:id="rId16"/>
            </p:custDataLst>
          </p:nvPr>
        </p:nvSpPr>
        <p:spPr>
          <a:xfrm>
            <a:off x="1571625" y="3841138"/>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1" forceAA="0" compatLnSpc="1">
            <a:noAutofit/>
          </a:bodyPr>
          <a:p>
            <a:pPr lvl="0" algn="ctr">
              <a:buClrTx/>
              <a:buSzTx/>
              <a:buFontTx/>
            </a:pP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mc:AlternateContent xmlns:mc="http://schemas.openxmlformats.org/markup-compatibility/2006">
        <mc:Choice xmlns:a14="http://schemas.microsoft.com/office/drawing/2010/main" Requires="a14">
          <p:sp>
            <p:nvSpPr>
              <p:cNvPr id="24" name="文本框 23"/>
              <p:cNvSpPr txBox="1"/>
              <p:nvPr>
                <p:custDataLst>
                  <p:tags r:id="rId17"/>
                </p:custDataLst>
              </p:nvPr>
            </p:nvSpPr>
            <p:spPr>
              <a:xfrm>
                <a:off x="2438400" y="4266702"/>
                <a:ext cx="8534400" cy="642938"/>
              </a:xfrm>
              <a:prstGeom prst="rect">
                <a:avLst/>
              </a:prstGeom>
              <a:noFill/>
            </p:spPr>
            <p:txBody>
              <a:bodyPr vert="horz" rtlCol="0" anchor="ctr" anchorCtr="0">
                <a:noAutofit/>
              </a:bodyPr>
              <a:p>
                <a14:m>
                  <m:oMathPara xmlns:m="http://schemas.openxmlformats.org/officeDocument/2006/math">
                    <m:oMathParaPr>
                      <m:jc m:val="centerGroup"/>
                    </m:oMathParaPr>
                    <m:oMath xmlns:m="http://schemas.openxmlformats.org/officeDocument/2006/math">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𝑓</m:t>
                      </m:r>
                      <m:d>
                        <m:d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d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𝑋</m:t>
                          </m:r>
                        </m:e>
                      </m:d>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oMath>
                  </m:oMathPara>
                </a14:m>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24" name="文本框 23"/>
              <p:cNvSpPr txBox="1">
                <a:spLocks noRot="1" noChangeAspect="1" noMove="1" noResize="1" noEditPoints="1" noAdjustHandles="1" noChangeArrowheads="1" noChangeShapeType="1" noTextEdit="1"/>
              </p:cNvSpPr>
              <p:nvPr>
                <p:custDataLst>
                  <p:tags r:id="rId18"/>
                </p:custDataLst>
              </p:nvPr>
            </p:nvSpPr>
            <p:spPr>
              <a:xfrm>
                <a:off x="2438400" y="4266702"/>
                <a:ext cx="8534400" cy="642938"/>
              </a:xfrm>
              <a:prstGeom prst="rect">
                <a:avLst/>
              </a:prstGeom>
              <a:blipFill rotWithShape="1">
                <a:blip r:embed="rId19"/>
                <a:stretch>
                  <a:fillRect t="-21" b="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文本框 25"/>
              <p:cNvSpPr txBox="1"/>
              <p:nvPr>
                <p:custDataLst>
                  <p:tags r:id="rId20"/>
                </p:custDataLst>
              </p:nvPr>
            </p:nvSpPr>
            <p:spPr>
              <a:xfrm>
                <a:off x="2438400" y="4756559"/>
                <a:ext cx="8534400" cy="642938"/>
              </a:xfrm>
              <a:prstGeom prst="rect">
                <a:avLst/>
              </a:prstGeom>
              <a:noFill/>
            </p:spPr>
            <p:txBody>
              <a:bodyPr vert="horz" rtlCol="0" anchor="ctr" anchorCtr="0">
                <a:noAutofit/>
              </a:bodyPr>
              <a:p>
                <a14:m>
                  <m:oMathPara xmlns:m="http://schemas.openxmlformats.org/officeDocument/2006/math">
                    <m:oMathParaPr>
                      <m:jc m:val="centerGroup"/>
                    </m:oMathParaPr>
                    <m:oMath xmlns:m="http://schemas.openxmlformats.org/officeDocument/2006/math">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𝑓</m:t>
                      </m:r>
                      <m:d>
                        <m:dPr>
                          <m:ctrlP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dPr>
                        <m:e>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𝑋</m:t>
                          </m:r>
                        </m:e>
                      </m:d>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3</m:t>
                      </m:r>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4</m:t>
                      </m:r>
                      <m:sSub>
                        <m:sSubPr>
                          <m:ctrlP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𝑋</m:t>
                          </m:r>
                        </m:e>
                        <m:sub>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Sub>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5</m:t>
                      </m:r>
                      <m:sSubSup>
                        <m:sSubSupPr>
                          <m:ctrlP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𝑋</m:t>
                          </m:r>
                        </m:e>
                        <m:sub>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up>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p>
                      </m:sSubSup>
                    </m:oMath>
                  </m:oMathPara>
                </a14:m>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26" name="文本框 25"/>
              <p:cNvSpPr txBox="1">
                <a:spLocks noRot="1" noChangeAspect="1" noMove="1" noResize="1" noEditPoints="1" noAdjustHandles="1" noChangeArrowheads="1" noChangeShapeType="1" noTextEdit="1"/>
              </p:cNvSpPr>
              <p:nvPr>
                <p:custDataLst>
                  <p:tags r:id="rId21"/>
                </p:custDataLst>
              </p:nvPr>
            </p:nvSpPr>
            <p:spPr>
              <a:xfrm>
                <a:off x="2438400" y="4756559"/>
                <a:ext cx="8534400" cy="642938"/>
              </a:xfrm>
              <a:prstGeom prst="rect">
                <a:avLst/>
              </a:prstGeom>
              <a:blipFill rotWithShape="1">
                <a:blip r:embed="rId22"/>
                <a:stretch>
                  <a:fillRect t="-64" b="14"/>
                </a:stretch>
              </a:blipFill>
            </p:spPr>
            <p:txBody>
              <a:bodyPr/>
              <a:lstStyle/>
              <a:p>
                <a:r>
                  <a:rPr lang="zh-CN" altLang="en-US">
                    <a:noFill/>
                  </a:rPr>
                  <a:t> </a:t>
                </a:r>
              </a:p>
            </p:txBody>
          </p:sp>
        </mc:Fallback>
      </mc:AlternateContent>
      <p:sp>
        <p:nvSpPr>
          <p:cNvPr id="27" name="矩形 26"/>
          <p:cNvSpPr>
            <a:spLocks noChangeAspect="1"/>
          </p:cNvSpPr>
          <p:nvPr>
            <p:custDataLst>
              <p:tags r:id="rId23"/>
            </p:custDataLst>
          </p:nvPr>
        </p:nvSpPr>
        <p:spPr>
          <a:xfrm>
            <a:off x="1571625" y="4820853"/>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mc:AlternateContent xmlns:mc="http://schemas.openxmlformats.org/markup-compatibility/2006">
        <mc:Choice xmlns:a14="http://schemas.microsoft.com/office/drawing/2010/main" Requires="a14">
          <p:sp>
            <p:nvSpPr>
              <p:cNvPr id="28" name="文本框 27"/>
              <p:cNvSpPr txBox="1"/>
              <p:nvPr>
                <p:custDataLst>
                  <p:tags r:id="rId24"/>
                </p:custDataLst>
              </p:nvPr>
            </p:nvSpPr>
            <p:spPr>
              <a:xfrm>
                <a:off x="2438400" y="5246416"/>
                <a:ext cx="8534400" cy="642938"/>
              </a:xfrm>
              <a:prstGeom prst="rect">
                <a:avLst/>
              </a:prstGeom>
              <a:noFill/>
            </p:spPr>
            <p:txBody>
              <a:bodyPr vert="horz" rtlCol="0" anchor="ctr" anchorCtr="0">
                <a:noAutofit/>
              </a:bodyPr>
              <a:p>
                <a14:m>
                  <m:oMathPara xmlns:m="http://schemas.openxmlformats.org/officeDocument/2006/math">
                    <m:oMathParaPr>
                      <m:jc m:val="centerGroup"/>
                    </m:oMathParaPr>
                    <m:oMath xmlns:m="http://schemas.openxmlformats.org/officeDocument/2006/math">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𝑓</m:t>
                      </m:r>
                      <m:d>
                        <m:dPr>
                          <m:ctrlP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dPr>
                        <m:e>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𝑋</m:t>
                          </m:r>
                        </m:e>
                      </m:d>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
                        <m:sSubPr>
                          <m:ctrlP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𝑋</m:t>
                          </m:r>
                        </m:e>
                        <m:sub>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Sub>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
                        <m:sSubPr>
                          <m:ctrlP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𝑋</m:t>
                          </m:r>
                        </m:e>
                        <m:sub>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Sub>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
                        <m:sSubPr>
                          <m:ctrlP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𝑋</m:t>
                          </m:r>
                        </m:e>
                        <m:sub>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oMath>
                  </m:oMathPara>
                </a14:m>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28" name="文本框 27"/>
              <p:cNvSpPr txBox="1">
                <a:spLocks noRot="1" noChangeAspect="1" noMove="1" noResize="1" noEditPoints="1" noAdjustHandles="1" noChangeArrowheads="1" noChangeShapeType="1" noTextEdit="1"/>
              </p:cNvSpPr>
              <p:nvPr>
                <p:custDataLst>
                  <p:tags r:id="rId25"/>
                </p:custDataLst>
              </p:nvPr>
            </p:nvSpPr>
            <p:spPr>
              <a:xfrm>
                <a:off x="2438400" y="5246416"/>
                <a:ext cx="8534400" cy="642938"/>
              </a:xfrm>
              <a:prstGeom prst="rect">
                <a:avLst/>
              </a:prstGeom>
              <a:blipFill rotWithShape="1">
                <a:blip r:embed="rId26"/>
                <a:stretch>
                  <a:fillRect t="-7" b="57"/>
                </a:stretch>
              </a:blipFill>
            </p:spPr>
            <p:txBody>
              <a:bodyPr/>
              <a:lstStyle/>
              <a:p>
                <a:r>
                  <a:rPr lang="zh-CN" altLang="en-US">
                    <a:noFill/>
                  </a:rPr>
                  <a:t> </a:t>
                </a:r>
              </a:p>
            </p:txBody>
          </p:sp>
        </mc:Fallback>
      </mc:AlternateContent>
      <p:sp>
        <p:nvSpPr>
          <p:cNvPr id="29" name="矩形 28"/>
          <p:cNvSpPr>
            <a:spLocks noChangeAspect="1"/>
          </p:cNvSpPr>
          <p:nvPr>
            <p:custDataLst>
              <p:tags r:id="rId27"/>
            </p:custDataLst>
          </p:nvPr>
        </p:nvSpPr>
        <p:spPr>
          <a:xfrm>
            <a:off x="1571625" y="5310710"/>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G</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矩形 3"/>
          <p:cNvSpPr>
            <a:spLocks noChangeAspect="1"/>
          </p:cNvSpPr>
          <p:nvPr>
            <p:custDataLst>
              <p:tags r:id="rId28"/>
            </p:custDataLst>
          </p:nvPr>
        </p:nvSpPr>
        <p:spPr>
          <a:xfrm>
            <a:off x="1566545" y="4306593"/>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1" forceAA="0" compatLnSpc="1">
            <a:noAutofit/>
          </a:bodyPr>
          <a:p>
            <a:pPr lvl="0" algn="ctr">
              <a:buClrTx/>
              <a:buSzTx/>
              <a:buFontTx/>
            </a:pP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E</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56736"/>
            <a:ext cx="10515600" cy="1325563"/>
          </a:xfrm>
        </p:spPr>
        <p:txBody>
          <a:bodyPr/>
          <a:lstStyle/>
          <a:p>
            <a:r>
              <a:rPr lang="zh-CN" altLang="en-US" dirty="0"/>
              <a:t>如何构建一个线性规划模型</a:t>
            </a:r>
            <a:endParaRPr lang="zh-CN" altLang="en-US" dirty="0"/>
          </a:p>
        </p:txBody>
      </p:sp>
      <p:sp>
        <p:nvSpPr>
          <p:cNvPr id="4" name="矩形 3"/>
          <p:cNvSpPr/>
          <p:nvPr/>
        </p:nvSpPr>
        <p:spPr>
          <a:xfrm>
            <a:off x="838200" y="3481431"/>
            <a:ext cx="1846277" cy="6459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楷体" panose="02010609060101010101" pitchFamily="49" charset="-122"/>
                <a:ea typeface="楷体" panose="02010609060101010101" pitchFamily="49" charset="-122"/>
              </a:rPr>
              <a:t>待解决的问题</a:t>
            </a:r>
            <a:endParaRPr lang="zh-CN" altLang="en-US" dirty="0">
              <a:latin typeface="楷体" panose="02010609060101010101" pitchFamily="49" charset="-122"/>
              <a:ea typeface="楷体" panose="02010609060101010101" pitchFamily="49" charset="-122"/>
            </a:endParaRPr>
          </a:p>
        </p:txBody>
      </p:sp>
      <p:sp>
        <p:nvSpPr>
          <p:cNvPr id="5" name="箭头: 右 4"/>
          <p:cNvSpPr/>
          <p:nvPr/>
        </p:nvSpPr>
        <p:spPr>
          <a:xfrm>
            <a:off x="2952925" y="3649211"/>
            <a:ext cx="637563" cy="3523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楷体" panose="02010609060101010101" pitchFamily="49" charset="-122"/>
              <a:ea typeface="楷体" panose="02010609060101010101" pitchFamily="49" charset="-122"/>
            </a:endParaRPr>
          </a:p>
        </p:txBody>
      </p:sp>
      <p:sp>
        <p:nvSpPr>
          <p:cNvPr id="6" name="矩形 5"/>
          <p:cNvSpPr/>
          <p:nvPr/>
        </p:nvSpPr>
        <p:spPr>
          <a:xfrm>
            <a:off x="3876413" y="3481431"/>
            <a:ext cx="1846277" cy="6459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楷体" panose="02010609060101010101" pitchFamily="49" charset="-122"/>
                <a:ea typeface="楷体" panose="02010609060101010101" pitchFamily="49" charset="-122"/>
              </a:rPr>
              <a:t>定义决策变量</a:t>
            </a:r>
            <a:endParaRPr lang="zh-CN" altLang="en-US" dirty="0">
              <a:latin typeface="楷体" panose="02010609060101010101" pitchFamily="49" charset="-122"/>
              <a:ea typeface="楷体" panose="02010609060101010101" pitchFamily="49" charset="-122"/>
            </a:endParaRPr>
          </a:p>
        </p:txBody>
      </p:sp>
      <p:sp>
        <p:nvSpPr>
          <p:cNvPr id="7" name="箭头: 右 6"/>
          <p:cNvSpPr/>
          <p:nvPr/>
        </p:nvSpPr>
        <p:spPr>
          <a:xfrm rot="19410786">
            <a:off x="5907948" y="3295170"/>
            <a:ext cx="643855" cy="3523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楷体" panose="02010609060101010101" pitchFamily="49" charset="-122"/>
              <a:ea typeface="楷体" panose="02010609060101010101" pitchFamily="49" charset="-122"/>
            </a:endParaRPr>
          </a:p>
        </p:txBody>
      </p:sp>
      <p:sp>
        <p:nvSpPr>
          <p:cNvPr id="8" name="箭头: 右 7"/>
          <p:cNvSpPr/>
          <p:nvPr/>
        </p:nvSpPr>
        <p:spPr>
          <a:xfrm rot="2164197">
            <a:off x="5896766" y="3951215"/>
            <a:ext cx="643855" cy="3523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6741605" y="2835479"/>
            <a:ext cx="1846277" cy="6459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楷体" panose="02010609060101010101" pitchFamily="49" charset="-122"/>
                <a:ea typeface="楷体" panose="02010609060101010101" pitchFamily="49" charset="-122"/>
              </a:rPr>
              <a:t>构建目标函数</a:t>
            </a:r>
            <a:endParaRPr lang="zh-CN" altLang="en-US" dirty="0">
              <a:latin typeface="楷体" panose="02010609060101010101" pitchFamily="49" charset="-122"/>
              <a:ea typeface="楷体" panose="02010609060101010101" pitchFamily="49" charset="-122"/>
            </a:endParaRPr>
          </a:p>
        </p:txBody>
      </p:sp>
      <p:sp>
        <p:nvSpPr>
          <p:cNvPr id="10" name="矩形 9"/>
          <p:cNvSpPr/>
          <p:nvPr/>
        </p:nvSpPr>
        <p:spPr>
          <a:xfrm>
            <a:off x="6741604" y="4127383"/>
            <a:ext cx="1846277" cy="6459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楷体" panose="02010609060101010101" pitchFamily="49" charset="-122"/>
                <a:ea typeface="楷体" panose="02010609060101010101" pitchFamily="49" charset="-122"/>
              </a:rPr>
              <a:t>构建约束条件</a:t>
            </a:r>
            <a:endParaRPr lang="zh-CN" altLang="en-US" dirty="0">
              <a:latin typeface="楷体" panose="02010609060101010101" pitchFamily="49" charset="-122"/>
              <a:ea typeface="楷体" panose="02010609060101010101" pitchFamily="49" charset="-122"/>
            </a:endParaRPr>
          </a:p>
        </p:txBody>
      </p:sp>
      <p:sp>
        <p:nvSpPr>
          <p:cNvPr id="11" name="箭头: 右 10"/>
          <p:cNvSpPr/>
          <p:nvPr/>
        </p:nvSpPr>
        <p:spPr>
          <a:xfrm rot="1587386">
            <a:off x="8917147" y="3252830"/>
            <a:ext cx="643855" cy="3523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楷体" panose="02010609060101010101" pitchFamily="49" charset="-122"/>
              <a:ea typeface="楷体" panose="02010609060101010101" pitchFamily="49" charset="-122"/>
            </a:endParaRPr>
          </a:p>
        </p:txBody>
      </p:sp>
      <p:sp>
        <p:nvSpPr>
          <p:cNvPr id="12" name="箭头: 右 11"/>
          <p:cNvSpPr/>
          <p:nvPr/>
        </p:nvSpPr>
        <p:spPr>
          <a:xfrm rot="19625727">
            <a:off x="8905965" y="3908875"/>
            <a:ext cx="643855" cy="3523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楷体" panose="02010609060101010101" pitchFamily="49" charset="-122"/>
              <a:ea typeface="楷体" panose="02010609060101010101" pitchFamily="49" charset="-122"/>
            </a:endParaRPr>
          </a:p>
        </p:txBody>
      </p:sp>
      <p:sp>
        <p:nvSpPr>
          <p:cNvPr id="13" name="椭圆 12"/>
          <p:cNvSpPr/>
          <p:nvPr/>
        </p:nvSpPr>
        <p:spPr>
          <a:xfrm>
            <a:off x="9739618" y="3429000"/>
            <a:ext cx="1803633" cy="698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楷体" panose="02010609060101010101" pitchFamily="49" charset="-122"/>
                <a:ea typeface="楷体" panose="02010609060101010101" pitchFamily="49" charset="-122"/>
              </a:rPr>
              <a:t>最优解和最优值</a:t>
            </a:r>
            <a:endParaRPr lang="zh-CN" altLang="en-US" dirty="0">
              <a:latin typeface="楷体" panose="02010609060101010101" pitchFamily="49" charset="-122"/>
              <a:ea typeface="楷体" panose="02010609060101010101" pitchFamily="49" charset="-122"/>
            </a:endParaRPr>
          </a:p>
        </p:txBody>
      </p:sp>
      <p:sp>
        <p:nvSpPr>
          <p:cNvPr id="15" name="文本框 14"/>
          <p:cNvSpPr txBox="1"/>
          <p:nvPr/>
        </p:nvSpPr>
        <p:spPr>
          <a:xfrm>
            <a:off x="771786" y="1602297"/>
            <a:ext cx="5167619" cy="923330"/>
          </a:xfrm>
          <a:prstGeom prst="rect">
            <a:avLst/>
          </a:prstGeom>
          <a:noFill/>
        </p:spPr>
        <p:txBody>
          <a:bodyPr wrap="square" rtlCol="0">
            <a:spAutoFit/>
          </a:bodyPr>
          <a:lstStyle/>
          <a:p>
            <a:r>
              <a:rPr lang="zh-CN" altLang="en-US" dirty="0">
                <a:solidFill>
                  <a:schemeClr val="tx1"/>
                </a:solidFill>
                <a:latin typeface="楷体" panose="02010609060101010101" pitchFamily="49" charset="-122"/>
                <a:ea typeface="楷体" panose="02010609060101010101" pitchFamily="49" charset="-122"/>
              </a:rPr>
              <a:t>理解要解决的问题：在什么条件下追求什么</a:t>
            </a:r>
            <a:r>
              <a:rPr lang="zh-CN" altLang="en-US" dirty="0">
                <a:latin typeface="楷体" panose="02010609060101010101" pitchFamily="49" charset="-122"/>
                <a:ea typeface="楷体" panose="02010609060101010101" pitchFamily="49" charset="-122"/>
              </a:rPr>
              <a:t>目标，求最大值还是最小值？</a:t>
            </a:r>
            <a:endParaRPr lang="en-US" altLang="zh-CN" dirty="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16" name="文本框 15"/>
              <p:cNvSpPr txBox="1"/>
              <p:nvPr/>
            </p:nvSpPr>
            <p:spPr>
              <a:xfrm>
                <a:off x="771786" y="4773335"/>
                <a:ext cx="4950904" cy="923330"/>
              </a:xfrm>
              <a:prstGeom prst="rect">
                <a:avLst/>
              </a:prstGeom>
              <a:noFill/>
            </p:spPr>
            <p:txBody>
              <a:bodyPr wrap="square" rtlCol="0">
                <a:spAutoFit/>
              </a:bodyPr>
              <a:lstStyle/>
              <a:p>
                <a:r>
                  <a:rPr lang="zh-CN" altLang="en-US" dirty="0">
                    <a:solidFill>
                      <a:schemeClr val="tx1"/>
                    </a:solidFill>
                    <a:latin typeface="楷体" panose="02010609060101010101" pitchFamily="49" charset="-122"/>
                    <a:ea typeface="楷体" panose="02010609060101010101" pitchFamily="49" charset="-122"/>
                  </a:rPr>
                  <a:t>定义</a:t>
                </a:r>
                <a:r>
                  <a:rPr lang="zh-CN" altLang="en-US" dirty="0">
                    <a:solidFill>
                      <a:srgbClr val="FF0000"/>
                    </a:solidFill>
                    <a:latin typeface="楷体" panose="02010609060101010101" pitchFamily="49" charset="-122"/>
                    <a:ea typeface="楷体" panose="02010609060101010101" pitchFamily="49" charset="-122"/>
                  </a:rPr>
                  <a:t>决策变量</a:t>
                </a:r>
                <a:r>
                  <a:rPr lang="zh-CN" altLang="en-US" dirty="0">
                    <a:solidFill>
                      <a:schemeClr val="tx1"/>
                    </a:solidFill>
                    <a:latin typeface="楷体" panose="02010609060101010101" pitchFamily="49" charset="-122"/>
                    <a:ea typeface="楷体" panose="02010609060101010101" pitchFamily="49" charset="-122"/>
                  </a:rPr>
                  <a:t>表：每组</a:t>
                </a:r>
                <a14:m>
                  <m:oMath xmlns:m="http://schemas.openxmlformats.org/officeDocument/2006/math">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𝑥</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𝑥</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𝑥</m:t>
                        </m:r>
                      </m:e>
                      <m:sub>
                        <m:r>
                          <a:rPr lang="en-US" altLang="zh-CN" b="0" i="1" smtClean="0">
                            <a:solidFill>
                              <a:schemeClr val="tx1"/>
                            </a:solidFill>
                            <a:latin typeface="Cambria Math" panose="02040503050406030204" pitchFamily="18" charset="0"/>
                          </a:rPr>
                          <m:t>𝑛</m:t>
                        </m:r>
                      </m:sub>
                    </m:sSub>
                    <m:r>
                      <a:rPr lang="en-US" altLang="zh-CN" b="0" i="1" smtClean="0">
                        <a:solidFill>
                          <a:schemeClr val="tx1"/>
                        </a:solidFill>
                        <a:latin typeface="Cambria Math" panose="02040503050406030204" pitchFamily="18" charset="0"/>
                      </a:rPr>
                      <m:t>)</m:t>
                    </m:r>
                  </m:oMath>
                </a14:m>
                <a:r>
                  <a:rPr lang="zh-CN" altLang="en-US" dirty="0">
                    <a:solidFill>
                      <a:schemeClr val="tx1"/>
                    </a:solidFill>
                    <a:latin typeface="楷体" panose="02010609060101010101" pitchFamily="49" charset="-122"/>
                    <a:ea typeface="楷体" panose="02010609060101010101" pitchFamily="49" charset="-122"/>
                  </a:rPr>
                  <a:t>代表一个方案，一般决策变量都是非负值。</a:t>
                </a:r>
                <a:endParaRPr lang="en-US" altLang="zh-CN" dirty="0">
                  <a:solidFill>
                    <a:schemeClr val="tx1"/>
                  </a:solidFill>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771786" y="4773335"/>
                <a:ext cx="4950904" cy="923330"/>
              </a:xfrm>
              <a:prstGeom prst="rect">
                <a:avLst/>
              </a:prstGeom>
              <a:blipFill rotWithShape="1">
                <a:blip r:embed="rId1"/>
                <a:stretch>
                  <a:fillRect l="-5" t="-4" r="1" b="9"/>
                </a:stretch>
              </a:blipFill>
            </p:spPr>
            <p:txBody>
              <a:bodyPr/>
              <a:lstStyle/>
              <a:p>
                <a:r>
                  <a:rPr lang="zh-CN" altLang="en-US">
                    <a:noFill/>
                  </a:rPr>
                  <a:t> </a:t>
                </a:r>
              </a:p>
            </p:txBody>
          </p:sp>
        </mc:Fallback>
      </mc:AlternateContent>
      <p:sp>
        <p:nvSpPr>
          <p:cNvPr id="17" name="文本框 16"/>
          <p:cNvSpPr txBox="1"/>
          <p:nvPr/>
        </p:nvSpPr>
        <p:spPr>
          <a:xfrm>
            <a:off x="6593460" y="1602297"/>
            <a:ext cx="4826754" cy="923330"/>
          </a:xfrm>
          <a:prstGeom prst="rect">
            <a:avLst/>
          </a:prstGeom>
          <a:noFill/>
        </p:spPr>
        <p:txBody>
          <a:bodyPr wrap="square" rtlCol="0">
            <a:spAutoFit/>
          </a:bodyPr>
          <a:lstStyle/>
          <a:p>
            <a:r>
              <a:rPr lang="zh-CN" altLang="en-US" dirty="0">
                <a:solidFill>
                  <a:schemeClr val="tx1"/>
                </a:solidFill>
                <a:latin typeface="楷体" panose="02010609060101010101" pitchFamily="49" charset="-122"/>
                <a:ea typeface="楷体" panose="02010609060101010101" pitchFamily="49" charset="-122"/>
              </a:rPr>
              <a:t>用决策变量的线性函数形式写出</a:t>
            </a:r>
            <a:r>
              <a:rPr lang="zh-CN" altLang="en-US" dirty="0">
                <a:solidFill>
                  <a:srgbClr val="FF0000"/>
                </a:solidFill>
                <a:latin typeface="楷体" panose="02010609060101010101" pitchFamily="49" charset="-122"/>
                <a:ea typeface="楷体" panose="02010609060101010101" pitchFamily="49" charset="-122"/>
              </a:rPr>
              <a:t>目标函数</a:t>
            </a:r>
            <a:r>
              <a:rPr lang="zh-CN" altLang="en-US" dirty="0">
                <a:solidFill>
                  <a:schemeClr val="tx1"/>
                </a:solidFill>
                <a:latin typeface="楷体" panose="02010609060101010101" pitchFamily="49" charset="-122"/>
                <a:ea typeface="楷体" panose="02010609060101010101" pitchFamily="49" charset="-122"/>
              </a:rPr>
              <a:t>，按问题的不同，要求目标函数实现最大或最小化。</a:t>
            </a:r>
            <a:endParaRPr lang="en-US" altLang="zh-CN" dirty="0">
              <a:solidFill>
                <a:schemeClr val="tx1"/>
              </a:solidFill>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sp>
        <p:nvSpPr>
          <p:cNvPr id="18" name="文本框 17"/>
          <p:cNvSpPr txBox="1"/>
          <p:nvPr/>
        </p:nvSpPr>
        <p:spPr>
          <a:xfrm>
            <a:off x="6223247" y="5335480"/>
            <a:ext cx="4296792" cy="1200329"/>
          </a:xfrm>
          <a:prstGeom prst="rect">
            <a:avLst/>
          </a:prstGeom>
          <a:noFill/>
        </p:spPr>
        <p:txBody>
          <a:bodyPr wrap="square" rtlCol="0">
            <a:spAutoFit/>
          </a:bodyPr>
          <a:lstStyle/>
          <a:p>
            <a:r>
              <a:rPr lang="zh-CN" altLang="en-US" dirty="0">
                <a:solidFill>
                  <a:schemeClr val="tx1"/>
                </a:solidFill>
                <a:latin typeface="楷体" panose="02010609060101010101" pitchFamily="49" charset="-122"/>
                <a:ea typeface="楷体" panose="02010609060101010101" pitchFamily="49" charset="-122"/>
              </a:rPr>
              <a:t>用一组决策变量的线性不等式或等式来表示解决问题过程中所必须遵循的</a:t>
            </a:r>
            <a:r>
              <a:rPr lang="zh-CN" altLang="en-US" dirty="0">
                <a:solidFill>
                  <a:srgbClr val="FF0000"/>
                </a:solidFill>
                <a:latin typeface="楷体" panose="02010609060101010101" pitchFamily="49" charset="-122"/>
                <a:ea typeface="楷体" panose="02010609060101010101" pitchFamily="49" charset="-122"/>
              </a:rPr>
              <a:t>约束条件</a:t>
            </a:r>
            <a:endParaRPr lang="en-US" altLang="zh-CN" dirty="0">
              <a:solidFill>
                <a:srgbClr val="FF0000"/>
              </a:solidFill>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15"/>
                                        </p:tgtEl>
                                      </p:cBhvr>
                                    </p:animEffect>
                                    <p:set>
                                      <p:cBhvr>
                                        <p:cTn id="15" dur="1" fill="hold">
                                          <p:stCondLst>
                                            <p:cond delay="499"/>
                                          </p:stCondLst>
                                        </p:cTn>
                                        <p:tgtEl>
                                          <p:spTgt spid="15"/>
                                        </p:tgtEl>
                                        <p:attrNameLst>
                                          <p:attrName>style.visibility</p:attrName>
                                        </p:attrNameLst>
                                      </p:cBhvr>
                                      <p:to>
                                        <p:strVal val="hidden"/>
                                      </p:to>
                                    </p:se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6"/>
                                        </p:tgtEl>
                                        <p:attrNameLst>
                                          <p:attrName>style.visibility</p:attrName>
                                        </p:attrNameLst>
                                      </p:cBhvr>
                                      <p:to>
                                        <p:strVal val="hidden"/>
                                      </p:to>
                                    </p:set>
                                  </p:childTnLst>
                                </p:cTn>
                              </p:par>
                            </p:childTnLst>
                          </p:cTn>
                        </p:par>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grpId="1" nodeType="clickEffect">
                                  <p:stCondLst>
                                    <p:cond delay="0"/>
                                  </p:stCondLst>
                                  <p:childTnLst>
                                    <p:set>
                                      <p:cBhvr>
                                        <p:cTn id="43" dur="1" fill="hold">
                                          <p:stCondLst>
                                            <p:cond delay="0"/>
                                          </p:stCondLst>
                                        </p:cTn>
                                        <p:tgtEl>
                                          <p:spTgt spid="17"/>
                                        </p:tgtEl>
                                        <p:attrNameLst>
                                          <p:attrName>style.visibility</p:attrName>
                                        </p:attrNameLst>
                                      </p:cBhvr>
                                      <p:to>
                                        <p:strVal val="hidden"/>
                                      </p:to>
                                    </p:set>
                                  </p:childTnLst>
                                </p:cTn>
                              </p:par>
                            </p:childTnLst>
                          </p:cTn>
                        </p:par>
                        <p:par>
                          <p:cTn id="44" fill="hold">
                            <p:stCondLst>
                              <p:cond delay="0"/>
                            </p:stCondLst>
                            <p:childTnLst>
                              <p:par>
                                <p:cTn id="45" presetID="1" presetClass="entr" presetSubtype="0" fill="hold" grpId="0" nodeType="after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18"/>
                                        </p:tgtEl>
                                        <p:attrNameLst>
                                          <p:attrName>style.visibility</p:attrName>
                                        </p:attrNameLst>
                                      </p:cBhvr>
                                      <p:to>
                                        <p:strVal val="hidden"/>
                                      </p:to>
                                    </p:set>
                                  </p:childTnLst>
                                </p:cTn>
                              </p:par>
                            </p:childTnLst>
                          </p:cTn>
                        </p:par>
                        <p:par>
                          <p:cTn id="57" fill="hold">
                            <p:stCondLst>
                              <p:cond delay="0"/>
                            </p:stCondLst>
                            <p:childTnLst>
                              <p:par>
                                <p:cTn id="58" presetID="1" presetClass="entr" presetSubtype="0" fill="hold" grpId="0" nodeType="afterEffect">
                                  <p:stCondLst>
                                    <p:cond delay="0"/>
                                  </p:stCondLst>
                                  <p:childTnLst>
                                    <p:set>
                                      <p:cBhvr>
                                        <p:cTn id="59" dur="1" fill="hold">
                                          <p:stCondLst>
                                            <p:cond delay="0"/>
                                          </p:stCondLst>
                                        </p:cTn>
                                        <p:tgtEl>
                                          <p:spTgt spid="11"/>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2"/>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5" grpId="0"/>
      <p:bldP spid="15" grpId="1"/>
      <p:bldP spid="16" grpId="0"/>
      <p:bldP spid="16" grpId="1"/>
      <p:bldP spid="17" grpId="0"/>
      <p:bldP spid="17" grpId="1"/>
      <p:bldP spid="18" grpId="0"/>
      <p:bldP spid="18"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如何构建一个线性规划模型</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pPr marL="571500" indent="-571500">
                  <a:buFont typeface="+mj-ea"/>
                  <a:buAutoNum type="ea1JpnChsDbPeriod"/>
                </a:pPr>
                <a:r>
                  <a:rPr lang="zh-CN" altLang="en-US" dirty="0">
                    <a:solidFill>
                      <a:schemeClr val="tx1"/>
                    </a:solidFill>
                  </a:rPr>
                  <a:t>理解要解决的问题：在什么条件下追求什么</a:t>
                </a:r>
                <a:r>
                  <a:rPr lang="zh-CN" altLang="en-US" dirty="0"/>
                  <a:t>目标</a:t>
                </a:r>
                <a:endParaRPr lang="en-US" altLang="zh-CN" dirty="0"/>
              </a:p>
              <a:p>
                <a:pPr marL="571500" indent="-571500">
                  <a:buFont typeface="+mj-ea"/>
                  <a:buAutoNum type="ea1JpnChsDbPeriod"/>
                </a:pPr>
                <a:r>
                  <a:rPr lang="zh-CN" altLang="en-US" dirty="0">
                    <a:solidFill>
                      <a:schemeClr val="tx1"/>
                    </a:solidFill>
                  </a:rPr>
                  <a:t>定义</a:t>
                </a:r>
                <a:r>
                  <a:rPr lang="zh-CN" altLang="en-US" dirty="0">
                    <a:solidFill>
                      <a:srgbClr val="FF0000"/>
                    </a:solidFill>
                  </a:rPr>
                  <a:t>决策变量</a:t>
                </a:r>
                <a:r>
                  <a:rPr lang="zh-CN" altLang="en-US" dirty="0">
                    <a:solidFill>
                      <a:schemeClr val="tx1"/>
                    </a:solidFill>
                  </a:rPr>
                  <a:t>表：每组</a:t>
                </a:r>
                <a14:m>
                  <m:oMath xmlns:m="http://schemas.openxmlformats.org/officeDocument/2006/math">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𝑥</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𝑥</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𝑥</m:t>
                        </m:r>
                      </m:e>
                      <m:sub>
                        <m:r>
                          <a:rPr lang="en-US" altLang="zh-CN" b="0" i="1" smtClean="0">
                            <a:solidFill>
                              <a:schemeClr val="tx1"/>
                            </a:solidFill>
                            <a:latin typeface="Cambria Math" panose="02040503050406030204" pitchFamily="18" charset="0"/>
                          </a:rPr>
                          <m:t>𝑛</m:t>
                        </m:r>
                      </m:sub>
                    </m:sSub>
                    <m:r>
                      <a:rPr lang="en-US" altLang="zh-CN" b="0" i="1" smtClean="0">
                        <a:solidFill>
                          <a:schemeClr val="tx1"/>
                        </a:solidFill>
                        <a:latin typeface="Cambria Math" panose="02040503050406030204" pitchFamily="18" charset="0"/>
                      </a:rPr>
                      <m:t>)</m:t>
                    </m:r>
                  </m:oMath>
                </a14:m>
                <a:r>
                  <a:rPr lang="zh-CN" altLang="en-US" dirty="0">
                    <a:solidFill>
                      <a:schemeClr val="tx1"/>
                    </a:solidFill>
                  </a:rPr>
                  <a:t>代表一个方案，一般决策变量都是非负值。</a:t>
                </a:r>
                <a:endParaRPr lang="en-US" altLang="zh-CN" dirty="0">
                  <a:solidFill>
                    <a:schemeClr val="tx1"/>
                  </a:solidFill>
                </a:endParaRPr>
              </a:p>
              <a:p>
                <a:pPr marL="571500" indent="-571500">
                  <a:buFont typeface="+mj-ea"/>
                  <a:buAutoNum type="ea1JpnChsDbPeriod"/>
                </a:pPr>
                <a:r>
                  <a:rPr lang="zh-CN" altLang="en-US" dirty="0">
                    <a:solidFill>
                      <a:schemeClr val="tx1"/>
                    </a:solidFill>
                  </a:rPr>
                  <a:t>用决策变量的线性函数形式写出</a:t>
                </a:r>
                <a:r>
                  <a:rPr lang="zh-CN" altLang="en-US" dirty="0">
                    <a:solidFill>
                      <a:srgbClr val="FF0000"/>
                    </a:solidFill>
                  </a:rPr>
                  <a:t>目标函数</a:t>
                </a:r>
                <a:r>
                  <a:rPr lang="zh-CN" altLang="en-US" dirty="0">
                    <a:solidFill>
                      <a:schemeClr val="tx1"/>
                    </a:solidFill>
                  </a:rPr>
                  <a:t>，按问题的不同，要求目标函数实现最大或最小化。</a:t>
                </a:r>
                <a:endParaRPr lang="en-US" altLang="zh-CN" dirty="0">
                  <a:solidFill>
                    <a:schemeClr val="tx1"/>
                  </a:solidFill>
                </a:endParaRPr>
              </a:p>
              <a:p>
                <a:pPr marL="571500" indent="-571500">
                  <a:buFont typeface="+mj-ea"/>
                  <a:buAutoNum type="ea1JpnChsDbPeriod"/>
                </a:pPr>
                <a:r>
                  <a:rPr lang="zh-CN" altLang="en-US" dirty="0">
                    <a:solidFill>
                      <a:schemeClr val="tx1"/>
                    </a:solidFill>
                  </a:rPr>
                  <a:t>用一组决策变量的线性不等式或等式来表示解决问题过程中所必须遵循的</a:t>
                </a:r>
                <a:r>
                  <a:rPr lang="zh-CN" altLang="en-US" dirty="0">
                    <a:solidFill>
                      <a:srgbClr val="FF0000"/>
                    </a:solidFill>
                  </a:rPr>
                  <a:t>约束条件</a:t>
                </a:r>
                <a:endParaRPr lang="en-US" altLang="zh-CN" dirty="0">
                  <a:solidFill>
                    <a:srgbClr val="FF0000"/>
                  </a:solidFill>
                </a:endParaRPr>
              </a:p>
              <a:p>
                <a:pPr marL="0" indent="0">
                  <a:buNone/>
                </a:pPr>
                <a:r>
                  <a:rPr lang="zh-CN" altLang="en-US" dirty="0">
                    <a:latin typeface="楷体" panose="02010609060101010101" pitchFamily="49" charset="-122"/>
                  </a:rPr>
                  <a:t>满足条件二、三、四的数学模型称之为线性规划的数学模型。</a:t>
                </a:r>
                <a:endParaRPr lang="zh-CN" altLang="en-US" dirty="0">
                  <a:solidFill>
                    <a:srgbClr val="FF0000"/>
                  </a:solidFill>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矩形 3"/>
          <p:cNvSpPr/>
          <p:nvPr/>
        </p:nvSpPr>
        <p:spPr>
          <a:xfrm>
            <a:off x="745724" y="2263806"/>
            <a:ext cx="10608076" cy="271656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线性规划的一般形式</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fontScale="92500" lnSpcReduction="10000"/>
              </a:bodyPr>
              <a:lstStyle/>
              <a:p>
                <a:pPr marL="0" indent="0">
                  <a:buNone/>
                </a:pPr>
                <a:r>
                  <a:rPr lang="zh-CN" altLang="en-US" dirty="0">
                    <a:latin typeface="楷体" panose="02010609060101010101" pitchFamily="49" charset="-122"/>
                  </a:rPr>
                  <a:t>所有线性规划都可以用同一种一般形式表示</a:t>
                </a:r>
                <a:endParaRPr lang="en-US" altLang="zh-CN" dirty="0">
                  <a:latin typeface="楷体" panose="02010609060101010101" pitchFamily="49" charset="-122"/>
                </a:endParaRPr>
              </a:p>
              <a:p>
                <a:pPr marL="0" indent="0">
                  <a:buNone/>
                </a:pPr>
                <a:r>
                  <a:rPr lang="zh-CN" altLang="en-US" dirty="0">
                    <a:latin typeface="楷体" panose="02010609060101010101" pitchFamily="49" charset="-122"/>
                  </a:rPr>
                  <a:t>假设需要根据</a:t>
                </a:r>
                <a:r>
                  <a:rPr lang="en-US" altLang="zh-CN" dirty="0">
                    <a:solidFill>
                      <a:srgbClr val="FF0000"/>
                    </a:solidFill>
                    <a:latin typeface="楷体" panose="02010609060101010101" pitchFamily="49" charset="-122"/>
                  </a:rPr>
                  <a:t>n</a:t>
                </a:r>
                <a:r>
                  <a:rPr lang="zh-CN" altLang="en-US" dirty="0">
                    <a:solidFill>
                      <a:srgbClr val="FF0000"/>
                    </a:solidFill>
                    <a:latin typeface="楷体" panose="02010609060101010101" pitchFamily="49" charset="-122"/>
                  </a:rPr>
                  <a:t>个决策变量</a:t>
                </a:r>
                <a:r>
                  <a:rPr lang="zh-CN" altLang="en-US" dirty="0">
                    <a:latin typeface="楷体" panose="02010609060101010101" pitchFamily="49" charset="-122"/>
                  </a:rPr>
                  <a:t>和</a:t>
                </a:r>
                <a:r>
                  <a:rPr lang="en-US" altLang="zh-CN" dirty="0">
                    <a:solidFill>
                      <a:srgbClr val="FF0000"/>
                    </a:solidFill>
                    <a:latin typeface="楷体" panose="02010609060101010101" pitchFamily="49" charset="-122"/>
                  </a:rPr>
                  <a:t>m</a:t>
                </a:r>
                <a:r>
                  <a:rPr lang="zh-CN" altLang="en-US" dirty="0">
                    <a:solidFill>
                      <a:srgbClr val="FF0000"/>
                    </a:solidFill>
                    <a:latin typeface="楷体" panose="02010609060101010101" pitchFamily="49" charset="-122"/>
                  </a:rPr>
                  <a:t>个约束条件</a:t>
                </a:r>
                <a:r>
                  <a:rPr lang="zh-CN" altLang="en-US" dirty="0">
                    <a:latin typeface="楷体" panose="02010609060101010101" pitchFamily="49" charset="-122"/>
                  </a:rPr>
                  <a:t>求解目标函数</a:t>
                </a:r>
                <a:r>
                  <a:rPr lang="zh-CN" altLang="en-US" dirty="0">
                    <a:solidFill>
                      <a:srgbClr val="FF0000"/>
                    </a:solidFill>
                    <a:latin typeface="楷体" panose="02010609060101010101" pitchFamily="49" charset="-122"/>
                  </a:rPr>
                  <a:t>最大值问题</a:t>
                </a:r>
                <a:r>
                  <a:rPr lang="zh-CN" altLang="en-US" dirty="0">
                    <a:latin typeface="楷体" panose="02010609060101010101" pitchFamily="49" charset="-122"/>
                  </a:rPr>
                  <a:t>：</a:t>
                </a:r>
                <a:endParaRPr lang="en-US" altLang="zh-CN" dirty="0">
                  <a:latin typeface="楷体" panose="02010609060101010101" pitchFamily="49" charset="-122"/>
                </a:endParaRPr>
              </a:p>
              <a:p>
                <a:pPr marL="0" indent="0">
                  <a:buNone/>
                </a:pPr>
                <a:r>
                  <a:rPr lang="zh-CN" altLang="en-US" dirty="0">
                    <a:latin typeface="楷体" panose="02010609060101010101" pitchFamily="49" charset="-122"/>
                  </a:rPr>
                  <a:t>决策变量：</a:t>
                </a:r>
                <a14:m>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oMath>
                </a14:m>
                <a:endParaRPr lang="en-US" altLang="zh-CN" dirty="0">
                  <a:latin typeface="楷体" panose="02010609060101010101" pitchFamily="49" charset="-122"/>
                </a:endParaRPr>
              </a:p>
              <a:p>
                <a:pPr marL="0" indent="0">
                  <a:buNone/>
                </a:pPr>
                <a:endParaRPr lang="en-US" altLang="zh-CN" dirty="0">
                  <a:latin typeface="楷体" panose="02010609060101010101" pitchFamily="49" charset="-122"/>
                </a:endParaRPr>
              </a:p>
              <a:p>
                <a:pPr marL="0" indent="0">
                  <a:buNone/>
                </a:pPr>
                <a:r>
                  <a:rPr lang="zh-CN" altLang="en-US" dirty="0">
                    <a:latin typeface="楷体" panose="02010609060101010101" pitchFamily="49" charset="-122"/>
                  </a:rPr>
                  <a:t>目标函数：</a:t>
                </a:r>
                <a14:m>
                  <m:oMath xmlns:m="http://schemas.openxmlformats.org/officeDocument/2006/math">
                    <m:func>
                      <m:funcPr>
                        <m:ctrlPr>
                          <a:rPr lang="en-US" altLang="zh-CN" i="1" smtClean="0">
                            <a:latin typeface="Cambria Math" panose="02040503050406030204" pitchFamily="18" charset="0"/>
                          </a:rPr>
                        </m:ctrlPr>
                      </m:funcPr>
                      <m:fName>
                        <m:limLow>
                          <m:limLowPr>
                            <m:ctrlPr>
                              <a:rPr lang="en-US" altLang="zh-CN" i="1" smtClean="0">
                                <a:latin typeface="Cambria Math" panose="02040503050406030204" pitchFamily="18" charset="0"/>
                              </a:rPr>
                            </m:ctrlPr>
                          </m:limLowPr>
                          <m:e>
                            <m:r>
                              <m:rPr>
                                <m:sty m:val="p"/>
                              </m:rPr>
                              <a:rPr lang="en-US" altLang="zh-CN" i="0" smtClean="0">
                                <a:latin typeface="Cambria Math" panose="02040503050406030204" pitchFamily="18" charset="0"/>
                              </a:rPr>
                              <m:t>max</m:t>
                            </m:r>
                          </m:e>
                          <m:lim>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m:t>
                                </m:r>
                              </m:sub>
                            </m:sSub>
                          </m:lim>
                        </m:limLow>
                      </m:fName>
                      <m:e>
                        <m:r>
                          <a:rPr lang="en-US" altLang="zh-CN" b="0" i="1" smtClean="0">
                            <a:latin typeface="Cambria Math" panose="02040503050406030204" pitchFamily="18" charset="0"/>
                          </a:rPr>
                          <m:t>𝑍</m:t>
                        </m:r>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𝑛</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𝑛</m:t>
                            </m:r>
                          </m:sub>
                        </m:sSub>
                      </m:e>
                    </m:func>
                  </m:oMath>
                </a14:m>
                <a:endParaRPr lang="en-US" altLang="zh-CN" dirty="0">
                  <a:latin typeface="楷体" panose="02010609060101010101" pitchFamily="49" charset="-122"/>
                </a:endParaRPr>
              </a:p>
              <a:p>
                <a:pPr marL="0" indent="0">
                  <a:buNone/>
                </a:pPr>
                <a:endParaRPr lang="en-US" altLang="zh-CN" dirty="0">
                  <a:latin typeface="楷体" panose="02010609060101010101" pitchFamily="49" charset="-122"/>
                </a:endParaRPr>
              </a:p>
              <a:p>
                <a:pPr marL="0" indent="0">
                  <a:buNone/>
                </a:pPr>
                <a:r>
                  <a:rPr lang="zh-CN" altLang="en-US" dirty="0">
                    <a:latin typeface="楷体" panose="02010609060101010101" pitchFamily="49" charset="-122"/>
                  </a:rPr>
                  <a:t>约束条件：</a:t>
                </a:r>
                <a14:m>
                  <m:oMath xmlns:m="http://schemas.openxmlformats.org/officeDocument/2006/math">
                    <m:m>
                      <m:mPr>
                        <m:mcs>
                          <m:mc>
                            <m:mcPr>
                              <m:count m:val="1"/>
                              <m:mcJc m:val="center"/>
                            </m:mcPr>
                          </m:mc>
                        </m:mcs>
                        <m:ctrlPr>
                          <a:rPr lang="en-US" altLang="zh-CN" i="1" smtClean="0">
                            <a:latin typeface="Cambria Math" panose="02040503050406030204" pitchFamily="18" charset="0"/>
                          </a:rPr>
                        </m:ctrlPr>
                      </m:mPr>
                      <m:mr>
                        <m:e>
                          <m:sSub>
                            <m:sSubPr>
                              <m:ctrlPr>
                                <a:rPr lang="en-US" altLang="zh-CN" b="0" i="1" smtClean="0">
                                  <a:latin typeface="Cambria Math" panose="02040503050406030204" pitchFamily="18" charset="0"/>
                                </a:rPr>
                              </m:ctrlPr>
                            </m:sSubPr>
                            <m:e>
                              <m:r>
                                <m:rPr>
                                  <m:brk m:alnAt="7"/>
                                </m:rPr>
                                <a:rPr lang="en-US" altLang="zh-CN" b="0" i="1" smtClean="0">
                                  <a:latin typeface="Cambria Math" panose="02040503050406030204" pitchFamily="18" charset="0"/>
                                </a:rPr>
                                <m:t>𝑎</m:t>
                              </m:r>
                            </m:e>
                            <m:sub>
                              <m:r>
                                <m:rPr>
                                  <m:brk m:alnAt="7"/>
                                </m:rPr>
                                <a:rPr lang="en-US" altLang="zh-CN" b="0" i="1" smtClean="0">
                                  <a:latin typeface="Cambria Math" panose="02040503050406030204" pitchFamily="18" charset="0"/>
                                </a:rPr>
                                <m:t>1</m:t>
                              </m:r>
                              <m:r>
                                <a:rPr lang="en-US" altLang="zh-CN" b="0" i="1" smtClean="0">
                                  <a:latin typeface="Cambria Math" panose="02040503050406030204" pitchFamily="18" charset="0"/>
                                </a:rPr>
                                <m:t>1</m:t>
                              </m:r>
                            </m:sub>
                          </m:sSub>
                          <m:sSub>
                            <m:sSubPr>
                              <m:ctrlPr>
                                <a:rPr lang="en-US" altLang="zh-CN" b="0" i="1" smtClean="0">
                                  <a:latin typeface="Cambria Math" panose="02040503050406030204" pitchFamily="18" charset="0"/>
                                </a:rPr>
                              </m:ctrlPr>
                            </m:sSubPr>
                            <m:e>
                              <m:r>
                                <m:rPr>
                                  <m:brk m:alnAt="7"/>
                                </m:rPr>
                                <a:rPr lang="en-US" altLang="zh-CN" b="0" i="1" smtClean="0">
                                  <a:latin typeface="Cambria Math" panose="02040503050406030204" pitchFamily="18" charset="0"/>
                                </a:rPr>
                                <m:t>𝑥</m:t>
                              </m:r>
                            </m:e>
                            <m:sub>
                              <m:r>
                                <m:rPr>
                                  <m:brk m:alnAt="7"/>
                                </m:rPr>
                                <a:rPr lang="en-US" altLang="zh-CN" b="0" i="1" smtClean="0">
                                  <a:latin typeface="Cambria Math" panose="02040503050406030204" pitchFamily="18" charset="0"/>
                                </a:rPr>
                                <m:t>1</m:t>
                              </m:r>
                            </m:sub>
                          </m:sSub>
                          <m:r>
                            <m:rPr>
                              <m:brk m:alnAt="7"/>
                            </m:rPr>
                            <a:rPr lang="en-US" altLang="zh-CN" b="0" i="1" smtClean="0">
                              <a:latin typeface="Cambria Math" panose="02040503050406030204" pitchFamily="18" charset="0"/>
                            </a:rPr>
                            <m:t>+</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m:rPr>
                                  <m:brk m:alnAt="7"/>
                                </m:rPr>
                                <a:rPr lang="en-US" altLang="zh-CN" b="0" i="1" smtClean="0">
                                  <a:latin typeface="Cambria Math" panose="02040503050406030204" pitchFamily="18" charset="0"/>
                                </a:rPr>
                                <m:t>𝑎</m:t>
                              </m:r>
                            </m:e>
                            <m:sub>
                              <m:r>
                                <m:rPr>
                                  <m:brk m:alnAt="7"/>
                                </m:rPr>
                                <a:rPr lang="en-US" altLang="zh-CN" b="0" i="1" smtClean="0">
                                  <a:latin typeface="Cambria Math" panose="02040503050406030204" pitchFamily="18" charset="0"/>
                                </a:rPr>
                                <m:t>1</m:t>
                              </m:r>
                              <m:r>
                                <a:rPr lang="en-US" altLang="zh-CN" b="0" i="1" smtClean="0">
                                  <a:latin typeface="Cambria Math" panose="02040503050406030204" pitchFamily="18" charset="0"/>
                                </a:rPr>
                                <m:t>𝑛</m:t>
                              </m:r>
                            </m:sub>
                          </m:sSub>
                          <m:sSub>
                            <m:sSubPr>
                              <m:ctrlPr>
                                <a:rPr lang="en-US" altLang="zh-CN" b="0" i="1" smtClean="0">
                                  <a:latin typeface="Cambria Math" panose="02040503050406030204" pitchFamily="18" charset="0"/>
                                </a:rPr>
                              </m:ctrlPr>
                            </m:sSubPr>
                            <m:e>
                              <m:r>
                                <m:rPr>
                                  <m:brk m:alnAt="7"/>
                                </m:rPr>
                                <a:rPr lang="en-US" altLang="zh-CN" b="0" i="1" smtClean="0">
                                  <a:latin typeface="Cambria Math" panose="02040503050406030204" pitchFamily="18" charset="0"/>
                                </a:rPr>
                                <m:t>𝑥</m:t>
                              </m:r>
                            </m:e>
                            <m:sub>
                              <m:r>
                                <m:rPr>
                                  <m:brk m:alnAt="7"/>
                                </m:rP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m:t>
                              </m:r>
                            </m:e>
                          </m:d>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1</m:t>
                              </m:r>
                            </m:sub>
                          </m:sSub>
                        </m:e>
                      </m:mr>
                      <m:mr>
                        <m:e>
                          <m:r>
                            <a:rPr lang="en-US" altLang="zh-CN" b="0" i="1" smtClean="0">
                              <a:latin typeface="Cambria Math" panose="02040503050406030204" pitchFamily="18" charset="0"/>
                            </a:rPr>
                            <m:t>…</m:t>
                          </m:r>
                        </m:e>
                      </m:mr>
                      <m:mr>
                        <m:e>
                          <m:m>
                            <m:mPr>
                              <m:mcs>
                                <m:mc>
                                  <m:mcPr>
                                    <m:count m:val="1"/>
                                    <m:mcJc m:val="center"/>
                                  </m:mcPr>
                                </m:mc>
                              </m:mcs>
                              <m:ctrlPr>
                                <a:rPr lang="en-US" altLang="zh-CN" i="1" smtClean="0">
                                  <a:latin typeface="Cambria Math" panose="02040503050406030204" pitchFamily="18" charset="0"/>
                                </a:rPr>
                              </m:ctrlPr>
                            </m:mPr>
                            <m:mr>
                              <m:e>
                                <m:sSub>
                                  <m:sSubPr>
                                    <m:ctrlPr>
                                      <a:rPr lang="en-US" altLang="zh-CN" i="1">
                                        <a:latin typeface="Cambria Math" panose="02040503050406030204" pitchFamily="18" charset="0"/>
                                      </a:rPr>
                                    </m:ctrlPr>
                                  </m:sSubPr>
                                  <m:e>
                                    <m:r>
                                      <m:rPr>
                                        <m:brk m:alnAt="7"/>
                                      </m:rPr>
                                      <a:rPr lang="en-US" altLang="zh-CN" i="1">
                                        <a:latin typeface="Cambria Math" panose="02040503050406030204" pitchFamily="18" charset="0"/>
                                      </a:rPr>
                                      <m:t>𝑎</m:t>
                                    </m:r>
                                  </m:e>
                                  <m:sub>
                                    <m:r>
                                      <a:rPr lang="en-US" altLang="zh-CN" b="0" i="1" smtClean="0">
                                        <a:latin typeface="Cambria Math" panose="02040503050406030204" pitchFamily="18" charset="0"/>
                                      </a:rPr>
                                      <m:t>𝑚</m:t>
                                    </m:r>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m:rPr>
                                        <m:brk m:alnAt="7"/>
                                      </m:rPr>
                                      <a:rPr lang="en-US" altLang="zh-CN" i="1">
                                        <a:latin typeface="Cambria Math" panose="02040503050406030204" pitchFamily="18" charset="0"/>
                                      </a:rPr>
                                      <m:t>𝑥</m:t>
                                    </m:r>
                                  </m:e>
                                  <m:sub>
                                    <m:r>
                                      <m:rPr>
                                        <m:brk m:alnAt="7"/>
                                      </m:rPr>
                                      <a:rPr lang="en-US" altLang="zh-CN" i="1">
                                        <a:latin typeface="Cambria Math" panose="02040503050406030204" pitchFamily="18" charset="0"/>
                                      </a:rPr>
                                      <m:t>1</m:t>
                                    </m:r>
                                  </m:sub>
                                </m:sSub>
                                <m:r>
                                  <m:rPr>
                                    <m:brk m:alnAt="7"/>
                                  </m:rPr>
                                  <a:rPr lang="en-US" altLang="zh-CN" i="1">
                                    <a:latin typeface="Cambria Math" panose="02040503050406030204" pitchFamily="18" charset="0"/>
                                  </a:rPr>
                                  <m:t>+</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m:rPr>
                                        <m:brk m:alnAt="7"/>
                                      </m:rPr>
                                      <a:rPr lang="en-US" altLang="zh-CN" i="1">
                                        <a:latin typeface="Cambria Math" panose="02040503050406030204" pitchFamily="18" charset="0"/>
                                      </a:rPr>
                                      <m:t>𝑎</m:t>
                                    </m:r>
                                  </m:e>
                                  <m:sub>
                                    <m:r>
                                      <a:rPr lang="en-US" altLang="zh-CN" b="0" i="1" smtClean="0">
                                        <a:latin typeface="Cambria Math" panose="02040503050406030204" pitchFamily="18" charset="0"/>
                                      </a:rPr>
                                      <m:t>𝑚</m:t>
                                    </m:r>
                                    <m:r>
                                      <a:rPr lang="en-US" altLang="zh-CN" i="1">
                                        <a:latin typeface="Cambria Math" panose="02040503050406030204" pitchFamily="18" charset="0"/>
                                      </a:rPr>
                                      <m:t>𝑛</m:t>
                                    </m:r>
                                  </m:sub>
                                </m:sSub>
                                <m:sSub>
                                  <m:sSubPr>
                                    <m:ctrlPr>
                                      <a:rPr lang="en-US" altLang="zh-CN" i="1">
                                        <a:latin typeface="Cambria Math" panose="02040503050406030204" pitchFamily="18" charset="0"/>
                                      </a:rPr>
                                    </m:ctrlPr>
                                  </m:sSubPr>
                                  <m:e>
                                    <m:r>
                                      <m:rPr>
                                        <m:brk m:alnAt="7"/>
                                      </m:rPr>
                                      <a:rPr lang="en-US" altLang="zh-CN" i="1">
                                        <a:latin typeface="Cambria Math" panose="02040503050406030204" pitchFamily="18" charset="0"/>
                                      </a:rPr>
                                      <m:t>𝑥</m:t>
                                    </m:r>
                                  </m:e>
                                  <m:sub>
                                    <m:r>
                                      <m:rPr>
                                        <m:brk m:alnAt="7"/>
                                      </m:rPr>
                                      <a:rPr lang="en-US" altLang="zh-CN" i="1">
                                        <a:latin typeface="Cambria Math" panose="02040503050406030204" pitchFamily="18" charset="0"/>
                                      </a:rPr>
                                      <m:t>𝑛</m:t>
                                    </m:r>
                                  </m:sub>
                                </m:sSub>
                                <m:r>
                                  <a:rPr lang="en-US" altLang="zh-CN" i="1">
                                    <a:latin typeface="Cambria Math" panose="02040503050406030204" pitchFamily="18" charset="0"/>
                                  </a:rPr>
                                  <m:t>≤</m:t>
                                </m:r>
                                <m:d>
                                  <m:dPr>
                                    <m:ctrlPr>
                                      <a:rPr lang="en-US" altLang="zh-CN" i="1">
                                        <a:latin typeface="Cambria Math" panose="02040503050406030204" pitchFamily="18" charset="0"/>
                                      </a:rPr>
                                    </m:ctrlPr>
                                  </m:dPr>
                                  <m:e>
                                    <m:r>
                                      <a:rPr lang="en-US" altLang="zh-CN" i="1">
                                        <a:latin typeface="Cambria Math" panose="02040503050406030204" pitchFamily="18" charset="0"/>
                                      </a:rPr>
                                      <m:t>=,≥</m:t>
                                    </m:r>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𝑚</m:t>
                                    </m:r>
                                  </m:sub>
                                </m:sSub>
                              </m:e>
                            </m:mr>
                            <m:mr>
                              <m:e>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0</m:t>
                                </m:r>
                              </m:e>
                            </m:mr>
                          </m:m>
                        </m:e>
                      </m:mr>
                    </m:m>
                  </m:oMath>
                </a14:m>
                <a:endParaRPr lang="en-US" altLang="zh-CN" dirty="0">
                  <a:latin typeface="楷体" panose="02010609060101010101" pitchFamily="49" charset="-122"/>
                </a:endParaRPr>
              </a:p>
              <a:p>
                <a:pPr marL="0" indent="0">
                  <a:buNone/>
                </a:pPr>
                <a:endParaRPr lang="zh-CN" altLang="en-US" dirty="0">
                  <a:latin typeface="楷体" panose="02010609060101010101" pitchFamily="49" charset="-122"/>
                </a:endParaRPr>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1384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线性规划的意义</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线性规划可以解决哪些问题？</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p:txBody>
          <a:bodyPr/>
          <a:lstStyle/>
          <a:p>
            <a:r>
              <a:rPr lang="zh-CN" altLang="en-US" dirty="0">
                <a:latin typeface="楷体" panose="02010609060101010101" pitchFamily="49" charset="-122"/>
                <a:ea typeface="楷体" panose="02010609060101010101" pitchFamily="49" charset="-122"/>
              </a:rPr>
              <a:t>线性规划在企业管理中的典型应用：</a:t>
            </a:r>
            <a:endParaRPr lang="zh-CN" altLang="en-US" dirty="0">
              <a:latin typeface="楷体" panose="02010609060101010101" pitchFamily="49" charset="-122"/>
              <a:ea typeface="楷体" panose="02010609060101010101" pitchFamily="49" charset="-122"/>
            </a:endParaRPr>
          </a:p>
        </p:txBody>
      </p:sp>
      <p:graphicFrame>
        <p:nvGraphicFramePr>
          <p:cNvPr id="4" name="表格 3"/>
          <p:cNvGraphicFramePr>
            <a:graphicFrameLocks noGrp="1"/>
          </p:cNvGraphicFramePr>
          <p:nvPr/>
        </p:nvGraphicFramePr>
        <p:xfrm>
          <a:off x="2039873" y="2581275"/>
          <a:ext cx="7972425" cy="847725"/>
        </p:xfrm>
        <a:graphic>
          <a:graphicData uri="http://schemas.openxmlformats.org/drawingml/2006/table">
            <a:tbl>
              <a:tblPr>
                <a:tableStyleId>{616DA210-FB5B-4158-B5E0-FEB733F419BA}</a:tableStyleId>
              </a:tblPr>
              <a:tblGrid>
                <a:gridCol w="2846860"/>
                <a:gridCol w="5125565"/>
              </a:tblGrid>
              <a:tr h="420149">
                <a:tc>
                  <a:txBody>
                    <a:bodyPr/>
                    <a:lstStyle/>
                    <a:p>
                      <a:pPr algn="ctr" rtl="0" fontAlgn="ctr"/>
                      <a:r>
                        <a:rPr lang="zh-CN" altLang="en-US" sz="2000" b="1" u="none" strike="noStrike" baseline="0" dirty="0">
                          <a:effectLst/>
                          <a:latin typeface="楷体" panose="02010609060101010101" pitchFamily="49" charset="-122"/>
                          <a:ea typeface="楷体" panose="02010609060101010101" pitchFamily="49" charset="-122"/>
                        </a:rPr>
                        <a:t>典型线性规划应用</a:t>
                      </a:r>
                      <a:endParaRPr lang="zh-CN" altLang="en-US" sz="2000" b="1" i="0" u="none" strike="noStrike" baseline="0" dirty="0">
                        <a:solidFill>
                          <a:srgbClr val="000000"/>
                        </a:solidFill>
                        <a:effectLst/>
                        <a:latin typeface="楷体" panose="02010609060101010101" pitchFamily="49" charset="-122"/>
                        <a:ea typeface="楷体" panose="02010609060101010101" pitchFamily="49" charset="-122"/>
                      </a:endParaRPr>
                    </a:p>
                  </a:txBody>
                  <a:tcPr marL="9525" marR="9525" marT="9519" marB="0" anchor="ctr">
                    <a:solidFill>
                      <a:schemeClr val="accent1">
                        <a:lumMod val="40000"/>
                        <a:lumOff val="60000"/>
                      </a:schemeClr>
                    </a:solidFill>
                  </a:tcPr>
                </a:tc>
                <a:tc>
                  <a:txBody>
                    <a:bodyPr/>
                    <a:lstStyle/>
                    <a:p>
                      <a:pPr algn="ctr" rtl="0" fontAlgn="ctr"/>
                      <a:r>
                        <a:rPr lang="zh-CN" altLang="en-US" sz="2000" b="1" u="none" strike="noStrike" baseline="0" dirty="0">
                          <a:effectLst/>
                          <a:latin typeface="楷体" panose="02010609060101010101" pitchFamily="49" charset="-122"/>
                          <a:ea typeface="楷体" panose="02010609060101010101" pitchFamily="49" charset="-122"/>
                        </a:rPr>
                        <a:t>应用场景</a:t>
                      </a:r>
                      <a:endParaRPr lang="zh-CN" altLang="en-US" sz="2000" b="1" i="0" u="none" strike="noStrike" baseline="0" dirty="0">
                        <a:solidFill>
                          <a:srgbClr val="000000"/>
                        </a:solidFill>
                        <a:effectLst/>
                        <a:latin typeface="楷体" panose="02010609060101010101" pitchFamily="49" charset="-122"/>
                        <a:ea typeface="楷体" panose="02010609060101010101" pitchFamily="49" charset="-122"/>
                      </a:endParaRPr>
                    </a:p>
                  </a:txBody>
                  <a:tcPr marL="9525" marR="9525" marT="9519" marB="0" anchor="ctr">
                    <a:solidFill>
                      <a:schemeClr val="accent1">
                        <a:lumMod val="40000"/>
                        <a:lumOff val="60000"/>
                      </a:schemeClr>
                    </a:solidFill>
                  </a:tcPr>
                </a:tc>
              </a:tr>
              <a:tr h="427576">
                <a:tc>
                  <a:txBody>
                    <a:bodyPr/>
                    <a:lstStyle/>
                    <a:p>
                      <a:pPr algn="ctr" rtl="0" fontAlgn="ctr"/>
                      <a:r>
                        <a:rPr lang="zh-CN" altLang="en-US" sz="2000" u="none" strike="noStrike" baseline="0" dirty="0">
                          <a:effectLst/>
                          <a:latin typeface="楷体" panose="02010609060101010101" pitchFamily="49" charset="-122"/>
                          <a:ea typeface="楷体" panose="02010609060101010101" pitchFamily="49" charset="-122"/>
                        </a:rPr>
                        <a:t>合理利用线材问题</a:t>
                      </a:r>
                      <a:endParaRPr lang="zh-CN" altLang="en-US" sz="2000" b="0" i="0" u="none" strike="noStrike" baseline="0" dirty="0">
                        <a:solidFill>
                          <a:srgbClr val="000000"/>
                        </a:solidFill>
                        <a:effectLst/>
                        <a:latin typeface="楷体" panose="02010609060101010101" pitchFamily="49" charset="-122"/>
                        <a:ea typeface="楷体" panose="02010609060101010101" pitchFamily="49" charset="-122"/>
                      </a:endParaRPr>
                    </a:p>
                  </a:txBody>
                  <a:tcPr marL="9525" marR="9525" marT="9519" marB="0" anchor="ctr">
                    <a:solidFill>
                      <a:schemeClr val="accent1">
                        <a:lumMod val="20000"/>
                        <a:lumOff val="80000"/>
                      </a:schemeClr>
                    </a:solidFill>
                  </a:tcPr>
                </a:tc>
                <a:tc>
                  <a:txBody>
                    <a:bodyPr/>
                    <a:lstStyle/>
                    <a:p>
                      <a:pPr algn="ctr" rtl="0" fontAlgn="ctr"/>
                      <a:r>
                        <a:rPr lang="zh-CN" altLang="en-US" sz="2000" u="none" strike="noStrike" baseline="0" dirty="0">
                          <a:effectLst/>
                          <a:latin typeface="楷体" panose="02010609060101010101" pitchFamily="49" charset="-122"/>
                          <a:ea typeface="楷体" panose="02010609060101010101" pitchFamily="49" charset="-122"/>
                        </a:rPr>
                        <a:t>用料</a:t>
                      </a:r>
                      <a:r>
                        <a:rPr lang="zh-CN" altLang="en-US" sz="2000" u="none" strike="noStrike" baseline="0" dirty="0">
                          <a:solidFill>
                            <a:srgbClr val="FF0000"/>
                          </a:solidFill>
                          <a:effectLst/>
                          <a:latin typeface="楷体" panose="02010609060101010101" pitchFamily="49" charset="-122"/>
                          <a:ea typeface="楷体" panose="02010609060101010101" pitchFamily="49" charset="-122"/>
                        </a:rPr>
                        <a:t>最少</a:t>
                      </a:r>
                      <a:endParaRPr lang="zh-CN" altLang="en-US" sz="2000" b="0" i="0" u="none" strike="noStrike" baseline="0" dirty="0">
                        <a:solidFill>
                          <a:srgbClr val="FF0000"/>
                        </a:solidFill>
                        <a:effectLst/>
                        <a:latin typeface="楷体" panose="02010609060101010101" pitchFamily="49" charset="-122"/>
                        <a:ea typeface="楷体" panose="02010609060101010101" pitchFamily="49" charset="-122"/>
                      </a:endParaRPr>
                    </a:p>
                  </a:txBody>
                  <a:tcPr marL="9525" marR="9525" marT="9519" marB="0" anchor="ctr">
                    <a:solidFill>
                      <a:schemeClr val="accent1">
                        <a:lumMod val="20000"/>
                        <a:lumOff val="80000"/>
                      </a:schemeClr>
                    </a:solidFill>
                  </a:tcPr>
                </a:tc>
              </a:tr>
            </a:tbl>
          </a:graphicData>
        </a:graphic>
      </p:graphicFrame>
      <p:graphicFrame>
        <p:nvGraphicFramePr>
          <p:cNvPr id="5" name="表格 4"/>
          <p:cNvGraphicFramePr>
            <a:graphicFrameLocks noGrp="1"/>
          </p:cNvGraphicFramePr>
          <p:nvPr/>
        </p:nvGraphicFramePr>
        <p:xfrm>
          <a:off x="2039873" y="3443287"/>
          <a:ext cx="7972425" cy="428625"/>
        </p:xfrm>
        <a:graphic>
          <a:graphicData uri="http://schemas.openxmlformats.org/drawingml/2006/table">
            <a:tbl>
              <a:tblPr>
                <a:tableStyleId>{5C22544A-7EE6-4342-B048-85BDC9FD1C3A}</a:tableStyleId>
              </a:tblPr>
              <a:tblGrid>
                <a:gridCol w="2843389"/>
                <a:gridCol w="5129036"/>
              </a:tblGrid>
              <a:tr h="428625">
                <a:tc>
                  <a:txBody>
                    <a:bodyPr/>
                    <a:lstStyle/>
                    <a:p>
                      <a:pPr algn="ctr" rtl="0" fontAlgn="ctr"/>
                      <a:r>
                        <a:rPr lang="zh-CN" altLang="en-US" sz="2000" u="none" strike="noStrike" baseline="0" dirty="0">
                          <a:effectLst/>
                          <a:latin typeface="楷体" panose="02010609060101010101" pitchFamily="49" charset="-122"/>
                          <a:ea typeface="楷体" panose="02010609060101010101" pitchFamily="49" charset="-122"/>
                        </a:rPr>
                        <a:t>配料问题</a:t>
                      </a:r>
                      <a:endParaRPr lang="zh-CN" altLang="en-US" sz="2000" b="0" i="0" u="none" strike="noStrike" baseline="0" dirty="0">
                        <a:solidFill>
                          <a:srgbClr val="000000"/>
                        </a:solidFill>
                        <a:effectLst/>
                        <a:latin typeface="楷体" panose="02010609060101010101" pitchFamily="49" charset="-122"/>
                        <a:ea typeface="楷体" panose="02010609060101010101" pitchFamily="49"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ctr"/>
                      <a:r>
                        <a:rPr lang="zh-CN" altLang="en-US" sz="2000" u="none" strike="noStrike" baseline="0" dirty="0">
                          <a:effectLst/>
                          <a:latin typeface="楷体" panose="02010609060101010101" pitchFamily="49" charset="-122"/>
                          <a:ea typeface="楷体" panose="02010609060101010101" pitchFamily="49" charset="-122"/>
                        </a:rPr>
                        <a:t>获利</a:t>
                      </a:r>
                      <a:r>
                        <a:rPr lang="zh-CN" altLang="en-US" sz="2000" u="none" strike="noStrike" baseline="0" dirty="0">
                          <a:solidFill>
                            <a:srgbClr val="FF0000"/>
                          </a:solidFill>
                          <a:effectLst/>
                          <a:latin typeface="楷体" panose="02010609060101010101" pitchFamily="49" charset="-122"/>
                          <a:ea typeface="楷体" panose="02010609060101010101" pitchFamily="49" charset="-122"/>
                        </a:rPr>
                        <a:t>最大</a:t>
                      </a:r>
                      <a:endParaRPr lang="zh-CN" altLang="en-US" sz="2000" b="0" i="0" u="none" strike="noStrike" baseline="0" dirty="0">
                        <a:solidFill>
                          <a:srgbClr val="FF0000"/>
                        </a:solidFill>
                        <a:effectLst/>
                        <a:latin typeface="楷体" panose="02010609060101010101" pitchFamily="49" charset="-122"/>
                        <a:ea typeface="楷体" panose="02010609060101010101" pitchFamily="49"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bl>
          </a:graphicData>
        </a:graphic>
      </p:graphicFrame>
      <p:graphicFrame>
        <p:nvGraphicFramePr>
          <p:cNvPr id="6" name="表格 5"/>
          <p:cNvGraphicFramePr>
            <a:graphicFrameLocks noGrp="1"/>
          </p:cNvGraphicFramePr>
          <p:nvPr/>
        </p:nvGraphicFramePr>
        <p:xfrm>
          <a:off x="2039873" y="3886200"/>
          <a:ext cx="7972425" cy="361950"/>
        </p:xfrm>
        <a:graphic>
          <a:graphicData uri="http://schemas.openxmlformats.org/drawingml/2006/table">
            <a:tbl>
              <a:tblPr>
                <a:tableStyleId>{5C22544A-7EE6-4342-B048-85BDC9FD1C3A}</a:tableStyleId>
              </a:tblPr>
              <a:tblGrid>
                <a:gridCol w="2839942"/>
                <a:gridCol w="5132483"/>
              </a:tblGrid>
              <a:tr h="361950">
                <a:tc>
                  <a:txBody>
                    <a:bodyPr/>
                    <a:lstStyle/>
                    <a:p>
                      <a:pPr algn="ctr" rtl="0" fontAlgn="ctr"/>
                      <a:r>
                        <a:rPr lang="zh-CN" altLang="en-US" sz="2000" u="none" strike="noStrike" dirty="0">
                          <a:effectLst/>
                          <a:latin typeface="楷体" panose="02010609060101010101" pitchFamily="49" charset="-122"/>
                          <a:ea typeface="楷体" panose="02010609060101010101" pitchFamily="49" charset="-122"/>
                        </a:rPr>
                        <a:t>投资问题</a:t>
                      </a:r>
                      <a:endParaRPr lang="zh-CN" altLang="en-US" sz="2000" b="0" i="0" u="none" strike="noStrike" dirty="0">
                        <a:solidFill>
                          <a:srgbClr val="000000"/>
                        </a:solidFill>
                        <a:effectLst/>
                        <a:latin typeface="楷体" panose="02010609060101010101" pitchFamily="49" charset="-122"/>
                        <a:ea typeface="楷体" panose="02010609060101010101" pitchFamily="49"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zh-CN" altLang="en-US" sz="2000" u="none" strike="noStrike" dirty="0">
                          <a:effectLst/>
                          <a:latin typeface="楷体" panose="02010609060101010101" pitchFamily="49" charset="-122"/>
                          <a:ea typeface="楷体" panose="02010609060101010101" pitchFamily="49" charset="-122"/>
                        </a:rPr>
                        <a:t>投资回报</a:t>
                      </a:r>
                      <a:r>
                        <a:rPr lang="zh-CN" altLang="en-US" sz="2000" u="none" strike="noStrike" dirty="0">
                          <a:solidFill>
                            <a:srgbClr val="FF0000"/>
                          </a:solidFill>
                          <a:effectLst/>
                          <a:latin typeface="楷体" panose="02010609060101010101" pitchFamily="49" charset="-122"/>
                          <a:ea typeface="楷体" panose="02010609060101010101" pitchFamily="49" charset="-122"/>
                        </a:rPr>
                        <a:t>最大</a:t>
                      </a:r>
                      <a:r>
                        <a:rPr lang="zh-CN" altLang="en-US" sz="2000" u="none" strike="noStrike" dirty="0">
                          <a:effectLst/>
                          <a:latin typeface="楷体" panose="02010609060101010101" pitchFamily="49" charset="-122"/>
                          <a:ea typeface="楷体" panose="02010609060101010101" pitchFamily="49" charset="-122"/>
                        </a:rPr>
                        <a:t>的方案</a:t>
                      </a:r>
                      <a:endParaRPr lang="zh-CN" altLang="en-US" sz="2000" b="0" i="0" u="none" strike="noStrike" dirty="0">
                        <a:solidFill>
                          <a:srgbClr val="000000"/>
                        </a:solidFill>
                        <a:effectLst/>
                        <a:latin typeface="楷体" panose="02010609060101010101" pitchFamily="49" charset="-122"/>
                        <a:ea typeface="楷体" panose="02010609060101010101" pitchFamily="49"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7" name="表格 6"/>
          <p:cNvGraphicFramePr>
            <a:graphicFrameLocks noGrp="1"/>
          </p:cNvGraphicFramePr>
          <p:nvPr/>
        </p:nvGraphicFramePr>
        <p:xfrm>
          <a:off x="2039873" y="4262437"/>
          <a:ext cx="7972425" cy="381000"/>
        </p:xfrm>
        <a:graphic>
          <a:graphicData uri="http://schemas.openxmlformats.org/drawingml/2006/table">
            <a:tbl>
              <a:tblPr>
                <a:tableStyleId>{5C22544A-7EE6-4342-B048-85BDC9FD1C3A}</a:tableStyleId>
              </a:tblPr>
              <a:tblGrid>
                <a:gridCol w="2825655"/>
                <a:gridCol w="5146770"/>
              </a:tblGrid>
              <a:tr h="381000">
                <a:tc>
                  <a:txBody>
                    <a:bodyPr/>
                    <a:lstStyle/>
                    <a:p>
                      <a:pPr algn="ctr" rtl="0" fontAlgn="ctr"/>
                      <a:r>
                        <a:rPr lang="zh-CN" altLang="en-US" sz="2000" u="none" strike="noStrike" dirty="0">
                          <a:effectLst/>
                          <a:latin typeface="楷体" panose="02010609060101010101" pitchFamily="49" charset="-122"/>
                          <a:ea typeface="楷体" panose="02010609060101010101" pitchFamily="49" charset="-122"/>
                        </a:rPr>
                        <a:t>产品生产计划</a:t>
                      </a:r>
                      <a:endParaRPr lang="zh-CN" altLang="en-US" sz="2000" b="0" i="0" u="none" strike="noStrike" dirty="0">
                        <a:solidFill>
                          <a:srgbClr val="000000"/>
                        </a:solidFill>
                        <a:effectLst/>
                        <a:latin typeface="楷体" panose="02010609060101010101" pitchFamily="49" charset="-122"/>
                        <a:ea typeface="楷体" panose="02010609060101010101" pitchFamily="49"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zh-CN" altLang="en-US" sz="2000" u="none" strike="noStrike" dirty="0">
                          <a:effectLst/>
                          <a:latin typeface="楷体" panose="02010609060101010101" pitchFamily="49" charset="-122"/>
                          <a:ea typeface="楷体" panose="02010609060101010101" pitchFamily="49" charset="-122"/>
                        </a:rPr>
                        <a:t>合理利用人力、物力、财力等使获利</a:t>
                      </a:r>
                      <a:r>
                        <a:rPr lang="zh-CN" altLang="en-US" sz="2000" u="none" strike="noStrike" dirty="0">
                          <a:solidFill>
                            <a:srgbClr val="FF0000"/>
                          </a:solidFill>
                          <a:effectLst/>
                          <a:latin typeface="楷体" panose="02010609060101010101" pitchFamily="49" charset="-122"/>
                          <a:ea typeface="楷体" panose="02010609060101010101" pitchFamily="49" charset="-122"/>
                        </a:rPr>
                        <a:t>最大</a:t>
                      </a:r>
                      <a:endParaRPr lang="zh-CN" altLang="en-US" sz="2000" b="0" i="0" u="none" strike="noStrike" dirty="0">
                        <a:solidFill>
                          <a:srgbClr val="FF0000"/>
                        </a:solidFill>
                        <a:effectLst/>
                        <a:latin typeface="楷体" panose="02010609060101010101" pitchFamily="49" charset="-122"/>
                        <a:ea typeface="楷体" panose="02010609060101010101" pitchFamily="49"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8" name="表格 7"/>
          <p:cNvGraphicFramePr>
            <a:graphicFrameLocks noGrp="1"/>
          </p:cNvGraphicFramePr>
          <p:nvPr/>
        </p:nvGraphicFramePr>
        <p:xfrm>
          <a:off x="2039873" y="4657725"/>
          <a:ext cx="7972425" cy="361950"/>
        </p:xfrm>
        <a:graphic>
          <a:graphicData uri="http://schemas.openxmlformats.org/drawingml/2006/table">
            <a:tbl>
              <a:tblPr>
                <a:tableStyleId>{5C22544A-7EE6-4342-B048-85BDC9FD1C3A}</a:tableStyleId>
              </a:tblPr>
              <a:tblGrid>
                <a:gridCol w="2825655"/>
                <a:gridCol w="5146770"/>
              </a:tblGrid>
              <a:tr h="361950">
                <a:tc>
                  <a:txBody>
                    <a:bodyPr/>
                    <a:lstStyle/>
                    <a:p>
                      <a:pPr algn="ctr" rtl="0" fontAlgn="ctr"/>
                      <a:r>
                        <a:rPr lang="zh-CN" altLang="en-US" sz="2000" u="none" strike="noStrike" dirty="0">
                          <a:effectLst/>
                          <a:latin typeface="楷体" panose="02010609060101010101" pitchFamily="49" charset="-122"/>
                          <a:ea typeface="楷体" panose="02010609060101010101" pitchFamily="49" charset="-122"/>
                        </a:rPr>
                        <a:t>劳动力安排</a:t>
                      </a:r>
                      <a:endParaRPr lang="zh-CN" altLang="en-US" sz="2000" b="0" i="0" u="none" strike="noStrike" dirty="0">
                        <a:solidFill>
                          <a:srgbClr val="000000"/>
                        </a:solidFill>
                        <a:effectLst/>
                        <a:latin typeface="楷体" panose="02010609060101010101" pitchFamily="49" charset="-122"/>
                        <a:ea typeface="楷体" panose="02010609060101010101" pitchFamily="49"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zh-CN" altLang="en-US" sz="2000" u="none" strike="noStrike" dirty="0">
                          <a:effectLst/>
                          <a:latin typeface="楷体" panose="02010609060101010101" pitchFamily="49" charset="-122"/>
                          <a:ea typeface="楷体" panose="02010609060101010101" pitchFamily="49" charset="-122"/>
                        </a:rPr>
                        <a:t>用</a:t>
                      </a:r>
                      <a:r>
                        <a:rPr lang="zh-CN" altLang="en-US" sz="2000" u="none" strike="noStrike" dirty="0">
                          <a:solidFill>
                            <a:srgbClr val="FF0000"/>
                          </a:solidFill>
                          <a:effectLst/>
                          <a:latin typeface="楷体" panose="02010609060101010101" pitchFamily="49" charset="-122"/>
                          <a:ea typeface="楷体" panose="02010609060101010101" pitchFamily="49" charset="-122"/>
                        </a:rPr>
                        <a:t>最少</a:t>
                      </a:r>
                      <a:r>
                        <a:rPr lang="zh-CN" altLang="en-US" sz="2000" u="none" strike="noStrike" dirty="0">
                          <a:effectLst/>
                          <a:latin typeface="楷体" panose="02010609060101010101" pitchFamily="49" charset="-122"/>
                          <a:ea typeface="楷体" panose="02010609060101010101" pitchFamily="49" charset="-122"/>
                        </a:rPr>
                        <a:t>的劳动力满足需要</a:t>
                      </a:r>
                      <a:endParaRPr lang="zh-CN" altLang="en-US" sz="2000" b="0" i="0" u="none" strike="noStrike" dirty="0">
                        <a:solidFill>
                          <a:srgbClr val="000000"/>
                        </a:solidFill>
                        <a:effectLst/>
                        <a:latin typeface="楷体" panose="02010609060101010101" pitchFamily="49" charset="-122"/>
                        <a:ea typeface="楷体" panose="02010609060101010101" pitchFamily="49"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9" name="表格 8"/>
          <p:cNvGraphicFramePr>
            <a:graphicFrameLocks noGrp="1"/>
          </p:cNvGraphicFramePr>
          <p:nvPr/>
        </p:nvGraphicFramePr>
        <p:xfrm>
          <a:off x="2054160" y="5019675"/>
          <a:ext cx="7972425" cy="433387"/>
        </p:xfrm>
        <a:graphic>
          <a:graphicData uri="http://schemas.openxmlformats.org/drawingml/2006/table">
            <a:tbl>
              <a:tblPr>
                <a:tableStyleId>{5C22544A-7EE6-4342-B048-85BDC9FD1C3A}</a:tableStyleId>
              </a:tblPr>
              <a:tblGrid>
                <a:gridCol w="2811367"/>
                <a:gridCol w="5161058"/>
              </a:tblGrid>
              <a:tr h="433387">
                <a:tc>
                  <a:txBody>
                    <a:bodyPr/>
                    <a:lstStyle/>
                    <a:p>
                      <a:pPr algn="ctr" rtl="0" fontAlgn="ctr"/>
                      <a:r>
                        <a:rPr lang="zh-CN" altLang="en-US" sz="2000" u="none" strike="noStrike" dirty="0">
                          <a:effectLst/>
                          <a:latin typeface="楷体" panose="02010609060101010101" pitchFamily="49" charset="-122"/>
                          <a:ea typeface="楷体" panose="02010609060101010101" pitchFamily="49" charset="-122"/>
                        </a:rPr>
                        <a:t>运输问题</a:t>
                      </a:r>
                      <a:endParaRPr lang="zh-CN" altLang="en-US" sz="2000" b="0" i="0" u="none" strike="noStrike" dirty="0">
                        <a:solidFill>
                          <a:srgbClr val="000000"/>
                        </a:solidFill>
                        <a:effectLst/>
                        <a:latin typeface="楷体" panose="02010609060101010101" pitchFamily="49" charset="-122"/>
                        <a:ea typeface="楷体" panose="02010609060101010101" pitchFamily="49"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zh-CN" altLang="en-US" sz="2000" u="none" strike="noStrike" dirty="0">
                          <a:effectLst/>
                          <a:latin typeface="楷体" panose="02010609060101010101" pitchFamily="49" charset="-122"/>
                          <a:ea typeface="楷体" panose="02010609060101010101" pitchFamily="49" charset="-122"/>
                        </a:rPr>
                        <a:t>总运费</a:t>
                      </a:r>
                      <a:r>
                        <a:rPr lang="zh-CN" altLang="en-US" sz="2000" u="none" strike="noStrike" dirty="0">
                          <a:solidFill>
                            <a:srgbClr val="FF0000"/>
                          </a:solidFill>
                          <a:effectLst/>
                          <a:latin typeface="楷体" panose="02010609060101010101" pitchFamily="49" charset="-122"/>
                          <a:ea typeface="楷体" panose="02010609060101010101" pitchFamily="49" charset="-122"/>
                        </a:rPr>
                        <a:t>最少</a:t>
                      </a:r>
                      <a:endParaRPr lang="zh-CN" altLang="en-US" sz="2000" b="0" i="0" u="none" strike="noStrike" dirty="0">
                        <a:solidFill>
                          <a:srgbClr val="FF0000"/>
                        </a:solidFill>
                        <a:effectLst/>
                        <a:latin typeface="楷体" panose="02010609060101010101" pitchFamily="49" charset="-122"/>
                        <a:ea typeface="楷体" panose="02010609060101010101" pitchFamily="49"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a:t>
            </a:r>
            <a:r>
              <a:rPr lang="en-US" altLang="zh-CN" dirty="0"/>
              <a:t>1</a:t>
            </a:r>
            <a:r>
              <a:rPr lang="zh-CN" altLang="en-US" dirty="0"/>
              <a:t>：求目标函数最大化的线性规划问题</a:t>
            </a:r>
            <a:endParaRPr lang="zh-CN" altLang="en-US" dirty="0"/>
          </a:p>
        </p:txBody>
      </p:sp>
      <p:sp>
        <p:nvSpPr>
          <p:cNvPr id="3" name="内容占位符 2"/>
          <p:cNvSpPr>
            <a:spLocks noGrp="1"/>
          </p:cNvSpPr>
          <p:nvPr>
            <p:ph idx="1"/>
          </p:nvPr>
        </p:nvSpPr>
        <p:spPr/>
        <p:txBody>
          <a:bodyPr/>
          <a:lstStyle/>
          <a:p>
            <a:pPr marL="0" indent="0">
              <a:buNone/>
            </a:pPr>
            <a:r>
              <a:rPr lang="zh-CN" altLang="en-US" sz="2400" dirty="0">
                <a:solidFill>
                  <a:srgbClr val="000000"/>
                </a:solidFill>
                <a:latin typeface="楷体" panose="02010609060101010101" pitchFamily="49" charset="-122"/>
              </a:rPr>
              <a:t>例</a:t>
            </a:r>
            <a:r>
              <a:rPr lang="en-US" altLang="zh-CN" sz="2400" b="1" dirty="0">
                <a:solidFill>
                  <a:srgbClr val="000000"/>
                </a:solidFill>
                <a:latin typeface="楷体" panose="02010609060101010101" pitchFamily="49" charset="-122"/>
              </a:rPr>
              <a:t>1.</a:t>
            </a:r>
            <a:r>
              <a:rPr lang="zh-CN" altLang="en-US" sz="2400" dirty="0">
                <a:solidFill>
                  <a:srgbClr val="000000"/>
                </a:solidFill>
                <a:latin typeface="楷体" panose="02010609060101010101" pitchFamily="49" charset="-122"/>
              </a:rPr>
              <a:t>某工厂在计划期内要安排</a:t>
            </a:r>
            <a:r>
              <a:rPr lang="en-US" altLang="zh-CN" sz="2400" dirty="0">
                <a:solidFill>
                  <a:srgbClr val="000000"/>
                </a:solidFill>
                <a:latin typeface="楷体" panose="02010609060101010101" pitchFamily="49" charset="-122"/>
              </a:rPr>
              <a:t>Ⅰ</a:t>
            </a:r>
            <a:r>
              <a:rPr lang="zh-CN" altLang="en-US" sz="2400" dirty="0">
                <a:solidFill>
                  <a:srgbClr val="000000"/>
                </a:solidFill>
                <a:latin typeface="楷体" panose="02010609060101010101" pitchFamily="49" charset="-122"/>
              </a:rPr>
              <a:t>、</a:t>
            </a:r>
            <a:r>
              <a:rPr lang="en-US" altLang="zh-CN" sz="2400" dirty="0">
                <a:solidFill>
                  <a:srgbClr val="000000"/>
                </a:solidFill>
                <a:latin typeface="楷体" panose="02010609060101010101" pitchFamily="49" charset="-122"/>
              </a:rPr>
              <a:t>Ⅱ</a:t>
            </a:r>
            <a:r>
              <a:rPr lang="zh-CN" altLang="en-US" sz="2400" dirty="0">
                <a:solidFill>
                  <a:srgbClr val="000000"/>
                </a:solidFill>
                <a:latin typeface="楷体" panose="02010609060101010101" pitchFamily="49" charset="-122"/>
              </a:rPr>
              <a:t>两种产品的生产，生产单位产品所需的设备台时及 </a:t>
            </a:r>
            <a:r>
              <a:rPr lang="en-US" altLang="zh-CN" sz="2400" dirty="0">
                <a:solidFill>
                  <a:srgbClr val="000000"/>
                </a:solidFill>
                <a:latin typeface="楷体" panose="02010609060101010101" pitchFamily="49" charset="-122"/>
              </a:rPr>
              <a:t>A</a:t>
            </a:r>
            <a:r>
              <a:rPr lang="zh-CN" altLang="en-US" sz="2400" dirty="0">
                <a:solidFill>
                  <a:srgbClr val="000000"/>
                </a:solidFill>
                <a:latin typeface="楷体" panose="02010609060101010101" pitchFamily="49" charset="-122"/>
              </a:rPr>
              <a:t>、</a:t>
            </a:r>
            <a:r>
              <a:rPr lang="en-US" altLang="zh-CN" sz="2400" dirty="0">
                <a:solidFill>
                  <a:srgbClr val="000000"/>
                </a:solidFill>
                <a:latin typeface="楷体" panose="02010609060101010101" pitchFamily="49" charset="-122"/>
              </a:rPr>
              <a:t>B </a:t>
            </a:r>
            <a:r>
              <a:rPr lang="zh-CN" altLang="en-US" sz="2400" dirty="0">
                <a:solidFill>
                  <a:srgbClr val="000000"/>
                </a:solidFill>
                <a:latin typeface="楷体" panose="02010609060101010101" pitchFamily="49" charset="-122"/>
              </a:rPr>
              <a:t>两种原材料的消耗以及资源的限制，如下表所示。</a:t>
            </a:r>
            <a:endParaRPr lang="en-US" altLang="zh-CN" sz="2400" b="1" dirty="0">
              <a:solidFill>
                <a:srgbClr val="000000"/>
              </a:solidFill>
              <a:latin typeface="Arial" panose="020B0604020202020204" pitchFamily="34" charset="0"/>
            </a:endParaRPr>
          </a:p>
          <a:p>
            <a:pPr marL="0" indent="0">
              <a:buNone/>
            </a:pPr>
            <a:endParaRPr lang="zh-CN" altLang="en-US" dirty="0"/>
          </a:p>
        </p:txBody>
      </p:sp>
      <p:sp>
        <p:nvSpPr>
          <p:cNvPr id="4" name="矩形 3"/>
          <p:cNvSpPr>
            <a:spLocks noChangeArrowheads="1"/>
          </p:cNvSpPr>
          <p:nvPr/>
        </p:nvSpPr>
        <p:spPr bwMode="auto">
          <a:xfrm>
            <a:off x="2186542" y="5627688"/>
            <a:ext cx="7561262"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r>
              <a:rPr lang="zh-CN" altLang="en-US" sz="2400" dirty="0">
                <a:solidFill>
                  <a:srgbClr val="000000"/>
                </a:solidFill>
                <a:latin typeface="楷体" panose="02010609060101010101" pitchFamily="49" charset="-122"/>
                <a:ea typeface="楷体" panose="02010609060101010101" pitchFamily="49" charset="-122"/>
              </a:rPr>
              <a:t>问：工厂应分别生产多少单位</a:t>
            </a:r>
            <a:r>
              <a:rPr lang="en-US" altLang="zh-CN" sz="2400" dirty="0">
                <a:solidFill>
                  <a:srgbClr val="000000"/>
                </a:solidFill>
                <a:latin typeface="楷体" panose="02010609060101010101" pitchFamily="49" charset="-122"/>
                <a:ea typeface="楷体" panose="02010609060101010101" pitchFamily="49" charset="-122"/>
              </a:rPr>
              <a:t>Ⅰ</a:t>
            </a:r>
            <a:r>
              <a:rPr lang="zh-CN" altLang="en-US" sz="2400" dirty="0">
                <a:solidFill>
                  <a:srgbClr val="000000"/>
                </a:solidFill>
                <a:latin typeface="楷体" panose="02010609060101010101" pitchFamily="49" charset="-122"/>
                <a:ea typeface="楷体" panose="02010609060101010101" pitchFamily="49" charset="-122"/>
              </a:rPr>
              <a:t>、</a:t>
            </a:r>
            <a:r>
              <a:rPr lang="en-US" altLang="zh-CN" sz="2400" dirty="0">
                <a:solidFill>
                  <a:srgbClr val="000000"/>
                </a:solidFill>
                <a:latin typeface="楷体" panose="02010609060101010101" pitchFamily="49" charset="-122"/>
                <a:ea typeface="楷体" panose="02010609060101010101" pitchFamily="49" charset="-122"/>
              </a:rPr>
              <a:t>Ⅱ</a:t>
            </a:r>
            <a:r>
              <a:rPr lang="zh-CN" altLang="en-US" sz="2400" dirty="0">
                <a:solidFill>
                  <a:srgbClr val="000000"/>
                </a:solidFill>
                <a:latin typeface="楷体" panose="02010609060101010101" pitchFamily="49" charset="-122"/>
                <a:ea typeface="楷体" panose="02010609060101010101" pitchFamily="49" charset="-122"/>
              </a:rPr>
              <a:t>产品才能使工厂获利最多？</a:t>
            </a:r>
            <a:endParaRPr lang="zh-CN" altLang="en-US" sz="2400" dirty="0">
              <a:solidFill>
                <a:srgbClr val="000000"/>
              </a:solidFill>
              <a:latin typeface="楷体" panose="02010609060101010101" pitchFamily="49" charset="-122"/>
              <a:ea typeface="楷体" panose="02010609060101010101" pitchFamily="49" charset="-122"/>
            </a:endParaRPr>
          </a:p>
        </p:txBody>
      </p:sp>
      <p:graphicFrame>
        <p:nvGraphicFramePr>
          <p:cNvPr id="5" name="表格 4"/>
          <p:cNvGraphicFramePr>
            <a:graphicFrameLocks noGrp="1"/>
          </p:cNvGraphicFramePr>
          <p:nvPr/>
        </p:nvGraphicFramePr>
        <p:xfrm>
          <a:off x="1754742" y="2889250"/>
          <a:ext cx="8424861" cy="2738436"/>
        </p:xfrm>
        <a:graphic>
          <a:graphicData uri="http://schemas.openxmlformats.org/drawingml/2006/table">
            <a:tbl>
              <a:tblPr/>
              <a:tblGrid>
                <a:gridCol w="2457768"/>
                <a:gridCol w="1989031"/>
                <a:gridCol w="1989031"/>
                <a:gridCol w="1989031"/>
              </a:tblGrid>
              <a:tr h="544888">
                <a:tc>
                  <a:txBody>
                    <a:bodyPr/>
                    <a:lstStyle/>
                    <a:p>
                      <a:pPr algn="ctr" rtl="0" fontAlgn="ctr"/>
                      <a:r>
                        <a:rPr lang="zh-CN" altLang="en-US" sz="2000" b="1" i="0" u="none" strike="noStrike" baseline="0" dirty="0">
                          <a:solidFill>
                            <a:srgbClr val="000000"/>
                          </a:solidFill>
                          <a:effectLst/>
                          <a:latin typeface="Arial" panose="020B0604020202020204" pitchFamily="34" charset="0"/>
                          <a:ea typeface="仿宋" panose="02010609060101010101" pitchFamily="49" charset="-122"/>
                        </a:rPr>
                        <a:t>资源</a:t>
                      </a:r>
                      <a:endParaRPr lang="zh-CN" altLang="en-US" sz="2000" b="1" i="0" u="none" strike="noStrike" baseline="0" dirty="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rtl="0" fontAlgn="ctr"/>
                      <a:r>
                        <a:rPr lang="zh-CN" altLang="en-US" sz="2000" b="1" i="0" u="none" strike="noStrike" baseline="0" dirty="0">
                          <a:solidFill>
                            <a:srgbClr val="000000"/>
                          </a:solidFill>
                          <a:effectLst/>
                          <a:latin typeface="Arial" panose="020B0604020202020204" pitchFamily="34" charset="0"/>
                          <a:ea typeface="仿宋" panose="02010609060101010101" pitchFamily="49" charset="-122"/>
                        </a:rPr>
                        <a:t>产品</a:t>
                      </a:r>
                      <a:r>
                        <a:rPr lang="en-US" altLang="zh-CN" sz="2000" b="1" i="0" u="none" strike="noStrike" baseline="0" dirty="0">
                          <a:solidFill>
                            <a:srgbClr val="000000"/>
                          </a:solidFill>
                          <a:effectLst/>
                          <a:latin typeface="Arial" panose="020B0604020202020204" pitchFamily="34" charset="0"/>
                          <a:ea typeface="仿宋" panose="02010609060101010101" pitchFamily="49" charset="-122"/>
                        </a:rPr>
                        <a:t>Ⅰ</a:t>
                      </a:r>
                      <a:endParaRPr lang="en-US" altLang="zh-CN" sz="2000" b="1" i="0" u="none" strike="noStrike" baseline="0" dirty="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rtl="0" fontAlgn="ctr"/>
                      <a:r>
                        <a:rPr lang="zh-CN" altLang="en-US" sz="2000" b="1" i="0" u="none" strike="noStrike" baseline="0">
                          <a:solidFill>
                            <a:srgbClr val="000000"/>
                          </a:solidFill>
                          <a:effectLst/>
                          <a:latin typeface="Arial" panose="020B0604020202020204" pitchFamily="34" charset="0"/>
                          <a:ea typeface="仿宋" panose="02010609060101010101" pitchFamily="49" charset="-122"/>
                        </a:rPr>
                        <a:t>产品</a:t>
                      </a:r>
                      <a:r>
                        <a:rPr lang="en-US" altLang="zh-CN" sz="2000" b="1" i="0" u="none" strike="noStrike" baseline="0">
                          <a:solidFill>
                            <a:srgbClr val="000000"/>
                          </a:solidFill>
                          <a:effectLst/>
                          <a:latin typeface="Arial" panose="020B0604020202020204" pitchFamily="34" charset="0"/>
                          <a:ea typeface="仿宋" panose="02010609060101010101" pitchFamily="49" charset="-122"/>
                        </a:rPr>
                        <a:t>Ⅱ</a:t>
                      </a:r>
                      <a:endParaRPr lang="en-US" altLang="zh-CN" sz="2000" b="1" i="0" u="none" strike="noStrike" baseline="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rtl="0" fontAlgn="ctr"/>
                      <a:r>
                        <a:rPr lang="zh-CN" altLang="en-US" sz="2000" b="1" i="0" u="none" strike="noStrike" baseline="0" dirty="0">
                          <a:solidFill>
                            <a:srgbClr val="000000"/>
                          </a:solidFill>
                          <a:effectLst/>
                          <a:latin typeface="Arial" panose="020B0604020202020204" pitchFamily="34" charset="0"/>
                          <a:ea typeface="仿宋" panose="02010609060101010101" pitchFamily="49" charset="-122"/>
                        </a:rPr>
                        <a:t>资源限制</a:t>
                      </a:r>
                      <a:endParaRPr lang="zh-CN" altLang="en-US" sz="2000" b="1" i="0" u="none" strike="noStrike" baseline="0" dirty="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r>
              <a:tr h="548387">
                <a:tc>
                  <a:txBody>
                    <a:bodyPr/>
                    <a:lstStyle/>
                    <a:p>
                      <a:pPr algn="ctr" rtl="0"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设备（台时）</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300</a:t>
                      </a:r>
                      <a:r>
                        <a:rPr lang="zh-CN" altLang="en-US" sz="2000" b="0" i="0" u="none" strike="noStrike" baseline="0">
                          <a:solidFill>
                            <a:srgbClr val="000000"/>
                          </a:solidFill>
                          <a:effectLst/>
                          <a:latin typeface="Arial" panose="020B0604020202020204" pitchFamily="34" charset="0"/>
                          <a:ea typeface="仿宋" panose="02010609060101010101" pitchFamily="49" charset="-122"/>
                        </a:rPr>
                        <a:t>台时</a:t>
                      </a:r>
                      <a:endParaRPr lang="zh-CN" altLang="en-US" sz="2000" b="0" i="0" u="none" strike="noStrike" baseline="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r>
              <a:tr h="548387">
                <a:tc>
                  <a:txBody>
                    <a:bodyPr/>
                    <a:lstStyle/>
                    <a:p>
                      <a:pPr algn="ctr" rtl="0"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原料</a:t>
                      </a:r>
                      <a:r>
                        <a:rPr lang="en-US" sz="2000" b="0" i="0" u="none" strike="noStrike" baseline="0" dirty="0">
                          <a:solidFill>
                            <a:srgbClr val="000000"/>
                          </a:solidFill>
                          <a:effectLst/>
                          <a:latin typeface="Arial" panose="020B0604020202020204" pitchFamily="34" charset="0"/>
                          <a:ea typeface="仿宋" panose="02010609060101010101" pitchFamily="49" charset="-122"/>
                        </a:rPr>
                        <a:t>A</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kg</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2</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sz="2000" b="0" i="0" u="none" strike="noStrike" baseline="0">
                          <a:solidFill>
                            <a:srgbClr val="000000"/>
                          </a:solidFill>
                          <a:effectLst/>
                          <a:latin typeface="Arial" panose="020B0604020202020204" pitchFamily="34" charset="0"/>
                          <a:ea typeface="仿宋" panose="02010609060101010101" pitchFamily="49" charset="-122"/>
                        </a:rPr>
                        <a:t>400kg</a:t>
                      </a:r>
                      <a:endParaRPr lang="en-US" sz="2000" b="0" i="0" u="none" strike="noStrike" baseline="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r>
              <a:tr h="548387">
                <a:tc>
                  <a:txBody>
                    <a:bodyPr/>
                    <a:lstStyle/>
                    <a:p>
                      <a:pPr algn="ctr" rtl="0"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原料</a:t>
                      </a:r>
                      <a:r>
                        <a:rPr lang="en-US" sz="2000" b="0" i="0" u="none" strike="noStrike" baseline="0" dirty="0">
                          <a:solidFill>
                            <a:srgbClr val="000000"/>
                          </a:solidFill>
                          <a:effectLst/>
                          <a:latin typeface="Arial" panose="020B0604020202020204" pitchFamily="34" charset="0"/>
                          <a:ea typeface="仿宋" panose="02010609060101010101" pitchFamily="49" charset="-122"/>
                        </a:rPr>
                        <a:t>B</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kg</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250kg</a:t>
                      </a:r>
                      <a:endParaRPr 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r>
              <a:tr h="548387">
                <a:tc>
                  <a:txBody>
                    <a:bodyPr/>
                    <a:lstStyle/>
                    <a:p>
                      <a:pPr algn="ctr" rtl="0"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单位产品获利（元）</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50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100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3" marR="9523" marT="95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a:t>
            </a:r>
            <a:r>
              <a:rPr lang="en-US" altLang="zh-CN" dirty="0"/>
              <a:t>1</a:t>
            </a:r>
            <a:r>
              <a:rPr lang="zh-CN" altLang="en-US" dirty="0"/>
              <a:t>：建模过程</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fontScale="92500" lnSpcReduction="20000"/>
              </a:bodyPr>
              <a:lstStyle/>
              <a:p>
                <a:r>
                  <a:rPr lang="zh-CN" altLang="en-US" dirty="0"/>
                  <a:t>在什么条件下追求什么目标</a:t>
                </a:r>
                <a:endParaRPr lang="en-US" altLang="zh-CN" dirty="0"/>
              </a:p>
              <a:p>
                <a:pPr lvl="1"/>
                <a:r>
                  <a:rPr lang="zh-CN" altLang="en-US" dirty="0"/>
                  <a:t>工厂应分别</a:t>
                </a:r>
                <a:r>
                  <a:rPr lang="zh-CN" altLang="en-US" dirty="0">
                    <a:solidFill>
                      <a:srgbClr val="FF0000"/>
                    </a:solidFill>
                  </a:rPr>
                  <a:t>生产多少单位</a:t>
                </a:r>
                <a:r>
                  <a:rPr lang="en-US" altLang="zh-CN" dirty="0">
                    <a:solidFill>
                      <a:srgbClr val="FF0000"/>
                    </a:solidFill>
                  </a:rPr>
                  <a:t>Ⅰ</a:t>
                </a:r>
                <a:r>
                  <a:rPr lang="zh-CN" altLang="en-US" dirty="0">
                    <a:solidFill>
                      <a:srgbClr val="FF0000"/>
                    </a:solidFill>
                  </a:rPr>
                  <a:t>、</a:t>
                </a:r>
                <a:r>
                  <a:rPr lang="en-US" altLang="zh-CN" dirty="0">
                    <a:solidFill>
                      <a:srgbClr val="FF0000"/>
                    </a:solidFill>
                  </a:rPr>
                  <a:t>Ⅱ</a:t>
                </a:r>
                <a:r>
                  <a:rPr lang="zh-CN" altLang="en-US" dirty="0">
                    <a:solidFill>
                      <a:srgbClr val="FF0000"/>
                    </a:solidFill>
                  </a:rPr>
                  <a:t>产品</a:t>
                </a:r>
                <a:r>
                  <a:rPr lang="zh-CN" altLang="en-US" dirty="0"/>
                  <a:t>才能</a:t>
                </a:r>
                <a:r>
                  <a:rPr lang="zh-CN" altLang="en-US" dirty="0">
                    <a:solidFill>
                      <a:srgbClr val="FF0000"/>
                    </a:solidFill>
                  </a:rPr>
                  <a:t>使工厂获利最多</a:t>
                </a:r>
                <a:r>
                  <a:rPr lang="zh-CN" altLang="en-US" dirty="0"/>
                  <a:t>？</a:t>
                </a:r>
                <a:endParaRPr lang="en-US" altLang="zh-CN" dirty="0"/>
              </a:p>
              <a:p>
                <a:r>
                  <a:rPr lang="zh-CN" altLang="en-US" dirty="0"/>
                  <a:t>定义决策变量表</a:t>
                </a:r>
                <a:endParaRPr lang="en-US" altLang="zh-CN" dirty="0"/>
              </a:p>
              <a:p>
                <a:pPr lvl="1"/>
                <a:r>
                  <a:rPr lang="zh-CN" altLang="en-US" dirty="0"/>
                  <a:t>决策变量：设工厂分别生产</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a14:m>
                <a:r>
                  <a:rPr lang="en-US" altLang="zh-CN" dirty="0"/>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a14:m>
                <a:r>
                  <a:rPr lang="zh-CN" altLang="en-US" dirty="0"/>
                  <a:t>单位的产品</a:t>
                </a:r>
                <a:r>
                  <a:rPr lang="en-US" altLang="zh-CN" dirty="0"/>
                  <a:t>I</a:t>
                </a:r>
                <a:r>
                  <a:rPr lang="zh-CN" altLang="en-US" dirty="0"/>
                  <a:t>和</a:t>
                </a:r>
                <a:r>
                  <a:rPr lang="en-US" altLang="zh-CN" dirty="0"/>
                  <a:t>II</a:t>
                </a:r>
                <a:endParaRPr lang="en-US" altLang="zh-CN" dirty="0"/>
              </a:p>
              <a:p>
                <a:r>
                  <a:rPr lang="zh-CN" altLang="en-US" dirty="0"/>
                  <a:t>用决策变量的线性函数形式写出目标函数</a:t>
                </a:r>
                <a:endParaRPr lang="en-US" altLang="zh-CN" dirty="0"/>
              </a:p>
              <a:p>
                <a:pPr lvl="1"/>
                <a:r>
                  <a:rPr lang="zh-CN" altLang="en-US" dirty="0"/>
                  <a:t>目标函数：用</a:t>
                </a:r>
                <a14:m>
                  <m:oMath xmlns:m="http://schemas.openxmlformats.org/officeDocument/2006/math">
                    <m:r>
                      <a:rPr lang="en-US" altLang="zh-CN" b="0" i="1" smtClean="0">
                        <a:latin typeface="Cambria Math" panose="02040503050406030204" pitchFamily="18" charset="0"/>
                      </a:rPr>
                      <m:t>𝑍</m:t>
                    </m:r>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50</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100</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a14:m>
                <a:r>
                  <a:rPr lang="zh-CN" altLang="en-US" dirty="0"/>
                  <a:t>来表示工厂的利润，则最大利润可以表述为</a:t>
                </a:r>
                <a:endParaRPr lang="en-US" altLang="zh-CN" dirty="0"/>
              </a:p>
              <a:p>
                <a:pPr marL="457200" lvl="1" indent="0">
                  <a:buNone/>
                </a:pPr>
                <a14:m>
                  <m:oMathPara xmlns:m="http://schemas.openxmlformats.org/officeDocument/2006/math">
                    <m:oMathParaPr>
                      <m:jc m:val="centerGroup"/>
                    </m:oMathParaPr>
                    <m:oMath xmlns:m="http://schemas.openxmlformats.org/officeDocument/2006/math">
                      <m:func>
                        <m:funcPr>
                          <m:ctrlPr>
                            <a:rPr lang="en-US" altLang="zh-CN" b="0" i="1" smtClean="0">
                              <a:latin typeface="Cambria Math" panose="02040503050406030204" pitchFamily="18" charset="0"/>
                            </a:rPr>
                          </m:ctrlPr>
                        </m:funcPr>
                        <m:fName>
                          <m:limLow>
                            <m:limLowPr>
                              <m:ctrlPr>
                                <a:rPr lang="en-US" altLang="zh-CN" b="0" i="1" smtClean="0">
                                  <a:latin typeface="Cambria Math" panose="02040503050406030204" pitchFamily="18" charset="0"/>
                                </a:rPr>
                              </m:ctrlPr>
                            </m:limLowPr>
                            <m:e>
                              <m:r>
                                <m:rPr>
                                  <m:sty m:val="p"/>
                                </m:rPr>
                                <a:rPr lang="en-US" altLang="zh-CN" b="0" i="0" smtClean="0">
                                  <a:latin typeface="Cambria Math" panose="02040503050406030204" pitchFamily="18" charset="0"/>
                                </a:rPr>
                                <m:t>max</m:t>
                              </m:r>
                            </m:e>
                            <m:li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lim>
                          </m:limLow>
                        </m:fName>
                        <m:e>
                          <m:r>
                            <a:rPr lang="en-US" altLang="zh-CN" b="0" i="1" smtClean="0">
                              <a:latin typeface="Cambria Math" panose="02040503050406030204" pitchFamily="18" charset="0"/>
                            </a:rPr>
                            <m:t>𝑍</m:t>
                          </m:r>
                          <m:r>
                            <a:rPr lang="en-US" altLang="zh-CN" b="0" i="1" smtClean="0">
                              <a:latin typeface="Cambria Math" panose="02040503050406030204" pitchFamily="18" charset="0"/>
                            </a:rPr>
                            <m:t>=</m:t>
                          </m:r>
                          <m:r>
                            <a:rPr lang="en-US" altLang="zh-CN" b="0" i="1" smtClean="0">
                              <a:latin typeface="Cambria Math" panose="02040503050406030204" pitchFamily="18" charset="0"/>
                            </a:rPr>
                            <m:t>50</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100</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e>
                      </m:func>
                    </m:oMath>
                  </m:oMathPara>
                </a14:m>
                <a:endParaRPr lang="en-US" altLang="zh-CN" dirty="0"/>
              </a:p>
              <a:p>
                <a:r>
                  <a:rPr lang="zh-CN" altLang="en-US" dirty="0"/>
                  <a:t>必须遵循的约束条件</a:t>
                </a:r>
                <a:endParaRPr lang="en-US" altLang="zh-CN" dirty="0"/>
              </a:p>
              <a:p>
                <a:pPr lvl="1"/>
                <a:r>
                  <a:rPr lang="zh-CN" altLang="en-US" dirty="0"/>
                  <a:t>台时数限制：</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300</m:t>
                    </m:r>
                  </m:oMath>
                </a14:m>
                <a:endParaRPr lang="en-US" altLang="zh-CN" dirty="0"/>
              </a:p>
              <a:p>
                <a:pPr lvl="1"/>
                <a:r>
                  <a:rPr lang="zh-CN" altLang="en-US" dirty="0"/>
                  <a:t>原料</a:t>
                </a:r>
                <a:r>
                  <a:rPr lang="en-US" altLang="zh-CN" dirty="0"/>
                  <a:t>A</a:t>
                </a:r>
                <a:r>
                  <a:rPr lang="zh-CN" altLang="en-US" dirty="0"/>
                  <a:t>限制：</a:t>
                </a:r>
                <a14:m>
                  <m:oMath xmlns:m="http://schemas.openxmlformats.org/officeDocument/2006/math">
                    <m:r>
                      <a:rPr lang="en-US" altLang="zh-CN" b="0" i="1" smtClean="0">
                        <a:latin typeface="Cambria Math" panose="02040503050406030204" pitchFamily="18" charset="0"/>
                      </a:rPr>
                      <m:t>2</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400</m:t>
                    </m:r>
                  </m:oMath>
                </a14:m>
                <a:endParaRPr lang="en-US" altLang="zh-CN" dirty="0"/>
              </a:p>
              <a:p>
                <a:pPr lvl="1"/>
                <a:r>
                  <a:rPr lang="zh-CN" altLang="en-US" dirty="0"/>
                  <a:t>原料</a:t>
                </a:r>
                <a:r>
                  <a:rPr lang="en-US" altLang="zh-CN" dirty="0"/>
                  <a:t>B</a:t>
                </a:r>
                <a:r>
                  <a:rPr lang="zh-CN" altLang="en-US" dirty="0"/>
                  <a:t>限制：</a:t>
                </a:r>
                <a14:m>
                  <m:oMath xmlns:m="http://schemas.openxmlformats.org/officeDocument/2006/math">
                    <m:r>
                      <a:rPr lang="en-US" altLang="zh-CN" b="0" i="0" smtClean="0">
                        <a:latin typeface="Cambria Math" panose="02040503050406030204" pitchFamily="18" charset="0"/>
                      </a:rPr>
                      <m:t>0</m:t>
                    </m:r>
                    <m:r>
                      <a:rPr lang="en-US" altLang="zh-CN" b="0" i="0"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250</m:t>
                    </m:r>
                  </m:oMath>
                </a14:m>
                <a:endParaRPr lang="en-US" altLang="zh-CN" dirty="0"/>
              </a:p>
              <a:p>
                <a:pPr lvl="1"/>
                <a:r>
                  <a:rPr lang="zh-CN" altLang="en-US" dirty="0"/>
                  <a:t>产量不为负：</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0</m:t>
                    </m:r>
                  </m:oMath>
                </a14:m>
                <a:endParaRPr lang="en-US" altLang="zh-CN"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949" b="-4954"/>
                </a:stretch>
              </a:blipFill>
            </p:spPr>
            <p:txBody>
              <a:bodyPr/>
              <a:lstStyle/>
              <a:p>
                <a:r>
                  <a:rPr lang="zh-CN" altLang="en-US">
                    <a:noFill/>
                  </a:rPr>
                  <a:t> </a:t>
                </a:r>
              </a:p>
            </p:txBody>
          </p:sp>
        </mc:Fallback>
      </mc:AlternateContent>
      <p:sp>
        <p:nvSpPr>
          <p:cNvPr id="6" name="矩形 5"/>
          <p:cNvSpPr/>
          <p:nvPr/>
        </p:nvSpPr>
        <p:spPr>
          <a:xfrm>
            <a:off x="1350628" y="2147582"/>
            <a:ext cx="7248088" cy="2936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50628" y="2836878"/>
            <a:ext cx="7248088" cy="2936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350645" y="3554095"/>
            <a:ext cx="9756140" cy="904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350628" y="4830805"/>
            <a:ext cx="3842157" cy="12470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bldLvl="0" animBg="1"/>
      <p:bldP spid="9"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a:t>
            </a:r>
            <a:r>
              <a:rPr lang="en-US" altLang="zh-CN" dirty="0"/>
              <a:t>1</a:t>
            </a:r>
            <a:r>
              <a:rPr lang="zh-CN" altLang="en-US" dirty="0"/>
              <a:t>：线性规划模型的一般形式</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pPr marL="0" indent="0">
                  <a:lnSpc>
                    <a:spcPct val="120000"/>
                  </a:lnSpc>
                  <a:buNone/>
                </a:pPr>
                <a:r>
                  <a:rPr lang="zh-CN" altLang="en-US" dirty="0">
                    <a:cs typeface="Times New Roman" panose="02020603050405020304" pitchFamily="18" charset="0"/>
                  </a:rPr>
                  <a:t>目标函数：</a:t>
                </a:r>
                <a:r>
                  <a:rPr lang="en-US" altLang="zh-CN" dirty="0">
                    <a:cs typeface="Times New Roman" panose="02020603050405020304" pitchFamily="18" charset="0"/>
                  </a:rPr>
                  <a:t>max Z=50x</a:t>
                </a:r>
                <a:r>
                  <a:rPr lang="en-US" altLang="zh-CN" baseline="-25000" dirty="0">
                    <a:cs typeface="Times New Roman" panose="02020603050405020304" pitchFamily="18" charset="0"/>
                  </a:rPr>
                  <a:t>1</a:t>
                </a:r>
                <a:r>
                  <a:rPr lang="en-US" altLang="zh-CN" dirty="0">
                    <a:cs typeface="Times New Roman" panose="02020603050405020304" pitchFamily="18" charset="0"/>
                  </a:rPr>
                  <a:t>+100x</a:t>
                </a:r>
                <a:r>
                  <a:rPr lang="en-US" altLang="zh-CN" baseline="-25000" dirty="0">
                    <a:cs typeface="Times New Roman" panose="02020603050405020304" pitchFamily="18" charset="0"/>
                  </a:rPr>
                  <a:t>2</a:t>
                </a:r>
                <a:r>
                  <a:rPr lang="zh-CN" altLang="en-US" dirty="0">
                    <a:cs typeface="Times New Roman" panose="02020603050405020304" pitchFamily="18" charset="0"/>
                  </a:rPr>
                  <a:t>，</a:t>
                </a:r>
                <a:endParaRPr lang="zh-CN" altLang="en-US" dirty="0">
                  <a:cs typeface="Times New Roman" panose="02020603050405020304" pitchFamily="18" charset="0"/>
                </a:endParaRPr>
              </a:p>
              <a:p>
                <a:pPr marL="0" indent="0">
                  <a:lnSpc>
                    <a:spcPct val="120000"/>
                  </a:lnSpc>
                  <a:buNone/>
                </a:pPr>
                <a:r>
                  <a:rPr lang="zh-CN" altLang="en-US" dirty="0">
                    <a:cs typeface="Times New Roman" panose="02020603050405020304" pitchFamily="18" charset="0"/>
                  </a:rPr>
                  <a:t>约束条件：</a:t>
                </a:r>
                <a14:m>
                  <m:oMath xmlns:m="http://schemas.openxmlformats.org/officeDocument/2006/math">
                    <m:m>
                      <m:mPr>
                        <m:mcs>
                          <m:mc>
                            <m:mcPr>
                              <m:count m:val="1"/>
                              <m:mcJc m:val="center"/>
                            </m:mcPr>
                          </m:mc>
                        </m:mcs>
                        <m:ctrlPr>
                          <a:rPr lang="en-US" altLang="zh-CN" i="1" smtClean="0">
                            <a:latin typeface="Cambria Math" panose="02040503050406030204" pitchFamily="18" charset="0"/>
                            <a:cs typeface="Times New Roman" panose="02020603050405020304" pitchFamily="18" charset="0"/>
                          </a:rPr>
                        </m:ctrlPr>
                      </m:mPr>
                      <m:mr>
                        <m:e>
                          <m:r>
                            <m:rPr>
                              <m:nor/>
                            </m:rPr>
                            <a:rPr lang="en-US" altLang="zh-CN" dirty="0">
                              <a:latin typeface="Cambria Math" panose="02040503050406030204" pitchFamily="18" charset="0"/>
                              <a:cs typeface="Times New Roman" panose="02020603050405020304" pitchFamily="18" charset="0"/>
                            </a:rPr>
                            <m:t>x</m:t>
                          </m:r>
                          <m:r>
                            <m:rPr>
                              <m:nor/>
                            </m:rPr>
                            <a:rPr lang="en-US" altLang="zh-CN" baseline="-25000" dirty="0">
                              <a:latin typeface="Cambria Math" panose="02040503050406030204" pitchFamily="18" charset="0"/>
                              <a:cs typeface="Times New Roman" panose="02020603050405020304" pitchFamily="18" charset="0"/>
                            </a:rPr>
                            <m:t>1</m:t>
                          </m:r>
                          <m:r>
                            <m:rPr>
                              <m:nor/>
                            </m:rPr>
                            <a:rPr lang="en-US" altLang="zh-CN" dirty="0">
                              <a:latin typeface="Cambria Math" panose="02040503050406030204" pitchFamily="18" charset="0"/>
                              <a:cs typeface="Times New Roman" panose="02020603050405020304" pitchFamily="18" charset="0"/>
                            </a:rPr>
                            <m:t>+</m:t>
                          </m:r>
                          <m:r>
                            <m:rPr>
                              <m:nor/>
                            </m:rPr>
                            <a:rPr lang="en-US" altLang="zh-CN" dirty="0">
                              <a:latin typeface="Cambria Math" panose="02040503050406030204" pitchFamily="18" charset="0"/>
                              <a:cs typeface="Times New Roman" panose="02020603050405020304" pitchFamily="18" charset="0"/>
                            </a:rPr>
                            <m:t>x</m:t>
                          </m:r>
                          <m:r>
                            <m:rPr>
                              <m:nor/>
                            </m:rPr>
                            <a:rPr lang="en-US" altLang="zh-CN" baseline="-25000" dirty="0">
                              <a:latin typeface="Cambria Math" panose="02040503050406030204" pitchFamily="18" charset="0"/>
                              <a:cs typeface="Times New Roman" panose="02020603050405020304" pitchFamily="18" charset="0"/>
                            </a:rPr>
                            <m:t>2</m:t>
                          </m:r>
                          <m:r>
                            <m:rPr>
                              <m:nor/>
                            </m:rPr>
                            <a:rPr lang="en-US" altLang="zh-CN" dirty="0">
                              <a:latin typeface="Cambria Math" panose="02040503050406030204" pitchFamily="18" charset="0"/>
                              <a:cs typeface="Times New Roman" panose="02020603050405020304" pitchFamily="18" charset="0"/>
                            </a:rPr>
                            <m:t>≤</m:t>
                          </m:r>
                          <m:r>
                            <m:rPr>
                              <m:nor/>
                            </m:rPr>
                            <a:rPr lang="en-US" altLang="zh-CN" dirty="0">
                              <a:latin typeface="Cambria Math" panose="02040503050406030204" pitchFamily="18" charset="0"/>
                              <a:cs typeface="Times New Roman" panose="02020603050405020304" pitchFamily="18" charset="0"/>
                            </a:rPr>
                            <m:t>300</m:t>
                          </m:r>
                        </m:e>
                      </m:mr>
                      <m:mr>
                        <m:e>
                          <m:r>
                            <m:rPr>
                              <m:nor/>
                            </m:rPr>
                            <a:rPr lang="en-US" altLang="zh-CN" dirty="0">
                              <a:latin typeface="Cambria Math" panose="02040503050406030204" pitchFamily="18" charset="0"/>
                              <a:cs typeface="Times New Roman" panose="02020603050405020304" pitchFamily="18" charset="0"/>
                            </a:rPr>
                            <m:t>2</m:t>
                          </m:r>
                          <m:r>
                            <m:rPr>
                              <m:nor/>
                            </m:rPr>
                            <a:rPr lang="en-US" altLang="zh-CN" dirty="0">
                              <a:latin typeface="Cambria Math" panose="02040503050406030204" pitchFamily="18" charset="0"/>
                              <a:cs typeface="Times New Roman" panose="02020603050405020304" pitchFamily="18" charset="0"/>
                            </a:rPr>
                            <m:t>x</m:t>
                          </m:r>
                          <m:r>
                            <m:rPr>
                              <m:nor/>
                            </m:rPr>
                            <a:rPr lang="en-US" altLang="zh-CN" baseline="-25000" dirty="0">
                              <a:latin typeface="Cambria Math" panose="02040503050406030204" pitchFamily="18" charset="0"/>
                              <a:cs typeface="Times New Roman" panose="02020603050405020304" pitchFamily="18" charset="0"/>
                            </a:rPr>
                            <m:t>1</m:t>
                          </m:r>
                          <m:r>
                            <m:rPr>
                              <m:nor/>
                            </m:rPr>
                            <a:rPr lang="en-US" altLang="zh-CN" dirty="0">
                              <a:latin typeface="Cambria Math" panose="02040503050406030204" pitchFamily="18" charset="0"/>
                              <a:cs typeface="Times New Roman" panose="02020603050405020304" pitchFamily="18" charset="0"/>
                            </a:rPr>
                            <m:t>+</m:t>
                          </m:r>
                          <m:r>
                            <m:rPr>
                              <m:nor/>
                            </m:rPr>
                            <a:rPr lang="en-US" altLang="zh-CN" dirty="0">
                              <a:latin typeface="Cambria Math" panose="02040503050406030204" pitchFamily="18" charset="0"/>
                              <a:cs typeface="Times New Roman" panose="02020603050405020304" pitchFamily="18" charset="0"/>
                            </a:rPr>
                            <m:t>x</m:t>
                          </m:r>
                          <m:r>
                            <m:rPr>
                              <m:nor/>
                            </m:rPr>
                            <a:rPr lang="en-US" altLang="zh-CN" baseline="-25000" dirty="0">
                              <a:latin typeface="Cambria Math" panose="02040503050406030204" pitchFamily="18" charset="0"/>
                              <a:cs typeface="Times New Roman" panose="02020603050405020304" pitchFamily="18" charset="0"/>
                            </a:rPr>
                            <m:t>2</m:t>
                          </m:r>
                          <m:r>
                            <m:rPr>
                              <m:nor/>
                            </m:rPr>
                            <a:rPr lang="en-US" altLang="zh-CN" dirty="0">
                              <a:latin typeface="Cambria Math" panose="02040503050406030204" pitchFamily="18" charset="0"/>
                              <a:cs typeface="Times New Roman" panose="02020603050405020304" pitchFamily="18" charset="0"/>
                            </a:rPr>
                            <m:t>≤</m:t>
                          </m:r>
                          <m:r>
                            <m:rPr>
                              <m:nor/>
                            </m:rPr>
                            <a:rPr lang="en-US" altLang="zh-CN" dirty="0">
                              <a:latin typeface="Cambria Math" panose="02040503050406030204" pitchFamily="18" charset="0"/>
                              <a:cs typeface="Times New Roman" panose="02020603050405020304" pitchFamily="18" charset="0"/>
                            </a:rPr>
                            <m:t>400</m:t>
                          </m:r>
                        </m:e>
                      </m:mr>
                      <m:mr>
                        <m:e>
                          <m:m>
                            <m:mPr>
                              <m:mcs>
                                <m:mc>
                                  <m:mcPr>
                                    <m:count m:val="1"/>
                                    <m:mcJc m:val="center"/>
                                  </m:mcPr>
                                </m:mc>
                              </m:mcs>
                              <m:ctrlPr>
                                <a:rPr lang="en-US" altLang="zh-CN" i="1" smtClean="0">
                                  <a:latin typeface="Cambria Math" panose="02040503050406030204" pitchFamily="18" charset="0"/>
                                  <a:cs typeface="Times New Roman" panose="02020603050405020304" pitchFamily="18" charset="0"/>
                                </a:rPr>
                              </m:ctrlPr>
                            </m:mPr>
                            <m:mr>
                              <m:e>
                                <m:r>
                                  <m:rPr>
                                    <m:nor/>
                                  </m:rPr>
                                  <a:rPr lang="en-US" altLang="zh-CN" dirty="0">
                                    <a:latin typeface="Cambria Math" panose="02040503050406030204" pitchFamily="18" charset="0"/>
                                    <a:cs typeface="Times New Roman" panose="02020603050405020304" pitchFamily="18" charset="0"/>
                                  </a:rPr>
                                  <m:t>x</m:t>
                                </m:r>
                                <m:r>
                                  <m:rPr>
                                    <m:nor/>
                                  </m:rPr>
                                  <a:rPr lang="en-US" altLang="zh-CN" baseline="-25000" dirty="0">
                                    <a:latin typeface="Cambria Math" panose="02040503050406030204" pitchFamily="18" charset="0"/>
                                    <a:cs typeface="Times New Roman" panose="02020603050405020304" pitchFamily="18" charset="0"/>
                                  </a:rPr>
                                  <m:t>2</m:t>
                                </m:r>
                                <m:r>
                                  <m:rPr>
                                    <m:nor/>
                                  </m:rPr>
                                  <a:rPr lang="en-US" altLang="zh-CN" dirty="0">
                                    <a:latin typeface="Cambria Math" panose="02040503050406030204" pitchFamily="18" charset="0"/>
                                    <a:cs typeface="Times New Roman" panose="02020603050405020304" pitchFamily="18" charset="0"/>
                                  </a:rPr>
                                  <m:t>≤</m:t>
                                </m:r>
                                <m:r>
                                  <m:rPr>
                                    <m:nor/>
                                  </m:rPr>
                                  <a:rPr lang="en-US" altLang="zh-CN" dirty="0">
                                    <a:latin typeface="Cambria Math" panose="02040503050406030204" pitchFamily="18" charset="0"/>
                                    <a:cs typeface="Times New Roman" panose="02020603050405020304" pitchFamily="18" charset="0"/>
                                  </a:rPr>
                                  <m:t>250</m:t>
                                </m:r>
                              </m:e>
                            </m:mr>
                            <m:mr>
                              <m:e>
                                <m:r>
                                  <m:rPr>
                                    <m:nor/>
                                  </m:rPr>
                                  <a:rPr lang="en-US" altLang="zh-CN" dirty="0">
                                    <a:latin typeface="Cambria Math" panose="02040503050406030204" pitchFamily="18" charset="0"/>
                                    <a:cs typeface="Times New Roman" panose="02020603050405020304" pitchFamily="18" charset="0"/>
                                  </a:rPr>
                                  <m:t>x</m:t>
                                </m:r>
                                <m:r>
                                  <m:rPr>
                                    <m:nor/>
                                  </m:rPr>
                                  <a:rPr lang="en-US" altLang="zh-CN" baseline="-25000" dirty="0">
                                    <a:latin typeface="Cambria Math" panose="02040503050406030204" pitchFamily="18" charset="0"/>
                                    <a:cs typeface="Times New Roman" panose="02020603050405020304" pitchFamily="18" charset="0"/>
                                  </a:rPr>
                                  <m:t>1</m:t>
                                </m:r>
                                <m:r>
                                  <m:rPr>
                                    <m:nor/>
                                  </m:rPr>
                                  <a:rPr lang="en-US" altLang="zh-CN" dirty="0">
                                    <a:latin typeface="Cambria Math" panose="02040503050406030204" pitchFamily="18" charset="0"/>
                                    <a:cs typeface="Times New Roman" panose="02020603050405020304" pitchFamily="18" charset="0"/>
                                  </a:rPr>
                                  <m:t>≥</m:t>
                                </m:r>
                                <m:r>
                                  <m:rPr>
                                    <m:nor/>
                                  </m:rPr>
                                  <a:rPr lang="en-US" altLang="zh-CN" dirty="0">
                                    <a:latin typeface="Cambria Math" panose="02040503050406030204" pitchFamily="18" charset="0"/>
                                    <a:cs typeface="Times New Roman" panose="02020603050405020304" pitchFamily="18" charset="0"/>
                                  </a:rPr>
                                  <m:t>0</m:t>
                                </m:r>
                                <m:r>
                                  <m:rPr>
                                    <m:nor/>
                                  </m:rPr>
                                  <a:rPr lang="en-US" altLang="zh-CN" dirty="0">
                                    <a:latin typeface="Cambria Math" panose="02040503050406030204" pitchFamily="18" charset="0"/>
                                    <a:cs typeface="Times New Roman" panose="02020603050405020304" pitchFamily="18" charset="0"/>
                                  </a:rPr>
                                  <m:t>, </m:t>
                                </m:r>
                                <m:r>
                                  <m:rPr>
                                    <m:nor/>
                                  </m:rPr>
                                  <a:rPr lang="en-US" altLang="zh-CN" dirty="0">
                                    <a:latin typeface="Cambria Math" panose="02040503050406030204" pitchFamily="18" charset="0"/>
                                    <a:cs typeface="Times New Roman" panose="02020603050405020304" pitchFamily="18" charset="0"/>
                                  </a:rPr>
                                  <m:t>x</m:t>
                                </m:r>
                                <m:r>
                                  <m:rPr>
                                    <m:nor/>
                                  </m:rPr>
                                  <a:rPr lang="en-US" altLang="zh-CN" baseline="-25000" dirty="0">
                                    <a:latin typeface="Cambria Math" panose="02040503050406030204" pitchFamily="18" charset="0"/>
                                    <a:cs typeface="Times New Roman" panose="02020603050405020304" pitchFamily="18" charset="0"/>
                                  </a:rPr>
                                  <m:t>2</m:t>
                                </m:r>
                                <m:r>
                                  <m:rPr>
                                    <m:nor/>
                                  </m:rPr>
                                  <a:rPr lang="en-US" altLang="zh-CN" dirty="0">
                                    <a:latin typeface="Cambria Math" panose="02040503050406030204" pitchFamily="18" charset="0"/>
                                    <a:cs typeface="Times New Roman" panose="02020603050405020304" pitchFamily="18" charset="0"/>
                                  </a:rPr>
                                  <m:t>≥</m:t>
                                </m:r>
                                <m:r>
                                  <m:rPr>
                                    <m:nor/>
                                  </m:rPr>
                                  <a:rPr lang="en-US" altLang="zh-CN" dirty="0">
                                    <a:latin typeface="Cambria Math" panose="02040503050406030204" pitchFamily="18" charset="0"/>
                                    <a:cs typeface="Times New Roman" panose="02020603050405020304" pitchFamily="18" charset="0"/>
                                  </a:rPr>
                                  <m:t>0</m:t>
                                </m:r>
                              </m:e>
                            </m:mr>
                          </m:m>
                        </m:e>
                      </m:mr>
                    </m:m>
                  </m:oMath>
                </a14:m>
                <a:r>
                  <a:rPr lang="zh-CN" altLang="en-US" dirty="0">
                    <a:cs typeface="Times New Roman" panose="02020603050405020304" pitchFamily="18" charset="0"/>
                  </a:rPr>
                  <a:t>      </a:t>
                </a:r>
                <a:endParaRPr lang="zh-CN" altLang="en-US" dirty="0">
                  <a:cs typeface="Times New Roman" panose="02020603050405020304" pitchFamily="18"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线性规划的解</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514350" indent="-514350">
                  <a:buFont typeface="+mj-lt"/>
                  <a:buAutoNum type="arabicPeriod"/>
                </a:pPr>
                <a:r>
                  <a:rPr lang="zh-CN" altLang="en-US" dirty="0"/>
                  <a:t>可行解：</a:t>
                </a:r>
                <a:r>
                  <a:rPr lang="en-US" altLang="zh-CN" b="0" dirty="0"/>
                  <a:t> </a:t>
                </a:r>
                <a:r>
                  <a:rPr lang="zh-CN" altLang="en-US" b="0" dirty="0"/>
                  <a:t>所有</a:t>
                </a:r>
                <a:r>
                  <a:rPr lang="zh-CN" altLang="en-US" dirty="0"/>
                  <a:t>满足约束条件的</a:t>
                </a:r>
                <a14:m>
                  <m:oMath xmlns:m="http://schemas.openxmlformats.org/officeDocument/2006/math">
                    <m:d>
                      <m:dPr>
                        <m:ctrlPr>
                          <a:rPr lang="en-US" altLang="zh-CN" i="1">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i="1">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e>
                    </m:d>
                  </m:oMath>
                </a14:m>
                <a:endParaRPr lang="en-US" altLang="zh-CN" dirty="0"/>
              </a:p>
              <a:p>
                <a:pPr marL="514350" indent="-514350">
                  <a:buFont typeface="+mj-lt"/>
                  <a:buAutoNum type="arabicPeriod"/>
                </a:pPr>
                <a:r>
                  <a:rPr lang="zh-CN" altLang="en-US" dirty="0"/>
                  <a:t>最优解：</a:t>
                </a:r>
                <a14:m>
                  <m:oMath xmlns:m="http://schemas.openxmlformats.org/officeDocument/2006/math">
                    <m:d>
                      <m:dPr>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m:t>
                            </m:r>
                          </m:sup>
                        </m:sSubSup>
                      </m:e>
                    </m:d>
                    <m:r>
                      <a:rPr lang="en-US" altLang="zh-CN" b="0" i="1" smtClean="0">
                        <a:latin typeface="Cambria Math" panose="02040503050406030204" pitchFamily="18" charset="0"/>
                      </a:rPr>
                      <m:t>≔</m:t>
                    </m:r>
                    <m:r>
                      <a:rPr lang="en-US" altLang="zh-CN" b="0" i="1" smtClean="0">
                        <a:latin typeface="Cambria Math" panose="02040503050406030204" pitchFamily="18" charset="0"/>
                      </a:rPr>
                      <m:t>𝑎𝑟𝑔𝑚𝑎𝑥</m:t>
                    </m:r>
                    <m:r>
                      <a:rPr lang="en-US" altLang="zh-CN" b="0" i="1" smtClean="0">
                        <a:latin typeface="Cambria Math" panose="02040503050406030204" pitchFamily="18" charset="0"/>
                      </a:rPr>
                      <m:t> </m:t>
                    </m:r>
                    <m:r>
                      <a:rPr lang="en-US" altLang="zh-CN" b="0" i="1" smtClean="0">
                        <a:latin typeface="Cambria Math" panose="02040503050406030204" pitchFamily="18" charset="0"/>
                      </a:rPr>
                      <m:t>𝑍</m:t>
                    </m:r>
                    <m:r>
                      <a:rPr lang="en-US" altLang="zh-CN" b="0" i="1" smtClean="0">
                        <a:latin typeface="Cambria Math" panose="02040503050406030204" pitchFamily="18" charset="0"/>
                      </a:rPr>
                      <m:t>=</m:t>
                    </m:r>
                    <m:r>
                      <a:rPr lang="en-US" altLang="zh-CN" b="0" i="1" smtClean="0">
                        <a:latin typeface="Cambria Math" panose="02040503050406030204" pitchFamily="18" charset="0"/>
                      </a:rPr>
                      <m:t>50</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100</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m:t>
                        </m:r>
                      </m:sup>
                    </m:sSubSup>
                  </m:oMath>
                </a14:m>
                <a:r>
                  <a:rPr lang="zh-CN" altLang="en-US" dirty="0"/>
                  <a:t>且满足约束条件</a:t>
                </a:r>
                <a:endParaRPr lang="en-US" altLang="zh-CN" dirty="0"/>
              </a:p>
              <a:p>
                <a:pPr marL="514350" indent="-514350">
                  <a:buFont typeface="+mj-lt"/>
                  <a:buAutoNum type="arabicPeriod"/>
                </a:pPr>
                <a:r>
                  <a:rPr lang="zh-CN" altLang="en-US" dirty="0"/>
                  <a:t>最优值：</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𝑍</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50</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100</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m:t>
                        </m:r>
                      </m:sup>
                    </m:sSubSup>
                  </m:oMath>
                </a14:m>
                <a:endParaRPr lang="en-US" altLang="zh-CN" dirty="0"/>
              </a:p>
              <a:p>
                <a:pPr marL="514350" indent="-514350">
                  <a:buFont typeface="+mj-lt"/>
                  <a:buAutoNum type="arabicPeriod"/>
                </a:pP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卡片 2"/>
          <p:cNvSpPr/>
          <p:nvPr/>
        </p:nvSpPr>
        <p:spPr>
          <a:xfrm rot="5400000">
            <a:off x="2378279" y="2571226"/>
            <a:ext cx="2772561" cy="3168921"/>
          </a:xfrm>
          <a:prstGeom prst="flowChartPunchedCar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线性规划的解</a:t>
            </a:r>
            <a:endParaRPr lang="zh-CN" altLang="en-US" dirty="0"/>
          </a:p>
        </p:txBody>
      </p:sp>
      <p:cxnSp>
        <p:nvCxnSpPr>
          <p:cNvPr id="6" name="直接箭头连接符 5"/>
          <p:cNvCxnSpPr/>
          <p:nvPr/>
        </p:nvCxnSpPr>
        <p:spPr>
          <a:xfrm flipV="1">
            <a:off x="2072081" y="1476462"/>
            <a:ext cx="0" cy="46391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2072081" y="6115574"/>
            <a:ext cx="68859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文本框 8"/>
              <p:cNvSpPr txBox="1"/>
              <p:nvPr/>
            </p:nvSpPr>
            <p:spPr>
              <a:xfrm>
                <a:off x="1594608" y="1476461"/>
                <a:ext cx="662725"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m:oMathPara>
                </a14:m>
                <a:endParaRPr lang="zh-CN" altLang="en-US" dirty="0"/>
              </a:p>
            </p:txBody>
          </p:sp>
        </mc:Choice>
        <mc:Fallback>
          <p:sp>
            <p:nvSpPr>
              <p:cNvPr id="9" name="文本框 8"/>
              <p:cNvSpPr txBox="1">
                <a:spLocks noRot="1" noChangeAspect="1" noMove="1" noResize="1" noEditPoints="1" noAdjustHandles="1" noChangeArrowheads="1" noChangeShapeType="1" noTextEdit="1"/>
              </p:cNvSpPr>
              <p:nvPr/>
            </p:nvSpPr>
            <p:spPr>
              <a:xfrm>
                <a:off x="1594608" y="1476461"/>
                <a:ext cx="662725" cy="369332"/>
              </a:xfrm>
              <a:prstGeom prst="rect">
                <a:avLst/>
              </a:prstGeom>
              <a:blipFill rotWithShape="1">
                <a:blip r:embed="rId1"/>
                <a:stretch>
                  <a:fillRect l="-19" t="-23" r="82" b="13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8458200" y="6041470"/>
                <a:ext cx="662725"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zh-CN" altLang="en-US" dirty="0"/>
              </a:p>
            </p:txBody>
          </p:sp>
        </mc:Choice>
        <mc:Fallback>
          <p:sp>
            <p:nvSpPr>
              <p:cNvPr id="10" name="文本框 9"/>
              <p:cNvSpPr txBox="1">
                <a:spLocks noRot="1" noChangeAspect="1" noMove="1" noResize="1" noEditPoints="1" noAdjustHandles="1" noChangeArrowheads="1" noChangeShapeType="1" noTextEdit="1"/>
              </p:cNvSpPr>
              <p:nvPr/>
            </p:nvSpPr>
            <p:spPr>
              <a:xfrm>
                <a:off x="8458200" y="6041470"/>
                <a:ext cx="662725" cy="369332"/>
              </a:xfrm>
              <a:prstGeom prst="rect">
                <a:avLst/>
              </a:prstGeom>
              <a:blipFill rotWithShape="1">
                <a:blip r:embed="rId2"/>
                <a:stretch>
                  <a:fillRect t="-22" r="63" b="12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1671507" y="5930909"/>
                <a:ext cx="662725"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0</m:t>
                      </m:r>
                    </m:oMath>
                  </m:oMathPara>
                </a14:m>
                <a:endParaRPr lang="zh-CN" altLang="en-US" dirty="0"/>
              </a:p>
            </p:txBody>
          </p:sp>
        </mc:Choice>
        <mc:Fallback>
          <p:sp>
            <p:nvSpPr>
              <p:cNvPr id="11" name="文本框 10"/>
              <p:cNvSpPr txBox="1">
                <a:spLocks noRot="1" noChangeAspect="1" noMove="1" noResize="1" noEditPoints="1" noAdjustHandles="1" noChangeArrowheads="1" noChangeShapeType="1" noTextEdit="1"/>
              </p:cNvSpPr>
              <p:nvPr/>
            </p:nvSpPr>
            <p:spPr>
              <a:xfrm>
                <a:off x="1671507" y="5930909"/>
                <a:ext cx="662725" cy="369332"/>
              </a:xfrm>
              <a:prstGeom prst="rect">
                <a:avLst/>
              </a:prstGeom>
              <a:blipFill rotWithShape="1">
                <a:blip r:embed="rId3"/>
                <a:stretch>
                  <a:fillRect l="-28" t="-2" r="92" b="1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6037971" y="1321356"/>
                <a:ext cx="6165908" cy="369332"/>
              </a:xfrm>
              <a:prstGeom prst="rect">
                <a:avLst/>
              </a:prstGeom>
              <a:noFill/>
            </p:spPr>
            <p:txBody>
              <a:bodyPr wrap="square">
                <a:spAutoFit/>
              </a:bodyPr>
              <a:lstStyle/>
              <a:p>
                <a:r>
                  <a:rPr lang="zh-CN" altLang="en-US" dirty="0"/>
                  <a:t>可行解：</a:t>
                </a:r>
                <a:r>
                  <a:rPr lang="en-US" altLang="zh-CN" b="0" dirty="0"/>
                  <a:t> </a:t>
                </a:r>
                <a:r>
                  <a:rPr lang="zh-CN" altLang="en-US" b="0" dirty="0"/>
                  <a:t>所有</a:t>
                </a:r>
                <a:r>
                  <a:rPr lang="zh-CN" altLang="en-US" dirty="0"/>
                  <a:t>满足约束条件的</a:t>
                </a:r>
                <a14:m>
                  <m:oMath xmlns:m="http://schemas.openxmlformats.org/officeDocument/2006/math">
                    <m:d>
                      <m:dPr>
                        <m:ctrlPr>
                          <a:rPr lang="en-US" altLang="zh-CN" i="1">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i="1">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e>
                    </m:d>
                  </m:oMath>
                </a14:m>
                <a:endParaRPr lang="zh-CN" altLang="en-US" dirty="0"/>
              </a:p>
            </p:txBody>
          </p:sp>
        </mc:Choice>
        <mc:Fallback>
          <p:sp>
            <p:nvSpPr>
              <p:cNvPr id="15" name="文本框 14"/>
              <p:cNvSpPr txBox="1">
                <a:spLocks noRot="1" noChangeAspect="1" noMove="1" noResize="1" noEditPoints="1" noAdjustHandles="1" noChangeArrowheads="1" noChangeShapeType="1" noTextEdit="1"/>
              </p:cNvSpPr>
              <p:nvPr/>
            </p:nvSpPr>
            <p:spPr>
              <a:xfrm>
                <a:off x="6037971" y="1321356"/>
                <a:ext cx="6165908" cy="369332"/>
              </a:xfrm>
              <a:prstGeom prst="rect">
                <a:avLst/>
              </a:prstGeom>
              <a:blipFill rotWithShape="1">
                <a:blip r:embed="rId4"/>
                <a:stretch>
                  <a:fillRect l="-6" t="-151" r="7" b="86"/>
                </a:stretch>
              </a:blipFill>
            </p:spPr>
            <p:txBody>
              <a:bodyPr/>
              <a:lstStyle/>
              <a:p>
                <a:r>
                  <a:rPr lang="zh-CN" altLang="en-US">
                    <a:noFill/>
                  </a:rPr>
                  <a:t> </a:t>
                </a:r>
              </a:p>
            </p:txBody>
          </p:sp>
        </mc:Fallback>
      </mc:AlternateContent>
      <p:sp>
        <p:nvSpPr>
          <p:cNvPr id="16" name="星形: 四角 15"/>
          <p:cNvSpPr/>
          <p:nvPr/>
        </p:nvSpPr>
        <p:spPr>
          <a:xfrm>
            <a:off x="4518869" y="2586138"/>
            <a:ext cx="394283" cy="366534"/>
          </a:xfrm>
          <a:prstGeom prst="star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7" name="文本框 16"/>
              <p:cNvSpPr txBox="1"/>
              <p:nvPr/>
            </p:nvSpPr>
            <p:spPr>
              <a:xfrm>
                <a:off x="6026092" y="2085417"/>
                <a:ext cx="6165908" cy="646331"/>
              </a:xfrm>
              <a:prstGeom prst="rect">
                <a:avLst/>
              </a:prstGeom>
              <a:noFill/>
            </p:spPr>
            <p:txBody>
              <a:bodyPr wrap="square">
                <a:spAutoFit/>
              </a:bodyPr>
              <a:lstStyle/>
              <a:p>
                <a:r>
                  <a:rPr lang="zh-CN" altLang="en-US" dirty="0"/>
                  <a:t>最优解：</a:t>
                </a:r>
                <a14:m>
                  <m:oMath xmlns:m="http://schemas.openxmlformats.org/officeDocument/2006/math">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1</m:t>
                            </m:r>
                          </m:sub>
                          <m:sup>
                            <m:r>
                              <a:rPr lang="en-US" altLang="zh-CN" i="1">
                                <a:latin typeface="Cambria Math" panose="02040503050406030204" pitchFamily="18" charset="0"/>
                              </a:rPr>
                              <m:t>∗</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2</m:t>
                            </m:r>
                          </m:sub>
                          <m:sup>
                            <m:r>
                              <a:rPr lang="en-US" altLang="zh-CN" i="1">
                                <a:latin typeface="Cambria Math" panose="02040503050406030204" pitchFamily="18" charset="0"/>
                              </a:rPr>
                              <m:t>∗</m:t>
                            </m:r>
                          </m:sup>
                        </m:sSubSup>
                      </m:e>
                    </m:d>
                    <m:r>
                      <a:rPr lang="zh-CN" altLang="en-US" i="1" smtClean="0">
                        <a:latin typeface="Cambria Math" panose="02040503050406030204" pitchFamily="18" charset="0"/>
                      </a:rPr>
                      <m:t>使</m:t>
                    </m:r>
                  </m:oMath>
                </a14:m>
                <a:r>
                  <a:rPr lang="zh-CN" altLang="en-US" dirty="0"/>
                  <a:t>目标函数</a:t>
                </a:r>
                <a:r>
                  <a:rPr lang="en-US" altLang="zh-CN" dirty="0"/>
                  <a:t>Z</a:t>
                </a:r>
                <a:r>
                  <a:rPr lang="zh-CN" altLang="en-US" dirty="0"/>
                  <a:t>最大（最小）化，其对应的极值</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𝑍</m:t>
                        </m:r>
                      </m:e>
                      <m:sup>
                        <m:r>
                          <a:rPr lang="en-US" altLang="zh-CN" b="0" i="1" smtClean="0">
                            <a:latin typeface="Cambria Math" panose="02040503050406030204" pitchFamily="18" charset="0"/>
                          </a:rPr>
                          <m:t>∗</m:t>
                        </m:r>
                      </m:sup>
                    </m:sSup>
                  </m:oMath>
                </a14:m>
                <a:r>
                  <a:rPr lang="zh-CN" altLang="en-US" dirty="0"/>
                  <a:t>被称为最优值</a:t>
                </a:r>
                <a:endParaRPr lang="zh-CN" altLang="en-US" dirty="0"/>
              </a:p>
            </p:txBody>
          </p:sp>
        </mc:Choice>
        <mc:Fallback>
          <p:sp>
            <p:nvSpPr>
              <p:cNvPr id="17" name="文本框 16"/>
              <p:cNvSpPr txBox="1">
                <a:spLocks noRot="1" noChangeAspect="1" noMove="1" noResize="1" noEditPoints="1" noAdjustHandles="1" noChangeArrowheads="1" noChangeShapeType="1" noTextEdit="1"/>
              </p:cNvSpPr>
              <p:nvPr/>
            </p:nvSpPr>
            <p:spPr>
              <a:xfrm>
                <a:off x="6026092" y="2085417"/>
                <a:ext cx="6165908" cy="646331"/>
              </a:xfrm>
              <a:prstGeom prst="rect">
                <a:avLst/>
              </a:prstGeom>
              <a:blipFill rotWithShape="1">
                <a:blip r:embed="rId5"/>
                <a:stretch>
                  <a:fillRect l="-9" t="-12" b="95"/>
                </a:stretch>
              </a:blipFill>
            </p:spPr>
            <p:txBody>
              <a:bodyPr/>
              <a:lstStyle/>
              <a:p>
                <a:r>
                  <a:rPr lang="zh-CN" altLang="en-US">
                    <a:noFill/>
                  </a:rPr>
                  <a:t> </a:t>
                </a:r>
              </a:p>
            </p:txBody>
          </p:sp>
        </mc:Fallback>
      </mc:AlternateContent>
      <p:cxnSp>
        <p:nvCxnSpPr>
          <p:cNvPr id="19" name="直接连接符 18"/>
          <p:cNvCxnSpPr>
            <a:stCxn id="16" idx="1"/>
          </p:cNvCxnSpPr>
          <p:nvPr/>
        </p:nvCxnSpPr>
        <p:spPr>
          <a:xfrm flipH="1">
            <a:off x="2072081" y="2769405"/>
            <a:ext cx="2446788" cy="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6" idx="2"/>
          </p:cNvCxnSpPr>
          <p:nvPr/>
        </p:nvCxnSpPr>
        <p:spPr>
          <a:xfrm>
            <a:off x="4716011" y="2952672"/>
            <a:ext cx="0" cy="316010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文本框 21"/>
              <p:cNvSpPr txBox="1"/>
              <p:nvPr/>
            </p:nvSpPr>
            <p:spPr>
              <a:xfrm>
                <a:off x="1547777" y="2566649"/>
                <a:ext cx="662725"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m:t>
                          </m:r>
                        </m:sup>
                      </m:sSubSup>
                    </m:oMath>
                  </m:oMathPara>
                </a14:m>
                <a:endParaRPr lang="zh-CN" altLang="en-US" dirty="0"/>
              </a:p>
            </p:txBody>
          </p:sp>
        </mc:Choice>
        <mc:Fallback>
          <p:sp>
            <p:nvSpPr>
              <p:cNvPr id="22" name="文本框 21"/>
              <p:cNvSpPr txBox="1">
                <a:spLocks noRot="1" noChangeAspect="1" noMove="1" noResize="1" noEditPoints="1" noAdjustHandles="1" noChangeArrowheads="1" noChangeShapeType="1" noTextEdit="1"/>
              </p:cNvSpPr>
              <p:nvPr/>
            </p:nvSpPr>
            <p:spPr>
              <a:xfrm>
                <a:off x="1547777" y="2566649"/>
                <a:ext cx="662725" cy="369332"/>
              </a:xfrm>
              <a:prstGeom prst="rect">
                <a:avLst/>
              </a:prstGeom>
              <a:blipFill rotWithShape="1">
                <a:blip r:embed="rId6"/>
                <a:stretch>
                  <a:fillRect l="-43" t="-166" r="10" b="10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文本框 22"/>
              <p:cNvSpPr txBox="1"/>
              <p:nvPr/>
            </p:nvSpPr>
            <p:spPr>
              <a:xfrm>
                <a:off x="4384647" y="6081562"/>
                <a:ext cx="662725" cy="37542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m:t>
                          </m:r>
                        </m:sup>
                      </m:sSubSup>
                    </m:oMath>
                  </m:oMathPara>
                </a14:m>
                <a:endParaRPr lang="zh-CN" altLang="en-US" dirty="0"/>
              </a:p>
            </p:txBody>
          </p:sp>
        </mc:Choice>
        <mc:Fallback>
          <p:sp>
            <p:nvSpPr>
              <p:cNvPr id="23" name="文本框 22"/>
              <p:cNvSpPr txBox="1">
                <a:spLocks noRot="1" noChangeAspect="1" noMove="1" noResize="1" noEditPoints="1" noAdjustHandles="1" noChangeArrowheads="1" noChangeShapeType="1" noTextEdit="1"/>
              </p:cNvSpPr>
              <p:nvPr/>
            </p:nvSpPr>
            <p:spPr>
              <a:xfrm>
                <a:off x="4384647" y="6081562"/>
                <a:ext cx="662725" cy="375424"/>
              </a:xfrm>
              <a:prstGeom prst="rect">
                <a:avLst/>
              </a:prstGeom>
              <a:blipFill rotWithShape="1">
                <a:blip r:embed="rId7"/>
                <a:stretch>
                  <a:fillRect l="-92" t="-44" r="59" b="82"/>
                </a:stretch>
              </a:blipFill>
            </p:spPr>
            <p:txBody>
              <a:bodyPr/>
              <a:lstStyle/>
              <a:p>
                <a:r>
                  <a:rPr lang="zh-CN" altLang="en-US">
                    <a:noFill/>
                  </a:rPr>
                  <a:t> </a:t>
                </a:r>
              </a:p>
            </p:txBody>
          </p:sp>
        </mc:Fallback>
      </mc:AlternateContent>
      <p:cxnSp>
        <p:nvCxnSpPr>
          <p:cNvPr id="12" name="直接连接符 11"/>
          <p:cNvCxnSpPr/>
          <p:nvPr/>
        </p:nvCxnSpPr>
        <p:spPr>
          <a:xfrm>
            <a:off x="2801923" y="2055303"/>
            <a:ext cx="5331204" cy="203013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P spid="16" grpId="0" animBg="1"/>
      <p:bldP spid="17" grpId="0"/>
      <p:bldP spid="22" grpId="0"/>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线性规划图解法</a:t>
            </a:r>
            <a:endParaRPr lang="en-US" dirty="0"/>
          </a:p>
        </p:txBody>
      </p:sp>
      <p:sp>
        <p:nvSpPr>
          <p:cNvPr id="3" name="Content Placeholder 2"/>
          <p:cNvSpPr>
            <a:spLocks noGrp="1"/>
          </p:cNvSpPr>
          <p:nvPr>
            <p:ph idx="1"/>
          </p:nvPr>
        </p:nvSpPr>
        <p:spPr/>
        <p:txBody>
          <a:bodyPr/>
          <a:lstStyle/>
          <a:p>
            <a:r>
              <a:rPr lang="zh-CN" altLang="en-US" dirty="0"/>
              <a:t>图解法只能用于解决包含</a:t>
            </a:r>
            <a:r>
              <a:rPr lang="zh-CN" altLang="en-US" dirty="0">
                <a:solidFill>
                  <a:srgbClr val="FF0000"/>
                </a:solidFill>
              </a:rPr>
              <a:t>两个决策变量</a:t>
            </a:r>
            <a:r>
              <a:rPr lang="zh-CN" altLang="en-US" dirty="0"/>
              <a:t>的线性规划问题</a:t>
            </a:r>
            <a:endParaRPr lang="en-US" altLang="zh-CN" dirty="0"/>
          </a:p>
          <a:p>
            <a:r>
              <a:rPr lang="zh-CN" altLang="en-US" dirty="0"/>
              <a:t>每个约束条件都代表一个半平面</a:t>
            </a:r>
            <a:endParaRPr lang="en-US" altLang="zh-CN" dirty="0"/>
          </a:p>
          <a:p>
            <a:r>
              <a:rPr lang="zh-CN" altLang="en-US" dirty="0"/>
              <a:t>通过所有半平面的交集确定线性规划的可行域</a:t>
            </a:r>
            <a:endParaRPr lang="en-US" altLang="zh-CN" dirty="0"/>
          </a:p>
          <a:p>
            <a:pPr lvl="1"/>
            <a:r>
              <a:rPr lang="zh-CN" altLang="en-US" dirty="0"/>
              <a:t>可行域是可行解的集合</a:t>
            </a:r>
            <a:endParaRPr lang="en-US" altLang="zh-CN" dirty="0"/>
          </a:p>
          <a:p>
            <a:pPr marL="0" indent="0">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线性规划图解法</a:t>
            </a:r>
            <a:r>
              <a:rPr lang="en-US" altLang="zh-CN" dirty="0"/>
              <a:t> – </a:t>
            </a:r>
            <a:r>
              <a:rPr lang="zh-CN" altLang="en-US" dirty="0"/>
              <a:t>例</a:t>
            </a:r>
            <a:r>
              <a:rPr lang="en-US" altLang="zh-CN" dirty="0"/>
              <a:t>1</a:t>
            </a:r>
            <a:r>
              <a:rPr lang="zh-CN" altLang="en-US" dirty="0"/>
              <a:t>中约束条件对应的半平面</a:t>
            </a:r>
            <a:endParaRPr lang="zh-CN" altLang="en-US" dirty="0"/>
          </a:p>
        </p:txBody>
      </p:sp>
      <mc:AlternateContent xmlns:mc="http://schemas.openxmlformats.org/markup-compatibility/2006">
        <mc:Choice xmlns:a14="http://schemas.microsoft.com/office/drawing/2010/main" Requires="a14">
          <p:sp>
            <p:nvSpPr>
              <p:cNvPr id="5" name="文本框 4"/>
              <p:cNvSpPr txBox="1"/>
              <p:nvPr/>
            </p:nvSpPr>
            <p:spPr>
              <a:xfrm>
                <a:off x="433387" y="1552188"/>
                <a:ext cx="1476045"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300</m:t>
                      </m:r>
                    </m:oMath>
                  </m:oMathPara>
                </a14:m>
                <a:endParaRPr lang="zh-CN" altLang="en-US" dirty="0"/>
              </a:p>
            </p:txBody>
          </p:sp>
        </mc:Choice>
        <mc:Fallback>
          <p:sp>
            <p:nvSpPr>
              <p:cNvPr id="5" name="文本框 4"/>
              <p:cNvSpPr txBox="1">
                <a:spLocks noRot="1" noChangeAspect="1" noMove="1" noResize="1" noEditPoints="1" noAdjustHandles="1" noChangeArrowheads="1" noChangeShapeType="1" noTextEdit="1"/>
              </p:cNvSpPr>
              <p:nvPr/>
            </p:nvSpPr>
            <p:spPr>
              <a:xfrm>
                <a:off x="433387" y="1552188"/>
                <a:ext cx="1476045" cy="276999"/>
              </a:xfrm>
              <a:prstGeom prst="rect">
                <a:avLst/>
              </a:prstGeom>
              <a:blipFill rotWithShape="1">
                <a:blip r:embed="rId1"/>
                <a:stretch>
                  <a:fillRect l="-21" t="-90" r="-4303" b="1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3119398" y="1552187"/>
                <a:ext cx="1604285"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2</m:t>
                          </m:r>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400</m:t>
                      </m:r>
                    </m:oMath>
                  </m:oMathPara>
                </a14:m>
                <a:endParaRPr lang="zh-CN" altLang="en-US" dirty="0"/>
              </a:p>
            </p:txBody>
          </p:sp>
        </mc:Choice>
        <mc:Fallback>
          <p:sp>
            <p:nvSpPr>
              <p:cNvPr id="6" name="文本框 5"/>
              <p:cNvSpPr txBox="1">
                <a:spLocks noRot="1" noChangeAspect="1" noMove="1" noResize="1" noEditPoints="1" noAdjustHandles="1" noChangeArrowheads="1" noChangeShapeType="1" noTextEdit="1"/>
              </p:cNvSpPr>
              <p:nvPr/>
            </p:nvSpPr>
            <p:spPr>
              <a:xfrm>
                <a:off x="3119398" y="1552187"/>
                <a:ext cx="1604285" cy="276999"/>
              </a:xfrm>
              <a:prstGeom prst="rect">
                <a:avLst/>
              </a:prstGeom>
              <a:blipFill rotWithShape="1">
                <a:blip r:embed="rId2"/>
                <a:stretch>
                  <a:fillRect l="-17" t="-89" r="-3884" b="1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6091294" y="1552187"/>
                <a:ext cx="977127"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250</m:t>
                      </m:r>
                    </m:oMath>
                  </m:oMathPara>
                </a14:m>
                <a:endParaRPr lang="zh-CN" altLang="en-US" dirty="0"/>
              </a:p>
            </p:txBody>
          </p:sp>
        </mc:Choice>
        <mc:Fallback>
          <p:sp>
            <p:nvSpPr>
              <p:cNvPr id="7" name="文本框 6"/>
              <p:cNvSpPr txBox="1">
                <a:spLocks noRot="1" noChangeAspect="1" noMove="1" noResize="1" noEditPoints="1" noAdjustHandles="1" noChangeArrowheads="1" noChangeShapeType="1" noTextEdit="1"/>
              </p:cNvSpPr>
              <p:nvPr/>
            </p:nvSpPr>
            <p:spPr>
              <a:xfrm>
                <a:off x="6091294" y="1552187"/>
                <a:ext cx="977127" cy="276999"/>
              </a:xfrm>
              <a:prstGeom prst="rect">
                <a:avLst/>
              </a:prstGeom>
              <a:blipFill rotWithShape="1">
                <a:blip r:embed="rId3"/>
                <a:stretch>
                  <a:fillRect l="-38" t="-89" r="-6474" b="1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8609167" y="1533523"/>
                <a:ext cx="71532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0</m:t>
                      </m:r>
                    </m:oMath>
                  </m:oMathPara>
                </a14:m>
                <a:endParaRPr lang="zh-CN" altLang="en-US" dirty="0"/>
              </a:p>
            </p:txBody>
          </p:sp>
        </mc:Choice>
        <mc:Fallback>
          <p:sp>
            <p:nvSpPr>
              <p:cNvPr id="8" name="文本框 7"/>
              <p:cNvSpPr txBox="1">
                <a:spLocks noRot="1" noChangeAspect="1" noMove="1" noResize="1" noEditPoints="1" noAdjustHandles="1" noChangeArrowheads="1" noChangeShapeType="1" noTextEdit="1"/>
              </p:cNvSpPr>
              <p:nvPr/>
            </p:nvSpPr>
            <p:spPr>
              <a:xfrm>
                <a:off x="8609167" y="1533523"/>
                <a:ext cx="715324" cy="276999"/>
              </a:xfrm>
              <a:prstGeom prst="rect">
                <a:avLst/>
              </a:prstGeom>
              <a:blipFill rotWithShape="1">
                <a:blip r:embed="rId4"/>
                <a:stretch>
                  <a:fillRect l="-66" t="-229" r="-9477" b="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10633154" y="1552187"/>
                <a:ext cx="720645"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0</m:t>
                      </m:r>
                    </m:oMath>
                  </m:oMathPara>
                </a14:m>
                <a:endParaRPr lang="zh-CN" altLang="en-US" dirty="0"/>
              </a:p>
            </p:txBody>
          </p:sp>
        </mc:Choice>
        <mc:Fallback>
          <p:sp>
            <p:nvSpPr>
              <p:cNvPr id="9" name="文本框 8"/>
              <p:cNvSpPr txBox="1">
                <a:spLocks noRot="1" noChangeAspect="1" noMove="1" noResize="1" noEditPoints="1" noAdjustHandles="1" noChangeArrowheads="1" noChangeShapeType="1" noTextEdit="1"/>
              </p:cNvSpPr>
              <p:nvPr/>
            </p:nvSpPr>
            <p:spPr>
              <a:xfrm>
                <a:off x="10633154" y="1552187"/>
                <a:ext cx="720645" cy="276999"/>
              </a:xfrm>
              <a:prstGeom prst="rect">
                <a:avLst/>
              </a:prstGeom>
              <a:blipFill rotWithShape="1">
                <a:blip r:embed="rId5"/>
                <a:stretch>
                  <a:fillRect l="-11" t="-89" r="-9076" b="139"/>
                </a:stretch>
              </a:blipFill>
            </p:spPr>
            <p:txBody>
              <a:bodyPr/>
              <a:lstStyle/>
              <a:p>
                <a:r>
                  <a:rPr lang="zh-CN" altLang="en-US">
                    <a:noFill/>
                  </a:rPr>
                  <a:t> </a:t>
                </a:r>
              </a:p>
            </p:txBody>
          </p:sp>
        </mc:Fallback>
      </mc:AlternateContent>
      <p:pic>
        <p:nvPicPr>
          <p:cNvPr id="10" name="图片 9"/>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52401" y="2016126"/>
            <a:ext cx="1978310" cy="2016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502837" y="1878010"/>
            <a:ext cx="2800350" cy="227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11"/>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5303187" y="2347118"/>
            <a:ext cx="2416175"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12"/>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7758741" y="2299493"/>
            <a:ext cx="2416175"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13"/>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10240961" y="2650330"/>
            <a:ext cx="1875317"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en-US" altLang="zh-CN" dirty="0" err="1"/>
              <a:t>线性规划图解法</a:t>
            </a:r>
            <a:r>
              <a:rPr lang="en-US" altLang="zh-CN" dirty="0"/>
              <a:t> – </a:t>
            </a:r>
            <a:r>
              <a:rPr lang="zh-CN" altLang="en-US" dirty="0"/>
              <a:t>例</a:t>
            </a:r>
            <a:r>
              <a:rPr lang="en-US" altLang="zh-CN" dirty="0"/>
              <a:t>1</a:t>
            </a:r>
            <a:r>
              <a:rPr lang="zh-CN" altLang="en-US" dirty="0"/>
              <a:t>中的可行域</a:t>
            </a:r>
            <a:endParaRPr lang="zh-CN" altLang="en-US" dirty="0"/>
          </a:p>
        </p:txBody>
      </p:sp>
      <p:sp>
        <p:nvSpPr>
          <p:cNvPr id="10" name="Line 5"/>
          <p:cNvSpPr>
            <a:spLocks noChangeShapeType="1"/>
          </p:cNvSpPr>
          <p:nvPr/>
        </p:nvSpPr>
        <p:spPr bwMode="auto">
          <a:xfrm>
            <a:off x="3543300" y="5010150"/>
            <a:ext cx="4343400" cy="0"/>
          </a:xfrm>
          <a:prstGeom prst="line">
            <a:avLst/>
          </a:prstGeom>
          <a:noFill/>
          <a:ln w="47625">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 name="Line 6"/>
          <p:cNvSpPr>
            <a:spLocks noChangeShapeType="1"/>
          </p:cNvSpPr>
          <p:nvPr/>
        </p:nvSpPr>
        <p:spPr bwMode="auto">
          <a:xfrm flipV="1">
            <a:off x="4381500" y="2343150"/>
            <a:ext cx="0" cy="3048000"/>
          </a:xfrm>
          <a:prstGeom prst="line">
            <a:avLst/>
          </a:prstGeom>
          <a:noFill/>
          <a:ln w="47625">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 name="Line 9"/>
          <p:cNvSpPr>
            <a:spLocks noChangeShapeType="1"/>
          </p:cNvSpPr>
          <p:nvPr/>
        </p:nvSpPr>
        <p:spPr bwMode="auto">
          <a:xfrm>
            <a:off x="4381500" y="2571750"/>
            <a:ext cx="228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5" name="Text Box 10"/>
          <p:cNvSpPr txBox="1">
            <a:spLocks noChangeArrowheads="1"/>
          </p:cNvSpPr>
          <p:nvPr/>
        </p:nvSpPr>
        <p:spPr bwMode="auto">
          <a:xfrm>
            <a:off x="3467100" y="417195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dirty="0"/>
              <a:t>100</a:t>
            </a:r>
            <a:endParaRPr lang="en-US" altLang="zh-CN" dirty="0"/>
          </a:p>
        </p:txBody>
      </p:sp>
      <p:sp>
        <p:nvSpPr>
          <p:cNvPr id="16" name="Text Box 11"/>
          <p:cNvSpPr txBox="1">
            <a:spLocks noChangeArrowheads="1"/>
          </p:cNvSpPr>
          <p:nvPr/>
        </p:nvSpPr>
        <p:spPr bwMode="auto">
          <a:xfrm>
            <a:off x="3695699" y="234315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dirty="0"/>
              <a:t>400</a:t>
            </a:r>
            <a:endParaRPr lang="en-US" altLang="zh-CN" dirty="0"/>
          </a:p>
        </p:txBody>
      </p:sp>
      <p:sp>
        <p:nvSpPr>
          <p:cNvPr id="17" name="Text Box 12"/>
          <p:cNvSpPr txBox="1">
            <a:spLocks noChangeArrowheads="1"/>
          </p:cNvSpPr>
          <p:nvPr/>
        </p:nvSpPr>
        <p:spPr bwMode="auto">
          <a:xfrm>
            <a:off x="4686300" y="455295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100</a:t>
            </a:r>
            <a:endParaRPr lang="en-US" altLang="zh-CN"/>
          </a:p>
        </p:txBody>
      </p:sp>
      <p:sp>
        <p:nvSpPr>
          <p:cNvPr id="18" name="Text Box 13"/>
          <p:cNvSpPr txBox="1">
            <a:spLocks noChangeArrowheads="1"/>
          </p:cNvSpPr>
          <p:nvPr/>
        </p:nvSpPr>
        <p:spPr bwMode="auto">
          <a:xfrm>
            <a:off x="6057900" y="455295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300</a:t>
            </a:r>
            <a:endParaRPr lang="en-US" altLang="zh-CN"/>
          </a:p>
        </p:txBody>
      </p:sp>
      <p:sp>
        <p:nvSpPr>
          <p:cNvPr id="19" name="Text Box 24"/>
          <p:cNvSpPr txBox="1">
            <a:spLocks noChangeArrowheads="1"/>
          </p:cNvSpPr>
          <p:nvPr/>
        </p:nvSpPr>
        <p:spPr bwMode="auto">
          <a:xfrm>
            <a:off x="7505700" y="447675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x</a:t>
            </a:r>
            <a:r>
              <a:rPr lang="en-US" altLang="zh-CN" baseline="-25000"/>
              <a:t>1</a:t>
            </a:r>
            <a:endParaRPr lang="en-US" altLang="zh-CN"/>
          </a:p>
        </p:txBody>
      </p:sp>
      <p:sp>
        <p:nvSpPr>
          <p:cNvPr id="20" name="Text Box 25"/>
          <p:cNvSpPr txBox="1">
            <a:spLocks noChangeArrowheads="1"/>
          </p:cNvSpPr>
          <p:nvPr/>
        </p:nvSpPr>
        <p:spPr bwMode="auto">
          <a:xfrm>
            <a:off x="4686300" y="219075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x</a:t>
            </a:r>
            <a:r>
              <a:rPr lang="en-US" altLang="zh-CN" baseline="-25000"/>
              <a:t>2</a:t>
            </a:r>
            <a:endParaRPr lang="en-US" altLang="zh-CN"/>
          </a:p>
        </p:txBody>
      </p:sp>
      <p:sp>
        <p:nvSpPr>
          <p:cNvPr id="21" name="Line 26"/>
          <p:cNvSpPr>
            <a:spLocks noChangeShapeType="1"/>
          </p:cNvSpPr>
          <p:nvPr/>
        </p:nvSpPr>
        <p:spPr bwMode="auto">
          <a:xfrm>
            <a:off x="4991100" y="5010150"/>
            <a:ext cx="0" cy="76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27"/>
          <p:cNvSpPr>
            <a:spLocks noChangeShapeType="1"/>
          </p:cNvSpPr>
          <p:nvPr/>
        </p:nvSpPr>
        <p:spPr bwMode="auto">
          <a:xfrm>
            <a:off x="6210300" y="4933950"/>
            <a:ext cx="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28"/>
          <p:cNvSpPr>
            <a:spLocks noChangeShapeType="1"/>
          </p:cNvSpPr>
          <p:nvPr/>
        </p:nvSpPr>
        <p:spPr bwMode="auto">
          <a:xfrm>
            <a:off x="4381500" y="4400550"/>
            <a:ext cx="152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4" name="Line 34"/>
          <p:cNvSpPr>
            <a:spLocks noChangeShapeType="1"/>
          </p:cNvSpPr>
          <p:nvPr/>
        </p:nvSpPr>
        <p:spPr bwMode="auto">
          <a:xfrm>
            <a:off x="3086100" y="3486150"/>
            <a:ext cx="5410200" cy="0"/>
          </a:xfrm>
          <a:prstGeom prst="line">
            <a:avLst/>
          </a:prstGeom>
          <a:noFill/>
          <a:ln w="31750">
            <a:solidFill>
              <a:srgbClr val="00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5" name="Line 36"/>
          <p:cNvSpPr>
            <a:spLocks noChangeShapeType="1"/>
          </p:cNvSpPr>
          <p:nvPr/>
        </p:nvSpPr>
        <p:spPr bwMode="auto">
          <a:xfrm>
            <a:off x="4000500" y="2800350"/>
            <a:ext cx="2895600" cy="2895600"/>
          </a:xfrm>
          <a:prstGeom prst="line">
            <a:avLst/>
          </a:prstGeom>
          <a:noFill/>
          <a:ln w="31750">
            <a:solidFill>
              <a:srgbClr val="00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6" name="Line 37"/>
          <p:cNvSpPr>
            <a:spLocks noChangeShapeType="1"/>
          </p:cNvSpPr>
          <p:nvPr/>
        </p:nvSpPr>
        <p:spPr bwMode="auto">
          <a:xfrm>
            <a:off x="4152900" y="2114550"/>
            <a:ext cx="1905000" cy="3810000"/>
          </a:xfrm>
          <a:prstGeom prst="line">
            <a:avLst/>
          </a:prstGeom>
          <a:noFill/>
          <a:ln w="31750">
            <a:solidFill>
              <a:srgbClr val="00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7" name="Line 38"/>
          <p:cNvSpPr>
            <a:spLocks noChangeShapeType="1"/>
          </p:cNvSpPr>
          <p:nvPr/>
        </p:nvSpPr>
        <p:spPr bwMode="auto">
          <a:xfrm flipH="1">
            <a:off x="4381500" y="3486150"/>
            <a:ext cx="152400" cy="2286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8" name="Line 39"/>
          <p:cNvSpPr>
            <a:spLocks noChangeShapeType="1"/>
          </p:cNvSpPr>
          <p:nvPr/>
        </p:nvSpPr>
        <p:spPr bwMode="auto">
          <a:xfrm flipH="1">
            <a:off x="4381500" y="3562350"/>
            <a:ext cx="304800" cy="6096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9" name="Line 40"/>
          <p:cNvSpPr>
            <a:spLocks noChangeShapeType="1"/>
          </p:cNvSpPr>
          <p:nvPr/>
        </p:nvSpPr>
        <p:spPr bwMode="auto">
          <a:xfrm flipH="1">
            <a:off x="4381500" y="3714750"/>
            <a:ext cx="533400" cy="9144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0" name="Line 41"/>
          <p:cNvSpPr>
            <a:spLocks noChangeShapeType="1"/>
          </p:cNvSpPr>
          <p:nvPr/>
        </p:nvSpPr>
        <p:spPr bwMode="auto">
          <a:xfrm flipH="1">
            <a:off x="4533900" y="4019550"/>
            <a:ext cx="533400" cy="9906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1" name="Line 43"/>
          <p:cNvSpPr>
            <a:spLocks noChangeShapeType="1"/>
          </p:cNvSpPr>
          <p:nvPr/>
        </p:nvSpPr>
        <p:spPr bwMode="auto">
          <a:xfrm flipH="1">
            <a:off x="4838700" y="4248150"/>
            <a:ext cx="381000" cy="7620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2" name="Line 44"/>
          <p:cNvSpPr>
            <a:spLocks noChangeShapeType="1"/>
          </p:cNvSpPr>
          <p:nvPr/>
        </p:nvSpPr>
        <p:spPr bwMode="auto">
          <a:xfrm flipH="1">
            <a:off x="5067300" y="4476750"/>
            <a:ext cx="228600" cy="5334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3" name="Line 45"/>
          <p:cNvSpPr>
            <a:spLocks noChangeShapeType="1"/>
          </p:cNvSpPr>
          <p:nvPr/>
        </p:nvSpPr>
        <p:spPr bwMode="auto">
          <a:xfrm flipH="1">
            <a:off x="5295900" y="4705350"/>
            <a:ext cx="152400" cy="3048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53" name="文本框 52"/>
          <p:cNvSpPr txBox="1"/>
          <p:nvPr/>
        </p:nvSpPr>
        <p:spPr>
          <a:xfrm>
            <a:off x="4381499" y="2945369"/>
            <a:ext cx="238125" cy="369332"/>
          </a:xfrm>
          <a:prstGeom prst="rect">
            <a:avLst/>
          </a:prstGeom>
          <a:noFill/>
        </p:spPr>
        <p:txBody>
          <a:bodyPr wrap="square" rtlCol="0">
            <a:spAutoFit/>
          </a:bodyPr>
          <a:lstStyle/>
          <a:p>
            <a:r>
              <a:rPr lang="en-US" altLang="zh-CN" dirty="0"/>
              <a:t>A</a:t>
            </a:r>
            <a:endParaRPr lang="zh-CN" altLang="en-US" dirty="0"/>
          </a:p>
        </p:txBody>
      </p:sp>
      <p:sp>
        <p:nvSpPr>
          <p:cNvPr id="54" name="文本框 53"/>
          <p:cNvSpPr txBox="1"/>
          <p:nvPr/>
        </p:nvSpPr>
        <p:spPr>
          <a:xfrm>
            <a:off x="4310063" y="3206235"/>
            <a:ext cx="238125" cy="369332"/>
          </a:xfrm>
          <a:prstGeom prst="rect">
            <a:avLst/>
          </a:prstGeom>
          <a:noFill/>
        </p:spPr>
        <p:txBody>
          <a:bodyPr wrap="square" rtlCol="0">
            <a:spAutoFit/>
          </a:bodyPr>
          <a:lstStyle/>
          <a:p>
            <a:r>
              <a:rPr lang="en-US" altLang="zh-CN" dirty="0"/>
              <a:t>B</a:t>
            </a:r>
            <a:endParaRPr lang="zh-CN" altLang="en-US" dirty="0"/>
          </a:p>
        </p:txBody>
      </p:sp>
      <p:sp>
        <p:nvSpPr>
          <p:cNvPr id="56" name="文本框 55"/>
          <p:cNvSpPr txBox="1"/>
          <p:nvPr/>
        </p:nvSpPr>
        <p:spPr>
          <a:xfrm>
            <a:off x="4657725" y="3373992"/>
            <a:ext cx="238125" cy="369332"/>
          </a:xfrm>
          <a:prstGeom prst="rect">
            <a:avLst/>
          </a:prstGeom>
          <a:noFill/>
        </p:spPr>
        <p:txBody>
          <a:bodyPr wrap="square" rtlCol="0">
            <a:spAutoFit/>
          </a:bodyPr>
          <a:lstStyle/>
          <a:p>
            <a:r>
              <a:rPr lang="en-US" altLang="zh-CN" dirty="0"/>
              <a:t>C</a:t>
            </a:r>
            <a:endParaRPr lang="zh-CN" altLang="en-US" dirty="0"/>
          </a:p>
        </p:txBody>
      </p:sp>
      <p:sp>
        <p:nvSpPr>
          <p:cNvPr id="57" name="文本框 56"/>
          <p:cNvSpPr txBox="1"/>
          <p:nvPr/>
        </p:nvSpPr>
        <p:spPr>
          <a:xfrm>
            <a:off x="4562475" y="4048124"/>
            <a:ext cx="238125" cy="369332"/>
          </a:xfrm>
          <a:prstGeom prst="rect">
            <a:avLst/>
          </a:prstGeom>
          <a:noFill/>
        </p:spPr>
        <p:txBody>
          <a:bodyPr wrap="square" rtlCol="0">
            <a:spAutoFit/>
          </a:bodyPr>
          <a:lstStyle/>
          <a:p>
            <a:r>
              <a:rPr lang="en-US" altLang="zh-CN" dirty="0"/>
              <a:t>D</a:t>
            </a:r>
            <a:endParaRPr lang="zh-CN" altLang="en-US" dirty="0"/>
          </a:p>
        </p:txBody>
      </p:sp>
      <p:sp>
        <p:nvSpPr>
          <p:cNvPr id="58" name="文本框 57"/>
          <p:cNvSpPr txBox="1"/>
          <p:nvPr/>
        </p:nvSpPr>
        <p:spPr>
          <a:xfrm>
            <a:off x="5481637" y="4514850"/>
            <a:ext cx="238125" cy="369332"/>
          </a:xfrm>
          <a:prstGeom prst="rect">
            <a:avLst/>
          </a:prstGeom>
          <a:noFill/>
        </p:spPr>
        <p:txBody>
          <a:bodyPr wrap="square" rtlCol="0">
            <a:spAutoFit/>
          </a:bodyPr>
          <a:lstStyle/>
          <a:p>
            <a:r>
              <a:rPr lang="en-US" altLang="zh-CN" dirty="0"/>
              <a:t>E</a:t>
            </a:r>
            <a:endParaRPr lang="zh-CN" altLang="en-US" dirty="0"/>
          </a:p>
        </p:txBody>
      </p:sp>
      <p:sp>
        <p:nvSpPr>
          <p:cNvPr id="59" name="文本框 58"/>
          <p:cNvSpPr txBox="1"/>
          <p:nvPr/>
        </p:nvSpPr>
        <p:spPr>
          <a:xfrm>
            <a:off x="6434137" y="3923527"/>
            <a:ext cx="238125" cy="369332"/>
          </a:xfrm>
          <a:prstGeom prst="rect">
            <a:avLst/>
          </a:prstGeom>
          <a:noFill/>
        </p:spPr>
        <p:txBody>
          <a:bodyPr wrap="square" rtlCol="0">
            <a:spAutoFit/>
          </a:bodyPr>
          <a:lstStyle/>
          <a:p>
            <a:r>
              <a:rPr lang="en-US" altLang="zh-CN" dirty="0"/>
              <a:t>F</a:t>
            </a:r>
            <a:endParaRPr lang="zh-CN" altLang="en-US" dirty="0"/>
          </a:p>
        </p:txBody>
      </p:sp>
      <p:sp>
        <p:nvSpPr>
          <p:cNvPr id="60" name="文本框 59"/>
          <p:cNvSpPr txBox="1"/>
          <p:nvPr/>
        </p:nvSpPr>
        <p:spPr>
          <a:xfrm>
            <a:off x="5715000" y="2850119"/>
            <a:ext cx="238125" cy="369332"/>
          </a:xfrm>
          <a:prstGeom prst="rect">
            <a:avLst/>
          </a:prstGeom>
          <a:noFill/>
        </p:spPr>
        <p:txBody>
          <a:bodyPr wrap="square" rtlCol="0">
            <a:spAutoFit/>
          </a:bodyPr>
          <a:lstStyle/>
          <a:p>
            <a:r>
              <a:rPr lang="en-US" altLang="zh-CN" dirty="0"/>
              <a:t>G</a:t>
            </a:r>
            <a:endParaRPr lang="zh-CN" altLang="en-US" dirty="0"/>
          </a:p>
        </p:txBody>
      </p:sp>
      <p:sp>
        <p:nvSpPr>
          <p:cNvPr id="61" name="矩形 60"/>
          <p:cNvSpPr/>
          <p:nvPr/>
        </p:nvSpPr>
        <p:spPr>
          <a:xfrm>
            <a:off x="962025" y="1438275"/>
            <a:ext cx="9753600" cy="485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p:cNvSpPr txBox="1"/>
          <p:nvPr/>
        </p:nvSpPr>
        <p:spPr>
          <a:xfrm>
            <a:off x="1343025" y="1488044"/>
            <a:ext cx="9172575" cy="369332"/>
          </a:xfrm>
          <a:prstGeom prst="rect">
            <a:avLst/>
          </a:prstGeom>
          <a:noFill/>
        </p:spPr>
        <p:txBody>
          <a:bodyPr wrap="square" rtlCol="0">
            <a:spAutoFit/>
          </a:bodyPr>
          <a:lstStyle/>
          <a:p>
            <a:r>
              <a:rPr lang="zh-CN" altLang="en-US" dirty="0">
                <a:solidFill>
                  <a:schemeClr val="bg1"/>
                </a:solidFill>
              </a:rPr>
              <a:t>下图中的可行域是由哪些区域组成的？</a:t>
            </a:r>
            <a:endParaRPr lang="zh-CN" altLang="en-US" dirty="0">
              <a:solidFill>
                <a:schemeClr val="bg1"/>
              </a:solidFill>
            </a:endParaRPr>
          </a:p>
        </p:txBody>
      </p:sp>
      <p:sp>
        <p:nvSpPr>
          <p:cNvPr id="63" name="文本框 62"/>
          <p:cNvSpPr txBox="1"/>
          <p:nvPr/>
        </p:nvSpPr>
        <p:spPr>
          <a:xfrm>
            <a:off x="3836193" y="3030021"/>
            <a:ext cx="238125" cy="369332"/>
          </a:xfrm>
          <a:prstGeom prst="rect">
            <a:avLst/>
          </a:prstGeom>
          <a:noFill/>
        </p:spPr>
        <p:txBody>
          <a:bodyPr wrap="square" rtlCol="0">
            <a:spAutoFit/>
          </a:bodyPr>
          <a:lstStyle/>
          <a:p>
            <a:r>
              <a:rPr lang="en-US" altLang="zh-CN" dirty="0"/>
              <a:t>H</a:t>
            </a:r>
            <a:endParaRPr lang="zh-CN" altLang="en-US" dirty="0"/>
          </a:p>
        </p:txBody>
      </p:sp>
      <p:sp>
        <p:nvSpPr>
          <p:cNvPr id="64" name="文本框 63"/>
          <p:cNvSpPr txBox="1"/>
          <p:nvPr/>
        </p:nvSpPr>
        <p:spPr>
          <a:xfrm>
            <a:off x="3724275" y="4008952"/>
            <a:ext cx="238125" cy="369332"/>
          </a:xfrm>
          <a:prstGeom prst="rect">
            <a:avLst/>
          </a:prstGeom>
          <a:noFill/>
        </p:spPr>
        <p:txBody>
          <a:bodyPr wrap="square" rtlCol="0">
            <a:spAutoFit/>
          </a:bodyPr>
          <a:lstStyle/>
          <a:p>
            <a:r>
              <a:rPr lang="en-US" altLang="zh-CN" dirty="0"/>
              <a:t>I</a:t>
            </a:r>
            <a:endParaRPr lang="zh-CN" altLang="en-US" dirty="0"/>
          </a:p>
        </p:txBody>
      </p:sp>
      <p:sp>
        <p:nvSpPr>
          <p:cNvPr id="65" name="文本框 64"/>
          <p:cNvSpPr txBox="1"/>
          <p:nvPr/>
        </p:nvSpPr>
        <p:spPr>
          <a:xfrm>
            <a:off x="3799284" y="5069918"/>
            <a:ext cx="238125" cy="369332"/>
          </a:xfrm>
          <a:prstGeom prst="rect">
            <a:avLst/>
          </a:prstGeom>
          <a:noFill/>
        </p:spPr>
        <p:txBody>
          <a:bodyPr wrap="square" rtlCol="0">
            <a:spAutoFit/>
          </a:bodyPr>
          <a:lstStyle/>
          <a:p>
            <a:r>
              <a:rPr lang="en-US" altLang="zh-CN" dirty="0"/>
              <a:t>J</a:t>
            </a:r>
            <a:endParaRPr lang="zh-CN" altLang="en-US" dirty="0"/>
          </a:p>
        </p:txBody>
      </p:sp>
      <p:sp>
        <p:nvSpPr>
          <p:cNvPr id="66" name="文本框 65"/>
          <p:cNvSpPr txBox="1"/>
          <p:nvPr/>
        </p:nvSpPr>
        <p:spPr>
          <a:xfrm>
            <a:off x="4889896" y="5151091"/>
            <a:ext cx="238125" cy="369332"/>
          </a:xfrm>
          <a:prstGeom prst="rect">
            <a:avLst/>
          </a:prstGeom>
          <a:noFill/>
        </p:spPr>
        <p:txBody>
          <a:bodyPr wrap="square" rtlCol="0">
            <a:spAutoFit/>
          </a:bodyPr>
          <a:lstStyle/>
          <a:p>
            <a:r>
              <a:rPr lang="en-US" altLang="zh-CN" dirty="0"/>
              <a:t>K</a:t>
            </a:r>
            <a:endParaRPr lang="zh-CN" altLang="en-US" dirty="0"/>
          </a:p>
        </p:txBody>
      </p:sp>
      <p:sp>
        <p:nvSpPr>
          <p:cNvPr id="67" name="文本框 66"/>
          <p:cNvSpPr txBox="1"/>
          <p:nvPr/>
        </p:nvSpPr>
        <p:spPr>
          <a:xfrm>
            <a:off x="6086476" y="5158472"/>
            <a:ext cx="238125" cy="369332"/>
          </a:xfrm>
          <a:prstGeom prst="rect">
            <a:avLst/>
          </a:prstGeom>
          <a:noFill/>
        </p:spPr>
        <p:txBody>
          <a:bodyPr wrap="square" rtlCol="0">
            <a:spAutoFit/>
          </a:bodyPr>
          <a:lstStyle/>
          <a:p>
            <a:r>
              <a:rPr lang="en-US" altLang="zh-CN" dirty="0"/>
              <a:t>L</a:t>
            </a:r>
            <a:endParaRPr lang="zh-CN" altLang="en-US" dirty="0"/>
          </a:p>
        </p:txBody>
      </p:sp>
      <p:sp>
        <p:nvSpPr>
          <p:cNvPr id="68" name="文本框 67"/>
          <p:cNvSpPr txBox="1"/>
          <p:nvPr/>
        </p:nvSpPr>
        <p:spPr>
          <a:xfrm>
            <a:off x="7000874" y="5098019"/>
            <a:ext cx="238125" cy="369332"/>
          </a:xfrm>
          <a:prstGeom prst="rect">
            <a:avLst/>
          </a:prstGeom>
          <a:noFill/>
        </p:spPr>
        <p:txBody>
          <a:bodyPr wrap="square" rtlCol="0">
            <a:spAutoFit/>
          </a:bodyPr>
          <a:lstStyle/>
          <a:p>
            <a:r>
              <a:rPr lang="en-US" altLang="zh-CN" dirty="0"/>
              <a:t>M</a:t>
            </a:r>
            <a:endParaRPr lang="zh-CN" altLang="en-US" dirty="0"/>
          </a:p>
        </p:txBody>
      </p:sp>
      <p:sp>
        <p:nvSpPr>
          <p:cNvPr id="69" name="文本框 68"/>
          <p:cNvSpPr txBox="1"/>
          <p:nvPr/>
        </p:nvSpPr>
        <p:spPr>
          <a:xfrm>
            <a:off x="4061220" y="2633960"/>
            <a:ext cx="238125" cy="369332"/>
          </a:xfrm>
          <a:prstGeom prst="rect">
            <a:avLst/>
          </a:prstGeom>
          <a:noFill/>
        </p:spPr>
        <p:txBody>
          <a:bodyPr wrap="square" rtlCol="0">
            <a:spAutoFit/>
          </a:bodyPr>
          <a:lstStyle/>
          <a:p>
            <a:r>
              <a:rPr lang="en-US" altLang="zh-CN" dirty="0"/>
              <a:t>N</a:t>
            </a:r>
            <a:endParaRPr lang="zh-CN" altLang="en-US" dirty="0"/>
          </a:p>
        </p:txBody>
      </p:sp>
      <mc:AlternateContent xmlns:mc="http://schemas.openxmlformats.org/markup-compatibility/2006">
        <mc:Choice xmlns:a14="http://schemas.microsoft.com/office/drawing/2010/main" Requires="a14">
          <p:sp>
            <p:nvSpPr>
              <p:cNvPr id="41" name="文本框 40"/>
              <p:cNvSpPr txBox="1"/>
              <p:nvPr/>
            </p:nvSpPr>
            <p:spPr>
              <a:xfrm>
                <a:off x="6691477" y="5671750"/>
                <a:ext cx="1476045"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300</m:t>
                      </m:r>
                    </m:oMath>
                  </m:oMathPara>
                </a14:m>
                <a:endParaRPr lang="zh-CN" altLang="en-US" dirty="0"/>
              </a:p>
            </p:txBody>
          </p:sp>
        </mc:Choice>
        <mc:Fallback>
          <p:sp>
            <p:nvSpPr>
              <p:cNvPr id="41" name="文本框 40"/>
              <p:cNvSpPr txBox="1">
                <a:spLocks noRot="1" noChangeAspect="1" noMove="1" noResize="1" noEditPoints="1" noAdjustHandles="1" noChangeArrowheads="1" noChangeShapeType="1" noTextEdit="1"/>
              </p:cNvSpPr>
              <p:nvPr/>
            </p:nvSpPr>
            <p:spPr>
              <a:xfrm>
                <a:off x="6691477" y="5671750"/>
                <a:ext cx="1476045" cy="276999"/>
              </a:xfrm>
              <a:prstGeom prst="rect">
                <a:avLst/>
              </a:prstGeom>
              <a:blipFill rotWithShape="1">
                <a:blip r:embed="rId1"/>
                <a:stretch>
                  <a:fillRect l="-33" t="-204" r="-4249" b="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2" name="文本框 41"/>
              <p:cNvSpPr txBox="1"/>
              <p:nvPr/>
            </p:nvSpPr>
            <p:spPr>
              <a:xfrm>
                <a:off x="4991100" y="5856069"/>
                <a:ext cx="1604285"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2</m:t>
                          </m:r>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400</m:t>
                      </m:r>
                    </m:oMath>
                  </m:oMathPara>
                </a14:m>
                <a:endParaRPr lang="zh-CN" altLang="en-US" dirty="0"/>
              </a:p>
            </p:txBody>
          </p:sp>
        </mc:Choice>
        <mc:Fallback>
          <p:sp>
            <p:nvSpPr>
              <p:cNvPr id="42" name="文本框 41"/>
              <p:cNvSpPr txBox="1">
                <a:spLocks noRot="1" noChangeAspect="1" noMove="1" noResize="1" noEditPoints="1" noAdjustHandles="1" noChangeArrowheads="1" noChangeShapeType="1" noTextEdit="1"/>
              </p:cNvSpPr>
              <p:nvPr/>
            </p:nvSpPr>
            <p:spPr>
              <a:xfrm>
                <a:off x="4991100" y="5856069"/>
                <a:ext cx="1604285" cy="276999"/>
              </a:xfrm>
              <a:prstGeom prst="rect">
                <a:avLst/>
              </a:prstGeom>
              <a:blipFill rotWithShape="1">
                <a:blip r:embed="rId2"/>
                <a:stretch>
                  <a:fillRect t="-36" r="-3901" b="8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3" name="文本框 42"/>
              <p:cNvSpPr txBox="1"/>
              <p:nvPr/>
            </p:nvSpPr>
            <p:spPr>
              <a:xfrm>
                <a:off x="8577896" y="3298568"/>
                <a:ext cx="977127"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250</m:t>
                      </m:r>
                    </m:oMath>
                  </m:oMathPara>
                </a14:m>
                <a:endParaRPr lang="zh-CN" altLang="en-US" dirty="0"/>
              </a:p>
            </p:txBody>
          </p:sp>
        </mc:Choice>
        <mc:Fallback>
          <p:sp>
            <p:nvSpPr>
              <p:cNvPr id="43" name="文本框 42"/>
              <p:cNvSpPr txBox="1">
                <a:spLocks noRot="1" noChangeAspect="1" noMove="1" noResize="1" noEditPoints="1" noAdjustHandles="1" noChangeArrowheads="1" noChangeShapeType="1" noTextEdit="1"/>
              </p:cNvSpPr>
              <p:nvPr/>
            </p:nvSpPr>
            <p:spPr>
              <a:xfrm>
                <a:off x="8577896" y="3298568"/>
                <a:ext cx="977127" cy="276999"/>
              </a:xfrm>
              <a:prstGeom prst="rect">
                <a:avLst/>
              </a:prstGeom>
              <a:blipFill rotWithShape="1">
                <a:blip r:embed="rId3"/>
                <a:stretch>
                  <a:fillRect l="-32" t="-136" r="-6480" b="18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线性规划图解法</a:t>
            </a:r>
            <a:r>
              <a:rPr lang="en-US" altLang="zh-CN" dirty="0"/>
              <a:t> – </a:t>
            </a:r>
            <a:r>
              <a:rPr lang="zh-CN" altLang="en-US" dirty="0"/>
              <a:t>可行域与解的关系</a:t>
            </a:r>
            <a:endParaRPr lang="zh-CN" altLang="en-US" dirty="0"/>
          </a:p>
        </p:txBody>
      </p:sp>
      <p:graphicFrame>
        <p:nvGraphicFramePr>
          <p:cNvPr id="4" name="表格 3"/>
          <p:cNvGraphicFramePr>
            <a:graphicFrameLocks noGrp="1"/>
          </p:cNvGraphicFramePr>
          <p:nvPr/>
        </p:nvGraphicFramePr>
        <p:xfrm>
          <a:off x="2236788" y="2030413"/>
          <a:ext cx="7581900" cy="889000"/>
        </p:xfrm>
        <a:graphic>
          <a:graphicData uri="http://schemas.openxmlformats.org/drawingml/2006/table">
            <a:tbl>
              <a:tblPr/>
              <a:tblGrid>
                <a:gridCol w="2402879"/>
                <a:gridCol w="5179021"/>
              </a:tblGrid>
              <a:tr h="314475">
                <a:tc>
                  <a:txBody>
                    <a:bodyPr/>
                    <a:lstStyle/>
                    <a:p>
                      <a:pPr algn="ctr" fontAlgn="ctr"/>
                      <a:r>
                        <a:rPr lang="zh-CN" altLang="en-US" sz="2000" b="1" i="0" u="none" strike="noStrike" dirty="0">
                          <a:solidFill>
                            <a:srgbClr val="000000"/>
                          </a:solidFill>
                          <a:effectLst/>
                          <a:latin typeface="仿宋" panose="02010609060101010101" pitchFamily="49" charset="-122"/>
                          <a:ea typeface="仿宋" panose="02010609060101010101" pitchFamily="49" charset="-122"/>
                        </a:rPr>
                        <a:t>解的情况</a:t>
                      </a:r>
                      <a:endParaRPr lang="zh-CN" altLang="en-US" sz="2000" b="1" i="0" u="none" strike="noStrike" dirty="0">
                        <a:solidFill>
                          <a:srgbClr val="000000"/>
                        </a:solidFill>
                        <a:effectLst/>
                        <a:latin typeface="仿宋" panose="02010609060101010101" pitchFamily="49" charset="-122"/>
                        <a:ea typeface="仿宋" panose="02010609060101010101" pitchFamily="49" charset="-122"/>
                      </a:endParaRPr>
                    </a:p>
                  </a:txBody>
                  <a:tcPr marL="9525" marR="9525" marT="9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fontAlgn="ctr"/>
                      <a:r>
                        <a:rPr lang="zh-CN" altLang="en-US" sz="2000" b="1" i="0" u="none" strike="noStrike" dirty="0">
                          <a:solidFill>
                            <a:srgbClr val="000000"/>
                          </a:solidFill>
                          <a:effectLst/>
                          <a:latin typeface="仿宋" panose="02010609060101010101" pitchFamily="49" charset="-122"/>
                          <a:ea typeface="仿宋" panose="02010609060101010101" pitchFamily="49" charset="-122"/>
                        </a:rPr>
                        <a:t>场景</a:t>
                      </a:r>
                      <a:endParaRPr lang="zh-CN" altLang="en-US" sz="2000" b="1" i="0" u="none" strike="noStrike" dirty="0">
                        <a:solidFill>
                          <a:srgbClr val="000000"/>
                        </a:solidFill>
                        <a:effectLst/>
                        <a:latin typeface="仿宋" panose="02010609060101010101" pitchFamily="49" charset="-122"/>
                        <a:ea typeface="仿宋" panose="02010609060101010101" pitchFamily="49" charset="-122"/>
                      </a:endParaRPr>
                    </a:p>
                  </a:txBody>
                  <a:tcPr marL="9525" marR="9525" marT="9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r>
              <a:tr h="574525">
                <a:tc>
                  <a:txBody>
                    <a:bodyPr/>
                    <a:lstStyle/>
                    <a:p>
                      <a:pPr algn="ctr" fontAlgn="ctr"/>
                      <a:r>
                        <a:rPr lang="zh-CN" altLang="en-US" sz="2000" b="0" i="0" u="none" strike="noStrike" dirty="0">
                          <a:solidFill>
                            <a:srgbClr val="000000"/>
                          </a:solidFill>
                          <a:effectLst/>
                          <a:latin typeface="仿宋" panose="02010609060101010101" pitchFamily="49" charset="-122"/>
                          <a:ea typeface="仿宋" panose="02010609060101010101" pitchFamily="49" charset="-122"/>
                        </a:rPr>
                        <a:t>有唯一最优解</a:t>
                      </a:r>
                      <a:endParaRPr lang="zh-CN" altLang="en-US" sz="2000" b="0" i="0" u="none" strike="noStrike" dirty="0">
                        <a:solidFill>
                          <a:srgbClr val="000000"/>
                        </a:solidFill>
                        <a:effectLst/>
                        <a:latin typeface="仿宋" panose="02010609060101010101" pitchFamily="49" charset="-122"/>
                        <a:ea typeface="仿宋" panose="02010609060101010101" pitchFamily="49" charset="-122"/>
                      </a:endParaRPr>
                    </a:p>
                  </a:txBody>
                  <a:tcPr marL="9525" marR="9525" marT="9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algn="ctr" fontAlgn="ctr"/>
                      <a:r>
                        <a:rPr lang="zh-CN" altLang="en-US" sz="2000" b="0" i="0" u="none" strike="noStrike" dirty="0">
                          <a:solidFill>
                            <a:srgbClr val="000000"/>
                          </a:solidFill>
                          <a:effectLst/>
                          <a:latin typeface="仿宋" panose="02010609060101010101" pitchFamily="49" charset="-122"/>
                          <a:ea typeface="仿宋" panose="02010609060101010101" pitchFamily="49" charset="-122"/>
                        </a:rPr>
                        <a:t>一定有一个可行域的顶点，对应一个最优解</a:t>
                      </a:r>
                      <a:endParaRPr lang="zh-CN" altLang="en-US" sz="2000" b="0" i="0" u="none" strike="noStrike" dirty="0">
                        <a:solidFill>
                          <a:srgbClr val="000000"/>
                        </a:solidFill>
                        <a:effectLst/>
                        <a:latin typeface="仿宋" panose="02010609060101010101" pitchFamily="49" charset="-122"/>
                        <a:ea typeface="仿宋" panose="02010609060101010101" pitchFamily="49" charset="-122"/>
                      </a:endParaRPr>
                    </a:p>
                  </a:txBody>
                  <a:tcPr marL="9525" marR="9525" marT="9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r>
            </a:tbl>
          </a:graphicData>
        </a:graphic>
      </p:graphicFrame>
      <p:graphicFrame>
        <p:nvGraphicFramePr>
          <p:cNvPr id="5" name="表格 4"/>
          <p:cNvGraphicFramePr>
            <a:graphicFrameLocks noGrp="1"/>
          </p:cNvGraphicFramePr>
          <p:nvPr/>
        </p:nvGraphicFramePr>
        <p:xfrm>
          <a:off x="2243138" y="2943225"/>
          <a:ext cx="7575550" cy="752475"/>
        </p:xfrm>
        <a:graphic>
          <a:graphicData uri="http://schemas.openxmlformats.org/drawingml/2006/table">
            <a:tbl>
              <a:tblPr/>
              <a:tblGrid>
                <a:gridCol w="2385988"/>
                <a:gridCol w="5189562"/>
              </a:tblGrid>
              <a:tr h="752475">
                <a:tc>
                  <a:txBody>
                    <a:bodyPr/>
                    <a:lstStyle/>
                    <a:p>
                      <a:pPr algn="ctr" fontAlgn="ctr"/>
                      <a:r>
                        <a:rPr lang="zh-CN" altLang="en-US" sz="2000" b="0" i="0" u="none" strike="noStrike" dirty="0">
                          <a:solidFill>
                            <a:srgbClr val="000000"/>
                          </a:solidFill>
                          <a:effectLst/>
                          <a:latin typeface="仿宋" panose="02010609060101010101" pitchFamily="49" charset="-122"/>
                          <a:ea typeface="仿宋" panose="02010609060101010101" pitchFamily="49" charset="-122"/>
                        </a:rPr>
                        <a:t>无穷多个最优解</a:t>
                      </a:r>
                      <a:endParaRPr lang="zh-CN" altLang="en-US" sz="2000" b="0" i="0" u="none" strike="noStrike" dirty="0">
                        <a:solidFill>
                          <a:srgbClr val="000000"/>
                        </a:solidFill>
                        <a:effectLst/>
                        <a:latin typeface="仿宋" panose="02010609060101010101" pitchFamily="49" charset="-122"/>
                        <a:ea typeface="仿宋" panose="02010609060101010101" pitchFamily="49" charset="-122"/>
                      </a:endParaRPr>
                    </a:p>
                  </a:txBody>
                  <a:tcPr marL="9525" marR="9525" marT="9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algn="ctr" fontAlgn="ctr"/>
                      <a:r>
                        <a:rPr lang="zh-CN" altLang="en-US" sz="2000" b="0" i="0" u="none" strike="noStrike" dirty="0">
                          <a:solidFill>
                            <a:srgbClr val="000000"/>
                          </a:solidFill>
                          <a:effectLst/>
                          <a:latin typeface="仿宋" panose="02010609060101010101" pitchFamily="49" charset="-122"/>
                          <a:ea typeface="仿宋" panose="02010609060101010101" pitchFamily="49" charset="-122"/>
                        </a:rPr>
                        <a:t>若将例一中的目标函数变为</a:t>
                      </a:r>
                      <a:r>
                        <a:rPr lang="en-US" altLang="zh-CN" sz="2000" b="0" i="0" u="none" strike="noStrike" dirty="0">
                          <a:solidFill>
                            <a:srgbClr val="000000"/>
                          </a:solidFill>
                          <a:effectLst/>
                          <a:latin typeface="仿宋" panose="02010609060101010101" pitchFamily="49" charset="-122"/>
                          <a:ea typeface="仿宋" panose="02010609060101010101" pitchFamily="49" charset="-122"/>
                        </a:rPr>
                        <a:t>z=50x</a:t>
                      </a:r>
                      <a:r>
                        <a:rPr lang="en-US" altLang="zh-CN" sz="2000" b="0" i="0" u="none" strike="noStrike" baseline="-25000" dirty="0">
                          <a:solidFill>
                            <a:srgbClr val="000000"/>
                          </a:solidFill>
                          <a:effectLst/>
                          <a:latin typeface="仿宋" panose="02010609060101010101" pitchFamily="49" charset="-122"/>
                          <a:ea typeface="仿宋" panose="02010609060101010101" pitchFamily="49" charset="-122"/>
                        </a:rPr>
                        <a:t>1</a:t>
                      </a:r>
                      <a:r>
                        <a:rPr lang="en-US" altLang="zh-CN" sz="2000" b="0" i="0" u="none" strike="noStrike" dirty="0">
                          <a:solidFill>
                            <a:srgbClr val="000000"/>
                          </a:solidFill>
                          <a:effectLst/>
                          <a:latin typeface="仿宋" panose="02010609060101010101" pitchFamily="49" charset="-122"/>
                          <a:ea typeface="仿宋" panose="02010609060101010101" pitchFamily="49" charset="-122"/>
                        </a:rPr>
                        <a:t>+50x</a:t>
                      </a:r>
                      <a:r>
                        <a:rPr lang="en-US" altLang="zh-CN" sz="2000" b="0" i="0" u="none" strike="noStrike" baseline="-25000" dirty="0">
                          <a:solidFill>
                            <a:srgbClr val="000000"/>
                          </a:solidFill>
                          <a:effectLst/>
                          <a:latin typeface="仿宋" panose="02010609060101010101" pitchFamily="49" charset="-122"/>
                          <a:ea typeface="仿宋" panose="02010609060101010101" pitchFamily="49" charset="-122"/>
                        </a:rPr>
                        <a:t>2</a:t>
                      </a:r>
                      <a:r>
                        <a:rPr lang="zh-CN" altLang="en-US" sz="2000" b="0" i="0" u="none" strike="noStrike" baseline="-25000" dirty="0">
                          <a:solidFill>
                            <a:srgbClr val="000000"/>
                          </a:solidFill>
                          <a:effectLst/>
                          <a:latin typeface="仿宋" panose="02010609060101010101" pitchFamily="49" charset="-122"/>
                          <a:ea typeface="仿宋" panose="02010609060101010101" pitchFamily="49" charset="-122"/>
                        </a:rPr>
                        <a:t>，</a:t>
                      </a:r>
                      <a:r>
                        <a:rPr lang="zh-CN" altLang="en-US" sz="2000" b="0" i="0" u="none" strike="noStrike" dirty="0">
                          <a:solidFill>
                            <a:srgbClr val="000000"/>
                          </a:solidFill>
                          <a:effectLst/>
                          <a:latin typeface="仿宋" panose="02010609060101010101" pitchFamily="49" charset="-122"/>
                          <a:ea typeface="仿宋" panose="02010609060101010101" pitchFamily="49" charset="-122"/>
                        </a:rPr>
                        <a:t>则线段</a:t>
                      </a:r>
                      <a:r>
                        <a:rPr lang="en-US" altLang="zh-CN" sz="2000" b="0" i="0" u="none" strike="noStrike" dirty="0">
                          <a:solidFill>
                            <a:srgbClr val="000000"/>
                          </a:solidFill>
                          <a:effectLst/>
                          <a:latin typeface="仿宋" panose="02010609060101010101" pitchFamily="49" charset="-122"/>
                          <a:ea typeface="仿宋" panose="02010609060101010101" pitchFamily="49" charset="-122"/>
                        </a:rPr>
                        <a:t>BC</a:t>
                      </a:r>
                      <a:r>
                        <a:rPr lang="zh-CN" altLang="en-US" sz="2000" b="0" i="0" u="none" strike="noStrike" dirty="0">
                          <a:solidFill>
                            <a:srgbClr val="000000"/>
                          </a:solidFill>
                          <a:effectLst/>
                          <a:latin typeface="仿宋" panose="02010609060101010101" pitchFamily="49" charset="-122"/>
                          <a:ea typeface="仿宋" panose="02010609060101010101" pitchFamily="49" charset="-122"/>
                        </a:rPr>
                        <a:t>上的所有点都代表最优解</a:t>
                      </a:r>
                      <a:endParaRPr lang="zh-CN" altLang="en-US" sz="2000" b="0" i="0" u="none" strike="noStrike" dirty="0">
                        <a:solidFill>
                          <a:srgbClr val="000000"/>
                        </a:solidFill>
                        <a:effectLst/>
                        <a:latin typeface="仿宋" panose="02010609060101010101" pitchFamily="49" charset="-122"/>
                        <a:ea typeface="仿宋" panose="02010609060101010101" pitchFamily="49" charset="-122"/>
                      </a:endParaRPr>
                    </a:p>
                  </a:txBody>
                  <a:tcPr marL="9525" marR="9525" marT="9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r>
            </a:tbl>
          </a:graphicData>
        </a:graphic>
      </p:graphicFrame>
      <p:graphicFrame>
        <p:nvGraphicFramePr>
          <p:cNvPr id="6" name="表格 5"/>
          <p:cNvGraphicFramePr>
            <a:graphicFrameLocks noGrp="1"/>
          </p:cNvGraphicFramePr>
          <p:nvPr/>
        </p:nvGraphicFramePr>
        <p:xfrm>
          <a:off x="2236788" y="3719513"/>
          <a:ext cx="7610475" cy="647700"/>
        </p:xfrm>
        <a:graphic>
          <a:graphicData uri="http://schemas.openxmlformats.org/drawingml/2006/table">
            <a:tbl>
              <a:tblPr/>
              <a:tblGrid>
                <a:gridCol w="2411936"/>
                <a:gridCol w="5198539"/>
              </a:tblGrid>
              <a:tr h="647700">
                <a:tc>
                  <a:txBody>
                    <a:bodyPr/>
                    <a:lstStyle/>
                    <a:p>
                      <a:pPr algn="ctr" fontAlgn="ctr"/>
                      <a:r>
                        <a:rPr lang="zh-CN" altLang="en-US" sz="2000" b="0" i="0" u="none" strike="noStrike" dirty="0">
                          <a:solidFill>
                            <a:srgbClr val="000000"/>
                          </a:solidFill>
                          <a:effectLst/>
                          <a:latin typeface="仿宋" panose="02010609060101010101" pitchFamily="49" charset="-122"/>
                          <a:ea typeface="仿宋" panose="02010609060101010101" pitchFamily="49" charset="-122"/>
                        </a:rPr>
                        <a:t>无可行解</a:t>
                      </a:r>
                      <a:endParaRPr lang="zh-CN" altLang="en-US" sz="2000" b="0" i="0" u="none" strike="noStrike" dirty="0">
                        <a:solidFill>
                          <a:srgbClr val="000000"/>
                        </a:solidFill>
                        <a:effectLst/>
                        <a:latin typeface="仿宋" panose="02010609060101010101" pitchFamily="49" charset="-122"/>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algn="ctr" fontAlgn="ctr"/>
                      <a:r>
                        <a:rPr lang="zh-CN" altLang="en-US" sz="2000" b="0" i="0" u="none" strike="noStrike" dirty="0">
                          <a:solidFill>
                            <a:srgbClr val="000000"/>
                          </a:solidFill>
                          <a:effectLst/>
                          <a:latin typeface="仿宋" panose="02010609060101010101" pitchFamily="49" charset="-122"/>
                          <a:ea typeface="仿宋" panose="02010609060101010101" pitchFamily="49" charset="-122"/>
                        </a:rPr>
                        <a:t>可行域为空域，不存在满足约束条件的解</a:t>
                      </a:r>
                      <a:endParaRPr lang="zh-CN" altLang="en-US" sz="2000" b="0" i="0" u="none" strike="noStrike" dirty="0">
                        <a:solidFill>
                          <a:srgbClr val="000000"/>
                        </a:solidFill>
                        <a:effectLst/>
                        <a:latin typeface="仿宋" panose="02010609060101010101" pitchFamily="49" charset="-122"/>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r>
            </a:tbl>
          </a:graphicData>
        </a:graphic>
      </p:graphicFrame>
      <p:graphicFrame>
        <p:nvGraphicFramePr>
          <p:cNvPr id="7" name="表格 6"/>
          <p:cNvGraphicFramePr>
            <a:graphicFrameLocks noGrp="1"/>
          </p:cNvGraphicFramePr>
          <p:nvPr/>
        </p:nvGraphicFramePr>
        <p:xfrm>
          <a:off x="2236788" y="4400550"/>
          <a:ext cx="7581900" cy="781050"/>
        </p:xfrm>
        <a:graphic>
          <a:graphicData uri="http://schemas.openxmlformats.org/drawingml/2006/table">
            <a:tbl>
              <a:tblPr/>
              <a:tblGrid>
                <a:gridCol w="2402879"/>
                <a:gridCol w="5179021"/>
              </a:tblGrid>
              <a:tr h="781050">
                <a:tc>
                  <a:txBody>
                    <a:bodyPr/>
                    <a:lstStyle/>
                    <a:p>
                      <a:pPr algn="ctr" fontAlgn="ctr"/>
                      <a:r>
                        <a:rPr lang="zh-CN" altLang="en-US" sz="2000" b="0" i="0" u="none" strike="noStrike" dirty="0">
                          <a:solidFill>
                            <a:srgbClr val="000000"/>
                          </a:solidFill>
                          <a:effectLst/>
                          <a:latin typeface="仿宋" panose="02010609060101010101" pitchFamily="49" charset="-122"/>
                          <a:ea typeface="仿宋" panose="02010609060101010101" pitchFamily="49" charset="-122"/>
                        </a:rPr>
                        <a:t>无界解</a:t>
                      </a:r>
                      <a:endParaRPr lang="zh-CN" altLang="en-US" sz="2000" b="0" i="0" u="none" strike="noStrike" dirty="0">
                        <a:solidFill>
                          <a:srgbClr val="000000"/>
                        </a:solidFill>
                        <a:effectLst/>
                        <a:latin typeface="仿宋" panose="02010609060101010101" pitchFamily="49" charset="-122"/>
                        <a:ea typeface="仿宋" panose="02010609060101010101" pitchFamily="49" charset="-122"/>
                      </a:endParaRPr>
                    </a:p>
                  </a:txBody>
                  <a:tcPr marL="9525" marR="9525" marT="9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algn="ctr" fontAlgn="ctr"/>
                      <a:r>
                        <a:rPr lang="zh-CN" altLang="en-US" sz="2000" b="0" i="0" u="none" strike="noStrike" dirty="0">
                          <a:solidFill>
                            <a:srgbClr val="000000"/>
                          </a:solidFill>
                          <a:effectLst/>
                          <a:latin typeface="仿宋" panose="02010609060101010101" pitchFamily="49" charset="-122"/>
                          <a:ea typeface="仿宋" panose="02010609060101010101" pitchFamily="49" charset="-122"/>
                        </a:rPr>
                        <a:t>可行域的范围延伸到无穷远，目标函数值可以无穷大或无穷小</a:t>
                      </a:r>
                      <a:endParaRPr lang="zh-CN" altLang="en-US" sz="2000" b="0" i="0" u="none" strike="noStrike" dirty="0">
                        <a:solidFill>
                          <a:srgbClr val="000000"/>
                        </a:solidFill>
                        <a:effectLst/>
                        <a:latin typeface="仿宋" panose="02010609060101010101" pitchFamily="49" charset="-122"/>
                        <a:ea typeface="仿宋" panose="02010609060101010101" pitchFamily="49" charset="-122"/>
                      </a:endParaRPr>
                    </a:p>
                  </a:txBody>
                  <a:tcPr marL="9525" marR="9525" marT="9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线性规划图解法</a:t>
            </a:r>
            <a:r>
              <a:rPr lang="en-US" altLang="zh-CN" dirty="0"/>
              <a:t> – </a:t>
            </a:r>
            <a:r>
              <a:rPr lang="zh-CN" altLang="en-US" dirty="0"/>
              <a:t>例</a:t>
            </a:r>
            <a:r>
              <a:rPr lang="en-US" altLang="zh-CN" dirty="0"/>
              <a:t>1</a:t>
            </a:r>
            <a:r>
              <a:rPr lang="zh-CN" altLang="en-US" dirty="0"/>
              <a:t>的图解法作业过程</a:t>
            </a:r>
            <a:endParaRPr lang="zh-CN" altLang="en-US" dirty="0"/>
          </a:p>
        </p:txBody>
      </p:sp>
      <p:grpSp>
        <p:nvGrpSpPr>
          <p:cNvPr id="4" name="Group 54"/>
          <p:cNvGrpSpPr/>
          <p:nvPr/>
        </p:nvGrpSpPr>
        <p:grpSpPr bwMode="auto">
          <a:xfrm>
            <a:off x="6724650" y="5305425"/>
            <a:ext cx="3352800" cy="546100"/>
            <a:chOff x="3360" y="3120"/>
            <a:chExt cx="2112" cy="344"/>
          </a:xfrm>
        </p:grpSpPr>
        <p:sp>
          <p:nvSpPr>
            <p:cNvPr id="5" name="Text Box 47"/>
            <p:cNvSpPr txBox="1">
              <a:spLocks noChangeArrowheads="1"/>
            </p:cNvSpPr>
            <p:nvPr/>
          </p:nvSpPr>
          <p:spPr bwMode="auto">
            <a:xfrm>
              <a:off x="4128" y="3168"/>
              <a:ext cx="1344" cy="296"/>
            </a:xfrm>
            <a:prstGeom prst="rect">
              <a:avLst/>
            </a:prstGeom>
            <a:noFill/>
            <a:ln w="12700">
              <a:solidFill>
                <a:srgbClr val="0000FF"/>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a:latin typeface="Times New Roman" panose="02020603050405020304" pitchFamily="18" charset="0"/>
                </a:rPr>
                <a:t>X</a:t>
              </a:r>
              <a:r>
                <a:rPr lang="en-US" altLang="zh-CN" b="1" baseline="-25000">
                  <a:latin typeface="Times New Roman" panose="02020603050405020304" pitchFamily="18" charset="0"/>
                </a:rPr>
                <a:t>1</a:t>
              </a:r>
              <a:r>
                <a:rPr lang="en-US" altLang="zh-CN" b="1">
                  <a:latin typeface="Times New Roman" panose="02020603050405020304" pitchFamily="18" charset="0"/>
                </a:rPr>
                <a:t>+X</a:t>
              </a:r>
              <a:r>
                <a:rPr lang="en-US" altLang="zh-CN" b="1" baseline="-25000">
                  <a:latin typeface="Times New Roman" panose="02020603050405020304" pitchFamily="18" charset="0"/>
                </a:rPr>
                <a:t>2</a:t>
              </a:r>
              <a:r>
                <a:rPr lang="en-US" altLang="zh-CN" b="1">
                  <a:latin typeface="Times New Roman" panose="02020603050405020304" pitchFamily="18" charset="0"/>
                </a:rPr>
                <a:t>=300</a:t>
              </a:r>
              <a:endParaRPr lang="en-US" altLang="zh-CN" b="1">
                <a:latin typeface="Times New Roman" panose="02020603050405020304" pitchFamily="18" charset="0"/>
              </a:endParaRPr>
            </a:p>
          </p:txBody>
        </p:sp>
        <p:sp>
          <p:nvSpPr>
            <p:cNvPr id="6" name="Line 50"/>
            <p:cNvSpPr>
              <a:spLocks noChangeShapeType="1"/>
            </p:cNvSpPr>
            <p:nvPr/>
          </p:nvSpPr>
          <p:spPr bwMode="auto">
            <a:xfrm flipH="1" flipV="1">
              <a:off x="3360" y="3120"/>
              <a:ext cx="768" cy="144"/>
            </a:xfrm>
            <a:prstGeom prst="line">
              <a:avLst/>
            </a:prstGeom>
            <a:noFill/>
            <a:ln w="12700">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7" name="Line 5"/>
          <p:cNvSpPr>
            <a:spLocks noChangeShapeType="1"/>
          </p:cNvSpPr>
          <p:nvPr/>
        </p:nvSpPr>
        <p:spPr bwMode="auto">
          <a:xfrm>
            <a:off x="3676650" y="5000625"/>
            <a:ext cx="4343400" cy="0"/>
          </a:xfrm>
          <a:prstGeom prst="line">
            <a:avLst/>
          </a:prstGeom>
          <a:noFill/>
          <a:ln w="47625">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 name="Line 6"/>
          <p:cNvSpPr>
            <a:spLocks noChangeShapeType="1"/>
          </p:cNvSpPr>
          <p:nvPr/>
        </p:nvSpPr>
        <p:spPr bwMode="auto">
          <a:xfrm flipV="1">
            <a:off x="4514850" y="2333625"/>
            <a:ext cx="0" cy="3048000"/>
          </a:xfrm>
          <a:prstGeom prst="line">
            <a:avLst/>
          </a:prstGeom>
          <a:noFill/>
          <a:ln w="47625">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 name="Line 7"/>
          <p:cNvSpPr>
            <a:spLocks noChangeShapeType="1"/>
          </p:cNvSpPr>
          <p:nvPr/>
        </p:nvSpPr>
        <p:spPr bwMode="auto">
          <a:xfrm>
            <a:off x="4514850" y="3781425"/>
            <a:ext cx="228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 name="Line 8"/>
          <p:cNvSpPr>
            <a:spLocks noChangeShapeType="1"/>
          </p:cNvSpPr>
          <p:nvPr/>
        </p:nvSpPr>
        <p:spPr bwMode="auto">
          <a:xfrm>
            <a:off x="4514850" y="3171825"/>
            <a:ext cx="304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1" name="Line 9"/>
          <p:cNvSpPr>
            <a:spLocks noChangeShapeType="1"/>
          </p:cNvSpPr>
          <p:nvPr/>
        </p:nvSpPr>
        <p:spPr bwMode="auto">
          <a:xfrm>
            <a:off x="4514850" y="2562225"/>
            <a:ext cx="228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2" name="Text Box 10"/>
          <p:cNvSpPr txBox="1">
            <a:spLocks noChangeArrowheads="1"/>
          </p:cNvSpPr>
          <p:nvPr/>
        </p:nvSpPr>
        <p:spPr bwMode="auto">
          <a:xfrm>
            <a:off x="3600450" y="4162425"/>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100</a:t>
            </a:r>
            <a:endParaRPr lang="en-US" altLang="zh-CN"/>
          </a:p>
        </p:txBody>
      </p:sp>
      <p:sp>
        <p:nvSpPr>
          <p:cNvPr id="13" name="Text Box 11"/>
          <p:cNvSpPr txBox="1">
            <a:spLocks noChangeArrowheads="1"/>
          </p:cNvSpPr>
          <p:nvPr/>
        </p:nvSpPr>
        <p:spPr bwMode="auto">
          <a:xfrm>
            <a:off x="3524250" y="2333625"/>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400</a:t>
            </a:r>
            <a:endParaRPr lang="en-US" altLang="zh-CN"/>
          </a:p>
        </p:txBody>
      </p:sp>
      <p:sp>
        <p:nvSpPr>
          <p:cNvPr id="14" name="Text Box 12"/>
          <p:cNvSpPr txBox="1">
            <a:spLocks noChangeArrowheads="1"/>
          </p:cNvSpPr>
          <p:nvPr/>
        </p:nvSpPr>
        <p:spPr bwMode="auto">
          <a:xfrm>
            <a:off x="4819650" y="4543425"/>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100</a:t>
            </a:r>
            <a:endParaRPr lang="en-US" altLang="zh-CN"/>
          </a:p>
        </p:txBody>
      </p:sp>
      <p:sp>
        <p:nvSpPr>
          <p:cNvPr id="15" name="Text Box 13"/>
          <p:cNvSpPr txBox="1">
            <a:spLocks noChangeArrowheads="1"/>
          </p:cNvSpPr>
          <p:nvPr/>
        </p:nvSpPr>
        <p:spPr bwMode="auto">
          <a:xfrm>
            <a:off x="6191250" y="4543425"/>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300</a:t>
            </a:r>
            <a:endParaRPr lang="en-US" altLang="zh-CN"/>
          </a:p>
        </p:txBody>
      </p:sp>
      <p:sp>
        <p:nvSpPr>
          <p:cNvPr id="16" name="Text Box 24"/>
          <p:cNvSpPr txBox="1">
            <a:spLocks noChangeArrowheads="1"/>
          </p:cNvSpPr>
          <p:nvPr/>
        </p:nvSpPr>
        <p:spPr bwMode="auto">
          <a:xfrm>
            <a:off x="7639050" y="446722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x</a:t>
            </a:r>
            <a:r>
              <a:rPr lang="en-US" altLang="zh-CN" baseline="-25000"/>
              <a:t>1</a:t>
            </a:r>
            <a:endParaRPr lang="en-US" altLang="zh-CN"/>
          </a:p>
        </p:txBody>
      </p:sp>
      <p:sp>
        <p:nvSpPr>
          <p:cNvPr id="17" name="Text Box 25"/>
          <p:cNvSpPr txBox="1">
            <a:spLocks noChangeArrowheads="1"/>
          </p:cNvSpPr>
          <p:nvPr/>
        </p:nvSpPr>
        <p:spPr bwMode="auto">
          <a:xfrm>
            <a:off x="4819650" y="2181225"/>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x</a:t>
            </a:r>
            <a:r>
              <a:rPr lang="en-US" altLang="zh-CN" baseline="-25000"/>
              <a:t>2</a:t>
            </a:r>
            <a:endParaRPr lang="en-US" altLang="zh-CN"/>
          </a:p>
        </p:txBody>
      </p:sp>
      <p:sp>
        <p:nvSpPr>
          <p:cNvPr id="18" name="Line 26"/>
          <p:cNvSpPr>
            <a:spLocks noChangeShapeType="1"/>
          </p:cNvSpPr>
          <p:nvPr/>
        </p:nvSpPr>
        <p:spPr bwMode="auto">
          <a:xfrm>
            <a:off x="5124450" y="5000625"/>
            <a:ext cx="0" cy="76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 name="Line 27"/>
          <p:cNvSpPr>
            <a:spLocks noChangeShapeType="1"/>
          </p:cNvSpPr>
          <p:nvPr/>
        </p:nvSpPr>
        <p:spPr bwMode="auto">
          <a:xfrm>
            <a:off x="6343650" y="4924425"/>
            <a:ext cx="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0" name="Line 28"/>
          <p:cNvSpPr>
            <a:spLocks noChangeShapeType="1"/>
          </p:cNvSpPr>
          <p:nvPr/>
        </p:nvSpPr>
        <p:spPr bwMode="auto">
          <a:xfrm>
            <a:off x="4514850" y="4391025"/>
            <a:ext cx="152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34"/>
          <p:cNvSpPr>
            <a:spLocks noChangeShapeType="1"/>
          </p:cNvSpPr>
          <p:nvPr/>
        </p:nvSpPr>
        <p:spPr bwMode="auto">
          <a:xfrm>
            <a:off x="3219450" y="3476625"/>
            <a:ext cx="5410200" cy="0"/>
          </a:xfrm>
          <a:prstGeom prst="line">
            <a:avLst/>
          </a:prstGeom>
          <a:noFill/>
          <a:ln w="31750">
            <a:solidFill>
              <a:srgbClr val="00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36"/>
          <p:cNvSpPr>
            <a:spLocks noChangeShapeType="1"/>
          </p:cNvSpPr>
          <p:nvPr/>
        </p:nvSpPr>
        <p:spPr bwMode="auto">
          <a:xfrm>
            <a:off x="4133850" y="2790825"/>
            <a:ext cx="2895600" cy="2895600"/>
          </a:xfrm>
          <a:prstGeom prst="line">
            <a:avLst/>
          </a:prstGeom>
          <a:noFill/>
          <a:ln w="31750">
            <a:solidFill>
              <a:srgbClr val="00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37"/>
          <p:cNvSpPr>
            <a:spLocks noChangeShapeType="1"/>
          </p:cNvSpPr>
          <p:nvPr/>
        </p:nvSpPr>
        <p:spPr bwMode="auto">
          <a:xfrm>
            <a:off x="4286250" y="2105025"/>
            <a:ext cx="1905000" cy="3810000"/>
          </a:xfrm>
          <a:prstGeom prst="line">
            <a:avLst/>
          </a:prstGeom>
          <a:noFill/>
          <a:ln w="31750">
            <a:solidFill>
              <a:srgbClr val="00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4" name="Line 38"/>
          <p:cNvSpPr>
            <a:spLocks noChangeShapeType="1"/>
          </p:cNvSpPr>
          <p:nvPr/>
        </p:nvSpPr>
        <p:spPr bwMode="auto">
          <a:xfrm flipH="1">
            <a:off x="4514850" y="3476625"/>
            <a:ext cx="152400" cy="2286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5" name="Line 39"/>
          <p:cNvSpPr>
            <a:spLocks noChangeShapeType="1"/>
          </p:cNvSpPr>
          <p:nvPr/>
        </p:nvSpPr>
        <p:spPr bwMode="auto">
          <a:xfrm flipH="1">
            <a:off x="4514850" y="3552825"/>
            <a:ext cx="304800" cy="6096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6" name="Line 40"/>
          <p:cNvSpPr>
            <a:spLocks noChangeShapeType="1"/>
          </p:cNvSpPr>
          <p:nvPr/>
        </p:nvSpPr>
        <p:spPr bwMode="auto">
          <a:xfrm flipH="1">
            <a:off x="4514850" y="3705225"/>
            <a:ext cx="533400" cy="9144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7" name="Line 41"/>
          <p:cNvSpPr>
            <a:spLocks noChangeShapeType="1"/>
          </p:cNvSpPr>
          <p:nvPr/>
        </p:nvSpPr>
        <p:spPr bwMode="auto">
          <a:xfrm flipH="1">
            <a:off x="4667250" y="4010025"/>
            <a:ext cx="533400" cy="9906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8" name="Line 43"/>
          <p:cNvSpPr>
            <a:spLocks noChangeShapeType="1"/>
          </p:cNvSpPr>
          <p:nvPr/>
        </p:nvSpPr>
        <p:spPr bwMode="auto">
          <a:xfrm flipH="1">
            <a:off x="4972050" y="4238625"/>
            <a:ext cx="381000" cy="7620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9" name="Line 44"/>
          <p:cNvSpPr>
            <a:spLocks noChangeShapeType="1"/>
          </p:cNvSpPr>
          <p:nvPr/>
        </p:nvSpPr>
        <p:spPr bwMode="auto">
          <a:xfrm flipH="1">
            <a:off x="5200650" y="4467225"/>
            <a:ext cx="228600" cy="5334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0" name="Line 45"/>
          <p:cNvSpPr>
            <a:spLocks noChangeShapeType="1"/>
          </p:cNvSpPr>
          <p:nvPr/>
        </p:nvSpPr>
        <p:spPr bwMode="auto">
          <a:xfrm flipH="1">
            <a:off x="5429250" y="4695825"/>
            <a:ext cx="152400" cy="3048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grpSp>
        <p:nvGrpSpPr>
          <p:cNvPr id="31" name="Group 53"/>
          <p:cNvGrpSpPr/>
          <p:nvPr/>
        </p:nvGrpSpPr>
        <p:grpSpPr bwMode="auto">
          <a:xfrm>
            <a:off x="6648450" y="2867025"/>
            <a:ext cx="1828800" cy="533400"/>
            <a:chOff x="3264" y="1536"/>
            <a:chExt cx="1152" cy="336"/>
          </a:xfrm>
        </p:grpSpPr>
        <p:sp>
          <p:nvSpPr>
            <p:cNvPr id="32" name="Text Box 46"/>
            <p:cNvSpPr txBox="1">
              <a:spLocks noChangeArrowheads="1"/>
            </p:cNvSpPr>
            <p:nvPr/>
          </p:nvSpPr>
          <p:spPr bwMode="auto">
            <a:xfrm>
              <a:off x="3552" y="1536"/>
              <a:ext cx="864" cy="296"/>
            </a:xfrm>
            <a:prstGeom prst="rect">
              <a:avLst/>
            </a:prstGeom>
            <a:noFill/>
            <a:ln w="12700">
              <a:solidFill>
                <a:srgbClr val="0000FF"/>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a:latin typeface="Times New Roman" panose="02020603050405020304" pitchFamily="18" charset="0"/>
                </a:rPr>
                <a:t>X</a:t>
              </a:r>
              <a:r>
                <a:rPr lang="en-US" altLang="zh-CN" b="1" baseline="-25000">
                  <a:latin typeface="Times New Roman" panose="02020603050405020304" pitchFamily="18" charset="0"/>
                </a:rPr>
                <a:t>2</a:t>
              </a:r>
              <a:r>
                <a:rPr lang="en-US" altLang="zh-CN" b="1">
                  <a:latin typeface="Times New Roman" panose="02020603050405020304" pitchFamily="18" charset="0"/>
                </a:rPr>
                <a:t>=250</a:t>
              </a:r>
              <a:endParaRPr lang="en-US" altLang="zh-CN" b="1">
                <a:latin typeface="Times New Roman" panose="02020603050405020304" pitchFamily="18" charset="0"/>
              </a:endParaRPr>
            </a:p>
          </p:txBody>
        </p:sp>
        <p:sp>
          <p:nvSpPr>
            <p:cNvPr id="33" name="Line 49"/>
            <p:cNvSpPr>
              <a:spLocks noChangeShapeType="1"/>
            </p:cNvSpPr>
            <p:nvPr/>
          </p:nvSpPr>
          <p:spPr bwMode="auto">
            <a:xfrm flipH="1">
              <a:off x="3264" y="1680"/>
              <a:ext cx="288" cy="192"/>
            </a:xfrm>
            <a:prstGeom prst="line">
              <a:avLst/>
            </a:prstGeom>
            <a:noFill/>
            <a:ln w="12700">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4" name="Group 52"/>
          <p:cNvGrpSpPr/>
          <p:nvPr/>
        </p:nvGrpSpPr>
        <p:grpSpPr bwMode="auto">
          <a:xfrm>
            <a:off x="4362450" y="1266825"/>
            <a:ext cx="2362200" cy="914400"/>
            <a:chOff x="1824" y="528"/>
            <a:chExt cx="1488" cy="576"/>
          </a:xfrm>
        </p:grpSpPr>
        <p:sp>
          <p:nvSpPr>
            <p:cNvPr id="35" name="Text Box 48"/>
            <p:cNvSpPr txBox="1">
              <a:spLocks noChangeArrowheads="1"/>
            </p:cNvSpPr>
            <p:nvPr/>
          </p:nvSpPr>
          <p:spPr bwMode="auto">
            <a:xfrm>
              <a:off x="1824" y="528"/>
              <a:ext cx="1488" cy="296"/>
            </a:xfrm>
            <a:prstGeom prst="rect">
              <a:avLst/>
            </a:prstGeom>
            <a:noFill/>
            <a:ln w="12700">
              <a:solidFill>
                <a:srgbClr val="0000FF"/>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a:t>2x</a:t>
              </a:r>
              <a:r>
                <a:rPr lang="en-US" altLang="zh-CN" b="1" baseline="-25000"/>
                <a:t>1</a:t>
              </a:r>
              <a:r>
                <a:rPr lang="en-US" altLang="zh-CN" b="1"/>
                <a:t>+x</a:t>
              </a:r>
              <a:r>
                <a:rPr lang="en-US" altLang="zh-CN" b="1" baseline="-25000"/>
                <a:t>2</a:t>
              </a:r>
              <a:r>
                <a:rPr lang="en-US" altLang="zh-CN" b="1"/>
                <a:t>=400</a:t>
              </a:r>
              <a:endParaRPr lang="en-US" altLang="zh-CN" b="1"/>
            </a:p>
          </p:txBody>
        </p:sp>
        <p:sp>
          <p:nvSpPr>
            <p:cNvPr id="36" name="Line 51"/>
            <p:cNvSpPr>
              <a:spLocks noChangeShapeType="1"/>
            </p:cNvSpPr>
            <p:nvPr/>
          </p:nvSpPr>
          <p:spPr bwMode="auto">
            <a:xfrm flipH="1">
              <a:off x="1824" y="816"/>
              <a:ext cx="480" cy="288"/>
            </a:xfrm>
            <a:prstGeom prst="line">
              <a:avLst/>
            </a:prstGeom>
            <a:noFill/>
            <a:ln w="12700">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37" name="Line 56"/>
          <p:cNvSpPr>
            <a:spLocks noChangeShapeType="1"/>
          </p:cNvSpPr>
          <p:nvPr/>
        </p:nvSpPr>
        <p:spPr bwMode="auto">
          <a:xfrm>
            <a:off x="2457450" y="3400425"/>
            <a:ext cx="6172200" cy="3048000"/>
          </a:xfrm>
          <a:prstGeom prst="line">
            <a:avLst/>
          </a:prstGeom>
          <a:noFill/>
          <a:ln w="44450">
            <a:solidFill>
              <a:srgbClr val="333333"/>
            </a:solidFill>
            <a:prstDash val="sysDot"/>
            <a:round/>
          </a:ln>
          <a:extLst>
            <a:ext uri="{909E8E84-426E-40DD-AFC4-6F175D3DCCD1}">
              <a14:hiddenFill xmlns:a14="http://schemas.microsoft.com/office/drawing/2010/main">
                <a:noFill/>
              </a14:hiddenFill>
            </a:ext>
          </a:extLst>
        </p:spPr>
        <p:txBody>
          <a:bodyPr wrap="none"/>
          <a:lstStyle/>
          <a:p>
            <a:endParaRPr lang="zh-CN" altLang="en-US"/>
          </a:p>
        </p:txBody>
      </p:sp>
      <p:grpSp>
        <p:nvGrpSpPr>
          <p:cNvPr id="38" name="Group 59"/>
          <p:cNvGrpSpPr/>
          <p:nvPr/>
        </p:nvGrpSpPr>
        <p:grpSpPr bwMode="auto">
          <a:xfrm>
            <a:off x="4362450" y="6143625"/>
            <a:ext cx="3657600" cy="469900"/>
            <a:chOff x="1824" y="3600"/>
            <a:chExt cx="2304" cy="296"/>
          </a:xfrm>
        </p:grpSpPr>
        <p:sp>
          <p:nvSpPr>
            <p:cNvPr id="39" name="Text Box 57"/>
            <p:cNvSpPr txBox="1">
              <a:spLocks noChangeArrowheads="1"/>
            </p:cNvSpPr>
            <p:nvPr/>
          </p:nvSpPr>
          <p:spPr bwMode="auto">
            <a:xfrm>
              <a:off x="1824" y="3600"/>
              <a:ext cx="2064" cy="296"/>
            </a:xfrm>
            <a:prstGeom prst="rect">
              <a:avLst/>
            </a:prstGeom>
            <a:noFill/>
            <a:ln w="12700">
              <a:solidFill>
                <a:srgbClr val="FFCC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a:latin typeface="Times New Roman" panose="02020603050405020304" pitchFamily="18" charset="0"/>
                </a:rPr>
                <a:t>Z=10000=50x</a:t>
              </a:r>
              <a:r>
                <a:rPr lang="en-US" altLang="zh-CN" b="1" baseline="-25000">
                  <a:latin typeface="Times New Roman" panose="02020603050405020304" pitchFamily="18" charset="0"/>
                </a:rPr>
                <a:t>1</a:t>
              </a:r>
              <a:r>
                <a:rPr lang="en-US" altLang="zh-CN" b="1">
                  <a:latin typeface="Times New Roman" panose="02020603050405020304" pitchFamily="18" charset="0"/>
                </a:rPr>
                <a:t>+100x</a:t>
              </a:r>
              <a:r>
                <a:rPr lang="en-US" altLang="zh-CN" b="1" baseline="-25000">
                  <a:latin typeface="Times New Roman" panose="02020603050405020304" pitchFamily="18" charset="0"/>
                </a:rPr>
                <a:t>2</a:t>
              </a:r>
              <a:endParaRPr lang="en-US" altLang="zh-CN" b="1">
                <a:latin typeface="Times New Roman" panose="02020603050405020304" pitchFamily="18" charset="0"/>
              </a:endParaRPr>
            </a:p>
          </p:txBody>
        </p:sp>
        <p:sp>
          <p:nvSpPr>
            <p:cNvPr id="40" name="Line 58"/>
            <p:cNvSpPr>
              <a:spLocks noChangeShapeType="1"/>
            </p:cNvSpPr>
            <p:nvPr/>
          </p:nvSpPr>
          <p:spPr bwMode="auto">
            <a:xfrm flipV="1">
              <a:off x="3888" y="3648"/>
              <a:ext cx="240" cy="192"/>
            </a:xfrm>
            <a:prstGeom prst="line">
              <a:avLst/>
            </a:prstGeom>
            <a:noFill/>
            <a:ln w="12700">
              <a:solidFill>
                <a:srgbClr val="FFCC00"/>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41" name="Line 60"/>
          <p:cNvSpPr>
            <a:spLocks noChangeShapeType="1"/>
          </p:cNvSpPr>
          <p:nvPr/>
        </p:nvSpPr>
        <p:spPr bwMode="auto">
          <a:xfrm>
            <a:off x="2990850" y="2562225"/>
            <a:ext cx="6172200" cy="3048000"/>
          </a:xfrm>
          <a:prstGeom prst="line">
            <a:avLst/>
          </a:prstGeom>
          <a:noFill/>
          <a:ln w="44450">
            <a:solidFill>
              <a:srgbClr val="333333"/>
            </a:solidFill>
            <a:prstDash val="sysDot"/>
            <a:round/>
          </a:ln>
          <a:extLst>
            <a:ext uri="{909E8E84-426E-40DD-AFC4-6F175D3DCCD1}">
              <a14:hiddenFill xmlns:a14="http://schemas.microsoft.com/office/drawing/2010/main">
                <a:noFill/>
              </a14:hiddenFill>
            </a:ext>
          </a:extLst>
        </p:spPr>
        <p:txBody>
          <a:bodyPr wrap="none"/>
          <a:lstStyle/>
          <a:p>
            <a:endParaRPr lang="zh-CN" altLang="en-US"/>
          </a:p>
        </p:txBody>
      </p:sp>
      <p:sp>
        <p:nvSpPr>
          <p:cNvPr id="42" name="Text Box 62"/>
          <p:cNvSpPr txBox="1">
            <a:spLocks noChangeArrowheads="1"/>
          </p:cNvSpPr>
          <p:nvPr/>
        </p:nvSpPr>
        <p:spPr bwMode="auto">
          <a:xfrm>
            <a:off x="6191250" y="1800225"/>
            <a:ext cx="3276600" cy="476250"/>
          </a:xfrm>
          <a:prstGeom prst="rect">
            <a:avLst/>
          </a:prstGeom>
          <a:noFill/>
          <a:ln w="19050">
            <a:solidFill>
              <a:srgbClr val="FF99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a:latin typeface="Times New Roman" panose="02020603050405020304" pitchFamily="18" charset="0"/>
              </a:rPr>
              <a:t>Z=27500=50x</a:t>
            </a:r>
            <a:r>
              <a:rPr lang="en-US" altLang="zh-CN" b="1" baseline="-25000">
                <a:latin typeface="Times New Roman" panose="02020603050405020304" pitchFamily="18" charset="0"/>
              </a:rPr>
              <a:t>1</a:t>
            </a:r>
            <a:r>
              <a:rPr lang="en-US" altLang="zh-CN" b="1">
                <a:latin typeface="Times New Roman" panose="02020603050405020304" pitchFamily="18" charset="0"/>
              </a:rPr>
              <a:t>+100x</a:t>
            </a:r>
            <a:r>
              <a:rPr lang="en-US" altLang="zh-CN" b="1" baseline="-25000">
                <a:latin typeface="Times New Roman" panose="02020603050405020304" pitchFamily="18" charset="0"/>
              </a:rPr>
              <a:t>2</a:t>
            </a:r>
            <a:endParaRPr lang="en-US" altLang="zh-CN" b="1">
              <a:latin typeface="Times New Roman" panose="02020603050405020304" pitchFamily="18" charset="0"/>
            </a:endParaRPr>
          </a:p>
        </p:txBody>
      </p:sp>
      <p:sp>
        <p:nvSpPr>
          <p:cNvPr id="43" name="Line 64"/>
          <p:cNvSpPr>
            <a:spLocks noChangeShapeType="1"/>
          </p:cNvSpPr>
          <p:nvPr/>
        </p:nvSpPr>
        <p:spPr bwMode="auto">
          <a:xfrm flipH="1">
            <a:off x="5657850" y="2333625"/>
            <a:ext cx="990600" cy="1447800"/>
          </a:xfrm>
          <a:prstGeom prst="line">
            <a:avLst/>
          </a:prstGeom>
          <a:noFill/>
          <a:ln w="19050">
            <a:solidFill>
              <a:srgbClr val="FF9900"/>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44" name="Group 67"/>
          <p:cNvGrpSpPr/>
          <p:nvPr/>
        </p:nvGrpSpPr>
        <p:grpSpPr bwMode="auto">
          <a:xfrm>
            <a:off x="4819650" y="2867025"/>
            <a:ext cx="914400" cy="609600"/>
            <a:chOff x="2112" y="1536"/>
            <a:chExt cx="576" cy="384"/>
          </a:xfrm>
        </p:grpSpPr>
        <p:sp>
          <p:nvSpPr>
            <p:cNvPr id="45" name="Text Box 65"/>
            <p:cNvSpPr txBox="1">
              <a:spLocks noChangeArrowheads="1"/>
            </p:cNvSpPr>
            <p:nvPr/>
          </p:nvSpPr>
          <p:spPr bwMode="auto">
            <a:xfrm>
              <a:off x="2400" y="1536"/>
              <a:ext cx="288" cy="296"/>
            </a:xfrm>
            <a:prstGeom prst="rect">
              <a:avLst/>
            </a:prstGeom>
            <a:noFill/>
            <a:ln w="12700">
              <a:solidFill>
                <a:srgbClr val="0000FF"/>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B</a:t>
              </a:r>
              <a:endParaRPr lang="en-US" altLang="zh-CN"/>
            </a:p>
          </p:txBody>
        </p:sp>
        <p:sp>
          <p:nvSpPr>
            <p:cNvPr id="46" name="Line 66"/>
            <p:cNvSpPr>
              <a:spLocks noChangeShapeType="1"/>
            </p:cNvSpPr>
            <p:nvPr/>
          </p:nvSpPr>
          <p:spPr bwMode="auto">
            <a:xfrm flipH="1">
              <a:off x="2112" y="1776"/>
              <a:ext cx="240" cy="144"/>
            </a:xfrm>
            <a:prstGeom prst="line">
              <a:avLst/>
            </a:prstGeom>
            <a:noFill/>
            <a:ln w="12700">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47" name="Text Box 70"/>
          <p:cNvSpPr txBox="1">
            <a:spLocks noChangeArrowheads="1"/>
          </p:cNvSpPr>
          <p:nvPr/>
        </p:nvSpPr>
        <p:spPr bwMode="auto">
          <a:xfrm>
            <a:off x="7562850" y="3750529"/>
            <a:ext cx="4724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dirty="0">
                <a:latin typeface="Times New Roman" panose="02020603050405020304" pitchFamily="18" charset="0"/>
              </a:rPr>
              <a:t>B</a:t>
            </a:r>
            <a:r>
              <a:rPr lang="zh-CN" altLang="en-US" b="1" dirty="0">
                <a:latin typeface="Times New Roman" panose="02020603050405020304" pitchFamily="18" charset="0"/>
              </a:rPr>
              <a:t>点为</a:t>
            </a:r>
            <a:r>
              <a:rPr lang="zh-CN" altLang="en-US" b="1" dirty="0">
                <a:solidFill>
                  <a:srgbClr val="FF0000"/>
                </a:solidFill>
                <a:latin typeface="Times New Roman" panose="02020603050405020304" pitchFamily="18" charset="0"/>
              </a:rPr>
              <a:t>唯一最优解</a:t>
            </a:r>
            <a:r>
              <a:rPr lang="zh-CN" altLang="en-US" b="1" dirty="0">
                <a:latin typeface="Times New Roman" panose="02020603050405020304" pitchFamily="18" charset="0"/>
              </a:rPr>
              <a:t>，坐标为（</a:t>
            </a:r>
            <a:r>
              <a:rPr lang="en-US" altLang="zh-CN" b="1" dirty="0">
                <a:latin typeface="Times New Roman" panose="02020603050405020304" pitchFamily="18" charset="0"/>
              </a:rPr>
              <a:t>50</a:t>
            </a:r>
            <a:r>
              <a:rPr lang="zh-CN" altLang="en-US" b="1" dirty="0">
                <a:latin typeface="Times New Roman" panose="02020603050405020304" pitchFamily="18" charset="0"/>
              </a:rPr>
              <a:t>，</a:t>
            </a:r>
            <a:r>
              <a:rPr lang="en-US" altLang="zh-CN" b="1" dirty="0">
                <a:latin typeface="Times New Roman" panose="02020603050405020304" pitchFamily="18" charset="0"/>
              </a:rPr>
              <a:t>250</a:t>
            </a:r>
            <a:r>
              <a:rPr lang="zh-CN" altLang="en-US" b="1" dirty="0">
                <a:latin typeface="Times New Roman" panose="02020603050405020304" pitchFamily="18" charset="0"/>
              </a:rPr>
              <a:t>）</a:t>
            </a:r>
            <a:endParaRPr lang="zh-CN" altLang="en-US" b="1" dirty="0">
              <a:latin typeface="Times New Roman" panose="02020603050405020304" pitchFamily="18" charset="0"/>
            </a:endParaRPr>
          </a:p>
        </p:txBody>
      </p:sp>
      <p:sp>
        <p:nvSpPr>
          <p:cNvPr id="48" name="Line 72"/>
          <p:cNvSpPr>
            <a:spLocks noChangeShapeType="1"/>
          </p:cNvSpPr>
          <p:nvPr/>
        </p:nvSpPr>
        <p:spPr bwMode="auto">
          <a:xfrm>
            <a:off x="3143250" y="4314825"/>
            <a:ext cx="2819400" cy="1371600"/>
          </a:xfrm>
          <a:prstGeom prst="line">
            <a:avLst/>
          </a:prstGeom>
          <a:noFill/>
          <a:ln w="44450">
            <a:solidFill>
              <a:srgbClr val="333333"/>
            </a:solidFill>
            <a:prstDash val="sysDot"/>
            <a:round/>
          </a:ln>
          <a:extLst>
            <a:ext uri="{909E8E84-426E-40DD-AFC4-6F175D3DCCD1}">
              <a14:hiddenFill xmlns:a14="http://schemas.microsoft.com/office/drawing/2010/main">
                <a:noFill/>
              </a14:hiddenFill>
            </a:ext>
          </a:extLst>
        </p:spPr>
        <p:txBody>
          <a:bodyPr wrap="none"/>
          <a:lstStyle/>
          <a:p>
            <a:endParaRPr lang="zh-CN" altLang="en-US"/>
          </a:p>
        </p:txBody>
      </p:sp>
      <p:sp>
        <p:nvSpPr>
          <p:cNvPr id="49" name="Rectangle 73"/>
          <p:cNvSpPr>
            <a:spLocks noChangeArrowheads="1"/>
          </p:cNvSpPr>
          <p:nvPr/>
        </p:nvSpPr>
        <p:spPr bwMode="auto">
          <a:xfrm>
            <a:off x="3295650" y="5610225"/>
            <a:ext cx="2328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a:latin typeface="Times New Roman" panose="02020603050405020304" pitchFamily="18" charset="0"/>
              </a:rPr>
              <a:t>Z=0=50x</a:t>
            </a:r>
            <a:r>
              <a:rPr lang="en-US" altLang="zh-CN" b="1" baseline="-25000">
                <a:latin typeface="Times New Roman" panose="02020603050405020304" pitchFamily="18" charset="0"/>
              </a:rPr>
              <a:t>1</a:t>
            </a:r>
            <a:r>
              <a:rPr lang="en-US" altLang="zh-CN" b="1">
                <a:latin typeface="Times New Roman" panose="02020603050405020304" pitchFamily="18" charset="0"/>
              </a:rPr>
              <a:t>+100x</a:t>
            </a:r>
            <a:r>
              <a:rPr lang="en-US" altLang="zh-CN" b="1" baseline="-25000">
                <a:latin typeface="Times New Roman" panose="02020603050405020304" pitchFamily="18" charset="0"/>
              </a:rPr>
              <a:t>2</a:t>
            </a:r>
            <a:endParaRPr lang="en-US" altLang="zh-CN" b="1" baseline="-25000">
              <a:latin typeface="Times New Roman" panose="02020603050405020304" pitchFamily="18" charset="0"/>
            </a:endParaRPr>
          </a:p>
        </p:txBody>
      </p:sp>
      <p:sp>
        <p:nvSpPr>
          <p:cNvPr id="50" name="Line 74"/>
          <p:cNvSpPr>
            <a:spLocks noChangeShapeType="1"/>
          </p:cNvSpPr>
          <p:nvPr/>
        </p:nvSpPr>
        <p:spPr bwMode="auto">
          <a:xfrm flipV="1">
            <a:off x="4591050" y="5229225"/>
            <a:ext cx="381000" cy="4572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 name="Line 75"/>
          <p:cNvSpPr>
            <a:spLocks noChangeShapeType="1"/>
          </p:cNvSpPr>
          <p:nvPr/>
        </p:nvSpPr>
        <p:spPr bwMode="auto">
          <a:xfrm>
            <a:off x="3143250" y="2638425"/>
            <a:ext cx="6172200" cy="3048000"/>
          </a:xfrm>
          <a:prstGeom prst="line">
            <a:avLst/>
          </a:prstGeom>
          <a:noFill/>
          <a:ln w="53975">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53" name="文本框 52"/>
          <p:cNvSpPr txBox="1"/>
          <p:nvPr/>
        </p:nvSpPr>
        <p:spPr>
          <a:xfrm>
            <a:off x="423545" y="1350010"/>
            <a:ext cx="1948180" cy="3415030"/>
          </a:xfrm>
          <a:prstGeom prst="rect">
            <a:avLst/>
          </a:prstGeom>
          <a:noFill/>
        </p:spPr>
        <p:txBody>
          <a:bodyPr wrap="square" rtlCol="0">
            <a:spAutoFit/>
          </a:bodyPr>
          <a:p>
            <a:pPr indent="0" defTabSz="914400" fontAlgn="auto">
              <a:lnSpc>
                <a:spcPct val="100000"/>
              </a:lnSpc>
              <a:tabLst>
                <a:tab pos="203200" algn="l"/>
                <a:tab pos="1943100" algn="l"/>
              </a:tabLst>
            </a:pPr>
            <a:r>
              <a:rPr lang="zh-CN" altLang="en-US" dirty="0">
                <a:solidFill>
                  <a:srgbClr val="000000"/>
                </a:solidFill>
                <a:latin typeface="华文楷体" panose="02010600040101010101" charset="-122"/>
                <a:ea typeface="华文楷体" panose="02010600040101010101" charset="-122"/>
                <a:cs typeface="华文楷体" panose="02010600040101010101" charset="-122"/>
                <a:sym typeface="+mn-ea"/>
              </a:rPr>
              <a:t>目标函数 </a:t>
            </a:r>
            <a:r>
              <a:rPr lang="en-US" altLang="zh-CN" i="1" dirty="0">
                <a:solidFill>
                  <a:srgbClr val="000000"/>
                </a:solidFill>
                <a:latin typeface="华文楷体" panose="02010600040101010101" charset="-122"/>
                <a:ea typeface="华文楷体" panose="02010600040101010101" charset="-122"/>
                <a:cs typeface="华文楷体" panose="02010600040101010101" charset="-122"/>
                <a:sym typeface="+mn-ea"/>
              </a:rPr>
              <a:t>z </a:t>
            </a:r>
            <a:r>
              <a:rPr lang="en-US" altLang="zh-CN" dirty="0">
                <a:solidFill>
                  <a:srgbClr val="000000"/>
                </a:solidFill>
                <a:latin typeface="华文楷体" panose="02010600040101010101" charset="-122"/>
                <a:ea typeface="华文楷体" panose="02010600040101010101" charset="-122"/>
                <a:cs typeface="华文楷体" panose="02010600040101010101" charset="-122"/>
                <a:sym typeface="+mn-ea"/>
              </a:rPr>
              <a:t>= 50</a:t>
            </a:r>
            <a:r>
              <a:rPr lang="en-US" altLang="zh-CN" i="1" dirty="0">
                <a:solidFill>
                  <a:srgbClr val="000000"/>
                </a:solidFill>
                <a:latin typeface="华文楷体" panose="02010600040101010101" charset="-122"/>
                <a:ea typeface="华文楷体" panose="02010600040101010101" charset="-122"/>
                <a:cs typeface="华文楷体" panose="02010600040101010101" charset="-122"/>
                <a:sym typeface="+mn-ea"/>
              </a:rPr>
              <a:t>x</a:t>
            </a:r>
            <a:r>
              <a:rPr lang="en-US" altLang="zh-CN" baseline="-25000" dirty="0">
                <a:solidFill>
                  <a:srgbClr val="000000"/>
                </a:solidFill>
                <a:latin typeface="华文楷体" panose="02010600040101010101" charset="-122"/>
                <a:ea typeface="华文楷体" panose="02010600040101010101" charset="-122"/>
                <a:cs typeface="华文楷体" panose="02010600040101010101" charset="-122"/>
                <a:sym typeface="+mn-ea"/>
              </a:rPr>
              <a:t>1</a:t>
            </a:r>
            <a:r>
              <a:rPr lang="en-US" altLang="zh-CN" dirty="0">
                <a:solidFill>
                  <a:srgbClr val="000000"/>
                </a:solidFill>
                <a:latin typeface="华文楷体" panose="02010600040101010101" charset="-122"/>
                <a:ea typeface="华文楷体" panose="02010600040101010101" charset="-122"/>
                <a:cs typeface="华文楷体" panose="02010600040101010101" charset="-122"/>
                <a:sym typeface="+mn-ea"/>
              </a:rPr>
              <a:t> + 100</a:t>
            </a:r>
            <a:r>
              <a:rPr lang="en-US" altLang="zh-CN" i="1" dirty="0">
                <a:solidFill>
                  <a:srgbClr val="000000"/>
                </a:solidFill>
                <a:latin typeface="华文楷体" panose="02010600040101010101" charset="-122"/>
                <a:ea typeface="华文楷体" panose="02010600040101010101" charset="-122"/>
                <a:cs typeface="华文楷体" panose="02010600040101010101" charset="-122"/>
                <a:sym typeface="+mn-ea"/>
              </a:rPr>
              <a:t>x</a:t>
            </a:r>
            <a:r>
              <a:rPr lang="en-US" altLang="zh-CN" baseline="-25000" dirty="0">
                <a:solidFill>
                  <a:srgbClr val="000000"/>
                </a:solidFill>
                <a:latin typeface="华文楷体" panose="02010600040101010101" charset="-122"/>
                <a:ea typeface="华文楷体" panose="02010600040101010101" charset="-122"/>
                <a:cs typeface="华文楷体" panose="02010600040101010101" charset="-122"/>
                <a:sym typeface="+mn-ea"/>
              </a:rPr>
              <a:t>2</a:t>
            </a:r>
            <a:r>
              <a:rPr lang="zh-CN" altLang="en-US" dirty="0">
                <a:solidFill>
                  <a:srgbClr val="000000"/>
                </a:solidFill>
                <a:latin typeface="华文楷体" panose="02010600040101010101" charset="-122"/>
                <a:ea typeface="华文楷体" panose="02010600040101010101" charset="-122"/>
                <a:cs typeface="华文楷体" panose="02010600040101010101" charset="-122"/>
                <a:sym typeface="+mn-ea"/>
              </a:rPr>
              <a:t>，当 </a:t>
            </a:r>
            <a:r>
              <a:rPr lang="en-US" altLang="zh-CN" i="1" dirty="0">
                <a:solidFill>
                  <a:srgbClr val="000000"/>
                </a:solidFill>
                <a:latin typeface="华文楷体" panose="02010600040101010101" charset="-122"/>
                <a:ea typeface="华文楷体" panose="02010600040101010101" charset="-122"/>
                <a:cs typeface="华文楷体" panose="02010600040101010101" charset="-122"/>
                <a:sym typeface="+mn-ea"/>
              </a:rPr>
              <a:t>z </a:t>
            </a:r>
            <a:r>
              <a:rPr lang="zh-CN" altLang="en-US" dirty="0">
                <a:solidFill>
                  <a:srgbClr val="000000"/>
                </a:solidFill>
                <a:latin typeface="华文楷体" panose="02010600040101010101" charset="-122"/>
                <a:ea typeface="华文楷体" panose="02010600040101010101" charset="-122"/>
                <a:cs typeface="华文楷体" panose="02010600040101010101" charset="-122"/>
                <a:sym typeface="+mn-ea"/>
              </a:rPr>
              <a:t>取某一固定值时得到一条直线，</a:t>
            </a:r>
            <a:endParaRPr lang="zh-CN" altLang="en-US" dirty="0">
              <a:solidFill>
                <a:srgbClr val="000000"/>
              </a:solidFill>
              <a:latin typeface="华文楷体" panose="02010600040101010101" charset="-122"/>
              <a:ea typeface="华文楷体" panose="02010600040101010101" charset="-122"/>
              <a:cs typeface="华文楷体" panose="02010600040101010101" charset="-122"/>
            </a:endParaRPr>
          </a:p>
          <a:p>
            <a:pPr indent="0" defTabSz="914400" fontAlgn="auto">
              <a:lnSpc>
                <a:spcPct val="100000"/>
              </a:lnSpc>
              <a:tabLst>
                <a:tab pos="203200" algn="l"/>
                <a:tab pos="1943100" algn="l"/>
              </a:tabLst>
            </a:pPr>
            <a:r>
              <a:rPr lang="zh-CN" altLang="en-US" dirty="0">
                <a:solidFill>
                  <a:srgbClr val="000000"/>
                </a:solidFill>
                <a:latin typeface="华文楷体" panose="02010600040101010101" charset="-122"/>
                <a:ea typeface="华文楷体" panose="02010600040101010101" charset="-122"/>
                <a:cs typeface="华文楷体" panose="02010600040101010101" charset="-122"/>
                <a:sym typeface="+mn-ea"/>
              </a:rPr>
              <a:t>直线上的每一点都具有相同的目标函数值，称之为“</a:t>
            </a:r>
            <a:r>
              <a:rPr lang="zh-CN" altLang="en-US" dirty="0">
                <a:solidFill>
                  <a:srgbClr val="FF0000"/>
                </a:solidFill>
                <a:latin typeface="华文楷体" panose="02010600040101010101" charset="-122"/>
                <a:ea typeface="华文楷体" panose="02010600040101010101" charset="-122"/>
                <a:cs typeface="华文楷体" panose="02010600040101010101" charset="-122"/>
                <a:sym typeface="+mn-ea"/>
              </a:rPr>
              <a:t>等值线</a:t>
            </a:r>
            <a:r>
              <a:rPr lang="zh-CN" altLang="en-US" dirty="0">
                <a:solidFill>
                  <a:srgbClr val="000000"/>
                </a:solidFill>
                <a:latin typeface="华文楷体" panose="02010600040101010101" charset="-122"/>
                <a:ea typeface="华文楷体" panose="02010600040101010101" charset="-122"/>
                <a:cs typeface="华文楷体" panose="02010600040101010101" charset="-122"/>
                <a:sym typeface="+mn-ea"/>
              </a:rPr>
              <a:t>”。平行移动等值线，当移动到 </a:t>
            </a:r>
            <a:r>
              <a:rPr lang="en-US" altLang="zh-CN" i="1" dirty="0">
                <a:solidFill>
                  <a:srgbClr val="000000"/>
                </a:solidFill>
                <a:latin typeface="华文楷体" panose="02010600040101010101" charset="-122"/>
                <a:ea typeface="华文楷体" panose="02010600040101010101" charset="-122"/>
                <a:cs typeface="华文楷体" panose="02010600040101010101" charset="-122"/>
                <a:sym typeface="+mn-ea"/>
              </a:rPr>
              <a:t>B </a:t>
            </a:r>
            <a:r>
              <a:rPr lang="zh-CN" altLang="en-US" dirty="0">
                <a:solidFill>
                  <a:srgbClr val="000000"/>
                </a:solidFill>
                <a:latin typeface="华文楷体" panose="02010600040101010101" charset="-122"/>
                <a:ea typeface="华文楷体" panose="02010600040101010101" charset="-122"/>
                <a:cs typeface="华文楷体" panose="02010600040101010101" charset="-122"/>
                <a:sym typeface="+mn-ea"/>
              </a:rPr>
              <a:t>点时，</a:t>
            </a:r>
            <a:r>
              <a:rPr lang="en-US" altLang="zh-CN" dirty="0">
                <a:solidFill>
                  <a:srgbClr val="000000"/>
                </a:solidFill>
                <a:latin typeface="华文楷体" panose="02010600040101010101" charset="-122"/>
                <a:ea typeface="华文楷体" panose="02010600040101010101" charset="-122"/>
                <a:cs typeface="华文楷体" panose="02010600040101010101" charset="-122"/>
                <a:sym typeface="+mn-ea"/>
              </a:rPr>
              <a:t>z </a:t>
            </a:r>
            <a:r>
              <a:rPr lang="zh-CN" altLang="en-US" dirty="0">
                <a:solidFill>
                  <a:srgbClr val="000000"/>
                </a:solidFill>
                <a:latin typeface="华文楷体" panose="02010600040101010101" charset="-122"/>
                <a:ea typeface="华文楷体" panose="02010600040101010101" charset="-122"/>
                <a:cs typeface="华文楷体" panose="02010600040101010101" charset="-122"/>
                <a:sym typeface="+mn-ea"/>
              </a:rPr>
              <a:t>在可行域内实现了最大化。</a:t>
            </a:r>
            <a:endParaRPr lang="zh-CN" altLang="en-US">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5000" fill="hold"/>
                                        <p:tgtEl>
                                          <p:spTgt spid="48"/>
                                        </p:tgtEl>
                                        <p:attrNameLst>
                                          <p:attrName>ppt_x</p:attrName>
                                        </p:attrNameLst>
                                      </p:cBhvr>
                                      <p:tavLst>
                                        <p:tav tm="0">
                                          <p:val>
                                            <p:strVal val="#ppt_x"/>
                                          </p:val>
                                        </p:tav>
                                        <p:tav tm="100000">
                                          <p:val>
                                            <p:strVal val="#ppt_x"/>
                                          </p:val>
                                        </p:tav>
                                      </p:tavLst>
                                    </p:anim>
                                    <p:anim calcmode="lin" valueType="num">
                                      <p:cBhvr additive="base">
                                        <p:cTn id="8" dur="5000" fill="hold"/>
                                        <p:tgtEl>
                                          <p:spTgt spid="4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chimes.wav"/>
                                        </p:tgtEl>
                                      </p:cMediaNode>
                                    </p:audio>
                                  </p:subTnLst>
                                </p:cTn>
                              </p:par>
                            </p:childTnLst>
                          </p:cTn>
                        </p:par>
                        <p:par>
                          <p:cTn id="9" fill="hold">
                            <p:stCondLst>
                              <p:cond delay="5000"/>
                            </p:stCondLst>
                            <p:childTnLst>
                              <p:par>
                                <p:cTn id="10" presetID="12" presetClass="entr" presetSubtype="8" fill="hold" nodeType="after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slide(fromLeft)">
                                      <p:cBhvr>
                                        <p:cTn id="12" dur="500"/>
                                        <p:tgtEl>
                                          <p:spTgt spid="50"/>
                                        </p:tgtEl>
                                      </p:cBhvr>
                                    </p:animEffect>
                                  </p:childTnLst>
                                  <p:subTnLst>
                                    <p:audio>
                                      <p:cMediaNode>
                                        <p:cTn display="0" masterRel="sameClick">
                                          <p:stCondLst>
                                            <p:cond evt="begin" delay="0">
                                              <p:tn val="10"/>
                                            </p:cond>
                                          </p:stCondLst>
                                          <p:endCondLst>
                                            <p:cond evt="onStopAudio" delay="0">
                                              <p:tgtEl>
                                                <p:sldTgt/>
                                              </p:tgtEl>
                                            </p:cond>
                                          </p:endCondLst>
                                        </p:cTn>
                                        <p:tgtEl>
                                          <p:sndTgt r:embed="rId1" name="chimes.wav"/>
                                        </p:tgtEl>
                                      </p:cMediaNode>
                                    </p:audio>
                                  </p:subTnLst>
                                </p:cTn>
                              </p:par>
                            </p:childTnLst>
                          </p:cTn>
                        </p:par>
                        <p:par>
                          <p:cTn id="13" fill="hold">
                            <p:stCondLst>
                              <p:cond delay="5500"/>
                            </p:stCondLst>
                            <p:childTnLst>
                              <p:par>
                                <p:cTn id="14" presetID="12" presetClass="entr" presetSubtype="8" fill="hold" grpId="0" nodeType="after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slide(fromLeft)">
                                      <p:cBhvr>
                                        <p:cTn id="16" dur="500"/>
                                        <p:tgtEl>
                                          <p:spTgt spid="49"/>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7"/>
                                        </p:tgtEl>
                                        <p:attrNameLst>
                                          <p:attrName>style.visibility</p:attrName>
                                        </p:attrNameLst>
                                      </p:cBhvr>
                                      <p:to>
                                        <p:strVal val="visible"/>
                                      </p:to>
                                    </p:set>
                                    <p:anim calcmode="lin" valueType="num">
                                      <p:cBhvr additive="base">
                                        <p:cTn id="21" dur="500" fill="hold"/>
                                        <p:tgtEl>
                                          <p:spTgt spid="37"/>
                                        </p:tgtEl>
                                        <p:attrNameLst>
                                          <p:attrName>ppt_x</p:attrName>
                                        </p:attrNameLst>
                                      </p:cBhvr>
                                      <p:tavLst>
                                        <p:tav tm="0">
                                          <p:val>
                                            <p:strVal val="#ppt_x"/>
                                          </p:val>
                                        </p:tav>
                                        <p:tav tm="100000">
                                          <p:val>
                                            <p:strVal val="#ppt_x"/>
                                          </p:val>
                                        </p:tav>
                                      </p:tavLst>
                                    </p:anim>
                                    <p:anim calcmode="lin" valueType="num">
                                      <p:cBhvr additive="base">
                                        <p:cTn id="22" dur="500" fill="hold"/>
                                        <p:tgtEl>
                                          <p:spTgt spid="3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1" name="chimes.wav"/>
                                        </p:tgtEl>
                                      </p:cMediaNode>
                                    </p:audio>
                                  </p:sub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wipe(left)">
                                      <p:cBhvr>
                                        <p:cTn id="26" dur="5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slide(fromBottom)">
                                      <p:cBhvr>
                                        <p:cTn id="31" dur="500"/>
                                        <p:tgtEl>
                                          <p:spTgt spid="41"/>
                                        </p:tgtEl>
                                      </p:cBhvr>
                                    </p:animEffect>
                                  </p:childTnLst>
                                  <p:subTnLst>
                                    <p:audio>
                                      <p:cMediaNode>
                                        <p:cTn display="0" masterRel="sameClick">
                                          <p:stCondLst>
                                            <p:cond evt="begin" delay="0">
                                              <p:tn val="29"/>
                                            </p:cond>
                                          </p:stCondLst>
                                          <p:endCondLst>
                                            <p:cond evt="onStopAudio" delay="0">
                                              <p:tgtEl>
                                                <p:sldTgt/>
                                              </p:tgtEl>
                                            </p:cond>
                                          </p:endCondLst>
                                        </p:cTn>
                                        <p:tgtEl>
                                          <p:sndTgt r:embed="rId1" name="chimes.wav"/>
                                        </p:tgtEl>
                                      </p:cMediaNode>
                                    </p:audio>
                                  </p:subTnLst>
                                </p:cTn>
                              </p:par>
                            </p:childTnLst>
                          </p:cTn>
                        </p:par>
                        <p:par>
                          <p:cTn id="32" fill="hold">
                            <p:stCondLst>
                              <p:cond delay="500"/>
                            </p:stCondLst>
                            <p:childTnLst>
                              <p:par>
                                <p:cTn id="33" presetID="22" presetClass="entr" presetSubtype="1" fill="hold" nodeType="after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wipe(up)">
                                      <p:cBhvr>
                                        <p:cTn id="35" dur="500"/>
                                        <p:tgtEl>
                                          <p:spTgt spid="51"/>
                                        </p:tgtEl>
                                      </p:cBhvr>
                                    </p:animEffect>
                                  </p:childTnLst>
                                  <p:subTnLst>
                                    <p:audio>
                                      <p:cMediaNode>
                                        <p:cTn display="0" masterRel="sameClick">
                                          <p:stCondLst>
                                            <p:cond evt="begin" delay="0">
                                              <p:tn val="33"/>
                                            </p:cond>
                                          </p:stCondLst>
                                          <p:endCondLst>
                                            <p:cond evt="onStopAudio" delay="0">
                                              <p:tgtEl>
                                                <p:sldTgt/>
                                              </p:tgtEl>
                                            </p:cond>
                                          </p:endCondLst>
                                        </p:cTn>
                                        <p:tgtEl>
                                          <p:sndTgt r:embed="rId1" name="chimes.wav"/>
                                        </p:tgtEl>
                                      </p:cMediaNode>
                                    </p:audio>
                                  </p:subTnLst>
                                </p:cTn>
                              </p:par>
                            </p:childTnLst>
                          </p:cTn>
                        </p:par>
                        <p:par>
                          <p:cTn id="36" fill="hold">
                            <p:stCondLst>
                              <p:cond delay="1000"/>
                            </p:stCondLst>
                            <p:childTnLst>
                              <p:par>
                                <p:cTn id="37" presetID="22" presetClass="entr" presetSubtype="8" fill="hold" grpId="0" nodeType="after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wipe(left)">
                                      <p:cBhvr>
                                        <p:cTn id="39" dur="500"/>
                                        <p:tgtEl>
                                          <p:spTgt spid="42"/>
                                        </p:tgtEl>
                                      </p:cBhvr>
                                    </p:animEffect>
                                  </p:childTnLst>
                                </p:cTn>
                              </p:par>
                            </p:childTnLst>
                          </p:cTn>
                        </p:par>
                        <p:par>
                          <p:cTn id="40" fill="hold">
                            <p:stCondLst>
                              <p:cond delay="1500"/>
                            </p:stCondLst>
                            <p:childTnLst>
                              <p:par>
                                <p:cTn id="41" presetID="2" presetClass="entr" presetSubtype="3" fill="hold" nodeType="afterEffect">
                                  <p:stCondLst>
                                    <p:cond delay="0"/>
                                  </p:stCondLst>
                                  <p:childTnLst>
                                    <p:set>
                                      <p:cBhvr>
                                        <p:cTn id="42" dur="1" fill="hold">
                                          <p:stCondLst>
                                            <p:cond delay="0"/>
                                          </p:stCondLst>
                                        </p:cTn>
                                        <p:tgtEl>
                                          <p:spTgt spid="43"/>
                                        </p:tgtEl>
                                        <p:attrNameLst>
                                          <p:attrName>style.visibility</p:attrName>
                                        </p:attrNameLst>
                                      </p:cBhvr>
                                      <p:to>
                                        <p:strVal val="visible"/>
                                      </p:to>
                                    </p:set>
                                    <p:anim calcmode="lin" valueType="num">
                                      <p:cBhvr additive="base">
                                        <p:cTn id="43" dur="500" fill="hold"/>
                                        <p:tgtEl>
                                          <p:spTgt spid="43"/>
                                        </p:tgtEl>
                                        <p:attrNameLst>
                                          <p:attrName>ppt_x</p:attrName>
                                        </p:attrNameLst>
                                      </p:cBhvr>
                                      <p:tavLst>
                                        <p:tav tm="0">
                                          <p:val>
                                            <p:strVal val="1+#ppt_w/2"/>
                                          </p:val>
                                        </p:tav>
                                        <p:tav tm="100000">
                                          <p:val>
                                            <p:strVal val="#ppt_x"/>
                                          </p:val>
                                        </p:tav>
                                      </p:tavLst>
                                    </p:anim>
                                    <p:anim calcmode="lin" valueType="num">
                                      <p:cBhvr additive="base">
                                        <p:cTn id="44" dur="500" fill="hold"/>
                                        <p:tgtEl>
                                          <p:spTgt spid="43"/>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1" name="chimes.wav"/>
                                        </p:tgtEl>
                                      </p:cMediaNode>
                                    </p:audio>
                                  </p:subTnLst>
                                </p:cTn>
                              </p:par>
                            </p:childTnLst>
                          </p:cTn>
                        </p:par>
                        <p:par>
                          <p:cTn id="45" fill="hold">
                            <p:stCondLst>
                              <p:cond delay="2000"/>
                            </p:stCondLst>
                            <p:childTnLst>
                              <p:par>
                                <p:cTn id="46" presetID="2" presetClass="entr" presetSubtype="3" fill="hold" nodeType="afterEffect">
                                  <p:stCondLst>
                                    <p:cond delay="0"/>
                                  </p:stCondLst>
                                  <p:childTnLst>
                                    <p:set>
                                      <p:cBhvr>
                                        <p:cTn id="47" dur="1" fill="hold">
                                          <p:stCondLst>
                                            <p:cond delay="0"/>
                                          </p:stCondLst>
                                        </p:cTn>
                                        <p:tgtEl>
                                          <p:spTgt spid="44"/>
                                        </p:tgtEl>
                                        <p:attrNameLst>
                                          <p:attrName>style.visibility</p:attrName>
                                        </p:attrNameLst>
                                      </p:cBhvr>
                                      <p:to>
                                        <p:strVal val="visible"/>
                                      </p:to>
                                    </p:set>
                                    <p:anim calcmode="lin" valueType="num">
                                      <p:cBhvr additive="base">
                                        <p:cTn id="48" dur="500" fill="hold"/>
                                        <p:tgtEl>
                                          <p:spTgt spid="44"/>
                                        </p:tgtEl>
                                        <p:attrNameLst>
                                          <p:attrName>ppt_x</p:attrName>
                                        </p:attrNameLst>
                                      </p:cBhvr>
                                      <p:tavLst>
                                        <p:tav tm="0">
                                          <p:val>
                                            <p:strVal val="1+#ppt_w/2"/>
                                          </p:val>
                                        </p:tav>
                                        <p:tav tm="100000">
                                          <p:val>
                                            <p:strVal val="#ppt_x"/>
                                          </p:val>
                                        </p:tav>
                                      </p:tavLst>
                                    </p:anim>
                                    <p:anim calcmode="lin" valueType="num">
                                      <p:cBhvr additive="base">
                                        <p:cTn id="49" dur="500" fill="hold"/>
                                        <p:tgtEl>
                                          <p:spTgt spid="44"/>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46"/>
                                            </p:cond>
                                          </p:stCondLst>
                                          <p:endCondLst>
                                            <p:cond evt="onStopAudio" delay="0">
                                              <p:tgtEl>
                                                <p:sldTgt/>
                                              </p:tgtEl>
                                            </p:cond>
                                          </p:endCondLst>
                                        </p:cTn>
                                        <p:tgtEl>
                                          <p:sndTgt r:embed="rId2" name="projctor.wav"/>
                                        </p:tgtEl>
                                      </p:cMediaNode>
                                    </p:audio>
                                  </p:subTnLst>
                                </p:cTn>
                              </p:par>
                            </p:childTnLst>
                          </p:cTn>
                        </p:par>
                        <p:par>
                          <p:cTn id="50" fill="hold">
                            <p:stCondLst>
                              <p:cond delay="2500"/>
                            </p:stCondLst>
                            <p:childTnLst>
                              <p:par>
                                <p:cTn id="51" presetID="22" presetClass="entr" presetSubtype="8" fill="hold" grpId="0" nodeType="afterEffect">
                                  <p:stCondLst>
                                    <p:cond delay="2000"/>
                                  </p:stCondLst>
                                  <p:childTnLst>
                                    <p:set>
                                      <p:cBhvr>
                                        <p:cTn id="52" dur="1" fill="hold">
                                          <p:stCondLst>
                                            <p:cond delay="0"/>
                                          </p:stCondLst>
                                        </p:cTn>
                                        <p:tgtEl>
                                          <p:spTgt spid="47"/>
                                        </p:tgtEl>
                                        <p:attrNameLst>
                                          <p:attrName>style.visibility</p:attrName>
                                        </p:attrNameLst>
                                      </p:cBhvr>
                                      <p:to>
                                        <p:strVal val="visible"/>
                                      </p:to>
                                    </p:set>
                                    <p:animEffect transition="in" filter="wipe(left)">
                                      <p:cBhvr>
                                        <p:cTn id="53"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autoUpdateAnimBg="0"/>
      <p:bldP spid="47" grpId="0" autoUpdateAnimBg="0"/>
      <p:bldP spid="49"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线性规划问题的图解法</a:t>
            </a:r>
            <a:r>
              <a:rPr lang="en-US" altLang="zh-CN" dirty="0"/>
              <a:t> – </a:t>
            </a:r>
            <a:r>
              <a:rPr lang="zh-CN" altLang="en-US" dirty="0"/>
              <a:t>无穷多个最优解</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例</a:t>
                </a:r>
                <a:r>
                  <a:rPr lang="en-US" altLang="zh-CN" dirty="0"/>
                  <a:t>1</a:t>
                </a:r>
                <a:r>
                  <a:rPr lang="zh-CN" altLang="en-US" dirty="0"/>
                  <a:t>目标函数变为</a:t>
                </a:r>
                <a14:m>
                  <m:oMath xmlns:m="http://schemas.openxmlformats.org/officeDocument/2006/math">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max</m:t>
                        </m:r>
                      </m:fName>
                      <m:e>
                        <m:r>
                          <a:rPr lang="en-US" altLang="zh-CN" b="0" i="1" smtClean="0">
                            <a:latin typeface="Cambria Math" panose="02040503050406030204" pitchFamily="18" charset="0"/>
                          </a:rPr>
                          <m:t>𝑍</m:t>
                        </m:r>
                        <m:r>
                          <a:rPr lang="en-US" altLang="zh-CN" b="0" i="1" smtClean="0">
                            <a:latin typeface="Cambria Math" panose="02040503050406030204" pitchFamily="18" charset="0"/>
                          </a:rPr>
                          <m:t>=</m:t>
                        </m:r>
                        <m:r>
                          <a:rPr lang="en-US" altLang="zh-CN" b="0" i="1" smtClean="0">
                            <a:latin typeface="Cambria Math" panose="02040503050406030204" pitchFamily="18" charset="0"/>
                          </a:rPr>
                          <m:t>50</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50</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e>
                    </m:func>
                    <m:r>
                      <a:rPr lang="zh-CN" altLang="en-US" i="1">
                        <a:latin typeface="Cambria Math" panose="02040503050406030204" pitchFamily="18" charset="0"/>
                      </a:rPr>
                      <m:t>：</m:t>
                    </m:r>
                  </m:oMath>
                </a14:m>
                <a:endParaRPr lang="en-US" altLang="zh-CN" dirty="0"/>
              </a:p>
              <a:p>
                <a:pPr marL="0" indent="0">
                  <a:buNone/>
                </a:pPr>
                <a:endParaRPr lang="en-US" altLang="zh-CN"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grpSp>
        <p:nvGrpSpPr>
          <p:cNvPr id="4" name="Group 4"/>
          <p:cNvGrpSpPr/>
          <p:nvPr/>
        </p:nvGrpSpPr>
        <p:grpSpPr bwMode="auto">
          <a:xfrm>
            <a:off x="6629400" y="5567363"/>
            <a:ext cx="3352800" cy="546100"/>
            <a:chOff x="3360" y="3120"/>
            <a:chExt cx="2112" cy="344"/>
          </a:xfrm>
        </p:grpSpPr>
        <p:sp>
          <p:nvSpPr>
            <p:cNvPr id="5" name="Text Box 5"/>
            <p:cNvSpPr txBox="1">
              <a:spLocks noChangeArrowheads="1"/>
            </p:cNvSpPr>
            <p:nvPr/>
          </p:nvSpPr>
          <p:spPr bwMode="auto">
            <a:xfrm>
              <a:off x="4128" y="3168"/>
              <a:ext cx="1344" cy="296"/>
            </a:xfrm>
            <a:prstGeom prst="rect">
              <a:avLst/>
            </a:prstGeom>
            <a:noFill/>
            <a:ln w="12700">
              <a:solidFill>
                <a:srgbClr val="0000FF"/>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a:latin typeface="Times New Roman" panose="02020603050405020304" pitchFamily="18" charset="0"/>
                </a:rPr>
                <a:t>X</a:t>
              </a:r>
              <a:r>
                <a:rPr lang="en-US" altLang="zh-CN" b="1" baseline="-25000">
                  <a:latin typeface="Times New Roman" panose="02020603050405020304" pitchFamily="18" charset="0"/>
                </a:rPr>
                <a:t>1</a:t>
              </a:r>
              <a:r>
                <a:rPr lang="en-US" altLang="zh-CN" b="1">
                  <a:latin typeface="Times New Roman" panose="02020603050405020304" pitchFamily="18" charset="0"/>
                </a:rPr>
                <a:t>+X</a:t>
              </a:r>
              <a:r>
                <a:rPr lang="en-US" altLang="zh-CN" b="1" baseline="-25000">
                  <a:latin typeface="Times New Roman" panose="02020603050405020304" pitchFamily="18" charset="0"/>
                </a:rPr>
                <a:t>2</a:t>
              </a:r>
              <a:r>
                <a:rPr lang="en-US" altLang="zh-CN" b="1">
                  <a:latin typeface="Times New Roman" panose="02020603050405020304" pitchFamily="18" charset="0"/>
                </a:rPr>
                <a:t>=300</a:t>
              </a:r>
              <a:endParaRPr lang="en-US" altLang="zh-CN" b="1">
                <a:latin typeface="Times New Roman" panose="02020603050405020304" pitchFamily="18" charset="0"/>
              </a:endParaRPr>
            </a:p>
          </p:txBody>
        </p:sp>
        <p:sp>
          <p:nvSpPr>
            <p:cNvPr id="6" name="Line 6"/>
            <p:cNvSpPr>
              <a:spLocks noChangeShapeType="1"/>
            </p:cNvSpPr>
            <p:nvPr/>
          </p:nvSpPr>
          <p:spPr bwMode="auto">
            <a:xfrm flipH="1" flipV="1">
              <a:off x="3360" y="3120"/>
              <a:ext cx="768" cy="144"/>
            </a:xfrm>
            <a:prstGeom prst="line">
              <a:avLst/>
            </a:prstGeom>
            <a:noFill/>
            <a:ln w="12700">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7" name="Line 7"/>
          <p:cNvSpPr>
            <a:spLocks noChangeShapeType="1"/>
          </p:cNvSpPr>
          <p:nvPr/>
        </p:nvSpPr>
        <p:spPr bwMode="auto">
          <a:xfrm>
            <a:off x="3581400" y="5262563"/>
            <a:ext cx="4343400" cy="0"/>
          </a:xfrm>
          <a:prstGeom prst="line">
            <a:avLst/>
          </a:prstGeom>
          <a:noFill/>
          <a:ln w="47625">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 name="Line 8"/>
          <p:cNvSpPr>
            <a:spLocks noChangeShapeType="1"/>
          </p:cNvSpPr>
          <p:nvPr/>
        </p:nvSpPr>
        <p:spPr bwMode="auto">
          <a:xfrm flipV="1">
            <a:off x="4419600" y="2595563"/>
            <a:ext cx="0" cy="3048000"/>
          </a:xfrm>
          <a:prstGeom prst="line">
            <a:avLst/>
          </a:prstGeom>
          <a:noFill/>
          <a:ln w="47625">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 name="Line 9"/>
          <p:cNvSpPr>
            <a:spLocks noChangeShapeType="1"/>
          </p:cNvSpPr>
          <p:nvPr/>
        </p:nvSpPr>
        <p:spPr bwMode="auto">
          <a:xfrm>
            <a:off x="4419600" y="4043363"/>
            <a:ext cx="228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 name="Line 10"/>
          <p:cNvSpPr>
            <a:spLocks noChangeShapeType="1"/>
          </p:cNvSpPr>
          <p:nvPr/>
        </p:nvSpPr>
        <p:spPr bwMode="auto">
          <a:xfrm>
            <a:off x="4419600" y="3433763"/>
            <a:ext cx="304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1" name="Line 11"/>
          <p:cNvSpPr>
            <a:spLocks noChangeShapeType="1"/>
          </p:cNvSpPr>
          <p:nvPr/>
        </p:nvSpPr>
        <p:spPr bwMode="auto">
          <a:xfrm>
            <a:off x="4419600" y="2824163"/>
            <a:ext cx="228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2" name="Text Box 12"/>
          <p:cNvSpPr txBox="1">
            <a:spLocks noChangeArrowheads="1"/>
          </p:cNvSpPr>
          <p:nvPr/>
        </p:nvSpPr>
        <p:spPr bwMode="auto">
          <a:xfrm>
            <a:off x="3505200" y="4424363"/>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100</a:t>
            </a:r>
            <a:endParaRPr lang="en-US" altLang="zh-CN"/>
          </a:p>
        </p:txBody>
      </p:sp>
      <p:sp>
        <p:nvSpPr>
          <p:cNvPr id="13" name="Text Box 13"/>
          <p:cNvSpPr txBox="1">
            <a:spLocks noChangeArrowheads="1"/>
          </p:cNvSpPr>
          <p:nvPr/>
        </p:nvSpPr>
        <p:spPr bwMode="auto">
          <a:xfrm>
            <a:off x="3429000" y="2595563"/>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400</a:t>
            </a:r>
            <a:endParaRPr lang="en-US" altLang="zh-CN"/>
          </a:p>
        </p:txBody>
      </p:sp>
      <p:sp>
        <p:nvSpPr>
          <p:cNvPr id="14" name="Text Box 14"/>
          <p:cNvSpPr txBox="1">
            <a:spLocks noChangeArrowheads="1"/>
          </p:cNvSpPr>
          <p:nvPr/>
        </p:nvSpPr>
        <p:spPr bwMode="auto">
          <a:xfrm>
            <a:off x="4724400" y="4805363"/>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100</a:t>
            </a:r>
            <a:endParaRPr lang="en-US" altLang="zh-CN"/>
          </a:p>
        </p:txBody>
      </p:sp>
      <p:sp>
        <p:nvSpPr>
          <p:cNvPr id="15" name="Text Box 15"/>
          <p:cNvSpPr txBox="1">
            <a:spLocks noChangeArrowheads="1"/>
          </p:cNvSpPr>
          <p:nvPr/>
        </p:nvSpPr>
        <p:spPr bwMode="auto">
          <a:xfrm>
            <a:off x="6096000" y="4805363"/>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300</a:t>
            </a:r>
            <a:endParaRPr lang="en-US" altLang="zh-CN"/>
          </a:p>
        </p:txBody>
      </p:sp>
      <p:sp>
        <p:nvSpPr>
          <p:cNvPr id="16" name="Text Box 16"/>
          <p:cNvSpPr txBox="1">
            <a:spLocks noChangeArrowheads="1"/>
          </p:cNvSpPr>
          <p:nvPr/>
        </p:nvSpPr>
        <p:spPr bwMode="auto">
          <a:xfrm>
            <a:off x="7543800" y="4729163"/>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x</a:t>
            </a:r>
            <a:r>
              <a:rPr lang="en-US" altLang="zh-CN" baseline="-25000"/>
              <a:t>1</a:t>
            </a:r>
            <a:endParaRPr lang="en-US" altLang="zh-CN"/>
          </a:p>
        </p:txBody>
      </p:sp>
      <p:sp>
        <p:nvSpPr>
          <p:cNvPr id="17" name="Text Box 17"/>
          <p:cNvSpPr txBox="1">
            <a:spLocks noChangeArrowheads="1"/>
          </p:cNvSpPr>
          <p:nvPr/>
        </p:nvSpPr>
        <p:spPr bwMode="auto">
          <a:xfrm>
            <a:off x="4724400" y="2443163"/>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x</a:t>
            </a:r>
            <a:r>
              <a:rPr lang="en-US" altLang="zh-CN" baseline="-25000"/>
              <a:t>2</a:t>
            </a:r>
            <a:endParaRPr lang="en-US" altLang="zh-CN"/>
          </a:p>
        </p:txBody>
      </p:sp>
      <p:sp>
        <p:nvSpPr>
          <p:cNvPr id="18" name="Line 18"/>
          <p:cNvSpPr>
            <a:spLocks noChangeShapeType="1"/>
          </p:cNvSpPr>
          <p:nvPr/>
        </p:nvSpPr>
        <p:spPr bwMode="auto">
          <a:xfrm>
            <a:off x="5029200" y="5262563"/>
            <a:ext cx="0" cy="76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 name="Line 19"/>
          <p:cNvSpPr>
            <a:spLocks noChangeShapeType="1"/>
          </p:cNvSpPr>
          <p:nvPr/>
        </p:nvSpPr>
        <p:spPr bwMode="auto">
          <a:xfrm>
            <a:off x="6248400" y="5186363"/>
            <a:ext cx="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0" name="Line 20"/>
          <p:cNvSpPr>
            <a:spLocks noChangeShapeType="1"/>
          </p:cNvSpPr>
          <p:nvPr/>
        </p:nvSpPr>
        <p:spPr bwMode="auto">
          <a:xfrm>
            <a:off x="4419600" y="4652963"/>
            <a:ext cx="152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21"/>
          <p:cNvSpPr>
            <a:spLocks noChangeShapeType="1"/>
          </p:cNvSpPr>
          <p:nvPr/>
        </p:nvSpPr>
        <p:spPr bwMode="auto">
          <a:xfrm>
            <a:off x="3124200" y="3738563"/>
            <a:ext cx="5410200" cy="0"/>
          </a:xfrm>
          <a:prstGeom prst="line">
            <a:avLst/>
          </a:prstGeom>
          <a:noFill/>
          <a:ln w="31750">
            <a:solidFill>
              <a:srgbClr val="00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22"/>
          <p:cNvSpPr>
            <a:spLocks noChangeShapeType="1"/>
          </p:cNvSpPr>
          <p:nvPr/>
        </p:nvSpPr>
        <p:spPr bwMode="auto">
          <a:xfrm>
            <a:off x="4038600" y="3052763"/>
            <a:ext cx="2895600" cy="2895600"/>
          </a:xfrm>
          <a:prstGeom prst="line">
            <a:avLst/>
          </a:prstGeom>
          <a:noFill/>
          <a:ln w="31750">
            <a:solidFill>
              <a:srgbClr val="00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23"/>
          <p:cNvSpPr>
            <a:spLocks noChangeShapeType="1"/>
          </p:cNvSpPr>
          <p:nvPr/>
        </p:nvSpPr>
        <p:spPr bwMode="auto">
          <a:xfrm>
            <a:off x="4191000" y="2366963"/>
            <a:ext cx="1905000" cy="3810000"/>
          </a:xfrm>
          <a:prstGeom prst="line">
            <a:avLst/>
          </a:prstGeom>
          <a:noFill/>
          <a:ln w="31750">
            <a:solidFill>
              <a:srgbClr val="00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4" name="Line 24"/>
          <p:cNvSpPr>
            <a:spLocks noChangeShapeType="1"/>
          </p:cNvSpPr>
          <p:nvPr/>
        </p:nvSpPr>
        <p:spPr bwMode="auto">
          <a:xfrm flipH="1">
            <a:off x="4419600" y="3738563"/>
            <a:ext cx="152400" cy="2286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5" name="Line 25"/>
          <p:cNvSpPr>
            <a:spLocks noChangeShapeType="1"/>
          </p:cNvSpPr>
          <p:nvPr/>
        </p:nvSpPr>
        <p:spPr bwMode="auto">
          <a:xfrm flipH="1">
            <a:off x="4419600" y="3814763"/>
            <a:ext cx="304800" cy="6096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6" name="Line 26"/>
          <p:cNvSpPr>
            <a:spLocks noChangeShapeType="1"/>
          </p:cNvSpPr>
          <p:nvPr/>
        </p:nvSpPr>
        <p:spPr bwMode="auto">
          <a:xfrm flipH="1">
            <a:off x="4419600" y="3967163"/>
            <a:ext cx="533400" cy="9144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7" name="Line 27"/>
          <p:cNvSpPr>
            <a:spLocks noChangeShapeType="1"/>
          </p:cNvSpPr>
          <p:nvPr/>
        </p:nvSpPr>
        <p:spPr bwMode="auto">
          <a:xfrm flipH="1">
            <a:off x="4572000" y="4271963"/>
            <a:ext cx="533400" cy="9906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8" name="Line 28"/>
          <p:cNvSpPr>
            <a:spLocks noChangeShapeType="1"/>
          </p:cNvSpPr>
          <p:nvPr/>
        </p:nvSpPr>
        <p:spPr bwMode="auto">
          <a:xfrm flipH="1">
            <a:off x="4876800" y="4500563"/>
            <a:ext cx="381000" cy="7620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9" name="Line 29"/>
          <p:cNvSpPr>
            <a:spLocks noChangeShapeType="1"/>
          </p:cNvSpPr>
          <p:nvPr/>
        </p:nvSpPr>
        <p:spPr bwMode="auto">
          <a:xfrm flipH="1">
            <a:off x="5105400" y="4729163"/>
            <a:ext cx="228600" cy="5334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0" name="Line 30"/>
          <p:cNvSpPr>
            <a:spLocks noChangeShapeType="1"/>
          </p:cNvSpPr>
          <p:nvPr/>
        </p:nvSpPr>
        <p:spPr bwMode="auto">
          <a:xfrm flipH="1">
            <a:off x="5334000" y="4957763"/>
            <a:ext cx="152400" cy="3048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40" name="Text Box 42"/>
          <p:cNvSpPr txBox="1">
            <a:spLocks noChangeArrowheads="1"/>
          </p:cNvSpPr>
          <p:nvPr/>
        </p:nvSpPr>
        <p:spPr bwMode="auto">
          <a:xfrm>
            <a:off x="7010399" y="2576513"/>
            <a:ext cx="3276600" cy="476250"/>
          </a:xfrm>
          <a:prstGeom prst="rect">
            <a:avLst/>
          </a:prstGeom>
          <a:noFill/>
          <a:ln w="19050">
            <a:solidFill>
              <a:srgbClr val="FF99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a:latin typeface="Times New Roman" panose="02020603050405020304" pitchFamily="18" charset="0"/>
              </a:rPr>
              <a:t>Z=15000=50x</a:t>
            </a:r>
            <a:r>
              <a:rPr lang="en-US" altLang="zh-CN" b="1" baseline="-25000">
                <a:latin typeface="Times New Roman" panose="02020603050405020304" pitchFamily="18" charset="0"/>
              </a:rPr>
              <a:t>1</a:t>
            </a:r>
            <a:r>
              <a:rPr lang="en-US" altLang="zh-CN" b="1">
                <a:latin typeface="Times New Roman" panose="02020603050405020304" pitchFamily="18" charset="0"/>
              </a:rPr>
              <a:t>+50x</a:t>
            </a:r>
            <a:r>
              <a:rPr lang="en-US" altLang="zh-CN" b="1" baseline="-25000">
                <a:latin typeface="Times New Roman" panose="02020603050405020304" pitchFamily="18" charset="0"/>
              </a:rPr>
              <a:t>2</a:t>
            </a:r>
            <a:endParaRPr lang="en-US" altLang="zh-CN" b="1">
              <a:latin typeface="Times New Roman" panose="02020603050405020304" pitchFamily="18" charset="0"/>
            </a:endParaRPr>
          </a:p>
        </p:txBody>
      </p:sp>
      <p:sp>
        <p:nvSpPr>
          <p:cNvPr id="41" name="Line 43"/>
          <p:cNvSpPr>
            <a:spLocks noChangeShapeType="1"/>
          </p:cNvSpPr>
          <p:nvPr/>
        </p:nvSpPr>
        <p:spPr bwMode="auto">
          <a:xfrm flipH="1">
            <a:off x="5333999" y="3116263"/>
            <a:ext cx="1676395" cy="1155700"/>
          </a:xfrm>
          <a:prstGeom prst="line">
            <a:avLst/>
          </a:prstGeom>
          <a:noFill/>
          <a:ln w="19050">
            <a:solidFill>
              <a:srgbClr val="FF9900"/>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42" name="Group 44"/>
          <p:cNvGrpSpPr/>
          <p:nvPr/>
        </p:nvGrpSpPr>
        <p:grpSpPr bwMode="auto">
          <a:xfrm>
            <a:off x="4724400" y="3128963"/>
            <a:ext cx="914400" cy="609600"/>
            <a:chOff x="2112" y="1536"/>
            <a:chExt cx="576" cy="384"/>
          </a:xfrm>
        </p:grpSpPr>
        <p:sp>
          <p:nvSpPr>
            <p:cNvPr id="43" name="Text Box 45"/>
            <p:cNvSpPr txBox="1">
              <a:spLocks noChangeArrowheads="1"/>
            </p:cNvSpPr>
            <p:nvPr/>
          </p:nvSpPr>
          <p:spPr bwMode="auto">
            <a:xfrm>
              <a:off x="2400" y="1536"/>
              <a:ext cx="288" cy="296"/>
            </a:xfrm>
            <a:prstGeom prst="rect">
              <a:avLst/>
            </a:prstGeom>
            <a:noFill/>
            <a:ln w="12700">
              <a:solidFill>
                <a:srgbClr val="0000FF"/>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B</a:t>
              </a:r>
              <a:endParaRPr lang="en-US" altLang="zh-CN"/>
            </a:p>
          </p:txBody>
        </p:sp>
        <p:sp>
          <p:nvSpPr>
            <p:cNvPr id="44" name="Line 46"/>
            <p:cNvSpPr>
              <a:spLocks noChangeShapeType="1"/>
            </p:cNvSpPr>
            <p:nvPr/>
          </p:nvSpPr>
          <p:spPr bwMode="auto">
            <a:xfrm flipH="1">
              <a:off x="2112" y="1776"/>
              <a:ext cx="240" cy="144"/>
            </a:xfrm>
            <a:prstGeom prst="line">
              <a:avLst/>
            </a:prstGeom>
            <a:noFill/>
            <a:ln w="12700">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45" name="Rectangle 48"/>
          <p:cNvSpPr>
            <a:spLocks noChangeArrowheads="1"/>
          </p:cNvSpPr>
          <p:nvPr/>
        </p:nvSpPr>
        <p:spPr bwMode="auto">
          <a:xfrm>
            <a:off x="2971800" y="5948363"/>
            <a:ext cx="2176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a:latin typeface="Times New Roman" panose="02020603050405020304" pitchFamily="18" charset="0"/>
              </a:rPr>
              <a:t>Z=0=50x</a:t>
            </a:r>
            <a:r>
              <a:rPr lang="en-US" altLang="zh-CN" b="1" baseline="-25000">
                <a:latin typeface="Times New Roman" panose="02020603050405020304" pitchFamily="18" charset="0"/>
              </a:rPr>
              <a:t>1</a:t>
            </a:r>
            <a:r>
              <a:rPr lang="en-US" altLang="zh-CN" b="1">
                <a:latin typeface="Times New Roman" panose="02020603050405020304" pitchFamily="18" charset="0"/>
              </a:rPr>
              <a:t>+50x</a:t>
            </a:r>
            <a:r>
              <a:rPr lang="en-US" altLang="zh-CN" b="1" baseline="-25000">
                <a:latin typeface="Times New Roman" panose="02020603050405020304" pitchFamily="18" charset="0"/>
              </a:rPr>
              <a:t>2</a:t>
            </a:r>
            <a:endParaRPr lang="en-US" altLang="zh-CN" b="1" baseline="-25000">
              <a:latin typeface="Times New Roman" panose="02020603050405020304" pitchFamily="18" charset="0"/>
            </a:endParaRPr>
          </a:p>
        </p:txBody>
      </p:sp>
      <p:sp>
        <p:nvSpPr>
          <p:cNvPr id="46" name="Line 49"/>
          <p:cNvSpPr>
            <a:spLocks noChangeShapeType="1"/>
          </p:cNvSpPr>
          <p:nvPr/>
        </p:nvSpPr>
        <p:spPr bwMode="auto">
          <a:xfrm flipV="1">
            <a:off x="4343400" y="5643563"/>
            <a:ext cx="381000" cy="3810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7" name="Line 50"/>
          <p:cNvSpPr>
            <a:spLocks noChangeShapeType="1"/>
          </p:cNvSpPr>
          <p:nvPr/>
        </p:nvSpPr>
        <p:spPr bwMode="auto">
          <a:xfrm>
            <a:off x="2819400" y="3662363"/>
            <a:ext cx="2590800" cy="2590800"/>
          </a:xfrm>
          <a:prstGeom prst="line">
            <a:avLst/>
          </a:prstGeom>
          <a:noFill/>
          <a:ln w="31750">
            <a:solidFill>
              <a:srgbClr val="0000FF"/>
            </a:solidFill>
            <a:prstDash val="sysDot"/>
            <a:round/>
          </a:ln>
          <a:extLst>
            <a:ext uri="{909E8E84-426E-40DD-AFC4-6F175D3DCCD1}">
              <a14:hiddenFill xmlns:a14="http://schemas.microsoft.com/office/drawing/2010/main">
                <a:noFill/>
              </a14:hiddenFill>
            </a:ext>
          </a:extLst>
        </p:spPr>
        <p:txBody>
          <a:bodyPr wrap="none"/>
          <a:lstStyle/>
          <a:p>
            <a:endParaRPr lang="zh-CN" altLang="en-US"/>
          </a:p>
        </p:txBody>
      </p:sp>
      <p:sp>
        <p:nvSpPr>
          <p:cNvPr id="49" name="Line 52"/>
          <p:cNvSpPr>
            <a:spLocks noChangeShapeType="1"/>
          </p:cNvSpPr>
          <p:nvPr/>
        </p:nvSpPr>
        <p:spPr bwMode="auto">
          <a:xfrm>
            <a:off x="3810000" y="2824163"/>
            <a:ext cx="3733800" cy="3733800"/>
          </a:xfrm>
          <a:prstGeom prst="line">
            <a:avLst/>
          </a:prstGeom>
          <a:noFill/>
          <a:ln w="31750">
            <a:solidFill>
              <a:srgbClr val="0000FF"/>
            </a:solidFill>
            <a:prstDash val="sysDot"/>
            <a:round/>
          </a:ln>
          <a:extLst>
            <a:ext uri="{909E8E84-426E-40DD-AFC4-6F175D3DCCD1}">
              <a14:hiddenFill xmlns:a14="http://schemas.microsoft.com/office/drawing/2010/main">
                <a:noFill/>
              </a14:hiddenFill>
            </a:ext>
          </a:extLst>
        </p:spPr>
        <p:txBody>
          <a:bodyPr wrap="none"/>
          <a:lstStyle/>
          <a:p>
            <a:endParaRPr lang="zh-CN" altLang="en-US"/>
          </a:p>
        </p:txBody>
      </p:sp>
      <p:sp>
        <p:nvSpPr>
          <p:cNvPr id="50" name="Line 53"/>
          <p:cNvSpPr>
            <a:spLocks noChangeShapeType="1"/>
          </p:cNvSpPr>
          <p:nvPr/>
        </p:nvSpPr>
        <p:spPr bwMode="auto">
          <a:xfrm>
            <a:off x="3962400" y="2976563"/>
            <a:ext cx="2971800" cy="2971800"/>
          </a:xfrm>
          <a:prstGeom prst="line">
            <a:avLst/>
          </a:prstGeom>
          <a:noFill/>
          <a:ln w="47625">
            <a:solidFill>
              <a:srgbClr val="008000"/>
            </a:solidFill>
            <a:round/>
          </a:ln>
          <a:extLst>
            <a:ext uri="{909E8E84-426E-40DD-AFC4-6F175D3DCCD1}">
              <a14:hiddenFill xmlns:a14="http://schemas.microsoft.com/office/drawing/2010/main">
                <a:noFill/>
              </a14:hiddenFill>
            </a:ext>
          </a:extLst>
        </p:spPr>
        <p:txBody>
          <a:bodyPr wrap="none"/>
          <a:lstStyle/>
          <a:p>
            <a:endParaRPr lang="zh-CN" altLang="en-US"/>
          </a:p>
        </p:txBody>
      </p:sp>
      <p:grpSp>
        <p:nvGrpSpPr>
          <p:cNvPr id="51" name="Group 44"/>
          <p:cNvGrpSpPr/>
          <p:nvPr/>
        </p:nvGrpSpPr>
        <p:grpSpPr bwMode="auto">
          <a:xfrm>
            <a:off x="5073650" y="3433763"/>
            <a:ext cx="914400" cy="609600"/>
            <a:chOff x="2112" y="1536"/>
            <a:chExt cx="576" cy="384"/>
          </a:xfrm>
        </p:grpSpPr>
        <p:sp>
          <p:nvSpPr>
            <p:cNvPr id="52" name="Text Box 45"/>
            <p:cNvSpPr txBox="1">
              <a:spLocks noChangeArrowheads="1"/>
            </p:cNvSpPr>
            <p:nvPr/>
          </p:nvSpPr>
          <p:spPr bwMode="auto">
            <a:xfrm>
              <a:off x="2400" y="1536"/>
              <a:ext cx="288" cy="296"/>
            </a:xfrm>
            <a:prstGeom prst="rect">
              <a:avLst/>
            </a:prstGeom>
            <a:noFill/>
            <a:ln w="12700">
              <a:solidFill>
                <a:srgbClr val="0000FF"/>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C</a:t>
              </a:r>
              <a:endParaRPr lang="en-US" altLang="zh-CN"/>
            </a:p>
          </p:txBody>
        </p:sp>
        <p:sp>
          <p:nvSpPr>
            <p:cNvPr id="53" name="Line 46"/>
            <p:cNvSpPr>
              <a:spLocks noChangeShapeType="1"/>
            </p:cNvSpPr>
            <p:nvPr/>
          </p:nvSpPr>
          <p:spPr bwMode="auto">
            <a:xfrm flipH="1">
              <a:off x="2112" y="1776"/>
              <a:ext cx="240" cy="144"/>
            </a:xfrm>
            <a:prstGeom prst="line">
              <a:avLst/>
            </a:prstGeom>
            <a:noFill/>
            <a:ln w="12700">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1" name="Group 44"/>
          <p:cNvGrpSpPr/>
          <p:nvPr/>
        </p:nvGrpSpPr>
        <p:grpSpPr bwMode="auto">
          <a:xfrm>
            <a:off x="3277235" y="3148648"/>
            <a:ext cx="1068388" cy="546100"/>
            <a:chOff x="2150" y="1536"/>
            <a:chExt cx="673" cy="344"/>
          </a:xfrm>
        </p:grpSpPr>
        <p:sp>
          <p:nvSpPr>
            <p:cNvPr id="32" name="Text Box 45"/>
            <p:cNvSpPr txBox="1">
              <a:spLocks noChangeArrowheads="1"/>
            </p:cNvSpPr>
            <p:nvPr/>
          </p:nvSpPr>
          <p:spPr bwMode="auto">
            <a:xfrm>
              <a:off x="2150" y="1536"/>
              <a:ext cx="288" cy="290"/>
            </a:xfrm>
            <a:prstGeom prst="rect">
              <a:avLst/>
            </a:prstGeom>
            <a:noFill/>
            <a:ln w="12700">
              <a:solidFill>
                <a:srgbClr val="0000FF"/>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A</a:t>
              </a:r>
              <a:endParaRPr lang="en-US" altLang="zh-CN"/>
            </a:p>
          </p:txBody>
        </p:sp>
        <p:sp>
          <p:nvSpPr>
            <p:cNvPr id="33" name="Line 46"/>
            <p:cNvSpPr>
              <a:spLocks noChangeShapeType="1"/>
            </p:cNvSpPr>
            <p:nvPr/>
          </p:nvSpPr>
          <p:spPr bwMode="auto">
            <a:xfrm>
              <a:off x="2501" y="1775"/>
              <a:ext cx="322" cy="105"/>
            </a:xfrm>
            <a:prstGeom prst="line">
              <a:avLst/>
            </a:prstGeom>
            <a:noFill/>
            <a:ln w="12700">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4" name="Group 44"/>
          <p:cNvGrpSpPr/>
          <p:nvPr/>
        </p:nvGrpSpPr>
        <p:grpSpPr bwMode="auto">
          <a:xfrm>
            <a:off x="5281295" y="5338763"/>
            <a:ext cx="457200" cy="754063"/>
            <a:chOff x="2230" y="1416"/>
            <a:chExt cx="288" cy="475"/>
          </a:xfrm>
        </p:grpSpPr>
        <p:sp>
          <p:nvSpPr>
            <p:cNvPr id="35" name="Text Box 45"/>
            <p:cNvSpPr txBox="1">
              <a:spLocks noChangeArrowheads="1"/>
            </p:cNvSpPr>
            <p:nvPr/>
          </p:nvSpPr>
          <p:spPr bwMode="auto">
            <a:xfrm>
              <a:off x="2230" y="1601"/>
              <a:ext cx="288" cy="290"/>
            </a:xfrm>
            <a:prstGeom prst="rect">
              <a:avLst/>
            </a:prstGeom>
            <a:noFill/>
            <a:ln w="12700">
              <a:solidFill>
                <a:srgbClr val="0000FF"/>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D</a:t>
              </a:r>
              <a:endParaRPr lang="en-US" altLang="zh-CN"/>
            </a:p>
          </p:txBody>
        </p:sp>
        <p:sp>
          <p:nvSpPr>
            <p:cNvPr id="36" name="Line 46"/>
            <p:cNvSpPr>
              <a:spLocks noChangeShapeType="1"/>
            </p:cNvSpPr>
            <p:nvPr/>
          </p:nvSpPr>
          <p:spPr bwMode="auto">
            <a:xfrm flipV="1">
              <a:off x="2340" y="1416"/>
              <a:ext cx="116" cy="184"/>
            </a:xfrm>
            <a:prstGeom prst="line">
              <a:avLst/>
            </a:prstGeom>
            <a:noFill/>
            <a:ln w="12700">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up)">
                                      <p:cBhvr>
                                        <p:cTn id="11" dur="500"/>
                                        <p:tgtEl>
                                          <p:spTgt spid="16"/>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00"/>
                                        <p:tgtEl>
                                          <p:spTgt spid="8"/>
                                        </p:tgtEl>
                                      </p:cBhvr>
                                    </p:animEffect>
                                  </p:childTnLst>
                                  <p:subTnLst>
                                    <p:audio>
                                      <p:cMediaNode>
                                        <p:cTn display="0" masterRel="sameClick">
                                          <p:stCondLst>
                                            <p:cond evt="begin" delay="0">
                                              <p:tn val="13"/>
                                            </p:cond>
                                          </p:stCondLst>
                                          <p:endCondLst>
                                            <p:cond evt="onStopAudio" delay="0">
                                              <p:tgtEl>
                                                <p:sldTgt/>
                                              </p:tgtEl>
                                            </p:cond>
                                          </p:endCondLst>
                                        </p:cTn>
                                        <p:tgtEl>
                                          <p:sndTgt r:embed="rId2" name="chimes.wav"/>
                                        </p:tgtEl>
                                      </p:cMediaNode>
                                    </p:audio>
                                  </p:sub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up)">
                                      <p:cBhvr>
                                        <p:cTn id="19" dur="500"/>
                                        <p:tgtEl>
                                          <p:spTgt spid="17"/>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wipe(up)">
                                      <p:cBhvr>
                                        <p:cTn id="23" dur="500"/>
                                        <p:tgtEl>
                                          <p:spTgt spid="20"/>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up)">
                                      <p:cBhvr>
                                        <p:cTn id="27" dur="500"/>
                                        <p:tgtEl>
                                          <p:spTgt spid="12"/>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up)">
                                      <p:cBhvr>
                                        <p:cTn id="31" dur="500"/>
                                        <p:tgtEl>
                                          <p:spTgt spid="9"/>
                                        </p:tgtEl>
                                      </p:cBhvr>
                                    </p:animEffect>
                                  </p:childTnLst>
                                </p:cTn>
                              </p:par>
                            </p:childTnLst>
                          </p:cTn>
                        </p:par>
                        <p:par>
                          <p:cTn id="32" fill="hold">
                            <p:stCondLst>
                              <p:cond delay="3500"/>
                            </p:stCondLst>
                            <p:childTnLst>
                              <p:par>
                                <p:cTn id="33" presetID="22" presetClass="entr" presetSubtype="1"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up)">
                                      <p:cBhvr>
                                        <p:cTn id="35" dur="500"/>
                                        <p:tgtEl>
                                          <p:spTgt spid="10"/>
                                        </p:tgtEl>
                                      </p:cBhvr>
                                    </p:animEffect>
                                  </p:childTnLst>
                                </p:cTn>
                              </p:par>
                            </p:childTnLst>
                          </p:cTn>
                        </p:par>
                        <p:par>
                          <p:cTn id="36" fill="hold">
                            <p:stCondLst>
                              <p:cond delay="4000"/>
                            </p:stCondLst>
                            <p:childTnLst>
                              <p:par>
                                <p:cTn id="37" presetID="22" presetClass="entr" presetSubtype="1" fill="hold"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up)">
                                      <p:cBhvr>
                                        <p:cTn id="39" dur="500"/>
                                        <p:tgtEl>
                                          <p:spTgt spid="11"/>
                                        </p:tgtEl>
                                      </p:cBhvr>
                                    </p:animEffect>
                                  </p:childTnLst>
                                </p:cTn>
                              </p:par>
                            </p:childTnLst>
                          </p:cTn>
                        </p:par>
                        <p:par>
                          <p:cTn id="40" fill="hold">
                            <p:stCondLst>
                              <p:cond delay="4500"/>
                            </p:stCondLst>
                            <p:childTnLst>
                              <p:par>
                                <p:cTn id="41" presetID="22" presetClass="entr" presetSubtype="1" fill="hold" grpId="0" nodeType="after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up)">
                                      <p:cBhvr>
                                        <p:cTn id="43" dur="500"/>
                                        <p:tgtEl>
                                          <p:spTgt spid="13"/>
                                        </p:tgtEl>
                                      </p:cBhvr>
                                    </p:animEffect>
                                  </p:childTnLst>
                                </p:cTn>
                              </p:par>
                            </p:childTnLst>
                          </p:cTn>
                        </p:par>
                        <p:par>
                          <p:cTn id="44" fill="hold">
                            <p:stCondLst>
                              <p:cond delay="5000"/>
                            </p:stCondLst>
                            <p:childTnLst>
                              <p:par>
                                <p:cTn id="45" presetID="22" presetClass="entr" presetSubtype="1" fill="hold"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up)">
                                      <p:cBhvr>
                                        <p:cTn id="47" dur="500"/>
                                        <p:tgtEl>
                                          <p:spTgt spid="18"/>
                                        </p:tgtEl>
                                      </p:cBhvr>
                                    </p:animEffect>
                                  </p:childTnLst>
                                </p:cTn>
                              </p:par>
                            </p:childTnLst>
                          </p:cTn>
                        </p:par>
                        <p:par>
                          <p:cTn id="48" fill="hold">
                            <p:stCondLst>
                              <p:cond delay="5500"/>
                            </p:stCondLst>
                            <p:childTnLst>
                              <p:par>
                                <p:cTn id="49" presetID="22" presetClass="entr" presetSubtype="1" fill="hold" grpId="0" nodeType="after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wipe(up)">
                                      <p:cBhvr>
                                        <p:cTn id="51" dur="500"/>
                                        <p:tgtEl>
                                          <p:spTgt spid="14"/>
                                        </p:tgtEl>
                                      </p:cBhvr>
                                    </p:animEffect>
                                  </p:childTnLst>
                                </p:cTn>
                              </p:par>
                            </p:childTnLst>
                          </p:cTn>
                        </p:par>
                        <p:par>
                          <p:cTn id="52" fill="hold">
                            <p:stCondLst>
                              <p:cond delay="6000"/>
                            </p:stCondLst>
                            <p:childTnLst>
                              <p:par>
                                <p:cTn id="53" presetID="22" presetClass="entr" presetSubtype="1" fill="hold"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wipe(up)">
                                      <p:cBhvr>
                                        <p:cTn id="55" dur="500"/>
                                        <p:tgtEl>
                                          <p:spTgt spid="19"/>
                                        </p:tgtEl>
                                      </p:cBhvr>
                                    </p:animEffect>
                                  </p:childTnLst>
                                </p:cTn>
                              </p:par>
                            </p:childTnLst>
                          </p:cTn>
                        </p:par>
                        <p:par>
                          <p:cTn id="56" fill="hold">
                            <p:stCondLst>
                              <p:cond delay="6500"/>
                            </p:stCondLst>
                            <p:childTnLst>
                              <p:par>
                                <p:cTn id="57" presetID="22" presetClass="entr" presetSubtype="1" fill="hold" grpId="0" nodeType="after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wipe(up)">
                                      <p:cBhvr>
                                        <p:cTn id="59" dur="500"/>
                                        <p:tgtEl>
                                          <p:spTgt spid="15"/>
                                        </p:tgtEl>
                                      </p:cBhvr>
                                    </p:animEffect>
                                  </p:childTnLst>
                                </p:cTn>
                              </p:par>
                            </p:childTnLst>
                          </p:cTn>
                        </p:par>
                        <p:par>
                          <p:cTn id="60" fill="hold">
                            <p:stCondLst>
                              <p:cond delay="7000"/>
                            </p:stCondLst>
                            <p:childTnLst>
                              <p:par>
                                <p:cTn id="61" presetID="22" presetClass="entr" presetSubtype="8" fill="hold" nodeType="after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wipe(left)">
                                      <p:cBhvr>
                                        <p:cTn id="63" dur="500"/>
                                        <p:tgtEl>
                                          <p:spTgt spid="21"/>
                                        </p:tgtEl>
                                      </p:cBhvr>
                                    </p:animEffect>
                                  </p:childTnLst>
                                </p:cTn>
                              </p:par>
                            </p:childTnLst>
                          </p:cTn>
                        </p:par>
                        <p:par>
                          <p:cTn id="64" fill="hold">
                            <p:stCondLst>
                              <p:cond delay="7500"/>
                            </p:stCondLst>
                            <p:childTnLst>
                              <p:par>
                                <p:cTn id="65" presetID="22" presetClass="entr" presetSubtype="1" fill="hold" nodeType="after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up)">
                                      <p:cBhvr>
                                        <p:cTn id="67" dur="500"/>
                                        <p:tgtEl>
                                          <p:spTgt spid="22"/>
                                        </p:tgtEl>
                                      </p:cBhvr>
                                    </p:animEffect>
                                  </p:childTnLst>
                                </p:cTn>
                              </p:par>
                            </p:childTnLst>
                          </p:cTn>
                        </p:par>
                        <p:par>
                          <p:cTn id="68" fill="hold">
                            <p:stCondLst>
                              <p:cond delay="8000"/>
                            </p:stCondLst>
                            <p:childTnLst>
                              <p:par>
                                <p:cTn id="69" presetID="22" presetClass="entr" presetSubtype="8" fill="hold" nodeType="afterEffect">
                                  <p:stCondLst>
                                    <p:cond delay="0"/>
                                  </p:stCondLst>
                                  <p:childTnLst>
                                    <p:set>
                                      <p:cBhvr>
                                        <p:cTn id="70" dur="1" fill="hold">
                                          <p:stCondLst>
                                            <p:cond delay="0"/>
                                          </p:stCondLst>
                                        </p:cTn>
                                        <p:tgtEl>
                                          <p:spTgt spid="4"/>
                                        </p:tgtEl>
                                        <p:attrNameLst>
                                          <p:attrName>style.visibility</p:attrName>
                                        </p:attrNameLst>
                                      </p:cBhvr>
                                      <p:to>
                                        <p:strVal val="visible"/>
                                      </p:to>
                                    </p:set>
                                    <p:animEffect transition="in" filter="wipe(left)">
                                      <p:cBhvr>
                                        <p:cTn id="71" dur="500"/>
                                        <p:tgtEl>
                                          <p:spTgt spid="4"/>
                                        </p:tgtEl>
                                      </p:cBhvr>
                                    </p:animEffect>
                                  </p:childTnLst>
                                </p:cTn>
                              </p:par>
                            </p:childTnLst>
                          </p:cTn>
                        </p:par>
                        <p:par>
                          <p:cTn id="72" fill="hold">
                            <p:stCondLst>
                              <p:cond delay="8500"/>
                            </p:stCondLst>
                            <p:childTnLst>
                              <p:par>
                                <p:cTn id="73" presetID="22" presetClass="entr" presetSubtype="1" fill="hold" nodeType="after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wipe(up)">
                                      <p:cBhvr>
                                        <p:cTn id="75" dur="500"/>
                                        <p:tgtEl>
                                          <p:spTgt spid="23"/>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wipe(left)">
                                      <p:cBhvr>
                                        <p:cTn id="80" dur="500"/>
                                        <p:tgtEl>
                                          <p:spTgt spid="24"/>
                                        </p:tgtEl>
                                      </p:cBhvr>
                                    </p:animEffect>
                                  </p:childTnLst>
                                  <p:subTnLst>
                                    <p:audio>
                                      <p:cMediaNode>
                                        <p:cTn display="0" masterRel="sameClick">
                                          <p:stCondLst>
                                            <p:cond evt="begin" delay="0">
                                              <p:tn val="78"/>
                                            </p:cond>
                                          </p:stCondLst>
                                          <p:endCondLst>
                                            <p:cond evt="onStopAudio" delay="0">
                                              <p:tgtEl>
                                                <p:sldTgt/>
                                              </p:tgtEl>
                                            </p:cond>
                                          </p:endCondLst>
                                        </p:cTn>
                                        <p:tgtEl>
                                          <p:sndTgt r:embed="rId2" name="chimes.wav"/>
                                        </p:tgtEl>
                                      </p:cMediaNode>
                                    </p:audio>
                                  </p:subTnLst>
                                </p:cTn>
                              </p:par>
                            </p:childTnLst>
                          </p:cTn>
                        </p:par>
                        <p:par>
                          <p:cTn id="81" fill="hold">
                            <p:stCondLst>
                              <p:cond delay="500"/>
                            </p:stCondLst>
                            <p:childTnLst>
                              <p:par>
                                <p:cTn id="82" presetID="22" presetClass="entr" presetSubtype="8" fill="hold" nodeType="after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wipe(left)">
                                      <p:cBhvr>
                                        <p:cTn id="84" dur="500"/>
                                        <p:tgtEl>
                                          <p:spTgt spid="25"/>
                                        </p:tgtEl>
                                      </p:cBhvr>
                                    </p:animEffect>
                                  </p:childTnLst>
                                </p:cTn>
                              </p:par>
                            </p:childTnLst>
                          </p:cTn>
                        </p:par>
                        <p:par>
                          <p:cTn id="85" fill="hold">
                            <p:stCondLst>
                              <p:cond delay="1000"/>
                            </p:stCondLst>
                            <p:childTnLst>
                              <p:par>
                                <p:cTn id="86" presetID="22" presetClass="entr" presetSubtype="8" fill="hold" nodeType="afterEffect">
                                  <p:stCondLst>
                                    <p:cond delay="0"/>
                                  </p:stCondLst>
                                  <p:childTnLst>
                                    <p:set>
                                      <p:cBhvr>
                                        <p:cTn id="87" dur="1" fill="hold">
                                          <p:stCondLst>
                                            <p:cond delay="0"/>
                                          </p:stCondLst>
                                        </p:cTn>
                                        <p:tgtEl>
                                          <p:spTgt spid="26"/>
                                        </p:tgtEl>
                                        <p:attrNameLst>
                                          <p:attrName>style.visibility</p:attrName>
                                        </p:attrNameLst>
                                      </p:cBhvr>
                                      <p:to>
                                        <p:strVal val="visible"/>
                                      </p:to>
                                    </p:set>
                                    <p:animEffect transition="in" filter="wipe(left)">
                                      <p:cBhvr>
                                        <p:cTn id="88" dur="500"/>
                                        <p:tgtEl>
                                          <p:spTgt spid="26"/>
                                        </p:tgtEl>
                                      </p:cBhvr>
                                    </p:animEffect>
                                  </p:childTnLst>
                                </p:cTn>
                              </p:par>
                            </p:childTnLst>
                          </p:cTn>
                        </p:par>
                        <p:par>
                          <p:cTn id="89" fill="hold">
                            <p:stCondLst>
                              <p:cond delay="1500"/>
                            </p:stCondLst>
                            <p:childTnLst>
                              <p:par>
                                <p:cTn id="90" presetID="22" presetClass="entr" presetSubtype="8" fill="hold" nodeType="afterEffect">
                                  <p:stCondLst>
                                    <p:cond delay="0"/>
                                  </p:stCondLst>
                                  <p:childTnLst>
                                    <p:set>
                                      <p:cBhvr>
                                        <p:cTn id="91" dur="1" fill="hold">
                                          <p:stCondLst>
                                            <p:cond delay="0"/>
                                          </p:stCondLst>
                                        </p:cTn>
                                        <p:tgtEl>
                                          <p:spTgt spid="27"/>
                                        </p:tgtEl>
                                        <p:attrNameLst>
                                          <p:attrName>style.visibility</p:attrName>
                                        </p:attrNameLst>
                                      </p:cBhvr>
                                      <p:to>
                                        <p:strVal val="visible"/>
                                      </p:to>
                                    </p:set>
                                    <p:animEffect transition="in" filter="wipe(left)">
                                      <p:cBhvr>
                                        <p:cTn id="92" dur="500"/>
                                        <p:tgtEl>
                                          <p:spTgt spid="27"/>
                                        </p:tgtEl>
                                      </p:cBhvr>
                                    </p:animEffect>
                                  </p:childTnLst>
                                </p:cTn>
                              </p:par>
                            </p:childTnLst>
                          </p:cTn>
                        </p:par>
                        <p:par>
                          <p:cTn id="93" fill="hold">
                            <p:stCondLst>
                              <p:cond delay="2000"/>
                            </p:stCondLst>
                            <p:childTnLst>
                              <p:par>
                                <p:cTn id="94" presetID="22" presetClass="entr" presetSubtype="8" fill="hold" nodeType="after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wipe(left)">
                                      <p:cBhvr>
                                        <p:cTn id="96" dur="500"/>
                                        <p:tgtEl>
                                          <p:spTgt spid="28"/>
                                        </p:tgtEl>
                                      </p:cBhvr>
                                    </p:animEffect>
                                  </p:childTnLst>
                                </p:cTn>
                              </p:par>
                            </p:childTnLst>
                          </p:cTn>
                        </p:par>
                        <p:par>
                          <p:cTn id="97" fill="hold">
                            <p:stCondLst>
                              <p:cond delay="2500"/>
                            </p:stCondLst>
                            <p:childTnLst>
                              <p:par>
                                <p:cTn id="98" presetID="22" presetClass="entr" presetSubtype="8" fill="hold" nodeType="afterEffect">
                                  <p:stCondLst>
                                    <p:cond delay="0"/>
                                  </p:stCondLst>
                                  <p:childTnLst>
                                    <p:set>
                                      <p:cBhvr>
                                        <p:cTn id="99" dur="1" fill="hold">
                                          <p:stCondLst>
                                            <p:cond delay="0"/>
                                          </p:stCondLst>
                                        </p:cTn>
                                        <p:tgtEl>
                                          <p:spTgt spid="29"/>
                                        </p:tgtEl>
                                        <p:attrNameLst>
                                          <p:attrName>style.visibility</p:attrName>
                                        </p:attrNameLst>
                                      </p:cBhvr>
                                      <p:to>
                                        <p:strVal val="visible"/>
                                      </p:to>
                                    </p:set>
                                    <p:animEffect transition="in" filter="wipe(left)">
                                      <p:cBhvr>
                                        <p:cTn id="100" dur="500"/>
                                        <p:tgtEl>
                                          <p:spTgt spid="29"/>
                                        </p:tgtEl>
                                      </p:cBhvr>
                                    </p:animEffect>
                                  </p:childTnLst>
                                </p:cTn>
                              </p:par>
                            </p:childTnLst>
                          </p:cTn>
                        </p:par>
                        <p:par>
                          <p:cTn id="101" fill="hold">
                            <p:stCondLst>
                              <p:cond delay="3000"/>
                            </p:stCondLst>
                            <p:childTnLst>
                              <p:par>
                                <p:cTn id="102" presetID="22" presetClass="entr" presetSubtype="8" fill="hold" nodeType="afterEffect">
                                  <p:stCondLst>
                                    <p:cond delay="0"/>
                                  </p:stCondLst>
                                  <p:childTnLst>
                                    <p:set>
                                      <p:cBhvr>
                                        <p:cTn id="103" dur="1" fill="hold">
                                          <p:stCondLst>
                                            <p:cond delay="0"/>
                                          </p:stCondLst>
                                        </p:cTn>
                                        <p:tgtEl>
                                          <p:spTgt spid="30"/>
                                        </p:tgtEl>
                                        <p:attrNameLst>
                                          <p:attrName>style.visibility</p:attrName>
                                        </p:attrNameLst>
                                      </p:cBhvr>
                                      <p:to>
                                        <p:strVal val="visible"/>
                                      </p:to>
                                    </p:set>
                                    <p:animEffect transition="in" filter="wipe(left)">
                                      <p:cBhvr>
                                        <p:cTn id="104" dur="500"/>
                                        <p:tgtEl>
                                          <p:spTgt spid="30"/>
                                        </p:tgtEl>
                                      </p:cBhvr>
                                    </p:animEffect>
                                  </p:childTnLst>
                                </p:cTn>
                              </p:par>
                            </p:childTnLst>
                          </p:cTn>
                        </p:par>
                      </p:childTnLst>
                    </p:cTn>
                  </p:par>
                  <p:par>
                    <p:cTn id="105" fill="hold">
                      <p:stCondLst>
                        <p:cond delay="indefinite"/>
                      </p:stCondLst>
                      <p:childTnLst>
                        <p:par>
                          <p:cTn id="106" fill="hold">
                            <p:stCondLst>
                              <p:cond delay="0"/>
                            </p:stCondLst>
                            <p:childTnLst>
                              <p:par>
                                <p:cTn id="107" presetID="7" presetClass="entr" presetSubtype="4" fill="hold" nodeType="clickEffect">
                                  <p:stCondLst>
                                    <p:cond delay="0"/>
                                  </p:stCondLst>
                                  <p:childTnLst>
                                    <p:set>
                                      <p:cBhvr>
                                        <p:cTn id="108" dur="1" fill="hold">
                                          <p:stCondLst>
                                            <p:cond delay="0"/>
                                          </p:stCondLst>
                                        </p:cTn>
                                        <p:tgtEl>
                                          <p:spTgt spid="47"/>
                                        </p:tgtEl>
                                        <p:attrNameLst>
                                          <p:attrName>style.visibility</p:attrName>
                                        </p:attrNameLst>
                                      </p:cBhvr>
                                      <p:to>
                                        <p:strVal val="visible"/>
                                      </p:to>
                                    </p:set>
                                    <p:anim calcmode="lin" valueType="num">
                                      <p:cBhvr additive="base">
                                        <p:cTn id="109" dur="5000" fill="hold"/>
                                        <p:tgtEl>
                                          <p:spTgt spid="47"/>
                                        </p:tgtEl>
                                        <p:attrNameLst>
                                          <p:attrName>ppt_x</p:attrName>
                                        </p:attrNameLst>
                                      </p:cBhvr>
                                      <p:tavLst>
                                        <p:tav tm="0">
                                          <p:val>
                                            <p:strVal val="#ppt_x"/>
                                          </p:val>
                                        </p:tav>
                                        <p:tav tm="100000">
                                          <p:val>
                                            <p:strVal val="#ppt_x"/>
                                          </p:val>
                                        </p:tav>
                                      </p:tavLst>
                                    </p:anim>
                                    <p:anim calcmode="lin" valueType="num">
                                      <p:cBhvr additive="base">
                                        <p:cTn id="110" dur="5000" fill="hold"/>
                                        <p:tgtEl>
                                          <p:spTgt spid="47"/>
                                        </p:tgtEl>
                                        <p:attrNameLst>
                                          <p:attrName>ppt_y</p:attrName>
                                        </p:attrNameLst>
                                      </p:cBhvr>
                                      <p:tavLst>
                                        <p:tav tm="0">
                                          <p:val>
                                            <p:strVal val="1+#ppt_h/2"/>
                                          </p:val>
                                        </p:tav>
                                        <p:tav tm="100000">
                                          <p:val>
                                            <p:strVal val="#ppt_y"/>
                                          </p:val>
                                        </p:tav>
                                      </p:tavLst>
                                    </p:anim>
                                  </p:childTnLst>
                                </p:cTn>
                              </p:par>
                            </p:childTnLst>
                          </p:cTn>
                        </p:par>
                        <p:par>
                          <p:cTn id="111" fill="hold">
                            <p:stCondLst>
                              <p:cond delay="5000"/>
                            </p:stCondLst>
                            <p:childTnLst>
                              <p:par>
                                <p:cTn id="112" presetID="22" presetClass="entr" presetSubtype="8" fill="hold" grpId="0" nodeType="afterEffect">
                                  <p:stCondLst>
                                    <p:cond delay="0"/>
                                  </p:stCondLst>
                                  <p:childTnLst>
                                    <p:set>
                                      <p:cBhvr>
                                        <p:cTn id="113" dur="1" fill="hold">
                                          <p:stCondLst>
                                            <p:cond delay="0"/>
                                          </p:stCondLst>
                                        </p:cTn>
                                        <p:tgtEl>
                                          <p:spTgt spid="45"/>
                                        </p:tgtEl>
                                        <p:attrNameLst>
                                          <p:attrName>style.visibility</p:attrName>
                                        </p:attrNameLst>
                                      </p:cBhvr>
                                      <p:to>
                                        <p:strVal val="visible"/>
                                      </p:to>
                                    </p:set>
                                    <p:animEffect transition="in" filter="wipe(left)">
                                      <p:cBhvr>
                                        <p:cTn id="114" dur="500"/>
                                        <p:tgtEl>
                                          <p:spTgt spid="45"/>
                                        </p:tgtEl>
                                      </p:cBhvr>
                                    </p:animEffect>
                                  </p:childTnLst>
                                </p:cTn>
                              </p:par>
                            </p:childTnLst>
                          </p:cTn>
                        </p:par>
                        <p:par>
                          <p:cTn id="115" fill="hold">
                            <p:stCondLst>
                              <p:cond delay="5500"/>
                            </p:stCondLst>
                            <p:childTnLst>
                              <p:par>
                                <p:cTn id="116" presetID="22" presetClass="entr" presetSubtype="4" fill="hold" nodeType="afterEffect">
                                  <p:stCondLst>
                                    <p:cond delay="0"/>
                                  </p:stCondLst>
                                  <p:childTnLst>
                                    <p:set>
                                      <p:cBhvr>
                                        <p:cTn id="117" dur="1" fill="hold">
                                          <p:stCondLst>
                                            <p:cond delay="0"/>
                                          </p:stCondLst>
                                        </p:cTn>
                                        <p:tgtEl>
                                          <p:spTgt spid="46"/>
                                        </p:tgtEl>
                                        <p:attrNameLst>
                                          <p:attrName>style.visibility</p:attrName>
                                        </p:attrNameLst>
                                      </p:cBhvr>
                                      <p:to>
                                        <p:strVal val="visible"/>
                                      </p:to>
                                    </p:set>
                                    <p:animEffect transition="in" filter="wipe(down)">
                                      <p:cBhvr>
                                        <p:cTn id="118" dur="500"/>
                                        <p:tgtEl>
                                          <p:spTgt spid="46"/>
                                        </p:tgtEl>
                                      </p:cBhvr>
                                    </p:animEffect>
                                  </p:childTnLst>
                                  <p:subTnLst>
                                    <p:audio>
                                      <p:cMediaNode>
                                        <p:cTn display="0" masterRel="sameClick">
                                          <p:stCondLst>
                                            <p:cond evt="begin" delay="0">
                                              <p:tn val="116"/>
                                            </p:cond>
                                          </p:stCondLst>
                                          <p:endCondLst>
                                            <p:cond evt="onStopAudio" delay="0">
                                              <p:tgtEl>
                                                <p:sldTgt/>
                                              </p:tgtEl>
                                            </p:cond>
                                          </p:endCondLst>
                                        </p:cTn>
                                        <p:tgtEl>
                                          <p:sndTgt r:embed="rId2" name="chimes.wav"/>
                                        </p:tgtEl>
                                      </p:cMediaNode>
                                    </p:audio>
                                  </p:subTnLst>
                                </p:cTn>
                              </p:par>
                            </p:childTnLst>
                          </p:cTn>
                        </p:par>
                        <p:par>
                          <p:cTn id="119" fill="hold">
                            <p:stCondLst>
                              <p:cond delay="6000"/>
                            </p:stCondLst>
                            <p:childTnLst>
                              <p:par>
                                <p:cTn id="120" presetID="7" presetClass="entr" presetSubtype="8" fill="hold" nodeType="afterEffect">
                                  <p:stCondLst>
                                    <p:cond delay="0"/>
                                  </p:stCondLst>
                                  <p:childTnLst>
                                    <p:set>
                                      <p:cBhvr>
                                        <p:cTn id="121" dur="1" fill="hold">
                                          <p:stCondLst>
                                            <p:cond delay="0"/>
                                          </p:stCondLst>
                                        </p:cTn>
                                        <p:tgtEl>
                                          <p:spTgt spid="49"/>
                                        </p:tgtEl>
                                        <p:attrNameLst>
                                          <p:attrName>style.visibility</p:attrName>
                                        </p:attrNameLst>
                                      </p:cBhvr>
                                      <p:to>
                                        <p:strVal val="visible"/>
                                      </p:to>
                                    </p:set>
                                    <p:anim calcmode="lin" valueType="num">
                                      <p:cBhvr additive="base">
                                        <p:cTn id="122" dur="5000" fill="hold"/>
                                        <p:tgtEl>
                                          <p:spTgt spid="49"/>
                                        </p:tgtEl>
                                        <p:attrNameLst>
                                          <p:attrName>ppt_x</p:attrName>
                                        </p:attrNameLst>
                                      </p:cBhvr>
                                      <p:tavLst>
                                        <p:tav tm="0">
                                          <p:val>
                                            <p:strVal val="0-#ppt_w/2"/>
                                          </p:val>
                                        </p:tav>
                                        <p:tav tm="100000">
                                          <p:val>
                                            <p:strVal val="#ppt_x"/>
                                          </p:val>
                                        </p:tav>
                                      </p:tavLst>
                                    </p:anim>
                                    <p:anim calcmode="lin" valueType="num">
                                      <p:cBhvr additive="base">
                                        <p:cTn id="123" dur="5000" fill="hold"/>
                                        <p:tgtEl>
                                          <p:spTgt spid="49"/>
                                        </p:tgtEl>
                                        <p:attrNameLst>
                                          <p:attrName>ppt_y</p:attrName>
                                        </p:attrNameLst>
                                      </p:cBhvr>
                                      <p:tavLst>
                                        <p:tav tm="0">
                                          <p:val>
                                            <p:strVal val="#ppt_y"/>
                                          </p:val>
                                        </p:tav>
                                        <p:tav tm="100000">
                                          <p:val>
                                            <p:strVal val="#ppt_y"/>
                                          </p:val>
                                        </p:tav>
                                      </p:tavLst>
                                    </p:anim>
                                  </p:childTnLst>
                                </p:cTn>
                              </p:par>
                            </p:childTnLst>
                          </p:cTn>
                        </p:par>
                        <p:par>
                          <p:cTn id="124" fill="hold">
                            <p:stCondLst>
                              <p:cond delay="11000"/>
                            </p:stCondLst>
                            <p:childTnLst>
                              <p:par>
                                <p:cTn id="125" presetID="22" presetClass="entr" presetSubtype="1" fill="hold" nodeType="afterEffect">
                                  <p:stCondLst>
                                    <p:cond delay="0"/>
                                  </p:stCondLst>
                                  <p:childTnLst>
                                    <p:set>
                                      <p:cBhvr>
                                        <p:cTn id="126" dur="1" fill="hold">
                                          <p:stCondLst>
                                            <p:cond delay="0"/>
                                          </p:stCondLst>
                                        </p:cTn>
                                        <p:tgtEl>
                                          <p:spTgt spid="41"/>
                                        </p:tgtEl>
                                        <p:attrNameLst>
                                          <p:attrName>style.visibility</p:attrName>
                                        </p:attrNameLst>
                                      </p:cBhvr>
                                      <p:to>
                                        <p:strVal val="visible"/>
                                      </p:to>
                                    </p:set>
                                    <p:animEffect transition="in" filter="wipe(up)">
                                      <p:cBhvr>
                                        <p:cTn id="127" dur="500"/>
                                        <p:tgtEl>
                                          <p:spTgt spid="41"/>
                                        </p:tgtEl>
                                      </p:cBhvr>
                                    </p:animEffect>
                                  </p:childTnLst>
                                  <p:subTnLst>
                                    <p:audio>
                                      <p:cMediaNode>
                                        <p:cTn display="0" masterRel="sameClick">
                                          <p:stCondLst>
                                            <p:cond evt="begin" delay="0">
                                              <p:tn val="125"/>
                                            </p:cond>
                                          </p:stCondLst>
                                          <p:endCondLst>
                                            <p:cond evt="onStopAudio" delay="0">
                                              <p:tgtEl>
                                                <p:sldTgt/>
                                              </p:tgtEl>
                                            </p:cond>
                                          </p:endCondLst>
                                        </p:cTn>
                                        <p:tgtEl>
                                          <p:sndTgt r:embed="rId2" name="chimes.wav"/>
                                        </p:tgtEl>
                                      </p:cMediaNode>
                                    </p:audio>
                                  </p:subTnLst>
                                </p:cTn>
                              </p:par>
                            </p:childTnLst>
                          </p:cTn>
                        </p:par>
                        <p:par>
                          <p:cTn id="128" fill="hold">
                            <p:stCondLst>
                              <p:cond delay="11500"/>
                            </p:stCondLst>
                            <p:childTnLst>
                              <p:par>
                                <p:cTn id="129" presetID="22" presetClass="entr" presetSubtype="1" fill="hold" nodeType="afterEffect">
                                  <p:stCondLst>
                                    <p:cond delay="0"/>
                                  </p:stCondLst>
                                  <p:childTnLst>
                                    <p:set>
                                      <p:cBhvr>
                                        <p:cTn id="130" dur="1" fill="hold">
                                          <p:stCondLst>
                                            <p:cond delay="0"/>
                                          </p:stCondLst>
                                        </p:cTn>
                                        <p:tgtEl>
                                          <p:spTgt spid="50"/>
                                        </p:tgtEl>
                                        <p:attrNameLst>
                                          <p:attrName>style.visibility</p:attrName>
                                        </p:attrNameLst>
                                      </p:cBhvr>
                                      <p:to>
                                        <p:strVal val="visible"/>
                                      </p:to>
                                    </p:set>
                                    <p:animEffect transition="in" filter="wipe(up)">
                                      <p:cBhvr>
                                        <p:cTn id="131" dur="500"/>
                                        <p:tgtEl>
                                          <p:spTgt spid="50"/>
                                        </p:tgtEl>
                                      </p:cBhvr>
                                    </p:animEffect>
                                  </p:childTnLst>
                                </p:cTn>
                              </p:par>
                            </p:childTnLst>
                          </p:cTn>
                        </p:par>
                        <p:par>
                          <p:cTn id="132" fill="hold">
                            <p:stCondLst>
                              <p:cond delay="12000"/>
                            </p:stCondLst>
                            <p:childTnLst>
                              <p:par>
                                <p:cTn id="133" presetID="22" presetClass="entr" presetSubtype="8" fill="hold" grpId="0" nodeType="afterEffect">
                                  <p:stCondLst>
                                    <p:cond delay="0"/>
                                  </p:stCondLst>
                                  <p:childTnLst>
                                    <p:set>
                                      <p:cBhvr>
                                        <p:cTn id="134" dur="1" fill="hold">
                                          <p:stCondLst>
                                            <p:cond delay="0"/>
                                          </p:stCondLst>
                                        </p:cTn>
                                        <p:tgtEl>
                                          <p:spTgt spid="40"/>
                                        </p:tgtEl>
                                        <p:attrNameLst>
                                          <p:attrName>style.visibility</p:attrName>
                                        </p:attrNameLst>
                                      </p:cBhvr>
                                      <p:to>
                                        <p:strVal val="visible"/>
                                      </p:to>
                                    </p:set>
                                    <p:animEffect transition="in" filter="wipe(left)">
                                      <p:cBhvr>
                                        <p:cTn id="135" dur="500"/>
                                        <p:tgtEl>
                                          <p:spTgt spid="40"/>
                                        </p:tgtEl>
                                      </p:cBhvr>
                                    </p:animEffect>
                                  </p:childTnLst>
                                </p:cTn>
                              </p:par>
                            </p:childTnLst>
                          </p:cTn>
                        </p:par>
                        <p:par>
                          <p:cTn id="136" fill="hold">
                            <p:stCondLst>
                              <p:cond delay="12500"/>
                            </p:stCondLst>
                            <p:childTnLst>
                              <p:par>
                                <p:cTn id="137" presetID="22" presetClass="entr" presetSubtype="1" fill="hold" nodeType="afterEffect">
                                  <p:stCondLst>
                                    <p:cond delay="0"/>
                                  </p:stCondLst>
                                  <p:childTnLst>
                                    <p:set>
                                      <p:cBhvr>
                                        <p:cTn id="138" dur="1" fill="hold">
                                          <p:stCondLst>
                                            <p:cond delay="0"/>
                                          </p:stCondLst>
                                        </p:cTn>
                                        <p:tgtEl>
                                          <p:spTgt spid="42"/>
                                        </p:tgtEl>
                                        <p:attrNameLst>
                                          <p:attrName>style.visibility</p:attrName>
                                        </p:attrNameLst>
                                      </p:cBhvr>
                                      <p:to>
                                        <p:strVal val="visible"/>
                                      </p:to>
                                    </p:set>
                                    <p:animEffect transition="in" filter="wipe(up)">
                                      <p:cBhvr>
                                        <p:cTn id="139" dur="500"/>
                                        <p:tgtEl>
                                          <p:spTgt spid="42"/>
                                        </p:tgtEl>
                                      </p:cBhvr>
                                    </p:animEffect>
                                  </p:childTnLst>
                                  <p:subTnLst>
                                    <p:audio>
                                      <p:cMediaNode>
                                        <p:cTn display="0" masterRel="sameClick">
                                          <p:stCondLst>
                                            <p:cond evt="begin" delay="0">
                                              <p:tn val="137"/>
                                            </p:cond>
                                          </p:stCondLst>
                                          <p:endCondLst>
                                            <p:cond evt="onStopAudio" delay="0">
                                              <p:tgtEl>
                                                <p:sldTgt/>
                                              </p:tgtEl>
                                            </p:cond>
                                          </p:endCondLst>
                                        </p:cTn>
                                        <p:tgtEl>
                                          <p:sndTgt r:embed="rId3" name="projctor.wav"/>
                                        </p:tgtEl>
                                      </p:cMediaNode>
                                    </p:audio>
                                  </p:subTnLst>
                                </p:cTn>
                              </p:par>
                            </p:childTnLst>
                          </p:cTn>
                        </p:par>
                        <p:par>
                          <p:cTn id="140" fill="hold">
                            <p:stCondLst>
                              <p:cond delay="13000"/>
                            </p:stCondLst>
                            <p:childTnLst>
                              <p:par>
                                <p:cTn id="141" presetID="22" presetClass="entr" presetSubtype="1" fill="hold" nodeType="afterEffect">
                                  <p:stCondLst>
                                    <p:cond delay="0"/>
                                  </p:stCondLst>
                                  <p:childTnLst>
                                    <p:set>
                                      <p:cBhvr>
                                        <p:cTn id="142" dur="1" fill="hold">
                                          <p:stCondLst>
                                            <p:cond delay="0"/>
                                          </p:stCondLst>
                                        </p:cTn>
                                        <p:tgtEl>
                                          <p:spTgt spid="51"/>
                                        </p:tgtEl>
                                        <p:attrNameLst>
                                          <p:attrName>style.visibility</p:attrName>
                                        </p:attrNameLst>
                                      </p:cBhvr>
                                      <p:to>
                                        <p:strVal val="visible"/>
                                      </p:to>
                                    </p:set>
                                    <p:animEffect transition="in" filter="wipe(up)">
                                      <p:cBhvr>
                                        <p:cTn id="143" dur="500"/>
                                        <p:tgtEl>
                                          <p:spTgt spid="51"/>
                                        </p:tgtEl>
                                      </p:cBhvr>
                                    </p:animEffect>
                                  </p:childTnLst>
                                  <p:subTnLst>
                                    <p:audio>
                                      <p:cMediaNode>
                                        <p:cTn display="0" masterRel="sameClick">
                                          <p:stCondLst>
                                            <p:cond evt="begin" delay="0">
                                              <p:tn val="141"/>
                                            </p:cond>
                                          </p:stCondLst>
                                          <p:endCondLst>
                                            <p:cond evt="onStopAudio" delay="0">
                                              <p:tgtEl>
                                                <p:sldTgt/>
                                              </p:tgtEl>
                                            </p:cond>
                                          </p:endCondLst>
                                        </p:cTn>
                                        <p:tgtEl>
                                          <p:sndTgt r:embed="rId3" name="projctor.wav"/>
                                        </p:tgtEl>
                                      </p:cMediaNode>
                                    </p:audio>
                                  </p:subTnLst>
                                </p:cTn>
                              </p:par>
                            </p:childTnLst>
                          </p:cTn>
                        </p:par>
                        <p:par>
                          <p:cTn id="144" fill="hold">
                            <p:stCondLst>
                              <p:cond delay="13500"/>
                            </p:stCondLst>
                            <p:childTnLst>
                              <p:par>
                                <p:cTn id="145" presetID="22" presetClass="entr" presetSubtype="1" fill="hold" nodeType="afterEffect">
                                  <p:stCondLst>
                                    <p:cond delay="0"/>
                                  </p:stCondLst>
                                  <p:childTnLst>
                                    <p:set>
                                      <p:cBhvr>
                                        <p:cTn id="146" dur="1" fill="hold">
                                          <p:stCondLst>
                                            <p:cond delay="0"/>
                                          </p:stCondLst>
                                        </p:cTn>
                                        <p:tgtEl>
                                          <p:spTgt spid="31"/>
                                        </p:tgtEl>
                                        <p:attrNameLst>
                                          <p:attrName>style.visibility</p:attrName>
                                        </p:attrNameLst>
                                      </p:cBhvr>
                                      <p:to>
                                        <p:strVal val="visible"/>
                                      </p:to>
                                    </p:set>
                                    <p:animEffect transition="in" filter="wipe(up)">
                                      <p:cBhvr>
                                        <p:cTn id="147" dur="500"/>
                                        <p:tgtEl>
                                          <p:spTgt spid="31"/>
                                        </p:tgtEl>
                                      </p:cBhvr>
                                    </p:animEffect>
                                  </p:childTnLst>
                                  <p:subTnLst>
                                    <p:audio>
                                      <p:cMediaNode>
                                        <p:cTn display="0" masterRel="sameClick">
                                          <p:stCondLst>
                                            <p:cond evt="begin" delay="0">
                                              <p:tn val="145"/>
                                            </p:cond>
                                          </p:stCondLst>
                                          <p:endCondLst>
                                            <p:cond evt="onStopAudio" delay="0">
                                              <p:tgtEl>
                                                <p:sldTgt/>
                                              </p:tgtEl>
                                            </p:cond>
                                          </p:endCondLst>
                                        </p:cTn>
                                        <p:tgtEl>
                                          <p:sndTgt r:embed="rId3" name="projctor.wav"/>
                                        </p:tgtEl>
                                      </p:cMediaNode>
                                    </p:audio>
                                  </p:subTnLst>
                                </p:cTn>
                              </p:par>
                            </p:childTnLst>
                          </p:cTn>
                        </p:par>
                        <p:par>
                          <p:cTn id="148" fill="hold">
                            <p:stCondLst>
                              <p:cond delay="14000"/>
                            </p:stCondLst>
                            <p:childTnLst>
                              <p:par>
                                <p:cTn id="149" presetID="22" presetClass="entr" presetSubtype="1" fill="hold" nodeType="afterEffect">
                                  <p:stCondLst>
                                    <p:cond delay="0"/>
                                  </p:stCondLst>
                                  <p:childTnLst>
                                    <p:set>
                                      <p:cBhvr>
                                        <p:cTn id="150" dur="1" fill="hold">
                                          <p:stCondLst>
                                            <p:cond delay="0"/>
                                          </p:stCondLst>
                                        </p:cTn>
                                        <p:tgtEl>
                                          <p:spTgt spid="34"/>
                                        </p:tgtEl>
                                        <p:attrNameLst>
                                          <p:attrName>style.visibility</p:attrName>
                                        </p:attrNameLst>
                                      </p:cBhvr>
                                      <p:to>
                                        <p:strVal val="visible"/>
                                      </p:to>
                                    </p:set>
                                    <p:animEffect transition="in" filter="wipe(up)">
                                      <p:cBhvr>
                                        <p:cTn id="151" dur="500"/>
                                        <p:tgtEl>
                                          <p:spTgt spid="34"/>
                                        </p:tgtEl>
                                      </p:cBhvr>
                                    </p:animEffect>
                                  </p:childTnLst>
                                  <p:subTnLst>
                                    <p:audio>
                                      <p:cMediaNode>
                                        <p:cTn display="0" masterRel="sameClick">
                                          <p:stCondLst>
                                            <p:cond evt="begin" delay="0">
                                              <p:tn val="149"/>
                                            </p:cond>
                                          </p:stCondLst>
                                          <p:endCondLst>
                                            <p:cond evt="onStopAudio" delay="0">
                                              <p:tgtEl>
                                                <p:sldTgt/>
                                              </p:tgtEl>
                                            </p:cond>
                                          </p:endCondLst>
                                        </p:cTn>
                                        <p:tgtEl>
                                          <p:sndTgt r:embed="rId4"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3" grpId="0" autoUpdateAnimBg="0"/>
      <p:bldP spid="14" grpId="0" autoUpdateAnimBg="0"/>
      <p:bldP spid="15" grpId="0" autoUpdateAnimBg="0"/>
      <p:bldP spid="16" grpId="0" autoUpdateAnimBg="0"/>
      <p:bldP spid="17" grpId="0" autoUpdateAnimBg="0"/>
      <p:bldP spid="40" grpId="0" animBg="1" autoUpdateAnimBg="0"/>
      <p:bldP spid="45"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线性规划问题的图解法</a:t>
            </a:r>
            <a:r>
              <a:rPr lang="en-US" altLang="zh-CN" dirty="0"/>
              <a:t> – </a:t>
            </a:r>
            <a:r>
              <a:rPr lang="zh-CN" altLang="en-US" dirty="0"/>
              <a:t>无界解</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例</a:t>
                </a:r>
                <a:r>
                  <a:rPr lang="en-US" altLang="zh-CN" dirty="0"/>
                  <a:t>1</a:t>
                </a:r>
                <a:r>
                  <a:rPr lang="zh-CN" altLang="en-US" dirty="0"/>
                  <a:t>中的限制条件变为</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300</m:t>
                    </m:r>
                    <m:r>
                      <a:rPr lang="zh-CN" altLang="en-US" i="1">
                        <a:latin typeface="Cambria Math" panose="02040503050406030204" pitchFamily="18" charset="0"/>
                      </a:rPr>
                      <m:t>，</m:t>
                    </m:r>
                    <m:r>
                      <a:rPr lang="en-US" altLang="zh-CN" b="0" i="1" smtClean="0">
                        <a:latin typeface="Cambria Math" panose="02040503050406030204" pitchFamily="18" charset="0"/>
                      </a:rPr>
                      <m:t>2</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400</m:t>
                    </m:r>
                    <m:r>
                      <a:rPr lang="zh-CN" altLang="en-US" i="1">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250</m:t>
                    </m:r>
                    <m:r>
                      <a:rPr lang="zh-CN" altLang="en-US" i="1">
                        <a:latin typeface="Cambria Math" panose="02040503050406030204" pitchFamily="18" charset="0"/>
                      </a:rPr>
                      <m:t>：</m:t>
                    </m:r>
                  </m:oMath>
                </a14:m>
                <a:endParaRPr lang="en-US" altLang="zh-CN" dirty="0"/>
              </a:p>
              <a:p>
                <a:pPr marL="0" indent="0">
                  <a:buNone/>
                </a:pPr>
                <a:endParaRPr lang="en-US" altLang="zh-CN"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39" name="Line 5"/>
          <p:cNvSpPr>
            <a:spLocks noChangeShapeType="1"/>
          </p:cNvSpPr>
          <p:nvPr/>
        </p:nvSpPr>
        <p:spPr bwMode="auto">
          <a:xfrm>
            <a:off x="3600450" y="5457825"/>
            <a:ext cx="4343400" cy="0"/>
          </a:xfrm>
          <a:prstGeom prst="line">
            <a:avLst/>
          </a:prstGeom>
          <a:noFill/>
          <a:ln w="47625">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0" name="Line 6"/>
          <p:cNvSpPr>
            <a:spLocks noChangeShapeType="1"/>
          </p:cNvSpPr>
          <p:nvPr/>
        </p:nvSpPr>
        <p:spPr bwMode="auto">
          <a:xfrm flipV="1">
            <a:off x="4438649" y="2305074"/>
            <a:ext cx="14287" cy="3533751"/>
          </a:xfrm>
          <a:prstGeom prst="line">
            <a:avLst/>
          </a:prstGeom>
          <a:noFill/>
          <a:ln w="47625">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1" name="Line 9"/>
          <p:cNvSpPr>
            <a:spLocks noChangeShapeType="1"/>
          </p:cNvSpPr>
          <p:nvPr/>
        </p:nvSpPr>
        <p:spPr bwMode="auto">
          <a:xfrm>
            <a:off x="4438650" y="3019425"/>
            <a:ext cx="228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42" name="Text Box 10"/>
          <p:cNvSpPr txBox="1">
            <a:spLocks noChangeArrowheads="1"/>
          </p:cNvSpPr>
          <p:nvPr/>
        </p:nvSpPr>
        <p:spPr bwMode="auto">
          <a:xfrm>
            <a:off x="3524250" y="4619625"/>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dirty="0"/>
              <a:t>100</a:t>
            </a:r>
            <a:endParaRPr lang="en-US" altLang="zh-CN" dirty="0"/>
          </a:p>
        </p:txBody>
      </p:sp>
      <p:sp>
        <p:nvSpPr>
          <p:cNvPr id="43" name="Text Box 11"/>
          <p:cNvSpPr txBox="1">
            <a:spLocks noChangeArrowheads="1"/>
          </p:cNvSpPr>
          <p:nvPr/>
        </p:nvSpPr>
        <p:spPr bwMode="auto">
          <a:xfrm>
            <a:off x="3752849" y="2790825"/>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dirty="0"/>
              <a:t>400</a:t>
            </a:r>
            <a:endParaRPr lang="en-US" altLang="zh-CN" dirty="0"/>
          </a:p>
        </p:txBody>
      </p:sp>
      <p:sp>
        <p:nvSpPr>
          <p:cNvPr id="44" name="Text Box 12"/>
          <p:cNvSpPr txBox="1">
            <a:spLocks noChangeArrowheads="1"/>
          </p:cNvSpPr>
          <p:nvPr/>
        </p:nvSpPr>
        <p:spPr bwMode="auto">
          <a:xfrm>
            <a:off x="4743450" y="5000625"/>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100</a:t>
            </a:r>
            <a:endParaRPr lang="en-US" altLang="zh-CN"/>
          </a:p>
        </p:txBody>
      </p:sp>
      <p:sp>
        <p:nvSpPr>
          <p:cNvPr id="45" name="Text Box 13"/>
          <p:cNvSpPr txBox="1">
            <a:spLocks noChangeArrowheads="1"/>
          </p:cNvSpPr>
          <p:nvPr/>
        </p:nvSpPr>
        <p:spPr bwMode="auto">
          <a:xfrm>
            <a:off x="6115050" y="5000625"/>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300</a:t>
            </a:r>
            <a:endParaRPr lang="en-US" altLang="zh-CN"/>
          </a:p>
        </p:txBody>
      </p:sp>
      <p:sp>
        <p:nvSpPr>
          <p:cNvPr id="46" name="Text Box 24"/>
          <p:cNvSpPr txBox="1">
            <a:spLocks noChangeArrowheads="1"/>
          </p:cNvSpPr>
          <p:nvPr/>
        </p:nvSpPr>
        <p:spPr bwMode="auto">
          <a:xfrm>
            <a:off x="7562850" y="492442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x</a:t>
            </a:r>
            <a:r>
              <a:rPr lang="en-US" altLang="zh-CN" baseline="-25000"/>
              <a:t>1</a:t>
            </a:r>
            <a:endParaRPr lang="en-US" altLang="zh-CN"/>
          </a:p>
        </p:txBody>
      </p:sp>
      <p:sp>
        <p:nvSpPr>
          <p:cNvPr id="47" name="Text Box 25"/>
          <p:cNvSpPr txBox="1">
            <a:spLocks noChangeArrowheads="1"/>
          </p:cNvSpPr>
          <p:nvPr/>
        </p:nvSpPr>
        <p:spPr bwMode="auto">
          <a:xfrm>
            <a:off x="4743450" y="2638425"/>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x</a:t>
            </a:r>
            <a:r>
              <a:rPr lang="en-US" altLang="zh-CN" baseline="-25000"/>
              <a:t>2</a:t>
            </a:r>
            <a:endParaRPr lang="en-US" altLang="zh-CN"/>
          </a:p>
        </p:txBody>
      </p:sp>
      <p:sp>
        <p:nvSpPr>
          <p:cNvPr id="48" name="Line 26"/>
          <p:cNvSpPr>
            <a:spLocks noChangeShapeType="1"/>
          </p:cNvSpPr>
          <p:nvPr/>
        </p:nvSpPr>
        <p:spPr bwMode="auto">
          <a:xfrm>
            <a:off x="5048250" y="5457825"/>
            <a:ext cx="0" cy="76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49" name="Line 27"/>
          <p:cNvSpPr>
            <a:spLocks noChangeShapeType="1"/>
          </p:cNvSpPr>
          <p:nvPr/>
        </p:nvSpPr>
        <p:spPr bwMode="auto">
          <a:xfrm>
            <a:off x="6267450" y="5381625"/>
            <a:ext cx="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50" name="Line 28"/>
          <p:cNvSpPr>
            <a:spLocks noChangeShapeType="1"/>
          </p:cNvSpPr>
          <p:nvPr/>
        </p:nvSpPr>
        <p:spPr bwMode="auto">
          <a:xfrm>
            <a:off x="4438650" y="4848225"/>
            <a:ext cx="152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51" name="Line 34"/>
          <p:cNvSpPr>
            <a:spLocks noChangeShapeType="1"/>
          </p:cNvSpPr>
          <p:nvPr/>
        </p:nvSpPr>
        <p:spPr bwMode="auto">
          <a:xfrm>
            <a:off x="3143250" y="3933825"/>
            <a:ext cx="5410200" cy="0"/>
          </a:xfrm>
          <a:prstGeom prst="line">
            <a:avLst/>
          </a:prstGeom>
          <a:noFill/>
          <a:ln w="31750">
            <a:solidFill>
              <a:srgbClr val="00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52" name="Line 36"/>
          <p:cNvSpPr>
            <a:spLocks noChangeShapeType="1"/>
          </p:cNvSpPr>
          <p:nvPr/>
        </p:nvSpPr>
        <p:spPr bwMode="auto">
          <a:xfrm>
            <a:off x="4057650" y="3248025"/>
            <a:ext cx="2895600" cy="2895600"/>
          </a:xfrm>
          <a:prstGeom prst="line">
            <a:avLst/>
          </a:prstGeom>
          <a:noFill/>
          <a:ln w="31750">
            <a:solidFill>
              <a:srgbClr val="00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53" name="Line 37"/>
          <p:cNvSpPr>
            <a:spLocks noChangeShapeType="1"/>
          </p:cNvSpPr>
          <p:nvPr/>
        </p:nvSpPr>
        <p:spPr bwMode="auto">
          <a:xfrm>
            <a:off x="4210050" y="2562225"/>
            <a:ext cx="1905000" cy="3810000"/>
          </a:xfrm>
          <a:prstGeom prst="line">
            <a:avLst/>
          </a:prstGeom>
          <a:noFill/>
          <a:ln w="31750">
            <a:solidFill>
              <a:srgbClr val="00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54" name="Line 38"/>
          <p:cNvSpPr>
            <a:spLocks noChangeShapeType="1"/>
          </p:cNvSpPr>
          <p:nvPr/>
        </p:nvSpPr>
        <p:spPr bwMode="auto">
          <a:xfrm flipH="1">
            <a:off x="4476750" y="2355652"/>
            <a:ext cx="278605" cy="381477"/>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55" name="Line 39"/>
          <p:cNvSpPr>
            <a:spLocks noChangeShapeType="1"/>
          </p:cNvSpPr>
          <p:nvPr/>
        </p:nvSpPr>
        <p:spPr bwMode="auto">
          <a:xfrm flipH="1">
            <a:off x="4569616" y="2656315"/>
            <a:ext cx="304800" cy="6096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56" name="Line 40"/>
          <p:cNvSpPr>
            <a:spLocks noChangeShapeType="1"/>
          </p:cNvSpPr>
          <p:nvPr/>
        </p:nvSpPr>
        <p:spPr bwMode="auto">
          <a:xfrm flipH="1">
            <a:off x="4733924" y="2676524"/>
            <a:ext cx="533400" cy="9144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57" name="Line 41"/>
          <p:cNvSpPr>
            <a:spLocks noChangeShapeType="1"/>
          </p:cNvSpPr>
          <p:nvPr/>
        </p:nvSpPr>
        <p:spPr bwMode="auto">
          <a:xfrm flipH="1">
            <a:off x="4905376" y="2943225"/>
            <a:ext cx="533400" cy="9906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58" name="Line 43"/>
          <p:cNvSpPr>
            <a:spLocks noChangeShapeType="1"/>
          </p:cNvSpPr>
          <p:nvPr/>
        </p:nvSpPr>
        <p:spPr bwMode="auto">
          <a:xfrm flipH="1">
            <a:off x="5305424" y="3171825"/>
            <a:ext cx="381000" cy="7620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59" name="Line 44"/>
          <p:cNvSpPr>
            <a:spLocks noChangeShapeType="1"/>
          </p:cNvSpPr>
          <p:nvPr/>
        </p:nvSpPr>
        <p:spPr bwMode="auto">
          <a:xfrm flipH="1">
            <a:off x="5819776" y="3417095"/>
            <a:ext cx="228600" cy="5334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0" name="Line 45"/>
          <p:cNvSpPr>
            <a:spLocks noChangeShapeType="1"/>
          </p:cNvSpPr>
          <p:nvPr/>
        </p:nvSpPr>
        <p:spPr bwMode="auto">
          <a:xfrm flipH="1">
            <a:off x="6133505" y="3623295"/>
            <a:ext cx="152400" cy="3048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1" name="文本框 60"/>
          <p:cNvSpPr txBox="1"/>
          <p:nvPr/>
        </p:nvSpPr>
        <p:spPr>
          <a:xfrm>
            <a:off x="4438649" y="3393044"/>
            <a:ext cx="238125" cy="369332"/>
          </a:xfrm>
          <a:prstGeom prst="rect">
            <a:avLst/>
          </a:prstGeom>
          <a:noFill/>
        </p:spPr>
        <p:txBody>
          <a:bodyPr wrap="square" rtlCol="0">
            <a:spAutoFit/>
          </a:bodyPr>
          <a:lstStyle/>
          <a:p>
            <a:r>
              <a:rPr lang="en-US" altLang="zh-CN" dirty="0"/>
              <a:t>A</a:t>
            </a:r>
            <a:endParaRPr lang="zh-CN" altLang="en-US" dirty="0"/>
          </a:p>
        </p:txBody>
      </p:sp>
      <p:sp>
        <p:nvSpPr>
          <p:cNvPr id="62" name="文本框 61"/>
          <p:cNvSpPr txBox="1"/>
          <p:nvPr/>
        </p:nvSpPr>
        <p:spPr>
          <a:xfrm>
            <a:off x="4367213" y="3653910"/>
            <a:ext cx="238125" cy="369332"/>
          </a:xfrm>
          <a:prstGeom prst="rect">
            <a:avLst/>
          </a:prstGeom>
          <a:noFill/>
        </p:spPr>
        <p:txBody>
          <a:bodyPr wrap="square" rtlCol="0">
            <a:spAutoFit/>
          </a:bodyPr>
          <a:lstStyle/>
          <a:p>
            <a:r>
              <a:rPr lang="en-US" altLang="zh-CN" dirty="0"/>
              <a:t>B</a:t>
            </a:r>
            <a:endParaRPr lang="zh-CN" altLang="en-US" dirty="0"/>
          </a:p>
        </p:txBody>
      </p:sp>
      <p:sp>
        <p:nvSpPr>
          <p:cNvPr id="63" name="文本框 62"/>
          <p:cNvSpPr txBox="1"/>
          <p:nvPr/>
        </p:nvSpPr>
        <p:spPr>
          <a:xfrm>
            <a:off x="4714875" y="3821667"/>
            <a:ext cx="238125" cy="369332"/>
          </a:xfrm>
          <a:prstGeom prst="rect">
            <a:avLst/>
          </a:prstGeom>
          <a:noFill/>
        </p:spPr>
        <p:txBody>
          <a:bodyPr wrap="square" rtlCol="0">
            <a:spAutoFit/>
          </a:bodyPr>
          <a:lstStyle/>
          <a:p>
            <a:r>
              <a:rPr lang="en-US" altLang="zh-CN" dirty="0"/>
              <a:t>C</a:t>
            </a:r>
            <a:endParaRPr lang="zh-CN" altLang="en-US" dirty="0"/>
          </a:p>
        </p:txBody>
      </p:sp>
      <p:sp>
        <p:nvSpPr>
          <p:cNvPr id="64" name="文本框 63"/>
          <p:cNvSpPr txBox="1"/>
          <p:nvPr/>
        </p:nvSpPr>
        <p:spPr>
          <a:xfrm>
            <a:off x="4619625" y="4495799"/>
            <a:ext cx="238125" cy="369332"/>
          </a:xfrm>
          <a:prstGeom prst="rect">
            <a:avLst/>
          </a:prstGeom>
          <a:noFill/>
        </p:spPr>
        <p:txBody>
          <a:bodyPr wrap="square" rtlCol="0">
            <a:spAutoFit/>
          </a:bodyPr>
          <a:lstStyle/>
          <a:p>
            <a:r>
              <a:rPr lang="en-US" altLang="zh-CN" dirty="0"/>
              <a:t>D</a:t>
            </a:r>
            <a:endParaRPr lang="zh-CN" altLang="en-US" dirty="0"/>
          </a:p>
        </p:txBody>
      </p:sp>
      <p:sp>
        <p:nvSpPr>
          <p:cNvPr id="65" name="文本框 64"/>
          <p:cNvSpPr txBox="1"/>
          <p:nvPr/>
        </p:nvSpPr>
        <p:spPr>
          <a:xfrm>
            <a:off x="5538787" y="4962525"/>
            <a:ext cx="238125" cy="369332"/>
          </a:xfrm>
          <a:prstGeom prst="rect">
            <a:avLst/>
          </a:prstGeom>
          <a:noFill/>
        </p:spPr>
        <p:txBody>
          <a:bodyPr wrap="square" rtlCol="0">
            <a:spAutoFit/>
          </a:bodyPr>
          <a:lstStyle/>
          <a:p>
            <a:r>
              <a:rPr lang="en-US" altLang="zh-CN" dirty="0"/>
              <a:t>E</a:t>
            </a:r>
            <a:endParaRPr lang="zh-CN" altLang="en-US" dirty="0"/>
          </a:p>
        </p:txBody>
      </p:sp>
      <p:sp>
        <p:nvSpPr>
          <p:cNvPr id="66" name="文本框 65"/>
          <p:cNvSpPr txBox="1"/>
          <p:nvPr/>
        </p:nvSpPr>
        <p:spPr>
          <a:xfrm>
            <a:off x="6491287" y="4371202"/>
            <a:ext cx="238125" cy="369332"/>
          </a:xfrm>
          <a:prstGeom prst="rect">
            <a:avLst/>
          </a:prstGeom>
          <a:noFill/>
        </p:spPr>
        <p:txBody>
          <a:bodyPr wrap="square" rtlCol="0">
            <a:spAutoFit/>
          </a:bodyPr>
          <a:lstStyle/>
          <a:p>
            <a:r>
              <a:rPr lang="en-US" altLang="zh-CN" dirty="0"/>
              <a:t>F</a:t>
            </a:r>
            <a:endParaRPr lang="zh-CN" altLang="en-US" dirty="0"/>
          </a:p>
        </p:txBody>
      </p:sp>
      <p:sp>
        <p:nvSpPr>
          <p:cNvPr id="67" name="文本框 66"/>
          <p:cNvSpPr txBox="1"/>
          <p:nvPr/>
        </p:nvSpPr>
        <p:spPr>
          <a:xfrm>
            <a:off x="5772150" y="3297794"/>
            <a:ext cx="238125" cy="369332"/>
          </a:xfrm>
          <a:prstGeom prst="rect">
            <a:avLst/>
          </a:prstGeom>
          <a:noFill/>
        </p:spPr>
        <p:txBody>
          <a:bodyPr wrap="square" rtlCol="0">
            <a:spAutoFit/>
          </a:bodyPr>
          <a:lstStyle/>
          <a:p>
            <a:r>
              <a:rPr lang="en-US" altLang="zh-CN" dirty="0"/>
              <a:t>G</a:t>
            </a:r>
            <a:endParaRPr lang="zh-CN" altLang="en-US" dirty="0"/>
          </a:p>
        </p:txBody>
      </p:sp>
      <p:sp>
        <p:nvSpPr>
          <p:cNvPr id="68" name="文本框 67"/>
          <p:cNvSpPr txBox="1"/>
          <p:nvPr/>
        </p:nvSpPr>
        <p:spPr>
          <a:xfrm>
            <a:off x="3893343" y="3477696"/>
            <a:ext cx="238125" cy="369332"/>
          </a:xfrm>
          <a:prstGeom prst="rect">
            <a:avLst/>
          </a:prstGeom>
          <a:noFill/>
        </p:spPr>
        <p:txBody>
          <a:bodyPr wrap="square" rtlCol="0">
            <a:spAutoFit/>
          </a:bodyPr>
          <a:lstStyle/>
          <a:p>
            <a:r>
              <a:rPr lang="en-US" altLang="zh-CN" dirty="0"/>
              <a:t>H</a:t>
            </a:r>
            <a:endParaRPr lang="zh-CN" altLang="en-US" dirty="0"/>
          </a:p>
        </p:txBody>
      </p:sp>
      <p:sp>
        <p:nvSpPr>
          <p:cNvPr id="69" name="文本框 68"/>
          <p:cNvSpPr txBox="1"/>
          <p:nvPr/>
        </p:nvSpPr>
        <p:spPr>
          <a:xfrm>
            <a:off x="3781425" y="4456627"/>
            <a:ext cx="238125" cy="369332"/>
          </a:xfrm>
          <a:prstGeom prst="rect">
            <a:avLst/>
          </a:prstGeom>
          <a:noFill/>
        </p:spPr>
        <p:txBody>
          <a:bodyPr wrap="square" rtlCol="0">
            <a:spAutoFit/>
          </a:bodyPr>
          <a:lstStyle/>
          <a:p>
            <a:r>
              <a:rPr lang="en-US" altLang="zh-CN" dirty="0"/>
              <a:t>I</a:t>
            </a:r>
            <a:endParaRPr lang="zh-CN" altLang="en-US" dirty="0"/>
          </a:p>
        </p:txBody>
      </p:sp>
      <p:sp>
        <p:nvSpPr>
          <p:cNvPr id="70" name="文本框 69"/>
          <p:cNvSpPr txBox="1"/>
          <p:nvPr/>
        </p:nvSpPr>
        <p:spPr>
          <a:xfrm>
            <a:off x="3856434" y="5517593"/>
            <a:ext cx="238125" cy="369332"/>
          </a:xfrm>
          <a:prstGeom prst="rect">
            <a:avLst/>
          </a:prstGeom>
          <a:noFill/>
        </p:spPr>
        <p:txBody>
          <a:bodyPr wrap="square" rtlCol="0">
            <a:spAutoFit/>
          </a:bodyPr>
          <a:lstStyle/>
          <a:p>
            <a:r>
              <a:rPr lang="en-US" altLang="zh-CN" dirty="0"/>
              <a:t>J</a:t>
            </a:r>
            <a:endParaRPr lang="zh-CN" altLang="en-US" dirty="0"/>
          </a:p>
        </p:txBody>
      </p:sp>
      <p:sp>
        <p:nvSpPr>
          <p:cNvPr id="71" name="文本框 70"/>
          <p:cNvSpPr txBox="1"/>
          <p:nvPr/>
        </p:nvSpPr>
        <p:spPr>
          <a:xfrm>
            <a:off x="4947046" y="5598766"/>
            <a:ext cx="238125" cy="369332"/>
          </a:xfrm>
          <a:prstGeom prst="rect">
            <a:avLst/>
          </a:prstGeom>
          <a:noFill/>
        </p:spPr>
        <p:txBody>
          <a:bodyPr wrap="square" rtlCol="0">
            <a:spAutoFit/>
          </a:bodyPr>
          <a:lstStyle/>
          <a:p>
            <a:r>
              <a:rPr lang="en-US" altLang="zh-CN" dirty="0"/>
              <a:t>K</a:t>
            </a:r>
            <a:endParaRPr lang="zh-CN" altLang="en-US" dirty="0"/>
          </a:p>
        </p:txBody>
      </p:sp>
      <p:sp>
        <p:nvSpPr>
          <p:cNvPr id="72" name="文本框 71"/>
          <p:cNvSpPr txBox="1"/>
          <p:nvPr/>
        </p:nvSpPr>
        <p:spPr>
          <a:xfrm>
            <a:off x="6143626" y="5606147"/>
            <a:ext cx="238125" cy="369332"/>
          </a:xfrm>
          <a:prstGeom prst="rect">
            <a:avLst/>
          </a:prstGeom>
          <a:noFill/>
        </p:spPr>
        <p:txBody>
          <a:bodyPr wrap="square" rtlCol="0">
            <a:spAutoFit/>
          </a:bodyPr>
          <a:lstStyle/>
          <a:p>
            <a:r>
              <a:rPr lang="en-US" altLang="zh-CN" dirty="0"/>
              <a:t>L</a:t>
            </a:r>
            <a:endParaRPr lang="zh-CN" altLang="en-US" dirty="0"/>
          </a:p>
        </p:txBody>
      </p:sp>
      <p:sp>
        <p:nvSpPr>
          <p:cNvPr id="73" name="文本框 72"/>
          <p:cNvSpPr txBox="1"/>
          <p:nvPr/>
        </p:nvSpPr>
        <p:spPr>
          <a:xfrm>
            <a:off x="7058024" y="5545694"/>
            <a:ext cx="238125" cy="369332"/>
          </a:xfrm>
          <a:prstGeom prst="rect">
            <a:avLst/>
          </a:prstGeom>
          <a:noFill/>
        </p:spPr>
        <p:txBody>
          <a:bodyPr wrap="square" rtlCol="0">
            <a:spAutoFit/>
          </a:bodyPr>
          <a:lstStyle/>
          <a:p>
            <a:r>
              <a:rPr lang="en-US" altLang="zh-CN" dirty="0"/>
              <a:t>M</a:t>
            </a:r>
            <a:endParaRPr lang="zh-CN" altLang="en-US" dirty="0"/>
          </a:p>
        </p:txBody>
      </p:sp>
      <p:sp>
        <p:nvSpPr>
          <p:cNvPr id="74" name="文本框 73"/>
          <p:cNvSpPr txBox="1"/>
          <p:nvPr/>
        </p:nvSpPr>
        <p:spPr>
          <a:xfrm>
            <a:off x="4118370" y="3081635"/>
            <a:ext cx="238125" cy="369332"/>
          </a:xfrm>
          <a:prstGeom prst="rect">
            <a:avLst/>
          </a:prstGeom>
          <a:noFill/>
        </p:spPr>
        <p:txBody>
          <a:bodyPr wrap="square" rtlCol="0">
            <a:spAutoFit/>
          </a:bodyPr>
          <a:lstStyle/>
          <a:p>
            <a:r>
              <a:rPr lang="en-US" altLang="zh-CN" dirty="0"/>
              <a:t>N</a:t>
            </a:r>
            <a:endParaRPr lang="zh-CN" altLang="en-US" dirty="0"/>
          </a:p>
        </p:txBody>
      </p:sp>
      <p:sp>
        <p:nvSpPr>
          <p:cNvPr id="75" name="Rectangle 3" descr="Rectangle: Click to edit Master text styles&#10;Second level&#10;Third level&#10;Fourth level&#10;Fifth level"/>
          <p:cNvSpPr txBox="1">
            <a:spLocks noChangeArrowheads="1"/>
          </p:cNvSpPr>
          <p:nvPr/>
        </p:nvSpPr>
        <p:spPr>
          <a:xfrm>
            <a:off x="8905874" y="2466975"/>
            <a:ext cx="2438400" cy="3581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楷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t>从图中可知该问题可行域无界，目标函数值可以增大到无穷大，成为无界解即无最优解。</a:t>
            </a:r>
            <a:r>
              <a:rPr lang="zh-CN" altLang="en-US" sz="2000" dirty="0">
                <a:solidFill>
                  <a:srgbClr val="FF0000"/>
                </a:solidFill>
              </a:rPr>
              <a:t>出现这种情况，一般说明线性规划模型有错误，该模型中忽略了一些实际存在的必要的约束条件。</a:t>
            </a:r>
            <a:endParaRPr lang="zh-CN" altLang="en-US" sz="2000" dirty="0">
              <a:solidFill>
                <a:srgbClr val="FF0000"/>
              </a:solidFill>
            </a:endParaRPr>
          </a:p>
        </p:txBody>
      </p:sp>
      <p:sp>
        <p:nvSpPr>
          <p:cNvPr id="76" name="Line 56"/>
          <p:cNvSpPr>
            <a:spLocks noChangeShapeType="1"/>
          </p:cNvSpPr>
          <p:nvPr/>
        </p:nvSpPr>
        <p:spPr bwMode="auto">
          <a:xfrm>
            <a:off x="2924175" y="2943225"/>
            <a:ext cx="6172200" cy="3048000"/>
          </a:xfrm>
          <a:prstGeom prst="line">
            <a:avLst/>
          </a:prstGeom>
          <a:noFill/>
          <a:ln w="44450">
            <a:solidFill>
              <a:srgbClr val="333333"/>
            </a:solidFill>
            <a:prstDash val="sysDot"/>
            <a:rou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fade">
                                      <p:cBhvr>
                                        <p:cTn id="10" dur="500"/>
                                        <p:tgtEl>
                                          <p:spTgt spid="5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animEffect transition="in" filter="fade">
                                      <p:cBhvr>
                                        <p:cTn id="13" dur="500"/>
                                        <p:tgtEl>
                                          <p:spTgt spid="5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7"/>
                                        </p:tgtEl>
                                        <p:attrNameLst>
                                          <p:attrName>style.visibility</p:attrName>
                                        </p:attrNameLst>
                                      </p:cBhvr>
                                      <p:to>
                                        <p:strVal val="visible"/>
                                      </p:to>
                                    </p:set>
                                    <p:animEffect transition="in" filter="fade">
                                      <p:cBhvr>
                                        <p:cTn id="16" dur="500"/>
                                        <p:tgtEl>
                                          <p:spTgt spid="5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8"/>
                                        </p:tgtEl>
                                        <p:attrNameLst>
                                          <p:attrName>style.visibility</p:attrName>
                                        </p:attrNameLst>
                                      </p:cBhvr>
                                      <p:to>
                                        <p:strVal val="visible"/>
                                      </p:to>
                                    </p:set>
                                    <p:animEffect transition="in" filter="fade">
                                      <p:cBhvr>
                                        <p:cTn id="19" dur="500"/>
                                        <p:tgtEl>
                                          <p:spTgt spid="5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9"/>
                                        </p:tgtEl>
                                        <p:attrNameLst>
                                          <p:attrName>style.visibility</p:attrName>
                                        </p:attrNameLst>
                                      </p:cBhvr>
                                      <p:to>
                                        <p:strVal val="visible"/>
                                      </p:to>
                                    </p:set>
                                    <p:animEffect transition="in" filter="fade">
                                      <p:cBhvr>
                                        <p:cTn id="22" dur="500"/>
                                        <p:tgtEl>
                                          <p:spTgt spid="5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0"/>
                                        </p:tgtEl>
                                        <p:attrNameLst>
                                          <p:attrName>style.visibility</p:attrName>
                                        </p:attrNameLst>
                                      </p:cBhvr>
                                      <p:to>
                                        <p:strVal val="visible"/>
                                      </p:to>
                                    </p:set>
                                    <p:animEffect transition="in" filter="fade">
                                      <p:cBhvr>
                                        <p:cTn id="25" dur="500"/>
                                        <p:tgtEl>
                                          <p:spTgt spid="60"/>
                                        </p:tgtEl>
                                      </p:cBhvr>
                                    </p:animEffect>
                                  </p:childTnLst>
                                </p:cTn>
                              </p:par>
                            </p:childTnLst>
                          </p:cTn>
                        </p:par>
                        <p:par>
                          <p:cTn id="26" fill="hold">
                            <p:stCondLst>
                              <p:cond delay="500"/>
                            </p:stCondLst>
                            <p:childTnLst>
                              <p:par>
                                <p:cTn id="27" presetID="23" presetClass="entr" presetSubtype="16" fill="hold" grpId="0" nodeType="afterEffect">
                                  <p:stCondLst>
                                    <p:cond delay="0"/>
                                  </p:stCondLst>
                                  <p:childTnLst>
                                    <p:set>
                                      <p:cBhvr>
                                        <p:cTn id="28" dur="1" fill="hold">
                                          <p:stCondLst>
                                            <p:cond delay="0"/>
                                          </p:stCondLst>
                                        </p:cTn>
                                        <p:tgtEl>
                                          <p:spTgt spid="75">
                                            <p:txEl>
                                              <p:pRg st="0" end="0"/>
                                            </p:txEl>
                                          </p:spTgt>
                                        </p:tgtEl>
                                        <p:attrNameLst>
                                          <p:attrName>style.visibility</p:attrName>
                                        </p:attrNameLst>
                                      </p:cBhvr>
                                      <p:to>
                                        <p:strVal val="visible"/>
                                      </p:to>
                                    </p:set>
                                    <p:anim calcmode="lin" valueType="num">
                                      <p:cBhvr>
                                        <p:cTn id="29" dur="500" fill="hold"/>
                                        <p:tgtEl>
                                          <p:spTgt spid="75">
                                            <p:txEl>
                                              <p:pRg st="0" end="0"/>
                                            </p:txEl>
                                          </p:spTgt>
                                        </p:tgtEl>
                                        <p:attrNameLst>
                                          <p:attrName>ppt_w</p:attrName>
                                        </p:attrNameLst>
                                      </p:cBhvr>
                                      <p:tavLst>
                                        <p:tav tm="0">
                                          <p:val>
                                            <p:fltVal val="0"/>
                                          </p:val>
                                        </p:tav>
                                        <p:tav tm="100000">
                                          <p:val>
                                            <p:strVal val="#ppt_w"/>
                                          </p:val>
                                        </p:tav>
                                      </p:tavLst>
                                    </p:anim>
                                    <p:anim calcmode="lin" valueType="num">
                                      <p:cBhvr>
                                        <p:cTn id="30" dur="500" fill="hold"/>
                                        <p:tgtEl>
                                          <p:spTgt spid="75">
                                            <p:txEl>
                                              <p:pRg st="0" end="0"/>
                                            </p:txEl>
                                          </p:spTgt>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7"/>
                                            </p:cond>
                                          </p:stCondLst>
                                          <p:endCondLst>
                                            <p:cond evt="onStopAudio" delay="0">
                                              <p:tgtEl>
                                                <p:sldTgt/>
                                              </p:tgtEl>
                                            </p:cond>
                                          </p:endCondLst>
                                        </p:cTn>
                                        <p:tgtEl>
                                          <p:sndTgt r:embed="rId2" name="chimes.wav"/>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76"/>
                                        </p:tgtEl>
                                        <p:attrNameLst>
                                          <p:attrName>style.visibility</p:attrName>
                                        </p:attrNameLst>
                                      </p:cBhvr>
                                      <p:to>
                                        <p:strVal val="visible"/>
                                      </p:to>
                                    </p:set>
                                    <p:anim calcmode="lin" valueType="num">
                                      <p:cBhvr additive="base">
                                        <p:cTn id="35" dur="500" fill="hold"/>
                                        <p:tgtEl>
                                          <p:spTgt spid="76"/>
                                        </p:tgtEl>
                                        <p:attrNameLst>
                                          <p:attrName>ppt_x</p:attrName>
                                        </p:attrNameLst>
                                      </p:cBhvr>
                                      <p:tavLst>
                                        <p:tav tm="0">
                                          <p:val>
                                            <p:strVal val="#ppt_x"/>
                                          </p:val>
                                        </p:tav>
                                        <p:tav tm="100000">
                                          <p:val>
                                            <p:strVal val="#ppt_x"/>
                                          </p:val>
                                        </p:tav>
                                      </p:tavLst>
                                    </p:anim>
                                    <p:anim calcmode="lin" valueType="num">
                                      <p:cBhvr additive="base">
                                        <p:cTn id="36" dur="500" fill="hold"/>
                                        <p:tgtEl>
                                          <p:spTgt spid="7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P spid="56" grpId="0" animBg="1"/>
      <p:bldP spid="57" grpId="0" animBg="1"/>
      <p:bldP spid="58" grpId="0" animBg="1"/>
      <p:bldP spid="59" grpId="0" animBg="1"/>
      <p:bldP spid="60" grpId="0" animBg="1"/>
      <p:bldP spid="75" grpId="0" advAuto="0" autoUpdateAnimBg="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线性规划问题的图解法</a:t>
            </a:r>
            <a:r>
              <a:rPr lang="en-US" altLang="zh-CN" dirty="0"/>
              <a:t> – </a:t>
            </a:r>
            <a:r>
              <a:rPr lang="zh-CN" altLang="en-US" dirty="0"/>
              <a:t>无可行解</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例</a:t>
                </a:r>
                <a:r>
                  <a:rPr lang="en-US" altLang="zh-CN" dirty="0"/>
                  <a:t>1</a:t>
                </a:r>
                <a:r>
                  <a:rPr lang="zh-CN" altLang="en-US" dirty="0"/>
                  <a:t>中增加一个约束条件</a:t>
                </a:r>
                <a14:m>
                  <m:oMath xmlns:m="http://schemas.openxmlformats.org/officeDocument/2006/math">
                    <m:r>
                      <a:rPr lang="en-US" altLang="zh-CN" b="0" i="1" smtClean="0">
                        <a:latin typeface="Cambria Math" panose="02040503050406030204" pitchFamily="18" charset="0"/>
                      </a:rPr>
                      <m:t>4</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3</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1200</m:t>
                    </m:r>
                  </m:oMath>
                </a14:m>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grpSp>
        <p:nvGrpSpPr>
          <p:cNvPr id="4" name="Group 4"/>
          <p:cNvGrpSpPr/>
          <p:nvPr/>
        </p:nvGrpSpPr>
        <p:grpSpPr bwMode="auto">
          <a:xfrm>
            <a:off x="6581775" y="5257800"/>
            <a:ext cx="3352800" cy="546100"/>
            <a:chOff x="3360" y="3120"/>
            <a:chExt cx="2112" cy="344"/>
          </a:xfrm>
        </p:grpSpPr>
        <p:sp>
          <p:nvSpPr>
            <p:cNvPr id="5" name="Text Box 5"/>
            <p:cNvSpPr txBox="1">
              <a:spLocks noChangeArrowheads="1"/>
            </p:cNvSpPr>
            <p:nvPr/>
          </p:nvSpPr>
          <p:spPr bwMode="auto">
            <a:xfrm>
              <a:off x="4128" y="3168"/>
              <a:ext cx="1344" cy="296"/>
            </a:xfrm>
            <a:prstGeom prst="rect">
              <a:avLst/>
            </a:prstGeom>
            <a:noFill/>
            <a:ln w="12700">
              <a:solidFill>
                <a:srgbClr val="0000FF"/>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a:latin typeface="Times New Roman" panose="02020603050405020304" pitchFamily="18" charset="0"/>
                </a:rPr>
                <a:t>X</a:t>
              </a:r>
              <a:r>
                <a:rPr lang="en-US" altLang="zh-CN" b="1" baseline="-25000">
                  <a:latin typeface="Times New Roman" panose="02020603050405020304" pitchFamily="18" charset="0"/>
                </a:rPr>
                <a:t>1</a:t>
              </a:r>
              <a:r>
                <a:rPr lang="en-US" altLang="zh-CN" b="1">
                  <a:latin typeface="Times New Roman" panose="02020603050405020304" pitchFamily="18" charset="0"/>
                </a:rPr>
                <a:t>+X</a:t>
              </a:r>
              <a:r>
                <a:rPr lang="en-US" altLang="zh-CN" b="1" baseline="-25000">
                  <a:latin typeface="Times New Roman" panose="02020603050405020304" pitchFamily="18" charset="0"/>
                </a:rPr>
                <a:t>2</a:t>
              </a:r>
              <a:r>
                <a:rPr lang="en-US" altLang="zh-CN" b="1">
                  <a:latin typeface="Times New Roman" panose="02020603050405020304" pitchFamily="18" charset="0"/>
                </a:rPr>
                <a:t>=300</a:t>
              </a:r>
              <a:endParaRPr lang="en-US" altLang="zh-CN" b="1">
                <a:latin typeface="Times New Roman" panose="02020603050405020304" pitchFamily="18" charset="0"/>
              </a:endParaRPr>
            </a:p>
          </p:txBody>
        </p:sp>
        <p:sp>
          <p:nvSpPr>
            <p:cNvPr id="6" name="Line 6"/>
            <p:cNvSpPr>
              <a:spLocks noChangeShapeType="1"/>
            </p:cNvSpPr>
            <p:nvPr/>
          </p:nvSpPr>
          <p:spPr bwMode="auto">
            <a:xfrm flipH="1" flipV="1">
              <a:off x="3360" y="3120"/>
              <a:ext cx="768" cy="144"/>
            </a:xfrm>
            <a:prstGeom prst="line">
              <a:avLst/>
            </a:prstGeom>
            <a:noFill/>
            <a:ln w="12700">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7" name="Line 7"/>
          <p:cNvSpPr>
            <a:spLocks noChangeShapeType="1"/>
          </p:cNvSpPr>
          <p:nvPr/>
        </p:nvSpPr>
        <p:spPr bwMode="auto">
          <a:xfrm>
            <a:off x="3533775" y="4953000"/>
            <a:ext cx="4343400" cy="0"/>
          </a:xfrm>
          <a:prstGeom prst="line">
            <a:avLst/>
          </a:prstGeom>
          <a:noFill/>
          <a:ln w="47625">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 name="Line 8"/>
          <p:cNvSpPr>
            <a:spLocks noChangeShapeType="1"/>
          </p:cNvSpPr>
          <p:nvPr/>
        </p:nvSpPr>
        <p:spPr bwMode="auto">
          <a:xfrm flipV="1">
            <a:off x="4371975" y="2286000"/>
            <a:ext cx="0" cy="3048000"/>
          </a:xfrm>
          <a:prstGeom prst="line">
            <a:avLst/>
          </a:prstGeom>
          <a:noFill/>
          <a:ln w="47625">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 name="Line 9"/>
          <p:cNvSpPr>
            <a:spLocks noChangeShapeType="1"/>
          </p:cNvSpPr>
          <p:nvPr/>
        </p:nvSpPr>
        <p:spPr bwMode="auto">
          <a:xfrm>
            <a:off x="4371975" y="3733800"/>
            <a:ext cx="228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 name="Line 10"/>
          <p:cNvSpPr>
            <a:spLocks noChangeShapeType="1"/>
          </p:cNvSpPr>
          <p:nvPr/>
        </p:nvSpPr>
        <p:spPr bwMode="auto">
          <a:xfrm>
            <a:off x="4371975" y="3124200"/>
            <a:ext cx="304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1" name="Line 11"/>
          <p:cNvSpPr>
            <a:spLocks noChangeShapeType="1"/>
          </p:cNvSpPr>
          <p:nvPr/>
        </p:nvSpPr>
        <p:spPr bwMode="auto">
          <a:xfrm>
            <a:off x="4371975" y="2514600"/>
            <a:ext cx="228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2" name="Text Box 12"/>
          <p:cNvSpPr txBox="1">
            <a:spLocks noChangeArrowheads="1"/>
          </p:cNvSpPr>
          <p:nvPr/>
        </p:nvSpPr>
        <p:spPr bwMode="auto">
          <a:xfrm>
            <a:off x="3457575" y="41148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100</a:t>
            </a:r>
            <a:endParaRPr lang="en-US" altLang="zh-CN"/>
          </a:p>
        </p:txBody>
      </p:sp>
      <p:sp>
        <p:nvSpPr>
          <p:cNvPr id="13" name="Text Box 13"/>
          <p:cNvSpPr txBox="1">
            <a:spLocks noChangeArrowheads="1"/>
          </p:cNvSpPr>
          <p:nvPr/>
        </p:nvSpPr>
        <p:spPr bwMode="auto">
          <a:xfrm>
            <a:off x="3381375" y="22860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400</a:t>
            </a:r>
            <a:endParaRPr lang="en-US" altLang="zh-CN"/>
          </a:p>
        </p:txBody>
      </p:sp>
      <p:sp>
        <p:nvSpPr>
          <p:cNvPr id="14" name="Text Box 14"/>
          <p:cNvSpPr txBox="1">
            <a:spLocks noChangeArrowheads="1"/>
          </p:cNvSpPr>
          <p:nvPr/>
        </p:nvSpPr>
        <p:spPr bwMode="auto">
          <a:xfrm>
            <a:off x="4676775" y="44958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100</a:t>
            </a:r>
            <a:endParaRPr lang="en-US" altLang="zh-CN"/>
          </a:p>
        </p:txBody>
      </p:sp>
      <p:sp>
        <p:nvSpPr>
          <p:cNvPr id="15" name="Text Box 15"/>
          <p:cNvSpPr txBox="1">
            <a:spLocks noChangeArrowheads="1"/>
          </p:cNvSpPr>
          <p:nvPr/>
        </p:nvSpPr>
        <p:spPr bwMode="auto">
          <a:xfrm>
            <a:off x="6048375" y="44958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300</a:t>
            </a:r>
            <a:endParaRPr lang="en-US" altLang="zh-CN"/>
          </a:p>
        </p:txBody>
      </p:sp>
      <p:sp>
        <p:nvSpPr>
          <p:cNvPr id="16" name="Text Box 16"/>
          <p:cNvSpPr txBox="1">
            <a:spLocks noChangeArrowheads="1"/>
          </p:cNvSpPr>
          <p:nvPr/>
        </p:nvSpPr>
        <p:spPr bwMode="auto">
          <a:xfrm>
            <a:off x="7496175" y="44196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x</a:t>
            </a:r>
            <a:r>
              <a:rPr lang="en-US" altLang="zh-CN" baseline="-25000"/>
              <a:t>1</a:t>
            </a:r>
            <a:endParaRPr lang="en-US" altLang="zh-CN"/>
          </a:p>
        </p:txBody>
      </p:sp>
      <p:sp>
        <p:nvSpPr>
          <p:cNvPr id="17" name="Line 18"/>
          <p:cNvSpPr>
            <a:spLocks noChangeShapeType="1"/>
          </p:cNvSpPr>
          <p:nvPr/>
        </p:nvSpPr>
        <p:spPr bwMode="auto">
          <a:xfrm>
            <a:off x="4981575" y="4953000"/>
            <a:ext cx="0" cy="76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8" name="Line 19"/>
          <p:cNvSpPr>
            <a:spLocks noChangeShapeType="1"/>
          </p:cNvSpPr>
          <p:nvPr/>
        </p:nvSpPr>
        <p:spPr bwMode="auto">
          <a:xfrm>
            <a:off x="6200775" y="4876800"/>
            <a:ext cx="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 name="Line 20"/>
          <p:cNvSpPr>
            <a:spLocks noChangeShapeType="1"/>
          </p:cNvSpPr>
          <p:nvPr/>
        </p:nvSpPr>
        <p:spPr bwMode="auto">
          <a:xfrm>
            <a:off x="4371975" y="4343400"/>
            <a:ext cx="152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0" name="Line 21"/>
          <p:cNvSpPr>
            <a:spLocks noChangeShapeType="1"/>
          </p:cNvSpPr>
          <p:nvPr/>
        </p:nvSpPr>
        <p:spPr bwMode="auto">
          <a:xfrm>
            <a:off x="3076575" y="3429000"/>
            <a:ext cx="5410200" cy="0"/>
          </a:xfrm>
          <a:prstGeom prst="line">
            <a:avLst/>
          </a:prstGeom>
          <a:noFill/>
          <a:ln w="31750">
            <a:solidFill>
              <a:srgbClr val="00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22"/>
          <p:cNvSpPr>
            <a:spLocks noChangeShapeType="1"/>
          </p:cNvSpPr>
          <p:nvPr/>
        </p:nvSpPr>
        <p:spPr bwMode="auto">
          <a:xfrm>
            <a:off x="3990975" y="2743200"/>
            <a:ext cx="2895600" cy="2895600"/>
          </a:xfrm>
          <a:prstGeom prst="line">
            <a:avLst/>
          </a:prstGeom>
          <a:noFill/>
          <a:ln w="31750">
            <a:solidFill>
              <a:srgbClr val="00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23"/>
          <p:cNvSpPr>
            <a:spLocks noChangeShapeType="1"/>
          </p:cNvSpPr>
          <p:nvPr/>
        </p:nvSpPr>
        <p:spPr bwMode="auto">
          <a:xfrm>
            <a:off x="4905375" y="3670300"/>
            <a:ext cx="914400" cy="1676400"/>
          </a:xfrm>
          <a:prstGeom prst="line">
            <a:avLst/>
          </a:prstGeom>
          <a:noFill/>
          <a:ln w="31750">
            <a:solidFill>
              <a:srgbClr val="00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24"/>
          <p:cNvSpPr>
            <a:spLocks noChangeShapeType="1"/>
          </p:cNvSpPr>
          <p:nvPr/>
        </p:nvSpPr>
        <p:spPr bwMode="auto">
          <a:xfrm flipH="1">
            <a:off x="4371975" y="3429000"/>
            <a:ext cx="152400" cy="2286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4" name="Line 25"/>
          <p:cNvSpPr>
            <a:spLocks noChangeShapeType="1"/>
          </p:cNvSpPr>
          <p:nvPr/>
        </p:nvSpPr>
        <p:spPr bwMode="auto">
          <a:xfrm flipH="1">
            <a:off x="4371975" y="3505200"/>
            <a:ext cx="304800" cy="6096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5" name="Line 26"/>
          <p:cNvSpPr>
            <a:spLocks noChangeShapeType="1"/>
          </p:cNvSpPr>
          <p:nvPr/>
        </p:nvSpPr>
        <p:spPr bwMode="auto">
          <a:xfrm flipH="1">
            <a:off x="4371975" y="3657600"/>
            <a:ext cx="533400" cy="9144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6" name="Line 27"/>
          <p:cNvSpPr>
            <a:spLocks noChangeShapeType="1"/>
          </p:cNvSpPr>
          <p:nvPr/>
        </p:nvSpPr>
        <p:spPr bwMode="auto">
          <a:xfrm flipH="1">
            <a:off x="4524375" y="3962400"/>
            <a:ext cx="533400" cy="9906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7" name="Line 28"/>
          <p:cNvSpPr>
            <a:spLocks noChangeShapeType="1"/>
          </p:cNvSpPr>
          <p:nvPr/>
        </p:nvSpPr>
        <p:spPr bwMode="auto">
          <a:xfrm flipH="1">
            <a:off x="4829175" y="4191000"/>
            <a:ext cx="381000" cy="7620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8" name="Line 29"/>
          <p:cNvSpPr>
            <a:spLocks noChangeShapeType="1"/>
          </p:cNvSpPr>
          <p:nvPr/>
        </p:nvSpPr>
        <p:spPr bwMode="auto">
          <a:xfrm flipH="1">
            <a:off x="5057775" y="4419600"/>
            <a:ext cx="228600" cy="5334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9" name="Line 30"/>
          <p:cNvSpPr>
            <a:spLocks noChangeShapeType="1"/>
          </p:cNvSpPr>
          <p:nvPr/>
        </p:nvSpPr>
        <p:spPr bwMode="auto">
          <a:xfrm flipH="1">
            <a:off x="5286375" y="4648200"/>
            <a:ext cx="152400" cy="3048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grpSp>
        <p:nvGrpSpPr>
          <p:cNvPr id="30" name="Group 31"/>
          <p:cNvGrpSpPr/>
          <p:nvPr/>
        </p:nvGrpSpPr>
        <p:grpSpPr bwMode="auto">
          <a:xfrm>
            <a:off x="6505575" y="2819400"/>
            <a:ext cx="1828800" cy="533400"/>
            <a:chOff x="3264" y="1536"/>
            <a:chExt cx="1152" cy="336"/>
          </a:xfrm>
        </p:grpSpPr>
        <p:sp>
          <p:nvSpPr>
            <p:cNvPr id="31" name="Text Box 32"/>
            <p:cNvSpPr txBox="1">
              <a:spLocks noChangeArrowheads="1"/>
            </p:cNvSpPr>
            <p:nvPr/>
          </p:nvSpPr>
          <p:spPr bwMode="auto">
            <a:xfrm>
              <a:off x="3552" y="1536"/>
              <a:ext cx="864" cy="296"/>
            </a:xfrm>
            <a:prstGeom prst="rect">
              <a:avLst/>
            </a:prstGeom>
            <a:noFill/>
            <a:ln w="12700">
              <a:solidFill>
                <a:srgbClr val="0000FF"/>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a:latin typeface="Times New Roman" panose="02020603050405020304" pitchFamily="18" charset="0"/>
                </a:rPr>
                <a:t>X</a:t>
              </a:r>
              <a:r>
                <a:rPr lang="en-US" altLang="zh-CN" b="1" baseline="-25000">
                  <a:latin typeface="Times New Roman" panose="02020603050405020304" pitchFamily="18" charset="0"/>
                </a:rPr>
                <a:t>2</a:t>
              </a:r>
              <a:r>
                <a:rPr lang="en-US" altLang="zh-CN" b="1">
                  <a:latin typeface="Times New Roman" panose="02020603050405020304" pitchFamily="18" charset="0"/>
                </a:rPr>
                <a:t>=250</a:t>
              </a:r>
              <a:endParaRPr lang="en-US" altLang="zh-CN" b="1">
                <a:latin typeface="Times New Roman" panose="02020603050405020304" pitchFamily="18" charset="0"/>
              </a:endParaRPr>
            </a:p>
          </p:txBody>
        </p:sp>
        <p:sp>
          <p:nvSpPr>
            <p:cNvPr id="32" name="Line 33"/>
            <p:cNvSpPr>
              <a:spLocks noChangeShapeType="1"/>
            </p:cNvSpPr>
            <p:nvPr/>
          </p:nvSpPr>
          <p:spPr bwMode="auto">
            <a:xfrm flipH="1">
              <a:off x="3264" y="1680"/>
              <a:ext cx="288" cy="192"/>
            </a:xfrm>
            <a:prstGeom prst="line">
              <a:avLst/>
            </a:prstGeom>
            <a:noFill/>
            <a:ln w="12700">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3" name="Group 51"/>
          <p:cNvGrpSpPr/>
          <p:nvPr/>
        </p:nvGrpSpPr>
        <p:grpSpPr bwMode="auto">
          <a:xfrm>
            <a:off x="2847975" y="5499100"/>
            <a:ext cx="3886200" cy="466725"/>
            <a:chOff x="1104" y="3648"/>
            <a:chExt cx="2448" cy="294"/>
          </a:xfrm>
        </p:grpSpPr>
        <p:sp>
          <p:nvSpPr>
            <p:cNvPr id="34" name="Text Box 49"/>
            <p:cNvSpPr txBox="1">
              <a:spLocks noChangeArrowheads="1"/>
            </p:cNvSpPr>
            <p:nvPr/>
          </p:nvSpPr>
          <p:spPr bwMode="auto">
            <a:xfrm>
              <a:off x="1104" y="3648"/>
              <a:ext cx="1728"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b="1"/>
                <a:t>4x</a:t>
              </a:r>
              <a:r>
                <a:rPr lang="en-US" altLang="zh-CN" b="1" baseline="-25000"/>
                <a:t>1</a:t>
              </a:r>
              <a:r>
                <a:rPr lang="en-US" altLang="zh-CN" b="1"/>
                <a:t>+3x</a:t>
              </a:r>
              <a:r>
                <a:rPr lang="en-US" altLang="zh-CN" b="1" baseline="-25000"/>
                <a:t>2</a:t>
              </a:r>
              <a:r>
                <a:rPr lang="en-US" altLang="zh-CN" b="1"/>
                <a:t>=1200</a:t>
              </a:r>
              <a:endParaRPr lang="en-US" altLang="zh-CN" b="1"/>
            </a:p>
          </p:txBody>
        </p:sp>
        <p:sp>
          <p:nvSpPr>
            <p:cNvPr id="35" name="Line 50"/>
            <p:cNvSpPr>
              <a:spLocks noChangeShapeType="1"/>
            </p:cNvSpPr>
            <p:nvPr/>
          </p:nvSpPr>
          <p:spPr bwMode="auto">
            <a:xfrm flipV="1">
              <a:off x="2832" y="3805"/>
              <a:ext cx="720" cy="3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36" name="Line 53"/>
          <p:cNvSpPr>
            <a:spLocks noChangeShapeType="1"/>
          </p:cNvSpPr>
          <p:nvPr/>
        </p:nvSpPr>
        <p:spPr bwMode="auto">
          <a:xfrm flipH="1">
            <a:off x="5286375" y="2527300"/>
            <a:ext cx="1143000" cy="1143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7" name="Line 56"/>
          <p:cNvSpPr>
            <a:spLocks noChangeShapeType="1"/>
          </p:cNvSpPr>
          <p:nvPr/>
        </p:nvSpPr>
        <p:spPr bwMode="auto">
          <a:xfrm flipH="1">
            <a:off x="5972175" y="3822700"/>
            <a:ext cx="914400" cy="68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8" name="Line 57"/>
          <p:cNvSpPr>
            <a:spLocks noChangeShapeType="1"/>
          </p:cNvSpPr>
          <p:nvPr/>
        </p:nvSpPr>
        <p:spPr bwMode="auto">
          <a:xfrm flipH="1">
            <a:off x="5591175" y="3441700"/>
            <a:ext cx="60960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9" name="Line 58"/>
          <p:cNvSpPr>
            <a:spLocks noChangeShapeType="1"/>
          </p:cNvSpPr>
          <p:nvPr/>
        </p:nvSpPr>
        <p:spPr bwMode="auto">
          <a:xfrm flipH="1">
            <a:off x="6353175" y="4356100"/>
            <a:ext cx="990600" cy="68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40" name="Line 48"/>
          <p:cNvSpPr>
            <a:spLocks noChangeShapeType="1"/>
          </p:cNvSpPr>
          <p:nvPr/>
        </p:nvSpPr>
        <p:spPr bwMode="auto">
          <a:xfrm>
            <a:off x="4219573" y="2324099"/>
            <a:ext cx="2895601" cy="3852863"/>
          </a:xfrm>
          <a:prstGeom prst="line">
            <a:avLst/>
          </a:prstGeom>
          <a:noFill/>
          <a:ln w="47625">
            <a:solidFill>
              <a:srgbClr val="333399"/>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41" name="文本框 40"/>
          <p:cNvSpPr txBox="1"/>
          <p:nvPr/>
        </p:nvSpPr>
        <p:spPr>
          <a:xfrm>
            <a:off x="8943975" y="1797040"/>
            <a:ext cx="2867024" cy="2308324"/>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显然可见新的线性规划的可行域为空域，也即不存在满足所有约束条件的</a:t>
            </a:r>
            <a:r>
              <a:rPr lang="en-US" altLang="zh-CN" dirty="0">
                <a:latin typeface="楷体" panose="02010609060101010101" pitchFamily="49" charset="-122"/>
                <a:ea typeface="楷体" panose="02010609060101010101" pitchFamily="49" charset="-122"/>
              </a:rPr>
              <a:t>x1</a:t>
            </a:r>
            <a:r>
              <a:rPr lang="zh-CN" altLang="en-US" dirty="0">
                <a:latin typeface="楷体" panose="02010609060101010101" pitchFamily="49" charset="-122"/>
                <a:ea typeface="楷体" panose="02010609060101010101" pitchFamily="49" charset="-122"/>
              </a:rPr>
              <a:t>和</a:t>
            </a:r>
            <a:r>
              <a:rPr lang="en-US" altLang="zh-CN" dirty="0">
                <a:latin typeface="楷体" panose="02010609060101010101" pitchFamily="49" charset="-122"/>
                <a:ea typeface="楷体" panose="02010609060101010101" pitchFamily="49" charset="-122"/>
              </a:rPr>
              <a:t>x2</a:t>
            </a:r>
            <a:r>
              <a:rPr lang="zh-CN" altLang="en-US" dirty="0">
                <a:latin typeface="楷体" panose="02010609060101010101" pitchFamily="49" charset="-122"/>
                <a:ea typeface="楷体" panose="02010609060101010101" pitchFamily="49" charset="-122"/>
              </a:rPr>
              <a:t>的解，当然更不存在最优解了。</a:t>
            </a:r>
            <a:endParaRPr lang="en-US" altLang="zh-CN" dirty="0">
              <a:latin typeface="楷体" panose="02010609060101010101" pitchFamily="49" charset="-122"/>
              <a:ea typeface="楷体" panose="02010609060101010101" pitchFamily="49" charset="-122"/>
            </a:endParaRPr>
          </a:p>
          <a:p>
            <a:r>
              <a:rPr lang="zh-CN" altLang="en-US" dirty="0">
                <a:solidFill>
                  <a:srgbClr val="FF0000"/>
                </a:solidFill>
                <a:latin typeface="楷体" panose="02010609060101010101" pitchFamily="49" charset="-122"/>
                <a:ea typeface="楷体" panose="02010609060101010101" pitchFamily="49" charset="-122"/>
              </a:rPr>
              <a:t>出现这种情况是由于约束条件自相矛盾导致的建模错误。</a:t>
            </a:r>
            <a:endParaRPr lang="zh-CN" altLang="en-US" dirty="0">
              <a:solidFill>
                <a:srgbClr val="FF0000"/>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up)">
                                      <p:cBhvr>
                                        <p:cTn id="11" dur="500"/>
                                        <p:tgtEl>
                                          <p:spTgt spid="16"/>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00"/>
                                        <p:tgtEl>
                                          <p:spTgt spid="8"/>
                                        </p:tgtEl>
                                      </p:cBhvr>
                                    </p:animEffect>
                                  </p:childTnLst>
                                  <p:subTnLst>
                                    <p:audio>
                                      <p:cMediaNode>
                                        <p:cTn display="0" masterRel="sameClick">
                                          <p:stCondLst>
                                            <p:cond evt="begin" delay="0">
                                              <p:tn val="13"/>
                                            </p:cond>
                                          </p:stCondLst>
                                          <p:endCondLst>
                                            <p:cond evt="onStopAudio" delay="0">
                                              <p:tgtEl>
                                                <p:sldTgt/>
                                              </p:tgtEl>
                                            </p:cond>
                                          </p:endCondLst>
                                        </p:cTn>
                                        <p:tgtEl>
                                          <p:sndTgt r:embed="rId2" name="chimes.wav"/>
                                        </p:tgtEl>
                                      </p:cMediaNode>
                                    </p:audio>
                                  </p:sub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up)">
                                      <p:cBhvr>
                                        <p:cTn id="19" dur="500"/>
                                        <p:tgtEl>
                                          <p:spTgt spid="19"/>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up)">
                                      <p:cBhvr>
                                        <p:cTn id="23" dur="500"/>
                                        <p:tgtEl>
                                          <p:spTgt spid="12"/>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childTnLst>
                          </p:cTn>
                        </p:par>
                        <p:par>
                          <p:cTn id="36" fill="hold">
                            <p:stCondLst>
                              <p:cond delay="4000"/>
                            </p:stCondLst>
                            <p:childTnLst>
                              <p:par>
                                <p:cTn id="37" presetID="22" presetClass="entr" presetSubtype="1"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up)">
                                      <p:cBhvr>
                                        <p:cTn id="39" dur="500"/>
                                        <p:tgtEl>
                                          <p:spTgt spid="13"/>
                                        </p:tgtEl>
                                      </p:cBhvr>
                                    </p:animEffect>
                                  </p:childTnLst>
                                </p:cTn>
                              </p:par>
                            </p:childTnLst>
                          </p:cTn>
                        </p:par>
                        <p:par>
                          <p:cTn id="40" fill="hold">
                            <p:stCondLst>
                              <p:cond delay="4500"/>
                            </p:stCondLst>
                            <p:childTnLst>
                              <p:par>
                                <p:cTn id="41" presetID="22" presetClass="entr" presetSubtype="1" fill="hold"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up)">
                                      <p:cBhvr>
                                        <p:cTn id="43" dur="500"/>
                                        <p:tgtEl>
                                          <p:spTgt spid="17"/>
                                        </p:tgtEl>
                                      </p:cBhvr>
                                    </p:animEffect>
                                  </p:childTnLst>
                                </p:cTn>
                              </p:par>
                            </p:childTnLst>
                          </p:cTn>
                        </p:par>
                        <p:par>
                          <p:cTn id="44" fill="hold">
                            <p:stCondLst>
                              <p:cond delay="5000"/>
                            </p:stCondLst>
                            <p:childTnLst>
                              <p:par>
                                <p:cTn id="45" presetID="22" presetClass="entr" presetSubtype="1"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up)">
                                      <p:cBhvr>
                                        <p:cTn id="47" dur="500"/>
                                        <p:tgtEl>
                                          <p:spTgt spid="14"/>
                                        </p:tgtEl>
                                      </p:cBhvr>
                                    </p:animEffect>
                                  </p:childTnLst>
                                </p:cTn>
                              </p:par>
                            </p:childTnLst>
                          </p:cTn>
                        </p:par>
                        <p:par>
                          <p:cTn id="48" fill="hold">
                            <p:stCondLst>
                              <p:cond delay="5500"/>
                            </p:stCondLst>
                            <p:childTnLst>
                              <p:par>
                                <p:cTn id="49" presetID="22" presetClass="entr" presetSubtype="1" fill="hold" nodeType="after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wipe(up)">
                                      <p:cBhvr>
                                        <p:cTn id="51" dur="500"/>
                                        <p:tgtEl>
                                          <p:spTgt spid="18"/>
                                        </p:tgtEl>
                                      </p:cBhvr>
                                    </p:animEffect>
                                  </p:childTnLst>
                                </p:cTn>
                              </p:par>
                            </p:childTnLst>
                          </p:cTn>
                        </p:par>
                        <p:par>
                          <p:cTn id="52" fill="hold">
                            <p:stCondLst>
                              <p:cond delay="6000"/>
                            </p:stCondLst>
                            <p:childTnLst>
                              <p:par>
                                <p:cTn id="53" presetID="22" presetClass="entr" presetSubtype="1" fill="hold" grpId="0"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wipe(up)">
                                      <p:cBhvr>
                                        <p:cTn id="55" dur="500"/>
                                        <p:tgtEl>
                                          <p:spTgt spid="1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2" fill="hold" nodeType="click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wipe(right)">
                                      <p:cBhvr>
                                        <p:cTn id="60" dur="500"/>
                                        <p:tgtEl>
                                          <p:spTgt spid="30"/>
                                        </p:tgtEl>
                                      </p:cBhvr>
                                    </p:animEffect>
                                  </p:childTnLst>
                                </p:cTn>
                              </p:par>
                            </p:childTnLst>
                          </p:cTn>
                        </p:par>
                        <p:par>
                          <p:cTn id="61" fill="hold">
                            <p:stCondLst>
                              <p:cond delay="500"/>
                            </p:stCondLst>
                            <p:childTnLst>
                              <p:par>
                                <p:cTn id="62" presetID="22" presetClass="entr" presetSubtype="8" fill="hold" nodeType="after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wipe(left)">
                                      <p:cBhvr>
                                        <p:cTn id="64" dur="500"/>
                                        <p:tgtEl>
                                          <p:spTgt spid="20"/>
                                        </p:tgtEl>
                                      </p:cBhvr>
                                    </p:animEffect>
                                  </p:childTnLst>
                                </p:cTn>
                              </p:par>
                            </p:childTnLst>
                          </p:cTn>
                        </p:par>
                        <p:par>
                          <p:cTn id="65" fill="hold">
                            <p:stCondLst>
                              <p:cond delay="1000"/>
                            </p:stCondLst>
                            <p:childTnLst>
                              <p:par>
                                <p:cTn id="66" presetID="22" presetClass="entr" presetSubtype="1" fill="hold" nodeType="after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wipe(up)">
                                      <p:cBhvr>
                                        <p:cTn id="68" dur="500"/>
                                        <p:tgtEl>
                                          <p:spTgt spid="21"/>
                                        </p:tgtEl>
                                      </p:cBhvr>
                                    </p:animEffect>
                                  </p:childTnLst>
                                </p:cTn>
                              </p:par>
                            </p:childTnLst>
                          </p:cTn>
                        </p:par>
                        <p:par>
                          <p:cTn id="69" fill="hold">
                            <p:stCondLst>
                              <p:cond delay="1500"/>
                            </p:stCondLst>
                            <p:childTnLst>
                              <p:par>
                                <p:cTn id="70" presetID="22" presetClass="entr" presetSubtype="2" fill="hold" nodeType="after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wipe(right)">
                                      <p:cBhvr>
                                        <p:cTn id="72" dur="500"/>
                                        <p:tgtEl>
                                          <p:spTgt spid="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wipe(up)">
                                      <p:cBhvr>
                                        <p:cTn id="77" dur="500"/>
                                        <p:tgtEl>
                                          <p:spTgt spid="2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wipe(down)">
                                      <p:cBhvr>
                                        <p:cTn id="82" dur="500"/>
                                        <p:tgtEl>
                                          <p:spTgt spid="23"/>
                                        </p:tgtEl>
                                      </p:cBhvr>
                                    </p:animEffect>
                                  </p:childTnLst>
                                  <p:subTnLst>
                                    <p:audio>
                                      <p:cMediaNode>
                                        <p:cTn display="0" masterRel="sameClick">
                                          <p:stCondLst>
                                            <p:cond evt="begin" delay="0">
                                              <p:tn val="80"/>
                                            </p:cond>
                                          </p:stCondLst>
                                          <p:endCondLst>
                                            <p:cond evt="onStopAudio" delay="0">
                                              <p:tgtEl>
                                                <p:sldTgt/>
                                              </p:tgtEl>
                                            </p:cond>
                                          </p:endCondLst>
                                        </p:cTn>
                                        <p:tgtEl>
                                          <p:sndTgt r:embed="rId2" name="chimes.wav"/>
                                        </p:tgtEl>
                                      </p:cMediaNode>
                                    </p:audio>
                                  </p:subTnLst>
                                </p:cTn>
                              </p:par>
                            </p:childTnLst>
                          </p:cTn>
                        </p:par>
                        <p:par>
                          <p:cTn id="83" fill="hold">
                            <p:stCondLst>
                              <p:cond delay="500"/>
                            </p:stCondLst>
                            <p:childTnLst>
                              <p:par>
                                <p:cTn id="84" presetID="22" presetClass="entr" presetSubtype="4" fill="hold" nodeType="after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wipe(down)">
                                      <p:cBhvr>
                                        <p:cTn id="86" dur="500"/>
                                        <p:tgtEl>
                                          <p:spTgt spid="24"/>
                                        </p:tgtEl>
                                      </p:cBhvr>
                                    </p:animEffect>
                                  </p:childTnLst>
                                </p:cTn>
                              </p:par>
                            </p:childTnLst>
                          </p:cTn>
                        </p:par>
                        <p:par>
                          <p:cTn id="87" fill="hold">
                            <p:stCondLst>
                              <p:cond delay="1000"/>
                            </p:stCondLst>
                            <p:childTnLst>
                              <p:par>
                                <p:cTn id="88" presetID="22" presetClass="entr" presetSubtype="4" fill="hold" nodeType="afterEffect">
                                  <p:stCondLst>
                                    <p:cond delay="0"/>
                                  </p:stCondLst>
                                  <p:childTnLst>
                                    <p:set>
                                      <p:cBhvr>
                                        <p:cTn id="89" dur="1" fill="hold">
                                          <p:stCondLst>
                                            <p:cond delay="0"/>
                                          </p:stCondLst>
                                        </p:cTn>
                                        <p:tgtEl>
                                          <p:spTgt spid="25"/>
                                        </p:tgtEl>
                                        <p:attrNameLst>
                                          <p:attrName>style.visibility</p:attrName>
                                        </p:attrNameLst>
                                      </p:cBhvr>
                                      <p:to>
                                        <p:strVal val="visible"/>
                                      </p:to>
                                    </p:set>
                                    <p:animEffect transition="in" filter="wipe(down)">
                                      <p:cBhvr>
                                        <p:cTn id="90" dur="500"/>
                                        <p:tgtEl>
                                          <p:spTgt spid="25"/>
                                        </p:tgtEl>
                                      </p:cBhvr>
                                    </p:animEffect>
                                  </p:childTnLst>
                                </p:cTn>
                              </p:par>
                            </p:childTnLst>
                          </p:cTn>
                        </p:par>
                        <p:par>
                          <p:cTn id="91" fill="hold">
                            <p:stCondLst>
                              <p:cond delay="1500"/>
                            </p:stCondLst>
                            <p:childTnLst>
                              <p:par>
                                <p:cTn id="92" presetID="22" presetClass="entr" presetSubtype="4" fill="hold" nodeType="afterEffect">
                                  <p:stCondLst>
                                    <p:cond delay="0"/>
                                  </p:stCondLst>
                                  <p:childTnLst>
                                    <p:set>
                                      <p:cBhvr>
                                        <p:cTn id="93" dur="1" fill="hold">
                                          <p:stCondLst>
                                            <p:cond delay="0"/>
                                          </p:stCondLst>
                                        </p:cTn>
                                        <p:tgtEl>
                                          <p:spTgt spid="26"/>
                                        </p:tgtEl>
                                        <p:attrNameLst>
                                          <p:attrName>style.visibility</p:attrName>
                                        </p:attrNameLst>
                                      </p:cBhvr>
                                      <p:to>
                                        <p:strVal val="visible"/>
                                      </p:to>
                                    </p:set>
                                    <p:animEffect transition="in" filter="wipe(down)">
                                      <p:cBhvr>
                                        <p:cTn id="94" dur="500"/>
                                        <p:tgtEl>
                                          <p:spTgt spid="26"/>
                                        </p:tgtEl>
                                      </p:cBhvr>
                                    </p:animEffect>
                                  </p:childTnLst>
                                </p:cTn>
                              </p:par>
                            </p:childTnLst>
                          </p:cTn>
                        </p:par>
                        <p:par>
                          <p:cTn id="95" fill="hold">
                            <p:stCondLst>
                              <p:cond delay="2000"/>
                            </p:stCondLst>
                            <p:childTnLst>
                              <p:par>
                                <p:cTn id="96" presetID="22" presetClass="entr" presetSubtype="4" fill="hold" nodeType="after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wipe(down)">
                                      <p:cBhvr>
                                        <p:cTn id="98" dur="500"/>
                                        <p:tgtEl>
                                          <p:spTgt spid="27"/>
                                        </p:tgtEl>
                                      </p:cBhvr>
                                    </p:animEffect>
                                  </p:childTnLst>
                                </p:cTn>
                              </p:par>
                            </p:childTnLst>
                          </p:cTn>
                        </p:par>
                        <p:par>
                          <p:cTn id="99" fill="hold">
                            <p:stCondLst>
                              <p:cond delay="2500"/>
                            </p:stCondLst>
                            <p:childTnLst>
                              <p:par>
                                <p:cTn id="100" presetID="22" presetClass="entr" presetSubtype="4" fill="hold" nodeType="afterEffect">
                                  <p:stCondLst>
                                    <p:cond delay="0"/>
                                  </p:stCondLst>
                                  <p:childTnLst>
                                    <p:set>
                                      <p:cBhvr>
                                        <p:cTn id="101" dur="1" fill="hold">
                                          <p:stCondLst>
                                            <p:cond delay="0"/>
                                          </p:stCondLst>
                                        </p:cTn>
                                        <p:tgtEl>
                                          <p:spTgt spid="28"/>
                                        </p:tgtEl>
                                        <p:attrNameLst>
                                          <p:attrName>style.visibility</p:attrName>
                                        </p:attrNameLst>
                                      </p:cBhvr>
                                      <p:to>
                                        <p:strVal val="visible"/>
                                      </p:to>
                                    </p:set>
                                    <p:animEffect transition="in" filter="wipe(down)">
                                      <p:cBhvr>
                                        <p:cTn id="102" dur="500"/>
                                        <p:tgtEl>
                                          <p:spTgt spid="28"/>
                                        </p:tgtEl>
                                      </p:cBhvr>
                                    </p:animEffect>
                                  </p:childTnLst>
                                </p:cTn>
                              </p:par>
                            </p:childTnLst>
                          </p:cTn>
                        </p:par>
                        <p:par>
                          <p:cTn id="103" fill="hold">
                            <p:stCondLst>
                              <p:cond delay="3000"/>
                            </p:stCondLst>
                            <p:childTnLst>
                              <p:par>
                                <p:cTn id="104" presetID="22" presetClass="entr" presetSubtype="4" fill="hold" nodeType="afterEffect">
                                  <p:stCondLst>
                                    <p:cond delay="0"/>
                                  </p:stCondLst>
                                  <p:childTnLst>
                                    <p:set>
                                      <p:cBhvr>
                                        <p:cTn id="105" dur="1" fill="hold">
                                          <p:stCondLst>
                                            <p:cond delay="0"/>
                                          </p:stCondLst>
                                        </p:cTn>
                                        <p:tgtEl>
                                          <p:spTgt spid="29"/>
                                        </p:tgtEl>
                                        <p:attrNameLst>
                                          <p:attrName>style.visibility</p:attrName>
                                        </p:attrNameLst>
                                      </p:cBhvr>
                                      <p:to>
                                        <p:strVal val="visible"/>
                                      </p:to>
                                    </p:set>
                                    <p:animEffect transition="in" filter="wipe(down)">
                                      <p:cBhvr>
                                        <p:cTn id="106" dur="500"/>
                                        <p:tgtEl>
                                          <p:spTgt spid="29"/>
                                        </p:tgtEl>
                                      </p:cBhvr>
                                    </p:animEffect>
                                  </p:childTnLst>
                                </p:cTn>
                              </p:par>
                            </p:childTnLst>
                          </p:cTn>
                        </p:par>
                        <p:par>
                          <p:cTn id="107" fill="hold">
                            <p:stCondLst>
                              <p:cond delay="3500"/>
                            </p:stCondLst>
                            <p:childTnLst>
                              <p:par>
                                <p:cTn id="108" presetID="22" presetClass="entr" presetSubtype="8" fill="hold" nodeType="afterEffect">
                                  <p:stCondLst>
                                    <p:cond delay="0"/>
                                  </p:stCondLst>
                                  <p:childTnLst>
                                    <p:set>
                                      <p:cBhvr>
                                        <p:cTn id="109" dur="1" fill="hold">
                                          <p:stCondLst>
                                            <p:cond delay="0"/>
                                          </p:stCondLst>
                                        </p:cTn>
                                        <p:tgtEl>
                                          <p:spTgt spid="33"/>
                                        </p:tgtEl>
                                        <p:attrNameLst>
                                          <p:attrName>style.visibility</p:attrName>
                                        </p:attrNameLst>
                                      </p:cBhvr>
                                      <p:to>
                                        <p:strVal val="visible"/>
                                      </p:to>
                                    </p:set>
                                    <p:animEffect transition="in" filter="wipe(left)">
                                      <p:cBhvr>
                                        <p:cTn id="110" dur="500"/>
                                        <p:tgtEl>
                                          <p:spTgt spid="33"/>
                                        </p:tgtEl>
                                      </p:cBhvr>
                                    </p:animEffect>
                                  </p:childTnLst>
                                </p:cTn>
                              </p:par>
                            </p:childTnLst>
                          </p:cTn>
                        </p:par>
                        <p:par>
                          <p:cTn id="111" fill="hold">
                            <p:stCondLst>
                              <p:cond delay="4000"/>
                            </p:stCondLst>
                            <p:childTnLst>
                              <p:par>
                                <p:cTn id="112" presetID="2" presetClass="entr" presetSubtype="3" fill="hold" nodeType="afterEffect">
                                  <p:stCondLst>
                                    <p:cond delay="0"/>
                                  </p:stCondLst>
                                  <p:childTnLst>
                                    <p:set>
                                      <p:cBhvr>
                                        <p:cTn id="113" dur="1" fill="hold">
                                          <p:stCondLst>
                                            <p:cond delay="0"/>
                                          </p:stCondLst>
                                        </p:cTn>
                                        <p:tgtEl>
                                          <p:spTgt spid="36"/>
                                        </p:tgtEl>
                                        <p:attrNameLst>
                                          <p:attrName>style.visibility</p:attrName>
                                        </p:attrNameLst>
                                      </p:cBhvr>
                                      <p:to>
                                        <p:strVal val="visible"/>
                                      </p:to>
                                    </p:set>
                                    <p:anim calcmode="lin" valueType="num">
                                      <p:cBhvr additive="base">
                                        <p:cTn id="114" dur="500" fill="hold"/>
                                        <p:tgtEl>
                                          <p:spTgt spid="36"/>
                                        </p:tgtEl>
                                        <p:attrNameLst>
                                          <p:attrName>ppt_x</p:attrName>
                                        </p:attrNameLst>
                                      </p:cBhvr>
                                      <p:tavLst>
                                        <p:tav tm="0">
                                          <p:val>
                                            <p:strVal val="1+#ppt_w/2"/>
                                          </p:val>
                                        </p:tav>
                                        <p:tav tm="100000">
                                          <p:val>
                                            <p:strVal val="#ppt_x"/>
                                          </p:val>
                                        </p:tav>
                                      </p:tavLst>
                                    </p:anim>
                                    <p:anim calcmode="lin" valueType="num">
                                      <p:cBhvr additive="base">
                                        <p:cTn id="115" dur="500" fill="hold"/>
                                        <p:tgtEl>
                                          <p:spTgt spid="36"/>
                                        </p:tgtEl>
                                        <p:attrNameLst>
                                          <p:attrName>ppt_y</p:attrName>
                                        </p:attrNameLst>
                                      </p:cBhvr>
                                      <p:tavLst>
                                        <p:tav tm="0">
                                          <p:val>
                                            <p:strVal val="0-#ppt_h/2"/>
                                          </p:val>
                                        </p:tav>
                                        <p:tav tm="100000">
                                          <p:val>
                                            <p:strVal val="#ppt_y"/>
                                          </p:val>
                                        </p:tav>
                                      </p:tavLst>
                                    </p:anim>
                                  </p:childTnLst>
                                </p:cTn>
                              </p:par>
                            </p:childTnLst>
                          </p:cTn>
                        </p:par>
                        <p:par>
                          <p:cTn id="116" fill="hold">
                            <p:stCondLst>
                              <p:cond delay="4500"/>
                            </p:stCondLst>
                            <p:childTnLst>
                              <p:par>
                                <p:cTn id="117" presetID="2" presetClass="entr" presetSubtype="3" fill="hold" nodeType="afterEffect">
                                  <p:stCondLst>
                                    <p:cond delay="0"/>
                                  </p:stCondLst>
                                  <p:childTnLst>
                                    <p:set>
                                      <p:cBhvr>
                                        <p:cTn id="118" dur="1" fill="hold">
                                          <p:stCondLst>
                                            <p:cond delay="0"/>
                                          </p:stCondLst>
                                        </p:cTn>
                                        <p:tgtEl>
                                          <p:spTgt spid="37"/>
                                        </p:tgtEl>
                                        <p:attrNameLst>
                                          <p:attrName>style.visibility</p:attrName>
                                        </p:attrNameLst>
                                      </p:cBhvr>
                                      <p:to>
                                        <p:strVal val="visible"/>
                                      </p:to>
                                    </p:set>
                                    <p:anim calcmode="lin" valueType="num">
                                      <p:cBhvr additive="base">
                                        <p:cTn id="119" dur="500" fill="hold"/>
                                        <p:tgtEl>
                                          <p:spTgt spid="37"/>
                                        </p:tgtEl>
                                        <p:attrNameLst>
                                          <p:attrName>ppt_x</p:attrName>
                                        </p:attrNameLst>
                                      </p:cBhvr>
                                      <p:tavLst>
                                        <p:tav tm="0">
                                          <p:val>
                                            <p:strVal val="1+#ppt_w/2"/>
                                          </p:val>
                                        </p:tav>
                                        <p:tav tm="100000">
                                          <p:val>
                                            <p:strVal val="#ppt_x"/>
                                          </p:val>
                                        </p:tav>
                                      </p:tavLst>
                                    </p:anim>
                                    <p:anim calcmode="lin" valueType="num">
                                      <p:cBhvr additive="base">
                                        <p:cTn id="120" dur="500" fill="hold"/>
                                        <p:tgtEl>
                                          <p:spTgt spid="37"/>
                                        </p:tgtEl>
                                        <p:attrNameLst>
                                          <p:attrName>ppt_y</p:attrName>
                                        </p:attrNameLst>
                                      </p:cBhvr>
                                      <p:tavLst>
                                        <p:tav tm="0">
                                          <p:val>
                                            <p:strVal val="0-#ppt_h/2"/>
                                          </p:val>
                                        </p:tav>
                                        <p:tav tm="100000">
                                          <p:val>
                                            <p:strVal val="#ppt_y"/>
                                          </p:val>
                                        </p:tav>
                                      </p:tavLst>
                                    </p:anim>
                                  </p:childTnLst>
                                </p:cTn>
                              </p:par>
                            </p:childTnLst>
                          </p:cTn>
                        </p:par>
                        <p:par>
                          <p:cTn id="121" fill="hold">
                            <p:stCondLst>
                              <p:cond delay="5000"/>
                            </p:stCondLst>
                            <p:childTnLst>
                              <p:par>
                                <p:cTn id="122" presetID="2" presetClass="entr" presetSubtype="3" fill="hold" nodeType="afterEffect">
                                  <p:stCondLst>
                                    <p:cond delay="0"/>
                                  </p:stCondLst>
                                  <p:childTnLst>
                                    <p:set>
                                      <p:cBhvr>
                                        <p:cTn id="123" dur="1" fill="hold">
                                          <p:stCondLst>
                                            <p:cond delay="0"/>
                                          </p:stCondLst>
                                        </p:cTn>
                                        <p:tgtEl>
                                          <p:spTgt spid="38"/>
                                        </p:tgtEl>
                                        <p:attrNameLst>
                                          <p:attrName>style.visibility</p:attrName>
                                        </p:attrNameLst>
                                      </p:cBhvr>
                                      <p:to>
                                        <p:strVal val="visible"/>
                                      </p:to>
                                    </p:set>
                                    <p:anim calcmode="lin" valueType="num">
                                      <p:cBhvr additive="base">
                                        <p:cTn id="124" dur="500" fill="hold"/>
                                        <p:tgtEl>
                                          <p:spTgt spid="38"/>
                                        </p:tgtEl>
                                        <p:attrNameLst>
                                          <p:attrName>ppt_x</p:attrName>
                                        </p:attrNameLst>
                                      </p:cBhvr>
                                      <p:tavLst>
                                        <p:tav tm="0">
                                          <p:val>
                                            <p:strVal val="1+#ppt_w/2"/>
                                          </p:val>
                                        </p:tav>
                                        <p:tav tm="100000">
                                          <p:val>
                                            <p:strVal val="#ppt_x"/>
                                          </p:val>
                                        </p:tav>
                                      </p:tavLst>
                                    </p:anim>
                                    <p:anim calcmode="lin" valueType="num">
                                      <p:cBhvr additive="base">
                                        <p:cTn id="125" dur="500" fill="hold"/>
                                        <p:tgtEl>
                                          <p:spTgt spid="38"/>
                                        </p:tgtEl>
                                        <p:attrNameLst>
                                          <p:attrName>ppt_y</p:attrName>
                                        </p:attrNameLst>
                                      </p:cBhvr>
                                      <p:tavLst>
                                        <p:tav tm="0">
                                          <p:val>
                                            <p:strVal val="0-#ppt_h/2"/>
                                          </p:val>
                                        </p:tav>
                                        <p:tav tm="100000">
                                          <p:val>
                                            <p:strVal val="#ppt_y"/>
                                          </p:val>
                                        </p:tav>
                                      </p:tavLst>
                                    </p:anim>
                                  </p:childTnLst>
                                </p:cTn>
                              </p:par>
                            </p:childTnLst>
                          </p:cTn>
                        </p:par>
                        <p:par>
                          <p:cTn id="126" fill="hold">
                            <p:stCondLst>
                              <p:cond delay="5500"/>
                            </p:stCondLst>
                            <p:childTnLst>
                              <p:par>
                                <p:cTn id="127" presetID="2" presetClass="entr" presetSubtype="3" fill="hold" nodeType="afterEffect">
                                  <p:stCondLst>
                                    <p:cond delay="0"/>
                                  </p:stCondLst>
                                  <p:childTnLst>
                                    <p:set>
                                      <p:cBhvr>
                                        <p:cTn id="128" dur="1" fill="hold">
                                          <p:stCondLst>
                                            <p:cond delay="0"/>
                                          </p:stCondLst>
                                        </p:cTn>
                                        <p:tgtEl>
                                          <p:spTgt spid="39"/>
                                        </p:tgtEl>
                                        <p:attrNameLst>
                                          <p:attrName>style.visibility</p:attrName>
                                        </p:attrNameLst>
                                      </p:cBhvr>
                                      <p:to>
                                        <p:strVal val="visible"/>
                                      </p:to>
                                    </p:set>
                                    <p:anim calcmode="lin" valueType="num">
                                      <p:cBhvr additive="base">
                                        <p:cTn id="129" dur="500" fill="hold"/>
                                        <p:tgtEl>
                                          <p:spTgt spid="39"/>
                                        </p:tgtEl>
                                        <p:attrNameLst>
                                          <p:attrName>ppt_x</p:attrName>
                                        </p:attrNameLst>
                                      </p:cBhvr>
                                      <p:tavLst>
                                        <p:tav tm="0">
                                          <p:val>
                                            <p:strVal val="1+#ppt_w/2"/>
                                          </p:val>
                                        </p:tav>
                                        <p:tav tm="100000">
                                          <p:val>
                                            <p:strVal val="#ppt_x"/>
                                          </p:val>
                                        </p:tav>
                                      </p:tavLst>
                                    </p:anim>
                                    <p:anim calcmode="lin" valueType="num">
                                      <p:cBhvr additive="base">
                                        <p:cTn id="130" dur="500" fill="hold"/>
                                        <p:tgtEl>
                                          <p:spTgt spid="39"/>
                                        </p:tgtEl>
                                        <p:attrNameLst>
                                          <p:attrName>ppt_y</p:attrName>
                                        </p:attrNameLst>
                                      </p:cBhvr>
                                      <p:tavLst>
                                        <p:tav tm="0">
                                          <p:val>
                                            <p:strVal val="0-#ppt_h/2"/>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22" presetClass="entr" presetSubtype="1" fill="hold" nodeType="clickEffect">
                                  <p:stCondLst>
                                    <p:cond delay="0"/>
                                  </p:stCondLst>
                                  <p:childTnLst>
                                    <p:set>
                                      <p:cBhvr>
                                        <p:cTn id="134" dur="1" fill="hold">
                                          <p:stCondLst>
                                            <p:cond delay="0"/>
                                          </p:stCondLst>
                                        </p:cTn>
                                        <p:tgtEl>
                                          <p:spTgt spid="40"/>
                                        </p:tgtEl>
                                        <p:attrNameLst>
                                          <p:attrName>style.visibility</p:attrName>
                                        </p:attrNameLst>
                                      </p:cBhvr>
                                      <p:to>
                                        <p:strVal val="visible"/>
                                      </p:to>
                                    </p:set>
                                    <p:animEffect transition="in" filter="wipe(up)">
                                      <p:cBhvr>
                                        <p:cTn id="135" dur="500"/>
                                        <p:tgtEl>
                                          <p:spTgt spid="40"/>
                                        </p:tgtEl>
                                      </p:cBhvr>
                                    </p:animEffec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3" grpId="0" autoUpdateAnimBg="0"/>
      <p:bldP spid="14" grpId="0" autoUpdateAnimBg="0"/>
      <p:bldP spid="15" grpId="0" autoUpdateAnimBg="0"/>
      <p:bldP spid="16" grpId="0" autoUpdateAnimBg="0"/>
      <p:bldP spid="4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可行域为空域，不存在满足约束条件解的情况被称为</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填空</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1]</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当可行域的范围延伸到无穷远时，我们把这种情况对应的解称为</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唯一最优解</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无穷多最优解</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无可行解</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无界解</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6"/>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7"/>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8"/>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椭圆 1"/>
          <p:cNvSpPr>
            <a:spLocks noChangeAspect="1"/>
          </p:cNvSpPr>
          <p:nvPr>
            <p:custDataLst>
              <p:tags r:id="rId9"/>
            </p:custDataLst>
          </p:nvPr>
        </p:nvSpPr>
        <p:spPr>
          <a:xfrm>
            <a:off x="1566545" y="5410041"/>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10"/>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线性规划问题的图解法</a:t>
            </a:r>
            <a:r>
              <a:rPr lang="en-US" altLang="zh-CN" dirty="0"/>
              <a:t> – </a:t>
            </a:r>
            <a:r>
              <a:rPr lang="zh-CN" altLang="en-US" dirty="0"/>
              <a:t>例</a:t>
            </a:r>
            <a:r>
              <a:rPr lang="en-US" altLang="zh-CN" dirty="0"/>
              <a:t>1</a:t>
            </a:r>
            <a:r>
              <a:rPr lang="zh-CN" altLang="en-US" dirty="0"/>
              <a:t>的优化结果</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zh-CN" altLang="en-US" dirty="0"/>
                  <a:t>该厂最大利润的生产计划方案是：</a:t>
                </a:r>
                <a:endParaRPr lang="en-US" altLang="zh-CN" dirty="0"/>
              </a:p>
              <a:p>
                <a:pPr lvl="1"/>
                <a:r>
                  <a:rPr lang="zh-CN" altLang="en-US" dirty="0"/>
                  <a:t>产品</a:t>
                </a:r>
                <a:r>
                  <a:rPr lang="en-US" altLang="zh-CN" dirty="0"/>
                  <a:t>I</a:t>
                </a:r>
                <a:r>
                  <a:rPr lang="zh-CN" altLang="en-US" dirty="0"/>
                  <a:t>：</a:t>
                </a:r>
                <a:r>
                  <a:rPr lang="en-US" altLang="zh-CN" dirty="0"/>
                  <a:t>50</a:t>
                </a:r>
                <a:r>
                  <a:rPr lang="zh-CN" altLang="en-US" dirty="0"/>
                  <a:t>；产品</a:t>
                </a:r>
                <a:r>
                  <a:rPr lang="en-US" altLang="zh-CN" dirty="0"/>
                  <a:t>II</a:t>
                </a:r>
                <a:r>
                  <a:rPr lang="zh-CN" altLang="en-US" dirty="0"/>
                  <a:t>：</a:t>
                </a:r>
                <a:r>
                  <a:rPr lang="en-US" altLang="zh-CN" dirty="0"/>
                  <a:t>250</a:t>
                </a:r>
                <a:r>
                  <a:rPr lang="zh-CN" altLang="en-US" dirty="0"/>
                  <a:t>；此时利润为</a:t>
                </a:r>
                <a14:m>
                  <m:oMath xmlns:m="http://schemas.openxmlformats.org/officeDocument/2006/math">
                    <m:r>
                      <a:rPr lang="en-US" altLang="zh-CN" i="1">
                        <a:latin typeface="Cambria Math" panose="02040503050406030204" pitchFamily="18" charset="0"/>
                      </a:rPr>
                      <m:t>50</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50</m:t>
                    </m:r>
                    <m:r>
                      <a:rPr lang="en-US" altLang="zh-CN" i="1">
                        <a:latin typeface="Cambria Math" panose="02040503050406030204" pitchFamily="18" charset="0"/>
                      </a:rPr>
                      <m:t>+</m:t>
                    </m:r>
                    <m:r>
                      <a:rPr lang="en-US" altLang="zh-CN" i="1">
                        <a:latin typeface="Cambria Math" panose="02040503050406030204" pitchFamily="18" charset="0"/>
                      </a:rPr>
                      <m:t>250</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100</m:t>
                    </m:r>
                    <m:r>
                      <a:rPr lang="en-US" altLang="zh-CN" i="1">
                        <a:latin typeface="Cambria Math" panose="02040503050406030204" pitchFamily="18" charset="0"/>
                      </a:rPr>
                      <m:t>=</m:t>
                    </m:r>
                    <m:r>
                      <a:rPr lang="en-US" altLang="zh-CN" b="0" i="1" smtClean="0">
                        <a:latin typeface="Cambria Math" panose="02040503050406030204" pitchFamily="18" charset="0"/>
                      </a:rPr>
                      <m:t>27500</m:t>
                    </m:r>
                    <m:r>
                      <a:rPr lang="en-US" altLang="zh-CN" i="1">
                        <a:latin typeface="Cambria Math" panose="02040503050406030204" pitchFamily="18" charset="0"/>
                      </a:rPr>
                      <m:t> </m:t>
                    </m:r>
                  </m:oMath>
                </a14:m>
                <a:r>
                  <a:rPr lang="zh-CN" altLang="en-US" dirty="0"/>
                  <a:t>元</a:t>
                </a:r>
                <a:endParaRPr lang="en-US" altLang="zh-CN" dirty="0"/>
              </a:p>
              <a:p>
                <a:r>
                  <a:rPr lang="zh-CN" altLang="en-US" dirty="0"/>
                  <a:t>在最大利润生产计划方案中，资源消耗情况如下：</a:t>
                </a:r>
                <a:endParaRPr lang="en-US" altLang="zh-CN" dirty="0"/>
              </a:p>
              <a:p>
                <a:pPr lvl="1"/>
                <a:r>
                  <a:rPr lang="zh-CN" altLang="en-US" dirty="0"/>
                  <a:t>消耗台时：</a:t>
                </a:r>
                <a14:m>
                  <m:oMath xmlns:m="http://schemas.openxmlformats.org/officeDocument/2006/math">
                    <m:r>
                      <a:rPr lang="en-US" altLang="zh-CN" b="0" i="1" smtClean="0">
                        <a:latin typeface="Cambria Math" panose="02040503050406030204" pitchFamily="18" charset="0"/>
                      </a:rPr>
                      <m:t>50</m:t>
                    </m:r>
                    <m:r>
                      <a:rPr lang="en-US" altLang="zh-CN" b="0" i="1" smtClean="0">
                        <a:latin typeface="Cambria Math" panose="02040503050406030204" pitchFamily="18" charset="0"/>
                      </a:rPr>
                      <m:t>+</m:t>
                    </m:r>
                    <m:r>
                      <a:rPr lang="en-US" altLang="zh-CN" b="0" i="1" smtClean="0">
                        <a:latin typeface="Cambria Math" panose="02040503050406030204" pitchFamily="18" charset="0"/>
                      </a:rPr>
                      <m:t>250</m:t>
                    </m:r>
                    <m:r>
                      <a:rPr lang="en-US" altLang="zh-CN" b="0" i="1" smtClean="0">
                        <a:latin typeface="Cambria Math" panose="02040503050406030204" pitchFamily="18" charset="0"/>
                      </a:rPr>
                      <m:t>=</m:t>
                    </m:r>
                    <m:r>
                      <a:rPr lang="en-US" altLang="zh-CN" b="0" i="1" smtClean="0">
                        <a:latin typeface="Cambria Math" panose="02040503050406030204" pitchFamily="18" charset="0"/>
                      </a:rPr>
                      <m:t>300</m:t>
                    </m:r>
                  </m:oMath>
                </a14:m>
                <a:endParaRPr lang="en-US" altLang="zh-CN" dirty="0"/>
              </a:p>
              <a:p>
                <a:pPr lvl="1"/>
                <a:r>
                  <a:rPr lang="zh-CN" altLang="en-US" dirty="0"/>
                  <a:t>消耗原料</a:t>
                </a:r>
                <a:r>
                  <a:rPr lang="en-US" altLang="zh-CN" dirty="0"/>
                  <a:t>A</a:t>
                </a:r>
                <a:r>
                  <a:rPr lang="zh-CN" altLang="en-US" dirty="0"/>
                  <a:t>：</a:t>
                </a:r>
                <a14:m>
                  <m:oMath xmlns:m="http://schemas.openxmlformats.org/officeDocument/2006/math">
                    <m:r>
                      <a:rPr lang="en-US" altLang="zh-CN" b="0" i="1" smtClean="0">
                        <a:latin typeface="Cambria Math" panose="02040503050406030204" pitchFamily="18" charset="0"/>
                      </a:rPr>
                      <m:t>2</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50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250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350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400</m:t>
                    </m:r>
                  </m:oMath>
                </a14:m>
                <a:endParaRPr lang="en-US" altLang="zh-CN" dirty="0"/>
              </a:p>
              <a:p>
                <a:pPr lvl="1"/>
                <a:r>
                  <a:rPr lang="zh-CN" altLang="en-US" dirty="0"/>
                  <a:t>消耗原料</a:t>
                </a:r>
                <a:r>
                  <a:rPr lang="en-US" altLang="zh-CN" dirty="0"/>
                  <a:t>B</a:t>
                </a:r>
                <a:r>
                  <a:rPr lang="zh-CN" altLang="en-US" dirty="0"/>
                  <a:t>：</a:t>
                </a:r>
                <a14:m>
                  <m:oMath xmlns:m="http://schemas.openxmlformats.org/officeDocument/2006/math">
                    <m:r>
                      <a:rPr lang="en-US" altLang="zh-CN" b="0" i="1" smtClean="0">
                        <a:latin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250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250</m:t>
                    </m:r>
                  </m:oMath>
                </a14:m>
                <a:endParaRPr lang="en-US" altLang="zh-CN" dirty="0"/>
              </a:p>
              <a:p>
                <a:r>
                  <a:rPr lang="zh-CN" altLang="en-US" dirty="0"/>
                  <a:t>原料</a:t>
                </a:r>
                <a:r>
                  <a:rPr lang="en-US" altLang="zh-CN" dirty="0"/>
                  <a:t>B</a:t>
                </a:r>
                <a:r>
                  <a:rPr lang="zh-CN" altLang="en-US" dirty="0"/>
                  <a:t>和台时消耗殆尽，</a:t>
                </a:r>
                <a:r>
                  <a:rPr lang="zh-CN" altLang="en-US" dirty="0">
                    <a:solidFill>
                      <a:srgbClr val="FF0000"/>
                    </a:solidFill>
                  </a:rPr>
                  <a:t>原料</a:t>
                </a:r>
                <a:r>
                  <a:rPr lang="en-US" altLang="zh-CN" dirty="0">
                    <a:solidFill>
                      <a:srgbClr val="FF0000"/>
                    </a:solidFill>
                  </a:rPr>
                  <a:t>A</a:t>
                </a:r>
                <a:r>
                  <a:rPr lang="zh-CN" altLang="en-US" dirty="0">
                    <a:solidFill>
                      <a:srgbClr val="FF0000"/>
                    </a:solidFill>
                  </a:rPr>
                  <a:t>剩余</a:t>
                </a:r>
                <a:r>
                  <a:rPr lang="en-US" altLang="zh-CN" dirty="0">
                    <a:solidFill>
                      <a:srgbClr val="FF0000"/>
                    </a:solidFill>
                  </a:rPr>
                  <a:t>50</a:t>
                </a:r>
                <a:r>
                  <a:rPr lang="zh-CN" altLang="en-US" dirty="0">
                    <a:solidFill>
                      <a:srgbClr val="FF0000"/>
                    </a:solidFill>
                  </a:rPr>
                  <a:t>千克</a:t>
                </a:r>
                <a:r>
                  <a:rPr lang="zh-CN" altLang="en-US" dirty="0"/>
                  <a:t>。</a:t>
                </a:r>
                <a:endParaRPr lang="en-US" altLang="zh-CN" dirty="0"/>
              </a:p>
              <a:p>
                <a:pPr marL="0" indent="0">
                  <a:buNone/>
                </a:pPr>
                <a:endParaRPr lang="en-US" altLang="zh-CN" dirty="0"/>
              </a:p>
              <a:p>
                <a:pPr lvl="1"/>
                <a:endParaRPr lang="en-US" altLang="zh-CN"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线性规划图解法 </a:t>
            </a:r>
            <a:r>
              <a:rPr lang="en-US" altLang="zh-CN" dirty="0"/>
              <a:t>– </a:t>
            </a:r>
            <a:r>
              <a:rPr lang="zh-CN" altLang="en-US" dirty="0"/>
              <a:t>松弛变量</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fontScale="92500"/>
              </a:bodyPr>
              <a:lstStyle/>
              <a:p>
                <a:r>
                  <a:rPr lang="zh-CN" altLang="en-US" dirty="0"/>
                  <a:t>在线性规划中，对一个</a:t>
                </a:r>
                <a:r>
                  <a:rPr lang="zh-CN" altLang="en-US" dirty="0">
                    <a:solidFill>
                      <a:srgbClr val="FF0000"/>
                    </a:solidFill>
                  </a:rPr>
                  <a:t>“</a:t>
                </a:r>
                <a14:m>
                  <m:oMath xmlns:m="http://schemas.openxmlformats.org/officeDocument/2006/math">
                    <m:r>
                      <a:rPr lang="en-US" altLang="zh-CN" b="0" i="1" smtClean="0">
                        <a:solidFill>
                          <a:srgbClr val="FF0000"/>
                        </a:solidFill>
                        <a:latin typeface="Cambria Math" panose="02040503050406030204" pitchFamily="18" charset="0"/>
                      </a:rPr>
                      <m:t>≤</m:t>
                    </m:r>
                  </m:oMath>
                </a14:m>
                <a:r>
                  <a:rPr lang="zh-CN" altLang="en-US" dirty="0">
                    <a:solidFill>
                      <a:srgbClr val="FF0000"/>
                    </a:solidFill>
                  </a:rPr>
                  <a:t>”</a:t>
                </a:r>
                <a14:m>
                  <m:oMath xmlns:m="http://schemas.openxmlformats.org/officeDocument/2006/math">
                    <m:r>
                      <a:rPr lang="zh-CN" altLang="en-US" i="1">
                        <a:latin typeface="Cambria Math" panose="02040503050406030204" pitchFamily="18" charset="0"/>
                      </a:rPr>
                      <m:t>约束</m:t>
                    </m:r>
                  </m:oMath>
                </a14:m>
                <a:r>
                  <a:rPr lang="zh-CN" altLang="en-US" dirty="0"/>
                  <a:t>条件中没有耗尽的资源或能力的大小称之为</a:t>
                </a:r>
                <a:r>
                  <a:rPr lang="zh-CN" altLang="en-US" dirty="0">
                    <a:solidFill>
                      <a:srgbClr val="FF0000"/>
                    </a:solidFill>
                  </a:rPr>
                  <a:t>松弛变量（</a:t>
                </a:r>
                <a:r>
                  <a:rPr lang="en-US" altLang="zh-CN" dirty="0">
                    <a:solidFill>
                      <a:srgbClr val="FF0000"/>
                    </a:solidFill>
                  </a:rPr>
                  <a:t>slack</a:t>
                </a:r>
                <a:r>
                  <a:rPr lang="zh-CN" altLang="en-US" dirty="0">
                    <a:solidFill>
                      <a:srgbClr val="FF0000"/>
                    </a:solidFill>
                  </a:rPr>
                  <a:t> </a:t>
                </a:r>
                <a:r>
                  <a:rPr lang="en-US" altLang="zh-CN" dirty="0">
                    <a:solidFill>
                      <a:srgbClr val="FF0000"/>
                    </a:solidFill>
                  </a:rPr>
                  <a:t>variable</a:t>
                </a:r>
                <a:r>
                  <a:rPr lang="zh-CN" altLang="en-US" dirty="0">
                    <a:solidFill>
                      <a:srgbClr val="FF0000"/>
                    </a:solidFill>
                  </a:rPr>
                  <a:t>，记为</a:t>
                </a:r>
                <a:r>
                  <a:rPr lang="en-US" altLang="zh-CN" dirty="0">
                    <a:solidFill>
                      <a:srgbClr val="FF0000"/>
                    </a:solidFill>
                  </a:rPr>
                  <a:t>s)</a:t>
                </a:r>
                <a:r>
                  <a:rPr lang="zh-CN" altLang="en-US" dirty="0">
                    <a:solidFill>
                      <a:srgbClr val="FF0000"/>
                    </a:solidFill>
                  </a:rPr>
                  <a:t>。</a:t>
                </a:r>
                <a:endParaRPr lang="en-US" altLang="zh-CN" dirty="0">
                  <a:solidFill>
                    <a:srgbClr val="FF0000"/>
                  </a:solidFill>
                </a:endParaRPr>
              </a:p>
              <a:p>
                <a:pPr lvl="1"/>
                <a:r>
                  <a:rPr lang="zh-CN" altLang="en-US" dirty="0"/>
                  <a:t>如果约束条件中的资源或能力耗尽，则松弛变量大小为</a:t>
                </a:r>
                <a:r>
                  <a:rPr lang="en-US" altLang="zh-CN" dirty="0"/>
                  <a:t>0</a:t>
                </a:r>
                <a:r>
                  <a:rPr lang="zh-CN" altLang="en-US" dirty="0"/>
                  <a:t>。</a:t>
                </a:r>
                <a:endParaRPr lang="en-US" altLang="zh-CN" dirty="0"/>
              </a:p>
              <a:p>
                <a:r>
                  <a:rPr lang="zh-CN" altLang="en-US" dirty="0"/>
                  <a:t>我们假设</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3</m:t>
                        </m:r>
                      </m:sub>
                    </m:sSub>
                  </m:oMath>
                </a14:m>
                <a:r>
                  <a:rPr lang="zh-CN" altLang="en-US" dirty="0"/>
                  <a:t>分别为台时数，原料</a:t>
                </a:r>
                <a:r>
                  <a:rPr lang="en-US" altLang="zh-CN" dirty="0"/>
                  <a:t>A</a:t>
                </a:r>
                <a:r>
                  <a:rPr lang="zh-CN" altLang="en-US" dirty="0"/>
                  <a:t>和原料</a:t>
                </a:r>
                <a:r>
                  <a:rPr lang="en-US" altLang="zh-CN" dirty="0"/>
                  <a:t>B</a:t>
                </a:r>
                <a:r>
                  <a:rPr lang="zh-CN" altLang="en-US" dirty="0"/>
                  <a:t>的松弛变量，则：</a:t>
                </a:r>
                <a:endParaRPr lang="en-US" altLang="zh-CN" dirty="0"/>
              </a:p>
              <a:p>
                <a:pPr lvl="1"/>
                <a:r>
                  <a:rPr lang="zh-CN" altLang="en-US" dirty="0"/>
                  <a:t>消耗台时：</a:t>
                </a:r>
                <a14:m>
                  <m:oMath xmlns:m="http://schemas.openxmlformats.org/officeDocument/2006/math">
                    <m:r>
                      <a:rPr lang="en-US" altLang="zh-CN" b="0" i="1" smtClean="0">
                        <a:latin typeface="Cambria Math" panose="02040503050406030204" pitchFamily="18" charset="0"/>
                      </a:rPr>
                      <m:t>50</m:t>
                    </m:r>
                    <m:r>
                      <a:rPr lang="en-US" altLang="zh-CN" b="0" i="1" smtClean="0">
                        <a:latin typeface="Cambria Math" panose="02040503050406030204" pitchFamily="18" charset="0"/>
                      </a:rPr>
                      <m:t>+</m:t>
                    </m:r>
                    <m:r>
                      <a:rPr lang="en-US" altLang="zh-CN" b="0" i="1" smtClean="0">
                        <a:latin typeface="Cambria Math" panose="02040503050406030204" pitchFamily="18" charset="0"/>
                      </a:rPr>
                      <m:t>250</m:t>
                    </m:r>
                    <m:r>
                      <a:rPr lang="en-US" altLang="zh-CN" b="0" i="1" smtClean="0">
                        <a:latin typeface="Cambria Math" panose="02040503050406030204" pitchFamily="18" charset="0"/>
                      </a:rPr>
                      <m:t>=</m:t>
                    </m:r>
                    <m:r>
                      <a:rPr lang="en-US" altLang="zh-CN" b="0" i="1" smtClean="0">
                        <a:latin typeface="Cambria Math" panose="02040503050406030204" pitchFamily="18" charset="0"/>
                      </a:rPr>
                      <m:t>300</m:t>
                    </m:r>
                  </m:oMath>
                </a14:m>
                <a:r>
                  <a:rPr lang="en-US" altLang="zh-CN" dirty="0"/>
                  <a:t> =&gt;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0</m:t>
                    </m:r>
                  </m:oMath>
                </a14:m>
                <a:endParaRPr lang="en-US" altLang="zh-CN" dirty="0"/>
              </a:p>
              <a:p>
                <a:pPr lvl="1"/>
                <a:r>
                  <a:rPr lang="zh-CN" altLang="en-US" dirty="0"/>
                  <a:t>消耗原料</a:t>
                </a:r>
                <a:r>
                  <a:rPr lang="en-US" altLang="zh-CN" dirty="0"/>
                  <a:t>A</a:t>
                </a:r>
                <a:r>
                  <a:rPr lang="zh-CN" altLang="en-US" dirty="0"/>
                  <a:t>：</a:t>
                </a:r>
                <a14:m>
                  <m:oMath xmlns:m="http://schemas.openxmlformats.org/officeDocument/2006/math">
                    <m:r>
                      <a:rPr lang="en-US" altLang="zh-CN" b="0" i="1" smtClean="0">
                        <a:latin typeface="Cambria Math" panose="02040503050406030204" pitchFamily="18" charset="0"/>
                      </a:rPr>
                      <m:t>2</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50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250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350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400</m:t>
                    </m:r>
                  </m:oMath>
                </a14:m>
                <a:r>
                  <a:rPr lang="en-US" altLang="zh-CN" dirty="0"/>
                  <a:t> =&gt;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400</m:t>
                    </m:r>
                    <m:r>
                      <a:rPr lang="en-US" altLang="zh-CN" b="0" i="1" smtClean="0">
                        <a:latin typeface="Cambria Math" panose="02040503050406030204" pitchFamily="18" charset="0"/>
                      </a:rPr>
                      <m:t>−</m:t>
                    </m:r>
                    <m:r>
                      <a:rPr lang="en-US" altLang="zh-CN" b="0" i="1" smtClean="0">
                        <a:latin typeface="Cambria Math" panose="02040503050406030204" pitchFamily="18" charset="0"/>
                      </a:rPr>
                      <m:t>350</m:t>
                    </m:r>
                    <m:r>
                      <a:rPr lang="en-US" altLang="zh-CN" b="0" i="1" smtClean="0">
                        <a:latin typeface="Cambria Math" panose="02040503050406030204" pitchFamily="18" charset="0"/>
                      </a:rPr>
                      <m:t>=</m:t>
                    </m:r>
                    <m:r>
                      <a:rPr lang="en-US" altLang="zh-CN" b="0" i="1" smtClean="0">
                        <a:latin typeface="Cambria Math" panose="02040503050406030204" pitchFamily="18" charset="0"/>
                      </a:rPr>
                      <m:t>50</m:t>
                    </m:r>
                  </m:oMath>
                </a14:m>
                <a:endParaRPr lang="en-US" altLang="zh-CN" dirty="0"/>
              </a:p>
              <a:p>
                <a:pPr lvl="1"/>
                <a:r>
                  <a:rPr lang="zh-CN" altLang="en-US" dirty="0"/>
                  <a:t>消耗原料</a:t>
                </a:r>
                <a:r>
                  <a:rPr lang="en-US" altLang="zh-CN" dirty="0"/>
                  <a:t>B</a:t>
                </a:r>
                <a:r>
                  <a:rPr lang="zh-CN" altLang="en-US" dirty="0"/>
                  <a:t>：</a:t>
                </a:r>
                <a14:m>
                  <m:oMath xmlns:m="http://schemas.openxmlformats.org/officeDocument/2006/math">
                    <m:r>
                      <a:rPr lang="en-US" altLang="zh-CN" b="0" i="1" smtClean="0">
                        <a:latin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250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250</m:t>
                    </m:r>
                  </m:oMath>
                </a14:m>
                <a:r>
                  <a:rPr lang="en-US" altLang="zh-CN" dirty="0"/>
                  <a:t> =&gt;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0</m:t>
                    </m:r>
                  </m:oMath>
                </a14:m>
                <a:endParaRPr lang="en-US" altLang="zh-CN" dirty="0"/>
              </a:p>
              <a:p>
                <a:r>
                  <a:rPr lang="zh-CN" altLang="en-US" dirty="0"/>
                  <a:t>引入松弛变量的目的是为了实现线性优化模型的标准化</a:t>
                </a:r>
                <a:endParaRPr lang="en-US" altLang="zh-CN"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随堂练习1</a:t>
            </a:r>
            <a:endParaRPr lang="en-US" dirty="0"/>
          </a:p>
        </p:txBody>
      </p:sp>
      <p:sp>
        <p:nvSpPr>
          <p:cNvPr id="3" name="Content Placeholder 2"/>
          <p:cNvSpPr>
            <a:spLocks noGrp="1"/>
          </p:cNvSpPr>
          <p:nvPr>
            <p:ph idx="1"/>
          </p:nvPr>
        </p:nvSpPr>
        <p:spPr/>
        <p:txBody>
          <a:bodyPr/>
          <a:lstStyle/>
          <a:p>
            <a:pPr marL="0" indent="0">
              <a:buNone/>
            </a:pPr>
            <a:r>
              <a:rPr lang="zh-CN" altLang="en-US" dirty="0"/>
              <a:t>写出下列线性规划模型的一般</a:t>
            </a:r>
            <a:r>
              <a:rPr lang="zh-CN" altLang="en-US" dirty="0"/>
              <a:t>形式。</a:t>
            </a:r>
            <a:endParaRPr lang="zh-CN" altLang="en-US" dirty="0"/>
          </a:p>
          <a:p>
            <a:pPr marL="0" indent="0">
              <a:buNone/>
            </a:pPr>
            <a:r>
              <a:rPr lang="zh-CN" altLang="en-US" dirty="0"/>
              <a:t>某木材市场厂加工一批材料（直径相同），木料需求为</a:t>
            </a:r>
            <a:r>
              <a:rPr lang="en-US" altLang="zh-CN" dirty="0"/>
              <a:t>3m</a:t>
            </a:r>
            <a:r>
              <a:rPr lang="zh-CN" altLang="en-US" dirty="0"/>
              <a:t>的</a:t>
            </a:r>
            <a:r>
              <a:rPr lang="en-US" altLang="zh-CN" dirty="0"/>
              <a:t>90</a:t>
            </a:r>
            <a:r>
              <a:rPr lang="zh-CN" altLang="en-US" dirty="0"/>
              <a:t>根，</a:t>
            </a:r>
            <a:r>
              <a:rPr lang="en-US" altLang="zh-CN" dirty="0"/>
              <a:t>4m</a:t>
            </a:r>
            <a:r>
              <a:rPr lang="zh-CN" altLang="en-US" dirty="0"/>
              <a:t>的</a:t>
            </a:r>
            <a:r>
              <a:rPr lang="en-US" altLang="zh-CN" dirty="0"/>
              <a:t>60</a:t>
            </a:r>
            <a:r>
              <a:rPr lang="zh-CN" altLang="en-US" dirty="0"/>
              <a:t>根。已知现有木料的长度为</a:t>
            </a:r>
            <a:r>
              <a:rPr lang="en-US" altLang="zh-CN" dirty="0"/>
              <a:t>10m</a:t>
            </a:r>
            <a:r>
              <a:rPr lang="zh-CN" altLang="en-US" dirty="0"/>
              <a:t>，问怎样加工最</a:t>
            </a:r>
            <a:r>
              <a:rPr lang="zh-CN" altLang="en-US" dirty="0"/>
              <a:t>省料？</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rPr>
              <a:t>什么是标准化的线性模型？</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dirty="0"/>
              <a:t>我们将同时满足下面四个条件的模型称为标准型：</a:t>
            </a:r>
            <a:endParaRPr lang="en-US" altLang="zh-CN" dirty="0"/>
          </a:p>
          <a:p>
            <a:pPr marL="514350" indent="-514350">
              <a:buFont typeface="+mj-lt"/>
              <a:buAutoNum type="arabicPeriod"/>
            </a:pPr>
            <a:r>
              <a:rPr lang="zh-CN" altLang="en-US" dirty="0"/>
              <a:t>约束条件必须化为等式。</a:t>
            </a:r>
            <a:endParaRPr lang="en-US" altLang="zh-CN" dirty="0"/>
          </a:p>
          <a:p>
            <a:pPr marL="514350" indent="-514350">
              <a:buFont typeface="+mj-lt"/>
              <a:buAutoNum type="arabicPeriod"/>
            </a:pPr>
            <a:r>
              <a:rPr lang="zh-CN" altLang="en-US" dirty="0">
                <a:solidFill>
                  <a:srgbClr val="FF0000"/>
                </a:solidFill>
              </a:rPr>
              <a:t>所有变量</a:t>
            </a:r>
            <a:r>
              <a:rPr lang="zh-CN" altLang="en-US" dirty="0"/>
              <a:t>必须大于或者等于零。</a:t>
            </a:r>
            <a:endParaRPr lang="en-US" altLang="zh-CN" dirty="0"/>
          </a:p>
          <a:p>
            <a:pPr marL="514350" indent="-514350">
              <a:buFont typeface="+mj-lt"/>
              <a:buAutoNum type="arabicPeriod"/>
            </a:pPr>
            <a:r>
              <a:rPr lang="zh-CN" altLang="en-US" dirty="0"/>
              <a:t>约束条件中的</a:t>
            </a:r>
            <a:r>
              <a:rPr lang="zh-CN" altLang="en-US" dirty="0">
                <a:solidFill>
                  <a:srgbClr val="FF0000"/>
                </a:solidFill>
              </a:rPr>
              <a:t>右端常数</a:t>
            </a:r>
            <a:r>
              <a:rPr lang="zh-CN" altLang="en-US" dirty="0"/>
              <a:t>项必须是大于或者等于零。</a:t>
            </a:r>
            <a:endParaRPr lang="en-US" altLang="zh-CN" dirty="0"/>
          </a:p>
          <a:p>
            <a:pPr marL="514350" indent="-514350">
              <a:buFont typeface="+mj-lt"/>
              <a:buAutoNum type="arabicPeriod"/>
            </a:pPr>
            <a:r>
              <a:rPr lang="zh-CN" altLang="en-US" dirty="0"/>
              <a:t>所有目标函数必须被转化为</a:t>
            </a:r>
            <a:r>
              <a:rPr lang="zh-CN" altLang="en-US" dirty="0">
                <a:solidFill>
                  <a:srgbClr val="FF0000"/>
                </a:solidFill>
              </a:rPr>
              <a:t>求最大值</a:t>
            </a:r>
            <a:r>
              <a:rPr lang="zh-CN" altLang="en-US" dirty="0"/>
              <a:t>。（在例</a:t>
            </a:r>
            <a:r>
              <a:rPr lang="en-US" altLang="zh-CN" dirty="0"/>
              <a:t>2</a:t>
            </a:r>
            <a:r>
              <a:rPr lang="zh-CN" altLang="en-US" dirty="0"/>
              <a:t>中会涉及到）</a:t>
            </a:r>
            <a:endParaRPr lang="en-US" altLang="zh-CN" dirty="0"/>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楷体" panose="02010609060101010101" pitchFamily="49" charset="-122"/>
              </a:rPr>
              <a:t>松弛变量在标准化中的注意事项</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dirty="0"/>
                  <a:t>松弛变量对目标函数的结果没有影响</a:t>
                </a:r>
                <a:r>
                  <a:rPr lang="zh-CN" altLang="en-US" dirty="0"/>
                  <a:t> </a:t>
                </a:r>
                <a:r>
                  <a:rPr lang="en-US" altLang="zh-CN" dirty="0"/>
                  <a:t>=&gt;</a:t>
                </a:r>
                <a:r>
                  <a:rPr lang="zh-CN" altLang="en-US" dirty="0"/>
                  <a:t> 目标函数中的松弛变量系数为</a:t>
                </a:r>
                <a:r>
                  <a:rPr lang="en-US" altLang="zh-CN" dirty="0"/>
                  <a:t>0</a:t>
                </a:r>
                <a:endParaRPr lang="en-US" altLang="zh-CN" dirty="0"/>
              </a:p>
              <a:p>
                <a:pPr lvl="1"/>
                <a14:m>
                  <m:oMath xmlns:m="http://schemas.openxmlformats.org/officeDocument/2006/math">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max</m:t>
                        </m:r>
                      </m:fName>
                      <m:e>
                        <m:r>
                          <a:rPr lang="en-US" altLang="zh-CN" b="0" i="1" smtClean="0">
                            <a:latin typeface="Cambria Math" panose="02040503050406030204" pitchFamily="18" charset="0"/>
                          </a:rPr>
                          <m:t>𝑍</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2</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e>
                    </m:func>
                  </m:oMath>
                </a14:m>
                <a:r>
                  <a:rPr lang="en-US" altLang="zh-CN" dirty="0"/>
                  <a:t> =&gt; </a:t>
                </a:r>
                <a14:m>
                  <m:oMath xmlns:m="http://schemas.openxmlformats.org/officeDocument/2006/math">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max</m:t>
                        </m:r>
                      </m:fName>
                      <m:e>
                        <m:r>
                          <a:rPr lang="en-US" altLang="zh-CN" i="1">
                            <a:latin typeface="Cambria Math" panose="02040503050406030204" pitchFamily="18" charset="0"/>
                          </a:rPr>
                          <m:t>𝑍</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b="0" i="1" smtClean="0">
                            <a:latin typeface="Cambria Math" panose="02040503050406030204" pitchFamily="18" charset="0"/>
                          </a:rPr>
                          <m:t>2</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e>
                    </m:func>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m:t>
                        </m:r>
                      </m:sub>
                    </m:sSub>
                  </m:oMath>
                </a14:m>
                <a:endParaRPr lang="en-US" altLang="zh-CN" dirty="0"/>
              </a:p>
              <a:p>
                <a:r>
                  <a:rPr lang="en-US" dirty="0" err="1"/>
                  <a:t>松弛变量的加入可以使约束条件中的不等式转变为等式</a:t>
                </a:r>
                <a:r>
                  <a:rPr lang="zh-CN" altLang="en-US" dirty="0"/>
                  <a:t>（“</a:t>
                </a:r>
                <a:r>
                  <a:rPr lang="en-US" altLang="zh-CN" dirty="0"/>
                  <a:t>=</a:t>
                </a:r>
                <a:r>
                  <a:rPr lang="zh-CN" altLang="en-US" dirty="0"/>
                  <a:t>”）</a:t>
                </a:r>
                <a:endParaRPr lang="en-US" altLang="zh-CN" dirty="0"/>
              </a:p>
              <a:p>
                <a:pPr lvl="1"/>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300</m:t>
                    </m:r>
                  </m:oMath>
                </a14:m>
                <a:r>
                  <a:rPr lang="en-US" altLang="zh-CN" dirty="0"/>
                  <a:t> =&gt;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300</m:t>
                    </m:r>
                  </m:oMath>
                </a14:m>
                <a:endParaRPr lang="en-US" altLang="zh-CN" dirty="0"/>
              </a:p>
              <a:p>
                <a:r>
                  <a:rPr lang="en-US" altLang="zh-CN" dirty="0"/>
                  <a:t>如果约束条件中右端常数小于0</a:t>
                </a:r>
                <a:r>
                  <a:rPr lang="zh-CN" altLang="en-US" dirty="0"/>
                  <a:t>怎么办？</a:t>
                </a:r>
                <a:endParaRPr lang="en-US" altLang="zh-CN" dirty="0"/>
              </a:p>
              <a:p>
                <a:pPr lvl="1"/>
                <a:r>
                  <a:rPr lang="zh-CN" altLang="en-US" dirty="0"/>
                  <a:t>在方程两边均乘以</a:t>
                </a:r>
                <a:r>
                  <a:rPr lang="en-US" altLang="zh-CN" dirty="0"/>
                  <a:t>-1</a:t>
                </a:r>
                <a:r>
                  <a:rPr lang="zh-CN" altLang="en-US" dirty="0"/>
                  <a:t>即可，例如</a:t>
                </a:r>
                <a:r>
                  <a:rPr lang="en-US" altLang="zh-CN" dirty="0">
                    <a:latin typeface="Kaiti TC" panose="02010600040101010101" pitchFamily="2" charset="-120"/>
                    <a:ea typeface="Kaiti TC" panose="02010600040101010101" pitchFamily="2" charset="-120"/>
                  </a:rPr>
                  <a:t> x</a:t>
                </a:r>
                <a:r>
                  <a:rPr lang="en-US" altLang="zh-CN" baseline="-25000" dirty="0">
                    <a:latin typeface="Kaiti TC" panose="02010600040101010101" pitchFamily="2" charset="-120"/>
                    <a:ea typeface="Kaiti TC" panose="02010600040101010101" pitchFamily="2" charset="-120"/>
                  </a:rPr>
                  <a:t>1</a:t>
                </a:r>
                <a:r>
                  <a:rPr lang="en-US" altLang="zh-CN" dirty="0">
                    <a:latin typeface="Kaiti TC" panose="02010600040101010101" pitchFamily="2" charset="-120"/>
                    <a:ea typeface="Kaiti TC" panose="02010600040101010101" pitchFamily="2" charset="-120"/>
                  </a:rPr>
                  <a:t>+x</a:t>
                </a:r>
                <a:r>
                  <a:rPr lang="en-US" altLang="zh-CN" baseline="-25000" dirty="0">
                    <a:latin typeface="Kaiti TC" panose="02010600040101010101" pitchFamily="2" charset="-120"/>
                    <a:ea typeface="Kaiti TC" panose="02010600040101010101" pitchFamily="2" charset="-120"/>
                  </a:rPr>
                  <a:t>2</a:t>
                </a:r>
                <a:r>
                  <a:rPr lang="en-US" altLang="zh-CN" dirty="0">
                    <a:latin typeface="Kaiti TC" panose="02010600040101010101" pitchFamily="2" charset="-120"/>
                    <a:ea typeface="Kaiti TC" panose="02010600040101010101" pitchFamily="2" charset="-120"/>
                  </a:rPr>
                  <a:t>+s</a:t>
                </a:r>
                <a:r>
                  <a:rPr lang="en-US" altLang="zh-CN" baseline="-25000" dirty="0">
                    <a:latin typeface="Kaiti TC" panose="02010600040101010101" pitchFamily="2" charset="-120"/>
                    <a:ea typeface="Kaiti TC" panose="02010600040101010101" pitchFamily="2" charset="-120"/>
                  </a:rPr>
                  <a:t>1</a:t>
                </a:r>
                <a:r>
                  <a:rPr lang="en-US" altLang="zh-CN" dirty="0">
                    <a:latin typeface="Kaiti TC" panose="02010600040101010101" pitchFamily="2" charset="-120"/>
                    <a:ea typeface="Kaiti TC" panose="02010600040101010101" pitchFamily="2" charset="-120"/>
                  </a:rPr>
                  <a:t>=-300</a:t>
                </a:r>
                <a:r>
                  <a:rPr lang="zh-CN" altLang="en-US" dirty="0">
                    <a:latin typeface="Kaiti TC" panose="02010600040101010101" pitchFamily="2" charset="-120"/>
                    <a:ea typeface="Kaiti TC" panose="02010600040101010101" pitchFamily="2" charset="-120"/>
                  </a:rPr>
                  <a:t> </a:t>
                </a:r>
                <a:r>
                  <a:rPr lang="en-US" altLang="zh-CN" dirty="0">
                    <a:latin typeface="Kaiti TC" panose="02010600040101010101" pitchFamily="2" charset="-120"/>
                    <a:ea typeface="Kaiti TC" panose="02010600040101010101" pitchFamily="2" charset="-120"/>
                  </a:rPr>
                  <a:t>=&gt; -x</a:t>
                </a:r>
                <a:r>
                  <a:rPr lang="en-US" altLang="zh-CN" baseline="-25000" dirty="0">
                    <a:latin typeface="Kaiti TC" panose="02010600040101010101" pitchFamily="2" charset="-120"/>
                    <a:ea typeface="Kaiti TC" panose="02010600040101010101" pitchFamily="2" charset="-120"/>
                  </a:rPr>
                  <a:t>1</a:t>
                </a:r>
                <a:r>
                  <a:rPr lang="en-US" altLang="zh-CN" dirty="0">
                    <a:latin typeface="Kaiti TC" panose="02010600040101010101" pitchFamily="2" charset="-120"/>
                    <a:ea typeface="Kaiti TC" panose="02010600040101010101" pitchFamily="2" charset="-120"/>
                  </a:rPr>
                  <a:t>-x</a:t>
                </a:r>
                <a:r>
                  <a:rPr lang="en-US" altLang="zh-CN" baseline="-25000" dirty="0">
                    <a:latin typeface="Kaiti TC" panose="02010600040101010101" pitchFamily="2" charset="-120"/>
                    <a:ea typeface="Kaiti TC" panose="02010600040101010101" pitchFamily="2" charset="-120"/>
                  </a:rPr>
                  <a:t>2</a:t>
                </a:r>
                <a:r>
                  <a:rPr lang="en-US" altLang="zh-CN" dirty="0">
                    <a:latin typeface="Kaiti TC" panose="02010600040101010101" pitchFamily="2" charset="-120"/>
                    <a:ea typeface="Kaiti TC" panose="02010600040101010101" pitchFamily="2" charset="-120"/>
                  </a:rPr>
                  <a:t>-s</a:t>
                </a:r>
                <a:r>
                  <a:rPr lang="en-US" altLang="zh-CN" baseline="-25000" dirty="0">
                    <a:latin typeface="Kaiti TC" panose="02010600040101010101" pitchFamily="2" charset="-120"/>
                    <a:ea typeface="Kaiti TC" panose="02010600040101010101" pitchFamily="2" charset="-120"/>
                  </a:rPr>
                  <a:t>1</a:t>
                </a:r>
                <a:r>
                  <a:rPr lang="en-US" altLang="zh-CN" dirty="0">
                    <a:latin typeface="Kaiti TC" panose="02010600040101010101" pitchFamily="2" charset="-120"/>
                    <a:ea typeface="Kaiti TC" panose="02010600040101010101" pitchFamily="2" charset="-120"/>
                  </a:rPr>
                  <a:t>=300</a:t>
                </a:r>
                <a:r>
                  <a:rPr lang="zh-CN" altLang="en-US" dirty="0">
                    <a:latin typeface="Kaiti TC" panose="02010600040101010101" pitchFamily="2" charset="-120"/>
                    <a:ea typeface="Kaiti TC" panose="02010600040101010101" pitchFamily="2" charset="-120"/>
                  </a:rPr>
                  <a:t> </a:t>
                </a:r>
                <a:endParaRPr lang="en-US" altLang="zh-CN" dirty="0">
                  <a:latin typeface="Kaiti TC" panose="02010600040101010101" pitchFamily="2" charset="-120"/>
                  <a:ea typeface="Kaiti TC" panose="02010600040101010101" pitchFamily="2" charset="-120"/>
                </a:endParaRPr>
              </a:p>
              <a:p>
                <a:endParaRPr lang="en-US" altLang="zh-CN" dirty="0">
                  <a:solidFill>
                    <a:srgbClr val="FF0000"/>
                  </a:solidFill>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cs typeface="Times New Roman" panose="02020603050405020304" pitchFamily="18" charset="0"/>
              </a:rPr>
              <a:t>线性规划问题的标准化 </a:t>
            </a:r>
            <a:r>
              <a:rPr lang="en-US" altLang="zh-CN" dirty="0">
                <a:cs typeface="Times New Roman" panose="02020603050405020304" pitchFamily="18" charset="0"/>
              </a:rPr>
              <a:t>–</a:t>
            </a:r>
            <a:r>
              <a:rPr lang="zh-CN" altLang="en-US" dirty="0">
                <a:cs typeface="Times New Roman" panose="02020603050405020304" pitchFamily="18" charset="0"/>
              </a:rPr>
              <a:t> 例</a:t>
            </a:r>
            <a:r>
              <a:rPr lang="en-US" altLang="zh-CN" dirty="0">
                <a:cs typeface="Times New Roman" panose="02020603050405020304" pitchFamily="18" charset="0"/>
              </a:rPr>
              <a:t>1</a:t>
            </a:r>
            <a:r>
              <a:rPr lang="zh-CN" altLang="en-US" dirty="0">
                <a:cs typeface="Times New Roman" panose="02020603050405020304" pitchFamily="18" charset="0"/>
              </a:rPr>
              <a:t>的标准化</a:t>
            </a:r>
            <a:endParaRPr lang="en-US" dirty="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zh-CN" altLang="en-US" dirty="0">
                    <a:cs typeface="Times New Roman" panose="02020603050405020304" pitchFamily="18" charset="0"/>
                  </a:rPr>
                  <a:t>设</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3</m:t>
                        </m:r>
                      </m:sub>
                    </m:sSub>
                    <m:r>
                      <a:rPr lang="zh-CN" altLang="en-US" i="1">
                        <a:latin typeface="Cambria Math" panose="02040503050406030204" pitchFamily="18" charset="0"/>
                      </a:rPr>
                      <m:t>分别</m:t>
                    </m:r>
                    <m:r>
                      <a:rPr lang="zh-CN" altLang="en-US" i="1" smtClean="0">
                        <a:latin typeface="Cambria Math" panose="02040503050406030204" pitchFamily="18" charset="0"/>
                      </a:rPr>
                      <m:t>为</m:t>
                    </m:r>
                    <m:r>
                      <a:rPr lang="zh-CN" altLang="en-US" i="1">
                        <a:latin typeface="Cambria Math" panose="02040503050406030204" pitchFamily="18" charset="0"/>
                      </a:rPr>
                      <m:t>约束条件</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2</m:t>
                    </m:r>
                    <m:r>
                      <a:rPr lang="en-US" altLang="zh-CN" b="0" i="1" smtClean="0">
                        <a:latin typeface="Cambria Math" panose="02040503050406030204" pitchFamily="18" charset="0"/>
                      </a:rPr>
                      <m:t>,</m:t>
                    </m:r>
                    <m:r>
                      <a:rPr lang="en-US" altLang="zh-CN" b="0" i="1" smtClean="0">
                        <a:latin typeface="Cambria Math" panose="02040503050406030204" pitchFamily="18" charset="0"/>
                      </a:rPr>
                      <m:t>3</m:t>
                    </m:r>
                    <m:r>
                      <a:rPr lang="zh-CN" altLang="en-US" i="1">
                        <a:latin typeface="Cambria Math" panose="02040503050406030204" pitchFamily="18" charset="0"/>
                      </a:rPr>
                      <m:t>所</m:t>
                    </m:r>
                    <m:r>
                      <a:rPr lang="zh-CN" altLang="en-US" i="1" smtClean="0">
                        <a:latin typeface="Cambria Math" panose="02040503050406030204" pitchFamily="18" charset="0"/>
                      </a:rPr>
                      <m:t>对应</m:t>
                    </m:r>
                    <m:r>
                      <a:rPr lang="zh-CN" altLang="en-US" i="1">
                        <a:latin typeface="Cambria Math" panose="02040503050406030204" pitchFamily="18" charset="0"/>
                      </a:rPr>
                      <m:t>的</m:t>
                    </m:r>
                    <m:r>
                      <a:rPr lang="zh-CN" altLang="en-US" i="1" smtClean="0">
                        <a:latin typeface="Cambria Math" panose="02040503050406030204" pitchFamily="18" charset="0"/>
                      </a:rPr>
                      <m:t>松弛</m:t>
                    </m:r>
                    <m:r>
                      <a:rPr lang="zh-CN" altLang="en-US" i="1">
                        <a:latin typeface="Cambria Math" panose="02040503050406030204" pitchFamily="18" charset="0"/>
                      </a:rPr>
                      <m:t>变量</m:t>
                    </m:r>
                    <m:r>
                      <a:rPr lang="en-US" altLang="zh-CN" b="0" i="1" smtClean="0">
                        <a:latin typeface="Cambria Math" panose="02040503050406030204" pitchFamily="18" charset="0"/>
                      </a:rPr>
                      <m:t>,</m:t>
                    </m:r>
                    <m:r>
                      <a:rPr lang="zh-CN" altLang="en-US" i="1">
                        <a:latin typeface="Cambria Math" panose="02040503050406030204" pitchFamily="18" charset="0"/>
                      </a:rPr>
                      <m:t>则</m:t>
                    </m:r>
                    <m:r>
                      <a:rPr lang="zh-CN" altLang="en-US" i="1" smtClean="0">
                        <a:latin typeface="Cambria Math" panose="02040503050406030204" pitchFamily="18" charset="0"/>
                      </a:rPr>
                      <m:t>例</m:t>
                    </m:r>
                    <m:r>
                      <a:rPr lang="en-US" altLang="zh-CN" b="0" i="1" smtClean="0">
                        <a:latin typeface="Cambria Math" panose="02040503050406030204" pitchFamily="18" charset="0"/>
                      </a:rPr>
                      <m:t>1</m:t>
                    </m:r>
                    <m:r>
                      <a:rPr lang="zh-CN" altLang="en-US" i="1">
                        <a:latin typeface="Cambria Math" panose="02040503050406030204" pitchFamily="18" charset="0"/>
                      </a:rPr>
                      <m:t>标准化</m:t>
                    </m:r>
                    <m:r>
                      <a:rPr lang="zh-CN" altLang="en-US" i="1" smtClean="0">
                        <a:latin typeface="Cambria Math" panose="02040503050406030204" pitchFamily="18" charset="0"/>
                      </a:rPr>
                      <m:t>形式</m:t>
                    </m:r>
                    <m:r>
                      <a:rPr lang="zh-CN" altLang="en-US" i="1">
                        <a:latin typeface="Cambria Math" panose="02040503050406030204" pitchFamily="18" charset="0"/>
                      </a:rPr>
                      <m:t>如下</m:t>
                    </m:r>
                    <m:r>
                      <a:rPr lang="zh-CN" altLang="en-US" b="0" i="1" smtClean="0">
                        <a:latin typeface="Cambria Math" panose="02040503050406030204" pitchFamily="18" charset="0"/>
                      </a:rPr>
                      <m:t>：</m:t>
                    </m:r>
                  </m:oMath>
                </a14:m>
                <a:endParaRPr lang="en-US" altLang="zh-CN" dirty="0">
                  <a:cs typeface="Times New Roman" panose="02020603050405020304" pitchFamily="18" charset="0"/>
                </a:endParaRPr>
              </a:p>
              <a:p>
                <a:pPr marL="0" indent="0" eaLnBrk="1" hangingPunct="1">
                  <a:lnSpc>
                    <a:spcPct val="90000"/>
                  </a:lnSpc>
                  <a:buNone/>
                </a:pPr>
                <a:r>
                  <a:rPr lang="zh-CN" altLang="en-US" dirty="0">
                    <a:cs typeface="Times New Roman" panose="02020603050405020304" pitchFamily="18" charset="0"/>
                  </a:rPr>
                  <a:t> 目标函数：    </a:t>
                </a:r>
                <a:endParaRPr lang="zh-CN" altLang="en-US" dirty="0">
                  <a:cs typeface="Times New Roman" panose="02020603050405020304" pitchFamily="18" charset="0"/>
                </a:endParaRPr>
              </a:p>
              <a:p>
                <a:pPr marL="0" indent="0" eaLnBrk="1" hangingPunct="1">
                  <a:lnSpc>
                    <a:spcPct val="90000"/>
                  </a:lnSpc>
                  <a:buNone/>
                </a:pPr>
                <a:r>
                  <a:rPr lang="zh-CN" altLang="en-US" dirty="0">
                    <a:cs typeface="Times New Roman" panose="02020603050405020304" pitchFamily="18" charset="0"/>
                  </a:rPr>
                  <a:t>  </a:t>
                </a:r>
                <a:r>
                  <a:rPr lang="en-US" altLang="zh-CN" dirty="0">
                    <a:cs typeface="Times New Roman" panose="02020603050405020304" pitchFamily="18" charset="0"/>
                  </a:rPr>
                  <a:t>max Z=50x</a:t>
                </a:r>
                <a:r>
                  <a:rPr lang="en-US" altLang="zh-CN" baseline="-25000" dirty="0">
                    <a:cs typeface="Times New Roman" panose="02020603050405020304" pitchFamily="18" charset="0"/>
                  </a:rPr>
                  <a:t>1</a:t>
                </a:r>
                <a:r>
                  <a:rPr lang="en-US" altLang="zh-CN" dirty="0">
                    <a:cs typeface="Times New Roman" panose="02020603050405020304" pitchFamily="18" charset="0"/>
                  </a:rPr>
                  <a:t>+100x</a:t>
                </a:r>
                <a:r>
                  <a:rPr lang="en-US" altLang="zh-CN" baseline="-25000" dirty="0">
                    <a:cs typeface="Times New Roman" panose="02020603050405020304" pitchFamily="18" charset="0"/>
                  </a:rPr>
                  <a:t>2</a:t>
                </a:r>
                <a:r>
                  <a:rPr lang="en-US" altLang="zh-CN" dirty="0">
                    <a:solidFill>
                      <a:srgbClr val="FF0000"/>
                    </a:solidFill>
                    <a:cs typeface="Times New Roman" panose="02020603050405020304" pitchFamily="18" charset="0"/>
                  </a:rPr>
                  <a:t>+0s</a:t>
                </a:r>
                <a:r>
                  <a:rPr lang="en-US" altLang="zh-CN" baseline="-25000" dirty="0">
                    <a:solidFill>
                      <a:srgbClr val="FF0000"/>
                    </a:solidFill>
                    <a:cs typeface="Times New Roman" panose="02020603050405020304" pitchFamily="18" charset="0"/>
                  </a:rPr>
                  <a:t>1</a:t>
                </a:r>
                <a:r>
                  <a:rPr lang="en-US" altLang="zh-CN" dirty="0">
                    <a:solidFill>
                      <a:srgbClr val="FF0000"/>
                    </a:solidFill>
                    <a:cs typeface="Times New Roman" panose="02020603050405020304" pitchFamily="18" charset="0"/>
                  </a:rPr>
                  <a:t>+0s</a:t>
                </a:r>
                <a:r>
                  <a:rPr lang="en-US" altLang="zh-CN" baseline="-25000" dirty="0">
                    <a:solidFill>
                      <a:srgbClr val="FF0000"/>
                    </a:solidFill>
                    <a:cs typeface="Times New Roman" panose="02020603050405020304" pitchFamily="18" charset="0"/>
                  </a:rPr>
                  <a:t>2</a:t>
                </a:r>
                <a:r>
                  <a:rPr lang="en-US" altLang="zh-CN" dirty="0">
                    <a:solidFill>
                      <a:srgbClr val="FF0000"/>
                    </a:solidFill>
                    <a:cs typeface="Times New Roman" panose="02020603050405020304" pitchFamily="18" charset="0"/>
                  </a:rPr>
                  <a:t>+0s</a:t>
                </a:r>
                <a:r>
                  <a:rPr lang="en-US" altLang="zh-CN" baseline="-25000" dirty="0">
                    <a:solidFill>
                      <a:srgbClr val="FF0000"/>
                    </a:solidFill>
                    <a:cs typeface="Times New Roman" panose="02020603050405020304" pitchFamily="18" charset="0"/>
                  </a:rPr>
                  <a:t>3</a:t>
                </a:r>
                <a:r>
                  <a:rPr lang="zh-CN" altLang="en-US" dirty="0">
                    <a:cs typeface="Times New Roman" panose="02020603050405020304" pitchFamily="18" charset="0"/>
                  </a:rPr>
                  <a:t>，</a:t>
                </a:r>
                <a:endParaRPr lang="zh-CN" altLang="en-US" dirty="0">
                  <a:cs typeface="Times New Roman" panose="02020603050405020304" pitchFamily="18" charset="0"/>
                </a:endParaRPr>
              </a:p>
              <a:p>
                <a:pPr marL="0" indent="0" eaLnBrk="1" hangingPunct="1">
                  <a:lnSpc>
                    <a:spcPct val="90000"/>
                  </a:lnSpc>
                  <a:buNone/>
                </a:pPr>
                <a:r>
                  <a:rPr lang="zh-CN" altLang="en-US" dirty="0">
                    <a:cs typeface="Times New Roman" panose="02020603050405020304" pitchFamily="18" charset="0"/>
                  </a:rPr>
                  <a:t>    约束条件：    </a:t>
                </a:r>
                <a:r>
                  <a:rPr lang="en-US" altLang="zh-CN" dirty="0">
                    <a:cs typeface="Times New Roman" panose="02020603050405020304" pitchFamily="18" charset="0"/>
                  </a:rPr>
                  <a:t>x</a:t>
                </a:r>
                <a:r>
                  <a:rPr lang="en-US" altLang="zh-CN" baseline="-25000" dirty="0">
                    <a:cs typeface="Times New Roman" panose="02020603050405020304" pitchFamily="18" charset="0"/>
                  </a:rPr>
                  <a:t>1</a:t>
                </a:r>
                <a:r>
                  <a:rPr lang="en-US" altLang="zh-CN" dirty="0">
                    <a:cs typeface="Times New Roman" panose="02020603050405020304" pitchFamily="18" charset="0"/>
                  </a:rPr>
                  <a:t>+x</a:t>
                </a:r>
                <a:r>
                  <a:rPr lang="en-US" altLang="zh-CN" baseline="-25000" dirty="0">
                    <a:cs typeface="Times New Roman" panose="02020603050405020304" pitchFamily="18" charset="0"/>
                  </a:rPr>
                  <a:t>2</a:t>
                </a:r>
                <a:r>
                  <a:rPr lang="en-US" altLang="zh-CN" dirty="0">
                    <a:solidFill>
                      <a:srgbClr val="FF0000"/>
                    </a:solidFill>
                    <a:cs typeface="Times New Roman" panose="02020603050405020304" pitchFamily="18" charset="0"/>
                  </a:rPr>
                  <a:t>+s</a:t>
                </a:r>
                <a:r>
                  <a:rPr lang="en-US" altLang="zh-CN" baseline="-25000" dirty="0">
                    <a:solidFill>
                      <a:srgbClr val="FF0000"/>
                    </a:solidFill>
                    <a:cs typeface="Times New Roman" panose="02020603050405020304" pitchFamily="18" charset="0"/>
                  </a:rPr>
                  <a:t>1</a:t>
                </a:r>
                <a:r>
                  <a:rPr lang="en-US" altLang="zh-CN" dirty="0">
                    <a:solidFill>
                      <a:srgbClr val="FF0000"/>
                    </a:solidFill>
                    <a:cs typeface="Times New Roman" panose="02020603050405020304" pitchFamily="18" charset="0"/>
                  </a:rPr>
                  <a:t>=</a:t>
                </a:r>
                <a:r>
                  <a:rPr lang="en-US" altLang="zh-CN" dirty="0">
                    <a:cs typeface="Times New Roman" panose="02020603050405020304" pitchFamily="18" charset="0"/>
                  </a:rPr>
                  <a:t>300,</a:t>
                </a:r>
                <a:endParaRPr lang="en-US" altLang="zh-CN" dirty="0">
                  <a:cs typeface="Times New Roman" panose="02020603050405020304" pitchFamily="18" charset="0"/>
                </a:endParaRPr>
              </a:p>
              <a:p>
                <a:pPr marL="0" indent="0" eaLnBrk="1" hangingPunct="1">
                  <a:lnSpc>
                    <a:spcPct val="90000"/>
                  </a:lnSpc>
                  <a:buNone/>
                </a:pPr>
                <a:r>
                  <a:rPr lang="en-US" altLang="zh-CN" dirty="0">
                    <a:cs typeface="Times New Roman" panose="02020603050405020304" pitchFamily="18" charset="0"/>
                  </a:rPr>
                  <a:t>                  2x</a:t>
                </a:r>
                <a:r>
                  <a:rPr lang="en-US" altLang="zh-CN" baseline="-25000" dirty="0">
                    <a:cs typeface="Times New Roman" panose="02020603050405020304" pitchFamily="18" charset="0"/>
                  </a:rPr>
                  <a:t>1</a:t>
                </a:r>
                <a:r>
                  <a:rPr lang="en-US" altLang="zh-CN" dirty="0">
                    <a:cs typeface="Times New Roman" panose="02020603050405020304" pitchFamily="18" charset="0"/>
                  </a:rPr>
                  <a:t>+x</a:t>
                </a:r>
                <a:r>
                  <a:rPr lang="en-US" altLang="zh-CN" baseline="-25000" dirty="0">
                    <a:cs typeface="Times New Roman" panose="02020603050405020304" pitchFamily="18" charset="0"/>
                  </a:rPr>
                  <a:t>2</a:t>
                </a:r>
                <a:r>
                  <a:rPr lang="en-US" altLang="zh-CN" dirty="0">
                    <a:solidFill>
                      <a:srgbClr val="FF0000"/>
                    </a:solidFill>
                    <a:cs typeface="Times New Roman" panose="02020603050405020304" pitchFamily="18" charset="0"/>
                  </a:rPr>
                  <a:t>+s</a:t>
                </a:r>
                <a:r>
                  <a:rPr lang="en-US" altLang="zh-CN" baseline="-25000" dirty="0">
                    <a:solidFill>
                      <a:srgbClr val="FF0000"/>
                    </a:solidFill>
                    <a:cs typeface="Times New Roman" panose="02020603050405020304" pitchFamily="18" charset="0"/>
                  </a:rPr>
                  <a:t>2</a:t>
                </a:r>
                <a:r>
                  <a:rPr lang="en-US" altLang="zh-CN" dirty="0">
                    <a:solidFill>
                      <a:srgbClr val="FF0000"/>
                    </a:solidFill>
                    <a:cs typeface="Times New Roman" panose="02020603050405020304" pitchFamily="18" charset="0"/>
                  </a:rPr>
                  <a:t>=</a:t>
                </a:r>
                <a:r>
                  <a:rPr lang="en-US" altLang="zh-CN" dirty="0">
                    <a:cs typeface="Times New Roman" panose="02020603050405020304" pitchFamily="18" charset="0"/>
                  </a:rPr>
                  <a:t>400,</a:t>
                </a:r>
                <a:endParaRPr lang="en-US" altLang="zh-CN" dirty="0">
                  <a:cs typeface="Times New Roman" panose="02020603050405020304" pitchFamily="18" charset="0"/>
                </a:endParaRPr>
              </a:p>
              <a:p>
                <a:pPr marL="0" indent="0" eaLnBrk="1" hangingPunct="1">
                  <a:lnSpc>
                    <a:spcPct val="90000"/>
                  </a:lnSpc>
                  <a:buNone/>
                </a:pPr>
                <a:r>
                  <a:rPr lang="en-US" altLang="zh-CN" dirty="0">
                    <a:cs typeface="Times New Roman" panose="02020603050405020304" pitchFamily="18" charset="0"/>
                  </a:rPr>
                  <a:t>                  x</a:t>
                </a:r>
                <a:r>
                  <a:rPr lang="en-US" altLang="zh-CN" baseline="-25000" dirty="0">
                    <a:cs typeface="Times New Roman" panose="02020603050405020304" pitchFamily="18" charset="0"/>
                  </a:rPr>
                  <a:t>2</a:t>
                </a:r>
                <a:r>
                  <a:rPr lang="en-US" altLang="zh-CN" dirty="0">
                    <a:solidFill>
                      <a:srgbClr val="FF0000"/>
                    </a:solidFill>
                    <a:cs typeface="Times New Roman" panose="02020603050405020304" pitchFamily="18" charset="0"/>
                  </a:rPr>
                  <a:t>+s</a:t>
                </a:r>
                <a:r>
                  <a:rPr lang="en-US" altLang="zh-CN" baseline="-25000" dirty="0">
                    <a:solidFill>
                      <a:srgbClr val="FF0000"/>
                    </a:solidFill>
                    <a:cs typeface="Times New Roman" panose="02020603050405020304" pitchFamily="18" charset="0"/>
                  </a:rPr>
                  <a:t>3</a:t>
                </a:r>
                <a:r>
                  <a:rPr lang="en-US" altLang="zh-CN" dirty="0">
                    <a:solidFill>
                      <a:srgbClr val="FF0000"/>
                    </a:solidFill>
                    <a:cs typeface="Times New Roman" panose="02020603050405020304" pitchFamily="18" charset="0"/>
                  </a:rPr>
                  <a:t>=</a:t>
                </a:r>
                <a:r>
                  <a:rPr lang="en-US" altLang="zh-CN" dirty="0">
                    <a:cs typeface="Times New Roman" panose="02020603050405020304" pitchFamily="18" charset="0"/>
                  </a:rPr>
                  <a:t>250,</a:t>
                </a:r>
                <a:endParaRPr lang="en-US" altLang="zh-CN" dirty="0">
                  <a:cs typeface="Times New Roman" panose="02020603050405020304" pitchFamily="18" charset="0"/>
                </a:endParaRPr>
              </a:p>
              <a:p>
                <a:pPr marL="0" indent="0" eaLnBrk="1" hangingPunct="1">
                  <a:lnSpc>
                    <a:spcPct val="90000"/>
                  </a:lnSpc>
                  <a:buNone/>
                </a:pPr>
                <a:r>
                  <a:rPr lang="en-US" altLang="zh-CN" dirty="0">
                    <a:cs typeface="Times New Roman" panose="02020603050405020304" pitchFamily="18" charset="0"/>
                  </a:rPr>
                  <a:t>                  x</a:t>
                </a:r>
                <a:r>
                  <a:rPr lang="en-US" altLang="zh-CN" baseline="-25000" dirty="0">
                    <a:cs typeface="Times New Roman" panose="02020603050405020304" pitchFamily="18" charset="0"/>
                  </a:rPr>
                  <a:t>1</a:t>
                </a:r>
                <a:r>
                  <a:rPr lang="en-US" altLang="zh-CN" dirty="0">
                    <a:cs typeface="Times New Roman" panose="02020603050405020304" pitchFamily="18" charset="0"/>
                  </a:rPr>
                  <a:t>,x</a:t>
                </a:r>
                <a:r>
                  <a:rPr lang="en-US" altLang="zh-CN" baseline="-25000" dirty="0">
                    <a:cs typeface="Times New Roman" panose="02020603050405020304" pitchFamily="18" charset="0"/>
                  </a:rPr>
                  <a:t>2</a:t>
                </a:r>
                <a:r>
                  <a:rPr lang="en-US" altLang="zh-CN" dirty="0">
                    <a:cs typeface="Times New Roman" panose="02020603050405020304" pitchFamily="18" charset="0"/>
                  </a:rPr>
                  <a:t>,</a:t>
                </a:r>
                <a:r>
                  <a:rPr lang="en-US" altLang="zh-CN" dirty="0">
                    <a:solidFill>
                      <a:srgbClr val="FF0000"/>
                    </a:solidFill>
                    <a:cs typeface="Times New Roman" panose="02020603050405020304" pitchFamily="18" charset="0"/>
                  </a:rPr>
                  <a:t>s</a:t>
                </a:r>
                <a:r>
                  <a:rPr lang="en-US" altLang="zh-CN" baseline="-25000" dirty="0">
                    <a:solidFill>
                      <a:srgbClr val="FF0000"/>
                    </a:solidFill>
                    <a:cs typeface="Times New Roman" panose="02020603050405020304" pitchFamily="18" charset="0"/>
                  </a:rPr>
                  <a:t>1</a:t>
                </a:r>
                <a:r>
                  <a:rPr lang="en-US" altLang="zh-CN" dirty="0">
                    <a:solidFill>
                      <a:srgbClr val="FF0000"/>
                    </a:solidFill>
                    <a:cs typeface="Times New Roman" panose="02020603050405020304" pitchFamily="18" charset="0"/>
                  </a:rPr>
                  <a:t>,s</a:t>
                </a:r>
                <a:r>
                  <a:rPr lang="en-US" altLang="zh-CN" baseline="-25000" dirty="0">
                    <a:solidFill>
                      <a:srgbClr val="FF0000"/>
                    </a:solidFill>
                    <a:cs typeface="Times New Roman" panose="02020603050405020304" pitchFamily="18" charset="0"/>
                  </a:rPr>
                  <a:t>2</a:t>
                </a:r>
                <a:r>
                  <a:rPr lang="en-US" altLang="zh-CN" dirty="0">
                    <a:solidFill>
                      <a:srgbClr val="FF0000"/>
                    </a:solidFill>
                    <a:cs typeface="Times New Roman" panose="02020603050405020304" pitchFamily="18" charset="0"/>
                  </a:rPr>
                  <a:t>,s</a:t>
                </a:r>
                <a:r>
                  <a:rPr lang="en-US" altLang="zh-CN" baseline="-25000" dirty="0">
                    <a:solidFill>
                      <a:srgbClr val="FF0000"/>
                    </a:solidFill>
                    <a:cs typeface="Times New Roman" panose="02020603050405020304" pitchFamily="18" charset="0"/>
                  </a:rPr>
                  <a:t>3</a:t>
                </a:r>
                <a:r>
                  <a:rPr lang="en-US" altLang="zh-CN" dirty="0">
                    <a:cs typeface="Times New Roman" panose="02020603050405020304" pitchFamily="18" charset="0"/>
                  </a:rPr>
                  <a:t>≥0</a:t>
                </a:r>
                <a:endParaRPr lang="en-US" dirty="0">
                  <a:cs typeface="Times New Roman" panose="02020603050405020304" pitchFamily="18"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Oval Callout 3"/>
              <p:cNvSpPr/>
              <p:nvPr/>
            </p:nvSpPr>
            <p:spPr>
              <a:xfrm>
                <a:off x="7769689" y="2988577"/>
                <a:ext cx="3397321" cy="1389580"/>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Times New Roman" panose="02020603050405020304" pitchFamily="18" charset="0"/>
                    <a:ea typeface="楷体" panose="02010609060101010101" pitchFamily="49" charset="-122"/>
                    <a:cs typeface="Times New Roman" panose="02020603050405020304" pitchFamily="18" charset="0"/>
                  </a:rPr>
                  <a:t>还要注意约束条件中右端常数均应</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0</m:t>
                    </m:r>
                  </m:oMath>
                </a14:m>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4" name="Oval Callout 3"/>
              <p:cNvSpPr>
                <a:spLocks noRot="1" noChangeAspect="1" noMove="1" noResize="1" noEditPoints="1" noAdjustHandles="1" noChangeArrowheads="1" noChangeShapeType="1" noTextEdit="1"/>
              </p:cNvSpPr>
              <p:nvPr/>
            </p:nvSpPr>
            <p:spPr>
              <a:xfrm>
                <a:off x="7769689" y="2988577"/>
                <a:ext cx="3397321" cy="1389580"/>
              </a:xfrm>
              <a:prstGeom prst="wedgeEllipseCallout">
                <a:avLst/>
              </a:prstGeom>
              <a:blipFill rotWithShape="1">
                <a:blip r:embed="rId2"/>
                <a:stretch>
                  <a:fillRect l="-182" t="-476" r="-190" b="-13036"/>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5" name="Rectangle 4"/>
          <p:cNvSpPr/>
          <p:nvPr/>
        </p:nvSpPr>
        <p:spPr>
          <a:xfrm>
            <a:off x="1104684" y="2755345"/>
            <a:ext cx="6030153" cy="32456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latin typeface="Times New Roman" panose="02020603050405020304" pitchFamily="18" charset="0"/>
              <a:ea typeface="楷体" panose="02010609060101010101" pitchFamily="49" charset="-122"/>
              <a:cs typeface="Times New Roman" panose="02020603050405020304" pitchFamily="18" charset="0"/>
            </a:endParaRPr>
          </a:p>
          <a:p>
            <a:endParaRPr lang="en-US" dirty="0">
              <a:latin typeface="Times New Roman" panose="02020603050405020304" pitchFamily="18" charset="0"/>
              <a:ea typeface="楷体" panose="02010609060101010101" pitchFamily="49" charset="-122"/>
              <a:cs typeface="Times New Roman" panose="02020603050405020304" pitchFamily="18" charset="0"/>
            </a:endParaRPr>
          </a:p>
          <a:p>
            <a:r>
              <a:rPr lang="en-US" dirty="0">
                <a:latin typeface="Times New Roman" panose="02020603050405020304" pitchFamily="18" charset="0"/>
                <a:ea typeface="楷体" panose="02010609060101010101" pitchFamily="49" charset="-122"/>
                <a:cs typeface="Times New Roman" panose="02020603050405020304" pitchFamily="18" charset="0"/>
              </a:rPr>
              <a:t>请将例</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的数学模型标准化：</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en-US" dirty="0">
                <a:latin typeface="Times New Roman" panose="02020603050405020304" pitchFamily="18" charset="0"/>
                <a:ea typeface="楷体" panose="02010609060101010101" pitchFamily="49" charset="-122"/>
                <a:cs typeface="Times New Roman" panose="02020603050405020304" pitchFamily="18" charset="0"/>
              </a:rPr>
              <a:t>目标函数：</a:t>
            </a:r>
            <a:r>
              <a:rPr lang="en-US" altLang="zh-CN" dirty="0">
                <a:latin typeface="Times New Roman" panose="02020603050405020304" pitchFamily="18" charset="0"/>
                <a:ea typeface="楷体" panose="02010609060101010101" pitchFamily="49" charset="-122"/>
                <a:cs typeface="Times New Roman" panose="02020603050405020304" pitchFamily="18" charset="0"/>
              </a:rPr>
              <a:t>max</a:t>
            </a:r>
            <a:r>
              <a:rPr lang="zh-CN" altLang="en-US"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Z=50x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+100x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en-US" dirty="0">
                <a:latin typeface="Times New Roman" panose="02020603050405020304" pitchFamily="18" charset="0"/>
                <a:ea typeface="楷体" panose="02010609060101010101" pitchFamily="49" charset="-122"/>
                <a:cs typeface="Times New Roman" panose="02020603050405020304" pitchFamily="18" charset="0"/>
              </a:rPr>
              <a:t>约束条件：</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a:latin typeface="Times New Roman" panose="02020603050405020304" pitchFamily="18" charset="0"/>
                <a:ea typeface="楷体" panose="02010609060101010101" pitchFamily="49" charset="-122"/>
                <a:cs typeface="Times New Roman" panose="02020603050405020304" pitchFamily="18" charset="0"/>
              </a:rPr>
              <a:t>≤300</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dirty="0">
                <a:latin typeface="Times New Roman" panose="02020603050405020304" pitchFamily="18" charset="0"/>
                <a:ea typeface="楷体" panose="02010609060101010101" pitchFamily="49" charset="-122"/>
                <a:cs typeface="Times New Roman" panose="02020603050405020304" pitchFamily="18" charset="0"/>
              </a:rPr>
              <a:t>2x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a:latin typeface="Times New Roman" panose="02020603050405020304" pitchFamily="18" charset="0"/>
                <a:ea typeface="楷体" panose="02010609060101010101" pitchFamily="49" charset="-122"/>
                <a:cs typeface="Times New Roman" panose="02020603050405020304" pitchFamily="18" charset="0"/>
              </a:rPr>
              <a:t>≤400</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≤250,</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a:latin typeface="Times New Roman" panose="02020603050405020304" pitchFamily="18" charset="0"/>
                <a:ea typeface="楷体" panose="02010609060101010101" pitchFamily="49" charset="-122"/>
                <a:cs typeface="Times New Roman" panose="02020603050405020304" pitchFamily="18" charset="0"/>
              </a:rPr>
              <a:t>≥0, 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a:latin typeface="Times New Roman" panose="02020603050405020304" pitchFamily="18" charset="0"/>
                <a:ea typeface="楷体" panose="02010609060101010101" pitchFamily="49" charset="-122"/>
                <a:cs typeface="Times New Roman" panose="02020603050405020304" pitchFamily="18" charset="0"/>
              </a:rPr>
              <a:t>≥0.</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lgn="ct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lgn="ctr"/>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xit" presetSubtype="10" fill="hold" grpId="1" nodeType="clickEffect">
                                  <p:stCondLst>
                                    <p:cond delay="0"/>
                                  </p:stCondLst>
                                  <p:childTnLst>
                                    <p:animEffect transition="out" filter="blinds(horizontal)">
                                      <p:cBhvr>
                                        <p:cTn id="28" dur="500"/>
                                        <p:tgtEl>
                                          <p:spTgt spid="5"/>
                                        </p:tgtEl>
                                      </p:cBhvr>
                                    </p:animEffect>
                                    <p:set>
                                      <p:cBhvr>
                                        <p:cTn id="29" dur="1" fill="hold">
                                          <p:stCondLst>
                                            <p:cond delay="499"/>
                                          </p:stCondLst>
                                        </p:cTn>
                                        <p:tgtEl>
                                          <p:spTgt spid="5"/>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additive="base">
                                        <p:cTn id="34" dur="500" fill="hold"/>
                                        <p:tgtEl>
                                          <p:spTgt spid="4"/>
                                        </p:tgtEl>
                                        <p:attrNameLst>
                                          <p:attrName>ppt_x</p:attrName>
                                        </p:attrNameLst>
                                      </p:cBhvr>
                                      <p:tavLst>
                                        <p:tav tm="0">
                                          <p:val>
                                            <p:strVal val="#ppt_x"/>
                                          </p:val>
                                        </p:tav>
                                        <p:tav tm="100000">
                                          <p:val>
                                            <p:strVal val="#ppt_x"/>
                                          </p:val>
                                        </p:tav>
                                      </p:tavLst>
                                    </p:anim>
                                    <p:anim calcmode="lin" valueType="num">
                                      <p:cBhvr additive="base">
                                        <p:cTn id="3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5"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标准化的目的是什么？</a:t>
            </a:r>
            <a:endParaRPr lang="zh-CN" altLang="en-US" dirty="0"/>
          </a:p>
        </p:txBody>
      </p:sp>
      <p:sp>
        <p:nvSpPr>
          <p:cNvPr id="3" name="内容占位符 2"/>
          <p:cNvSpPr>
            <a:spLocks noGrp="1"/>
          </p:cNvSpPr>
          <p:nvPr>
            <p:ph idx="1"/>
          </p:nvPr>
        </p:nvSpPr>
        <p:spPr/>
        <p:txBody>
          <a:bodyPr/>
          <a:lstStyle/>
          <a:p>
            <a:r>
              <a:rPr lang="zh-CN" altLang="en-US" dirty="0"/>
              <a:t>统一目标函数便于讨论。</a:t>
            </a:r>
            <a:endParaRPr lang="en-US" altLang="zh-CN" dirty="0"/>
          </a:p>
          <a:p>
            <a:r>
              <a:rPr lang="zh-CN" altLang="en-US" dirty="0"/>
              <a:t>将不等式转化为等式便于计算。</a:t>
            </a:r>
            <a:endParaRPr lang="en-US" altLang="zh-CN" dirty="0"/>
          </a:p>
          <a:p>
            <a:pPr marL="0" indent="0">
              <a:buNone/>
            </a:pPr>
            <a:r>
              <a:rPr lang="zh-CN" altLang="en-US" dirty="0">
                <a:solidFill>
                  <a:srgbClr val="FF0000"/>
                </a:solidFill>
              </a:rPr>
              <a:t>所有线性规划模型都应该首先被转化为标准型，再进行优化计算。</a:t>
            </a:r>
            <a:endParaRPr lang="en-US" altLang="zh-CN" dirty="0">
              <a:solidFill>
                <a:srgbClr val="FF0000"/>
              </a:solidFill>
            </a:endParaRP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线性规划问题的图解法</a:t>
            </a:r>
            <a:r>
              <a:rPr lang="en-US" altLang="zh-CN" dirty="0"/>
              <a:t> – </a:t>
            </a:r>
            <a:r>
              <a:rPr lang="zh-CN" altLang="en-US" dirty="0"/>
              <a:t>求目标函数最小化的线性规划问题</a:t>
            </a:r>
            <a:endParaRPr lang="zh-CN" altLang="en-US" dirty="0"/>
          </a:p>
        </p:txBody>
      </p:sp>
      <p:sp>
        <p:nvSpPr>
          <p:cNvPr id="3" name="内容占位符 2"/>
          <p:cNvSpPr>
            <a:spLocks noGrp="1"/>
          </p:cNvSpPr>
          <p:nvPr>
            <p:ph idx="1"/>
          </p:nvPr>
        </p:nvSpPr>
        <p:spPr/>
        <p:txBody>
          <a:bodyPr/>
          <a:lstStyle/>
          <a:p>
            <a:r>
              <a:rPr lang="zh-CN" altLang="en-US" dirty="0">
                <a:solidFill>
                  <a:srgbClr val="000000"/>
                </a:solidFill>
                <a:latin typeface="楷体" panose="02010609060101010101" pitchFamily="49" charset="-122"/>
              </a:rPr>
              <a:t>例</a:t>
            </a:r>
            <a:r>
              <a:rPr lang="en-US" altLang="zh-CN" dirty="0">
                <a:solidFill>
                  <a:srgbClr val="000000"/>
                </a:solidFill>
                <a:latin typeface="楷体" panose="02010609060101010101" pitchFamily="49" charset="-122"/>
              </a:rPr>
              <a:t>2 </a:t>
            </a:r>
            <a:r>
              <a:rPr lang="zh-CN" altLang="en-US" dirty="0">
                <a:solidFill>
                  <a:srgbClr val="000000"/>
                </a:solidFill>
                <a:latin typeface="楷体" panose="02010609060101010101" pitchFamily="49" charset="-122"/>
              </a:rPr>
              <a:t>某公司由于生产需要，共需</a:t>
            </a:r>
            <a:r>
              <a:rPr lang="en-US" altLang="zh-CN" dirty="0">
                <a:solidFill>
                  <a:srgbClr val="000000"/>
                </a:solidFill>
                <a:latin typeface="楷体" panose="02010609060101010101" pitchFamily="49" charset="-122"/>
              </a:rPr>
              <a:t>A,B</a:t>
            </a:r>
            <a:r>
              <a:rPr lang="zh-CN" altLang="en-US" dirty="0">
                <a:solidFill>
                  <a:srgbClr val="000000"/>
                </a:solidFill>
                <a:latin typeface="楷体" panose="02010609060101010101" pitchFamily="49" charset="-122"/>
              </a:rPr>
              <a:t>两种原料至少</a:t>
            </a:r>
            <a:r>
              <a:rPr lang="en-US" altLang="zh-CN" dirty="0">
                <a:solidFill>
                  <a:srgbClr val="000000"/>
                </a:solidFill>
                <a:latin typeface="楷体" panose="02010609060101010101" pitchFamily="49" charset="-122"/>
              </a:rPr>
              <a:t>350</a:t>
            </a:r>
            <a:r>
              <a:rPr lang="zh-CN" altLang="en-US" dirty="0">
                <a:solidFill>
                  <a:srgbClr val="000000"/>
                </a:solidFill>
                <a:latin typeface="楷体" panose="02010609060101010101" pitchFamily="49" charset="-122"/>
              </a:rPr>
              <a:t>吨（</a:t>
            </a:r>
            <a:r>
              <a:rPr lang="en-US" altLang="zh-CN" dirty="0">
                <a:solidFill>
                  <a:srgbClr val="000000"/>
                </a:solidFill>
                <a:latin typeface="楷体" panose="02010609060101010101" pitchFamily="49" charset="-122"/>
              </a:rPr>
              <a:t>A</a:t>
            </a:r>
            <a:r>
              <a:rPr lang="zh-CN" altLang="en-US" dirty="0">
                <a:solidFill>
                  <a:srgbClr val="000000"/>
                </a:solidFill>
                <a:latin typeface="楷体" panose="02010609060101010101" pitchFamily="49" charset="-122"/>
              </a:rPr>
              <a:t>，</a:t>
            </a:r>
            <a:r>
              <a:rPr lang="en-US" altLang="zh-CN" dirty="0">
                <a:solidFill>
                  <a:srgbClr val="000000"/>
                </a:solidFill>
                <a:latin typeface="楷体" panose="02010609060101010101" pitchFamily="49" charset="-122"/>
              </a:rPr>
              <a:t>B</a:t>
            </a:r>
            <a:r>
              <a:rPr lang="zh-CN" altLang="en-US" dirty="0">
                <a:solidFill>
                  <a:srgbClr val="000000"/>
                </a:solidFill>
                <a:latin typeface="楷体" panose="02010609060101010101" pitchFamily="49" charset="-122"/>
              </a:rPr>
              <a:t>有一定替代性）限制条件具体如下：</a:t>
            </a:r>
            <a:endParaRPr lang="en-US" altLang="zh-CN" dirty="0">
              <a:solidFill>
                <a:srgbClr val="000000"/>
              </a:solidFill>
              <a:latin typeface="楷体" panose="02010609060101010101" pitchFamily="49" charset="-122"/>
            </a:endParaRPr>
          </a:p>
          <a:p>
            <a:endParaRPr lang="zh-CN" altLang="en-US" dirty="0"/>
          </a:p>
        </p:txBody>
      </p:sp>
      <p:sp>
        <p:nvSpPr>
          <p:cNvPr id="4" name="矩形 3"/>
          <p:cNvSpPr>
            <a:spLocks noChangeArrowheads="1"/>
          </p:cNvSpPr>
          <p:nvPr/>
        </p:nvSpPr>
        <p:spPr bwMode="auto">
          <a:xfrm>
            <a:off x="2054225" y="5481638"/>
            <a:ext cx="77724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ts val="600"/>
              </a:spcBef>
              <a:spcAft>
                <a:spcPts val="600"/>
              </a:spcAft>
              <a:buFontTx/>
              <a:buNone/>
            </a:pPr>
            <a:r>
              <a:rPr lang="zh-CN" altLang="en-US" sz="2400" dirty="0">
                <a:solidFill>
                  <a:srgbClr val="000000"/>
                </a:solidFill>
                <a:latin typeface="楷体" panose="02010609060101010101" pitchFamily="49" charset="-122"/>
                <a:ea typeface="楷体" panose="02010609060101010101" pitchFamily="49" charset="-122"/>
              </a:rPr>
              <a:t>试问在满足生产需要的前提下，在公司加工能力的范围内，如何购买 </a:t>
            </a:r>
            <a:r>
              <a:rPr lang="en-US" altLang="zh-CN" sz="2400" dirty="0">
                <a:solidFill>
                  <a:srgbClr val="000000"/>
                </a:solidFill>
                <a:latin typeface="楷体" panose="02010609060101010101" pitchFamily="49" charset="-122"/>
                <a:ea typeface="楷体" panose="02010609060101010101" pitchFamily="49" charset="-122"/>
              </a:rPr>
              <a:t>A</a:t>
            </a:r>
            <a:r>
              <a:rPr lang="zh-CN" altLang="en-US" sz="2400" dirty="0">
                <a:solidFill>
                  <a:srgbClr val="000000"/>
                </a:solidFill>
                <a:latin typeface="楷体" panose="02010609060101010101" pitchFamily="49" charset="-122"/>
                <a:ea typeface="楷体" panose="02010609060101010101" pitchFamily="49" charset="-122"/>
              </a:rPr>
              <a:t>，</a:t>
            </a:r>
            <a:r>
              <a:rPr lang="en-US" altLang="zh-CN" sz="2400" dirty="0">
                <a:solidFill>
                  <a:srgbClr val="000000"/>
                </a:solidFill>
                <a:latin typeface="楷体" panose="02010609060101010101" pitchFamily="49" charset="-122"/>
                <a:ea typeface="楷体" panose="02010609060101010101" pitchFamily="49" charset="-122"/>
              </a:rPr>
              <a:t>B </a:t>
            </a:r>
            <a:r>
              <a:rPr lang="zh-CN" altLang="en-US" sz="2400" dirty="0">
                <a:solidFill>
                  <a:srgbClr val="000000"/>
                </a:solidFill>
                <a:latin typeface="楷体" panose="02010609060101010101" pitchFamily="49" charset="-122"/>
                <a:ea typeface="楷体" panose="02010609060101010101" pitchFamily="49" charset="-122"/>
              </a:rPr>
              <a:t>两种原料，使得购进成本最低？</a:t>
            </a:r>
            <a:endParaRPr lang="zh-CN" altLang="en-US" sz="2400" dirty="0">
              <a:solidFill>
                <a:srgbClr val="000000"/>
              </a:solidFill>
              <a:latin typeface="楷体" panose="02010609060101010101" pitchFamily="49" charset="-122"/>
              <a:ea typeface="楷体" panose="02010609060101010101" pitchFamily="49" charset="-122"/>
            </a:endParaRPr>
          </a:p>
        </p:txBody>
      </p:sp>
      <p:graphicFrame>
        <p:nvGraphicFramePr>
          <p:cNvPr id="5" name="表格 4"/>
          <p:cNvGraphicFramePr>
            <a:graphicFrameLocks noGrp="1"/>
          </p:cNvGraphicFramePr>
          <p:nvPr/>
        </p:nvGraphicFramePr>
        <p:xfrm>
          <a:off x="1854200" y="2743200"/>
          <a:ext cx="8483599" cy="2682875"/>
        </p:xfrm>
        <a:graphic>
          <a:graphicData uri="http://schemas.openxmlformats.org/drawingml/2006/table">
            <a:tbl>
              <a:tblPr/>
              <a:tblGrid>
                <a:gridCol w="2362334"/>
                <a:gridCol w="2867486"/>
                <a:gridCol w="1339588"/>
                <a:gridCol w="1914191"/>
              </a:tblGrid>
              <a:tr h="846159">
                <a:tc>
                  <a:txBody>
                    <a:bodyPr/>
                    <a:lstStyle/>
                    <a:p>
                      <a:pPr algn="ctr"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fontAlgn="ctr"/>
                      <a:r>
                        <a:rPr lang="zh-CN" altLang="en-US" sz="2000" b="1" i="0" u="none" strike="noStrike" baseline="0" dirty="0">
                          <a:solidFill>
                            <a:srgbClr val="000000"/>
                          </a:solidFill>
                          <a:effectLst/>
                          <a:latin typeface="Arial" panose="020B0604020202020204" pitchFamily="34" charset="0"/>
                          <a:ea typeface="仿宋" panose="02010609060101010101" pitchFamily="49" charset="-122"/>
                        </a:rPr>
                        <a:t>资源需求</a:t>
                      </a:r>
                      <a:endParaRPr lang="zh-CN" altLang="en-US" sz="2000" b="1"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fontAlgn="ctr"/>
                      <a:r>
                        <a:rPr lang="zh-CN" altLang="en-US" sz="2000" b="1" i="0" u="none" strike="noStrike" baseline="0" dirty="0">
                          <a:solidFill>
                            <a:srgbClr val="000000"/>
                          </a:solidFill>
                          <a:effectLst/>
                          <a:latin typeface="Arial" panose="020B0604020202020204" pitchFamily="34" charset="0"/>
                          <a:ea typeface="仿宋" panose="02010609060101010101" pitchFamily="49" charset="-122"/>
                        </a:rPr>
                        <a:t>加工时间</a:t>
                      </a:r>
                      <a:br>
                        <a:rPr lang="zh-CN" altLang="en-US" sz="2000" b="1" i="0" u="none" strike="noStrike" baseline="0" dirty="0">
                          <a:solidFill>
                            <a:srgbClr val="000000"/>
                          </a:solidFill>
                          <a:effectLst/>
                          <a:latin typeface="Arial" panose="020B0604020202020204" pitchFamily="34" charset="0"/>
                          <a:ea typeface="仿宋" panose="02010609060101010101" pitchFamily="49" charset="-122"/>
                        </a:rPr>
                      </a:br>
                      <a:r>
                        <a:rPr lang="zh-CN" altLang="en-US" sz="2000" b="1" i="0" u="none" strike="noStrike" baseline="0" dirty="0">
                          <a:solidFill>
                            <a:srgbClr val="000000"/>
                          </a:solidFill>
                          <a:effectLst/>
                          <a:latin typeface="Arial" panose="020B0604020202020204" pitchFamily="34" charset="0"/>
                          <a:ea typeface="仿宋" panose="02010609060101010101" pitchFamily="49" charset="-122"/>
                        </a:rPr>
                        <a:t>（小时</a:t>
                      </a:r>
                      <a:r>
                        <a:rPr lang="en-US" altLang="zh-CN" sz="2000" b="1"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1" i="0" u="none" strike="noStrike" baseline="0" dirty="0">
                          <a:solidFill>
                            <a:srgbClr val="000000"/>
                          </a:solidFill>
                          <a:effectLst/>
                          <a:latin typeface="Arial" panose="020B0604020202020204" pitchFamily="34" charset="0"/>
                          <a:ea typeface="仿宋" panose="02010609060101010101" pitchFamily="49" charset="-122"/>
                        </a:rPr>
                        <a:t>吨）</a:t>
                      </a:r>
                      <a:endParaRPr lang="zh-CN" altLang="en-US" sz="2000" b="1"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fontAlgn="ctr"/>
                      <a:r>
                        <a:rPr lang="zh-CN" altLang="en-US" sz="2000" b="1" i="0" u="none" strike="noStrike" baseline="0" dirty="0">
                          <a:solidFill>
                            <a:srgbClr val="000000"/>
                          </a:solidFill>
                          <a:effectLst/>
                          <a:latin typeface="Arial" panose="020B0604020202020204" pitchFamily="34" charset="0"/>
                          <a:ea typeface="仿宋" panose="02010609060101010101" pitchFamily="49" charset="-122"/>
                        </a:rPr>
                        <a:t>成本</a:t>
                      </a:r>
                      <a:br>
                        <a:rPr lang="zh-CN" altLang="en-US" sz="2000" b="1" i="0" u="none" strike="noStrike" baseline="0" dirty="0">
                          <a:solidFill>
                            <a:srgbClr val="000000"/>
                          </a:solidFill>
                          <a:effectLst/>
                          <a:latin typeface="Arial" panose="020B0604020202020204" pitchFamily="34" charset="0"/>
                          <a:ea typeface="仿宋" panose="02010609060101010101" pitchFamily="49" charset="-122"/>
                        </a:rPr>
                      </a:br>
                      <a:r>
                        <a:rPr lang="zh-CN" altLang="en-US" sz="2000" b="1" i="0" u="none" strike="noStrike" baseline="0" dirty="0">
                          <a:solidFill>
                            <a:srgbClr val="000000"/>
                          </a:solidFill>
                          <a:effectLst/>
                          <a:latin typeface="Arial" panose="020B0604020202020204" pitchFamily="34" charset="0"/>
                          <a:ea typeface="仿宋" panose="02010609060101010101" pitchFamily="49" charset="-122"/>
                        </a:rPr>
                        <a:t>（万元</a:t>
                      </a:r>
                      <a:r>
                        <a:rPr lang="en-US" altLang="zh-CN" sz="2000" b="1"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1" i="0" u="none" strike="noStrike" baseline="0" dirty="0">
                          <a:solidFill>
                            <a:srgbClr val="000000"/>
                          </a:solidFill>
                          <a:effectLst/>
                          <a:latin typeface="Arial" panose="020B0604020202020204" pitchFamily="34" charset="0"/>
                          <a:ea typeface="仿宋" panose="02010609060101010101" pitchFamily="49" charset="-122"/>
                        </a:rPr>
                        <a:t>吨）</a:t>
                      </a:r>
                      <a:endParaRPr lang="zh-CN" altLang="en-US" sz="2000" b="1"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r>
              <a:tr h="459179">
                <a:tc>
                  <a:txBody>
                    <a:bodyPr/>
                    <a:lstStyle/>
                    <a:p>
                      <a:pPr algn="ctr"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A</a:t>
                      </a:r>
                      <a:endParaRPr 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zh-CN" sz="2000" dirty="0">
                          <a:solidFill>
                            <a:srgbClr val="000000"/>
                          </a:solidFill>
                          <a:latin typeface="Arial Unicode MS" panose="020B0604020202020204" charset="-122"/>
                          <a:ea typeface="Arial Unicode MS" panose="020B0604020202020204" charset="-122"/>
                          <a:cs typeface="Arial Unicode MS" panose="020B0604020202020204"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125</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吨</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2</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2</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r>
              <a:tr h="459179">
                <a:tc>
                  <a:txBody>
                    <a:bodyPr/>
                    <a:lstStyle/>
                    <a:p>
                      <a:pPr algn="ctr"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B</a:t>
                      </a:r>
                      <a:endParaRPr 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无限制</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3</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r>
              <a:tr h="459179">
                <a:tc>
                  <a:txBody>
                    <a:bodyPr/>
                    <a:lstStyle/>
                    <a:p>
                      <a:pPr algn="ctr" fontAlgn="ctr"/>
                      <a:r>
                        <a:rPr lang="zh-CN" altLang="en-US" sz="2000" b="0" i="0" u="none" strike="noStrike" baseline="0">
                          <a:solidFill>
                            <a:srgbClr val="000000"/>
                          </a:solidFill>
                          <a:effectLst/>
                          <a:latin typeface="Arial" panose="020B0604020202020204" pitchFamily="34" charset="0"/>
                          <a:ea typeface="仿宋" panose="02010609060101010101" pitchFamily="49" charset="-122"/>
                        </a:rPr>
                        <a:t>总资源需求</a:t>
                      </a:r>
                      <a:endParaRPr lang="zh-CN" altLang="en-US"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（A+B）</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a:t>
                      </a:r>
                      <a:r>
                        <a:rPr lang="en-US" altLang="zh-CN" sz="2000" dirty="0">
                          <a:solidFill>
                            <a:srgbClr val="000000"/>
                          </a:solidFill>
                          <a:latin typeface="Arial Unicode MS" panose="020B0604020202020204" charset="-122"/>
                          <a:ea typeface="Arial Unicode MS" panose="020B0604020202020204" charset="-122"/>
                          <a:cs typeface="Arial Unicode MS" panose="020B0604020202020204"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350</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吨</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r>
              <a:tr h="459179">
                <a:tc>
                  <a:txBody>
                    <a:bodyPr/>
                    <a:lstStyle/>
                    <a:p>
                      <a:pPr algn="ctr"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时间限制（小时）</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600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线性规划问题的图解法</a:t>
            </a:r>
            <a:r>
              <a:rPr lang="en-US" altLang="zh-CN" dirty="0"/>
              <a:t> – </a:t>
            </a:r>
            <a:r>
              <a:rPr lang="zh-CN" altLang="en-US" dirty="0"/>
              <a:t>例</a:t>
            </a:r>
            <a:r>
              <a:rPr lang="en-US" altLang="zh-CN" dirty="0"/>
              <a:t>2</a:t>
            </a:r>
            <a:r>
              <a:rPr lang="zh-CN" altLang="en-US" dirty="0"/>
              <a:t>的线性规划模型的一般形式</a:t>
            </a:r>
            <a:endParaRPr lang="zh-CN" altLang="en-US" dirty="0"/>
          </a:p>
        </p:txBody>
      </p:sp>
      <p:sp>
        <p:nvSpPr>
          <p:cNvPr id="3" name="内容占位符 2"/>
          <p:cNvSpPr>
            <a:spLocks noGrp="1"/>
          </p:cNvSpPr>
          <p:nvPr>
            <p:ph idx="1"/>
          </p:nvPr>
        </p:nvSpPr>
        <p:spPr/>
        <p:txBody>
          <a:bodyPr/>
          <a:lstStyle/>
          <a:p>
            <a:pPr marL="0" indent="0">
              <a:buNone/>
            </a:pPr>
            <a:r>
              <a:rPr lang="en-US" altLang="zh-CN" dirty="0">
                <a:latin typeface="楷体" panose="02010609060101010101" pitchFamily="49" charset="-122"/>
              </a:rPr>
              <a:t> </a:t>
            </a:r>
            <a:r>
              <a:rPr lang="zh-CN" altLang="en-US" dirty="0">
                <a:latin typeface="楷体" panose="02010609060101010101" pitchFamily="49" charset="-122"/>
              </a:rPr>
              <a:t>解：设</a:t>
            </a:r>
            <a:r>
              <a:rPr lang="en-US" altLang="zh-CN" dirty="0">
                <a:latin typeface="楷体" panose="02010609060101010101" pitchFamily="49" charset="-122"/>
              </a:rPr>
              <a:t>x</a:t>
            </a:r>
            <a:r>
              <a:rPr lang="en-US" altLang="zh-CN" baseline="-25000" dirty="0">
                <a:latin typeface="楷体" panose="02010609060101010101" pitchFamily="49" charset="-122"/>
              </a:rPr>
              <a:t>1</a:t>
            </a:r>
            <a:r>
              <a:rPr lang="zh-CN" altLang="en-US" dirty="0">
                <a:latin typeface="楷体" panose="02010609060101010101" pitchFamily="49" charset="-122"/>
              </a:rPr>
              <a:t>为购进原料</a:t>
            </a:r>
            <a:r>
              <a:rPr lang="en-US" altLang="zh-CN" dirty="0">
                <a:latin typeface="楷体" panose="02010609060101010101" pitchFamily="49" charset="-122"/>
              </a:rPr>
              <a:t>A</a:t>
            </a:r>
            <a:r>
              <a:rPr lang="zh-CN" altLang="en-US" dirty="0">
                <a:latin typeface="楷体" panose="02010609060101010101" pitchFamily="49" charset="-122"/>
              </a:rPr>
              <a:t>的吨数，</a:t>
            </a:r>
            <a:r>
              <a:rPr lang="en-US" altLang="zh-CN" dirty="0">
                <a:latin typeface="楷体" panose="02010609060101010101" pitchFamily="49" charset="-122"/>
              </a:rPr>
              <a:t>x</a:t>
            </a:r>
            <a:r>
              <a:rPr lang="en-US" altLang="zh-CN" baseline="-25000" dirty="0">
                <a:latin typeface="楷体" panose="02010609060101010101" pitchFamily="49" charset="-122"/>
              </a:rPr>
              <a:t>2</a:t>
            </a:r>
            <a:r>
              <a:rPr lang="zh-CN" altLang="en-US" dirty="0">
                <a:latin typeface="楷体" panose="02010609060101010101" pitchFamily="49" charset="-122"/>
              </a:rPr>
              <a:t>为购进原料</a:t>
            </a:r>
            <a:r>
              <a:rPr lang="en-US" altLang="zh-CN" dirty="0">
                <a:latin typeface="楷体" panose="02010609060101010101" pitchFamily="49" charset="-122"/>
              </a:rPr>
              <a:t>B</a:t>
            </a:r>
            <a:r>
              <a:rPr lang="zh-CN" altLang="en-US" dirty="0">
                <a:latin typeface="楷体" panose="02010609060101010101" pitchFamily="49" charset="-122"/>
              </a:rPr>
              <a:t>的吨数。得到了此线性规划的数学模型如下：</a:t>
            </a:r>
            <a:endParaRPr lang="zh-CN" altLang="en-US" dirty="0">
              <a:latin typeface="楷体" panose="02010609060101010101" pitchFamily="49" charset="-122"/>
            </a:endParaRPr>
          </a:p>
          <a:p>
            <a:pPr marL="0" indent="0">
              <a:buNone/>
            </a:pPr>
            <a:r>
              <a:rPr lang="zh-CN" altLang="en-US" dirty="0">
                <a:cs typeface="Times New Roman" panose="02020603050405020304" pitchFamily="18" charset="0"/>
              </a:rPr>
              <a:t>    目标函数：    </a:t>
            </a:r>
            <a:r>
              <a:rPr lang="en-US" altLang="zh-CN" dirty="0">
                <a:cs typeface="Times New Roman" panose="02020603050405020304" pitchFamily="18" charset="0"/>
              </a:rPr>
              <a:t>min Z=2x</a:t>
            </a:r>
            <a:r>
              <a:rPr lang="en-US" altLang="zh-CN" baseline="-25000" dirty="0">
                <a:cs typeface="Times New Roman" panose="02020603050405020304" pitchFamily="18" charset="0"/>
              </a:rPr>
              <a:t>1</a:t>
            </a:r>
            <a:r>
              <a:rPr lang="en-US" altLang="zh-CN" dirty="0">
                <a:cs typeface="Times New Roman" panose="02020603050405020304" pitchFamily="18" charset="0"/>
              </a:rPr>
              <a:t>+3x</a:t>
            </a:r>
            <a:r>
              <a:rPr lang="en-US" altLang="zh-CN" baseline="-25000" dirty="0">
                <a:cs typeface="Times New Roman" panose="02020603050405020304" pitchFamily="18" charset="0"/>
              </a:rPr>
              <a:t>2</a:t>
            </a:r>
            <a:r>
              <a:rPr lang="zh-CN" altLang="en-US" dirty="0">
                <a:cs typeface="Times New Roman" panose="02020603050405020304" pitchFamily="18" charset="0"/>
              </a:rPr>
              <a:t>，</a:t>
            </a:r>
            <a:endParaRPr lang="zh-CN" altLang="en-US" dirty="0">
              <a:cs typeface="Times New Roman" panose="02020603050405020304" pitchFamily="18" charset="0"/>
            </a:endParaRPr>
          </a:p>
          <a:p>
            <a:pPr marL="0" indent="0">
              <a:buNone/>
            </a:pPr>
            <a:r>
              <a:rPr lang="zh-CN" altLang="en-US" dirty="0">
                <a:cs typeface="Times New Roman" panose="02020603050405020304" pitchFamily="18" charset="0"/>
              </a:rPr>
              <a:t>    约束条件：    </a:t>
            </a:r>
            <a:endParaRPr lang="en-US" altLang="zh-CN" dirty="0">
              <a:cs typeface="Times New Roman" panose="02020603050405020304" pitchFamily="18" charset="0"/>
            </a:endParaRPr>
          </a:p>
          <a:p>
            <a:pPr marL="457200" lvl="1" indent="0">
              <a:buNone/>
            </a:pPr>
            <a:r>
              <a:rPr lang="en-US" altLang="zh-CN" dirty="0">
                <a:cs typeface="Times New Roman" panose="02020603050405020304" pitchFamily="18" charset="0"/>
              </a:rPr>
              <a:t>x</a:t>
            </a:r>
            <a:r>
              <a:rPr lang="en-US" altLang="zh-CN" baseline="-25000" dirty="0">
                <a:cs typeface="Times New Roman" panose="02020603050405020304" pitchFamily="18" charset="0"/>
              </a:rPr>
              <a:t>1</a:t>
            </a:r>
            <a:r>
              <a:rPr lang="en-US" altLang="zh-CN" dirty="0">
                <a:cs typeface="Times New Roman" panose="02020603050405020304" pitchFamily="18" charset="0"/>
              </a:rPr>
              <a:t>+x</a:t>
            </a:r>
            <a:r>
              <a:rPr lang="en-US" altLang="zh-CN" baseline="-25000" dirty="0">
                <a:cs typeface="Times New Roman" panose="02020603050405020304" pitchFamily="18" charset="0"/>
              </a:rPr>
              <a:t>2</a:t>
            </a:r>
            <a:r>
              <a:rPr lang="en-US" altLang="zh-CN" dirty="0">
                <a:cs typeface="Times New Roman" panose="02020603050405020304" pitchFamily="18" charset="0"/>
              </a:rPr>
              <a:t>≥350</a:t>
            </a:r>
            <a:endParaRPr lang="en-US" altLang="zh-CN" dirty="0">
              <a:cs typeface="Times New Roman" panose="02020603050405020304" pitchFamily="18" charset="0"/>
            </a:endParaRPr>
          </a:p>
          <a:p>
            <a:pPr marL="457200" lvl="1" indent="0">
              <a:buNone/>
            </a:pPr>
            <a:r>
              <a:rPr lang="en-US" altLang="zh-CN" dirty="0">
                <a:cs typeface="Times New Roman" panose="02020603050405020304" pitchFamily="18" charset="0"/>
              </a:rPr>
              <a:t>x</a:t>
            </a:r>
            <a:r>
              <a:rPr lang="en-US" altLang="zh-CN" baseline="-25000" dirty="0">
                <a:cs typeface="Times New Roman" panose="02020603050405020304" pitchFamily="18" charset="0"/>
              </a:rPr>
              <a:t>1</a:t>
            </a:r>
            <a:r>
              <a:rPr lang="en-US" altLang="zh-CN" dirty="0">
                <a:cs typeface="Times New Roman" panose="02020603050405020304" pitchFamily="18" charset="0"/>
              </a:rPr>
              <a:t>≥125</a:t>
            </a:r>
            <a:endParaRPr lang="en-US" altLang="zh-CN" dirty="0">
              <a:cs typeface="Times New Roman" panose="02020603050405020304" pitchFamily="18" charset="0"/>
            </a:endParaRPr>
          </a:p>
          <a:p>
            <a:pPr marL="457200" lvl="1" indent="0">
              <a:buNone/>
            </a:pPr>
            <a:r>
              <a:rPr lang="en-US" altLang="zh-CN" dirty="0">
                <a:cs typeface="Times New Roman" panose="02020603050405020304" pitchFamily="18" charset="0"/>
              </a:rPr>
              <a:t>2x</a:t>
            </a:r>
            <a:r>
              <a:rPr lang="en-US" altLang="zh-CN" baseline="-25000" dirty="0">
                <a:cs typeface="Times New Roman" panose="02020603050405020304" pitchFamily="18" charset="0"/>
              </a:rPr>
              <a:t>1</a:t>
            </a:r>
            <a:r>
              <a:rPr lang="en-US" altLang="zh-CN" dirty="0">
                <a:cs typeface="Times New Roman" panose="02020603050405020304" pitchFamily="18" charset="0"/>
              </a:rPr>
              <a:t>+x</a:t>
            </a:r>
            <a:r>
              <a:rPr lang="en-US" altLang="zh-CN" baseline="-25000" dirty="0">
                <a:cs typeface="Times New Roman" panose="02020603050405020304" pitchFamily="18" charset="0"/>
              </a:rPr>
              <a:t>2</a:t>
            </a:r>
            <a:r>
              <a:rPr lang="en-US" altLang="zh-CN" dirty="0">
                <a:cs typeface="Times New Roman" panose="02020603050405020304" pitchFamily="18" charset="0"/>
              </a:rPr>
              <a:t>≤600</a:t>
            </a:r>
            <a:endParaRPr lang="en-US" altLang="zh-CN" dirty="0">
              <a:cs typeface="Times New Roman" panose="02020603050405020304" pitchFamily="18" charset="0"/>
            </a:endParaRPr>
          </a:p>
          <a:p>
            <a:pPr marL="457200" lvl="1" indent="0">
              <a:buNone/>
            </a:pPr>
            <a:r>
              <a:rPr lang="en-US" altLang="zh-CN" dirty="0">
                <a:cs typeface="Times New Roman" panose="02020603050405020304" pitchFamily="18" charset="0"/>
              </a:rPr>
              <a:t>x</a:t>
            </a:r>
            <a:r>
              <a:rPr lang="en-US" altLang="zh-CN" baseline="-25000" dirty="0">
                <a:cs typeface="Times New Roman" panose="02020603050405020304" pitchFamily="18" charset="0"/>
              </a:rPr>
              <a:t>1</a:t>
            </a:r>
            <a:r>
              <a:rPr lang="en-US" altLang="zh-CN" dirty="0">
                <a:cs typeface="Times New Roman" panose="02020603050405020304" pitchFamily="18" charset="0"/>
              </a:rPr>
              <a:t>,x</a:t>
            </a:r>
            <a:r>
              <a:rPr lang="en-US" altLang="zh-CN" baseline="-25000" dirty="0">
                <a:cs typeface="Times New Roman" panose="02020603050405020304" pitchFamily="18" charset="0"/>
              </a:rPr>
              <a:t>2</a:t>
            </a:r>
            <a:r>
              <a:rPr lang="en-US" altLang="zh-CN" dirty="0">
                <a:cs typeface="Times New Roman" panose="02020603050405020304" pitchFamily="18" charset="0"/>
              </a:rPr>
              <a:t>≥0. </a:t>
            </a:r>
            <a:endParaRPr lang="zh-CN" altLang="en-US" dirty="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线性规划问题的图解法</a:t>
            </a:r>
            <a:r>
              <a:rPr lang="en-US" altLang="zh-CN" dirty="0"/>
              <a:t> – </a:t>
            </a:r>
            <a:r>
              <a:rPr lang="zh-CN" altLang="en-US" dirty="0"/>
              <a:t>例</a:t>
            </a:r>
            <a:r>
              <a:rPr lang="en-US" altLang="zh-CN" dirty="0"/>
              <a:t>2</a:t>
            </a:r>
            <a:r>
              <a:rPr lang="zh-CN" altLang="en-US" dirty="0"/>
              <a:t>的图解法</a:t>
            </a:r>
            <a:r>
              <a:rPr lang="en-US" altLang="zh-CN" dirty="0"/>
              <a:t> </a:t>
            </a:r>
            <a:endParaRPr lang="zh-CN" altLang="en-US" dirty="0"/>
          </a:p>
        </p:txBody>
      </p:sp>
      <p:pic>
        <p:nvPicPr>
          <p:cNvPr id="65" name="图片 1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600450" y="1776412"/>
            <a:ext cx="4400550" cy="330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 name="矩形 65"/>
          <p:cNvSpPr>
            <a:spLocks noChangeArrowheads="1"/>
          </p:cNvSpPr>
          <p:nvPr/>
        </p:nvSpPr>
        <p:spPr bwMode="auto">
          <a:xfrm>
            <a:off x="4220369" y="5467350"/>
            <a:ext cx="37512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r>
              <a:rPr lang="zh-CN" altLang="en-US" sz="1800">
                <a:latin typeface="楷体" panose="02010609060101010101" pitchFamily="49" charset="-122"/>
                <a:ea typeface="楷体" panose="02010609060101010101" pitchFamily="49" charset="-122"/>
              </a:rPr>
              <a:t>得 </a:t>
            </a:r>
            <a:r>
              <a:rPr lang="en-US" altLang="zh-CN" sz="1800">
                <a:latin typeface="楷体" panose="02010609060101010101" pitchFamily="49" charset="-122"/>
                <a:ea typeface="楷体" panose="02010609060101010101" pitchFamily="49" charset="-122"/>
              </a:rPr>
              <a:t>B </a:t>
            </a:r>
            <a:r>
              <a:rPr lang="zh-CN" altLang="en-US" sz="1800">
                <a:latin typeface="楷体" panose="02010609060101010101" pitchFamily="49" charset="-122"/>
                <a:ea typeface="楷体" panose="02010609060101010101" pitchFamily="49" charset="-122"/>
              </a:rPr>
              <a:t>点坐标（</a:t>
            </a:r>
            <a:r>
              <a:rPr lang="en-US" altLang="zh-CN" sz="1800">
                <a:latin typeface="楷体" panose="02010609060101010101" pitchFamily="49" charset="-122"/>
                <a:ea typeface="楷体" panose="02010609060101010101" pitchFamily="49" charset="-122"/>
              </a:rPr>
              <a:t>250</a:t>
            </a:r>
            <a:r>
              <a:rPr lang="zh-CN" altLang="en-US" sz="1800">
                <a:latin typeface="楷体" panose="02010609060101010101" pitchFamily="49" charset="-122"/>
                <a:ea typeface="楷体" panose="02010609060101010101" pitchFamily="49" charset="-122"/>
              </a:rPr>
              <a:t>，</a:t>
            </a:r>
            <a:r>
              <a:rPr lang="en-US" altLang="zh-CN" sz="1800">
                <a:latin typeface="楷体" panose="02010609060101010101" pitchFamily="49" charset="-122"/>
                <a:ea typeface="楷体" panose="02010609060101010101" pitchFamily="49" charset="-122"/>
              </a:rPr>
              <a:t>100</a:t>
            </a:r>
            <a:r>
              <a:rPr lang="zh-CN" altLang="en-US" sz="1800">
                <a:latin typeface="楷体" panose="02010609060101010101" pitchFamily="49" charset="-122"/>
                <a:ea typeface="楷体" panose="02010609060101010101" pitchFamily="49" charset="-122"/>
              </a:rPr>
              <a:t>）为最优解</a:t>
            </a:r>
            <a:endParaRPr lang="en-US" altLang="zh-CN" sz="180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线性规划问题的图解法</a:t>
            </a:r>
            <a:r>
              <a:rPr lang="en-US" altLang="zh-CN" dirty="0"/>
              <a:t> – </a:t>
            </a:r>
            <a:r>
              <a:rPr lang="zh-CN" altLang="en-US" dirty="0"/>
              <a:t>例</a:t>
            </a:r>
            <a:r>
              <a:rPr lang="en-US" altLang="zh-CN" dirty="0"/>
              <a:t>2</a:t>
            </a:r>
            <a:r>
              <a:rPr lang="zh-CN" altLang="en-US" dirty="0"/>
              <a:t>的优化结果</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zh-CN" altLang="en-US" dirty="0">
                    <a:latin typeface="楷体" panose="02010609060101010101" pitchFamily="49" charset="-122"/>
                    <a:ea typeface="楷体" panose="02010609060101010101" pitchFamily="49" charset="-122"/>
                  </a:rPr>
                  <a:t>该厂最低成本的生产方案：</a:t>
                </a:r>
                <a:endParaRPr lang="en-US" altLang="zh-CN" dirty="0">
                  <a:latin typeface="楷体" panose="02010609060101010101" pitchFamily="49" charset="-122"/>
                  <a:ea typeface="楷体" panose="02010609060101010101" pitchFamily="49" charset="-122"/>
                </a:endParaRPr>
              </a:p>
              <a:p>
                <a:pPr lvl="1"/>
                <a:r>
                  <a:rPr lang="zh-CN" altLang="en-US" b="0" dirty="0">
                    <a:latin typeface="楷体" panose="02010609060101010101" pitchFamily="49" charset="-122"/>
                    <a:ea typeface="楷体" panose="02010609060101010101" pitchFamily="49" charset="-122"/>
                  </a:rPr>
                  <a:t>原料</a:t>
                </a:r>
                <a:r>
                  <a:rPr lang="en-US" altLang="zh-CN" b="0" dirty="0">
                    <a:latin typeface="楷体" panose="02010609060101010101" pitchFamily="49" charset="-122"/>
                    <a:ea typeface="楷体" panose="02010609060101010101" pitchFamily="49" charset="-122"/>
                  </a:rPr>
                  <a:t>A</a:t>
                </a:r>
                <a14:m>
                  <m:oMath xmlns:m="http://schemas.openxmlformats.org/officeDocument/2006/math">
                    <m:r>
                      <a:rPr lang="zh-CN" altLang="en-US" i="1" dirty="0">
                        <a:latin typeface="Cambria Math" panose="02040503050406030204" pitchFamily="18" charset="0"/>
                        <a:ea typeface="楷体" panose="02010609060101010101" pitchFamily="49" charset="-122"/>
                      </a:rPr>
                      <m:t>采购</m:t>
                    </m:r>
                    <m:r>
                      <a:rPr lang="en-US" altLang="zh-CN" b="0" i="1" dirty="0" smtClean="0">
                        <a:latin typeface="Cambria Math" panose="02040503050406030204" pitchFamily="18" charset="0"/>
                        <a:ea typeface="楷体" panose="02010609060101010101" pitchFamily="49" charset="-122"/>
                      </a:rPr>
                      <m:t>250</m:t>
                    </m:r>
                    <m:r>
                      <a:rPr lang="zh-CN" altLang="en-US" i="1" dirty="0">
                        <a:latin typeface="Cambria Math" panose="02040503050406030204" pitchFamily="18" charset="0"/>
                        <a:ea typeface="楷体" panose="02010609060101010101" pitchFamily="49" charset="-122"/>
                      </a:rPr>
                      <m:t>；</m:t>
                    </m:r>
                    <m:r>
                      <a:rPr lang="zh-CN" altLang="en-US" i="1" dirty="0" smtClean="0">
                        <a:latin typeface="Cambria Math" panose="02040503050406030204" pitchFamily="18" charset="0"/>
                        <a:ea typeface="楷体" panose="02010609060101010101" pitchFamily="49" charset="-122"/>
                      </a:rPr>
                      <m:t>原料</m:t>
                    </m:r>
                    <m:r>
                      <m:rPr>
                        <m:sty m:val="p"/>
                      </m:rPr>
                      <a:rPr lang="en-US" altLang="zh-CN" i="1" dirty="0">
                        <a:latin typeface="Cambria Math" panose="02040503050406030204" pitchFamily="18" charset="0"/>
                        <a:ea typeface="楷体" panose="02010609060101010101" pitchFamily="49" charset="-122"/>
                      </a:rPr>
                      <m:t>B</m:t>
                    </m:r>
                    <m:r>
                      <a:rPr lang="zh-CN" altLang="en-US" i="1" dirty="0" smtClean="0">
                        <a:latin typeface="Cambria Math" panose="02040503050406030204" pitchFamily="18" charset="0"/>
                        <a:ea typeface="楷体" panose="02010609060101010101" pitchFamily="49" charset="-122"/>
                      </a:rPr>
                      <m:t>采购</m:t>
                    </m:r>
                    <m:r>
                      <a:rPr lang="en-US" altLang="zh-CN" b="0" i="1" dirty="0" smtClean="0">
                        <a:latin typeface="Cambria Math" panose="02040503050406030204" pitchFamily="18" charset="0"/>
                        <a:ea typeface="楷体" panose="02010609060101010101" pitchFamily="49" charset="-122"/>
                      </a:rPr>
                      <m:t>100</m:t>
                    </m:r>
                    <m:r>
                      <a:rPr lang="zh-CN" altLang="en-US" i="1" dirty="0" smtClean="0">
                        <a:latin typeface="Cambria Math" panose="02040503050406030204" pitchFamily="18" charset="0"/>
                        <a:ea typeface="楷体" panose="02010609060101010101" pitchFamily="49" charset="-122"/>
                      </a:rPr>
                      <m:t>；</m:t>
                    </m:r>
                    <m:r>
                      <a:rPr lang="zh-CN" altLang="en-US" i="1" dirty="0">
                        <a:latin typeface="Cambria Math" panose="02040503050406030204" pitchFamily="18" charset="0"/>
                        <a:ea typeface="楷体" panose="02010609060101010101" pitchFamily="49" charset="-122"/>
                      </a:rPr>
                      <m:t>原料</m:t>
                    </m:r>
                    <m:r>
                      <a:rPr lang="zh-CN" altLang="en-US" i="1" dirty="0" smtClean="0">
                        <a:latin typeface="Cambria Math" panose="02040503050406030204" pitchFamily="18" charset="0"/>
                        <a:ea typeface="楷体" panose="02010609060101010101" pitchFamily="49" charset="-122"/>
                      </a:rPr>
                      <m:t>成本</m:t>
                    </m:r>
                    <m:r>
                      <a:rPr lang="zh-CN" altLang="en-US" i="1" dirty="0">
                        <a:latin typeface="Cambria Math" panose="02040503050406030204" pitchFamily="18" charset="0"/>
                        <a:ea typeface="楷体" panose="02010609060101010101" pitchFamily="49" charset="-122"/>
                      </a:rPr>
                      <m:t>：</m:t>
                    </m:r>
                    <m:r>
                      <a:rPr lang="en-US" altLang="zh-CN" b="0" i="1" smtClean="0">
                        <a:latin typeface="Cambria Math" panose="02040503050406030204" pitchFamily="18" charset="0"/>
                        <a:ea typeface="楷体" panose="02010609060101010101" pitchFamily="49" charset="-122"/>
                      </a:rPr>
                      <m:t>2</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250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3</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100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800</m:t>
                    </m:r>
                  </m:oMath>
                </a14:m>
                <a:r>
                  <a:rPr lang="zh-CN" altLang="en-US" dirty="0">
                    <a:latin typeface="楷体" panose="02010609060101010101" pitchFamily="49" charset="-122"/>
                    <a:ea typeface="楷体" panose="02010609060101010101" pitchFamily="49" charset="-122"/>
                  </a:rPr>
                  <a:t>万元</a:t>
                </a:r>
                <a:endParaRPr lang="en-US" altLang="zh-CN" dirty="0">
                  <a:latin typeface="楷体" panose="02010609060101010101" pitchFamily="49" charset="-122"/>
                  <a:ea typeface="楷体" panose="02010609060101010101" pitchFamily="49" charset="-122"/>
                </a:endParaRPr>
              </a:p>
              <a:p>
                <a:r>
                  <a:rPr lang="zh-CN" altLang="en-US" dirty="0"/>
                  <a:t>在最低成本生产计划方案中，资源消耗情况如下：</a:t>
                </a:r>
                <a:endParaRPr lang="en-US" altLang="zh-CN" dirty="0"/>
              </a:p>
              <a:p>
                <a:pPr lvl="1"/>
                <a:r>
                  <a:rPr lang="zh-CN" altLang="en-US" dirty="0"/>
                  <a:t>总资源采购：</a:t>
                </a:r>
                <a14:m>
                  <m:oMath xmlns:m="http://schemas.openxmlformats.org/officeDocument/2006/math">
                    <m:r>
                      <a:rPr lang="en-US" altLang="zh-CN" i="1" dirty="0" smtClean="0">
                        <a:latin typeface="Cambria Math" panose="02040503050406030204" pitchFamily="18" charset="0"/>
                      </a:rPr>
                      <m:t>2</m:t>
                    </m:r>
                    <m:r>
                      <a:rPr lang="en-US" altLang="zh-CN" i="1">
                        <a:latin typeface="Cambria Math" panose="02040503050406030204" pitchFamily="18" charset="0"/>
                        <a:ea typeface="Cambria Math" panose="02040503050406030204" pitchFamily="18" charset="0"/>
                      </a:rPr>
                      <m:t>50</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10</m:t>
                    </m:r>
                    <m:r>
                      <a:rPr lang="en-US" altLang="zh-CN" i="1">
                        <a:latin typeface="Cambria Math" panose="02040503050406030204" pitchFamily="18" charset="0"/>
                        <a:ea typeface="Cambria Math" panose="02040503050406030204" pitchFamily="18" charset="0"/>
                      </a:rPr>
                      <m:t>0</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350</m:t>
                    </m:r>
                  </m:oMath>
                </a14:m>
                <a:endParaRPr lang="en-US" altLang="zh-CN" dirty="0"/>
              </a:p>
              <a:p>
                <a:pPr lvl="1"/>
                <a:r>
                  <a:rPr lang="zh-CN" altLang="en-US" dirty="0"/>
                  <a:t>总加工时间：</a:t>
                </a:r>
                <a14:m>
                  <m:oMath xmlns:m="http://schemas.openxmlformats.org/officeDocument/2006/math">
                    <m:r>
                      <a:rPr lang="en-US" altLang="zh-CN" b="0" i="1" smtClean="0">
                        <a:latin typeface="Cambria Math" panose="02040503050406030204" pitchFamily="18" charset="0"/>
                      </a:rPr>
                      <m:t>2</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250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100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600</m:t>
                    </m:r>
                  </m:oMath>
                </a14:m>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原料</a:t>
                </a:r>
                <a:r>
                  <a:rPr lang="en-US" altLang="zh-CN" dirty="0">
                    <a:latin typeface="楷体" panose="02010609060101010101" pitchFamily="49" charset="-122"/>
                    <a:ea typeface="楷体" panose="02010609060101010101" pitchFamily="49" charset="-122"/>
                  </a:rPr>
                  <a:t>A</a:t>
                </a:r>
                <a:r>
                  <a:rPr lang="zh-CN" altLang="en-US" dirty="0">
                    <a:latin typeface="楷体" panose="02010609060101010101" pitchFamily="49" charset="-122"/>
                    <a:ea typeface="楷体" panose="02010609060101010101" pitchFamily="49" charset="-122"/>
                  </a:rPr>
                  <a:t>购进总量：</a:t>
                </a:r>
                <a14:m>
                  <m:oMath xmlns:m="http://schemas.openxmlformats.org/officeDocument/2006/math">
                    <m:r>
                      <a:rPr lang="en-US" altLang="zh-CN" b="0" i="1" smtClean="0">
                        <a:latin typeface="Cambria Math" panose="02040503050406030204" pitchFamily="18" charset="0"/>
                        <a:ea typeface="楷体" panose="02010609060101010101" pitchFamily="49" charset="-122"/>
                      </a:rPr>
                      <m:t>250</m:t>
                    </m:r>
                    <m:r>
                      <a:rPr lang="en-US" altLang="zh-CN" b="0" i="1" smtClean="0">
                        <a:latin typeface="Cambria Math" panose="02040503050406030204" pitchFamily="18" charset="0"/>
                        <a:ea typeface="楷体" panose="02010609060101010101" pitchFamily="49" charset="-122"/>
                      </a:rPr>
                      <m:t>≥</m:t>
                    </m:r>
                    <m:r>
                      <a:rPr lang="en-US" altLang="zh-CN" b="0" i="1" smtClean="0">
                        <a:latin typeface="Cambria Math" panose="02040503050406030204" pitchFamily="18" charset="0"/>
                        <a:ea typeface="楷体" panose="02010609060101010101" pitchFamily="49" charset="-122"/>
                      </a:rPr>
                      <m:t>125</m:t>
                    </m:r>
                  </m:oMath>
                </a14:m>
                <a:endParaRPr lang="en-US" altLang="zh-CN" dirty="0">
                  <a:latin typeface="楷体" panose="02010609060101010101" pitchFamily="49" charset="-122"/>
                  <a:ea typeface="楷体" panose="02010609060101010101" pitchFamily="49" charset="-122"/>
                </a:endParaRPr>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线性规划图解法 </a:t>
            </a:r>
            <a:r>
              <a:rPr lang="en-US" altLang="zh-CN" dirty="0"/>
              <a:t>– </a:t>
            </a:r>
            <a:r>
              <a:rPr lang="zh-CN" altLang="en-US" dirty="0"/>
              <a:t>剩余变量</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fontScale="92500"/>
              </a:bodyPr>
              <a:lstStyle/>
              <a:p>
                <a:r>
                  <a:rPr lang="zh-CN" altLang="en-US" dirty="0">
                    <a:latin typeface="楷体" panose="02010609060101010101" pitchFamily="49" charset="-122"/>
                    <a:ea typeface="楷体" panose="02010609060101010101" pitchFamily="49" charset="-122"/>
                  </a:rPr>
                  <a:t>总资源采购和总加工时间满足限制条件，</a:t>
                </a:r>
                <a:r>
                  <a:rPr lang="zh-CN" altLang="en-US" dirty="0">
                    <a:solidFill>
                      <a:srgbClr val="FF0000"/>
                    </a:solidFill>
                    <a:latin typeface="楷体" panose="02010609060101010101" pitchFamily="49" charset="-122"/>
                    <a:ea typeface="楷体" panose="02010609060101010101" pitchFamily="49" charset="-122"/>
                  </a:rPr>
                  <a:t>原料</a:t>
                </a:r>
                <a:r>
                  <a:rPr lang="en-US" altLang="zh-CN" dirty="0">
                    <a:solidFill>
                      <a:srgbClr val="FF0000"/>
                    </a:solidFill>
                    <a:latin typeface="楷体" panose="02010609060101010101" pitchFamily="49" charset="-122"/>
                    <a:ea typeface="楷体" panose="02010609060101010101" pitchFamily="49" charset="-122"/>
                  </a:rPr>
                  <a:t>A</a:t>
                </a:r>
                <a:r>
                  <a:rPr lang="zh-CN" altLang="en-US" dirty="0">
                    <a:solidFill>
                      <a:srgbClr val="FF0000"/>
                    </a:solidFill>
                    <a:latin typeface="楷体" panose="02010609060101010101" pitchFamily="49" charset="-122"/>
                    <a:ea typeface="楷体" panose="02010609060101010101" pitchFamily="49" charset="-122"/>
                  </a:rPr>
                  <a:t>采购量超过需求</a:t>
                </a:r>
                <a:r>
                  <a:rPr lang="en-US" altLang="zh-CN" dirty="0">
                    <a:solidFill>
                      <a:srgbClr val="FF0000"/>
                    </a:solidFill>
                    <a:latin typeface="楷体" panose="02010609060101010101" pitchFamily="49" charset="-122"/>
                    <a:ea typeface="楷体" panose="02010609060101010101" pitchFamily="49" charset="-122"/>
                  </a:rPr>
                  <a:t>125</a:t>
                </a:r>
                <a:r>
                  <a:rPr lang="zh-CN" altLang="en-US" dirty="0">
                    <a:solidFill>
                      <a:srgbClr val="FF0000"/>
                    </a:solidFill>
                    <a:latin typeface="楷体" panose="02010609060101010101" pitchFamily="49" charset="-122"/>
                    <a:ea typeface="楷体" panose="02010609060101010101" pitchFamily="49" charset="-122"/>
                  </a:rPr>
                  <a:t>吨</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这个超过量在线性规划中称为</a:t>
                </a:r>
                <a:r>
                  <a:rPr lang="zh-CN" altLang="en-US" dirty="0">
                    <a:solidFill>
                      <a:srgbClr val="FF0000"/>
                    </a:solidFill>
                    <a:latin typeface="楷体" panose="02010609060101010101" pitchFamily="49" charset="-122"/>
                    <a:ea typeface="楷体" panose="02010609060101010101" pitchFamily="49" charset="-122"/>
                  </a:rPr>
                  <a:t>剩余变量（</a:t>
                </a:r>
                <a:r>
                  <a:rPr lang="en-US" altLang="zh-CN" dirty="0">
                    <a:solidFill>
                      <a:srgbClr val="FF0000"/>
                    </a:solidFill>
                    <a:latin typeface="楷体" panose="02010609060101010101" pitchFamily="49" charset="-122"/>
                    <a:ea typeface="楷体" panose="02010609060101010101" pitchFamily="49" charset="-122"/>
                  </a:rPr>
                  <a:t>surplus</a:t>
                </a:r>
                <a:r>
                  <a:rPr lang="zh-CN" altLang="en-US" dirty="0">
                    <a:solidFill>
                      <a:srgbClr val="FF0000"/>
                    </a:solidFill>
                    <a:latin typeface="楷体" panose="02010609060101010101" pitchFamily="49" charset="-122"/>
                    <a:ea typeface="楷体" panose="02010609060101010101" pitchFamily="49" charset="-122"/>
                  </a:rPr>
                  <a:t> </a:t>
                </a:r>
                <a:r>
                  <a:rPr lang="en-US" altLang="zh-CN" dirty="0">
                    <a:solidFill>
                      <a:srgbClr val="FF0000"/>
                    </a:solidFill>
                    <a:latin typeface="楷体" panose="02010609060101010101" pitchFamily="49" charset="-122"/>
                    <a:ea typeface="楷体" panose="02010609060101010101" pitchFamily="49" charset="-122"/>
                  </a:rPr>
                  <a:t>variable</a:t>
                </a:r>
                <a:r>
                  <a:rPr lang="zh-CN" altLang="en-US" dirty="0">
                    <a:solidFill>
                      <a:srgbClr val="FF0000"/>
                    </a:solidFill>
                    <a:latin typeface="楷体" panose="02010609060101010101" pitchFamily="49" charset="-122"/>
                    <a:ea typeface="楷体" panose="02010609060101010101" pitchFamily="49" charset="-122"/>
                  </a:rPr>
                  <a:t>，也记为</a:t>
                </a:r>
                <a:r>
                  <a:rPr lang="en-US" altLang="zh-CN" dirty="0">
                    <a:solidFill>
                      <a:srgbClr val="FF0000"/>
                    </a:solidFill>
                    <a:latin typeface="楷体" panose="02010609060101010101" pitchFamily="49" charset="-122"/>
                    <a:ea typeface="楷体" panose="02010609060101010101" pitchFamily="49" charset="-122"/>
                  </a:rPr>
                  <a:t>s</a:t>
                </a:r>
                <a:r>
                  <a:rPr lang="zh-CN" altLang="en-US" dirty="0">
                    <a:solidFill>
                      <a:srgbClr val="FF0000"/>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同样对于</a:t>
                </a:r>
                <a:r>
                  <a:rPr lang="zh-CN" altLang="en-US" dirty="0">
                    <a:solidFill>
                      <a:srgbClr val="FF0000"/>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 约束条件中，可以通过增加一些超过最低限约束的变量来满足不等式条件，我们因此称之为</a:t>
                </a:r>
                <a:r>
                  <a:rPr lang="zh-CN" altLang="en-US" dirty="0">
                    <a:solidFill>
                      <a:srgbClr val="FF0000"/>
                    </a:solidFill>
                    <a:latin typeface="楷体" panose="02010609060101010101" pitchFamily="49" charset="-122"/>
                    <a:ea typeface="楷体" panose="02010609060101010101" pitchFamily="49" charset="-122"/>
                  </a:rPr>
                  <a:t>剩余变量</a:t>
                </a:r>
                <a:endParaRPr lang="en-US" altLang="zh-CN" dirty="0">
                  <a:solidFill>
                    <a:srgbClr val="FF0000"/>
                  </a:solidFill>
                  <a:latin typeface="楷体" panose="02010609060101010101" pitchFamily="49" charset="-122"/>
                  <a:ea typeface="楷体" panose="02010609060101010101" pitchFamily="49" charset="-122"/>
                </a:endParaRPr>
              </a:p>
              <a:p>
                <a:pPr lvl="2"/>
                <a:r>
                  <a:rPr lang="en-US" altLang="zh-CN" dirty="0">
                    <a:cs typeface="Times New Roman" panose="02020603050405020304" pitchFamily="18" charset="0"/>
                  </a:rPr>
                  <a:t>x</a:t>
                </a:r>
                <a:r>
                  <a:rPr lang="en-US" altLang="zh-CN" baseline="-25000" dirty="0">
                    <a:cs typeface="Times New Roman" panose="02020603050405020304" pitchFamily="18" charset="0"/>
                  </a:rPr>
                  <a:t>1</a:t>
                </a:r>
                <a:r>
                  <a:rPr lang="en-US" altLang="zh-CN" dirty="0">
                    <a:cs typeface="Times New Roman" panose="02020603050405020304" pitchFamily="18" charset="0"/>
                  </a:rPr>
                  <a:t>+x</a:t>
                </a:r>
                <a:r>
                  <a:rPr lang="en-US" altLang="zh-CN" baseline="-25000" dirty="0">
                    <a:cs typeface="Times New Roman" panose="02020603050405020304" pitchFamily="18" charset="0"/>
                  </a:rPr>
                  <a:t>2</a:t>
                </a:r>
                <a:r>
                  <a:rPr lang="en-US" altLang="zh-CN" dirty="0">
                    <a:cs typeface="Times New Roman" panose="02020603050405020304" pitchFamily="18" charset="0"/>
                  </a:rPr>
                  <a:t>≥350 =&gt; </a:t>
                </a:r>
                <a14:m>
                  <m:oMath xmlns:m="http://schemas.openxmlformats.org/officeDocument/2006/math">
                    <m:sSub>
                      <m:sSubPr>
                        <m:ctrlPr>
                          <a:rPr lang="en-US" altLang="zh-CN" b="0" i="1" smtClean="0">
                            <a:latin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cs typeface="Times New Roman" panose="02020603050405020304" pitchFamily="18" charset="0"/>
                          </a:rPr>
                          <m:t>𝑥</m:t>
                        </m:r>
                      </m:e>
                      <m:sub>
                        <m:r>
                          <a:rPr lang="en-US" altLang="zh-CN" b="0" i="1" smtClean="0">
                            <a:latin typeface="Cambria Math" panose="02040503050406030204" pitchFamily="18" charset="0"/>
                            <a:cs typeface="Times New Roman" panose="02020603050405020304" pitchFamily="18" charset="0"/>
                          </a:rPr>
                          <m:t>1</m:t>
                        </m:r>
                      </m:sub>
                    </m:sSub>
                    <m:r>
                      <a:rPr lang="en-US" altLang="zh-CN" b="0" i="1" smtClean="0">
                        <a:latin typeface="Cambria Math" panose="02040503050406030204" pitchFamily="18" charset="0"/>
                        <a:cs typeface="Times New Roman" panose="02020603050405020304" pitchFamily="18" charset="0"/>
                      </a:rPr>
                      <m:t>+</m:t>
                    </m:r>
                    <m:sSub>
                      <m:sSubPr>
                        <m:ctrlPr>
                          <a:rPr lang="en-US" altLang="zh-CN" b="0" i="1" smtClean="0">
                            <a:latin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cs typeface="Times New Roman" panose="02020603050405020304" pitchFamily="18" charset="0"/>
                          </a:rPr>
                          <m:t>𝑥</m:t>
                        </m:r>
                      </m:e>
                      <m:sub>
                        <m:r>
                          <a:rPr lang="en-US" altLang="zh-CN" b="0" i="1" smtClean="0">
                            <a:latin typeface="Cambria Math" panose="02040503050406030204" pitchFamily="18" charset="0"/>
                            <a:cs typeface="Times New Roman" panose="02020603050405020304" pitchFamily="18" charset="0"/>
                          </a:rPr>
                          <m:t>2</m:t>
                        </m:r>
                      </m:sub>
                    </m:sSub>
                    <m:r>
                      <a:rPr lang="en-US" altLang="zh-CN" b="0" i="1" smtClean="0">
                        <a:latin typeface="Cambria Math" panose="02040503050406030204" pitchFamily="18" charset="0"/>
                        <a:cs typeface="Times New Roman" panose="02020603050405020304" pitchFamily="18" charset="0"/>
                      </a:rPr>
                      <m:t>−</m:t>
                    </m:r>
                    <m:sSub>
                      <m:sSubPr>
                        <m:ctrlPr>
                          <a:rPr lang="en-US" altLang="zh-CN" b="0" i="1" smtClean="0">
                            <a:latin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cs typeface="Times New Roman" panose="02020603050405020304" pitchFamily="18" charset="0"/>
                          </a:rPr>
                          <m:t>𝑠</m:t>
                        </m:r>
                      </m:e>
                      <m:sub>
                        <m:r>
                          <a:rPr lang="en-US" altLang="zh-CN" b="0" i="1" smtClean="0">
                            <a:latin typeface="Cambria Math" panose="02040503050406030204" pitchFamily="18" charset="0"/>
                            <a:cs typeface="Times New Roman" panose="02020603050405020304" pitchFamily="18" charset="0"/>
                          </a:rPr>
                          <m:t>1</m:t>
                        </m:r>
                      </m:sub>
                    </m:sSub>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350</m:t>
                    </m:r>
                  </m:oMath>
                </a14:m>
                <a:endParaRPr lang="en-US" altLang="zh-CN" dirty="0">
                  <a:cs typeface="Times New Roman" panose="02020603050405020304" pitchFamily="18" charset="0"/>
                </a:endParaRPr>
              </a:p>
              <a:p>
                <a:pPr lvl="2"/>
                <a:endParaRPr lang="zh-CN" altLang="en-US" dirty="0">
                  <a:solidFill>
                    <a:srgbClr val="FF0000"/>
                  </a:solidFill>
                  <a:latin typeface="楷体" panose="02010609060101010101" pitchFamily="49" charset="-122"/>
                  <a:ea typeface="楷体" panose="02010609060101010101" pitchFamily="49" charset="-122"/>
                </a:endParaRPr>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r="-386" b="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a:spLocks noChangeAspect="1"/>
          </p:cNvSpPr>
          <p:nvPr>
            <p:custDataLst>
              <p:tags r:id="rId1"/>
            </p:custDataLst>
          </p:nvPr>
        </p:nvSpPr>
        <p:spPr>
          <a:xfrm>
            <a:off x="1555750" y="37584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请在下列描述中选出正确的一项</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例</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中有</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个剩余变量，没有松弛变量</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例</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中有</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个剩余变量，</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个松弛变量</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例</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中有</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个剩余变量，</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个松弛变量</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例</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中有没有剩余变量，有</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个松弛变量</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8"/>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8" name="组合 17"/>
          <p:cNvGrpSpPr/>
          <p:nvPr>
            <p:custDataLst>
              <p:tags r:id="rId10"/>
            </p:custDataLst>
          </p:nvPr>
        </p:nvGrpSpPr>
        <p:grpSpPr>
          <a:xfrm>
            <a:off x="0" y="0"/>
            <a:ext cx="12192000" cy="635000"/>
            <a:chOff x="0" y="0"/>
            <a:chExt cx="12192000" cy="635000"/>
          </a:xfrm>
        </p:grpSpPr>
        <p:sp>
          <p:nvSpPr>
            <p:cNvPr id="14" name="TitleBackground"/>
            <p:cNvSpPr/>
            <p:nvPr>
              <p:custDataLst>
                <p:tags r:id="rId11"/>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2"/>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TipText"/>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Tree>
    <p:custDataLst>
      <p:tags r:id="rId15"/>
    </p:custData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楷体" panose="02010609060101010101" pitchFamily="49" charset="-122"/>
              </a:rPr>
              <a:t>线性规划问题的标准化 </a:t>
            </a:r>
            <a:r>
              <a:rPr lang="en-US" altLang="zh-CN" dirty="0">
                <a:latin typeface="楷体" panose="02010609060101010101" pitchFamily="49" charset="-122"/>
              </a:rPr>
              <a:t>–</a:t>
            </a:r>
            <a:r>
              <a:rPr lang="zh-CN" altLang="en-US" dirty="0">
                <a:latin typeface="楷体" panose="02010609060101010101" pitchFamily="49" charset="-122"/>
              </a:rPr>
              <a:t> 例</a:t>
            </a:r>
            <a:r>
              <a:rPr lang="en-US" altLang="zh-CN" dirty="0">
                <a:latin typeface="楷体" panose="02010609060101010101" pitchFamily="49" charset="-122"/>
              </a:rPr>
              <a:t>2</a:t>
            </a:r>
            <a:r>
              <a:rPr lang="zh-CN" altLang="en-US" dirty="0">
                <a:latin typeface="楷体" panose="02010609060101010101" pitchFamily="49" charset="-122"/>
              </a:rPr>
              <a:t>的标准化</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zh-CN" altLang="en-US" dirty="0">
                    <a:latin typeface="Kaiti TC" panose="02010600040101010101" pitchFamily="2" charset="-120"/>
                    <a:ea typeface="Kaiti TC" panose="02010600040101010101" pitchFamily="2" charset="-120"/>
                  </a:rPr>
                  <a:t>例</a:t>
                </a:r>
                <a:r>
                  <a:rPr lang="en-US" altLang="zh-CN" dirty="0">
                    <a:latin typeface="Kaiti TC" panose="02010600040101010101" pitchFamily="2" charset="-120"/>
                    <a:ea typeface="Kaiti TC" panose="02010600040101010101" pitchFamily="2" charset="-120"/>
                  </a:rPr>
                  <a:t>2</a:t>
                </a:r>
                <a:r>
                  <a:rPr lang="zh-CN" altLang="en-US" dirty="0">
                    <a:latin typeface="Kaiti TC" panose="02010600040101010101" pitchFamily="2" charset="-120"/>
                    <a:ea typeface="Kaiti TC" panose="02010600040101010101" pitchFamily="2" charset="-120"/>
                  </a:rPr>
                  <a:t>中剩余变量有哪些？</a:t>
                </a:r>
                <a:endParaRPr lang="en-US" altLang="zh-CN" dirty="0">
                  <a:latin typeface="Kaiti TC" panose="02010600040101010101" pitchFamily="2" charset="-120"/>
                  <a:ea typeface="Kaiti TC" panose="02010600040101010101" pitchFamily="2" charset="-120"/>
                </a:endParaRPr>
              </a:p>
              <a:p>
                <a:pPr lvl="1"/>
                <a:r>
                  <a:rPr lang="zh-CN" altLang="en-US" dirty="0">
                    <a:latin typeface="Kaiti TC" panose="02010600040101010101" pitchFamily="2" charset="-120"/>
                    <a:ea typeface="Kaiti TC" panose="02010600040101010101" pitchFamily="2" charset="-120"/>
                  </a:rPr>
                  <a:t>总资源采购：</a:t>
                </a:r>
                <a14:m>
                  <m:oMath xmlns:m="http://schemas.openxmlformats.org/officeDocument/2006/math">
                    <m:sSub>
                      <m:sSubPr>
                        <m:ctrlPr>
                          <a:rPr lang="en-US" altLang="zh-CN" i="1">
                            <a:latin typeface="Cambria Math" panose="02040503050406030204" pitchFamily="18" charset="0"/>
                            <a:ea typeface="Kaiti TC" panose="02010600040101010101" pitchFamily="2" charset="-120"/>
                          </a:rPr>
                        </m:ctrlPr>
                      </m:sSubPr>
                      <m:e>
                        <m:r>
                          <a:rPr lang="en-US" altLang="zh-CN" i="1">
                            <a:latin typeface="Cambria Math" panose="02040503050406030204" pitchFamily="18" charset="0"/>
                            <a:ea typeface="Kaiti TC" panose="02010600040101010101" pitchFamily="2" charset="-120"/>
                          </a:rPr>
                          <m:t>𝑠</m:t>
                        </m:r>
                      </m:e>
                      <m:sub>
                        <m:r>
                          <a:rPr lang="en-US" altLang="zh-CN" i="1">
                            <a:latin typeface="Cambria Math" panose="02040503050406030204" pitchFamily="18" charset="0"/>
                            <a:ea typeface="Kaiti TC" panose="02010600040101010101" pitchFamily="2" charset="-120"/>
                          </a:rPr>
                          <m:t>1</m:t>
                        </m:r>
                      </m:sub>
                    </m:sSub>
                    <m:r>
                      <a:rPr lang="en-US" altLang="zh-CN" i="1">
                        <a:latin typeface="Cambria Math" panose="02040503050406030204" pitchFamily="18" charset="0"/>
                        <a:ea typeface="Kaiti TC" panose="02010600040101010101" pitchFamily="2" charset="-120"/>
                      </a:rPr>
                      <m:t>=</m:t>
                    </m:r>
                    <m:r>
                      <a:rPr lang="en-US" altLang="zh-CN" i="1">
                        <a:latin typeface="Cambria Math" panose="02040503050406030204" pitchFamily="18" charset="0"/>
                        <a:ea typeface="Kaiti TC" panose="02010600040101010101" pitchFamily="2" charset="-120"/>
                      </a:rPr>
                      <m:t>0</m:t>
                    </m:r>
                  </m:oMath>
                </a14:m>
                <a:endParaRPr lang="en-US" altLang="zh-CN" dirty="0">
                  <a:latin typeface="Kaiti TC" panose="02010600040101010101" pitchFamily="2" charset="-120"/>
                  <a:ea typeface="Kaiti TC" panose="02010600040101010101" pitchFamily="2" charset="-120"/>
                </a:endParaRPr>
              </a:p>
              <a:p>
                <a:pPr lvl="1"/>
                <a:r>
                  <a:rPr lang="zh-CN" altLang="en-US" dirty="0">
                    <a:latin typeface="Kaiti TC" panose="02010600040101010101" pitchFamily="2" charset="-120"/>
                    <a:ea typeface="Kaiti TC" panose="02010600040101010101" pitchFamily="2" charset="-120"/>
                  </a:rPr>
                  <a:t>原料</a:t>
                </a:r>
                <a:r>
                  <a:rPr lang="en-US" altLang="zh-CN" dirty="0">
                    <a:latin typeface="Kaiti TC" panose="02010600040101010101" pitchFamily="2" charset="-120"/>
                    <a:ea typeface="Kaiti TC" panose="02010600040101010101" pitchFamily="2" charset="-120"/>
                  </a:rPr>
                  <a:t>A</a:t>
                </a:r>
                <a:r>
                  <a:rPr lang="zh-CN" altLang="en-US" dirty="0">
                    <a:latin typeface="Kaiti TC" panose="02010600040101010101" pitchFamily="2" charset="-120"/>
                    <a:ea typeface="Kaiti TC" panose="02010600040101010101" pitchFamily="2" charset="-120"/>
                  </a:rPr>
                  <a:t>购进总量：</a:t>
                </a:r>
                <a14:m>
                  <m:oMath xmlns:m="http://schemas.openxmlformats.org/officeDocument/2006/math">
                    <m:sSub>
                      <m:sSubPr>
                        <m:ctrlPr>
                          <a:rPr lang="en-US" altLang="zh-CN" b="0" i="1" smtClean="0">
                            <a:latin typeface="Cambria Math" panose="02040503050406030204" pitchFamily="18" charset="0"/>
                            <a:ea typeface="Kaiti TC" panose="02010600040101010101" pitchFamily="2" charset="-120"/>
                          </a:rPr>
                        </m:ctrlPr>
                      </m:sSubPr>
                      <m:e>
                        <m:r>
                          <a:rPr lang="en-US" altLang="zh-CN" b="0" i="1" smtClean="0">
                            <a:latin typeface="Cambria Math" panose="02040503050406030204" pitchFamily="18" charset="0"/>
                            <a:ea typeface="Kaiti TC" panose="02010600040101010101" pitchFamily="2" charset="-120"/>
                          </a:rPr>
                          <m:t>𝑠</m:t>
                        </m:r>
                      </m:e>
                      <m:sub>
                        <m:r>
                          <a:rPr lang="en-US" altLang="zh-CN" b="0" i="1" smtClean="0">
                            <a:latin typeface="Cambria Math" panose="02040503050406030204" pitchFamily="18" charset="0"/>
                            <a:ea typeface="Kaiti TC" panose="02010600040101010101" pitchFamily="2" charset="-120"/>
                          </a:rPr>
                          <m:t>2</m:t>
                        </m:r>
                      </m:sub>
                    </m:sSub>
                    <m:r>
                      <a:rPr lang="en-US" altLang="zh-CN" b="0" i="1" smtClean="0">
                        <a:latin typeface="Cambria Math" panose="02040503050406030204" pitchFamily="18" charset="0"/>
                        <a:ea typeface="Kaiti TC" panose="02010600040101010101" pitchFamily="2" charset="-120"/>
                      </a:rPr>
                      <m:t>=</m:t>
                    </m:r>
                    <m:r>
                      <a:rPr lang="en-US" altLang="zh-CN" b="0" i="1" smtClean="0">
                        <a:latin typeface="Cambria Math" panose="02040503050406030204" pitchFamily="18" charset="0"/>
                        <a:ea typeface="Kaiti TC" panose="02010600040101010101" pitchFamily="2" charset="-120"/>
                      </a:rPr>
                      <m:t>125</m:t>
                    </m:r>
                  </m:oMath>
                </a14:m>
                <a:endParaRPr lang="en-US" altLang="zh-CN" dirty="0">
                  <a:latin typeface="Kaiti TC" panose="02010600040101010101" pitchFamily="2" charset="-120"/>
                  <a:ea typeface="Kaiti TC" panose="02010600040101010101" pitchFamily="2" charset="-120"/>
                </a:endParaRPr>
              </a:p>
              <a:p>
                <a:pPr lvl="1"/>
                <a:endParaRPr lang="en-US" altLang="zh-CN" dirty="0">
                  <a:latin typeface="Kaiti TC" panose="02010600040101010101" pitchFamily="2" charset="-120"/>
                  <a:ea typeface="Kaiti TC" panose="02010600040101010101" pitchFamily="2" charset="-120"/>
                </a:endParaRPr>
              </a:p>
              <a:p>
                <a:pPr lvl="1"/>
                <a:endParaRPr lang="en-US" altLang="zh-CN" dirty="0">
                  <a:latin typeface="Kaiti TC" panose="02010600040101010101" pitchFamily="2" charset="-120"/>
                  <a:ea typeface="Kaiti TC" panose="02010600040101010101" pitchFamily="2" charset="-120"/>
                </a:endParaRPr>
              </a:p>
              <a:p>
                <a:r>
                  <a:rPr lang="zh-CN" altLang="en-US" dirty="0">
                    <a:latin typeface="Kaiti TC" panose="02010600040101010101" pitchFamily="2" charset="-120"/>
                    <a:ea typeface="Kaiti TC" panose="02010600040101010101" pitchFamily="2" charset="-120"/>
                  </a:rPr>
                  <a:t>例</a:t>
                </a:r>
                <a:r>
                  <a:rPr lang="en-US" altLang="zh-CN" dirty="0">
                    <a:latin typeface="Kaiti TC" panose="02010600040101010101" pitchFamily="2" charset="-120"/>
                    <a:ea typeface="Kaiti TC" panose="02010600040101010101" pitchFamily="2" charset="-120"/>
                  </a:rPr>
                  <a:t>2</a:t>
                </a:r>
                <a:r>
                  <a:rPr lang="zh-CN" altLang="en-US" dirty="0">
                    <a:latin typeface="Kaiti TC" panose="02010600040101010101" pitchFamily="2" charset="-120"/>
                    <a:ea typeface="Kaiti TC" panose="02010600040101010101" pitchFamily="2" charset="-120"/>
                  </a:rPr>
                  <a:t>中的松弛变量是多少？</a:t>
                </a:r>
                <a:endParaRPr lang="en-US" altLang="zh-CN" dirty="0">
                  <a:latin typeface="Kaiti TC" panose="02010600040101010101" pitchFamily="2" charset="-120"/>
                  <a:ea typeface="Kaiti TC" panose="02010600040101010101" pitchFamily="2" charset="-120"/>
                </a:endParaRPr>
              </a:p>
              <a:p>
                <a:pPr lvl="1"/>
                <a:r>
                  <a:rPr lang="zh-CN" altLang="en-US" dirty="0">
                    <a:latin typeface="Kaiti TC" panose="02010600040101010101" pitchFamily="2" charset="-120"/>
                    <a:ea typeface="Kaiti TC" panose="02010600040101010101" pitchFamily="2" charset="-120"/>
                  </a:rPr>
                  <a:t>总加工时数：</a:t>
                </a:r>
                <a14:m>
                  <m:oMath xmlns:m="http://schemas.openxmlformats.org/officeDocument/2006/math">
                    <m:sSub>
                      <m:sSubPr>
                        <m:ctrlPr>
                          <a:rPr lang="en-US" altLang="zh-CN" b="0" i="1" smtClean="0">
                            <a:latin typeface="Cambria Math" panose="02040503050406030204" pitchFamily="18" charset="0"/>
                            <a:ea typeface="Kaiti TC" panose="02010600040101010101" pitchFamily="2" charset="-120"/>
                          </a:rPr>
                        </m:ctrlPr>
                      </m:sSubPr>
                      <m:e>
                        <m:r>
                          <a:rPr lang="en-US" altLang="zh-CN" b="0" i="1" smtClean="0">
                            <a:latin typeface="Cambria Math" panose="02040503050406030204" pitchFamily="18" charset="0"/>
                            <a:ea typeface="Kaiti TC" panose="02010600040101010101" pitchFamily="2" charset="-120"/>
                          </a:rPr>
                          <m:t>𝑠</m:t>
                        </m:r>
                      </m:e>
                      <m:sub>
                        <m:r>
                          <a:rPr lang="en-US" altLang="zh-CN" b="0" i="1" smtClean="0">
                            <a:latin typeface="Cambria Math" panose="02040503050406030204" pitchFamily="18" charset="0"/>
                            <a:ea typeface="Kaiti TC" panose="02010600040101010101" pitchFamily="2" charset="-120"/>
                          </a:rPr>
                          <m:t>3</m:t>
                        </m:r>
                      </m:sub>
                    </m:sSub>
                    <m:r>
                      <a:rPr lang="en-US" altLang="zh-CN" b="0" i="1" smtClean="0">
                        <a:latin typeface="Cambria Math" panose="02040503050406030204" pitchFamily="18" charset="0"/>
                        <a:ea typeface="Kaiti TC" panose="02010600040101010101" pitchFamily="2" charset="-120"/>
                      </a:rPr>
                      <m:t>=</m:t>
                    </m:r>
                    <m:r>
                      <a:rPr lang="en-US" altLang="zh-CN" b="0" i="1" smtClean="0">
                        <a:latin typeface="Cambria Math" panose="02040503050406030204" pitchFamily="18" charset="0"/>
                        <a:ea typeface="Kaiti TC" panose="02010600040101010101" pitchFamily="2" charset="-120"/>
                      </a:rPr>
                      <m:t>0</m:t>
                    </m:r>
                  </m:oMath>
                </a14:m>
                <a:endParaRPr lang="en-US" altLang="zh-CN" b="0" dirty="0">
                  <a:latin typeface="Kaiti TC" panose="02010600040101010101" pitchFamily="2" charset="-120"/>
                  <a:ea typeface="Kaiti TC" panose="02010600040101010101" pitchFamily="2" charset="-120"/>
                </a:endParaRPr>
              </a:p>
              <a:p>
                <a:pPr lvl="1"/>
                <a:endParaRPr lang="en-US" altLang="zh-CN" dirty="0">
                  <a:latin typeface="Kaiti TC" panose="02010600040101010101" pitchFamily="2" charset="-120"/>
                  <a:ea typeface="Kaiti TC" panose="02010600040101010101" pitchFamily="2" charset="-12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t="-248" b="7"/>
                </a:stretch>
              </a:blipFill>
            </p:spPr>
            <p:txBody>
              <a:bodyPr/>
              <a:lstStyle/>
              <a:p>
                <a:r>
                  <a:rPr lang="zh-CN" altLang="en-US">
                    <a:noFill/>
                  </a:rPr>
                  <a:t> </a:t>
                </a:r>
              </a:p>
            </p:txBody>
          </p:sp>
        </mc:Fallback>
      </mc:AlternateContent>
      <p:sp>
        <p:nvSpPr>
          <p:cNvPr id="5" name="Rectangle 4"/>
          <p:cNvSpPr/>
          <p:nvPr/>
        </p:nvSpPr>
        <p:spPr>
          <a:xfrm>
            <a:off x="1281156" y="2273897"/>
            <a:ext cx="4006922" cy="10710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提示</a:t>
            </a:r>
            <a:r>
              <a:rPr lang="zh-CN" altLang="en-US" dirty="0"/>
              <a:t>：</a:t>
            </a:r>
            <a:endParaRPr lang="en-US" altLang="zh-CN" dirty="0"/>
          </a:p>
          <a:p>
            <a:pPr algn="ctr"/>
            <a:r>
              <a:rPr lang="en-US" altLang="zh-CN" dirty="0">
                <a:latin typeface="楷体" panose="02010609060101010101" pitchFamily="49" charset="-122"/>
              </a:rPr>
              <a:t>x</a:t>
            </a:r>
            <a:r>
              <a:rPr lang="en-US" altLang="zh-CN" baseline="-25000" dirty="0">
                <a:latin typeface="楷体" panose="02010609060101010101" pitchFamily="49" charset="-122"/>
              </a:rPr>
              <a:t>1</a:t>
            </a:r>
            <a:r>
              <a:rPr lang="en-US" altLang="zh-CN" dirty="0">
                <a:latin typeface="楷体" panose="02010609060101010101" pitchFamily="49" charset="-122"/>
              </a:rPr>
              <a:t>+x</a:t>
            </a:r>
            <a:r>
              <a:rPr lang="en-US" altLang="zh-CN" baseline="-25000" dirty="0">
                <a:latin typeface="楷体" panose="02010609060101010101" pitchFamily="49" charset="-122"/>
              </a:rPr>
              <a:t>2</a:t>
            </a:r>
            <a:r>
              <a:rPr lang="en-US" altLang="zh-CN" dirty="0">
                <a:latin typeface="楷体" panose="02010609060101010101" pitchFamily="49" charset="-122"/>
              </a:rPr>
              <a:t>≥350</a:t>
            </a:r>
            <a:endParaRPr lang="en-US" altLang="zh-CN" dirty="0">
              <a:latin typeface="楷体" panose="02010609060101010101" pitchFamily="49" charset="-122"/>
            </a:endParaRPr>
          </a:p>
          <a:p>
            <a:pPr algn="ctr"/>
            <a:r>
              <a:rPr lang="en-US" altLang="zh-CN" dirty="0">
                <a:latin typeface="楷体" panose="02010609060101010101" pitchFamily="49" charset="-122"/>
              </a:rPr>
              <a:t>x</a:t>
            </a:r>
            <a:r>
              <a:rPr lang="en-US" altLang="zh-CN" baseline="-25000" dirty="0">
                <a:latin typeface="楷体" panose="02010609060101010101" pitchFamily="49" charset="-122"/>
              </a:rPr>
              <a:t>1</a:t>
            </a:r>
            <a:r>
              <a:rPr lang="en-US" altLang="zh-CN" dirty="0">
                <a:latin typeface="楷体" panose="02010609060101010101" pitchFamily="49" charset="-122"/>
              </a:rPr>
              <a:t>≥125</a:t>
            </a:r>
            <a:endParaRPr lang="en-US" altLang="zh-CN" dirty="0">
              <a:latin typeface="楷体" panose="02010609060101010101" pitchFamily="49" charset="-122"/>
            </a:endParaRPr>
          </a:p>
          <a:p>
            <a:pPr algn="ctr"/>
            <a:r>
              <a:rPr lang="en-US" altLang="zh-CN" dirty="0">
                <a:latin typeface="楷体" panose="02010609060101010101" pitchFamily="49" charset="-122"/>
              </a:rPr>
              <a:t>2x</a:t>
            </a:r>
            <a:r>
              <a:rPr lang="en-US" altLang="zh-CN" baseline="-25000" dirty="0">
                <a:latin typeface="楷体" panose="02010609060101010101" pitchFamily="49" charset="-122"/>
              </a:rPr>
              <a:t>1</a:t>
            </a:r>
            <a:r>
              <a:rPr lang="en-US" altLang="zh-CN" dirty="0">
                <a:latin typeface="楷体" panose="02010609060101010101" pitchFamily="49" charset="-122"/>
              </a:rPr>
              <a:t>+x</a:t>
            </a:r>
            <a:r>
              <a:rPr lang="en-US" altLang="zh-CN" baseline="-25000" dirty="0">
                <a:latin typeface="楷体" panose="02010609060101010101" pitchFamily="49" charset="-122"/>
              </a:rPr>
              <a:t>2</a:t>
            </a:r>
            <a:r>
              <a:rPr lang="en-US" altLang="zh-CN" dirty="0">
                <a:latin typeface="楷体" panose="02010609060101010101" pitchFamily="49" charset="-122"/>
              </a:rPr>
              <a:t>≤600</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xit" presetSubtype="10" fill="hold" grpId="0" nodeType="clickEffect">
                                  <p:stCondLst>
                                    <p:cond delay="0"/>
                                  </p:stCondLst>
                                  <p:childTnLst>
                                    <p:animEffect transition="out" filter="blinds(horizontal)">
                                      <p:cBhvr>
                                        <p:cTn id="22" dur="500"/>
                                        <p:tgtEl>
                                          <p:spTgt spid="5"/>
                                        </p:tgtEl>
                                      </p:cBhvr>
                                    </p:animEffect>
                                    <p:set>
                                      <p:cBhvr>
                                        <p:cTn id="23" dur="1" fill="hold">
                                          <p:stCondLst>
                                            <p:cond delay="499"/>
                                          </p:stCondLst>
                                        </p:cTn>
                                        <p:tgtEl>
                                          <p:spTgt spid="5"/>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楷体" panose="02010609060101010101" pitchFamily="49" charset="-122"/>
              </a:rPr>
              <a:t>线性规划问题的标准化 </a:t>
            </a:r>
            <a:r>
              <a:rPr lang="en-US" altLang="zh-CN" dirty="0">
                <a:latin typeface="楷体" panose="02010609060101010101" pitchFamily="49" charset="-122"/>
              </a:rPr>
              <a:t>–</a:t>
            </a:r>
            <a:r>
              <a:rPr lang="zh-CN" altLang="en-US" dirty="0">
                <a:latin typeface="楷体" panose="02010609060101010101" pitchFamily="49" charset="-122"/>
              </a:rPr>
              <a:t> 例</a:t>
            </a:r>
            <a:r>
              <a:rPr lang="en-US" altLang="zh-CN" dirty="0">
                <a:latin typeface="楷体" panose="02010609060101010101" pitchFamily="49" charset="-122"/>
              </a:rPr>
              <a:t>2</a:t>
            </a:r>
            <a:r>
              <a:rPr lang="zh-CN" altLang="en-US" dirty="0">
                <a:latin typeface="楷体" panose="02010609060101010101" pitchFamily="49" charset="-122"/>
              </a:rPr>
              <a:t>的标准化</a:t>
            </a:r>
            <a:endParaRPr lang="en-US" dirty="0"/>
          </a:p>
        </p:txBody>
      </p:sp>
      <p:sp>
        <p:nvSpPr>
          <p:cNvPr id="3" name="Content Placeholder 2"/>
          <p:cNvSpPr>
            <a:spLocks noGrp="1"/>
          </p:cNvSpPr>
          <p:nvPr>
            <p:ph idx="1"/>
          </p:nvPr>
        </p:nvSpPr>
        <p:spPr/>
        <p:txBody>
          <a:bodyPr>
            <a:normAutofit/>
          </a:bodyPr>
          <a:lstStyle/>
          <a:p>
            <a:r>
              <a:rPr lang="en-US" dirty="0"/>
              <a:t>剩余变量对目标函数的结果也没有影响</a:t>
            </a:r>
            <a:r>
              <a:rPr lang="zh-CN" altLang="en-US" dirty="0"/>
              <a:t> </a:t>
            </a:r>
            <a:r>
              <a:rPr lang="en-US" altLang="zh-CN" dirty="0"/>
              <a:t>=&gt;</a:t>
            </a:r>
            <a:r>
              <a:rPr lang="zh-CN" altLang="en-US" dirty="0"/>
              <a:t> 系数为</a:t>
            </a:r>
            <a:r>
              <a:rPr lang="en-US" altLang="zh-CN" dirty="0"/>
              <a:t>0</a:t>
            </a:r>
            <a:endParaRPr lang="en-US" altLang="zh-CN" dirty="0"/>
          </a:p>
          <a:p>
            <a:r>
              <a:rPr lang="en-US" dirty="0" err="1"/>
              <a:t>剩余变量的加入也可以使约束条件中的不等式转变为等式</a:t>
            </a:r>
            <a:r>
              <a:rPr lang="zh-CN" altLang="en-US" dirty="0"/>
              <a:t>（“</a:t>
            </a:r>
            <a:r>
              <a:rPr lang="en-US" altLang="zh-CN" dirty="0"/>
              <a:t>=</a:t>
            </a:r>
            <a:r>
              <a:rPr lang="zh-CN" altLang="en-US" dirty="0"/>
              <a:t>”），但系数小于</a:t>
            </a:r>
            <a:r>
              <a:rPr lang="en-US" altLang="zh-CN" dirty="0"/>
              <a:t>0</a:t>
            </a:r>
            <a:endParaRPr lang="en-US" altLang="zh-CN" dirty="0"/>
          </a:p>
          <a:p>
            <a:r>
              <a:rPr lang="zh-CN" altLang="en-US" dirty="0"/>
              <a:t>所有目标函数必须被转化为</a:t>
            </a:r>
            <a:r>
              <a:rPr lang="zh-CN" altLang="en-US" dirty="0">
                <a:solidFill>
                  <a:srgbClr val="FF0000"/>
                </a:solidFill>
              </a:rPr>
              <a:t>求最大值</a:t>
            </a:r>
            <a:r>
              <a:rPr lang="zh-CN" altLang="en-US" dirty="0"/>
              <a:t>。</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楷体" panose="02010609060101010101" pitchFamily="49" charset="-122"/>
              </a:rPr>
              <a:t>线性规划问题的标准化 </a:t>
            </a:r>
            <a:r>
              <a:rPr lang="en-US" altLang="zh-CN" dirty="0">
                <a:latin typeface="楷体" panose="02010609060101010101" pitchFamily="49" charset="-122"/>
              </a:rPr>
              <a:t>–</a:t>
            </a:r>
            <a:r>
              <a:rPr lang="zh-CN" altLang="en-US" dirty="0">
                <a:latin typeface="楷体" panose="02010609060101010101" pitchFamily="49" charset="-122"/>
              </a:rPr>
              <a:t> 例</a:t>
            </a:r>
            <a:r>
              <a:rPr lang="en-US" altLang="zh-CN" dirty="0">
                <a:latin typeface="楷体" panose="02010609060101010101" pitchFamily="49" charset="-122"/>
              </a:rPr>
              <a:t>2</a:t>
            </a:r>
            <a:r>
              <a:rPr lang="zh-CN" altLang="en-US" dirty="0">
                <a:latin typeface="楷体" panose="02010609060101010101" pitchFamily="49" charset="-122"/>
              </a:rPr>
              <a:t>的标准化</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lnSpcReduction="10000"/>
              </a:bodyPr>
              <a:lstStyle/>
              <a:p>
                <a:r>
                  <a:rPr lang="zh-CN" altLang="en-US" dirty="0"/>
                  <a:t>设</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3</m:t>
                        </m:r>
                      </m:sub>
                    </m:sSub>
                    <m:r>
                      <a:rPr lang="zh-CN" altLang="en-US" i="1">
                        <a:latin typeface="Cambria Math" panose="02040503050406030204" pitchFamily="18" charset="0"/>
                      </a:rPr>
                      <m:t>分别</m:t>
                    </m:r>
                    <m:r>
                      <a:rPr lang="zh-CN" altLang="en-US" i="1" smtClean="0">
                        <a:latin typeface="Cambria Math" panose="02040503050406030204" pitchFamily="18" charset="0"/>
                      </a:rPr>
                      <m:t>为</m:t>
                    </m:r>
                    <m:r>
                      <a:rPr lang="zh-CN" altLang="en-US" i="1">
                        <a:latin typeface="Cambria Math" panose="02040503050406030204" pitchFamily="18" charset="0"/>
                      </a:rPr>
                      <m:t>约束条件</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2</m:t>
                    </m:r>
                    <m:r>
                      <a:rPr lang="en-US" altLang="zh-CN" b="0" i="1" smtClean="0">
                        <a:latin typeface="Cambria Math" panose="02040503050406030204" pitchFamily="18" charset="0"/>
                      </a:rPr>
                      <m:t>,</m:t>
                    </m:r>
                    <m:r>
                      <a:rPr lang="en-US" altLang="zh-CN" b="0" i="1" smtClean="0">
                        <a:latin typeface="Cambria Math" panose="02040503050406030204" pitchFamily="18" charset="0"/>
                      </a:rPr>
                      <m:t>3</m:t>
                    </m:r>
                    <m:r>
                      <a:rPr lang="zh-CN" altLang="en-US" i="1">
                        <a:latin typeface="Cambria Math" panose="02040503050406030204" pitchFamily="18" charset="0"/>
                      </a:rPr>
                      <m:t>所</m:t>
                    </m:r>
                    <m:r>
                      <a:rPr lang="zh-CN" altLang="en-US" i="1" smtClean="0">
                        <a:latin typeface="Cambria Math" panose="02040503050406030204" pitchFamily="18" charset="0"/>
                      </a:rPr>
                      <m:t>对应</m:t>
                    </m:r>
                    <m:r>
                      <a:rPr lang="zh-CN" altLang="en-US" i="1">
                        <a:latin typeface="Cambria Math" panose="02040503050406030204" pitchFamily="18" charset="0"/>
                      </a:rPr>
                      <m:t>的</m:t>
                    </m:r>
                    <m:r>
                      <a:rPr lang="zh-CN" altLang="en-US" i="1" smtClean="0">
                        <a:latin typeface="Cambria Math" panose="02040503050406030204" pitchFamily="18" charset="0"/>
                      </a:rPr>
                      <m:t>剩余</m:t>
                    </m:r>
                    <m:r>
                      <a:rPr lang="zh-CN" altLang="en-US" i="1">
                        <a:latin typeface="Cambria Math" panose="02040503050406030204" pitchFamily="18" charset="0"/>
                      </a:rPr>
                      <m:t>变量</m:t>
                    </m:r>
                    <m:r>
                      <a:rPr lang="zh-CN" altLang="en-US" i="1" smtClean="0">
                        <a:latin typeface="Cambria Math" panose="02040503050406030204" pitchFamily="18" charset="0"/>
                      </a:rPr>
                      <m:t>和</m:t>
                    </m:r>
                    <m:r>
                      <a:rPr lang="zh-CN" altLang="en-US" i="1">
                        <a:latin typeface="Cambria Math" panose="02040503050406030204" pitchFamily="18" charset="0"/>
                      </a:rPr>
                      <m:t>松弛变量</m:t>
                    </m:r>
                    <m:r>
                      <a:rPr lang="en-US" altLang="zh-CN" b="0" i="1" smtClean="0">
                        <a:latin typeface="Cambria Math" panose="02040503050406030204" pitchFamily="18" charset="0"/>
                      </a:rPr>
                      <m:t>,</m:t>
                    </m:r>
                    <m:r>
                      <a:rPr lang="zh-CN" altLang="en-US" i="1">
                        <a:latin typeface="Cambria Math" panose="02040503050406030204" pitchFamily="18" charset="0"/>
                      </a:rPr>
                      <m:t>则</m:t>
                    </m:r>
                    <m:r>
                      <a:rPr lang="zh-CN" altLang="en-US" i="1" smtClean="0">
                        <a:latin typeface="Cambria Math" panose="02040503050406030204" pitchFamily="18" charset="0"/>
                      </a:rPr>
                      <m:t>例</m:t>
                    </m:r>
                    <m:r>
                      <a:rPr lang="en-US" altLang="zh-CN" b="0" i="1" smtClean="0">
                        <a:latin typeface="Cambria Math" panose="02040503050406030204" pitchFamily="18" charset="0"/>
                      </a:rPr>
                      <m:t>2</m:t>
                    </m:r>
                    <m:r>
                      <a:rPr lang="zh-CN" altLang="en-US" i="1">
                        <a:latin typeface="Cambria Math" panose="02040503050406030204" pitchFamily="18" charset="0"/>
                      </a:rPr>
                      <m:t>标准化</m:t>
                    </m:r>
                    <m:r>
                      <a:rPr lang="zh-CN" altLang="en-US" i="1" smtClean="0">
                        <a:latin typeface="Cambria Math" panose="02040503050406030204" pitchFamily="18" charset="0"/>
                      </a:rPr>
                      <m:t>形式</m:t>
                    </m:r>
                    <m:r>
                      <a:rPr lang="zh-CN" altLang="en-US" i="1">
                        <a:latin typeface="Cambria Math" panose="02040503050406030204" pitchFamily="18" charset="0"/>
                      </a:rPr>
                      <m:t>如下</m:t>
                    </m:r>
                    <m:r>
                      <a:rPr lang="zh-CN" altLang="en-US" b="0" i="1" smtClean="0">
                        <a:latin typeface="Cambria Math" panose="02040503050406030204" pitchFamily="18" charset="0"/>
                      </a:rPr>
                      <m:t>：</m:t>
                    </m:r>
                  </m:oMath>
                </a14:m>
                <a:endParaRPr lang="en-US" altLang="zh-CN" dirty="0"/>
              </a:p>
              <a:p>
                <a:pPr marL="0" indent="0" eaLnBrk="1" hangingPunct="1">
                  <a:lnSpc>
                    <a:spcPct val="90000"/>
                  </a:lnSpc>
                  <a:buNone/>
                </a:pPr>
                <a:r>
                  <a:rPr lang="zh-CN" altLang="en-US" dirty="0">
                    <a:latin typeface="Kaiti TC" panose="02010600040101010101" pitchFamily="2" charset="-120"/>
                    <a:ea typeface="Kaiti TC" panose="02010600040101010101" pitchFamily="2" charset="-120"/>
                  </a:rPr>
                  <a:t> 目标函数：    </a:t>
                </a:r>
                <a:endParaRPr lang="zh-CN" altLang="en-US" dirty="0">
                  <a:latin typeface="Kaiti TC" panose="02010600040101010101" pitchFamily="2" charset="-120"/>
                  <a:ea typeface="Kaiti TC" panose="02010600040101010101" pitchFamily="2" charset="-120"/>
                </a:endParaRPr>
              </a:p>
              <a:p>
                <a:pPr marL="0" indent="0" eaLnBrk="1" hangingPunct="1">
                  <a:lnSpc>
                    <a:spcPct val="90000"/>
                  </a:lnSpc>
                  <a:buNone/>
                </a:pPr>
                <a:r>
                  <a:rPr lang="zh-CN" altLang="en-US" dirty="0">
                    <a:latin typeface="Kaiti TC" panose="02010600040101010101" pitchFamily="2" charset="-120"/>
                    <a:ea typeface="Kaiti TC" panose="02010600040101010101" pitchFamily="2" charset="-120"/>
                  </a:rPr>
                  <a:t>  </a:t>
                </a:r>
                <a:r>
                  <a:rPr lang="en-US" altLang="zh-CN" dirty="0">
                    <a:latin typeface="Kaiti TC" panose="02010600040101010101" pitchFamily="2" charset="-120"/>
                    <a:ea typeface="Kaiti TC" panose="02010600040101010101" pitchFamily="2" charset="-120"/>
                  </a:rPr>
                  <a:t>min f=max</a:t>
                </a:r>
                <a:r>
                  <a:rPr lang="zh-CN" altLang="en-US" dirty="0">
                    <a:latin typeface="Kaiti TC" panose="02010600040101010101" pitchFamily="2" charset="-120"/>
                    <a:ea typeface="Kaiti TC" panose="02010600040101010101" pitchFamily="2" charset="-120"/>
                  </a:rPr>
                  <a:t> </a:t>
                </a:r>
                <a:r>
                  <a:rPr lang="en-US" altLang="zh-CN" dirty="0">
                    <a:latin typeface="Kaiti TC" panose="02010600040101010101" pitchFamily="2" charset="-120"/>
                    <a:ea typeface="Kaiti TC" panose="02010600040101010101" pitchFamily="2" charset="-120"/>
                  </a:rPr>
                  <a:t>–f</a:t>
                </a:r>
                <a:r>
                  <a:rPr lang="zh-CN" altLang="en-US" dirty="0">
                    <a:latin typeface="Kaiti TC" panose="02010600040101010101" pitchFamily="2" charset="-120"/>
                    <a:ea typeface="Kaiti TC" panose="02010600040101010101" pitchFamily="2" charset="-120"/>
                  </a:rPr>
                  <a:t> </a:t>
                </a:r>
                <a:r>
                  <a:rPr lang="en-US" altLang="zh-CN" dirty="0">
                    <a:latin typeface="Kaiti TC" panose="02010600040101010101" pitchFamily="2" charset="-120"/>
                    <a:ea typeface="Kaiti TC" panose="02010600040101010101" pitchFamily="2" charset="-120"/>
                  </a:rPr>
                  <a:t>=-2x</a:t>
                </a:r>
                <a:r>
                  <a:rPr lang="en-US" altLang="zh-CN" baseline="-25000" dirty="0">
                    <a:latin typeface="Kaiti TC" panose="02010600040101010101" pitchFamily="2" charset="-120"/>
                    <a:ea typeface="Kaiti TC" panose="02010600040101010101" pitchFamily="2" charset="-120"/>
                  </a:rPr>
                  <a:t>1</a:t>
                </a:r>
                <a:r>
                  <a:rPr lang="en-US" altLang="zh-CN" dirty="0">
                    <a:latin typeface="Kaiti TC" panose="02010600040101010101" pitchFamily="2" charset="-120"/>
                    <a:ea typeface="Kaiti TC" panose="02010600040101010101" pitchFamily="2" charset="-120"/>
                  </a:rPr>
                  <a:t>-3x</a:t>
                </a:r>
                <a:r>
                  <a:rPr lang="en-US" altLang="zh-CN" baseline="-25000" dirty="0">
                    <a:latin typeface="Kaiti TC" panose="02010600040101010101" pitchFamily="2" charset="-120"/>
                    <a:ea typeface="Kaiti TC" panose="02010600040101010101" pitchFamily="2" charset="-120"/>
                  </a:rPr>
                  <a:t>2</a:t>
                </a:r>
                <a:r>
                  <a:rPr lang="en-US" altLang="zh-CN" dirty="0">
                    <a:solidFill>
                      <a:srgbClr val="FF0000"/>
                    </a:solidFill>
                    <a:latin typeface="Kaiti TC" panose="02010600040101010101" pitchFamily="2" charset="-120"/>
                    <a:ea typeface="Kaiti TC" panose="02010600040101010101" pitchFamily="2" charset="-120"/>
                  </a:rPr>
                  <a:t>+0s</a:t>
                </a:r>
                <a:r>
                  <a:rPr lang="en-US" altLang="zh-CN" baseline="-25000" dirty="0">
                    <a:solidFill>
                      <a:srgbClr val="FF0000"/>
                    </a:solidFill>
                    <a:latin typeface="Kaiti TC" panose="02010600040101010101" pitchFamily="2" charset="-120"/>
                    <a:ea typeface="Kaiti TC" panose="02010600040101010101" pitchFamily="2" charset="-120"/>
                  </a:rPr>
                  <a:t>1</a:t>
                </a:r>
                <a:r>
                  <a:rPr lang="en-US" altLang="zh-CN" dirty="0">
                    <a:solidFill>
                      <a:srgbClr val="FF0000"/>
                    </a:solidFill>
                    <a:latin typeface="Kaiti TC" panose="02010600040101010101" pitchFamily="2" charset="-120"/>
                    <a:ea typeface="Kaiti TC" panose="02010600040101010101" pitchFamily="2" charset="-120"/>
                  </a:rPr>
                  <a:t>+0s</a:t>
                </a:r>
                <a:r>
                  <a:rPr lang="en-US" altLang="zh-CN" baseline="-25000" dirty="0">
                    <a:solidFill>
                      <a:srgbClr val="FF0000"/>
                    </a:solidFill>
                    <a:latin typeface="Kaiti TC" panose="02010600040101010101" pitchFamily="2" charset="-120"/>
                    <a:ea typeface="Kaiti TC" panose="02010600040101010101" pitchFamily="2" charset="-120"/>
                  </a:rPr>
                  <a:t>2</a:t>
                </a:r>
                <a:r>
                  <a:rPr lang="en-US" altLang="zh-CN" dirty="0">
                    <a:solidFill>
                      <a:srgbClr val="FF0000"/>
                    </a:solidFill>
                    <a:latin typeface="Kaiti TC" panose="02010600040101010101" pitchFamily="2" charset="-120"/>
                    <a:ea typeface="Kaiti TC" panose="02010600040101010101" pitchFamily="2" charset="-120"/>
                  </a:rPr>
                  <a:t>+0s</a:t>
                </a:r>
                <a:r>
                  <a:rPr lang="en-US" altLang="zh-CN" baseline="-25000" dirty="0">
                    <a:solidFill>
                      <a:srgbClr val="FF0000"/>
                    </a:solidFill>
                    <a:latin typeface="Kaiti TC" panose="02010600040101010101" pitchFamily="2" charset="-120"/>
                    <a:ea typeface="Kaiti TC" panose="02010600040101010101" pitchFamily="2" charset="-120"/>
                  </a:rPr>
                  <a:t>3</a:t>
                </a:r>
                <a:r>
                  <a:rPr lang="zh-CN" altLang="en-US" dirty="0">
                    <a:latin typeface="Kaiti TC" panose="02010600040101010101" pitchFamily="2" charset="-120"/>
                    <a:ea typeface="Kaiti TC" panose="02010600040101010101" pitchFamily="2" charset="-120"/>
                  </a:rPr>
                  <a:t>，</a:t>
                </a:r>
                <a:endParaRPr lang="zh-CN" altLang="en-US" dirty="0">
                  <a:latin typeface="Kaiti TC" panose="02010600040101010101" pitchFamily="2" charset="-120"/>
                  <a:ea typeface="Kaiti TC" panose="02010600040101010101" pitchFamily="2" charset="-120"/>
                </a:endParaRPr>
              </a:p>
              <a:p>
                <a:pPr marL="0" indent="0" eaLnBrk="1" hangingPunct="1">
                  <a:lnSpc>
                    <a:spcPct val="90000"/>
                  </a:lnSpc>
                  <a:buNone/>
                </a:pPr>
                <a:r>
                  <a:rPr lang="zh-CN" altLang="en-US" dirty="0">
                    <a:latin typeface="Kaiti TC" panose="02010600040101010101" pitchFamily="2" charset="-120"/>
                    <a:ea typeface="Kaiti TC" panose="02010600040101010101" pitchFamily="2" charset="-120"/>
                  </a:rPr>
                  <a:t>    约束条件：    </a:t>
                </a:r>
                <a:endParaRPr lang="en-US" altLang="zh-CN" dirty="0">
                  <a:latin typeface="Kaiti TC" panose="02010600040101010101" pitchFamily="2" charset="-120"/>
                  <a:ea typeface="Kaiti TC" panose="02010600040101010101" pitchFamily="2" charset="-120"/>
                </a:endParaRPr>
              </a:p>
              <a:p>
                <a:pPr marL="0" indent="0" eaLnBrk="1" hangingPunct="1">
                  <a:lnSpc>
                    <a:spcPct val="90000"/>
                  </a:lnSpc>
                  <a:buNone/>
                </a:pPr>
                <a:r>
                  <a:rPr lang="en-US" altLang="zh-CN" dirty="0">
                    <a:latin typeface="Kaiti TC" panose="02010600040101010101" pitchFamily="2" charset="-120"/>
                    <a:ea typeface="Kaiti TC" panose="02010600040101010101" pitchFamily="2" charset="-120"/>
                  </a:rPr>
                  <a:t>x</a:t>
                </a:r>
                <a:r>
                  <a:rPr lang="en-US" altLang="zh-CN" baseline="-25000" dirty="0">
                    <a:latin typeface="Kaiti TC" panose="02010600040101010101" pitchFamily="2" charset="-120"/>
                    <a:ea typeface="Kaiti TC" panose="02010600040101010101" pitchFamily="2" charset="-120"/>
                  </a:rPr>
                  <a:t>1</a:t>
                </a:r>
                <a:r>
                  <a:rPr lang="en-US" altLang="zh-CN" dirty="0">
                    <a:latin typeface="Kaiti TC" panose="02010600040101010101" pitchFamily="2" charset="-120"/>
                    <a:ea typeface="Kaiti TC" panose="02010600040101010101" pitchFamily="2" charset="-120"/>
                  </a:rPr>
                  <a:t>+x</a:t>
                </a:r>
                <a:r>
                  <a:rPr lang="en-US" altLang="zh-CN" baseline="-25000" dirty="0">
                    <a:latin typeface="Kaiti TC" panose="02010600040101010101" pitchFamily="2" charset="-120"/>
                    <a:ea typeface="Kaiti TC" panose="02010600040101010101" pitchFamily="2" charset="-120"/>
                  </a:rPr>
                  <a:t>2</a:t>
                </a:r>
                <a:r>
                  <a:rPr lang="en-US" altLang="zh-CN" dirty="0">
                    <a:solidFill>
                      <a:srgbClr val="FF0000"/>
                    </a:solidFill>
                    <a:latin typeface="Kaiti TC" panose="02010600040101010101" pitchFamily="2" charset="-120"/>
                    <a:ea typeface="Kaiti TC" panose="02010600040101010101" pitchFamily="2" charset="-120"/>
                  </a:rPr>
                  <a:t>-s</a:t>
                </a:r>
                <a:r>
                  <a:rPr lang="en-US" altLang="zh-CN" baseline="-25000" dirty="0">
                    <a:solidFill>
                      <a:srgbClr val="FF0000"/>
                    </a:solidFill>
                    <a:latin typeface="Kaiti TC" panose="02010600040101010101" pitchFamily="2" charset="-120"/>
                    <a:ea typeface="Kaiti TC" panose="02010600040101010101" pitchFamily="2" charset="-120"/>
                  </a:rPr>
                  <a:t>1</a:t>
                </a:r>
                <a:r>
                  <a:rPr lang="en-US" altLang="zh-CN" dirty="0">
                    <a:solidFill>
                      <a:srgbClr val="FF0000"/>
                    </a:solidFill>
                    <a:latin typeface="Kaiti TC" panose="02010600040101010101" pitchFamily="2" charset="-120"/>
                    <a:ea typeface="Kaiti TC" panose="02010600040101010101" pitchFamily="2" charset="-120"/>
                  </a:rPr>
                  <a:t>=</a:t>
                </a:r>
                <a:r>
                  <a:rPr lang="en-US" altLang="zh-CN" dirty="0">
                    <a:latin typeface="Kaiti TC" panose="02010600040101010101" pitchFamily="2" charset="-120"/>
                    <a:ea typeface="Kaiti TC" panose="02010600040101010101" pitchFamily="2" charset="-120"/>
                  </a:rPr>
                  <a:t>350,</a:t>
                </a:r>
                <a:endParaRPr lang="en-US" altLang="zh-CN" dirty="0">
                  <a:latin typeface="Kaiti TC" panose="02010600040101010101" pitchFamily="2" charset="-120"/>
                  <a:ea typeface="Kaiti TC" panose="02010600040101010101" pitchFamily="2" charset="-120"/>
                </a:endParaRPr>
              </a:p>
              <a:p>
                <a:pPr marL="0" indent="0">
                  <a:buNone/>
                </a:pPr>
                <a:r>
                  <a:rPr lang="en-US" altLang="zh-CN" dirty="0">
                    <a:latin typeface="Kaiti TC" panose="02010600040101010101" pitchFamily="2" charset="-120"/>
                    <a:ea typeface="Kaiti TC" panose="02010600040101010101" pitchFamily="2" charset="-120"/>
                  </a:rPr>
                  <a:t> x</a:t>
                </a:r>
                <a:r>
                  <a:rPr lang="en-US" altLang="zh-CN" baseline="-25000" dirty="0">
                    <a:latin typeface="Kaiti TC" panose="02010600040101010101" pitchFamily="2" charset="-120"/>
                    <a:ea typeface="Kaiti TC" panose="02010600040101010101" pitchFamily="2" charset="-120"/>
                  </a:rPr>
                  <a:t>1</a:t>
                </a:r>
                <a:r>
                  <a:rPr lang="en-US" altLang="zh-CN" dirty="0">
                    <a:solidFill>
                      <a:srgbClr val="FF0000"/>
                    </a:solidFill>
                    <a:latin typeface="Kaiti TC" panose="02010600040101010101" pitchFamily="2" charset="-120"/>
                    <a:ea typeface="Kaiti TC" panose="02010600040101010101" pitchFamily="2" charset="-120"/>
                  </a:rPr>
                  <a:t>-s</a:t>
                </a:r>
                <a:r>
                  <a:rPr lang="en-US" altLang="zh-CN" baseline="-25000" dirty="0">
                    <a:solidFill>
                      <a:srgbClr val="FF0000"/>
                    </a:solidFill>
                    <a:latin typeface="Kaiti TC" panose="02010600040101010101" pitchFamily="2" charset="-120"/>
                    <a:ea typeface="Kaiti TC" panose="02010600040101010101" pitchFamily="2" charset="-120"/>
                  </a:rPr>
                  <a:t>2</a:t>
                </a:r>
                <a:r>
                  <a:rPr lang="en-US" altLang="zh-CN" dirty="0">
                    <a:solidFill>
                      <a:srgbClr val="FF0000"/>
                    </a:solidFill>
                    <a:latin typeface="Kaiti TC" panose="02010600040101010101" pitchFamily="2" charset="-120"/>
                    <a:ea typeface="Kaiti TC" panose="02010600040101010101" pitchFamily="2" charset="-120"/>
                  </a:rPr>
                  <a:t>=</a:t>
                </a:r>
                <a:r>
                  <a:rPr lang="en-US" altLang="zh-CN" dirty="0">
                    <a:latin typeface="Kaiti TC" panose="02010600040101010101" pitchFamily="2" charset="-120"/>
                    <a:ea typeface="Kaiti TC" panose="02010600040101010101" pitchFamily="2" charset="-120"/>
                  </a:rPr>
                  <a:t>125,                         </a:t>
                </a:r>
                <a:endParaRPr lang="en-US" altLang="zh-CN" dirty="0">
                  <a:latin typeface="Kaiti TC" panose="02010600040101010101" pitchFamily="2" charset="-120"/>
                  <a:ea typeface="Kaiti TC" panose="02010600040101010101" pitchFamily="2" charset="-120"/>
                </a:endParaRPr>
              </a:p>
              <a:p>
                <a:pPr marL="0" indent="0" eaLnBrk="1" hangingPunct="1">
                  <a:lnSpc>
                    <a:spcPct val="90000"/>
                  </a:lnSpc>
                  <a:buNone/>
                </a:pPr>
                <a:r>
                  <a:rPr lang="en-US" altLang="zh-CN" dirty="0">
                    <a:latin typeface="Kaiti TC" panose="02010600040101010101" pitchFamily="2" charset="-120"/>
                    <a:ea typeface="Kaiti TC" panose="02010600040101010101" pitchFamily="2" charset="-120"/>
                  </a:rPr>
                  <a:t>2x</a:t>
                </a:r>
                <a:r>
                  <a:rPr lang="en-US" altLang="zh-CN" baseline="-25000" dirty="0">
                    <a:latin typeface="Kaiti TC" panose="02010600040101010101" pitchFamily="2" charset="-120"/>
                    <a:ea typeface="Kaiti TC" panose="02010600040101010101" pitchFamily="2" charset="-120"/>
                  </a:rPr>
                  <a:t>1</a:t>
                </a:r>
                <a:r>
                  <a:rPr lang="en-US" altLang="zh-CN" dirty="0">
                    <a:latin typeface="Kaiti TC" panose="02010600040101010101" pitchFamily="2" charset="-120"/>
                    <a:ea typeface="Kaiti TC" panose="02010600040101010101" pitchFamily="2" charset="-120"/>
                  </a:rPr>
                  <a:t>+x</a:t>
                </a:r>
                <a:r>
                  <a:rPr lang="en-US" altLang="zh-CN" baseline="-25000" dirty="0">
                    <a:latin typeface="Kaiti TC" panose="02010600040101010101" pitchFamily="2" charset="-120"/>
                    <a:ea typeface="Kaiti TC" panose="02010600040101010101" pitchFamily="2" charset="-120"/>
                  </a:rPr>
                  <a:t>2</a:t>
                </a:r>
                <a:r>
                  <a:rPr lang="en-US" altLang="zh-CN" dirty="0">
                    <a:solidFill>
                      <a:srgbClr val="FF0000"/>
                    </a:solidFill>
                    <a:latin typeface="Kaiti TC" panose="02010600040101010101" pitchFamily="2" charset="-120"/>
                    <a:ea typeface="Kaiti TC" panose="02010600040101010101" pitchFamily="2" charset="-120"/>
                  </a:rPr>
                  <a:t>+s</a:t>
                </a:r>
                <a:r>
                  <a:rPr lang="en-US" altLang="zh-CN" baseline="-25000" dirty="0">
                    <a:solidFill>
                      <a:srgbClr val="FF0000"/>
                    </a:solidFill>
                    <a:latin typeface="Kaiti TC" panose="02010600040101010101" pitchFamily="2" charset="-120"/>
                    <a:ea typeface="Kaiti TC" panose="02010600040101010101" pitchFamily="2" charset="-120"/>
                  </a:rPr>
                  <a:t>3</a:t>
                </a:r>
                <a:r>
                  <a:rPr lang="en-US" altLang="zh-CN" dirty="0">
                    <a:solidFill>
                      <a:srgbClr val="FF0000"/>
                    </a:solidFill>
                    <a:latin typeface="Kaiti TC" panose="02010600040101010101" pitchFamily="2" charset="-120"/>
                    <a:ea typeface="Kaiti TC" panose="02010600040101010101" pitchFamily="2" charset="-120"/>
                  </a:rPr>
                  <a:t>=</a:t>
                </a:r>
                <a:r>
                  <a:rPr lang="en-US" altLang="zh-CN" dirty="0">
                    <a:latin typeface="Kaiti TC" panose="02010600040101010101" pitchFamily="2" charset="-120"/>
                    <a:ea typeface="Kaiti TC" panose="02010600040101010101" pitchFamily="2" charset="-120"/>
                  </a:rPr>
                  <a:t>600,</a:t>
                </a:r>
                <a:endParaRPr lang="en-US" altLang="zh-CN" dirty="0">
                  <a:latin typeface="Kaiti TC" panose="02010600040101010101" pitchFamily="2" charset="-120"/>
                  <a:ea typeface="Kaiti TC" panose="02010600040101010101" pitchFamily="2" charset="-120"/>
                </a:endParaRPr>
              </a:p>
              <a:p>
                <a:pPr marL="0" indent="0" eaLnBrk="1" hangingPunct="1">
                  <a:lnSpc>
                    <a:spcPct val="90000"/>
                  </a:lnSpc>
                  <a:buNone/>
                </a:pPr>
                <a:r>
                  <a:rPr lang="en-US" altLang="zh-CN" dirty="0">
                    <a:latin typeface="Kaiti TC" panose="02010600040101010101" pitchFamily="2" charset="-120"/>
                    <a:ea typeface="Kaiti TC" panose="02010600040101010101" pitchFamily="2" charset="-120"/>
                  </a:rPr>
                  <a:t>x</a:t>
                </a:r>
                <a:r>
                  <a:rPr lang="en-US" altLang="zh-CN" baseline="-25000" dirty="0">
                    <a:latin typeface="Kaiti TC" panose="02010600040101010101" pitchFamily="2" charset="-120"/>
                    <a:ea typeface="Kaiti TC" panose="02010600040101010101" pitchFamily="2" charset="-120"/>
                  </a:rPr>
                  <a:t>1</a:t>
                </a:r>
                <a:r>
                  <a:rPr lang="en-US" altLang="zh-CN" dirty="0">
                    <a:latin typeface="Kaiti TC" panose="02010600040101010101" pitchFamily="2" charset="-120"/>
                    <a:ea typeface="Kaiti TC" panose="02010600040101010101" pitchFamily="2" charset="-120"/>
                  </a:rPr>
                  <a:t>,x</a:t>
                </a:r>
                <a:r>
                  <a:rPr lang="en-US" altLang="zh-CN" baseline="-25000" dirty="0">
                    <a:latin typeface="Kaiti TC" panose="02010600040101010101" pitchFamily="2" charset="-120"/>
                    <a:ea typeface="Kaiti TC" panose="02010600040101010101" pitchFamily="2" charset="-120"/>
                  </a:rPr>
                  <a:t>2</a:t>
                </a:r>
                <a:r>
                  <a:rPr lang="en-US" altLang="zh-CN" dirty="0">
                    <a:latin typeface="Kaiti TC" panose="02010600040101010101" pitchFamily="2" charset="-120"/>
                    <a:ea typeface="Kaiti TC" panose="02010600040101010101" pitchFamily="2" charset="-120"/>
                  </a:rPr>
                  <a:t>,</a:t>
                </a:r>
                <a:r>
                  <a:rPr lang="en-US" altLang="zh-CN" dirty="0">
                    <a:solidFill>
                      <a:srgbClr val="FF0000"/>
                    </a:solidFill>
                    <a:latin typeface="Kaiti TC" panose="02010600040101010101" pitchFamily="2" charset="-120"/>
                    <a:ea typeface="Kaiti TC" panose="02010600040101010101" pitchFamily="2" charset="-120"/>
                  </a:rPr>
                  <a:t>s</a:t>
                </a:r>
                <a:r>
                  <a:rPr lang="en-US" altLang="zh-CN" baseline="-25000" dirty="0">
                    <a:solidFill>
                      <a:srgbClr val="FF0000"/>
                    </a:solidFill>
                    <a:latin typeface="Kaiti TC" panose="02010600040101010101" pitchFamily="2" charset="-120"/>
                    <a:ea typeface="Kaiti TC" panose="02010600040101010101" pitchFamily="2" charset="-120"/>
                  </a:rPr>
                  <a:t>1</a:t>
                </a:r>
                <a:r>
                  <a:rPr lang="en-US" altLang="zh-CN" dirty="0">
                    <a:solidFill>
                      <a:srgbClr val="FF0000"/>
                    </a:solidFill>
                    <a:latin typeface="Kaiti TC" panose="02010600040101010101" pitchFamily="2" charset="-120"/>
                    <a:ea typeface="Kaiti TC" panose="02010600040101010101" pitchFamily="2" charset="-120"/>
                  </a:rPr>
                  <a:t>,s</a:t>
                </a:r>
                <a:r>
                  <a:rPr lang="en-US" altLang="zh-CN" baseline="-25000" dirty="0">
                    <a:solidFill>
                      <a:srgbClr val="FF0000"/>
                    </a:solidFill>
                    <a:latin typeface="Kaiti TC" panose="02010600040101010101" pitchFamily="2" charset="-120"/>
                    <a:ea typeface="Kaiti TC" panose="02010600040101010101" pitchFamily="2" charset="-120"/>
                  </a:rPr>
                  <a:t>2</a:t>
                </a:r>
                <a:r>
                  <a:rPr lang="en-US" altLang="zh-CN" dirty="0">
                    <a:solidFill>
                      <a:srgbClr val="FF0000"/>
                    </a:solidFill>
                    <a:latin typeface="Kaiti TC" panose="02010600040101010101" pitchFamily="2" charset="-120"/>
                    <a:ea typeface="Kaiti TC" panose="02010600040101010101" pitchFamily="2" charset="-120"/>
                  </a:rPr>
                  <a:t>,s</a:t>
                </a:r>
                <a:r>
                  <a:rPr lang="en-US" altLang="zh-CN" baseline="-25000" dirty="0">
                    <a:solidFill>
                      <a:srgbClr val="FF0000"/>
                    </a:solidFill>
                    <a:latin typeface="Kaiti TC" panose="02010600040101010101" pitchFamily="2" charset="-120"/>
                    <a:ea typeface="Kaiti TC" panose="02010600040101010101" pitchFamily="2" charset="-120"/>
                  </a:rPr>
                  <a:t>3</a:t>
                </a:r>
                <a:r>
                  <a:rPr lang="en-US" altLang="zh-CN" dirty="0">
                    <a:latin typeface="Kaiti TC" panose="02010600040101010101" pitchFamily="2" charset="-120"/>
                    <a:ea typeface="Kaiti TC" panose="02010600040101010101" pitchFamily="2" charset="-120"/>
                  </a:rPr>
                  <a:t>≥0</a:t>
                </a:r>
                <a:endParaRPr lang="en-US" dirty="0">
                  <a:latin typeface="Kaiti TC" panose="02010600040101010101" pitchFamily="2" charset="-120"/>
                  <a:ea typeface="Kaiti TC" panose="02010600040101010101" pitchFamily="2" charset="-12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t="-336" b="7"/>
                </a:stretch>
              </a:blipFill>
            </p:spPr>
            <p:txBody>
              <a:bodyPr/>
              <a:lstStyle/>
              <a:p>
                <a:r>
                  <a:rPr lang="zh-CN" altLang="en-US">
                    <a:noFill/>
                  </a:rPr>
                  <a:t> </a:t>
                </a:r>
              </a:p>
            </p:txBody>
          </p:sp>
        </mc:Fallback>
      </mc:AlternateContent>
      <p:sp>
        <p:nvSpPr>
          <p:cNvPr id="5" name="Rectangle 4"/>
          <p:cNvSpPr/>
          <p:nvPr/>
        </p:nvSpPr>
        <p:spPr>
          <a:xfrm>
            <a:off x="838200" y="2537670"/>
            <a:ext cx="9698372" cy="36392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endParaRPr lang="en-US" dirty="0"/>
          </a:p>
          <a:p>
            <a:r>
              <a:rPr lang="en-US" dirty="0"/>
              <a:t>请将例</a:t>
            </a:r>
            <a:r>
              <a:rPr lang="en-US" altLang="zh-CN" dirty="0"/>
              <a:t>2</a:t>
            </a:r>
            <a:r>
              <a:rPr lang="zh-CN" altLang="en-US" dirty="0"/>
              <a:t>的数学模型标准化：</a:t>
            </a:r>
            <a:endParaRPr lang="en-US" altLang="zh-CN" dirty="0"/>
          </a:p>
          <a:p>
            <a:pPr>
              <a:lnSpc>
                <a:spcPct val="120000"/>
              </a:lnSpc>
            </a:pPr>
            <a:r>
              <a:rPr lang="zh-CN" altLang="en-US" dirty="0">
                <a:latin typeface="楷体" panose="02010609060101010101" pitchFamily="49" charset="-122"/>
              </a:rPr>
              <a:t>目标函数：</a:t>
            </a:r>
            <a:r>
              <a:rPr lang="en-US" altLang="zh-CN" dirty="0">
                <a:latin typeface="楷体" panose="02010609060101010101" pitchFamily="49" charset="-122"/>
              </a:rPr>
              <a:t>min f=2x</a:t>
            </a:r>
            <a:r>
              <a:rPr lang="en-US" altLang="zh-CN" baseline="-25000" dirty="0">
                <a:latin typeface="楷体" panose="02010609060101010101" pitchFamily="49" charset="-122"/>
              </a:rPr>
              <a:t>1</a:t>
            </a:r>
            <a:r>
              <a:rPr lang="en-US" altLang="zh-CN" dirty="0">
                <a:latin typeface="楷体" panose="02010609060101010101" pitchFamily="49" charset="-122"/>
              </a:rPr>
              <a:t>+3x</a:t>
            </a:r>
            <a:r>
              <a:rPr lang="en-US" altLang="zh-CN" baseline="-25000" dirty="0">
                <a:latin typeface="楷体" panose="02010609060101010101" pitchFamily="49" charset="-122"/>
              </a:rPr>
              <a:t>2 </a:t>
            </a:r>
            <a:r>
              <a:rPr lang="zh-CN" altLang="en-US" dirty="0">
                <a:latin typeface="楷体" panose="02010609060101010101" pitchFamily="49" charset="-122"/>
              </a:rPr>
              <a:t>，</a:t>
            </a:r>
            <a:endParaRPr lang="zh-CN" altLang="en-US" dirty="0">
              <a:latin typeface="楷体" panose="02010609060101010101" pitchFamily="49" charset="-122"/>
            </a:endParaRPr>
          </a:p>
          <a:p>
            <a:pPr>
              <a:lnSpc>
                <a:spcPct val="120000"/>
              </a:lnSpc>
            </a:pPr>
            <a:r>
              <a:rPr lang="zh-CN" altLang="en-US" dirty="0">
                <a:latin typeface="楷体" panose="02010609060101010101" pitchFamily="49" charset="-122"/>
              </a:rPr>
              <a:t>约束条件：</a:t>
            </a:r>
            <a:endParaRPr lang="en-US" altLang="zh-CN" dirty="0">
              <a:latin typeface="楷体" panose="02010609060101010101" pitchFamily="49" charset="-122"/>
            </a:endParaRPr>
          </a:p>
          <a:p>
            <a:pPr>
              <a:lnSpc>
                <a:spcPct val="120000"/>
              </a:lnSpc>
            </a:pPr>
            <a:r>
              <a:rPr lang="en-US" altLang="zh-CN" dirty="0">
                <a:latin typeface="楷体" panose="02010609060101010101" pitchFamily="49" charset="-122"/>
              </a:rPr>
              <a:t>x</a:t>
            </a:r>
            <a:r>
              <a:rPr lang="en-US" altLang="zh-CN" baseline="-25000" dirty="0">
                <a:latin typeface="楷体" panose="02010609060101010101" pitchFamily="49" charset="-122"/>
              </a:rPr>
              <a:t>1</a:t>
            </a:r>
            <a:r>
              <a:rPr lang="en-US" altLang="zh-CN" dirty="0">
                <a:latin typeface="楷体" panose="02010609060101010101" pitchFamily="49" charset="-122"/>
              </a:rPr>
              <a:t>+x</a:t>
            </a:r>
            <a:r>
              <a:rPr lang="en-US" altLang="zh-CN" baseline="-25000" dirty="0">
                <a:latin typeface="楷体" panose="02010609060101010101" pitchFamily="49" charset="-122"/>
              </a:rPr>
              <a:t>2</a:t>
            </a:r>
            <a:r>
              <a:rPr lang="en-US" altLang="zh-CN" dirty="0">
                <a:latin typeface="楷体" panose="02010609060101010101" pitchFamily="49" charset="-122"/>
              </a:rPr>
              <a:t>≥350 </a:t>
            </a:r>
            <a:r>
              <a:rPr lang="zh-CN" altLang="en-US" dirty="0">
                <a:latin typeface="楷体" panose="02010609060101010101" pitchFamily="49" charset="-122"/>
              </a:rPr>
              <a:t>，</a:t>
            </a:r>
            <a:endParaRPr lang="zh-CN" altLang="en-US" dirty="0">
              <a:latin typeface="楷体" panose="02010609060101010101" pitchFamily="49" charset="-122"/>
            </a:endParaRPr>
          </a:p>
          <a:p>
            <a:pPr>
              <a:lnSpc>
                <a:spcPct val="120000"/>
              </a:lnSpc>
            </a:pPr>
            <a:r>
              <a:rPr lang="en-US" altLang="zh-CN" dirty="0">
                <a:latin typeface="楷体" panose="02010609060101010101" pitchFamily="49" charset="-122"/>
              </a:rPr>
              <a:t>x</a:t>
            </a:r>
            <a:r>
              <a:rPr lang="en-US" altLang="zh-CN" baseline="-25000" dirty="0">
                <a:latin typeface="楷体" panose="02010609060101010101" pitchFamily="49" charset="-122"/>
              </a:rPr>
              <a:t>1</a:t>
            </a:r>
            <a:r>
              <a:rPr lang="en-US" altLang="zh-CN" dirty="0">
                <a:latin typeface="楷体" panose="02010609060101010101" pitchFamily="49" charset="-122"/>
              </a:rPr>
              <a:t>≥125 </a:t>
            </a:r>
            <a:r>
              <a:rPr lang="zh-CN" altLang="en-US" dirty="0">
                <a:latin typeface="楷体" panose="02010609060101010101" pitchFamily="49" charset="-122"/>
              </a:rPr>
              <a:t>，</a:t>
            </a:r>
            <a:endParaRPr lang="zh-CN" altLang="en-US" dirty="0">
              <a:latin typeface="楷体" panose="02010609060101010101" pitchFamily="49" charset="-122"/>
            </a:endParaRPr>
          </a:p>
          <a:p>
            <a:pPr>
              <a:lnSpc>
                <a:spcPct val="120000"/>
              </a:lnSpc>
            </a:pPr>
            <a:r>
              <a:rPr lang="en-US" altLang="zh-CN" dirty="0">
                <a:latin typeface="楷体" panose="02010609060101010101" pitchFamily="49" charset="-122"/>
              </a:rPr>
              <a:t>2x</a:t>
            </a:r>
            <a:r>
              <a:rPr lang="en-US" altLang="zh-CN" baseline="-25000" dirty="0">
                <a:latin typeface="楷体" panose="02010609060101010101" pitchFamily="49" charset="-122"/>
              </a:rPr>
              <a:t>1</a:t>
            </a:r>
            <a:r>
              <a:rPr lang="en-US" altLang="zh-CN" dirty="0">
                <a:latin typeface="楷体" panose="02010609060101010101" pitchFamily="49" charset="-122"/>
              </a:rPr>
              <a:t>+x</a:t>
            </a:r>
            <a:r>
              <a:rPr lang="en-US" altLang="zh-CN" baseline="-25000" dirty="0">
                <a:latin typeface="楷体" panose="02010609060101010101" pitchFamily="49" charset="-122"/>
              </a:rPr>
              <a:t>2</a:t>
            </a:r>
            <a:r>
              <a:rPr lang="en-US" altLang="zh-CN" dirty="0">
                <a:latin typeface="楷体" panose="02010609060101010101" pitchFamily="49" charset="-122"/>
              </a:rPr>
              <a:t>≤600,</a:t>
            </a:r>
            <a:endParaRPr lang="en-US" altLang="zh-CN" dirty="0">
              <a:latin typeface="楷体" panose="02010609060101010101" pitchFamily="49" charset="-122"/>
            </a:endParaRPr>
          </a:p>
          <a:p>
            <a:pPr>
              <a:lnSpc>
                <a:spcPct val="120000"/>
              </a:lnSpc>
            </a:pPr>
            <a:r>
              <a:rPr lang="en-US" altLang="zh-CN" dirty="0">
                <a:latin typeface="楷体" panose="02010609060101010101" pitchFamily="49" charset="-122"/>
              </a:rPr>
              <a:t>x</a:t>
            </a:r>
            <a:r>
              <a:rPr lang="en-US" altLang="zh-CN" baseline="-25000" dirty="0">
                <a:latin typeface="楷体" panose="02010609060101010101" pitchFamily="49" charset="-122"/>
              </a:rPr>
              <a:t>1</a:t>
            </a:r>
            <a:r>
              <a:rPr lang="en-US" altLang="zh-CN" dirty="0">
                <a:latin typeface="楷体" panose="02010609060101010101" pitchFamily="49" charset="-122"/>
              </a:rPr>
              <a:t>≥0, x</a:t>
            </a:r>
            <a:r>
              <a:rPr lang="en-US" altLang="zh-CN" baseline="-25000" dirty="0">
                <a:latin typeface="楷体" panose="02010609060101010101" pitchFamily="49" charset="-122"/>
              </a:rPr>
              <a:t>2</a:t>
            </a:r>
            <a:r>
              <a:rPr lang="en-US" altLang="zh-CN" dirty="0">
                <a:latin typeface="楷体" panose="02010609060101010101" pitchFamily="49" charset="-122"/>
              </a:rPr>
              <a:t>≥0.</a:t>
            </a:r>
            <a:endParaRPr lang="en-US" altLang="zh-CN" dirty="0">
              <a:latin typeface="楷体" panose="02010609060101010101" pitchFamily="49" charset="-122"/>
            </a:endParaRPr>
          </a:p>
          <a:p>
            <a:pPr algn="ctr"/>
            <a:endParaRPr lang="en-US" altLang="zh-CN" dirty="0"/>
          </a:p>
          <a:p>
            <a:pPr algn="ct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xit" presetSubtype="10" fill="hold" grpId="1" nodeType="clickEffect">
                                  <p:stCondLst>
                                    <p:cond delay="0"/>
                                  </p:stCondLst>
                                  <p:childTnLst>
                                    <p:animEffect transition="out" filter="blinds(horizontal)">
                                      <p:cBhvr>
                                        <p:cTn id="30" dur="500"/>
                                        <p:tgtEl>
                                          <p:spTgt spid="5"/>
                                        </p:tgtEl>
                                      </p:cBhvr>
                                    </p:animEffect>
                                    <p:set>
                                      <p:cBhvr>
                                        <p:cTn id="31"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楷体" panose="02010609060101010101" pitchFamily="49" charset="-122"/>
              </a:rPr>
              <a:t>线性规划问题的标准化 </a:t>
            </a:r>
            <a:r>
              <a:rPr lang="en-US" altLang="zh-CN" dirty="0">
                <a:latin typeface="楷体" panose="02010609060101010101" pitchFamily="49" charset="-122"/>
              </a:rPr>
              <a:t>–</a:t>
            </a:r>
            <a:r>
              <a:rPr lang="zh-CN" altLang="en-US" dirty="0">
                <a:latin typeface="楷体" panose="02010609060101010101" pitchFamily="49" charset="-122"/>
              </a:rPr>
              <a:t> </a:t>
            </a:r>
            <a:r>
              <a:rPr lang="zh-CN" altLang="en-US">
                <a:solidFill>
                  <a:srgbClr val="000000"/>
                </a:solidFill>
                <a:latin typeface="楷体" panose="02010609060101010101" pitchFamily="49" charset="-122"/>
                <a:sym typeface="+mn-ea"/>
              </a:rPr>
              <a:t>极小化目标函数的标准化问题</a:t>
            </a:r>
            <a:endParaRPr lang="en-US" dirty="0"/>
          </a:p>
        </p:txBody>
      </p:sp>
      <p:sp>
        <p:nvSpPr>
          <p:cNvPr id="15" name="矩形 14"/>
          <p:cNvSpPr>
            <a:spLocks noRot="1" noChangeAspect="1" noMove="1" noResize="1" noEditPoints="1" noAdjustHandles="1" noChangeArrowheads="1" noChangeShapeType="1" noTextEdit="1"/>
          </p:cNvSpPr>
          <p:nvPr/>
        </p:nvSpPr>
        <p:spPr bwMode="auto">
          <a:xfrm>
            <a:off x="952755" y="1691024"/>
            <a:ext cx="7832850" cy="523220"/>
          </a:xfrm>
          <a:prstGeom prst="rect">
            <a:avLst/>
          </a:prstGeom>
          <a:blipFill>
            <a:blip r:embed="rId1"/>
            <a:stretch>
              <a:fillRect l="-78" t="-15294" b="-30588"/>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p>
            <a:pPr>
              <a:defRPr/>
            </a:pPr>
            <a:r>
              <a:rPr lang="zh-CN" altLang="en-US">
                <a:noFill/>
              </a:rPr>
              <a:t> </a:t>
            </a:r>
            <a:endParaRPr lang="zh-CN" altLang="en-US">
              <a:noFill/>
            </a:endParaRPr>
          </a:p>
        </p:txBody>
      </p:sp>
      <p:sp>
        <p:nvSpPr>
          <p:cNvPr id="16" name="矩形 15"/>
          <p:cNvSpPr>
            <a:spLocks noRot="1" noChangeAspect="1" noMove="1" noResize="1" noEditPoints="1" noAdjustHandles="1" noChangeArrowheads="1" noChangeShapeType="1" noTextEdit="1"/>
          </p:cNvSpPr>
          <p:nvPr/>
        </p:nvSpPr>
        <p:spPr bwMode="auto">
          <a:xfrm>
            <a:off x="1038823" y="2389229"/>
            <a:ext cx="8138234" cy="1538883"/>
          </a:xfrm>
          <a:prstGeom prst="rect">
            <a:avLst/>
          </a:prstGeom>
          <a:blipFill>
            <a:blip r:embed="rId2"/>
            <a:stretch>
              <a:fillRect l="-1573" t="-4743"/>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p>
            <a:pPr>
              <a:defRPr/>
            </a:pPr>
            <a:r>
              <a:rPr lang="zh-CN" altLang="en-US">
                <a:noFill/>
              </a:rPr>
              <a:t> </a:t>
            </a:r>
            <a:endParaRPr lang="zh-CN" altLang="en-US">
              <a:noFill/>
            </a:endParaRPr>
          </a:p>
        </p:txBody>
      </p:sp>
      <p:sp>
        <p:nvSpPr>
          <p:cNvPr id="14" name="矩形 13"/>
          <p:cNvSpPr>
            <a:spLocks noRot="1" noChangeAspect="1" noMove="1" noResize="1" noEditPoints="1" noAdjustHandles="1" noChangeArrowheads="1" noChangeShapeType="1" noTextEdit="1"/>
          </p:cNvSpPr>
          <p:nvPr/>
        </p:nvSpPr>
        <p:spPr bwMode="auto">
          <a:xfrm>
            <a:off x="1395375" y="4103531"/>
            <a:ext cx="7119938" cy="831850"/>
          </a:xfrm>
          <a:prstGeom prst="rect">
            <a:avLst/>
          </a:prstGeom>
          <a:blipFill>
            <a:blip r:embed="rId3"/>
            <a:stretch>
              <a:fillRect t="-5839" b="-13139"/>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p>
            <a:pPr>
              <a:defRPr/>
            </a:pPr>
            <a:r>
              <a:rPr lang="zh-CN" altLang="en-US">
                <a:noFill/>
              </a:rPr>
              <a:t> </a:t>
            </a:r>
            <a:endParaRPr lang="zh-CN" altLang="en-US">
              <a:noFill/>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随堂练习2</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marL="0" indent="0">
                  <a:buNone/>
                </a:pPr>
                <a:r>
                  <a:rPr lang="en-US" dirty="0"/>
                  <a:t>目标函数</a:t>
                </a:r>
                <a:r>
                  <a:rPr lang="zh-CN" altLang="en-US" dirty="0"/>
                  <a:t>：</a:t>
                </a:r>
                <a14:m>
                  <m:oMath xmlns:m="http://schemas.openxmlformats.org/officeDocument/2006/math">
                    <m:func>
                      <m:funcPr>
                        <m:ctrlPr>
                          <a:rPr lang="en-US" altLang="zh-CN" i="1" smtClean="0">
                            <a:latin typeface="Cambria Math" panose="02040503050406030204" pitchFamily="18" charset="0"/>
                          </a:rPr>
                        </m:ctrlPr>
                      </m:funcPr>
                      <m:fName>
                        <m:limLow>
                          <m:limLowPr>
                            <m:ctrlPr>
                              <a:rPr lang="en-US" altLang="zh-CN" i="1" smtClean="0">
                                <a:latin typeface="Cambria Math" panose="02040503050406030204" pitchFamily="18" charset="0"/>
                              </a:rPr>
                            </m:ctrlPr>
                          </m:limLowPr>
                          <m:e>
                            <m:r>
                              <m:rPr>
                                <m:sty m:val="p"/>
                              </m:rPr>
                              <a:rPr lang="en-US" altLang="zh-CN" i="0" smtClean="0">
                                <a:latin typeface="Cambria Math" panose="02040503050406030204" pitchFamily="18" charset="0"/>
                              </a:rPr>
                              <m:t>max</m:t>
                            </m:r>
                          </m:e>
                          <m:li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lim>
                        </m:limLow>
                      </m:fName>
                      <m:e>
                        <m:r>
                          <a:rPr lang="en-US" altLang="zh-CN" b="0" i="1" smtClean="0">
                            <a:latin typeface="Cambria Math" panose="02040503050406030204" pitchFamily="18" charset="0"/>
                          </a:rPr>
                          <m:t>𝑍</m:t>
                        </m:r>
                        <m:r>
                          <a:rPr lang="en-US" altLang="zh-CN" b="0" i="1" smtClean="0">
                            <a:latin typeface="Cambria Math" panose="02040503050406030204" pitchFamily="18" charset="0"/>
                          </a:rPr>
                          <m:t>=</m:t>
                        </m:r>
                        <m:r>
                          <a:rPr lang="en-US" altLang="zh-CN" b="0" i="1" smtClean="0">
                            <a:latin typeface="Cambria Math" panose="02040503050406030204" pitchFamily="18" charset="0"/>
                          </a:rPr>
                          <m:t>4</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8</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e>
                    </m:func>
                  </m:oMath>
                </a14:m>
                <a:endParaRPr lang="en-US" altLang="zh-CN" dirty="0"/>
              </a:p>
              <a:p>
                <a:pPr marL="0" indent="0">
                  <a:buNone/>
                </a:pPr>
                <a:r>
                  <a:rPr lang="en-US" dirty="0" err="1"/>
                  <a:t>约束条件</a:t>
                </a:r>
                <a:r>
                  <a:rPr lang="zh-CN" altLang="en-US" dirty="0"/>
                  <a:t>：</a:t>
                </a:r>
                <a14:m>
                  <m:oMath xmlns:m="http://schemas.openxmlformats.org/officeDocument/2006/math">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3</m:t>
                          </m:r>
                          <m:sSub>
                            <m:sSubPr>
                              <m:ctrlPr>
                                <a:rPr lang="en-US" altLang="zh-CN" b="0" i="1" smtClean="0">
                                  <a:latin typeface="Cambria Math" panose="02040503050406030204" pitchFamily="18" charset="0"/>
                                </a:rPr>
                              </m:ctrlPr>
                            </m:sSubPr>
                            <m:e>
                              <m:r>
                                <m:rPr>
                                  <m:brk m:alnAt="7"/>
                                </m:rPr>
                                <a:rPr lang="en-US" altLang="zh-CN" b="0" i="1" smtClean="0">
                                  <a:latin typeface="Cambria Math" panose="02040503050406030204" pitchFamily="18" charset="0"/>
                                </a:rPr>
                                <m:t>𝑥</m:t>
                              </m:r>
                            </m:e>
                            <m:sub>
                              <m:r>
                                <m:rPr>
                                  <m:brk m:alnAt="7"/>
                                </m:rPr>
                                <a:rPr lang="en-US" altLang="zh-CN" b="0" i="1" smtClean="0">
                                  <a:latin typeface="Cambria Math" panose="02040503050406030204" pitchFamily="18" charset="0"/>
                                </a:rPr>
                                <m:t>1</m:t>
                              </m:r>
                            </m:sub>
                          </m:sSub>
                          <m:r>
                            <m:rPr>
                              <m:brk m:alnAt="7"/>
                            </m:rPr>
                            <a:rPr lang="en-US" altLang="zh-CN" b="0" i="1" smtClean="0">
                              <a:latin typeface="Cambria Math" panose="02040503050406030204" pitchFamily="18" charset="0"/>
                            </a:rPr>
                            <m:t>+</m:t>
                          </m:r>
                          <m:r>
                            <a:rPr lang="en-US" altLang="zh-CN" b="0" i="1" smtClean="0">
                              <a:latin typeface="Cambria Math" panose="02040503050406030204" pitchFamily="18" charset="0"/>
                            </a:rPr>
                            <m:t>2</m:t>
                          </m:r>
                          <m:sSub>
                            <m:sSubPr>
                              <m:ctrlPr>
                                <a:rPr lang="en-US" altLang="zh-CN" b="0" i="1" smtClean="0">
                                  <a:latin typeface="Cambria Math" panose="02040503050406030204" pitchFamily="18" charset="0"/>
                                </a:rPr>
                              </m:ctrlPr>
                            </m:sSubPr>
                            <m:e>
                              <m:r>
                                <m:rPr>
                                  <m:brk m:alnAt="7"/>
                                </m:rPr>
                                <a:rPr lang="en-US" altLang="zh-CN" b="0" i="1" smtClean="0">
                                  <a:latin typeface="Cambria Math" panose="02040503050406030204" pitchFamily="18" charset="0"/>
                                </a:rPr>
                                <m:t>𝑥</m:t>
                              </m:r>
                            </m:e>
                            <m:sub>
                              <m:r>
                                <m:rPr>
                                  <m:brk m:alnAt="7"/>
                                </m:rP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7</m:t>
                          </m:r>
                        </m:e>
                      </m:mr>
                      <m:mr>
                        <m:e>
                          <m:r>
                            <a:rPr lang="en-US" altLang="zh-CN" b="0" i="1" smtClean="0">
                              <a:latin typeface="Cambria Math" panose="02040503050406030204" pitchFamily="18" charset="0"/>
                            </a:rPr>
                            <m:t>6</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10</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6</m:t>
                          </m:r>
                        </m:e>
                      </m:m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0</m:t>
                          </m:r>
                        </m:e>
                      </m:mr>
                    </m:m>
                  </m:oMath>
                </a14:m>
                <a:endParaRPr lang="en-US" dirty="0"/>
              </a:p>
              <a:p>
                <a:r>
                  <a:rPr lang="en-US" dirty="0" err="1"/>
                  <a:t>用图解法求解</a:t>
                </a:r>
                <a:endParaRPr lang="en-US" dirty="0"/>
              </a:p>
              <a:p>
                <a:r>
                  <a:rPr lang="en-US" dirty="0" err="1"/>
                  <a:t>写出此线性规划问题的标准形式</a:t>
                </a:r>
                <a:endParaRPr lang="en-US" dirty="0"/>
              </a:p>
              <a:p>
                <a:r>
                  <a:rPr lang="en-US" dirty="0" err="1"/>
                  <a:t>求出此线性规划问题的两个松弛</a:t>
                </a:r>
                <a:r>
                  <a:rPr lang="en-US" altLang="zh-CN" dirty="0"/>
                  <a:t>/</a:t>
                </a:r>
                <a:r>
                  <a:rPr lang="zh-CN" altLang="en-US" dirty="0"/>
                  <a:t>剩余变量</a:t>
                </a:r>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图解法的灵敏度分析 </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 灵敏度分析的定义与意义</a:t>
            </a:r>
            <a:endParaRPr lang="en-US" altLang="zh-CN"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a:t>灵敏度分析是指在建立数学模型和求得最优解之后</a:t>
                </a:r>
                <a:r>
                  <a:rPr lang="zh-CN" altLang="en-US" dirty="0"/>
                  <a:t>，研究线性规划的一些系数（</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sub>
                    </m:sSub>
                    <m:r>
                      <a:rPr lang="en-US" altLang="zh-CN" b="0" i="0" smtClean="0">
                        <a:latin typeface="Cambria Math" panose="02040503050406030204" pitchFamily="18" charset="0"/>
                      </a:rPr>
                      <m:t>,</m:t>
                    </m:r>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m:rPr>
                            <m:sty m:val="p"/>
                          </m:rPr>
                          <a:rPr lang="en-US" altLang="zh-CN" b="0" i="0" smtClean="0">
                            <a:latin typeface="Cambria Math" panose="02040503050406030204" pitchFamily="18" charset="0"/>
                          </a:rPr>
                          <m:t>b</m:t>
                        </m:r>
                      </m:e>
                      <m:sub>
                        <m:r>
                          <m:rPr>
                            <m:sty m:val="p"/>
                          </m:rPr>
                          <a:rPr lang="en-US" altLang="zh-CN" b="0" i="0" smtClean="0">
                            <a:latin typeface="Cambria Math" panose="02040503050406030204" pitchFamily="18" charset="0"/>
                          </a:rPr>
                          <m:t>j</m:t>
                        </m:r>
                      </m:sub>
                    </m:sSub>
                  </m:oMath>
                </a14:m>
                <a:r>
                  <a:rPr lang="zh-CN" altLang="en-US" dirty="0"/>
                  <a:t>）变化时对最优解产生什么影响。</a:t>
                </a:r>
                <a:endParaRPr lang="en-US" altLang="zh-CN" dirty="0"/>
              </a:p>
              <a:p>
                <a:r>
                  <a:rPr lang="zh-CN" altLang="en-US" dirty="0"/>
                  <a:t>灵敏度分析的意义在于避免了为应付系数变化而不停地建立新模型并求解的过程，也不会由于系数的估计和预测的精确性而对最优解产生不必要的怀疑。</a:t>
                </a:r>
                <a:endParaRPr lang="en-US" altLang="zh-CN" dirty="0"/>
              </a:p>
              <a:p>
                <a:pPr lvl="1"/>
                <a:r>
                  <a:rPr lang="zh-CN" altLang="en-US" dirty="0"/>
                  <a:t>所有系数都是估计值和预测值，并非百分之百精确。</a:t>
                </a:r>
                <a:endParaRPr lang="en-US" altLang="zh-CN" dirty="0"/>
              </a:p>
              <a:p>
                <a:pPr lvl="1"/>
                <a:r>
                  <a:rPr lang="zh-CN" altLang="en-US" dirty="0"/>
                  <a:t>系数所代表的经济学变量，如原材料价格、加工能力等会随着市场变化而变化，并非一成不变。</a:t>
                </a:r>
                <a:endParaRPr lang="en-US" altLang="zh-CN" dirty="0"/>
              </a:p>
              <a:p>
                <a:r>
                  <a:rPr lang="en-US" dirty="0"/>
                  <a:t>让我们以例</a:t>
                </a:r>
                <a:r>
                  <a:rPr lang="en-US" altLang="zh-CN" dirty="0"/>
                  <a:t>1</a:t>
                </a:r>
                <a:r>
                  <a:rPr lang="zh-CN" altLang="en-US" dirty="0"/>
                  <a:t>为例，对目标函数中的系数</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sub>
                    </m:sSub>
                  </m:oMath>
                </a14:m>
                <a:r>
                  <a:rPr lang="en-US" dirty="0"/>
                  <a:t>进行灵敏度分析</a:t>
                </a:r>
                <a:r>
                  <a:rPr lang="zh-CN" altLang="en-US" dirty="0"/>
                  <a:t>。</a:t>
                </a:r>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图解法的灵敏度分析 </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目标函数参数变化的分析步骤</a:t>
            </a:r>
            <a:endParaRPr lang="en-US" dirty="0"/>
          </a:p>
        </p:txBody>
      </p:sp>
      <mc:AlternateContent xmlns:mc="http://schemas.openxmlformats.org/markup-compatibility/2006">
        <mc:Choice xmlns:a14="http://schemas.microsoft.com/office/drawing/2010/main" Requires="a14">
          <p:sp>
            <p:nvSpPr>
              <p:cNvPr id="3" name="流程图: 过程 2"/>
              <p:cNvSpPr/>
              <p:nvPr/>
            </p:nvSpPr>
            <p:spPr>
              <a:xfrm>
                <a:off x="981512" y="2843868"/>
                <a:ext cx="2869035" cy="109056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明确</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sub>
                    </m:sSub>
                  </m:oMath>
                </a14:m>
                <a:r>
                  <a:rPr lang="zh-CN" altLang="en-US" dirty="0"/>
                  <a:t>对目标函数斜率的影响</a:t>
                </a:r>
                <a:endParaRPr lang="zh-CN" altLang="en-US" dirty="0"/>
              </a:p>
            </p:txBody>
          </p:sp>
        </mc:Choice>
        <mc:Fallback>
          <p:sp>
            <p:nvSpPr>
              <p:cNvPr id="3" name="流程图: 过程 2"/>
              <p:cNvSpPr>
                <a:spLocks noRot="1" noChangeAspect="1" noMove="1" noResize="1" noEditPoints="1" noAdjustHandles="1" noChangeArrowheads="1" noChangeShapeType="1" noTextEdit="1"/>
              </p:cNvSpPr>
              <p:nvPr/>
            </p:nvSpPr>
            <p:spPr>
              <a:xfrm>
                <a:off x="981512" y="2843868"/>
                <a:ext cx="2869035" cy="1090569"/>
              </a:xfrm>
              <a:prstGeom prst="flowChartProcess">
                <a:avLst/>
              </a:prstGeom>
              <a:blipFill rotWithShape="1">
                <a:blip r:embed="rId1"/>
                <a:stretch>
                  <a:fillRect l="-237" t="-613" r="-202" b="-526"/>
                </a:stretch>
              </a:blipFill>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4" name="流程图: 过程 3"/>
          <p:cNvSpPr/>
          <p:nvPr/>
        </p:nvSpPr>
        <p:spPr>
          <a:xfrm>
            <a:off x="4602760" y="2843865"/>
            <a:ext cx="2869035" cy="109056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计算约束条件斜率</a:t>
            </a:r>
            <a:endParaRPr lang="zh-CN" altLang="en-US" dirty="0"/>
          </a:p>
        </p:txBody>
      </p:sp>
      <p:sp>
        <p:nvSpPr>
          <p:cNvPr id="5" name="流程图: 过程 4"/>
          <p:cNvSpPr/>
          <p:nvPr/>
        </p:nvSpPr>
        <p:spPr>
          <a:xfrm>
            <a:off x="8224008" y="2843866"/>
            <a:ext cx="2869035" cy="109056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确定目标函数斜率变化对最优解的影响</a:t>
            </a:r>
            <a:endParaRPr lang="zh-CN" altLang="en-US" dirty="0"/>
          </a:p>
        </p:txBody>
      </p:sp>
      <p:sp>
        <p:nvSpPr>
          <p:cNvPr id="42" name="箭头: 右 41"/>
          <p:cNvSpPr/>
          <p:nvPr/>
        </p:nvSpPr>
        <p:spPr>
          <a:xfrm>
            <a:off x="4096624" y="3341964"/>
            <a:ext cx="260059" cy="1740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p:cNvSpPr/>
          <p:nvPr/>
        </p:nvSpPr>
        <p:spPr>
          <a:xfrm>
            <a:off x="7717872" y="3302113"/>
            <a:ext cx="260059" cy="1740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42" grpId="0" animBg="1"/>
      <p:bldP spid="4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图解法的灵敏度分析 </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例</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rPr>
                  <a:t>目标函数中系数</a:t>
                </a:r>
                <a14:m>
                  <m:oMath xmlns:m="http://schemas.openxmlformats.org/officeDocument/2006/math">
                    <m:sSub>
                      <m:sSubPr>
                        <m:ctrlPr>
                          <a:rPr lang="en-US" altLang="zh-CN" b="0" i="1" dirty="0" smtClean="0">
                            <a:latin typeface="Cambria Math" panose="02040503050406030204" pitchFamily="18" charset="0"/>
                          </a:rPr>
                        </m:ctrlPr>
                      </m:sSubPr>
                      <m:e>
                        <m:r>
                          <m:rPr>
                            <m:sty m:val="p"/>
                          </m:rPr>
                          <a:rPr lang="en-US" altLang="zh-CN" i="1" dirty="0">
                            <a:latin typeface="Cambria Math" panose="02040503050406030204" pitchFamily="18" charset="0"/>
                          </a:rPr>
                          <m:t>c</m:t>
                        </m:r>
                      </m:e>
                      <m:sub>
                        <m:r>
                          <a:rPr lang="en-US" altLang="zh-CN" b="0" i="1" dirty="0" smtClean="0">
                            <a:latin typeface="Cambria Math" panose="02040503050406030204" pitchFamily="18" charset="0"/>
                          </a:rPr>
                          <m:t>𝑖</m:t>
                        </m:r>
                      </m:sub>
                    </m:sSub>
                  </m:oMath>
                </a14:m>
                <a:r>
                  <a:rPr lang="en-US" dirty="0"/>
                  <a:t>的灵敏度分析</a:t>
                </a:r>
                <a:endParaRPr lang="en-US"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825625"/>
                <a:ext cx="5693410" cy="4351655"/>
              </a:xfrm>
            </p:spPr>
            <p:txBody>
              <a:bodyPr>
                <a:normAutofit fontScale="60000" lnSpcReduction="20000"/>
              </a:bodyPr>
              <a:lstStyle/>
              <a:p>
                <a:r>
                  <a:rPr lang="zh-CN" altLang="en-US" dirty="0"/>
                  <a:t>明确</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𝑖</m:t>
                        </m:r>
                      </m:sub>
                    </m:sSub>
                  </m:oMath>
                </a14:m>
                <a:r>
                  <a:rPr lang="zh-CN" altLang="en-US" dirty="0"/>
                  <a:t>对目标函数斜率的影响</a:t>
                </a:r>
                <a:r>
                  <a:rPr lang="zh-CN" altLang="en-US" b="0" dirty="0"/>
                  <a:t>：</a:t>
                </a:r>
                <a:endParaRPr lang="zh-CN" altLang="en-US" b="0" dirty="0"/>
              </a:p>
              <a:p>
                <a14:m>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zh-CN" altLang="en-US" dirty="0"/>
                  <a:t> </a:t>
                </a:r>
                <a:r>
                  <a:rPr lang="en-US" altLang="zh-CN" dirty="0"/>
                  <a:t>=&gt;</a:t>
                </a:r>
                <a:r>
                  <a:rPr lang="zh-CN" altLang="en-US" dirty="0"/>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2</m:t>
                            </m:r>
                          </m:sub>
                        </m:sSub>
                      </m:den>
                    </m:f>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𝑍</m:t>
                        </m:r>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2</m:t>
                            </m:r>
                          </m:sub>
                        </m:sSub>
                      </m:den>
                    </m:f>
                  </m:oMath>
                </a14:m>
                <a:r>
                  <a:rPr lang="zh-CN" altLang="en-US" dirty="0"/>
                  <a:t> </a:t>
                </a:r>
                <a:r>
                  <a:rPr lang="en-US" altLang="zh-CN" dirty="0"/>
                  <a:t>=&gt;</a:t>
                </a:r>
                <a:r>
                  <a:rPr lang="zh-CN" altLang="en-US" dirty="0"/>
                  <a:t> 斜率为</a:t>
                </a:r>
                <a14:m>
                  <m:oMath xmlns:m="http://schemas.openxmlformats.org/officeDocument/2006/math">
                    <m:r>
                      <a:rPr lang="en-US" altLang="zh-CN" b="0" i="0" smtClean="0">
                        <a:latin typeface="Cambria Math" panose="02040503050406030204" pitchFamily="18" charset="0"/>
                      </a:rPr>
                      <m:t>−</m:t>
                    </m:r>
                    <m:f>
                      <m:fPr>
                        <m:ctrlPr>
                          <a:rPr lang="en-US" altLang="zh-CN"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2</m:t>
                            </m:r>
                          </m:sub>
                        </m:sSub>
                      </m:den>
                    </m:f>
                  </m:oMath>
                </a14:m>
                <a:r>
                  <a:rPr lang="zh-CN" altLang="en-US" dirty="0"/>
                  <a:t>。</a:t>
                </a:r>
                <a:endParaRPr lang="en-US" dirty="0"/>
              </a:p>
              <a:p>
                <a:r>
                  <a:rPr lang="zh-CN" altLang="en-US" dirty="0"/>
                  <a:t>计算各</a:t>
                </a:r>
                <a:r>
                  <a:rPr lang="en-US" dirty="0" err="1"/>
                  <a:t>约束条件</a:t>
                </a:r>
                <a:r>
                  <a:rPr lang="zh-CN" altLang="en-US" dirty="0"/>
                  <a:t>的斜率：</a:t>
                </a:r>
                <a:endParaRPr lang="en-US" altLang="zh-CN"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300</m:t>
                    </m:r>
                  </m:oMath>
                </a14:m>
                <a:r>
                  <a:rPr lang="en-US" dirty="0"/>
                  <a:t> =&gt; 斜率为</a:t>
                </a:r>
                <a:r>
                  <a:rPr lang="en-US" altLang="zh-CN" dirty="0"/>
                  <a:t>-1</a:t>
                </a:r>
                <a:endParaRPr lang="en-US" dirty="0"/>
              </a:p>
              <a:p>
                <a:pPr lvl="1"/>
                <a14:m>
                  <m:oMath xmlns:m="http://schemas.openxmlformats.org/officeDocument/2006/math">
                    <m:r>
                      <a:rPr lang="en-US" b="0" i="1" smtClean="0">
                        <a:latin typeface="Cambria Math" panose="02040503050406030204" pitchFamily="18" charset="0"/>
                      </a:rPr>
                      <m:t>0</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250</m:t>
                    </m:r>
                  </m:oMath>
                </a14:m>
                <a:r>
                  <a:rPr lang="en-US" dirty="0"/>
                  <a:t> =&gt;斜率为</a:t>
                </a:r>
                <a:r>
                  <a:rPr lang="en-US" altLang="zh-CN" dirty="0"/>
                  <a:t>0</a:t>
                </a:r>
                <a:endParaRPr lang="en-US" dirty="0"/>
              </a:p>
              <a:p>
                <a:pPr lvl="1"/>
                <a14:m>
                  <m:oMath xmlns:m="http://schemas.openxmlformats.org/officeDocument/2006/math">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400</m:t>
                    </m:r>
                  </m:oMath>
                </a14:m>
                <a:r>
                  <a:rPr lang="en-US" dirty="0"/>
                  <a:t> =&gt;斜率为</a:t>
                </a:r>
                <a:r>
                  <a:rPr lang="en-US" altLang="zh-CN" dirty="0"/>
                  <a:t>-2</a:t>
                </a:r>
                <a:endParaRPr lang="en-US" altLang="zh-CN" dirty="0"/>
              </a:p>
              <a:p>
                <a:r>
                  <a:rPr lang="en-US" dirty="0"/>
                  <a:t>假设产品II单价维持</a:t>
                </a:r>
                <a:r>
                  <a:rPr lang="en-US" altLang="zh-CN" dirty="0"/>
                  <a:t>100</a:t>
                </a:r>
                <a:r>
                  <a:rPr lang="zh-CN" altLang="en-US" dirty="0"/>
                  <a:t>元不变，目标函数斜率为</a:t>
                </a:r>
                <a:r>
                  <a:rPr lang="en-US" altLang="zh-CN" dirty="0"/>
                  <a:t>-</a:t>
                </a:r>
                <a14:m>
                  <m:oMath xmlns:m="http://schemas.openxmlformats.org/officeDocument/2006/math">
                    <m:f>
                      <m:fPr>
                        <m:ctrlPr>
                          <a:rPr lang="en-US" altLang="zh-CN"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num>
                      <m:den>
                        <m:r>
                          <a:rPr lang="en-US" altLang="zh-CN" b="0" i="1" smtClean="0">
                            <a:latin typeface="Cambria Math" panose="02040503050406030204" pitchFamily="18" charset="0"/>
                          </a:rPr>
                          <m:t>100</m:t>
                        </m:r>
                      </m:den>
                    </m:f>
                  </m:oMath>
                </a14:m>
                <a:r>
                  <a:rPr lang="zh-CN" altLang="en-US" dirty="0"/>
                  <a:t>：</a:t>
                </a:r>
                <a:endParaRPr lang="en-US" altLang="zh-CN" dirty="0"/>
              </a:p>
              <a:p>
                <a:pPr lvl="1"/>
                <a:r>
                  <a:rPr lang="en-US" altLang="zh-CN" dirty="0"/>
                  <a:t>-</a:t>
                </a:r>
                <a14:m>
                  <m:oMath xmlns:m="http://schemas.openxmlformats.org/officeDocument/2006/math">
                    <m:f>
                      <m:fPr>
                        <m:ctrlPr>
                          <a:rPr lang="en-US" altLang="zh-CN"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num>
                      <m:den>
                        <m:r>
                          <a:rPr lang="en-US" altLang="zh-CN" b="0" i="1" smtClean="0">
                            <a:latin typeface="Cambria Math" panose="02040503050406030204" pitchFamily="18" charset="0"/>
                          </a:rPr>
                          <m:t>100</m:t>
                        </m:r>
                      </m:den>
                    </m:f>
                    <m:r>
                      <a:rPr lang="en-US" altLang="zh-CN" i="1">
                        <a:latin typeface="Cambria Math" panose="02040503050406030204" pitchFamily="18" charset="0"/>
                      </a:rPr>
                      <m:t>∈(</m:t>
                    </m:r>
                    <m:r>
                      <a:rPr lang="en-US" altLang="zh-CN" i="1">
                        <a:latin typeface="Cambria Math" panose="02040503050406030204" pitchFamily="18" charset="0"/>
                      </a:rPr>
                      <m:t>0</m:t>
                    </m:r>
                    <m:r>
                      <a:rPr lang="en-US" altLang="zh-CN" i="1">
                        <a:latin typeface="Cambria Math" panose="02040503050406030204" pitchFamily="18" charset="0"/>
                      </a:rPr>
                      <m:t>,+</m:t>
                    </m:r>
                    <m:r>
                      <a:rPr lang="en-US" altLang="zh-CN" b="0" i="1" smtClean="0">
                        <a:latin typeface="Cambria Math" panose="02040503050406030204" pitchFamily="18" charset="0"/>
                      </a:rPr>
                      <m:t>∞)</m:t>
                    </m:r>
                  </m:oMath>
                </a14:m>
                <a:r>
                  <a:rPr lang="zh-CN" altLang="en-US" dirty="0"/>
                  <a:t>：仅</a:t>
                </a:r>
                <a:r>
                  <a:rPr lang="en-US" altLang="zh-CN" dirty="0"/>
                  <a:t> A</a:t>
                </a:r>
                <a:r>
                  <a:rPr lang="zh-CN" altLang="en-US" dirty="0"/>
                  <a:t>点</a:t>
                </a:r>
                <a:r>
                  <a:rPr lang="en-US" altLang="zh-CN" dirty="0"/>
                  <a:t>,</a:t>
                </a:r>
                <a:r>
                  <a:rPr lang="zh-CN" altLang="en-US" dirty="0"/>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r>
                      <a:rPr lang="en-US" altLang="zh-CN" i="1">
                        <a:latin typeface="Cambria Math" panose="02040503050406030204" pitchFamily="18" charset="0"/>
                      </a:rPr>
                      <m:t>∈(</m:t>
                    </m:r>
                    <m:r>
                      <a:rPr lang="en-US" altLang="zh-CN" b="0" i="1" smtClean="0">
                        <a:latin typeface="Cambria Math" panose="02040503050406030204" pitchFamily="18" charset="0"/>
                      </a:rPr>
                      <m:t>−∞,</m:t>
                    </m:r>
                    <m:r>
                      <a:rPr lang="en-US" altLang="zh-CN" i="1">
                        <a:latin typeface="Cambria Math" panose="02040503050406030204" pitchFamily="18" charset="0"/>
                      </a:rPr>
                      <m:t>0</m:t>
                    </m:r>
                    <m:r>
                      <a:rPr lang="en-US" altLang="zh-CN" i="1">
                        <a:latin typeface="Cambria Math" panose="02040503050406030204" pitchFamily="18" charset="0"/>
                      </a:rPr>
                      <m:t>)</m:t>
                    </m:r>
                  </m:oMath>
                </a14:m>
                <a:endParaRPr lang="en-US" dirty="0"/>
              </a:p>
              <a:p>
                <a:pPr lvl="1"/>
                <a:r>
                  <a:rPr lang="en-US" altLang="zh-CN" dirty="0"/>
                  <a:t>-</a:t>
                </a:r>
                <a14:m>
                  <m:oMath xmlns:m="http://schemas.openxmlformats.org/officeDocument/2006/math">
                    <m:f>
                      <m:fPr>
                        <m:ctrlPr>
                          <a:rPr lang="en-US" altLang="zh-CN"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num>
                      <m:den>
                        <m:r>
                          <a:rPr lang="en-US" altLang="zh-CN" b="0" i="1" smtClean="0">
                            <a:latin typeface="Cambria Math" panose="02040503050406030204" pitchFamily="18" charset="0"/>
                          </a:rPr>
                          <m:t>100</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0</m:t>
                    </m:r>
                  </m:oMath>
                </a14:m>
                <a:r>
                  <a:rPr lang="en-US" altLang="zh-CN" dirty="0"/>
                  <a:t>:</a:t>
                </a:r>
                <a:r>
                  <a:rPr lang="zh-CN" altLang="en-US" dirty="0"/>
                  <a:t> </a:t>
                </a:r>
                <a:r>
                  <a:rPr lang="en-US" altLang="zh-CN" dirty="0"/>
                  <a:t>AB</a:t>
                </a:r>
                <a:r>
                  <a:rPr lang="zh-CN" altLang="en-US" dirty="0"/>
                  <a:t>上</a:t>
                </a:r>
                <a:r>
                  <a:rPr lang="zh-CN" altLang="en-US" dirty="0">
                    <a:solidFill>
                      <a:srgbClr val="FF0000"/>
                    </a:solidFill>
                  </a:rPr>
                  <a:t>任意一点</a:t>
                </a:r>
                <a:r>
                  <a:rPr lang="zh-CN" altLang="en-US" dirty="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r>
                      <a:rPr lang="en-US" altLang="zh-CN" i="1">
                        <a:latin typeface="Cambria Math" panose="02040503050406030204" pitchFamily="18" charset="0"/>
                      </a:rPr>
                      <m:t>0</m:t>
                    </m:r>
                  </m:oMath>
                </a14:m>
                <a:endParaRPr lang="en-US" altLang="zh-CN" dirty="0"/>
              </a:p>
              <a:p>
                <a:pPr lvl="1"/>
                <a:r>
                  <a:rPr lang="en-US" altLang="zh-CN" dirty="0"/>
                  <a:t>-</a:t>
                </a:r>
                <a14:m>
                  <m:oMath xmlns:m="http://schemas.openxmlformats.org/officeDocument/2006/math">
                    <m:f>
                      <m:fPr>
                        <m:ctrlPr>
                          <a:rPr lang="en-US" altLang="zh-CN"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num>
                      <m:den>
                        <m:r>
                          <a:rPr lang="en-US" altLang="zh-CN" b="0" i="1" smtClean="0">
                            <a:latin typeface="Cambria Math" panose="02040503050406030204" pitchFamily="18" charset="0"/>
                          </a:rPr>
                          <m:t>100</m:t>
                        </m:r>
                      </m:den>
                    </m:f>
                    <m:r>
                      <a:rPr lang="en-US" altLang="zh-CN" i="1">
                        <a:latin typeface="Cambria Math" panose="02040503050406030204" pitchFamily="18" charset="0"/>
                      </a:rPr>
                      <m:t>∈</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oMath>
                </a14:m>
                <a:r>
                  <a:rPr lang="en-US" altLang="zh-CN" dirty="0"/>
                  <a:t>:</a:t>
                </a:r>
                <a:r>
                  <a:rPr lang="zh-CN" altLang="en-US" dirty="0"/>
                  <a:t> 仅</a:t>
                </a:r>
                <a:r>
                  <a:rPr lang="en-US" altLang="zh-CN" dirty="0"/>
                  <a:t>B</a:t>
                </a:r>
                <a:r>
                  <a:rPr lang="zh-CN" altLang="en-US" dirty="0"/>
                  <a:t>点，</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i="1" smtClean="0">
                        <a:latin typeface="Cambria Math" panose="02040503050406030204" pitchFamily="18" charset="0"/>
                      </a:rPr>
                      <m:t>(</m:t>
                    </m:r>
                    <m:r>
                      <a:rPr lang="en-US" altLang="zh-CN" b="0" i="1" smtClean="0">
                        <a:latin typeface="Cambria Math" panose="02040503050406030204" pitchFamily="18" charset="0"/>
                      </a:rPr>
                      <m:t>0</m:t>
                    </m:r>
                    <m:r>
                      <a:rPr lang="en-US" altLang="zh-CN" i="1">
                        <a:latin typeface="Cambria Math" panose="02040503050406030204" pitchFamily="18" charset="0"/>
                      </a:rPr>
                      <m:t>,</m:t>
                    </m:r>
                    <m:r>
                      <a:rPr lang="en-US" altLang="zh-CN" b="0" i="1" smtClean="0">
                        <a:latin typeface="Cambria Math" panose="02040503050406030204" pitchFamily="18" charset="0"/>
                      </a:rPr>
                      <m:t>10</m:t>
                    </m:r>
                    <m:r>
                      <a:rPr lang="en-US" altLang="zh-CN" i="1">
                        <a:latin typeface="Cambria Math" panose="02040503050406030204" pitchFamily="18" charset="0"/>
                      </a:rPr>
                      <m:t>0</m:t>
                    </m:r>
                    <m:r>
                      <a:rPr lang="en-US" altLang="zh-CN" i="1">
                        <a:latin typeface="Cambria Math" panose="02040503050406030204" pitchFamily="18" charset="0"/>
                      </a:rPr>
                      <m:t>)</m:t>
                    </m:r>
                  </m:oMath>
                </a14:m>
                <a:endParaRPr lang="en-US" altLang="zh-CN" dirty="0"/>
              </a:p>
              <a:p>
                <a:pPr lvl="1"/>
                <a:r>
                  <a:rPr lang="en-US" altLang="zh-CN" dirty="0"/>
                  <a:t>-</a:t>
                </a:r>
                <a14:m>
                  <m:oMath xmlns:m="http://schemas.openxmlformats.org/officeDocument/2006/math">
                    <m:f>
                      <m:fPr>
                        <m:ctrlPr>
                          <a:rPr lang="en-US" altLang="zh-CN"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num>
                      <m:den>
                        <m:r>
                          <a:rPr lang="en-US" altLang="zh-CN" b="0" i="1" smtClean="0">
                            <a:latin typeface="Cambria Math" panose="02040503050406030204" pitchFamily="18" charset="0"/>
                          </a:rPr>
                          <m:t>100</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1</m:t>
                    </m:r>
                  </m:oMath>
                </a14:m>
                <a:r>
                  <a:rPr lang="en-US" altLang="zh-CN" dirty="0"/>
                  <a:t>:</a:t>
                </a:r>
                <a:r>
                  <a:rPr lang="zh-CN" altLang="en-US" dirty="0"/>
                  <a:t> </a:t>
                </a:r>
                <a:r>
                  <a:rPr lang="en-US" altLang="zh-CN" dirty="0"/>
                  <a:t>BC</a:t>
                </a:r>
                <a:r>
                  <a:rPr lang="zh-CN" altLang="en-US" dirty="0"/>
                  <a:t>上</a:t>
                </a:r>
                <a:r>
                  <a:rPr lang="zh-CN" altLang="en-US" dirty="0">
                    <a:solidFill>
                      <a:srgbClr val="FF0000"/>
                    </a:solidFill>
                  </a:rPr>
                  <a:t>任意一点</a:t>
                </a:r>
                <a:r>
                  <a:rPr lang="zh-CN" altLang="en-US" dirty="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b="0" i="1" smtClean="0">
                        <a:latin typeface="Cambria Math" panose="02040503050406030204" pitchFamily="18" charset="0"/>
                      </a:rPr>
                      <m:t>10</m:t>
                    </m:r>
                    <m:r>
                      <a:rPr lang="en-US" altLang="zh-CN" i="1">
                        <a:latin typeface="Cambria Math" panose="02040503050406030204" pitchFamily="18" charset="0"/>
                      </a:rPr>
                      <m:t>0</m:t>
                    </m:r>
                  </m:oMath>
                </a14:m>
                <a:endParaRPr lang="en-US" altLang="zh-CN" dirty="0"/>
              </a:p>
              <a:p>
                <a:pPr lvl="1"/>
                <a:r>
                  <a:rPr lang="en-US" altLang="zh-CN" dirty="0"/>
                  <a:t>-</a:t>
                </a:r>
                <a14:m>
                  <m:oMath xmlns:m="http://schemas.openxmlformats.org/officeDocument/2006/math">
                    <m:f>
                      <m:fPr>
                        <m:ctrlPr>
                          <a:rPr lang="en-US" altLang="zh-CN"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num>
                      <m:den>
                        <m:r>
                          <a:rPr lang="en-US" altLang="zh-CN" b="0" i="1" smtClean="0">
                            <a:latin typeface="Cambria Math" panose="02040503050406030204" pitchFamily="18" charset="0"/>
                          </a:rPr>
                          <m:t>100</m:t>
                        </m:r>
                      </m:den>
                    </m:f>
                    <m:r>
                      <a:rPr lang="en-US" altLang="zh-CN" i="1">
                        <a:latin typeface="Cambria Math" panose="02040503050406030204" pitchFamily="18" charset="0"/>
                      </a:rPr>
                      <m:t>∈</m:t>
                    </m:r>
                    <m:r>
                      <a:rPr lang="en-US" altLang="zh-CN" b="0" i="1" smtClean="0">
                        <a:latin typeface="Cambria Math" panose="02040503050406030204" pitchFamily="18" charset="0"/>
                      </a:rPr>
                      <m:t>(−</m:t>
                    </m:r>
                    <m:r>
                      <a:rPr lang="en-US" altLang="zh-CN" b="0" i="1" smtClean="0">
                        <a:latin typeface="Cambria Math" panose="02040503050406030204" pitchFamily="18" charset="0"/>
                      </a:rPr>
                      <m:t>2</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oMath>
                </a14:m>
                <a:r>
                  <a:rPr lang="en-US" altLang="zh-CN" dirty="0"/>
                  <a:t>:</a:t>
                </a:r>
                <a:r>
                  <a:rPr lang="zh-CN" altLang="en-US" dirty="0"/>
                  <a:t> 仅</a:t>
                </a:r>
                <a:r>
                  <a:rPr lang="en-US" altLang="zh-CN" dirty="0"/>
                  <a:t>C</a:t>
                </a:r>
                <a:r>
                  <a:rPr lang="zh-CN" altLang="en-US" dirty="0"/>
                  <a:t>点，</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b="0" i="1" smtClean="0">
                        <a:latin typeface="Cambria Math" panose="02040503050406030204" pitchFamily="18" charset="0"/>
                      </a:rPr>
                      <m:t>100</m:t>
                    </m:r>
                    <m:r>
                      <a:rPr lang="en-US" altLang="zh-CN" i="1">
                        <a:latin typeface="Cambria Math" panose="02040503050406030204" pitchFamily="18" charset="0"/>
                      </a:rPr>
                      <m:t>,</m:t>
                    </m:r>
                    <m:r>
                      <a:rPr lang="en-US" altLang="zh-CN" b="0" i="1" smtClean="0">
                        <a:latin typeface="Cambria Math" panose="02040503050406030204" pitchFamily="18" charset="0"/>
                      </a:rPr>
                      <m:t>20</m:t>
                    </m:r>
                    <m:r>
                      <a:rPr lang="en-US" altLang="zh-CN" i="1">
                        <a:latin typeface="Cambria Math" panose="02040503050406030204" pitchFamily="18" charset="0"/>
                      </a:rPr>
                      <m:t>0</m:t>
                    </m:r>
                    <m:r>
                      <a:rPr lang="en-US" altLang="zh-CN" i="1">
                        <a:latin typeface="Cambria Math" panose="02040503050406030204" pitchFamily="18" charset="0"/>
                      </a:rPr>
                      <m:t>)</m:t>
                    </m:r>
                  </m:oMath>
                </a14:m>
                <a:endParaRPr lang="en-US" altLang="zh-CN" dirty="0"/>
              </a:p>
              <a:p>
                <a:pPr lvl="1"/>
                <a:r>
                  <a:rPr lang="en-US" altLang="zh-CN" dirty="0"/>
                  <a:t>-</a:t>
                </a:r>
                <a14:m>
                  <m:oMath xmlns:m="http://schemas.openxmlformats.org/officeDocument/2006/math">
                    <m:f>
                      <m:fPr>
                        <m:ctrlPr>
                          <a:rPr lang="en-US" altLang="zh-CN"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num>
                      <m:den>
                        <m:r>
                          <a:rPr lang="en-US" altLang="zh-CN" b="0" i="1" smtClean="0">
                            <a:latin typeface="Cambria Math" panose="02040503050406030204" pitchFamily="18" charset="0"/>
                          </a:rPr>
                          <m:t>100</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2</m:t>
                    </m:r>
                  </m:oMath>
                </a14:m>
                <a:r>
                  <a:rPr lang="en-US" altLang="zh-CN" dirty="0"/>
                  <a:t>:</a:t>
                </a:r>
                <a:r>
                  <a:rPr lang="zh-CN" altLang="en-US" dirty="0"/>
                  <a:t> </a:t>
                </a:r>
                <a:r>
                  <a:rPr lang="en-US" altLang="zh-CN" dirty="0"/>
                  <a:t>CD</a:t>
                </a:r>
                <a:r>
                  <a:rPr lang="zh-CN" altLang="en-US" dirty="0"/>
                  <a:t>上</a:t>
                </a:r>
                <a:r>
                  <a:rPr lang="zh-CN" altLang="en-US" dirty="0">
                    <a:solidFill>
                      <a:srgbClr val="FF0000"/>
                    </a:solidFill>
                  </a:rPr>
                  <a:t>任意一点</a:t>
                </a:r>
                <a:r>
                  <a:rPr lang="zh-CN" altLang="en-US" dirty="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b="0" i="1" smtClean="0">
                        <a:latin typeface="Cambria Math" panose="02040503050406030204" pitchFamily="18" charset="0"/>
                      </a:rPr>
                      <m:t>20</m:t>
                    </m:r>
                    <m:r>
                      <a:rPr lang="en-US" altLang="zh-CN" i="1">
                        <a:latin typeface="Cambria Math" panose="02040503050406030204" pitchFamily="18" charset="0"/>
                      </a:rPr>
                      <m:t>0</m:t>
                    </m:r>
                  </m:oMath>
                </a14:m>
                <a:endParaRPr lang="en-US" altLang="zh-CN" dirty="0"/>
              </a:p>
              <a:p>
                <a:pPr lvl="1"/>
                <a:r>
                  <a:rPr lang="en-US" altLang="zh-CN" dirty="0"/>
                  <a:t>-</a:t>
                </a:r>
                <a14:m>
                  <m:oMath xmlns:m="http://schemas.openxmlformats.org/officeDocument/2006/math">
                    <m:f>
                      <m:fPr>
                        <m:ctrlPr>
                          <a:rPr lang="en-US" altLang="zh-CN"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num>
                      <m:den>
                        <m:r>
                          <a:rPr lang="en-US" altLang="zh-CN" b="0" i="1" smtClean="0">
                            <a:latin typeface="Cambria Math" panose="02040503050406030204" pitchFamily="18" charset="0"/>
                          </a:rPr>
                          <m:t>100</m:t>
                        </m:r>
                      </m:den>
                    </m:f>
                    <m:r>
                      <a:rPr lang="en-US" altLang="zh-CN" i="1">
                        <a:latin typeface="Cambria Math" panose="02040503050406030204" pitchFamily="18" charset="0"/>
                      </a:rPr>
                      <m:t>∈</m:t>
                    </m:r>
                    <m:d>
                      <m:dPr>
                        <m:ctrlPr>
                          <a:rPr lang="en-US" altLang="zh-CN" b="0" i="1">
                            <a:latin typeface="Cambria Math" panose="02040503050406030204" pitchFamily="18" charset="0"/>
                          </a:rPr>
                        </m:ctrlPr>
                      </m:dPr>
                      <m:e>
                        <m:r>
                          <a:rPr lang="en-US" altLang="zh-CN" b="0" i="1" smtClean="0">
                            <a:latin typeface="Cambria Math" panose="02040503050406030204" pitchFamily="18" charset="0"/>
                          </a:rPr>
                          <m:t>−∞</m:t>
                        </m:r>
                        <m:r>
                          <a:rPr lang="en-US" altLang="zh-CN" i="1">
                            <a:latin typeface="Cambria Math" panose="02040503050406030204" pitchFamily="18" charset="0"/>
                          </a:rPr>
                          <m:t>,</m:t>
                        </m:r>
                        <m:r>
                          <a:rPr lang="en-US" altLang="zh-CN" b="0" i="1" smtClean="0">
                            <a:latin typeface="Cambria Math" panose="02040503050406030204" pitchFamily="18" charset="0"/>
                          </a:rPr>
                          <m:t>−</m:t>
                        </m:r>
                        <m:r>
                          <a:rPr lang="en-US" altLang="zh-CN" b="0" i="1" smtClean="0">
                            <a:latin typeface="Cambria Math" panose="02040503050406030204" pitchFamily="18" charset="0"/>
                          </a:rPr>
                          <m:t>2</m:t>
                        </m:r>
                      </m:e>
                    </m:d>
                  </m:oMath>
                </a14:m>
                <a:r>
                  <a:rPr lang="en-US" altLang="zh-CN" dirty="0"/>
                  <a:t>:</a:t>
                </a:r>
                <a:r>
                  <a:rPr lang="zh-CN" altLang="en-US" dirty="0"/>
                  <a:t> 仅</a:t>
                </a:r>
                <a:r>
                  <a:rPr lang="en-US" altLang="zh-CN" dirty="0"/>
                  <a:t>D</a:t>
                </a:r>
                <a:r>
                  <a:rPr lang="zh-CN" altLang="en-US" dirty="0"/>
                  <a:t>点，</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b="0" i="1" smtClean="0">
                        <a:latin typeface="Cambria Math" panose="02040503050406030204" pitchFamily="18" charset="0"/>
                      </a:rPr>
                      <m:t>200</m:t>
                    </m:r>
                    <m:r>
                      <a:rPr lang="en-US" altLang="zh-CN" i="1">
                        <a:latin typeface="Cambria Math" panose="02040503050406030204" pitchFamily="18" charset="0"/>
                      </a:rPr>
                      <m:t>,</m:t>
                    </m:r>
                    <m:r>
                      <a:rPr lang="en-US" altLang="zh-CN" b="0" i="1" smtClean="0">
                        <a:latin typeface="Cambria Math" panose="02040503050406030204" pitchFamily="18" charset="0"/>
                      </a:rPr>
                      <m:t>+∞</m:t>
                    </m:r>
                    <m:r>
                      <a:rPr lang="en-US" altLang="zh-CN" i="1">
                        <a:latin typeface="Cambria Math" panose="02040503050406030204" pitchFamily="18" charset="0"/>
                      </a:rPr>
                      <m:t>)</m:t>
                    </m:r>
                  </m:oMath>
                </a14:m>
                <a:endParaRPr lang="en-US"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dirty="0"/>
              </a:p>
              <a:p>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838200" y="1825625"/>
                <a:ext cx="5693410" cy="4351655"/>
              </a:xfrm>
              <a:blipFill rotWithShape="1">
                <a:blip r:embed="rId2"/>
                <a:stretch>
                  <a:fillRect t="-379" b="-22749"/>
                </a:stretch>
              </a:blipFill>
            </p:spPr>
            <p:txBody>
              <a:bodyPr/>
              <a:lstStyle/>
              <a:p>
                <a:r>
                  <a:rPr lang="zh-CN" altLang="en-US">
                    <a:noFill/>
                  </a:rPr>
                  <a:t> </a:t>
                </a:r>
              </a:p>
            </p:txBody>
          </p:sp>
        </mc:Fallback>
      </mc:AlternateContent>
      <p:sp>
        <p:nvSpPr>
          <p:cNvPr id="10" name="Line 5"/>
          <p:cNvSpPr>
            <a:spLocks noChangeShapeType="1"/>
          </p:cNvSpPr>
          <p:nvPr/>
        </p:nvSpPr>
        <p:spPr bwMode="auto">
          <a:xfrm>
            <a:off x="6226175" y="5010150"/>
            <a:ext cx="4343400" cy="0"/>
          </a:xfrm>
          <a:prstGeom prst="line">
            <a:avLst/>
          </a:prstGeom>
          <a:noFill/>
          <a:ln w="47625">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 name="Line 6"/>
          <p:cNvSpPr>
            <a:spLocks noChangeShapeType="1"/>
          </p:cNvSpPr>
          <p:nvPr/>
        </p:nvSpPr>
        <p:spPr bwMode="auto">
          <a:xfrm flipV="1">
            <a:off x="6957060" y="2343150"/>
            <a:ext cx="0" cy="3048000"/>
          </a:xfrm>
          <a:prstGeom prst="line">
            <a:avLst/>
          </a:prstGeom>
          <a:noFill/>
          <a:ln w="47625">
            <a:solidFill>
              <a:srgbClr val="0000FF"/>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 name="Line 9"/>
          <p:cNvSpPr>
            <a:spLocks noChangeShapeType="1"/>
          </p:cNvSpPr>
          <p:nvPr/>
        </p:nvSpPr>
        <p:spPr bwMode="auto">
          <a:xfrm>
            <a:off x="6957060" y="2571750"/>
            <a:ext cx="228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5" name="Text Box 10"/>
          <p:cNvSpPr txBox="1">
            <a:spLocks noChangeArrowheads="1"/>
          </p:cNvSpPr>
          <p:nvPr/>
        </p:nvSpPr>
        <p:spPr bwMode="auto">
          <a:xfrm>
            <a:off x="6042660" y="417195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dirty="0"/>
              <a:t>100</a:t>
            </a:r>
            <a:endParaRPr lang="en-US" altLang="zh-CN" dirty="0"/>
          </a:p>
        </p:txBody>
      </p:sp>
      <p:sp>
        <p:nvSpPr>
          <p:cNvPr id="16" name="Text Box 11"/>
          <p:cNvSpPr txBox="1">
            <a:spLocks noChangeArrowheads="1"/>
          </p:cNvSpPr>
          <p:nvPr/>
        </p:nvSpPr>
        <p:spPr bwMode="auto">
          <a:xfrm>
            <a:off x="6271259" y="234315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dirty="0"/>
              <a:t>400</a:t>
            </a:r>
            <a:endParaRPr lang="en-US" altLang="zh-CN" dirty="0"/>
          </a:p>
        </p:txBody>
      </p:sp>
      <p:sp>
        <p:nvSpPr>
          <p:cNvPr id="17" name="Text Box 12"/>
          <p:cNvSpPr txBox="1">
            <a:spLocks noChangeArrowheads="1"/>
          </p:cNvSpPr>
          <p:nvPr/>
        </p:nvSpPr>
        <p:spPr bwMode="auto">
          <a:xfrm>
            <a:off x="7261860" y="455295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100</a:t>
            </a:r>
            <a:endParaRPr lang="en-US" altLang="zh-CN"/>
          </a:p>
        </p:txBody>
      </p:sp>
      <p:sp>
        <p:nvSpPr>
          <p:cNvPr id="18" name="Text Box 13"/>
          <p:cNvSpPr txBox="1">
            <a:spLocks noChangeArrowheads="1"/>
          </p:cNvSpPr>
          <p:nvPr/>
        </p:nvSpPr>
        <p:spPr bwMode="auto">
          <a:xfrm>
            <a:off x="8633460" y="455295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300</a:t>
            </a:r>
            <a:endParaRPr lang="en-US" altLang="zh-CN"/>
          </a:p>
        </p:txBody>
      </p:sp>
      <p:sp>
        <p:nvSpPr>
          <p:cNvPr id="19" name="Text Box 24"/>
          <p:cNvSpPr txBox="1">
            <a:spLocks noChangeArrowheads="1"/>
          </p:cNvSpPr>
          <p:nvPr/>
        </p:nvSpPr>
        <p:spPr bwMode="auto">
          <a:xfrm>
            <a:off x="10081260" y="447675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x</a:t>
            </a:r>
            <a:r>
              <a:rPr lang="en-US" altLang="zh-CN" baseline="-25000"/>
              <a:t>1</a:t>
            </a:r>
            <a:endParaRPr lang="en-US" altLang="zh-CN"/>
          </a:p>
        </p:txBody>
      </p:sp>
      <p:sp>
        <p:nvSpPr>
          <p:cNvPr id="20" name="Text Box 25"/>
          <p:cNvSpPr txBox="1">
            <a:spLocks noChangeArrowheads="1"/>
          </p:cNvSpPr>
          <p:nvPr/>
        </p:nvSpPr>
        <p:spPr bwMode="auto">
          <a:xfrm>
            <a:off x="7261860" y="219075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x</a:t>
            </a:r>
            <a:r>
              <a:rPr lang="en-US" altLang="zh-CN" baseline="-25000"/>
              <a:t>2</a:t>
            </a:r>
            <a:endParaRPr lang="en-US" altLang="zh-CN"/>
          </a:p>
        </p:txBody>
      </p:sp>
      <p:sp>
        <p:nvSpPr>
          <p:cNvPr id="21" name="Line 26"/>
          <p:cNvSpPr>
            <a:spLocks noChangeShapeType="1"/>
          </p:cNvSpPr>
          <p:nvPr/>
        </p:nvSpPr>
        <p:spPr bwMode="auto">
          <a:xfrm>
            <a:off x="7566660" y="5010150"/>
            <a:ext cx="0" cy="76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27"/>
          <p:cNvSpPr>
            <a:spLocks noChangeShapeType="1"/>
          </p:cNvSpPr>
          <p:nvPr/>
        </p:nvSpPr>
        <p:spPr bwMode="auto">
          <a:xfrm>
            <a:off x="8785860" y="4933950"/>
            <a:ext cx="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28"/>
          <p:cNvSpPr>
            <a:spLocks noChangeShapeType="1"/>
          </p:cNvSpPr>
          <p:nvPr/>
        </p:nvSpPr>
        <p:spPr bwMode="auto">
          <a:xfrm>
            <a:off x="6957060" y="4400550"/>
            <a:ext cx="152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4" name="Line 34"/>
          <p:cNvSpPr>
            <a:spLocks noChangeShapeType="1"/>
          </p:cNvSpPr>
          <p:nvPr/>
        </p:nvSpPr>
        <p:spPr bwMode="auto">
          <a:xfrm>
            <a:off x="6139180" y="3486150"/>
            <a:ext cx="5122545" cy="635"/>
          </a:xfrm>
          <a:prstGeom prst="line">
            <a:avLst/>
          </a:prstGeom>
          <a:noFill/>
          <a:ln w="31750">
            <a:solidFill>
              <a:srgbClr val="00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5" name="Line 36"/>
          <p:cNvSpPr>
            <a:spLocks noChangeShapeType="1"/>
          </p:cNvSpPr>
          <p:nvPr/>
        </p:nvSpPr>
        <p:spPr bwMode="auto">
          <a:xfrm>
            <a:off x="6576060" y="2800350"/>
            <a:ext cx="2895600" cy="2895600"/>
          </a:xfrm>
          <a:prstGeom prst="line">
            <a:avLst/>
          </a:prstGeom>
          <a:noFill/>
          <a:ln w="31750">
            <a:solidFill>
              <a:srgbClr val="00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6" name="Line 37"/>
          <p:cNvSpPr>
            <a:spLocks noChangeShapeType="1"/>
          </p:cNvSpPr>
          <p:nvPr/>
        </p:nvSpPr>
        <p:spPr bwMode="auto">
          <a:xfrm>
            <a:off x="6728460" y="2114550"/>
            <a:ext cx="1905000" cy="3810000"/>
          </a:xfrm>
          <a:prstGeom prst="line">
            <a:avLst/>
          </a:prstGeom>
          <a:noFill/>
          <a:ln w="31750">
            <a:solidFill>
              <a:srgbClr val="00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7" name="Line 38"/>
          <p:cNvSpPr>
            <a:spLocks noChangeShapeType="1"/>
          </p:cNvSpPr>
          <p:nvPr/>
        </p:nvSpPr>
        <p:spPr bwMode="auto">
          <a:xfrm flipH="1">
            <a:off x="6957060" y="3486150"/>
            <a:ext cx="152400" cy="2286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8" name="Line 39"/>
          <p:cNvSpPr>
            <a:spLocks noChangeShapeType="1"/>
          </p:cNvSpPr>
          <p:nvPr/>
        </p:nvSpPr>
        <p:spPr bwMode="auto">
          <a:xfrm flipH="1">
            <a:off x="6957060" y="3562350"/>
            <a:ext cx="304800" cy="6096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9" name="Line 40"/>
          <p:cNvSpPr>
            <a:spLocks noChangeShapeType="1"/>
          </p:cNvSpPr>
          <p:nvPr/>
        </p:nvSpPr>
        <p:spPr bwMode="auto">
          <a:xfrm flipH="1">
            <a:off x="6957060" y="3714750"/>
            <a:ext cx="533400" cy="9144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0" name="Line 41"/>
          <p:cNvSpPr>
            <a:spLocks noChangeShapeType="1"/>
          </p:cNvSpPr>
          <p:nvPr/>
        </p:nvSpPr>
        <p:spPr bwMode="auto">
          <a:xfrm flipH="1">
            <a:off x="7109460" y="4019550"/>
            <a:ext cx="533400" cy="9906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1" name="Line 43"/>
          <p:cNvSpPr>
            <a:spLocks noChangeShapeType="1"/>
          </p:cNvSpPr>
          <p:nvPr/>
        </p:nvSpPr>
        <p:spPr bwMode="auto">
          <a:xfrm flipH="1">
            <a:off x="7414260" y="4248150"/>
            <a:ext cx="381000" cy="7620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2" name="Line 44"/>
          <p:cNvSpPr>
            <a:spLocks noChangeShapeType="1"/>
          </p:cNvSpPr>
          <p:nvPr/>
        </p:nvSpPr>
        <p:spPr bwMode="auto">
          <a:xfrm flipH="1">
            <a:off x="7642860" y="4476750"/>
            <a:ext cx="228600" cy="5334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3" name="Line 45"/>
          <p:cNvSpPr>
            <a:spLocks noChangeShapeType="1"/>
          </p:cNvSpPr>
          <p:nvPr/>
        </p:nvSpPr>
        <p:spPr bwMode="auto">
          <a:xfrm flipH="1">
            <a:off x="7871460" y="4705350"/>
            <a:ext cx="152400" cy="304800"/>
          </a:xfrm>
          <a:prstGeom prst="line">
            <a:avLst/>
          </a:prstGeom>
          <a:noFill/>
          <a:ln w="12700">
            <a:solidFill>
              <a:srgbClr val="FF66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53" name="文本框 52"/>
          <p:cNvSpPr txBox="1"/>
          <p:nvPr/>
        </p:nvSpPr>
        <p:spPr>
          <a:xfrm>
            <a:off x="6602094" y="3366374"/>
            <a:ext cx="238125" cy="369332"/>
          </a:xfrm>
          <a:prstGeom prst="rect">
            <a:avLst/>
          </a:prstGeom>
          <a:noFill/>
        </p:spPr>
        <p:txBody>
          <a:bodyPr wrap="square" rtlCol="0">
            <a:spAutoFit/>
          </a:bodyPr>
          <a:lstStyle/>
          <a:p>
            <a:r>
              <a:rPr lang="en-US" altLang="zh-CN" dirty="0"/>
              <a:t>A</a:t>
            </a:r>
            <a:endParaRPr lang="zh-CN" altLang="en-US" dirty="0"/>
          </a:p>
        </p:txBody>
      </p:sp>
      <p:sp>
        <p:nvSpPr>
          <p:cNvPr id="54" name="文本框 53"/>
          <p:cNvSpPr txBox="1"/>
          <p:nvPr/>
        </p:nvSpPr>
        <p:spPr>
          <a:xfrm>
            <a:off x="7108508" y="3206235"/>
            <a:ext cx="238125" cy="369332"/>
          </a:xfrm>
          <a:prstGeom prst="rect">
            <a:avLst/>
          </a:prstGeom>
          <a:noFill/>
        </p:spPr>
        <p:txBody>
          <a:bodyPr wrap="square" rtlCol="0">
            <a:spAutoFit/>
          </a:bodyPr>
          <a:lstStyle/>
          <a:p>
            <a:r>
              <a:rPr lang="en-US" altLang="zh-CN" dirty="0"/>
              <a:t>B</a:t>
            </a:r>
            <a:endParaRPr lang="zh-CN" altLang="en-US" dirty="0"/>
          </a:p>
        </p:txBody>
      </p:sp>
      <p:sp>
        <p:nvSpPr>
          <p:cNvPr id="56" name="文本框 55"/>
          <p:cNvSpPr txBox="1"/>
          <p:nvPr/>
        </p:nvSpPr>
        <p:spPr>
          <a:xfrm>
            <a:off x="7530465" y="3506072"/>
            <a:ext cx="238125" cy="369332"/>
          </a:xfrm>
          <a:prstGeom prst="rect">
            <a:avLst/>
          </a:prstGeom>
          <a:noFill/>
        </p:spPr>
        <p:txBody>
          <a:bodyPr wrap="square" rtlCol="0">
            <a:spAutoFit/>
          </a:bodyPr>
          <a:lstStyle/>
          <a:p>
            <a:r>
              <a:rPr lang="en-US" altLang="zh-CN" dirty="0"/>
              <a:t>C</a:t>
            </a:r>
            <a:endParaRPr lang="zh-CN" altLang="en-US" dirty="0"/>
          </a:p>
        </p:txBody>
      </p:sp>
      <p:sp>
        <p:nvSpPr>
          <p:cNvPr id="64" name="文本框 63"/>
          <p:cNvSpPr txBox="1"/>
          <p:nvPr/>
        </p:nvSpPr>
        <p:spPr>
          <a:xfrm>
            <a:off x="6299835" y="4008952"/>
            <a:ext cx="238125" cy="369332"/>
          </a:xfrm>
          <a:prstGeom prst="rect">
            <a:avLst/>
          </a:prstGeom>
          <a:noFill/>
        </p:spPr>
        <p:txBody>
          <a:bodyPr wrap="square" rtlCol="0">
            <a:spAutoFit/>
          </a:bodyPr>
          <a:lstStyle/>
          <a:p>
            <a:r>
              <a:rPr lang="en-US" altLang="zh-CN" dirty="0"/>
              <a:t>I</a:t>
            </a:r>
            <a:endParaRPr lang="zh-CN" altLang="en-US" dirty="0"/>
          </a:p>
        </p:txBody>
      </p:sp>
      <p:sp>
        <p:nvSpPr>
          <p:cNvPr id="66" name="文本框 65"/>
          <p:cNvSpPr txBox="1"/>
          <p:nvPr/>
        </p:nvSpPr>
        <p:spPr>
          <a:xfrm>
            <a:off x="7820421" y="5151091"/>
            <a:ext cx="238125" cy="368300"/>
          </a:xfrm>
          <a:prstGeom prst="rect">
            <a:avLst/>
          </a:prstGeom>
          <a:noFill/>
        </p:spPr>
        <p:txBody>
          <a:bodyPr wrap="square" rtlCol="0">
            <a:spAutoFit/>
          </a:bodyPr>
          <a:lstStyle/>
          <a:p>
            <a:r>
              <a:rPr lang="en-US" altLang="zh-CN" dirty="0"/>
              <a:t>D</a:t>
            </a:r>
            <a:endParaRPr lang="zh-CN" altLang="en-US" dirty="0"/>
          </a:p>
        </p:txBody>
      </p:sp>
      <mc:AlternateContent xmlns:mc="http://schemas.openxmlformats.org/markup-compatibility/2006">
        <mc:Choice xmlns:a14="http://schemas.microsoft.com/office/drawing/2010/main" Requires="a14">
          <p:sp>
            <p:nvSpPr>
              <p:cNvPr id="41" name="文本框 40"/>
              <p:cNvSpPr txBox="1"/>
              <p:nvPr/>
            </p:nvSpPr>
            <p:spPr>
              <a:xfrm>
                <a:off x="9267037" y="5671750"/>
                <a:ext cx="1476045"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300</m:t>
                      </m:r>
                    </m:oMath>
                  </m:oMathPara>
                </a14:m>
                <a:endParaRPr lang="zh-CN" altLang="en-US" dirty="0"/>
              </a:p>
            </p:txBody>
          </p:sp>
        </mc:Choice>
        <mc:Fallback>
          <p:sp>
            <p:nvSpPr>
              <p:cNvPr id="41" name="文本框 40"/>
              <p:cNvSpPr txBox="1">
                <a:spLocks noRot="1" noChangeAspect="1" noMove="1" noResize="1" noEditPoints="1" noAdjustHandles="1" noChangeArrowheads="1" noChangeShapeType="1" noTextEdit="1"/>
              </p:cNvSpPr>
              <p:nvPr/>
            </p:nvSpPr>
            <p:spPr>
              <a:xfrm>
                <a:off x="9267037" y="5671750"/>
                <a:ext cx="1476045" cy="276999"/>
              </a:xfrm>
              <a:prstGeom prst="rect">
                <a:avLst/>
              </a:prstGeom>
              <a:blipFill rotWithShape="1">
                <a:blip r:embed="rId3"/>
                <a:stretch>
                  <a:fillRect l="-33" t="-204" r="-4249" b="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2" name="文本框 41"/>
              <p:cNvSpPr txBox="1"/>
              <p:nvPr/>
            </p:nvSpPr>
            <p:spPr>
              <a:xfrm>
                <a:off x="7566660" y="5856069"/>
                <a:ext cx="1604285"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2</m:t>
                          </m:r>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400</m:t>
                      </m:r>
                    </m:oMath>
                  </m:oMathPara>
                </a14:m>
                <a:endParaRPr lang="zh-CN" altLang="en-US" dirty="0"/>
              </a:p>
            </p:txBody>
          </p:sp>
        </mc:Choice>
        <mc:Fallback>
          <p:sp>
            <p:nvSpPr>
              <p:cNvPr id="42" name="文本框 41"/>
              <p:cNvSpPr txBox="1">
                <a:spLocks noRot="1" noChangeAspect="1" noMove="1" noResize="1" noEditPoints="1" noAdjustHandles="1" noChangeArrowheads="1" noChangeShapeType="1" noTextEdit="1"/>
              </p:cNvSpPr>
              <p:nvPr/>
            </p:nvSpPr>
            <p:spPr>
              <a:xfrm>
                <a:off x="7566660" y="5856069"/>
                <a:ext cx="1604285" cy="276999"/>
              </a:xfrm>
              <a:prstGeom prst="rect">
                <a:avLst/>
              </a:prstGeom>
              <a:blipFill rotWithShape="1">
                <a:blip r:embed="rId4"/>
                <a:stretch>
                  <a:fillRect t="-36" r="-3901" b="8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3" name="文本框 42"/>
              <p:cNvSpPr txBox="1"/>
              <p:nvPr/>
            </p:nvSpPr>
            <p:spPr>
              <a:xfrm>
                <a:off x="11153456" y="3141723"/>
                <a:ext cx="977127"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250</m:t>
                      </m:r>
                    </m:oMath>
                  </m:oMathPara>
                </a14:m>
                <a:endParaRPr lang="zh-CN" altLang="en-US" dirty="0"/>
              </a:p>
            </p:txBody>
          </p:sp>
        </mc:Choice>
        <mc:Fallback>
          <p:sp>
            <p:nvSpPr>
              <p:cNvPr id="43" name="文本框 42"/>
              <p:cNvSpPr txBox="1">
                <a:spLocks noRot="1" noChangeAspect="1" noMove="1" noResize="1" noEditPoints="1" noAdjustHandles="1" noChangeArrowheads="1" noChangeShapeType="1" noTextEdit="1"/>
              </p:cNvSpPr>
              <p:nvPr/>
            </p:nvSpPr>
            <p:spPr>
              <a:xfrm>
                <a:off x="11153456" y="3141723"/>
                <a:ext cx="977127" cy="276999"/>
              </a:xfrm>
              <a:prstGeom prst="rect">
                <a:avLst/>
              </a:prstGeom>
              <a:blipFill rotWithShape="1">
                <a:blip r:embed="rId5"/>
                <a:stretch>
                  <a:fillRect l="-32" t="-136" r="-6480" b="18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500"/>
                                        <p:tgtEl>
                                          <p:spTgt spid="3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500"/>
                                        <p:tgtEl>
                                          <p:spTgt spid="3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6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ldLvl="0" animBg="1"/>
      <p:bldP spid="28" grpId="0" bldLvl="0" animBg="1"/>
      <p:bldP spid="29" grpId="0" bldLvl="0" animBg="1"/>
      <p:bldP spid="30" grpId="0" bldLvl="0" animBg="1"/>
      <p:bldP spid="31" grpId="0" bldLvl="0" animBg="1"/>
      <p:bldP spid="32" grpId="0" bldLvl="0" animBg="1"/>
      <p:bldP spid="33"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ja-JP" alt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rPr>
                  <a:t>假设</a:t>
                </a:r>
                <a14:m>
                  <m:oMath xmlns:m="http://schemas.openxmlformats.org/officeDocument/2006/math">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𝑐</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50</m:t>
                    </m:r>
                  </m:oMath>
                </a14:m>
                <a:r>
                  <a:rPr lang="en-US" sz="2600" dirty="0" err="1">
                    <a:solidFill>
                      <a:srgbClr val="000000"/>
                    </a:solidFill>
                    <a:latin typeface="楷体" panose="02010609060101010101" pitchFamily="49" charset="-122"/>
                    <a:ea typeface="楷体" panose="02010609060101010101" pitchFamily="49" charset="-122"/>
                    <a:sym typeface="微软雅黑" panose="020B0503020204020204" pitchFamily="34" charset="-122"/>
                  </a:rPr>
                  <a:t>不变</a:t>
                </a:r>
                <a:r>
                  <a:rPr lang="zh-CN" alt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rPr>
                  <a:t>，求</a:t>
                </a:r>
                <a14:m>
                  <m:oMath xmlns:m="http://schemas.openxmlformats.org/officeDocument/2006/math">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𝑐</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oMath>
                </a14:m>
                <a:r>
                  <a:rPr lang="en-US" sz="2600" dirty="0" err="1">
                    <a:solidFill>
                      <a:srgbClr val="000000"/>
                    </a:solidFill>
                    <a:latin typeface="楷体" panose="02010609060101010101" pitchFamily="49" charset="-122"/>
                    <a:ea typeface="楷体" panose="02010609060101010101" pitchFamily="49" charset="-122"/>
                    <a:sym typeface="微软雅黑" panose="020B0503020204020204" pitchFamily="34" charset="-122"/>
                  </a:rPr>
                  <a:t>在下列哪种情况下</a:t>
                </a:r>
                <a:r>
                  <a:rPr lang="zh-CN" alt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rPr>
                  <a:t>，</a:t>
                </a:r>
                <a:r>
                  <a:rPr lang="en-US" altLang="zh-CN"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rPr>
                  <a:t>B</a:t>
                </a:r>
                <a:r>
                  <a:rPr lang="zh-CN" alt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rPr>
                  <a:t>是</a:t>
                </a:r>
                <a:r>
                  <a:rPr 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rPr>
                  <a:t>例</a:t>
                </a:r>
                <a:r>
                  <a:rPr lang="en-US" altLang="zh-CN"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rPr>
                  <a:t>1</a:t>
                </a:r>
                <a:r>
                  <a:rPr lang="zh-CN" alt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rPr>
                  <a:t>问题的</a:t>
                </a:r>
                <a:r>
                  <a:rPr lang="en-US" sz="2600" dirty="0" err="1">
                    <a:solidFill>
                      <a:srgbClr val="000000"/>
                    </a:solidFill>
                    <a:latin typeface="楷体" panose="02010609060101010101" pitchFamily="49" charset="-122"/>
                    <a:ea typeface="楷体" panose="02010609060101010101" pitchFamily="49" charset="-122"/>
                    <a:sym typeface="微软雅黑" panose="020B0503020204020204" pitchFamily="34" charset="-122"/>
                  </a:rPr>
                  <a:t>最优解</a:t>
                </a:r>
                <a:r>
                  <a:rPr lang="zh-CN" alt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rPr>
                  <a:t>？</a:t>
                </a:r>
                <a:endParaRPr 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endParaRPr>
              </a:p>
            </p:txBody>
          </p:sp>
        </mc:Choice>
        <mc:Fallback>
          <p:sp>
            <p:nvSpPr>
              <p:cNvPr id="9" name="TextBox 8"/>
              <p:cNvSpPr txBox="1">
                <a:spLocks noRot="1" noChangeAspect="1" noMove="1" noResize="1" noEditPoints="1" noAdjustHandles="1" noChangeArrowheads="1" noChangeShapeType="1" noTextEdit="1"/>
              </p:cNvSpPr>
              <p:nvPr>
                <p:custDataLst>
                  <p:tags r:id="rId2"/>
                </p:custDataLst>
              </p:nvPr>
            </p:nvSpPr>
            <p:spPr>
              <a:xfrm>
                <a:off x="1219200" y="635000"/>
                <a:ext cx="9753600" cy="214312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custDataLst>
                  <p:tags r:id="rId4"/>
                </p:custDataLst>
              </p:nvPr>
            </p:nvSpPr>
            <p:spPr>
              <a:xfrm>
                <a:off x="2438400" y="2786063"/>
                <a:ext cx="8534400" cy="642938"/>
              </a:xfrm>
              <a:prstGeom prst="rect">
                <a:avLst/>
              </a:prstGeom>
              <a:noFill/>
            </p:spPr>
            <p:txBody>
              <a:bodyPr vert="horz" rtlCol="0" anchor="ctr" anchorCtr="0">
                <a:noAutofit/>
              </a:bodyPr>
              <a:lstStyle/>
              <a:p>
                <a14:m>
                  <m:oMathPara xmlns:m="http://schemas.openxmlformats.org/officeDocument/2006/math">
                    <m:oMathParaPr>
                      <m:jc m:val="centerGroup"/>
                    </m:oMathParaPr>
                    <m:oMath xmlns:m="http://schemas.openxmlformats.org/officeDocument/2006/math">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𝑐</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50</m:t>
                      </m:r>
                    </m:oMath>
                  </m:oMathPara>
                </a14:m>
                <a:endParaRPr 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endParaRPr>
              </a:p>
            </p:txBody>
          </p:sp>
        </mc:Choice>
        <mc:Fallback>
          <p:sp>
            <p:nvSpPr>
              <p:cNvPr id="10" name="TextBox 9"/>
              <p:cNvSpPr txBox="1">
                <a:spLocks noRot="1" noChangeAspect="1" noMove="1" noResize="1" noEditPoints="1" noAdjustHandles="1" noChangeArrowheads="1" noChangeShapeType="1" noTextEdit="1"/>
              </p:cNvSpPr>
              <p:nvPr>
                <p:custDataLst>
                  <p:tags r:id="rId5"/>
                </p:custDataLst>
              </p:nvPr>
            </p:nvSpPr>
            <p:spPr>
              <a:xfrm>
                <a:off x="2438400" y="2786063"/>
                <a:ext cx="8534400" cy="642938"/>
              </a:xfrm>
              <a:prstGeom prst="rect">
                <a:avLst/>
              </a:prstGeom>
              <a:blipFill rotWithShape="1">
                <a:blip r:embed="rId6"/>
                <a:stretch>
                  <a:fillRect t="-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custDataLst>
                  <p:tags r:id="rId7"/>
                </p:custDataLst>
              </p:nvPr>
            </p:nvSpPr>
            <p:spPr>
              <a:xfrm>
                <a:off x="2438400" y="3643313"/>
                <a:ext cx="8534400" cy="642938"/>
              </a:xfrm>
              <a:prstGeom prst="rect">
                <a:avLst/>
              </a:prstGeom>
              <a:noFill/>
            </p:spPr>
            <p:txBody>
              <a:bodyPr vert="horz" rtlCol="0" anchor="ctr" anchorCtr="0">
                <a:noAutofit/>
              </a:bodyPr>
              <a:lstStyle/>
              <a:p>
                <a14:m>
                  <m:oMathPara xmlns:m="http://schemas.openxmlformats.org/officeDocument/2006/math">
                    <m:oMathParaPr>
                      <m:jc m:val="centerGroup"/>
                    </m:oMathParaPr>
                    <m:oMath xmlns:m="http://schemas.openxmlformats.org/officeDocument/2006/math">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𝑐</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100</m:t>
                      </m:r>
                    </m:oMath>
                  </m:oMathPara>
                </a14:m>
                <a:endParaRPr 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endParaRPr>
              </a:p>
            </p:txBody>
          </p:sp>
        </mc:Choice>
        <mc:Fallback>
          <p:sp>
            <p:nvSpPr>
              <p:cNvPr id="11" name="TextBox 10"/>
              <p:cNvSpPr txBox="1">
                <a:spLocks noRot="1" noChangeAspect="1" noMove="1" noResize="1" noEditPoints="1" noAdjustHandles="1" noChangeArrowheads="1" noChangeShapeType="1" noTextEdit="1"/>
              </p:cNvSpPr>
              <p:nvPr>
                <p:custDataLst>
                  <p:tags r:id="rId8"/>
                </p:custDataLst>
              </p:nvPr>
            </p:nvSpPr>
            <p:spPr>
              <a:xfrm>
                <a:off x="2438400" y="3643313"/>
                <a:ext cx="8534400" cy="642938"/>
              </a:xfrm>
              <a:prstGeom prst="rect">
                <a:avLst/>
              </a:prstGeom>
              <a:blipFill rotWithShape="1">
                <a:blip r:embed="rId9"/>
                <a:stretch>
                  <a:fillRect t="-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TextBox 11"/>
              <p:cNvSpPr txBox="1"/>
              <p:nvPr>
                <p:custDataLst>
                  <p:tags r:id="rId10"/>
                </p:custDataLst>
              </p:nvPr>
            </p:nvSpPr>
            <p:spPr>
              <a:xfrm>
                <a:off x="2438400" y="4500563"/>
                <a:ext cx="8534400" cy="642938"/>
              </a:xfrm>
              <a:prstGeom prst="rect">
                <a:avLst/>
              </a:prstGeom>
              <a:noFill/>
            </p:spPr>
            <p:txBody>
              <a:bodyPr vert="horz" rtlCol="0" anchor="ctr" anchorCtr="0">
                <a:noAutofit/>
              </a:bodyPr>
              <a:lstStyle/>
              <a:p>
                <a14:m>
                  <m:oMathPara xmlns:m="http://schemas.openxmlformats.org/officeDocument/2006/math">
                    <m:oMathParaPr>
                      <m:jc m:val="centerGroup"/>
                    </m:oMathParaPr>
                    <m:oMath xmlns:m="http://schemas.openxmlformats.org/officeDocument/2006/math">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𝑐</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150</m:t>
                      </m:r>
                    </m:oMath>
                  </m:oMathPara>
                </a14:m>
                <a:endParaRPr 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endParaRPr>
              </a:p>
            </p:txBody>
          </p:sp>
        </mc:Choice>
        <mc:Fallback>
          <p:sp>
            <p:nvSpPr>
              <p:cNvPr id="12" name="TextBox 11"/>
              <p:cNvSpPr txBox="1">
                <a:spLocks noRot="1" noChangeAspect="1" noMove="1" noResize="1" noEditPoints="1" noAdjustHandles="1" noChangeArrowheads="1" noChangeShapeType="1" noTextEdit="1"/>
              </p:cNvSpPr>
              <p:nvPr>
                <p:custDataLst>
                  <p:tags r:id="rId11"/>
                </p:custDataLst>
              </p:nvPr>
            </p:nvSpPr>
            <p:spPr>
              <a:xfrm>
                <a:off x="2438400" y="4500563"/>
                <a:ext cx="8534400" cy="642938"/>
              </a:xfrm>
              <a:prstGeom prst="rect">
                <a:avLst/>
              </a:prstGeom>
              <a:blipFill rotWithShape="1">
                <a:blip r:embed="rId12"/>
                <a:stretch>
                  <a:fillRect t="-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custDataLst>
                  <p:tags r:id="rId13"/>
                </p:custDataLst>
              </p:nvPr>
            </p:nvSpPr>
            <p:spPr>
              <a:xfrm>
                <a:off x="2438400" y="5357813"/>
                <a:ext cx="8534400" cy="642938"/>
              </a:xfrm>
              <a:prstGeom prst="rect">
                <a:avLst/>
              </a:prstGeom>
              <a:noFill/>
            </p:spPr>
            <p:txBody>
              <a:bodyPr vert="horz" rtlCol="0" anchor="ctr" anchorCtr="0">
                <a:noAutofit/>
              </a:bodyPr>
              <a:lstStyle/>
              <a:p>
                <a14:m>
                  <m:oMathPara xmlns:m="http://schemas.openxmlformats.org/officeDocument/2006/math">
                    <m:oMathParaPr>
                      <m:jc m:val="centerGroup"/>
                    </m:oMathParaPr>
                    <m:oMath xmlns:m="http://schemas.openxmlformats.org/officeDocument/2006/math">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𝑐</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40</m:t>
                      </m:r>
                    </m:oMath>
                  </m:oMathPara>
                </a14:m>
                <a:endParaRPr 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endParaRPr>
              </a:p>
            </p:txBody>
          </p:sp>
        </mc:Choice>
        <mc:Fallback>
          <p:sp>
            <p:nvSpPr>
              <p:cNvPr id="13" name="TextBox 12"/>
              <p:cNvSpPr txBox="1">
                <a:spLocks noRot="1" noChangeAspect="1" noMove="1" noResize="1" noEditPoints="1" noAdjustHandles="1" noChangeArrowheads="1" noChangeShapeType="1" noTextEdit="1"/>
              </p:cNvSpPr>
              <p:nvPr>
                <p:custDataLst>
                  <p:tags r:id="rId14"/>
                </p:custDataLst>
              </p:nvPr>
            </p:nvSpPr>
            <p:spPr>
              <a:xfrm>
                <a:off x="2438400" y="5357813"/>
                <a:ext cx="8534400" cy="642938"/>
              </a:xfrm>
              <a:prstGeom prst="rect">
                <a:avLst/>
              </a:prstGeom>
              <a:blipFill rotWithShape="1">
                <a:blip r:embed="rId15"/>
                <a:stretch>
                  <a:fillRect t="-49"/>
                </a:stretch>
              </a:blipFill>
            </p:spPr>
            <p:txBody>
              <a:bodyPr/>
              <a:lstStyle/>
              <a:p>
                <a:r>
                  <a:rPr lang="zh-CN" altLang="en-US">
                    <a:noFill/>
                  </a:rPr>
                  <a:t> </a:t>
                </a:r>
              </a:p>
            </p:txBody>
          </p:sp>
        </mc:Fallback>
      </mc:AlternateContent>
      <p:sp>
        <p:nvSpPr>
          <p:cNvPr id="17" name="Rectangle 16"/>
          <p:cNvSpPr>
            <a:spLocks noChangeAspect="1"/>
          </p:cNvSpPr>
          <p:nvPr>
            <p:custDataLst>
              <p:tags r:id="rId16"/>
            </p:custDataLst>
          </p:nvPr>
        </p:nvSpPr>
        <p:spPr>
          <a:xfrm>
            <a:off x="1571625" y="542210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楷体" panose="02010609060101010101" pitchFamily="49" charset="-122"/>
                <a:ea typeface="楷体" panose="02010609060101010101" pitchFamily="49" charset="-122"/>
                <a:sym typeface="微软雅黑" panose="020B0503020204020204" pitchFamily="34" charset="-122"/>
              </a:rPr>
              <a:t>D</a:t>
            </a:r>
            <a:endParaRPr lang="en-US" sz="1600">
              <a:solidFill>
                <a:srgbClr val="FFFFFF"/>
              </a:solidFill>
              <a:latin typeface="楷体" panose="02010609060101010101" pitchFamily="49" charset="-122"/>
              <a:ea typeface="楷体" panose="02010609060101010101" pitchFamily="49" charset="-122"/>
              <a:sym typeface="微软雅黑" panose="020B0503020204020204" pitchFamily="34" charset="-122"/>
            </a:endParaRPr>
          </a:p>
        </p:txBody>
      </p:sp>
      <p:sp>
        <p:nvSpPr>
          <p:cNvPr id="2" name="Rectangle 14"/>
          <p:cNvSpPr>
            <a:spLocks noChangeAspect="1"/>
          </p:cNvSpPr>
          <p:nvPr>
            <p:custDataLst>
              <p:tags r:id="rId17"/>
            </p:custDataLst>
          </p:nvPr>
        </p:nvSpPr>
        <p:spPr>
          <a:xfrm>
            <a:off x="1558290" y="302561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楷体" panose="02010609060101010101" pitchFamily="49" charset="-122"/>
                <a:ea typeface="楷体" panose="02010609060101010101" pitchFamily="49" charset="-122"/>
                <a:sym typeface="微软雅黑" panose="020B0503020204020204" pitchFamily="34" charset="-122"/>
              </a:rPr>
              <a:t>A</a:t>
            </a:r>
            <a:endParaRPr lang="en-US" sz="1600">
              <a:solidFill>
                <a:srgbClr val="FFFFFF"/>
              </a:solidFill>
              <a:latin typeface="楷体" panose="02010609060101010101" pitchFamily="49" charset="-122"/>
              <a:ea typeface="楷体" panose="02010609060101010101" pitchFamily="49" charset="-122"/>
              <a:sym typeface="微软雅黑" panose="020B0503020204020204" pitchFamily="34" charset="-122"/>
            </a:endParaRPr>
          </a:p>
        </p:txBody>
      </p:sp>
      <p:sp>
        <p:nvSpPr>
          <p:cNvPr id="19" name="Rectangle 14"/>
          <p:cNvSpPr>
            <a:spLocks noChangeAspect="1"/>
          </p:cNvSpPr>
          <p:nvPr>
            <p:custDataLst>
              <p:tags r:id="rId18"/>
            </p:custDataLst>
          </p:nvPr>
        </p:nvSpPr>
        <p:spPr>
          <a:xfrm>
            <a:off x="1571625" y="370760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楷体" panose="02010609060101010101" pitchFamily="49" charset="-122"/>
                <a:ea typeface="楷体" panose="02010609060101010101" pitchFamily="49" charset="-122"/>
                <a:sym typeface="微软雅黑" panose="020B0503020204020204" pitchFamily="34" charset="-122"/>
              </a:rPr>
              <a:t>B</a:t>
            </a:r>
            <a:endParaRPr lang="en-US" sz="1600">
              <a:solidFill>
                <a:srgbClr val="FFFFFF"/>
              </a:solidFill>
              <a:latin typeface="楷体" panose="02010609060101010101" pitchFamily="49" charset="-122"/>
              <a:ea typeface="楷体" panose="02010609060101010101" pitchFamily="49" charset="-122"/>
              <a:sym typeface="微软雅黑" panose="020B0503020204020204" pitchFamily="34" charset="-122"/>
            </a:endParaRPr>
          </a:p>
        </p:txBody>
      </p:sp>
      <p:sp>
        <p:nvSpPr>
          <p:cNvPr id="20" name="Rectangle 14"/>
          <p:cNvSpPr>
            <a:spLocks noChangeAspect="1"/>
          </p:cNvSpPr>
          <p:nvPr>
            <p:custDataLst>
              <p:tags r:id="rId19"/>
            </p:custDataLst>
          </p:nvPr>
        </p:nvSpPr>
        <p:spPr>
          <a:xfrm>
            <a:off x="1566545" y="4503261"/>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p>
            <a:pPr algn="ctr"/>
            <a:r>
              <a:rPr lang="en-US" sz="1600">
                <a:solidFill>
                  <a:srgbClr val="FFFFFF"/>
                </a:solidFill>
                <a:latin typeface="楷体" panose="02010609060101010101" pitchFamily="49" charset="-122"/>
                <a:ea typeface="楷体" panose="02010609060101010101" pitchFamily="49" charset="-122"/>
                <a:sym typeface="微软雅黑" panose="020B0503020204020204" pitchFamily="34" charset="-122"/>
              </a:rPr>
              <a:t>C</a:t>
            </a:r>
            <a:endParaRPr lang="en-US" sz="1600">
              <a:solidFill>
                <a:srgbClr val="FFFFFF"/>
              </a:solidFill>
              <a:latin typeface="楷体" panose="02010609060101010101" pitchFamily="49" charset="-122"/>
              <a:ea typeface="楷体" panose="02010609060101010101" pitchFamily="49" charset="-122"/>
              <a:sym typeface="微软雅黑" panose="020B0503020204020204" pitchFamily="34" charset="-122"/>
            </a:endParaRPr>
          </a:p>
        </p:txBody>
      </p:sp>
    </p:spTree>
    <p:custDataLst>
      <p:tags r:id="rId20"/>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ja-JP" alt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rPr>
                  <a:t>假设</a:t>
                </a:r>
                <a14:m>
                  <m:oMath xmlns:m="http://schemas.openxmlformats.org/officeDocument/2006/math">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𝑐</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Sub>
                  </m:oMath>
                </a14:m>
                <a:r>
                  <a:rPr 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rPr>
                  <a:t>与</a:t>
                </a:r>
                <a14:m>
                  <m:oMath xmlns:m="http://schemas.openxmlformats.org/officeDocument/2006/math">
                    <m:sSub>
                      <m:sSubPr>
                        <m:ctrlP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𝑐</m:t>
                        </m:r>
                      </m:e>
                      <m:sub>
                        <m:r>
                          <a:rPr lang="en-US" altLang="zh-CN" sz="2600" b="0" i="1" dirty="0"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oMath>
                </a14:m>
                <a:r>
                  <a:rPr lang="en-US" sz="2600" dirty="0" err="1">
                    <a:solidFill>
                      <a:srgbClr val="000000"/>
                    </a:solidFill>
                    <a:latin typeface="楷体" panose="02010609060101010101" pitchFamily="49" charset="-122"/>
                    <a:ea typeface="楷体" panose="02010609060101010101" pitchFamily="49" charset="-122"/>
                    <a:sym typeface="微软雅黑" panose="020B0503020204020204" pitchFamily="34" charset="-122"/>
                  </a:rPr>
                  <a:t>均发生变化</a:t>
                </a:r>
                <a:r>
                  <a:rPr lang="zh-CN" alt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rPr>
                  <a:t>，则下列哪些情况下</a:t>
                </a:r>
                <a:r>
                  <a:rPr lang="en-US" altLang="zh-CN"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rPr>
                  <a:t>B</a:t>
                </a:r>
                <a:r>
                  <a:rPr lang="zh-CN" alt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rPr>
                  <a:t>仍是例</a:t>
                </a:r>
                <a:r>
                  <a:rPr lang="en-US" altLang="zh-CN"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rPr>
                  <a:t>1</a:t>
                </a:r>
                <a:r>
                  <a:rPr lang="zh-CN" alt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rPr>
                  <a:t>的最优解？</a:t>
                </a:r>
                <a:endParaRPr 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endParaRPr>
              </a:p>
            </p:txBody>
          </p:sp>
        </mc:Choice>
        <mc:Fallback>
          <p:sp>
            <p:nvSpPr>
              <p:cNvPr id="9" name="TextBox 8"/>
              <p:cNvSpPr txBox="1">
                <a:spLocks noRot="1" noChangeAspect="1" noMove="1" noResize="1" noEditPoints="1" noAdjustHandles="1" noChangeArrowheads="1" noChangeShapeType="1" noTextEdit="1"/>
              </p:cNvSpPr>
              <p:nvPr>
                <p:custDataLst>
                  <p:tags r:id="rId2"/>
                </p:custDataLst>
              </p:nvPr>
            </p:nvSpPr>
            <p:spPr>
              <a:xfrm>
                <a:off x="1219200" y="635000"/>
                <a:ext cx="9753600" cy="214312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custDataLst>
                  <p:tags r:id="rId4"/>
                </p:custDataLst>
              </p:nvPr>
            </p:nvSpPr>
            <p:spPr>
              <a:xfrm>
                <a:off x="2438400" y="2786063"/>
                <a:ext cx="8534400" cy="642938"/>
              </a:xfrm>
              <a:prstGeom prst="rect">
                <a:avLst/>
              </a:prstGeom>
              <a:noFill/>
            </p:spPr>
            <p:txBody>
              <a:bodyPr vert="horz" rtlCol="0" anchor="ctr" anchorCtr="0">
                <a:noAutofit/>
              </a:bodyPr>
              <a:lstStyle/>
              <a:p>
                <a14:m>
                  <m:oMathPara xmlns:m="http://schemas.openxmlformats.org/officeDocument/2006/math">
                    <m:oMathParaPr>
                      <m:jc m:val="centerGroup"/>
                    </m:oMathParaPr>
                    <m:oMath xmlns:m="http://schemas.openxmlformats.org/officeDocument/2006/math">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𝑐</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60</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𝑐</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55</m:t>
                      </m:r>
                    </m:oMath>
                  </m:oMathPara>
                </a14:m>
                <a:endParaRPr 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endParaRPr>
              </a:p>
            </p:txBody>
          </p:sp>
        </mc:Choice>
        <mc:Fallback>
          <p:sp>
            <p:nvSpPr>
              <p:cNvPr id="10" name="TextBox 9"/>
              <p:cNvSpPr txBox="1">
                <a:spLocks noRot="1" noChangeAspect="1" noMove="1" noResize="1" noEditPoints="1" noAdjustHandles="1" noChangeArrowheads="1" noChangeShapeType="1" noTextEdit="1"/>
              </p:cNvSpPr>
              <p:nvPr>
                <p:custDataLst>
                  <p:tags r:id="rId5"/>
                </p:custDataLst>
              </p:nvPr>
            </p:nvSpPr>
            <p:spPr>
              <a:xfrm>
                <a:off x="2438400" y="2786063"/>
                <a:ext cx="8534400" cy="642938"/>
              </a:xfrm>
              <a:prstGeom prst="rect">
                <a:avLst/>
              </a:prstGeom>
              <a:blipFill rotWithShape="1">
                <a:blip r:embed="rId6"/>
                <a:stretch>
                  <a:fillRect t="-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custDataLst>
                  <p:tags r:id="rId7"/>
                </p:custDataLst>
              </p:nvPr>
            </p:nvSpPr>
            <p:spPr>
              <a:xfrm>
                <a:off x="2438400" y="3643313"/>
                <a:ext cx="8534400" cy="642938"/>
              </a:xfrm>
              <a:prstGeom prst="rect">
                <a:avLst/>
              </a:prstGeom>
              <a:noFill/>
            </p:spPr>
            <p:txBody>
              <a:bodyPr vert="horz" rtlCol="0" anchor="ctr" anchorCtr="0">
                <a:noAutofit/>
              </a:bodyPr>
              <a:lstStyle/>
              <a:p>
                <a14:m>
                  <m:oMathPara xmlns:m="http://schemas.openxmlformats.org/officeDocument/2006/math">
                    <m:oMathParaPr>
                      <m:jc m:val="centerGroup"/>
                    </m:oMathParaPr>
                    <m:oMath xmlns:m="http://schemas.openxmlformats.org/officeDocument/2006/math">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𝑐</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1000</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𝑐</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55</m:t>
                      </m:r>
                    </m:oMath>
                  </m:oMathPara>
                </a14:m>
                <a:endParaRPr 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endParaRPr>
              </a:p>
            </p:txBody>
          </p:sp>
        </mc:Choice>
        <mc:Fallback>
          <p:sp>
            <p:nvSpPr>
              <p:cNvPr id="11" name="TextBox 10"/>
              <p:cNvSpPr txBox="1">
                <a:spLocks noRot="1" noChangeAspect="1" noMove="1" noResize="1" noEditPoints="1" noAdjustHandles="1" noChangeArrowheads="1" noChangeShapeType="1" noTextEdit="1"/>
              </p:cNvSpPr>
              <p:nvPr>
                <p:custDataLst>
                  <p:tags r:id="rId8"/>
                </p:custDataLst>
              </p:nvPr>
            </p:nvSpPr>
            <p:spPr>
              <a:xfrm>
                <a:off x="2438400" y="3643313"/>
                <a:ext cx="8534400" cy="642938"/>
              </a:xfrm>
              <a:prstGeom prst="rect">
                <a:avLst/>
              </a:prstGeom>
              <a:blipFill rotWithShape="1">
                <a:blip r:embed="rId9"/>
                <a:stretch>
                  <a:fillRect t="-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TextBox 11"/>
              <p:cNvSpPr txBox="1"/>
              <p:nvPr>
                <p:custDataLst>
                  <p:tags r:id="rId10"/>
                </p:custDataLst>
              </p:nvPr>
            </p:nvSpPr>
            <p:spPr>
              <a:xfrm>
                <a:off x="2438400" y="4500563"/>
                <a:ext cx="8534400" cy="642938"/>
              </a:xfrm>
              <a:prstGeom prst="rect">
                <a:avLst/>
              </a:prstGeom>
              <a:noFill/>
            </p:spPr>
            <p:txBody>
              <a:bodyPr vert="horz" rtlCol="0" anchor="ctr" anchorCtr="0">
                <a:noAutofit/>
              </a:bodyPr>
              <a:lstStyle/>
              <a:p>
                <a14:m>
                  <m:oMathPara xmlns:m="http://schemas.openxmlformats.org/officeDocument/2006/math">
                    <m:oMathParaPr>
                      <m:jc m:val="centerGroup"/>
                    </m:oMathParaPr>
                    <m:oMath xmlns:m="http://schemas.openxmlformats.org/officeDocument/2006/math">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𝑐</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60</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𝑐</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1000</m:t>
                      </m:r>
                    </m:oMath>
                  </m:oMathPara>
                </a14:m>
                <a:endParaRPr 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endParaRPr>
              </a:p>
            </p:txBody>
          </p:sp>
        </mc:Choice>
        <mc:Fallback>
          <p:sp>
            <p:nvSpPr>
              <p:cNvPr id="12" name="TextBox 11"/>
              <p:cNvSpPr txBox="1">
                <a:spLocks noRot="1" noChangeAspect="1" noMove="1" noResize="1" noEditPoints="1" noAdjustHandles="1" noChangeArrowheads="1" noChangeShapeType="1" noTextEdit="1"/>
              </p:cNvSpPr>
              <p:nvPr>
                <p:custDataLst>
                  <p:tags r:id="rId11"/>
                </p:custDataLst>
              </p:nvPr>
            </p:nvSpPr>
            <p:spPr>
              <a:xfrm>
                <a:off x="2438400" y="4500563"/>
                <a:ext cx="8534400" cy="642938"/>
              </a:xfrm>
              <a:prstGeom prst="rect">
                <a:avLst/>
              </a:prstGeom>
              <a:blipFill rotWithShape="1">
                <a:blip r:embed="rId12"/>
                <a:stretch>
                  <a:fillRect t="-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custDataLst>
                  <p:tags r:id="rId13"/>
                </p:custDataLst>
              </p:nvPr>
            </p:nvSpPr>
            <p:spPr>
              <a:xfrm>
                <a:off x="2438400" y="5357813"/>
                <a:ext cx="8534400" cy="642938"/>
              </a:xfrm>
              <a:prstGeom prst="rect">
                <a:avLst/>
              </a:prstGeom>
              <a:noFill/>
            </p:spPr>
            <p:txBody>
              <a:bodyPr vert="horz" rtlCol="0" anchor="ctr" anchorCtr="0">
                <a:noAutofit/>
              </a:bodyPr>
              <a:lstStyle/>
              <a:p>
                <a14:m>
                  <m:oMathPara xmlns:m="http://schemas.openxmlformats.org/officeDocument/2006/math">
                    <m:oMathParaPr>
                      <m:jc m:val="centerGroup"/>
                    </m:oMathParaPr>
                    <m:oMath xmlns:m="http://schemas.openxmlformats.org/officeDocument/2006/math">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𝑐</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0</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𝑐</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55</m:t>
                      </m:r>
                    </m:oMath>
                  </m:oMathPara>
                </a14:m>
                <a:endParaRPr lang="en-US" sz="2600" dirty="0">
                  <a:solidFill>
                    <a:srgbClr val="000000"/>
                  </a:solidFill>
                  <a:latin typeface="楷体" panose="02010609060101010101" pitchFamily="49" charset="-122"/>
                  <a:ea typeface="楷体" panose="02010609060101010101" pitchFamily="49" charset="-122"/>
                  <a:sym typeface="微软雅黑" panose="020B0503020204020204" pitchFamily="34" charset="-122"/>
                </a:endParaRPr>
              </a:p>
            </p:txBody>
          </p:sp>
        </mc:Choice>
        <mc:Fallback>
          <p:sp>
            <p:nvSpPr>
              <p:cNvPr id="13" name="TextBox 12"/>
              <p:cNvSpPr txBox="1">
                <a:spLocks noRot="1" noChangeAspect="1" noMove="1" noResize="1" noEditPoints="1" noAdjustHandles="1" noChangeArrowheads="1" noChangeShapeType="1" noTextEdit="1"/>
              </p:cNvSpPr>
              <p:nvPr>
                <p:custDataLst>
                  <p:tags r:id="rId14"/>
                </p:custDataLst>
              </p:nvPr>
            </p:nvSpPr>
            <p:spPr>
              <a:xfrm>
                <a:off x="2438400" y="5357813"/>
                <a:ext cx="8534400" cy="642938"/>
              </a:xfrm>
              <a:prstGeom prst="rect">
                <a:avLst/>
              </a:prstGeom>
              <a:blipFill rotWithShape="1">
                <a:blip r:embed="rId15"/>
                <a:stretch>
                  <a:fillRect t="-49"/>
                </a:stretch>
              </a:blipFill>
            </p:spPr>
            <p:txBody>
              <a:bodyPr/>
              <a:lstStyle/>
              <a:p>
                <a:r>
                  <a:rPr lang="zh-CN" altLang="en-US">
                    <a:noFill/>
                  </a:rPr>
                  <a:t> </a:t>
                </a:r>
              </a:p>
            </p:txBody>
          </p:sp>
        </mc:Fallback>
      </mc:AlternateContent>
      <p:sp>
        <p:nvSpPr>
          <p:cNvPr id="14" name="Rectangle 13"/>
          <p:cNvSpPr>
            <a:spLocks noChangeAspect="1"/>
          </p:cNvSpPr>
          <p:nvPr>
            <p:custDataLst>
              <p:tags r:id="rId16"/>
            </p:custDataLst>
          </p:nvPr>
        </p:nvSpPr>
        <p:spPr>
          <a:xfrm>
            <a:off x="1571625" y="285035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楷体" panose="02010609060101010101" pitchFamily="49" charset="-122"/>
                <a:ea typeface="楷体" panose="02010609060101010101" pitchFamily="49" charset="-122"/>
                <a:sym typeface="微软雅黑" panose="020B0503020204020204" pitchFamily="34" charset="-122"/>
              </a:rPr>
              <a:t>A</a:t>
            </a:r>
            <a:endParaRPr lang="en-US" sz="1600">
              <a:solidFill>
                <a:srgbClr val="FFFFFF"/>
              </a:solidFill>
              <a:latin typeface="楷体" panose="02010609060101010101" pitchFamily="49" charset="-122"/>
              <a:ea typeface="楷体" panose="02010609060101010101" pitchFamily="49" charset="-122"/>
              <a:sym typeface="微软雅黑" panose="020B0503020204020204" pitchFamily="34" charset="-122"/>
            </a:endParaRPr>
          </a:p>
        </p:txBody>
      </p:sp>
      <p:sp>
        <p:nvSpPr>
          <p:cNvPr id="15" name="Rectangle 14"/>
          <p:cNvSpPr>
            <a:spLocks noChangeAspect="1"/>
          </p:cNvSpPr>
          <p:nvPr>
            <p:custDataLst>
              <p:tags r:id="rId17"/>
            </p:custDataLst>
          </p:nvPr>
        </p:nvSpPr>
        <p:spPr>
          <a:xfrm>
            <a:off x="1571625" y="370760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楷体" panose="02010609060101010101" pitchFamily="49" charset="-122"/>
                <a:ea typeface="楷体" panose="02010609060101010101" pitchFamily="49" charset="-122"/>
                <a:sym typeface="微软雅黑" panose="020B0503020204020204" pitchFamily="34" charset="-122"/>
              </a:rPr>
              <a:t>B</a:t>
            </a:r>
            <a:endParaRPr lang="en-US" sz="1600">
              <a:solidFill>
                <a:srgbClr val="FFFFFF"/>
              </a:solidFill>
              <a:latin typeface="楷体" panose="02010609060101010101" pitchFamily="49" charset="-122"/>
              <a:ea typeface="楷体" panose="02010609060101010101" pitchFamily="49" charset="-122"/>
              <a:sym typeface="微软雅黑" panose="020B0503020204020204" pitchFamily="34" charset="-122"/>
            </a:endParaRPr>
          </a:p>
        </p:txBody>
      </p:sp>
      <p:sp>
        <p:nvSpPr>
          <p:cNvPr id="2" name="Rectangle 14"/>
          <p:cNvSpPr>
            <a:spLocks noChangeAspect="1"/>
          </p:cNvSpPr>
          <p:nvPr>
            <p:custDataLst>
              <p:tags r:id="rId18"/>
            </p:custDataLst>
          </p:nvPr>
        </p:nvSpPr>
        <p:spPr>
          <a:xfrm>
            <a:off x="1566545" y="454453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p>
            <a:pPr algn="ctr"/>
            <a:r>
              <a:rPr lang="en-US" sz="1600">
                <a:solidFill>
                  <a:srgbClr val="FFFFFF"/>
                </a:solidFill>
                <a:latin typeface="楷体" panose="02010609060101010101" pitchFamily="49" charset="-122"/>
                <a:ea typeface="楷体" panose="02010609060101010101" pitchFamily="49" charset="-122"/>
                <a:sym typeface="微软雅黑" panose="020B0503020204020204" pitchFamily="34" charset="-122"/>
              </a:rPr>
              <a:t>C</a:t>
            </a:r>
            <a:endParaRPr lang="en-US" sz="1600">
              <a:solidFill>
                <a:srgbClr val="FFFFFF"/>
              </a:solidFill>
              <a:latin typeface="楷体" panose="02010609060101010101" pitchFamily="49" charset="-122"/>
              <a:ea typeface="楷体" panose="02010609060101010101" pitchFamily="49" charset="-122"/>
              <a:sym typeface="微软雅黑" panose="020B0503020204020204" pitchFamily="34" charset="-122"/>
            </a:endParaRPr>
          </a:p>
        </p:txBody>
      </p:sp>
      <p:sp>
        <p:nvSpPr>
          <p:cNvPr id="19" name="Rectangle 14"/>
          <p:cNvSpPr>
            <a:spLocks noChangeAspect="1"/>
          </p:cNvSpPr>
          <p:nvPr>
            <p:custDataLst>
              <p:tags r:id="rId19"/>
            </p:custDataLst>
          </p:nvPr>
        </p:nvSpPr>
        <p:spPr>
          <a:xfrm>
            <a:off x="1566545" y="5361781"/>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楷体" panose="02010609060101010101" pitchFamily="49" charset="-122"/>
                <a:ea typeface="楷体" panose="02010609060101010101" pitchFamily="49" charset="-122"/>
                <a:sym typeface="微软雅黑" panose="020B0503020204020204" pitchFamily="34" charset="-122"/>
              </a:rPr>
              <a:t>D</a:t>
            </a:r>
            <a:endParaRPr lang="en-US" sz="1600">
              <a:solidFill>
                <a:srgbClr val="FFFFFF"/>
              </a:solidFill>
              <a:latin typeface="楷体" panose="02010609060101010101" pitchFamily="49" charset="-122"/>
              <a:ea typeface="楷体" panose="02010609060101010101" pitchFamily="49" charset="-122"/>
              <a:sym typeface="微软雅黑" panose="020B0503020204020204" pitchFamily="34" charset="-122"/>
            </a:endParaRPr>
          </a:p>
        </p:txBody>
      </p:sp>
    </p:spTree>
    <p:custDataLst>
      <p:tags r:id="rId20"/>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838200" y="365125"/>
                <a:ext cx="10515600" cy="1325563"/>
              </a:xfrm>
            </p:spPr>
            <p:txBody>
              <a:bodyPr anchor="ctr">
                <a:normAutofit/>
              </a:bodyPr>
              <a:lstStyle/>
              <a:p>
                <a:r>
                  <a:rPr lang="zh-CN" altLang="en-US" sz="4100" dirty="0">
                    <a:latin typeface="楷体" panose="02010609060101010101" pitchFamily="49" charset="-122"/>
                    <a:ea typeface="楷体" panose="02010609060101010101" pitchFamily="49" charset="-122"/>
                  </a:rPr>
                  <a:t>图解法的灵敏度分析 </a:t>
                </a:r>
                <a:r>
                  <a:rPr lang="en-US" altLang="zh-CN" sz="4100" dirty="0">
                    <a:latin typeface="楷体" panose="02010609060101010101" pitchFamily="49" charset="-122"/>
                    <a:ea typeface="楷体" panose="02010609060101010101" pitchFamily="49" charset="-122"/>
                  </a:rPr>
                  <a:t>–</a:t>
                </a:r>
                <a:r>
                  <a:rPr lang="zh-CN" altLang="en-US" sz="4100" dirty="0">
                    <a:latin typeface="楷体" panose="02010609060101010101" pitchFamily="49" charset="-122"/>
                    <a:ea typeface="楷体" panose="02010609060101010101" pitchFamily="49" charset="-122"/>
                  </a:rPr>
                  <a:t>例</a:t>
                </a:r>
                <a:r>
                  <a:rPr lang="en-US" altLang="zh-CN" sz="4100" dirty="0">
                    <a:latin typeface="楷体" panose="02010609060101010101" pitchFamily="49" charset="-122"/>
                    <a:ea typeface="楷体" panose="02010609060101010101" pitchFamily="49" charset="-122"/>
                  </a:rPr>
                  <a:t>1</a:t>
                </a:r>
                <a:r>
                  <a:rPr lang="zh-CN" altLang="en-US" sz="4100" dirty="0">
                    <a:latin typeface="楷体" panose="02010609060101010101" pitchFamily="49" charset="-122"/>
                    <a:ea typeface="楷体" panose="02010609060101010101" pitchFamily="49" charset="-122"/>
                  </a:rPr>
                  <a:t>约束条件中常数</a:t>
                </a:r>
                <a14:m>
                  <m:oMath xmlns:m="http://schemas.openxmlformats.org/officeDocument/2006/math">
                    <m:sSub>
                      <m:sSubPr>
                        <m:ctrlPr>
                          <a:rPr lang="en-US" altLang="zh-CN" sz="4100" b="0" i="1" smtClean="0">
                            <a:latin typeface="Cambria Math" panose="02040503050406030204" pitchFamily="18" charset="0"/>
                          </a:rPr>
                        </m:ctrlPr>
                      </m:sSubPr>
                      <m:e>
                        <m:r>
                          <a:rPr lang="en-US" altLang="zh-CN" sz="4100" b="0" i="1" smtClean="0">
                            <a:latin typeface="Cambria Math" panose="02040503050406030204" pitchFamily="18" charset="0"/>
                          </a:rPr>
                          <m:t>𝑏</m:t>
                        </m:r>
                      </m:e>
                      <m:sub>
                        <m:r>
                          <a:rPr lang="en-US" altLang="zh-CN" sz="4100" b="0" i="1" smtClean="0">
                            <a:latin typeface="Cambria Math" panose="02040503050406030204" pitchFamily="18" charset="0"/>
                          </a:rPr>
                          <m:t>𝑗</m:t>
                        </m:r>
                      </m:sub>
                    </m:sSub>
                  </m:oMath>
                </a14:m>
                <a:r>
                  <a:rPr lang="en-US" sz="4100" dirty="0" err="1">
                    <a:latin typeface="楷体" panose="02010609060101010101" pitchFamily="49" charset="-122"/>
                    <a:ea typeface="楷体" panose="02010609060101010101" pitchFamily="49" charset="-122"/>
                  </a:rPr>
                  <a:t>的灵敏度分析</a:t>
                </a:r>
                <a:endParaRPr lang="en-US" sz="4100" dirty="0">
                  <a:latin typeface="楷体" panose="02010609060101010101" pitchFamily="49" charset="-122"/>
                  <a:ea typeface="楷体" panose="02010609060101010101" pitchFamily="49" charset="-122"/>
                </a:endParaRPr>
              </a:p>
            </p:txBody>
          </p:sp>
        </mc:Choice>
        <mc:Fallback>
          <p:sp>
            <p:nvSpPr>
              <p:cNvPr id="2" name="Title 1"/>
              <p:cNvSpPr>
                <a:spLocks noRot="1" noChangeAspect="1" noMove="1" noResize="1" noEditPoints="1" noAdjustHandles="1" noChangeArrowheads="1" noChangeShapeType="1" noTextEdit="1"/>
              </p:cNvSpPr>
              <p:nvPr>
                <p:ph type="title"/>
              </p:nvPr>
            </p:nvSpPr>
            <p:spPr>
              <a:xfrm>
                <a:off x="838200" y="365125"/>
                <a:ext cx="10515600" cy="1325563"/>
              </a:xfrm>
              <a:blipFill rotWithShape="1">
                <a:blip r:embed="rId1"/>
                <a:stretch>
                  <a:fillRect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sz="half" idx="1"/>
              </p:nvPr>
            </p:nvSpPr>
            <p:spPr>
              <a:xfrm>
                <a:off x="838200" y="1825625"/>
                <a:ext cx="5334000" cy="4351338"/>
              </a:xfrm>
            </p:spPr>
            <p:txBody>
              <a:bodyPr>
                <a:normAutofit/>
              </a:bodyPr>
              <a:lstStyle/>
              <a:p>
                <a:r>
                  <a:rPr lang="en-US" dirty="0">
                    <a:latin typeface="楷体" panose="02010609060101010101" pitchFamily="49" charset="-122"/>
                    <a:ea typeface="楷体" panose="02010609060101010101" pitchFamily="49" charset="-122"/>
                  </a:rPr>
                  <a:t>约束条件中常数</a:t>
                </a:r>
                <a:r>
                  <a:rPr lang="en-US" altLang="zh-CN" b="0" dirty="0">
                    <a:latin typeface="楷体" panose="02010609060101010101" pitchFamily="49" charset="-122"/>
                    <a:ea typeface="楷体" panose="02010609060101010101" pitchFamily="49" charset="-122"/>
                  </a:rPr>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𝑗</m:t>
                        </m:r>
                      </m:sub>
                    </m:sSub>
                  </m:oMath>
                </a14:m>
                <a:r>
                  <a:rPr lang="en-US" dirty="0" err="1">
                    <a:latin typeface="楷体" panose="02010609060101010101" pitchFamily="49" charset="-122"/>
                    <a:ea typeface="楷体" panose="02010609060101010101" pitchFamily="49" charset="-122"/>
                  </a:rPr>
                  <a:t>的变化</a:t>
                </a:r>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=&gt;</a:t>
                </a:r>
                <a:r>
                  <a:rPr lang="zh-CN" altLang="en-US" dirty="0">
                    <a:latin typeface="楷体" panose="02010609060101010101" pitchFamily="49" charset="-122"/>
                    <a:ea typeface="楷体" panose="02010609060101010101" pitchFamily="49" charset="-122"/>
                  </a:rPr>
                  <a:t> 线性规划的可行域变化</a:t>
                </a:r>
                <a:endParaRPr lang="en-US" altLang="zh-CN" dirty="0">
                  <a:latin typeface="楷体" panose="02010609060101010101" pitchFamily="49" charset="-122"/>
                  <a:ea typeface="楷体" panose="02010609060101010101" pitchFamily="49" charset="-122"/>
                </a:endParaRPr>
              </a:p>
              <a:p>
                <a:pPr lvl="1"/>
                <a:r>
                  <a:rPr lang="zh-CN" altLang="en-US" sz="2800" dirty="0">
                    <a:solidFill>
                      <a:srgbClr val="FF0000"/>
                    </a:solidFill>
                    <a:latin typeface="楷体" panose="02010609060101010101" pitchFamily="49" charset="-122"/>
                    <a:ea typeface="楷体" panose="02010609060101010101" pitchFamily="49" charset="-122"/>
                  </a:rPr>
                  <a:t>可能</a:t>
                </a:r>
                <a:r>
                  <a:rPr lang="zh-CN" altLang="en-US" sz="2800" dirty="0">
                    <a:latin typeface="楷体" panose="02010609060101010101" pitchFamily="49" charset="-122"/>
                    <a:ea typeface="楷体" panose="02010609060101010101" pitchFamily="49" charset="-122"/>
                  </a:rPr>
                  <a:t>引起最优解的变化</a:t>
                </a:r>
                <a:endParaRPr lang="en-US" altLang="zh-CN" sz="2800"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假设例</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中总台时数</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1</m:t>
                        </m:r>
                      </m:sub>
                    </m:sSub>
                  </m:oMath>
                </a14:m>
                <a:r>
                  <a:rPr lang="en-US" dirty="0">
                    <a:latin typeface="楷体" panose="02010609060101010101" pitchFamily="49" charset="-122"/>
                    <a:ea typeface="楷体" panose="02010609060101010101" pitchFamily="49" charset="-122"/>
                  </a:rPr>
                  <a:t>从</a:t>
                </a:r>
                <a:r>
                  <a:rPr lang="en-US" altLang="zh-CN" dirty="0">
                    <a:latin typeface="楷体" panose="02010609060101010101" pitchFamily="49" charset="-122"/>
                    <a:ea typeface="楷体" panose="02010609060101010101" pitchFamily="49" charset="-122"/>
                  </a:rPr>
                  <a:t>300</a:t>
                </a:r>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=&gt;</a:t>
                </a:r>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310</a:t>
                </a:r>
                <a:r>
                  <a:rPr lang="zh-CN" altLang="en-US" dirty="0">
                    <a:latin typeface="楷体" panose="02010609060101010101" pitchFamily="49" charset="-122"/>
                    <a:ea typeface="楷体" panose="02010609060101010101" pitchFamily="49" charset="-122"/>
                  </a:rPr>
                  <a:t>，最优解从</a:t>
                </a:r>
                <a:r>
                  <a:rPr lang="en-US" altLang="zh-CN" dirty="0">
                    <a:latin typeface="楷体" panose="02010609060101010101" pitchFamily="49" charset="-122"/>
                    <a:ea typeface="楷体" panose="02010609060101010101" pitchFamily="49" charset="-122"/>
                  </a:rPr>
                  <a:t>B</a:t>
                </a:r>
                <a:r>
                  <a:rPr lang="zh-CN" altLang="en-US" dirty="0">
                    <a:latin typeface="楷体" panose="02010609060101010101" pitchFamily="49" charset="-122"/>
                    <a:ea typeface="楷体" panose="02010609060101010101" pitchFamily="49" charset="-122"/>
                  </a:rPr>
                  <a:t>点（</a:t>
                </a:r>
                <a:r>
                  <a:rPr lang="en-US" altLang="zh-CN" dirty="0">
                    <a:latin typeface="楷体" panose="02010609060101010101" pitchFamily="49" charset="-122"/>
                    <a:ea typeface="楷体" panose="02010609060101010101" pitchFamily="49" charset="-122"/>
                  </a:rPr>
                  <a:t>50,250</a:t>
                </a:r>
                <a:r>
                  <a:rPr lang="zh-CN" altLang="en-US" dirty="0">
                    <a:latin typeface="楷体" panose="02010609060101010101" pitchFamily="49" charset="-122"/>
                    <a:ea typeface="楷体" panose="02010609060101010101" pitchFamily="49" charset="-122"/>
                  </a:rPr>
                  <a:t>）变为：</a:t>
                </a:r>
                <a:endParaRPr lang="en-US" altLang="zh-CN" dirty="0">
                  <a:latin typeface="楷体" panose="02010609060101010101" pitchFamily="49" charset="-122"/>
                  <a:ea typeface="楷体" panose="02010609060101010101" pitchFamily="49" charset="-122"/>
                </a:endParaRPr>
              </a:p>
              <a:p>
                <a:pPr lvl="1"/>
                <a14:m>
                  <m:oMath xmlns:m="http://schemas.openxmlformats.org/officeDocument/2006/math">
                    <m:d>
                      <m:dPr>
                        <m:begChr m:val="{"/>
                        <m:endChr m:val=""/>
                        <m:ctrlPr>
                          <a:rPr lang="en-US"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sSub>
                                <m:sSubPr>
                                  <m:ctrlPr>
                                    <a:rPr lang="en-US" altLang="zh-CN" b="0" i="1" smtClean="0">
                                      <a:latin typeface="Cambria Math" panose="02040503050406030204" pitchFamily="18" charset="0"/>
                                    </a:rPr>
                                  </m:ctrlPr>
                                </m:sSubPr>
                                <m:e>
                                  <m:r>
                                    <m:rPr>
                                      <m:brk m:alnAt="7"/>
                                    </m:rPr>
                                    <a:rPr lang="en-US" altLang="zh-CN" b="0" i="1" smtClean="0">
                                      <a:latin typeface="Cambria Math" panose="02040503050406030204" pitchFamily="18" charset="0"/>
                                    </a:rPr>
                                    <m:t>𝑥</m:t>
                                  </m:r>
                                </m:e>
                                <m:sub>
                                  <m:r>
                                    <m:rPr>
                                      <m:brk m:alnAt="7"/>
                                    </m:rPr>
                                    <a:rPr lang="en-US" altLang="zh-CN" b="0" i="1" smtClean="0">
                                      <a:latin typeface="Cambria Math" panose="02040503050406030204" pitchFamily="18" charset="0"/>
                                    </a:rPr>
                                    <m:t>1</m:t>
                                  </m:r>
                                </m:sub>
                              </m:sSub>
                              <m:r>
                                <m:rPr>
                                  <m:brk m:alnAt="7"/>
                                </m:rPr>
                                <a:rPr lang="en-US" altLang="zh-CN" b="0" i="1" smtClean="0">
                                  <a:latin typeface="Cambria Math" panose="02040503050406030204" pitchFamily="18" charset="0"/>
                                </a:rPr>
                                <m:t>=</m:t>
                              </m:r>
                              <m:r>
                                <a:rPr lang="en-US" altLang="zh-CN" b="0" i="1" smtClean="0">
                                  <a:latin typeface="Cambria Math" panose="02040503050406030204" pitchFamily="18" charset="0"/>
                                </a:rPr>
                                <m:t>250</m:t>
                              </m:r>
                            </m:e>
                          </m:m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310</m:t>
                              </m:r>
                            </m:e>
                          </m:mr>
                        </m:m>
                      </m:e>
                    </m:d>
                    <m:r>
                      <a:rPr lang="en-US" altLang="zh-CN" b="0" i="1" smtClean="0">
                        <a:latin typeface="Cambria Math" panose="02040503050406030204" pitchFamily="18" charset="0"/>
                      </a:rPr>
                      <m:t>⇒</m:t>
                    </m:r>
                    <m:sSup>
                      <m:sSupPr>
                        <m:ctrlPr>
                          <a:rPr lang="en-US" altLang="zh-CN" b="0" i="1" smtClean="0">
                            <a:solidFill>
                              <a:srgbClr val="FF0000"/>
                            </a:solidFill>
                            <a:latin typeface="Cambria Math" panose="02040503050406030204" pitchFamily="18" charset="0"/>
                          </a:rPr>
                        </m:ctrlPr>
                      </m:sSupPr>
                      <m:e>
                        <m:r>
                          <a:rPr lang="en-US" altLang="zh-CN" b="0" i="1" smtClean="0">
                            <a:solidFill>
                              <a:srgbClr val="FF0000"/>
                            </a:solidFill>
                            <a:latin typeface="Cambria Math" panose="02040503050406030204" pitchFamily="18" charset="0"/>
                          </a:rPr>
                          <m:t>𝐵</m:t>
                        </m:r>
                      </m:e>
                      <m:sup>
                        <m:r>
                          <a:rPr lang="en-US" altLang="zh-CN" b="0" i="1" smtClean="0">
                            <a:solidFill>
                              <a:srgbClr val="FF0000"/>
                            </a:solidFill>
                            <a:latin typeface="Cambria Math" panose="02040503050406030204" pitchFamily="18" charset="0"/>
                          </a:rPr>
                          <m:t>′</m:t>
                        </m:r>
                      </m:sup>
                    </m:sSup>
                    <m:r>
                      <a:rPr lang="en-US" altLang="zh-CN" b="0" i="1" smtClean="0">
                        <a:solidFill>
                          <a:srgbClr val="FF0000"/>
                        </a:solidFill>
                        <a:latin typeface="Cambria Math" panose="02040503050406030204" pitchFamily="18" charset="0"/>
                      </a:rPr>
                      <m:t>=</m:t>
                    </m:r>
                    <m:d>
                      <m:dPr>
                        <m:ctrlPr>
                          <a:rPr lang="en-US" altLang="zh-CN" b="0" i="1" smtClean="0">
                            <a:solidFill>
                              <a:srgbClr val="FF0000"/>
                            </a:solidFill>
                            <a:latin typeface="Cambria Math" panose="02040503050406030204" pitchFamily="18" charset="0"/>
                          </a:rPr>
                        </m:ctrlPr>
                      </m:dPr>
                      <m:e>
                        <m:r>
                          <a:rPr lang="en-US" altLang="zh-CN" b="0" i="1" smtClean="0">
                            <a:solidFill>
                              <a:srgbClr val="FF0000"/>
                            </a:solidFill>
                            <a:latin typeface="Cambria Math" panose="02040503050406030204" pitchFamily="18" charset="0"/>
                          </a:rPr>
                          <m:t>60</m:t>
                        </m:r>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250</m:t>
                        </m:r>
                      </m:e>
                    </m:d>
                  </m:oMath>
                </a14:m>
                <a:endParaRPr lang="en-US" altLang="zh-CN" b="0" dirty="0">
                  <a:solidFill>
                    <a:srgbClr val="FF0000"/>
                  </a:solidFill>
                  <a:latin typeface="楷体" panose="02010609060101010101" pitchFamily="49" charset="-122"/>
                  <a:ea typeface="楷体" panose="02010609060101010101" pitchFamily="49" charset="-122"/>
                </a:endParaRPr>
              </a:p>
              <a:p>
                <a:pPr lvl="1"/>
                <a:r>
                  <a:rPr lang="en-US" dirty="0">
                    <a:latin typeface="楷体" panose="02010609060101010101" pitchFamily="49" charset="-122"/>
                    <a:ea typeface="楷体" panose="02010609060101010101" pitchFamily="49" charset="-122"/>
                  </a:rPr>
                  <a:t>最大利润从</a:t>
                </a:r>
                <a:r>
                  <a:rPr lang="en-US" altLang="zh-CN" dirty="0">
                    <a:latin typeface="楷体" panose="02010609060101010101" pitchFamily="49" charset="-122"/>
                    <a:ea typeface="楷体" panose="02010609060101010101" pitchFamily="49" charset="-122"/>
                  </a:rPr>
                  <a:t>27500</a:t>
                </a:r>
                <a:r>
                  <a:rPr lang="zh-CN" altLang="en-US" dirty="0">
                    <a:latin typeface="楷体" panose="02010609060101010101" pitchFamily="49" charset="-122"/>
                    <a:ea typeface="楷体" panose="02010609060101010101" pitchFamily="49" charset="-122"/>
                  </a:rPr>
                  <a:t>元变为</a:t>
                </a:r>
                <a:r>
                  <a:rPr lang="en-US" altLang="zh-CN" dirty="0">
                    <a:latin typeface="楷体" panose="02010609060101010101" pitchFamily="49" charset="-122"/>
                    <a:ea typeface="楷体" panose="02010609060101010101" pitchFamily="49" charset="-122"/>
                  </a:rPr>
                  <a:t>28000</a:t>
                </a:r>
                <a:r>
                  <a:rPr lang="zh-CN" altLang="en-US" dirty="0">
                    <a:latin typeface="楷体" panose="02010609060101010101" pitchFamily="49" charset="-122"/>
                    <a:ea typeface="楷体" panose="02010609060101010101" pitchFamily="49" charset="-122"/>
                  </a:rPr>
                  <a:t>元</a:t>
                </a:r>
                <a:endParaRPr lang="en-US" dirty="0">
                  <a:latin typeface="楷体" panose="02010609060101010101" pitchFamily="49" charset="-122"/>
                  <a:ea typeface="楷体" panose="02010609060101010101" pitchFamily="49" charset="-122"/>
                </a:endParaRPr>
              </a:p>
            </p:txBody>
          </p:sp>
        </mc:Choice>
        <mc:Fallback>
          <p:sp>
            <p:nvSpPr>
              <p:cNvPr id="3" name="Content Placeholder 2"/>
              <p:cNvSpPr>
                <a:spLocks noRot="1" noChangeAspect="1" noMove="1" noResize="1" noEditPoints="1" noAdjustHandles="1" noChangeArrowheads="1" noChangeShapeType="1" noTextEdit="1"/>
              </p:cNvSpPr>
              <p:nvPr>
                <p:ph sz="half" idx="1"/>
              </p:nvPr>
            </p:nvSpPr>
            <p:spPr>
              <a:xfrm>
                <a:off x="838200" y="1825625"/>
                <a:ext cx="5334000" cy="4351338"/>
              </a:xfrm>
              <a:blipFill rotWithShape="1">
                <a:blip r:embed="rId2"/>
                <a:stretch>
                  <a:fillRect b="7"/>
                </a:stretch>
              </a:blipFill>
            </p:spPr>
            <p:txBody>
              <a:bodyPr/>
              <a:lstStyle/>
              <a:p>
                <a:r>
                  <a:rPr lang="zh-CN" altLang="en-US">
                    <a:noFill/>
                  </a:rPr>
                  <a:t> </a:t>
                </a:r>
              </a:p>
            </p:txBody>
          </p:sp>
        </mc:Fallback>
      </mc:AlternateContent>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172200" y="2521404"/>
            <a:ext cx="5181600" cy="295978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normAutofit fontScale="90000"/>
              </a:bodyPr>
              <a:lstStyle/>
              <a:p>
                <a:r>
                  <a:rPr lang="zh-CN" altLang="en-US" sz="4400" dirty="0">
                    <a:cs typeface="Times New Roman" panose="02020603050405020304" pitchFamily="18" charset="0"/>
                  </a:rPr>
                  <a:t>图解法的灵敏度分析 </a:t>
                </a:r>
                <a:r>
                  <a:rPr lang="en-US" altLang="zh-CN" sz="4400" dirty="0">
                    <a:cs typeface="Times New Roman" panose="02020603050405020304" pitchFamily="18" charset="0"/>
                  </a:rPr>
                  <a:t>–</a:t>
                </a:r>
                <a:r>
                  <a:rPr lang="zh-CN" altLang="en-US" sz="4400" dirty="0">
                    <a:cs typeface="Times New Roman" panose="02020603050405020304" pitchFamily="18" charset="0"/>
                  </a:rPr>
                  <a:t>例</a:t>
                </a:r>
                <a:r>
                  <a:rPr lang="en-US" altLang="zh-CN" sz="4400" dirty="0">
                    <a:cs typeface="Times New Roman" panose="02020603050405020304" pitchFamily="18" charset="0"/>
                  </a:rPr>
                  <a:t>1</a:t>
                </a:r>
                <a:r>
                  <a:rPr lang="zh-CN" altLang="en-US" sz="4400" dirty="0">
                    <a:cs typeface="Times New Roman" panose="02020603050405020304" pitchFamily="18" charset="0"/>
                  </a:rPr>
                  <a:t>约束条件中常数</a:t>
                </a:r>
                <a14:m>
                  <m:oMath xmlns:m="http://schemas.openxmlformats.org/officeDocument/2006/math">
                    <m:sSub>
                      <m:sSubPr>
                        <m:ctrlPr>
                          <a:rPr lang="en-US" altLang="zh-CN" sz="4400" b="0" i="1" smtClean="0">
                            <a:latin typeface="Cambria Math" panose="02040503050406030204" pitchFamily="18" charset="0"/>
                          </a:rPr>
                        </m:ctrlPr>
                      </m:sSubPr>
                      <m:e>
                        <m:r>
                          <a:rPr lang="en-US" altLang="zh-CN" sz="4400" b="0" i="1" smtClean="0">
                            <a:latin typeface="Cambria Math" panose="02040503050406030204" pitchFamily="18" charset="0"/>
                          </a:rPr>
                          <m:t>𝑏</m:t>
                        </m:r>
                      </m:e>
                      <m:sub>
                        <m:r>
                          <a:rPr lang="en-US" altLang="zh-CN" sz="4400" b="0" i="1" smtClean="0">
                            <a:latin typeface="Cambria Math" panose="02040503050406030204" pitchFamily="18" charset="0"/>
                          </a:rPr>
                          <m:t>𝑗</m:t>
                        </m:r>
                      </m:sub>
                    </m:sSub>
                  </m:oMath>
                </a14:m>
                <a:r>
                  <a:rPr lang="en-US" sz="4400" dirty="0" err="1">
                    <a:cs typeface="Times New Roman" panose="02020603050405020304" pitchFamily="18" charset="0"/>
                  </a:rPr>
                  <a:t>的灵敏度分析</a:t>
                </a:r>
                <a:endParaRPr lang="en-US" dirty="0">
                  <a:cs typeface="Times New Roman" panose="02020603050405020304" pitchFamily="18" charset="0"/>
                </a:endParaRPr>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zh-CN" altLang="en-US" dirty="0">
                    <a:cs typeface="Times New Roman" panose="02020603050405020304" pitchFamily="18" charset="0"/>
                  </a:rPr>
                  <a:t>增大</a:t>
                </a:r>
                <a:r>
                  <a:rPr lang="en-US" altLang="zh-CN" dirty="0">
                    <a:cs typeface="Times New Roman" panose="02020603050405020304" pitchFamily="18" charset="0"/>
                  </a:rPr>
                  <a:t>10</a:t>
                </a:r>
                <a:r>
                  <a:rPr lang="zh-CN" altLang="en-US" dirty="0">
                    <a:cs typeface="Times New Roman" panose="02020603050405020304" pitchFamily="18" charset="0"/>
                  </a:rPr>
                  <a:t>台时总数（</a:t>
                </a:r>
                <a14:m>
                  <m:oMath xmlns:m="http://schemas.openxmlformats.org/officeDocument/2006/math">
                    <m:r>
                      <a:rPr lang="en-US" altLang="zh-CN" b="0" i="1" smtClean="0">
                        <a:latin typeface="Cambria Math" panose="02040503050406030204" pitchFamily="18" charset="0"/>
                        <a:cs typeface="Times New Roman" panose="02020603050405020304" pitchFamily="18" charset="0"/>
                      </a:rPr>
                      <m:t>310</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300</m:t>
                    </m:r>
                  </m:oMath>
                </a14:m>
                <a:r>
                  <a:rPr lang="zh-CN" altLang="en-US" dirty="0">
                    <a:cs typeface="Times New Roman" panose="02020603050405020304" pitchFamily="18" charset="0"/>
                  </a:rPr>
                  <a:t>） </a:t>
                </a:r>
                <a:r>
                  <a:rPr lang="en-US" altLang="zh-CN" dirty="0">
                    <a:cs typeface="Times New Roman" panose="02020603050405020304" pitchFamily="18" charset="0"/>
                  </a:rPr>
                  <a:t>=&gt; </a:t>
                </a:r>
                <a:r>
                  <a:rPr lang="zh-CN" altLang="en-US" dirty="0">
                    <a:cs typeface="Times New Roman" panose="02020603050405020304" pitchFamily="18" charset="0"/>
                  </a:rPr>
                  <a:t>利润提高</a:t>
                </a:r>
                <a:r>
                  <a:rPr lang="en-US" altLang="zh-CN" dirty="0">
                    <a:cs typeface="Times New Roman" panose="02020603050405020304" pitchFamily="18" charset="0"/>
                  </a:rPr>
                  <a:t>500</a:t>
                </a:r>
                <a:r>
                  <a:rPr lang="zh-CN" altLang="en-US" dirty="0">
                    <a:cs typeface="Times New Roman" panose="02020603050405020304" pitchFamily="18" charset="0"/>
                  </a:rPr>
                  <a:t>元（</a:t>
                </a:r>
                <a14:m>
                  <m:oMath xmlns:m="http://schemas.openxmlformats.org/officeDocument/2006/math">
                    <m:r>
                      <a:rPr lang="en-US" altLang="zh-CN" b="0" i="1" smtClean="0">
                        <a:latin typeface="Cambria Math" panose="02040503050406030204" pitchFamily="18" charset="0"/>
                        <a:cs typeface="Times New Roman" panose="02020603050405020304" pitchFamily="18" charset="0"/>
                      </a:rPr>
                      <m:t>28000</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27500</m:t>
                    </m:r>
                  </m:oMath>
                </a14:m>
                <a:r>
                  <a:rPr lang="zh-CN" altLang="en-US" dirty="0">
                    <a:cs typeface="Times New Roman" panose="02020603050405020304" pitchFamily="18" charset="0"/>
                  </a:rPr>
                  <a:t>），因此我们可知每增加</a:t>
                </a:r>
                <a:r>
                  <a:rPr lang="en-US" altLang="zh-CN" dirty="0">
                    <a:cs typeface="Times New Roman" panose="02020603050405020304" pitchFamily="18" charset="0"/>
                  </a:rPr>
                  <a:t>1</a:t>
                </a:r>
                <a:r>
                  <a:rPr lang="zh-CN" altLang="en-US" dirty="0">
                    <a:cs typeface="Times New Roman" panose="02020603050405020304" pitchFamily="18" charset="0"/>
                  </a:rPr>
                  <a:t>台时设备，平均利润将上涨</a:t>
                </a:r>
                <a:r>
                  <a:rPr lang="en-US" altLang="zh-CN" dirty="0">
                    <a:cs typeface="Times New Roman" panose="02020603050405020304" pitchFamily="18" charset="0"/>
                  </a:rPr>
                  <a:t>50</a:t>
                </a:r>
                <a:r>
                  <a:rPr lang="zh-CN" altLang="en-US" dirty="0">
                    <a:cs typeface="Times New Roman" panose="02020603050405020304" pitchFamily="18" charset="0"/>
                  </a:rPr>
                  <a:t>元。</a:t>
                </a:r>
                <a:endParaRPr lang="en-US" dirty="0">
                  <a:cs typeface="Times New Roman" panose="02020603050405020304" pitchFamily="18" charset="0"/>
                </a:endParaRPr>
              </a:p>
              <a:p>
                <a:r>
                  <a:rPr lang="zh-CN" altLang="en-US" dirty="0">
                    <a:cs typeface="Times New Roman" panose="02020603050405020304" pitchFamily="18" charset="0"/>
                  </a:rPr>
                  <a:t>我们将这种由于约束条件增加而产生的最优目标函数值变化称为</a:t>
                </a:r>
                <a:r>
                  <a:rPr lang="zh-CN" altLang="en-US" dirty="0">
                    <a:solidFill>
                      <a:srgbClr val="FF0000"/>
                    </a:solidFill>
                    <a:cs typeface="Times New Roman" panose="02020603050405020304" pitchFamily="18" charset="0"/>
                  </a:rPr>
                  <a:t>对偶价格。</a:t>
                </a:r>
                <a:endParaRPr lang="en-US" altLang="zh-CN" dirty="0">
                  <a:solidFill>
                    <a:srgbClr val="FF0000"/>
                  </a:solidFill>
                  <a:cs typeface="Times New Roman" panose="02020603050405020304" pitchFamily="18" charset="0"/>
                </a:endParaRPr>
              </a:p>
              <a:p>
                <a:r>
                  <a:rPr lang="zh-CN" altLang="en-US" dirty="0">
                    <a:cs typeface="Times New Roman" panose="02020603050405020304" pitchFamily="18" charset="0"/>
                  </a:rPr>
                  <a:t>对偶价格的数学表达式：</a:t>
                </a:r>
                <a14:m>
                  <m:oMath xmlns:m="http://schemas.openxmlformats.org/officeDocument/2006/math">
                    <m:f>
                      <m:fPr>
                        <m:ctrlPr>
                          <a:rPr lang="en-US" altLang="zh-CN" i="1" smtClean="0">
                            <a:latin typeface="Cambria Math" panose="02040503050406030204" pitchFamily="18" charset="0"/>
                            <a:cs typeface="Times New Roman" panose="02020603050405020304" pitchFamily="18" charset="0"/>
                          </a:rPr>
                        </m:ctrlPr>
                      </m:fPr>
                      <m:num>
                        <m:r>
                          <m:rPr>
                            <m:sty m:val="p"/>
                          </m:rPr>
                          <a:rPr lang="en-US" altLang="zh-CN" b="0" i="0" smtClean="0">
                            <a:latin typeface="Cambria Math" panose="02040503050406030204" pitchFamily="18" charset="0"/>
                            <a:cs typeface="Times New Roman" panose="02020603050405020304" pitchFamily="18" charset="0"/>
                          </a:rPr>
                          <m:t>Δ</m:t>
                        </m:r>
                        <m:r>
                          <a:rPr lang="en-US" altLang="zh-CN" b="0" i="1" smtClean="0">
                            <a:latin typeface="Cambria Math" panose="02040503050406030204" pitchFamily="18" charset="0"/>
                            <a:cs typeface="Times New Roman" panose="02020603050405020304" pitchFamily="18" charset="0"/>
                          </a:rPr>
                          <m:t>𝑍</m:t>
                        </m:r>
                      </m:num>
                      <m:den>
                        <m:r>
                          <m:rPr>
                            <m:sty m:val="p"/>
                          </m:rPr>
                          <a:rPr lang="en-US" altLang="zh-CN" b="0" i="0" smtClean="0">
                            <a:latin typeface="Cambria Math" panose="02040503050406030204" pitchFamily="18" charset="0"/>
                            <a:cs typeface="Times New Roman" panose="02020603050405020304" pitchFamily="18" charset="0"/>
                          </a:rPr>
                          <m:t>Δ</m:t>
                        </m:r>
                        <m:sSub>
                          <m:sSubPr>
                            <m:ctrlPr>
                              <a:rPr lang="en-US" altLang="zh-CN" b="0" i="1" smtClean="0">
                                <a:latin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cs typeface="Times New Roman" panose="02020603050405020304" pitchFamily="18" charset="0"/>
                              </a:rPr>
                              <m:t>𝑏</m:t>
                            </m:r>
                          </m:e>
                          <m:sub>
                            <m:r>
                              <a:rPr lang="en-US" altLang="zh-CN" b="0" i="1" smtClean="0">
                                <a:latin typeface="Cambria Math" panose="02040503050406030204" pitchFamily="18" charset="0"/>
                                <a:cs typeface="Times New Roman" panose="02020603050405020304" pitchFamily="18" charset="0"/>
                              </a:rPr>
                              <m:t>𝑖</m:t>
                            </m:r>
                          </m:sub>
                        </m:sSub>
                      </m:den>
                    </m:f>
                    <m:r>
                      <a:rPr lang="en-US" altLang="zh-CN" b="0" i="1" smtClean="0">
                        <a:latin typeface="Cambria Math" panose="02040503050406030204" pitchFamily="18" charset="0"/>
                        <a:cs typeface="Times New Roman" panose="02020603050405020304" pitchFamily="18" charset="0"/>
                      </a:rPr>
                      <m:t>=</m:t>
                    </m:r>
                    <m:f>
                      <m:fPr>
                        <m:ctrlPr>
                          <a:rPr lang="en-US" altLang="zh-CN" b="0" i="1" smtClean="0">
                            <a:latin typeface="Cambria Math" panose="02040503050406030204" pitchFamily="18" charset="0"/>
                            <a:cs typeface="Times New Roman" panose="02020603050405020304" pitchFamily="18" charset="0"/>
                          </a:rPr>
                        </m:ctrlPr>
                      </m:fPr>
                      <m:num>
                        <m:r>
                          <a:rPr lang="en-US" altLang="zh-CN" b="0" i="1" smtClean="0">
                            <a:latin typeface="Cambria Math" panose="02040503050406030204" pitchFamily="18" charset="0"/>
                            <a:cs typeface="Times New Roman" panose="02020603050405020304" pitchFamily="18" charset="0"/>
                          </a:rPr>
                          <m:t>28000</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27500</m:t>
                        </m:r>
                      </m:num>
                      <m:den>
                        <m:r>
                          <a:rPr lang="en-US" altLang="zh-CN" b="0" i="1" smtClean="0">
                            <a:latin typeface="Cambria Math" panose="02040503050406030204" pitchFamily="18" charset="0"/>
                            <a:cs typeface="Times New Roman" panose="02020603050405020304" pitchFamily="18" charset="0"/>
                          </a:rPr>
                          <m:t>310</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300</m:t>
                        </m:r>
                      </m:den>
                    </m:f>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50</m:t>
                    </m:r>
                    <m:r>
                      <a:rPr lang="zh-CN" altLang="en-US" i="1">
                        <a:latin typeface="Cambria Math" panose="02040503050406030204" pitchFamily="18" charset="0"/>
                        <a:cs typeface="Times New Roman" panose="02020603050405020304" pitchFamily="18" charset="0"/>
                      </a:rPr>
                      <m:t>元</m:t>
                    </m:r>
                  </m:oMath>
                </a14:m>
                <a:r>
                  <a:rPr lang="en-US" altLang="zh-CN" dirty="0">
                    <a:cs typeface="Times New Roman" panose="02020603050405020304" pitchFamily="18" charset="0"/>
                  </a:rPr>
                  <a:t>/</a:t>
                </a:r>
                <a:r>
                  <a:rPr lang="zh-CN" altLang="en-US" dirty="0">
                    <a:cs typeface="Times New Roman" panose="02020603050405020304" pitchFamily="18" charset="0"/>
                  </a:rPr>
                  <a:t>台时</a:t>
                </a:r>
                <a:endParaRPr lang="en-US" altLang="zh-CN" dirty="0">
                  <a:cs typeface="Times New Roman" panose="02020603050405020304" pitchFamily="18" charset="0"/>
                </a:endParaRPr>
              </a:p>
              <a:p>
                <a:pPr lvl="1"/>
                <a:endParaRPr lang="en-US" altLang="zh-CN" dirty="0">
                  <a:cs typeface="Times New Roman" panose="02020603050405020304" pitchFamily="18" charset="0"/>
                </a:endParaRPr>
              </a:p>
              <a:p>
                <a:pPr eaLnBrk="1" hangingPunct="1">
                  <a:lnSpc>
                    <a:spcPct val="100000"/>
                  </a:lnSpc>
                  <a:spcBef>
                    <a:spcPct val="0"/>
                  </a:spcBef>
                  <a:buFontTx/>
                  <a:buNone/>
                </a:pPr>
                <a:endParaRPr lang="en-US" dirty="0">
                  <a:cs typeface="Times New Roman" panose="02020603050405020304" pitchFamily="18"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r="-2017" b="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对偶价格对最优值的影响</a:t>
            </a:r>
            <a:endParaRPr lang="zh-CN" altLang="en-US" dirty="0"/>
          </a:p>
        </p:txBody>
      </p:sp>
      <p:sp>
        <p:nvSpPr>
          <p:cNvPr id="3" name="内容占位符 2"/>
          <p:cNvSpPr>
            <a:spLocks noGrp="1"/>
          </p:cNvSpPr>
          <p:nvPr>
            <p:ph idx="1"/>
          </p:nvPr>
        </p:nvSpPr>
        <p:spPr/>
        <p:txBody>
          <a:bodyPr/>
          <a:lstStyle/>
          <a:p>
            <a:pPr eaLnBrk="1" hangingPunct="1">
              <a:lnSpc>
                <a:spcPct val="100000"/>
              </a:lnSpc>
              <a:spcBef>
                <a:spcPct val="0"/>
              </a:spcBef>
              <a:buFontTx/>
              <a:buNone/>
            </a:pPr>
            <a:r>
              <a:rPr lang="zh-CN" altLang="en-US" sz="2800" dirty="0">
                <a:solidFill>
                  <a:srgbClr val="000000"/>
                </a:solidFill>
                <a:cs typeface="Times New Roman" panose="02020603050405020304" pitchFamily="18" charset="0"/>
              </a:rPr>
              <a:t>在</a:t>
            </a:r>
            <a:r>
              <a:rPr lang="zh-CN" altLang="en-US" sz="2800" dirty="0">
                <a:solidFill>
                  <a:srgbClr val="FF0000"/>
                </a:solidFill>
                <a:cs typeface="Times New Roman" panose="02020603050405020304" pitchFamily="18" charset="0"/>
              </a:rPr>
              <a:t>一定范围内</a:t>
            </a:r>
            <a:r>
              <a:rPr lang="zh-CN" altLang="en-US" sz="2800" dirty="0">
                <a:solidFill>
                  <a:srgbClr val="000000"/>
                </a:solidFill>
                <a:cs typeface="Times New Roman" panose="02020603050405020304" pitchFamily="18" charset="0"/>
              </a:rPr>
              <a:t>，当约束条件中常数项增加 </a:t>
            </a:r>
            <a:r>
              <a:rPr lang="en-US" altLang="zh-CN" sz="2800" dirty="0">
                <a:solidFill>
                  <a:srgbClr val="000000"/>
                </a:solidFill>
                <a:cs typeface="Times New Roman" panose="02020603050405020304" pitchFamily="18" charset="0"/>
              </a:rPr>
              <a:t>1 </a:t>
            </a:r>
            <a:r>
              <a:rPr lang="zh-CN" altLang="en-US" sz="2800" dirty="0">
                <a:solidFill>
                  <a:srgbClr val="000000"/>
                </a:solidFill>
                <a:cs typeface="Times New Roman" panose="02020603050405020304" pitchFamily="18" charset="0"/>
              </a:rPr>
              <a:t>个单位时，</a:t>
            </a:r>
            <a:endParaRPr lang="zh-CN" altLang="en-US" sz="2800" dirty="0">
              <a:solidFill>
                <a:srgbClr val="000000"/>
              </a:solidFill>
              <a:cs typeface="Times New Roman" panose="02020603050405020304" pitchFamily="18" charset="0"/>
            </a:endParaRPr>
          </a:p>
          <a:p>
            <a:pPr eaLnBrk="1" hangingPunct="1">
              <a:lnSpc>
                <a:spcPct val="100000"/>
              </a:lnSpc>
              <a:spcBef>
                <a:spcPct val="0"/>
              </a:spcBef>
              <a:buFontTx/>
              <a:buNone/>
            </a:pPr>
            <a:r>
              <a:rPr lang="zh-CN" altLang="en-US" sz="2800" dirty="0">
                <a:solidFill>
                  <a:srgbClr val="000000"/>
                </a:solidFill>
                <a:cs typeface="Times New Roman" panose="02020603050405020304" pitchFamily="18" charset="0"/>
              </a:rPr>
              <a:t>（</a:t>
            </a:r>
            <a:r>
              <a:rPr lang="en-US" altLang="zh-CN" sz="2800" dirty="0">
                <a:solidFill>
                  <a:srgbClr val="000000"/>
                </a:solidFill>
                <a:cs typeface="Times New Roman" panose="02020603050405020304" pitchFamily="18" charset="0"/>
              </a:rPr>
              <a:t>1</a:t>
            </a:r>
            <a:r>
              <a:rPr lang="zh-CN" altLang="en-US" sz="2800" dirty="0">
                <a:solidFill>
                  <a:srgbClr val="000000"/>
                </a:solidFill>
                <a:cs typeface="Times New Roman" panose="02020603050405020304" pitchFamily="18" charset="0"/>
              </a:rPr>
              <a:t>）对偶价格大于 </a:t>
            </a:r>
            <a:r>
              <a:rPr lang="en-US" altLang="zh-CN" sz="2800" dirty="0">
                <a:solidFill>
                  <a:srgbClr val="000000"/>
                </a:solidFill>
                <a:cs typeface="Times New Roman" panose="02020603050405020304" pitchFamily="18" charset="0"/>
              </a:rPr>
              <a:t>0</a:t>
            </a:r>
            <a:r>
              <a:rPr lang="zh-CN" altLang="en-US" sz="2800" dirty="0">
                <a:solidFill>
                  <a:srgbClr val="000000"/>
                </a:solidFill>
                <a:cs typeface="Times New Roman" panose="02020603050405020304" pitchFamily="18" charset="0"/>
              </a:rPr>
              <a:t>，则其最优目标函数值得到改善，求</a:t>
            </a:r>
            <a:r>
              <a:rPr lang="en-US" altLang="zh-CN" sz="2800" dirty="0">
                <a:solidFill>
                  <a:srgbClr val="000000"/>
                </a:solidFill>
                <a:cs typeface="Times New Roman" panose="02020603050405020304" pitchFamily="18" charset="0"/>
              </a:rPr>
              <a:t>Max</a:t>
            </a:r>
            <a:r>
              <a:rPr lang="zh-CN" altLang="en-US" sz="2800" dirty="0">
                <a:solidFill>
                  <a:srgbClr val="000000"/>
                </a:solidFill>
                <a:cs typeface="Times New Roman" panose="02020603050405020304" pitchFamily="18" charset="0"/>
              </a:rPr>
              <a:t>则函数值增大，求</a:t>
            </a:r>
            <a:r>
              <a:rPr lang="en-US" altLang="zh-CN" sz="2800" dirty="0">
                <a:solidFill>
                  <a:srgbClr val="000000"/>
                </a:solidFill>
                <a:cs typeface="Times New Roman" panose="02020603050405020304" pitchFamily="18" charset="0"/>
              </a:rPr>
              <a:t>min</a:t>
            </a:r>
            <a:r>
              <a:rPr lang="zh-CN" altLang="en-US" sz="2800" dirty="0">
                <a:solidFill>
                  <a:srgbClr val="000000"/>
                </a:solidFill>
                <a:cs typeface="Times New Roman" panose="02020603050405020304" pitchFamily="18" charset="0"/>
              </a:rPr>
              <a:t>则函数值变小；</a:t>
            </a:r>
            <a:endParaRPr lang="zh-CN" altLang="en-US" sz="2800" dirty="0">
              <a:solidFill>
                <a:srgbClr val="000000"/>
              </a:solidFill>
              <a:cs typeface="Times New Roman" panose="02020603050405020304" pitchFamily="18" charset="0"/>
            </a:endParaRPr>
          </a:p>
          <a:p>
            <a:pPr eaLnBrk="1" hangingPunct="1">
              <a:lnSpc>
                <a:spcPct val="100000"/>
              </a:lnSpc>
              <a:spcBef>
                <a:spcPct val="0"/>
              </a:spcBef>
              <a:buFontTx/>
              <a:buNone/>
            </a:pPr>
            <a:r>
              <a:rPr lang="zh-CN" altLang="en-US" sz="2800" dirty="0">
                <a:solidFill>
                  <a:srgbClr val="000000"/>
                </a:solidFill>
                <a:cs typeface="Times New Roman" panose="02020603050405020304" pitchFamily="18" charset="0"/>
              </a:rPr>
              <a:t>（</a:t>
            </a:r>
            <a:r>
              <a:rPr lang="en-US" altLang="zh-CN" sz="2800" dirty="0">
                <a:solidFill>
                  <a:srgbClr val="000000"/>
                </a:solidFill>
                <a:cs typeface="Times New Roman" panose="02020603050405020304" pitchFamily="18" charset="0"/>
              </a:rPr>
              <a:t>2</a:t>
            </a:r>
            <a:r>
              <a:rPr lang="zh-CN" altLang="en-US" sz="2800" dirty="0">
                <a:solidFill>
                  <a:srgbClr val="000000"/>
                </a:solidFill>
                <a:cs typeface="Times New Roman" panose="02020603050405020304" pitchFamily="18" charset="0"/>
              </a:rPr>
              <a:t>）对偶价格小于 </a:t>
            </a:r>
            <a:r>
              <a:rPr lang="en-US" altLang="zh-CN" sz="2800" dirty="0">
                <a:solidFill>
                  <a:srgbClr val="000000"/>
                </a:solidFill>
                <a:cs typeface="Times New Roman" panose="02020603050405020304" pitchFamily="18" charset="0"/>
              </a:rPr>
              <a:t>0</a:t>
            </a:r>
            <a:r>
              <a:rPr lang="zh-CN" altLang="en-US" sz="2800" dirty="0">
                <a:solidFill>
                  <a:srgbClr val="000000"/>
                </a:solidFill>
                <a:cs typeface="Times New Roman" panose="02020603050405020304" pitchFamily="18" charset="0"/>
              </a:rPr>
              <a:t>，则其最优目标函数值受到影响（变坏），求</a:t>
            </a:r>
            <a:r>
              <a:rPr lang="en-US" altLang="zh-CN" sz="2800" dirty="0">
                <a:solidFill>
                  <a:srgbClr val="000000"/>
                </a:solidFill>
                <a:cs typeface="Times New Roman" panose="02020603050405020304" pitchFamily="18" charset="0"/>
              </a:rPr>
              <a:t>Max</a:t>
            </a:r>
            <a:r>
              <a:rPr lang="zh-CN" altLang="en-US" sz="2800" dirty="0">
                <a:solidFill>
                  <a:srgbClr val="000000"/>
                </a:solidFill>
                <a:cs typeface="Times New Roman" panose="02020603050405020304" pitchFamily="18" charset="0"/>
              </a:rPr>
              <a:t>则函数值变小，求</a:t>
            </a:r>
            <a:r>
              <a:rPr lang="en-US" altLang="zh-CN" sz="2800" dirty="0">
                <a:solidFill>
                  <a:srgbClr val="000000"/>
                </a:solidFill>
                <a:cs typeface="Times New Roman" panose="02020603050405020304" pitchFamily="18" charset="0"/>
              </a:rPr>
              <a:t>min</a:t>
            </a:r>
            <a:r>
              <a:rPr lang="zh-CN" altLang="en-US" sz="2800" dirty="0">
                <a:solidFill>
                  <a:srgbClr val="000000"/>
                </a:solidFill>
                <a:cs typeface="Times New Roman" panose="02020603050405020304" pitchFamily="18" charset="0"/>
              </a:rPr>
              <a:t>则函数值增大；</a:t>
            </a:r>
            <a:endParaRPr lang="zh-CN" altLang="en-US" sz="2800" dirty="0">
              <a:solidFill>
                <a:srgbClr val="000000"/>
              </a:solidFill>
              <a:cs typeface="Times New Roman" panose="02020603050405020304" pitchFamily="18" charset="0"/>
            </a:endParaRPr>
          </a:p>
          <a:p>
            <a:pPr eaLnBrk="1" hangingPunct="1">
              <a:lnSpc>
                <a:spcPct val="100000"/>
              </a:lnSpc>
              <a:spcBef>
                <a:spcPct val="0"/>
              </a:spcBef>
              <a:buFontTx/>
              <a:buNone/>
            </a:pPr>
            <a:r>
              <a:rPr lang="zh-CN" altLang="en-US" sz="2800" dirty="0">
                <a:solidFill>
                  <a:srgbClr val="000000"/>
                </a:solidFill>
                <a:cs typeface="Times New Roman" panose="02020603050405020304" pitchFamily="18" charset="0"/>
              </a:rPr>
              <a:t>（</a:t>
            </a:r>
            <a:r>
              <a:rPr lang="en-US" altLang="zh-CN" sz="2800" dirty="0">
                <a:solidFill>
                  <a:srgbClr val="000000"/>
                </a:solidFill>
                <a:cs typeface="Times New Roman" panose="02020603050405020304" pitchFamily="18" charset="0"/>
              </a:rPr>
              <a:t>3</a:t>
            </a:r>
            <a:r>
              <a:rPr lang="zh-CN" altLang="en-US" sz="2800" dirty="0">
                <a:solidFill>
                  <a:srgbClr val="000000"/>
                </a:solidFill>
                <a:cs typeface="Times New Roman" panose="02020603050405020304" pitchFamily="18" charset="0"/>
              </a:rPr>
              <a:t>）对偶价格等于 </a:t>
            </a:r>
            <a:r>
              <a:rPr lang="en-US" altLang="zh-CN" sz="2800" dirty="0">
                <a:solidFill>
                  <a:srgbClr val="000000"/>
                </a:solidFill>
                <a:cs typeface="Times New Roman" panose="02020603050405020304" pitchFamily="18" charset="0"/>
              </a:rPr>
              <a:t>0</a:t>
            </a:r>
            <a:r>
              <a:rPr lang="zh-CN" altLang="en-US" sz="2800" dirty="0">
                <a:solidFill>
                  <a:srgbClr val="000000"/>
                </a:solidFill>
                <a:cs typeface="Times New Roman" panose="02020603050405020304" pitchFamily="18" charset="0"/>
              </a:rPr>
              <a:t>，则其最优目标函数值不变。</a:t>
            </a:r>
            <a:endParaRPr lang="en-US" altLang="zh-CN" sz="2800" dirty="0">
              <a:solidFill>
                <a:srgbClr val="000000"/>
              </a:solidFill>
              <a:cs typeface="Times New Roman" panose="02020603050405020304" pitchFamily="18" charset="0"/>
            </a:endParaRPr>
          </a:p>
          <a:p>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4400" dirty="0"/>
              <a:t>图解法的灵敏度分析 </a:t>
            </a:r>
            <a:r>
              <a:rPr lang="en-US" altLang="zh-CN" sz="4400" dirty="0"/>
              <a:t>–</a:t>
            </a:r>
            <a:r>
              <a:rPr lang="zh-CN" altLang="en-US" sz="4400" dirty="0"/>
              <a:t>在什么情况下增大</a:t>
            </a:r>
            <a:r>
              <a:rPr lang="zh-CN" altLang="en-US" dirty="0"/>
              <a:t>资源投入不能对最优目标函数值产生影响？</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825625"/>
                <a:ext cx="6638841" cy="4351338"/>
              </a:xfrm>
            </p:spPr>
            <p:txBody>
              <a:bodyPr/>
              <a:lstStyle/>
              <a:p>
                <a:r>
                  <a:rPr lang="en-US" dirty="0"/>
                  <a:t>假设我们将例</a:t>
                </a:r>
                <a:r>
                  <a:rPr lang="en-US" altLang="zh-CN" dirty="0"/>
                  <a:t>1</a:t>
                </a:r>
                <a:r>
                  <a:rPr lang="zh-CN" altLang="en-US" dirty="0"/>
                  <a:t>中原料</a:t>
                </a:r>
                <a:r>
                  <a:rPr lang="en-US" altLang="zh-CN" dirty="0"/>
                  <a:t>A</a:t>
                </a:r>
                <a:r>
                  <a:rPr lang="zh-CN" altLang="en-US" dirty="0"/>
                  <a:t>的总量</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2</m:t>
                        </m:r>
                      </m:sub>
                    </m:sSub>
                  </m:oMath>
                </a14:m>
                <a:r>
                  <a:rPr lang="en-US" dirty="0"/>
                  <a:t>从</a:t>
                </a:r>
                <a:r>
                  <a:rPr lang="en-US" altLang="zh-CN" dirty="0"/>
                  <a:t>400kg</a:t>
                </a:r>
                <a:r>
                  <a:rPr lang="zh-CN" altLang="en-US" dirty="0"/>
                  <a:t>提高的</a:t>
                </a:r>
                <a:r>
                  <a:rPr lang="en-US" altLang="zh-CN" dirty="0"/>
                  <a:t>410kg</a:t>
                </a:r>
                <a:r>
                  <a:rPr lang="zh-CN" altLang="en-US" dirty="0"/>
                  <a:t>，对最优解是否有影响？（提示：原料</a:t>
                </a:r>
                <a:r>
                  <a:rPr lang="en-US" altLang="zh-CN" dirty="0"/>
                  <a:t>A</a:t>
                </a:r>
                <a:r>
                  <a:rPr lang="zh-CN" altLang="en-US" dirty="0"/>
                  <a:t>的松弛变量是</a:t>
                </a:r>
                <a:r>
                  <a:rPr lang="en-US" altLang="zh-CN" dirty="0"/>
                  <a:t>50kg</a:t>
                </a:r>
                <a:r>
                  <a:rPr lang="zh-CN" altLang="en-US" dirty="0"/>
                  <a:t>）</a:t>
                </a:r>
                <a:endParaRPr lang="en-US" altLang="zh-CN" dirty="0"/>
              </a:p>
              <a:p>
                <a:pPr lvl="1"/>
                <a:r>
                  <a:rPr lang="zh-CN" altLang="en-US" dirty="0"/>
                  <a:t>作图法角度：从右图可知，最优解是由</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i="1">
                        <a:latin typeface="Cambria Math" panose="02040503050406030204" pitchFamily="18" charset="0"/>
                      </a:rPr>
                      <m:t>250</m:t>
                    </m:r>
                    <m:r>
                      <a:rPr lang="zh-CN" altLang="en-US" i="1">
                        <a:latin typeface="Cambria Math" panose="02040503050406030204" pitchFamily="18" charset="0"/>
                      </a:rPr>
                      <m:t>和</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i="1">
                        <a:latin typeface="Cambria Math" panose="02040503050406030204" pitchFamily="18" charset="0"/>
                      </a:rPr>
                      <m:t>300</m:t>
                    </m:r>
                  </m:oMath>
                </a14:m>
                <a:r>
                  <a:rPr lang="en-US" altLang="zh-CN" dirty="0" err="1"/>
                  <a:t>决定的</a:t>
                </a:r>
                <a:r>
                  <a:rPr lang="zh-CN" altLang="en-US" dirty="0"/>
                  <a:t>，与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2</m:t>
                        </m:r>
                      </m:sub>
                    </m:sSub>
                  </m:oMath>
                </a14:m>
                <a:r>
                  <a:rPr lang="en-US" altLang="zh-CN" dirty="0" err="1"/>
                  <a:t>无关</a:t>
                </a:r>
                <a:r>
                  <a:rPr lang="zh-CN" altLang="en-US" dirty="0"/>
                  <a:t>。</a:t>
                </a:r>
                <a:endParaRPr lang="en-US" altLang="zh-CN" dirty="0"/>
              </a:p>
              <a:p>
                <a:pPr lvl="1"/>
                <a:r>
                  <a:rPr lang="zh-CN" altLang="en-US" dirty="0">
                    <a:solidFill>
                      <a:srgbClr val="FF0000"/>
                    </a:solidFill>
                  </a:rPr>
                  <a:t>松弛变量角度：在松弛变量</a:t>
                </a:r>
                <a:r>
                  <a:rPr lang="en-US" altLang="zh-CN" dirty="0">
                    <a:solidFill>
                      <a:srgbClr val="FF0000"/>
                    </a:solidFill>
                  </a:rPr>
                  <a:t>&gt;0</a:t>
                </a:r>
                <a:r>
                  <a:rPr lang="zh-CN" altLang="en-US" dirty="0">
                    <a:solidFill>
                      <a:srgbClr val="FF0000"/>
                    </a:solidFill>
                  </a:rPr>
                  <a:t>的情况下，提高约束常数不能影响最优解</a:t>
                </a:r>
                <a:r>
                  <a:rPr lang="en-US" altLang="zh-CN" dirty="0">
                    <a:solidFill>
                      <a:srgbClr val="FF0000"/>
                    </a:solidFill>
                  </a:rPr>
                  <a:t>=&gt;</a:t>
                </a:r>
                <a:r>
                  <a:rPr lang="zh-CN" altLang="en-US" dirty="0">
                    <a:solidFill>
                      <a:srgbClr val="FF0000"/>
                    </a:solidFill>
                  </a:rPr>
                  <a:t>不能改进最优值</a:t>
                </a:r>
                <a:r>
                  <a:rPr lang="en-US" altLang="zh-CN" dirty="0">
                    <a:solidFill>
                      <a:srgbClr val="FF0000"/>
                    </a:solidFill>
                  </a:rPr>
                  <a:t>=&gt;</a:t>
                </a:r>
                <a:r>
                  <a:rPr lang="zh-CN" altLang="en-US" dirty="0">
                    <a:solidFill>
                      <a:srgbClr val="FF0000"/>
                    </a:solidFill>
                  </a:rPr>
                  <a:t>对偶价格为</a:t>
                </a:r>
                <a:r>
                  <a:rPr lang="en-US" altLang="zh-CN" dirty="0">
                    <a:solidFill>
                      <a:srgbClr val="FF0000"/>
                    </a:solidFill>
                  </a:rPr>
                  <a:t>0</a:t>
                </a:r>
                <a:r>
                  <a:rPr lang="zh-CN" altLang="en-US" dirty="0">
                    <a:solidFill>
                      <a:srgbClr val="FF0000"/>
                    </a:solidFill>
                  </a:rPr>
                  <a:t>。</a:t>
                </a:r>
                <a:endParaRPr lang="en-US" altLang="zh-CN" dirty="0">
                  <a:solidFill>
                    <a:srgbClr val="FF0000"/>
                  </a:solidFill>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838200" y="1825625"/>
                <a:ext cx="6638841" cy="4351338"/>
              </a:xfrm>
              <a:blipFill rotWithShape="1">
                <a:blip r:embed="rId1"/>
                <a:stretch>
                  <a:fillRect r="8" b="7"/>
                </a:stretch>
              </a:blipFill>
            </p:spPr>
            <p:txBody>
              <a:bodyPr/>
              <a:lstStyle/>
              <a:p>
                <a:r>
                  <a:rPr lang="zh-CN" altLang="en-US">
                    <a:noFill/>
                  </a:rPr>
                  <a:t> </a:t>
                </a:r>
              </a:p>
            </p:txBody>
          </p:sp>
        </mc:Fallback>
      </mc:AlternateContent>
      <p:pic>
        <p:nvPicPr>
          <p:cNvPr id="4" name="Picture 2" descr="K:\hc.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2496" y="1990641"/>
            <a:ext cx="4389747" cy="4056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当某约束条件中的剩余变量不为零时，则这个约束条件的对偶价格为</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0</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&gt;0</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文本框 8"/>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&lt;0</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文本框 9"/>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对偶价格与松弛变量（或剩余变量）无关</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6"/>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椭圆 12"/>
          <p:cNvSpPr>
            <a:spLocks noChangeAspect="1"/>
          </p:cNvSpPr>
          <p:nvPr>
            <p:custDataLst>
              <p:tags r:id="rId7"/>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椭圆 13"/>
          <p:cNvSpPr>
            <a:spLocks noChangeAspect="1"/>
          </p:cNvSpPr>
          <p:nvPr>
            <p:custDataLst>
              <p:tags r:id="rId8"/>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椭圆 1"/>
          <p:cNvSpPr>
            <a:spLocks noChangeAspect="1"/>
          </p:cNvSpPr>
          <p:nvPr>
            <p:custDataLst>
              <p:tags r:id="rId9"/>
            </p:custDataLst>
          </p:nvPr>
        </p:nvSpPr>
        <p:spPr>
          <a:xfrm>
            <a:off x="1574800" y="2885281"/>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10"/>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4000" dirty="0"/>
              <a:t>如果是剩余变量</a:t>
            </a:r>
            <a:r>
              <a:rPr lang="en-US" altLang="zh-CN" sz="4000" dirty="0"/>
              <a:t>&gt;0</a:t>
            </a:r>
            <a:r>
              <a:rPr lang="zh-CN" altLang="en-US" sz="4000" dirty="0"/>
              <a:t>且其他约束条件不变的情况下，对应的约束常数如何变化才会不影响最优解？</a:t>
            </a:r>
            <a:endParaRPr lang="en-US" altLang="zh-CN" sz="4000" dirty="0"/>
          </a:p>
        </p:txBody>
      </p:sp>
      <p:sp>
        <p:nvSpPr>
          <p:cNvPr id="7" name="文本框 6"/>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提高约束常数</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降低约束常数</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4"/>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椭圆 1"/>
          <p:cNvSpPr>
            <a:spLocks noChangeAspect="1"/>
          </p:cNvSpPr>
          <p:nvPr>
            <p:custDataLst>
              <p:tags r:id="rId5"/>
            </p:custDataLst>
          </p:nvPr>
        </p:nvSpPr>
        <p:spPr>
          <a:xfrm>
            <a:off x="1566545" y="37203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6"/>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随堂练习3</a:t>
            </a:r>
            <a:endParaRPr lang="en-US" dirty="0"/>
          </a:p>
        </p:txBody>
      </p:sp>
      <p:sp>
        <p:nvSpPr>
          <p:cNvPr id="3" name="Content Placeholder 2"/>
          <p:cNvSpPr>
            <a:spLocks noGrp="1"/>
          </p:cNvSpPr>
          <p:nvPr>
            <p:ph idx="1"/>
          </p:nvPr>
        </p:nvSpPr>
        <p:spPr>
          <a:xfrm>
            <a:off x="838200" y="1380490"/>
            <a:ext cx="10515600" cy="3836035"/>
          </a:xfrm>
        </p:spPr>
        <p:txBody>
          <a:bodyPr/>
          <a:lstStyle/>
          <a:p>
            <a:pPr marL="0" indent="0">
              <a:buNone/>
            </a:pPr>
            <a:r>
              <a:rPr lang="zh-CN" altLang="en-US"/>
              <a:t>靠近某河流有两个化工厂</a:t>
            </a:r>
            <a:r>
              <a:rPr lang="en-US" altLang="zh-CN"/>
              <a:t>(</a:t>
            </a:r>
            <a:r>
              <a:rPr lang="zh-CN" altLang="en-US"/>
              <a:t>见图所示</a:t>
            </a:r>
            <a:r>
              <a:rPr lang="en-US" altLang="zh-CN"/>
              <a:t>)</a:t>
            </a:r>
            <a:r>
              <a:rPr lang="zh-CN" altLang="en-US"/>
              <a:t>，流经第一家工厂的河水流量是每天</a:t>
            </a:r>
            <a:r>
              <a:rPr lang="en-US" altLang="zh-CN"/>
              <a:t>500</a:t>
            </a:r>
            <a:r>
              <a:rPr lang="zh-CN" altLang="en-US"/>
              <a:t>万立方米；在两家工厂之间有一条流量为每天</a:t>
            </a:r>
            <a:r>
              <a:rPr lang="en-US" altLang="zh-CN"/>
              <a:t>200</a:t>
            </a:r>
            <a:r>
              <a:rPr lang="zh-CN" altLang="en-US"/>
              <a:t>万立方米的支流，第一家工厂每天排放工业污水</a:t>
            </a:r>
            <a:r>
              <a:rPr lang="en-US" altLang="zh-CN"/>
              <a:t>2</a:t>
            </a:r>
            <a:r>
              <a:rPr lang="zh-CN" altLang="en-US"/>
              <a:t>万立方米；第二家工厂每天排放工业污水</a:t>
            </a:r>
            <a:r>
              <a:rPr lang="en-US" altLang="zh-CN"/>
              <a:t>1.4</a:t>
            </a:r>
            <a:r>
              <a:rPr lang="zh-CN" altLang="en-US"/>
              <a:t>万立方米．从第一家工厂排出的污水流到第二家工厂之前，有</a:t>
            </a:r>
            <a:r>
              <a:rPr lang="en-US" altLang="zh-CN"/>
              <a:t>20%</a:t>
            </a:r>
            <a:r>
              <a:rPr lang="zh-CN" altLang="en-US"/>
              <a:t>可自然净化．根据环保要求，河流中工业污水的含量应不大于</a:t>
            </a:r>
            <a:r>
              <a:rPr lang="en-US" altLang="zh-CN"/>
              <a:t>0.2%</a:t>
            </a:r>
            <a:r>
              <a:rPr lang="zh-CN" altLang="en-US"/>
              <a:t>．若这两家工厂各自处理一部分污水，第一家工厂处理污水的成本是</a:t>
            </a:r>
            <a:r>
              <a:rPr lang="en-US" altLang="zh-CN"/>
              <a:t>1000</a:t>
            </a:r>
            <a:r>
              <a:rPr lang="zh-CN" altLang="en-US"/>
              <a:t>元</a:t>
            </a:r>
            <a:r>
              <a:rPr lang="en-US" altLang="zh-CN"/>
              <a:t>/</a:t>
            </a:r>
            <a:r>
              <a:rPr lang="zh-CN" altLang="en-US"/>
              <a:t>万立方米，第二家工厂处理污水的成本是</a:t>
            </a:r>
            <a:r>
              <a:rPr lang="en-US" altLang="zh-CN"/>
              <a:t>800</a:t>
            </a:r>
            <a:r>
              <a:rPr lang="zh-CN" altLang="en-US"/>
              <a:t>元</a:t>
            </a:r>
            <a:r>
              <a:rPr lang="en-US" altLang="zh-CN"/>
              <a:t>/</a:t>
            </a:r>
            <a:r>
              <a:rPr lang="zh-CN" altLang="en-US"/>
              <a:t>万立方米．现在要问在满足环保要求的条件下，每厂各应处理多少污水，才能使两厂总的处理污水费用最小？</a:t>
            </a:r>
            <a:endParaRPr lang="zh-CN" altLang="en-US"/>
          </a:p>
        </p:txBody>
      </p:sp>
      <p:pic>
        <p:nvPicPr>
          <p:cNvPr id="4" name="图片 3"/>
          <p:cNvPicPr>
            <a:picLocks noChangeAspect="1"/>
          </p:cNvPicPr>
          <p:nvPr/>
        </p:nvPicPr>
        <p:blipFill>
          <a:blip r:embed="rId1"/>
          <a:stretch>
            <a:fillRect/>
          </a:stretch>
        </p:blipFill>
        <p:spPr>
          <a:xfrm>
            <a:off x="2353945" y="4925060"/>
            <a:ext cx="6086475" cy="174307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本章总结</a:t>
            </a:r>
            <a:endParaRPr lang="en-US" dirty="0"/>
          </a:p>
        </p:txBody>
      </p:sp>
      <p:sp>
        <p:nvSpPr>
          <p:cNvPr id="3" name="Content Placeholder 2"/>
          <p:cNvSpPr>
            <a:spLocks noGrp="1"/>
          </p:cNvSpPr>
          <p:nvPr>
            <p:ph idx="1"/>
          </p:nvPr>
        </p:nvSpPr>
        <p:spPr/>
        <p:txBody>
          <a:bodyPr>
            <a:normAutofit fontScale="77500" lnSpcReduction="20000"/>
          </a:bodyPr>
          <a:lstStyle/>
          <a:p>
            <a:r>
              <a:rPr lang="zh-CN" altLang="en-US" dirty="0">
                <a:latin typeface="楷体" panose="02010609060101010101" pitchFamily="49" charset="-122"/>
              </a:rPr>
              <a:t>线性规划的意义</a:t>
            </a:r>
            <a:endParaRPr lang="en-US" altLang="zh-CN" dirty="0">
              <a:latin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什么是线性函数？</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rPr>
              <a:t>为什么要研究线性规划问题？</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线性规划问题的提出</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rPr>
              <a:t>线性规划的建模过程包含哪些步骤？</a:t>
            </a:r>
            <a:endParaRPr lang="en-US" altLang="zh-CN" dirty="0">
              <a:latin typeface="楷体" panose="02010609060101010101" pitchFamily="49" charset="-122"/>
            </a:endParaRPr>
          </a:p>
          <a:p>
            <a:pPr lvl="1"/>
            <a:r>
              <a:rPr lang="zh-CN" altLang="en-US" dirty="0">
                <a:latin typeface="楷体" panose="02010609060101010101" pitchFamily="49" charset="-122"/>
              </a:rPr>
              <a:t>什么是线性规划的一般形式？</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线性规划问题的图解法</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什么是线性规划问题的可行解、最优解、和最优值？</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如何确定线性规划的可行域？</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如何利用图解法确定线性规划问题的最优解？</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rPr>
              <a:t>线性规划中最优解的可能有哪些情况？</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什么是线性规划问题的标准化？</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图解法的灵敏度分析</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rPr>
              <a:t>目标函数系数的灵敏度分析与斜率的关系</a:t>
            </a:r>
            <a:endParaRPr lang="en-US" altLang="zh-CN" dirty="0">
              <a:latin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约束条件常数的灵敏度分析与影子价格</a:t>
            </a:r>
            <a:endParaRPr lang="en-US" altLang="zh-CN" dirty="0">
              <a:latin typeface="楷体" panose="02010609060101010101" pitchFamily="49" charset="-122"/>
              <a:ea typeface="楷体" panose="02010609060101010101" pitchFamily="49" charset="-122"/>
            </a:endParaRP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err="1"/>
              <a:t>课后</a:t>
            </a:r>
            <a:r>
              <a:rPr lang="zh-CN" altLang="en-US" dirty="0" err="1"/>
              <a:t>作业</a:t>
            </a:r>
            <a:endParaRPr lang="zh-CN" altLang="en-US" dirty="0" err="1"/>
          </a:p>
        </p:txBody>
      </p:sp>
      <p:sp>
        <p:nvSpPr>
          <p:cNvPr id="3" name="Content Placeholder 2"/>
          <p:cNvSpPr>
            <a:spLocks noGrp="1"/>
          </p:cNvSpPr>
          <p:nvPr>
            <p:ph idx="1"/>
          </p:nvPr>
        </p:nvSpPr>
        <p:spPr/>
        <p:txBody>
          <a:bodyPr>
            <a:normAutofit/>
          </a:bodyPr>
          <a:lstStyle/>
          <a:p>
            <a:r>
              <a:rPr lang="zh-CN" altLang="en-US" dirty="0"/>
              <a:t>第二章课后习题</a:t>
            </a:r>
            <a:r>
              <a:rPr lang="en-US" altLang="zh-CN" dirty="0"/>
              <a:t>4</a:t>
            </a:r>
            <a:r>
              <a:rPr lang="zh-CN" altLang="en-US" dirty="0"/>
              <a:t>，</a:t>
            </a:r>
            <a:r>
              <a:rPr lang="en-US" altLang="zh-CN" dirty="0"/>
              <a:t>6  </a:t>
            </a:r>
            <a:r>
              <a:rPr lang="zh-CN" altLang="en-US" dirty="0"/>
              <a:t>（第四版、</a:t>
            </a:r>
            <a:r>
              <a:rPr lang="zh-CN" altLang="en-US" dirty="0"/>
              <a:t>第五版）</a:t>
            </a:r>
            <a:endParaRPr lang="zh-CN" altLang="en-US" dirty="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RAINPROBLEM" val="ProblemItem"/>
</p:tagLst>
</file>

<file path=ppt/tags/tag2.xml><?xml version="1.0" encoding="utf-8"?>
<p:tagLst xmlns:p="http://schemas.openxmlformats.org/presentationml/2006/main">
  <p:tag name="RAINPROBLEM" val="ProblemItem"/>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Item"/>
</p:tagLst>
</file>

<file path=ppt/tags/tag7.xml><?xml version="1.0" encoding="utf-8"?>
<p:tagLst xmlns:p="http://schemas.openxmlformats.org/presentationml/2006/main">
  <p:tag name="RAINPROBLEM" val="ProblemItem"/>
</p:tagLst>
</file>

<file path=ppt/tags/tag8.xml><?xml version="1.0" encoding="utf-8"?>
<p:tagLst xmlns:p="http://schemas.openxmlformats.org/presentationml/2006/main">
  <p:tag name="RAINPROBLEM" val="ProblemItem"/>
</p:tagLst>
</file>

<file path=ppt/tags/tag9.xml><?xml version="1.0" encoding="utf-8"?>
<p:tagLst xmlns:p="http://schemas.openxmlformats.org/presentationml/2006/main">
  <p:tag name="RAINPROBLEM" val="ProblemBullet"/>
  <p:tag name="RAINPROBLEMTYPE" val="MultipleChoiceMA"/>
  <p:tag name="RAINBULLET" val="Correct"/>
</p:tagLst>
</file>

<file path=ppt/tags/tag10.xml><?xml version="1.0" encoding="utf-8"?>
<p:tagLst xmlns:p="http://schemas.openxmlformats.org/presentationml/2006/main">
  <p:tag name="RAINPROBLEM" val="ProblemBullet"/>
  <p:tag name="RAINPROBLEMTYPE" val="MultipleChoiceMA"/>
  <p:tag name="RAINBULLET" val="Wrong"/>
</p:tagLst>
</file>

<file path=ppt/tags/tag11.xml><?xml version="1.0" encoding="utf-8"?>
<p:tagLst xmlns:p="http://schemas.openxmlformats.org/presentationml/2006/main">
  <p:tag name="RAINPROBLEM" val="ProblemBullet"/>
  <p:tag name="RAINPROBLEMTYPE" val="MultipleChoiceMA"/>
  <p:tag name="RAINBULLET" val="Correct"/>
</p:tagLst>
</file>

<file path=ppt/tags/tag12.xml><?xml version="1.0" encoding="utf-8"?>
<p:tagLst xmlns:p="http://schemas.openxmlformats.org/presentationml/2006/main">
  <p:tag name="RAINPROBLEM" val="ProblemBullet"/>
  <p:tag name="RAINPROBLEMTYPE" val="MultipleChoiceMA"/>
  <p:tag name="RAINBULLET" val="Correct"/>
</p:tagLst>
</file>

<file path=ppt/tags/tag13.xml><?xml version="1.0" encoding="utf-8"?>
<p:tagLst xmlns:p="http://schemas.openxmlformats.org/presentationml/2006/main">
  <p:tag name="RAINPROBLEM" val="ProblemItem"/>
</p:tagLst>
</file>

<file path=ppt/tags/tag14.xml><?xml version="1.0" encoding="utf-8"?>
<p:tagLst xmlns:p="http://schemas.openxmlformats.org/presentationml/2006/main">
  <p:tag name="RAINPROBLEM" val="ProblemItem"/>
</p:tagLst>
</file>

<file path=ppt/tags/tag15.xml><?xml version="1.0" encoding="utf-8"?>
<p:tagLst xmlns:p="http://schemas.openxmlformats.org/presentationml/2006/main">
  <p:tag name="RAINPROBLEM" val="ProblemItem"/>
</p:tagLst>
</file>

<file path=ppt/tags/tag16.xml><?xml version="1.0" encoding="utf-8"?>
<p:tagLst xmlns:p="http://schemas.openxmlformats.org/presentationml/2006/main">
  <p:tag name="RAINPROBLEM" val="ProblemItem"/>
</p:tagLst>
</file>

<file path=ppt/tags/tag17.xml><?xml version="1.0" encoding="utf-8"?>
<p:tagLst xmlns:p="http://schemas.openxmlformats.org/presentationml/2006/main">
  <p:tag name="RAINPROBLEM" val="ProblemBullet"/>
  <p:tag name="RAINPROBLEMTYPE" val="MultipleChoiceMA"/>
  <p:tag name="RAINBULLET" val="Wrong"/>
</p:tagLst>
</file>

<file path=ppt/tags/tag18.xml><?xml version="1.0" encoding="utf-8"?>
<p:tagLst xmlns:p="http://schemas.openxmlformats.org/presentationml/2006/main">
  <p:tag name="RAINPROBLEM" val="ProblemItem"/>
</p:tagLst>
</file>

<file path=ppt/tags/tag19.xml><?xml version="1.0" encoding="utf-8"?>
<p:tagLst xmlns:p="http://schemas.openxmlformats.org/presentationml/2006/main">
  <p:tag name="RAINPROBLEM" val="ProblemItem"/>
</p:tagLst>
</file>

<file path=ppt/tags/tag20.xml><?xml version="1.0" encoding="utf-8"?>
<p:tagLst xmlns:p="http://schemas.openxmlformats.org/presentationml/2006/main">
  <p:tag name="RAINPROBLEM" val="ProblemBullet"/>
  <p:tag name="RAINPROBLEMTYPE" val="MultipleChoiceMA"/>
  <p:tag name="RAINBULLET" val="Wrong"/>
</p:tagLst>
</file>

<file path=ppt/tags/tag21.xml><?xml version="1.0" encoding="utf-8"?>
<p:tagLst xmlns:p="http://schemas.openxmlformats.org/presentationml/2006/main">
  <p:tag name="RAINPROBLEM" val="ProblemBullet"/>
  <p:tag name="RAINPROBLEMTYPE" val="MultipleChoiceMA"/>
  <p:tag name="RAINBULLET" val="Correct"/>
</p:tagLst>
</file>

<file path=ppt/tags/tag22.xml><?xml version="1.0" encoding="utf-8"?>
<p:tagLst xmlns:p="http://schemas.openxmlformats.org/presentationml/2006/main">
  <p:tag name="RAINPROBLEM" val="ProblemBody"/>
</p:tagLst>
</file>

<file path=ppt/tags/tag23.xml><?xml version="1.0" encoding="utf-8"?>
<p:tagLst xmlns:p="http://schemas.openxmlformats.org/presentationml/2006/main">
  <p:tag name="RAINPROBLEM" val="FillBlank"/>
  <p:tag name="PROBLEMBLANKKEYWORD" val="填空"/>
  <p:tag name="PROBLEMBLANK" val="[{&quot;num&quot;:1,&quot;caseSensitive&quot;:false,&quot;fuzzyMatch&quot;:false,&quot;Score&quot;:1.0,&quot;answers&quot;:[&quot;无可行解&quot;]}]"/>
  <p:tag name="PROBLEMSCORE" val="1.0"/>
</p:tagLst>
</file>

<file path=ppt/tags/tag24.xml><?xml version="1.0" encoding="utf-8"?>
<p:tagLst xmlns:p="http://schemas.openxmlformats.org/presentationml/2006/main">
  <p:tag name="RAINPROBLEM" val="ProblemBody"/>
</p:tagLst>
</file>

<file path=ppt/tags/tag25.xml><?xml version="1.0" encoding="utf-8"?>
<p:tagLst xmlns:p="http://schemas.openxmlformats.org/presentationml/2006/main">
  <p:tag name="RAINPROBLEM" val="ProblemItem"/>
  <p:tag name="KSO_WM_DIAGRAM_VIRTUALLY_FRAME" val="{&quot;height&quot;:253.1250393700788,&quot;left&quot;:123.75,&quot;top&quot;:219.37503937007872,&quot;width&quot;:740.25}"/>
</p:tagLst>
</file>

<file path=ppt/tags/tag26.xml><?xml version="1.0" encoding="utf-8"?>
<p:tagLst xmlns:p="http://schemas.openxmlformats.org/presentationml/2006/main">
  <p:tag name="RAINPROBLEM" val="ProblemItem"/>
  <p:tag name="KSO_WM_DIAGRAM_VIRTUALLY_FRAME" val="{&quot;height&quot;:253.1250393700788,&quot;left&quot;:123.75,&quot;top&quot;:219.37503937007872,&quot;width&quot;:740.25}"/>
</p:tagLst>
</file>

<file path=ppt/tags/tag27.xml><?xml version="1.0" encoding="utf-8"?>
<p:tagLst xmlns:p="http://schemas.openxmlformats.org/presentationml/2006/main">
  <p:tag name="RAINPROBLEM" val="ProblemItem"/>
  <p:tag name="KSO_WM_DIAGRAM_VIRTUALLY_FRAME" val="{&quot;height&quot;:253.1250393700788,&quot;left&quot;:123.75,&quot;top&quot;:219.37503937007872,&quot;width&quot;:740.25}"/>
</p:tagLst>
</file>

<file path=ppt/tags/tag28.xml><?xml version="1.0" encoding="utf-8"?>
<p:tagLst xmlns:p="http://schemas.openxmlformats.org/presentationml/2006/main">
  <p:tag name="RAINPROBLEM" val="ProblemItem"/>
  <p:tag name="KSO_WM_DIAGRAM_VIRTUALLY_FRAME" val="{&quot;height&quot;:253.1250393700788,&quot;left&quot;:123.75,&quot;top&quot;:219.37503937007872,&quot;width&quot;:740.25}"/>
</p:tagLst>
</file>

<file path=ppt/tags/tag29.xml><?xml version="1.0" encoding="utf-8"?>
<p:tagLst xmlns:p="http://schemas.openxmlformats.org/presentationml/2006/main">
  <p:tag name="RAINPROBLEM" val="ProblemBullet"/>
  <p:tag name="RAINPROBLEMTYPE" val="MultipleChoice"/>
  <p:tag name="RAINBULLET" val="Wrong"/>
  <p:tag name="KSO_WM_DIAGRAM_VIRTUALLY_FRAME" val="{&quot;height&quot;:253.1250393700788,&quot;left&quot;:123.75,&quot;top&quot;:219.37503937007872,&quot;width&quot;:740.25}"/>
</p:tagLst>
</file>

<file path=ppt/tags/tag30.xml><?xml version="1.0" encoding="utf-8"?>
<p:tagLst xmlns:p="http://schemas.openxmlformats.org/presentationml/2006/main">
  <p:tag name="RAINPROBLEM" val="ProblemBullet"/>
  <p:tag name="RAINPROBLEMTYPE" val="MultipleChoice"/>
  <p:tag name="RAINBULLET" val="Wrong"/>
  <p:tag name="KSO_WM_DIAGRAM_VIRTUALLY_FRAME" val="{&quot;height&quot;:253.1250393700788,&quot;left&quot;:123.75,&quot;top&quot;:219.37503937007872,&quot;width&quot;:740.25}"/>
</p:tagLst>
</file>

<file path=ppt/tags/tag31.xml><?xml version="1.0" encoding="utf-8"?>
<p:tagLst xmlns:p="http://schemas.openxmlformats.org/presentationml/2006/main">
  <p:tag name="RAINPROBLEM" val="ProblemBullet"/>
  <p:tag name="RAINPROBLEMTYPE" val="MultipleChoice"/>
  <p:tag name="RAINBULLET" val="Wrong"/>
  <p:tag name="KSO_WM_DIAGRAM_VIRTUALLY_FRAME" val="{&quot;height&quot;:253.1250393700788,&quot;left&quot;:123.75,&quot;top&quot;:219.37503937007872,&quot;width&quot;:740.25}"/>
</p:tagLst>
</file>

<file path=ppt/tags/tag32.xml><?xml version="1.0" encoding="utf-8"?>
<p:tagLst xmlns:p="http://schemas.openxmlformats.org/presentationml/2006/main">
  <p:tag name="RAINPROBLEM" val="ProblemBullet"/>
  <p:tag name="RAINPROBLEMTYPE" val="MultipleChoice"/>
  <p:tag name="RAINBULLET" val="Wrong"/>
  <p:tag name="KSO_WM_DIAGRAM_VIRTUALLY_FRAME" val="{&quot;height&quot;:253.1250393700788,&quot;left&quot;:123.75,&quot;top&quot;:219.37503937007872,&quot;width&quot;:740.25}"/>
</p:tagLst>
</file>

<file path=ppt/tags/tag33.xml><?xml version="1.0" encoding="utf-8"?>
<p:tagLst xmlns:p="http://schemas.openxmlformats.org/presentationml/2006/main">
  <p:tag name="RAINPROBLEM" val="MultipleChoice"/>
  <p:tag name="PROBLEMSCORE" val="1.0"/>
</p:tagLst>
</file>

<file path=ppt/tags/tag34.xml><?xml version="1.0" encoding="utf-8"?>
<p:tagLst xmlns:p="http://schemas.openxmlformats.org/presentationml/2006/main">
  <p:tag name="RAINPROBLEM" val="ProblemBullet"/>
  <p:tag name="RAINPROBLEMTYPE" val="MultipleChoice"/>
  <p:tag name="RAINBULLET" val="Wrong"/>
</p:tagLst>
</file>

<file path=ppt/tags/tag35.xml><?xml version="1.0" encoding="utf-8"?>
<p:tagLst xmlns:p="http://schemas.openxmlformats.org/presentationml/2006/main">
  <p:tag name="RAINPROBLEM" val="ProblemBody"/>
</p:tagLst>
</file>

<file path=ppt/tags/tag36.xml><?xml version="1.0" encoding="utf-8"?>
<p:tagLst xmlns:p="http://schemas.openxmlformats.org/presentationml/2006/main">
  <p:tag name="RAINPROBLEM" val="ProblemItem"/>
</p:tagLst>
</file>

<file path=ppt/tags/tag37.xml><?xml version="1.0" encoding="utf-8"?>
<p:tagLst xmlns:p="http://schemas.openxmlformats.org/presentationml/2006/main">
  <p:tag name="RAINPROBLEM" val="ProblemItem"/>
</p:tagLst>
</file>

<file path=ppt/tags/tag38.xml><?xml version="1.0" encoding="utf-8"?>
<p:tagLst xmlns:p="http://schemas.openxmlformats.org/presentationml/2006/main">
  <p:tag name="RAINPROBLEM" val="ProblemItem"/>
</p:tagLst>
</file>

<file path=ppt/tags/tag39.xml><?xml version="1.0" encoding="utf-8"?>
<p:tagLst xmlns:p="http://schemas.openxmlformats.org/presentationml/2006/main">
  <p:tag name="RAINPROBLEM" val="ProblemItem"/>
</p:tagLst>
</file>

<file path=ppt/tags/tag40.xml><?xml version="1.0" encoding="utf-8"?>
<p:tagLst xmlns:p="http://schemas.openxmlformats.org/presentationml/2006/main">
  <p:tag name="RAINPROBLEM" val="ProblemBullet"/>
  <p:tag name="RAINPROBLEMTYPE" val="MultipleChoice"/>
  <p:tag name="RAINBULLET" val="Wrong"/>
</p:tagLst>
</file>

<file path=ppt/tags/tag41.xml><?xml version="1.0" encoding="utf-8"?>
<p:tagLst xmlns:p="http://schemas.openxmlformats.org/presentationml/2006/main">
  <p:tag name="RAINPROBLEM" val="ProblemBullet"/>
  <p:tag name="RAINPROBLEMTYPE" val="MultipleChoice"/>
  <p:tag name="RAINBULLET" val="Wrong"/>
</p:tagLst>
</file>

<file path=ppt/tags/tag42.xml><?xml version="1.0" encoding="utf-8"?>
<p:tagLst xmlns:p="http://schemas.openxmlformats.org/presentationml/2006/main">
  <p:tag name="RAINPROBLEM" val="ProblemBullet"/>
  <p:tag name="RAINPROBLEMTYPE" val="MultipleChoice"/>
  <p:tag name="RAINBULLET" val="Wrong"/>
</p:tagLst>
</file>

<file path=ppt/tags/tag43.xml><?xml version="1.0" encoding="utf-8"?>
<p:tagLst xmlns:p="http://schemas.openxmlformats.org/presentationml/2006/main">
  <p:tag name="RAINPROBLEMTYPE" val="ProblemTypeMarker"/>
</p:tagLst>
</file>

<file path=ppt/tags/tag44.xml><?xml version="1.0" encoding="utf-8"?>
<p:tagLst xmlns:p="http://schemas.openxmlformats.org/presentationml/2006/main">
  <p:tag name="RAINPROBLEMTYPE" val="ProblemTypeMarker"/>
</p:tagLst>
</file>

<file path=ppt/tags/tag45.xml><?xml version="1.0" encoding="utf-8"?>
<p:tagLst xmlns:p="http://schemas.openxmlformats.org/presentationml/2006/main">
  <p:tag name="RAINPROBLEMTYPE" val="ProblemTypeMarker"/>
</p:tagLst>
</file>

<file path=ppt/tags/tag46.xml><?xml version="1.0" encoding="utf-8"?>
<p:tagLst xmlns:p="http://schemas.openxmlformats.org/presentationml/2006/main">
  <p:tag name="RAINPROBLEMTYPE" val="ProblemTypeMarker"/>
</p:tagLst>
</file>

<file path=ppt/tags/tag47.xml><?xml version="1.0" encoding="utf-8"?>
<p:tagLst xmlns:p="http://schemas.openxmlformats.org/presentationml/2006/main">
  <p:tag name="RAINPROBLEMTYPE" val="ProblemTypeMarker"/>
</p:tagLst>
</file>

<file path=ppt/tags/tag48.xml><?xml version="1.0" encoding="utf-8"?>
<p:tagLst xmlns:p="http://schemas.openxmlformats.org/presentationml/2006/main">
  <p:tag name="RAINPROBLEM" val="MultipleChoice"/>
  <p:tag name="PROBLEMSCORE" val="1.0"/>
</p:tagLst>
</file>

<file path=ppt/tags/tag49.xml><?xml version="1.0" encoding="utf-8"?>
<p:tagLst xmlns:p="http://schemas.openxmlformats.org/presentationml/2006/main">
  <p:tag name="RAINPROBLEM" val="ProblemBody"/>
</p:tagLst>
</file>

<file path=ppt/tags/tag50.xml><?xml version="1.0" encoding="utf-8"?>
<p:tagLst xmlns:p="http://schemas.openxmlformats.org/presentationml/2006/main">
  <p:tag name="RAINPROBLEM" val="ProblemBody"/>
</p:tagLst>
</file>

<file path=ppt/tags/tag51.xml><?xml version="1.0" encoding="utf-8"?>
<p:tagLst xmlns:p="http://schemas.openxmlformats.org/presentationml/2006/main">
  <p:tag name="RAINPROBLEM" val="ProblemItem"/>
</p:tagLst>
</file>

<file path=ppt/tags/tag52.xml><?xml version="1.0" encoding="utf-8"?>
<p:tagLst xmlns:p="http://schemas.openxmlformats.org/presentationml/2006/main">
  <p:tag name="RAINPROBLEM" val="ProblemItem"/>
</p:tagLst>
</file>

<file path=ppt/tags/tag53.xml><?xml version="1.0" encoding="utf-8"?>
<p:tagLst xmlns:p="http://schemas.openxmlformats.org/presentationml/2006/main">
  <p:tag name="RAINPROBLEM" val="ProblemItem"/>
</p:tagLst>
</file>

<file path=ppt/tags/tag54.xml><?xml version="1.0" encoding="utf-8"?>
<p:tagLst xmlns:p="http://schemas.openxmlformats.org/presentationml/2006/main">
  <p:tag name="RAINPROBLEM" val="ProblemItem"/>
</p:tagLst>
</file>

<file path=ppt/tags/tag55.xml><?xml version="1.0" encoding="utf-8"?>
<p:tagLst xmlns:p="http://schemas.openxmlformats.org/presentationml/2006/main">
  <p:tag name="RAINPROBLEM" val="ProblemItem"/>
</p:tagLst>
</file>

<file path=ppt/tags/tag56.xml><?xml version="1.0" encoding="utf-8"?>
<p:tagLst xmlns:p="http://schemas.openxmlformats.org/presentationml/2006/main">
  <p:tag name="RAINPROBLEM" val="ProblemItem"/>
</p:tagLst>
</file>

<file path=ppt/tags/tag57.xml><?xml version="1.0" encoding="utf-8"?>
<p:tagLst xmlns:p="http://schemas.openxmlformats.org/presentationml/2006/main">
  <p:tag name="RAINPROBLEM" val="ProblemItem"/>
</p:tagLst>
</file>

<file path=ppt/tags/tag58.xml><?xml version="1.0" encoding="utf-8"?>
<p:tagLst xmlns:p="http://schemas.openxmlformats.org/presentationml/2006/main">
  <p:tag name="RAINPROBLEM" val="ProblemItem"/>
</p:tagLst>
</file>

<file path=ppt/tags/tag59.xml><?xml version="1.0" encoding="utf-8"?>
<p:tagLst xmlns:p="http://schemas.openxmlformats.org/presentationml/2006/main">
  <p:tag name="RAINPROBLEM" val="ProblemBullet"/>
  <p:tag name="RAINPROBLEMTYPE" val="MultipleChoiceMA"/>
  <p:tag name="RAINBULLET" val="Wrong"/>
</p:tagLst>
</file>

<file path=ppt/tags/tag60.xml><?xml version="1.0" encoding="utf-8"?>
<p:tagLst xmlns:p="http://schemas.openxmlformats.org/presentationml/2006/main">
  <p:tag name="RAINPROBLEM" val="ProblemBullet"/>
  <p:tag name="RAINPROBLEMTYPE" val="MultipleChoiceMA"/>
  <p:tag name="RAINBULLET" val="Wrong"/>
</p:tagLst>
</file>

<file path=ppt/tags/tag61.xml><?xml version="1.0" encoding="utf-8"?>
<p:tagLst xmlns:p="http://schemas.openxmlformats.org/presentationml/2006/main">
  <p:tag name="RAINPROBLEM" val="ProblemBullet"/>
  <p:tag name="RAINPROBLEMTYPE" val="MultipleChoiceMA"/>
  <p:tag name="RAINBULLET" val="Wrong"/>
</p:tagLst>
</file>

<file path=ppt/tags/tag62.xml><?xml version="1.0" encoding="utf-8"?>
<p:tagLst xmlns:p="http://schemas.openxmlformats.org/presentationml/2006/main">
  <p:tag name="RAINPROBLEM" val="ProblemBullet"/>
  <p:tag name="RAINPROBLEMTYPE" val="MultipleChoiceMA"/>
  <p:tag name="RAINBULLET" val="Wrong"/>
</p:tagLst>
</file>

<file path=ppt/tags/tag63.xml><?xml version="1.0" encoding="utf-8"?>
<p:tagLst xmlns:p="http://schemas.openxmlformats.org/presentationml/2006/main">
  <p:tag name="RAINPROBLEM" val="MultipleChoiceMA"/>
  <p:tag name="PROBLEMSCORE" val="1"/>
  <p:tag name="PROBLEMHASREMARK" val="False"/>
  <p:tag name="PROBLEMSCORE_HALF" val="0.0"/>
</p:tagLst>
</file>

<file path=ppt/tags/tag64.xml><?xml version="1.0" encoding="utf-8"?>
<p:tagLst xmlns:p="http://schemas.openxmlformats.org/presentationml/2006/main">
  <p:tag name="RAINPROBLEM" val="ProblemBody"/>
</p:tagLst>
</file>

<file path=ppt/tags/tag65.xml><?xml version="1.0" encoding="utf-8"?>
<p:tagLst xmlns:p="http://schemas.openxmlformats.org/presentationml/2006/main">
  <p:tag name="RAINPROBLEM" val="ProblemBody"/>
</p:tagLst>
</file>

<file path=ppt/tags/tag66.xml><?xml version="1.0" encoding="utf-8"?>
<p:tagLst xmlns:p="http://schemas.openxmlformats.org/presentationml/2006/main">
  <p:tag name="RAINPROBLEM" val="ProblemItem"/>
</p:tagLst>
</file>

<file path=ppt/tags/tag67.xml><?xml version="1.0" encoding="utf-8"?>
<p:tagLst xmlns:p="http://schemas.openxmlformats.org/presentationml/2006/main">
  <p:tag name="RAINPROBLEM" val="ProblemItem"/>
</p:tagLst>
</file>

<file path=ppt/tags/tag68.xml><?xml version="1.0" encoding="utf-8"?>
<p:tagLst xmlns:p="http://schemas.openxmlformats.org/presentationml/2006/main">
  <p:tag name="RAINPROBLEM" val="ProblemItem"/>
</p:tagLst>
</file>

<file path=ppt/tags/tag69.xml><?xml version="1.0" encoding="utf-8"?>
<p:tagLst xmlns:p="http://schemas.openxmlformats.org/presentationml/2006/main">
  <p:tag name="RAINPROBLEM" val="ProblemItem"/>
</p:tagLst>
</file>

<file path=ppt/tags/tag70.xml><?xml version="1.0" encoding="utf-8"?>
<p:tagLst xmlns:p="http://schemas.openxmlformats.org/presentationml/2006/main">
  <p:tag name="RAINPROBLEM" val="ProblemItem"/>
</p:tagLst>
</file>

<file path=ppt/tags/tag71.xml><?xml version="1.0" encoding="utf-8"?>
<p:tagLst xmlns:p="http://schemas.openxmlformats.org/presentationml/2006/main">
  <p:tag name="RAINPROBLEM" val="ProblemItem"/>
</p:tagLst>
</file>

<file path=ppt/tags/tag72.xml><?xml version="1.0" encoding="utf-8"?>
<p:tagLst xmlns:p="http://schemas.openxmlformats.org/presentationml/2006/main">
  <p:tag name="RAINPROBLEM" val="ProblemItem"/>
</p:tagLst>
</file>

<file path=ppt/tags/tag73.xml><?xml version="1.0" encoding="utf-8"?>
<p:tagLst xmlns:p="http://schemas.openxmlformats.org/presentationml/2006/main">
  <p:tag name="RAINPROBLEM" val="ProblemItem"/>
</p:tagLst>
</file>

<file path=ppt/tags/tag74.xml><?xml version="1.0" encoding="utf-8"?>
<p:tagLst xmlns:p="http://schemas.openxmlformats.org/presentationml/2006/main">
  <p:tag name="RAINPROBLEM" val="ProblemBullet"/>
  <p:tag name="RAINPROBLEMTYPE" val="MultipleChoiceMA"/>
  <p:tag name="RAINBULLET" val="Wrong"/>
</p:tagLst>
</file>

<file path=ppt/tags/tag75.xml><?xml version="1.0" encoding="utf-8"?>
<p:tagLst xmlns:p="http://schemas.openxmlformats.org/presentationml/2006/main">
  <p:tag name="RAINPROBLEM" val="ProblemBullet"/>
  <p:tag name="RAINPROBLEMTYPE" val="MultipleChoiceMA"/>
  <p:tag name="RAINBULLET" val="Wrong"/>
</p:tagLst>
</file>

<file path=ppt/tags/tag76.xml><?xml version="1.0" encoding="utf-8"?>
<p:tagLst xmlns:p="http://schemas.openxmlformats.org/presentationml/2006/main">
  <p:tag name="RAINPROBLEM" val="ProblemBullet"/>
  <p:tag name="RAINPROBLEMTYPE" val="MultipleChoiceMA"/>
  <p:tag name="RAINBULLET" val="Wrong"/>
</p:tagLst>
</file>

<file path=ppt/tags/tag77.xml><?xml version="1.0" encoding="utf-8"?>
<p:tagLst xmlns:p="http://schemas.openxmlformats.org/presentationml/2006/main">
  <p:tag name="RAINPROBLEM" val="ProblemBullet"/>
  <p:tag name="RAINPROBLEMTYPE" val="MultipleChoiceMA"/>
  <p:tag name="RAINBULLET" val="Wrong"/>
</p:tagLst>
</file>

<file path=ppt/tags/tag78.xml><?xml version="1.0" encoding="utf-8"?>
<p:tagLst xmlns:p="http://schemas.openxmlformats.org/presentationml/2006/main">
  <p:tag name="RAINPROBLEM" val="MultipleChoiceMA"/>
  <p:tag name="PROBLEMSCORE" val="1"/>
  <p:tag name="PROBLEMSCORE_HALF" val="0.0"/>
</p:tagLst>
</file>

<file path=ppt/tags/tag79.xml><?xml version="1.0" encoding="utf-8"?>
<p:tagLst xmlns:p="http://schemas.openxmlformats.org/presentationml/2006/main">
  <p:tag name="RAINPROBLEM" val="ProblemBody"/>
</p:tagLst>
</file>

<file path=ppt/tags/tag80.xml><?xml version="1.0" encoding="utf-8"?>
<p:tagLst xmlns:p="http://schemas.openxmlformats.org/presentationml/2006/main">
  <p:tag name="RAINPROBLEM" val="ProblemItem"/>
</p:tagLst>
</file>

<file path=ppt/tags/tag81.xml><?xml version="1.0" encoding="utf-8"?>
<p:tagLst xmlns:p="http://schemas.openxmlformats.org/presentationml/2006/main">
  <p:tag name="RAINPROBLEM" val="ProblemItem"/>
</p:tagLst>
</file>

<file path=ppt/tags/tag82.xml><?xml version="1.0" encoding="utf-8"?>
<p:tagLst xmlns:p="http://schemas.openxmlformats.org/presentationml/2006/main">
  <p:tag name="RAINPROBLEM" val="ProblemItem"/>
</p:tagLst>
</file>

<file path=ppt/tags/tag83.xml><?xml version="1.0" encoding="utf-8"?>
<p:tagLst xmlns:p="http://schemas.openxmlformats.org/presentationml/2006/main">
  <p:tag name="RAINPROBLEM" val="ProblemItem"/>
</p:tagLst>
</file>

<file path=ppt/tags/tag84.xml><?xml version="1.0" encoding="utf-8"?>
<p:tagLst xmlns:p="http://schemas.openxmlformats.org/presentationml/2006/main">
  <p:tag name="RAINPROBLEM" val="ProblemBullet"/>
  <p:tag name="RAINPROBLEMTYPE" val="MultipleChoice"/>
  <p:tag name="RAINBULLET" val="Wrong"/>
</p:tagLst>
</file>

<file path=ppt/tags/tag85.xml><?xml version="1.0" encoding="utf-8"?>
<p:tagLst xmlns:p="http://schemas.openxmlformats.org/presentationml/2006/main">
  <p:tag name="RAINPROBLEM" val="ProblemBullet"/>
  <p:tag name="RAINPROBLEMTYPE" val="MultipleChoice"/>
  <p:tag name="RAINBULLET" val="Wrong"/>
</p:tagLst>
</file>

<file path=ppt/tags/tag86.xml><?xml version="1.0" encoding="utf-8"?>
<p:tagLst xmlns:p="http://schemas.openxmlformats.org/presentationml/2006/main">
  <p:tag name="RAINPROBLEM" val="ProblemBullet"/>
  <p:tag name="RAINPROBLEMTYPE" val="MultipleChoice"/>
  <p:tag name="RAINBULLET" val="Wrong"/>
</p:tagLst>
</file>

<file path=ppt/tags/tag87.xml><?xml version="1.0" encoding="utf-8"?>
<p:tagLst xmlns:p="http://schemas.openxmlformats.org/presentationml/2006/main">
  <p:tag name="RAINPROBLEM" val="ProblemBullet"/>
  <p:tag name="RAINPROBLEMTYPE" val="MultipleChoice"/>
  <p:tag name="RAINBULLET" val="Wrong"/>
</p:tagLst>
</file>

<file path=ppt/tags/tag88.xml><?xml version="1.0" encoding="utf-8"?>
<p:tagLst xmlns:p="http://schemas.openxmlformats.org/presentationml/2006/main">
  <p:tag name="RAINPROBLEM" val="MultipleChoice"/>
  <p:tag name="PROBLEMSCORE" val="1.0"/>
</p:tagLst>
</file>

<file path=ppt/tags/tag89.xml><?xml version="1.0" encoding="utf-8"?>
<p:tagLst xmlns:p="http://schemas.openxmlformats.org/presentationml/2006/main">
  <p:tag name="RAINPROBLEM" val="ProblemBody"/>
</p:tagLst>
</file>

<file path=ppt/tags/tag90.xml><?xml version="1.0" encoding="utf-8"?>
<p:tagLst xmlns:p="http://schemas.openxmlformats.org/presentationml/2006/main">
  <p:tag name="RAINPROBLEM" val="ProblemItem"/>
  <p:tag name="KSO_WM_DIAGRAM_VIRTUALLY_FRAME" val="{&quot;height&quot;:118.12503937007872,&quot;left&quot;:123.75,&quot;top&quot;:219.37503937007872,&quot;width&quot;:740.25}"/>
</p:tagLst>
</file>

<file path=ppt/tags/tag91.xml><?xml version="1.0" encoding="utf-8"?>
<p:tagLst xmlns:p="http://schemas.openxmlformats.org/presentationml/2006/main">
  <p:tag name="RAINPROBLEM" val="ProblemItem"/>
  <p:tag name="KSO_WM_DIAGRAM_VIRTUALLY_FRAME" val="{&quot;height&quot;:118.12503937007872,&quot;left&quot;:123.75,&quot;top&quot;:219.37503937007872,&quot;width&quot;:740.25}"/>
</p:tagLst>
</file>

<file path=ppt/tags/tag92.xml><?xml version="1.0" encoding="utf-8"?>
<p:tagLst xmlns:p="http://schemas.openxmlformats.org/presentationml/2006/main">
  <p:tag name="RAINPROBLEM" val="ProblemBullet"/>
  <p:tag name="RAINPROBLEMTYPE" val="MultipleChoice"/>
  <p:tag name="RAINBULLET" val="Wrong"/>
  <p:tag name="KSO_WM_DIAGRAM_VIRTUALLY_FRAME" val="{&quot;height&quot;:118.12503937007872,&quot;left&quot;:123.75,&quot;top&quot;:219.37503937007872,&quot;width&quot;:740.25}"/>
</p:tagLst>
</file>

<file path=ppt/tags/tag93.xml><?xml version="1.0" encoding="utf-8"?>
<p:tagLst xmlns:p="http://schemas.openxmlformats.org/presentationml/2006/main">
  <p:tag name="RAINPROBLEM" val="ProblemBullet"/>
  <p:tag name="RAINPROBLEMTYPE" val="MultipleChoice"/>
  <p:tag name="RAINBULLET" val="Wrong"/>
  <p:tag name="KSO_WM_DIAGRAM_VIRTUALLY_FRAME" val="{&quot;height&quot;:118.12503937007872,&quot;left&quot;:123.75,&quot;top&quot;:219.37503937007872,&quot;width&quot;:740.25}"/>
</p:tagLst>
</file>

<file path=ppt/tags/tag94.xml><?xml version="1.0" encoding="utf-8"?>
<p:tagLst xmlns:p="http://schemas.openxmlformats.org/presentationml/2006/main">
  <p:tag name="RAINPROBLEM" val="MultipleChoice"/>
  <p:tag name="PROBLEMSCORE" val="1.0"/>
</p:tagLst>
</file>

<file path=ppt/theme/theme1.xml><?xml version="1.0" encoding="utf-8"?>
<a:theme xmlns:a="http://schemas.openxmlformats.org/drawingml/2006/main" name="华中农业大学应届生毕业论文答辩通用ppt模板">
  <a:themeElements>
    <a:clrScheme name="自定义 6">
      <a:dk1>
        <a:sysClr val="windowText" lastClr="000000"/>
      </a:dk1>
      <a:lt1>
        <a:sysClr val="window" lastClr="FFFFFF"/>
      </a:lt1>
      <a:dk2>
        <a:srgbClr val="44546A"/>
      </a:dk2>
      <a:lt2>
        <a:srgbClr val="E7E6E6"/>
      </a:lt2>
      <a:accent1>
        <a:srgbClr val="006D39"/>
      </a:accent1>
      <a:accent2>
        <a:srgbClr val="008F77"/>
      </a:accent2>
      <a:accent3>
        <a:srgbClr val="ED7D31"/>
      </a:accent3>
      <a:accent4>
        <a:srgbClr val="FFC000"/>
      </a:accent4>
      <a:accent5>
        <a:srgbClr val="5B9BD5"/>
      </a:accent5>
      <a:accent6>
        <a:srgbClr val="F4F9F1"/>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主题1">
  <a:themeElements>
    <a:clrScheme name="自定义 6">
      <a:dk1>
        <a:sysClr val="windowText" lastClr="000000"/>
      </a:dk1>
      <a:lt1>
        <a:sysClr val="window" lastClr="FFFFFF"/>
      </a:lt1>
      <a:dk2>
        <a:srgbClr val="44546A"/>
      </a:dk2>
      <a:lt2>
        <a:srgbClr val="E7E6E6"/>
      </a:lt2>
      <a:accent1>
        <a:srgbClr val="006D39"/>
      </a:accent1>
      <a:accent2>
        <a:srgbClr val="008F77"/>
      </a:accent2>
      <a:accent3>
        <a:srgbClr val="ED7D31"/>
      </a:accent3>
      <a:accent4>
        <a:srgbClr val="FFC000"/>
      </a:accent4>
      <a:accent5>
        <a:srgbClr val="5B9BD5"/>
      </a:accent5>
      <a:accent6>
        <a:srgbClr val="F4F9F1"/>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主题1">
  <a:themeElements>
    <a:clrScheme name="自定义 6">
      <a:dk1>
        <a:sysClr val="windowText" lastClr="000000"/>
      </a:dk1>
      <a:lt1>
        <a:sysClr val="window" lastClr="FFFFFF"/>
      </a:lt1>
      <a:dk2>
        <a:srgbClr val="44546A"/>
      </a:dk2>
      <a:lt2>
        <a:srgbClr val="E7E6E6"/>
      </a:lt2>
      <a:accent1>
        <a:srgbClr val="006D39"/>
      </a:accent1>
      <a:accent2>
        <a:srgbClr val="008F77"/>
      </a:accent2>
      <a:accent3>
        <a:srgbClr val="ED7D31"/>
      </a:accent3>
      <a:accent4>
        <a:srgbClr val="FFC000"/>
      </a:accent4>
      <a:accent5>
        <a:srgbClr val="5B9BD5"/>
      </a:accent5>
      <a:accent6>
        <a:srgbClr val="F4F9F1"/>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华中农业大学应届生毕业论文答辩通用ppt模板</Template>
  <TotalTime>0</TotalTime>
  <Words>8520</Words>
  <Application>WPS 演示</Application>
  <PresentationFormat>Widescreen</PresentationFormat>
  <Paragraphs>900</Paragraphs>
  <Slides>56</Slides>
  <Notes>0</Notes>
  <HiddenSlides>3</HiddenSlides>
  <MMClips>0</MMClips>
  <ScaleCrop>false</ScaleCrop>
  <HeadingPairs>
    <vt:vector size="6" baseType="variant">
      <vt:variant>
        <vt:lpstr>已用的字体</vt:lpstr>
      </vt:variant>
      <vt:variant>
        <vt:i4>22</vt:i4>
      </vt:variant>
      <vt:variant>
        <vt:lpstr>主题</vt:lpstr>
      </vt:variant>
      <vt:variant>
        <vt:i4>5</vt:i4>
      </vt:variant>
      <vt:variant>
        <vt:lpstr>幻灯片标题</vt:lpstr>
      </vt:variant>
      <vt:variant>
        <vt:i4>56</vt:i4>
      </vt:variant>
    </vt:vector>
  </HeadingPairs>
  <TitlesOfParts>
    <vt:vector size="83" baseType="lpstr">
      <vt:lpstr>Arial</vt:lpstr>
      <vt:lpstr>宋体</vt:lpstr>
      <vt:lpstr>Wingdings</vt:lpstr>
      <vt:lpstr>微软雅黑</vt:lpstr>
      <vt:lpstr>DIN Light</vt:lpstr>
      <vt:lpstr>微软雅黑 Light</vt:lpstr>
      <vt:lpstr>Times New Roman</vt:lpstr>
      <vt:lpstr>楷体</vt:lpstr>
      <vt:lpstr>等线</vt:lpstr>
      <vt:lpstr>Segoe UI Light</vt:lpstr>
      <vt:lpstr>Cambria Math</vt:lpstr>
      <vt:lpstr>Calibri</vt:lpstr>
      <vt:lpstr>仿宋</vt:lpstr>
      <vt:lpstr>Arial Unicode MS</vt:lpstr>
      <vt:lpstr>等线 Light</vt:lpstr>
      <vt:lpstr>Tahoma</vt:lpstr>
      <vt:lpstr>华文楷体</vt:lpstr>
      <vt:lpstr>Kaiti TC</vt:lpstr>
      <vt:lpstr>Microsoft JhengHei UI</vt:lpstr>
      <vt:lpstr>Courant</vt:lpstr>
      <vt:lpstr>华文隶书</vt:lpstr>
      <vt:lpstr>华文琥珀</vt:lpstr>
      <vt:lpstr>华中农业大学应届生毕业论文答辩通用ppt模板</vt:lpstr>
      <vt:lpstr>1_Office 主题​​</vt:lpstr>
      <vt:lpstr>主题1</vt:lpstr>
      <vt:lpstr>自定义设计方案</vt:lpstr>
      <vt:lpstr>1_主题1</vt:lpstr>
      <vt:lpstr>PowerPoint 演示文稿</vt:lpstr>
      <vt:lpstr>学习计划与重要知识点</vt:lpstr>
      <vt:lpstr>什么是线性规划？</vt:lpstr>
      <vt:lpstr>什么是线性规划？</vt:lpstr>
      <vt:lpstr>什么是线性函数？</vt:lpstr>
      <vt:lpstr>如何构建一个线性规划模型</vt:lpstr>
      <vt:lpstr>如何构建一个线性规划模型</vt:lpstr>
      <vt:lpstr>线性规划的一般形式</vt:lpstr>
      <vt:lpstr>线性规划的意义-线性规划可以解决哪些问题？</vt:lpstr>
      <vt:lpstr>例1：求目标函数最大化的线性规划问题</vt:lpstr>
      <vt:lpstr>例1：建模过程</vt:lpstr>
      <vt:lpstr>例1：线性规划模型的一般形式</vt:lpstr>
      <vt:lpstr>线性规划的解</vt:lpstr>
      <vt:lpstr>线性规划的解</vt:lpstr>
      <vt:lpstr>线性规划图解法</vt:lpstr>
      <vt:lpstr>线性规划图解法 – 例1中约束条件对应的半平面</vt:lpstr>
      <vt:lpstr>线性规划图解法 – 例1中的可行域</vt:lpstr>
      <vt:lpstr>线性规划图解法 – 可行域与解的关系</vt:lpstr>
      <vt:lpstr>线性规划图解法 – 例1的图解法作业过程</vt:lpstr>
      <vt:lpstr>线性规划问题的图解法 – 无穷多个最优解</vt:lpstr>
      <vt:lpstr>线性规划问题的图解法 – 无界解</vt:lpstr>
      <vt:lpstr>线性规划问题的图解法 – 无可行解</vt:lpstr>
      <vt:lpstr>PowerPoint 演示文稿</vt:lpstr>
      <vt:lpstr>PowerPoint 演示文稿</vt:lpstr>
      <vt:lpstr>线性规划问题的图解法 – 例1的优化结果</vt:lpstr>
      <vt:lpstr>线性规划图解法 – 松弛变量</vt:lpstr>
      <vt:lpstr>随堂练习1</vt:lpstr>
      <vt:lpstr>什么是标准化的线性模型？</vt:lpstr>
      <vt:lpstr>松弛变量在标准化中的注意事项</vt:lpstr>
      <vt:lpstr>线性规划问题的标准化 – 例1的标准化</vt:lpstr>
      <vt:lpstr>标准化的目的是什么？</vt:lpstr>
      <vt:lpstr>线性规划问题的图解法 – 求目标函数最小化的线性规划问题</vt:lpstr>
      <vt:lpstr>线性规划问题的图解法 – 例2的线性规划模型的一般形式</vt:lpstr>
      <vt:lpstr>线性规划问题的图解法 – 例2的图解法 </vt:lpstr>
      <vt:lpstr>线性规划问题的图解法 – 例2的优化结果</vt:lpstr>
      <vt:lpstr>线性规划图解法 – 剩余变量</vt:lpstr>
      <vt:lpstr>PowerPoint 演示文稿</vt:lpstr>
      <vt:lpstr>线性规划问题的标准化 – 例2的标准化</vt:lpstr>
      <vt:lpstr>线性规划问题的标准化 – 例2的标准化</vt:lpstr>
      <vt:lpstr>线性规划问题的标准化 – 例2的标准化</vt:lpstr>
      <vt:lpstr>线性规划问题的标准化 – 极小化目标函数的标准化问题</vt:lpstr>
      <vt:lpstr>随堂练习2</vt:lpstr>
      <vt:lpstr>图解法的灵敏度分析 – 灵敏度分析的定义与意义</vt:lpstr>
      <vt:lpstr>图解法的灵敏度分析 –目标函数参数变化的分析步骤</vt:lpstr>
      <vt:lpstr>图解法的灵敏度分析 –例1目标函数中系数的灵敏度分析</vt:lpstr>
      <vt:lpstr>PowerPoint 演示文稿</vt:lpstr>
      <vt:lpstr>PowerPoint 演示文稿</vt:lpstr>
      <vt:lpstr>图解法的灵敏度分析 –例1约束条件中常数的灵敏度分析</vt:lpstr>
      <vt:lpstr>图解法的灵敏度分析 –例1约束条件中常数的灵敏度分析</vt:lpstr>
      <vt:lpstr>对偶价格对最优值的影响</vt:lpstr>
      <vt:lpstr>图解法的灵敏度分析 –在什么情况下增大资源投入不能对最优目标函数值产生影响？</vt:lpstr>
      <vt:lpstr>PowerPoint 演示文稿</vt:lpstr>
      <vt:lpstr>PowerPoint 演示文稿</vt:lpstr>
      <vt:lpstr>随堂练习1</vt:lpstr>
      <vt:lpstr>本章总结</vt:lpstr>
      <vt:lpstr>课后作业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Siyu Bian</dc:creator>
  <cp:lastModifiedBy>Lee</cp:lastModifiedBy>
  <cp:revision>203</cp:revision>
  <cp:lastPrinted>2023-05-11T07:43:00Z</cp:lastPrinted>
  <dcterms:created xsi:type="dcterms:W3CDTF">2023-04-27T05:57:00Z</dcterms:created>
  <dcterms:modified xsi:type="dcterms:W3CDTF">2025-10-15T14:34:05Z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E59906E756D142EEAA0859782ECD6853_12</vt:lpwstr>
  </property>
  <property fmtid="{D5CDD505-2E9C-101B-9397-08002B2CF9AE}" pid="3" name="KSOProductBuildVer">
    <vt:lpwstr>2052-12.1.0.19302</vt:lpwstr>
  </property>
</Properties>
</file>