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Lst>
  <p:notesMasterIdLst>
    <p:notesMasterId r:id="rId38"/>
  </p:notesMasterIdLst>
  <p:sldIdLst>
    <p:sldId id="258" r:id="rId6"/>
    <p:sldId id="398" r:id="rId7"/>
    <p:sldId id="399" r:id="rId8"/>
    <p:sldId id="400" r:id="rId9"/>
    <p:sldId id="401" r:id="rId10"/>
    <p:sldId id="259" r:id="rId11"/>
    <p:sldId id="348" r:id="rId12"/>
    <p:sldId id="260" r:id="rId13"/>
    <p:sldId id="261" r:id="rId14"/>
    <p:sldId id="280" r:id="rId15"/>
    <p:sldId id="279" r:id="rId16"/>
    <p:sldId id="262" r:id="rId17"/>
    <p:sldId id="263" r:id="rId18"/>
    <p:sldId id="281" r:id="rId19"/>
    <p:sldId id="283" r:id="rId20"/>
    <p:sldId id="284" r:id="rId21"/>
    <p:sldId id="285" r:id="rId22"/>
    <p:sldId id="282" r:id="rId23"/>
    <p:sldId id="264" r:id="rId24"/>
    <p:sldId id="287" r:id="rId25"/>
    <p:sldId id="265" r:id="rId26"/>
    <p:sldId id="307" r:id="rId27"/>
    <p:sldId id="286" r:id="rId28"/>
    <p:sldId id="266" r:id="rId29"/>
    <p:sldId id="278" r:id="rId30"/>
    <p:sldId id="268" r:id="rId31"/>
    <p:sldId id="288" r:id="rId32"/>
    <p:sldId id="269" r:id="rId33"/>
    <p:sldId id="267" r:id="rId34"/>
    <p:sldId id="270" r:id="rId35"/>
    <p:sldId id="271" r:id="rId36"/>
    <p:sldId id="310" r:id="rId37"/>
    <p:sldId id="311" r:id="rId39"/>
    <p:sldId id="312" r:id="rId40"/>
    <p:sldId id="313" r:id="rId41"/>
    <p:sldId id="314" r:id="rId42"/>
    <p:sldId id="331" r:id="rId43"/>
    <p:sldId id="326" r:id="rId44"/>
    <p:sldId id="327" r:id="rId45"/>
    <p:sldId id="332" r:id="rId46"/>
    <p:sldId id="272" r:id="rId47"/>
    <p:sldId id="315" r:id="rId48"/>
    <p:sldId id="316" r:id="rId49"/>
    <p:sldId id="333" r:id="rId50"/>
    <p:sldId id="334" r:id="rId51"/>
    <p:sldId id="335" r:id="rId52"/>
    <p:sldId id="322" r:id="rId53"/>
    <p:sldId id="273" r:id="rId54"/>
    <p:sldId id="274" r:id="rId55"/>
    <p:sldId id="317" r:id="rId56"/>
    <p:sldId id="396" r:id="rId57"/>
    <p:sldId id="397" r:id="rId58"/>
    <p:sldId id="402" r:id="rId59"/>
    <p:sldId id="308" r:id="rId60"/>
    <p:sldId id="336" r:id="rId61"/>
    <p:sldId id="275" r:id="rId62"/>
    <p:sldId id="349" r:id="rId6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350" autoAdjust="0"/>
    <p:restoredTop sz="94660"/>
  </p:normalViewPr>
  <p:slideViewPr>
    <p:cSldViewPr snapToGrid="0">
      <p:cViewPr varScale="1">
        <p:scale>
          <a:sx n="157" d="100"/>
          <a:sy n="157" d="100"/>
        </p:scale>
        <p:origin x="688"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6" Type="http://schemas.openxmlformats.org/officeDocument/2006/relationships/tableStyles" Target="tableStyles.xml"/><Relationship Id="rId65" Type="http://schemas.openxmlformats.org/officeDocument/2006/relationships/viewProps" Target="viewProps.xml"/><Relationship Id="rId64" Type="http://schemas.openxmlformats.org/officeDocument/2006/relationships/presProps" Target="presProps.xml"/><Relationship Id="rId63" Type="http://schemas.openxmlformats.org/officeDocument/2006/relationships/slide" Target="slides/slide57.xml"/><Relationship Id="rId62" Type="http://schemas.openxmlformats.org/officeDocument/2006/relationships/slide" Target="slides/slide56.xml"/><Relationship Id="rId61" Type="http://schemas.openxmlformats.org/officeDocument/2006/relationships/slide" Target="slides/slide55.xml"/><Relationship Id="rId60" Type="http://schemas.openxmlformats.org/officeDocument/2006/relationships/slide" Target="slides/slide54.xml"/><Relationship Id="rId6" Type="http://schemas.openxmlformats.org/officeDocument/2006/relationships/slide" Target="slides/slide1.xml"/><Relationship Id="rId59" Type="http://schemas.openxmlformats.org/officeDocument/2006/relationships/slide" Target="slides/slide53.xml"/><Relationship Id="rId58" Type="http://schemas.openxmlformats.org/officeDocument/2006/relationships/slide" Target="slides/slide52.xml"/><Relationship Id="rId57" Type="http://schemas.openxmlformats.org/officeDocument/2006/relationships/slide" Target="slides/slide51.xml"/><Relationship Id="rId56" Type="http://schemas.openxmlformats.org/officeDocument/2006/relationships/slide" Target="slides/slide50.xml"/><Relationship Id="rId55" Type="http://schemas.openxmlformats.org/officeDocument/2006/relationships/slide" Target="slides/slide49.xml"/><Relationship Id="rId54" Type="http://schemas.openxmlformats.org/officeDocument/2006/relationships/slide" Target="slides/slide48.xml"/><Relationship Id="rId53" Type="http://schemas.openxmlformats.org/officeDocument/2006/relationships/slide" Target="slides/slide47.xml"/><Relationship Id="rId52" Type="http://schemas.openxmlformats.org/officeDocument/2006/relationships/slide" Target="slides/slide46.xml"/><Relationship Id="rId51" Type="http://schemas.openxmlformats.org/officeDocument/2006/relationships/slide" Target="slides/slide45.xml"/><Relationship Id="rId50" Type="http://schemas.openxmlformats.org/officeDocument/2006/relationships/slide" Target="slides/slide44.xml"/><Relationship Id="rId5" Type="http://schemas.openxmlformats.org/officeDocument/2006/relationships/slideMaster" Target="slideMasters/slideMaster4.xml"/><Relationship Id="rId49" Type="http://schemas.openxmlformats.org/officeDocument/2006/relationships/slide" Target="slides/slide43.xml"/><Relationship Id="rId48" Type="http://schemas.openxmlformats.org/officeDocument/2006/relationships/slide" Target="slides/slide42.xml"/><Relationship Id="rId47" Type="http://schemas.openxmlformats.org/officeDocument/2006/relationships/slide" Target="slides/slide41.xml"/><Relationship Id="rId46" Type="http://schemas.openxmlformats.org/officeDocument/2006/relationships/slide" Target="slides/slide40.xml"/><Relationship Id="rId45" Type="http://schemas.openxmlformats.org/officeDocument/2006/relationships/slide" Target="slides/slide39.xml"/><Relationship Id="rId44" Type="http://schemas.openxmlformats.org/officeDocument/2006/relationships/slide" Target="slides/slide38.xml"/><Relationship Id="rId43" Type="http://schemas.openxmlformats.org/officeDocument/2006/relationships/slide" Target="slides/slide37.xml"/><Relationship Id="rId42" Type="http://schemas.openxmlformats.org/officeDocument/2006/relationships/slide" Target="slides/slide36.xml"/><Relationship Id="rId41" Type="http://schemas.openxmlformats.org/officeDocument/2006/relationships/slide" Target="slides/slide35.xml"/><Relationship Id="rId40" Type="http://schemas.openxmlformats.org/officeDocument/2006/relationships/slide" Target="slides/slide34.xml"/><Relationship Id="rId4" Type="http://schemas.openxmlformats.org/officeDocument/2006/relationships/slideMaster" Target="slideMasters/slideMaster3.xml"/><Relationship Id="rId39" Type="http://schemas.openxmlformats.org/officeDocument/2006/relationships/slide" Target="slides/slide33.xml"/><Relationship Id="rId38" Type="http://schemas.openxmlformats.org/officeDocument/2006/relationships/notesMaster" Target="notesMasters/notesMaster1.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image" Target="../media/image3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1EE1931-6FA1-4221-8C1F-D31DE6C35FF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1EE1931-6FA1-4221-8C1F-D31DE6C35FF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1EE1931-6FA1-4221-8C1F-D31DE6C35FFD}"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1EE1931-6FA1-4221-8C1F-D31DE6C35FF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1EE1931-6FA1-4221-8C1F-D31DE6C35FFD}"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1EE1931-6FA1-4221-8C1F-D31DE6C35FFD}"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1EE1931-6FA1-4221-8C1F-D31DE6C35FFD}"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1EE1931-6FA1-4221-8C1F-D31DE6C35FFD}"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182ACDC-A57F-4467-9A3B-2C4B95878A35}" type="slidenum">
              <a:rPr kumimoji="1" lang="en-US" altLang="zh-CN" sz="1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fld>
            <a:endParaRPr kumimoji="1" lang="en-US" altLang="zh-CN" sz="12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182ACDC-A57F-4467-9A3B-2C4B95878A35}" type="slidenum">
              <a:rPr kumimoji="1" lang="en-US" altLang="zh-CN" sz="1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fld>
            <a:endParaRPr kumimoji="1" lang="en-US" altLang="zh-CN" sz="12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182ACDC-A57F-4467-9A3B-2C4B95878A35}" type="slidenum">
              <a:rPr kumimoji="1" lang="en-US" altLang="zh-CN" sz="1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fld>
            <a:endParaRPr kumimoji="1" lang="en-US" altLang="zh-CN" sz="12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25D708E7-421C-4897-8E68-B23AD1A0DD7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249CBB7-750D-45CF-BA18-1B29131E3C6C}"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楷体" panose="02010609060101010101" pitchFamily="49" charset="-122"/>
                <a:ea typeface="楷体" panose="02010609060101010101" pitchFamily="49" charset="-122"/>
              </a:defRPr>
            </a:lvl1pPr>
          </a:lstStyle>
          <a:p>
            <a:r>
              <a:rPr lang="zh-CN" altLang="en-US" dirty="0"/>
              <a:t>单击此处编辑母版标题样式</a:t>
            </a:r>
            <a:endParaRPr lang="zh-CN" altLang="en-US" dirty="0"/>
          </a:p>
        </p:txBody>
      </p:sp>
      <p:sp>
        <p:nvSpPr>
          <p:cNvPr id="3" name="内容占位符 2"/>
          <p:cNvSpPr>
            <a:spLocks noGrp="1"/>
          </p:cNvSpPr>
          <p:nvPr>
            <p:ph idx="1" hasCustomPrompt="1"/>
          </p:nvPr>
        </p:nvSpPr>
        <p:spPr/>
        <p:txBody>
          <a:bodyPr/>
          <a:lstStyle>
            <a:lvl1pPr>
              <a:defRPr>
                <a:latin typeface="楷体" panose="02010609060101010101" pitchFamily="49" charset="-122"/>
                <a:ea typeface="楷体" panose="02010609060101010101" pitchFamily="49" charset="-122"/>
              </a:defRPr>
            </a:lvl1pPr>
            <a:lvl2pPr>
              <a:defRPr>
                <a:latin typeface="楷体" panose="02010609060101010101" pitchFamily="49" charset="-122"/>
                <a:ea typeface="楷体" panose="02010609060101010101" pitchFamily="49" charset="-122"/>
              </a:defRPr>
            </a:lvl2pPr>
            <a:lvl3pPr>
              <a:defRPr>
                <a:latin typeface="楷体" panose="02010609060101010101" pitchFamily="49" charset="-122"/>
                <a:ea typeface="楷体" panose="02010609060101010101" pitchFamily="49" charset="-122"/>
              </a:defRPr>
            </a:lvl3pPr>
            <a:lvl4pPr>
              <a:defRPr>
                <a:latin typeface="楷体" panose="02010609060101010101" pitchFamily="49" charset="-122"/>
                <a:ea typeface="楷体" panose="02010609060101010101" pitchFamily="49" charset="-122"/>
              </a:defRPr>
            </a:lvl4pPr>
            <a:lvl5pPr>
              <a:defRPr>
                <a:latin typeface="楷体" panose="02010609060101010101" pitchFamily="49" charset="-122"/>
                <a:ea typeface="楷体" panose="02010609060101010101" pitchFamily="49"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25D708E7-421C-4897-8E68-B23AD1A0DD7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249CBB7-750D-45CF-BA18-1B29131E3C6C}"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25D708E7-421C-4897-8E68-B23AD1A0DD7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249CBB7-750D-45CF-BA18-1B29131E3C6C}"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25D708E7-421C-4897-8E68-B23AD1A0DD7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249CBB7-750D-45CF-BA18-1B29131E3C6C}"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25D708E7-421C-4897-8E68-B23AD1A0DD7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249CBB7-750D-45CF-BA18-1B29131E3C6C}"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grpSp>
        <p:nvGrpSpPr>
          <p:cNvPr id="6" name="组合 5"/>
          <p:cNvGrpSpPr/>
          <p:nvPr/>
        </p:nvGrpSpPr>
        <p:grpSpPr>
          <a:xfrm>
            <a:off x="0" y="6230319"/>
            <a:ext cx="12192000" cy="627681"/>
            <a:chOff x="0" y="5888735"/>
            <a:chExt cx="12192000" cy="969265"/>
          </a:xfrm>
        </p:grpSpPr>
        <p:sp>
          <p:nvSpPr>
            <p:cNvPr id="7" name="任意多边形: 形状 6"/>
            <p:cNvSpPr/>
            <p:nvPr/>
          </p:nvSpPr>
          <p:spPr>
            <a:xfrm>
              <a:off x="0" y="5888736"/>
              <a:ext cx="12192000" cy="969264"/>
            </a:xfrm>
            <a:custGeom>
              <a:avLst/>
              <a:gdLst>
                <a:gd name="connsiteX0" fmla="*/ 12192000 w 12192000"/>
                <a:gd name="connsiteY0" fmla="*/ 0 h 834158"/>
                <a:gd name="connsiteX1" fmla="*/ 12192000 w 12192000"/>
                <a:gd name="connsiteY1" fmla="*/ 834158 h 834158"/>
                <a:gd name="connsiteX2" fmla="*/ 0 w 12192000"/>
                <a:gd name="connsiteY2" fmla="*/ 834158 h 834158"/>
                <a:gd name="connsiteX3" fmla="*/ 0 w 12192000"/>
                <a:gd name="connsiteY3" fmla="*/ 421770 h 834158"/>
                <a:gd name="connsiteX4" fmla="*/ 703930 w 12192000"/>
                <a:gd name="connsiteY4" fmla="*/ 493800 h 834158"/>
                <a:gd name="connsiteX5" fmla="*/ 4867275 w 12192000"/>
                <a:gd name="connsiteY5" fmla="*/ 671363 h 834158"/>
                <a:gd name="connsiteX6" fmla="*/ 12109997 w 12192000"/>
                <a:gd name="connsiteY6" fmla="*/ 22736 h 83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834158">
                  <a:moveTo>
                    <a:pt x="12192000" y="0"/>
                  </a:moveTo>
                  <a:lnTo>
                    <a:pt x="12192000" y="834158"/>
                  </a:lnTo>
                  <a:lnTo>
                    <a:pt x="0" y="834158"/>
                  </a:lnTo>
                  <a:lnTo>
                    <a:pt x="0" y="421770"/>
                  </a:lnTo>
                  <a:lnTo>
                    <a:pt x="703930" y="493800"/>
                  </a:lnTo>
                  <a:cubicBezTo>
                    <a:pt x="1941539" y="607040"/>
                    <a:pt x="3359810" y="671363"/>
                    <a:pt x="4867275" y="671363"/>
                  </a:cubicBezTo>
                  <a:cubicBezTo>
                    <a:pt x="7882206" y="671363"/>
                    <a:pt x="10540358" y="414071"/>
                    <a:pt x="12109997" y="2273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任意多边形: 形状 7"/>
            <p:cNvSpPr/>
            <p:nvPr/>
          </p:nvSpPr>
          <p:spPr>
            <a:xfrm>
              <a:off x="1" y="5888735"/>
              <a:ext cx="6540284" cy="693261"/>
            </a:xfrm>
            <a:custGeom>
              <a:avLst/>
              <a:gdLst>
                <a:gd name="connsiteX0" fmla="*/ 0 w 5170531"/>
                <a:gd name="connsiteY0" fmla="*/ 0 h 794504"/>
                <a:gd name="connsiteX1" fmla="*/ 509126 w 5170531"/>
                <a:gd name="connsiteY1" fmla="*/ 127114 h 794504"/>
                <a:gd name="connsiteX2" fmla="*/ 4499910 w 5170531"/>
                <a:gd name="connsiteY2" fmla="*/ 720789 h 794504"/>
                <a:gd name="connsiteX3" fmla="*/ 5170531 w 5170531"/>
                <a:gd name="connsiteY3" fmla="*/ 768690 h 794504"/>
                <a:gd name="connsiteX4" fmla="*/ 4943847 w 5170531"/>
                <a:gd name="connsiteY4" fmla="*/ 779391 h 794504"/>
                <a:gd name="connsiteX5" fmla="*/ 3958041 w 5170531"/>
                <a:gd name="connsiteY5" fmla="*/ 794504 h 794504"/>
                <a:gd name="connsiteX6" fmla="*/ 499235 w 5170531"/>
                <a:gd name="connsiteY6" fmla="*/ 576626 h 794504"/>
                <a:gd name="connsiteX7" fmla="*/ 0 w 5170531"/>
                <a:gd name="connsiteY7" fmla="*/ 484608 h 794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70531" h="794504">
                  <a:moveTo>
                    <a:pt x="0" y="0"/>
                  </a:moveTo>
                  <a:lnTo>
                    <a:pt x="509126" y="127114"/>
                  </a:lnTo>
                  <a:cubicBezTo>
                    <a:pt x="1656276" y="394427"/>
                    <a:pt x="3011164" y="598944"/>
                    <a:pt x="4499910" y="720789"/>
                  </a:cubicBezTo>
                  <a:lnTo>
                    <a:pt x="5170531" y="768690"/>
                  </a:lnTo>
                  <a:lnTo>
                    <a:pt x="4943847" y="779391"/>
                  </a:lnTo>
                  <a:cubicBezTo>
                    <a:pt x="4625423" y="789300"/>
                    <a:pt x="4295728" y="794504"/>
                    <a:pt x="3958041" y="794504"/>
                  </a:cubicBezTo>
                  <a:cubicBezTo>
                    <a:pt x="2607293" y="794504"/>
                    <a:pt x="1384420" y="711242"/>
                    <a:pt x="499235" y="576626"/>
                  </a:cubicBezTo>
                  <a:lnTo>
                    <a:pt x="0" y="484608"/>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0" name="梯形 9"/>
          <p:cNvSpPr/>
          <p:nvPr/>
        </p:nvSpPr>
        <p:spPr>
          <a:xfrm rot="16200000">
            <a:off x="72797" y="79396"/>
            <a:ext cx="375889" cy="808817"/>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DIN Light"/>
              <a:ea typeface="微软雅黑 Light" panose="020B0502040204020203" charset="-122"/>
            </a:endParaRPr>
          </a:p>
        </p:txBody>
      </p:sp>
      <p:sp>
        <p:nvSpPr>
          <p:cNvPr id="11" name="梯形 10"/>
          <p:cNvSpPr/>
          <p:nvPr/>
        </p:nvSpPr>
        <p:spPr>
          <a:xfrm rot="16200000">
            <a:off x="57549" y="238020"/>
            <a:ext cx="267255" cy="669682"/>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DIN Light"/>
              <a:ea typeface="微软雅黑 Light" panose="020B0502040204020203" charset="-122"/>
              <a:cs typeface="+mn-cs"/>
            </a:endParaRPr>
          </a:p>
        </p:txBody>
      </p:sp>
      <p:pic>
        <p:nvPicPr>
          <p:cNvPr id="12" name="Picture 2" descr="https://timgsa.baidu.com/timg?image&amp;quality=80&amp;size=b9999_10000&amp;sec=1543772355175&amp;di=c79abbaff2a9fe46052298e3846c46fe&amp;imgtype=0&amp;src=http%3A%2F%2Fpic44.photophoto.cn%2F20170707%2F0007019917203103_b.jpg"/>
          <p:cNvPicPr>
            <a:picLocks noChangeAspect="1" noChangeArrowheads="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b="1264"/>
          <a:stretch>
            <a:fillRect/>
          </a:stretch>
        </p:blipFill>
        <p:spPr bwMode="auto">
          <a:xfrm>
            <a:off x="11263773" y="205156"/>
            <a:ext cx="635716" cy="627680"/>
          </a:xfrm>
          <a:prstGeom prst="rect">
            <a:avLst/>
          </a:prstGeom>
          <a:noFill/>
          <a:extLst>
            <a:ext uri="{909E8E84-426E-40DD-AFC4-6F175D3DCCD1}">
              <a14:hiddenFill xmlns:a14="http://schemas.microsoft.com/office/drawing/2010/main">
                <a:solidFill>
                  <a:srgbClr val="FFFFFF"/>
                </a:solidFill>
              </a14:hiddenFill>
            </a:ext>
          </a:extLst>
        </p:spPr>
      </p:pic>
      <p:sp>
        <p:nvSpPr>
          <p:cNvPr id="13" name="灯片编号占位符 5"/>
          <p:cNvSpPr>
            <a:spLocks noGrp="1"/>
          </p:cNvSpPr>
          <p:nvPr>
            <p:ph type="sldNum" sz="quarter" idx="4"/>
          </p:nvPr>
        </p:nvSpPr>
        <p:spPr>
          <a:xfrm>
            <a:off x="9332976" y="6474587"/>
            <a:ext cx="2743200" cy="365125"/>
          </a:xfrm>
          <a:prstGeom prst="rect">
            <a:avLst/>
          </a:prstGeom>
        </p:spPr>
        <p:txBody>
          <a:bodyPr vert="horz" lIns="91440" tIns="45720" rIns="91440" bIns="45720" rtlCol="0" anchor="ctr"/>
          <a:lstStyle>
            <a:lvl1pPr algn="r">
              <a:defRPr sz="1100">
                <a:solidFill>
                  <a:schemeClr val="bg1"/>
                </a:solidFill>
                <a:latin typeface="微软雅黑" panose="020B0503020204020204" pitchFamily="34" charset="-122"/>
                <a:ea typeface="微软雅黑" panose="020B0503020204020204" pitchFamily="34" charset="-122"/>
              </a:defRPr>
            </a:lvl1pPr>
          </a:lstStyle>
          <a:p>
            <a:fld id="{E249CBB7-750D-45CF-BA18-1B29131E3C6C}"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5D708E7-421C-4897-8E68-B23AD1A0DD7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249CBB7-750D-45CF-BA18-1B29131E3C6C}"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25D708E7-421C-4897-8E68-B23AD1A0DD7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249CBB7-750D-45CF-BA18-1B29131E3C6C}"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25D708E7-421C-4897-8E68-B23AD1A0DD7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249CBB7-750D-45CF-BA18-1B29131E3C6C}"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25D708E7-421C-4897-8E68-B23AD1A0DD7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249CBB7-750D-45CF-BA18-1B29131E3C6C}"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25D708E7-421C-4897-8E68-B23AD1A0DD7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249CBB7-750D-45CF-BA18-1B29131E3C6C}"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25D708E7-421C-4897-8E68-B23AD1A0DD7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249CBB7-750D-45CF-BA18-1B29131E3C6C}" type="slidenum">
              <a:rPr lang="zh-CN" altLang="en-US" smtClean="0"/>
            </a:fld>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楷体" panose="02010609060101010101" pitchFamily="49" charset="-122"/>
                <a:ea typeface="楷体" panose="02010609060101010101" pitchFamily="49" charset="-122"/>
              </a:defRPr>
            </a:lvl1pPr>
          </a:lstStyle>
          <a:p>
            <a:r>
              <a:rPr lang="zh-CN" altLang="en-US" dirty="0"/>
              <a:t>单击此处编辑母版标题样式</a:t>
            </a:r>
            <a:endParaRPr lang="zh-CN" altLang="en-US" dirty="0"/>
          </a:p>
        </p:txBody>
      </p:sp>
      <p:sp>
        <p:nvSpPr>
          <p:cNvPr id="3" name="内容占位符 2"/>
          <p:cNvSpPr>
            <a:spLocks noGrp="1"/>
          </p:cNvSpPr>
          <p:nvPr>
            <p:ph idx="1" hasCustomPrompt="1"/>
          </p:nvPr>
        </p:nvSpPr>
        <p:spPr/>
        <p:txBody>
          <a:bodyPr/>
          <a:lstStyle>
            <a:lvl1pPr>
              <a:defRPr>
                <a:latin typeface="楷体" panose="02010609060101010101" pitchFamily="49" charset="-122"/>
                <a:ea typeface="楷体" panose="02010609060101010101" pitchFamily="49" charset="-122"/>
              </a:defRPr>
            </a:lvl1pPr>
            <a:lvl2pPr>
              <a:defRPr>
                <a:latin typeface="楷体" panose="02010609060101010101" pitchFamily="49" charset="-122"/>
                <a:ea typeface="楷体" panose="02010609060101010101" pitchFamily="49" charset="-122"/>
              </a:defRPr>
            </a:lvl2pPr>
            <a:lvl3pPr>
              <a:defRPr>
                <a:latin typeface="楷体" panose="02010609060101010101" pitchFamily="49" charset="-122"/>
                <a:ea typeface="楷体" panose="02010609060101010101" pitchFamily="49" charset="-122"/>
              </a:defRPr>
            </a:lvl3pPr>
            <a:lvl4pPr>
              <a:defRPr>
                <a:latin typeface="楷体" panose="02010609060101010101" pitchFamily="49" charset="-122"/>
                <a:ea typeface="楷体" panose="02010609060101010101" pitchFamily="49" charset="-122"/>
              </a:defRPr>
            </a:lvl4pPr>
            <a:lvl5pPr>
              <a:defRPr>
                <a:latin typeface="楷体" panose="02010609060101010101" pitchFamily="49" charset="-122"/>
                <a:ea typeface="楷体" panose="02010609060101010101" pitchFamily="49"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25D708E7-421C-4897-8E68-B23AD1A0DD7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249CBB7-750D-45CF-BA18-1B29131E3C6C}" type="slidenum">
              <a:rPr lang="zh-CN" altLang="en-US" smtClean="0"/>
            </a:fld>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25D708E7-421C-4897-8E68-B23AD1A0DD7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249CBB7-750D-45CF-BA18-1B29131E3C6C}" type="slidenum">
              <a:rPr lang="zh-CN" altLang="en-US" smtClean="0"/>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25D708E7-421C-4897-8E68-B23AD1A0DD7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249CBB7-750D-45CF-BA18-1B29131E3C6C}" type="slidenum">
              <a:rPr lang="zh-CN" altLang="en-US" smtClean="0"/>
            </a:fld>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25D708E7-421C-4897-8E68-B23AD1A0DD7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249CBB7-750D-45CF-BA18-1B29131E3C6C}" type="slidenum">
              <a:rPr lang="zh-CN" altLang="en-US" smtClean="0"/>
            </a:fld>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grpSp>
        <p:nvGrpSpPr>
          <p:cNvPr id="6" name="组合 5"/>
          <p:cNvGrpSpPr/>
          <p:nvPr/>
        </p:nvGrpSpPr>
        <p:grpSpPr>
          <a:xfrm>
            <a:off x="0" y="6230319"/>
            <a:ext cx="12192000" cy="627681"/>
            <a:chOff x="0" y="5888735"/>
            <a:chExt cx="12192000" cy="969265"/>
          </a:xfrm>
        </p:grpSpPr>
        <p:sp>
          <p:nvSpPr>
            <p:cNvPr id="7" name="任意多边形: 形状 6"/>
            <p:cNvSpPr/>
            <p:nvPr/>
          </p:nvSpPr>
          <p:spPr>
            <a:xfrm>
              <a:off x="0" y="5888736"/>
              <a:ext cx="12192000" cy="969264"/>
            </a:xfrm>
            <a:custGeom>
              <a:avLst/>
              <a:gdLst>
                <a:gd name="connsiteX0" fmla="*/ 12192000 w 12192000"/>
                <a:gd name="connsiteY0" fmla="*/ 0 h 834158"/>
                <a:gd name="connsiteX1" fmla="*/ 12192000 w 12192000"/>
                <a:gd name="connsiteY1" fmla="*/ 834158 h 834158"/>
                <a:gd name="connsiteX2" fmla="*/ 0 w 12192000"/>
                <a:gd name="connsiteY2" fmla="*/ 834158 h 834158"/>
                <a:gd name="connsiteX3" fmla="*/ 0 w 12192000"/>
                <a:gd name="connsiteY3" fmla="*/ 421770 h 834158"/>
                <a:gd name="connsiteX4" fmla="*/ 703930 w 12192000"/>
                <a:gd name="connsiteY4" fmla="*/ 493800 h 834158"/>
                <a:gd name="connsiteX5" fmla="*/ 4867275 w 12192000"/>
                <a:gd name="connsiteY5" fmla="*/ 671363 h 834158"/>
                <a:gd name="connsiteX6" fmla="*/ 12109997 w 12192000"/>
                <a:gd name="connsiteY6" fmla="*/ 22736 h 83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834158">
                  <a:moveTo>
                    <a:pt x="12192000" y="0"/>
                  </a:moveTo>
                  <a:lnTo>
                    <a:pt x="12192000" y="834158"/>
                  </a:lnTo>
                  <a:lnTo>
                    <a:pt x="0" y="834158"/>
                  </a:lnTo>
                  <a:lnTo>
                    <a:pt x="0" y="421770"/>
                  </a:lnTo>
                  <a:lnTo>
                    <a:pt x="703930" y="493800"/>
                  </a:lnTo>
                  <a:cubicBezTo>
                    <a:pt x="1941539" y="607040"/>
                    <a:pt x="3359810" y="671363"/>
                    <a:pt x="4867275" y="671363"/>
                  </a:cubicBezTo>
                  <a:cubicBezTo>
                    <a:pt x="7882206" y="671363"/>
                    <a:pt x="10540358" y="414071"/>
                    <a:pt x="12109997" y="2273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任意多边形: 形状 7"/>
            <p:cNvSpPr/>
            <p:nvPr/>
          </p:nvSpPr>
          <p:spPr>
            <a:xfrm>
              <a:off x="1" y="5888735"/>
              <a:ext cx="6540284" cy="693261"/>
            </a:xfrm>
            <a:custGeom>
              <a:avLst/>
              <a:gdLst>
                <a:gd name="connsiteX0" fmla="*/ 0 w 5170531"/>
                <a:gd name="connsiteY0" fmla="*/ 0 h 794504"/>
                <a:gd name="connsiteX1" fmla="*/ 509126 w 5170531"/>
                <a:gd name="connsiteY1" fmla="*/ 127114 h 794504"/>
                <a:gd name="connsiteX2" fmla="*/ 4499910 w 5170531"/>
                <a:gd name="connsiteY2" fmla="*/ 720789 h 794504"/>
                <a:gd name="connsiteX3" fmla="*/ 5170531 w 5170531"/>
                <a:gd name="connsiteY3" fmla="*/ 768690 h 794504"/>
                <a:gd name="connsiteX4" fmla="*/ 4943847 w 5170531"/>
                <a:gd name="connsiteY4" fmla="*/ 779391 h 794504"/>
                <a:gd name="connsiteX5" fmla="*/ 3958041 w 5170531"/>
                <a:gd name="connsiteY5" fmla="*/ 794504 h 794504"/>
                <a:gd name="connsiteX6" fmla="*/ 499235 w 5170531"/>
                <a:gd name="connsiteY6" fmla="*/ 576626 h 794504"/>
                <a:gd name="connsiteX7" fmla="*/ 0 w 5170531"/>
                <a:gd name="connsiteY7" fmla="*/ 484608 h 794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70531" h="794504">
                  <a:moveTo>
                    <a:pt x="0" y="0"/>
                  </a:moveTo>
                  <a:lnTo>
                    <a:pt x="509126" y="127114"/>
                  </a:lnTo>
                  <a:cubicBezTo>
                    <a:pt x="1656276" y="394427"/>
                    <a:pt x="3011164" y="598944"/>
                    <a:pt x="4499910" y="720789"/>
                  </a:cubicBezTo>
                  <a:lnTo>
                    <a:pt x="5170531" y="768690"/>
                  </a:lnTo>
                  <a:lnTo>
                    <a:pt x="4943847" y="779391"/>
                  </a:lnTo>
                  <a:cubicBezTo>
                    <a:pt x="4625423" y="789300"/>
                    <a:pt x="4295728" y="794504"/>
                    <a:pt x="3958041" y="794504"/>
                  </a:cubicBezTo>
                  <a:cubicBezTo>
                    <a:pt x="2607293" y="794504"/>
                    <a:pt x="1384420" y="711242"/>
                    <a:pt x="499235" y="576626"/>
                  </a:cubicBezTo>
                  <a:lnTo>
                    <a:pt x="0" y="484608"/>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0" name="梯形 9"/>
          <p:cNvSpPr/>
          <p:nvPr/>
        </p:nvSpPr>
        <p:spPr>
          <a:xfrm rot="16200000">
            <a:off x="72797" y="79396"/>
            <a:ext cx="375889" cy="808817"/>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DIN Light"/>
              <a:ea typeface="微软雅黑 Light" panose="020B0502040204020203" charset="-122"/>
            </a:endParaRPr>
          </a:p>
        </p:txBody>
      </p:sp>
      <p:sp>
        <p:nvSpPr>
          <p:cNvPr id="11" name="梯形 10"/>
          <p:cNvSpPr/>
          <p:nvPr/>
        </p:nvSpPr>
        <p:spPr>
          <a:xfrm rot="16200000">
            <a:off x="57549" y="238020"/>
            <a:ext cx="267255" cy="669682"/>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DIN Light"/>
              <a:ea typeface="微软雅黑 Light" panose="020B0502040204020203" charset="-122"/>
              <a:cs typeface="+mn-cs"/>
            </a:endParaRPr>
          </a:p>
        </p:txBody>
      </p:sp>
      <p:pic>
        <p:nvPicPr>
          <p:cNvPr id="12" name="Picture 2" descr="https://timgsa.baidu.com/timg?image&amp;quality=80&amp;size=b9999_10000&amp;sec=1543772355175&amp;di=c79abbaff2a9fe46052298e3846c46fe&amp;imgtype=0&amp;src=http%3A%2F%2Fpic44.photophoto.cn%2F20170707%2F0007019917203103_b.jpg"/>
          <p:cNvPicPr>
            <a:picLocks noChangeAspect="1" noChangeArrowheads="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b="1264"/>
          <a:stretch>
            <a:fillRect/>
          </a:stretch>
        </p:blipFill>
        <p:spPr bwMode="auto">
          <a:xfrm>
            <a:off x="11263773" y="205156"/>
            <a:ext cx="635716" cy="627680"/>
          </a:xfrm>
          <a:prstGeom prst="rect">
            <a:avLst/>
          </a:prstGeom>
          <a:noFill/>
          <a:extLst>
            <a:ext uri="{909E8E84-426E-40DD-AFC4-6F175D3DCCD1}">
              <a14:hiddenFill xmlns:a14="http://schemas.microsoft.com/office/drawing/2010/main">
                <a:solidFill>
                  <a:srgbClr val="FFFFFF"/>
                </a:solidFill>
              </a14:hiddenFill>
            </a:ext>
          </a:extLst>
        </p:spPr>
      </p:pic>
      <p:sp>
        <p:nvSpPr>
          <p:cNvPr id="13" name="灯片编号占位符 5"/>
          <p:cNvSpPr>
            <a:spLocks noGrp="1"/>
          </p:cNvSpPr>
          <p:nvPr>
            <p:ph type="sldNum" sz="quarter" idx="4"/>
          </p:nvPr>
        </p:nvSpPr>
        <p:spPr>
          <a:xfrm>
            <a:off x="9332976" y="6474587"/>
            <a:ext cx="2743200" cy="365125"/>
          </a:xfrm>
          <a:prstGeom prst="rect">
            <a:avLst/>
          </a:prstGeom>
        </p:spPr>
        <p:txBody>
          <a:bodyPr vert="horz" lIns="91440" tIns="45720" rIns="91440" bIns="45720" rtlCol="0" anchor="ctr"/>
          <a:lstStyle>
            <a:lvl1pPr algn="r">
              <a:defRPr sz="1100">
                <a:solidFill>
                  <a:schemeClr val="bg1"/>
                </a:solidFill>
                <a:latin typeface="微软雅黑" panose="020B0503020204020204" pitchFamily="34" charset="-122"/>
                <a:ea typeface="微软雅黑" panose="020B0503020204020204" pitchFamily="34" charset="-122"/>
              </a:defRPr>
            </a:lvl1pPr>
          </a:lstStyle>
          <a:p>
            <a:fld id="{E249CBB7-750D-45CF-BA18-1B29131E3C6C}" type="slidenum">
              <a:rPr lang="zh-CN" altLang="en-US" smtClean="0"/>
            </a:fld>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5D708E7-421C-4897-8E68-B23AD1A0DD7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249CBB7-750D-45CF-BA18-1B29131E3C6C}" type="slidenum">
              <a:rPr lang="zh-CN" altLang="en-US" smtClean="0"/>
            </a:fld>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25D708E7-421C-4897-8E68-B23AD1A0DD7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249CBB7-750D-45CF-BA18-1B29131E3C6C}" type="slidenum">
              <a:rPr lang="zh-CN" altLang="en-US" smtClean="0"/>
            </a:fld>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25D708E7-421C-4897-8E68-B23AD1A0DD7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249CBB7-750D-45CF-BA18-1B29131E3C6C}" type="slidenum">
              <a:rPr lang="zh-CN" altLang="en-US" smtClean="0"/>
            </a:fld>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25D708E7-421C-4897-8E68-B23AD1A0DD7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249CBB7-750D-45CF-BA18-1B29131E3C6C}" type="slidenum">
              <a:rPr lang="zh-CN" altLang="en-US" smtClean="0"/>
            </a:fld>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25D708E7-421C-4897-8E68-B23AD1A0DD7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249CBB7-750D-45CF-BA18-1B29131E3C6C}"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2" Type="http://schemas.openxmlformats.org/officeDocument/2006/relationships/theme" Target="../theme/theme3.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3" Type="http://schemas.openxmlformats.org/officeDocument/2006/relationships/theme" Target="../theme/theme4.xml"/><Relationship Id="rId12" Type="http://schemas.openxmlformats.org/officeDocument/2006/relationships/image" Target="../media/image1.jpeg"/><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D708E7-421C-4897-8E68-B23AD1A0DD70}"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9332976" y="6474587"/>
            <a:ext cx="2743200" cy="365125"/>
          </a:xfrm>
          <a:prstGeom prst="rect">
            <a:avLst/>
          </a:prstGeom>
        </p:spPr>
        <p:txBody>
          <a:bodyPr vert="horz" lIns="91440" tIns="45720" rIns="91440" bIns="45720" rtlCol="0" anchor="ctr"/>
          <a:lstStyle>
            <a:lvl1pPr algn="r">
              <a:defRPr sz="1100">
                <a:solidFill>
                  <a:schemeClr val="tx1">
                    <a:tint val="75000"/>
                  </a:schemeClr>
                </a:solidFill>
                <a:latin typeface="微软雅黑" panose="020B0503020204020204" pitchFamily="34" charset="-122"/>
                <a:ea typeface="微软雅黑" panose="020B0503020204020204" pitchFamily="34" charset="-122"/>
              </a:defRPr>
            </a:lvl1pPr>
          </a:lstStyle>
          <a:p>
            <a:fld id="{E249CBB7-750D-45CF-BA18-1B29131E3C6C}" type="slidenum">
              <a:rPr lang="zh-CN" altLang="en-US" smtClean="0"/>
            </a:fld>
            <a:endParaRPr lang="zh-CN" altLang="en-US"/>
          </a:p>
        </p:txBody>
      </p:sp>
      <p:grpSp>
        <p:nvGrpSpPr>
          <p:cNvPr id="7" name="组合 6"/>
          <p:cNvGrpSpPr/>
          <p:nvPr userDrawn="1"/>
        </p:nvGrpSpPr>
        <p:grpSpPr>
          <a:xfrm>
            <a:off x="0" y="6230319"/>
            <a:ext cx="12192000" cy="627681"/>
            <a:chOff x="0" y="5888735"/>
            <a:chExt cx="12192000" cy="969265"/>
          </a:xfrm>
        </p:grpSpPr>
        <p:sp>
          <p:nvSpPr>
            <p:cNvPr id="8" name="任意多边形: 形状 7"/>
            <p:cNvSpPr/>
            <p:nvPr/>
          </p:nvSpPr>
          <p:spPr>
            <a:xfrm>
              <a:off x="0" y="5888736"/>
              <a:ext cx="12192000" cy="969264"/>
            </a:xfrm>
            <a:custGeom>
              <a:avLst/>
              <a:gdLst>
                <a:gd name="connsiteX0" fmla="*/ 12192000 w 12192000"/>
                <a:gd name="connsiteY0" fmla="*/ 0 h 834158"/>
                <a:gd name="connsiteX1" fmla="*/ 12192000 w 12192000"/>
                <a:gd name="connsiteY1" fmla="*/ 834158 h 834158"/>
                <a:gd name="connsiteX2" fmla="*/ 0 w 12192000"/>
                <a:gd name="connsiteY2" fmla="*/ 834158 h 834158"/>
                <a:gd name="connsiteX3" fmla="*/ 0 w 12192000"/>
                <a:gd name="connsiteY3" fmla="*/ 421770 h 834158"/>
                <a:gd name="connsiteX4" fmla="*/ 703930 w 12192000"/>
                <a:gd name="connsiteY4" fmla="*/ 493800 h 834158"/>
                <a:gd name="connsiteX5" fmla="*/ 4867275 w 12192000"/>
                <a:gd name="connsiteY5" fmla="*/ 671363 h 834158"/>
                <a:gd name="connsiteX6" fmla="*/ 12109997 w 12192000"/>
                <a:gd name="connsiteY6" fmla="*/ 22736 h 83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834158">
                  <a:moveTo>
                    <a:pt x="12192000" y="0"/>
                  </a:moveTo>
                  <a:lnTo>
                    <a:pt x="12192000" y="834158"/>
                  </a:lnTo>
                  <a:lnTo>
                    <a:pt x="0" y="834158"/>
                  </a:lnTo>
                  <a:lnTo>
                    <a:pt x="0" y="421770"/>
                  </a:lnTo>
                  <a:lnTo>
                    <a:pt x="703930" y="493800"/>
                  </a:lnTo>
                  <a:cubicBezTo>
                    <a:pt x="1941539" y="607040"/>
                    <a:pt x="3359810" y="671363"/>
                    <a:pt x="4867275" y="671363"/>
                  </a:cubicBezTo>
                  <a:cubicBezTo>
                    <a:pt x="7882206" y="671363"/>
                    <a:pt x="10540358" y="414071"/>
                    <a:pt x="12109997" y="2273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任意多边形: 形状 8"/>
            <p:cNvSpPr/>
            <p:nvPr/>
          </p:nvSpPr>
          <p:spPr>
            <a:xfrm>
              <a:off x="1" y="5888735"/>
              <a:ext cx="6540284" cy="693261"/>
            </a:xfrm>
            <a:custGeom>
              <a:avLst/>
              <a:gdLst>
                <a:gd name="connsiteX0" fmla="*/ 0 w 5170531"/>
                <a:gd name="connsiteY0" fmla="*/ 0 h 794504"/>
                <a:gd name="connsiteX1" fmla="*/ 509126 w 5170531"/>
                <a:gd name="connsiteY1" fmla="*/ 127114 h 794504"/>
                <a:gd name="connsiteX2" fmla="*/ 4499910 w 5170531"/>
                <a:gd name="connsiteY2" fmla="*/ 720789 h 794504"/>
                <a:gd name="connsiteX3" fmla="*/ 5170531 w 5170531"/>
                <a:gd name="connsiteY3" fmla="*/ 768690 h 794504"/>
                <a:gd name="connsiteX4" fmla="*/ 4943847 w 5170531"/>
                <a:gd name="connsiteY4" fmla="*/ 779391 h 794504"/>
                <a:gd name="connsiteX5" fmla="*/ 3958041 w 5170531"/>
                <a:gd name="connsiteY5" fmla="*/ 794504 h 794504"/>
                <a:gd name="connsiteX6" fmla="*/ 499235 w 5170531"/>
                <a:gd name="connsiteY6" fmla="*/ 576626 h 794504"/>
                <a:gd name="connsiteX7" fmla="*/ 0 w 5170531"/>
                <a:gd name="connsiteY7" fmla="*/ 484608 h 794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70531" h="794504">
                  <a:moveTo>
                    <a:pt x="0" y="0"/>
                  </a:moveTo>
                  <a:lnTo>
                    <a:pt x="509126" y="127114"/>
                  </a:lnTo>
                  <a:cubicBezTo>
                    <a:pt x="1656276" y="394427"/>
                    <a:pt x="3011164" y="598944"/>
                    <a:pt x="4499910" y="720789"/>
                  </a:cubicBezTo>
                  <a:lnTo>
                    <a:pt x="5170531" y="768690"/>
                  </a:lnTo>
                  <a:lnTo>
                    <a:pt x="4943847" y="779391"/>
                  </a:lnTo>
                  <a:cubicBezTo>
                    <a:pt x="4625423" y="789300"/>
                    <a:pt x="4295728" y="794504"/>
                    <a:pt x="3958041" y="794504"/>
                  </a:cubicBezTo>
                  <a:cubicBezTo>
                    <a:pt x="2607293" y="794504"/>
                    <a:pt x="1384420" y="711242"/>
                    <a:pt x="499235" y="576626"/>
                  </a:cubicBezTo>
                  <a:lnTo>
                    <a:pt x="0" y="484608"/>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0" name="梯形 9"/>
          <p:cNvSpPr/>
          <p:nvPr userDrawn="1"/>
        </p:nvSpPr>
        <p:spPr>
          <a:xfrm rot="16200000">
            <a:off x="72797" y="79396"/>
            <a:ext cx="375889" cy="808817"/>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DIN Light"/>
              <a:ea typeface="微软雅黑 Light" panose="020B0502040204020203" charset="-122"/>
            </a:endParaRPr>
          </a:p>
        </p:txBody>
      </p:sp>
      <p:sp>
        <p:nvSpPr>
          <p:cNvPr id="11" name="梯形 10"/>
          <p:cNvSpPr/>
          <p:nvPr userDrawn="1"/>
        </p:nvSpPr>
        <p:spPr>
          <a:xfrm rot="16200000">
            <a:off x="57549" y="238020"/>
            <a:ext cx="267255" cy="669682"/>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DIN Light"/>
              <a:ea typeface="微软雅黑 Light" panose="020B0502040204020203" charset="-122"/>
              <a:cs typeface="+mn-cs"/>
            </a:endParaRPr>
          </a:p>
        </p:txBody>
      </p:sp>
      <p:pic>
        <p:nvPicPr>
          <p:cNvPr id="12" name="Picture 2" descr="https://timgsa.baidu.com/timg?image&amp;quality=80&amp;size=b9999_10000&amp;sec=1543772355175&amp;di=c79abbaff2a9fe46052298e3846c46fe&amp;imgtype=0&amp;src=http%3A%2F%2Fpic44.photophoto.cn%2F20170707%2F0007019917203103_b.jpg"/>
          <p:cNvPicPr>
            <a:picLocks noChangeAspect="1" noChangeArrowheads="1"/>
          </p:cNvPicPr>
          <p:nvPr userDrawn="1"/>
        </p:nvPicPr>
        <p:blipFill rotWithShape="1">
          <a:blip r:embed="rId12" cstate="print">
            <a:clrChange>
              <a:clrFrom>
                <a:srgbClr val="FFFFFF"/>
              </a:clrFrom>
              <a:clrTo>
                <a:srgbClr val="FFFFFF">
                  <a:alpha val="0"/>
                </a:srgbClr>
              </a:clrTo>
            </a:clrChange>
            <a:extLst>
              <a:ext uri="{28A0092B-C50C-407E-A947-70E740481C1C}">
                <a14:useLocalDpi xmlns:a14="http://schemas.microsoft.com/office/drawing/2010/main" val="0"/>
              </a:ext>
            </a:extLst>
          </a:blip>
          <a:srcRect b="1264"/>
          <a:stretch>
            <a:fillRect/>
          </a:stretch>
        </p:blipFill>
        <p:spPr bwMode="auto">
          <a:xfrm>
            <a:off x="11263773" y="205156"/>
            <a:ext cx="635716" cy="627680"/>
          </a:xfrm>
          <a:prstGeom prst="rect">
            <a:avLst/>
          </a:prstGeom>
          <a:noFill/>
          <a:extLst>
            <a:ext uri="{909E8E84-426E-40DD-AFC4-6F175D3DCCD1}">
              <a14:hiddenFill xmlns:a14="http://schemas.microsoft.com/office/drawing/2010/main">
                <a:solidFill>
                  <a:srgbClr val="FFFFFF"/>
                </a:solidFill>
              </a14:hiddenFill>
            </a:ext>
          </a:extLst>
        </p:spPr>
      </p:pic>
      <p:sp>
        <p:nvSpPr>
          <p:cNvPr id="13" name="灯片编号占位符 5"/>
          <p:cNvSpPr txBox="1"/>
          <p:nvPr userDrawn="1"/>
        </p:nvSpPr>
        <p:spPr>
          <a:xfrm>
            <a:off x="9332976" y="6474587"/>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100" kern="1200">
                <a:solidFill>
                  <a:schemeClr val="bg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249CBB7-750D-45CF-BA18-1B29131E3C6C}"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A68B94-C734-4FAA-BA75-57D48D0BD3C2}"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29AAA6-52A7-41A3-AAC3-F7EE0809863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3FAB52-0D75-4FB4-963F-CFC9BE82CFA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3E8295-D660-4793-94DB-7FA6302251F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D708E7-421C-4897-8E68-B23AD1A0DD70}"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9332976" y="6474587"/>
            <a:ext cx="2743200" cy="365125"/>
          </a:xfrm>
          <a:prstGeom prst="rect">
            <a:avLst/>
          </a:prstGeom>
        </p:spPr>
        <p:txBody>
          <a:bodyPr vert="horz" lIns="91440" tIns="45720" rIns="91440" bIns="45720" rtlCol="0" anchor="ctr"/>
          <a:lstStyle>
            <a:lvl1pPr algn="r">
              <a:defRPr sz="1100">
                <a:solidFill>
                  <a:schemeClr val="tx1">
                    <a:tint val="75000"/>
                  </a:schemeClr>
                </a:solidFill>
                <a:latin typeface="微软雅黑" panose="020B0503020204020204" pitchFamily="34" charset="-122"/>
                <a:ea typeface="微软雅黑" panose="020B0503020204020204" pitchFamily="34" charset="-122"/>
              </a:defRPr>
            </a:lvl1pPr>
          </a:lstStyle>
          <a:p>
            <a:fld id="{E249CBB7-750D-45CF-BA18-1B29131E3C6C}" type="slidenum">
              <a:rPr lang="zh-CN" altLang="en-US" smtClean="0"/>
            </a:fld>
            <a:endParaRPr lang="zh-CN" altLang="en-US"/>
          </a:p>
        </p:txBody>
      </p:sp>
      <p:grpSp>
        <p:nvGrpSpPr>
          <p:cNvPr id="7" name="组合 6"/>
          <p:cNvGrpSpPr/>
          <p:nvPr userDrawn="1"/>
        </p:nvGrpSpPr>
        <p:grpSpPr>
          <a:xfrm>
            <a:off x="0" y="6230319"/>
            <a:ext cx="12192000" cy="627681"/>
            <a:chOff x="0" y="5888735"/>
            <a:chExt cx="12192000" cy="969265"/>
          </a:xfrm>
        </p:grpSpPr>
        <p:sp>
          <p:nvSpPr>
            <p:cNvPr id="8" name="任意多边形: 形状 7"/>
            <p:cNvSpPr/>
            <p:nvPr/>
          </p:nvSpPr>
          <p:spPr>
            <a:xfrm>
              <a:off x="0" y="5888736"/>
              <a:ext cx="12192000" cy="969264"/>
            </a:xfrm>
            <a:custGeom>
              <a:avLst/>
              <a:gdLst>
                <a:gd name="connsiteX0" fmla="*/ 12192000 w 12192000"/>
                <a:gd name="connsiteY0" fmla="*/ 0 h 834158"/>
                <a:gd name="connsiteX1" fmla="*/ 12192000 w 12192000"/>
                <a:gd name="connsiteY1" fmla="*/ 834158 h 834158"/>
                <a:gd name="connsiteX2" fmla="*/ 0 w 12192000"/>
                <a:gd name="connsiteY2" fmla="*/ 834158 h 834158"/>
                <a:gd name="connsiteX3" fmla="*/ 0 w 12192000"/>
                <a:gd name="connsiteY3" fmla="*/ 421770 h 834158"/>
                <a:gd name="connsiteX4" fmla="*/ 703930 w 12192000"/>
                <a:gd name="connsiteY4" fmla="*/ 493800 h 834158"/>
                <a:gd name="connsiteX5" fmla="*/ 4867275 w 12192000"/>
                <a:gd name="connsiteY5" fmla="*/ 671363 h 834158"/>
                <a:gd name="connsiteX6" fmla="*/ 12109997 w 12192000"/>
                <a:gd name="connsiteY6" fmla="*/ 22736 h 83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834158">
                  <a:moveTo>
                    <a:pt x="12192000" y="0"/>
                  </a:moveTo>
                  <a:lnTo>
                    <a:pt x="12192000" y="834158"/>
                  </a:lnTo>
                  <a:lnTo>
                    <a:pt x="0" y="834158"/>
                  </a:lnTo>
                  <a:lnTo>
                    <a:pt x="0" y="421770"/>
                  </a:lnTo>
                  <a:lnTo>
                    <a:pt x="703930" y="493800"/>
                  </a:lnTo>
                  <a:cubicBezTo>
                    <a:pt x="1941539" y="607040"/>
                    <a:pt x="3359810" y="671363"/>
                    <a:pt x="4867275" y="671363"/>
                  </a:cubicBezTo>
                  <a:cubicBezTo>
                    <a:pt x="7882206" y="671363"/>
                    <a:pt x="10540358" y="414071"/>
                    <a:pt x="12109997" y="2273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任意多边形: 形状 8"/>
            <p:cNvSpPr/>
            <p:nvPr/>
          </p:nvSpPr>
          <p:spPr>
            <a:xfrm>
              <a:off x="1" y="5888735"/>
              <a:ext cx="6540284" cy="693261"/>
            </a:xfrm>
            <a:custGeom>
              <a:avLst/>
              <a:gdLst>
                <a:gd name="connsiteX0" fmla="*/ 0 w 5170531"/>
                <a:gd name="connsiteY0" fmla="*/ 0 h 794504"/>
                <a:gd name="connsiteX1" fmla="*/ 509126 w 5170531"/>
                <a:gd name="connsiteY1" fmla="*/ 127114 h 794504"/>
                <a:gd name="connsiteX2" fmla="*/ 4499910 w 5170531"/>
                <a:gd name="connsiteY2" fmla="*/ 720789 h 794504"/>
                <a:gd name="connsiteX3" fmla="*/ 5170531 w 5170531"/>
                <a:gd name="connsiteY3" fmla="*/ 768690 h 794504"/>
                <a:gd name="connsiteX4" fmla="*/ 4943847 w 5170531"/>
                <a:gd name="connsiteY4" fmla="*/ 779391 h 794504"/>
                <a:gd name="connsiteX5" fmla="*/ 3958041 w 5170531"/>
                <a:gd name="connsiteY5" fmla="*/ 794504 h 794504"/>
                <a:gd name="connsiteX6" fmla="*/ 499235 w 5170531"/>
                <a:gd name="connsiteY6" fmla="*/ 576626 h 794504"/>
                <a:gd name="connsiteX7" fmla="*/ 0 w 5170531"/>
                <a:gd name="connsiteY7" fmla="*/ 484608 h 794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70531" h="794504">
                  <a:moveTo>
                    <a:pt x="0" y="0"/>
                  </a:moveTo>
                  <a:lnTo>
                    <a:pt x="509126" y="127114"/>
                  </a:lnTo>
                  <a:cubicBezTo>
                    <a:pt x="1656276" y="394427"/>
                    <a:pt x="3011164" y="598944"/>
                    <a:pt x="4499910" y="720789"/>
                  </a:cubicBezTo>
                  <a:lnTo>
                    <a:pt x="5170531" y="768690"/>
                  </a:lnTo>
                  <a:lnTo>
                    <a:pt x="4943847" y="779391"/>
                  </a:lnTo>
                  <a:cubicBezTo>
                    <a:pt x="4625423" y="789300"/>
                    <a:pt x="4295728" y="794504"/>
                    <a:pt x="3958041" y="794504"/>
                  </a:cubicBezTo>
                  <a:cubicBezTo>
                    <a:pt x="2607293" y="794504"/>
                    <a:pt x="1384420" y="711242"/>
                    <a:pt x="499235" y="576626"/>
                  </a:cubicBezTo>
                  <a:lnTo>
                    <a:pt x="0" y="484608"/>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0" name="梯形 9"/>
          <p:cNvSpPr/>
          <p:nvPr userDrawn="1"/>
        </p:nvSpPr>
        <p:spPr>
          <a:xfrm rot="16200000">
            <a:off x="72797" y="79396"/>
            <a:ext cx="375889" cy="808817"/>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DIN Light"/>
              <a:ea typeface="微软雅黑 Light" panose="020B0502040204020203" charset="-122"/>
            </a:endParaRPr>
          </a:p>
        </p:txBody>
      </p:sp>
      <p:sp>
        <p:nvSpPr>
          <p:cNvPr id="11" name="梯形 10"/>
          <p:cNvSpPr/>
          <p:nvPr userDrawn="1"/>
        </p:nvSpPr>
        <p:spPr>
          <a:xfrm rot="16200000">
            <a:off x="57549" y="238020"/>
            <a:ext cx="267255" cy="669682"/>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DIN Light"/>
              <a:ea typeface="微软雅黑 Light" panose="020B0502040204020203" charset="-122"/>
              <a:cs typeface="+mn-cs"/>
            </a:endParaRPr>
          </a:p>
        </p:txBody>
      </p:sp>
      <p:pic>
        <p:nvPicPr>
          <p:cNvPr id="12" name="Picture 2" descr="https://timgsa.baidu.com/timg?image&amp;quality=80&amp;size=b9999_10000&amp;sec=1543772355175&amp;di=c79abbaff2a9fe46052298e3846c46fe&amp;imgtype=0&amp;src=http%3A%2F%2Fpic44.photophoto.cn%2F20170707%2F0007019917203103_b.jpg"/>
          <p:cNvPicPr>
            <a:picLocks noChangeAspect="1" noChangeArrowheads="1"/>
          </p:cNvPicPr>
          <p:nvPr userDrawn="1"/>
        </p:nvPicPr>
        <p:blipFill rotWithShape="1">
          <a:blip r:embed="rId12" cstate="print">
            <a:clrChange>
              <a:clrFrom>
                <a:srgbClr val="FFFFFF"/>
              </a:clrFrom>
              <a:clrTo>
                <a:srgbClr val="FFFFFF">
                  <a:alpha val="0"/>
                </a:srgbClr>
              </a:clrTo>
            </a:clrChange>
            <a:extLst>
              <a:ext uri="{28A0092B-C50C-407E-A947-70E740481C1C}">
                <a14:useLocalDpi xmlns:a14="http://schemas.microsoft.com/office/drawing/2010/main" val="0"/>
              </a:ext>
            </a:extLst>
          </a:blip>
          <a:srcRect b="1264"/>
          <a:stretch>
            <a:fillRect/>
          </a:stretch>
        </p:blipFill>
        <p:spPr bwMode="auto">
          <a:xfrm>
            <a:off x="11263773" y="205156"/>
            <a:ext cx="635716" cy="627680"/>
          </a:xfrm>
          <a:prstGeom prst="rect">
            <a:avLst/>
          </a:prstGeom>
          <a:noFill/>
          <a:extLst>
            <a:ext uri="{909E8E84-426E-40DD-AFC4-6F175D3DCCD1}">
              <a14:hiddenFill xmlns:a14="http://schemas.microsoft.com/office/drawing/2010/main">
                <a:solidFill>
                  <a:srgbClr val="FFFFFF"/>
                </a:solidFill>
              </a14:hiddenFill>
            </a:ext>
          </a:extLst>
        </p:spPr>
      </p:pic>
      <p:sp>
        <p:nvSpPr>
          <p:cNvPr id="13" name="灯片编号占位符 5"/>
          <p:cNvSpPr txBox="1"/>
          <p:nvPr userDrawn="1"/>
        </p:nvSpPr>
        <p:spPr>
          <a:xfrm>
            <a:off x="9332976" y="6474587"/>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100" kern="1200">
                <a:solidFill>
                  <a:schemeClr val="bg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249CBB7-750D-45CF-BA18-1B29131E3C6C}"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5.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1" Type="http://schemas.openxmlformats.org/officeDocument/2006/relationships/slideLayout" Target="../slideLayouts/slideLayout7.xml"/><Relationship Id="rId10" Type="http://schemas.openxmlformats.org/officeDocument/2006/relationships/tags" Target="../tags/tag10.xml"/><Relationship Id="rId1" Type="http://schemas.openxmlformats.org/officeDocument/2006/relationships/tags" Target="../tags/tag1.xml"/></Relationships>
</file>

<file path=ppt/slides/_rels/slide16.xml.rels><?xml version="1.0" encoding="UTF-8" standalone="yes"?>
<Relationships xmlns="http://schemas.openxmlformats.org/package/2006/relationships"><Relationship Id="rId9" Type="http://schemas.openxmlformats.org/officeDocument/2006/relationships/tags" Target="../tags/tag19.xml"/><Relationship Id="rId8" Type="http://schemas.openxmlformats.org/officeDocument/2006/relationships/tags" Target="../tags/tag18.xml"/><Relationship Id="rId7" Type="http://schemas.openxmlformats.org/officeDocument/2006/relationships/tags" Target="../tags/tag17.xml"/><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tags" Target="../tags/tag12.xml"/><Relationship Id="rId11" Type="http://schemas.openxmlformats.org/officeDocument/2006/relationships/slideLayout" Target="../slideLayouts/slideLayout7.xml"/><Relationship Id="rId10" Type="http://schemas.openxmlformats.org/officeDocument/2006/relationships/tags" Target="../tags/tag20.xml"/><Relationship Id="rId1" Type="http://schemas.openxmlformats.org/officeDocument/2006/relationships/tags" Target="../tags/tag11.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2.xml"/><Relationship Id="rId1" Type="http://schemas.openxmlformats.org/officeDocument/2006/relationships/tags" Target="../tags/tag21.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40.xml"/><Relationship Id="rId2" Type="http://schemas.openxmlformats.org/officeDocument/2006/relationships/tags" Target="../tags/tag24.xml"/><Relationship Id="rId1" Type="http://schemas.openxmlformats.org/officeDocument/2006/relationships/tags" Target="../tags/tag2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9" Type="http://schemas.openxmlformats.org/officeDocument/2006/relationships/tags" Target="../tags/tag31.xml"/><Relationship Id="rId8" Type="http://schemas.openxmlformats.org/officeDocument/2006/relationships/tags" Target="../tags/tag30.xml"/><Relationship Id="rId7" Type="http://schemas.openxmlformats.org/officeDocument/2006/relationships/image" Target="../media/image12.png"/><Relationship Id="rId6" Type="http://schemas.openxmlformats.org/officeDocument/2006/relationships/tags" Target="../tags/tag29.xml"/><Relationship Id="rId5" Type="http://schemas.openxmlformats.org/officeDocument/2006/relationships/tags" Target="../tags/tag28.xml"/><Relationship Id="rId4" Type="http://schemas.openxmlformats.org/officeDocument/2006/relationships/image" Target="../media/image11.png"/><Relationship Id="rId3" Type="http://schemas.openxmlformats.org/officeDocument/2006/relationships/tags" Target="../tags/tag27.xml"/><Relationship Id="rId2" Type="http://schemas.openxmlformats.org/officeDocument/2006/relationships/tags" Target="../tags/tag26.xml"/><Relationship Id="rId19" Type="http://schemas.openxmlformats.org/officeDocument/2006/relationships/slideLayout" Target="../slideLayouts/slideLayout7.xml"/><Relationship Id="rId18" Type="http://schemas.openxmlformats.org/officeDocument/2006/relationships/tags" Target="../tags/tag38.xml"/><Relationship Id="rId17" Type="http://schemas.openxmlformats.org/officeDocument/2006/relationships/tags" Target="../tags/tag37.xml"/><Relationship Id="rId16" Type="http://schemas.openxmlformats.org/officeDocument/2006/relationships/tags" Target="../tags/tag36.xml"/><Relationship Id="rId15" Type="http://schemas.openxmlformats.org/officeDocument/2006/relationships/tags" Target="../tags/tag35.xml"/><Relationship Id="rId14" Type="http://schemas.openxmlformats.org/officeDocument/2006/relationships/tags" Target="../tags/tag34.xml"/><Relationship Id="rId13" Type="http://schemas.openxmlformats.org/officeDocument/2006/relationships/image" Target="../media/image14.png"/><Relationship Id="rId12" Type="http://schemas.openxmlformats.org/officeDocument/2006/relationships/tags" Target="../tags/tag33.xml"/><Relationship Id="rId11" Type="http://schemas.openxmlformats.org/officeDocument/2006/relationships/tags" Target="../tags/tag32.xml"/><Relationship Id="rId10" Type="http://schemas.openxmlformats.org/officeDocument/2006/relationships/image" Target="../media/image13.png"/><Relationship Id="rId1" Type="http://schemas.openxmlformats.org/officeDocument/2006/relationships/tags" Target="../tags/tag25.xml"/></Relationships>
</file>

<file path=ppt/slides/_rels/slide26.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5.wmf"/><Relationship Id="rId1" Type="http://schemas.openxmlformats.org/officeDocument/2006/relationships/oleObject" Target="../embeddings/oleObject1.bin"/></Relationships>
</file>

<file path=ppt/slides/_rels/slide27.xml.rels><?xml version="1.0" encoding="UTF-8" standalone="yes"?>
<Relationships xmlns="http://schemas.openxmlformats.org/package/2006/relationships"><Relationship Id="rId9" Type="http://schemas.openxmlformats.org/officeDocument/2006/relationships/image" Target="../media/image18.png"/><Relationship Id="rId8" Type="http://schemas.openxmlformats.org/officeDocument/2006/relationships/tags" Target="../tags/tag44.xml"/><Relationship Id="rId7" Type="http://schemas.openxmlformats.org/officeDocument/2006/relationships/tags" Target="../tags/tag43.xml"/><Relationship Id="rId6" Type="http://schemas.openxmlformats.org/officeDocument/2006/relationships/image" Target="../media/image17.png"/><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image" Target="../media/image16.png"/><Relationship Id="rId21" Type="http://schemas.openxmlformats.org/officeDocument/2006/relationships/slideLayout" Target="../slideLayouts/slideLayout7.xml"/><Relationship Id="rId20" Type="http://schemas.openxmlformats.org/officeDocument/2006/relationships/tags" Target="../tags/tag53.xml"/><Relationship Id="rId2" Type="http://schemas.openxmlformats.org/officeDocument/2006/relationships/tags" Target="../tags/tag40.xml"/><Relationship Id="rId19" Type="http://schemas.openxmlformats.org/officeDocument/2006/relationships/tags" Target="../tags/tag52.xml"/><Relationship Id="rId18" Type="http://schemas.openxmlformats.org/officeDocument/2006/relationships/tags" Target="../tags/tag51.xml"/><Relationship Id="rId17" Type="http://schemas.openxmlformats.org/officeDocument/2006/relationships/tags" Target="../tags/tag50.xml"/><Relationship Id="rId16" Type="http://schemas.openxmlformats.org/officeDocument/2006/relationships/tags" Target="../tags/tag49.xml"/><Relationship Id="rId15" Type="http://schemas.openxmlformats.org/officeDocument/2006/relationships/image" Target="../media/image20.png"/><Relationship Id="rId14" Type="http://schemas.openxmlformats.org/officeDocument/2006/relationships/tags" Target="../tags/tag48.xml"/><Relationship Id="rId13" Type="http://schemas.openxmlformats.org/officeDocument/2006/relationships/tags" Target="../tags/tag47.xml"/><Relationship Id="rId12" Type="http://schemas.openxmlformats.org/officeDocument/2006/relationships/image" Target="../media/image19.png"/><Relationship Id="rId11" Type="http://schemas.openxmlformats.org/officeDocument/2006/relationships/tags" Target="../tags/tag46.xml"/><Relationship Id="rId10" Type="http://schemas.openxmlformats.org/officeDocument/2006/relationships/tags" Target="../tags/tag45.xml"/><Relationship Id="rId1" Type="http://schemas.openxmlformats.org/officeDocument/2006/relationships/tags" Target="../tags/tag39.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23.emf"/></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24.emf"/></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image" Target="../media/image26.pn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9.png"/><Relationship Id="rId1" Type="http://schemas.openxmlformats.org/officeDocument/2006/relationships/image" Target="../media/image2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30.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31.png"/></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3.png"/><Relationship Id="rId1" Type="http://schemas.openxmlformats.org/officeDocument/2006/relationships/image" Target="../media/image3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tags" Target="../tags/tag54.xml"/></Relationships>
</file>

<file path=ppt/slides/_rels/slide54.xml.rels><?xml version="1.0" encoding="UTF-8" standalone="yes"?>
<Relationships xmlns="http://schemas.openxmlformats.org/package/2006/relationships"><Relationship Id="rId8" Type="http://schemas.openxmlformats.org/officeDocument/2006/relationships/vmlDrawing" Target="../drawings/vmlDrawing2.vml"/><Relationship Id="rId7" Type="http://schemas.openxmlformats.org/officeDocument/2006/relationships/slideLayout" Target="../slideLayouts/slideLayout35.xml"/><Relationship Id="rId6" Type="http://schemas.openxmlformats.org/officeDocument/2006/relationships/image" Target="../media/image36.wmf"/><Relationship Id="rId5" Type="http://schemas.openxmlformats.org/officeDocument/2006/relationships/oleObject" Target="../embeddings/oleObject4.bin"/><Relationship Id="rId4" Type="http://schemas.openxmlformats.org/officeDocument/2006/relationships/image" Target="../media/image35.wmf"/><Relationship Id="rId3" Type="http://schemas.openxmlformats.org/officeDocument/2006/relationships/oleObject" Target="../embeddings/oleObject3.bin"/><Relationship Id="rId2" Type="http://schemas.openxmlformats.org/officeDocument/2006/relationships/image" Target="../media/image34.wmf"/><Relationship Id="rId1" Type="http://schemas.openxmlformats.org/officeDocument/2006/relationships/oleObject" Target="../embeddings/oleObject2.bin"/></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l="9375" t="39498" r="10496" b="1702"/>
          <a:stretch>
            <a:fillRect/>
          </a:stretch>
        </p:blipFill>
        <p:spPr>
          <a:xfrm>
            <a:off x="0" y="0"/>
            <a:ext cx="12192000" cy="3349519"/>
          </a:xfrm>
          <a:prstGeom prst="rect">
            <a:avLst/>
          </a:prstGeom>
        </p:spPr>
      </p:pic>
      <p:sp>
        <p:nvSpPr>
          <p:cNvPr id="5" name="文本框 4"/>
          <p:cNvSpPr txBox="1"/>
          <p:nvPr/>
        </p:nvSpPr>
        <p:spPr>
          <a:xfrm>
            <a:off x="1007712" y="4042399"/>
            <a:ext cx="10176573" cy="707886"/>
          </a:xfrm>
          <a:prstGeom prst="rect">
            <a:avLst/>
          </a:prstGeom>
          <a:noFill/>
        </p:spPr>
        <p:txBody>
          <a:bodyPr wrap="square" rtlCol="0">
            <a:spAutoFit/>
          </a:bodyPr>
          <a:lstStyle/>
          <a:p>
            <a:pPr algn="ctr"/>
            <a:r>
              <a:rPr lang="zh-CN" altLang="en-US" sz="4000" b="1" spc="600" dirty="0">
                <a:solidFill>
                  <a:schemeClr val="accent1"/>
                </a:solidFill>
                <a:latin typeface="微软雅黑" panose="020B0503020204020204" pitchFamily="34" charset="-122"/>
                <a:ea typeface="微软雅黑" panose="020B0503020204020204" pitchFamily="34" charset="-122"/>
              </a:rPr>
              <a:t>第六章：目标规划</a:t>
            </a:r>
            <a:endParaRPr lang="zh-CN" altLang="en-US" sz="4000" b="1" spc="600" dirty="0">
              <a:solidFill>
                <a:schemeClr val="accent1"/>
              </a:solidFill>
              <a:latin typeface="微软雅黑" panose="020B0503020204020204" pitchFamily="34" charset="-122"/>
              <a:ea typeface="微软雅黑" panose="020B0503020204020204" pitchFamily="34" charset="-122"/>
            </a:endParaRPr>
          </a:p>
        </p:txBody>
      </p:sp>
      <p:sp>
        <p:nvSpPr>
          <p:cNvPr id="6" name="矩形 5"/>
          <p:cNvSpPr/>
          <p:nvPr/>
        </p:nvSpPr>
        <p:spPr>
          <a:xfrm>
            <a:off x="0" y="3339894"/>
            <a:ext cx="12192000" cy="1290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 name="矩形 6"/>
          <p:cNvSpPr/>
          <p:nvPr/>
        </p:nvSpPr>
        <p:spPr>
          <a:xfrm>
            <a:off x="0" y="3270038"/>
            <a:ext cx="12192000" cy="129048"/>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文本框 7"/>
          <p:cNvSpPr txBox="1"/>
          <p:nvPr/>
        </p:nvSpPr>
        <p:spPr>
          <a:xfrm>
            <a:off x="3025540" y="4869708"/>
            <a:ext cx="6140919" cy="338554"/>
          </a:xfrm>
          <a:prstGeom prst="rect">
            <a:avLst/>
          </a:prstGeom>
          <a:noFill/>
        </p:spPr>
        <p:txBody>
          <a:bodyPr wrap="square" rtlCol="0">
            <a:spAutoFit/>
          </a:bodyPr>
          <a:lstStyle/>
          <a:p>
            <a:pPr algn="dist"/>
            <a:r>
              <a:rPr lang="en-US" altLang="zh-CN" sz="1600" dirty="0">
                <a:solidFill>
                  <a:schemeClr val="bg1">
                    <a:lumMod val="65000"/>
                  </a:schemeClr>
                </a:solidFill>
                <a:latin typeface="Segoe UI Light" panose="020B0502040204020203" pitchFamily="34" charset="0"/>
                <a:cs typeface="Segoe UI Light" panose="020B0502040204020203" pitchFamily="34" charset="0"/>
              </a:rPr>
              <a:t>HUAZHONG AGRICULTURAL UNIVERSITY</a:t>
            </a:r>
            <a:endParaRPr lang="zh-CN" altLang="en-US" sz="1600" dirty="0">
              <a:solidFill>
                <a:schemeClr val="bg1">
                  <a:lumMod val="65000"/>
                </a:schemeClr>
              </a:solidFill>
              <a:latin typeface="Segoe UI Light" panose="020B0502040204020203" pitchFamily="34" charset="0"/>
              <a:cs typeface="Segoe UI Light" panose="020B0502040204020203" pitchFamily="34" charset="0"/>
            </a:endParaRPr>
          </a:p>
        </p:txBody>
      </p:sp>
      <p:grpSp>
        <p:nvGrpSpPr>
          <p:cNvPr id="12" name="组合 11"/>
          <p:cNvGrpSpPr/>
          <p:nvPr/>
        </p:nvGrpSpPr>
        <p:grpSpPr>
          <a:xfrm>
            <a:off x="9214084" y="5016125"/>
            <a:ext cx="1999647" cy="45719"/>
            <a:chOff x="9458460" y="4956809"/>
            <a:chExt cx="1999647" cy="45719"/>
          </a:xfrm>
        </p:grpSpPr>
        <p:cxnSp>
          <p:nvCxnSpPr>
            <p:cNvPr id="10" name="直接连接符 9"/>
            <p:cNvCxnSpPr/>
            <p:nvPr/>
          </p:nvCxnSpPr>
          <p:spPr>
            <a:xfrm>
              <a:off x="9504179" y="4982095"/>
              <a:ext cx="1953928"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椭圆 10"/>
            <p:cNvSpPr/>
            <p:nvPr/>
          </p:nvSpPr>
          <p:spPr>
            <a:xfrm>
              <a:off x="9458460" y="4956809"/>
              <a:ext cx="45719" cy="45719"/>
            </a:xfrm>
            <a:prstGeom prst="ellipse">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 name="组合 12"/>
          <p:cNvGrpSpPr/>
          <p:nvPr/>
        </p:nvGrpSpPr>
        <p:grpSpPr>
          <a:xfrm flipH="1">
            <a:off x="980174" y="5016125"/>
            <a:ext cx="1999647" cy="45719"/>
            <a:chOff x="9458460" y="4956809"/>
            <a:chExt cx="1999647" cy="45719"/>
          </a:xfrm>
        </p:grpSpPr>
        <p:cxnSp>
          <p:nvCxnSpPr>
            <p:cNvPr id="14" name="直接连接符 13"/>
            <p:cNvCxnSpPr/>
            <p:nvPr/>
          </p:nvCxnSpPr>
          <p:spPr>
            <a:xfrm>
              <a:off x="9504179" y="4982095"/>
              <a:ext cx="1953928"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椭圆 14"/>
            <p:cNvSpPr/>
            <p:nvPr/>
          </p:nvSpPr>
          <p:spPr>
            <a:xfrm>
              <a:off x="9458460" y="4956809"/>
              <a:ext cx="45719" cy="45719"/>
            </a:xfrm>
            <a:prstGeom prst="ellipse">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1633220" y="0"/>
            <a:ext cx="8985250" cy="5491480"/>
          </a:xfrm>
          <a:prstGeom prst="rect">
            <a:avLst/>
          </a:prstGeom>
        </p:spPr>
      </p:pic>
      <p:pic>
        <p:nvPicPr>
          <p:cNvPr id="7" name="图片 6"/>
          <p:cNvPicPr>
            <a:picLocks noChangeAspect="1"/>
          </p:cNvPicPr>
          <p:nvPr/>
        </p:nvPicPr>
        <p:blipFill>
          <a:blip r:embed="rId2"/>
          <a:stretch>
            <a:fillRect/>
          </a:stretch>
        </p:blipFill>
        <p:spPr>
          <a:xfrm>
            <a:off x="1340485" y="5491480"/>
            <a:ext cx="9510395" cy="124650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779780" y="874395"/>
            <a:ext cx="10632440" cy="542734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259080" y="1071245"/>
            <a:ext cx="11515725" cy="47148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714375" y="563245"/>
            <a:ext cx="10434320" cy="573151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章节内容</a:t>
            </a:r>
            <a:endParaRPr lang="zh-CN" altLang="en-US" dirty="0"/>
          </a:p>
        </p:txBody>
      </p:sp>
      <p:sp>
        <p:nvSpPr>
          <p:cNvPr id="3" name="内容占位符 2"/>
          <p:cNvSpPr>
            <a:spLocks noGrp="1"/>
          </p:cNvSpPr>
          <p:nvPr>
            <p:ph idx="1"/>
          </p:nvPr>
        </p:nvSpPr>
        <p:spPr/>
        <p:txBody>
          <a:bodyPr/>
          <a:lstStyle/>
          <a:p>
            <a:r>
              <a:rPr lang="zh-CN" altLang="en-US" dirty="0"/>
              <a:t>目标规划问题举例</a:t>
            </a:r>
            <a:endParaRPr lang="en-US" altLang="zh-CN" dirty="0"/>
          </a:p>
          <a:p>
            <a:r>
              <a:rPr lang="zh-CN" altLang="en-US" dirty="0">
                <a:sym typeface="+mn-ea"/>
              </a:rPr>
              <a:t>有优先权的</a:t>
            </a:r>
            <a:r>
              <a:rPr lang="zh-CN" altLang="en-US" dirty="0"/>
              <a:t>目标规划的图解法</a:t>
            </a:r>
            <a:endParaRPr lang="en-US" altLang="zh-CN" dirty="0"/>
          </a:p>
          <a:p>
            <a:r>
              <a:rPr lang="zh-CN" altLang="en-US"/>
              <a:t>复杂情况下的有优先权的目标规划</a:t>
            </a:r>
            <a:endParaRPr lang="zh-CN" altLang="en-US"/>
          </a:p>
          <a:p>
            <a:r>
              <a:rPr lang="zh-CN" altLang="en-US" dirty="0"/>
              <a:t>加权目标规划</a:t>
            </a: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944245"/>
            <a:ext cx="10515600" cy="5233035"/>
          </a:xfrm>
        </p:spPr>
        <p:txBody>
          <a:bodyPr>
            <a:normAutofit lnSpcReduction="20000"/>
          </a:bodyPr>
          <a:lstStyle/>
          <a:p>
            <a:pPr marL="0" marR="0" lvl="0" indent="0" algn="l" defTabSz="914400" rtl="0" eaLnBrk="1" fontAlgn="base" latinLnBrk="0" hangingPunct="1">
              <a:lnSpc>
                <a:spcPct val="120000"/>
              </a:lnSpc>
              <a:spcBef>
                <a:spcPct val="0"/>
              </a:spcBef>
              <a:spcAft>
                <a:spcPct val="0"/>
              </a:spcAft>
              <a:buClrTx/>
              <a:buSzTx/>
              <a:buFontTx/>
              <a:buNone/>
              <a:defRPr/>
            </a:pPr>
            <a:r>
              <a:rPr kumimoji="1" lang="zh-CN" altLang="en-US" noProof="0">
                <a:ln>
                  <a:noFill/>
                </a:ln>
                <a:solidFill>
                  <a:srgbClr val="000000"/>
                </a:solidFill>
                <a:effectLst/>
                <a:uLnTx/>
                <a:uFillTx/>
                <a:cs typeface="楷体" panose="02010609060101010101" pitchFamily="49" charset="-122"/>
                <a:sym typeface="+mn-ea"/>
              </a:rPr>
              <a:t>线性规划模型的特征是在满足一组约束条件下，寻求一个目标的最优解（最大值或最小值）。</a:t>
            </a:r>
            <a:endParaRPr kumimoji="1" lang="zh-CN" altLang="en-US" i="0" u="none" strike="noStrike" kern="1200" cap="none" spc="0" normalizeH="0" baseline="0" noProof="0">
              <a:ln>
                <a:noFill/>
              </a:ln>
              <a:solidFill>
                <a:srgbClr val="000000"/>
              </a:solidFill>
              <a:effectLst/>
              <a:uLnTx/>
              <a:uFillTx/>
              <a:cs typeface="楷体" panose="02010609060101010101" pitchFamily="49" charset="-122"/>
            </a:endParaRPr>
          </a:p>
          <a:p>
            <a:pPr marL="0" marR="0" lvl="0" indent="0" algn="l" defTabSz="914400" rtl="0" eaLnBrk="1" fontAlgn="base" latinLnBrk="0" hangingPunct="1">
              <a:lnSpc>
                <a:spcPct val="120000"/>
              </a:lnSpc>
              <a:spcBef>
                <a:spcPct val="0"/>
              </a:spcBef>
              <a:spcAft>
                <a:spcPct val="0"/>
              </a:spcAft>
              <a:buClrTx/>
              <a:buSzTx/>
              <a:buFontTx/>
              <a:buNone/>
              <a:defRPr/>
            </a:pPr>
            <a:r>
              <a:rPr kumimoji="1" lang="zh-CN" altLang="en-US" noProof="0">
                <a:ln>
                  <a:noFill/>
                </a:ln>
                <a:solidFill>
                  <a:srgbClr val="000000"/>
                </a:solidFill>
                <a:effectLst/>
                <a:uLnTx/>
                <a:uFillTx/>
                <a:cs typeface="楷体" panose="02010609060101010101" pitchFamily="49" charset="-122"/>
                <a:sym typeface="+mn-ea"/>
              </a:rPr>
              <a:t>    </a:t>
            </a:r>
            <a:endParaRPr kumimoji="1" lang="zh-CN" altLang="en-US" i="0" u="none" strike="noStrike" kern="1200" cap="none" spc="0" normalizeH="0" baseline="0" noProof="0">
              <a:ln>
                <a:noFill/>
              </a:ln>
              <a:solidFill>
                <a:srgbClr val="000000"/>
              </a:solidFill>
              <a:effectLst/>
              <a:uLnTx/>
              <a:uFillTx/>
              <a:cs typeface="楷体" panose="02010609060101010101" pitchFamily="49" charset="-122"/>
            </a:endParaRPr>
          </a:p>
          <a:p>
            <a:pPr marL="0" marR="0" lvl="0" indent="0" algn="l" defTabSz="914400" rtl="0" eaLnBrk="1" fontAlgn="base" latinLnBrk="0" hangingPunct="1">
              <a:lnSpc>
                <a:spcPct val="120000"/>
              </a:lnSpc>
              <a:spcBef>
                <a:spcPct val="0"/>
              </a:spcBef>
              <a:spcAft>
                <a:spcPct val="0"/>
              </a:spcAft>
              <a:buClrTx/>
              <a:buSzTx/>
              <a:buFontTx/>
              <a:buNone/>
              <a:defRPr/>
            </a:pPr>
            <a:r>
              <a:rPr kumimoji="1" lang="zh-CN" altLang="en-US" noProof="0">
                <a:ln>
                  <a:noFill/>
                </a:ln>
                <a:solidFill>
                  <a:srgbClr val="000000"/>
                </a:solidFill>
                <a:effectLst/>
                <a:uLnTx/>
                <a:uFillTx/>
                <a:cs typeface="楷体" panose="02010609060101010101" pitchFamily="49" charset="-122"/>
                <a:sym typeface="+mn-ea"/>
              </a:rPr>
              <a:t>而在现实生活中最优只是相对的，或者说没有绝对意义下的最优，只有相对意义下的满意。</a:t>
            </a:r>
            <a:endParaRPr kumimoji="1" lang="zh-CN" altLang="en-US" i="0" u="none" strike="noStrike" kern="1200" cap="none" spc="0" normalizeH="0" baseline="0" noProof="0">
              <a:ln>
                <a:noFill/>
              </a:ln>
              <a:solidFill>
                <a:srgbClr val="000000"/>
              </a:solidFill>
              <a:effectLst/>
              <a:uLnTx/>
              <a:uFillTx/>
              <a:cs typeface="楷体" panose="02010609060101010101" pitchFamily="49" charset="-122"/>
            </a:endParaRPr>
          </a:p>
          <a:p>
            <a:pPr marL="0" marR="0" lvl="0" indent="0" algn="l" defTabSz="914400" rtl="0" eaLnBrk="1" fontAlgn="base" latinLnBrk="0" hangingPunct="1">
              <a:lnSpc>
                <a:spcPct val="120000"/>
              </a:lnSpc>
              <a:spcBef>
                <a:spcPct val="0"/>
              </a:spcBef>
              <a:spcAft>
                <a:spcPct val="0"/>
              </a:spcAft>
              <a:buClrTx/>
              <a:buSzTx/>
              <a:buFontTx/>
              <a:buNone/>
              <a:defRPr/>
            </a:pPr>
            <a:r>
              <a:rPr kumimoji="1" lang="zh-CN" altLang="en-US" noProof="0">
                <a:ln>
                  <a:noFill/>
                </a:ln>
                <a:solidFill>
                  <a:srgbClr val="000000"/>
                </a:solidFill>
                <a:effectLst/>
                <a:uLnTx/>
                <a:uFillTx/>
                <a:cs typeface="楷体" panose="02010609060101010101" pitchFamily="49" charset="-122"/>
                <a:sym typeface="+mn-ea"/>
              </a:rPr>
              <a:t>    </a:t>
            </a:r>
            <a:endParaRPr kumimoji="1" lang="zh-CN" altLang="en-US" i="0" u="none" strike="noStrike" kern="1200" cap="none" spc="0" normalizeH="0" baseline="0" noProof="0">
              <a:ln>
                <a:noFill/>
              </a:ln>
              <a:solidFill>
                <a:srgbClr val="000000"/>
              </a:solidFill>
              <a:effectLst/>
              <a:uLnTx/>
              <a:uFillTx/>
              <a:cs typeface="楷体" panose="02010609060101010101" pitchFamily="49" charset="-122"/>
            </a:endParaRPr>
          </a:p>
          <a:p>
            <a:pPr marL="0" marR="0" lvl="0" indent="0" algn="l" defTabSz="914400" rtl="0" eaLnBrk="1" fontAlgn="base" latinLnBrk="0" hangingPunct="1">
              <a:lnSpc>
                <a:spcPct val="120000"/>
              </a:lnSpc>
              <a:spcBef>
                <a:spcPct val="0"/>
              </a:spcBef>
              <a:spcAft>
                <a:spcPct val="0"/>
              </a:spcAft>
              <a:buClrTx/>
              <a:buSzTx/>
              <a:buFontTx/>
              <a:buNone/>
              <a:defRPr/>
            </a:pPr>
            <a:r>
              <a:rPr kumimoji="1" lang="zh-CN" altLang="en-US" noProof="0">
                <a:ln>
                  <a:noFill/>
                </a:ln>
                <a:solidFill>
                  <a:srgbClr val="000000"/>
                </a:solidFill>
                <a:effectLst/>
                <a:uLnTx/>
                <a:uFillTx/>
                <a:cs typeface="楷体" panose="02010609060101010101" pitchFamily="49" charset="-122"/>
                <a:sym typeface="+mn-ea"/>
              </a:rPr>
              <a:t>    </a:t>
            </a:r>
            <a:r>
              <a:rPr kumimoji="1" lang="en-US" altLang="zh-CN" noProof="0">
                <a:ln>
                  <a:noFill/>
                </a:ln>
                <a:solidFill>
                  <a:srgbClr val="000000"/>
                </a:solidFill>
                <a:effectLst/>
                <a:uLnTx/>
                <a:uFillTx/>
                <a:cs typeface="楷体" panose="02010609060101010101" pitchFamily="49" charset="-122"/>
                <a:sym typeface="+mn-ea"/>
              </a:rPr>
              <a:t>1978</a:t>
            </a:r>
            <a:r>
              <a:rPr kumimoji="1" lang="zh-CN" altLang="en-US" noProof="0">
                <a:ln>
                  <a:noFill/>
                </a:ln>
                <a:solidFill>
                  <a:srgbClr val="000000"/>
                </a:solidFill>
                <a:effectLst/>
                <a:uLnTx/>
                <a:uFillTx/>
                <a:cs typeface="楷体" panose="02010609060101010101" pitchFamily="49" charset="-122"/>
                <a:sym typeface="+mn-ea"/>
              </a:rPr>
              <a:t>年诺贝尔经济学奖获得者</a:t>
            </a:r>
            <a:r>
              <a:rPr kumimoji="1" lang="en-US" altLang="zh-CN" noProof="0">
                <a:ln>
                  <a:noFill/>
                </a:ln>
                <a:solidFill>
                  <a:srgbClr val="000000"/>
                </a:solidFill>
                <a:effectLst/>
                <a:uLnTx/>
                <a:uFillTx/>
                <a:cs typeface="楷体" panose="02010609060101010101" pitchFamily="49" charset="-122"/>
                <a:sym typeface="+mn-ea"/>
              </a:rPr>
              <a:t>.</a:t>
            </a:r>
            <a:r>
              <a:rPr kumimoji="1" lang="zh-CN" altLang="en-US" noProof="0">
                <a:ln>
                  <a:noFill/>
                </a:ln>
                <a:solidFill>
                  <a:srgbClr val="000000"/>
                </a:solidFill>
                <a:effectLst/>
                <a:uLnTx/>
                <a:uFillTx/>
                <a:cs typeface="楷体" panose="02010609060101010101" pitchFamily="49" charset="-122"/>
                <a:sym typeface="+mn-ea"/>
              </a:rPr>
              <a:t>西蒙</a:t>
            </a:r>
            <a:r>
              <a:rPr kumimoji="1" lang="en-US" altLang="zh-CN" noProof="0">
                <a:ln>
                  <a:noFill/>
                </a:ln>
                <a:solidFill>
                  <a:srgbClr val="000000"/>
                </a:solidFill>
                <a:effectLst/>
                <a:uLnTx/>
                <a:uFillTx/>
                <a:cs typeface="楷体" panose="02010609060101010101" pitchFamily="49" charset="-122"/>
                <a:sym typeface="+mn-ea"/>
              </a:rPr>
              <a:t>(H.A.Simon-</a:t>
            </a:r>
            <a:r>
              <a:rPr kumimoji="1" lang="zh-CN" altLang="en-US" noProof="0">
                <a:ln>
                  <a:noFill/>
                </a:ln>
                <a:solidFill>
                  <a:srgbClr val="000000"/>
                </a:solidFill>
                <a:effectLst/>
                <a:uLnTx/>
                <a:uFillTx/>
                <a:cs typeface="楷体" panose="02010609060101010101" pitchFamily="49" charset="-122"/>
                <a:sym typeface="+mn-ea"/>
              </a:rPr>
              <a:t>美国卡内基</a:t>
            </a:r>
            <a:r>
              <a:rPr kumimoji="1" lang="en-US" altLang="zh-CN" noProof="0">
                <a:ln>
                  <a:noFill/>
                </a:ln>
                <a:solidFill>
                  <a:srgbClr val="000000"/>
                </a:solidFill>
                <a:effectLst/>
                <a:uLnTx/>
                <a:uFillTx/>
                <a:cs typeface="楷体" panose="02010609060101010101" pitchFamily="49" charset="-122"/>
                <a:sym typeface="+mn-ea"/>
              </a:rPr>
              <a:t>-</a:t>
            </a:r>
            <a:r>
              <a:rPr kumimoji="1" lang="zh-CN" altLang="en-US" noProof="0">
                <a:ln>
                  <a:noFill/>
                </a:ln>
                <a:solidFill>
                  <a:srgbClr val="000000"/>
                </a:solidFill>
                <a:effectLst/>
                <a:uLnTx/>
                <a:uFillTx/>
                <a:cs typeface="楷体" panose="02010609060101010101" pitchFamily="49" charset="-122"/>
                <a:sym typeface="+mn-ea"/>
              </a:rPr>
              <a:t>梅隆大学</a:t>
            </a:r>
            <a:r>
              <a:rPr kumimoji="1" lang="en-US" altLang="zh-CN" noProof="0">
                <a:ln>
                  <a:noFill/>
                </a:ln>
                <a:solidFill>
                  <a:srgbClr val="000000"/>
                </a:solidFill>
                <a:effectLst/>
                <a:uLnTx/>
                <a:uFillTx/>
                <a:cs typeface="楷体" panose="02010609060101010101" pitchFamily="49" charset="-122"/>
                <a:sym typeface="+mn-ea"/>
              </a:rPr>
              <a:t>,1916-)</a:t>
            </a:r>
            <a:r>
              <a:rPr kumimoji="1" lang="zh-CN" altLang="en-US" noProof="0">
                <a:ln>
                  <a:noFill/>
                </a:ln>
                <a:solidFill>
                  <a:srgbClr val="000000"/>
                </a:solidFill>
                <a:effectLst/>
                <a:uLnTx/>
                <a:uFillTx/>
                <a:cs typeface="楷体" panose="02010609060101010101" pitchFamily="49" charset="-122"/>
                <a:sym typeface="+mn-ea"/>
              </a:rPr>
              <a:t>教授提出“满意行为模型要比最大化行为模型丰富得多”，否定了企业的决策者是“</a:t>
            </a:r>
            <a:r>
              <a:rPr kumimoji="1" lang="zh-CN" altLang="en-US" noProof="0">
                <a:ln>
                  <a:noFill/>
                </a:ln>
                <a:solidFill>
                  <a:srgbClr val="FF3300"/>
                </a:solidFill>
                <a:effectLst/>
                <a:uLnTx/>
                <a:uFillTx/>
                <a:cs typeface="楷体" panose="02010609060101010101" pitchFamily="49" charset="-122"/>
                <a:sym typeface="+mn-ea"/>
              </a:rPr>
              <a:t>经济人</a:t>
            </a:r>
            <a:r>
              <a:rPr kumimoji="1" lang="zh-CN" altLang="en-US" noProof="0">
                <a:ln>
                  <a:noFill/>
                </a:ln>
                <a:solidFill>
                  <a:srgbClr val="000000"/>
                </a:solidFill>
                <a:effectLst/>
                <a:uLnTx/>
                <a:uFillTx/>
                <a:cs typeface="楷体" panose="02010609060101010101" pitchFamily="49" charset="-122"/>
                <a:sym typeface="+mn-ea"/>
              </a:rPr>
              <a:t>”概念和“</a:t>
            </a:r>
            <a:r>
              <a:rPr kumimoji="1" lang="zh-CN" altLang="en-US" noProof="0">
                <a:ln>
                  <a:noFill/>
                </a:ln>
                <a:solidFill>
                  <a:srgbClr val="FF3300"/>
                </a:solidFill>
                <a:effectLst/>
                <a:uLnTx/>
                <a:uFillTx/>
                <a:cs typeface="楷体" panose="02010609060101010101" pitchFamily="49" charset="-122"/>
                <a:sym typeface="+mn-ea"/>
              </a:rPr>
              <a:t>最大化</a:t>
            </a:r>
            <a:r>
              <a:rPr kumimoji="1" lang="zh-CN" altLang="en-US" noProof="0">
                <a:ln>
                  <a:noFill/>
                </a:ln>
                <a:solidFill>
                  <a:srgbClr val="000000"/>
                </a:solidFill>
                <a:effectLst/>
                <a:uLnTx/>
                <a:uFillTx/>
                <a:cs typeface="楷体" panose="02010609060101010101" pitchFamily="49" charset="-122"/>
                <a:sym typeface="+mn-ea"/>
              </a:rPr>
              <a:t>”行为准则，提出了“</a:t>
            </a:r>
            <a:r>
              <a:rPr kumimoji="1" lang="zh-CN" altLang="en-US" noProof="0">
                <a:ln>
                  <a:noFill/>
                </a:ln>
                <a:solidFill>
                  <a:srgbClr val="FF3300"/>
                </a:solidFill>
                <a:effectLst/>
                <a:uLnTx/>
                <a:uFillTx/>
                <a:cs typeface="楷体" panose="02010609060101010101" pitchFamily="49" charset="-122"/>
                <a:sym typeface="+mn-ea"/>
              </a:rPr>
              <a:t>管理人</a:t>
            </a:r>
            <a:r>
              <a:rPr kumimoji="1" lang="zh-CN" altLang="en-US" noProof="0">
                <a:ln>
                  <a:noFill/>
                </a:ln>
                <a:solidFill>
                  <a:srgbClr val="000000"/>
                </a:solidFill>
                <a:effectLst/>
                <a:uLnTx/>
                <a:uFillTx/>
                <a:cs typeface="楷体" panose="02010609060101010101" pitchFamily="49" charset="-122"/>
                <a:sym typeface="+mn-ea"/>
              </a:rPr>
              <a:t>”的概念和“</a:t>
            </a:r>
            <a:r>
              <a:rPr kumimoji="1" lang="zh-CN" altLang="en-US" noProof="0">
                <a:ln>
                  <a:noFill/>
                </a:ln>
                <a:solidFill>
                  <a:srgbClr val="FF3300"/>
                </a:solidFill>
                <a:effectLst/>
                <a:uLnTx/>
                <a:uFillTx/>
                <a:cs typeface="楷体" panose="02010609060101010101" pitchFamily="49" charset="-122"/>
                <a:sym typeface="+mn-ea"/>
              </a:rPr>
              <a:t>令人满意</a:t>
            </a:r>
            <a:r>
              <a:rPr kumimoji="1" lang="zh-CN" altLang="en-US" noProof="0">
                <a:ln>
                  <a:noFill/>
                </a:ln>
                <a:solidFill>
                  <a:srgbClr val="000000"/>
                </a:solidFill>
                <a:effectLst/>
                <a:uLnTx/>
                <a:uFillTx/>
                <a:cs typeface="楷体" panose="02010609060101010101" pitchFamily="49" charset="-122"/>
                <a:sym typeface="+mn-ea"/>
              </a:rPr>
              <a:t>”的行为准则，对现代企业管理的决策科学进行了开创性的研究</a:t>
            </a:r>
            <a:r>
              <a:rPr kumimoji="1" lang="zh-CN" altLang="en-US" noProof="0">
                <a:ln>
                  <a:noFill/>
                </a:ln>
                <a:solidFill>
                  <a:srgbClr val="000000"/>
                </a:solidFill>
                <a:effectLst/>
                <a:uLnTx/>
                <a:uFillTx/>
                <a:cs typeface="楷体" panose="02010609060101010101" pitchFamily="49" charset="-122"/>
                <a:sym typeface="+mn-ea"/>
              </a:rPr>
              <a:t>。</a:t>
            </a:r>
            <a:endParaRPr lang="zh-CN" altLang="en-US" dirty="0">
              <a:cs typeface="楷体" panose="02010609060101010101" pitchFamily="49"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目标规划问题举例</a:t>
            </a:r>
            <a:endParaRPr lang="zh-CN" altLang="en-US" dirty="0"/>
          </a:p>
        </p:txBody>
      </p:sp>
      <p:sp>
        <p:nvSpPr>
          <p:cNvPr id="3" name="内容占位符 2"/>
          <p:cNvSpPr>
            <a:spLocks noGrp="1"/>
          </p:cNvSpPr>
          <p:nvPr>
            <p:ph idx="1"/>
          </p:nvPr>
        </p:nvSpPr>
        <p:spPr/>
        <p:txBody>
          <a:bodyPr>
            <a:normAutofit fontScale="92500" lnSpcReduction="10000"/>
          </a:bodyPr>
          <a:lstStyle/>
          <a:p>
            <a:pPr marL="0" indent="0">
              <a:buNone/>
            </a:pPr>
            <a:r>
              <a:rPr lang="zh-CN" altLang="en-US" dirty="0"/>
              <a:t>“运筹谋划，一石多鸟”</a:t>
            </a:r>
            <a:endParaRPr lang="en-US" altLang="zh-CN" dirty="0"/>
          </a:p>
          <a:p>
            <a:r>
              <a:rPr lang="zh-CN" altLang="en-US" dirty="0"/>
              <a:t>企业生产</a:t>
            </a:r>
            <a:endParaRPr lang="en-US" altLang="zh-CN" dirty="0"/>
          </a:p>
          <a:p>
            <a:pPr lvl="1"/>
            <a:r>
              <a:rPr lang="zh-CN" altLang="en-US" dirty="0"/>
              <a:t>最大利润 </a:t>
            </a:r>
            <a:r>
              <a:rPr lang="en-US" altLang="zh-CN" dirty="0"/>
              <a:t>vs </a:t>
            </a:r>
            <a:r>
              <a:rPr lang="zh-CN" altLang="en-US" dirty="0"/>
              <a:t>环境污染、社会效益、公众形象</a:t>
            </a:r>
            <a:endParaRPr lang="en-US" altLang="zh-CN" dirty="0"/>
          </a:p>
          <a:p>
            <a:r>
              <a:rPr lang="zh-CN" altLang="en-US" dirty="0"/>
              <a:t>商务活动</a:t>
            </a:r>
            <a:endParaRPr lang="en-US" altLang="zh-CN" dirty="0"/>
          </a:p>
          <a:p>
            <a:pPr lvl="1"/>
            <a:r>
              <a:rPr lang="zh-CN" altLang="en-US" dirty="0"/>
              <a:t>多产品生产决策下的多个盈亏平衡点决策</a:t>
            </a:r>
            <a:endParaRPr lang="en-US" altLang="zh-CN" dirty="0"/>
          </a:p>
          <a:p>
            <a:r>
              <a:rPr lang="zh-CN" altLang="en-US" dirty="0"/>
              <a:t>投资</a:t>
            </a:r>
            <a:endParaRPr lang="en-US" altLang="zh-CN" dirty="0"/>
          </a:p>
          <a:p>
            <a:pPr lvl="1"/>
            <a:r>
              <a:rPr lang="zh-CN" altLang="en-US" dirty="0"/>
              <a:t>收益率 </a:t>
            </a:r>
            <a:r>
              <a:rPr lang="en-US" altLang="zh-CN" dirty="0"/>
              <a:t>vs. </a:t>
            </a:r>
            <a:r>
              <a:rPr lang="zh-CN" altLang="en-US" dirty="0"/>
              <a:t>风险水平</a:t>
            </a:r>
            <a:endParaRPr lang="en-US" altLang="zh-CN" dirty="0"/>
          </a:p>
          <a:p>
            <a:r>
              <a:rPr lang="zh-CN" altLang="en-US" dirty="0"/>
              <a:t>裁员</a:t>
            </a:r>
            <a:endParaRPr lang="en-US" altLang="zh-CN" dirty="0"/>
          </a:p>
          <a:p>
            <a:pPr lvl="1"/>
            <a:r>
              <a:rPr lang="zh-CN" altLang="en-US" dirty="0"/>
              <a:t>压缩降本 </a:t>
            </a:r>
            <a:r>
              <a:rPr lang="en-US" altLang="zh-CN" dirty="0"/>
              <a:t>vs. </a:t>
            </a:r>
            <a:r>
              <a:rPr lang="zh-CN" altLang="en-US" dirty="0"/>
              <a:t>员工忠诚度、员工积极性</a:t>
            </a:r>
            <a:endParaRPr lang="en-US" altLang="zh-CN" dirty="0"/>
          </a:p>
          <a:p>
            <a:r>
              <a:rPr lang="zh-CN" altLang="en-US" dirty="0"/>
              <a:t>营销</a:t>
            </a:r>
            <a:endParaRPr lang="en-US" altLang="zh-CN" dirty="0"/>
          </a:p>
          <a:p>
            <a:pPr lvl="1"/>
            <a:r>
              <a:rPr lang="zh-CN" altLang="en-US" dirty="0"/>
              <a:t>营销成本 </a:t>
            </a:r>
            <a:r>
              <a:rPr lang="en-US" altLang="zh-CN" dirty="0"/>
              <a:t>vs. </a:t>
            </a:r>
            <a:r>
              <a:rPr lang="zh-CN" altLang="en-US" dirty="0"/>
              <a:t>多个营销目标间的取舍</a:t>
            </a:r>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目标规划问题举例</a:t>
            </a:r>
            <a:endParaRPr lang="zh-CN" altLang="en-US" dirty="0"/>
          </a:p>
        </p:txBody>
      </p:sp>
      <p:sp>
        <p:nvSpPr>
          <p:cNvPr id="3" name="内容占位符 2"/>
          <p:cNvSpPr>
            <a:spLocks noGrp="1"/>
          </p:cNvSpPr>
          <p:nvPr>
            <p:ph idx="1"/>
          </p:nvPr>
        </p:nvSpPr>
        <p:spPr/>
        <p:txBody>
          <a:bodyPr/>
          <a:lstStyle/>
          <a:p>
            <a:r>
              <a:rPr lang="zh-CN" altLang="en-US" dirty="0"/>
              <a:t>目标规划与线性规划的比较</a:t>
            </a:r>
            <a:endParaRPr lang="en-US" altLang="zh-CN" dirty="0"/>
          </a:p>
          <a:p>
            <a:pPr marL="914400" lvl="1" indent="-457200">
              <a:buFont typeface="+mj-lt"/>
              <a:buAutoNum type="arabicPeriod"/>
            </a:pPr>
            <a:r>
              <a:rPr lang="zh-CN" altLang="en-US" dirty="0"/>
              <a:t>线性规划只讨论一个线性目标函数在一组线性约束条件下的极值问题；而目标规划是多个目标决策，可求得更切合实际的解。</a:t>
            </a:r>
            <a:endParaRPr lang="en-US" altLang="zh-CN" dirty="0"/>
          </a:p>
          <a:p>
            <a:pPr marL="914400" lvl="1" indent="-457200">
              <a:buFont typeface="+mj-lt"/>
              <a:buAutoNum type="arabicPeriod"/>
            </a:pPr>
            <a:r>
              <a:rPr lang="zh-CN" altLang="en-US" dirty="0"/>
              <a:t>线性规划求最优解；目标规划是找到一个满意解。</a:t>
            </a:r>
            <a:endParaRPr lang="en-US" altLang="zh-CN" dirty="0"/>
          </a:p>
          <a:p>
            <a:pPr marL="914400" lvl="1" indent="-457200">
              <a:buFont typeface="+mj-lt"/>
              <a:buAutoNum type="arabicPeriod"/>
            </a:pPr>
            <a:r>
              <a:rPr lang="zh-CN" altLang="en-US" dirty="0"/>
              <a:t>线性规划中的约束条件是同等重要的，是硬约束；而目标规划中有轻重缓急和主次之分，即有优先权。</a:t>
            </a:r>
            <a:endParaRPr lang="en-US" altLang="zh-CN" dirty="0"/>
          </a:p>
          <a:p>
            <a:pPr marL="914400" lvl="1" indent="-457200">
              <a:buFont typeface="+mj-lt"/>
              <a:buAutoNum type="arabicPeriod"/>
            </a:pPr>
            <a:r>
              <a:rPr lang="zh-CN" altLang="en-US" dirty="0"/>
              <a:t>线性规划的最优解是绝对意义下的最优，但需花去大量的人力、物力、财力才能得到；实际过程中，只要求得满意解，就能满足需要（或更能满足需要）</a:t>
            </a:r>
            <a:endParaRPr lang="zh-CN" altLang="en-US" dirty="0"/>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线性规划与目标规划问题的区别</a:t>
            </a:r>
            <a:endParaRPr kumimoji="1" lang="zh-CN" altLang="en-US" dirty="0"/>
          </a:p>
        </p:txBody>
      </p:sp>
      <p:graphicFrame>
        <p:nvGraphicFramePr>
          <p:cNvPr id="4" name="内容占位符 3"/>
          <p:cNvGraphicFramePr>
            <a:graphicFrameLocks noGrp="1"/>
          </p:cNvGraphicFramePr>
          <p:nvPr>
            <p:ph idx="1"/>
          </p:nvPr>
        </p:nvGraphicFramePr>
        <p:xfrm>
          <a:off x="838200" y="1825625"/>
          <a:ext cx="10515600" cy="2123440"/>
        </p:xfrm>
        <a:graphic>
          <a:graphicData uri="http://schemas.openxmlformats.org/drawingml/2006/table">
            <a:tbl>
              <a:tblPr firstRow="1" bandRow="1">
                <a:tableStyleId>{5C22544A-7EE6-4342-B048-85BDC9FD1C3A}</a:tableStyleId>
              </a:tblPr>
              <a:tblGrid>
                <a:gridCol w="5257800"/>
                <a:gridCol w="5257800"/>
              </a:tblGrid>
              <a:tr h="370840">
                <a:tc>
                  <a:txBody>
                    <a:bodyPr/>
                    <a:lstStyle/>
                    <a:p>
                      <a:pPr algn="ctr"/>
                      <a:r>
                        <a:rPr lang="zh-CN" altLang="en-US" dirty="0">
                          <a:latin typeface="华文楷体" panose="02010600040101010101" charset="-122"/>
                          <a:ea typeface="华文楷体" panose="02010600040101010101" charset="-122"/>
                        </a:rPr>
                        <a:t>线性规划</a:t>
                      </a:r>
                      <a:endParaRPr lang="zh-CN" altLang="en-US" dirty="0">
                        <a:latin typeface="华文楷体" panose="02010600040101010101" charset="-122"/>
                        <a:ea typeface="华文楷体" panose="02010600040101010101" charset="-122"/>
                      </a:endParaRPr>
                    </a:p>
                  </a:txBody>
                  <a:tcPr/>
                </a:tc>
                <a:tc>
                  <a:txBody>
                    <a:bodyPr/>
                    <a:lstStyle/>
                    <a:p>
                      <a:pPr algn="ctr"/>
                      <a:r>
                        <a:rPr lang="zh-CN" altLang="en-US" dirty="0">
                          <a:latin typeface="华文楷体" panose="02010600040101010101" charset="-122"/>
                          <a:ea typeface="华文楷体" panose="02010600040101010101" charset="-122"/>
                        </a:rPr>
                        <a:t>目标规划</a:t>
                      </a:r>
                      <a:endParaRPr lang="zh-CN" altLang="en-US" dirty="0">
                        <a:latin typeface="华文楷体" panose="02010600040101010101" charset="-122"/>
                        <a:ea typeface="华文楷体" panose="02010600040101010101" charset="-122"/>
                      </a:endParaRPr>
                    </a:p>
                  </a:txBody>
                  <a:tcPr/>
                </a:tc>
              </a:tr>
              <a:tr h="370840">
                <a:tc>
                  <a:txBody>
                    <a:bodyPr/>
                    <a:lstStyle/>
                    <a:p>
                      <a:pPr algn="l"/>
                      <a:r>
                        <a:rPr lang="zh-CN" altLang="en-US" dirty="0">
                          <a:solidFill>
                            <a:srgbClr val="FF0000"/>
                          </a:solidFill>
                          <a:latin typeface="华文楷体" panose="02010600040101010101" charset="-122"/>
                          <a:ea typeface="华文楷体" panose="02010600040101010101" charset="-122"/>
                        </a:rPr>
                        <a:t>一个</a:t>
                      </a:r>
                      <a:r>
                        <a:rPr lang="zh-CN" altLang="en-US" dirty="0">
                          <a:latin typeface="华文楷体" panose="02010600040101010101" charset="-122"/>
                          <a:ea typeface="华文楷体" panose="02010600040101010101" charset="-122"/>
                        </a:rPr>
                        <a:t>线性目标函数</a:t>
                      </a:r>
                      <a:endParaRPr lang="zh-CN" altLang="en-US" dirty="0">
                        <a:latin typeface="华文楷体" panose="02010600040101010101" charset="-122"/>
                        <a:ea typeface="华文楷体" panose="02010600040101010101" charset="-122"/>
                      </a:endParaRPr>
                    </a:p>
                  </a:txBody>
                  <a:tcPr/>
                </a:tc>
                <a:tc>
                  <a:txBody>
                    <a:bodyPr/>
                    <a:lstStyle/>
                    <a:p>
                      <a:pPr algn="l"/>
                      <a:r>
                        <a:rPr lang="zh-CN" altLang="en-US" dirty="0">
                          <a:solidFill>
                            <a:srgbClr val="FF0000"/>
                          </a:solidFill>
                          <a:latin typeface="华文楷体" panose="02010600040101010101" charset="-122"/>
                          <a:ea typeface="华文楷体" panose="02010600040101010101" charset="-122"/>
                        </a:rPr>
                        <a:t>多个</a:t>
                      </a:r>
                      <a:r>
                        <a:rPr lang="zh-CN" altLang="en-US" dirty="0">
                          <a:latin typeface="华文楷体" panose="02010600040101010101" charset="-122"/>
                          <a:ea typeface="华文楷体" panose="02010600040101010101" charset="-122"/>
                        </a:rPr>
                        <a:t>目标决策</a:t>
                      </a:r>
                      <a:endParaRPr lang="zh-CN" altLang="en-US" dirty="0">
                        <a:latin typeface="华文楷体" panose="02010600040101010101" charset="-122"/>
                        <a:ea typeface="华文楷体" panose="02010600040101010101" charset="-122"/>
                      </a:endParaRPr>
                    </a:p>
                  </a:txBody>
                  <a:tcPr/>
                </a:tc>
              </a:tr>
              <a:tr h="370840">
                <a:tc>
                  <a:txBody>
                    <a:bodyPr/>
                    <a:lstStyle/>
                    <a:p>
                      <a:pPr algn="l"/>
                      <a:r>
                        <a:rPr lang="zh-CN" altLang="en-US" dirty="0">
                          <a:latin typeface="华文楷体" panose="02010600040101010101" charset="-122"/>
                          <a:ea typeface="华文楷体" panose="02010600040101010101" charset="-122"/>
                        </a:rPr>
                        <a:t>线性规划求最优解</a:t>
                      </a:r>
                      <a:endParaRPr lang="zh-CN" altLang="en-US" dirty="0">
                        <a:latin typeface="华文楷体" panose="02010600040101010101" charset="-122"/>
                        <a:ea typeface="华文楷体" panose="02010600040101010101" charset="-122"/>
                      </a:endParaRPr>
                    </a:p>
                  </a:txBody>
                  <a:tcPr/>
                </a:tc>
                <a:tc>
                  <a:txBody>
                    <a:bodyPr/>
                    <a:lstStyle/>
                    <a:p>
                      <a:pPr algn="l"/>
                      <a:r>
                        <a:rPr lang="zh-CN" altLang="en-US" dirty="0">
                          <a:latin typeface="华文楷体" panose="02010600040101010101" charset="-122"/>
                          <a:ea typeface="华文楷体" panose="02010600040101010101" charset="-122"/>
                        </a:rPr>
                        <a:t>找到一个满意解</a:t>
                      </a:r>
                      <a:endParaRPr lang="zh-CN" altLang="en-US" dirty="0">
                        <a:latin typeface="华文楷体" panose="02010600040101010101" charset="-122"/>
                        <a:ea typeface="华文楷体" panose="02010600040101010101" charset="-122"/>
                      </a:endParaRPr>
                    </a:p>
                  </a:txBody>
                  <a:tcPr/>
                </a:tc>
              </a:tr>
              <a:tr h="370840">
                <a:tc>
                  <a:txBody>
                    <a:bodyPr/>
                    <a:lstStyle/>
                    <a:p>
                      <a:pPr algn="l"/>
                      <a:r>
                        <a:rPr lang="zh-CN" altLang="en-US" dirty="0">
                          <a:latin typeface="华文楷体" panose="02010600040101010101" charset="-122"/>
                          <a:ea typeface="华文楷体" panose="02010600040101010101" charset="-122"/>
                        </a:rPr>
                        <a:t>约束条件是同等重要的，是硬约束</a:t>
                      </a:r>
                      <a:endParaRPr lang="zh-CN" altLang="en-US" dirty="0">
                        <a:latin typeface="华文楷体" panose="02010600040101010101" charset="-122"/>
                        <a:ea typeface="华文楷体" panose="02010600040101010101" charset="-122"/>
                      </a:endParaRPr>
                    </a:p>
                  </a:txBody>
                  <a:tcPr/>
                </a:tc>
                <a:tc>
                  <a:txBody>
                    <a:bodyPr/>
                    <a:lstStyle/>
                    <a:p>
                      <a:pPr algn="l"/>
                      <a:r>
                        <a:rPr lang="zh-CN" altLang="en-US" dirty="0">
                          <a:latin typeface="华文楷体" panose="02010600040101010101" charset="-122"/>
                          <a:ea typeface="华文楷体" panose="02010600040101010101" charset="-122"/>
                        </a:rPr>
                        <a:t>约束条件之间有轻重缓急和主次之分，即有优先权</a:t>
                      </a:r>
                      <a:endParaRPr lang="zh-CN" altLang="en-US" dirty="0">
                        <a:latin typeface="华文楷体" panose="02010600040101010101" charset="-122"/>
                        <a:ea typeface="华文楷体" panose="02010600040101010101" charset="-122"/>
                      </a:endParaRPr>
                    </a:p>
                  </a:txBody>
                  <a:tcPr/>
                </a:tc>
              </a:tr>
              <a:tr h="370840">
                <a:tc>
                  <a:txBody>
                    <a:bodyPr/>
                    <a:lstStyle/>
                    <a:p>
                      <a:pPr algn="l"/>
                      <a:r>
                        <a:rPr lang="zh-CN" altLang="en-US" dirty="0">
                          <a:latin typeface="华文楷体" panose="02010600040101010101" charset="-122"/>
                          <a:ea typeface="华文楷体" panose="02010600040101010101" charset="-122"/>
                        </a:rPr>
                        <a:t>线性规划的最优解是绝对意义下的最优，但需花去大量的人力、物力、财力才能得到</a:t>
                      </a:r>
                      <a:endParaRPr lang="zh-CN" altLang="en-US" dirty="0">
                        <a:latin typeface="华文楷体" panose="02010600040101010101" charset="-122"/>
                        <a:ea typeface="华文楷体" panose="02010600040101010101" charset="-122"/>
                      </a:endParaRPr>
                    </a:p>
                  </a:txBody>
                  <a:tcPr/>
                </a:tc>
                <a:tc>
                  <a:txBody>
                    <a:bodyPr/>
                    <a:lstStyle/>
                    <a:p>
                      <a:pPr algn="l"/>
                      <a:r>
                        <a:rPr lang="zh-CN" altLang="en-US" dirty="0">
                          <a:latin typeface="华文楷体" panose="02010600040101010101" charset="-122"/>
                          <a:ea typeface="华文楷体" panose="02010600040101010101" charset="-122"/>
                        </a:rPr>
                        <a:t>实际过程中，只要求得满意解，就能满足需要（或更能满足需要）</a:t>
                      </a:r>
                      <a:endParaRPr lang="zh-CN" altLang="en-US" dirty="0">
                        <a:latin typeface="华文楷体" panose="02010600040101010101" charset="-122"/>
                        <a:ea typeface="华文楷体" panose="02010600040101010101" charset="-122"/>
                      </a:endParaRPr>
                    </a:p>
                  </a:txBody>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目标规划问题举例</a:t>
            </a:r>
            <a:r>
              <a:rPr lang="en-US" dirty="0"/>
              <a:t>-</a:t>
            </a:r>
            <a:r>
              <a:rPr lang="zh-CN" altLang="en-US" dirty="0"/>
              <a:t>目标规划与线性规划对比</a:t>
            </a:r>
            <a:endParaRPr lang="zh-CN" altLang="en-US" dirty="0"/>
          </a:p>
        </p:txBody>
      </p:sp>
      <p:graphicFrame>
        <p:nvGraphicFramePr>
          <p:cNvPr id="4" name="Group 3"/>
          <p:cNvGraphicFramePr>
            <a:graphicFrameLocks noGrp="1"/>
          </p:cNvGraphicFramePr>
          <p:nvPr/>
        </p:nvGraphicFramePr>
        <p:xfrm>
          <a:off x="1814119" y="1894645"/>
          <a:ext cx="8686800" cy="3714848"/>
        </p:xfrm>
        <a:graphic>
          <a:graphicData uri="http://schemas.openxmlformats.org/drawingml/2006/table">
            <a:tbl>
              <a:tblPr/>
              <a:tblGrid>
                <a:gridCol w="1981200"/>
                <a:gridCol w="3200400"/>
                <a:gridCol w="3505200"/>
              </a:tblGrid>
              <a:tr h="518107">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800" b="1" i="0" u="none" strike="noStrike" cap="none" normalizeH="0" baseline="0">
                        <a:ln>
                          <a:noFill/>
                        </a:ln>
                        <a:solidFill>
                          <a:schemeClr val="tx1"/>
                        </a:solidFill>
                        <a:effectLst/>
                        <a:latin typeface="楷体_GB2312" pitchFamily="49" charset="-122"/>
                        <a:ea typeface="楷体_GB2312" pitchFamily="49" charset="-122"/>
                      </a:endParaRPr>
                    </a:p>
                  </a:txBody>
                  <a:tcPr marT="45709" marB="4570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sz="2800" b="1" i="0" u="none" strike="noStrike" cap="none" normalizeH="0" baseline="0">
                          <a:ln>
                            <a:noFill/>
                          </a:ln>
                          <a:solidFill>
                            <a:schemeClr val="tx1"/>
                          </a:solidFill>
                          <a:effectLst/>
                          <a:latin typeface="楷体_GB2312" pitchFamily="49" charset="-122"/>
                          <a:ea typeface="楷体_GB2312" pitchFamily="49" charset="-122"/>
                        </a:rPr>
                        <a:t>线性规划</a:t>
                      </a:r>
                      <a:r>
                        <a:rPr kumimoji="0" lang="zh-CN" altLang="zh-CN" sz="2800" b="1" i="0" u="none" strike="noStrike" cap="none" normalizeH="0" baseline="0">
                          <a:ln>
                            <a:noFill/>
                          </a:ln>
                          <a:solidFill>
                            <a:schemeClr val="tx1"/>
                          </a:solidFill>
                          <a:effectLst/>
                          <a:latin typeface="楷体_GB2312" pitchFamily="49" charset="-122"/>
                          <a:ea typeface="楷体_GB2312" pitchFamily="49" charset="-122"/>
                        </a:rPr>
                        <a:t>LP</a:t>
                      </a:r>
                      <a:endParaRPr kumimoji="0" lang="zh-CN" altLang="zh-CN" sz="2800" b="1" i="0" u="none" strike="noStrike" cap="none" normalizeH="0" baseline="0">
                        <a:ln>
                          <a:noFill/>
                        </a:ln>
                        <a:solidFill>
                          <a:schemeClr val="tx1"/>
                        </a:solidFill>
                        <a:effectLst/>
                        <a:latin typeface="楷体_GB2312" pitchFamily="49" charset="-122"/>
                        <a:ea typeface="楷体_GB2312" pitchFamily="49" charset="-122"/>
                      </a:endParaRP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sz="2800" b="1" i="0" u="none" strike="noStrike" cap="none" normalizeH="0" baseline="0">
                          <a:ln>
                            <a:noFill/>
                          </a:ln>
                          <a:solidFill>
                            <a:schemeClr val="tx1"/>
                          </a:solidFill>
                          <a:effectLst/>
                          <a:latin typeface="楷体_GB2312" pitchFamily="49" charset="-122"/>
                          <a:ea typeface="楷体_GB2312" pitchFamily="49" charset="-122"/>
                        </a:rPr>
                        <a:t>目标规划</a:t>
                      </a:r>
                      <a:r>
                        <a:rPr kumimoji="0" lang="zh-CN" altLang="zh-CN" sz="2800" b="1" i="0" u="none" strike="noStrike" cap="none" normalizeH="0" baseline="0">
                          <a:ln>
                            <a:noFill/>
                          </a:ln>
                          <a:solidFill>
                            <a:schemeClr val="tx1"/>
                          </a:solidFill>
                          <a:effectLst/>
                          <a:latin typeface="楷体_GB2312" pitchFamily="49" charset="-122"/>
                          <a:ea typeface="楷体_GB2312" pitchFamily="49" charset="-122"/>
                        </a:rPr>
                        <a:t>GP</a:t>
                      </a:r>
                      <a:endParaRPr kumimoji="0" lang="zh-CN" altLang="zh-CN" sz="2800" b="1" i="0" u="none" strike="noStrike" cap="none" normalizeH="0" baseline="0">
                        <a:ln>
                          <a:noFill/>
                        </a:ln>
                        <a:solidFill>
                          <a:schemeClr val="tx1"/>
                        </a:solidFill>
                        <a:effectLst/>
                        <a:latin typeface="楷体_GB2312" pitchFamily="49" charset="-122"/>
                        <a:ea typeface="楷体_GB2312" pitchFamily="49" charset="-122"/>
                      </a:endParaRPr>
                    </a:p>
                  </a:txBody>
                  <a:tcPr marT="45709" marB="4570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r>
              <a:tr h="1030134">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sz="2800" b="1" i="0" u="none" strike="noStrike" cap="none" normalizeH="0" baseline="0" dirty="0">
                          <a:ln>
                            <a:noFill/>
                          </a:ln>
                          <a:solidFill>
                            <a:schemeClr val="tx1"/>
                          </a:solidFill>
                          <a:effectLst/>
                          <a:latin typeface="楷体_GB2312" pitchFamily="49" charset="-122"/>
                          <a:ea typeface="楷体_GB2312" pitchFamily="49" charset="-122"/>
                        </a:rPr>
                        <a:t>目标函数</a:t>
                      </a:r>
                      <a:endParaRPr kumimoji="0" lang="zh-CN" sz="2800" b="1" i="0" u="none" strike="noStrike" cap="none" normalizeH="0" baseline="0" dirty="0">
                        <a:ln>
                          <a:noFill/>
                        </a:ln>
                        <a:solidFill>
                          <a:schemeClr val="tx1"/>
                        </a:solidFill>
                        <a:effectLst/>
                        <a:latin typeface="楷体_GB2312" pitchFamily="49" charset="-122"/>
                        <a:ea typeface="楷体_GB2312" pitchFamily="49" charset="-122"/>
                      </a:endParaRPr>
                    </a:p>
                  </a:txBody>
                  <a:tcPr marT="45709" marB="4570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zh-CN" sz="2800" b="1" i="0" u="none" strike="noStrike" cap="none" normalizeH="0" baseline="0" dirty="0">
                          <a:ln>
                            <a:noFill/>
                          </a:ln>
                          <a:solidFill>
                            <a:schemeClr val="tx1"/>
                          </a:solidFill>
                          <a:effectLst/>
                          <a:latin typeface="Times New Roman" panose="02020603050405020304" pitchFamily="18" charset="0"/>
                          <a:ea typeface="楷体_GB2312" pitchFamily="49" charset="-122"/>
                        </a:rPr>
                        <a:t>min  ,   max</a:t>
                      </a:r>
                      <a:endParaRPr kumimoji="0" lang="zh-CN" altLang="zh-CN" sz="2800" b="1" i="0" u="none" strike="noStrike" cap="none" normalizeH="0" baseline="0" dirty="0">
                        <a:ln>
                          <a:noFill/>
                        </a:ln>
                        <a:solidFill>
                          <a:schemeClr val="tx1"/>
                        </a:solidFill>
                        <a:effectLst/>
                        <a:latin typeface="Times New Roman" panose="02020603050405020304" pitchFamily="18" charset="0"/>
                        <a:ea typeface="楷体_GB2312" pitchFamily="49" charset="-122"/>
                      </a:endParaRP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zh-CN" sz="2800" b="1" i="0" u="none" strike="noStrike" cap="none" normalizeH="0" baseline="0" dirty="0">
                          <a:ln>
                            <a:noFill/>
                          </a:ln>
                          <a:solidFill>
                            <a:schemeClr val="tx1"/>
                          </a:solidFill>
                          <a:effectLst/>
                          <a:latin typeface="Times New Roman" panose="02020603050405020304" pitchFamily="18" charset="0"/>
                          <a:ea typeface="楷体_GB2312" pitchFamily="49" charset="-122"/>
                        </a:rPr>
                        <a:t>min  , </a:t>
                      </a:r>
                      <a:r>
                        <a:rPr kumimoji="0" lang="zh-CN" sz="2800" b="1" i="0" u="none" strike="noStrike" cap="none" normalizeH="0" baseline="0" dirty="0">
                          <a:ln>
                            <a:noFill/>
                          </a:ln>
                          <a:solidFill>
                            <a:schemeClr val="tx1"/>
                          </a:solidFill>
                          <a:effectLst/>
                          <a:latin typeface="楷体_GB2312" pitchFamily="49" charset="-122"/>
                          <a:ea typeface="楷体_GB2312" pitchFamily="49" charset="-122"/>
                        </a:rPr>
                        <a:t>偏差变量</a:t>
                      </a:r>
                      <a:endParaRPr kumimoji="0" lang="zh-CN" sz="2800" b="1" i="0" u="none" strike="noStrike" cap="none" normalizeH="0" baseline="0" dirty="0">
                        <a:ln>
                          <a:noFill/>
                        </a:ln>
                        <a:solidFill>
                          <a:schemeClr val="tx1"/>
                        </a:solidFill>
                        <a:effectLst/>
                        <a:latin typeface="楷体_GB2312" pitchFamily="49" charset="-122"/>
                        <a:ea typeface="楷体_GB2312" pitchFamily="49" charset="-122"/>
                      </a:endParaRPr>
                    </a:p>
                  </a:txBody>
                  <a:tcPr marT="45709" marB="4570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r>
              <a:tr h="60786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800" b="1" i="0" u="none" strike="noStrike" cap="none" normalizeH="0" baseline="0" dirty="0">
                          <a:ln>
                            <a:noFill/>
                          </a:ln>
                          <a:solidFill>
                            <a:schemeClr val="tx1"/>
                          </a:solidFill>
                          <a:effectLst/>
                          <a:latin typeface="楷体_GB2312" pitchFamily="49" charset="-122"/>
                          <a:ea typeface="楷体_GB2312" pitchFamily="49" charset="-122"/>
                        </a:rPr>
                        <a:t>决策</a:t>
                      </a:r>
                      <a:r>
                        <a:rPr kumimoji="0" lang="zh-CN" sz="2800" b="1" i="0" u="none" strike="noStrike" cap="none" normalizeH="0" baseline="0" dirty="0">
                          <a:ln>
                            <a:noFill/>
                          </a:ln>
                          <a:solidFill>
                            <a:schemeClr val="tx1"/>
                          </a:solidFill>
                          <a:effectLst/>
                          <a:latin typeface="楷体_GB2312" pitchFamily="49" charset="-122"/>
                          <a:ea typeface="楷体_GB2312" pitchFamily="49" charset="-122"/>
                        </a:rPr>
                        <a:t>变量</a:t>
                      </a:r>
                      <a:endParaRPr kumimoji="0" lang="zh-CN" sz="2800" b="1" i="0" u="none" strike="noStrike" cap="none" normalizeH="0" baseline="0" dirty="0">
                        <a:ln>
                          <a:noFill/>
                        </a:ln>
                        <a:solidFill>
                          <a:schemeClr val="tx1"/>
                        </a:solidFill>
                        <a:effectLst/>
                        <a:latin typeface="楷体_GB2312" pitchFamily="49" charset="-122"/>
                        <a:ea typeface="楷体_GB2312" pitchFamily="49" charset="-122"/>
                      </a:endParaRPr>
                    </a:p>
                  </a:txBody>
                  <a:tcPr marT="45709" marB="4570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800" b="1" i="0" u="none" strike="noStrike" cap="none" normalizeH="0" baseline="0" dirty="0">
                          <a:ln>
                            <a:noFill/>
                          </a:ln>
                          <a:solidFill>
                            <a:schemeClr val="tx1"/>
                          </a:solidFill>
                          <a:effectLst/>
                          <a:latin typeface="楷体_GB2312" pitchFamily="49" charset="-122"/>
                          <a:ea typeface="楷体_GB2312" pitchFamily="49" charset="-122"/>
                        </a:rPr>
                        <a:t>不包含偏差变量</a:t>
                      </a:r>
                      <a:endParaRPr kumimoji="0" lang="zh-CN" altLang="zh-CN" sz="2800" b="1" i="0" u="none" strike="noStrike" cap="none" normalizeH="0" baseline="0" dirty="0">
                        <a:ln>
                          <a:noFill/>
                        </a:ln>
                        <a:solidFill>
                          <a:schemeClr val="tx1"/>
                        </a:solidFill>
                        <a:effectLst/>
                        <a:latin typeface="楷体_GB2312" pitchFamily="49" charset="-122"/>
                        <a:ea typeface="楷体_GB2312" pitchFamily="49" charset="-122"/>
                      </a:endParaRP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800" b="1" i="0" u="none" strike="noStrike" cap="none" normalizeH="0" baseline="0" dirty="0">
                          <a:ln>
                            <a:noFill/>
                          </a:ln>
                          <a:solidFill>
                            <a:schemeClr val="tx1"/>
                          </a:solidFill>
                          <a:effectLst/>
                          <a:latin typeface="楷体_GB2312" pitchFamily="49" charset="-122"/>
                          <a:ea typeface="楷体_GB2312" pitchFamily="49" charset="-122"/>
                        </a:rPr>
                        <a:t>有偏差变量</a:t>
                      </a:r>
                      <a:endParaRPr kumimoji="0" lang="zh-CN" altLang="zh-CN" sz="2800" b="1" i="0" u="none" strike="noStrike" cap="none" normalizeH="0" baseline="0" dirty="0">
                        <a:ln>
                          <a:noFill/>
                        </a:ln>
                        <a:solidFill>
                          <a:schemeClr val="tx1"/>
                        </a:solidFill>
                        <a:effectLst/>
                        <a:latin typeface="楷体_GB2312" pitchFamily="49" charset="-122"/>
                        <a:ea typeface="楷体_GB2312" pitchFamily="49" charset="-122"/>
                      </a:endParaRPr>
                    </a:p>
                  </a:txBody>
                  <a:tcPr marT="45709" marB="4570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r>
              <a:tr h="1030134">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sz="2800" b="1" i="0" u="none" strike="noStrike" cap="none" normalizeH="0" baseline="0">
                          <a:ln>
                            <a:noFill/>
                          </a:ln>
                          <a:solidFill>
                            <a:schemeClr val="tx1"/>
                          </a:solidFill>
                          <a:effectLst/>
                          <a:latin typeface="楷体_GB2312" pitchFamily="49" charset="-122"/>
                          <a:ea typeface="楷体_GB2312" pitchFamily="49" charset="-122"/>
                        </a:rPr>
                        <a:t>约束条件</a:t>
                      </a:r>
                      <a:endParaRPr kumimoji="0" lang="zh-CN" sz="2800" b="1" i="0" u="none" strike="noStrike" cap="none" normalizeH="0" baseline="0">
                        <a:ln>
                          <a:noFill/>
                        </a:ln>
                        <a:solidFill>
                          <a:schemeClr val="tx1"/>
                        </a:solidFill>
                        <a:effectLst/>
                        <a:latin typeface="楷体_GB2312" pitchFamily="49" charset="-122"/>
                        <a:ea typeface="楷体_GB2312" pitchFamily="49" charset="-122"/>
                      </a:endParaRPr>
                    </a:p>
                  </a:txBody>
                  <a:tcPr marT="45709" marB="4570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sz="2800" b="1" i="0" u="none" strike="noStrike" cap="none" normalizeH="0" baseline="0" dirty="0">
                          <a:ln>
                            <a:noFill/>
                          </a:ln>
                          <a:solidFill>
                            <a:schemeClr val="tx1"/>
                          </a:solidFill>
                          <a:effectLst/>
                          <a:latin typeface="楷体_GB2312" pitchFamily="49" charset="-122"/>
                          <a:ea typeface="楷体_GB2312" pitchFamily="49" charset="-122"/>
                        </a:rPr>
                        <a:t>系统约束</a:t>
                      </a:r>
                      <a:endParaRPr kumimoji="0" lang="zh-CN" sz="2800" b="1" i="0" u="none" strike="noStrike" cap="none" normalizeH="0" baseline="0" dirty="0">
                        <a:ln>
                          <a:noFill/>
                        </a:ln>
                        <a:solidFill>
                          <a:schemeClr val="tx1"/>
                        </a:solidFill>
                        <a:effectLst/>
                        <a:latin typeface="楷体_GB2312" pitchFamily="49" charset="-122"/>
                        <a:ea typeface="楷体_GB2312" pitchFamily="49"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zh-CN" sz="2800" b="1" i="0" u="none" strike="noStrike" cap="none" normalizeH="0" baseline="0" dirty="0">
                          <a:ln>
                            <a:noFill/>
                          </a:ln>
                          <a:solidFill>
                            <a:schemeClr val="tx1"/>
                          </a:solidFill>
                          <a:effectLst/>
                          <a:latin typeface="楷体_GB2312" pitchFamily="49" charset="-122"/>
                          <a:ea typeface="楷体_GB2312" pitchFamily="49" charset="-122"/>
                        </a:rPr>
                        <a:t>（绝对约束）</a:t>
                      </a:r>
                      <a:endParaRPr kumimoji="0" lang="zh-CN" sz="2800" b="1" i="0" u="none" strike="noStrike" cap="none" normalizeH="0" baseline="0" dirty="0">
                        <a:ln>
                          <a:noFill/>
                        </a:ln>
                        <a:solidFill>
                          <a:schemeClr val="tx1"/>
                        </a:solidFill>
                        <a:effectLst/>
                        <a:latin typeface="楷体_GB2312" pitchFamily="49" charset="-122"/>
                        <a:ea typeface="楷体_GB2312" pitchFamily="49" charset="-122"/>
                      </a:endParaRP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sz="2800" b="1" i="0" u="none" strike="noStrike" cap="none" normalizeH="0" baseline="0" dirty="0">
                          <a:ln>
                            <a:noFill/>
                          </a:ln>
                          <a:solidFill>
                            <a:schemeClr val="tx1"/>
                          </a:solidFill>
                          <a:effectLst/>
                          <a:latin typeface="楷体_GB2312" pitchFamily="49" charset="-122"/>
                          <a:ea typeface="楷体_GB2312" pitchFamily="49" charset="-122"/>
                        </a:rPr>
                        <a:t>目标约束</a:t>
                      </a:r>
                      <a:endParaRPr kumimoji="0" lang="zh-CN" sz="2800" b="1" i="0" u="none" strike="noStrike" cap="none" normalizeH="0" baseline="0" dirty="0">
                        <a:ln>
                          <a:noFill/>
                        </a:ln>
                        <a:solidFill>
                          <a:schemeClr val="tx1"/>
                        </a:solidFill>
                        <a:effectLst/>
                        <a:latin typeface="楷体_GB2312" pitchFamily="49" charset="-122"/>
                        <a:ea typeface="楷体_GB2312" pitchFamily="49"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zh-CN" sz="2800" b="1" i="0" u="none" strike="noStrike" cap="none" normalizeH="0" baseline="0" dirty="0">
                          <a:ln>
                            <a:noFill/>
                          </a:ln>
                          <a:solidFill>
                            <a:schemeClr val="tx1"/>
                          </a:solidFill>
                          <a:effectLst/>
                          <a:latin typeface="楷体_GB2312" pitchFamily="49" charset="-122"/>
                          <a:ea typeface="楷体_GB2312" pitchFamily="49" charset="-122"/>
                        </a:rPr>
                        <a:t>系统约束</a:t>
                      </a:r>
                      <a:endParaRPr kumimoji="0" lang="zh-CN" sz="2800" b="1" i="0" u="none" strike="noStrike" cap="none" normalizeH="0" baseline="0" dirty="0">
                        <a:ln>
                          <a:noFill/>
                        </a:ln>
                        <a:solidFill>
                          <a:schemeClr val="tx1"/>
                        </a:solidFill>
                        <a:effectLst/>
                        <a:latin typeface="楷体_GB2312" pitchFamily="49" charset="-122"/>
                        <a:ea typeface="楷体_GB2312" pitchFamily="49" charset="-122"/>
                      </a:endParaRPr>
                    </a:p>
                  </a:txBody>
                  <a:tcPr marT="45709" marB="4570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r>
              <a:tr h="528509">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sz="2800" b="1" i="0" u="none" strike="noStrike" cap="none" normalizeH="0" baseline="0">
                          <a:ln>
                            <a:noFill/>
                          </a:ln>
                          <a:solidFill>
                            <a:schemeClr val="tx1"/>
                          </a:solidFill>
                          <a:effectLst/>
                          <a:latin typeface="楷体_GB2312" pitchFamily="49" charset="-122"/>
                          <a:ea typeface="楷体_GB2312" pitchFamily="49" charset="-122"/>
                        </a:rPr>
                        <a:t>解</a:t>
                      </a:r>
                      <a:endParaRPr kumimoji="0" lang="zh-CN" sz="2800" b="1" i="0" u="none" strike="noStrike" cap="none" normalizeH="0" baseline="0">
                        <a:ln>
                          <a:noFill/>
                        </a:ln>
                        <a:solidFill>
                          <a:schemeClr val="tx1"/>
                        </a:solidFill>
                        <a:effectLst/>
                        <a:latin typeface="楷体_GB2312" pitchFamily="49" charset="-122"/>
                        <a:ea typeface="楷体_GB2312" pitchFamily="49" charset="-122"/>
                      </a:endParaRPr>
                    </a:p>
                  </a:txBody>
                  <a:tcPr marT="45709" marB="4570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sz="2800" b="1" i="0" u="none" strike="noStrike" cap="none" normalizeH="0" baseline="0" dirty="0">
                          <a:ln>
                            <a:noFill/>
                          </a:ln>
                          <a:solidFill>
                            <a:schemeClr val="tx1"/>
                          </a:solidFill>
                          <a:effectLst/>
                          <a:latin typeface="楷体_GB2312" pitchFamily="49" charset="-122"/>
                          <a:ea typeface="楷体_GB2312" pitchFamily="49" charset="-122"/>
                        </a:rPr>
                        <a:t>最优</a:t>
                      </a:r>
                      <a:endParaRPr kumimoji="0" lang="zh-CN" sz="2800" b="1" i="0" u="none" strike="noStrike" cap="none" normalizeH="0" baseline="0" dirty="0">
                        <a:ln>
                          <a:noFill/>
                        </a:ln>
                        <a:solidFill>
                          <a:schemeClr val="tx1"/>
                        </a:solidFill>
                        <a:effectLst/>
                        <a:latin typeface="楷体_GB2312" pitchFamily="49" charset="-122"/>
                        <a:ea typeface="楷体_GB2312" pitchFamily="49" charset="-122"/>
                      </a:endParaRPr>
                    </a:p>
                  </a:txBody>
                  <a:tcPr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sz="2800" b="1" i="0" u="none" strike="noStrike" cap="none" normalizeH="0" baseline="0" dirty="0">
                          <a:ln>
                            <a:noFill/>
                          </a:ln>
                          <a:solidFill>
                            <a:schemeClr val="tx1"/>
                          </a:solidFill>
                          <a:effectLst/>
                          <a:latin typeface="楷体_GB2312" pitchFamily="49" charset="-122"/>
                          <a:ea typeface="楷体_GB2312" pitchFamily="49" charset="-122"/>
                        </a:rPr>
                        <a:t>最满意</a:t>
                      </a:r>
                      <a:endParaRPr kumimoji="0" lang="zh-CN" sz="2800" b="1" i="0" u="none" strike="noStrike" cap="none" normalizeH="0" baseline="0" dirty="0">
                        <a:ln>
                          <a:noFill/>
                        </a:ln>
                        <a:solidFill>
                          <a:schemeClr val="tx1"/>
                        </a:solidFill>
                        <a:effectLst/>
                        <a:latin typeface="楷体_GB2312" pitchFamily="49" charset="-122"/>
                        <a:ea typeface="楷体_GB2312" pitchFamily="49" charset="-122"/>
                      </a:endParaRPr>
                    </a:p>
                  </a:txBody>
                  <a:tcPr marT="45709" marB="4570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EC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目标规划问题举例</a:t>
            </a:r>
            <a:r>
              <a:rPr lang="en-US" dirty="0"/>
              <a:t>-</a:t>
            </a:r>
            <a:r>
              <a:rPr lang="zh-CN" altLang="en-US" dirty="0"/>
              <a:t>例</a:t>
            </a:r>
            <a:r>
              <a:rPr lang="en-US" altLang="zh-CN" dirty="0"/>
              <a:t>1</a:t>
            </a:r>
            <a:endParaRPr lang="zh-CN" altLang="en-US" dirty="0"/>
          </a:p>
        </p:txBody>
      </p:sp>
      <p:sp>
        <p:nvSpPr>
          <p:cNvPr id="3" name="内容占位符 2"/>
          <p:cNvSpPr>
            <a:spLocks noGrp="1"/>
          </p:cNvSpPr>
          <p:nvPr>
            <p:ph idx="1"/>
          </p:nvPr>
        </p:nvSpPr>
        <p:spPr/>
        <p:txBody>
          <a:bodyPr>
            <a:normAutofit/>
          </a:bodyPr>
          <a:lstStyle/>
          <a:p>
            <a:pPr marL="0" indent="0">
              <a:buNone/>
            </a:pPr>
            <a:r>
              <a:rPr lang="zh-CN" altLang="en-US" sz="2000" dirty="0"/>
              <a:t>某厂计划在下一个生产周期内生产甲、乙两种产品，已知资料如表所示。</a:t>
            </a:r>
            <a:r>
              <a:rPr lang="zh-CN" altLang="en-US" sz="2000" dirty="0">
                <a:solidFill>
                  <a:srgbClr val="FF0000"/>
                </a:solidFill>
              </a:rPr>
              <a:t>试制定生产计划，使获得的利润最大（一般线性规划）</a:t>
            </a:r>
            <a:r>
              <a:rPr lang="zh-CN" altLang="en-US" sz="2000" dirty="0"/>
              <a:t>？同时，根据市场预测，</a:t>
            </a:r>
            <a:r>
              <a:rPr lang="zh-CN" altLang="en-US" sz="2000" dirty="0">
                <a:solidFill>
                  <a:srgbClr val="FF0000"/>
                </a:solidFill>
              </a:rPr>
              <a:t>甲的销路不是太好，应尽可能少生产</a:t>
            </a:r>
            <a:r>
              <a:rPr lang="zh-CN" altLang="en-US" sz="2000" dirty="0"/>
              <a:t>；</a:t>
            </a:r>
            <a:r>
              <a:rPr lang="zh-CN" altLang="en-US" sz="2000" dirty="0">
                <a:solidFill>
                  <a:srgbClr val="FF0000"/>
                </a:solidFill>
              </a:rPr>
              <a:t>乙的销路较好，可以扩大生产（多目标规划）</a:t>
            </a:r>
            <a:r>
              <a:rPr lang="zh-CN" altLang="en-US" sz="2000" dirty="0"/>
              <a:t>。试建立此问题的数学模型。</a:t>
            </a:r>
            <a:endParaRPr lang="zh-CN" altLang="en-US" sz="2000" dirty="0"/>
          </a:p>
        </p:txBody>
      </p:sp>
      <p:grpSp>
        <p:nvGrpSpPr>
          <p:cNvPr id="5" name="Group 3"/>
          <p:cNvGrpSpPr/>
          <p:nvPr/>
        </p:nvGrpSpPr>
        <p:grpSpPr bwMode="auto">
          <a:xfrm>
            <a:off x="2875129" y="3008313"/>
            <a:ext cx="6441741" cy="3168650"/>
            <a:chOff x="0" y="0"/>
            <a:chExt cx="3072" cy="1580"/>
          </a:xfrm>
        </p:grpSpPr>
        <p:sp>
          <p:nvSpPr>
            <p:cNvPr id="6" name="Rectangle 4"/>
            <p:cNvSpPr>
              <a:spLocks noChangeArrowheads="1"/>
            </p:cNvSpPr>
            <p:nvPr/>
          </p:nvSpPr>
          <p:spPr bwMode="auto">
            <a:xfrm>
              <a:off x="2160" y="1293"/>
              <a:ext cx="912" cy="287"/>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pPr>
              <a:endParaRPr lang="zh-CN" altLang="zh-CN" sz="2800" b="1">
                <a:latin typeface="楷体" panose="02010609060101010101" pitchFamily="49" charset="-122"/>
                <a:ea typeface="楷体" panose="02010609060101010101" pitchFamily="49" charset="-122"/>
              </a:endParaRPr>
            </a:p>
          </p:txBody>
        </p:sp>
        <p:sp>
          <p:nvSpPr>
            <p:cNvPr id="7" name="Rectangle 5"/>
            <p:cNvSpPr>
              <a:spLocks noChangeArrowheads="1"/>
            </p:cNvSpPr>
            <p:nvPr/>
          </p:nvSpPr>
          <p:spPr bwMode="auto">
            <a:xfrm>
              <a:off x="1536" y="1293"/>
              <a:ext cx="624" cy="287"/>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pPr>
              <a:r>
                <a:rPr lang="zh-CN" altLang="zh-CN" sz="2800" b="1">
                  <a:latin typeface="楷体" panose="02010609060101010101" pitchFamily="49" charset="-122"/>
                  <a:ea typeface="楷体" panose="02010609060101010101" pitchFamily="49" charset="-122"/>
                </a:rPr>
                <a:t>120</a:t>
              </a:r>
              <a:endParaRPr lang="zh-CN" altLang="zh-CN" sz="2800" b="1">
                <a:latin typeface="楷体" panose="02010609060101010101" pitchFamily="49" charset="-122"/>
                <a:ea typeface="楷体" panose="02010609060101010101" pitchFamily="49" charset="-122"/>
              </a:endParaRPr>
            </a:p>
          </p:txBody>
        </p:sp>
        <p:sp>
          <p:nvSpPr>
            <p:cNvPr id="8" name="Rectangle 6"/>
            <p:cNvSpPr>
              <a:spLocks noChangeArrowheads="1"/>
            </p:cNvSpPr>
            <p:nvPr/>
          </p:nvSpPr>
          <p:spPr bwMode="auto">
            <a:xfrm>
              <a:off x="960" y="1293"/>
              <a:ext cx="576" cy="287"/>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pPr>
              <a:r>
                <a:rPr lang="zh-CN" altLang="zh-CN" sz="2800" b="1">
                  <a:latin typeface="楷体" panose="02010609060101010101" pitchFamily="49" charset="-122"/>
                  <a:ea typeface="楷体" panose="02010609060101010101" pitchFamily="49" charset="-122"/>
                </a:rPr>
                <a:t>70</a:t>
              </a:r>
              <a:endParaRPr lang="zh-CN" altLang="zh-CN" sz="2800" b="1">
                <a:latin typeface="楷体" panose="02010609060101010101" pitchFamily="49" charset="-122"/>
                <a:ea typeface="楷体" panose="02010609060101010101" pitchFamily="49" charset="-122"/>
              </a:endParaRPr>
            </a:p>
          </p:txBody>
        </p:sp>
        <p:sp>
          <p:nvSpPr>
            <p:cNvPr id="9" name="Rectangle 7"/>
            <p:cNvSpPr>
              <a:spLocks noChangeArrowheads="1"/>
            </p:cNvSpPr>
            <p:nvPr/>
          </p:nvSpPr>
          <p:spPr bwMode="auto">
            <a:xfrm>
              <a:off x="0" y="1293"/>
              <a:ext cx="960" cy="287"/>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pPr>
              <a:r>
                <a:rPr lang="zh-CN" altLang="zh-CN" sz="2800" b="1">
                  <a:latin typeface="楷体" panose="02010609060101010101" pitchFamily="49" charset="-122"/>
                  <a:ea typeface="楷体" panose="02010609060101010101" pitchFamily="49" charset="-122"/>
                </a:rPr>
                <a:t>单件利润</a:t>
              </a:r>
              <a:endParaRPr lang="zh-CN" altLang="zh-CN" sz="2800" b="1">
                <a:latin typeface="楷体" panose="02010609060101010101" pitchFamily="49" charset="-122"/>
                <a:ea typeface="楷体" panose="02010609060101010101" pitchFamily="49" charset="-122"/>
              </a:endParaRPr>
            </a:p>
          </p:txBody>
        </p:sp>
        <p:sp>
          <p:nvSpPr>
            <p:cNvPr id="10" name="Rectangle 8"/>
            <p:cNvSpPr>
              <a:spLocks noChangeArrowheads="1"/>
            </p:cNvSpPr>
            <p:nvPr/>
          </p:nvSpPr>
          <p:spPr bwMode="auto">
            <a:xfrm>
              <a:off x="2160" y="1006"/>
              <a:ext cx="912" cy="287"/>
            </a:xfrm>
            <a:prstGeom prst="rect">
              <a:avLst/>
            </a:prstGeom>
            <a:solidFill>
              <a:srgbClr val="9999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pPr>
              <a:r>
                <a:rPr lang="zh-CN" altLang="zh-CN" sz="2800" b="1">
                  <a:latin typeface="楷体" panose="02010609060101010101" pitchFamily="49" charset="-122"/>
                  <a:ea typeface="楷体" panose="02010609060101010101" pitchFamily="49" charset="-122"/>
                </a:rPr>
                <a:t>3000</a:t>
              </a:r>
              <a:endParaRPr lang="zh-CN" altLang="zh-CN" sz="2800" b="1">
                <a:latin typeface="楷体" panose="02010609060101010101" pitchFamily="49" charset="-122"/>
                <a:ea typeface="楷体" panose="02010609060101010101" pitchFamily="49" charset="-122"/>
              </a:endParaRPr>
            </a:p>
          </p:txBody>
        </p:sp>
        <p:sp>
          <p:nvSpPr>
            <p:cNvPr id="11" name="Rectangle 9"/>
            <p:cNvSpPr>
              <a:spLocks noChangeArrowheads="1"/>
            </p:cNvSpPr>
            <p:nvPr/>
          </p:nvSpPr>
          <p:spPr bwMode="auto">
            <a:xfrm>
              <a:off x="1536" y="1006"/>
              <a:ext cx="624" cy="287"/>
            </a:xfrm>
            <a:prstGeom prst="rect">
              <a:avLst/>
            </a:prstGeom>
            <a:solidFill>
              <a:srgbClr val="9999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pPr>
              <a:r>
                <a:rPr lang="zh-CN" altLang="zh-CN" sz="2800" b="1">
                  <a:latin typeface="楷体" panose="02010609060101010101" pitchFamily="49" charset="-122"/>
                  <a:ea typeface="楷体" panose="02010609060101010101" pitchFamily="49" charset="-122"/>
                </a:rPr>
                <a:t>10</a:t>
              </a:r>
              <a:endParaRPr lang="zh-CN" altLang="zh-CN" sz="2800" b="1">
                <a:latin typeface="楷体" panose="02010609060101010101" pitchFamily="49" charset="-122"/>
                <a:ea typeface="楷体" panose="02010609060101010101" pitchFamily="49" charset="-122"/>
              </a:endParaRPr>
            </a:p>
          </p:txBody>
        </p:sp>
        <p:sp>
          <p:nvSpPr>
            <p:cNvPr id="12" name="Rectangle 10"/>
            <p:cNvSpPr>
              <a:spLocks noChangeArrowheads="1"/>
            </p:cNvSpPr>
            <p:nvPr/>
          </p:nvSpPr>
          <p:spPr bwMode="auto">
            <a:xfrm>
              <a:off x="960" y="1006"/>
              <a:ext cx="576" cy="287"/>
            </a:xfrm>
            <a:prstGeom prst="rect">
              <a:avLst/>
            </a:prstGeom>
            <a:solidFill>
              <a:srgbClr val="9999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pPr>
              <a:r>
                <a:rPr lang="zh-CN" altLang="zh-CN" sz="2800" b="1">
                  <a:latin typeface="楷体" panose="02010609060101010101" pitchFamily="49" charset="-122"/>
                  <a:ea typeface="楷体" panose="02010609060101010101" pitchFamily="49" charset="-122"/>
                </a:rPr>
                <a:t>3</a:t>
              </a:r>
              <a:endParaRPr lang="zh-CN" altLang="zh-CN" sz="2800" b="1">
                <a:latin typeface="楷体" panose="02010609060101010101" pitchFamily="49" charset="-122"/>
                <a:ea typeface="楷体" panose="02010609060101010101" pitchFamily="49" charset="-122"/>
              </a:endParaRPr>
            </a:p>
          </p:txBody>
        </p:sp>
        <p:sp>
          <p:nvSpPr>
            <p:cNvPr id="13" name="Rectangle 11"/>
            <p:cNvSpPr>
              <a:spLocks noChangeArrowheads="1"/>
            </p:cNvSpPr>
            <p:nvPr/>
          </p:nvSpPr>
          <p:spPr bwMode="auto">
            <a:xfrm>
              <a:off x="0" y="1006"/>
              <a:ext cx="960" cy="287"/>
            </a:xfrm>
            <a:prstGeom prst="rect">
              <a:avLst/>
            </a:prstGeom>
            <a:solidFill>
              <a:srgbClr val="9999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pPr>
              <a:r>
                <a:rPr lang="zh-CN" altLang="zh-CN" sz="2800" b="1">
                  <a:latin typeface="楷体" panose="02010609060101010101" pitchFamily="49" charset="-122"/>
                  <a:ea typeface="楷体" panose="02010609060101010101" pitchFamily="49" charset="-122"/>
                </a:rPr>
                <a:t>设备台时</a:t>
              </a:r>
              <a:endParaRPr lang="zh-CN" altLang="zh-CN" sz="2800" b="1">
                <a:latin typeface="楷体" panose="02010609060101010101" pitchFamily="49" charset="-122"/>
                <a:ea typeface="楷体" panose="02010609060101010101" pitchFamily="49" charset="-122"/>
              </a:endParaRPr>
            </a:p>
          </p:txBody>
        </p:sp>
        <p:sp>
          <p:nvSpPr>
            <p:cNvPr id="14" name="Rectangle 12"/>
            <p:cNvSpPr>
              <a:spLocks noChangeArrowheads="1"/>
            </p:cNvSpPr>
            <p:nvPr/>
          </p:nvSpPr>
          <p:spPr bwMode="auto">
            <a:xfrm>
              <a:off x="2160" y="719"/>
              <a:ext cx="912" cy="287"/>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pPr>
              <a:r>
                <a:rPr lang="zh-CN" altLang="zh-CN" sz="2800" b="1">
                  <a:latin typeface="楷体" panose="02010609060101010101" pitchFamily="49" charset="-122"/>
                  <a:ea typeface="楷体" panose="02010609060101010101" pitchFamily="49" charset="-122"/>
                </a:rPr>
                <a:t>2000</a:t>
              </a:r>
              <a:endParaRPr lang="zh-CN" altLang="zh-CN" sz="2800" b="1">
                <a:latin typeface="楷体" panose="02010609060101010101" pitchFamily="49" charset="-122"/>
                <a:ea typeface="楷体" panose="02010609060101010101" pitchFamily="49" charset="-122"/>
              </a:endParaRPr>
            </a:p>
          </p:txBody>
        </p:sp>
        <p:sp>
          <p:nvSpPr>
            <p:cNvPr id="15" name="Rectangle 13"/>
            <p:cNvSpPr>
              <a:spLocks noChangeArrowheads="1"/>
            </p:cNvSpPr>
            <p:nvPr/>
          </p:nvSpPr>
          <p:spPr bwMode="auto">
            <a:xfrm>
              <a:off x="1536" y="719"/>
              <a:ext cx="624" cy="287"/>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pPr>
              <a:r>
                <a:rPr lang="zh-CN" altLang="zh-CN" sz="2800" b="1">
                  <a:latin typeface="楷体" panose="02010609060101010101" pitchFamily="49" charset="-122"/>
                  <a:ea typeface="楷体" panose="02010609060101010101" pitchFamily="49" charset="-122"/>
                </a:rPr>
                <a:t>5</a:t>
              </a:r>
              <a:endParaRPr lang="zh-CN" altLang="zh-CN" sz="2800" b="1">
                <a:latin typeface="楷体" panose="02010609060101010101" pitchFamily="49" charset="-122"/>
                <a:ea typeface="楷体" panose="02010609060101010101" pitchFamily="49" charset="-122"/>
              </a:endParaRPr>
            </a:p>
          </p:txBody>
        </p:sp>
        <p:sp>
          <p:nvSpPr>
            <p:cNvPr id="16" name="Rectangle 14"/>
            <p:cNvSpPr>
              <a:spLocks noChangeArrowheads="1"/>
            </p:cNvSpPr>
            <p:nvPr/>
          </p:nvSpPr>
          <p:spPr bwMode="auto">
            <a:xfrm>
              <a:off x="960" y="719"/>
              <a:ext cx="576" cy="287"/>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pPr>
              <a:r>
                <a:rPr lang="zh-CN" altLang="zh-CN" sz="2800" b="1">
                  <a:latin typeface="楷体" panose="02010609060101010101" pitchFamily="49" charset="-122"/>
                  <a:ea typeface="楷体" panose="02010609060101010101" pitchFamily="49" charset="-122"/>
                </a:rPr>
                <a:t>4</a:t>
              </a:r>
              <a:endParaRPr lang="zh-CN" altLang="zh-CN" sz="2800" b="1">
                <a:latin typeface="楷体" panose="02010609060101010101" pitchFamily="49" charset="-122"/>
                <a:ea typeface="楷体" panose="02010609060101010101" pitchFamily="49" charset="-122"/>
              </a:endParaRPr>
            </a:p>
          </p:txBody>
        </p:sp>
        <p:sp>
          <p:nvSpPr>
            <p:cNvPr id="17" name="Rectangle 15"/>
            <p:cNvSpPr>
              <a:spLocks noChangeArrowheads="1"/>
            </p:cNvSpPr>
            <p:nvPr/>
          </p:nvSpPr>
          <p:spPr bwMode="auto">
            <a:xfrm>
              <a:off x="0" y="719"/>
              <a:ext cx="960" cy="287"/>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pPr>
              <a:r>
                <a:rPr lang="zh-CN" altLang="zh-CN" sz="2800" b="1">
                  <a:latin typeface="楷体" panose="02010609060101010101" pitchFamily="49" charset="-122"/>
                  <a:ea typeface="楷体" panose="02010609060101010101" pitchFamily="49" charset="-122"/>
                </a:rPr>
                <a:t>煤炭</a:t>
              </a:r>
              <a:endParaRPr lang="zh-CN" altLang="zh-CN" sz="2800" b="1">
                <a:latin typeface="楷体" panose="02010609060101010101" pitchFamily="49" charset="-122"/>
                <a:ea typeface="楷体" panose="02010609060101010101" pitchFamily="49" charset="-122"/>
              </a:endParaRPr>
            </a:p>
          </p:txBody>
        </p:sp>
        <p:sp>
          <p:nvSpPr>
            <p:cNvPr id="18" name="Rectangle 16"/>
            <p:cNvSpPr>
              <a:spLocks noChangeArrowheads="1"/>
            </p:cNvSpPr>
            <p:nvPr/>
          </p:nvSpPr>
          <p:spPr bwMode="auto">
            <a:xfrm>
              <a:off x="2160" y="432"/>
              <a:ext cx="912" cy="287"/>
            </a:xfrm>
            <a:prstGeom prst="rect">
              <a:avLst/>
            </a:prstGeom>
            <a:solidFill>
              <a:srgbClr val="9999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pPr>
              <a:r>
                <a:rPr lang="zh-CN" altLang="zh-CN" sz="2800" b="1">
                  <a:latin typeface="楷体" panose="02010609060101010101" pitchFamily="49" charset="-122"/>
                  <a:ea typeface="楷体" panose="02010609060101010101" pitchFamily="49" charset="-122"/>
                </a:rPr>
                <a:t>3600</a:t>
              </a:r>
              <a:endParaRPr lang="zh-CN" altLang="zh-CN" sz="2800" b="1">
                <a:latin typeface="楷体" panose="02010609060101010101" pitchFamily="49" charset="-122"/>
                <a:ea typeface="楷体" panose="02010609060101010101" pitchFamily="49" charset="-122"/>
              </a:endParaRPr>
            </a:p>
          </p:txBody>
        </p:sp>
        <p:sp>
          <p:nvSpPr>
            <p:cNvPr id="19" name="Rectangle 17"/>
            <p:cNvSpPr>
              <a:spLocks noChangeArrowheads="1"/>
            </p:cNvSpPr>
            <p:nvPr/>
          </p:nvSpPr>
          <p:spPr bwMode="auto">
            <a:xfrm>
              <a:off x="1536" y="432"/>
              <a:ext cx="624" cy="287"/>
            </a:xfrm>
            <a:prstGeom prst="rect">
              <a:avLst/>
            </a:prstGeom>
            <a:solidFill>
              <a:srgbClr val="9999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pPr>
              <a:r>
                <a:rPr lang="zh-CN" altLang="zh-CN" sz="2800" b="1">
                  <a:latin typeface="楷体" panose="02010609060101010101" pitchFamily="49" charset="-122"/>
                  <a:ea typeface="楷体" panose="02010609060101010101" pitchFamily="49" charset="-122"/>
                </a:rPr>
                <a:t>4</a:t>
              </a:r>
              <a:endParaRPr lang="zh-CN" altLang="zh-CN" sz="2800" b="1">
                <a:latin typeface="楷体" panose="02010609060101010101" pitchFamily="49" charset="-122"/>
                <a:ea typeface="楷体" panose="02010609060101010101" pitchFamily="49" charset="-122"/>
              </a:endParaRPr>
            </a:p>
          </p:txBody>
        </p:sp>
        <p:sp>
          <p:nvSpPr>
            <p:cNvPr id="20" name="Rectangle 18"/>
            <p:cNvSpPr>
              <a:spLocks noChangeArrowheads="1"/>
            </p:cNvSpPr>
            <p:nvPr/>
          </p:nvSpPr>
          <p:spPr bwMode="auto">
            <a:xfrm>
              <a:off x="960" y="432"/>
              <a:ext cx="576" cy="287"/>
            </a:xfrm>
            <a:prstGeom prst="rect">
              <a:avLst/>
            </a:prstGeom>
            <a:solidFill>
              <a:srgbClr val="9999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pPr>
              <a:r>
                <a:rPr lang="zh-CN" altLang="zh-CN" sz="2800" b="1">
                  <a:latin typeface="楷体" panose="02010609060101010101" pitchFamily="49" charset="-122"/>
                  <a:ea typeface="楷体" panose="02010609060101010101" pitchFamily="49" charset="-122"/>
                </a:rPr>
                <a:t>9</a:t>
              </a:r>
              <a:endParaRPr lang="zh-CN" altLang="zh-CN" sz="2800" b="1">
                <a:latin typeface="楷体" panose="02010609060101010101" pitchFamily="49" charset="-122"/>
                <a:ea typeface="楷体" panose="02010609060101010101" pitchFamily="49" charset="-122"/>
              </a:endParaRPr>
            </a:p>
          </p:txBody>
        </p:sp>
        <p:sp>
          <p:nvSpPr>
            <p:cNvPr id="21" name="Rectangle 19"/>
            <p:cNvSpPr>
              <a:spLocks noChangeArrowheads="1"/>
            </p:cNvSpPr>
            <p:nvPr/>
          </p:nvSpPr>
          <p:spPr bwMode="auto">
            <a:xfrm>
              <a:off x="0" y="432"/>
              <a:ext cx="960" cy="287"/>
            </a:xfrm>
            <a:prstGeom prst="rect">
              <a:avLst/>
            </a:prstGeom>
            <a:solidFill>
              <a:srgbClr val="9999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pPr>
              <a:r>
                <a:rPr lang="zh-CN" altLang="zh-CN" sz="2800" b="1">
                  <a:latin typeface="楷体" panose="02010609060101010101" pitchFamily="49" charset="-122"/>
                  <a:ea typeface="楷体" panose="02010609060101010101" pitchFamily="49" charset="-122"/>
                </a:rPr>
                <a:t>钢材</a:t>
              </a:r>
              <a:endParaRPr lang="zh-CN" altLang="zh-CN" sz="2800" b="1">
                <a:latin typeface="楷体" panose="02010609060101010101" pitchFamily="49" charset="-122"/>
                <a:ea typeface="楷体" panose="02010609060101010101" pitchFamily="49" charset="-122"/>
              </a:endParaRPr>
            </a:p>
          </p:txBody>
        </p:sp>
        <p:sp>
          <p:nvSpPr>
            <p:cNvPr id="22" name="Rectangle 20"/>
            <p:cNvSpPr>
              <a:spLocks noChangeArrowheads="1"/>
            </p:cNvSpPr>
            <p:nvPr/>
          </p:nvSpPr>
          <p:spPr bwMode="auto">
            <a:xfrm>
              <a:off x="2160" y="0"/>
              <a:ext cx="912" cy="4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pPr>
              <a:r>
                <a:rPr lang="zh-CN" altLang="zh-CN" sz="2800" b="1">
                  <a:latin typeface="楷体" panose="02010609060101010101" pitchFamily="49" charset="-122"/>
                  <a:ea typeface="楷体" panose="02010609060101010101" pitchFamily="49" charset="-122"/>
                </a:rPr>
                <a:t>资源限制</a:t>
              </a:r>
              <a:endParaRPr lang="zh-CN" altLang="zh-CN" sz="2800" b="1">
                <a:latin typeface="楷体" panose="02010609060101010101" pitchFamily="49" charset="-122"/>
                <a:ea typeface="楷体" panose="02010609060101010101" pitchFamily="49" charset="-122"/>
              </a:endParaRPr>
            </a:p>
          </p:txBody>
        </p:sp>
        <p:sp>
          <p:nvSpPr>
            <p:cNvPr id="23" name="Rectangle 21"/>
            <p:cNvSpPr>
              <a:spLocks noChangeArrowheads="1"/>
            </p:cNvSpPr>
            <p:nvPr/>
          </p:nvSpPr>
          <p:spPr bwMode="auto">
            <a:xfrm>
              <a:off x="1536" y="0"/>
              <a:ext cx="624" cy="4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pPr>
              <a:r>
                <a:rPr lang="zh-CN" altLang="zh-CN" sz="2800" b="1">
                  <a:latin typeface="楷体" panose="02010609060101010101" pitchFamily="49" charset="-122"/>
                  <a:ea typeface="楷体" panose="02010609060101010101" pitchFamily="49" charset="-122"/>
                </a:rPr>
                <a:t>乙</a:t>
              </a:r>
              <a:endParaRPr lang="zh-CN" altLang="zh-CN" sz="2800" b="1">
                <a:latin typeface="楷体" panose="02010609060101010101" pitchFamily="49" charset="-122"/>
                <a:ea typeface="楷体" panose="02010609060101010101" pitchFamily="49" charset="-122"/>
              </a:endParaRPr>
            </a:p>
          </p:txBody>
        </p:sp>
        <p:sp>
          <p:nvSpPr>
            <p:cNvPr id="24" name="Rectangle 22"/>
            <p:cNvSpPr>
              <a:spLocks noChangeArrowheads="1"/>
            </p:cNvSpPr>
            <p:nvPr/>
          </p:nvSpPr>
          <p:spPr bwMode="auto">
            <a:xfrm>
              <a:off x="960" y="0"/>
              <a:ext cx="576" cy="4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pPr>
              <a:r>
                <a:rPr lang="zh-CN" altLang="zh-CN" sz="2800" b="1" dirty="0">
                  <a:latin typeface="楷体" panose="02010609060101010101" pitchFamily="49" charset="-122"/>
                  <a:ea typeface="楷体" panose="02010609060101010101" pitchFamily="49" charset="-122"/>
                </a:rPr>
                <a:t>甲</a:t>
              </a:r>
              <a:endParaRPr lang="zh-CN" altLang="zh-CN" sz="2800" b="1" dirty="0">
                <a:latin typeface="楷体" panose="02010609060101010101" pitchFamily="49" charset="-122"/>
                <a:ea typeface="楷体" panose="02010609060101010101" pitchFamily="49" charset="-122"/>
              </a:endParaRPr>
            </a:p>
          </p:txBody>
        </p:sp>
        <p:sp>
          <p:nvSpPr>
            <p:cNvPr id="25" name="Rectangle 23"/>
            <p:cNvSpPr>
              <a:spLocks noChangeArrowheads="1"/>
            </p:cNvSpPr>
            <p:nvPr/>
          </p:nvSpPr>
          <p:spPr bwMode="auto">
            <a:xfrm>
              <a:off x="0" y="0"/>
              <a:ext cx="960" cy="4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zh-CN" sz="2800" b="1" dirty="0">
                  <a:latin typeface="楷体" panose="02010609060101010101" pitchFamily="49" charset="-122"/>
                  <a:ea typeface="楷体" panose="02010609060101010101" pitchFamily="49" charset="-122"/>
                </a:rPr>
                <a:t>  </a:t>
              </a:r>
              <a:endParaRPr lang="zh-CN" altLang="zh-CN" sz="2800" b="1" dirty="0">
                <a:latin typeface="楷体" panose="02010609060101010101" pitchFamily="49" charset="-122"/>
                <a:ea typeface="楷体" panose="02010609060101010101" pitchFamily="49" charset="-122"/>
              </a:endParaRPr>
            </a:p>
          </p:txBody>
        </p:sp>
        <p:sp>
          <p:nvSpPr>
            <p:cNvPr id="26" name="Line 24"/>
            <p:cNvSpPr>
              <a:spLocks noChangeShapeType="1"/>
            </p:cNvSpPr>
            <p:nvPr/>
          </p:nvSpPr>
          <p:spPr bwMode="auto">
            <a:xfrm>
              <a:off x="0" y="0"/>
              <a:ext cx="3072" cy="0"/>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27" name="Line 25"/>
            <p:cNvSpPr>
              <a:spLocks noChangeShapeType="1"/>
            </p:cNvSpPr>
            <p:nvPr/>
          </p:nvSpPr>
          <p:spPr bwMode="auto">
            <a:xfrm>
              <a:off x="0" y="432"/>
              <a:ext cx="3072"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28" name="Line 26"/>
            <p:cNvSpPr>
              <a:spLocks noChangeShapeType="1"/>
            </p:cNvSpPr>
            <p:nvPr/>
          </p:nvSpPr>
          <p:spPr bwMode="auto">
            <a:xfrm>
              <a:off x="0" y="719"/>
              <a:ext cx="3072"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29" name="Line 27"/>
            <p:cNvSpPr>
              <a:spLocks noChangeShapeType="1"/>
            </p:cNvSpPr>
            <p:nvPr/>
          </p:nvSpPr>
          <p:spPr bwMode="auto">
            <a:xfrm>
              <a:off x="0" y="1006"/>
              <a:ext cx="3072"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30" name="Line 28"/>
            <p:cNvSpPr>
              <a:spLocks noChangeShapeType="1"/>
            </p:cNvSpPr>
            <p:nvPr/>
          </p:nvSpPr>
          <p:spPr bwMode="auto">
            <a:xfrm>
              <a:off x="0" y="1293"/>
              <a:ext cx="3072"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31" name="Line 29"/>
            <p:cNvSpPr>
              <a:spLocks noChangeShapeType="1"/>
            </p:cNvSpPr>
            <p:nvPr/>
          </p:nvSpPr>
          <p:spPr bwMode="auto">
            <a:xfrm>
              <a:off x="0" y="1580"/>
              <a:ext cx="3072" cy="0"/>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32" name="Line 30"/>
            <p:cNvSpPr>
              <a:spLocks noChangeShapeType="1"/>
            </p:cNvSpPr>
            <p:nvPr/>
          </p:nvSpPr>
          <p:spPr bwMode="auto">
            <a:xfrm>
              <a:off x="0" y="0"/>
              <a:ext cx="0" cy="1580"/>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33" name="Line 31"/>
            <p:cNvSpPr>
              <a:spLocks noChangeShapeType="1"/>
            </p:cNvSpPr>
            <p:nvPr/>
          </p:nvSpPr>
          <p:spPr bwMode="auto">
            <a:xfrm>
              <a:off x="960" y="0"/>
              <a:ext cx="0" cy="158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34" name="Line 32"/>
            <p:cNvSpPr>
              <a:spLocks noChangeShapeType="1"/>
            </p:cNvSpPr>
            <p:nvPr/>
          </p:nvSpPr>
          <p:spPr bwMode="auto">
            <a:xfrm>
              <a:off x="1536" y="0"/>
              <a:ext cx="0" cy="158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35" name="Line 33"/>
            <p:cNvSpPr>
              <a:spLocks noChangeShapeType="1"/>
            </p:cNvSpPr>
            <p:nvPr/>
          </p:nvSpPr>
          <p:spPr bwMode="auto">
            <a:xfrm>
              <a:off x="2160" y="0"/>
              <a:ext cx="0" cy="158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36" name="Line 34"/>
            <p:cNvSpPr>
              <a:spLocks noChangeShapeType="1"/>
            </p:cNvSpPr>
            <p:nvPr/>
          </p:nvSpPr>
          <p:spPr bwMode="auto">
            <a:xfrm>
              <a:off x="3072" y="0"/>
              <a:ext cx="0" cy="1580"/>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grpSp>
      <p:sp>
        <p:nvSpPr>
          <p:cNvPr id="39" name="星形: 五角 38"/>
          <p:cNvSpPr/>
          <p:nvPr/>
        </p:nvSpPr>
        <p:spPr>
          <a:xfrm>
            <a:off x="8004142" y="663094"/>
            <a:ext cx="713064" cy="612491"/>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a:t>
            </a:r>
            <a:endParaRPr lang="zh-CN" altLang="en-US" dirty="0"/>
          </a:p>
        </p:txBody>
      </p:sp>
      <p:sp>
        <p:nvSpPr>
          <p:cNvPr id="4" name="矩形 3"/>
          <p:cNvSpPr/>
          <p:nvPr/>
        </p:nvSpPr>
        <p:spPr>
          <a:xfrm>
            <a:off x="5211271" y="2176758"/>
            <a:ext cx="5899094" cy="2508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矩形 36"/>
          <p:cNvSpPr/>
          <p:nvPr/>
        </p:nvSpPr>
        <p:spPr>
          <a:xfrm>
            <a:off x="932103" y="2449705"/>
            <a:ext cx="10178259" cy="2508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grpId="0" nodeType="clickEffect">
                                  <p:stCondLst>
                                    <p:cond delay="0"/>
                                  </p:stCondLst>
                                  <p:childTnLst>
                                    <p:animEffect transition="out" filter="blinds(horizontal)">
                                      <p:cBhvr>
                                        <p:cTn id="6" dur="500"/>
                                        <p:tgtEl>
                                          <p:spTgt spid="37"/>
                                        </p:tgtEl>
                                      </p:cBhvr>
                                    </p:animEffect>
                                    <p:set>
                                      <p:cBhvr>
                                        <p:cTn id="7" dur="1" fill="hold">
                                          <p:stCondLst>
                                            <p:cond delay="499"/>
                                          </p:stCondLst>
                                        </p:cTn>
                                        <p:tgtEl>
                                          <p:spTgt spid="37"/>
                                        </p:tgtEl>
                                        <p:attrNameLst>
                                          <p:attrName>style.visibility</p:attrName>
                                        </p:attrNameLst>
                                      </p:cBhvr>
                                      <p:to>
                                        <p:strVal val="hidden"/>
                                      </p:to>
                                    </p:set>
                                  </p:childTnLst>
                                </p:cTn>
                              </p:par>
                              <p:par>
                                <p:cTn id="8" presetID="3" presetClass="exit" presetSubtype="10" fill="hold" grpId="0" nodeType="withEffect">
                                  <p:stCondLst>
                                    <p:cond delay="0"/>
                                  </p:stCondLst>
                                  <p:childTnLst>
                                    <p:animEffect transition="out" filter="blinds(horizontal)">
                                      <p:cBhvr>
                                        <p:cTn id="9" dur="500"/>
                                        <p:tgtEl>
                                          <p:spTgt spid="4"/>
                                        </p:tgtEl>
                                      </p:cBhvr>
                                    </p:animEffect>
                                    <p:set>
                                      <p:cBhvr>
                                        <p:cTn id="10"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目标规划问题名词解释</a:t>
            </a:r>
            <a:r>
              <a:rPr lang="en-US" dirty="0"/>
              <a:t>-</a:t>
            </a:r>
            <a:r>
              <a:rPr lang="zh-CN" altLang="en-US" dirty="0"/>
              <a:t>目标值与实现值</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fontScale="85000" lnSpcReduction="10000"/>
              </a:bodyPr>
              <a:lstStyle/>
              <a:p>
                <a:pPr marL="0" indent="0">
                  <a:buNone/>
                </a:pPr>
                <a:r>
                  <a:rPr lang="zh-CN" altLang="en-US" dirty="0"/>
                  <a:t>目标规划通过引入目标值和偏差变量，可以将目标函数转化为目标约束。</a:t>
                </a:r>
                <a:endParaRPr lang="zh-CN" altLang="en-US" dirty="0"/>
              </a:p>
              <a:p>
                <a:r>
                  <a:rPr lang="zh-CN" altLang="en-US" dirty="0">
                    <a:solidFill>
                      <a:srgbClr val="FF0000"/>
                    </a:solidFill>
                  </a:rPr>
                  <a:t>目标值</a:t>
                </a:r>
                <a:r>
                  <a:rPr lang="zh-CN" altLang="en-US" dirty="0"/>
                  <a:t>：是指预先给定的某个目标的一个期望值。</a:t>
                </a:r>
                <a:endParaRPr lang="zh-CN" altLang="en-US" dirty="0"/>
              </a:p>
              <a:p>
                <a:r>
                  <a:rPr lang="zh-CN" altLang="en-US" dirty="0">
                    <a:solidFill>
                      <a:srgbClr val="FF0000"/>
                    </a:solidFill>
                  </a:rPr>
                  <a:t>实现值或决策值</a:t>
                </a:r>
                <a:r>
                  <a:rPr lang="zh-CN" altLang="en-US" dirty="0"/>
                  <a:t>：是指当决策变量</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𝑗</m:t>
                        </m:r>
                      </m:sub>
                    </m:sSub>
                  </m:oMath>
                </a14:m>
                <a:r>
                  <a:rPr lang="en-US" altLang="zh-CN" dirty="0"/>
                  <a:t> </a:t>
                </a:r>
                <a:r>
                  <a:rPr lang="zh-CN" altLang="en-US" dirty="0"/>
                  <a:t>选定以后，目标函数的对应值。</a:t>
                </a:r>
                <a:endParaRPr lang="zh-CN" altLang="en-US" dirty="0"/>
              </a:p>
              <a:p>
                <a:pPr lvl="1"/>
                <a:endParaRPr lang="zh-CN" altLang="en-US" dirty="0"/>
              </a:p>
              <a:p>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目标规划问题名词解释</a:t>
            </a:r>
            <a:r>
              <a:rPr lang="en-US" dirty="0"/>
              <a:t>-</a:t>
            </a:r>
            <a:r>
              <a:rPr lang="zh-CN" altLang="en-US" dirty="0"/>
              <a:t>偏差变量</a:t>
            </a:r>
            <a:endParaRPr kumimoji="1"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fontScale="92500"/>
              </a:bodyPr>
              <a:lstStyle/>
              <a:p>
                <a:r>
                  <a:rPr lang="zh-CN" altLang="en-US" dirty="0">
                    <a:solidFill>
                      <a:srgbClr val="FF0000"/>
                    </a:solidFill>
                  </a:rPr>
                  <a:t>偏差变量</a:t>
                </a:r>
                <a:r>
                  <a:rPr lang="zh-CN" altLang="en-US" dirty="0"/>
                  <a:t>（事先无法确定的未知数）：</a:t>
                </a:r>
                <a:endParaRPr lang="en-US" altLang="zh-CN" dirty="0"/>
              </a:p>
              <a:p>
                <a:pPr lvl="1"/>
                <a:r>
                  <a:rPr lang="en-US" altLang="zh-CN" dirty="0"/>
                  <a:t>d</a:t>
                </a:r>
                <a:r>
                  <a:rPr lang="zh-CN" altLang="en-US" dirty="0"/>
                  <a:t> </a:t>
                </a:r>
                <a:r>
                  <a:rPr lang="en-US" altLang="zh-CN" dirty="0"/>
                  <a:t>=</a:t>
                </a:r>
                <a:r>
                  <a:rPr lang="zh-CN" altLang="en-US" dirty="0"/>
                  <a:t> 实现值 </a:t>
                </a:r>
                <a:r>
                  <a:rPr lang="en-US" altLang="zh-CN" dirty="0"/>
                  <a:t>–</a:t>
                </a:r>
                <a:r>
                  <a:rPr lang="zh-CN" altLang="en-US" dirty="0"/>
                  <a:t> 目标值</a:t>
                </a:r>
                <a:endParaRPr lang="zh-CN" altLang="en-US" dirty="0"/>
              </a:p>
              <a:p>
                <a:pPr lvl="1"/>
                <a:r>
                  <a:rPr lang="zh-CN" altLang="en-US" dirty="0">
                    <a:solidFill>
                      <a:srgbClr val="FF0000"/>
                    </a:solidFill>
                  </a:rPr>
                  <a:t>正偏差变量</a:t>
                </a:r>
                <a:r>
                  <a:rPr lang="zh-CN" altLang="en-US" dirty="0"/>
                  <a:t>：表示实现值超过目标值的部分，记为 </a:t>
                </a:r>
                <a14:m>
                  <m:oMath xmlns:m="http://schemas.openxmlformats.org/officeDocument/2006/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𝑑</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rPr>
                      <m:t>=</m:t>
                    </m:r>
                    <m:r>
                      <m:rPr>
                        <m:sty m:val="p"/>
                      </m:rPr>
                      <a:rPr lang="en-US" altLang="zh-CN" b="0" i="0" smtClean="0">
                        <a:latin typeface="Cambria Math" panose="02040503050406030204" pitchFamily="18" charset="0"/>
                      </a:rPr>
                      <m:t>max</m:t>
                    </m:r>
                    <m:r>
                      <a:rPr lang="en-US" altLang="zh-CN" b="0" i="1" smtClean="0">
                        <a:latin typeface="Cambria Math" panose="02040503050406030204" pitchFamily="18" charset="0"/>
                      </a:rPr>
                      <m:t>⁡(</m:t>
                    </m:r>
                    <m:r>
                      <a:rPr lang="en-US" altLang="zh-CN" b="0" i="1" smtClean="0">
                        <a:latin typeface="Cambria Math" panose="02040503050406030204" pitchFamily="18" charset="0"/>
                      </a:rPr>
                      <m:t>𝑑</m:t>
                    </m:r>
                    <m:r>
                      <a:rPr lang="en-US" altLang="zh-CN" b="0" i="1" smtClean="0">
                        <a:latin typeface="Cambria Math" panose="02040503050406030204" pitchFamily="18" charset="0"/>
                      </a:rPr>
                      <m:t>,</m:t>
                    </m:r>
                    <m:r>
                      <a:rPr lang="en-US" altLang="zh-CN" b="0" i="1" smtClean="0">
                        <a:latin typeface="Cambria Math" panose="02040503050406030204" pitchFamily="18" charset="0"/>
                      </a:rPr>
                      <m:t>0</m:t>
                    </m:r>
                    <m:r>
                      <a:rPr lang="en-US" altLang="zh-CN" b="0" i="1" smtClean="0">
                        <a:latin typeface="Cambria Math" panose="02040503050406030204" pitchFamily="18" charset="0"/>
                      </a:rPr>
                      <m:t>)</m:t>
                    </m:r>
                  </m:oMath>
                </a14:m>
                <a:r>
                  <a:rPr lang="zh-CN" altLang="en-US" dirty="0"/>
                  <a:t>。</a:t>
                </a:r>
                <a:endParaRPr lang="zh-CN" altLang="en-US" dirty="0"/>
              </a:p>
              <a:p>
                <a:pPr lvl="1"/>
                <a:r>
                  <a:rPr lang="zh-CN" altLang="en-US" dirty="0">
                    <a:solidFill>
                      <a:srgbClr val="FF0000"/>
                    </a:solidFill>
                  </a:rPr>
                  <a:t>负偏差变量</a:t>
                </a:r>
                <a:r>
                  <a:rPr lang="zh-CN" altLang="en-US" dirty="0"/>
                  <a:t>：表示实现值未达到目标值的部分，记为 </a:t>
                </a:r>
                <a14:m>
                  <m:oMath xmlns:m="http://schemas.openxmlformats.org/officeDocument/2006/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𝑑</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rPr>
                      <m:t>=</m:t>
                    </m:r>
                    <m:r>
                      <m:rPr>
                        <m:sty m:val="p"/>
                      </m:rPr>
                      <a:rPr lang="en-US" altLang="zh-CN" b="0" i="0" smtClean="0">
                        <a:latin typeface="Cambria Math" panose="02040503050406030204" pitchFamily="18" charset="0"/>
                      </a:rPr>
                      <m:t>max</m:t>
                    </m:r>
                    <m:r>
                      <a:rPr lang="en-US" altLang="zh-CN" b="0" i="1" smtClean="0">
                        <a:latin typeface="Cambria Math" panose="02040503050406030204" pitchFamily="18" charset="0"/>
                      </a:rPr>
                      <m:t>⁡(−</m:t>
                    </m:r>
                    <m:r>
                      <a:rPr lang="en-US" altLang="zh-CN" b="0" i="1" smtClean="0">
                        <a:latin typeface="Cambria Math" panose="02040503050406030204" pitchFamily="18" charset="0"/>
                      </a:rPr>
                      <m:t>𝑑</m:t>
                    </m:r>
                    <m:r>
                      <a:rPr lang="en-US" altLang="zh-CN" b="0" i="1" smtClean="0">
                        <a:latin typeface="Cambria Math" panose="02040503050406030204" pitchFamily="18" charset="0"/>
                      </a:rPr>
                      <m:t>,</m:t>
                    </m:r>
                    <m:r>
                      <a:rPr lang="en-US" altLang="zh-CN" b="0" i="1" smtClean="0">
                        <a:latin typeface="Cambria Math" panose="02040503050406030204" pitchFamily="18" charset="0"/>
                      </a:rPr>
                      <m:t>0</m:t>
                    </m:r>
                    <m:r>
                      <a:rPr lang="en-US" altLang="zh-CN" b="0" i="1" smtClean="0">
                        <a:latin typeface="Cambria Math" panose="02040503050406030204" pitchFamily="18" charset="0"/>
                      </a:rPr>
                      <m:t>)</m:t>
                    </m:r>
                  </m:oMath>
                </a14:m>
                <a:r>
                  <a:rPr lang="zh-CN" altLang="en-US" dirty="0"/>
                  <a:t>。</a:t>
                </a:r>
                <a:endParaRPr lang="en-US" altLang="zh-CN" dirty="0"/>
              </a:p>
              <a:p>
                <a:pPr lvl="1"/>
                <a14:m>
                  <m:oMath xmlns:m="http://schemas.openxmlformats.org/officeDocument/2006/math">
                    <m:sSup>
                      <m:sSupPr>
                        <m:ctrlPr>
                          <a:rPr lang="en-US" altLang="zh-CN" b="0" i="1" dirty="0" smtClean="0">
                            <a:latin typeface="Cambria Math" panose="02040503050406030204" pitchFamily="18" charset="0"/>
                          </a:rPr>
                        </m:ctrlPr>
                      </m:sSupPr>
                      <m:e>
                        <m:r>
                          <a:rPr lang="en-US" altLang="zh-CN" b="0" i="1" dirty="0" smtClean="0">
                            <a:latin typeface="Cambria Math" panose="02040503050406030204" pitchFamily="18" charset="0"/>
                          </a:rPr>
                          <m:t>𝑑</m:t>
                        </m:r>
                      </m:e>
                      <m:sup>
                        <m:r>
                          <a:rPr lang="en-US" altLang="zh-CN" b="0" i="1" dirty="0" smtClean="0">
                            <a:latin typeface="Cambria Math" panose="02040503050406030204" pitchFamily="18" charset="0"/>
                          </a:rPr>
                          <m:t>+</m:t>
                        </m:r>
                      </m:sup>
                    </m:sSup>
                    <m:r>
                      <a:rPr lang="en-US" altLang="zh-CN" b="0" i="1" dirty="0" smtClean="0">
                        <a:latin typeface="Cambria Math" panose="02040503050406030204" pitchFamily="18" charset="0"/>
                      </a:rPr>
                      <m:t>,</m:t>
                    </m:r>
                    <m:sSup>
                      <m:sSupPr>
                        <m:ctrlPr>
                          <a:rPr lang="en-US" altLang="zh-CN" b="0" i="1" dirty="0" smtClean="0">
                            <a:latin typeface="Cambria Math" panose="02040503050406030204" pitchFamily="18" charset="0"/>
                          </a:rPr>
                        </m:ctrlPr>
                      </m:sSupPr>
                      <m:e>
                        <m:r>
                          <a:rPr lang="en-US" altLang="zh-CN" b="0" i="1" dirty="0" smtClean="0">
                            <a:latin typeface="Cambria Math" panose="02040503050406030204" pitchFamily="18" charset="0"/>
                          </a:rPr>
                          <m:t>𝑑</m:t>
                        </m:r>
                      </m:e>
                      <m:sup>
                        <m:r>
                          <a:rPr lang="en-US" altLang="zh-CN" b="0" i="1" dirty="0" smtClean="0">
                            <a:latin typeface="Cambria Math" panose="02040503050406030204" pitchFamily="18" charset="0"/>
                          </a:rPr>
                          <m:t>−</m:t>
                        </m:r>
                      </m:sup>
                    </m:sSup>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0</m:t>
                    </m:r>
                  </m:oMath>
                </a14:m>
                <a:endParaRPr lang="en-US" altLang="zh-CN" dirty="0"/>
              </a:p>
              <a:p>
                <a:endParaRPr kumimoji="1"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kumimoji="1"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假设实现值为</a:t>
            </a:r>
            <a:r>
              <a:rPr kumimoji="1"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5</a:t>
            </a:r>
            <a:r>
              <a:rPr kumimoji="1"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，目标值为</a:t>
            </a:r>
            <a:r>
              <a:rPr kumimoji="1"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2</a:t>
            </a:r>
            <a:r>
              <a:rPr kumimoji="1"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，则以下说法正确的选项是</a:t>
            </a:r>
            <a:endParaRPr kumimoji="1"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文本框 11"/>
          <p:cNvSpPr txBox="1"/>
          <p:nvPr>
            <p:custDataLst>
              <p:tags r:id="rId2"/>
            </p:custDataLst>
          </p:nvPr>
        </p:nvSpPr>
        <p:spPr>
          <a:xfrm>
            <a:off x="2438400" y="2786063"/>
            <a:ext cx="8534400" cy="642938"/>
          </a:xfrm>
          <a:prstGeom prst="rect">
            <a:avLst/>
          </a:prstGeom>
          <a:noFill/>
        </p:spPr>
        <p:txBody>
          <a:bodyPr vert="horz" rtlCol="0" anchor="ctr" anchorCtr="0">
            <a:noAutofit/>
          </a:bodyPr>
          <a:lstStyle/>
          <a:p>
            <a:r>
              <a:rPr kumimoji="1"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正偏差变量为</a:t>
            </a:r>
            <a:r>
              <a:rPr kumimoji="1"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3</a:t>
            </a:r>
            <a:r>
              <a:rPr kumimoji="1"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，负偏差变量为</a:t>
            </a:r>
            <a:r>
              <a:rPr kumimoji="1"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0</a:t>
            </a:r>
            <a:endParaRPr kumimoji="1"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文本框 12"/>
          <p:cNvSpPr txBox="1"/>
          <p:nvPr>
            <p:custDataLst>
              <p:tags r:id="rId3"/>
            </p:custDataLst>
          </p:nvPr>
        </p:nvSpPr>
        <p:spPr>
          <a:xfrm>
            <a:off x="2438400" y="3643313"/>
            <a:ext cx="8534400" cy="642938"/>
          </a:xfrm>
          <a:prstGeom prst="rect">
            <a:avLst/>
          </a:prstGeom>
          <a:noFill/>
        </p:spPr>
        <p:txBody>
          <a:bodyPr vert="horz" rtlCol="0" anchor="ctr" anchorCtr="0">
            <a:noAutofit/>
          </a:bodyPr>
          <a:lstStyle/>
          <a:p>
            <a:r>
              <a:rPr kumimoji="1"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正偏差变量为</a:t>
            </a:r>
            <a:r>
              <a:rPr kumimoji="1"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3</a:t>
            </a:r>
            <a:r>
              <a:rPr kumimoji="1"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，负偏差变量为</a:t>
            </a:r>
            <a:r>
              <a:rPr kumimoji="1"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-3</a:t>
            </a:r>
            <a:endParaRPr kumimoji="1"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文本框 13"/>
          <p:cNvSpPr txBox="1"/>
          <p:nvPr>
            <p:custDataLst>
              <p:tags r:id="rId4"/>
            </p:custDataLst>
          </p:nvPr>
        </p:nvSpPr>
        <p:spPr>
          <a:xfrm>
            <a:off x="2438400" y="4500563"/>
            <a:ext cx="8534400" cy="642938"/>
          </a:xfrm>
          <a:prstGeom prst="rect">
            <a:avLst/>
          </a:prstGeom>
          <a:noFill/>
        </p:spPr>
        <p:txBody>
          <a:bodyPr vert="horz" rtlCol="0" anchor="ctr" anchorCtr="0">
            <a:noAutofit/>
          </a:bodyPr>
          <a:lstStyle/>
          <a:p>
            <a:r>
              <a:rPr kumimoji="1"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正偏差变量为</a:t>
            </a:r>
            <a:r>
              <a:rPr kumimoji="1"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3</a:t>
            </a:r>
            <a:r>
              <a:rPr kumimoji="1"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，无负偏差变量</a:t>
            </a:r>
            <a:endParaRPr kumimoji="1"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文本框 14"/>
          <p:cNvSpPr txBox="1"/>
          <p:nvPr>
            <p:custDataLst>
              <p:tags r:id="rId5"/>
            </p:custDataLst>
          </p:nvPr>
        </p:nvSpPr>
        <p:spPr>
          <a:xfrm>
            <a:off x="2438400" y="5357813"/>
            <a:ext cx="8534400" cy="642938"/>
          </a:xfrm>
          <a:prstGeom prst="rect">
            <a:avLst/>
          </a:prstGeom>
          <a:noFill/>
        </p:spPr>
        <p:txBody>
          <a:bodyPr vert="horz" rtlCol="0" anchor="ctr" anchorCtr="0">
            <a:noAutofit/>
          </a:bodyPr>
          <a:lstStyle/>
          <a:p>
            <a:r>
              <a:rPr kumimoji="1"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以上说法都不正确</a:t>
            </a:r>
            <a:endParaRPr kumimoji="1"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 name="椭圆 16"/>
          <p:cNvSpPr>
            <a:spLocks noChangeAspect="1"/>
          </p:cNvSpPr>
          <p:nvPr>
            <p:custDataLst>
              <p:tags r:id="rId6"/>
            </p:custDataLst>
          </p:nvPr>
        </p:nvSpPr>
        <p:spPr>
          <a:xfrm>
            <a:off x="1571625" y="3707606"/>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kumimoji="1" lang="en-GB"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kumimoji="1"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 name="椭圆 17"/>
          <p:cNvSpPr>
            <a:spLocks noChangeAspect="1"/>
          </p:cNvSpPr>
          <p:nvPr>
            <p:custDataLst>
              <p:tags r:id="rId7"/>
            </p:custDataLst>
          </p:nvPr>
        </p:nvSpPr>
        <p:spPr>
          <a:xfrm>
            <a:off x="1571625" y="4564856"/>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kumimoji="1" lang="en-GB"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kumimoji="1"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9" name="椭圆 18"/>
          <p:cNvSpPr>
            <a:spLocks noChangeAspect="1"/>
          </p:cNvSpPr>
          <p:nvPr>
            <p:custDataLst>
              <p:tags r:id="rId8"/>
            </p:custDataLst>
          </p:nvPr>
        </p:nvSpPr>
        <p:spPr>
          <a:xfrm>
            <a:off x="1571625" y="5422106"/>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kumimoji="1" lang="en-GB"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kumimoji="1"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椭圆 1"/>
          <p:cNvSpPr>
            <a:spLocks noChangeAspect="1"/>
          </p:cNvSpPr>
          <p:nvPr>
            <p:custDataLst>
              <p:tags r:id="rId9"/>
            </p:custDataLst>
          </p:nvPr>
        </p:nvSpPr>
        <p:spPr>
          <a:xfrm>
            <a:off x="1583055" y="2893536"/>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p>
            <a:pPr algn="ctr"/>
            <a:r>
              <a:rPr kumimoji="1" lang="en-US" altLang="en-GB"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kumimoji="1" lang="en-US" altLang="en-GB"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ustDataLst>
      <p:tags r:id="rId10"/>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kumimoji="1"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假设实现值为</a:t>
            </a:r>
            <a:r>
              <a:rPr kumimoji="1"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2</a:t>
            </a:r>
            <a:r>
              <a:rPr kumimoji="1"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，目标值为</a:t>
            </a:r>
            <a:r>
              <a:rPr kumimoji="1"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5</a:t>
            </a:r>
            <a:r>
              <a:rPr kumimoji="1"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，则以下说法正确的选项是</a:t>
            </a:r>
            <a:endParaRPr kumimoji="1"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文本框 11"/>
          <p:cNvSpPr txBox="1"/>
          <p:nvPr>
            <p:custDataLst>
              <p:tags r:id="rId2"/>
            </p:custDataLst>
          </p:nvPr>
        </p:nvSpPr>
        <p:spPr>
          <a:xfrm>
            <a:off x="2438400" y="2786063"/>
            <a:ext cx="8534400" cy="642938"/>
          </a:xfrm>
          <a:prstGeom prst="rect">
            <a:avLst/>
          </a:prstGeom>
          <a:noFill/>
        </p:spPr>
        <p:txBody>
          <a:bodyPr vert="horz" rtlCol="0" anchor="ctr" anchorCtr="0">
            <a:noAutofit/>
          </a:bodyPr>
          <a:lstStyle/>
          <a:p>
            <a:r>
              <a:rPr kumimoji="1"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正偏差变量为</a:t>
            </a:r>
            <a:r>
              <a:rPr kumimoji="1"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0</a:t>
            </a:r>
            <a:r>
              <a:rPr kumimoji="1"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，负偏差变量为</a:t>
            </a:r>
            <a:r>
              <a:rPr kumimoji="1"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-3</a:t>
            </a:r>
            <a:endParaRPr kumimoji="1"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文本框 12"/>
          <p:cNvSpPr txBox="1"/>
          <p:nvPr>
            <p:custDataLst>
              <p:tags r:id="rId3"/>
            </p:custDataLst>
          </p:nvPr>
        </p:nvSpPr>
        <p:spPr>
          <a:xfrm>
            <a:off x="2438400" y="3643313"/>
            <a:ext cx="8534400" cy="642938"/>
          </a:xfrm>
          <a:prstGeom prst="rect">
            <a:avLst/>
          </a:prstGeom>
          <a:noFill/>
        </p:spPr>
        <p:txBody>
          <a:bodyPr vert="horz" rtlCol="0" anchor="ctr" anchorCtr="0">
            <a:noAutofit/>
          </a:bodyPr>
          <a:lstStyle/>
          <a:p>
            <a:r>
              <a:rPr kumimoji="1"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正偏差变量为</a:t>
            </a:r>
            <a:r>
              <a:rPr kumimoji="1"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3</a:t>
            </a:r>
            <a:r>
              <a:rPr kumimoji="1"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，负偏差变量为</a:t>
            </a:r>
            <a:r>
              <a:rPr kumimoji="1"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-3</a:t>
            </a:r>
            <a:endParaRPr kumimoji="1"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文本框 13"/>
          <p:cNvSpPr txBox="1"/>
          <p:nvPr>
            <p:custDataLst>
              <p:tags r:id="rId4"/>
            </p:custDataLst>
          </p:nvPr>
        </p:nvSpPr>
        <p:spPr>
          <a:xfrm>
            <a:off x="2438400" y="4500563"/>
            <a:ext cx="8534400" cy="642938"/>
          </a:xfrm>
          <a:prstGeom prst="rect">
            <a:avLst/>
          </a:prstGeom>
          <a:noFill/>
        </p:spPr>
        <p:txBody>
          <a:bodyPr vert="horz" rtlCol="0" anchor="ctr" anchorCtr="0">
            <a:noAutofit/>
          </a:bodyPr>
          <a:lstStyle/>
          <a:p>
            <a:r>
              <a:rPr kumimoji="1"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正偏差变量为</a:t>
            </a:r>
            <a:r>
              <a:rPr kumimoji="1"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0</a:t>
            </a:r>
            <a:r>
              <a:rPr kumimoji="1"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，负偏差变量为</a:t>
            </a:r>
            <a:r>
              <a:rPr kumimoji="1"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3</a:t>
            </a:r>
            <a:endParaRPr kumimoji="1"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文本框 14"/>
          <p:cNvSpPr txBox="1"/>
          <p:nvPr>
            <p:custDataLst>
              <p:tags r:id="rId5"/>
            </p:custDataLst>
          </p:nvPr>
        </p:nvSpPr>
        <p:spPr>
          <a:xfrm>
            <a:off x="2438400" y="5357813"/>
            <a:ext cx="8534400" cy="642938"/>
          </a:xfrm>
          <a:prstGeom prst="rect">
            <a:avLst/>
          </a:prstGeom>
          <a:noFill/>
        </p:spPr>
        <p:txBody>
          <a:bodyPr vert="horz" rtlCol="0" anchor="ctr" anchorCtr="0">
            <a:noAutofit/>
          </a:bodyPr>
          <a:lstStyle/>
          <a:p>
            <a:r>
              <a:rPr kumimoji="1"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以上说法都不正确</a:t>
            </a:r>
            <a:endParaRPr kumimoji="1"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椭圆 15"/>
          <p:cNvSpPr>
            <a:spLocks noChangeAspect="1"/>
          </p:cNvSpPr>
          <p:nvPr>
            <p:custDataLst>
              <p:tags r:id="rId6"/>
            </p:custDataLst>
          </p:nvPr>
        </p:nvSpPr>
        <p:spPr>
          <a:xfrm>
            <a:off x="1571625" y="2850356"/>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kumimoji="1" lang="en-GB"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kumimoji="1"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 name="椭圆 16"/>
          <p:cNvSpPr>
            <a:spLocks noChangeAspect="1"/>
          </p:cNvSpPr>
          <p:nvPr>
            <p:custDataLst>
              <p:tags r:id="rId7"/>
            </p:custDataLst>
          </p:nvPr>
        </p:nvSpPr>
        <p:spPr>
          <a:xfrm>
            <a:off x="1571625" y="3707606"/>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kumimoji="1" lang="en-GB"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kumimoji="1"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9" name="椭圆 18"/>
          <p:cNvSpPr>
            <a:spLocks noChangeAspect="1"/>
          </p:cNvSpPr>
          <p:nvPr>
            <p:custDataLst>
              <p:tags r:id="rId8"/>
            </p:custDataLst>
          </p:nvPr>
        </p:nvSpPr>
        <p:spPr>
          <a:xfrm>
            <a:off x="1571625" y="5422106"/>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kumimoji="1" lang="en-GB"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kumimoji="1"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椭圆 1"/>
          <p:cNvSpPr>
            <a:spLocks noChangeAspect="1"/>
          </p:cNvSpPr>
          <p:nvPr>
            <p:custDataLst>
              <p:tags r:id="rId9"/>
            </p:custDataLst>
          </p:nvPr>
        </p:nvSpPr>
        <p:spPr>
          <a:xfrm>
            <a:off x="1558290" y="4569301"/>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p>
            <a:pPr algn="ctr"/>
            <a:r>
              <a:rPr kumimoji="1" lang="en-US" altLang="en-GB"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kumimoji="1" lang="en-US" altLang="en-GB"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ustDataLst>
      <p:tags r:id="rId10"/>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kumimoji="1" lang="zh-CN" altLang="en-US" sz="2600" dirty="0">
                <a:solidFill>
                  <a:srgbClr val="000000"/>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假设实现值为</a:t>
            </a:r>
            <a:r>
              <a:rPr kumimoji="1" lang="en-US" altLang="zh-CN" sz="2600" dirty="0">
                <a:solidFill>
                  <a:srgbClr val="000000"/>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5</a:t>
            </a:r>
            <a:r>
              <a:rPr kumimoji="1" lang="zh-CN" altLang="en-US" sz="2600" dirty="0">
                <a:solidFill>
                  <a:srgbClr val="000000"/>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，目标值为</a:t>
            </a:r>
            <a:r>
              <a:rPr kumimoji="1" lang="en-US" altLang="zh-CN" sz="2600" dirty="0">
                <a:solidFill>
                  <a:srgbClr val="000000"/>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5</a:t>
            </a:r>
            <a:r>
              <a:rPr kumimoji="1" lang="zh-CN" altLang="en-US" sz="2600" dirty="0">
                <a:solidFill>
                  <a:srgbClr val="000000"/>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，则正偏差变量为</a:t>
            </a:r>
            <a:r>
              <a:rPr kumimoji="1" lang="zh-CN" altLang="en-US" sz="2600" dirty="0">
                <a:solidFill>
                  <a:srgbClr val="639EF4"/>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 </a:t>
            </a:r>
            <a:r>
              <a:rPr kumimoji="1" lang="en-US" altLang="zh-CN" sz="2600" dirty="0">
                <a:solidFill>
                  <a:srgbClr val="639EF4"/>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a:t>
            </a:r>
            <a:r>
              <a:rPr kumimoji="1" lang="zh-CN" altLang="en-US" sz="2600" dirty="0">
                <a:solidFill>
                  <a:srgbClr val="639EF4"/>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填空</a:t>
            </a:r>
            <a:r>
              <a:rPr kumimoji="1" lang="en-US" altLang="zh-CN" sz="2600" dirty="0">
                <a:solidFill>
                  <a:srgbClr val="639EF4"/>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1]</a:t>
            </a:r>
            <a:r>
              <a:rPr kumimoji="1" lang="zh-CN" altLang="en-US" sz="2600" dirty="0">
                <a:latin typeface="华文楷体" panose="02010600040101010101" charset="-122"/>
                <a:ea typeface="华文楷体" panose="02010600040101010101" charset="-122"/>
                <a:cs typeface="华文楷体" panose="02010600040101010101" charset="-122"/>
                <a:sym typeface="微软雅黑" panose="020B0503020204020204" pitchFamily="34" charset="-122"/>
              </a:rPr>
              <a:t>，负偏差变量为 </a:t>
            </a:r>
            <a:r>
              <a:rPr kumimoji="1" lang="en-US" altLang="zh-CN" sz="2600" dirty="0">
                <a:solidFill>
                  <a:srgbClr val="639EF4"/>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a:t>
            </a:r>
            <a:r>
              <a:rPr kumimoji="1" lang="zh-CN" altLang="en-US" sz="2600" dirty="0">
                <a:solidFill>
                  <a:srgbClr val="639EF4"/>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填空</a:t>
            </a:r>
            <a:r>
              <a:rPr kumimoji="1" lang="en-US" altLang="zh-CN" sz="2600" dirty="0">
                <a:solidFill>
                  <a:srgbClr val="639EF4"/>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2]</a:t>
            </a:r>
            <a:r>
              <a:rPr kumimoji="1" lang="en-US" altLang="zh-CN" sz="2600" dirty="0">
                <a:solidFill>
                  <a:srgbClr val="000000"/>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 </a:t>
            </a:r>
            <a:r>
              <a:rPr kumimoji="1" lang="en-US" altLang="zh-CN" sz="2600" dirty="0">
                <a:solidFill>
                  <a:srgbClr val="639EF4"/>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 </a:t>
            </a:r>
            <a:endParaRPr kumimoji="1" lang="zh-CN" altLang="en-US" sz="2600" dirty="0">
              <a:solidFill>
                <a:srgbClr val="639EF4"/>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endParaRPr>
          </a:p>
        </p:txBody>
      </p:sp>
    </p:spTree>
    <p:custDataLst>
      <p:tags r:id="rId2"/>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目标规划问题名词解释</a:t>
            </a:r>
            <a:r>
              <a:rPr lang="en-US" dirty="0"/>
              <a:t>-</a:t>
            </a:r>
            <a:r>
              <a:rPr lang="zh-CN" altLang="en-US" dirty="0"/>
              <a:t>偏差变量</a:t>
            </a:r>
            <a:endParaRPr kumimoji="1"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pPr marL="0" indent="0">
                  <a:buNone/>
                </a:pPr>
                <a:r>
                  <a:rPr lang="zh-CN" altLang="en-US" dirty="0"/>
                  <a:t>在一次决策中，实现值不可能既超过目标值又不达到目标值，因此</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𝑑</m:t>
                        </m:r>
                      </m:e>
                      <m:sup>
                        <m:r>
                          <a:rPr lang="en-US" altLang="zh-CN" i="1">
                            <a:latin typeface="Cambria Math" panose="02040503050406030204" pitchFamily="18" charset="0"/>
                          </a:rPr>
                          <m:t>+</m:t>
                        </m:r>
                      </m:sup>
                    </m:sSup>
                    <m:r>
                      <a:rPr lang="en-US" altLang="zh-CN" i="1" smtClean="0">
                        <a:latin typeface="Cambria Math" panose="02040503050406030204" pitchFamily="18" charset="0"/>
                        <a:ea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𝑑</m:t>
                        </m:r>
                      </m:e>
                      <m:sup>
                        <m:r>
                          <a:rPr lang="en-US" altLang="zh-CN" b="0" i="1" smtClean="0">
                            <a:latin typeface="Cambria Math" panose="02040503050406030204" pitchFamily="18" charset="0"/>
                            <a:ea typeface="Cambria Math" panose="02040503050406030204" pitchFamily="18" charset="0"/>
                          </a:rPr>
                          <m:t>−</m:t>
                        </m:r>
                      </m:sup>
                    </m:sSup>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0</m:t>
                    </m:r>
                    <m:r>
                      <a:rPr lang="zh-CN" altLang="en-US" i="1" dirty="0">
                        <a:latin typeface="Cambria Math" panose="02040503050406030204" pitchFamily="18" charset="0"/>
                      </a:rPr>
                      <m:t>。</m:t>
                    </m:r>
                  </m:oMath>
                </a14:m>
                <a:r>
                  <a:rPr lang="zh-CN" altLang="en-US" dirty="0"/>
                  <a:t>让我们来验证一下：</a:t>
                </a:r>
                <a:endParaRPr lang="en-US" altLang="zh-CN" dirty="0"/>
              </a:p>
              <a:p>
                <a:pPr lvl="1">
                  <a:lnSpc>
                    <a:spcPct val="110000"/>
                  </a:lnSpc>
                </a:pPr>
                <a:r>
                  <a:rPr lang="zh-CN" altLang="zh-CN" b="1" dirty="0">
                    <a:latin typeface="楷体" panose="02010609060101010101" pitchFamily="49" charset="-122"/>
                    <a:ea typeface="楷体" panose="02010609060101010101" pitchFamily="49" charset="-122"/>
                  </a:rPr>
                  <a:t>当完成或超额完成规定的指标则表示：d</a:t>
                </a:r>
                <a:r>
                  <a:rPr lang="zh-CN" altLang="zh-CN" b="1" baseline="30000" dirty="0">
                    <a:latin typeface="楷体" panose="02010609060101010101" pitchFamily="49" charset="-122"/>
                    <a:ea typeface="楷体" panose="02010609060101010101" pitchFamily="49" charset="-122"/>
                  </a:rPr>
                  <a:t>＋</a:t>
                </a:r>
                <a:r>
                  <a:rPr lang="zh-CN" altLang="zh-CN" b="1" dirty="0">
                    <a:latin typeface="楷体" panose="02010609060101010101" pitchFamily="49" charset="-122"/>
                    <a:ea typeface="楷体" panose="02010609060101010101" pitchFamily="49" charset="-122"/>
                  </a:rPr>
                  <a:t>≥0, d</a:t>
                </a:r>
                <a:r>
                  <a:rPr lang="zh-CN" altLang="zh-CN" b="1" baseline="30000" dirty="0">
                    <a:latin typeface="楷体" panose="02010609060101010101" pitchFamily="49" charset="-122"/>
                    <a:ea typeface="楷体" panose="02010609060101010101" pitchFamily="49" charset="-122"/>
                  </a:rPr>
                  <a:t>－</a:t>
                </a:r>
                <a:r>
                  <a:rPr lang="zh-CN" altLang="zh-CN" b="1" dirty="0">
                    <a:latin typeface="楷体" panose="02010609060101010101" pitchFamily="49" charset="-122"/>
                    <a:ea typeface="楷体" panose="02010609060101010101" pitchFamily="49" charset="-122"/>
                  </a:rPr>
                  <a:t>＝0</a:t>
                </a:r>
                <a:endParaRPr lang="zh-CN" altLang="zh-CN" b="1" dirty="0">
                  <a:latin typeface="楷体" panose="02010609060101010101" pitchFamily="49" charset="-122"/>
                  <a:ea typeface="楷体" panose="02010609060101010101" pitchFamily="49" charset="-122"/>
                </a:endParaRPr>
              </a:p>
              <a:p>
                <a:pPr lvl="1">
                  <a:lnSpc>
                    <a:spcPct val="110000"/>
                  </a:lnSpc>
                </a:pPr>
                <a:r>
                  <a:rPr lang="zh-CN" altLang="zh-CN" b="1" dirty="0">
                    <a:latin typeface="楷体" panose="02010609060101010101" pitchFamily="49" charset="-122"/>
                    <a:ea typeface="楷体" panose="02010609060101010101" pitchFamily="49" charset="-122"/>
                  </a:rPr>
                  <a:t>当未完成规定的指标则表示： d</a:t>
                </a:r>
                <a:r>
                  <a:rPr lang="zh-CN" altLang="zh-CN" b="1" baseline="30000" dirty="0">
                    <a:latin typeface="楷体" panose="02010609060101010101" pitchFamily="49" charset="-122"/>
                    <a:ea typeface="楷体" panose="02010609060101010101" pitchFamily="49" charset="-122"/>
                  </a:rPr>
                  <a:t>＋</a:t>
                </a:r>
                <a:r>
                  <a:rPr lang="zh-CN" altLang="zh-CN" b="1" dirty="0">
                    <a:latin typeface="楷体" panose="02010609060101010101" pitchFamily="49" charset="-122"/>
                    <a:ea typeface="楷体" panose="02010609060101010101" pitchFamily="49" charset="-122"/>
                  </a:rPr>
                  <a:t>＝0, d</a:t>
                </a:r>
                <a:r>
                  <a:rPr lang="zh-CN" altLang="zh-CN" b="1" baseline="30000" dirty="0">
                    <a:latin typeface="楷体" panose="02010609060101010101" pitchFamily="49" charset="-122"/>
                    <a:ea typeface="楷体" panose="02010609060101010101" pitchFamily="49" charset="-122"/>
                  </a:rPr>
                  <a:t>－</a:t>
                </a:r>
                <a:r>
                  <a:rPr lang="zh-CN" altLang="zh-CN" b="1" dirty="0">
                    <a:latin typeface="楷体" panose="02010609060101010101" pitchFamily="49" charset="-122"/>
                    <a:ea typeface="楷体" panose="02010609060101010101" pitchFamily="49" charset="-122"/>
                  </a:rPr>
                  <a:t>≥0</a:t>
                </a:r>
                <a:endParaRPr lang="zh-CN" altLang="zh-CN" b="1" dirty="0">
                  <a:latin typeface="楷体" panose="02010609060101010101" pitchFamily="49" charset="-122"/>
                  <a:ea typeface="楷体" panose="02010609060101010101" pitchFamily="49" charset="-122"/>
                </a:endParaRPr>
              </a:p>
              <a:p>
                <a:pPr lvl="1">
                  <a:lnSpc>
                    <a:spcPct val="110000"/>
                  </a:lnSpc>
                </a:pPr>
                <a:r>
                  <a:rPr lang="zh-CN" altLang="zh-CN" b="1" dirty="0">
                    <a:latin typeface="楷体" panose="02010609060101010101" pitchFamily="49" charset="-122"/>
                    <a:ea typeface="楷体" panose="02010609060101010101" pitchFamily="49" charset="-122"/>
                  </a:rPr>
                  <a:t>当恰好完成指标时则表示： d</a:t>
                </a:r>
                <a:r>
                  <a:rPr lang="zh-CN" altLang="zh-CN" b="1" baseline="30000" dirty="0">
                    <a:latin typeface="楷体" panose="02010609060101010101" pitchFamily="49" charset="-122"/>
                    <a:ea typeface="楷体" panose="02010609060101010101" pitchFamily="49" charset="-122"/>
                  </a:rPr>
                  <a:t>＋</a:t>
                </a:r>
                <a:r>
                  <a:rPr lang="zh-CN" altLang="zh-CN" b="1" dirty="0">
                    <a:latin typeface="楷体" panose="02010609060101010101" pitchFamily="49" charset="-122"/>
                    <a:ea typeface="楷体" panose="02010609060101010101" pitchFamily="49" charset="-122"/>
                  </a:rPr>
                  <a:t>＝0, d</a:t>
                </a:r>
                <a:r>
                  <a:rPr lang="zh-CN" altLang="zh-CN" b="1" baseline="30000" dirty="0">
                    <a:latin typeface="楷体" panose="02010609060101010101" pitchFamily="49" charset="-122"/>
                    <a:ea typeface="楷体" panose="02010609060101010101" pitchFamily="49" charset="-122"/>
                  </a:rPr>
                  <a:t>－</a:t>
                </a:r>
                <a:r>
                  <a:rPr lang="zh-CN" altLang="zh-CN" b="1" dirty="0">
                    <a:latin typeface="楷体" panose="02010609060101010101" pitchFamily="49" charset="-122"/>
                    <a:ea typeface="楷体" panose="02010609060101010101" pitchFamily="49" charset="-122"/>
                  </a:rPr>
                  <a:t>＝0</a:t>
                </a:r>
                <a:endParaRPr lang="zh-CN" altLang="zh-CN" b="1" dirty="0">
                  <a:latin typeface="楷体" panose="02010609060101010101" pitchFamily="49" charset="-122"/>
                  <a:ea typeface="楷体" panose="02010609060101010101" pitchFamily="49" charset="-122"/>
                </a:endParaRPr>
              </a:p>
              <a:p>
                <a:endParaRPr kumimoji="1"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目标规划问题名词解释</a:t>
            </a:r>
            <a:r>
              <a:rPr lang="en-US" dirty="0"/>
              <a:t>-</a:t>
            </a:r>
            <a:r>
              <a:rPr lang="zh-CN" altLang="en-US" dirty="0"/>
              <a:t>约束类型</a:t>
            </a:r>
            <a:endParaRPr lang="zh-CN" altLang="en-US" dirty="0"/>
          </a:p>
        </p:txBody>
      </p:sp>
      <p:sp>
        <p:nvSpPr>
          <p:cNvPr id="3" name="内容占位符 2"/>
          <p:cNvSpPr>
            <a:spLocks noGrp="1"/>
          </p:cNvSpPr>
          <p:nvPr>
            <p:ph idx="1"/>
          </p:nvPr>
        </p:nvSpPr>
        <p:spPr/>
        <p:txBody>
          <a:bodyPr/>
          <a:lstStyle/>
          <a:p>
            <a:r>
              <a:rPr lang="zh-CN" altLang="en-US" dirty="0"/>
              <a:t>目标约束 </a:t>
            </a:r>
            <a:r>
              <a:rPr lang="en-US" altLang="zh-CN" dirty="0"/>
              <a:t>vs. </a:t>
            </a:r>
            <a:r>
              <a:rPr lang="zh-CN" altLang="en-US" dirty="0"/>
              <a:t>绝对约束</a:t>
            </a:r>
            <a:endParaRPr lang="en-US" altLang="zh-CN" dirty="0"/>
          </a:p>
          <a:p>
            <a:pPr lvl="1"/>
            <a:r>
              <a:rPr lang="zh-CN" altLang="en-US" dirty="0"/>
              <a:t>目标约束即可对原目标函数起作用，也可对原约束起作用。目标约束是目标规划中特有的，是软约束。</a:t>
            </a:r>
            <a:endParaRPr lang="en-US" altLang="zh-CN" dirty="0"/>
          </a:p>
          <a:p>
            <a:pPr lvl="1"/>
            <a:r>
              <a:rPr lang="zh-CN" altLang="en-US" dirty="0"/>
              <a:t>绝对约束（系统约束）是指必须严格满足的等式或不等式约束。如线性规划中的所有约束条件都是绝对约束，否则无可行解。所以，绝对约束是硬约束。</a:t>
            </a:r>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思考题</a:t>
            </a:r>
            <a:endParaRPr kumimoji="1" lang="zh-CN" altLang="en-US" dirty="0"/>
          </a:p>
        </p:txBody>
      </p:sp>
      <p:sp>
        <p:nvSpPr>
          <p:cNvPr id="3" name="内容占位符 2"/>
          <p:cNvSpPr>
            <a:spLocks noGrp="1"/>
          </p:cNvSpPr>
          <p:nvPr>
            <p:ph idx="1"/>
          </p:nvPr>
        </p:nvSpPr>
        <p:spPr/>
        <p:txBody>
          <a:bodyPr/>
          <a:lstStyle/>
          <a:p>
            <a:r>
              <a:rPr kumimoji="1" lang="zh-CN" altLang="en-US" dirty="0"/>
              <a:t>目标规划中为什么需要引入偏差变量？</a:t>
            </a:r>
            <a:endParaRPr kumimoji="1" lang="en-US" altLang="zh-CN" dirty="0"/>
          </a:p>
          <a:p>
            <a:r>
              <a:rPr kumimoji="1" lang="zh-CN" altLang="en-US" dirty="0"/>
              <a:t>线性规划中为什么不需要引入偏差变量？</a:t>
            </a:r>
            <a:endParaRPr kumimoji="1"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目标规划问题名词解释</a:t>
            </a:r>
            <a:r>
              <a:rPr lang="en-US" dirty="0"/>
              <a:t>-</a:t>
            </a:r>
            <a:r>
              <a:rPr lang="zh-CN" altLang="en-US" dirty="0"/>
              <a:t>目标函数</a:t>
            </a:r>
            <a:endParaRPr lang="zh-CN" altLang="en-US" dirty="0"/>
          </a:p>
        </p:txBody>
      </p:sp>
      <p:sp>
        <p:nvSpPr>
          <p:cNvPr id="3" name="内容占位符 2"/>
          <p:cNvSpPr>
            <a:spLocks noGrp="1"/>
          </p:cNvSpPr>
          <p:nvPr>
            <p:ph idx="1"/>
          </p:nvPr>
        </p:nvSpPr>
        <p:spPr/>
        <p:txBody>
          <a:bodyPr/>
          <a:lstStyle/>
          <a:p>
            <a:pPr marL="0" indent="0" algn="just">
              <a:spcBef>
                <a:spcPct val="10000"/>
              </a:spcBef>
              <a:buNone/>
            </a:pPr>
            <a:r>
              <a:rPr lang="zh-CN" altLang="zh-CN" dirty="0">
                <a:latin typeface="楷体" panose="02010609060101010101" pitchFamily="49" charset="-122"/>
                <a:ea typeface="楷体" panose="02010609060101010101" pitchFamily="49" charset="-122"/>
              </a:rPr>
              <a:t>目标规划中的目标函数是一个使总偏差量为最小的函数，记为 minZ = </a:t>
            </a:r>
            <a:r>
              <a:rPr lang="zh-CN" altLang="zh-CN" i="1" dirty="0">
                <a:latin typeface="楷体" panose="02010609060101010101" pitchFamily="49" charset="-122"/>
                <a:ea typeface="楷体" panose="02010609060101010101" pitchFamily="49" charset="-122"/>
              </a:rPr>
              <a:t>f</a:t>
            </a:r>
            <a:r>
              <a:rPr lang="zh-CN" altLang="zh-CN" dirty="0">
                <a:latin typeface="楷体" panose="02010609060101010101" pitchFamily="49" charset="-122"/>
                <a:ea typeface="楷体" panose="02010609060101010101" pitchFamily="49" charset="-122"/>
              </a:rPr>
              <a:t>（</a:t>
            </a:r>
            <a:r>
              <a:rPr lang="zh-CN" altLang="zh-CN" i="1" dirty="0">
                <a:latin typeface="楷体" panose="02010609060101010101" pitchFamily="49" charset="-122"/>
                <a:ea typeface="楷体" panose="02010609060101010101" pitchFamily="49" charset="-122"/>
              </a:rPr>
              <a:t>d</a:t>
            </a:r>
            <a:r>
              <a:rPr lang="zh-CN" altLang="zh-CN" i="1" baseline="30000" dirty="0">
                <a:latin typeface="楷体" panose="02010609060101010101" pitchFamily="49" charset="-122"/>
                <a:ea typeface="楷体" panose="02010609060101010101" pitchFamily="49" charset="-122"/>
              </a:rPr>
              <a:t>＋</a:t>
            </a:r>
            <a:r>
              <a:rPr lang="zh-CN" altLang="zh-CN" i="1" dirty="0">
                <a:latin typeface="楷体" panose="02010609060101010101" pitchFamily="49" charset="-122"/>
                <a:ea typeface="楷体" panose="02010609060101010101" pitchFamily="49" charset="-122"/>
              </a:rPr>
              <a:t>、d</a:t>
            </a:r>
            <a:r>
              <a:rPr lang="zh-CN" altLang="zh-CN" i="1" baseline="30000" dirty="0">
                <a:latin typeface="楷体" panose="02010609060101010101" pitchFamily="49" charset="-122"/>
                <a:ea typeface="楷体" panose="02010609060101010101" pitchFamily="49" charset="-122"/>
              </a:rPr>
              <a:t>－</a:t>
            </a:r>
            <a:r>
              <a:rPr lang="zh-CN" altLang="zh-CN" dirty="0">
                <a:latin typeface="楷体" panose="02010609060101010101" pitchFamily="49" charset="-122"/>
                <a:ea typeface="楷体" panose="02010609060101010101" pitchFamily="49" charset="-122"/>
              </a:rPr>
              <a:t>）。    </a:t>
            </a:r>
            <a:endParaRPr lang="zh-CN" altLang="zh-CN" dirty="0">
              <a:latin typeface="楷体" panose="02010609060101010101" pitchFamily="49" charset="-122"/>
              <a:ea typeface="楷体" panose="02010609060101010101" pitchFamily="49" charset="-122"/>
            </a:endParaRPr>
          </a:p>
          <a:p>
            <a:pPr marL="0" indent="0" algn="just">
              <a:spcBef>
                <a:spcPct val="10000"/>
              </a:spcBef>
              <a:buNone/>
            </a:pPr>
            <a:r>
              <a:rPr lang="zh-CN" altLang="zh-CN" dirty="0">
                <a:latin typeface="楷体" panose="02010609060101010101" pitchFamily="49" charset="-122"/>
                <a:ea typeface="楷体" panose="02010609060101010101" pitchFamily="49" charset="-122"/>
              </a:rPr>
              <a:t>一般说来，有以下三种情况，但只能出现其中之一:</a:t>
            </a:r>
            <a:endParaRPr lang="zh-CN" altLang="zh-CN" dirty="0">
              <a:latin typeface="楷体" panose="02010609060101010101" pitchFamily="49" charset="-122"/>
              <a:ea typeface="楷体" panose="02010609060101010101" pitchFamily="49" charset="-122"/>
            </a:endParaRPr>
          </a:p>
          <a:p>
            <a:pPr marL="514350" indent="-514350" algn="just">
              <a:spcBef>
                <a:spcPct val="10000"/>
              </a:spcBef>
              <a:buFont typeface="+mj-lt"/>
              <a:buAutoNum type="arabicPeriod"/>
            </a:pPr>
            <a:r>
              <a:rPr lang="zh-CN" altLang="zh-CN" dirty="0">
                <a:solidFill>
                  <a:srgbClr val="FF0000"/>
                </a:solidFill>
                <a:latin typeface="楷体" panose="02010609060101010101" pitchFamily="49" charset="-122"/>
                <a:ea typeface="楷体" panose="02010609060101010101" pitchFamily="49" charset="-122"/>
              </a:rPr>
              <a:t>要求恰好达到规定的目标值</a:t>
            </a:r>
            <a:r>
              <a:rPr lang="zh-CN" altLang="en-US" dirty="0">
                <a:solidFill>
                  <a:srgbClr val="FF0000"/>
                </a:solidFill>
                <a:latin typeface="楷体" panose="02010609060101010101" pitchFamily="49" charset="-122"/>
                <a:ea typeface="楷体" panose="02010609060101010101" pitchFamily="49" charset="-122"/>
              </a:rPr>
              <a:t>（“别偏离太多”）</a:t>
            </a:r>
            <a:r>
              <a:rPr lang="zh-CN" altLang="zh-CN" dirty="0">
                <a:latin typeface="楷体" panose="02010609060101010101" pitchFamily="49" charset="-122"/>
                <a:ea typeface="楷体" panose="02010609060101010101" pitchFamily="49" charset="-122"/>
              </a:rPr>
              <a:t>，即正、负偏差变量要尽可能小，则</a:t>
            </a:r>
            <a:r>
              <a:rPr lang="zh-CN" altLang="zh-CN" dirty="0">
                <a:solidFill>
                  <a:srgbClr val="FF0000"/>
                </a:solidFill>
                <a:latin typeface="楷体" panose="02010609060101010101" pitchFamily="49" charset="-122"/>
                <a:ea typeface="楷体" panose="02010609060101010101" pitchFamily="49" charset="-122"/>
              </a:rPr>
              <a:t>minZ = </a:t>
            </a:r>
            <a:r>
              <a:rPr lang="zh-CN" altLang="zh-CN" i="1" dirty="0">
                <a:solidFill>
                  <a:srgbClr val="FF0000"/>
                </a:solidFill>
                <a:latin typeface="楷体" panose="02010609060101010101" pitchFamily="49" charset="-122"/>
                <a:ea typeface="楷体" panose="02010609060101010101" pitchFamily="49" charset="-122"/>
              </a:rPr>
              <a:t>f</a:t>
            </a:r>
            <a:r>
              <a:rPr lang="zh-CN" altLang="zh-CN" dirty="0">
                <a:solidFill>
                  <a:srgbClr val="FF0000"/>
                </a:solidFill>
                <a:latin typeface="楷体" panose="02010609060101010101" pitchFamily="49" charset="-122"/>
                <a:ea typeface="楷体" panose="02010609060101010101" pitchFamily="49" charset="-122"/>
              </a:rPr>
              <a:t>（</a:t>
            </a:r>
            <a:r>
              <a:rPr lang="zh-CN" altLang="zh-CN" i="1" dirty="0">
                <a:solidFill>
                  <a:srgbClr val="FF0000"/>
                </a:solidFill>
                <a:latin typeface="楷体" panose="02010609060101010101" pitchFamily="49" charset="-122"/>
                <a:ea typeface="楷体" panose="02010609060101010101" pitchFamily="49" charset="-122"/>
              </a:rPr>
              <a:t>d</a:t>
            </a:r>
            <a:r>
              <a:rPr lang="zh-CN" altLang="zh-CN" i="1" baseline="30000" dirty="0">
                <a:solidFill>
                  <a:srgbClr val="FF0000"/>
                </a:solidFill>
                <a:latin typeface="楷体" panose="02010609060101010101" pitchFamily="49" charset="-122"/>
                <a:ea typeface="楷体" panose="02010609060101010101" pitchFamily="49" charset="-122"/>
              </a:rPr>
              <a:t>＋</a:t>
            </a:r>
            <a:r>
              <a:rPr lang="zh-CN" altLang="zh-CN" dirty="0">
                <a:solidFill>
                  <a:srgbClr val="FF0000"/>
                </a:solidFill>
                <a:latin typeface="楷体" panose="02010609060101010101" pitchFamily="49" charset="-122"/>
                <a:ea typeface="楷体" panose="02010609060101010101" pitchFamily="49" charset="-122"/>
              </a:rPr>
              <a:t>＋</a:t>
            </a:r>
            <a:r>
              <a:rPr lang="zh-CN" altLang="zh-CN" i="1" dirty="0">
                <a:solidFill>
                  <a:srgbClr val="FF0000"/>
                </a:solidFill>
                <a:latin typeface="楷体" panose="02010609060101010101" pitchFamily="49" charset="-122"/>
                <a:ea typeface="楷体" panose="02010609060101010101" pitchFamily="49" charset="-122"/>
              </a:rPr>
              <a:t> d</a:t>
            </a:r>
            <a:r>
              <a:rPr lang="zh-CN" altLang="zh-CN" i="1" baseline="30000" dirty="0">
                <a:solidFill>
                  <a:srgbClr val="FF0000"/>
                </a:solidFill>
                <a:latin typeface="楷体" panose="02010609060101010101" pitchFamily="49" charset="-122"/>
                <a:ea typeface="楷体" panose="02010609060101010101" pitchFamily="49" charset="-122"/>
              </a:rPr>
              <a:t>－</a:t>
            </a:r>
            <a:r>
              <a:rPr lang="zh-CN" altLang="zh-CN" dirty="0">
                <a:solidFill>
                  <a:srgbClr val="FF0000"/>
                </a:solidFill>
                <a:latin typeface="楷体" panose="02010609060101010101" pitchFamily="49" charset="-122"/>
                <a:ea typeface="楷体" panose="02010609060101010101" pitchFamily="49" charset="-122"/>
              </a:rPr>
              <a:t>）</a:t>
            </a:r>
            <a:r>
              <a:rPr lang="zh-CN" altLang="zh-CN" dirty="0">
                <a:latin typeface="楷体" panose="02010609060101010101" pitchFamily="49" charset="-122"/>
                <a:ea typeface="楷体" panose="02010609060101010101" pitchFamily="49" charset="-122"/>
              </a:rPr>
              <a:t>。</a:t>
            </a:r>
            <a:endParaRPr lang="zh-CN" altLang="zh-CN" dirty="0">
              <a:latin typeface="楷体" panose="02010609060101010101" pitchFamily="49" charset="-122"/>
              <a:ea typeface="楷体" panose="02010609060101010101" pitchFamily="49" charset="-122"/>
            </a:endParaRPr>
          </a:p>
          <a:p>
            <a:pPr marL="514350" indent="-514350" algn="just">
              <a:spcBef>
                <a:spcPct val="10000"/>
              </a:spcBef>
              <a:buFont typeface="+mj-lt"/>
              <a:buAutoNum type="arabicPeriod"/>
            </a:pPr>
            <a:r>
              <a:rPr lang="zh-CN" altLang="zh-CN" dirty="0">
                <a:solidFill>
                  <a:srgbClr val="FF0000"/>
                </a:solidFill>
                <a:latin typeface="楷体" panose="02010609060101010101" pitchFamily="49" charset="-122"/>
                <a:ea typeface="楷体" panose="02010609060101010101" pitchFamily="49" charset="-122"/>
              </a:rPr>
              <a:t>要求不超过目标值</a:t>
            </a:r>
            <a:r>
              <a:rPr lang="zh-CN" altLang="en-US" dirty="0">
                <a:solidFill>
                  <a:srgbClr val="FF0000"/>
                </a:solidFill>
              </a:rPr>
              <a:t>（“别超太多”）</a:t>
            </a:r>
            <a:r>
              <a:rPr lang="zh-CN" altLang="zh-CN" dirty="0">
                <a:latin typeface="楷体" panose="02010609060101010101" pitchFamily="49" charset="-122"/>
                <a:ea typeface="楷体" panose="02010609060101010101" pitchFamily="49" charset="-122"/>
              </a:rPr>
              <a:t>，即允许达不到目标值，</a:t>
            </a:r>
            <a:r>
              <a:rPr lang="zh-CN" altLang="en-US" dirty="0"/>
              <a:t>但追求</a:t>
            </a:r>
            <a:r>
              <a:rPr lang="zh-CN" altLang="zh-CN" dirty="0">
                <a:latin typeface="楷体" panose="02010609060101010101" pitchFamily="49" charset="-122"/>
                <a:ea typeface="楷体" panose="02010609060101010101" pitchFamily="49" charset="-122"/>
              </a:rPr>
              <a:t>正偏差变量尽可能小，则</a:t>
            </a:r>
            <a:r>
              <a:rPr lang="zh-CN" altLang="zh-CN" dirty="0">
                <a:solidFill>
                  <a:srgbClr val="FF0000"/>
                </a:solidFill>
                <a:latin typeface="楷体" panose="02010609060101010101" pitchFamily="49" charset="-122"/>
                <a:ea typeface="楷体" panose="02010609060101010101" pitchFamily="49" charset="-122"/>
              </a:rPr>
              <a:t>minZ = </a:t>
            </a:r>
            <a:r>
              <a:rPr lang="zh-CN" altLang="zh-CN" i="1" dirty="0">
                <a:solidFill>
                  <a:srgbClr val="FF0000"/>
                </a:solidFill>
                <a:latin typeface="楷体" panose="02010609060101010101" pitchFamily="49" charset="-122"/>
                <a:ea typeface="楷体" panose="02010609060101010101" pitchFamily="49" charset="-122"/>
              </a:rPr>
              <a:t>f</a:t>
            </a:r>
            <a:r>
              <a:rPr lang="zh-CN" altLang="zh-CN" dirty="0">
                <a:solidFill>
                  <a:srgbClr val="FF0000"/>
                </a:solidFill>
                <a:latin typeface="楷体" panose="02010609060101010101" pitchFamily="49" charset="-122"/>
                <a:ea typeface="楷体" panose="02010609060101010101" pitchFamily="49" charset="-122"/>
              </a:rPr>
              <a:t>（</a:t>
            </a:r>
            <a:r>
              <a:rPr lang="zh-CN" altLang="zh-CN" i="1" dirty="0">
                <a:solidFill>
                  <a:srgbClr val="FF0000"/>
                </a:solidFill>
                <a:latin typeface="楷体" panose="02010609060101010101" pitchFamily="49" charset="-122"/>
                <a:ea typeface="楷体" panose="02010609060101010101" pitchFamily="49" charset="-122"/>
              </a:rPr>
              <a:t>d</a:t>
            </a:r>
            <a:r>
              <a:rPr lang="zh-CN" altLang="zh-CN" i="1" baseline="30000" dirty="0">
                <a:solidFill>
                  <a:srgbClr val="FF0000"/>
                </a:solidFill>
                <a:latin typeface="楷体" panose="02010609060101010101" pitchFamily="49" charset="-122"/>
                <a:ea typeface="楷体" panose="02010609060101010101" pitchFamily="49" charset="-122"/>
              </a:rPr>
              <a:t>＋</a:t>
            </a:r>
            <a:r>
              <a:rPr lang="zh-CN" altLang="zh-CN" dirty="0">
                <a:solidFill>
                  <a:srgbClr val="FF0000"/>
                </a:solidFill>
                <a:latin typeface="楷体" panose="02010609060101010101" pitchFamily="49" charset="-122"/>
                <a:ea typeface="楷体" panose="02010609060101010101" pitchFamily="49" charset="-122"/>
              </a:rPr>
              <a:t>）</a:t>
            </a:r>
            <a:r>
              <a:rPr lang="zh-CN" altLang="zh-CN" dirty="0">
                <a:latin typeface="楷体" panose="02010609060101010101" pitchFamily="49" charset="-122"/>
                <a:ea typeface="楷体" panose="02010609060101010101" pitchFamily="49" charset="-122"/>
              </a:rPr>
              <a:t>。</a:t>
            </a:r>
            <a:endParaRPr lang="zh-CN" altLang="zh-CN" dirty="0">
              <a:latin typeface="楷体" panose="02010609060101010101" pitchFamily="49" charset="-122"/>
              <a:ea typeface="楷体" panose="02010609060101010101" pitchFamily="49" charset="-122"/>
            </a:endParaRPr>
          </a:p>
          <a:p>
            <a:pPr marL="514350" indent="-514350" algn="just">
              <a:spcBef>
                <a:spcPct val="10000"/>
              </a:spcBef>
              <a:buFont typeface="+mj-lt"/>
              <a:buAutoNum type="arabicPeriod"/>
            </a:pPr>
            <a:r>
              <a:rPr lang="zh-CN" altLang="zh-CN" dirty="0">
                <a:solidFill>
                  <a:srgbClr val="FF0000"/>
                </a:solidFill>
                <a:latin typeface="楷体" panose="02010609060101010101" pitchFamily="49" charset="-122"/>
                <a:ea typeface="楷体" panose="02010609060101010101" pitchFamily="49" charset="-122"/>
              </a:rPr>
              <a:t>要求超过目标值，即超过量不限</a:t>
            </a:r>
            <a:r>
              <a:rPr lang="zh-CN" altLang="en-US" dirty="0">
                <a:solidFill>
                  <a:srgbClr val="FF0000"/>
                </a:solidFill>
                <a:latin typeface="楷体" panose="02010609060101010101" pitchFamily="49" charset="-122"/>
                <a:ea typeface="楷体" panose="02010609060101010101" pitchFamily="49" charset="-122"/>
              </a:rPr>
              <a:t>（“别缺太多”）</a:t>
            </a:r>
            <a:r>
              <a:rPr lang="zh-CN" altLang="zh-CN" dirty="0">
                <a:latin typeface="楷体" panose="02010609060101010101" pitchFamily="49" charset="-122"/>
                <a:ea typeface="楷体" panose="02010609060101010101" pitchFamily="49" charset="-122"/>
              </a:rPr>
              <a:t>，但不低于目标值，</a:t>
            </a:r>
            <a:r>
              <a:rPr lang="zh-CN" altLang="en-US" dirty="0"/>
              <a:t>但追求</a:t>
            </a:r>
            <a:r>
              <a:rPr lang="zh-CN" altLang="zh-CN" dirty="0">
                <a:latin typeface="楷体" panose="02010609060101010101" pitchFamily="49" charset="-122"/>
                <a:ea typeface="楷体" panose="02010609060101010101" pitchFamily="49" charset="-122"/>
              </a:rPr>
              <a:t>负偏差变量尽可能小，则</a:t>
            </a:r>
            <a:r>
              <a:rPr lang="zh-CN" altLang="zh-CN" dirty="0">
                <a:solidFill>
                  <a:srgbClr val="FF0000"/>
                </a:solidFill>
                <a:latin typeface="楷体" panose="02010609060101010101" pitchFamily="49" charset="-122"/>
                <a:ea typeface="楷体" panose="02010609060101010101" pitchFamily="49" charset="-122"/>
              </a:rPr>
              <a:t>minZ=</a:t>
            </a:r>
            <a:r>
              <a:rPr lang="zh-CN" altLang="zh-CN" i="1" dirty="0">
                <a:solidFill>
                  <a:srgbClr val="FF0000"/>
                </a:solidFill>
                <a:latin typeface="楷体" panose="02010609060101010101" pitchFamily="49" charset="-122"/>
                <a:ea typeface="楷体" panose="02010609060101010101" pitchFamily="49" charset="-122"/>
              </a:rPr>
              <a:t>f</a:t>
            </a:r>
            <a:r>
              <a:rPr lang="zh-CN" altLang="zh-CN" dirty="0">
                <a:solidFill>
                  <a:srgbClr val="FF0000"/>
                </a:solidFill>
                <a:latin typeface="楷体" panose="02010609060101010101" pitchFamily="49" charset="-122"/>
                <a:ea typeface="楷体" panose="02010609060101010101" pitchFamily="49" charset="-122"/>
              </a:rPr>
              <a:t>（</a:t>
            </a:r>
            <a:r>
              <a:rPr lang="zh-CN" altLang="zh-CN" i="1" dirty="0">
                <a:solidFill>
                  <a:srgbClr val="FF0000"/>
                </a:solidFill>
                <a:latin typeface="楷体" panose="02010609060101010101" pitchFamily="49" charset="-122"/>
                <a:ea typeface="楷体" panose="02010609060101010101" pitchFamily="49" charset="-122"/>
              </a:rPr>
              <a:t>d</a:t>
            </a:r>
            <a:r>
              <a:rPr lang="zh-CN" altLang="zh-CN" i="1" baseline="30000" dirty="0">
                <a:solidFill>
                  <a:srgbClr val="FF0000"/>
                </a:solidFill>
                <a:latin typeface="楷体" panose="02010609060101010101" pitchFamily="49" charset="-122"/>
                <a:ea typeface="楷体" panose="02010609060101010101" pitchFamily="49" charset="-122"/>
              </a:rPr>
              <a:t>－</a:t>
            </a:r>
            <a:r>
              <a:rPr lang="zh-CN" altLang="zh-CN" dirty="0">
                <a:solidFill>
                  <a:srgbClr val="FF0000"/>
                </a:solidFill>
                <a:latin typeface="楷体" panose="02010609060101010101" pitchFamily="49" charset="-122"/>
                <a:ea typeface="楷体" panose="02010609060101010101" pitchFamily="49" charset="-122"/>
              </a:rPr>
              <a:t>）</a:t>
            </a:r>
            <a:endParaRPr lang="zh-CN" altLang="en-US" dirty="0">
              <a:solidFill>
                <a:srgbClr val="FF0000"/>
              </a:solidFill>
              <a:latin typeface="楷体" panose="02010609060101010101" pitchFamily="49" charset="-122"/>
              <a:ea typeface="楷体" panose="02010609060101010101" pitchFamily="49"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custDataLst>
              <p:tags r:id="rId1"/>
            </p:custDataLst>
          </p:nvPr>
        </p:nvSpPr>
        <p:spPr>
          <a:xfrm>
            <a:off x="1219200" y="635000"/>
            <a:ext cx="9753600" cy="3977640"/>
          </a:xfrm>
          <a:prstGeom prst="rect">
            <a:avLst/>
          </a:prstGeom>
          <a:noFill/>
        </p:spPr>
        <p:txBody>
          <a:bodyPr vert="horz" wrap="square" rtlCol="0" anchor="ctr" anchorCtr="0">
            <a:noAutofit/>
          </a:bodyPr>
          <a:lstStyle/>
          <a:p>
            <a:r>
              <a:rPr lang="zh-CN" altLang="en-US" sz="2600" dirty="0">
                <a:solidFill>
                  <a:srgbClr val="000000"/>
                </a:solidFill>
                <a:latin typeface="华文楷体" panose="02010600040101010101" charset="-122"/>
                <a:ea typeface="华文楷体" panose="02010600040101010101" charset="-122"/>
                <a:sym typeface="微软雅黑" panose="020B0503020204020204" pitchFamily="34" charset="-122"/>
              </a:rPr>
              <a:t>在建立目标规划模型时，如果采用以下表达式作为目标函数，请问其逻辑是否正确？为什么？</a:t>
            </a:r>
            <a:endParaRPr lang="zh-CN" altLang="en-US" sz="2600" dirty="0">
              <a:solidFill>
                <a:srgbClr val="000000"/>
              </a:solidFill>
              <a:latin typeface="华文楷体" panose="02010600040101010101" charset="-122"/>
              <a:ea typeface="华文楷体" panose="02010600040101010101" charset="-122"/>
              <a:sym typeface="微软雅黑" panose="020B0503020204020204" pitchFamily="34" charset="-122"/>
            </a:endParaRPr>
          </a:p>
          <a:p>
            <a:r>
              <a:rPr lang="en-US" altLang="zh-CN" sz="2600" dirty="0">
                <a:solidFill>
                  <a:srgbClr val="000000"/>
                </a:solidFill>
                <a:latin typeface="华文楷体" panose="02010600040101010101" charset="-122"/>
                <a:ea typeface="华文楷体" panose="02010600040101010101" charset="-122"/>
                <a:sym typeface="微软雅黑" panose="020B0503020204020204" pitchFamily="34" charset="-122"/>
              </a:rPr>
              <a:t>(A) max(d</a:t>
            </a:r>
            <a:r>
              <a:rPr lang="en-US" altLang="zh-CN" sz="2600" baseline="30000" dirty="0">
                <a:solidFill>
                  <a:srgbClr val="000000"/>
                </a:solidFill>
                <a:latin typeface="宋体" panose="02010600030101010101" pitchFamily="2" charset="-122"/>
                <a:ea typeface="宋体" panose="02010600030101010101" pitchFamily="2" charset="-122"/>
                <a:sym typeface="微软雅黑" panose="020B0503020204020204" pitchFamily="34" charset="-122"/>
              </a:rPr>
              <a:t>－</a:t>
            </a:r>
            <a:r>
              <a:rPr lang="en-US" altLang="zh-CN" sz="2600" dirty="0">
                <a:solidFill>
                  <a:srgbClr val="000000"/>
                </a:solidFill>
                <a:latin typeface="宋体" panose="02010600030101010101" pitchFamily="2" charset="-122"/>
                <a:ea typeface="宋体" panose="02010600030101010101" pitchFamily="2" charset="-122"/>
                <a:sym typeface="微软雅黑" panose="020B0503020204020204" pitchFamily="34" charset="-122"/>
              </a:rPr>
              <a:t>+</a:t>
            </a:r>
            <a:r>
              <a:rPr lang="en-US" altLang="zh-CN" sz="2600" dirty="0">
                <a:solidFill>
                  <a:srgbClr val="000000"/>
                </a:solidFill>
                <a:latin typeface="华文楷体" panose="02010600040101010101" charset="-122"/>
                <a:ea typeface="华文楷体" panose="02010600040101010101" charset="-122"/>
                <a:sym typeface="微软雅黑" panose="020B0503020204020204" pitchFamily="34" charset="-122"/>
              </a:rPr>
              <a:t>d</a:t>
            </a:r>
            <a:r>
              <a:rPr lang="en-US" altLang="zh-CN" sz="2600" baseline="30000" dirty="0">
                <a:solidFill>
                  <a:srgbClr val="000000"/>
                </a:solidFill>
                <a:latin typeface="宋体" panose="02010600030101010101" pitchFamily="2" charset="-122"/>
                <a:ea typeface="宋体" panose="02010600030101010101" pitchFamily="2" charset="-122"/>
                <a:sym typeface="微软雅黑" panose="020B0503020204020204" pitchFamily="34" charset="-122"/>
              </a:rPr>
              <a:t>＋</a:t>
            </a:r>
            <a:r>
              <a:rPr lang="en-US" altLang="zh-CN" sz="2600" dirty="0">
                <a:solidFill>
                  <a:srgbClr val="000000"/>
                </a:solidFill>
                <a:latin typeface="华文楷体" panose="02010600040101010101" charset="-122"/>
                <a:ea typeface="华文楷体" panose="02010600040101010101" charset="-122"/>
                <a:sym typeface="微软雅黑" panose="020B0503020204020204" pitchFamily="34" charset="-122"/>
              </a:rPr>
              <a:t>)</a:t>
            </a:r>
            <a:endParaRPr lang="en-US" altLang="zh-CN" sz="2600" dirty="0">
              <a:solidFill>
                <a:srgbClr val="000000"/>
              </a:solidFill>
              <a:latin typeface="华文楷体" panose="02010600040101010101" charset="-122"/>
              <a:ea typeface="华文楷体" panose="02010600040101010101" charset="-122"/>
              <a:sym typeface="微软雅黑" panose="020B0503020204020204" pitchFamily="34" charset="-122"/>
            </a:endParaRPr>
          </a:p>
          <a:p>
            <a:r>
              <a:rPr lang="en-US" altLang="zh-CN" sz="2600" dirty="0">
                <a:solidFill>
                  <a:srgbClr val="000000"/>
                </a:solidFill>
                <a:latin typeface="仿宋" panose="02010609060101010101" charset="-122"/>
                <a:ea typeface="仿宋" panose="02010609060101010101" charset="-122"/>
                <a:sym typeface="微软雅黑" panose="020B0503020204020204" pitchFamily="34" charset="-122"/>
              </a:rPr>
              <a:t>(B)</a:t>
            </a:r>
            <a:r>
              <a:rPr lang="en-US" altLang="zh-CN" sz="2600" dirty="0">
                <a:solidFill>
                  <a:srgbClr val="000000"/>
                </a:solidFill>
                <a:latin typeface="华文楷体" panose="02010600040101010101" charset="-122"/>
                <a:ea typeface="华文楷体" panose="02010600040101010101" charset="-122"/>
                <a:sym typeface="微软雅黑" panose="020B0503020204020204" pitchFamily="34" charset="-122"/>
              </a:rPr>
              <a:t>max(d</a:t>
            </a:r>
            <a:r>
              <a:rPr lang="en-US" altLang="zh-CN" sz="2600" baseline="30000" dirty="0">
                <a:solidFill>
                  <a:srgbClr val="000000"/>
                </a:solidFill>
                <a:latin typeface="宋体" panose="02010600030101010101" pitchFamily="2" charset="-122"/>
                <a:ea typeface="宋体" panose="02010600030101010101" pitchFamily="2" charset="-122"/>
                <a:sym typeface="微软雅黑" panose="020B0503020204020204" pitchFamily="34" charset="-122"/>
              </a:rPr>
              <a:t>－</a:t>
            </a:r>
            <a:r>
              <a:rPr lang="en-US" altLang="zh-CN" sz="2600" dirty="0">
                <a:solidFill>
                  <a:srgbClr val="000000"/>
                </a:solidFill>
                <a:latin typeface="宋体" panose="02010600030101010101" pitchFamily="2" charset="-122"/>
                <a:ea typeface="宋体" panose="02010600030101010101" pitchFamily="2" charset="-122"/>
                <a:sym typeface="微软雅黑" panose="020B0503020204020204" pitchFamily="34" charset="-122"/>
              </a:rPr>
              <a:t>-</a:t>
            </a:r>
            <a:r>
              <a:rPr lang="en-US" altLang="zh-CN" sz="2600" dirty="0">
                <a:solidFill>
                  <a:srgbClr val="000000"/>
                </a:solidFill>
                <a:latin typeface="华文楷体" panose="02010600040101010101" charset="-122"/>
                <a:ea typeface="华文楷体" panose="02010600040101010101" charset="-122"/>
                <a:sym typeface="微软雅黑" panose="020B0503020204020204" pitchFamily="34" charset="-122"/>
              </a:rPr>
              <a:t>d</a:t>
            </a:r>
            <a:r>
              <a:rPr lang="en-US" altLang="zh-CN" sz="2600" baseline="30000" dirty="0">
                <a:solidFill>
                  <a:srgbClr val="000000"/>
                </a:solidFill>
                <a:latin typeface="宋体" panose="02010600030101010101" pitchFamily="2" charset="-122"/>
                <a:ea typeface="宋体" panose="02010600030101010101" pitchFamily="2" charset="-122"/>
                <a:sym typeface="微软雅黑" panose="020B0503020204020204" pitchFamily="34" charset="-122"/>
              </a:rPr>
              <a:t>＋</a:t>
            </a:r>
            <a:r>
              <a:rPr lang="en-US" altLang="zh-CN" sz="2600" dirty="0">
                <a:solidFill>
                  <a:srgbClr val="000000"/>
                </a:solidFill>
                <a:latin typeface="华文楷体" panose="02010600040101010101" charset="-122"/>
                <a:ea typeface="华文楷体" panose="02010600040101010101" charset="-122"/>
                <a:sym typeface="微软雅黑" panose="020B0503020204020204" pitchFamily="34" charset="-122"/>
              </a:rPr>
              <a:t>)</a:t>
            </a:r>
            <a:endParaRPr lang="en-US" altLang="zh-CN" sz="2600" dirty="0">
              <a:solidFill>
                <a:srgbClr val="000000"/>
              </a:solidFill>
              <a:latin typeface="仿宋" panose="02010609060101010101" charset="-122"/>
              <a:ea typeface="仿宋" panose="02010609060101010101" charset="-122"/>
              <a:sym typeface="微软雅黑" panose="020B0503020204020204" pitchFamily="34" charset="-122"/>
            </a:endParaRPr>
          </a:p>
          <a:p>
            <a:r>
              <a:rPr lang="en-US" altLang="zh-CN" sz="2600" dirty="0">
                <a:solidFill>
                  <a:srgbClr val="000000"/>
                </a:solidFill>
                <a:latin typeface="仿宋" panose="02010609060101010101" charset="-122"/>
                <a:ea typeface="仿宋" panose="02010609060101010101" charset="-122"/>
                <a:sym typeface="微软雅黑" panose="020B0503020204020204" pitchFamily="34" charset="-122"/>
              </a:rPr>
              <a:t>(C)</a:t>
            </a:r>
            <a:r>
              <a:rPr lang="en-US" altLang="zh-CN" sz="2600" dirty="0">
                <a:solidFill>
                  <a:srgbClr val="000000"/>
                </a:solidFill>
                <a:latin typeface="华文楷体" panose="02010600040101010101" charset="-122"/>
                <a:ea typeface="华文楷体" panose="02010600040101010101" charset="-122"/>
                <a:sym typeface="微软雅黑" panose="020B0503020204020204" pitchFamily="34" charset="-122"/>
              </a:rPr>
              <a:t>mi</a:t>
            </a:r>
            <a:r>
              <a:rPr lang="en-US" altLang="zh-CN" sz="2600" dirty="0">
                <a:solidFill>
                  <a:srgbClr val="000000"/>
                </a:solidFill>
                <a:latin typeface="华文楷体" panose="02010600040101010101" charset="-122"/>
                <a:ea typeface="华文楷体" panose="02010600040101010101" charset="-122"/>
                <a:sym typeface="微软雅黑" panose="020B0503020204020204" pitchFamily="34" charset="-122"/>
              </a:rPr>
              <a:t>n(d</a:t>
            </a:r>
            <a:r>
              <a:rPr lang="en-US" altLang="zh-CN" sz="2600" baseline="30000" dirty="0">
                <a:solidFill>
                  <a:srgbClr val="000000"/>
                </a:solidFill>
                <a:latin typeface="宋体" panose="02010600030101010101" pitchFamily="2" charset="-122"/>
                <a:ea typeface="宋体" panose="02010600030101010101" pitchFamily="2" charset="-122"/>
                <a:sym typeface="微软雅黑" panose="020B0503020204020204" pitchFamily="34" charset="-122"/>
              </a:rPr>
              <a:t>－</a:t>
            </a:r>
            <a:r>
              <a:rPr lang="en-US" altLang="zh-CN" sz="2600" dirty="0">
                <a:solidFill>
                  <a:srgbClr val="000000"/>
                </a:solidFill>
                <a:latin typeface="宋体" panose="02010600030101010101" pitchFamily="2" charset="-122"/>
                <a:ea typeface="宋体" panose="02010600030101010101" pitchFamily="2" charset="-122"/>
                <a:sym typeface="微软雅黑" panose="020B0503020204020204" pitchFamily="34" charset="-122"/>
              </a:rPr>
              <a:t>+</a:t>
            </a:r>
            <a:r>
              <a:rPr lang="en-US" altLang="zh-CN" sz="2600" dirty="0">
                <a:solidFill>
                  <a:srgbClr val="000000"/>
                </a:solidFill>
                <a:latin typeface="华文楷体" panose="02010600040101010101" charset="-122"/>
                <a:ea typeface="华文楷体" panose="02010600040101010101" charset="-122"/>
                <a:sym typeface="微软雅黑" panose="020B0503020204020204" pitchFamily="34" charset="-122"/>
              </a:rPr>
              <a:t>d</a:t>
            </a:r>
            <a:r>
              <a:rPr lang="en-US" altLang="zh-CN" sz="2600" baseline="30000" dirty="0">
                <a:solidFill>
                  <a:srgbClr val="000000"/>
                </a:solidFill>
                <a:latin typeface="宋体" panose="02010600030101010101" pitchFamily="2" charset="-122"/>
                <a:ea typeface="宋体" panose="02010600030101010101" pitchFamily="2" charset="-122"/>
                <a:sym typeface="微软雅黑" panose="020B0503020204020204" pitchFamily="34" charset="-122"/>
              </a:rPr>
              <a:t>＋</a:t>
            </a:r>
            <a:r>
              <a:rPr lang="en-US" altLang="zh-CN" sz="2600" dirty="0">
                <a:solidFill>
                  <a:srgbClr val="000000"/>
                </a:solidFill>
                <a:latin typeface="华文楷体" panose="02010600040101010101" charset="-122"/>
                <a:ea typeface="华文楷体" panose="02010600040101010101" charset="-122"/>
                <a:sym typeface="微软雅黑" panose="020B0503020204020204" pitchFamily="34" charset="-122"/>
              </a:rPr>
              <a:t>)</a:t>
            </a:r>
            <a:endParaRPr lang="en-US" altLang="zh-CN" sz="2600" dirty="0">
              <a:solidFill>
                <a:srgbClr val="000000"/>
              </a:solidFill>
              <a:latin typeface="仿宋" panose="02010609060101010101" charset="-122"/>
              <a:ea typeface="仿宋" panose="02010609060101010101" charset="-122"/>
              <a:sym typeface="微软雅黑" panose="020B0503020204020204" pitchFamily="34" charset="-122"/>
            </a:endParaRPr>
          </a:p>
          <a:p>
            <a:r>
              <a:rPr lang="en-US" altLang="zh-CN" sz="2600" dirty="0">
                <a:solidFill>
                  <a:srgbClr val="000000"/>
                </a:solidFill>
                <a:latin typeface="仿宋" panose="02010609060101010101" charset="-122"/>
                <a:ea typeface="仿宋" panose="02010609060101010101" charset="-122"/>
                <a:sym typeface="微软雅黑" panose="020B0503020204020204" pitchFamily="34" charset="-122"/>
              </a:rPr>
              <a:t>(D)</a:t>
            </a:r>
            <a:r>
              <a:rPr lang="en-US" altLang="zh-CN" sz="2600" dirty="0">
                <a:solidFill>
                  <a:srgbClr val="000000"/>
                </a:solidFill>
                <a:latin typeface="华文楷体" panose="02010600040101010101" charset="-122"/>
                <a:ea typeface="华文楷体" panose="02010600040101010101" charset="-122"/>
                <a:sym typeface="微软雅黑" panose="020B0503020204020204" pitchFamily="34" charset="-122"/>
              </a:rPr>
              <a:t>m</a:t>
            </a:r>
            <a:r>
              <a:rPr lang="en-US" altLang="zh-CN" sz="2600" dirty="0">
                <a:solidFill>
                  <a:srgbClr val="000000"/>
                </a:solidFill>
                <a:latin typeface="华文楷体" panose="02010600040101010101" charset="-122"/>
                <a:ea typeface="华文楷体" panose="02010600040101010101" charset="-122"/>
                <a:sym typeface="微软雅黑" panose="020B0503020204020204" pitchFamily="34" charset="-122"/>
              </a:rPr>
              <a:t>in(d</a:t>
            </a:r>
            <a:r>
              <a:rPr lang="en-US" altLang="zh-CN" sz="2600" baseline="30000" dirty="0">
                <a:solidFill>
                  <a:srgbClr val="000000"/>
                </a:solidFill>
                <a:latin typeface="宋体" panose="02010600030101010101" pitchFamily="2" charset="-122"/>
                <a:ea typeface="宋体" panose="02010600030101010101" pitchFamily="2" charset="-122"/>
                <a:sym typeface="微软雅黑" panose="020B0503020204020204" pitchFamily="34" charset="-122"/>
              </a:rPr>
              <a:t>－</a:t>
            </a:r>
            <a:r>
              <a:rPr lang="en-US" altLang="zh-CN" sz="2600" dirty="0">
                <a:solidFill>
                  <a:srgbClr val="000000"/>
                </a:solidFill>
                <a:latin typeface="宋体" panose="02010600030101010101" pitchFamily="2" charset="-122"/>
                <a:ea typeface="宋体" panose="02010600030101010101" pitchFamily="2" charset="-122"/>
                <a:sym typeface="微软雅黑" panose="020B0503020204020204" pitchFamily="34" charset="-122"/>
              </a:rPr>
              <a:t>-</a:t>
            </a:r>
            <a:r>
              <a:rPr lang="en-US" altLang="zh-CN" sz="2600" dirty="0">
                <a:solidFill>
                  <a:srgbClr val="000000"/>
                </a:solidFill>
                <a:latin typeface="华文楷体" panose="02010600040101010101" charset="-122"/>
                <a:ea typeface="华文楷体" panose="02010600040101010101" charset="-122"/>
                <a:sym typeface="微软雅黑" panose="020B0503020204020204" pitchFamily="34" charset="-122"/>
              </a:rPr>
              <a:t>d</a:t>
            </a:r>
            <a:r>
              <a:rPr lang="en-US" altLang="zh-CN" sz="2600" baseline="30000" dirty="0">
                <a:solidFill>
                  <a:srgbClr val="000000"/>
                </a:solidFill>
                <a:latin typeface="宋体" panose="02010600030101010101" pitchFamily="2" charset="-122"/>
                <a:ea typeface="宋体" panose="02010600030101010101" pitchFamily="2" charset="-122"/>
                <a:sym typeface="微软雅黑" panose="020B0503020204020204" pitchFamily="34" charset="-122"/>
              </a:rPr>
              <a:t>＋</a:t>
            </a:r>
            <a:r>
              <a:rPr lang="en-US" altLang="zh-CN" sz="2600" dirty="0">
                <a:solidFill>
                  <a:srgbClr val="000000"/>
                </a:solidFill>
                <a:latin typeface="华文楷体" panose="02010600040101010101" charset="-122"/>
                <a:ea typeface="华文楷体" panose="02010600040101010101" charset="-122"/>
                <a:sym typeface="微软雅黑" panose="020B0503020204020204" pitchFamily="34" charset="-122"/>
              </a:rPr>
              <a:t>)</a:t>
            </a:r>
            <a:endParaRPr lang="en-US" altLang="zh-CN" sz="2600" dirty="0">
              <a:solidFill>
                <a:srgbClr val="000000"/>
              </a:solidFill>
              <a:latin typeface="仿宋" panose="02010609060101010101" charset="-122"/>
              <a:ea typeface="仿宋" panose="02010609060101010101" charset="-122"/>
              <a:sym typeface="微软雅黑" panose="020B0503020204020204" pitchFamily="34" charset="-122"/>
            </a:endParaRPr>
          </a:p>
        </p:txBody>
      </p:sp>
    </p:spTree>
    <p:custDataLst>
      <p:tags r:id="rId2"/>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思考问题</a:t>
            </a:r>
            <a:endParaRPr kumimoji="1" lang="zh-CN" altLang="en-US" dirty="0"/>
          </a:p>
        </p:txBody>
      </p:sp>
      <p:sp>
        <p:nvSpPr>
          <p:cNvPr id="3" name="内容占位符 2"/>
          <p:cNvSpPr>
            <a:spLocks noGrp="1"/>
          </p:cNvSpPr>
          <p:nvPr>
            <p:ph idx="1"/>
          </p:nvPr>
        </p:nvSpPr>
        <p:spPr/>
        <p:txBody>
          <a:bodyPr/>
          <a:lstStyle/>
          <a:p>
            <a:r>
              <a:rPr kumimoji="1" lang="zh-CN" altLang="en-US" dirty="0"/>
              <a:t>假设不同的目标之间存在不同的重要程度，如何体现不同目标间的优先级？</a:t>
            </a:r>
            <a:endParaRPr kumimoji="1"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目标规划问题名词解释</a:t>
            </a:r>
            <a:r>
              <a:rPr lang="en-US" dirty="0"/>
              <a:t>-</a:t>
            </a:r>
            <a:r>
              <a:rPr lang="zh-CN" altLang="en-US" dirty="0"/>
              <a:t>优先因子与优先权数</a:t>
            </a:r>
            <a:endParaRPr lang="zh-CN" altLang="en-US" dirty="0"/>
          </a:p>
        </p:txBody>
      </p:sp>
      <p:sp>
        <p:nvSpPr>
          <p:cNvPr id="3" name="内容占位符 2"/>
          <p:cNvSpPr>
            <a:spLocks noGrp="1"/>
          </p:cNvSpPr>
          <p:nvPr>
            <p:ph idx="1"/>
          </p:nvPr>
        </p:nvSpPr>
        <p:spPr/>
        <p:txBody>
          <a:bodyPr/>
          <a:lstStyle/>
          <a:p>
            <a:r>
              <a:rPr lang="zh-CN" altLang="zh-CN" dirty="0">
                <a:latin typeface="楷体" panose="02010609060101010101" pitchFamily="49" charset="-122"/>
                <a:ea typeface="楷体" panose="02010609060101010101" pitchFamily="49" charset="-122"/>
              </a:rPr>
              <a:t>优先因子P</a:t>
            </a:r>
            <a:r>
              <a:rPr lang="zh-CN" altLang="zh-CN" baseline="-30000" dirty="0">
                <a:latin typeface="楷体" panose="02010609060101010101" pitchFamily="49" charset="-122"/>
                <a:ea typeface="楷体" panose="02010609060101010101" pitchFamily="49" charset="-122"/>
              </a:rPr>
              <a:t>k  </a:t>
            </a:r>
            <a:r>
              <a:rPr lang="zh-CN" altLang="zh-CN" dirty="0">
                <a:latin typeface="楷体" panose="02010609060101010101" pitchFamily="49" charset="-122"/>
                <a:ea typeface="楷体" panose="02010609060101010101" pitchFamily="49" charset="-122"/>
              </a:rPr>
              <a:t>是将决策目标按其重要程度排序并表示出来。</a:t>
            </a:r>
            <a:endParaRPr lang="en-US" altLang="zh-CN" dirty="0">
              <a:latin typeface="楷体" panose="02010609060101010101" pitchFamily="49" charset="-122"/>
              <a:ea typeface="楷体" panose="02010609060101010101" pitchFamily="49" charset="-122"/>
            </a:endParaRPr>
          </a:p>
          <a:p>
            <a:r>
              <a:rPr lang="zh-CN" altLang="zh-CN" dirty="0">
                <a:latin typeface="楷体" panose="02010609060101010101" pitchFamily="49" charset="-122"/>
                <a:ea typeface="楷体" panose="02010609060101010101" pitchFamily="49" charset="-122"/>
              </a:rPr>
              <a:t>权系数ω</a:t>
            </a:r>
            <a:r>
              <a:rPr lang="zh-CN" altLang="zh-CN" baseline="-30000" dirty="0">
                <a:latin typeface="楷体" panose="02010609060101010101" pitchFamily="49" charset="-122"/>
                <a:ea typeface="楷体" panose="02010609060101010101" pitchFamily="49" charset="-122"/>
              </a:rPr>
              <a:t>k</a:t>
            </a:r>
            <a:r>
              <a:rPr lang="zh-CN" altLang="zh-CN" dirty="0">
                <a:latin typeface="楷体" panose="02010609060101010101" pitchFamily="49" charset="-122"/>
                <a:ea typeface="楷体" panose="02010609060101010101" pitchFamily="49" charset="-122"/>
              </a:rPr>
              <a:t> 区别具有相同优先因子的两个目标的差别，决策者可视具体情况而定。</a:t>
            </a:r>
            <a:endParaRPr lang="en-US" altLang="zh-CN" dirty="0">
              <a:latin typeface="楷体" panose="02010609060101010101" pitchFamily="49" charset="-122"/>
              <a:ea typeface="楷体" panose="02010609060101010101" pitchFamily="49" charset="-122"/>
            </a:endParaRPr>
          </a:p>
          <a:p>
            <a:pPr marL="0" indent="0">
              <a:buNone/>
            </a:pPr>
            <a:endParaRPr lang="en-US" altLang="zh-CN" dirty="0">
              <a:latin typeface="楷体" panose="02010609060101010101" pitchFamily="49" charset="-122"/>
              <a:ea typeface="楷体" panose="02010609060101010101" pitchFamily="49" charset="-122"/>
            </a:endParaRPr>
          </a:p>
          <a:p>
            <a:pPr marL="0" indent="0">
              <a:buNone/>
            </a:pPr>
            <a:r>
              <a:rPr lang="zh-CN" altLang="zh-CN" dirty="0">
                <a:latin typeface="楷体" panose="02010609060101010101" pitchFamily="49" charset="-122"/>
                <a:ea typeface="楷体" panose="02010609060101010101" pitchFamily="49" charset="-122"/>
              </a:rPr>
              <a:t>对于这种</a:t>
            </a:r>
            <a:r>
              <a:rPr lang="zh-CN" altLang="en-US" dirty="0">
                <a:latin typeface="楷体" panose="02010609060101010101" pitchFamily="49" charset="-122"/>
                <a:ea typeface="楷体" panose="02010609060101010101" pitchFamily="49" charset="-122"/>
              </a:rPr>
              <a:t>目标规划的</a:t>
            </a:r>
            <a:r>
              <a:rPr lang="zh-CN" altLang="zh-CN" dirty="0">
                <a:latin typeface="楷体" panose="02010609060101010101" pitchFamily="49" charset="-122"/>
                <a:ea typeface="楷体" panose="02010609060101010101" pitchFamily="49" charset="-122"/>
              </a:rPr>
              <a:t>解来说，前面的目标可以保证实现或部分实现，而后面的目标就不一定能保证实现或部分实现，有些可能就不能实现。</a:t>
            </a:r>
            <a:endParaRPr lang="zh-CN" altLang="en-US" dirty="0">
              <a:latin typeface="楷体" panose="02010609060101010101" pitchFamily="49" charset="-122"/>
              <a:ea typeface="楷体" panose="02010609060101010101" pitchFamily="49"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ja-JP"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要求不超过第一目标值</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，恰好完成第二目标值，目标函数为</a:t>
            </a:r>
            <a:endParaRPr 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mc:AlternateContent xmlns:mc="http://schemas.openxmlformats.org/markup-compatibility/2006">
        <mc:Choice xmlns:a14="http://schemas.microsoft.com/office/drawing/2010/main" Requires="a14">
          <p:sp>
            <p:nvSpPr>
              <p:cNvPr id="10" name="TextBox 9"/>
              <p:cNvSpPr txBox="1"/>
              <p:nvPr>
                <p:custDataLst>
                  <p:tags r:id="rId2"/>
                </p:custDataLst>
              </p:nvPr>
            </p:nvSpPr>
            <p:spPr>
              <a:xfrm>
                <a:off x="2438400" y="2786063"/>
                <a:ext cx="8534400" cy="642938"/>
              </a:xfrm>
              <a:prstGeom prst="rect">
                <a:avLst/>
              </a:prstGeom>
              <a:noFill/>
            </p:spPr>
            <p:txBody>
              <a:bodyPr vert="horz" rtlCol="0" anchor="ctr" anchorCtr="0">
                <a:noAutofit/>
              </a:bodyPr>
              <a:lstStyle/>
              <a:p>
                <a14:m>
                  <m:oMathPara xmlns:m="http://schemas.openxmlformats.org/officeDocument/2006/math">
                    <m:oMathParaPr>
                      <m:jc m:val="centerGroup"/>
                    </m:oMathParaPr>
                    <m:oMath xmlns:m="http://schemas.openxmlformats.org/officeDocument/2006/math">
                      <m:r>
                        <a:rPr lang="en-US"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𝑀𝑖𝑛</m:t>
                      </m:r>
                      <m:r>
                        <a:rPr lang="en-US"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 </m:t>
                      </m:r>
                      <m:sSub>
                        <m:sSubPr>
                          <m:ctrlPr>
                            <a:rPr lang="en-US"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Pr>
                        <m:e>
                          <m:r>
                            <a:rPr lang="en-US"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𝑃</m:t>
                          </m:r>
                        </m:e>
                        <m:sub>
                          <m:r>
                            <a:rPr lang="en-US"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1</m:t>
                          </m:r>
                        </m:sub>
                      </m:sSub>
                      <m:d>
                        <m:dPr>
                          <m:ctrlPr>
                            <a:rPr lang="en-US"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dPr>
                        <m:e>
                          <m:sSubSup>
                            <m:sSubSupPr>
                              <m:ctrlPr>
                                <a:rPr lang="en-US"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SupPr>
                            <m:e>
                              <m:r>
                                <a:rPr lang="en-US"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𝑑</m:t>
                              </m:r>
                            </m:e>
                            <m:sub>
                              <m:r>
                                <a:rPr lang="en-US"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1</m:t>
                              </m:r>
                            </m:sub>
                            <m:sup>
                              <m:r>
                                <a:rPr lang="en-US"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up>
                          </m:sSubSup>
                        </m:e>
                      </m:d>
                      <m:r>
                        <a:rPr lang="en-US"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Sub>
                        <m:sSubPr>
                          <m:ctrlPr>
                            <a:rPr lang="en-US"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Pr>
                        <m:e>
                          <m:r>
                            <a:rPr lang="en-US"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𝑃</m:t>
                          </m:r>
                        </m:e>
                        <m:sub>
                          <m:r>
                            <a:rPr lang="en-US"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2</m:t>
                          </m:r>
                        </m:sub>
                      </m:sSub>
                      <m:r>
                        <a:rPr lang="en-US"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SubSup>
                        <m:sSubSupPr>
                          <m:ctrlPr>
                            <a:rPr lang="en-US"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SupPr>
                        <m:e>
                          <m:r>
                            <a:rPr lang="en-US"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𝑑</m:t>
                          </m:r>
                        </m:e>
                        <m:sub>
                          <m:r>
                            <a:rPr lang="en-US"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2</m:t>
                          </m:r>
                        </m:sub>
                        <m:sup>
                          <m:r>
                            <a:rPr lang="en-US"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up>
                      </m:sSubSup>
                      <m:r>
                        <a:rPr lang="en-US"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oMath>
                  </m:oMathPara>
                </a14:m>
                <a:endParaRPr 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mc:Choice>
        <mc:Fallback>
          <p:sp>
            <p:nvSpPr>
              <p:cNvPr id="10" name="TextBox 9"/>
              <p:cNvSpPr txBox="1">
                <a:spLocks noRot="1" noChangeAspect="1" noMove="1" noResize="1" noEditPoints="1" noAdjustHandles="1" noChangeArrowheads="1" noChangeShapeType="1" noTextEdit="1"/>
              </p:cNvSpPr>
              <p:nvPr>
                <p:custDataLst>
                  <p:tags r:id="rId3"/>
                </p:custDataLst>
              </p:nvPr>
            </p:nvSpPr>
            <p:spPr>
              <a:xfrm>
                <a:off x="2438400" y="2786063"/>
                <a:ext cx="8534400" cy="642938"/>
              </a:xfrm>
              <a:prstGeom prst="rect">
                <a:avLst/>
              </a:prstGeom>
              <a:blipFill rotWithShape="1">
                <a:blip r:embed="rId4"/>
                <a:stretch>
                  <a:fillRect t="-4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TextBox 10"/>
              <p:cNvSpPr txBox="1"/>
              <p:nvPr>
                <p:custDataLst>
                  <p:tags r:id="rId5"/>
                </p:custDataLst>
              </p:nvPr>
            </p:nvSpPr>
            <p:spPr>
              <a:xfrm>
                <a:off x="2438400" y="3643313"/>
                <a:ext cx="8534400" cy="642938"/>
              </a:xfrm>
              <a:prstGeom prst="rect">
                <a:avLst/>
              </a:prstGeom>
              <a:noFill/>
            </p:spPr>
            <p:txBody>
              <a:bodyPr vert="horz" rtlCol="0" anchor="ctr" anchorCtr="0">
                <a:noAutofit/>
              </a:bodyPr>
              <a:lstStyle/>
              <a:p>
                <a14:m>
                  <m:oMathPara xmlns:m="http://schemas.openxmlformats.org/officeDocument/2006/math">
                    <m:oMathParaPr>
                      <m:jc m:val="centerGroup"/>
                    </m:oMathParaPr>
                    <m:oMath xmlns:m="http://schemas.openxmlformats.org/officeDocument/2006/math">
                      <m:r>
                        <a:rPr lang="en-US"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𝑀𝑖𝑛</m:t>
                      </m:r>
                      <m:r>
                        <a:rPr lang="en-US"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 </m:t>
                      </m:r>
                      <m:sSub>
                        <m:sSubPr>
                          <m:ctrlPr>
                            <a:rPr lang="en-US"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Pr>
                        <m:e>
                          <m:r>
                            <a:rPr lang="en-US"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𝑃</m:t>
                          </m:r>
                        </m:e>
                        <m:sub>
                          <m:r>
                            <a:rPr lang="en-US"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1</m:t>
                          </m:r>
                        </m:sub>
                      </m:sSub>
                      <m:d>
                        <m:dPr>
                          <m:ctrlPr>
                            <a:rPr lang="en-US"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dPr>
                        <m:e>
                          <m:sSubSup>
                            <m:sSubSupPr>
                              <m:ctrlPr>
                                <a:rPr lang="en-US"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SupPr>
                            <m:e>
                              <m:r>
                                <a:rPr lang="en-US"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𝑑</m:t>
                              </m:r>
                            </m:e>
                            <m:sub>
                              <m:r>
                                <a:rPr lang="en-US"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1</m:t>
                              </m:r>
                            </m:sub>
                            <m:sup>
                              <m:r>
                                <a:rPr lang="en-US"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up>
                          </m:sSubSup>
                        </m:e>
                      </m:d>
                      <m:r>
                        <a:rPr lang="en-US"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Sub>
                        <m:sSubPr>
                          <m:ctrlPr>
                            <a:rPr lang="en-US"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Pr>
                        <m:e>
                          <m:r>
                            <a:rPr lang="en-US"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𝑃</m:t>
                          </m:r>
                        </m:e>
                        <m:sub>
                          <m:r>
                            <a:rPr lang="en-US"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2</m:t>
                          </m:r>
                        </m:sub>
                      </m:sSub>
                      <m:r>
                        <a:rPr lang="en-US"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SubSup>
                        <m:sSubSupPr>
                          <m:ctrlPr>
                            <a:rPr lang="en-US"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SupPr>
                        <m:e>
                          <m:r>
                            <a:rPr lang="en-US"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𝑑</m:t>
                          </m:r>
                        </m:e>
                        <m:sub>
                          <m:r>
                            <a:rPr lang="en-US"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2</m:t>
                          </m:r>
                        </m:sub>
                        <m:sup>
                          <m:r>
                            <a:rPr lang="en-US"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up>
                      </m:sSubSup>
                      <m:r>
                        <a:rPr lang="en-US"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SubSup>
                        <m:sSubSupPr>
                          <m:ctrlPr>
                            <a:rPr lang="en-US"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SupPr>
                        <m:e>
                          <m:r>
                            <a:rPr lang="en-US"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𝑑</m:t>
                          </m:r>
                        </m:e>
                        <m:sub>
                          <m:r>
                            <a:rPr lang="en-US"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2</m:t>
                          </m:r>
                        </m:sub>
                        <m:sup>
                          <m:r>
                            <a:rPr lang="en-US"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up>
                      </m:sSubSup>
                      <m:r>
                        <a:rPr lang="en-US"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oMath>
                  </m:oMathPara>
                </a14:m>
                <a:endParaRPr 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mc:Choice>
        <mc:Fallback>
          <p:sp>
            <p:nvSpPr>
              <p:cNvPr id="11" name="TextBox 10"/>
              <p:cNvSpPr txBox="1">
                <a:spLocks noRot="1" noChangeAspect="1" noMove="1" noResize="1" noEditPoints="1" noAdjustHandles="1" noChangeArrowheads="1" noChangeShapeType="1" noTextEdit="1"/>
              </p:cNvSpPr>
              <p:nvPr>
                <p:custDataLst>
                  <p:tags r:id="rId6"/>
                </p:custDataLst>
              </p:nvPr>
            </p:nvSpPr>
            <p:spPr>
              <a:xfrm>
                <a:off x="2438400" y="3643313"/>
                <a:ext cx="8534400" cy="642938"/>
              </a:xfrm>
              <a:prstGeom prst="rect">
                <a:avLst/>
              </a:prstGeom>
              <a:blipFill rotWithShape="1">
                <a:blip r:embed="rId7"/>
                <a:stretch>
                  <a:fillRect t="-4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TextBox 11"/>
              <p:cNvSpPr txBox="1"/>
              <p:nvPr>
                <p:custDataLst>
                  <p:tags r:id="rId8"/>
                </p:custDataLst>
              </p:nvPr>
            </p:nvSpPr>
            <p:spPr>
              <a:xfrm>
                <a:off x="2438400" y="4500563"/>
                <a:ext cx="8534400" cy="642938"/>
              </a:xfrm>
              <a:prstGeom prst="rect">
                <a:avLst/>
              </a:prstGeom>
              <a:noFill/>
            </p:spPr>
            <p:txBody>
              <a:bodyPr vert="horz" rtlCol="0" anchor="ctr" anchorCtr="0">
                <a:noAutofit/>
              </a:bodyPr>
              <a:lstStyle/>
              <a:p>
                <a14:m>
                  <m:oMathPara xmlns:m="http://schemas.openxmlformats.org/officeDocument/2006/math">
                    <m:oMathParaPr>
                      <m:jc m:val="centerGroup"/>
                    </m:oMathParaPr>
                    <m:oMath xmlns:m="http://schemas.openxmlformats.org/officeDocument/2006/math">
                      <m:r>
                        <a:rPr lang="en-US" sz="260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𝑀𝑖𝑛</m:t>
                      </m:r>
                      <m:r>
                        <a:rPr lang="en-US" sz="260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 </m:t>
                      </m:r>
                      <m:sSub>
                        <m:sSubPr>
                          <m:ctrlPr>
                            <a:rPr lang="en-US"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Pr>
                        <m:e>
                          <m:r>
                            <a:rPr lang="en-US"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𝑃</m:t>
                          </m:r>
                        </m:e>
                        <m:sub>
                          <m:r>
                            <a:rPr lang="en-US"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1</m:t>
                          </m:r>
                        </m:sub>
                      </m:sSub>
                      <m:d>
                        <m:dPr>
                          <m:ctrlPr>
                            <a:rPr lang="en-US"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dPr>
                        <m:e>
                          <m:sSubSup>
                            <m:sSubSupPr>
                              <m:ctrlPr>
                                <a:rPr lang="en-US"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SupPr>
                            <m:e>
                              <m:r>
                                <a:rPr lang="en-US"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𝑑</m:t>
                              </m:r>
                            </m:e>
                            <m:sub>
                              <m:r>
                                <a:rPr lang="en-US"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1</m:t>
                              </m:r>
                            </m:sub>
                            <m:sup>
                              <m:r>
                                <a:rPr lang="en-US"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up>
                          </m:sSubSup>
                        </m:e>
                      </m:d>
                      <m:r>
                        <a:rPr lang="en-US"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Sub>
                        <m:sSubPr>
                          <m:ctrlPr>
                            <a:rPr lang="en-US"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Pr>
                        <m:e>
                          <m:r>
                            <a:rPr lang="en-US"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𝑃</m:t>
                          </m:r>
                        </m:e>
                        <m:sub>
                          <m:r>
                            <a:rPr lang="en-US"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2</m:t>
                          </m:r>
                        </m:sub>
                      </m:sSub>
                      <m:r>
                        <a:rPr lang="en-US"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SubSup>
                        <m:sSubSupPr>
                          <m:ctrlPr>
                            <a:rPr lang="en-US"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SupPr>
                        <m:e>
                          <m:r>
                            <a:rPr lang="en-US"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𝑑</m:t>
                          </m:r>
                        </m:e>
                        <m:sub>
                          <m:r>
                            <a:rPr lang="en-US"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2</m:t>
                          </m:r>
                        </m:sub>
                        <m:sup>
                          <m:r>
                            <a:rPr lang="en-US"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up>
                      </m:sSubSup>
                      <m:r>
                        <a:rPr lang="en-US"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SubSup>
                        <m:sSubSupPr>
                          <m:ctrlPr>
                            <a:rPr lang="en-US"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SupPr>
                        <m:e>
                          <m:r>
                            <a:rPr lang="en-US"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𝑑</m:t>
                          </m:r>
                        </m:e>
                        <m:sub>
                          <m:r>
                            <a:rPr lang="en-US"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2</m:t>
                          </m:r>
                        </m:sub>
                        <m:sup>
                          <m:r>
                            <a:rPr lang="en-US"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up>
                      </m:sSubSup>
                      <m:r>
                        <a:rPr lang="en-US"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oMath>
                  </m:oMathPara>
                </a14:m>
                <a:endParaRPr 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mc:Choice>
        <mc:Fallback>
          <p:sp>
            <p:nvSpPr>
              <p:cNvPr id="12" name="TextBox 11"/>
              <p:cNvSpPr txBox="1">
                <a:spLocks noRot="1" noChangeAspect="1" noMove="1" noResize="1" noEditPoints="1" noAdjustHandles="1" noChangeArrowheads="1" noChangeShapeType="1" noTextEdit="1"/>
              </p:cNvSpPr>
              <p:nvPr>
                <p:custDataLst>
                  <p:tags r:id="rId9"/>
                </p:custDataLst>
              </p:nvPr>
            </p:nvSpPr>
            <p:spPr>
              <a:xfrm>
                <a:off x="2438400" y="4500563"/>
                <a:ext cx="8534400" cy="642938"/>
              </a:xfrm>
              <a:prstGeom prst="rect">
                <a:avLst/>
              </a:prstGeom>
              <a:blipFill rotWithShape="1">
                <a:blip r:embed="rId10"/>
                <a:stretch>
                  <a:fillRect t="-4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TextBox 12"/>
              <p:cNvSpPr txBox="1"/>
              <p:nvPr>
                <p:custDataLst>
                  <p:tags r:id="rId11"/>
                </p:custDataLst>
              </p:nvPr>
            </p:nvSpPr>
            <p:spPr>
              <a:xfrm>
                <a:off x="2438400" y="5357813"/>
                <a:ext cx="8534400" cy="642938"/>
              </a:xfrm>
              <a:prstGeom prst="rect">
                <a:avLst/>
              </a:prstGeom>
              <a:noFill/>
            </p:spPr>
            <p:txBody>
              <a:bodyPr vert="horz" rtlCol="0" anchor="ctr" anchorCtr="0">
                <a:noAutofit/>
              </a:bodyPr>
              <a:lstStyle/>
              <a:p>
                <a14:m>
                  <m:oMathPara xmlns:m="http://schemas.openxmlformats.org/officeDocument/2006/math">
                    <m:oMathParaPr>
                      <m:jc m:val="centerGroup"/>
                    </m:oMathParaPr>
                    <m:oMath xmlns:m="http://schemas.openxmlformats.org/officeDocument/2006/math">
                      <m:r>
                        <a:rPr lang="en-US" sz="260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𝑀𝑖𝑛</m:t>
                      </m:r>
                      <m:r>
                        <a:rPr lang="en-US" sz="260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 </m:t>
                      </m:r>
                      <m:sSub>
                        <m:sSubPr>
                          <m:ctrlPr>
                            <a:rPr lang="en-US"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Pr>
                        <m:e>
                          <m:r>
                            <a:rPr lang="en-US"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𝑃</m:t>
                          </m:r>
                        </m:e>
                        <m:sub>
                          <m:r>
                            <a:rPr lang="en-US"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1</m:t>
                          </m:r>
                        </m:sub>
                      </m:sSub>
                      <m:r>
                        <a:rPr lang="en-US"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SubSup>
                        <m:sSubSupPr>
                          <m:ctrlPr>
                            <a:rPr lang="en-US"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SupPr>
                        <m:e>
                          <m:r>
                            <a:rPr lang="en-US"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𝑑</m:t>
                          </m:r>
                        </m:e>
                        <m:sub>
                          <m:r>
                            <a:rPr lang="en-US"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1</m:t>
                          </m:r>
                        </m:sub>
                        <m:sup>
                          <m:r>
                            <a:rPr lang="en-US"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up>
                      </m:sSubSup>
                      <m:r>
                        <a:rPr lang="en-US"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SubSup>
                        <m:sSubSupPr>
                          <m:ctrlPr>
                            <a:rPr lang="en-US"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SupPr>
                        <m:e>
                          <m:r>
                            <a:rPr lang="en-US"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𝑑</m:t>
                          </m:r>
                        </m:e>
                        <m:sub>
                          <m:r>
                            <a:rPr lang="en-US"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2</m:t>
                          </m:r>
                        </m:sub>
                        <m:sup>
                          <m:r>
                            <a:rPr lang="en-US"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up>
                      </m:sSubSup>
                      <m:r>
                        <a:rPr lang="en-US"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SubSup>
                        <m:sSubSupPr>
                          <m:ctrlPr>
                            <a:rPr lang="en-US"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SupPr>
                        <m:e>
                          <m:r>
                            <a:rPr lang="en-US"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𝑑</m:t>
                          </m:r>
                        </m:e>
                        <m:sub>
                          <m:r>
                            <a:rPr lang="en-US"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2</m:t>
                          </m:r>
                        </m:sub>
                        <m:sup>
                          <m:r>
                            <a:rPr lang="en-US"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up>
                      </m:sSubSup>
                      <m:r>
                        <a:rPr lang="en-US"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oMath>
                  </m:oMathPara>
                </a14:m>
                <a:endParaRPr 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mc:Choice>
        <mc:Fallback>
          <p:sp>
            <p:nvSpPr>
              <p:cNvPr id="13" name="TextBox 12"/>
              <p:cNvSpPr txBox="1">
                <a:spLocks noRot="1" noChangeAspect="1" noMove="1" noResize="1" noEditPoints="1" noAdjustHandles="1" noChangeArrowheads="1" noChangeShapeType="1" noTextEdit="1"/>
              </p:cNvSpPr>
              <p:nvPr>
                <p:custDataLst>
                  <p:tags r:id="rId12"/>
                </p:custDataLst>
              </p:nvPr>
            </p:nvSpPr>
            <p:spPr>
              <a:xfrm>
                <a:off x="2438400" y="5357813"/>
                <a:ext cx="8534400" cy="642938"/>
              </a:xfrm>
              <a:prstGeom prst="rect">
                <a:avLst/>
              </a:prstGeom>
              <a:blipFill rotWithShape="1">
                <a:blip r:embed="rId13"/>
                <a:stretch>
                  <a:fillRect t="-49"/>
                </a:stretch>
              </a:blipFill>
            </p:spPr>
            <p:txBody>
              <a:bodyPr/>
              <a:lstStyle/>
              <a:p>
                <a:r>
                  <a:rPr lang="zh-CN" altLang="en-US">
                    <a:noFill/>
                  </a:rPr>
                  <a:t> </a:t>
                </a:r>
              </a:p>
            </p:txBody>
          </p:sp>
        </mc:Fallback>
      </mc:AlternateContent>
      <p:sp>
        <p:nvSpPr>
          <p:cNvPr id="14" name="Oval 13"/>
          <p:cNvSpPr>
            <a:spLocks noChangeAspect="1"/>
          </p:cNvSpPr>
          <p:nvPr>
            <p:custDataLst>
              <p:tags r:id="rId14"/>
            </p:custDataLst>
          </p:nvPr>
        </p:nvSpPr>
        <p:spPr>
          <a:xfrm>
            <a:off x="1571625" y="2850356"/>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Oval 15"/>
          <p:cNvSpPr>
            <a:spLocks noChangeAspect="1"/>
          </p:cNvSpPr>
          <p:nvPr>
            <p:custDataLst>
              <p:tags r:id="rId15"/>
            </p:custDataLst>
          </p:nvPr>
        </p:nvSpPr>
        <p:spPr>
          <a:xfrm>
            <a:off x="1571625" y="4564856"/>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 name="Oval 16"/>
          <p:cNvSpPr>
            <a:spLocks noChangeAspect="1"/>
          </p:cNvSpPr>
          <p:nvPr>
            <p:custDataLst>
              <p:tags r:id="rId16"/>
            </p:custDataLst>
          </p:nvPr>
        </p:nvSpPr>
        <p:spPr>
          <a:xfrm>
            <a:off x="1571625" y="5422106"/>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Oval 13"/>
          <p:cNvSpPr>
            <a:spLocks noChangeAspect="1"/>
          </p:cNvSpPr>
          <p:nvPr>
            <p:custDataLst>
              <p:tags r:id="rId17"/>
            </p:custDataLst>
          </p:nvPr>
        </p:nvSpPr>
        <p:spPr>
          <a:xfrm>
            <a:off x="1566545" y="3646011"/>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p>
            <a:pPr algn="ctr"/>
            <a:r>
              <a:rPr 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ustDataLst>
      <p:tags r:id="rId18"/>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目标规划问题举例</a:t>
            </a:r>
            <a:r>
              <a:rPr lang="en-US" dirty="0"/>
              <a:t>-</a:t>
            </a:r>
            <a:r>
              <a:rPr lang="zh-CN" altLang="en-US" dirty="0"/>
              <a:t>目标规划的一般形式</a:t>
            </a:r>
            <a:endParaRPr lang="zh-CN" altLang="en-US" dirty="0"/>
          </a:p>
        </p:txBody>
      </p:sp>
      <p:graphicFrame>
        <p:nvGraphicFramePr>
          <p:cNvPr id="4" name="Object 4"/>
          <p:cNvGraphicFramePr>
            <a:graphicFrameLocks noGrp="1" noChangeAspect="1"/>
          </p:cNvGraphicFramePr>
          <p:nvPr>
            <p:ph idx="1"/>
          </p:nvPr>
        </p:nvGraphicFramePr>
        <p:xfrm>
          <a:off x="3380763" y="1787785"/>
          <a:ext cx="5159230" cy="4205893"/>
        </p:xfrm>
        <a:graphic>
          <a:graphicData uri="http://schemas.openxmlformats.org/presentationml/2006/ole">
            <mc:AlternateContent xmlns:mc="http://schemas.openxmlformats.org/markup-compatibility/2006">
              <mc:Choice xmlns:v="urn:schemas-microsoft-com:vml" Requires="v">
                <p:oleObj spid="_x0000_s3" name="" r:id="rId1" imgW="2336800" imgH="1905000" progId="Equation.3">
                  <p:embed/>
                </p:oleObj>
              </mc:Choice>
              <mc:Fallback>
                <p:oleObj name="" r:id="rId1" imgW="2336800" imgH="19050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80763" y="1787785"/>
                        <a:ext cx="5159230" cy="4205893"/>
                      </a:xfrm>
                      <a:prstGeom prst="rect">
                        <a:avLst/>
                      </a:prstGeom>
                      <a:noFill/>
                      <a:ln>
                        <a:noFill/>
                      </a:ln>
                      <a:effectLst/>
                    </p:spPr>
                  </p:pic>
                </p:oleObj>
              </mc:Fallback>
            </mc:AlternateContent>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 name="文本框 10"/>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kumimoji="1"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假设第一优先级中包含一个目标（</a:t>
                </a:r>
                <a14:m>
                  <m:oMath xmlns:m="http://schemas.openxmlformats.org/officeDocument/2006/math">
                    <m:sSub>
                      <m:sSubPr>
                        <m:ctrlPr>
                          <a:rPr kumimoji="1"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Pr>
                      <m:e>
                        <m:r>
                          <a:rPr kumimoji="1"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𝑑</m:t>
                        </m:r>
                      </m:e>
                      <m:sub>
                        <m:r>
                          <a:rPr kumimoji="1"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1</m:t>
                        </m:r>
                      </m:sub>
                    </m:sSub>
                  </m:oMath>
                </a14:m>
                <a:r>
                  <a:rPr kumimoji="1"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），而第二优先级中包含两个目标（</a:t>
                </a:r>
                <a14:m>
                  <m:oMath xmlns:m="http://schemas.openxmlformats.org/officeDocument/2006/math">
                    <m:sSub>
                      <m:sSubPr>
                        <m:ctrlPr>
                          <a:rPr kumimoji="1"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Pr>
                      <m:e>
                        <m:r>
                          <a:rPr kumimoji="1"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𝑑</m:t>
                        </m:r>
                      </m:e>
                      <m:sub>
                        <m:r>
                          <a:rPr kumimoji="1"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2</m:t>
                        </m:r>
                      </m:sub>
                    </m:sSub>
                    <m:r>
                      <a:rPr kumimoji="1"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Sub>
                      <m:sSubPr>
                        <m:ctrlPr>
                          <a:rPr kumimoji="1"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Pr>
                      <m:e>
                        <m:r>
                          <a:rPr kumimoji="1"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𝑑</m:t>
                        </m:r>
                      </m:e>
                      <m:sub>
                        <m:r>
                          <a:rPr kumimoji="1"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3</m:t>
                        </m:r>
                      </m:sub>
                    </m:sSub>
                  </m:oMath>
                </a14:m>
                <a:r>
                  <a:rPr kumimoji="1"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），且二者的权数分别为</a:t>
                </a:r>
                <a:r>
                  <a:rPr kumimoji="1"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3</a:t>
                </a:r>
                <a:r>
                  <a:rPr kumimoji="1"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和</a:t>
                </a:r>
                <a:r>
                  <a:rPr kumimoji="1"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7</a:t>
                </a:r>
                <a:r>
                  <a:rPr kumimoji="1"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。假设在超过第一目标值的情况下，不超过第二和第三目标值，则该问题的目标函数可以表示为：</a:t>
                </a:r>
                <a:endParaRPr kumimoji="1"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mc:Choice>
        <mc:Fallback>
          <p:sp>
            <p:nvSpPr>
              <p:cNvPr id="11" name="文本框 10"/>
              <p:cNvSpPr txBox="1">
                <a:spLocks noRot="1" noChangeAspect="1" noMove="1" noResize="1" noEditPoints="1" noAdjustHandles="1" noChangeArrowheads="1" noChangeShapeType="1" noTextEdit="1"/>
              </p:cNvSpPr>
              <p:nvPr>
                <p:custDataLst>
                  <p:tags r:id="rId2"/>
                </p:custDataLst>
              </p:nvPr>
            </p:nvSpPr>
            <p:spPr>
              <a:xfrm>
                <a:off x="1219200" y="635000"/>
                <a:ext cx="9753600" cy="2143125"/>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custDataLst>
                  <p:tags r:id="rId4"/>
                </p:custDataLst>
              </p:nvPr>
            </p:nvSpPr>
            <p:spPr>
              <a:xfrm>
                <a:off x="2438400" y="2786063"/>
                <a:ext cx="8534400" cy="642938"/>
              </a:xfrm>
              <a:prstGeom prst="rect">
                <a:avLst/>
              </a:prstGeom>
              <a:noFill/>
            </p:spPr>
            <p:txBody>
              <a:bodyPr vert="horz" rtlCol="0" anchor="ctr" anchorCtr="0">
                <a:noAutofit/>
              </a:bodyPr>
              <a:lstStyle/>
              <a:p>
                <a14:m>
                  <m:oMathPara xmlns:m="http://schemas.openxmlformats.org/officeDocument/2006/math">
                    <m:oMathParaPr>
                      <m:jc m:val="centerGroup"/>
                    </m:oMathParaPr>
                    <m:oMath xmlns:m="http://schemas.openxmlformats.org/officeDocument/2006/math">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𝑀𝑖𝑛</m:t>
                      </m:r>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 </m:t>
                      </m:r>
                      <m:sSub>
                        <m:sSubPr>
                          <m:ctrlP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Pr>
                        <m:e>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𝑃</m:t>
                          </m:r>
                        </m:e>
                        <m: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1</m:t>
                          </m:r>
                        </m:sub>
                      </m:sSub>
                      <m:d>
                        <m:dPr>
                          <m:ctrlP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dPr>
                        <m:e>
                          <m:sSubSup>
                            <m:sSubSupPr>
                              <m:ctrlP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SupPr>
                            <m:e>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𝑑</m:t>
                              </m:r>
                            </m:e>
                            <m: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1</m:t>
                              </m:r>
                            </m:sub>
                            <m:sup>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up>
                          </m:sSubSup>
                        </m:e>
                      </m:d>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Sub>
                        <m:sSubPr>
                          <m:ctrlP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Pr>
                        <m:e>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𝑃</m:t>
                          </m:r>
                        </m:e>
                        <m: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2</m:t>
                          </m:r>
                        </m:sub>
                      </m:s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SubSup>
                        <m:sSubSupPr>
                          <m:ctrlP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SupPr>
                        <m:e>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𝑑</m:t>
                          </m:r>
                        </m:e>
                        <m: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2</m:t>
                          </m:r>
                        </m:sub>
                        <m:sup>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up>
                      </m:sSubSup>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r>
                        <a:rPr lang="en-US" altLang="zh-CN"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Sub>
                        <m:sSubPr>
                          <m:ctrlPr>
                            <a:rPr lang="en-US" altLang="zh-CN"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Pr>
                        <m:e>
                          <m:r>
                            <a:rPr lang="en-US" altLang="zh-CN"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𝑃</m:t>
                          </m:r>
                        </m:e>
                        <m: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3</m:t>
                          </m:r>
                        </m:sub>
                      </m:sSub>
                      <m:r>
                        <a:rPr lang="en-US" altLang="zh-CN"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SubSup>
                        <m:sSubSupPr>
                          <m:ctrlPr>
                            <a:rPr lang="en-US" altLang="zh-CN"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SupPr>
                        <m:e>
                          <m:r>
                            <a:rPr lang="en-US" altLang="zh-CN"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𝑑</m:t>
                          </m:r>
                        </m:e>
                        <m: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3</m:t>
                          </m:r>
                        </m:sub>
                        <m:sup>
                          <m:r>
                            <a:rPr lang="en-US" altLang="zh-CN"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up>
                      </m:sSubSup>
                      <m:r>
                        <a:rPr lang="en-US" altLang="zh-CN"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oMath>
                  </m:oMathPara>
                </a14:m>
                <a:endPar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mc:Choice>
        <mc:Fallback>
          <p:sp>
            <p:nvSpPr>
              <p:cNvPr id="12" name="文本框 11"/>
              <p:cNvSpPr txBox="1">
                <a:spLocks noRot="1" noChangeAspect="1" noMove="1" noResize="1" noEditPoints="1" noAdjustHandles="1" noChangeArrowheads="1" noChangeShapeType="1" noTextEdit="1"/>
              </p:cNvSpPr>
              <p:nvPr>
                <p:custDataLst>
                  <p:tags r:id="rId5"/>
                </p:custDataLst>
              </p:nvPr>
            </p:nvSpPr>
            <p:spPr>
              <a:xfrm>
                <a:off x="2438400" y="2786063"/>
                <a:ext cx="8534400" cy="642938"/>
              </a:xfrm>
              <a:prstGeom prst="rect">
                <a:avLst/>
              </a:prstGeom>
              <a:blipFill rotWithShape="1">
                <a:blip r:embed="rId6"/>
                <a:stretch>
                  <a:fillRect t="-4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p:cNvSpPr txBox="1"/>
              <p:nvPr>
                <p:custDataLst>
                  <p:tags r:id="rId7"/>
                </p:custDataLst>
              </p:nvPr>
            </p:nvSpPr>
            <p:spPr>
              <a:xfrm>
                <a:off x="2438400" y="3643313"/>
                <a:ext cx="8534400" cy="642938"/>
              </a:xfrm>
              <a:prstGeom prst="rect">
                <a:avLst/>
              </a:prstGeom>
              <a:noFill/>
            </p:spPr>
            <p:txBody>
              <a:bodyPr vert="horz" rtlCol="0" anchor="ctr" anchorCtr="0">
                <a:noAutofit/>
              </a:bodyPr>
              <a:lstStyle/>
              <a:p>
                <a14:m>
                  <m:oMathPara xmlns:m="http://schemas.openxmlformats.org/officeDocument/2006/math">
                    <m:oMathParaPr>
                      <m:jc m:val="centerGroup"/>
                    </m:oMathParaPr>
                    <m:oMath xmlns:m="http://schemas.openxmlformats.org/officeDocument/2006/math">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𝑀𝑖𝑛</m:t>
                      </m:r>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 </m:t>
                      </m:r>
                      <m:sSub>
                        <m:sSubPr>
                          <m:ctrlP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Pr>
                        <m:e>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𝑃</m:t>
                          </m:r>
                        </m:e>
                        <m: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1</m:t>
                          </m:r>
                        </m:sub>
                      </m:sSub>
                      <m:d>
                        <m:dPr>
                          <m:ctrlP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dPr>
                        <m:e>
                          <m:sSubSup>
                            <m:sSubSupPr>
                              <m:ctrlP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SupPr>
                            <m:e>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𝑑</m:t>
                              </m:r>
                            </m:e>
                            <m: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1</m:t>
                              </m:r>
                            </m:sub>
                            <m:sup>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up>
                          </m:sSubSup>
                        </m:e>
                      </m:d>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Sub>
                        <m:sSubPr>
                          <m:ctrlP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Pr>
                        <m:e>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𝑃</m:t>
                          </m:r>
                        </m:e>
                        <m: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2</m:t>
                          </m:r>
                        </m:sub>
                      </m:s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3</m:t>
                      </m:r>
                      <m:sSubSup>
                        <m:sSubSupPr>
                          <m:ctrlP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SupPr>
                        <m:e>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𝑑</m:t>
                          </m:r>
                        </m:e>
                        <m: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2</m:t>
                          </m:r>
                        </m:sub>
                        <m:sup>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up>
                      </m:sSubSup>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7</m:t>
                      </m:r>
                      <m:sSubSup>
                        <m:sSubSupPr>
                          <m:ctrlPr>
                            <a:rPr lang="en-US" altLang="zh-CN"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SupPr>
                        <m:e>
                          <m:r>
                            <a:rPr lang="en-US" altLang="zh-CN"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𝑑</m:t>
                          </m:r>
                        </m:e>
                        <m: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3</m:t>
                          </m:r>
                        </m:sub>
                        <m:sup>
                          <m:r>
                            <a:rPr lang="en-US" altLang="zh-CN"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up>
                      </m:sSubSup>
                      <m:r>
                        <a:rPr lang="en-US" altLang="zh-CN"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oMath>
                  </m:oMathPara>
                </a14:m>
                <a:endPar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mc:Choice>
        <mc:Fallback>
          <p:sp>
            <p:nvSpPr>
              <p:cNvPr id="13" name="文本框 12"/>
              <p:cNvSpPr txBox="1">
                <a:spLocks noRot="1" noChangeAspect="1" noMove="1" noResize="1" noEditPoints="1" noAdjustHandles="1" noChangeArrowheads="1" noChangeShapeType="1" noTextEdit="1"/>
              </p:cNvSpPr>
              <p:nvPr>
                <p:custDataLst>
                  <p:tags r:id="rId8"/>
                </p:custDataLst>
              </p:nvPr>
            </p:nvSpPr>
            <p:spPr>
              <a:xfrm>
                <a:off x="2438400" y="3643313"/>
                <a:ext cx="8534400" cy="642938"/>
              </a:xfrm>
              <a:prstGeom prst="rect">
                <a:avLst/>
              </a:prstGeom>
              <a:blipFill rotWithShape="1">
                <a:blip r:embed="rId9"/>
                <a:stretch>
                  <a:fillRect t="-4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文本框 13"/>
              <p:cNvSpPr txBox="1"/>
              <p:nvPr>
                <p:custDataLst>
                  <p:tags r:id="rId10"/>
                </p:custDataLst>
              </p:nvPr>
            </p:nvSpPr>
            <p:spPr>
              <a:xfrm>
                <a:off x="2438400" y="4500563"/>
                <a:ext cx="8534400" cy="642938"/>
              </a:xfrm>
              <a:prstGeom prst="rect">
                <a:avLst/>
              </a:prstGeom>
              <a:noFill/>
            </p:spPr>
            <p:txBody>
              <a:bodyPr vert="horz" rtlCol="0" anchor="ctr" anchorCtr="0">
                <a:noAutofit/>
              </a:bodyPr>
              <a:lstStyle/>
              <a:p>
                <a14:m>
                  <m:oMathPara xmlns:m="http://schemas.openxmlformats.org/officeDocument/2006/math">
                    <m:oMathParaPr>
                      <m:jc m:val="centerGroup"/>
                    </m:oMathParaPr>
                    <m:oMath xmlns:m="http://schemas.openxmlformats.org/officeDocument/2006/math">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𝑀𝑖𝑛</m:t>
                      </m:r>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 </m:t>
                      </m:r>
                      <m:sSub>
                        <m:sSubPr>
                          <m:ctrlP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Pr>
                        <m:e>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𝑃</m:t>
                          </m:r>
                        </m:e>
                        <m: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1</m:t>
                          </m:r>
                        </m:sub>
                      </m:sSub>
                      <m:d>
                        <m:dPr>
                          <m:ctrlP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dPr>
                        <m:e>
                          <m:sSubSup>
                            <m:sSubSupPr>
                              <m:ctrlP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SupPr>
                            <m:e>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𝑑</m:t>
                              </m:r>
                            </m:e>
                            <m: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1</m:t>
                              </m:r>
                            </m:sub>
                            <m:sup>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up>
                          </m:sSubSup>
                        </m:e>
                      </m:d>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Sub>
                        <m:sSubPr>
                          <m:ctrlP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Pr>
                        <m:e>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𝑃</m:t>
                          </m:r>
                        </m:e>
                        <m: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2</m:t>
                          </m:r>
                        </m:sub>
                      </m:s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SubSup>
                        <m:sSubSupPr>
                          <m:ctrlP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SupPr>
                        <m:e>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𝑑</m:t>
                          </m:r>
                        </m:e>
                        <m: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2</m:t>
                          </m:r>
                        </m:sub>
                        <m:sup>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up>
                      </m:sSubSup>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r>
                        <a:rPr lang="en-US" altLang="zh-CN"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Sub>
                        <m:sSubPr>
                          <m:ctrlPr>
                            <a:rPr lang="en-US" altLang="zh-CN"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Pr>
                        <m:e>
                          <m:r>
                            <a:rPr lang="en-US" altLang="zh-CN"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𝑃</m:t>
                          </m:r>
                        </m:e>
                        <m: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2</m:t>
                          </m:r>
                        </m:sub>
                      </m:sSub>
                      <m:r>
                        <a:rPr lang="en-US" altLang="zh-CN"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SubSup>
                        <m:sSubSupPr>
                          <m:ctrlPr>
                            <a:rPr lang="en-US" altLang="zh-CN"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SupPr>
                        <m:e>
                          <m:r>
                            <a:rPr lang="en-US" altLang="zh-CN"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𝑑</m:t>
                          </m:r>
                        </m:e>
                        <m: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3</m:t>
                          </m:r>
                        </m:sub>
                        <m:sup>
                          <m:r>
                            <a:rPr lang="en-US" altLang="zh-CN"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up>
                      </m:sSubSup>
                      <m:r>
                        <a:rPr lang="en-US" altLang="zh-CN"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oMath>
                  </m:oMathPara>
                </a14:m>
                <a:endPar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mc:Choice>
        <mc:Fallback>
          <p:sp>
            <p:nvSpPr>
              <p:cNvPr id="14" name="文本框 13"/>
              <p:cNvSpPr txBox="1">
                <a:spLocks noRot="1" noChangeAspect="1" noMove="1" noResize="1" noEditPoints="1" noAdjustHandles="1" noChangeArrowheads="1" noChangeShapeType="1" noTextEdit="1"/>
              </p:cNvSpPr>
              <p:nvPr>
                <p:custDataLst>
                  <p:tags r:id="rId11"/>
                </p:custDataLst>
              </p:nvPr>
            </p:nvSpPr>
            <p:spPr>
              <a:xfrm>
                <a:off x="2438400" y="4500563"/>
                <a:ext cx="8534400" cy="642938"/>
              </a:xfrm>
              <a:prstGeom prst="rect">
                <a:avLst/>
              </a:prstGeom>
              <a:blipFill rotWithShape="1">
                <a:blip r:embed="rId12"/>
                <a:stretch>
                  <a:fillRect t="-4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文本框 14"/>
              <p:cNvSpPr txBox="1"/>
              <p:nvPr>
                <p:custDataLst>
                  <p:tags r:id="rId13"/>
                </p:custDataLst>
              </p:nvPr>
            </p:nvSpPr>
            <p:spPr>
              <a:xfrm>
                <a:off x="2438400" y="5357813"/>
                <a:ext cx="8534400" cy="642938"/>
              </a:xfrm>
              <a:prstGeom prst="rect">
                <a:avLst/>
              </a:prstGeom>
              <a:noFill/>
            </p:spPr>
            <p:txBody>
              <a:bodyPr vert="horz" rtlCol="0" anchor="ctr" anchorCtr="0">
                <a:noAutofit/>
              </a:bodyPr>
              <a:lstStyle/>
              <a:p>
                <a14:m>
                  <m:oMathPara xmlns:m="http://schemas.openxmlformats.org/officeDocument/2006/math">
                    <m:oMathParaPr>
                      <m:jc m:val="centerGroup"/>
                    </m:oMathParaPr>
                    <m:oMath xmlns:m="http://schemas.openxmlformats.org/officeDocument/2006/math">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𝑀𝑖𝑛</m:t>
                      </m:r>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 </m:t>
                      </m:r>
                      <m:sSub>
                        <m:sSubPr>
                          <m:ctrlP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Pr>
                        <m:e>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𝑃</m:t>
                          </m:r>
                        </m:e>
                        <m: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1</m:t>
                          </m:r>
                        </m:sub>
                      </m:sSub>
                      <m:d>
                        <m:dPr>
                          <m:ctrlP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dPr>
                        <m:e>
                          <m:sSubSup>
                            <m:sSubSupPr>
                              <m:ctrlP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SupPr>
                            <m:e>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𝑑</m:t>
                              </m:r>
                            </m:e>
                            <m: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1</m:t>
                              </m:r>
                            </m:sub>
                            <m:sup>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up>
                          </m:sSubSup>
                        </m:e>
                      </m:d>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Sub>
                        <m:sSubPr>
                          <m:ctrlP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Pr>
                        <m:e>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𝑃</m:t>
                          </m:r>
                        </m:e>
                        <m: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2</m:t>
                          </m:r>
                        </m:sub>
                      </m:s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3</m:t>
                      </m:r>
                      <m:sSubSup>
                        <m:sSubSupPr>
                          <m:ctrlP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SupPr>
                        <m:e>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𝑑</m:t>
                          </m:r>
                        </m:e>
                        <m: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2</m:t>
                          </m:r>
                        </m:sub>
                        <m:sup>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up>
                      </m:sSubSup>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r>
                        <a:rPr lang="en-US" altLang="zh-CN"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Sub>
                        <m:sSubPr>
                          <m:ctrlPr>
                            <a:rPr lang="en-US" altLang="zh-CN"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Pr>
                        <m:e>
                          <m:r>
                            <a:rPr lang="en-US" altLang="zh-CN"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𝑃</m:t>
                          </m:r>
                        </m:e>
                        <m: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2</m:t>
                          </m:r>
                        </m:sub>
                      </m:sSub>
                      <m:r>
                        <a:rPr lang="en-US" altLang="zh-CN"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7</m:t>
                      </m:r>
                      <m:sSubSup>
                        <m:sSubSupPr>
                          <m:ctrlPr>
                            <a:rPr lang="en-US" altLang="zh-CN"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ctrlPr>
                        </m:sSubSupPr>
                        <m:e>
                          <m:r>
                            <a:rPr lang="en-US" altLang="zh-CN"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𝑑</m:t>
                          </m:r>
                        </m:e>
                        <m:sub>
                          <m:r>
                            <a:rPr lang="en-US" altLang="zh-CN" sz="2600" b="0" i="1" smtClean="0">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3</m:t>
                          </m:r>
                        </m:sub>
                        <m:sup>
                          <m:r>
                            <a:rPr lang="en-US" altLang="zh-CN"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sup>
                      </m:sSubSup>
                      <m:r>
                        <a:rPr lang="en-US" altLang="zh-CN" sz="2600" i="1">
                          <a:solidFill>
                            <a:srgbClr val="000000"/>
                          </a:solidFill>
                          <a:latin typeface="Cambria Math" panose="02040503050406030204" pitchFamily="18" charset="0"/>
                          <a:ea typeface="微软雅黑" panose="020B0503020204020204" pitchFamily="34" charset="-122"/>
                          <a:sym typeface="微软雅黑" panose="020B0503020204020204" pitchFamily="34" charset="-122"/>
                        </a:rPr>
                        <m:t>)</m:t>
                      </m:r>
                    </m:oMath>
                  </m:oMathPara>
                </a14:m>
                <a:endPar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mc:Choice>
        <mc:Fallback>
          <p:sp>
            <p:nvSpPr>
              <p:cNvPr id="15" name="文本框 14"/>
              <p:cNvSpPr txBox="1">
                <a:spLocks noRot="1" noChangeAspect="1" noMove="1" noResize="1" noEditPoints="1" noAdjustHandles="1" noChangeArrowheads="1" noChangeShapeType="1" noTextEdit="1"/>
              </p:cNvSpPr>
              <p:nvPr>
                <p:custDataLst>
                  <p:tags r:id="rId14"/>
                </p:custDataLst>
              </p:nvPr>
            </p:nvSpPr>
            <p:spPr>
              <a:xfrm>
                <a:off x="2438400" y="5357813"/>
                <a:ext cx="8534400" cy="642938"/>
              </a:xfrm>
              <a:prstGeom prst="rect">
                <a:avLst/>
              </a:prstGeom>
              <a:blipFill rotWithShape="1">
                <a:blip r:embed="rId15"/>
                <a:stretch>
                  <a:fillRect t="-49"/>
                </a:stretch>
              </a:blipFill>
            </p:spPr>
            <p:txBody>
              <a:bodyPr/>
              <a:lstStyle/>
              <a:p>
                <a:r>
                  <a:rPr lang="zh-CN" altLang="en-US">
                    <a:noFill/>
                  </a:rPr>
                  <a:t> </a:t>
                </a:r>
              </a:p>
            </p:txBody>
          </p:sp>
        </mc:Fallback>
      </mc:AlternateContent>
      <p:sp>
        <p:nvSpPr>
          <p:cNvPr id="16" name="椭圆 15"/>
          <p:cNvSpPr>
            <a:spLocks noChangeAspect="1"/>
          </p:cNvSpPr>
          <p:nvPr>
            <p:custDataLst>
              <p:tags r:id="rId16"/>
            </p:custDataLst>
          </p:nvPr>
        </p:nvSpPr>
        <p:spPr>
          <a:xfrm>
            <a:off x="1571625" y="2850356"/>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kumimoji="1" lang="en-GB"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kumimoji="1"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 name="椭圆 16"/>
          <p:cNvSpPr>
            <a:spLocks noChangeAspect="1"/>
          </p:cNvSpPr>
          <p:nvPr>
            <p:custDataLst>
              <p:tags r:id="rId17"/>
            </p:custDataLst>
          </p:nvPr>
        </p:nvSpPr>
        <p:spPr>
          <a:xfrm>
            <a:off x="1571625" y="3707606"/>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kumimoji="1" lang="en-GB"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kumimoji="1"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 name="椭圆 17"/>
          <p:cNvSpPr>
            <a:spLocks noChangeAspect="1"/>
          </p:cNvSpPr>
          <p:nvPr>
            <p:custDataLst>
              <p:tags r:id="rId18"/>
            </p:custDataLst>
          </p:nvPr>
        </p:nvSpPr>
        <p:spPr>
          <a:xfrm>
            <a:off x="1571625" y="4564856"/>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kumimoji="1" lang="en-GB"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kumimoji="1"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Oval 13"/>
          <p:cNvSpPr>
            <a:spLocks noChangeAspect="1"/>
          </p:cNvSpPr>
          <p:nvPr>
            <p:custDataLst>
              <p:tags r:id="rId19"/>
            </p:custDataLst>
          </p:nvPr>
        </p:nvSpPr>
        <p:spPr>
          <a:xfrm>
            <a:off x="1566545" y="5330031"/>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ustDataLst>
      <p:tags r:id="rId20"/>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目标规划问题举例</a:t>
            </a:r>
            <a:r>
              <a:rPr lang="en-US" dirty="0"/>
              <a:t>-</a:t>
            </a:r>
            <a:r>
              <a:rPr lang="zh-CN" altLang="en-US" dirty="0"/>
              <a:t>建模步骤</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a:bodyPr>
              <a:lstStyle/>
              <a:p>
                <a:pPr marL="514350" indent="-514350">
                  <a:buFont typeface="+mj-lt"/>
                  <a:buAutoNum type="arabicPeriod"/>
                </a:pPr>
                <a:r>
                  <a:rPr lang="zh-CN" altLang="zh-CN" sz="2400" dirty="0">
                    <a:latin typeface="楷体" panose="02010609060101010101" pitchFamily="49" charset="-122"/>
                    <a:ea typeface="楷体" panose="02010609060101010101" pitchFamily="49" charset="-122"/>
                  </a:rPr>
                  <a:t>根据要研究的问题所提出的各目标与条件，确定目标值，列出目标约束与绝对约束；</a:t>
                </a:r>
                <a:endParaRPr lang="en-US" altLang="zh-CN" sz="2400" dirty="0">
                  <a:latin typeface="楷体" panose="02010609060101010101" pitchFamily="49" charset="-122"/>
                  <a:ea typeface="楷体" panose="02010609060101010101" pitchFamily="49" charset="-122"/>
                </a:endParaRPr>
              </a:p>
              <a:p>
                <a:pPr marL="514350" indent="-514350">
                  <a:buFont typeface="+mj-lt"/>
                  <a:buAutoNum type="arabicPeriod"/>
                </a:pPr>
                <a:r>
                  <a:rPr lang="zh-CN" altLang="zh-CN" sz="2400" dirty="0">
                    <a:latin typeface="楷体" panose="02010609060101010101" pitchFamily="49" charset="-122"/>
                    <a:ea typeface="楷体" panose="02010609060101010101" pitchFamily="49" charset="-122"/>
                  </a:rPr>
                  <a:t>给各目标赋予相应的优先因子P</a:t>
                </a:r>
                <a:r>
                  <a:rPr lang="zh-CN" altLang="zh-CN" sz="2400" baseline="-30000" dirty="0">
                    <a:latin typeface="楷体" panose="02010609060101010101" pitchFamily="49" charset="-122"/>
                    <a:ea typeface="楷体" panose="02010609060101010101" pitchFamily="49" charset="-122"/>
                  </a:rPr>
                  <a:t>k</a:t>
                </a:r>
                <a:r>
                  <a:rPr lang="zh-CN" altLang="zh-CN" sz="2400" dirty="0">
                    <a:latin typeface="楷体" panose="02010609060101010101" pitchFamily="49" charset="-122"/>
                    <a:ea typeface="楷体" panose="02010609060101010101" pitchFamily="49" charset="-122"/>
                  </a:rPr>
                  <a:t>（k=1</a:t>
                </a:r>
                <a:r>
                  <a:rPr lang="zh-CN" altLang="en-US" sz="2400" dirty="0">
                    <a:latin typeface="楷体" panose="02010609060101010101" pitchFamily="49" charset="-122"/>
                    <a:ea typeface="楷体" panose="02010609060101010101" pitchFamily="49" charset="-122"/>
                  </a:rPr>
                  <a:t>，</a:t>
                </a:r>
                <a:r>
                  <a:rPr lang="zh-CN" altLang="zh-CN" sz="2400" dirty="0">
                    <a:latin typeface="楷体" panose="02010609060101010101" pitchFamily="49" charset="-122"/>
                    <a:ea typeface="楷体" panose="02010609060101010101" pitchFamily="49" charset="-122"/>
                  </a:rPr>
                  <a:t>2…K）。</a:t>
                </a:r>
                <a:endParaRPr lang="en-US" altLang="zh-CN" sz="2400" dirty="0">
                  <a:latin typeface="楷体" panose="02010609060101010101" pitchFamily="49" charset="-122"/>
                  <a:ea typeface="楷体" panose="02010609060101010101" pitchFamily="49" charset="-122"/>
                </a:endParaRPr>
              </a:p>
              <a:p>
                <a:pPr marL="514350" indent="-514350">
                  <a:buFont typeface="+mj-lt"/>
                  <a:buAutoNum type="arabicPeriod"/>
                </a:pPr>
                <a:r>
                  <a:rPr lang="zh-CN" altLang="zh-CN" sz="2400" dirty="0">
                    <a:latin typeface="楷体" panose="02010609060101010101" pitchFamily="49" charset="-122"/>
                    <a:ea typeface="楷体" panose="02010609060101010101" pitchFamily="49" charset="-122"/>
                  </a:rPr>
                  <a:t>对同一优先等级中的各偏差变量，若需要可按其重要程度的不同，赋予相应的权系</a:t>
                </a:r>
                <a:r>
                  <a:rPr lang="zh-CN" altLang="en-US" sz="2400" dirty="0">
                    <a:latin typeface="楷体" panose="02010609060101010101" pitchFamily="49" charset="-122"/>
                    <a:ea typeface="楷体" panose="02010609060101010101" pitchFamily="49" charset="-122"/>
                  </a:rPr>
                  <a:t>（</a:t>
                </a:r>
                <a14:m>
                  <m:oMath xmlns:m="http://schemas.openxmlformats.org/officeDocument/2006/math">
                    <m:sSubSup>
                      <m:sSubSupPr>
                        <m:ctrlPr>
                          <a:rPr lang="en-US" altLang="zh-CN" sz="2400" b="0" i="1" smtClean="0">
                            <a:latin typeface="Cambria Math" panose="02040503050406030204" pitchFamily="18" charset="0"/>
                            <a:ea typeface="楷体" panose="02010609060101010101" pitchFamily="49" charset="-122"/>
                          </a:rPr>
                        </m:ctrlPr>
                      </m:sSubSupPr>
                      <m:e>
                        <m:r>
                          <a:rPr lang="en-US" altLang="zh-CN" sz="2400" b="0" i="1" smtClean="0">
                            <a:latin typeface="Cambria Math" panose="02040503050406030204" pitchFamily="18" charset="0"/>
                            <a:ea typeface="楷体" panose="02010609060101010101" pitchFamily="49" charset="-122"/>
                          </a:rPr>
                          <m:t>𝜔</m:t>
                        </m:r>
                      </m:e>
                      <m:sub>
                        <m:r>
                          <a:rPr lang="en-US" altLang="zh-CN" sz="2400" b="0" i="1" smtClean="0">
                            <a:latin typeface="Cambria Math" panose="02040503050406030204" pitchFamily="18" charset="0"/>
                            <a:ea typeface="楷体" panose="02010609060101010101" pitchFamily="49" charset="-122"/>
                          </a:rPr>
                          <m:t>𝑘𝑙</m:t>
                        </m:r>
                      </m:sub>
                      <m:sup>
                        <m:r>
                          <a:rPr lang="en-US" altLang="zh-CN" sz="2400" b="0" i="1" smtClean="0">
                            <a:latin typeface="Cambria Math" panose="02040503050406030204" pitchFamily="18" charset="0"/>
                            <a:ea typeface="楷体" panose="02010609060101010101" pitchFamily="49" charset="-122"/>
                          </a:rPr>
                          <m:t>+</m:t>
                        </m:r>
                      </m:sup>
                    </m:sSubSup>
                    <m:r>
                      <a:rPr lang="en-US" altLang="zh-CN" sz="2400" b="0" i="1" smtClean="0">
                        <a:latin typeface="Cambria Math" panose="02040503050406030204" pitchFamily="18" charset="0"/>
                        <a:ea typeface="楷体" panose="02010609060101010101" pitchFamily="49" charset="-122"/>
                      </a:rPr>
                      <m:t>,</m:t>
                    </m:r>
                    <m:sSubSup>
                      <m:sSubSupPr>
                        <m:ctrlPr>
                          <a:rPr lang="en-US" altLang="zh-CN" sz="2400" b="0" i="1" smtClean="0">
                            <a:latin typeface="Cambria Math" panose="02040503050406030204" pitchFamily="18" charset="0"/>
                            <a:ea typeface="楷体" panose="02010609060101010101" pitchFamily="49" charset="-122"/>
                          </a:rPr>
                        </m:ctrlPr>
                      </m:sSubSupPr>
                      <m:e>
                        <m:r>
                          <a:rPr lang="en-US" altLang="zh-CN" sz="2400" b="0" i="1" smtClean="0">
                            <a:latin typeface="Cambria Math" panose="02040503050406030204" pitchFamily="18" charset="0"/>
                            <a:ea typeface="楷体" panose="02010609060101010101" pitchFamily="49" charset="-122"/>
                          </a:rPr>
                          <m:t>𝜔</m:t>
                        </m:r>
                      </m:e>
                      <m:sub>
                        <m:r>
                          <a:rPr lang="en-US" altLang="zh-CN" sz="2400" b="0" i="1" smtClean="0">
                            <a:latin typeface="Cambria Math" panose="02040503050406030204" pitchFamily="18" charset="0"/>
                            <a:ea typeface="楷体" panose="02010609060101010101" pitchFamily="49" charset="-122"/>
                          </a:rPr>
                          <m:t>𝑘𝑙</m:t>
                        </m:r>
                      </m:sub>
                      <m:sup>
                        <m:r>
                          <a:rPr lang="en-US" altLang="zh-CN" sz="2400" b="0" i="1" smtClean="0">
                            <a:latin typeface="Cambria Math" panose="02040503050406030204" pitchFamily="18" charset="0"/>
                            <a:ea typeface="楷体" panose="02010609060101010101" pitchFamily="49" charset="-122"/>
                          </a:rPr>
                          <m:t>−</m:t>
                        </m:r>
                      </m:sup>
                    </m:sSubSup>
                  </m:oMath>
                </a14:m>
                <a:r>
                  <a:rPr lang="zh-CN" altLang="en-US" sz="2400" dirty="0">
                    <a:latin typeface="楷体" panose="02010609060101010101" pitchFamily="49" charset="-122"/>
                    <a:ea typeface="楷体" panose="02010609060101010101" pitchFamily="49" charset="-122"/>
                  </a:rPr>
                  <a:t>）。</a:t>
                </a:r>
                <a:endParaRPr lang="en-US" altLang="zh-CN" sz="2400" dirty="0">
                  <a:latin typeface="楷体" panose="02010609060101010101" pitchFamily="49" charset="-122"/>
                  <a:ea typeface="楷体" panose="02010609060101010101" pitchFamily="49" charset="-122"/>
                </a:endParaRPr>
              </a:p>
              <a:p>
                <a:pPr marL="514350" indent="-514350" algn="just">
                  <a:buFont typeface="+mj-lt"/>
                  <a:buAutoNum type="arabicPeriod"/>
                </a:pPr>
                <a:r>
                  <a:rPr lang="zh-CN" altLang="zh-CN" sz="2400" dirty="0">
                    <a:latin typeface="楷体" panose="02010609060101010101" pitchFamily="49" charset="-122"/>
                    <a:ea typeface="楷体" panose="02010609060101010101" pitchFamily="49" charset="-122"/>
                  </a:rPr>
                  <a:t>根据决策者的要求，按下列情况之一构造一个由优先因子和权系数相对应的偏差变量组成的，要求实现极小化的目标函数，即达成函数。</a:t>
                </a:r>
                <a:endParaRPr lang="en-US" altLang="zh-CN" sz="2400" dirty="0">
                  <a:latin typeface="楷体" panose="02010609060101010101" pitchFamily="49" charset="-122"/>
                  <a:ea typeface="楷体" panose="02010609060101010101" pitchFamily="49" charset="-122"/>
                </a:endParaRPr>
              </a:p>
              <a:p>
                <a:pPr marL="971550" lvl="1" indent="-514350" algn="just">
                  <a:buFont typeface="+mj-ea"/>
                  <a:buAutoNum type="circleNumDbPlain"/>
                </a:pPr>
                <a:r>
                  <a:rPr lang="zh-CN" altLang="zh-CN" dirty="0">
                    <a:latin typeface="楷体" panose="02010609060101010101" pitchFamily="49" charset="-122"/>
                    <a:ea typeface="楷体" panose="02010609060101010101" pitchFamily="49" charset="-122"/>
                  </a:rPr>
                  <a:t>要求恰好达到规定的目标值</a:t>
                </a:r>
                <a:r>
                  <a:rPr lang="zh-CN" altLang="en-US" dirty="0">
                    <a:latin typeface="楷体" panose="02010609060101010101" pitchFamily="49" charset="-122"/>
                    <a:ea typeface="楷体" panose="02010609060101010101" pitchFamily="49" charset="-122"/>
                  </a:rPr>
                  <a:t>：</a:t>
                </a:r>
                <a:r>
                  <a:rPr lang="zh-CN" altLang="zh-CN" i="1" dirty="0">
                    <a:latin typeface="楷体" panose="02010609060101010101" pitchFamily="49" charset="-122"/>
                    <a:ea typeface="楷体" panose="02010609060101010101" pitchFamily="49" charset="-122"/>
                  </a:rPr>
                  <a:t> d</a:t>
                </a:r>
                <a:r>
                  <a:rPr lang="zh-CN" altLang="zh-CN" i="1" baseline="30000" dirty="0">
                    <a:latin typeface="楷体" panose="02010609060101010101" pitchFamily="49" charset="-122"/>
                    <a:ea typeface="楷体" panose="02010609060101010101" pitchFamily="49" charset="-122"/>
                  </a:rPr>
                  <a:t>＋</a:t>
                </a:r>
                <a:r>
                  <a:rPr lang="zh-CN" altLang="zh-CN" dirty="0">
                    <a:latin typeface="楷体" panose="02010609060101010101" pitchFamily="49" charset="-122"/>
                    <a:ea typeface="楷体" panose="02010609060101010101" pitchFamily="49" charset="-122"/>
                  </a:rPr>
                  <a:t>＋</a:t>
                </a:r>
                <a:r>
                  <a:rPr lang="zh-CN" altLang="zh-CN" i="1" dirty="0">
                    <a:latin typeface="楷体" panose="02010609060101010101" pitchFamily="49" charset="-122"/>
                    <a:ea typeface="楷体" panose="02010609060101010101" pitchFamily="49" charset="-122"/>
                  </a:rPr>
                  <a:t> d</a:t>
                </a:r>
                <a:r>
                  <a:rPr lang="zh-CN" altLang="zh-CN" i="1" baseline="30000" dirty="0">
                    <a:latin typeface="楷体" panose="02010609060101010101" pitchFamily="49" charset="-122"/>
                    <a:ea typeface="楷体" panose="02010609060101010101" pitchFamily="49" charset="-122"/>
                  </a:rPr>
                  <a:t>－</a:t>
                </a:r>
                <a:endParaRPr lang="en-US" altLang="zh-CN" i="1" baseline="30000" dirty="0">
                  <a:latin typeface="楷体" panose="02010609060101010101" pitchFamily="49" charset="-122"/>
                  <a:ea typeface="楷体" panose="02010609060101010101" pitchFamily="49" charset="-122"/>
                </a:endParaRPr>
              </a:p>
              <a:p>
                <a:pPr marL="971550" lvl="1" indent="-514350" algn="just">
                  <a:buFont typeface="+mj-ea"/>
                  <a:buAutoNum type="circleNumDbPlain"/>
                </a:pPr>
                <a:r>
                  <a:rPr lang="zh-CN" altLang="zh-CN" dirty="0">
                    <a:latin typeface="楷体" panose="02010609060101010101" pitchFamily="49" charset="-122"/>
                    <a:ea typeface="楷体" panose="02010609060101010101" pitchFamily="49" charset="-122"/>
                  </a:rPr>
                  <a:t>要求不超过目标值</a:t>
                </a:r>
                <a:r>
                  <a:rPr lang="zh-CN" altLang="en-US" dirty="0">
                    <a:latin typeface="楷体" panose="02010609060101010101" pitchFamily="49" charset="-122"/>
                    <a:ea typeface="楷体" panose="02010609060101010101" pitchFamily="49" charset="-122"/>
                  </a:rPr>
                  <a:t>：</a:t>
                </a:r>
                <a:r>
                  <a:rPr lang="zh-CN" altLang="zh-CN" i="1" dirty="0">
                    <a:latin typeface="楷体" panose="02010609060101010101" pitchFamily="49" charset="-122"/>
                    <a:ea typeface="楷体" panose="02010609060101010101" pitchFamily="49" charset="-122"/>
                  </a:rPr>
                  <a:t>d</a:t>
                </a:r>
                <a:r>
                  <a:rPr lang="zh-CN" altLang="zh-CN" i="1" baseline="30000" dirty="0">
                    <a:latin typeface="楷体" panose="02010609060101010101" pitchFamily="49" charset="-122"/>
                    <a:ea typeface="楷体" panose="02010609060101010101" pitchFamily="49" charset="-122"/>
                  </a:rPr>
                  <a:t>＋</a:t>
                </a:r>
                <a:endParaRPr lang="en-US" altLang="zh-CN" i="1" baseline="30000" dirty="0">
                  <a:latin typeface="楷体" panose="02010609060101010101" pitchFamily="49" charset="-122"/>
                  <a:ea typeface="楷体" panose="02010609060101010101" pitchFamily="49" charset="-122"/>
                </a:endParaRPr>
              </a:p>
              <a:p>
                <a:pPr marL="971550" lvl="1" indent="-514350" algn="just">
                  <a:buFont typeface="+mj-ea"/>
                  <a:buAutoNum type="circleNumDbPlain"/>
                </a:pPr>
                <a:r>
                  <a:rPr lang="zh-CN" altLang="en-US" dirty="0">
                    <a:latin typeface="楷体" panose="02010609060101010101" pitchFamily="49" charset="-122"/>
                    <a:ea typeface="楷体" panose="02010609060101010101" pitchFamily="49" charset="-122"/>
                  </a:rPr>
                  <a:t>要求超过目标值：</a:t>
                </a:r>
                <a:r>
                  <a:rPr lang="zh-CN" altLang="zh-CN" i="1" dirty="0">
                    <a:latin typeface="楷体" panose="02010609060101010101" pitchFamily="49" charset="-122"/>
                    <a:ea typeface="楷体" panose="02010609060101010101" pitchFamily="49" charset="-122"/>
                  </a:rPr>
                  <a:t> d</a:t>
                </a:r>
                <a:r>
                  <a:rPr lang="zh-CN" altLang="zh-CN" i="1" baseline="30000" dirty="0">
                    <a:latin typeface="楷体" panose="02010609060101010101" pitchFamily="49" charset="-122"/>
                    <a:ea typeface="楷体" panose="02010609060101010101" pitchFamily="49" charset="-122"/>
                  </a:rPr>
                  <a:t>－</a:t>
                </a:r>
                <a:endParaRPr lang="zh-CN" altLang="zh-CN" dirty="0">
                  <a:latin typeface="楷体" panose="02010609060101010101" pitchFamily="49" charset="-122"/>
                  <a:ea typeface="楷体" panose="02010609060101010101" pitchFamily="49" charset="-122"/>
                </a:endParaRPr>
              </a:p>
              <a:p>
                <a:pPr marL="514350" indent="-514350">
                  <a:buFont typeface="+mj-lt"/>
                  <a:buAutoNum type="arabicPeriod"/>
                </a:pPr>
                <a:endParaRPr lang="zh-CN" altLang="en-US" sz="2400" dirty="0">
                  <a:latin typeface="楷体" panose="02010609060101010101" pitchFamily="49" charset="-122"/>
                  <a:ea typeface="楷体" panose="02010609060101010101" pitchFamily="49" charset="-122"/>
                </a:endParaRPr>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81"/>
                </a:stretch>
              </a:blipFill>
            </p:spPr>
            <p:txBody>
              <a:bodyPr/>
              <a:lstStyle/>
              <a:p>
                <a:r>
                  <a:rPr lang="zh-CN" altLang="en-US">
                    <a:noFill/>
                  </a:rPr>
                  <a:t> </a:t>
                </a:r>
              </a:p>
            </p:txBody>
          </p:sp>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目标规划问题举例</a:t>
            </a:r>
            <a:endParaRPr lang="zh-CN" altLang="en-US" dirty="0"/>
          </a:p>
        </p:txBody>
      </p:sp>
      <p:sp>
        <p:nvSpPr>
          <p:cNvPr id="3" name="内容占位符 2"/>
          <p:cNvSpPr>
            <a:spLocks noGrp="1"/>
          </p:cNvSpPr>
          <p:nvPr>
            <p:ph idx="1"/>
          </p:nvPr>
        </p:nvSpPr>
        <p:spPr/>
        <p:txBody>
          <a:bodyPr/>
          <a:lstStyle/>
          <a:p>
            <a:pPr marL="0" indent="0">
              <a:lnSpc>
                <a:spcPct val="105000"/>
              </a:lnSpc>
              <a:buNone/>
            </a:pPr>
            <a:r>
              <a:rPr lang="zh-CN" altLang="zh-CN" dirty="0">
                <a:latin typeface="楷体" panose="02010609060101010101" pitchFamily="49" charset="-122"/>
                <a:ea typeface="楷体" panose="02010609060101010101" pitchFamily="49" charset="-122"/>
              </a:rPr>
              <a:t>若在例</a:t>
            </a:r>
            <a:r>
              <a:rPr lang="en-US" altLang="zh-CN" dirty="0">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题</a:t>
            </a:r>
            <a:r>
              <a:rPr lang="zh-CN" altLang="zh-CN" dirty="0">
                <a:latin typeface="楷体" panose="02010609060101010101" pitchFamily="49" charset="-122"/>
                <a:ea typeface="楷体" panose="02010609060101010101" pitchFamily="49" charset="-122"/>
              </a:rPr>
              <a:t>中提出下列要求：</a:t>
            </a:r>
            <a:endParaRPr lang="zh-CN" altLang="zh-CN" dirty="0">
              <a:latin typeface="楷体" panose="02010609060101010101" pitchFamily="49" charset="-122"/>
              <a:ea typeface="楷体" panose="02010609060101010101" pitchFamily="49" charset="-122"/>
            </a:endParaRPr>
          </a:p>
          <a:p>
            <a:pPr>
              <a:lnSpc>
                <a:spcPct val="105000"/>
              </a:lnSpc>
            </a:pPr>
            <a:r>
              <a:rPr lang="zh-CN" altLang="en-US" dirty="0">
                <a:latin typeface="楷体" panose="02010609060101010101" pitchFamily="49" charset="-122"/>
                <a:ea typeface="楷体" panose="02010609060101010101" pitchFamily="49" charset="-122"/>
              </a:rPr>
              <a:t>首先，</a:t>
            </a:r>
            <a:r>
              <a:rPr lang="zh-CN" altLang="zh-CN" dirty="0">
                <a:latin typeface="楷体" panose="02010609060101010101" pitchFamily="49" charset="-122"/>
                <a:ea typeface="楷体" panose="02010609060101010101" pitchFamily="49" charset="-122"/>
              </a:rPr>
              <a:t>完成或超额完成利润指标 50000元；</a:t>
            </a:r>
            <a:endParaRPr lang="zh-CN" altLang="zh-CN" dirty="0">
              <a:latin typeface="楷体" panose="02010609060101010101" pitchFamily="49" charset="-122"/>
              <a:ea typeface="楷体" panose="02010609060101010101" pitchFamily="49" charset="-122"/>
            </a:endParaRPr>
          </a:p>
          <a:p>
            <a:pPr>
              <a:lnSpc>
                <a:spcPct val="105000"/>
              </a:lnSpc>
            </a:pPr>
            <a:r>
              <a:rPr lang="zh-CN" altLang="en-US" dirty="0">
                <a:latin typeface="楷体" panose="02010609060101010101" pitchFamily="49" charset="-122"/>
                <a:ea typeface="楷体" panose="02010609060101010101" pitchFamily="49" charset="-122"/>
              </a:rPr>
              <a:t>其次，</a:t>
            </a:r>
            <a:r>
              <a:rPr lang="zh-CN" altLang="zh-CN" dirty="0">
                <a:latin typeface="楷体" panose="02010609060101010101" pitchFamily="49" charset="-122"/>
                <a:ea typeface="楷体" panose="02010609060101010101" pitchFamily="49" charset="-122"/>
              </a:rPr>
              <a:t>产品甲不超过 200件，产品乙不低于 250件；</a:t>
            </a:r>
            <a:endParaRPr lang="zh-CN" altLang="zh-CN" dirty="0">
              <a:latin typeface="楷体" panose="02010609060101010101" pitchFamily="49" charset="-122"/>
              <a:ea typeface="楷体" panose="02010609060101010101" pitchFamily="49" charset="-122"/>
            </a:endParaRPr>
          </a:p>
          <a:p>
            <a:pPr>
              <a:lnSpc>
                <a:spcPct val="105000"/>
              </a:lnSpc>
            </a:pPr>
            <a:r>
              <a:rPr lang="zh-CN" altLang="en-US" dirty="0">
                <a:latin typeface="楷体" panose="02010609060101010101" pitchFamily="49" charset="-122"/>
                <a:ea typeface="楷体" panose="02010609060101010101" pitchFamily="49" charset="-122"/>
              </a:rPr>
              <a:t>最后，</a:t>
            </a:r>
            <a:r>
              <a:rPr lang="zh-CN" altLang="zh-CN" dirty="0">
                <a:latin typeface="楷体" panose="02010609060101010101" pitchFamily="49" charset="-122"/>
                <a:ea typeface="楷体" panose="02010609060101010101" pitchFamily="49" charset="-122"/>
              </a:rPr>
              <a:t>现有钢材 3600吨必须用完。</a:t>
            </a:r>
            <a:endParaRPr lang="en-US" altLang="zh-CN" dirty="0">
              <a:latin typeface="楷体" panose="02010609060101010101" pitchFamily="49" charset="-122"/>
              <a:ea typeface="楷体" panose="02010609060101010101" pitchFamily="49" charset="-122"/>
            </a:endParaRPr>
          </a:p>
          <a:p>
            <a:pPr>
              <a:lnSpc>
                <a:spcPct val="105000"/>
              </a:lnSpc>
            </a:pPr>
            <a:r>
              <a:rPr lang="zh-CN" altLang="en-US" dirty="0"/>
              <a:t>鉴于甲、乙两种产品的价格存在较大差别，我们假设甲、乙产品产量不达标的惩罚权重分别为</a:t>
            </a:r>
            <a:r>
              <a:rPr lang="en-US" altLang="zh-CN" dirty="0"/>
              <a:t>7</a:t>
            </a:r>
            <a:r>
              <a:rPr lang="zh-CN" altLang="en-US" dirty="0"/>
              <a:t>和</a:t>
            </a:r>
            <a:r>
              <a:rPr lang="en-US" altLang="zh-CN"/>
              <a:t>12</a:t>
            </a:r>
            <a:endParaRPr lang="zh-CN" altLang="zh-CN" dirty="0">
              <a:latin typeface="楷体" panose="02010609060101010101" pitchFamily="49" charset="-122"/>
              <a:ea typeface="楷体" panose="02010609060101010101" pitchFamily="49" charset="-122"/>
            </a:endParaRPr>
          </a:p>
          <a:p>
            <a:pPr marL="0" indent="0">
              <a:lnSpc>
                <a:spcPct val="105000"/>
              </a:lnSpc>
              <a:buNone/>
            </a:pPr>
            <a:r>
              <a:rPr lang="zh-CN" altLang="zh-CN" dirty="0">
                <a:latin typeface="楷体" panose="02010609060101010101" pitchFamily="49" charset="-122"/>
                <a:ea typeface="楷体" panose="02010609060101010101" pitchFamily="49" charset="-122"/>
              </a:rPr>
              <a:t>试建立目标规划模型</a:t>
            </a:r>
            <a:endParaRPr lang="zh-CN" altLang="en-US" dirty="0">
              <a:latin typeface="楷体" panose="02010609060101010101" pitchFamily="49" charset="-122"/>
              <a:ea typeface="楷体" panose="02010609060101010101" pitchFamily="49" charset="-122"/>
            </a:endParaRPr>
          </a:p>
        </p:txBody>
      </p:sp>
      <p:sp>
        <p:nvSpPr>
          <p:cNvPr id="4" name="星形: 五角 3"/>
          <p:cNvSpPr/>
          <p:nvPr/>
        </p:nvSpPr>
        <p:spPr>
          <a:xfrm>
            <a:off x="9160776" y="784625"/>
            <a:ext cx="713065" cy="486562"/>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zh-CN"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有优先权的</a:t>
            </a:r>
            <a:r>
              <a:rPr lang="zh-CN" altLang="en-US" dirty="0"/>
              <a:t>目标规划的图解法</a:t>
            </a:r>
            <a:endParaRPr lang="zh-CN" altLang="en-US" dirty="0"/>
          </a:p>
        </p:txBody>
      </p:sp>
      <p:sp>
        <p:nvSpPr>
          <p:cNvPr id="3" name="内容占位符 2"/>
          <p:cNvSpPr>
            <a:spLocks noGrp="1"/>
          </p:cNvSpPr>
          <p:nvPr>
            <p:ph idx="1"/>
          </p:nvPr>
        </p:nvSpPr>
        <p:spPr/>
        <p:txBody>
          <a:bodyPr>
            <a:normAutofit lnSpcReduction="10000"/>
          </a:bodyPr>
          <a:lstStyle/>
          <a:p>
            <a:pPr marL="0" indent="0">
              <a:buNone/>
            </a:pPr>
            <a:r>
              <a:rPr lang="zh-CN" altLang="en-US" dirty="0"/>
              <a:t>解题步骤：</a:t>
            </a:r>
            <a:endParaRPr lang="en-US" altLang="zh-CN" dirty="0"/>
          </a:p>
          <a:p>
            <a:pPr marL="514350" indent="-514350">
              <a:buFont typeface="+mj-lt"/>
              <a:buAutoNum type="arabicPeriod"/>
            </a:pPr>
            <a:r>
              <a:rPr lang="zh-CN" altLang="zh-CN" dirty="0"/>
              <a:t>确定各约束条件的可行域，即将所有约束条件（包括目标约束和绝对约束，暂不考虑正负偏差变量）在坐标平面上表示出来；</a:t>
            </a:r>
            <a:endParaRPr lang="en-US" altLang="zh-CN" dirty="0"/>
          </a:p>
          <a:p>
            <a:pPr marL="514350" indent="-514350">
              <a:buFont typeface="+mj-lt"/>
              <a:buAutoNum type="arabicPeriod"/>
            </a:pPr>
            <a:r>
              <a:rPr lang="zh-CN" altLang="zh-CN" dirty="0"/>
              <a:t>在目标约束所代表的边界线上，用箭头标出正、负偏差变量值增大的方向；</a:t>
            </a:r>
            <a:endParaRPr lang="en-US" altLang="zh-CN" dirty="0"/>
          </a:p>
          <a:p>
            <a:pPr marL="514350" indent="-514350">
              <a:buFont typeface="+mj-lt"/>
              <a:buAutoNum type="arabicPeriod"/>
            </a:pPr>
            <a:r>
              <a:rPr lang="zh-CN" altLang="zh-CN" dirty="0"/>
              <a:t>求满足最高优先等级目标的解；</a:t>
            </a:r>
            <a:endParaRPr lang="en-US" altLang="zh-CN" dirty="0"/>
          </a:p>
          <a:p>
            <a:pPr marL="514350" indent="-514350">
              <a:buFont typeface="+mj-lt"/>
              <a:buAutoNum type="arabicPeriod"/>
            </a:pPr>
            <a:r>
              <a:rPr lang="zh-CN" altLang="zh-CN" dirty="0"/>
              <a:t>转到下一个优先等级的</a:t>
            </a:r>
            <a:r>
              <a:rPr lang="zh-CN" altLang="zh-CN"/>
              <a:t>目标，</a:t>
            </a:r>
            <a:r>
              <a:rPr lang="zh-CN" altLang="en-US"/>
              <a:t>在</a:t>
            </a:r>
            <a:r>
              <a:rPr lang="zh-CN" altLang="zh-CN"/>
              <a:t>不</a:t>
            </a:r>
            <a:r>
              <a:rPr lang="zh-CN" altLang="zh-CN" dirty="0"/>
              <a:t>破坏所有较高优先等级目标的前提下，求出该优先等级目标的解；</a:t>
            </a:r>
            <a:endParaRPr lang="zh-CN" altLang="zh-CN" dirty="0"/>
          </a:p>
          <a:p>
            <a:pPr marL="514350" indent="-514350">
              <a:buFont typeface="+mj-lt"/>
              <a:buAutoNum type="arabicPeriod"/>
            </a:pPr>
            <a:r>
              <a:rPr lang="zh-CN" altLang="zh-CN" dirty="0"/>
              <a:t>重复4，直到所有优先等级的目标都已审查完毕为止；</a:t>
            </a:r>
            <a:endParaRPr lang="en-US" altLang="zh-CN" dirty="0"/>
          </a:p>
          <a:p>
            <a:pPr marL="514350" indent="-514350">
              <a:buFont typeface="+mj-lt"/>
              <a:buAutoNum type="arabicPeriod"/>
            </a:pPr>
            <a:r>
              <a:rPr lang="zh-CN" altLang="zh-CN" dirty="0"/>
              <a:t>确定最优解</a:t>
            </a:r>
            <a:r>
              <a:rPr lang="zh-CN" altLang="en-US" dirty="0"/>
              <a:t>或</a:t>
            </a:r>
            <a:r>
              <a:rPr lang="zh-CN" altLang="zh-CN" dirty="0"/>
              <a:t>满意解</a:t>
            </a:r>
            <a:r>
              <a:rPr lang="zh-CN" altLang="zh-CN" b="1" dirty="0">
                <a:ea typeface="楷体_GB2312" pitchFamily="49" charset="-122"/>
              </a:rPr>
              <a:t>。</a:t>
            </a:r>
            <a:endParaRPr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有优先权的</a:t>
            </a:r>
            <a:r>
              <a:rPr lang="zh-CN" altLang="en-US" dirty="0"/>
              <a:t>目标规划的图解法</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pPr marL="0" indent="0">
                  <a:buNone/>
                </a:pPr>
                <a:r>
                  <a:rPr lang="zh-CN" altLang="zh-CN" b="1" dirty="0"/>
                  <a:t>用图解法求解目标规划问题</a:t>
                </a:r>
                <a:r>
                  <a:rPr lang="en-US" altLang="zh-CN" b="1" dirty="0"/>
                  <a:t>:</a:t>
                </a:r>
                <a:endParaRPr lang="en-US" altLang="zh-CN" b="1" dirty="0"/>
              </a:p>
              <a:p>
                <a:pPr marL="0" indent="0">
                  <a:buNone/>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ea typeface="楷体_GB2312" pitchFamily="49" charset="-122"/>
                        </a:rPr>
                        <m:t>𝒎𝒊𝒏</m:t>
                      </m:r>
                      <m:r>
                        <a:rPr lang="en-US" altLang="zh-CN" b="1" i="1" smtClean="0">
                          <a:latin typeface="Cambria Math" panose="02040503050406030204" pitchFamily="18" charset="0"/>
                          <a:ea typeface="楷体_GB2312" pitchFamily="49" charset="-122"/>
                        </a:rPr>
                        <m:t> </m:t>
                      </m:r>
                      <m:sSub>
                        <m:sSubPr>
                          <m:ctrlPr>
                            <a:rPr lang="en-US" altLang="zh-CN" b="1" i="1" smtClean="0">
                              <a:latin typeface="Cambria Math" panose="02040503050406030204" pitchFamily="18" charset="0"/>
                              <a:ea typeface="楷体_GB2312" pitchFamily="49" charset="-122"/>
                            </a:rPr>
                          </m:ctrlPr>
                        </m:sSubPr>
                        <m:e>
                          <m:r>
                            <a:rPr lang="en-US" altLang="zh-CN" b="1" i="1" smtClean="0">
                              <a:latin typeface="Cambria Math" panose="02040503050406030204" pitchFamily="18" charset="0"/>
                              <a:ea typeface="楷体_GB2312" pitchFamily="49" charset="-122"/>
                            </a:rPr>
                            <m:t>𝑷</m:t>
                          </m:r>
                        </m:e>
                        <m:sub>
                          <m:r>
                            <a:rPr lang="en-US" altLang="zh-CN" b="1" i="1" smtClean="0">
                              <a:latin typeface="Cambria Math" panose="02040503050406030204" pitchFamily="18" charset="0"/>
                              <a:ea typeface="楷体_GB2312" pitchFamily="49" charset="-122"/>
                            </a:rPr>
                            <m:t>𝟏</m:t>
                          </m:r>
                        </m:sub>
                      </m:sSub>
                      <m:d>
                        <m:dPr>
                          <m:ctrlPr>
                            <a:rPr lang="en-US" altLang="zh-CN" b="1" i="1" smtClean="0">
                              <a:latin typeface="Cambria Math" panose="02040503050406030204" pitchFamily="18" charset="0"/>
                              <a:ea typeface="楷体_GB2312" pitchFamily="49" charset="-122"/>
                            </a:rPr>
                          </m:ctrlPr>
                        </m:dPr>
                        <m:e>
                          <m:sSubSup>
                            <m:sSubSupPr>
                              <m:ctrlPr>
                                <a:rPr lang="en-US" altLang="zh-CN" b="1" i="1" smtClean="0">
                                  <a:latin typeface="Cambria Math" panose="02040503050406030204" pitchFamily="18" charset="0"/>
                                  <a:ea typeface="楷体_GB2312" pitchFamily="49" charset="-122"/>
                                </a:rPr>
                              </m:ctrlPr>
                            </m:sSubSupPr>
                            <m:e>
                              <m:r>
                                <a:rPr lang="en-US" altLang="zh-CN" b="1" i="1" smtClean="0">
                                  <a:latin typeface="Cambria Math" panose="02040503050406030204" pitchFamily="18" charset="0"/>
                                  <a:ea typeface="楷体_GB2312" pitchFamily="49" charset="-122"/>
                                </a:rPr>
                                <m:t>𝒅</m:t>
                              </m:r>
                            </m:e>
                            <m:sub>
                              <m:r>
                                <a:rPr lang="en-US" altLang="zh-CN" b="1" i="1" smtClean="0">
                                  <a:latin typeface="Cambria Math" panose="02040503050406030204" pitchFamily="18" charset="0"/>
                                  <a:ea typeface="楷体_GB2312" pitchFamily="49" charset="-122"/>
                                </a:rPr>
                                <m:t>𝟏</m:t>
                              </m:r>
                            </m:sub>
                            <m:sup>
                              <m:r>
                                <a:rPr lang="en-US" altLang="zh-CN" b="1" i="1" smtClean="0">
                                  <a:latin typeface="Cambria Math" panose="02040503050406030204" pitchFamily="18" charset="0"/>
                                  <a:ea typeface="楷体_GB2312" pitchFamily="49" charset="-122"/>
                                </a:rPr>
                                <m:t>+</m:t>
                              </m:r>
                            </m:sup>
                          </m:sSubSup>
                        </m:e>
                      </m:d>
                      <m:r>
                        <a:rPr lang="en-US" altLang="zh-CN" b="1" i="1" smtClean="0">
                          <a:latin typeface="Cambria Math" panose="02040503050406030204" pitchFamily="18" charset="0"/>
                          <a:ea typeface="楷体_GB2312" pitchFamily="49" charset="-122"/>
                        </a:rPr>
                        <m:t>+</m:t>
                      </m:r>
                      <m:sSub>
                        <m:sSubPr>
                          <m:ctrlPr>
                            <a:rPr lang="en-US" altLang="zh-CN" b="1" i="1" smtClean="0">
                              <a:latin typeface="Cambria Math" panose="02040503050406030204" pitchFamily="18" charset="0"/>
                              <a:ea typeface="楷体_GB2312" pitchFamily="49" charset="-122"/>
                            </a:rPr>
                          </m:ctrlPr>
                        </m:sSubPr>
                        <m:e>
                          <m:r>
                            <a:rPr lang="en-US" altLang="zh-CN" b="1" i="1" smtClean="0">
                              <a:latin typeface="Cambria Math" panose="02040503050406030204" pitchFamily="18" charset="0"/>
                              <a:ea typeface="楷体_GB2312" pitchFamily="49" charset="-122"/>
                            </a:rPr>
                            <m:t>𝑷</m:t>
                          </m:r>
                        </m:e>
                        <m:sub>
                          <m:r>
                            <a:rPr lang="en-US" altLang="zh-CN" b="1" i="1" smtClean="0">
                              <a:latin typeface="Cambria Math" panose="02040503050406030204" pitchFamily="18" charset="0"/>
                              <a:ea typeface="楷体_GB2312" pitchFamily="49" charset="-122"/>
                            </a:rPr>
                            <m:t>𝟐</m:t>
                          </m:r>
                        </m:sub>
                      </m:sSub>
                      <m:d>
                        <m:dPr>
                          <m:ctrlPr>
                            <a:rPr lang="en-US" altLang="zh-CN" b="1" i="1" smtClean="0">
                              <a:latin typeface="Cambria Math" panose="02040503050406030204" pitchFamily="18" charset="0"/>
                              <a:ea typeface="楷体_GB2312" pitchFamily="49" charset="-122"/>
                            </a:rPr>
                          </m:ctrlPr>
                        </m:dPr>
                        <m:e>
                          <m:sSubSup>
                            <m:sSubSupPr>
                              <m:ctrlPr>
                                <a:rPr lang="en-US" altLang="zh-CN" b="1" i="1" smtClean="0">
                                  <a:latin typeface="Cambria Math" panose="02040503050406030204" pitchFamily="18" charset="0"/>
                                  <a:ea typeface="楷体_GB2312" pitchFamily="49" charset="-122"/>
                                </a:rPr>
                              </m:ctrlPr>
                            </m:sSubSupPr>
                            <m:e>
                              <m:r>
                                <a:rPr lang="en-US" altLang="zh-CN" b="1" i="1" smtClean="0">
                                  <a:latin typeface="Cambria Math" panose="02040503050406030204" pitchFamily="18" charset="0"/>
                                  <a:ea typeface="楷体_GB2312" pitchFamily="49" charset="-122"/>
                                </a:rPr>
                                <m:t>𝒅</m:t>
                              </m:r>
                            </m:e>
                            <m:sub>
                              <m:r>
                                <a:rPr lang="en-US" altLang="zh-CN" b="1" i="1" smtClean="0">
                                  <a:latin typeface="Cambria Math" panose="02040503050406030204" pitchFamily="18" charset="0"/>
                                  <a:ea typeface="楷体_GB2312" pitchFamily="49" charset="-122"/>
                                </a:rPr>
                                <m:t>𝟐</m:t>
                              </m:r>
                            </m:sub>
                            <m:sup>
                              <m:r>
                                <a:rPr lang="en-US" altLang="zh-CN" b="1" i="1" smtClean="0">
                                  <a:latin typeface="Cambria Math" panose="02040503050406030204" pitchFamily="18" charset="0"/>
                                  <a:ea typeface="楷体_GB2312" pitchFamily="49" charset="-122"/>
                                </a:rPr>
                                <m:t>−</m:t>
                              </m:r>
                            </m:sup>
                          </m:sSubSup>
                        </m:e>
                      </m:d>
                    </m:oMath>
                  </m:oMathPara>
                </a14:m>
                <a:endParaRPr lang="en-US" altLang="zh-CN" b="1" dirty="0"/>
              </a:p>
              <a:p>
                <a:pPr marL="0" indent="0">
                  <a:buNone/>
                </a:pPr>
                <a:r>
                  <a:rPr lang="zh-CN" altLang="en-US" b="1" dirty="0"/>
                  <a:t>约束条件：</a:t>
                </a:r>
                <a:endParaRPr lang="en-US" altLang="zh-CN" b="1" dirty="0"/>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altLang="zh-CN" b="1" i="1" smtClean="0">
                              <a:latin typeface="Cambria Math" panose="02040503050406030204" pitchFamily="18" charset="0"/>
                              <a:ea typeface="楷体_GB2312" pitchFamily="49" charset="-122"/>
                            </a:rPr>
                          </m:ctrlPr>
                        </m:mPr>
                        <m:mr>
                          <m:e>
                            <m:r>
                              <m:rPr>
                                <m:brk m:alnAt="7"/>
                              </m:rPr>
                              <a:rPr lang="en-US" altLang="zh-CN" b="1" i="1" smtClean="0">
                                <a:latin typeface="Cambria Math" panose="02040503050406030204" pitchFamily="18" charset="0"/>
                                <a:ea typeface="楷体_GB2312" pitchFamily="49" charset="-122"/>
                              </a:rPr>
                              <m:t>𝟐</m:t>
                            </m:r>
                            <m:r>
                              <a:rPr lang="en-US" altLang="zh-CN" b="1" i="1" smtClean="0">
                                <a:latin typeface="Cambria Math" panose="02040503050406030204" pitchFamily="18" charset="0"/>
                                <a:ea typeface="楷体_GB2312" pitchFamily="49" charset="-122"/>
                              </a:rPr>
                              <m:t>𝟎</m:t>
                            </m:r>
                            <m:sSub>
                              <m:sSubPr>
                                <m:ctrlPr>
                                  <a:rPr lang="en-US" altLang="zh-CN" b="1" i="1" smtClean="0">
                                    <a:latin typeface="Cambria Math" panose="02040503050406030204" pitchFamily="18" charset="0"/>
                                    <a:ea typeface="楷体_GB2312" pitchFamily="49" charset="-122"/>
                                  </a:rPr>
                                </m:ctrlPr>
                              </m:sSubPr>
                              <m:e>
                                <m:r>
                                  <m:rPr>
                                    <m:brk m:alnAt="7"/>
                                  </m:rPr>
                                  <a:rPr lang="en-US" altLang="zh-CN" b="1" i="1" smtClean="0">
                                    <a:latin typeface="Cambria Math" panose="02040503050406030204" pitchFamily="18" charset="0"/>
                                    <a:ea typeface="楷体_GB2312" pitchFamily="49" charset="-122"/>
                                  </a:rPr>
                                  <m:t>𝒙</m:t>
                                </m:r>
                              </m:e>
                              <m:sub>
                                <m:r>
                                  <m:rPr>
                                    <m:brk m:alnAt="7"/>
                                  </m:rPr>
                                  <a:rPr lang="en-US" altLang="zh-CN" b="1" i="1" smtClean="0">
                                    <a:latin typeface="Cambria Math" panose="02040503050406030204" pitchFamily="18" charset="0"/>
                                    <a:ea typeface="楷体_GB2312" pitchFamily="49" charset="-122"/>
                                  </a:rPr>
                                  <m:t>𝟏</m:t>
                                </m:r>
                              </m:sub>
                            </m:sSub>
                            <m:r>
                              <m:rPr>
                                <m:brk m:alnAt="7"/>
                              </m:rPr>
                              <a:rPr lang="en-US" altLang="zh-CN" b="1" i="1" smtClean="0">
                                <a:latin typeface="Cambria Math" panose="02040503050406030204" pitchFamily="18" charset="0"/>
                                <a:ea typeface="楷体_GB2312" pitchFamily="49" charset="-122"/>
                              </a:rPr>
                              <m:t>+</m:t>
                            </m:r>
                            <m:r>
                              <a:rPr lang="en-US" altLang="zh-CN" b="1" i="1" smtClean="0">
                                <a:latin typeface="Cambria Math" panose="02040503050406030204" pitchFamily="18" charset="0"/>
                                <a:ea typeface="楷体_GB2312" pitchFamily="49" charset="-122"/>
                              </a:rPr>
                              <m:t>𝟓𝟎</m:t>
                            </m:r>
                            <m:sSub>
                              <m:sSubPr>
                                <m:ctrlPr>
                                  <a:rPr lang="en-US" altLang="zh-CN" b="1" i="1" smtClean="0">
                                    <a:latin typeface="Cambria Math" panose="02040503050406030204" pitchFamily="18" charset="0"/>
                                    <a:ea typeface="楷体_GB2312" pitchFamily="49" charset="-122"/>
                                  </a:rPr>
                                </m:ctrlPr>
                              </m:sSubPr>
                              <m:e>
                                <m:r>
                                  <m:rPr>
                                    <m:brk m:alnAt="7"/>
                                  </m:rPr>
                                  <a:rPr lang="en-US" altLang="zh-CN" b="1" i="1" smtClean="0">
                                    <a:latin typeface="Cambria Math" panose="02040503050406030204" pitchFamily="18" charset="0"/>
                                    <a:ea typeface="楷体_GB2312" pitchFamily="49" charset="-122"/>
                                  </a:rPr>
                                  <m:t>𝒙</m:t>
                                </m:r>
                              </m:e>
                              <m:sub>
                                <m:r>
                                  <m:rPr>
                                    <m:brk m:alnAt="7"/>
                                  </m:rPr>
                                  <a:rPr lang="en-US" altLang="zh-CN" b="1" i="1" smtClean="0">
                                    <a:latin typeface="Cambria Math" panose="02040503050406030204" pitchFamily="18" charset="0"/>
                                    <a:ea typeface="楷体_GB2312" pitchFamily="49" charset="-122"/>
                                  </a:rPr>
                                  <m:t>𝟐</m:t>
                                </m:r>
                              </m:sub>
                            </m:sSub>
                            <m:r>
                              <a:rPr lang="en-US" altLang="zh-CN" b="1" i="1" smtClean="0">
                                <a:latin typeface="Cambria Math" panose="02040503050406030204" pitchFamily="18" charset="0"/>
                                <a:ea typeface="楷体_GB2312" pitchFamily="49" charset="-122"/>
                              </a:rPr>
                              <m:t>≤</m:t>
                            </m:r>
                            <m:r>
                              <a:rPr lang="en-US" altLang="zh-CN" b="1" i="1" smtClean="0">
                                <a:latin typeface="Cambria Math" panose="02040503050406030204" pitchFamily="18" charset="0"/>
                                <a:ea typeface="楷体_GB2312" pitchFamily="49" charset="-122"/>
                              </a:rPr>
                              <m:t>𝟗𝟎𝟎𝟎𝟎</m:t>
                            </m:r>
                          </m:e>
                        </m:mr>
                        <m:mr>
                          <m:e>
                            <m:r>
                              <a:rPr lang="en-US" altLang="zh-CN" b="1" i="1" smtClean="0">
                                <a:latin typeface="Cambria Math" panose="02040503050406030204" pitchFamily="18" charset="0"/>
                                <a:ea typeface="楷体_GB2312" pitchFamily="49" charset="-122"/>
                              </a:rPr>
                              <m:t>𝟎</m:t>
                            </m:r>
                            <m:r>
                              <a:rPr lang="en-US" altLang="zh-CN" b="1" i="1" smtClean="0">
                                <a:latin typeface="Cambria Math" panose="02040503050406030204" pitchFamily="18" charset="0"/>
                                <a:ea typeface="楷体_GB2312" pitchFamily="49" charset="-122"/>
                              </a:rPr>
                              <m:t>.</m:t>
                            </m:r>
                            <m:r>
                              <a:rPr lang="en-US" altLang="zh-CN" b="1" i="1" smtClean="0">
                                <a:latin typeface="Cambria Math" panose="02040503050406030204" pitchFamily="18" charset="0"/>
                                <a:ea typeface="楷体_GB2312" pitchFamily="49" charset="-122"/>
                              </a:rPr>
                              <m:t>𝟓</m:t>
                            </m:r>
                            <m:sSub>
                              <m:sSubPr>
                                <m:ctrlPr>
                                  <a:rPr lang="en-US" altLang="zh-CN" b="1" i="1" smtClean="0">
                                    <a:latin typeface="Cambria Math" panose="02040503050406030204" pitchFamily="18" charset="0"/>
                                    <a:ea typeface="楷体_GB2312" pitchFamily="49" charset="-122"/>
                                  </a:rPr>
                                </m:ctrlPr>
                              </m:sSubPr>
                              <m:e>
                                <m:r>
                                  <a:rPr lang="en-US" altLang="zh-CN" b="1" i="1" smtClean="0">
                                    <a:latin typeface="Cambria Math" panose="02040503050406030204" pitchFamily="18" charset="0"/>
                                    <a:ea typeface="楷体_GB2312" pitchFamily="49" charset="-122"/>
                                  </a:rPr>
                                  <m:t>𝒙</m:t>
                                </m:r>
                              </m:e>
                              <m:sub>
                                <m:r>
                                  <a:rPr lang="en-US" altLang="zh-CN" b="1" i="1" smtClean="0">
                                    <a:latin typeface="Cambria Math" panose="02040503050406030204" pitchFamily="18" charset="0"/>
                                    <a:ea typeface="楷体_GB2312" pitchFamily="49" charset="-122"/>
                                  </a:rPr>
                                  <m:t>𝟏</m:t>
                                </m:r>
                              </m:sub>
                            </m:sSub>
                            <m:r>
                              <a:rPr lang="en-US" altLang="zh-CN" b="1" i="1" smtClean="0">
                                <a:latin typeface="Cambria Math" panose="02040503050406030204" pitchFamily="18" charset="0"/>
                                <a:ea typeface="楷体_GB2312" pitchFamily="49" charset="-122"/>
                              </a:rPr>
                              <m:t>+</m:t>
                            </m:r>
                            <m:r>
                              <a:rPr lang="en-US" altLang="zh-CN" b="1" i="1" smtClean="0">
                                <a:latin typeface="Cambria Math" panose="02040503050406030204" pitchFamily="18" charset="0"/>
                                <a:ea typeface="楷体_GB2312" pitchFamily="49" charset="-122"/>
                              </a:rPr>
                              <m:t>𝟎</m:t>
                            </m:r>
                            <m:r>
                              <a:rPr lang="en-US" altLang="zh-CN" b="1" i="1" smtClean="0">
                                <a:latin typeface="Cambria Math" panose="02040503050406030204" pitchFamily="18" charset="0"/>
                                <a:ea typeface="楷体_GB2312" pitchFamily="49" charset="-122"/>
                              </a:rPr>
                              <m:t>.</m:t>
                            </m:r>
                            <m:r>
                              <a:rPr lang="en-US" altLang="zh-CN" b="1" i="1" smtClean="0">
                                <a:latin typeface="Cambria Math" panose="02040503050406030204" pitchFamily="18" charset="0"/>
                                <a:ea typeface="楷体_GB2312" pitchFamily="49" charset="-122"/>
                              </a:rPr>
                              <m:t>𝟐</m:t>
                            </m:r>
                            <m:sSub>
                              <m:sSubPr>
                                <m:ctrlPr>
                                  <a:rPr lang="en-US" altLang="zh-CN" b="1" i="1" smtClean="0">
                                    <a:latin typeface="Cambria Math" panose="02040503050406030204" pitchFamily="18" charset="0"/>
                                    <a:ea typeface="楷体_GB2312" pitchFamily="49" charset="-122"/>
                                  </a:rPr>
                                </m:ctrlPr>
                              </m:sSubPr>
                              <m:e>
                                <m:r>
                                  <a:rPr lang="en-US" altLang="zh-CN" b="1" i="1" smtClean="0">
                                    <a:latin typeface="Cambria Math" panose="02040503050406030204" pitchFamily="18" charset="0"/>
                                    <a:ea typeface="楷体_GB2312" pitchFamily="49" charset="-122"/>
                                  </a:rPr>
                                  <m:t>𝒙</m:t>
                                </m:r>
                              </m:e>
                              <m:sub>
                                <m:r>
                                  <a:rPr lang="en-US" altLang="zh-CN" b="1" i="1" smtClean="0">
                                    <a:latin typeface="Cambria Math" panose="02040503050406030204" pitchFamily="18" charset="0"/>
                                    <a:ea typeface="楷体_GB2312" pitchFamily="49" charset="-122"/>
                                  </a:rPr>
                                  <m:t>𝟐</m:t>
                                </m:r>
                              </m:sub>
                            </m:sSub>
                            <m:r>
                              <a:rPr lang="en-US" altLang="zh-CN" b="1" i="1" smtClean="0">
                                <a:latin typeface="Cambria Math" panose="02040503050406030204" pitchFamily="18" charset="0"/>
                                <a:ea typeface="楷体_GB2312" pitchFamily="49" charset="-122"/>
                              </a:rPr>
                              <m:t>−</m:t>
                            </m:r>
                            <m:sSubSup>
                              <m:sSubSupPr>
                                <m:ctrlPr>
                                  <a:rPr lang="en-US" altLang="zh-CN" b="1" i="1" smtClean="0">
                                    <a:latin typeface="Cambria Math" panose="02040503050406030204" pitchFamily="18" charset="0"/>
                                    <a:ea typeface="楷体_GB2312" pitchFamily="49" charset="-122"/>
                                  </a:rPr>
                                </m:ctrlPr>
                              </m:sSubSupPr>
                              <m:e>
                                <m:r>
                                  <a:rPr lang="en-US" altLang="zh-CN" b="1" i="1" smtClean="0">
                                    <a:latin typeface="Cambria Math" panose="02040503050406030204" pitchFamily="18" charset="0"/>
                                    <a:ea typeface="楷体_GB2312" pitchFamily="49" charset="-122"/>
                                  </a:rPr>
                                  <m:t>𝒅</m:t>
                                </m:r>
                              </m:e>
                              <m:sub>
                                <m:r>
                                  <a:rPr lang="en-US" altLang="zh-CN" b="1" i="1" smtClean="0">
                                    <a:latin typeface="Cambria Math" panose="02040503050406030204" pitchFamily="18" charset="0"/>
                                    <a:ea typeface="楷体_GB2312" pitchFamily="49" charset="-122"/>
                                  </a:rPr>
                                  <m:t>𝟏</m:t>
                                </m:r>
                              </m:sub>
                              <m:sup>
                                <m:r>
                                  <a:rPr lang="en-US" altLang="zh-CN" b="1" i="1" smtClean="0">
                                    <a:latin typeface="Cambria Math" panose="02040503050406030204" pitchFamily="18" charset="0"/>
                                    <a:ea typeface="楷体_GB2312" pitchFamily="49" charset="-122"/>
                                  </a:rPr>
                                  <m:t>+</m:t>
                                </m:r>
                              </m:sup>
                            </m:sSubSup>
                            <m:r>
                              <a:rPr lang="en-US" altLang="zh-CN" b="1" i="1" smtClean="0">
                                <a:latin typeface="Cambria Math" panose="02040503050406030204" pitchFamily="18" charset="0"/>
                                <a:ea typeface="楷体_GB2312" pitchFamily="49" charset="-122"/>
                              </a:rPr>
                              <m:t>+</m:t>
                            </m:r>
                            <m:sSubSup>
                              <m:sSubSupPr>
                                <m:ctrlPr>
                                  <a:rPr lang="en-US" altLang="zh-CN" b="1" i="1" smtClean="0">
                                    <a:latin typeface="Cambria Math" panose="02040503050406030204" pitchFamily="18" charset="0"/>
                                    <a:ea typeface="楷体_GB2312" pitchFamily="49" charset="-122"/>
                                  </a:rPr>
                                </m:ctrlPr>
                              </m:sSubSupPr>
                              <m:e>
                                <m:r>
                                  <a:rPr lang="en-US" altLang="zh-CN" b="1" i="1" smtClean="0">
                                    <a:latin typeface="Cambria Math" panose="02040503050406030204" pitchFamily="18" charset="0"/>
                                    <a:ea typeface="楷体_GB2312" pitchFamily="49" charset="-122"/>
                                  </a:rPr>
                                  <m:t>𝒅</m:t>
                                </m:r>
                              </m:e>
                              <m:sub>
                                <m:r>
                                  <a:rPr lang="en-US" altLang="zh-CN" b="1" i="1" smtClean="0">
                                    <a:latin typeface="Cambria Math" panose="02040503050406030204" pitchFamily="18" charset="0"/>
                                    <a:ea typeface="楷体_GB2312" pitchFamily="49" charset="-122"/>
                                  </a:rPr>
                                  <m:t>𝟏</m:t>
                                </m:r>
                              </m:sub>
                              <m:sup>
                                <m:r>
                                  <a:rPr lang="en-US" altLang="zh-CN" b="1" i="1" smtClean="0">
                                    <a:latin typeface="Cambria Math" panose="02040503050406030204" pitchFamily="18" charset="0"/>
                                    <a:ea typeface="楷体_GB2312" pitchFamily="49" charset="-122"/>
                                  </a:rPr>
                                  <m:t>−</m:t>
                                </m:r>
                              </m:sup>
                            </m:sSubSup>
                            <m:r>
                              <a:rPr lang="en-US" altLang="zh-CN" b="1" i="1" smtClean="0">
                                <a:latin typeface="Cambria Math" panose="02040503050406030204" pitchFamily="18" charset="0"/>
                                <a:ea typeface="楷体_GB2312" pitchFamily="49" charset="-122"/>
                              </a:rPr>
                              <m:t>=</m:t>
                            </m:r>
                            <m:r>
                              <a:rPr lang="en-US" altLang="zh-CN" b="1" i="1" smtClean="0">
                                <a:latin typeface="Cambria Math" panose="02040503050406030204" pitchFamily="18" charset="0"/>
                                <a:ea typeface="楷体_GB2312" pitchFamily="49" charset="-122"/>
                              </a:rPr>
                              <m:t>𝟕𝟎𝟎</m:t>
                            </m:r>
                          </m:e>
                        </m:mr>
                        <m:mr>
                          <m:e>
                            <m:r>
                              <a:rPr lang="en-US" altLang="zh-CN" b="1" i="1" smtClean="0">
                                <a:latin typeface="Cambria Math" panose="02040503050406030204" pitchFamily="18" charset="0"/>
                                <a:ea typeface="楷体_GB2312" pitchFamily="49" charset="-122"/>
                              </a:rPr>
                              <m:t>𝟑</m:t>
                            </m:r>
                            <m:sSub>
                              <m:sSubPr>
                                <m:ctrlPr>
                                  <a:rPr lang="en-US" altLang="zh-CN" b="1" i="1" smtClean="0">
                                    <a:latin typeface="Cambria Math" panose="02040503050406030204" pitchFamily="18" charset="0"/>
                                    <a:ea typeface="楷体_GB2312" pitchFamily="49" charset="-122"/>
                                  </a:rPr>
                                </m:ctrlPr>
                              </m:sSubPr>
                              <m:e>
                                <m:r>
                                  <a:rPr lang="en-US" altLang="zh-CN" b="1" i="1" smtClean="0">
                                    <a:latin typeface="Cambria Math" panose="02040503050406030204" pitchFamily="18" charset="0"/>
                                    <a:ea typeface="楷体_GB2312" pitchFamily="49" charset="-122"/>
                                  </a:rPr>
                                  <m:t>𝒙</m:t>
                                </m:r>
                              </m:e>
                              <m:sub>
                                <m:r>
                                  <a:rPr lang="en-US" altLang="zh-CN" b="1" i="1" smtClean="0">
                                    <a:latin typeface="Cambria Math" panose="02040503050406030204" pitchFamily="18" charset="0"/>
                                    <a:ea typeface="楷体_GB2312" pitchFamily="49" charset="-122"/>
                                  </a:rPr>
                                  <m:t>𝟏</m:t>
                                </m:r>
                              </m:sub>
                            </m:sSub>
                            <m:r>
                              <a:rPr lang="en-US" altLang="zh-CN" b="1" i="1" smtClean="0">
                                <a:latin typeface="Cambria Math" panose="02040503050406030204" pitchFamily="18" charset="0"/>
                                <a:ea typeface="楷体_GB2312" pitchFamily="49" charset="-122"/>
                              </a:rPr>
                              <m:t>+</m:t>
                            </m:r>
                            <m:r>
                              <a:rPr lang="en-US" altLang="zh-CN" b="1" i="1" smtClean="0">
                                <a:latin typeface="Cambria Math" panose="02040503050406030204" pitchFamily="18" charset="0"/>
                                <a:ea typeface="楷体_GB2312" pitchFamily="49" charset="-122"/>
                              </a:rPr>
                              <m:t>𝟒</m:t>
                            </m:r>
                            <m:sSub>
                              <m:sSubPr>
                                <m:ctrlPr>
                                  <a:rPr lang="en-US" altLang="zh-CN" b="1" i="1" smtClean="0">
                                    <a:latin typeface="Cambria Math" panose="02040503050406030204" pitchFamily="18" charset="0"/>
                                    <a:ea typeface="楷体_GB2312" pitchFamily="49" charset="-122"/>
                                  </a:rPr>
                                </m:ctrlPr>
                              </m:sSubPr>
                              <m:e>
                                <m:r>
                                  <a:rPr lang="en-US" altLang="zh-CN" b="1" i="1" smtClean="0">
                                    <a:latin typeface="Cambria Math" panose="02040503050406030204" pitchFamily="18" charset="0"/>
                                    <a:ea typeface="楷体_GB2312" pitchFamily="49" charset="-122"/>
                                  </a:rPr>
                                  <m:t>𝒙</m:t>
                                </m:r>
                              </m:e>
                              <m:sub>
                                <m:r>
                                  <a:rPr lang="en-US" altLang="zh-CN" b="1" i="1" smtClean="0">
                                    <a:latin typeface="Cambria Math" panose="02040503050406030204" pitchFamily="18" charset="0"/>
                                    <a:ea typeface="楷体_GB2312" pitchFamily="49" charset="-122"/>
                                  </a:rPr>
                                  <m:t>𝟐</m:t>
                                </m:r>
                              </m:sub>
                            </m:sSub>
                            <m:r>
                              <a:rPr lang="en-US" altLang="zh-CN" b="1" i="1" smtClean="0">
                                <a:latin typeface="Cambria Math" panose="02040503050406030204" pitchFamily="18" charset="0"/>
                                <a:ea typeface="楷体_GB2312" pitchFamily="49" charset="-122"/>
                              </a:rPr>
                              <m:t>−</m:t>
                            </m:r>
                            <m:sSubSup>
                              <m:sSubSupPr>
                                <m:ctrlPr>
                                  <a:rPr lang="en-US" altLang="zh-CN" b="1" i="1" smtClean="0">
                                    <a:latin typeface="Cambria Math" panose="02040503050406030204" pitchFamily="18" charset="0"/>
                                    <a:ea typeface="楷体_GB2312" pitchFamily="49" charset="-122"/>
                                  </a:rPr>
                                </m:ctrlPr>
                              </m:sSubSupPr>
                              <m:e>
                                <m:r>
                                  <a:rPr lang="en-US" altLang="zh-CN" b="1" i="1" smtClean="0">
                                    <a:latin typeface="Cambria Math" panose="02040503050406030204" pitchFamily="18" charset="0"/>
                                    <a:ea typeface="楷体_GB2312" pitchFamily="49" charset="-122"/>
                                  </a:rPr>
                                  <m:t>𝒅</m:t>
                                </m:r>
                              </m:e>
                              <m:sub>
                                <m:r>
                                  <a:rPr lang="en-US" altLang="zh-CN" b="1" i="1" smtClean="0">
                                    <a:latin typeface="Cambria Math" panose="02040503050406030204" pitchFamily="18" charset="0"/>
                                    <a:ea typeface="楷体_GB2312" pitchFamily="49" charset="-122"/>
                                  </a:rPr>
                                  <m:t>𝟐</m:t>
                                </m:r>
                              </m:sub>
                              <m:sup>
                                <m:r>
                                  <a:rPr lang="en-US" altLang="zh-CN" b="1" i="1" smtClean="0">
                                    <a:latin typeface="Cambria Math" panose="02040503050406030204" pitchFamily="18" charset="0"/>
                                    <a:ea typeface="楷体_GB2312" pitchFamily="49" charset="-122"/>
                                  </a:rPr>
                                  <m:t>+</m:t>
                                </m:r>
                              </m:sup>
                            </m:sSubSup>
                            <m:r>
                              <a:rPr lang="en-US" altLang="zh-CN" b="1" i="1" smtClean="0">
                                <a:latin typeface="Cambria Math" panose="02040503050406030204" pitchFamily="18" charset="0"/>
                                <a:ea typeface="楷体_GB2312" pitchFamily="49" charset="-122"/>
                              </a:rPr>
                              <m:t>+</m:t>
                            </m:r>
                            <m:sSubSup>
                              <m:sSubSupPr>
                                <m:ctrlPr>
                                  <a:rPr lang="en-US" altLang="zh-CN" b="1" i="1" smtClean="0">
                                    <a:latin typeface="Cambria Math" panose="02040503050406030204" pitchFamily="18" charset="0"/>
                                    <a:ea typeface="楷体_GB2312" pitchFamily="49" charset="-122"/>
                                  </a:rPr>
                                </m:ctrlPr>
                              </m:sSubSupPr>
                              <m:e>
                                <m:r>
                                  <a:rPr lang="en-US" altLang="zh-CN" b="1" i="1" smtClean="0">
                                    <a:latin typeface="Cambria Math" panose="02040503050406030204" pitchFamily="18" charset="0"/>
                                    <a:ea typeface="楷体_GB2312" pitchFamily="49" charset="-122"/>
                                  </a:rPr>
                                  <m:t>𝒅</m:t>
                                </m:r>
                              </m:e>
                              <m:sub>
                                <m:r>
                                  <a:rPr lang="en-US" altLang="zh-CN" b="1" i="1" smtClean="0">
                                    <a:latin typeface="Cambria Math" panose="02040503050406030204" pitchFamily="18" charset="0"/>
                                    <a:ea typeface="楷体_GB2312" pitchFamily="49" charset="-122"/>
                                  </a:rPr>
                                  <m:t>𝟐</m:t>
                                </m:r>
                              </m:sub>
                              <m:sup>
                                <m:r>
                                  <a:rPr lang="en-US" altLang="zh-CN" b="1" i="1" smtClean="0">
                                    <a:latin typeface="Cambria Math" panose="02040503050406030204" pitchFamily="18" charset="0"/>
                                    <a:ea typeface="楷体_GB2312" pitchFamily="49" charset="-122"/>
                                  </a:rPr>
                                  <m:t>−</m:t>
                                </m:r>
                              </m:sup>
                            </m:sSubSup>
                            <m:r>
                              <a:rPr lang="en-US" altLang="zh-CN" b="1" i="1" smtClean="0">
                                <a:latin typeface="Cambria Math" panose="02040503050406030204" pitchFamily="18" charset="0"/>
                                <a:ea typeface="楷体_GB2312" pitchFamily="49" charset="-122"/>
                              </a:rPr>
                              <m:t>=</m:t>
                            </m:r>
                            <m:r>
                              <a:rPr lang="en-US" altLang="zh-CN" b="1" i="1" smtClean="0">
                                <a:latin typeface="Cambria Math" panose="02040503050406030204" pitchFamily="18" charset="0"/>
                                <a:ea typeface="楷体_GB2312" pitchFamily="49" charset="-122"/>
                              </a:rPr>
                              <m:t>𝟏𝟎𝟎𝟎𝟎</m:t>
                            </m:r>
                          </m:e>
                        </m:mr>
                        <m:mr>
                          <m:e>
                            <m:sSub>
                              <m:sSubPr>
                                <m:ctrlPr>
                                  <a:rPr lang="en-US" altLang="zh-CN" b="1" i="1" smtClean="0">
                                    <a:latin typeface="Cambria Math" panose="02040503050406030204" pitchFamily="18" charset="0"/>
                                    <a:ea typeface="楷体_GB2312" pitchFamily="49" charset="-122"/>
                                  </a:rPr>
                                </m:ctrlPr>
                              </m:sSubPr>
                              <m:e>
                                <m:r>
                                  <a:rPr lang="en-US" altLang="zh-CN" b="1" i="1" smtClean="0">
                                    <a:latin typeface="Cambria Math" panose="02040503050406030204" pitchFamily="18" charset="0"/>
                                    <a:ea typeface="楷体_GB2312" pitchFamily="49" charset="-122"/>
                                  </a:rPr>
                                  <m:t>𝒙</m:t>
                                </m:r>
                              </m:e>
                              <m:sub>
                                <m:r>
                                  <a:rPr lang="en-US" altLang="zh-CN" b="1" i="1" smtClean="0">
                                    <a:latin typeface="Cambria Math" panose="02040503050406030204" pitchFamily="18" charset="0"/>
                                    <a:ea typeface="楷体_GB2312" pitchFamily="49" charset="-122"/>
                                  </a:rPr>
                                  <m:t>𝟏</m:t>
                                </m:r>
                              </m:sub>
                            </m:sSub>
                            <m:r>
                              <a:rPr lang="en-US" altLang="zh-CN" b="1" i="1" smtClean="0">
                                <a:latin typeface="Cambria Math" panose="02040503050406030204" pitchFamily="18" charset="0"/>
                                <a:ea typeface="楷体_GB2312" pitchFamily="49" charset="-122"/>
                              </a:rPr>
                              <m:t>,</m:t>
                            </m:r>
                            <m:sSub>
                              <m:sSubPr>
                                <m:ctrlPr>
                                  <a:rPr lang="en-US" altLang="zh-CN" b="1" i="1" smtClean="0">
                                    <a:latin typeface="Cambria Math" panose="02040503050406030204" pitchFamily="18" charset="0"/>
                                    <a:ea typeface="楷体_GB2312" pitchFamily="49" charset="-122"/>
                                  </a:rPr>
                                </m:ctrlPr>
                              </m:sSubPr>
                              <m:e>
                                <m:r>
                                  <a:rPr lang="en-US" altLang="zh-CN" b="1" i="1" smtClean="0">
                                    <a:latin typeface="Cambria Math" panose="02040503050406030204" pitchFamily="18" charset="0"/>
                                    <a:ea typeface="楷体_GB2312" pitchFamily="49" charset="-122"/>
                                  </a:rPr>
                                  <m:t>𝒙</m:t>
                                </m:r>
                              </m:e>
                              <m:sub>
                                <m:r>
                                  <a:rPr lang="en-US" altLang="zh-CN" b="1" i="1" smtClean="0">
                                    <a:latin typeface="Cambria Math" panose="02040503050406030204" pitchFamily="18" charset="0"/>
                                    <a:ea typeface="楷体_GB2312" pitchFamily="49" charset="-122"/>
                                  </a:rPr>
                                  <m:t>𝟐</m:t>
                                </m:r>
                              </m:sub>
                            </m:sSub>
                            <m:r>
                              <a:rPr lang="en-US" altLang="zh-CN" b="1" i="1" smtClean="0">
                                <a:latin typeface="Cambria Math" panose="02040503050406030204" pitchFamily="18" charset="0"/>
                                <a:ea typeface="楷体_GB2312" pitchFamily="49" charset="-122"/>
                              </a:rPr>
                              <m:t>,</m:t>
                            </m:r>
                            <m:sSubSup>
                              <m:sSubSupPr>
                                <m:ctrlPr>
                                  <a:rPr lang="en-US" altLang="zh-CN" b="1" i="1" smtClean="0">
                                    <a:latin typeface="Cambria Math" panose="02040503050406030204" pitchFamily="18" charset="0"/>
                                    <a:ea typeface="楷体_GB2312" pitchFamily="49" charset="-122"/>
                                  </a:rPr>
                                </m:ctrlPr>
                              </m:sSubSupPr>
                              <m:e>
                                <m:r>
                                  <a:rPr lang="en-US" altLang="zh-CN" b="1" i="1" smtClean="0">
                                    <a:latin typeface="Cambria Math" panose="02040503050406030204" pitchFamily="18" charset="0"/>
                                    <a:ea typeface="楷体_GB2312" pitchFamily="49" charset="-122"/>
                                  </a:rPr>
                                  <m:t>𝒅</m:t>
                                </m:r>
                              </m:e>
                              <m:sub>
                                <m:r>
                                  <a:rPr lang="en-US" altLang="zh-CN" b="1" i="1" smtClean="0">
                                    <a:latin typeface="Cambria Math" panose="02040503050406030204" pitchFamily="18" charset="0"/>
                                    <a:ea typeface="楷体_GB2312" pitchFamily="49" charset="-122"/>
                                  </a:rPr>
                                  <m:t>𝟏</m:t>
                                </m:r>
                              </m:sub>
                              <m:sup>
                                <m:r>
                                  <a:rPr lang="en-US" altLang="zh-CN" b="1" i="1" smtClean="0">
                                    <a:latin typeface="Cambria Math" panose="02040503050406030204" pitchFamily="18" charset="0"/>
                                    <a:ea typeface="楷体_GB2312" pitchFamily="49" charset="-122"/>
                                  </a:rPr>
                                  <m:t>+</m:t>
                                </m:r>
                              </m:sup>
                            </m:sSubSup>
                            <m:r>
                              <a:rPr lang="en-US" altLang="zh-CN" b="1" i="1" smtClean="0">
                                <a:latin typeface="Cambria Math" panose="02040503050406030204" pitchFamily="18" charset="0"/>
                                <a:ea typeface="楷体_GB2312" pitchFamily="49" charset="-122"/>
                              </a:rPr>
                              <m:t>,</m:t>
                            </m:r>
                            <m:sSubSup>
                              <m:sSubSupPr>
                                <m:ctrlPr>
                                  <a:rPr lang="en-US" altLang="zh-CN" b="1" i="1" smtClean="0">
                                    <a:latin typeface="Cambria Math" panose="02040503050406030204" pitchFamily="18" charset="0"/>
                                    <a:ea typeface="楷体_GB2312" pitchFamily="49" charset="-122"/>
                                  </a:rPr>
                                </m:ctrlPr>
                              </m:sSubSupPr>
                              <m:e>
                                <m:r>
                                  <a:rPr lang="en-US" altLang="zh-CN" b="1" i="1" smtClean="0">
                                    <a:latin typeface="Cambria Math" panose="02040503050406030204" pitchFamily="18" charset="0"/>
                                    <a:ea typeface="楷体_GB2312" pitchFamily="49" charset="-122"/>
                                  </a:rPr>
                                  <m:t>𝒅</m:t>
                                </m:r>
                              </m:e>
                              <m:sub>
                                <m:r>
                                  <a:rPr lang="en-US" altLang="zh-CN" b="1" i="1" smtClean="0">
                                    <a:latin typeface="Cambria Math" panose="02040503050406030204" pitchFamily="18" charset="0"/>
                                    <a:ea typeface="楷体_GB2312" pitchFamily="49" charset="-122"/>
                                  </a:rPr>
                                  <m:t>𝟏</m:t>
                                </m:r>
                              </m:sub>
                              <m:sup>
                                <m:r>
                                  <a:rPr lang="en-US" altLang="zh-CN" b="1" i="1" smtClean="0">
                                    <a:latin typeface="Cambria Math" panose="02040503050406030204" pitchFamily="18" charset="0"/>
                                    <a:ea typeface="楷体_GB2312" pitchFamily="49" charset="-122"/>
                                  </a:rPr>
                                  <m:t>−</m:t>
                                </m:r>
                              </m:sup>
                            </m:sSubSup>
                            <m:r>
                              <a:rPr lang="en-US" altLang="zh-CN" b="1" i="1" smtClean="0">
                                <a:latin typeface="Cambria Math" panose="02040503050406030204" pitchFamily="18" charset="0"/>
                                <a:ea typeface="楷体_GB2312" pitchFamily="49" charset="-122"/>
                              </a:rPr>
                              <m:t>,</m:t>
                            </m:r>
                            <m:sSubSup>
                              <m:sSubSupPr>
                                <m:ctrlPr>
                                  <a:rPr lang="en-US" altLang="zh-CN" b="1" i="1" smtClean="0">
                                    <a:latin typeface="Cambria Math" panose="02040503050406030204" pitchFamily="18" charset="0"/>
                                    <a:ea typeface="楷体_GB2312" pitchFamily="49" charset="-122"/>
                                  </a:rPr>
                                </m:ctrlPr>
                              </m:sSubSupPr>
                              <m:e>
                                <m:r>
                                  <a:rPr lang="en-US" altLang="zh-CN" b="1" i="1" smtClean="0">
                                    <a:latin typeface="Cambria Math" panose="02040503050406030204" pitchFamily="18" charset="0"/>
                                    <a:ea typeface="楷体_GB2312" pitchFamily="49" charset="-122"/>
                                  </a:rPr>
                                  <m:t>𝒅</m:t>
                                </m:r>
                              </m:e>
                              <m:sub>
                                <m:r>
                                  <a:rPr lang="en-US" altLang="zh-CN" b="1" i="1" smtClean="0">
                                    <a:latin typeface="Cambria Math" panose="02040503050406030204" pitchFamily="18" charset="0"/>
                                    <a:ea typeface="楷体_GB2312" pitchFamily="49" charset="-122"/>
                                  </a:rPr>
                                  <m:t>𝟐</m:t>
                                </m:r>
                              </m:sub>
                              <m:sup>
                                <m:r>
                                  <a:rPr lang="en-US" altLang="zh-CN" b="1" i="1" smtClean="0">
                                    <a:latin typeface="Cambria Math" panose="02040503050406030204" pitchFamily="18" charset="0"/>
                                    <a:ea typeface="楷体_GB2312" pitchFamily="49" charset="-122"/>
                                  </a:rPr>
                                  <m:t>+</m:t>
                                </m:r>
                              </m:sup>
                            </m:sSubSup>
                            <m:r>
                              <a:rPr lang="en-US" altLang="zh-CN" b="1" i="1" smtClean="0">
                                <a:latin typeface="Cambria Math" panose="02040503050406030204" pitchFamily="18" charset="0"/>
                                <a:ea typeface="楷体_GB2312" pitchFamily="49" charset="-122"/>
                              </a:rPr>
                              <m:t>,</m:t>
                            </m:r>
                            <m:sSubSup>
                              <m:sSubSupPr>
                                <m:ctrlPr>
                                  <a:rPr lang="en-US" altLang="zh-CN" b="1" i="1" smtClean="0">
                                    <a:latin typeface="Cambria Math" panose="02040503050406030204" pitchFamily="18" charset="0"/>
                                    <a:ea typeface="楷体_GB2312" pitchFamily="49" charset="-122"/>
                                  </a:rPr>
                                </m:ctrlPr>
                              </m:sSubSupPr>
                              <m:e>
                                <m:r>
                                  <a:rPr lang="en-US" altLang="zh-CN" b="1" i="1" smtClean="0">
                                    <a:latin typeface="Cambria Math" panose="02040503050406030204" pitchFamily="18" charset="0"/>
                                    <a:ea typeface="楷体_GB2312" pitchFamily="49" charset="-122"/>
                                  </a:rPr>
                                  <m:t>𝒅</m:t>
                                </m:r>
                              </m:e>
                              <m:sub>
                                <m:r>
                                  <a:rPr lang="en-US" altLang="zh-CN" b="1" i="1" smtClean="0">
                                    <a:latin typeface="Cambria Math" panose="02040503050406030204" pitchFamily="18" charset="0"/>
                                    <a:ea typeface="楷体_GB2312" pitchFamily="49" charset="-122"/>
                                  </a:rPr>
                                  <m:t>𝟐</m:t>
                                </m:r>
                              </m:sub>
                              <m:sup>
                                <m:r>
                                  <a:rPr lang="en-US" altLang="zh-CN" b="1" i="1" smtClean="0">
                                    <a:latin typeface="Cambria Math" panose="02040503050406030204" pitchFamily="18" charset="0"/>
                                    <a:ea typeface="楷体_GB2312" pitchFamily="49" charset="-122"/>
                                  </a:rPr>
                                  <m:t>−</m:t>
                                </m:r>
                              </m:sup>
                            </m:sSubSup>
                            <m:r>
                              <a:rPr lang="en-US" altLang="zh-CN" b="1" i="1" smtClean="0">
                                <a:latin typeface="Cambria Math" panose="02040503050406030204" pitchFamily="18" charset="0"/>
                                <a:ea typeface="楷体_GB2312" pitchFamily="49" charset="-122"/>
                              </a:rPr>
                              <m:t>≥</m:t>
                            </m:r>
                            <m:r>
                              <a:rPr lang="en-US" altLang="zh-CN" b="1" i="1" smtClean="0">
                                <a:latin typeface="Cambria Math" panose="02040503050406030204" pitchFamily="18" charset="0"/>
                                <a:ea typeface="楷体_GB2312" pitchFamily="49" charset="-122"/>
                              </a:rPr>
                              <m:t>𝟎</m:t>
                            </m:r>
                          </m:e>
                        </m:mr>
                      </m:m>
                    </m:oMath>
                  </m:oMathPara>
                </a14:m>
                <a:endParaRPr lang="zh-CN" altLang="zh-CN" b="1"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
        <p:nvSpPr>
          <p:cNvPr id="5" name="星形: 五角 4"/>
          <p:cNvSpPr/>
          <p:nvPr/>
        </p:nvSpPr>
        <p:spPr>
          <a:xfrm>
            <a:off x="8308340" y="671476"/>
            <a:ext cx="738231" cy="503340"/>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3</a:t>
            </a:r>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22"/>
          <p:cNvSpPr txBox="1">
            <a:spLocks noChangeArrowheads="1"/>
          </p:cNvSpPr>
          <p:nvPr/>
        </p:nvSpPr>
        <p:spPr bwMode="auto">
          <a:xfrm>
            <a:off x="1650242" y="1556792"/>
            <a:ext cx="8893515"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a:tabLst>
                <a:tab pos="254000" algn="l"/>
                <a:tab pos="266700" algn="l"/>
              </a:tabLst>
              <a:defRPr>
                <a:solidFill>
                  <a:schemeClr val="tx1"/>
                </a:solidFill>
                <a:latin typeface="Arial" panose="020B0604020202020204" pitchFamily="34" charset="0"/>
                <a:ea typeface="宋体" panose="02010600030101010101" pitchFamily="2" charset="-122"/>
              </a:defRPr>
            </a:lvl1pPr>
            <a:lvl2pPr>
              <a:tabLst>
                <a:tab pos="254000" algn="l"/>
                <a:tab pos="266700" algn="l"/>
              </a:tabLst>
              <a:defRPr>
                <a:solidFill>
                  <a:schemeClr val="tx1"/>
                </a:solidFill>
                <a:latin typeface="Arial" panose="020B0604020202020204" pitchFamily="34" charset="0"/>
                <a:ea typeface="宋体" panose="02010600030101010101" pitchFamily="2" charset="-122"/>
              </a:defRPr>
            </a:lvl2pPr>
            <a:lvl3pPr>
              <a:tabLst>
                <a:tab pos="254000" algn="l"/>
                <a:tab pos="266700" algn="l"/>
              </a:tabLst>
              <a:defRPr>
                <a:solidFill>
                  <a:schemeClr val="tx1"/>
                </a:solidFill>
                <a:latin typeface="Arial" panose="020B0604020202020204" pitchFamily="34" charset="0"/>
                <a:ea typeface="宋体" panose="02010600030101010101" pitchFamily="2" charset="-122"/>
              </a:defRPr>
            </a:lvl3pPr>
            <a:lvl4pPr>
              <a:tabLst>
                <a:tab pos="254000" algn="l"/>
                <a:tab pos="266700" algn="l"/>
              </a:tabLst>
              <a:defRPr>
                <a:solidFill>
                  <a:schemeClr val="tx1"/>
                </a:solidFill>
                <a:latin typeface="Arial" panose="020B0604020202020204" pitchFamily="34" charset="0"/>
                <a:ea typeface="宋体" panose="02010600030101010101" pitchFamily="2" charset="-122"/>
              </a:defRPr>
            </a:lvl4pPr>
            <a:lvl5pPr>
              <a:tabLst>
                <a:tab pos="254000" algn="l"/>
                <a:tab pos="266700"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254000" algn="l"/>
                <a:tab pos="266700"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254000" algn="l"/>
                <a:tab pos="266700"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254000" algn="l"/>
                <a:tab pos="266700"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254000" algn="l"/>
                <a:tab pos="266700" algn="l"/>
              </a:tabLst>
              <a:defRPr>
                <a:solidFill>
                  <a:schemeClr val="tx1"/>
                </a:solidFill>
                <a:latin typeface="Arial" panose="020B0604020202020204" pitchFamily="34" charset="0"/>
                <a:ea typeface="宋体" panose="02010600030101010101" pitchFamily="2" charset="-122"/>
              </a:defRPr>
            </a:lvl9pPr>
          </a:lstStyle>
          <a:p>
            <a:endParaRPr lang="en-US" altLang="zh-CN" sz="2800" dirty="0" smtClean="0">
              <a:latin typeface="楷体" panose="02010609060101010101" pitchFamily="49" charset="-122"/>
              <a:ea typeface="楷体" panose="02010609060101010101" pitchFamily="49" charset="-122"/>
            </a:endParaRPr>
          </a:p>
          <a:p>
            <a:endParaRPr lang="en-US" altLang="zh-CN" sz="2800" dirty="0" smtClean="0">
              <a:latin typeface="楷体" panose="02010609060101010101" pitchFamily="49" charset="-122"/>
              <a:ea typeface="楷体" panose="02010609060101010101" pitchFamily="49" charset="-122"/>
            </a:endParaRPr>
          </a:p>
          <a:p>
            <a:endParaRPr lang="zh-CN" altLang="en-US" sz="2800" dirty="0" smtClean="0">
              <a:latin typeface="楷体" panose="02010609060101010101" pitchFamily="49" charset="-122"/>
              <a:ea typeface="楷体" panose="02010609060101010101" pitchFamily="49" charset="-122"/>
            </a:endParaRPr>
          </a:p>
          <a:p>
            <a:pPr>
              <a:spcBef>
                <a:spcPts val="600"/>
              </a:spcBef>
              <a:spcAft>
                <a:spcPts val="600"/>
              </a:spcAft>
            </a:pPr>
            <a:r>
              <a:rPr lang="zh-CN" altLang="en-US" sz="2800" dirty="0" smtClean="0">
                <a:latin typeface="楷体" panose="02010609060101010101" pitchFamily="49" charset="-122"/>
                <a:ea typeface="楷体" panose="02010609060101010101" pitchFamily="49" charset="-122"/>
              </a:rPr>
              <a:t>		</a:t>
            </a:r>
            <a:endParaRPr lang="zh-CN" altLang="en-US" sz="2800" dirty="0" smtClean="0">
              <a:latin typeface="楷体" panose="02010609060101010101" pitchFamily="49" charset="-122"/>
              <a:ea typeface="楷体" panose="02010609060101010101" pitchFamily="49" charset="-122"/>
            </a:endParaRPr>
          </a:p>
          <a:p>
            <a:pPr>
              <a:spcBef>
                <a:spcPts val="600"/>
              </a:spcBef>
              <a:spcAft>
                <a:spcPts val="600"/>
              </a:spcAft>
            </a:pPr>
            <a:endParaRPr lang="zh-CN" altLang="en-US" sz="2800" dirty="0">
              <a:solidFill>
                <a:srgbClr val="000000"/>
              </a:solidFill>
              <a:latin typeface="Times New Roman" panose="02020603050405020304" pitchFamily="18" charset="0"/>
              <a:ea typeface="+mn-ea"/>
            </a:endParaRPr>
          </a:p>
          <a:p>
            <a:r>
              <a:rPr lang="zh-CN" altLang="en-US" sz="2400" dirty="0">
                <a:solidFill>
                  <a:srgbClr val="000000"/>
                </a:solidFill>
                <a:latin typeface="Times New Roman" panose="02020603050405020304" pitchFamily="18" charset="0"/>
                <a:ea typeface="+mn-ea"/>
              </a:rPr>
              <a:t>       </a:t>
            </a:r>
            <a:endParaRPr lang="zh-CN" altLang="en-US" sz="2400" dirty="0">
              <a:solidFill>
                <a:srgbClr val="000000"/>
              </a:solidFill>
              <a:latin typeface="Times New Roman" panose="02020603050405020304" pitchFamily="18" charset="0"/>
              <a:ea typeface="+mn-ea"/>
            </a:endParaRPr>
          </a:p>
          <a:p>
            <a:r>
              <a:rPr lang="zh-CN" altLang="en-US" sz="2400" dirty="0">
                <a:solidFill>
                  <a:srgbClr val="000000"/>
                </a:solidFill>
                <a:latin typeface="Times New Roman" panose="02020603050405020304" pitchFamily="18" charset="0"/>
                <a:ea typeface="+mn-ea"/>
              </a:rPr>
              <a:t>       </a:t>
            </a:r>
            <a:endParaRPr lang="zh-CN" altLang="en-US" sz="2400" dirty="0">
              <a:solidFill>
                <a:srgbClr val="000000"/>
              </a:solidFill>
              <a:latin typeface="Times New Roman" panose="02020603050405020304" pitchFamily="18" charset="0"/>
              <a:ea typeface="+mn-ea"/>
            </a:endParaRPr>
          </a:p>
        </p:txBody>
      </p:sp>
      <p:sp>
        <p:nvSpPr>
          <p:cNvPr id="11" name="TextBox 10"/>
          <p:cNvSpPr txBox="1"/>
          <p:nvPr/>
        </p:nvSpPr>
        <p:spPr>
          <a:xfrm>
            <a:off x="1919536" y="1432968"/>
            <a:ext cx="8208912" cy="657860"/>
          </a:xfrm>
          <a:prstGeom prst="rect">
            <a:avLst/>
          </a:prstGeom>
          <a:noFill/>
        </p:spPr>
        <p:txBody>
          <a:bodyPr wrap="square" rtlCol="0">
            <a:spAutoFit/>
          </a:bodyPr>
          <a:lstStyle/>
          <a:p>
            <a:pPr>
              <a:tabLst>
                <a:tab pos="254000" algn="l"/>
                <a:tab pos="266700" algn="l"/>
              </a:tabLst>
            </a:pPr>
            <a:r>
              <a:rPr lang="en-US" altLang="zh-CN" sz="2400" b="1" dirty="0" smtClean="0">
                <a:latin typeface="楷体" panose="02010609060101010101" pitchFamily="49" charset="-122"/>
                <a:ea typeface="楷体" panose="02010609060101010101" pitchFamily="49" charset="-122"/>
              </a:rPr>
              <a:t>1</a:t>
            </a:r>
            <a:r>
              <a:rPr lang="zh-CN" altLang="en-US" sz="2400" b="1" dirty="0" smtClean="0">
                <a:latin typeface="楷体" panose="02010609060101010101" pitchFamily="49" charset="-122"/>
                <a:ea typeface="楷体" panose="02010609060101010101" pitchFamily="49" charset="-122"/>
              </a:rPr>
              <a:t>．针对优先权最高的目标建立线性规划</a:t>
            </a:r>
            <a:endParaRPr lang="en-US" altLang="zh-CN" sz="2400" dirty="0" smtClean="0">
              <a:latin typeface="楷体" panose="02010609060101010101" pitchFamily="49" charset="-122"/>
              <a:ea typeface="楷体" panose="02010609060101010101" pitchFamily="49" charset="-122"/>
            </a:endParaRPr>
          </a:p>
          <a:p>
            <a:pPr>
              <a:lnSpc>
                <a:spcPts val="1540"/>
              </a:lnSpc>
              <a:tabLst>
                <a:tab pos="254000" algn="l"/>
                <a:tab pos="266700" algn="l"/>
              </a:tabLst>
            </a:pPr>
            <a:endParaRPr lang="zh-CN" altLang="en-US" dirty="0"/>
          </a:p>
        </p:txBody>
      </p:sp>
      <p:sp>
        <p:nvSpPr>
          <p:cNvPr id="12" name="Text Box 21"/>
          <p:cNvSpPr txBox="1">
            <a:spLocks noChangeArrowheads="1"/>
          </p:cNvSpPr>
          <p:nvPr/>
        </p:nvSpPr>
        <p:spPr bwMode="auto">
          <a:xfrm>
            <a:off x="4823809" y="3887685"/>
            <a:ext cx="5573933" cy="1339215"/>
          </a:xfrm>
          <a:prstGeom prst="rect">
            <a:avLst/>
          </a:prstGeom>
          <a:noFill/>
          <a:ln w="9525">
            <a:noFill/>
            <a:miter lim="800000"/>
          </a:ln>
          <a:effectLst/>
        </p:spPr>
        <p:txBody>
          <a:bodyPr wrap="square" lIns="0" tIns="0" rIns="0" bIns="0">
            <a:spAutoFit/>
          </a:bodyPr>
          <a:lstStyle/>
          <a:p>
            <a:pPr>
              <a:lnSpc>
                <a:spcPts val="1240"/>
              </a:lnSpc>
            </a:pPr>
            <a:r>
              <a:rPr lang="en-US" altLang="zh-CN" sz="2400" dirty="0" smtClean="0">
                <a:solidFill>
                  <a:srgbClr val="000000"/>
                </a:solidFill>
                <a:latin typeface="Times New Roman" panose="02020603050405020304" pitchFamily="18" charset="0"/>
                <a:cs typeface="Times New Roman" panose="02020603050405020304" pitchFamily="18" charset="0"/>
              </a:rPr>
              <a:t>20</a:t>
            </a:r>
            <a:r>
              <a:rPr lang="en-US" altLang="zh-CN" sz="2400" i="1" dirty="0" smtClean="0">
                <a:solidFill>
                  <a:srgbClr val="000000"/>
                </a:solidFill>
                <a:latin typeface="Times New Roman" panose="02020603050405020304" pitchFamily="18" charset="0"/>
                <a:cs typeface="Times New Roman" panose="02020603050405020304" pitchFamily="18" charset="0"/>
              </a:rPr>
              <a:t>x</a:t>
            </a:r>
            <a:r>
              <a:rPr lang="en-US" altLang="zh-CN" sz="2400" baseline="-25000" dirty="0" smtClean="0">
                <a:solidFill>
                  <a:srgbClr val="000000"/>
                </a:solidFill>
                <a:latin typeface="Times New Roman" panose="02020603050405020304" pitchFamily="18" charset="0"/>
                <a:cs typeface="Times New Roman" panose="02020603050405020304" pitchFamily="18" charset="0"/>
              </a:rPr>
              <a:t>1</a:t>
            </a:r>
            <a:r>
              <a:rPr lang="zh-CN" altLang="en-US" sz="2400" dirty="0" smtClean="0">
                <a:solidFill>
                  <a:srgbClr val="000000"/>
                </a:solidFill>
                <a:latin typeface="Times New Roman" panose="02020603050405020304" pitchFamily="18" charset="0"/>
                <a:cs typeface="Times New Roman" panose="02020603050405020304" pitchFamily="18" charset="0"/>
              </a:rPr>
              <a:t>＋</a:t>
            </a:r>
            <a:r>
              <a:rPr lang="en-US" altLang="zh-CN" sz="2400" dirty="0" smtClean="0">
                <a:solidFill>
                  <a:srgbClr val="000000"/>
                </a:solidFill>
                <a:latin typeface="Times New Roman" panose="02020603050405020304" pitchFamily="18" charset="0"/>
                <a:cs typeface="Times New Roman" panose="02020603050405020304" pitchFamily="18" charset="0"/>
              </a:rPr>
              <a:t>50</a:t>
            </a:r>
            <a:r>
              <a:rPr lang="en-US" altLang="zh-CN" sz="2400" i="1" dirty="0" smtClean="0">
                <a:solidFill>
                  <a:srgbClr val="000000"/>
                </a:solidFill>
                <a:latin typeface="Times New Roman" panose="02020603050405020304" pitchFamily="18" charset="0"/>
                <a:cs typeface="Times New Roman" panose="02020603050405020304" pitchFamily="18" charset="0"/>
              </a:rPr>
              <a:t>x</a:t>
            </a:r>
            <a:r>
              <a:rPr lang="en-US" altLang="zh-CN" sz="2400" baseline="-25000" dirty="0" smtClean="0">
                <a:solidFill>
                  <a:srgbClr val="000000"/>
                </a:solidFill>
                <a:latin typeface="Times New Roman" panose="02020603050405020304" pitchFamily="18" charset="0"/>
                <a:cs typeface="Times New Roman" panose="02020603050405020304" pitchFamily="18" charset="0"/>
              </a:rPr>
              <a:t>2</a:t>
            </a:r>
            <a:r>
              <a:rPr lang="en-US" altLang="zh-CN" sz="2400" dirty="0" smtClean="0">
                <a:solidFill>
                  <a:srgbClr val="000000"/>
                </a:solidFill>
                <a:latin typeface="Times New Roman" panose="02020603050405020304" pitchFamily="18" charset="0"/>
                <a:cs typeface="Times New Roman" panose="02020603050405020304" pitchFamily="18" charset="0"/>
              </a:rPr>
              <a:t>≤90000</a:t>
            </a:r>
            <a:endParaRPr lang="en-US" altLang="zh-CN" sz="2400" dirty="0">
              <a:solidFill>
                <a:srgbClr val="000000"/>
              </a:solidFill>
              <a:latin typeface="Times New Roman" panose="02020603050405020304" pitchFamily="18" charset="0"/>
              <a:cs typeface="Times New Roman" panose="02020603050405020304" pitchFamily="18" charset="0"/>
            </a:endParaRPr>
          </a:p>
          <a:p>
            <a:pPr>
              <a:lnSpc>
                <a:spcPts val="1000"/>
              </a:lnSpc>
            </a:pPr>
            <a:endParaRPr lang="en-US" altLang="zh-CN" sz="2400" dirty="0">
              <a:solidFill>
                <a:srgbClr val="000000"/>
              </a:solidFill>
              <a:latin typeface="Times New Roman" panose="02020603050405020304" pitchFamily="18" charset="0"/>
              <a:cs typeface="Times New Roman" panose="02020603050405020304" pitchFamily="18" charset="0"/>
            </a:endParaRPr>
          </a:p>
          <a:p>
            <a:pPr>
              <a:lnSpc>
                <a:spcPts val="1790"/>
              </a:lnSpc>
            </a:pPr>
            <a:r>
              <a:rPr lang="en-US" altLang="zh-CN" sz="2400" dirty="0" smtClean="0">
                <a:solidFill>
                  <a:srgbClr val="000000"/>
                </a:solidFill>
                <a:latin typeface="Times New Roman" panose="02020603050405020304" pitchFamily="18" charset="0"/>
                <a:cs typeface="Times New Roman" panose="02020603050405020304" pitchFamily="18" charset="0"/>
              </a:rPr>
              <a:t>0.5</a:t>
            </a:r>
            <a:r>
              <a:rPr lang="en-US" altLang="zh-CN" sz="2400" i="1" dirty="0" smtClean="0">
                <a:solidFill>
                  <a:srgbClr val="000000"/>
                </a:solidFill>
                <a:latin typeface="Times New Roman" panose="02020603050405020304" pitchFamily="18" charset="0"/>
                <a:cs typeface="Times New Roman" panose="02020603050405020304" pitchFamily="18" charset="0"/>
              </a:rPr>
              <a:t>x</a:t>
            </a:r>
            <a:r>
              <a:rPr lang="en-US" altLang="zh-CN" sz="2400" baseline="-25000" dirty="0" smtClean="0">
                <a:solidFill>
                  <a:srgbClr val="000000"/>
                </a:solidFill>
                <a:latin typeface="Times New Roman" panose="02020603050405020304" pitchFamily="18" charset="0"/>
                <a:cs typeface="Times New Roman" panose="02020603050405020304" pitchFamily="18" charset="0"/>
              </a:rPr>
              <a:t>1</a:t>
            </a:r>
            <a:r>
              <a:rPr lang="en-US" altLang="zh-CN" sz="1200" dirty="0" smtClean="0">
                <a:solidFill>
                  <a:srgbClr val="000000"/>
                </a:solidFill>
                <a:latin typeface="Times New Roman" panose="02020603050405020304" pitchFamily="18" charset="0"/>
                <a:cs typeface="Times New Roman" panose="02020603050405020304" pitchFamily="18" charset="0"/>
              </a:rPr>
              <a:t> </a:t>
            </a:r>
            <a:r>
              <a:rPr lang="en-US" altLang="zh-CN" sz="2400" dirty="0">
                <a:solidFill>
                  <a:srgbClr val="000000"/>
                </a:solidFill>
                <a:latin typeface="Times New Roman" panose="02020603050405020304" pitchFamily="18" charset="0"/>
                <a:cs typeface="Times New Roman" panose="02020603050405020304" pitchFamily="18" charset="0"/>
              </a:rPr>
              <a:t>+</a:t>
            </a:r>
            <a:r>
              <a:rPr lang="en-US" altLang="zh-CN" sz="2400" dirty="0" smtClean="0">
                <a:solidFill>
                  <a:srgbClr val="000000"/>
                </a:solidFill>
                <a:latin typeface="Times New Roman" panose="02020603050405020304" pitchFamily="18" charset="0"/>
                <a:cs typeface="Times New Roman" panose="02020603050405020304" pitchFamily="18" charset="0"/>
              </a:rPr>
              <a:t>0.2</a:t>
            </a:r>
            <a:r>
              <a:rPr lang="en-US" altLang="zh-CN" sz="2400" i="1" dirty="0" smtClean="0">
                <a:solidFill>
                  <a:srgbClr val="000000"/>
                </a:solidFill>
                <a:latin typeface="Times New Roman" panose="02020603050405020304" pitchFamily="18" charset="0"/>
                <a:cs typeface="Times New Roman" panose="02020603050405020304" pitchFamily="18" charset="0"/>
              </a:rPr>
              <a:t>x</a:t>
            </a:r>
            <a:r>
              <a:rPr lang="en-US" altLang="zh-CN" sz="2400" baseline="-25000" dirty="0" smtClean="0">
                <a:solidFill>
                  <a:srgbClr val="000000"/>
                </a:solidFill>
                <a:latin typeface="Times New Roman" panose="02020603050405020304" pitchFamily="18" charset="0"/>
                <a:cs typeface="Times New Roman" panose="02020603050405020304" pitchFamily="18" charset="0"/>
              </a:rPr>
              <a:t>2</a:t>
            </a:r>
            <a:r>
              <a:rPr lang="en-US" altLang="zh-CN" sz="2400" dirty="0" smtClean="0">
                <a:solidFill>
                  <a:srgbClr val="000000"/>
                </a:solidFill>
                <a:latin typeface="Times New Roman" panose="02020603050405020304" pitchFamily="18" charset="0"/>
                <a:cs typeface="Times New Roman" panose="02020603050405020304" pitchFamily="18" charset="0"/>
              </a:rPr>
              <a:t>−</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 d</a:t>
            </a:r>
            <a:r>
              <a:rPr lang="en-US" altLang="zh-CN" sz="2400" baseline="-25000" dirty="0" smtClean="0">
                <a:latin typeface="Times New Roman" panose="02020603050405020304" pitchFamily="18" charset="0"/>
                <a:ea typeface="楷体" panose="02010609060101010101" pitchFamily="49" charset="-122"/>
                <a:cs typeface="Times New Roman" panose="02020603050405020304" pitchFamily="18" charset="0"/>
              </a:rPr>
              <a:t>1</a:t>
            </a:r>
            <a:r>
              <a:rPr lang="en-US" altLang="zh-CN" sz="2400" baseline="30000"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dirty="0" smtClean="0">
                <a:solidFill>
                  <a:srgbClr val="000000"/>
                </a:solidFill>
                <a:latin typeface="Times New Roman" panose="02020603050405020304" pitchFamily="18" charset="0"/>
                <a:cs typeface="Times New Roman" panose="02020603050405020304" pitchFamily="18" charset="0"/>
              </a:rPr>
              <a:t>+</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d</a:t>
            </a:r>
            <a:r>
              <a:rPr lang="en-US" altLang="zh-CN" sz="2400" baseline="-25000" dirty="0" smtClean="0">
                <a:latin typeface="Times New Roman" panose="02020603050405020304" pitchFamily="18" charset="0"/>
                <a:ea typeface="楷体" panose="02010609060101010101" pitchFamily="49" charset="-122"/>
                <a:cs typeface="Times New Roman" panose="02020603050405020304" pitchFamily="18" charset="0"/>
              </a:rPr>
              <a:t>1</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smtClean="0">
                <a:solidFill>
                  <a:srgbClr val="000000"/>
                </a:solidFill>
                <a:latin typeface="Times New Roman" panose="02020603050405020304" pitchFamily="18" charset="0"/>
                <a:cs typeface="Times New Roman" panose="02020603050405020304" pitchFamily="18" charset="0"/>
              </a:rPr>
              <a:t>=700</a:t>
            </a:r>
            <a:endParaRPr lang="en-US" altLang="zh-CN" sz="2400" dirty="0">
              <a:solidFill>
                <a:srgbClr val="000000"/>
              </a:solidFill>
              <a:latin typeface="Times New Roman" panose="02020603050405020304" pitchFamily="18" charset="0"/>
              <a:cs typeface="Times New Roman" panose="02020603050405020304" pitchFamily="18" charset="0"/>
            </a:endParaRPr>
          </a:p>
          <a:p>
            <a:pPr>
              <a:lnSpc>
                <a:spcPts val="1000"/>
              </a:lnSpc>
            </a:pPr>
            <a:endParaRPr lang="en-US" altLang="zh-CN" sz="2400" dirty="0">
              <a:solidFill>
                <a:srgbClr val="000000"/>
              </a:solidFill>
              <a:latin typeface="Times New Roman" panose="02020603050405020304" pitchFamily="18" charset="0"/>
              <a:cs typeface="Times New Roman" panose="02020603050405020304" pitchFamily="18" charset="0"/>
            </a:endParaRPr>
          </a:p>
          <a:p>
            <a:pPr>
              <a:lnSpc>
                <a:spcPts val="2225"/>
              </a:lnSpc>
            </a:pPr>
            <a:r>
              <a:rPr lang="en-US" altLang="zh-CN" sz="2400" dirty="0" smtClean="0">
                <a:solidFill>
                  <a:srgbClr val="000000"/>
                </a:solidFill>
                <a:latin typeface="Times New Roman" panose="02020603050405020304" pitchFamily="18" charset="0"/>
                <a:cs typeface="Times New Roman" panose="02020603050405020304" pitchFamily="18" charset="0"/>
              </a:rPr>
              <a:t>3</a:t>
            </a:r>
            <a:r>
              <a:rPr lang="en-US" altLang="zh-CN" sz="2400" i="1" dirty="0" smtClean="0">
                <a:solidFill>
                  <a:srgbClr val="000000"/>
                </a:solidFill>
                <a:latin typeface="Times New Roman" panose="02020603050405020304" pitchFamily="18" charset="0"/>
                <a:cs typeface="Times New Roman" panose="02020603050405020304" pitchFamily="18" charset="0"/>
              </a:rPr>
              <a:t>x</a:t>
            </a:r>
            <a:r>
              <a:rPr lang="en-US" altLang="zh-CN" sz="2400" baseline="-25000" dirty="0" smtClean="0">
                <a:solidFill>
                  <a:srgbClr val="000000"/>
                </a:solidFill>
                <a:latin typeface="Times New Roman" panose="02020603050405020304" pitchFamily="18" charset="0"/>
                <a:cs typeface="Times New Roman" panose="02020603050405020304" pitchFamily="18" charset="0"/>
              </a:rPr>
              <a:t>1</a:t>
            </a:r>
            <a:r>
              <a:rPr lang="en-US" altLang="zh-CN" sz="2400" dirty="0" smtClean="0">
                <a:solidFill>
                  <a:srgbClr val="000000"/>
                </a:solidFill>
                <a:latin typeface="Times New Roman" panose="02020603050405020304" pitchFamily="18" charset="0"/>
                <a:cs typeface="Times New Roman" panose="02020603050405020304" pitchFamily="18" charset="0"/>
              </a:rPr>
              <a:t>+4</a:t>
            </a:r>
            <a:r>
              <a:rPr lang="en-US" altLang="zh-CN" sz="2400" i="1" dirty="0" smtClean="0">
                <a:solidFill>
                  <a:srgbClr val="000000"/>
                </a:solidFill>
                <a:latin typeface="Times New Roman" panose="02020603050405020304" pitchFamily="18" charset="0"/>
                <a:cs typeface="Times New Roman" panose="02020603050405020304" pitchFamily="18" charset="0"/>
              </a:rPr>
              <a:t>x</a:t>
            </a:r>
            <a:r>
              <a:rPr lang="en-US" altLang="zh-CN" sz="2400" baseline="-25000" dirty="0" smtClean="0">
                <a:solidFill>
                  <a:srgbClr val="000000"/>
                </a:solidFill>
                <a:latin typeface="Times New Roman" panose="02020603050405020304" pitchFamily="18" charset="0"/>
                <a:cs typeface="Times New Roman" panose="02020603050405020304" pitchFamily="18" charset="0"/>
              </a:rPr>
              <a:t>2</a:t>
            </a:r>
            <a:r>
              <a:rPr lang="en-US" altLang="zh-CN" sz="2400" dirty="0" smtClean="0">
                <a:solidFill>
                  <a:srgbClr val="000000"/>
                </a:solidFill>
                <a:latin typeface="Times New Roman" panose="02020603050405020304" pitchFamily="18" charset="0"/>
                <a:cs typeface="Times New Roman" panose="02020603050405020304" pitchFamily="18" charset="0"/>
              </a:rPr>
              <a:t> </a:t>
            </a:r>
            <a:r>
              <a:rPr lang="en-US" altLang="zh-CN" sz="2400" dirty="0" smtClean="0">
                <a:solidFill>
                  <a:srgbClr val="000000"/>
                </a:solidFill>
                <a:latin typeface="Times New Roman" panose="02020603050405020304" pitchFamily="18" charset="0"/>
                <a:cs typeface="Times New Roman" panose="02020603050405020304" pitchFamily="18" charset="0"/>
              </a:rPr>
              <a:t>−</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 d</a:t>
            </a:r>
            <a:r>
              <a:rPr lang="en-US" altLang="zh-CN" sz="2400" baseline="-25000" dirty="0" smtClean="0">
                <a:latin typeface="Times New Roman" panose="02020603050405020304" pitchFamily="18" charset="0"/>
                <a:ea typeface="楷体" panose="02010609060101010101" pitchFamily="49" charset="-122"/>
                <a:cs typeface="Times New Roman" panose="02020603050405020304" pitchFamily="18" charset="0"/>
              </a:rPr>
              <a:t>2</a:t>
            </a:r>
            <a:r>
              <a:rPr lang="en-US" altLang="zh-CN" sz="2400" baseline="30000"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dirty="0" smtClean="0">
                <a:solidFill>
                  <a:srgbClr val="000000"/>
                </a:solidFill>
                <a:latin typeface="Times New Roman" panose="02020603050405020304" pitchFamily="18" charset="0"/>
                <a:cs typeface="Times New Roman" panose="02020603050405020304" pitchFamily="18" charset="0"/>
              </a:rPr>
              <a:t>+</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 d</a:t>
            </a:r>
            <a:r>
              <a:rPr lang="en-US" altLang="zh-CN" sz="2400" baseline="-25000" dirty="0" smtClean="0">
                <a:latin typeface="Times New Roman" panose="02020603050405020304" pitchFamily="18" charset="0"/>
                <a:ea typeface="楷体" panose="02010609060101010101" pitchFamily="49" charset="-122"/>
                <a:cs typeface="Times New Roman" panose="02020603050405020304" pitchFamily="18" charset="0"/>
              </a:rPr>
              <a:t>2</a:t>
            </a:r>
            <a:r>
              <a:rPr lang="en-US" altLang="zh-CN" sz="2400" baseline="30000"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dirty="0" smtClean="0">
                <a:solidFill>
                  <a:srgbClr val="000000"/>
                </a:solidFill>
                <a:latin typeface="Times New Roman" panose="02020603050405020304" pitchFamily="18" charset="0"/>
                <a:cs typeface="Times New Roman" panose="02020603050405020304" pitchFamily="18" charset="0"/>
              </a:rPr>
              <a:t>=10000</a:t>
            </a:r>
            <a:endParaRPr lang="en-US" altLang="zh-CN" sz="2400" dirty="0">
              <a:solidFill>
                <a:srgbClr val="000000"/>
              </a:solidFill>
              <a:latin typeface="Times New Roman" panose="02020603050405020304" pitchFamily="18" charset="0"/>
              <a:cs typeface="Times New Roman" panose="02020603050405020304" pitchFamily="18" charset="0"/>
            </a:endParaRPr>
          </a:p>
          <a:p>
            <a:pPr>
              <a:lnSpc>
                <a:spcPts val="1000"/>
              </a:lnSpc>
            </a:pPr>
            <a:endParaRPr lang="en-US" altLang="zh-CN" sz="2400" dirty="0">
              <a:solidFill>
                <a:srgbClr val="000000"/>
              </a:solidFill>
              <a:latin typeface="Times New Roman" panose="02020603050405020304" pitchFamily="18" charset="0"/>
              <a:cs typeface="Times New Roman" panose="02020603050405020304" pitchFamily="18" charset="0"/>
            </a:endParaRPr>
          </a:p>
          <a:p>
            <a:pPr>
              <a:lnSpc>
                <a:spcPts val="2190"/>
              </a:lnSpc>
            </a:pPr>
            <a:r>
              <a:rPr lang="en-US" altLang="zh-CN" sz="2400" i="1" dirty="0" smtClean="0">
                <a:solidFill>
                  <a:srgbClr val="000000"/>
                </a:solidFill>
                <a:latin typeface="Times New Roman" panose="02020603050405020304" pitchFamily="18" charset="0"/>
                <a:cs typeface="Times New Roman" panose="02020603050405020304" pitchFamily="18" charset="0"/>
              </a:rPr>
              <a:t>x</a:t>
            </a:r>
            <a:r>
              <a:rPr lang="en-US" altLang="zh-CN" sz="2400" baseline="-25000" dirty="0" smtClean="0">
                <a:solidFill>
                  <a:srgbClr val="000000"/>
                </a:solidFill>
                <a:latin typeface="Times New Roman" panose="02020603050405020304" pitchFamily="18" charset="0"/>
                <a:cs typeface="Times New Roman" panose="02020603050405020304" pitchFamily="18" charset="0"/>
              </a:rPr>
              <a:t>1</a:t>
            </a:r>
            <a:r>
              <a:rPr lang="en-US" altLang="zh-CN" sz="2400" dirty="0" smtClean="0">
                <a:solidFill>
                  <a:srgbClr val="000000"/>
                </a:solidFill>
                <a:latin typeface="Times New Roman" panose="02020603050405020304" pitchFamily="18" charset="0"/>
                <a:cs typeface="Times New Roman" panose="02020603050405020304" pitchFamily="18" charset="0"/>
              </a:rPr>
              <a:t>, </a:t>
            </a:r>
            <a:r>
              <a:rPr lang="en-US" altLang="zh-CN" sz="2400" i="1" dirty="0" smtClean="0">
                <a:solidFill>
                  <a:srgbClr val="000000"/>
                </a:solidFill>
                <a:latin typeface="Times New Roman" panose="02020603050405020304" pitchFamily="18" charset="0"/>
                <a:cs typeface="Times New Roman" panose="02020603050405020304" pitchFamily="18" charset="0"/>
              </a:rPr>
              <a:t>x</a:t>
            </a:r>
            <a:r>
              <a:rPr lang="en-US" altLang="zh-CN" sz="2400" baseline="-25000" dirty="0" smtClean="0">
                <a:solidFill>
                  <a:srgbClr val="000000"/>
                </a:solidFill>
                <a:latin typeface="Times New Roman" panose="02020603050405020304" pitchFamily="18" charset="0"/>
                <a:cs typeface="Times New Roman" panose="02020603050405020304" pitchFamily="18" charset="0"/>
              </a:rPr>
              <a:t>2</a:t>
            </a:r>
            <a:r>
              <a:rPr lang="en-US" altLang="zh-CN" sz="2400" dirty="0" smtClean="0">
                <a:solidFill>
                  <a:srgbClr val="000000"/>
                </a:solidFill>
                <a:latin typeface="Times New Roman" panose="02020603050405020304" pitchFamily="18" charset="0"/>
                <a:cs typeface="Times New Roman" panose="02020603050405020304" pitchFamily="18" charset="0"/>
              </a:rPr>
              <a:t>, </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d</a:t>
            </a:r>
            <a:r>
              <a:rPr lang="en-US" altLang="zh-CN" sz="2400" baseline="-25000" dirty="0" smtClean="0">
                <a:latin typeface="Times New Roman" panose="02020603050405020304" pitchFamily="18" charset="0"/>
                <a:ea typeface="楷体" panose="02010609060101010101" pitchFamily="49" charset="-122"/>
                <a:cs typeface="Times New Roman" panose="02020603050405020304" pitchFamily="18" charset="0"/>
              </a:rPr>
              <a:t>1</a:t>
            </a:r>
            <a:r>
              <a:rPr lang="en-US" altLang="zh-CN" sz="2400" baseline="30000"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1600" dirty="0" smtClean="0">
                <a:solidFill>
                  <a:srgbClr val="000000"/>
                </a:solidFill>
                <a:latin typeface="Times New Roman" panose="02020603050405020304" pitchFamily="18" charset="0"/>
                <a:cs typeface="Times New Roman" panose="02020603050405020304" pitchFamily="18" charset="0"/>
              </a:rPr>
              <a:t> </a:t>
            </a:r>
            <a:r>
              <a:rPr lang="en-US" altLang="zh-CN" sz="2400" dirty="0" smtClean="0">
                <a:solidFill>
                  <a:srgbClr val="000000"/>
                </a:solidFill>
                <a:latin typeface="Times New Roman" panose="02020603050405020304" pitchFamily="18" charset="0"/>
                <a:cs typeface="Times New Roman" panose="02020603050405020304" pitchFamily="18" charset="0"/>
              </a:rPr>
              <a:t>,</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 d</a:t>
            </a:r>
            <a:r>
              <a:rPr lang="en-US" altLang="zh-CN" sz="2400" baseline="-25000" dirty="0" smtClean="0">
                <a:latin typeface="Times New Roman" panose="02020603050405020304" pitchFamily="18" charset="0"/>
                <a:ea typeface="楷体" panose="02010609060101010101" pitchFamily="49" charset="-122"/>
                <a:cs typeface="Times New Roman" panose="02020603050405020304" pitchFamily="18" charset="0"/>
              </a:rPr>
              <a:t>1</a:t>
            </a:r>
            <a:r>
              <a:rPr lang="en-US" altLang="zh-CN" sz="2400" baseline="30000"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dirty="0" smtClean="0">
                <a:solidFill>
                  <a:srgbClr val="000000"/>
                </a:solidFill>
                <a:latin typeface="Times New Roman" panose="02020603050405020304" pitchFamily="18" charset="0"/>
                <a:cs typeface="Times New Roman" panose="02020603050405020304" pitchFamily="18" charset="0"/>
              </a:rPr>
              <a:t>≥</a:t>
            </a:r>
            <a:r>
              <a:rPr lang="en-US" altLang="zh-CN" sz="2400" dirty="0">
                <a:solidFill>
                  <a:srgbClr val="000000"/>
                </a:solidFill>
                <a:latin typeface="Times New Roman" panose="02020603050405020304" pitchFamily="18" charset="0"/>
                <a:cs typeface="Times New Roman" panose="02020603050405020304" pitchFamily="18" charset="0"/>
              </a:rPr>
              <a:t>0</a:t>
            </a:r>
            <a:endParaRPr lang="en-US" altLang="zh-CN" sz="2400" dirty="0">
              <a:solidFill>
                <a:srgbClr val="000000"/>
              </a:solidFill>
              <a:latin typeface="Times New Roman" panose="02020603050405020304" pitchFamily="18" charset="0"/>
              <a:cs typeface="Times New Roman" panose="02020603050405020304" pitchFamily="18" charset="0"/>
            </a:endParaRPr>
          </a:p>
        </p:txBody>
      </p:sp>
      <p:sp>
        <p:nvSpPr>
          <p:cNvPr id="9" name="TextBox 8"/>
          <p:cNvSpPr txBox="1"/>
          <p:nvPr/>
        </p:nvSpPr>
        <p:spPr>
          <a:xfrm>
            <a:off x="2531604" y="2333490"/>
            <a:ext cx="6984776" cy="1938020"/>
          </a:xfrm>
          <a:prstGeom prst="rect">
            <a:avLst/>
          </a:prstGeom>
          <a:noFill/>
        </p:spPr>
        <p:txBody>
          <a:bodyPr wrap="square" rtlCol="0">
            <a:spAutoFit/>
          </a:bodyPr>
          <a:lstStyle/>
          <a:p>
            <a:pPr>
              <a:tabLst>
                <a:tab pos="254000" algn="l"/>
                <a:tab pos="266700" algn="l"/>
              </a:tabLst>
            </a:pPr>
            <a:r>
              <a:rPr lang="zh-CN" altLang="en-US" sz="2400" dirty="0" smtClean="0">
                <a:latin typeface="楷体" panose="02010609060101010101" pitchFamily="49" charset="-122"/>
                <a:ea typeface="楷体" panose="02010609060101010101" pitchFamily="49" charset="-122"/>
              </a:rPr>
              <a:t>建立线性规划模型如下：</a:t>
            </a:r>
            <a:endParaRPr lang="zh-CN" altLang="en-US" sz="2400" dirty="0" smtClean="0">
              <a:latin typeface="楷体" panose="02010609060101010101" pitchFamily="49" charset="-122"/>
              <a:ea typeface="楷体" panose="02010609060101010101" pitchFamily="49" charset="-122"/>
            </a:endParaRPr>
          </a:p>
          <a:p>
            <a:pPr>
              <a:tabLst>
                <a:tab pos="254000" algn="l"/>
                <a:tab pos="266700" algn="l"/>
              </a:tabLst>
            </a:pPr>
            <a:endParaRPr lang="zh-CN" altLang="en-US" sz="2400" dirty="0" smtClean="0">
              <a:latin typeface="楷体" panose="02010609060101010101" pitchFamily="49" charset="-122"/>
              <a:ea typeface="楷体" panose="02010609060101010101" pitchFamily="49" charset="-122"/>
            </a:endParaRPr>
          </a:p>
          <a:p>
            <a:pPr algn="ctr">
              <a:tabLst>
                <a:tab pos="254000" algn="l"/>
                <a:tab pos="266700" algn="l"/>
              </a:tabLst>
            </a:pP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min d</a:t>
            </a:r>
            <a:r>
              <a:rPr lang="en-US" altLang="zh-CN" sz="2400" baseline="-25000" dirty="0" smtClean="0">
                <a:latin typeface="Times New Roman" panose="02020603050405020304" pitchFamily="18" charset="0"/>
                <a:ea typeface="楷体" panose="02010609060101010101" pitchFamily="49" charset="-122"/>
                <a:cs typeface="Times New Roman" panose="02020603050405020304" pitchFamily="18" charset="0"/>
              </a:rPr>
              <a:t>1</a:t>
            </a:r>
            <a:r>
              <a:rPr lang="en-US" altLang="zh-CN" sz="2400" baseline="30000"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endParaRPr>
          </a:p>
          <a:p>
            <a:pPr>
              <a:tabLst>
                <a:tab pos="254000" algn="l"/>
                <a:tab pos="266700" algn="l"/>
              </a:tabLst>
            </a:pP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dirty="0" err="1" smtClean="0">
                <a:latin typeface="Times New Roman" panose="02020603050405020304" pitchFamily="18" charset="0"/>
                <a:ea typeface="楷体" panose="02010609060101010101" pitchFamily="49" charset="-122"/>
                <a:cs typeface="Times New Roman" panose="02020603050405020304" pitchFamily="18" charset="0"/>
              </a:rPr>
              <a:t>s.t</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endParaRPr>
          </a:p>
          <a:p>
            <a:pPr>
              <a:tabLst>
                <a:tab pos="254000" algn="l"/>
                <a:tab pos="266700" algn="l"/>
              </a:tabLst>
            </a:pPr>
            <a:endParaRPr lang="zh-CN" altLang="en-US" sz="2400" dirty="0" smtClean="0">
              <a:latin typeface="隶书" panose="02010509060101010101" pitchFamily="49" charset="-122"/>
              <a:ea typeface="隶书" panose="02010509060101010101" pitchFamily="49" charset="-122"/>
            </a:endParaRPr>
          </a:p>
        </p:txBody>
      </p:sp>
      <p:sp>
        <p:nvSpPr>
          <p:cNvPr id="2" name="标题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a:sym typeface="+mn-ea"/>
              </a:rPr>
              <a:t>有优先权的</a:t>
            </a:r>
            <a:r>
              <a:rPr lang="zh-CN" altLang="en-US" dirty="0"/>
              <a:t>目标规划的图解法</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ox(in)">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ox(in)">
                                      <p:cBhvr>
                                        <p:cTn id="12" dur="500"/>
                                        <p:tgtEl>
                                          <p:spTgt spid="9"/>
                                        </p:tgtEl>
                                      </p:cBhvr>
                                    </p:animEffect>
                                  </p:childTnLst>
                                </p:cTn>
                              </p:par>
                              <p:par>
                                <p:cTn id="13" presetID="4" presetClass="entr" presetSubtype="16" fill="hold" grpId="1"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box(in)">
                                      <p:cBhvr>
                                        <p:cTn id="1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1" bldLvl="0" animBg="1"/>
      <p:bldP spid="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22"/>
          <p:cNvSpPr txBox="1">
            <a:spLocks noChangeArrowheads="1"/>
          </p:cNvSpPr>
          <p:nvPr/>
        </p:nvSpPr>
        <p:spPr bwMode="auto">
          <a:xfrm>
            <a:off x="1650242" y="1556792"/>
            <a:ext cx="8893515" cy="4831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a:tabLst>
                <a:tab pos="254000" algn="l"/>
                <a:tab pos="266700" algn="l"/>
              </a:tabLst>
              <a:defRPr>
                <a:solidFill>
                  <a:schemeClr val="tx1"/>
                </a:solidFill>
                <a:latin typeface="Arial" panose="020B0604020202020204" pitchFamily="34" charset="0"/>
                <a:ea typeface="宋体" panose="02010600030101010101" pitchFamily="2" charset="-122"/>
              </a:defRPr>
            </a:lvl1pPr>
            <a:lvl2pPr>
              <a:tabLst>
                <a:tab pos="254000" algn="l"/>
                <a:tab pos="266700" algn="l"/>
              </a:tabLst>
              <a:defRPr>
                <a:solidFill>
                  <a:schemeClr val="tx1"/>
                </a:solidFill>
                <a:latin typeface="Arial" panose="020B0604020202020204" pitchFamily="34" charset="0"/>
                <a:ea typeface="宋体" panose="02010600030101010101" pitchFamily="2" charset="-122"/>
              </a:defRPr>
            </a:lvl2pPr>
            <a:lvl3pPr>
              <a:tabLst>
                <a:tab pos="254000" algn="l"/>
                <a:tab pos="266700" algn="l"/>
              </a:tabLst>
              <a:defRPr>
                <a:solidFill>
                  <a:schemeClr val="tx1"/>
                </a:solidFill>
                <a:latin typeface="Arial" panose="020B0604020202020204" pitchFamily="34" charset="0"/>
                <a:ea typeface="宋体" panose="02010600030101010101" pitchFamily="2" charset="-122"/>
              </a:defRPr>
            </a:lvl3pPr>
            <a:lvl4pPr>
              <a:tabLst>
                <a:tab pos="254000" algn="l"/>
                <a:tab pos="266700" algn="l"/>
              </a:tabLst>
              <a:defRPr>
                <a:solidFill>
                  <a:schemeClr val="tx1"/>
                </a:solidFill>
                <a:latin typeface="Arial" panose="020B0604020202020204" pitchFamily="34" charset="0"/>
                <a:ea typeface="宋体" panose="02010600030101010101" pitchFamily="2" charset="-122"/>
              </a:defRPr>
            </a:lvl4pPr>
            <a:lvl5pPr>
              <a:tabLst>
                <a:tab pos="254000" algn="l"/>
                <a:tab pos="266700"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254000" algn="l"/>
                <a:tab pos="266700"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254000" algn="l"/>
                <a:tab pos="266700"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254000" algn="l"/>
                <a:tab pos="266700"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254000" algn="l"/>
                <a:tab pos="266700" algn="l"/>
              </a:tabLst>
              <a:defRPr>
                <a:solidFill>
                  <a:schemeClr val="tx1"/>
                </a:solidFill>
                <a:latin typeface="Arial" panose="020B0604020202020204" pitchFamily="34" charset="0"/>
                <a:ea typeface="宋体" panose="02010600030101010101" pitchFamily="2" charset="-122"/>
              </a:defRPr>
            </a:lvl9pPr>
          </a:lstStyle>
          <a:p>
            <a:endParaRPr lang="en-US" altLang="zh-CN" sz="2800" dirty="0" smtClean="0">
              <a:latin typeface="楷体" panose="02010609060101010101" pitchFamily="49" charset="-122"/>
              <a:ea typeface="楷体" panose="02010609060101010101" pitchFamily="49" charset="-122"/>
            </a:endParaRPr>
          </a:p>
          <a:p>
            <a:endParaRPr lang="en-US" altLang="zh-CN" sz="2800" dirty="0" smtClean="0">
              <a:latin typeface="楷体" panose="02010609060101010101" pitchFamily="49" charset="-122"/>
              <a:ea typeface="楷体" panose="02010609060101010101" pitchFamily="49" charset="-122"/>
            </a:endParaRPr>
          </a:p>
          <a:p>
            <a:endParaRPr lang="en-US" altLang="zh-CN" sz="2800" dirty="0" smtClean="0">
              <a:latin typeface="楷体" panose="02010609060101010101" pitchFamily="49" charset="-122"/>
              <a:ea typeface="楷体" panose="02010609060101010101" pitchFamily="49" charset="-122"/>
            </a:endParaRPr>
          </a:p>
          <a:p>
            <a:endParaRPr lang="en-US" altLang="zh-CN" sz="2800" dirty="0" smtClean="0">
              <a:latin typeface="楷体" panose="02010609060101010101" pitchFamily="49" charset="-122"/>
              <a:ea typeface="楷体" panose="02010609060101010101" pitchFamily="49" charset="-122"/>
            </a:endParaRPr>
          </a:p>
          <a:p>
            <a:endParaRPr lang="en-US" altLang="zh-CN" sz="2800" dirty="0" smtClean="0">
              <a:latin typeface="楷体" panose="02010609060101010101" pitchFamily="49" charset="-122"/>
              <a:ea typeface="楷体" panose="02010609060101010101" pitchFamily="49" charset="-122"/>
            </a:endParaRPr>
          </a:p>
          <a:p>
            <a:endParaRPr lang="en-US" altLang="zh-CN" sz="2800" dirty="0" smtClean="0">
              <a:latin typeface="楷体" panose="02010609060101010101" pitchFamily="49" charset="-122"/>
              <a:ea typeface="楷体" panose="02010609060101010101" pitchFamily="49" charset="-122"/>
            </a:endParaRPr>
          </a:p>
          <a:p>
            <a:endParaRPr lang="en-US" altLang="zh-CN" sz="2800" dirty="0" smtClean="0">
              <a:latin typeface="楷体" panose="02010609060101010101" pitchFamily="49" charset="-122"/>
              <a:ea typeface="楷体" panose="02010609060101010101" pitchFamily="49" charset="-122"/>
            </a:endParaRPr>
          </a:p>
          <a:p>
            <a:pPr algn="ctr"/>
            <a:endParaRPr lang="en-US" altLang="zh-CN" sz="2400" dirty="0" smtClean="0">
              <a:latin typeface="楷体" panose="02010609060101010101" pitchFamily="49" charset="-122"/>
              <a:ea typeface="楷体" panose="02010609060101010101" pitchFamily="49" charset="-122"/>
            </a:endParaRPr>
          </a:p>
          <a:p>
            <a:pPr algn="ctr"/>
            <a:r>
              <a:rPr lang="zh-CN" altLang="en-US" sz="2400" dirty="0" smtClean="0">
                <a:latin typeface="楷体" panose="02010609060101010101" pitchFamily="49" charset="-122"/>
                <a:ea typeface="楷体" panose="02010609060101010101" pitchFamily="49" charset="-122"/>
              </a:rPr>
              <a:t>  当</a:t>
            </a:r>
            <a:r>
              <a:rPr lang="en-US" altLang="zh-CN" sz="2400" dirty="0" smtClean="0">
                <a:latin typeface="楷体" panose="02010609060101010101" pitchFamily="49" charset="-122"/>
                <a:ea typeface="楷体" panose="02010609060101010101" pitchFamily="49" charset="-122"/>
              </a:rPr>
              <a:t>d</a:t>
            </a:r>
            <a:r>
              <a:rPr lang="en-US" altLang="zh-CN" sz="2400" baseline="-25000" dirty="0" smtClean="0">
                <a:latin typeface="楷体" panose="02010609060101010101" pitchFamily="49" charset="-122"/>
                <a:ea typeface="楷体" panose="02010609060101010101" pitchFamily="49" charset="-122"/>
              </a:rPr>
              <a:t>1</a:t>
            </a:r>
            <a:r>
              <a:rPr lang="en-US" altLang="zh-CN" sz="2400" baseline="30000" dirty="0" smtClean="0">
                <a:latin typeface="楷体" panose="02010609060101010101" pitchFamily="49" charset="-122"/>
                <a:ea typeface="楷体" panose="02010609060101010101" pitchFamily="49" charset="-122"/>
              </a:rPr>
              <a:t>+ </a:t>
            </a:r>
            <a:r>
              <a:rPr lang="en-US" altLang="zh-CN" sz="2400" dirty="0" smtClean="0">
                <a:latin typeface="楷体" panose="02010609060101010101" pitchFamily="49" charset="-122"/>
                <a:ea typeface="楷体" panose="02010609060101010101" pitchFamily="49" charset="-122"/>
              </a:rPr>
              <a:t>= d</a:t>
            </a:r>
            <a:r>
              <a:rPr lang="en-US" altLang="zh-CN" sz="2400" baseline="-25000" dirty="0" smtClean="0">
                <a:latin typeface="楷体" panose="02010609060101010101" pitchFamily="49" charset="-122"/>
                <a:ea typeface="楷体" panose="02010609060101010101" pitchFamily="49" charset="-122"/>
              </a:rPr>
              <a:t>1</a:t>
            </a:r>
            <a:r>
              <a:rPr lang="en-US" altLang="zh-CN" sz="2400" baseline="30000" dirty="0" smtClean="0">
                <a:latin typeface="楷体" panose="02010609060101010101" pitchFamily="49" charset="-122"/>
                <a:ea typeface="楷体" panose="02010609060101010101" pitchFamily="49" charset="-122"/>
              </a:rPr>
              <a:t>-</a:t>
            </a:r>
            <a:r>
              <a:rPr lang="en-US" altLang="zh-CN" sz="2400" dirty="0" smtClean="0">
                <a:latin typeface="楷体" panose="02010609060101010101" pitchFamily="49" charset="-122"/>
                <a:ea typeface="楷体" panose="02010609060101010101" pitchFamily="49" charset="-122"/>
              </a:rPr>
              <a:t>=0</a:t>
            </a:r>
            <a:r>
              <a:rPr lang="zh-CN" altLang="en-US" sz="2400" dirty="0" smtClean="0">
                <a:latin typeface="楷体" panose="02010609060101010101" pitchFamily="49" charset="-122"/>
                <a:ea typeface="楷体" panose="02010609060101010101" pitchFamily="49" charset="-122"/>
              </a:rPr>
              <a:t>时，约束条件</a:t>
            </a:r>
            <a:r>
              <a:rPr lang="en-US" altLang="zh-CN" sz="2400" dirty="0" smtClean="0">
                <a:solidFill>
                  <a:srgbClr val="000000"/>
                </a:solidFill>
                <a:latin typeface="Times New Roman" panose="02020603050405020304" pitchFamily="18" charset="0"/>
              </a:rPr>
              <a:t>0.5</a:t>
            </a:r>
            <a:r>
              <a:rPr lang="en-US" altLang="zh-CN" sz="2400" i="1" dirty="0" smtClean="0">
                <a:solidFill>
                  <a:srgbClr val="000000"/>
                </a:solidFill>
                <a:latin typeface="Times New Roman" panose="02020603050405020304" pitchFamily="18" charset="0"/>
              </a:rPr>
              <a:t>x</a:t>
            </a:r>
            <a:r>
              <a:rPr lang="en-US" altLang="zh-CN" sz="2400" baseline="-25000" dirty="0" smtClean="0">
                <a:solidFill>
                  <a:srgbClr val="000000"/>
                </a:solidFill>
                <a:latin typeface="Times New Roman" panose="02020603050405020304" pitchFamily="18" charset="0"/>
              </a:rPr>
              <a:t>1</a:t>
            </a:r>
            <a:r>
              <a:rPr lang="en-US" altLang="zh-CN" sz="1200" dirty="0" smtClean="0">
                <a:solidFill>
                  <a:srgbClr val="000000"/>
                </a:solidFill>
                <a:latin typeface="Times New Roman" panose="02020603050405020304" pitchFamily="18" charset="0"/>
              </a:rPr>
              <a:t> </a:t>
            </a:r>
            <a:r>
              <a:rPr lang="en-US" altLang="zh-CN" sz="2400" dirty="0" smtClean="0">
                <a:solidFill>
                  <a:srgbClr val="000000"/>
                </a:solidFill>
                <a:latin typeface="Times New Roman" panose="02020603050405020304" pitchFamily="18" charset="0"/>
              </a:rPr>
              <a:t>+</a:t>
            </a:r>
            <a:r>
              <a:rPr lang="en-US" altLang="zh-CN" sz="2400" dirty="0" smtClean="0">
                <a:solidFill>
                  <a:srgbClr val="000000"/>
                </a:solidFill>
                <a:latin typeface="Times New Roman" panose="02020603050405020304" pitchFamily="18" charset="0"/>
              </a:rPr>
              <a:t>0.2</a:t>
            </a:r>
            <a:r>
              <a:rPr lang="en-US" altLang="zh-CN" sz="2400" i="1" dirty="0" smtClean="0">
                <a:solidFill>
                  <a:srgbClr val="000000"/>
                </a:solidFill>
                <a:latin typeface="Times New Roman" panose="02020603050405020304" pitchFamily="18" charset="0"/>
              </a:rPr>
              <a:t>x</a:t>
            </a:r>
            <a:r>
              <a:rPr lang="en-US" altLang="zh-CN" sz="2400" baseline="-25000" dirty="0" smtClean="0">
                <a:solidFill>
                  <a:srgbClr val="000000"/>
                </a:solidFill>
                <a:latin typeface="Times New Roman" panose="02020603050405020304" pitchFamily="18" charset="0"/>
              </a:rPr>
              <a:t>2</a:t>
            </a:r>
            <a:r>
              <a:rPr lang="en-US" altLang="zh-CN" sz="2400" dirty="0" smtClean="0">
                <a:solidFill>
                  <a:srgbClr val="000000"/>
                </a:solidFill>
                <a:latin typeface="Times New Roman" panose="02020603050405020304" pitchFamily="18" charset="0"/>
              </a:rPr>
              <a:t>−</a:t>
            </a:r>
            <a:r>
              <a:rPr lang="en-US" altLang="zh-CN" sz="2400" dirty="0" smtClean="0">
                <a:latin typeface="楷体" panose="02010609060101010101" pitchFamily="49" charset="-122"/>
                <a:ea typeface="楷体" panose="02010609060101010101" pitchFamily="49" charset="-122"/>
              </a:rPr>
              <a:t> d</a:t>
            </a:r>
            <a:r>
              <a:rPr lang="en-US" altLang="zh-CN" sz="2400" baseline="-25000" dirty="0" smtClean="0">
                <a:latin typeface="楷体" panose="02010609060101010101" pitchFamily="49" charset="-122"/>
                <a:ea typeface="楷体" panose="02010609060101010101" pitchFamily="49" charset="-122"/>
              </a:rPr>
              <a:t>1</a:t>
            </a:r>
            <a:r>
              <a:rPr lang="en-US" altLang="zh-CN" sz="2400" baseline="30000" dirty="0" smtClean="0">
                <a:latin typeface="楷体" panose="02010609060101010101" pitchFamily="49" charset="-122"/>
                <a:ea typeface="楷体" panose="02010609060101010101" pitchFamily="49" charset="-122"/>
              </a:rPr>
              <a:t>+ </a:t>
            </a:r>
            <a:r>
              <a:rPr lang="en-US" altLang="zh-CN" sz="2400" dirty="0" smtClean="0">
                <a:solidFill>
                  <a:srgbClr val="000000"/>
                </a:solidFill>
                <a:latin typeface="Times New Roman" panose="02020603050405020304" pitchFamily="18" charset="0"/>
              </a:rPr>
              <a:t>+</a:t>
            </a:r>
            <a:r>
              <a:rPr lang="en-US" altLang="zh-CN" sz="2400" dirty="0" smtClean="0">
                <a:latin typeface="楷体" panose="02010609060101010101" pitchFamily="49" charset="-122"/>
                <a:ea typeface="楷体" panose="02010609060101010101" pitchFamily="49" charset="-122"/>
              </a:rPr>
              <a:t> d</a:t>
            </a:r>
            <a:r>
              <a:rPr lang="en-US" altLang="zh-CN" sz="2400" baseline="-25000" dirty="0" smtClean="0">
                <a:latin typeface="楷体" panose="02010609060101010101" pitchFamily="49" charset="-122"/>
                <a:ea typeface="楷体" panose="02010609060101010101" pitchFamily="49" charset="-122"/>
              </a:rPr>
              <a:t>1</a:t>
            </a:r>
            <a:r>
              <a:rPr lang="en-US" altLang="zh-CN" sz="2400" baseline="30000" dirty="0" smtClean="0">
                <a:latin typeface="楷体" panose="02010609060101010101" pitchFamily="49" charset="-122"/>
                <a:ea typeface="楷体" panose="02010609060101010101" pitchFamily="49" charset="-122"/>
              </a:rPr>
              <a:t>-</a:t>
            </a:r>
            <a:r>
              <a:rPr lang="en-US" altLang="zh-CN" sz="2400" dirty="0" smtClean="0">
                <a:solidFill>
                  <a:srgbClr val="000000"/>
                </a:solidFill>
                <a:latin typeface="Times New Roman" panose="02020603050405020304" pitchFamily="18" charset="0"/>
              </a:rPr>
              <a:t>=700</a:t>
            </a:r>
            <a:r>
              <a:rPr lang="zh-CN" altLang="en-US" sz="2400" dirty="0" smtClean="0">
                <a:latin typeface="楷体" panose="02010609060101010101" pitchFamily="49" charset="-122"/>
                <a:ea typeface="楷体" panose="02010609060101010101" pitchFamily="49" charset="-122"/>
              </a:rPr>
              <a:t>变为</a:t>
            </a:r>
            <a:endParaRPr lang="zh-CN" altLang="en-US" sz="2400" dirty="0" smtClean="0">
              <a:latin typeface="楷体" panose="02010609060101010101" pitchFamily="49" charset="-122"/>
              <a:ea typeface="楷体" panose="02010609060101010101" pitchFamily="49" charset="-122"/>
            </a:endParaRPr>
          </a:p>
          <a:p>
            <a:pPr algn="ctr">
              <a:lnSpc>
                <a:spcPct val="150000"/>
              </a:lnSpc>
              <a:spcBef>
                <a:spcPts val="600"/>
              </a:spcBef>
              <a:spcAft>
                <a:spcPts val="600"/>
              </a:spcAft>
            </a:pPr>
            <a:r>
              <a:rPr lang="en-US" altLang="zh-CN" sz="2400" dirty="0" smtClean="0">
                <a:solidFill>
                  <a:srgbClr val="000000"/>
                </a:solidFill>
                <a:latin typeface="Times New Roman" panose="02020603050405020304" pitchFamily="18" charset="0"/>
              </a:rPr>
              <a:t>0.5</a:t>
            </a:r>
            <a:r>
              <a:rPr lang="en-US" altLang="zh-CN" sz="2400" i="1" dirty="0" smtClean="0">
                <a:solidFill>
                  <a:srgbClr val="000000"/>
                </a:solidFill>
                <a:latin typeface="Times New Roman" panose="02020603050405020304" pitchFamily="18" charset="0"/>
              </a:rPr>
              <a:t>x</a:t>
            </a:r>
            <a:r>
              <a:rPr lang="en-US" altLang="zh-CN" sz="2400" baseline="-25000" dirty="0" smtClean="0">
                <a:solidFill>
                  <a:srgbClr val="000000"/>
                </a:solidFill>
                <a:latin typeface="Times New Roman" panose="02020603050405020304" pitchFamily="18" charset="0"/>
              </a:rPr>
              <a:t>1</a:t>
            </a:r>
            <a:r>
              <a:rPr lang="en-US" altLang="zh-CN" sz="1200" dirty="0" smtClean="0">
                <a:solidFill>
                  <a:srgbClr val="000000"/>
                </a:solidFill>
                <a:latin typeface="Times New Roman" panose="02020603050405020304" pitchFamily="18" charset="0"/>
              </a:rPr>
              <a:t> </a:t>
            </a:r>
            <a:r>
              <a:rPr lang="en-US" altLang="zh-CN" sz="2400" dirty="0" smtClean="0">
                <a:solidFill>
                  <a:srgbClr val="000000"/>
                </a:solidFill>
                <a:latin typeface="Times New Roman" panose="02020603050405020304" pitchFamily="18" charset="0"/>
              </a:rPr>
              <a:t>+</a:t>
            </a:r>
            <a:r>
              <a:rPr lang="en-US" altLang="zh-CN" sz="2400" dirty="0" smtClean="0">
                <a:solidFill>
                  <a:srgbClr val="000000"/>
                </a:solidFill>
                <a:latin typeface="Times New Roman" panose="02020603050405020304" pitchFamily="18" charset="0"/>
              </a:rPr>
              <a:t>0.2</a:t>
            </a:r>
            <a:r>
              <a:rPr lang="en-US" altLang="zh-CN" sz="2400" i="1" dirty="0" smtClean="0">
                <a:solidFill>
                  <a:srgbClr val="000000"/>
                </a:solidFill>
                <a:latin typeface="Times New Roman" panose="02020603050405020304" pitchFamily="18" charset="0"/>
              </a:rPr>
              <a:t>x</a:t>
            </a:r>
            <a:r>
              <a:rPr lang="en-US" altLang="zh-CN" sz="2400" baseline="-25000" dirty="0" smtClean="0">
                <a:solidFill>
                  <a:srgbClr val="000000"/>
                </a:solidFill>
                <a:latin typeface="Times New Roman" panose="02020603050405020304" pitchFamily="18" charset="0"/>
              </a:rPr>
              <a:t>2</a:t>
            </a:r>
            <a:r>
              <a:rPr lang="en-US" altLang="zh-CN" sz="2400" dirty="0" smtClean="0">
                <a:solidFill>
                  <a:srgbClr val="000000"/>
                </a:solidFill>
                <a:latin typeface="Times New Roman" panose="02020603050405020304" pitchFamily="18" charset="0"/>
              </a:rPr>
              <a:t>=700</a:t>
            </a:r>
            <a:r>
              <a:rPr lang="zh-CN" altLang="en-US" sz="2400" dirty="0" smtClean="0">
                <a:latin typeface="楷体" panose="02010609060101010101" pitchFamily="49" charset="-122"/>
                <a:ea typeface="楷体" panose="02010609060101010101" pitchFamily="49" charset="-122"/>
              </a:rPr>
              <a:t>；  </a:t>
            </a:r>
            <a:endParaRPr lang="zh-CN" altLang="en-US" sz="2400" dirty="0" smtClean="0">
              <a:latin typeface="楷体" panose="02010609060101010101" pitchFamily="49" charset="-122"/>
              <a:ea typeface="楷体" panose="02010609060101010101" pitchFamily="49" charset="-122"/>
            </a:endParaRPr>
          </a:p>
          <a:p>
            <a:r>
              <a:rPr lang="zh-CN" altLang="en-US" sz="2400" dirty="0" smtClean="0">
                <a:latin typeface="楷体" panose="02010609060101010101" pitchFamily="49" charset="-122"/>
                <a:ea typeface="楷体" panose="02010609060101010101" pitchFamily="49" charset="-122"/>
              </a:rPr>
              <a:t>     约束条件</a:t>
            </a:r>
            <a:r>
              <a:rPr lang="en-US" altLang="zh-CN" sz="2400" dirty="0" smtClean="0">
                <a:solidFill>
                  <a:srgbClr val="000000"/>
                </a:solidFill>
                <a:latin typeface="Times New Roman" panose="02020603050405020304" pitchFamily="18" charset="0"/>
              </a:rPr>
              <a:t>3</a:t>
            </a:r>
            <a:r>
              <a:rPr lang="en-US" altLang="zh-CN" sz="2400" i="1" dirty="0" smtClean="0">
                <a:solidFill>
                  <a:srgbClr val="000000"/>
                </a:solidFill>
                <a:latin typeface="Times New Roman" panose="02020603050405020304" pitchFamily="18" charset="0"/>
              </a:rPr>
              <a:t>x</a:t>
            </a:r>
            <a:r>
              <a:rPr lang="en-US" altLang="zh-CN" sz="2400" baseline="-25000" dirty="0" smtClean="0">
                <a:solidFill>
                  <a:srgbClr val="000000"/>
                </a:solidFill>
                <a:latin typeface="Times New Roman" panose="02020603050405020304" pitchFamily="18" charset="0"/>
              </a:rPr>
              <a:t>1</a:t>
            </a:r>
            <a:r>
              <a:rPr lang="en-US" altLang="zh-CN" sz="2400" dirty="0" smtClean="0">
                <a:solidFill>
                  <a:srgbClr val="000000"/>
                </a:solidFill>
                <a:latin typeface="Times New Roman" panose="02020603050405020304" pitchFamily="18" charset="0"/>
              </a:rPr>
              <a:t>+4</a:t>
            </a:r>
            <a:r>
              <a:rPr lang="en-US" altLang="zh-CN" sz="2400" i="1" dirty="0" smtClean="0">
                <a:solidFill>
                  <a:srgbClr val="000000"/>
                </a:solidFill>
                <a:latin typeface="Times New Roman" panose="02020603050405020304" pitchFamily="18" charset="0"/>
              </a:rPr>
              <a:t>x</a:t>
            </a:r>
            <a:r>
              <a:rPr lang="en-US" altLang="zh-CN" sz="2400" baseline="-25000" dirty="0" smtClean="0">
                <a:solidFill>
                  <a:srgbClr val="000000"/>
                </a:solidFill>
                <a:latin typeface="Times New Roman" panose="02020603050405020304" pitchFamily="18" charset="0"/>
              </a:rPr>
              <a:t>2</a:t>
            </a:r>
            <a:r>
              <a:rPr lang="en-US" altLang="zh-CN" sz="2400" dirty="0" smtClean="0">
                <a:solidFill>
                  <a:srgbClr val="000000"/>
                </a:solidFill>
                <a:latin typeface="Times New Roman" panose="02020603050405020304" pitchFamily="18" charset="0"/>
              </a:rPr>
              <a:t> </a:t>
            </a:r>
            <a:r>
              <a:rPr lang="en-US" altLang="zh-CN" sz="2400" dirty="0" smtClean="0">
                <a:solidFill>
                  <a:srgbClr val="000000"/>
                </a:solidFill>
                <a:latin typeface="Times New Roman" panose="02020603050405020304" pitchFamily="18" charset="0"/>
              </a:rPr>
              <a:t>−</a:t>
            </a:r>
            <a:r>
              <a:rPr lang="en-US" altLang="zh-CN" sz="2400" dirty="0" smtClean="0">
                <a:latin typeface="楷体" panose="02010609060101010101" pitchFamily="49" charset="-122"/>
                <a:ea typeface="楷体" panose="02010609060101010101" pitchFamily="49" charset="-122"/>
              </a:rPr>
              <a:t> d</a:t>
            </a:r>
            <a:r>
              <a:rPr lang="en-US" altLang="zh-CN" sz="2400" baseline="-25000" dirty="0" smtClean="0">
                <a:latin typeface="楷体" panose="02010609060101010101" pitchFamily="49" charset="-122"/>
                <a:ea typeface="楷体" panose="02010609060101010101" pitchFamily="49" charset="-122"/>
              </a:rPr>
              <a:t>2</a:t>
            </a:r>
            <a:r>
              <a:rPr lang="en-US" altLang="zh-CN" sz="2400" baseline="30000" dirty="0" smtClean="0">
                <a:latin typeface="楷体" panose="02010609060101010101" pitchFamily="49" charset="-122"/>
                <a:ea typeface="楷体" panose="02010609060101010101" pitchFamily="49" charset="-122"/>
              </a:rPr>
              <a:t>+ </a:t>
            </a:r>
            <a:r>
              <a:rPr lang="en-US" altLang="zh-CN" sz="2400" dirty="0" smtClean="0">
                <a:solidFill>
                  <a:srgbClr val="000000"/>
                </a:solidFill>
                <a:latin typeface="Times New Roman" panose="02020603050405020304" pitchFamily="18" charset="0"/>
              </a:rPr>
              <a:t>+</a:t>
            </a:r>
            <a:r>
              <a:rPr lang="en-US" altLang="zh-CN" sz="2400" dirty="0" smtClean="0">
                <a:latin typeface="楷体" panose="02010609060101010101" pitchFamily="49" charset="-122"/>
                <a:ea typeface="楷体" panose="02010609060101010101" pitchFamily="49" charset="-122"/>
              </a:rPr>
              <a:t> d</a:t>
            </a:r>
            <a:r>
              <a:rPr lang="en-US" altLang="zh-CN" sz="2400" baseline="-25000" dirty="0" smtClean="0">
                <a:latin typeface="楷体" panose="02010609060101010101" pitchFamily="49" charset="-122"/>
                <a:ea typeface="楷体" panose="02010609060101010101" pitchFamily="49" charset="-122"/>
              </a:rPr>
              <a:t>2</a:t>
            </a:r>
            <a:r>
              <a:rPr lang="en-US" altLang="zh-CN" sz="2400" baseline="30000" dirty="0" smtClean="0">
                <a:latin typeface="楷体" panose="02010609060101010101" pitchFamily="49" charset="-122"/>
                <a:ea typeface="楷体" panose="02010609060101010101" pitchFamily="49" charset="-122"/>
              </a:rPr>
              <a:t>- </a:t>
            </a:r>
            <a:r>
              <a:rPr lang="en-US" altLang="zh-CN" sz="2400" dirty="0" smtClean="0">
                <a:solidFill>
                  <a:srgbClr val="000000"/>
                </a:solidFill>
                <a:latin typeface="Times New Roman" panose="02020603050405020304" pitchFamily="18" charset="0"/>
              </a:rPr>
              <a:t>=10000</a:t>
            </a:r>
            <a:r>
              <a:rPr lang="zh-CN" altLang="en-US" sz="2400" dirty="0" smtClean="0">
                <a:latin typeface="楷体" panose="02010609060101010101" pitchFamily="49" charset="-122"/>
                <a:ea typeface="楷体" panose="02010609060101010101" pitchFamily="49" charset="-122"/>
              </a:rPr>
              <a:t>暂时不起作用。</a:t>
            </a:r>
            <a:endParaRPr lang="zh-CN" altLang="en-US" sz="2400" dirty="0" smtClean="0">
              <a:latin typeface="楷体" panose="02010609060101010101" pitchFamily="49" charset="-122"/>
              <a:ea typeface="楷体" panose="02010609060101010101" pitchFamily="49" charset="-122"/>
            </a:endParaRPr>
          </a:p>
        </p:txBody>
      </p:sp>
      <p:sp>
        <p:nvSpPr>
          <p:cNvPr id="2" name="标题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a:sym typeface="+mn-ea"/>
              </a:rPr>
              <a:t>有优先权的</a:t>
            </a:r>
            <a:r>
              <a:rPr lang="zh-CN" altLang="en-US" dirty="0"/>
              <a:t>目标规划的图解法</a:t>
            </a:r>
            <a:endParaRPr lang="zh-CN" altLang="en-US" dirty="0"/>
          </a:p>
        </p:txBody>
      </p:sp>
      <p:pic>
        <p:nvPicPr>
          <p:cNvPr id="3" name="图片 2"/>
          <p:cNvPicPr>
            <a:picLocks noChangeAspect="1"/>
          </p:cNvPicPr>
          <p:nvPr/>
        </p:nvPicPr>
        <p:blipFill>
          <a:blip r:embed="rId1"/>
          <a:stretch>
            <a:fillRect/>
          </a:stretch>
        </p:blipFill>
        <p:spPr>
          <a:xfrm>
            <a:off x="3276898" y="1374413"/>
            <a:ext cx="4495204" cy="3433782"/>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22"/>
          <p:cNvSpPr txBox="1">
            <a:spLocks noChangeArrowheads="1"/>
          </p:cNvSpPr>
          <p:nvPr/>
        </p:nvSpPr>
        <p:spPr bwMode="auto">
          <a:xfrm>
            <a:off x="1794290" y="1266056"/>
            <a:ext cx="8352928" cy="16617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a:tabLst>
                <a:tab pos="254000" algn="l"/>
                <a:tab pos="266700" algn="l"/>
              </a:tabLst>
              <a:defRPr>
                <a:solidFill>
                  <a:schemeClr val="tx1"/>
                </a:solidFill>
                <a:latin typeface="Arial" panose="020B0604020202020204" pitchFamily="34" charset="0"/>
                <a:ea typeface="宋体" panose="02010600030101010101" pitchFamily="2" charset="-122"/>
              </a:defRPr>
            </a:lvl1pPr>
            <a:lvl2pPr>
              <a:tabLst>
                <a:tab pos="254000" algn="l"/>
                <a:tab pos="266700" algn="l"/>
              </a:tabLst>
              <a:defRPr>
                <a:solidFill>
                  <a:schemeClr val="tx1"/>
                </a:solidFill>
                <a:latin typeface="Arial" panose="020B0604020202020204" pitchFamily="34" charset="0"/>
                <a:ea typeface="宋体" panose="02010600030101010101" pitchFamily="2" charset="-122"/>
              </a:defRPr>
            </a:lvl2pPr>
            <a:lvl3pPr>
              <a:tabLst>
                <a:tab pos="254000" algn="l"/>
                <a:tab pos="266700" algn="l"/>
              </a:tabLst>
              <a:defRPr>
                <a:solidFill>
                  <a:schemeClr val="tx1"/>
                </a:solidFill>
                <a:latin typeface="Arial" panose="020B0604020202020204" pitchFamily="34" charset="0"/>
                <a:ea typeface="宋体" panose="02010600030101010101" pitchFamily="2" charset="-122"/>
              </a:defRPr>
            </a:lvl3pPr>
            <a:lvl4pPr>
              <a:tabLst>
                <a:tab pos="254000" algn="l"/>
                <a:tab pos="266700" algn="l"/>
              </a:tabLst>
              <a:defRPr>
                <a:solidFill>
                  <a:schemeClr val="tx1"/>
                </a:solidFill>
                <a:latin typeface="Arial" panose="020B0604020202020204" pitchFamily="34" charset="0"/>
                <a:ea typeface="宋体" panose="02010600030101010101" pitchFamily="2" charset="-122"/>
              </a:defRPr>
            </a:lvl4pPr>
            <a:lvl5pPr>
              <a:tabLst>
                <a:tab pos="254000" algn="l"/>
                <a:tab pos="266700"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254000" algn="l"/>
                <a:tab pos="266700"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254000" algn="l"/>
                <a:tab pos="266700"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254000" algn="l"/>
                <a:tab pos="266700"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254000" algn="l"/>
                <a:tab pos="266700" algn="l"/>
              </a:tabLst>
              <a:defRPr>
                <a:solidFill>
                  <a:schemeClr val="tx1"/>
                </a:solidFill>
                <a:latin typeface="Arial" panose="020B0604020202020204" pitchFamily="34" charset="0"/>
                <a:ea typeface="宋体" panose="02010600030101010101" pitchFamily="2" charset="-122"/>
              </a:defRPr>
            </a:lvl9pPr>
          </a:lstStyle>
          <a:p>
            <a:endParaRPr lang="en-US" altLang="zh-CN" sz="2800" dirty="0" smtClean="0">
              <a:latin typeface="楷体" panose="02010609060101010101" pitchFamily="49" charset="-122"/>
              <a:ea typeface="楷体" panose="02010609060101010101" pitchFamily="49" charset="-122"/>
            </a:endParaRPr>
          </a:p>
          <a:p>
            <a:r>
              <a:rPr lang="en-US" altLang="zh-CN" sz="2800" dirty="0" smtClean="0">
                <a:latin typeface="楷体" panose="02010609060101010101" pitchFamily="49" charset="-122"/>
                <a:ea typeface="楷体" panose="02010609060101010101" pitchFamily="49" charset="-122"/>
              </a:rPr>
              <a:t>   </a:t>
            </a:r>
            <a:r>
              <a:rPr lang="en-US" altLang="zh-CN" sz="2800" b="1" dirty="0" smtClean="0">
                <a:latin typeface="楷体" panose="02010609060101010101" pitchFamily="49" charset="-122"/>
                <a:ea typeface="楷体" panose="02010609060101010101" pitchFamily="49" charset="-122"/>
              </a:rPr>
              <a:t>2</a:t>
            </a:r>
            <a:r>
              <a:rPr lang="zh-CN" altLang="en-US" sz="2800" b="1" dirty="0" smtClean="0">
                <a:latin typeface="楷体" panose="02010609060101010101" pitchFamily="49" charset="-122"/>
                <a:ea typeface="楷体" panose="02010609060101010101" pitchFamily="49" charset="-122"/>
              </a:rPr>
              <a:t>．</a:t>
            </a:r>
            <a:r>
              <a:rPr lang="zh-CN" altLang="en-US" sz="2400" b="1" dirty="0" smtClean="0">
                <a:latin typeface="楷体" panose="02010609060101010101" pitchFamily="49" charset="-122"/>
                <a:ea typeface="楷体" panose="02010609060101010101" pitchFamily="49" charset="-122"/>
              </a:rPr>
              <a:t>针对优先权次高的目标建立线性规划优先权次高（</a:t>
            </a:r>
            <a:r>
              <a:rPr lang="en-US" altLang="zh-CN" sz="2400" b="1" dirty="0" smtClean="0">
                <a:latin typeface="楷体" panose="02010609060101010101" pitchFamily="49" charset="-122"/>
                <a:ea typeface="楷体" panose="02010609060101010101" pitchFamily="49" charset="-122"/>
              </a:rPr>
              <a:t>P</a:t>
            </a:r>
            <a:r>
              <a:rPr lang="en-US" altLang="zh-CN" sz="2400" b="1" baseline="-25000" dirty="0" smtClean="0">
                <a:latin typeface="楷体" panose="02010609060101010101" pitchFamily="49" charset="-122"/>
                <a:ea typeface="楷体" panose="02010609060101010101" pitchFamily="49" charset="-122"/>
              </a:rPr>
              <a:t>2</a:t>
            </a:r>
            <a:r>
              <a:rPr lang="zh-CN" altLang="en-US" sz="2400" b="1" dirty="0" smtClean="0">
                <a:latin typeface="楷体" panose="02010609060101010101" pitchFamily="49" charset="-122"/>
                <a:ea typeface="楷体" panose="02010609060101010101" pitchFamily="49" charset="-122"/>
              </a:rPr>
              <a:t>）的目标是总收益超过 </a:t>
            </a:r>
            <a:r>
              <a:rPr lang="en-US" altLang="zh-CN" sz="2400" b="1" dirty="0" smtClean="0">
                <a:latin typeface="楷体" panose="02010609060101010101" pitchFamily="49" charset="-122"/>
                <a:ea typeface="楷体" panose="02010609060101010101" pitchFamily="49" charset="-122"/>
              </a:rPr>
              <a:t>10000</a:t>
            </a:r>
            <a:r>
              <a:rPr lang="zh-CN" altLang="en-US" sz="2400" b="1" dirty="0" smtClean="0">
                <a:latin typeface="楷体" panose="02010609060101010101" pitchFamily="49" charset="-122"/>
                <a:ea typeface="楷体" panose="02010609060101010101" pitchFamily="49" charset="-122"/>
              </a:rPr>
              <a:t>。</a:t>
            </a:r>
            <a:endParaRPr lang="en-US" altLang="zh-CN" sz="2800" dirty="0" smtClean="0">
              <a:latin typeface="楷体" panose="02010609060101010101" pitchFamily="49" charset="-122"/>
              <a:ea typeface="楷体" panose="02010609060101010101" pitchFamily="49" charset="-122"/>
            </a:endParaRPr>
          </a:p>
          <a:p>
            <a:r>
              <a:rPr lang="en-US" altLang="zh-CN" sz="2800" dirty="0" smtClean="0">
                <a:latin typeface="楷体" panose="02010609060101010101" pitchFamily="49" charset="-122"/>
                <a:ea typeface="楷体" panose="02010609060101010101" pitchFamily="49" charset="-122"/>
              </a:rPr>
              <a:t>                     </a:t>
            </a:r>
            <a:endParaRPr lang="en-US" altLang="zh-CN" sz="2800" dirty="0" smtClean="0">
              <a:latin typeface="楷体" panose="02010609060101010101" pitchFamily="49" charset="-122"/>
              <a:ea typeface="楷体" panose="02010609060101010101" pitchFamily="49" charset="-122"/>
            </a:endParaRPr>
          </a:p>
        </p:txBody>
      </p:sp>
      <p:sp>
        <p:nvSpPr>
          <p:cNvPr id="9" name="TextBox 8"/>
          <p:cNvSpPr txBox="1"/>
          <p:nvPr/>
        </p:nvSpPr>
        <p:spPr>
          <a:xfrm>
            <a:off x="1815459" y="2636912"/>
            <a:ext cx="8424936" cy="4060190"/>
          </a:xfrm>
          <a:prstGeom prst="rect">
            <a:avLst/>
          </a:prstGeom>
          <a:noFill/>
        </p:spPr>
        <p:txBody>
          <a:bodyPr wrap="square" rtlCol="0">
            <a:spAutoFit/>
          </a:bodyPr>
          <a:lstStyle/>
          <a:p>
            <a:r>
              <a:rPr lang="zh-CN" altLang="en-US" sz="2400" dirty="0" smtClean="0">
                <a:latin typeface="楷体" panose="02010609060101010101" pitchFamily="49" charset="-122"/>
                <a:ea typeface="楷体" panose="02010609060101010101" pitchFamily="49" charset="-122"/>
              </a:rPr>
              <a:t>建立线性规划如下：</a:t>
            </a:r>
            <a:endParaRPr lang="en-US" altLang="zh-CN" sz="2400" i="1" dirty="0" smtClean="0">
              <a:latin typeface="楷体" panose="02010609060101010101" pitchFamily="49" charset="-122"/>
              <a:ea typeface="楷体" panose="02010609060101010101" pitchFamily="49" charset="-122"/>
            </a:endParaRPr>
          </a:p>
          <a:p>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               min </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d</a:t>
            </a:r>
            <a:r>
              <a:rPr lang="en-US" altLang="zh-CN" sz="2400" baseline="-25000" dirty="0" smtClean="0">
                <a:latin typeface="Times New Roman" panose="02020603050405020304" pitchFamily="18" charset="0"/>
                <a:ea typeface="楷体" panose="02010609060101010101" pitchFamily="49" charset="-122"/>
                <a:cs typeface="Times New Roman" panose="02020603050405020304" pitchFamily="18" charset="0"/>
              </a:rPr>
              <a:t>2</a:t>
            </a:r>
            <a:r>
              <a:rPr lang="en-US" altLang="zh-CN" sz="2400" baseline="30000"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endParaRPr>
          </a:p>
          <a:p>
            <a:pPr>
              <a:lnSpc>
                <a:spcPts val="1240"/>
              </a:lnSpc>
            </a:pP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dirty="0" err="1" smtClean="0">
                <a:latin typeface="Times New Roman" panose="02020603050405020304" pitchFamily="18" charset="0"/>
                <a:ea typeface="楷体" panose="02010609060101010101" pitchFamily="49" charset="-122"/>
                <a:cs typeface="Times New Roman" panose="02020603050405020304" pitchFamily="18" charset="0"/>
              </a:rPr>
              <a:t>s.t</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               </a:t>
            </a:r>
            <a:endPar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endParaRPr>
          </a:p>
          <a:p>
            <a:pPr>
              <a:lnSpc>
                <a:spcPts val="1240"/>
              </a:lnSpc>
              <a:spcAft>
                <a:spcPts val="600"/>
              </a:spcAft>
            </a:pPr>
            <a:endParaRPr lang="en-US" altLang="zh-CN" sz="2400" dirty="0" smtClean="0">
              <a:latin typeface="楷体" panose="02010609060101010101" pitchFamily="49" charset="-122"/>
              <a:ea typeface="楷体" panose="02010609060101010101" pitchFamily="49" charset="-122"/>
            </a:endParaRPr>
          </a:p>
          <a:p>
            <a:pPr>
              <a:lnSpc>
                <a:spcPts val="1240"/>
              </a:lnSpc>
              <a:spcAft>
                <a:spcPts val="600"/>
              </a:spcAft>
            </a:pPr>
            <a:r>
              <a:rPr lang="en-US" altLang="zh-CN" sz="2400" dirty="0" smtClean="0">
                <a:solidFill>
                  <a:srgbClr val="000000"/>
                </a:solidFill>
                <a:latin typeface="楷体" panose="02010609060101010101" pitchFamily="49" charset="-122"/>
                <a:ea typeface="楷体" panose="02010609060101010101" pitchFamily="49" charset="-122"/>
              </a:rPr>
              <a:t>                    </a:t>
            </a:r>
            <a:r>
              <a:rPr lang="en-US" altLang="zh-CN" sz="2400" dirty="0" smtClean="0">
                <a:solidFill>
                  <a:srgbClr val="000000"/>
                </a:solidFill>
                <a:latin typeface="Times New Roman" panose="02020603050405020304" pitchFamily="18" charset="0"/>
              </a:rPr>
              <a:t>20</a:t>
            </a:r>
            <a:r>
              <a:rPr lang="en-US" altLang="zh-CN" sz="2400" i="1" dirty="0" smtClean="0">
                <a:solidFill>
                  <a:srgbClr val="000000"/>
                </a:solidFill>
                <a:latin typeface="Times New Roman" panose="02020603050405020304" pitchFamily="18" charset="0"/>
              </a:rPr>
              <a:t>x</a:t>
            </a:r>
            <a:r>
              <a:rPr lang="en-US" altLang="zh-CN" sz="2400" baseline="-25000" dirty="0" smtClean="0">
                <a:solidFill>
                  <a:srgbClr val="000000"/>
                </a:solidFill>
                <a:latin typeface="Times New Roman" panose="02020603050405020304" pitchFamily="18" charset="0"/>
              </a:rPr>
              <a:t>1</a:t>
            </a:r>
            <a:r>
              <a:rPr lang="zh-CN" altLang="en-US" sz="2400" dirty="0" smtClean="0">
                <a:solidFill>
                  <a:srgbClr val="000000"/>
                </a:solidFill>
                <a:latin typeface="Times New Roman" panose="02020603050405020304" pitchFamily="18" charset="0"/>
              </a:rPr>
              <a:t>＋</a:t>
            </a:r>
            <a:r>
              <a:rPr lang="en-US" altLang="zh-CN" sz="2400" dirty="0" smtClean="0">
                <a:solidFill>
                  <a:srgbClr val="000000"/>
                </a:solidFill>
                <a:latin typeface="Times New Roman" panose="02020603050405020304" pitchFamily="18" charset="0"/>
              </a:rPr>
              <a:t>50</a:t>
            </a:r>
            <a:r>
              <a:rPr lang="en-US" altLang="zh-CN" sz="2400" i="1" dirty="0" smtClean="0">
                <a:solidFill>
                  <a:srgbClr val="000000"/>
                </a:solidFill>
                <a:latin typeface="Times New Roman" panose="02020603050405020304" pitchFamily="18" charset="0"/>
              </a:rPr>
              <a:t>x</a:t>
            </a:r>
            <a:r>
              <a:rPr lang="en-US" altLang="zh-CN" sz="2400" baseline="-25000" dirty="0" smtClean="0">
                <a:solidFill>
                  <a:srgbClr val="000000"/>
                </a:solidFill>
                <a:latin typeface="Times New Roman" panose="02020603050405020304" pitchFamily="18" charset="0"/>
              </a:rPr>
              <a:t>2</a:t>
            </a:r>
            <a:r>
              <a:rPr lang="en-US" altLang="zh-CN" sz="2400" dirty="0" smtClean="0">
                <a:solidFill>
                  <a:srgbClr val="000000"/>
                </a:solidFill>
                <a:latin typeface="Times New Roman" panose="02020603050405020304" pitchFamily="18" charset="0"/>
              </a:rPr>
              <a:t>≤90000</a:t>
            </a:r>
            <a:endParaRPr lang="en-US" altLang="zh-CN" sz="2400" dirty="0" smtClean="0">
              <a:solidFill>
                <a:srgbClr val="000000"/>
              </a:solidFill>
              <a:latin typeface="Times New Roman" panose="02020603050405020304" pitchFamily="18" charset="0"/>
            </a:endParaRPr>
          </a:p>
          <a:p>
            <a:pPr>
              <a:lnSpc>
                <a:spcPts val="1000"/>
              </a:lnSpc>
              <a:spcAft>
                <a:spcPts val="600"/>
              </a:spcAft>
            </a:pPr>
            <a:endParaRPr lang="en-US" altLang="zh-CN" sz="2400" dirty="0" smtClean="0">
              <a:solidFill>
                <a:srgbClr val="000000"/>
              </a:solidFill>
              <a:latin typeface="Times New Roman" panose="02020603050405020304" pitchFamily="18" charset="0"/>
            </a:endParaRPr>
          </a:p>
          <a:p>
            <a:pPr>
              <a:lnSpc>
                <a:spcPts val="1790"/>
              </a:lnSpc>
              <a:spcAft>
                <a:spcPts val="600"/>
              </a:spcAft>
            </a:pPr>
            <a:r>
              <a:rPr lang="en-US" altLang="zh-CN" sz="2400" dirty="0" smtClean="0">
                <a:solidFill>
                  <a:srgbClr val="000000"/>
                </a:solidFill>
                <a:latin typeface="Times New Roman" panose="02020603050405020304" pitchFamily="18" charset="0"/>
              </a:rPr>
              <a:t>                                        </a:t>
            </a:r>
            <a:r>
              <a:rPr lang="en-US" altLang="zh-CN" sz="2400" dirty="0" smtClean="0">
                <a:solidFill>
                  <a:srgbClr val="000000"/>
                </a:solidFill>
                <a:latin typeface="Times New Roman" panose="02020603050405020304" pitchFamily="18" charset="0"/>
              </a:rPr>
              <a:t>0.5</a:t>
            </a:r>
            <a:r>
              <a:rPr lang="en-US" altLang="zh-CN" sz="2400" i="1" dirty="0" smtClean="0">
                <a:solidFill>
                  <a:srgbClr val="000000"/>
                </a:solidFill>
                <a:latin typeface="Times New Roman" panose="02020603050405020304" pitchFamily="18" charset="0"/>
              </a:rPr>
              <a:t>x</a:t>
            </a:r>
            <a:r>
              <a:rPr lang="en-US" altLang="zh-CN" sz="2400" baseline="-25000" dirty="0" smtClean="0">
                <a:solidFill>
                  <a:srgbClr val="000000"/>
                </a:solidFill>
                <a:latin typeface="Times New Roman" panose="02020603050405020304" pitchFamily="18" charset="0"/>
              </a:rPr>
              <a:t>1</a:t>
            </a:r>
            <a:r>
              <a:rPr lang="en-US" altLang="zh-CN" sz="1200" dirty="0" smtClean="0">
                <a:solidFill>
                  <a:srgbClr val="000000"/>
                </a:solidFill>
                <a:latin typeface="Times New Roman" panose="02020603050405020304" pitchFamily="18" charset="0"/>
              </a:rPr>
              <a:t> </a:t>
            </a:r>
            <a:r>
              <a:rPr lang="en-US" altLang="zh-CN" sz="2400" dirty="0" smtClean="0">
                <a:solidFill>
                  <a:srgbClr val="000000"/>
                </a:solidFill>
                <a:latin typeface="Times New Roman" panose="02020603050405020304" pitchFamily="18" charset="0"/>
              </a:rPr>
              <a:t>+</a:t>
            </a:r>
            <a:r>
              <a:rPr lang="en-US" altLang="zh-CN" sz="2400" dirty="0" smtClean="0">
                <a:solidFill>
                  <a:srgbClr val="000000"/>
                </a:solidFill>
                <a:latin typeface="Times New Roman" panose="02020603050405020304" pitchFamily="18" charset="0"/>
              </a:rPr>
              <a:t>0.2</a:t>
            </a:r>
            <a:r>
              <a:rPr lang="en-US" altLang="zh-CN" sz="2400" i="1" dirty="0" smtClean="0">
                <a:solidFill>
                  <a:srgbClr val="000000"/>
                </a:solidFill>
                <a:latin typeface="Times New Roman" panose="02020603050405020304" pitchFamily="18" charset="0"/>
              </a:rPr>
              <a:t>x</a:t>
            </a:r>
            <a:r>
              <a:rPr lang="en-US" altLang="zh-CN" sz="2400" baseline="-25000" dirty="0" smtClean="0">
                <a:solidFill>
                  <a:srgbClr val="000000"/>
                </a:solidFill>
                <a:latin typeface="Times New Roman" panose="02020603050405020304" pitchFamily="18" charset="0"/>
              </a:rPr>
              <a:t>2</a:t>
            </a:r>
            <a:r>
              <a:rPr lang="en-US" altLang="zh-CN" sz="2400" dirty="0" smtClean="0">
                <a:solidFill>
                  <a:srgbClr val="000000"/>
                </a:solidFill>
                <a:latin typeface="Times New Roman" panose="02020603050405020304" pitchFamily="18" charset="0"/>
              </a:rPr>
              <a:t>−</a:t>
            </a:r>
            <a:r>
              <a:rPr lang="en-US" altLang="zh-CN" sz="2400" dirty="0" smtClean="0">
                <a:latin typeface="楷体" panose="02010609060101010101" pitchFamily="49" charset="-122"/>
                <a:ea typeface="楷体" panose="02010609060101010101" pitchFamily="49" charset="-122"/>
              </a:rPr>
              <a:t> d</a:t>
            </a:r>
            <a:r>
              <a:rPr lang="en-US" altLang="zh-CN" sz="2400" baseline="-25000" dirty="0" smtClean="0">
                <a:latin typeface="楷体" panose="02010609060101010101" pitchFamily="49" charset="-122"/>
                <a:ea typeface="楷体" panose="02010609060101010101" pitchFamily="49" charset="-122"/>
              </a:rPr>
              <a:t>1</a:t>
            </a:r>
            <a:r>
              <a:rPr lang="en-US" altLang="zh-CN" sz="2400" baseline="30000" dirty="0" smtClean="0">
                <a:latin typeface="楷体" panose="02010609060101010101" pitchFamily="49" charset="-122"/>
                <a:ea typeface="楷体" panose="02010609060101010101" pitchFamily="49" charset="-122"/>
              </a:rPr>
              <a:t>+ </a:t>
            </a:r>
            <a:r>
              <a:rPr lang="en-US" altLang="zh-CN" sz="2400" dirty="0" smtClean="0">
                <a:solidFill>
                  <a:srgbClr val="000000"/>
                </a:solidFill>
                <a:latin typeface="Times New Roman" panose="02020603050405020304" pitchFamily="18" charset="0"/>
              </a:rPr>
              <a:t>+</a:t>
            </a:r>
            <a:r>
              <a:rPr lang="en-US" altLang="zh-CN" sz="2400" dirty="0" smtClean="0">
                <a:latin typeface="楷体" panose="02010609060101010101" pitchFamily="49" charset="-122"/>
                <a:ea typeface="楷体" panose="02010609060101010101" pitchFamily="49" charset="-122"/>
              </a:rPr>
              <a:t> d</a:t>
            </a:r>
            <a:r>
              <a:rPr lang="en-US" altLang="zh-CN" sz="2400" baseline="-25000" dirty="0" smtClean="0">
                <a:latin typeface="楷体" panose="02010609060101010101" pitchFamily="49" charset="-122"/>
                <a:ea typeface="楷体" panose="02010609060101010101" pitchFamily="49" charset="-122"/>
              </a:rPr>
              <a:t>1</a:t>
            </a:r>
            <a:r>
              <a:rPr lang="en-US" altLang="zh-CN" sz="2400" baseline="30000" dirty="0" smtClean="0">
                <a:latin typeface="楷体" panose="02010609060101010101" pitchFamily="49" charset="-122"/>
                <a:ea typeface="楷体" panose="02010609060101010101" pitchFamily="49" charset="-122"/>
              </a:rPr>
              <a:t>-</a:t>
            </a:r>
            <a:r>
              <a:rPr lang="en-US" altLang="zh-CN" sz="2400" dirty="0" smtClean="0">
                <a:solidFill>
                  <a:srgbClr val="000000"/>
                </a:solidFill>
                <a:latin typeface="Times New Roman" panose="02020603050405020304" pitchFamily="18" charset="0"/>
              </a:rPr>
              <a:t>=700</a:t>
            </a:r>
            <a:endParaRPr lang="en-US" altLang="zh-CN" sz="2400" dirty="0" smtClean="0">
              <a:solidFill>
                <a:srgbClr val="000000"/>
              </a:solidFill>
              <a:latin typeface="Times New Roman" panose="02020603050405020304" pitchFamily="18" charset="0"/>
            </a:endParaRPr>
          </a:p>
          <a:p>
            <a:pPr>
              <a:lnSpc>
                <a:spcPts val="1000"/>
              </a:lnSpc>
              <a:spcAft>
                <a:spcPts val="600"/>
              </a:spcAft>
            </a:pPr>
            <a:endParaRPr lang="en-US" altLang="zh-CN" sz="2400" dirty="0" smtClean="0">
              <a:solidFill>
                <a:srgbClr val="000000"/>
              </a:solidFill>
              <a:latin typeface="Times New Roman" panose="02020603050405020304" pitchFamily="18" charset="0"/>
            </a:endParaRPr>
          </a:p>
          <a:p>
            <a:pPr>
              <a:lnSpc>
                <a:spcPts val="2225"/>
              </a:lnSpc>
              <a:spcAft>
                <a:spcPts val="600"/>
              </a:spcAft>
            </a:pPr>
            <a:r>
              <a:rPr lang="en-US" altLang="zh-CN" sz="2400" dirty="0" smtClean="0">
                <a:solidFill>
                  <a:srgbClr val="000000"/>
                </a:solidFill>
                <a:latin typeface="Times New Roman" panose="02020603050405020304" pitchFamily="18" charset="0"/>
              </a:rPr>
              <a:t>                                        </a:t>
            </a:r>
            <a:r>
              <a:rPr lang="en-US" altLang="zh-CN" sz="2400" dirty="0" smtClean="0">
                <a:solidFill>
                  <a:srgbClr val="000000"/>
                </a:solidFill>
                <a:latin typeface="Times New Roman" panose="02020603050405020304" pitchFamily="18" charset="0"/>
              </a:rPr>
              <a:t>3</a:t>
            </a:r>
            <a:r>
              <a:rPr lang="en-US" altLang="zh-CN" sz="2400" i="1" dirty="0" smtClean="0">
                <a:solidFill>
                  <a:srgbClr val="000000"/>
                </a:solidFill>
                <a:latin typeface="Times New Roman" panose="02020603050405020304" pitchFamily="18" charset="0"/>
              </a:rPr>
              <a:t>x</a:t>
            </a:r>
            <a:r>
              <a:rPr lang="en-US" altLang="zh-CN" sz="2400" baseline="-25000" dirty="0" smtClean="0">
                <a:solidFill>
                  <a:srgbClr val="000000"/>
                </a:solidFill>
                <a:latin typeface="Times New Roman" panose="02020603050405020304" pitchFamily="18" charset="0"/>
              </a:rPr>
              <a:t>1</a:t>
            </a:r>
            <a:r>
              <a:rPr lang="en-US" altLang="zh-CN" sz="2400" dirty="0" smtClean="0">
                <a:solidFill>
                  <a:srgbClr val="000000"/>
                </a:solidFill>
                <a:latin typeface="Times New Roman" panose="02020603050405020304" pitchFamily="18" charset="0"/>
              </a:rPr>
              <a:t>+4</a:t>
            </a:r>
            <a:r>
              <a:rPr lang="en-US" altLang="zh-CN" sz="2400" i="1" dirty="0" smtClean="0">
                <a:solidFill>
                  <a:srgbClr val="000000"/>
                </a:solidFill>
                <a:latin typeface="Times New Roman" panose="02020603050405020304" pitchFamily="18" charset="0"/>
              </a:rPr>
              <a:t>x</a:t>
            </a:r>
            <a:r>
              <a:rPr lang="en-US" altLang="zh-CN" sz="2400" baseline="-25000" dirty="0" smtClean="0">
                <a:solidFill>
                  <a:srgbClr val="000000"/>
                </a:solidFill>
                <a:latin typeface="Times New Roman" panose="02020603050405020304" pitchFamily="18" charset="0"/>
              </a:rPr>
              <a:t>2</a:t>
            </a:r>
            <a:r>
              <a:rPr lang="en-US" altLang="zh-CN" sz="2400" dirty="0" smtClean="0">
                <a:solidFill>
                  <a:srgbClr val="000000"/>
                </a:solidFill>
                <a:latin typeface="Times New Roman" panose="02020603050405020304" pitchFamily="18" charset="0"/>
              </a:rPr>
              <a:t> </a:t>
            </a:r>
            <a:r>
              <a:rPr lang="en-US" altLang="zh-CN" sz="2400" dirty="0" smtClean="0">
                <a:solidFill>
                  <a:srgbClr val="000000"/>
                </a:solidFill>
                <a:latin typeface="Times New Roman" panose="02020603050405020304" pitchFamily="18" charset="0"/>
              </a:rPr>
              <a:t>−</a:t>
            </a:r>
            <a:r>
              <a:rPr lang="en-US" altLang="zh-CN" sz="2400" dirty="0" smtClean="0">
                <a:latin typeface="楷体" panose="02010609060101010101" pitchFamily="49" charset="-122"/>
                <a:ea typeface="楷体" panose="02010609060101010101" pitchFamily="49" charset="-122"/>
              </a:rPr>
              <a:t> d</a:t>
            </a:r>
            <a:r>
              <a:rPr lang="en-US" altLang="zh-CN" sz="2400" baseline="-25000" dirty="0" smtClean="0">
                <a:latin typeface="楷体" panose="02010609060101010101" pitchFamily="49" charset="-122"/>
                <a:ea typeface="楷体" panose="02010609060101010101" pitchFamily="49" charset="-122"/>
              </a:rPr>
              <a:t>2</a:t>
            </a:r>
            <a:r>
              <a:rPr lang="en-US" altLang="zh-CN" sz="2400" baseline="30000" dirty="0" smtClean="0">
                <a:latin typeface="楷体" panose="02010609060101010101" pitchFamily="49" charset="-122"/>
                <a:ea typeface="楷体" panose="02010609060101010101" pitchFamily="49" charset="-122"/>
              </a:rPr>
              <a:t>+ </a:t>
            </a:r>
            <a:r>
              <a:rPr lang="en-US" altLang="zh-CN" sz="2400" dirty="0" smtClean="0">
                <a:solidFill>
                  <a:srgbClr val="000000"/>
                </a:solidFill>
                <a:latin typeface="Times New Roman" panose="02020603050405020304" pitchFamily="18" charset="0"/>
              </a:rPr>
              <a:t>+</a:t>
            </a:r>
            <a:r>
              <a:rPr lang="en-US" altLang="zh-CN" sz="2400" dirty="0" smtClean="0">
                <a:latin typeface="楷体" panose="02010609060101010101" pitchFamily="49" charset="-122"/>
                <a:ea typeface="楷体" panose="02010609060101010101" pitchFamily="49" charset="-122"/>
              </a:rPr>
              <a:t> d</a:t>
            </a:r>
            <a:r>
              <a:rPr lang="en-US" altLang="zh-CN" sz="2400" baseline="-25000" dirty="0" smtClean="0">
                <a:latin typeface="楷体" panose="02010609060101010101" pitchFamily="49" charset="-122"/>
                <a:ea typeface="楷体" panose="02010609060101010101" pitchFamily="49" charset="-122"/>
              </a:rPr>
              <a:t>2</a:t>
            </a:r>
            <a:r>
              <a:rPr lang="en-US" altLang="zh-CN" sz="2400" baseline="30000" dirty="0" smtClean="0">
                <a:latin typeface="楷体" panose="02010609060101010101" pitchFamily="49" charset="-122"/>
                <a:ea typeface="楷体" panose="02010609060101010101" pitchFamily="49" charset="-122"/>
              </a:rPr>
              <a:t>- </a:t>
            </a:r>
            <a:r>
              <a:rPr lang="en-US" altLang="zh-CN" sz="2400" dirty="0" smtClean="0">
                <a:solidFill>
                  <a:srgbClr val="000000"/>
                </a:solidFill>
                <a:latin typeface="Times New Roman" panose="02020603050405020304" pitchFamily="18" charset="0"/>
              </a:rPr>
              <a:t>=10000</a:t>
            </a:r>
            <a:endParaRPr lang="en-US" altLang="zh-CN" sz="2400" dirty="0" smtClean="0">
              <a:solidFill>
                <a:srgbClr val="000000"/>
              </a:solidFill>
              <a:latin typeface="Times New Roman" panose="02020603050405020304" pitchFamily="18" charset="0"/>
              <a:ea typeface="楷体" panose="02010609060101010101" pitchFamily="49" charset="-122"/>
            </a:endParaRPr>
          </a:p>
          <a:p>
            <a:pPr>
              <a:lnSpc>
                <a:spcPts val="2225"/>
              </a:lnSpc>
              <a:spcAft>
                <a:spcPts val="600"/>
              </a:spcAft>
            </a:pPr>
            <a:r>
              <a:rPr lang="en-US" altLang="zh-CN" sz="2000" dirty="0" smtClean="0">
                <a:solidFill>
                  <a:srgbClr val="000000"/>
                </a:solidFill>
                <a:latin typeface="Times New Roman" panose="02020603050405020304" pitchFamily="18" charset="0"/>
                <a:ea typeface="楷体" panose="02010609060101010101" pitchFamily="49" charset="-122"/>
              </a:rPr>
              <a:t>                                               </a:t>
            </a:r>
            <a:r>
              <a:rPr lang="en-US" altLang="zh-CN" sz="2400" dirty="0" smtClean="0">
                <a:solidFill>
                  <a:srgbClr val="000000"/>
                </a:solidFill>
                <a:latin typeface="Times New Roman" panose="02020603050405020304" pitchFamily="18" charset="0"/>
                <a:ea typeface="楷体" panose="02010609060101010101" pitchFamily="49" charset="-122"/>
              </a:rPr>
              <a:t> </a:t>
            </a:r>
            <a:r>
              <a:rPr lang="en-US" altLang="zh-CN" sz="2400" dirty="0" smtClean="0">
                <a:latin typeface="楷体" panose="02010609060101010101" pitchFamily="49" charset="-122"/>
                <a:ea typeface="楷体" panose="02010609060101010101" pitchFamily="49" charset="-122"/>
              </a:rPr>
              <a:t>d</a:t>
            </a:r>
            <a:r>
              <a:rPr lang="en-US" altLang="zh-CN" sz="2400" baseline="-25000" dirty="0" smtClean="0">
                <a:latin typeface="楷体" panose="02010609060101010101" pitchFamily="49" charset="-122"/>
                <a:ea typeface="楷体" panose="02010609060101010101" pitchFamily="49" charset="-122"/>
              </a:rPr>
              <a:t>1</a:t>
            </a:r>
            <a:r>
              <a:rPr lang="en-US" altLang="zh-CN" sz="2400" baseline="30000" dirty="0" smtClean="0">
                <a:latin typeface="楷体" panose="02010609060101010101" pitchFamily="49" charset="-122"/>
                <a:ea typeface="楷体" panose="02010609060101010101" pitchFamily="49" charset="-122"/>
              </a:rPr>
              <a:t>+ </a:t>
            </a:r>
            <a:r>
              <a:rPr lang="en-US" altLang="zh-CN" sz="2400" dirty="0">
                <a:solidFill>
                  <a:srgbClr val="000000"/>
                </a:solidFill>
                <a:latin typeface="Times New Roman" panose="02020603050405020304" pitchFamily="18" charset="0"/>
              </a:rPr>
              <a:t>= </a:t>
            </a:r>
            <a:r>
              <a:rPr lang="en-US" altLang="zh-CN" sz="2400" dirty="0" smtClean="0">
                <a:latin typeface="楷体" panose="02010609060101010101" pitchFamily="49" charset="-122"/>
                <a:ea typeface="楷体" panose="02010609060101010101" pitchFamily="49" charset="-122"/>
              </a:rPr>
              <a:t>0</a:t>
            </a:r>
            <a:endParaRPr lang="en-US" altLang="zh-CN" sz="2000" dirty="0" smtClean="0">
              <a:latin typeface="楷体" panose="02010609060101010101" pitchFamily="49" charset="-122"/>
              <a:ea typeface="楷体" panose="02010609060101010101" pitchFamily="49" charset="-122"/>
            </a:endParaRPr>
          </a:p>
          <a:p>
            <a:pPr algn="ctr">
              <a:lnSpc>
                <a:spcPts val="2190"/>
              </a:lnSpc>
              <a:spcAft>
                <a:spcPts val="600"/>
              </a:spcAft>
            </a:pPr>
            <a:r>
              <a:rPr lang="en-US" altLang="zh-CN" sz="2400" dirty="0" smtClean="0">
                <a:solidFill>
                  <a:srgbClr val="000000"/>
                </a:solidFill>
                <a:latin typeface="Times New Roman" panose="02020603050405020304" pitchFamily="18" charset="0"/>
              </a:rPr>
              <a:t>               </a:t>
            </a:r>
            <a:r>
              <a:rPr lang="en-US" altLang="zh-CN" sz="2400" i="1" dirty="0" smtClean="0">
                <a:solidFill>
                  <a:srgbClr val="000000"/>
                </a:solidFill>
                <a:latin typeface="Times New Roman" panose="02020603050405020304" pitchFamily="18" charset="0"/>
              </a:rPr>
              <a:t>x</a:t>
            </a:r>
            <a:r>
              <a:rPr lang="en-US" altLang="zh-CN" sz="2400" baseline="-25000" dirty="0" smtClean="0">
                <a:solidFill>
                  <a:srgbClr val="000000"/>
                </a:solidFill>
                <a:latin typeface="Times New Roman" panose="02020603050405020304" pitchFamily="18" charset="0"/>
              </a:rPr>
              <a:t>1</a:t>
            </a:r>
            <a:r>
              <a:rPr lang="en-US" altLang="zh-CN" sz="2400" dirty="0" smtClean="0">
                <a:solidFill>
                  <a:srgbClr val="000000"/>
                </a:solidFill>
                <a:latin typeface="Times New Roman" panose="02020603050405020304" pitchFamily="18" charset="0"/>
              </a:rPr>
              <a:t>, </a:t>
            </a:r>
            <a:r>
              <a:rPr lang="en-US" altLang="zh-CN" sz="2400" i="1" dirty="0" smtClean="0">
                <a:solidFill>
                  <a:srgbClr val="000000"/>
                </a:solidFill>
                <a:latin typeface="Times New Roman" panose="02020603050405020304" pitchFamily="18" charset="0"/>
              </a:rPr>
              <a:t>x</a:t>
            </a:r>
            <a:r>
              <a:rPr lang="en-US" altLang="zh-CN" sz="2400" baseline="-25000" dirty="0" smtClean="0">
                <a:solidFill>
                  <a:srgbClr val="000000"/>
                </a:solidFill>
                <a:latin typeface="Times New Roman" panose="02020603050405020304" pitchFamily="18" charset="0"/>
              </a:rPr>
              <a:t>2</a:t>
            </a:r>
            <a:r>
              <a:rPr lang="en-US" altLang="zh-CN" sz="2400" dirty="0" smtClean="0">
                <a:solidFill>
                  <a:srgbClr val="000000"/>
                </a:solidFill>
                <a:latin typeface="Times New Roman" panose="02020603050405020304" pitchFamily="18" charset="0"/>
              </a:rPr>
              <a:t>, </a:t>
            </a:r>
            <a:r>
              <a:rPr lang="en-US" altLang="zh-CN" sz="2400" dirty="0" smtClean="0">
                <a:latin typeface="楷体" panose="02010609060101010101" pitchFamily="49" charset="-122"/>
                <a:ea typeface="楷体" panose="02010609060101010101" pitchFamily="49" charset="-122"/>
              </a:rPr>
              <a:t>d</a:t>
            </a:r>
            <a:r>
              <a:rPr lang="en-US" altLang="zh-CN" sz="2400" baseline="-25000" dirty="0" smtClean="0">
                <a:latin typeface="楷体" panose="02010609060101010101" pitchFamily="49" charset="-122"/>
                <a:ea typeface="楷体" panose="02010609060101010101" pitchFamily="49" charset="-122"/>
              </a:rPr>
              <a:t>1</a:t>
            </a:r>
            <a:r>
              <a:rPr lang="en-US" altLang="zh-CN" sz="2400" baseline="30000" dirty="0" smtClean="0">
                <a:latin typeface="楷体" panose="02010609060101010101" pitchFamily="49" charset="-122"/>
                <a:ea typeface="楷体" panose="02010609060101010101" pitchFamily="49" charset="-122"/>
              </a:rPr>
              <a:t>+</a:t>
            </a:r>
            <a:r>
              <a:rPr lang="en-US" altLang="zh-CN" sz="1600" dirty="0" smtClean="0">
                <a:solidFill>
                  <a:srgbClr val="000000"/>
                </a:solidFill>
                <a:latin typeface="Times New Roman" panose="02020603050405020304" pitchFamily="18" charset="0"/>
              </a:rPr>
              <a:t> </a:t>
            </a:r>
            <a:r>
              <a:rPr lang="en-US" altLang="zh-CN" sz="2400" dirty="0" smtClean="0">
                <a:solidFill>
                  <a:srgbClr val="000000"/>
                </a:solidFill>
                <a:latin typeface="Times New Roman" panose="02020603050405020304" pitchFamily="18" charset="0"/>
              </a:rPr>
              <a:t>,</a:t>
            </a:r>
            <a:r>
              <a:rPr lang="en-US" altLang="zh-CN" sz="2400" dirty="0" smtClean="0">
                <a:latin typeface="楷体" panose="02010609060101010101" pitchFamily="49" charset="-122"/>
                <a:ea typeface="楷体" panose="02010609060101010101" pitchFamily="49" charset="-122"/>
              </a:rPr>
              <a:t> d</a:t>
            </a:r>
            <a:r>
              <a:rPr lang="en-US" altLang="zh-CN" sz="2400" baseline="-25000" dirty="0" smtClean="0">
                <a:latin typeface="楷体" panose="02010609060101010101" pitchFamily="49" charset="-122"/>
                <a:ea typeface="楷体" panose="02010609060101010101" pitchFamily="49" charset="-122"/>
              </a:rPr>
              <a:t>1</a:t>
            </a:r>
            <a:r>
              <a:rPr lang="en-US" altLang="zh-CN" sz="2400" baseline="30000" dirty="0" smtClean="0">
                <a:latin typeface="楷体" panose="02010609060101010101" pitchFamily="49" charset="-122"/>
                <a:ea typeface="楷体" panose="02010609060101010101" pitchFamily="49" charset="-122"/>
              </a:rPr>
              <a:t>- </a:t>
            </a:r>
            <a:r>
              <a:rPr lang="en-US" altLang="zh-CN" sz="2400" dirty="0" smtClean="0">
                <a:latin typeface="楷体" panose="02010609060101010101" pitchFamily="49" charset="-122"/>
                <a:ea typeface="楷体" panose="02010609060101010101" pitchFamily="49" charset="-122"/>
              </a:rPr>
              <a:t>,d</a:t>
            </a:r>
            <a:r>
              <a:rPr lang="en-US" altLang="zh-CN" sz="2400" baseline="-25000" dirty="0" smtClean="0">
                <a:latin typeface="楷体" panose="02010609060101010101" pitchFamily="49" charset="-122"/>
                <a:ea typeface="楷体" panose="02010609060101010101" pitchFamily="49" charset="-122"/>
              </a:rPr>
              <a:t>2</a:t>
            </a:r>
            <a:r>
              <a:rPr lang="en-US" altLang="zh-CN" sz="2400" baseline="30000" dirty="0" smtClean="0">
                <a:latin typeface="楷体" panose="02010609060101010101" pitchFamily="49" charset="-122"/>
                <a:ea typeface="楷体" panose="02010609060101010101" pitchFamily="49" charset="-122"/>
              </a:rPr>
              <a:t>+ </a:t>
            </a:r>
            <a:r>
              <a:rPr lang="en-US" altLang="zh-CN" sz="2400" dirty="0" smtClean="0">
                <a:solidFill>
                  <a:srgbClr val="000000"/>
                </a:solidFill>
                <a:latin typeface="Times New Roman" panose="02020603050405020304" pitchFamily="18" charset="0"/>
              </a:rPr>
              <a:t>,</a:t>
            </a:r>
            <a:r>
              <a:rPr lang="en-US" altLang="zh-CN" sz="2400" dirty="0" smtClean="0">
                <a:latin typeface="楷体" panose="02010609060101010101" pitchFamily="49" charset="-122"/>
                <a:ea typeface="楷体" panose="02010609060101010101" pitchFamily="49" charset="-122"/>
              </a:rPr>
              <a:t>d</a:t>
            </a:r>
            <a:r>
              <a:rPr lang="en-US" altLang="zh-CN" sz="2400" baseline="-25000" dirty="0" smtClean="0">
                <a:latin typeface="楷体" panose="02010609060101010101" pitchFamily="49" charset="-122"/>
                <a:ea typeface="楷体" panose="02010609060101010101" pitchFamily="49" charset="-122"/>
              </a:rPr>
              <a:t>2</a:t>
            </a:r>
            <a:r>
              <a:rPr lang="en-US" altLang="zh-CN" sz="2400" baseline="30000" dirty="0" smtClean="0">
                <a:latin typeface="楷体" panose="02010609060101010101" pitchFamily="49" charset="-122"/>
                <a:ea typeface="楷体" panose="02010609060101010101" pitchFamily="49" charset="-122"/>
              </a:rPr>
              <a:t>- </a:t>
            </a:r>
            <a:r>
              <a:rPr lang="en-US" altLang="zh-CN" sz="2400" dirty="0" smtClean="0">
                <a:solidFill>
                  <a:srgbClr val="000000"/>
                </a:solidFill>
                <a:latin typeface="Times New Roman" panose="02020603050405020304" pitchFamily="18" charset="0"/>
              </a:rPr>
              <a:t>≥0 </a:t>
            </a:r>
            <a:endParaRPr lang="en-US" altLang="zh-CN" sz="2400" dirty="0" smtClean="0">
              <a:latin typeface="楷体" panose="02010609060101010101" pitchFamily="49" charset="-122"/>
              <a:ea typeface="楷体" panose="02010609060101010101" pitchFamily="49" charset="-122"/>
            </a:endParaRPr>
          </a:p>
          <a:p>
            <a:r>
              <a:rPr lang="en-US" altLang="zh-CN" sz="2800" dirty="0" smtClean="0">
                <a:latin typeface="楷体" panose="02010609060101010101" pitchFamily="49" charset="-122"/>
                <a:ea typeface="楷体" panose="02010609060101010101" pitchFamily="49" charset="-122"/>
              </a:rPr>
              <a:t>   </a:t>
            </a:r>
            <a:r>
              <a:rPr lang="zh-CN" altLang="en-US" sz="2400" dirty="0" smtClean="0">
                <a:latin typeface="楷体" panose="02010609060101010101" pitchFamily="49" charset="-122"/>
                <a:ea typeface="楷体" panose="02010609060101010101" pitchFamily="49" charset="-122"/>
              </a:rPr>
              <a:t>把第一步求得的</a:t>
            </a:r>
            <a:r>
              <a:rPr lang="en-US" altLang="zh-CN" sz="2400" dirty="0" smtClean="0">
                <a:latin typeface="楷体" panose="02010609060101010101" pitchFamily="49" charset="-122"/>
                <a:ea typeface="楷体" panose="02010609060101010101" pitchFamily="49" charset="-122"/>
              </a:rPr>
              <a:t>d</a:t>
            </a:r>
            <a:r>
              <a:rPr lang="en-US" altLang="zh-CN" sz="2400" baseline="-25000" dirty="0" smtClean="0">
                <a:latin typeface="楷体" panose="02010609060101010101" pitchFamily="49" charset="-122"/>
                <a:ea typeface="楷体" panose="02010609060101010101" pitchFamily="49" charset="-122"/>
              </a:rPr>
              <a:t>1</a:t>
            </a:r>
            <a:r>
              <a:rPr lang="en-US" altLang="zh-CN" sz="2400" baseline="30000" dirty="0" smtClean="0">
                <a:latin typeface="楷体" panose="02010609060101010101" pitchFamily="49" charset="-122"/>
                <a:ea typeface="楷体" panose="02010609060101010101" pitchFamily="49" charset="-122"/>
              </a:rPr>
              <a:t>+</a:t>
            </a:r>
            <a:r>
              <a:rPr lang="zh-CN" altLang="en-US" sz="2400" dirty="0" smtClean="0">
                <a:latin typeface="楷体" panose="02010609060101010101" pitchFamily="49" charset="-122"/>
                <a:ea typeface="楷体" panose="02010609060101010101" pitchFamily="49" charset="-122"/>
              </a:rPr>
              <a:t>＝</a:t>
            </a:r>
            <a:r>
              <a:rPr lang="en-US" altLang="zh-CN" sz="2400" dirty="0" smtClean="0">
                <a:latin typeface="楷体" panose="02010609060101010101" pitchFamily="49" charset="-122"/>
                <a:ea typeface="楷体" panose="02010609060101010101" pitchFamily="49" charset="-122"/>
              </a:rPr>
              <a:t>0</a:t>
            </a:r>
            <a:r>
              <a:rPr lang="zh-CN" altLang="en-US" sz="2400" dirty="0" smtClean="0">
                <a:latin typeface="楷体" panose="02010609060101010101" pitchFamily="49" charset="-122"/>
                <a:ea typeface="楷体" panose="02010609060101010101" pitchFamily="49" charset="-122"/>
              </a:rPr>
              <a:t>作为约束条件放到这个线性规划中。</a:t>
            </a:r>
            <a:endParaRPr lang="zh-CN" altLang="en-US" sz="2400" dirty="0" smtClean="0">
              <a:latin typeface="楷体" panose="02010609060101010101" pitchFamily="49" charset="-122"/>
              <a:ea typeface="楷体" panose="02010609060101010101" pitchFamily="49" charset="-122"/>
            </a:endParaRPr>
          </a:p>
          <a:p>
            <a:pPr>
              <a:tabLst>
                <a:tab pos="254000" algn="l"/>
                <a:tab pos="266700" algn="l"/>
              </a:tabLst>
            </a:pPr>
            <a:endParaRPr lang="zh-CN" altLang="en-US" sz="2400" dirty="0" smtClean="0">
              <a:latin typeface="隶书" panose="02010509060101010101" pitchFamily="49" charset="-122"/>
              <a:ea typeface="隶书" panose="02010509060101010101" pitchFamily="49" charset="-122"/>
            </a:endParaRPr>
          </a:p>
        </p:txBody>
      </p:sp>
      <p:sp>
        <p:nvSpPr>
          <p:cNvPr id="2" name="标题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a:sym typeface="+mn-ea"/>
              </a:rPr>
              <a:t>有优先权的</a:t>
            </a:r>
            <a:r>
              <a:rPr lang="zh-CN" altLang="en-US" dirty="0"/>
              <a:t>目标规划的图解法</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ox(in)">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ox(in)">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ldLvl="0" animBg="1"/>
      <p:bldP spid="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22"/>
          <p:cNvSpPr txBox="1">
            <a:spLocks noChangeArrowheads="1"/>
          </p:cNvSpPr>
          <p:nvPr/>
        </p:nvSpPr>
        <p:spPr bwMode="auto">
          <a:xfrm>
            <a:off x="1650242" y="1556793"/>
            <a:ext cx="8893515" cy="8616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a:tabLst>
                <a:tab pos="254000" algn="l"/>
                <a:tab pos="266700" algn="l"/>
              </a:tabLst>
              <a:defRPr>
                <a:solidFill>
                  <a:schemeClr val="tx1"/>
                </a:solidFill>
                <a:latin typeface="Arial" panose="020B0604020202020204" pitchFamily="34" charset="0"/>
                <a:ea typeface="宋体" panose="02010600030101010101" pitchFamily="2" charset="-122"/>
              </a:defRPr>
            </a:lvl1pPr>
            <a:lvl2pPr>
              <a:tabLst>
                <a:tab pos="254000" algn="l"/>
                <a:tab pos="266700" algn="l"/>
              </a:tabLst>
              <a:defRPr>
                <a:solidFill>
                  <a:schemeClr val="tx1"/>
                </a:solidFill>
                <a:latin typeface="Arial" panose="020B0604020202020204" pitchFamily="34" charset="0"/>
                <a:ea typeface="宋体" panose="02010600030101010101" pitchFamily="2" charset="-122"/>
              </a:defRPr>
            </a:lvl2pPr>
            <a:lvl3pPr>
              <a:tabLst>
                <a:tab pos="254000" algn="l"/>
                <a:tab pos="266700" algn="l"/>
              </a:tabLst>
              <a:defRPr>
                <a:solidFill>
                  <a:schemeClr val="tx1"/>
                </a:solidFill>
                <a:latin typeface="Arial" panose="020B0604020202020204" pitchFamily="34" charset="0"/>
                <a:ea typeface="宋体" panose="02010600030101010101" pitchFamily="2" charset="-122"/>
              </a:defRPr>
            </a:lvl3pPr>
            <a:lvl4pPr>
              <a:tabLst>
                <a:tab pos="254000" algn="l"/>
                <a:tab pos="266700" algn="l"/>
              </a:tabLst>
              <a:defRPr>
                <a:solidFill>
                  <a:schemeClr val="tx1"/>
                </a:solidFill>
                <a:latin typeface="Arial" panose="020B0604020202020204" pitchFamily="34" charset="0"/>
                <a:ea typeface="宋体" panose="02010600030101010101" pitchFamily="2" charset="-122"/>
              </a:defRPr>
            </a:lvl4pPr>
            <a:lvl5pPr>
              <a:tabLst>
                <a:tab pos="254000" algn="l"/>
                <a:tab pos="266700"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254000" algn="l"/>
                <a:tab pos="266700"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254000" algn="l"/>
                <a:tab pos="266700"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254000" algn="l"/>
                <a:tab pos="266700"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254000" algn="l"/>
                <a:tab pos="266700" algn="l"/>
              </a:tabLst>
              <a:defRPr>
                <a:solidFill>
                  <a:schemeClr val="tx1"/>
                </a:solidFill>
                <a:latin typeface="Arial" panose="020B0604020202020204" pitchFamily="34" charset="0"/>
                <a:ea typeface="宋体" panose="02010600030101010101" pitchFamily="2" charset="-122"/>
              </a:defRPr>
            </a:lvl9pPr>
          </a:lstStyle>
          <a:p>
            <a:endParaRPr lang="en-US" altLang="zh-CN" sz="2800" dirty="0" smtClean="0">
              <a:latin typeface="楷体" panose="02010609060101010101" pitchFamily="49" charset="-122"/>
              <a:ea typeface="楷体" panose="02010609060101010101" pitchFamily="49" charset="-122"/>
            </a:endParaRPr>
          </a:p>
          <a:p>
            <a:endParaRPr lang="en-US" altLang="zh-CN" sz="2800" dirty="0" smtClean="0">
              <a:latin typeface="楷体" panose="02010609060101010101" pitchFamily="49" charset="-122"/>
              <a:ea typeface="楷体" panose="02010609060101010101" pitchFamily="49" charset="-122"/>
            </a:endParaRPr>
          </a:p>
        </p:txBody>
      </p:sp>
      <p:sp>
        <p:nvSpPr>
          <p:cNvPr id="3" name="标题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a:sym typeface="+mn-ea"/>
              </a:rPr>
              <a:t>有优先权的</a:t>
            </a:r>
            <a:r>
              <a:rPr lang="zh-CN" altLang="en-US" dirty="0"/>
              <a:t>目标规划的图解法</a:t>
            </a:r>
            <a:endParaRPr lang="zh-CN" altLang="en-US" dirty="0"/>
          </a:p>
        </p:txBody>
      </p:sp>
      <p:pic>
        <p:nvPicPr>
          <p:cNvPr id="4" name="图片 3"/>
          <p:cNvPicPr>
            <a:picLocks noChangeAspect="1"/>
          </p:cNvPicPr>
          <p:nvPr/>
        </p:nvPicPr>
        <p:blipFill>
          <a:blip r:embed="rId1"/>
          <a:stretch>
            <a:fillRect/>
          </a:stretch>
        </p:blipFill>
        <p:spPr>
          <a:xfrm>
            <a:off x="1957331" y="1654661"/>
            <a:ext cx="6715237" cy="4695766"/>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22"/>
          <p:cNvSpPr txBox="1">
            <a:spLocks noChangeArrowheads="1"/>
          </p:cNvSpPr>
          <p:nvPr/>
        </p:nvSpPr>
        <p:spPr bwMode="auto">
          <a:xfrm>
            <a:off x="1650242" y="1556793"/>
            <a:ext cx="8893515" cy="8616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a:tabLst>
                <a:tab pos="254000" algn="l"/>
                <a:tab pos="266700" algn="l"/>
              </a:tabLst>
              <a:defRPr>
                <a:solidFill>
                  <a:schemeClr val="tx1"/>
                </a:solidFill>
                <a:latin typeface="Arial" panose="020B0604020202020204" pitchFamily="34" charset="0"/>
                <a:ea typeface="宋体" panose="02010600030101010101" pitchFamily="2" charset="-122"/>
              </a:defRPr>
            </a:lvl1pPr>
            <a:lvl2pPr>
              <a:tabLst>
                <a:tab pos="254000" algn="l"/>
                <a:tab pos="266700" algn="l"/>
              </a:tabLst>
              <a:defRPr>
                <a:solidFill>
                  <a:schemeClr val="tx1"/>
                </a:solidFill>
                <a:latin typeface="Arial" panose="020B0604020202020204" pitchFamily="34" charset="0"/>
                <a:ea typeface="宋体" panose="02010600030101010101" pitchFamily="2" charset="-122"/>
              </a:defRPr>
            </a:lvl2pPr>
            <a:lvl3pPr>
              <a:tabLst>
                <a:tab pos="254000" algn="l"/>
                <a:tab pos="266700" algn="l"/>
              </a:tabLst>
              <a:defRPr>
                <a:solidFill>
                  <a:schemeClr val="tx1"/>
                </a:solidFill>
                <a:latin typeface="Arial" panose="020B0604020202020204" pitchFamily="34" charset="0"/>
                <a:ea typeface="宋体" panose="02010600030101010101" pitchFamily="2" charset="-122"/>
              </a:defRPr>
            </a:lvl3pPr>
            <a:lvl4pPr>
              <a:tabLst>
                <a:tab pos="254000" algn="l"/>
                <a:tab pos="266700" algn="l"/>
              </a:tabLst>
              <a:defRPr>
                <a:solidFill>
                  <a:schemeClr val="tx1"/>
                </a:solidFill>
                <a:latin typeface="Arial" panose="020B0604020202020204" pitchFamily="34" charset="0"/>
                <a:ea typeface="宋体" panose="02010600030101010101" pitchFamily="2" charset="-122"/>
              </a:defRPr>
            </a:lvl4pPr>
            <a:lvl5pPr>
              <a:tabLst>
                <a:tab pos="254000" algn="l"/>
                <a:tab pos="266700"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254000" algn="l"/>
                <a:tab pos="266700"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254000" algn="l"/>
                <a:tab pos="266700"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254000" algn="l"/>
                <a:tab pos="266700"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254000" algn="l"/>
                <a:tab pos="266700" algn="l"/>
              </a:tabLst>
              <a:defRPr>
                <a:solidFill>
                  <a:schemeClr val="tx1"/>
                </a:solidFill>
                <a:latin typeface="Arial" panose="020B0604020202020204" pitchFamily="34" charset="0"/>
                <a:ea typeface="宋体" panose="02010600030101010101" pitchFamily="2" charset="-122"/>
              </a:defRPr>
            </a:lvl9pPr>
          </a:lstStyle>
          <a:p>
            <a:endParaRPr lang="en-US" altLang="zh-CN" sz="2800" dirty="0" smtClean="0">
              <a:latin typeface="楷体" panose="02010609060101010101" pitchFamily="49" charset="-122"/>
              <a:ea typeface="楷体" panose="02010609060101010101" pitchFamily="49" charset="-122"/>
            </a:endParaRPr>
          </a:p>
          <a:p>
            <a:endParaRPr lang="en-US" altLang="zh-CN" sz="2800" dirty="0" smtClean="0">
              <a:latin typeface="楷体" panose="02010609060101010101" pitchFamily="49" charset="-122"/>
              <a:ea typeface="楷体" panose="02010609060101010101" pitchFamily="49" charset="-122"/>
            </a:endParaRPr>
          </a:p>
        </p:txBody>
      </p:sp>
      <p:sp>
        <p:nvSpPr>
          <p:cNvPr id="12" name="矩形 11"/>
          <p:cNvSpPr/>
          <p:nvPr/>
        </p:nvSpPr>
        <p:spPr>
          <a:xfrm>
            <a:off x="1866997" y="1744729"/>
            <a:ext cx="8460004" cy="4399915"/>
          </a:xfrm>
          <a:prstGeom prst="rect">
            <a:avLst/>
          </a:prstGeom>
        </p:spPr>
        <p:txBody>
          <a:bodyPr wrap="square">
            <a:spAutoFit/>
          </a:bodyPr>
          <a:lstStyle/>
          <a:p>
            <a:pPr>
              <a:lnSpc>
                <a:spcPct val="125000"/>
              </a:lnSpc>
              <a:spcAft>
                <a:spcPts val="1200"/>
              </a:spcAft>
              <a:tabLst>
                <a:tab pos="254000" algn="l"/>
                <a:tab pos="266700" algn="l"/>
              </a:tabLst>
            </a:pPr>
            <a:r>
              <a:rPr lang="en-US" altLang="zh-CN" sz="2400" dirty="0" smtClean="0">
                <a:latin typeface="Times New Roman" panose="02020603050405020304" pitchFamily="18" charset="0"/>
              </a:rPr>
              <a:t>       </a:t>
            </a:r>
            <a:r>
              <a:rPr lang="en-US" altLang="zh-CN" sz="2400" dirty="0" smtClean="0">
                <a:latin typeface="Times New Roman" panose="02020603050405020304" pitchFamily="18" charset="0"/>
              </a:rPr>
              <a:t>3</a:t>
            </a:r>
            <a:r>
              <a:rPr lang="en-US" altLang="zh-CN" sz="2400" i="1" dirty="0" smtClean="0">
                <a:latin typeface="Times New Roman" panose="02020603050405020304" pitchFamily="18" charset="0"/>
              </a:rPr>
              <a:t>x</a:t>
            </a:r>
            <a:r>
              <a:rPr lang="en-US" altLang="zh-CN" sz="2400" baseline="-25000" dirty="0" smtClean="0">
                <a:latin typeface="Times New Roman" panose="02020603050405020304" pitchFamily="18" charset="0"/>
              </a:rPr>
              <a:t>1</a:t>
            </a:r>
            <a:r>
              <a:rPr lang="en-US" altLang="zh-CN" sz="2400" dirty="0" smtClean="0">
                <a:latin typeface="Times New Roman" panose="02020603050405020304" pitchFamily="18" charset="0"/>
              </a:rPr>
              <a:t>+4</a:t>
            </a:r>
            <a:r>
              <a:rPr lang="en-US" altLang="zh-CN" sz="2400" i="1" dirty="0" smtClean="0">
                <a:latin typeface="Times New Roman" panose="02020603050405020304" pitchFamily="18" charset="0"/>
              </a:rPr>
              <a:t>x</a:t>
            </a:r>
            <a:r>
              <a:rPr lang="en-US" altLang="zh-CN" sz="2400" baseline="-25000" dirty="0" smtClean="0">
                <a:latin typeface="Times New Roman" panose="02020603050405020304" pitchFamily="18" charset="0"/>
              </a:rPr>
              <a:t>2</a:t>
            </a:r>
            <a:r>
              <a:rPr lang="en-US" altLang="zh-CN" sz="2400" dirty="0" smtClean="0">
                <a:latin typeface="Times New Roman" panose="02020603050405020304" pitchFamily="18" charset="0"/>
              </a:rPr>
              <a:t> </a:t>
            </a:r>
            <a:r>
              <a:rPr lang="en-US" altLang="zh-CN" sz="2400" dirty="0" smtClean="0">
                <a:latin typeface="楷体" panose="02010609060101010101" pitchFamily="49" charset="-122"/>
                <a:ea typeface="楷体" panose="02010609060101010101" pitchFamily="49" charset="-122"/>
              </a:rPr>
              <a:t>=10000 </a:t>
            </a:r>
            <a:r>
              <a:rPr lang="zh-CN" altLang="en-US" sz="2400" dirty="0" smtClean="0">
                <a:latin typeface="楷体" panose="02010609060101010101" pitchFamily="49" charset="-122"/>
                <a:ea typeface="楷体" panose="02010609060101010101" pitchFamily="49" charset="-122"/>
              </a:rPr>
              <a:t>直线的左下方区域中 </a:t>
            </a:r>
            <a:r>
              <a:rPr lang="en-US" altLang="zh-CN" sz="2400" dirty="0" smtClean="0">
                <a:latin typeface="楷体" panose="02010609060101010101" pitchFamily="49" charset="-122"/>
                <a:ea typeface="楷体" panose="02010609060101010101" pitchFamily="49" charset="-122"/>
              </a:rPr>
              <a:t>d</a:t>
            </a:r>
            <a:r>
              <a:rPr lang="en-US" altLang="zh-CN" sz="2400" baseline="-25000" dirty="0" smtClean="0">
                <a:latin typeface="楷体" panose="02010609060101010101" pitchFamily="49" charset="-122"/>
                <a:ea typeface="楷体" panose="02010609060101010101" pitchFamily="49" charset="-122"/>
              </a:rPr>
              <a:t>2</a:t>
            </a:r>
            <a:r>
              <a:rPr lang="en-US" altLang="zh-CN" sz="2400" baseline="30000" dirty="0" smtClean="0">
                <a:latin typeface="楷体" panose="02010609060101010101" pitchFamily="49" charset="-122"/>
                <a:ea typeface="楷体" panose="02010609060101010101" pitchFamily="49" charset="-122"/>
              </a:rPr>
              <a:t>- </a:t>
            </a:r>
            <a:r>
              <a:rPr lang="en-US" altLang="zh-CN" sz="2400" dirty="0" smtClean="0">
                <a:latin typeface="楷体" panose="02010609060101010101" pitchFamily="49" charset="-122"/>
                <a:ea typeface="楷体" panose="02010609060101010101" pitchFamily="49" charset="-122"/>
              </a:rPr>
              <a:t>&gt;0,</a:t>
            </a:r>
            <a:r>
              <a:rPr lang="zh-CN" altLang="en-US" sz="2400" dirty="0" smtClean="0">
                <a:latin typeface="楷体" panose="02010609060101010101" pitchFamily="49" charset="-122"/>
                <a:ea typeface="楷体" panose="02010609060101010101" pitchFamily="49" charset="-122"/>
              </a:rPr>
              <a:t>右上方区域中</a:t>
            </a:r>
            <a:r>
              <a:rPr lang="en-US" altLang="zh-CN" sz="2400" dirty="0" smtClean="0">
                <a:latin typeface="楷体" panose="02010609060101010101" pitchFamily="49" charset="-122"/>
                <a:ea typeface="楷体" panose="02010609060101010101" pitchFamily="49" charset="-122"/>
              </a:rPr>
              <a:t>d</a:t>
            </a:r>
            <a:r>
              <a:rPr lang="en-US" altLang="zh-CN" sz="2400" baseline="-25000" dirty="0" smtClean="0">
                <a:latin typeface="楷体" panose="02010609060101010101" pitchFamily="49" charset="-122"/>
                <a:ea typeface="楷体" panose="02010609060101010101" pitchFamily="49" charset="-122"/>
              </a:rPr>
              <a:t>2</a:t>
            </a:r>
            <a:r>
              <a:rPr lang="en-US" altLang="zh-CN" sz="2400" baseline="30000" dirty="0" smtClean="0">
                <a:latin typeface="楷体" panose="02010609060101010101" pitchFamily="49" charset="-122"/>
                <a:ea typeface="楷体" panose="02010609060101010101" pitchFamily="49" charset="-122"/>
              </a:rPr>
              <a:t>- </a:t>
            </a:r>
            <a:r>
              <a:rPr lang="en-US" altLang="zh-CN" sz="2400" dirty="0" smtClean="0">
                <a:latin typeface="楷体" panose="02010609060101010101" pitchFamily="49" charset="-122"/>
                <a:ea typeface="楷体" panose="02010609060101010101" pitchFamily="49" charset="-122"/>
              </a:rPr>
              <a:t>=0</a:t>
            </a:r>
            <a:r>
              <a:rPr lang="zh-CN" altLang="en-US" sz="2400" dirty="0" smtClean="0">
                <a:latin typeface="楷体" panose="02010609060101010101" pitchFamily="49" charset="-122"/>
                <a:ea typeface="楷体" panose="02010609060101010101" pitchFamily="49" charset="-122"/>
              </a:rPr>
              <a:t>，可得</a:t>
            </a:r>
            <a:r>
              <a:rPr lang="en-US" altLang="zh-CN" sz="2400" dirty="0" smtClean="0">
                <a:latin typeface="楷体" panose="02010609060101010101" pitchFamily="49" charset="-122"/>
                <a:ea typeface="楷体" panose="02010609060101010101" pitchFamily="49" charset="-122"/>
              </a:rPr>
              <a:t>d</a:t>
            </a:r>
            <a:r>
              <a:rPr lang="en-US" altLang="zh-CN" sz="2400" baseline="-25000" dirty="0" smtClean="0">
                <a:latin typeface="楷体" panose="02010609060101010101" pitchFamily="49" charset="-122"/>
                <a:ea typeface="楷体" panose="02010609060101010101" pitchFamily="49" charset="-122"/>
              </a:rPr>
              <a:t>2</a:t>
            </a:r>
            <a:r>
              <a:rPr lang="en-US" altLang="zh-CN" sz="2400" baseline="30000" dirty="0" smtClean="0">
                <a:latin typeface="楷体" panose="02010609060101010101" pitchFamily="49" charset="-122"/>
                <a:ea typeface="楷体" panose="02010609060101010101" pitchFamily="49" charset="-122"/>
              </a:rPr>
              <a:t>-</a:t>
            </a:r>
            <a:r>
              <a:rPr lang="zh-CN" altLang="en-US" sz="2400" dirty="0" smtClean="0">
                <a:latin typeface="楷体" panose="02010609060101010101" pitchFamily="49" charset="-122"/>
                <a:ea typeface="楷体" panose="02010609060101010101" pitchFamily="49" charset="-122"/>
              </a:rPr>
              <a:t>最小值，但该区域和阴影部分无重合，接受</a:t>
            </a:r>
            <a:r>
              <a:rPr lang="en-US" altLang="zh-CN" sz="2400" dirty="0" smtClean="0">
                <a:latin typeface="楷体" panose="02010609060101010101" pitchFamily="49" charset="-122"/>
                <a:ea typeface="楷体" panose="02010609060101010101" pitchFamily="49" charset="-122"/>
              </a:rPr>
              <a:t>d</a:t>
            </a:r>
            <a:r>
              <a:rPr lang="en-US" altLang="zh-CN" sz="2400" baseline="-25000" dirty="0" smtClean="0">
                <a:latin typeface="楷体" panose="02010609060101010101" pitchFamily="49" charset="-122"/>
                <a:ea typeface="楷体" panose="02010609060101010101" pitchFamily="49" charset="-122"/>
              </a:rPr>
              <a:t>2</a:t>
            </a:r>
            <a:r>
              <a:rPr lang="en-US" altLang="zh-CN" sz="2400" baseline="30000" dirty="0" smtClean="0">
                <a:latin typeface="楷体" panose="02010609060101010101" pitchFamily="49" charset="-122"/>
                <a:ea typeface="楷体" panose="02010609060101010101" pitchFamily="49" charset="-122"/>
              </a:rPr>
              <a:t>- </a:t>
            </a:r>
            <a:r>
              <a:rPr lang="en-US" altLang="zh-CN" sz="2400" dirty="0" smtClean="0">
                <a:latin typeface="楷体" panose="02010609060101010101" pitchFamily="49" charset="-122"/>
                <a:ea typeface="楷体" panose="02010609060101010101" pitchFamily="49" charset="-122"/>
              </a:rPr>
              <a:t>&gt;0 </a:t>
            </a:r>
            <a:r>
              <a:rPr lang="zh-CN" altLang="en-US" sz="2400" dirty="0" smtClean="0">
                <a:latin typeface="楷体" panose="02010609060101010101" pitchFamily="49" charset="-122"/>
                <a:ea typeface="楷体" panose="02010609060101010101" pitchFamily="49" charset="-122"/>
              </a:rPr>
              <a:t>的解。阴影区域中</a:t>
            </a:r>
            <a:r>
              <a:rPr lang="en-US" altLang="zh-CN" sz="2400" dirty="0" smtClean="0">
                <a:latin typeface="楷体" panose="02010609060101010101" pitchFamily="49" charset="-122"/>
                <a:ea typeface="楷体" panose="02010609060101010101" pitchFamily="49" charset="-122"/>
              </a:rPr>
              <a:t>d</a:t>
            </a:r>
            <a:r>
              <a:rPr lang="en-US" altLang="zh-CN" sz="2400" baseline="-25000" dirty="0" smtClean="0">
                <a:latin typeface="楷体" panose="02010609060101010101" pitchFamily="49" charset="-122"/>
                <a:ea typeface="楷体" panose="02010609060101010101" pitchFamily="49" charset="-122"/>
              </a:rPr>
              <a:t>2</a:t>
            </a:r>
            <a:r>
              <a:rPr lang="en-US" altLang="zh-CN" sz="2400" baseline="30000" dirty="0" smtClean="0">
                <a:latin typeface="楷体" panose="02010609060101010101" pitchFamily="49" charset="-122"/>
                <a:ea typeface="楷体" panose="02010609060101010101" pitchFamily="49" charset="-122"/>
              </a:rPr>
              <a:t>-</a:t>
            </a:r>
            <a:r>
              <a:rPr lang="zh-CN" altLang="en-US" sz="2400" dirty="0" smtClean="0">
                <a:latin typeface="楷体" panose="02010609060101010101" pitchFamily="49" charset="-122"/>
                <a:ea typeface="楷体" panose="02010609060101010101" pitchFamily="49" charset="-122"/>
              </a:rPr>
              <a:t>最小的点即直线 </a:t>
            </a:r>
            <a:r>
              <a:rPr lang="en-US" altLang="zh-CN" sz="2400" dirty="0" smtClean="0">
                <a:latin typeface="Times New Roman" panose="02020603050405020304" pitchFamily="18" charset="0"/>
              </a:rPr>
              <a:t>0.5</a:t>
            </a:r>
            <a:r>
              <a:rPr lang="en-US" altLang="zh-CN" sz="2400" i="1" dirty="0" smtClean="0">
                <a:latin typeface="Times New Roman" panose="02020603050405020304" pitchFamily="18" charset="0"/>
              </a:rPr>
              <a:t>x</a:t>
            </a:r>
            <a:r>
              <a:rPr lang="en-US" altLang="zh-CN" sz="2400" baseline="-25000" dirty="0" smtClean="0">
                <a:latin typeface="Times New Roman" panose="02020603050405020304" pitchFamily="18" charset="0"/>
              </a:rPr>
              <a:t>1</a:t>
            </a:r>
            <a:r>
              <a:rPr lang="en-US" altLang="zh-CN" sz="1200" dirty="0" smtClean="0">
                <a:latin typeface="Times New Roman" panose="02020603050405020304" pitchFamily="18" charset="0"/>
              </a:rPr>
              <a:t> </a:t>
            </a:r>
            <a:r>
              <a:rPr lang="en-US" altLang="zh-CN" sz="2400" dirty="0" smtClean="0">
                <a:latin typeface="Times New Roman" panose="02020603050405020304" pitchFamily="18" charset="0"/>
              </a:rPr>
              <a:t>+</a:t>
            </a:r>
            <a:r>
              <a:rPr lang="en-US" altLang="zh-CN" sz="2400" dirty="0" smtClean="0">
                <a:latin typeface="Times New Roman" panose="02020603050405020304" pitchFamily="18" charset="0"/>
              </a:rPr>
              <a:t>0.2</a:t>
            </a:r>
            <a:r>
              <a:rPr lang="en-US" altLang="zh-CN" sz="2400" i="1" dirty="0" smtClean="0">
                <a:latin typeface="Times New Roman" panose="02020603050405020304" pitchFamily="18" charset="0"/>
              </a:rPr>
              <a:t>x</a:t>
            </a:r>
            <a:r>
              <a:rPr lang="en-US" altLang="zh-CN" sz="2400" baseline="-25000" dirty="0" smtClean="0">
                <a:latin typeface="Times New Roman" panose="02020603050405020304" pitchFamily="18" charset="0"/>
              </a:rPr>
              <a:t>2 </a:t>
            </a:r>
            <a:r>
              <a:rPr lang="en-US" altLang="zh-CN" sz="2400" dirty="0" smtClean="0">
                <a:latin typeface="楷体" panose="02010609060101010101" pitchFamily="49" charset="-122"/>
                <a:ea typeface="楷体" panose="02010609060101010101" pitchFamily="49" charset="-122"/>
              </a:rPr>
              <a:t>=700  </a:t>
            </a:r>
            <a:r>
              <a:rPr lang="zh-CN" altLang="en-US" sz="2400" dirty="0" smtClean="0">
                <a:latin typeface="楷体" panose="02010609060101010101" pitchFamily="49" charset="-122"/>
                <a:ea typeface="楷体" panose="02010609060101010101" pitchFamily="49" charset="-122"/>
              </a:rPr>
              <a:t>和 </a:t>
            </a:r>
            <a:r>
              <a:rPr lang="en-US" altLang="zh-CN" sz="2400" dirty="0" smtClean="0">
                <a:latin typeface="Times New Roman" panose="02020603050405020304" pitchFamily="18" charset="0"/>
              </a:rPr>
              <a:t>20</a:t>
            </a:r>
            <a:r>
              <a:rPr lang="en-US" altLang="zh-CN" sz="2400" i="1" dirty="0" smtClean="0">
                <a:latin typeface="Times New Roman" panose="02020603050405020304" pitchFamily="18" charset="0"/>
              </a:rPr>
              <a:t>x</a:t>
            </a:r>
            <a:r>
              <a:rPr lang="en-US" altLang="zh-CN" sz="2400" baseline="-25000" dirty="0" smtClean="0">
                <a:latin typeface="Times New Roman" panose="02020603050405020304" pitchFamily="18" charset="0"/>
              </a:rPr>
              <a:t>1</a:t>
            </a:r>
            <a:r>
              <a:rPr lang="zh-CN" altLang="en-US" sz="2400" dirty="0" smtClean="0">
                <a:latin typeface="Times New Roman" panose="02020603050405020304" pitchFamily="18" charset="0"/>
              </a:rPr>
              <a:t>＋</a:t>
            </a:r>
            <a:r>
              <a:rPr lang="en-US" altLang="zh-CN" sz="2400" dirty="0" smtClean="0">
                <a:latin typeface="Times New Roman" panose="02020603050405020304" pitchFamily="18" charset="0"/>
              </a:rPr>
              <a:t>50</a:t>
            </a:r>
            <a:r>
              <a:rPr lang="en-US" altLang="zh-CN" sz="2400" i="1" dirty="0" smtClean="0">
                <a:latin typeface="Times New Roman" panose="02020603050405020304" pitchFamily="18" charset="0"/>
              </a:rPr>
              <a:t>x</a:t>
            </a:r>
            <a:r>
              <a:rPr lang="en-US" altLang="zh-CN" sz="2400" baseline="-25000" dirty="0" smtClean="0">
                <a:latin typeface="Times New Roman" panose="02020603050405020304" pitchFamily="18" charset="0"/>
              </a:rPr>
              <a:t>2 </a:t>
            </a:r>
            <a:r>
              <a:rPr lang="en-US" altLang="zh-CN" sz="2400" dirty="0" smtClean="0">
                <a:latin typeface="楷体" panose="02010609060101010101" pitchFamily="49" charset="-122"/>
                <a:ea typeface="楷体" panose="02010609060101010101" pitchFamily="49" charset="-122"/>
              </a:rPr>
              <a:t>=90000</a:t>
            </a:r>
            <a:r>
              <a:rPr lang="zh-CN" altLang="en-US" sz="2400" dirty="0" smtClean="0">
                <a:latin typeface="楷体" panose="02010609060101010101" pitchFamily="49" charset="-122"/>
                <a:ea typeface="楷体" panose="02010609060101010101" pitchFamily="49" charset="-122"/>
              </a:rPr>
              <a:t>的交点（ </a:t>
            </a:r>
            <a:r>
              <a:rPr lang="en-US" altLang="zh-CN" sz="2400" dirty="0" smtClean="0">
                <a:latin typeface="楷体" panose="02010609060101010101" pitchFamily="49" charset="-122"/>
                <a:ea typeface="楷体" panose="02010609060101010101" pitchFamily="49" charset="-122"/>
              </a:rPr>
              <a:t>810 ,1476 </a:t>
            </a:r>
            <a:r>
              <a:rPr lang="zh-CN" altLang="en-US" sz="2400" dirty="0" smtClean="0">
                <a:latin typeface="楷体" panose="02010609060101010101" pitchFamily="49" charset="-122"/>
                <a:ea typeface="楷体" panose="02010609060101010101" pitchFamily="49" charset="-122"/>
              </a:rPr>
              <a:t>），总风险为 </a:t>
            </a:r>
            <a:r>
              <a:rPr lang="en-US" altLang="zh-CN" sz="2400" dirty="0" smtClean="0">
                <a:latin typeface="楷体" panose="02010609060101010101" pitchFamily="49" charset="-122"/>
                <a:ea typeface="楷体" panose="02010609060101010101" pitchFamily="49" charset="-122"/>
              </a:rPr>
              <a:t>700</a:t>
            </a:r>
            <a:r>
              <a:rPr lang="zh-CN" altLang="en-US" sz="2400" dirty="0" smtClean="0">
                <a:latin typeface="楷体" panose="02010609060101010101" pitchFamily="49" charset="-122"/>
                <a:ea typeface="楷体" panose="02010609060101010101" pitchFamily="49" charset="-122"/>
              </a:rPr>
              <a:t>，总收益为</a:t>
            </a:r>
            <a:r>
              <a:rPr lang="en-US" altLang="zh-CN" sz="2400" dirty="0" smtClean="0">
                <a:latin typeface="楷体" panose="02010609060101010101" pitchFamily="49" charset="-122"/>
                <a:ea typeface="楷体" panose="02010609060101010101" pitchFamily="49" charset="-122"/>
              </a:rPr>
              <a:t>3×810+4×1476=2430+5904=8334&lt;10000 </a:t>
            </a:r>
            <a:r>
              <a:rPr lang="zh-CN" altLang="en-US" sz="2400" dirty="0" smtClean="0">
                <a:latin typeface="楷体" panose="02010609060101010101" pitchFamily="49" charset="-122"/>
                <a:ea typeface="楷体" panose="02010609060101010101" pitchFamily="49" charset="-122"/>
              </a:rPr>
              <a:t>故没有达到第二个目标。</a:t>
            </a:r>
            <a:endParaRPr lang="zh-CN" altLang="en-US" sz="2400" dirty="0" smtClean="0">
              <a:latin typeface="楷体" panose="02010609060101010101" pitchFamily="49" charset="-122"/>
              <a:ea typeface="楷体" panose="02010609060101010101" pitchFamily="49" charset="-122"/>
            </a:endParaRPr>
          </a:p>
          <a:p>
            <a:pPr>
              <a:lnSpc>
                <a:spcPct val="125000"/>
              </a:lnSpc>
              <a:spcAft>
                <a:spcPts val="600"/>
              </a:spcAft>
              <a:tabLst>
                <a:tab pos="254000" algn="l"/>
                <a:tab pos="266700" algn="l"/>
              </a:tabLst>
            </a:pPr>
            <a:r>
              <a:rPr lang="zh-CN" altLang="en-US" sz="2400" dirty="0" smtClean="0">
                <a:latin typeface="楷体" panose="02010609060101010101" pitchFamily="49" charset="-122"/>
                <a:ea typeface="楷体" panose="02010609060101010101" pitchFamily="49" charset="-122"/>
              </a:rPr>
              <a:t>   本例中，优先权高的目标实现了，并付出了优先权低的目标没有实现的代价。如果采用“管理运筹学”软件进行求解，可知 </a:t>
            </a:r>
            <a:r>
              <a:rPr lang="en-US" altLang="zh-CN" sz="2400" dirty="0" smtClean="0">
                <a:latin typeface="楷体" panose="02010609060101010101" pitchFamily="49" charset="-122"/>
                <a:ea typeface="楷体" panose="02010609060101010101" pitchFamily="49" charset="-122"/>
              </a:rPr>
              <a:t>d</a:t>
            </a:r>
            <a:r>
              <a:rPr lang="en-US" altLang="zh-CN" sz="2400" baseline="-25000" dirty="0" smtClean="0">
                <a:latin typeface="楷体" panose="02010609060101010101" pitchFamily="49" charset="-122"/>
                <a:ea typeface="楷体" panose="02010609060101010101" pitchFamily="49" charset="-122"/>
              </a:rPr>
              <a:t>1</a:t>
            </a:r>
            <a:r>
              <a:rPr lang="en-US" altLang="zh-CN" sz="2400" baseline="30000" dirty="0" smtClean="0">
                <a:latin typeface="楷体" panose="02010609060101010101" pitchFamily="49" charset="-122"/>
                <a:ea typeface="楷体" panose="02010609060101010101" pitchFamily="49" charset="-122"/>
              </a:rPr>
              <a:t>+ </a:t>
            </a:r>
            <a:r>
              <a:rPr lang="en-US" altLang="zh-CN" sz="2400" dirty="0" smtClean="0">
                <a:latin typeface="楷体" panose="02010609060101010101" pitchFamily="49" charset="-122"/>
                <a:ea typeface="楷体" panose="02010609060101010101" pitchFamily="49" charset="-122"/>
              </a:rPr>
              <a:t>= d</a:t>
            </a:r>
            <a:r>
              <a:rPr lang="en-US" altLang="zh-CN" sz="2400" baseline="-25000" dirty="0" smtClean="0">
                <a:latin typeface="楷体" panose="02010609060101010101" pitchFamily="49" charset="-122"/>
                <a:ea typeface="楷体" panose="02010609060101010101" pitchFamily="49" charset="-122"/>
              </a:rPr>
              <a:t>1</a:t>
            </a:r>
            <a:r>
              <a:rPr lang="en-US" altLang="zh-CN" sz="2400" baseline="30000" dirty="0" smtClean="0">
                <a:latin typeface="楷体" panose="02010609060101010101" pitchFamily="49" charset="-122"/>
                <a:ea typeface="楷体" panose="02010609060101010101" pitchFamily="49" charset="-122"/>
              </a:rPr>
              <a:t>- </a:t>
            </a:r>
            <a:r>
              <a:rPr lang="en-US" altLang="zh-CN" sz="2400" dirty="0" smtClean="0">
                <a:latin typeface="楷体" panose="02010609060101010101" pitchFamily="49" charset="-122"/>
                <a:ea typeface="楷体" panose="02010609060101010101" pitchFamily="49" charset="-122"/>
              </a:rPr>
              <a:t>=0, d</a:t>
            </a:r>
            <a:r>
              <a:rPr lang="en-US" altLang="zh-CN" sz="2400" baseline="-25000" dirty="0" smtClean="0">
                <a:latin typeface="楷体" panose="02010609060101010101" pitchFamily="49" charset="-122"/>
                <a:ea typeface="楷体" panose="02010609060101010101" pitchFamily="49" charset="-122"/>
              </a:rPr>
              <a:t>2</a:t>
            </a:r>
            <a:r>
              <a:rPr lang="en-US" altLang="zh-CN" sz="2400" baseline="30000" dirty="0" smtClean="0">
                <a:latin typeface="楷体" panose="02010609060101010101" pitchFamily="49" charset="-122"/>
                <a:ea typeface="楷体" panose="02010609060101010101" pitchFamily="49" charset="-122"/>
              </a:rPr>
              <a:t>+ </a:t>
            </a:r>
            <a:r>
              <a:rPr lang="en-US" altLang="zh-CN" sz="2400" dirty="0" smtClean="0">
                <a:latin typeface="楷体" panose="02010609060101010101" pitchFamily="49" charset="-122"/>
                <a:ea typeface="楷体" panose="02010609060101010101" pitchFamily="49" charset="-122"/>
              </a:rPr>
              <a:t>=0, d</a:t>
            </a:r>
            <a:r>
              <a:rPr lang="en-US" altLang="zh-CN" sz="2400" baseline="-25000" dirty="0" smtClean="0">
                <a:latin typeface="楷体" panose="02010609060101010101" pitchFamily="49" charset="-122"/>
                <a:ea typeface="楷体" panose="02010609060101010101" pitchFamily="49" charset="-122"/>
              </a:rPr>
              <a:t>2</a:t>
            </a:r>
            <a:r>
              <a:rPr lang="en-US" altLang="zh-CN" sz="2400" baseline="30000" dirty="0" smtClean="0">
                <a:latin typeface="楷体" panose="02010609060101010101" pitchFamily="49" charset="-122"/>
                <a:ea typeface="楷体" panose="02010609060101010101" pitchFamily="49" charset="-122"/>
              </a:rPr>
              <a:t>- </a:t>
            </a:r>
            <a:r>
              <a:rPr lang="en-US" altLang="zh-CN" sz="2400" dirty="0" smtClean="0">
                <a:latin typeface="楷体" panose="02010609060101010101" pitchFamily="49" charset="-122"/>
                <a:ea typeface="楷体" panose="02010609060101010101" pitchFamily="49" charset="-122"/>
              </a:rPr>
              <a:t>≈</a:t>
            </a:r>
            <a:r>
              <a:rPr lang="en-US" altLang="zh-CN" sz="2400" dirty="0" smtClean="0">
                <a:latin typeface="楷体" panose="02010609060101010101" pitchFamily="49" charset="-122"/>
                <a:ea typeface="楷体" panose="02010609060101010101" pitchFamily="49" charset="-122"/>
              </a:rPr>
              <a:t>1667</a:t>
            </a:r>
            <a:r>
              <a:rPr lang="zh-CN" altLang="en-US" sz="2400" dirty="0" smtClean="0">
                <a:latin typeface="楷体" panose="02010609060101010101" pitchFamily="49" charset="-122"/>
                <a:ea typeface="楷体" panose="02010609060101010101" pitchFamily="49" charset="-122"/>
              </a:rPr>
              <a:t>。</a:t>
            </a:r>
            <a:endParaRPr lang="zh-CN" altLang="en-US" sz="2400" dirty="0" smtClean="0">
              <a:solidFill>
                <a:srgbClr val="FF0000"/>
              </a:solidFill>
              <a:latin typeface="楷体" panose="02010609060101010101" pitchFamily="49" charset="-122"/>
              <a:ea typeface="楷体" panose="02010609060101010101" pitchFamily="49" charset="-122"/>
            </a:endParaRPr>
          </a:p>
        </p:txBody>
      </p:sp>
      <p:sp>
        <p:nvSpPr>
          <p:cNvPr id="2" name="标题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a:sym typeface="+mn-ea"/>
              </a:rPr>
              <a:t>有优先权的</a:t>
            </a:r>
            <a:r>
              <a:rPr lang="zh-CN" altLang="en-US" dirty="0"/>
              <a:t>目标规划的图解法</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ox(in)">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3397" name="Rectangle 69"/>
          <p:cNvSpPr>
            <a:spLocks noGrp="1" noChangeArrowheads="1"/>
          </p:cNvSpPr>
          <p:nvPr>
            <p:ph type="title" idx="4294967295"/>
          </p:nvPr>
        </p:nvSpPr>
        <p:spPr/>
        <p:txBody>
          <a:bodyPr>
            <a:normAutofit fontScale="90000"/>
          </a:bodyPr>
          <a:lstStyle/>
          <a:p>
            <a:r>
              <a:rPr lang="zh-CN" altLang="en-US">
                <a:latin typeface="华文楷体" panose="02010600040101010101" charset="-122"/>
                <a:ea typeface="华文楷体" panose="02010600040101010101" charset="-122"/>
                <a:cs typeface="华文楷体" panose="02010600040101010101" charset="-122"/>
              </a:rPr>
              <a:t>有优先权的目标规划的图解法</a:t>
            </a:r>
            <a:r>
              <a:rPr lang="en-US" altLang="zh-CN">
                <a:latin typeface="华文楷体" panose="02010600040101010101" charset="-122"/>
                <a:ea typeface="华文楷体" panose="02010600040101010101" charset="-122"/>
                <a:cs typeface="华文楷体" panose="02010600040101010101" charset="-122"/>
              </a:rPr>
              <a:t>-</a:t>
            </a:r>
            <a:r>
              <a:rPr lang="zh-CN" altLang="en-US">
                <a:latin typeface="华文楷体" panose="02010600040101010101" charset="-122"/>
                <a:ea typeface="华文楷体" panose="02010600040101010101" charset="-122"/>
                <a:cs typeface="华文楷体" panose="02010600040101010101" charset="-122"/>
              </a:rPr>
              <a:t>化肥生产</a:t>
            </a:r>
            <a:br>
              <a:rPr lang="zh-CN" altLang="en-US"/>
            </a:br>
            <a:endParaRPr lang="zh-CN" altLang="en-US"/>
          </a:p>
        </p:txBody>
      </p:sp>
      <p:sp>
        <p:nvSpPr>
          <p:cNvPr id="1123398" name="Rectangle 70"/>
          <p:cNvSpPr>
            <a:spLocks noGrp="1" noChangeArrowheads="1"/>
          </p:cNvSpPr>
          <p:nvPr>
            <p:ph type="body" idx="4294967295"/>
          </p:nvPr>
        </p:nvSpPr>
        <p:spPr>
          <a:xfrm>
            <a:off x="1855788" y="3517900"/>
            <a:ext cx="8507412" cy="2789238"/>
          </a:xfrm>
        </p:spPr>
        <p:txBody>
          <a:bodyPr/>
          <a:lstStyle/>
          <a:p>
            <a:r>
              <a:rPr lang="zh-CN" altLang="en-US" sz="2200" dirty="0" smtClean="0">
                <a:latin typeface="华文楷体" panose="02010600040101010101" charset="-122"/>
                <a:ea typeface="华文楷体" panose="02010600040101010101" charset="-122"/>
                <a:cs typeface="华文楷体" panose="02010600040101010101" charset="-122"/>
              </a:rPr>
              <a:t>四个目标：</a:t>
            </a:r>
            <a:endParaRPr lang="zh-CN" altLang="en-US" sz="2200" dirty="0" smtClean="0">
              <a:latin typeface="华文楷体" panose="02010600040101010101" charset="-122"/>
              <a:ea typeface="华文楷体" panose="02010600040101010101" charset="-122"/>
              <a:cs typeface="华文楷体" panose="02010600040101010101" charset="-122"/>
            </a:endParaRPr>
          </a:p>
          <a:p>
            <a:pPr lvl="1"/>
            <a:r>
              <a:rPr lang="zh-CN" altLang="en-US" sz="2200" dirty="0">
                <a:latin typeface="华文楷体" panose="02010600040101010101" charset="-122"/>
                <a:ea typeface="华文楷体" panose="02010600040101010101" charset="-122"/>
                <a:cs typeface="华文楷体" panose="02010600040101010101" charset="-122"/>
              </a:rPr>
              <a:t>①原材料价格上涨，如果原材料短缺需要高价购买，因此需要严格控制原材料的使用量；</a:t>
            </a:r>
            <a:endParaRPr lang="zh-CN" altLang="en-US" sz="2200" dirty="0">
              <a:latin typeface="华文楷体" panose="02010600040101010101" charset="-122"/>
              <a:ea typeface="华文楷体" panose="02010600040101010101" charset="-122"/>
              <a:cs typeface="华文楷体" panose="02010600040101010101" charset="-122"/>
            </a:endParaRPr>
          </a:p>
          <a:p>
            <a:pPr lvl="1"/>
            <a:r>
              <a:rPr lang="zh-CN" altLang="en-US" sz="2200" dirty="0">
                <a:latin typeface="华文楷体" panose="02010600040101010101" charset="-122"/>
                <a:ea typeface="华文楷体" panose="02010600040101010101" charset="-122"/>
                <a:cs typeface="华文楷体" panose="02010600040101010101" charset="-122"/>
              </a:rPr>
              <a:t>② 在市场方面，市场调研表明化肥</a:t>
            </a:r>
            <a:r>
              <a:rPr lang="en-US" altLang="zh-CN" sz="2200" dirty="0">
                <a:latin typeface="华文楷体" panose="02010600040101010101" charset="-122"/>
                <a:ea typeface="华文楷体" panose="02010600040101010101" charset="-122"/>
                <a:cs typeface="华文楷体" panose="02010600040101010101" charset="-122"/>
              </a:rPr>
              <a:t>I</a:t>
            </a:r>
            <a:r>
              <a:rPr lang="zh-CN" altLang="en-US" sz="2200" dirty="0">
                <a:latin typeface="华文楷体" panose="02010600040101010101" charset="-122"/>
                <a:ea typeface="华文楷体" panose="02010600040101010101" charset="-122"/>
                <a:cs typeface="华文楷体" panose="02010600040101010101" charset="-122"/>
              </a:rPr>
              <a:t>的需求在逐步萎缩，因此管理层决定化肥</a:t>
            </a:r>
            <a:r>
              <a:rPr lang="en-US" altLang="zh-CN" sz="2200" dirty="0">
                <a:latin typeface="华文楷体" panose="02010600040101010101" charset="-122"/>
                <a:ea typeface="华文楷体" panose="02010600040101010101" charset="-122"/>
                <a:cs typeface="华文楷体" panose="02010600040101010101" charset="-122"/>
              </a:rPr>
              <a:t>I</a:t>
            </a:r>
            <a:r>
              <a:rPr lang="zh-CN" altLang="en-US" sz="2200" dirty="0">
                <a:latin typeface="华文楷体" panose="02010600040101010101" charset="-122"/>
                <a:ea typeface="华文楷体" panose="02010600040101010101" charset="-122"/>
                <a:cs typeface="华文楷体" panose="02010600040101010101" charset="-122"/>
              </a:rPr>
              <a:t>的产量不高于化肥</a:t>
            </a:r>
            <a:r>
              <a:rPr lang="en-US" altLang="zh-CN" sz="2200" dirty="0">
                <a:latin typeface="华文楷体" panose="02010600040101010101" charset="-122"/>
                <a:ea typeface="华文楷体" panose="02010600040101010101" charset="-122"/>
                <a:cs typeface="华文楷体" panose="02010600040101010101" charset="-122"/>
              </a:rPr>
              <a:t>II</a:t>
            </a:r>
            <a:r>
              <a:rPr lang="zh-CN" altLang="en-US" sz="2200" dirty="0">
                <a:latin typeface="华文楷体" panose="02010600040101010101" charset="-122"/>
                <a:ea typeface="华文楷体" panose="02010600040101010101" charset="-122"/>
                <a:cs typeface="华文楷体" panose="02010600040101010101" charset="-122"/>
              </a:rPr>
              <a:t>的产量；</a:t>
            </a:r>
            <a:endParaRPr lang="zh-CN" altLang="en-US" sz="2200" dirty="0">
              <a:latin typeface="华文楷体" panose="02010600040101010101" charset="-122"/>
              <a:ea typeface="华文楷体" panose="02010600040101010101" charset="-122"/>
              <a:cs typeface="华文楷体" panose="02010600040101010101" charset="-122"/>
            </a:endParaRPr>
          </a:p>
          <a:p>
            <a:pPr lvl="1"/>
            <a:r>
              <a:rPr lang="zh-CN" altLang="en-US" sz="2200" dirty="0">
                <a:latin typeface="华文楷体" panose="02010600040101010101" charset="-122"/>
                <a:ea typeface="华文楷体" panose="02010600040101010101" charset="-122"/>
                <a:cs typeface="华文楷体" panose="02010600040101010101" charset="-122"/>
              </a:rPr>
              <a:t>③ </a:t>
            </a:r>
            <a:r>
              <a:rPr lang="zh-CN" altLang="en-US" sz="2200" dirty="0" smtClean="0">
                <a:latin typeface="华文楷体" panose="02010600040101010101" charset="-122"/>
                <a:ea typeface="华文楷体" panose="02010600040101010101" charset="-122"/>
                <a:cs typeface="华文楷体" panose="02010600040101010101" charset="-122"/>
              </a:rPr>
              <a:t>希望</a:t>
            </a:r>
            <a:r>
              <a:rPr lang="zh-CN" altLang="en-US" sz="2200" dirty="0">
                <a:latin typeface="华文楷体" panose="02010600040101010101" charset="-122"/>
                <a:ea typeface="华文楷体" panose="02010600040101010101" charset="-122"/>
                <a:cs typeface="华文楷体" panose="02010600040101010101" charset="-122"/>
              </a:rPr>
              <a:t>充分利用设备，但是尽量不要加班</a:t>
            </a:r>
            <a:r>
              <a:rPr lang="zh-CN" altLang="en-US" sz="2200" dirty="0" smtClean="0">
                <a:latin typeface="华文楷体" panose="02010600040101010101" charset="-122"/>
                <a:ea typeface="华文楷体" panose="02010600040101010101" charset="-122"/>
                <a:cs typeface="华文楷体" panose="02010600040101010101" charset="-122"/>
              </a:rPr>
              <a:t>；</a:t>
            </a:r>
            <a:endParaRPr lang="en-US" altLang="zh-CN" sz="2200" dirty="0" smtClean="0">
              <a:latin typeface="华文楷体" panose="02010600040101010101" charset="-122"/>
              <a:ea typeface="华文楷体" panose="02010600040101010101" charset="-122"/>
              <a:cs typeface="华文楷体" panose="02010600040101010101" charset="-122"/>
            </a:endParaRPr>
          </a:p>
          <a:p>
            <a:pPr lvl="1"/>
            <a:r>
              <a:rPr lang="zh-CN" altLang="en-US" sz="2200" dirty="0" smtClean="0">
                <a:latin typeface="华文楷体" panose="02010600040101010101" charset="-122"/>
                <a:ea typeface="华文楷体" panose="02010600040101010101" charset="-122"/>
                <a:cs typeface="华文楷体" panose="02010600040101010101" charset="-122"/>
              </a:rPr>
              <a:t>④ </a:t>
            </a:r>
            <a:r>
              <a:rPr lang="zh-CN" altLang="en-US" sz="2200" dirty="0">
                <a:latin typeface="华文楷体" panose="02010600040101010101" charset="-122"/>
                <a:ea typeface="华文楷体" panose="02010600040101010101" charset="-122"/>
                <a:cs typeface="华文楷体" panose="02010600040101010101" charset="-122"/>
              </a:rPr>
              <a:t>实现</a:t>
            </a:r>
            <a:r>
              <a:rPr lang="en-US" altLang="zh-CN" sz="2200" dirty="0">
                <a:latin typeface="华文楷体" panose="02010600040101010101" charset="-122"/>
                <a:ea typeface="华文楷体" panose="02010600040101010101" charset="-122"/>
                <a:cs typeface="华文楷体" panose="02010600040101010101" charset="-122"/>
              </a:rPr>
              <a:t>60</a:t>
            </a:r>
            <a:r>
              <a:rPr lang="zh-CN" altLang="en-US" sz="2200" dirty="0">
                <a:latin typeface="华文楷体" panose="02010600040101010101" charset="-122"/>
                <a:ea typeface="华文楷体" panose="02010600040101010101" charset="-122"/>
                <a:cs typeface="华文楷体" panose="02010600040101010101" charset="-122"/>
              </a:rPr>
              <a:t>万元的目标</a:t>
            </a:r>
            <a:r>
              <a:rPr lang="zh-CN" altLang="en-US" sz="2200" dirty="0" smtClean="0">
                <a:latin typeface="华文楷体" panose="02010600040101010101" charset="-122"/>
                <a:ea typeface="华文楷体" panose="02010600040101010101" charset="-122"/>
                <a:cs typeface="华文楷体" panose="02010600040101010101" charset="-122"/>
              </a:rPr>
              <a:t>利润。</a:t>
            </a:r>
            <a:endParaRPr lang="zh-CN" altLang="en-US" sz="2200" dirty="0" smtClean="0">
              <a:latin typeface="华文楷体" panose="02010600040101010101" charset="-122"/>
              <a:ea typeface="华文楷体" panose="02010600040101010101" charset="-122"/>
              <a:cs typeface="华文楷体" panose="02010600040101010101" charset="-122"/>
            </a:endParaRPr>
          </a:p>
        </p:txBody>
      </p:sp>
      <p:graphicFrame>
        <p:nvGraphicFramePr>
          <p:cNvPr id="1123396" name="Group 68"/>
          <p:cNvGraphicFramePr>
            <a:graphicFrameLocks noGrp="1"/>
          </p:cNvGraphicFramePr>
          <p:nvPr>
            <p:ph idx="4294967295"/>
          </p:nvPr>
        </p:nvGraphicFramePr>
        <p:xfrm>
          <a:off x="1884363" y="1366472"/>
          <a:ext cx="8507095" cy="1876426"/>
        </p:xfrm>
        <a:graphic>
          <a:graphicData uri="http://schemas.openxmlformats.org/drawingml/2006/table">
            <a:tbl>
              <a:tblPr/>
              <a:tblGrid>
                <a:gridCol w="2127250"/>
                <a:gridCol w="2127250"/>
                <a:gridCol w="2125345"/>
                <a:gridCol w="2127250"/>
              </a:tblGrid>
              <a:tr h="471488">
                <a:tc>
                  <a:txBody>
                    <a:bodyPr/>
                    <a:lstStyle/>
                    <a:p>
                      <a:pPr indent="0" algn="ctr">
                        <a:lnSpc>
                          <a:spcPct val="100000"/>
                        </a:lnSpc>
                        <a:spcAft>
                          <a:spcPts val="0"/>
                        </a:spcAft>
                      </a:pPr>
                      <a:r>
                        <a:rPr lang="en-US" sz="2000" kern="100">
                          <a:effectLst/>
                          <a:latin typeface="Cambria Math" panose="02040503050406030204" pitchFamily="18" charset="0"/>
                          <a:ea typeface="宋体" panose="02010600030101010101" pitchFamily="2" charset="-122"/>
                        </a:rPr>
                        <a:t> </a:t>
                      </a:r>
                      <a:endParaRPr lang="zh-CN" sz="20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FF"/>
                    </a:solidFill>
                  </a:tcPr>
                </a:tc>
                <a:tc>
                  <a:txBody>
                    <a:bodyPr/>
                    <a:lstStyle/>
                    <a:p>
                      <a:pPr indent="0" algn="ctr">
                        <a:lnSpc>
                          <a:spcPct val="100000"/>
                        </a:lnSpc>
                        <a:spcAft>
                          <a:spcPts val="0"/>
                        </a:spcAft>
                      </a:pPr>
                      <a:r>
                        <a:rPr lang="en-US" sz="2000" kern="100" dirty="0">
                          <a:effectLst/>
                          <a:latin typeface="Cambria Math" panose="02040503050406030204" pitchFamily="18" charset="0"/>
                          <a:ea typeface="宋体" panose="02010600030101010101" pitchFamily="2" charset="-122"/>
                        </a:rPr>
                        <a:t>I</a:t>
                      </a:r>
                      <a:endParaRPr lang="zh-CN" sz="20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FF"/>
                    </a:solidFill>
                  </a:tcPr>
                </a:tc>
                <a:tc>
                  <a:txBody>
                    <a:bodyPr/>
                    <a:lstStyle/>
                    <a:p>
                      <a:pPr indent="0" algn="ctr">
                        <a:lnSpc>
                          <a:spcPct val="100000"/>
                        </a:lnSpc>
                        <a:spcAft>
                          <a:spcPts val="0"/>
                        </a:spcAft>
                      </a:pPr>
                      <a:r>
                        <a:rPr lang="en-US" sz="2000" kern="100">
                          <a:effectLst/>
                          <a:latin typeface="Cambria Math" panose="02040503050406030204" pitchFamily="18" charset="0"/>
                          <a:ea typeface="宋体" panose="02010600030101010101" pitchFamily="2" charset="-122"/>
                        </a:rPr>
                        <a:t>II</a:t>
                      </a:r>
                      <a:endParaRPr lang="zh-CN" sz="20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FF"/>
                    </a:solidFill>
                  </a:tcPr>
                </a:tc>
                <a:tc>
                  <a:txBody>
                    <a:bodyPr/>
                    <a:lstStyle/>
                    <a:p>
                      <a:pPr indent="0" algn="ctr">
                        <a:lnSpc>
                          <a:spcPct val="100000"/>
                        </a:lnSpc>
                        <a:spcAft>
                          <a:spcPts val="0"/>
                        </a:spcAft>
                      </a:pPr>
                      <a:r>
                        <a:rPr lang="zh-CN" sz="2000" kern="100">
                          <a:effectLst/>
                          <a:latin typeface="Cambria Math" panose="02040503050406030204" pitchFamily="18" charset="0"/>
                          <a:ea typeface="宋体" panose="02010600030101010101" pitchFamily="2" charset="-122"/>
                        </a:rPr>
                        <a:t>资源限制</a:t>
                      </a:r>
                      <a:endParaRPr lang="zh-CN" sz="20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FF"/>
                    </a:solidFill>
                  </a:tcPr>
                </a:tc>
              </a:tr>
              <a:tr h="466725">
                <a:tc>
                  <a:txBody>
                    <a:bodyPr/>
                    <a:lstStyle/>
                    <a:p>
                      <a:pPr indent="0" algn="ctr">
                        <a:lnSpc>
                          <a:spcPct val="100000"/>
                        </a:lnSpc>
                        <a:spcAft>
                          <a:spcPts val="0"/>
                        </a:spcAft>
                      </a:pPr>
                      <a:r>
                        <a:rPr lang="zh-CN" sz="2000" kern="100">
                          <a:effectLst/>
                          <a:latin typeface="Cambria Math" panose="02040503050406030204" pitchFamily="18" charset="0"/>
                          <a:ea typeface="宋体" panose="02010600030101010101" pitchFamily="2" charset="-122"/>
                        </a:rPr>
                        <a:t>原材料（吨）</a:t>
                      </a:r>
                      <a:endParaRPr lang="zh-CN" sz="20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indent="0" algn="ctr">
                        <a:lnSpc>
                          <a:spcPct val="100000"/>
                        </a:lnSpc>
                        <a:spcAft>
                          <a:spcPts val="0"/>
                        </a:spcAft>
                      </a:pPr>
                      <a:r>
                        <a:rPr lang="en-US" sz="2000" kern="100">
                          <a:effectLst/>
                          <a:latin typeface="Cambria Math" panose="02040503050406030204" pitchFamily="18" charset="0"/>
                          <a:ea typeface="宋体" panose="02010600030101010101" pitchFamily="2" charset="-122"/>
                        </a:rPr>
                        <a:t>2</a:t>
                      </a:r>
                      <a:endParaRPr lang="zh-CN" sz="20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indent="0" algn="ctr">
                        <a:lnSpc>
                          <a:spcPct val="100000"/>
                        </a:lnSpc>
                        <a:spcAft>
                          <a:spcPts val="0"/>
                        </a:spcAft>
                      </a:pPr>
                      <a:r>
                        <a:rPr lang="en-US" sz="2000" kern="100">
                          <a:effectLst/>
                          <a:latin typeface="Cambria Math" panose="02040503050406030204" pitchFamily="18" charset="0"/>
                          <a:ea typeface="宋体" panose="02010600030101010101" pitchFamily="2" charset="-122"/>
                        </a:rPr>
                        <a:t>1</a:t>
                      </a:r>
                      <a:endParaRPr lang="zh-CN" sz="20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indent="0" algn="ctr">
                        <a:lnSpc>
                          <a:spcPct val="100000"/>
                        </a:lnSpc>
                        <a:spcAft>
                          <a:spcPts val="0"/>
                        </a:spcAft>
                      </a:pPr>
                      <a:r>
                        <a:rPr lang="en-US" sz="2000" kern="100">
                          <a:effectLst/>
                          <a:latin typeface="Cambria Math" panose="02040503050406030204" pitchFamily="18" charset="0"/>
                          <a:ea typeface="宋体" panose="02010600030101010101" pitchFamily="2" charset="-122"/>
                        </a:rPr>
                        <a:t>1200</a:t>
                      </a:r>
                      <a:endParaRPr lang="zh-CN" sz="20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9900">
                <a:tc>
                  <a:txBody>
                    <a:bodyPr/>
                    <a:lstStyle/>
                    <a:p>
                      <a:pPr indent="0" algn="ctr">
                        <a:lnSpc>
                          <a:spcPct val="100000"/>
                        </a:lnSpc>
                        <a:spcAft>
                          <a:spcPts val="0"/>
                        </a:spcAft>
                      </a:pPr>
                      <a:r>
                        <a:rPr lang="zh-CN" sz="2000" kern="100">
                          <a:effectLst/>
                          <a:latin typeface="Cambria Math" panose="02040503050406030204" pitchFamily="18" charset="0"/>
                          <a:ea typeface="宋体" panose="02010600030101010101" pitchFamily="2" charset="-122"/>
                        </a:rPr>
                        <a:t>设备（小时）</a:t>
                      </a:r>
                      <a:endParaRPr lang="zh-CN" sz="20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indent="0" algn="ctr">
                        <a:lnSpc>
                          <a:spcPct val="100000"/>
                        </a:lnSpc>
                        <a:spcAft>
                          <a:spcPts val="0"/>
                        </a:spcAft>
                      </a:pPr>
                      <a:r>
                        <a:rPr lang="en-US" sz="2000" kern="100">
                          <a:effectLst/>
                          <a:latin typeface="Cambria Math" panose="02040503050406030204" pitchFamily="18" charset="0"/>
                          <a:ea typeface="宋体" panose="02010600030101010101" pitchFamily="2" charset="-122"/>
                        </a:rPr>
                        <a:t>1</a:t>
                      </a:r>
                      <a:endParaRPr lang="zh-CN" sz="20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indent="0" algn="ctr">
                        <a:lnSpc>
                          <a:spcPct val="100000"/>
                        </a:lnSpc>
                        <a:spcAft>
                          <a:spcPts val="0"/>
                        </a:spcAft>
                      </a:pPr>
                      <a:r>
                        <a:rPr lang="en-US" sz="2000" kern="100">
                          <a:effectLst/>
                          <a:latin typeface="Cambria Math" panose="02040503050406030204" pitchFamily="18" charset="0"/>
                          <a:ea typeface="宋体" panose="02010600030101010101" pitchFamily="2" charset="-122"/>
                        </a:rPr>
                        <a:t>2</a:t>
                      </a:r>
                      <a:endParaRPr lang="zh-CN" sz="20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indent="0" algn="ctr">
                        <a:lnSpc>
                          <a:spcPct val="100000"/>
                        </a:lnSpc>
                        <a:spcAft>
                          <a:spcPts val="0"/>
                        </a:spcAft>
                      </a:pPr>
                      <a:r>
                        <a:rPr lang="en-US" sz="2000" kern="100">
                          <a:effectLst/>
                          <a:latin typeface="Cambria Math" panose="02040503050406030204" pitchFamily="18" charset="0"/>
                          <a:ea typeface="宋体" panose="02010600030101010101" pitchFamily="2" charset="-122"/>
                        </a:rPr>
                        <a:t>1000</a:t>
                      </a:r>
                      <a:endParaRPr lang="zh-CN" sz="20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8313">
                <a:tc>
                  <a:txBody>
                    <a:bodyPr/>
                    <a:lstStyle/>
                    <a:p>
                      <a:pPr indent="0" algn="ctr">
                        <a:lnSpc>
                          <a:spcPct val="100000"/>
                        </a:lnSpc>
                        <a:spcAft>
                          <a:spcPts val="0"/>
                        </a:spcAft>
                      </a:pPr>
                      <a:r>
                        <a:rPr lang="zh-CN" sz="2000" kern="100">
                          <a:effectLst/>
                          <a:latin typeface="Cambria Math" panose="02040503050406030204" pitchFamily="18" charset="0"/>
                          <a:ea typeface="宋体" panose="02010600030101010101" pitchFamily="2" charset="-122"/>
                        </a:rPr>
                        <a:t>利润（元</a:t>
                      </a:r>
                      <a:r>
                        <a:rPr lang="en-US" sz="2000" kern="100">
                          <a:effectLst/>
                          <a:latin typeface="Cambria Math" panose="02040503050406030204" pitchFamily="18" charset="0"/>
                          <a:ea typeface="宋体" panose="02010600030101010101" pitchFamily="2" charset="-122"/>
                        </a:rPr>
                        <a:t>/</a:t>
                      </a:r>
                      <a:r>
                        <a:rPr lang="zh-CN" sz="2000" kern="100">
                          <a:effectLst/>
                          <a:latin typeface="Cambria Math" panose="02040503050406030204" pitchFamily="18" charset="0"/>
                          <a:ea typeface="宋体" panose="02010600030101010101" pitchFamily="2" charset="-122"/>
                        </a:rPr>
                        <a:t>吨）</a:t>
                      </a:r>
                      <a:endParaRPr lang="zh-CN" sz="20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indent="0" algn="ctr">
                        <a:lnSpc>
                          <a:spcPct val="100000"/>
                        </a:lnSpc>
                        <a:spcAft>
                          <a:spcPts val="0"/>
                        </a:spcAft>
                      </a:pPr>
                      <a:r>
                        <a:rPr lang="en-US" sz="2000" kern="100">
                          <a:effectLst/>
                          <a:latin typeface="Cambria Math" panose="02040503050406030204" pitchFamily="18" charset="0"/>
                          <a:ea typeface="宋体" panose="02010600030101010101" pitchFamily="2" charset="-122"/>
                        </a:rPr>
                        <a:t>600</a:t>
                      </a:r>
                      <a:endParaRPr lang="zh-CN" sz="20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indent="0" algn="ctr">
                        <a:lnSpc>
                          <a:spcPct val="100000"/>
                        </a:lnSpc>
                        <a:spcAft>
                          <a:spcPts val="0"/>
                        </a:spcAft>
                      </a:pPr>
                      <a:r>
                        <a:rPr lang="en-US" sz="2000" kern="100">
                          <a:effectLst/>
                          <a:latin typeface="Cambria Math" panose="02040503050406030204" pitchFamily="18" charset="0"/>
                          <a:ea typeface="宋体" panose="02010600030101010101" pitchFamily="2" charset="-122"/>
                        </a:rPr>
                        <a:t>1000</a:t>
                      </a:r>
                      <a:endParaRPr lang="zh-CN" sz="20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indent="0" algn="ctr">
                        <a:lnSpc>
                          <a:spcPct val="100000"/>
                        </a:lnSpc>
                        <a:spcAft>
                          <a:spcPts val="0"/>
                        </a:spcAft>
                      </a:pPr>
                      <a:r>
                        <a:rPr lang="en-US" sz="2000" kern="100" dirty="0">
                          <a:effectLst/>
                          <a:latin typeface="Cambria Math" panose="02040503050406030204" pitchFamily="18" charset="0"/>
                          <a:ea typeface="宋体" panose="02010600030101010101" pitchFamily="2" charset="-122"/>
                        </a:rPr>
                        <a:t> </a:t>
                      </a:r>
                      <a:endParaRPr lang="zh-CN" sz="20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lnSpcReduction="20000"/>
              </a:bodyPr>
              <a:lstStyle/>
              <a:p>
                <a:r>
                  <a:rPr lang="zh-CN" altLang="en-US" dirty="0" smtClean="0"/>
                  <a:t>决策变量：</a:t>
                </a:r>
                <a:endParaRPr lang="en-US" altLang="zh-CN" dirty="0" smtClean="0"/>
              </a:p>
              <a:p>
                <a:pPr lvl="1"/>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1</m:t>
                        </m:r>
                      </m:sub>
                    </m:sSub>
                    <m:r>
                      <a:rPr lang="en-US" altLang="zh-CN" i="1">
                        <a:latin typeface="Cambria Math" panose="02040503050406030204" pitchFamily="18" charset="0"/>
                      </a:rPr>
                      <m:t>=</m:t>
                    </m:r>
                  </m:oMath>
                </a14:m>
                <a:r>
                  <a:rPr lang="en-US" altLang="zh-CN" dirty="0"/>
                  <a:t> </a:t>
                </a:r>
                <a:r>
                  <a:rPr lang="zh-CN" altLang="zh-CN" dirty="0"/>
                  <a:t>下个月化肥</a:t>
                </a:r>
                <a:r>
                  <a:rPr lang="en-US" altLang="zh-CN" dirty="0"/>
                  <a:t>I</a:t>
                </a:r>
                <a:r>
                  <a:rPr lang="zh-CN" altLang="zh-CN" dirty="0"/>
                  <a:t>的产量</a:t>
                </a:r>
                <a:endParaRPr lang="zh-CN" altLang="zh-CN" dirty="0"/>
              </a:p>
              <a:p>
                <a:pPr lvl="1"/>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2</m:t>
                        </m:r>
                      </m:sub>
                    </m:sSub>
                    <m:r>
                      <a:rPr lang="en-US" altLang="zh-CN" i="1">
                        <a:latin typeface="Cambria Math" panose="02040503050406030204" pitchFamily="18" charset="0"/>
                      </a:rPr>
                      <m:t>=</m:t>
                    </m:r>
                  </m:oMath>
                </a14:m>
                <a:r>
                  <a:rPr lang="en-US" altLang="zh-CN" dirty="0"/>
                  <a:t> </a:t>
                </a:r>
                <a:r>
                  <a:rPr lang="zh-CN" altLang="zh-CN" dirty="0"/>
                  <a:t>下个月化肥</a:t>
                </a:r>
                <a:r>
                  <a:rPr lang="en-US" altLang="zh-CN" dirty="0"/>
                  <a:t>II</a:t>
                </a:r>
                <a:r>
                  <a:rPr lang="zh-CN" altLang="zh-CN" dirty="0"/>
                  <a:t>的产量</a:t>
                </a:r>
                <a:endParaRPr lang="en-US" altLang="zh-CN" dirty="0" smtClean="0"/>
              </a:p>
              <a:p>
                <a:r>
                  <a:rPr lang="zh-CN" altLang="en-US" dirty="0" smtClean="0"/>
                  <a:t>引入偏差变量：</a:t>
                </a:r>
                <a:endParaRPr lang="en-US" altLang="zh-CN" dirty="0" smtClean="0"/>
              </a:p>
              <a:p>
                <a:pPr lvl="1"/>
                <a14:m>
                  <m:oMath xmlns:m="http://schemas.openxmlformats.org/officeDocument/2006/math">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𝑑</m:t>
                        </m:r>
                      </m:e>
                      <m:sub>
                        <m:r>
                          <a:rPr lang="en-US" altLang="zh-CN" i="1">
                            <a:latin typeface="Cambria Math" panose="02040503050406030204" pitchFamily="18" charset="0"/>
                          </a:rPr>
                          <m:t>1</m:t>
                        </m:r>
                      </m:sub>
                      <m:sup>
                        <m:r>
                          <a:rPr lang="en-US" altLang="zh-CN" i="1">
                            <a:latin typeface="Cambria Math" panose="02040503050406030204" pitchFamily="18" charset="0"/>
                          </a:rPr>
                          <m:t>−</m:t>
                        </m:r>
                      </m:sup>
                    </m:sSubSup>
                    <m:r>
                      <a:rPr lang="en-US" altLang="zh-CN" i="1">
                        <a:latin typeface="Cambria Math" panose="02040503050406030204" pitchFamily="18" charset="0"/>
                      </a:rPr>
                      <m:t>=</m:t>
                    </m:r>
                  </m:oMath>
                </a14:m>
                <a:r>
                  <a:rPr lang="zh-CN" altLang="zh-CN" dirty="0"/>
                  <a:t>实际剩余的原材料</a:t>
                </a:r>
                <a:endParaRPr lang="zh-CN" altLang="zh-CN" dirty="0"/>
              </a:p>
              <a:p>
                <a:pPr lvl="1"/>
                <a14:m>
                  <m:oMath xmlns:m="http://schemas.openxmlformats.org/officeDocument/2006/math">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𝑑</m:t>
                        </m:r>
                      </m:e>
                      <m:sub>
                        <m:r>
                          <a:rPr lang="en-US" altLang="zh-CN" i="1">
                            <a:latin typeface="Cambria Math" panose="02040503050406030204" pitchFamily="18" charset="0"/>
                          </a:rPr>
                          <m:t>1</m:t>
                        </m:r>
                      </m:sub>
                      <m:sup>
                        <m:r>
                          <a:rPr lang="en-US" altLang="zh-CN" i="1">
                            <a:latin typeface="Cambria Math" panose="02040503050406030204" pitchFamily="18" charset="0"/>
                          </a:rPr>
                          <m:t>+</m:t>
                        </m:r>
                      </m:sup>
                    </m:sSubSup>
                    <m:r>
                      <a:rPr lang="en-US" altLang="zh-CN" i="1">
                        <a:latin typeface="Cambria Math" panose="02040503050406030204" pitchFamily="18" charset="0"/>
                      </a:rPr>
                      <m:t>=</m:t>
                    </m:r>
                  </m:oMath>
                </a14:m>
                <a:r>
                  <a:rPr lang="zh-CN" altLang="zh-CN" dirty="0"/>
                  <a:t>实际超出的原材料</a:t>
                </a:r>
                <a:endParaRPr lang="zh-CN" altLang="zh-CN" dirty="0"/>
              </a:p>
              <a:p>
                <a:pPr lvl="1"/>
                <a14:m>
                  <m:oMath xmlns:m="http://schemas.openxmlformats.org/officeDocument/2006/math">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𝑑</m:t>
                        </m:r>
                      </m:e>
                      <m:sub>
                        <m:r>
                          <a:rPr lang="en-US" altLang="zh-CN" i="1">
                            <a:latin typeface="Cambria Math" panose="02040503050406030204" pitchFamily="18" charset="0"/>
                          </a:rPr>
                          <m:t>2</m:t>
                        </m:r>
                      </m:sub>
                      <m:sup>
                        <m:r>
                          <a:rPr lang="en-US" altLang="zh-CN" i="1">
                            <a:latin typeface="Cambria Math" panose="02040503050406030204" pitchFamily="18" charset="0"/>
                          </a:rPr>
                          <m:t>−</m:t>
                        </m:r>
                      </m:sup>
                    </m:sSubSup>
                    <m:r>
                      <a:rPr lang="en-US" altLang="zh-CN" i="1">
                        <a:latin typeface="Cambria Math" panose="02040503050406030204" pitchFamily="18" charset="0"/>
                      </a:rPr>
                      <m:t>=</m:t>
                    </m:r>
                  </m:oMath>
                </a14:m>
                <a:r>
                  <a:rPr lang="zh-CN" altLang="zh-CN" dirty="0"/>
                  <a:t>相对于化肥</a:t>
                </a:r>
                <a:r>
                  <a:rPr lang="en-US" altLang="zh-CN" dirty="0"/>
                  <a:t>II</a:t>
                </a:r>
                <a:r>
                  <a:rPr lang="zh-CN" altLang="zh-CN" dirty="0"/>
                  <a:t>的产量而言，化肥</a:t>
                </a:r>
                <a:r>
                  <a:rPr lang="en-US" altLang="zh-CN" dirty="0"/>
                  <a:t>I</a:t>
                </a:r>
                <a:r>
                  <a:rPr lang="zh-CN" altLang="zh-CN" dirty="0"/>
                  <a:t>不足的部分</a:t>
                </a:r>
                <a:endParaRPr lang="zh-CN" altLang="zh-CN" dirty="0"/>
              </a:p>
              <a:p>
                <a:pPr lvl="1"/>
                <a14:m>
                  <m:oMath xmlns:m="http://schemas.openxmlformats.org/officeDocument/2006/math">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𝑑</m:t>
                        </m:r>
                      </m:e>
                      <m:sub>
                        <m:r>
                          <a:rPr lang="en-US" altLang="zh-CN" i="1">
                            <a:latin typeface="Cambria Math" panose="02040503050406030204" pitchFamily="18" charset="0"/>
                          </a:rPr>
                          <m:t>2</m:t>
                        </m:r>
                      </m:sub>
                      <m:sup>
                        <m:r>
                          <a:rPr lang="en-US" altLang="zh-CN" i="1">
                            <a:latin typeface="Cambria Math" panose="02040503050406030204" pitchFamily="18" charset="0"/>
                          </a:rPr>
                          <m:t>+</m:t>
                        </m:r>
                      </m:sup>
                    </m:sSubSup>
                    <m:r>
                      <a:rPr lang="en-US" altLang="zh-CN" i="1">
                        <a:latin typeface="Cambria Math" panose="02040503050406030204" pitchFamily="18" charset="0"/>
                      </a:rPr>
                      <m:t>=</m:t>
                    </m:r>
                  </m:oMath>
                </a14:m>
                <a:r>
                  <a:rPr lang="zh-CN" altLang="zh-CN" dirty="0"/>
                  <a:t>相对于化肥</a:t>
                </a:r>
                <a:r>
                  <a:rPr lang="en-US" altLang="zh-CN" dirty="0"/>
                  <a:t>II</a:t>
                </a:r>
                <a:r>
                  <a:rPr lang="zh-CN" altLang="zh-CN" dirty="0"/>
                  <a:t>的产量而言，化肥</a:t>
                </a:r>
                <a:r>
                  <a:rPr lang="en-US" altLang="zh-CN" dirty="0"/>
                  <a:t>I</a:t>
                </a:r>
                <a:r>
                  <a:rPr lang="zh-CN" altLang="zh-CN" dirty="0"/>
                  <a:t>超出的部分</a:t>
                </a:r>
                <a:endParaRPr lang="zh-CN" altLang="zh-CN" dirty="0"/>
              </a:p>
              <a:p>
                <a:pPr lvl="1"/>
                <a14:m>
                  <m:oMath xmlns:m="http://schemas.openxmlformats.org/officeDocument/2006/math">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𝑑</m:t>
                        </m:r>
                      </m:e>
                      <m:sub>
                        <m:r>
                          <a:rPr lang="en-US" altLang="zh-CN" i="1">
                            <a:latin typeface="Cambria Math" panose="02040503050406030204" pitchFamily="18" charset="0"/>
                          </a:rPr>
                          <m:t>3</m:t>
                        </m:r>
                      </m:sub>
                      <m:sup>
                        <m:r>
                          <a:rPr lang="en-US" altLang="zh-CN" i="1">
                            <a:latin typeface="Cambria Math" panose="02040503050406030204" pitchFamily="18" charset="0"/>
                          </a:rPr>
                          <m:t>−</m:t>
                        </m:r>
                      </m:sup>
                    </m:sSubSup>
                    <m:r>
                      <a:rPr lang="en-US" altLang="zh-CN" i="1">
                        <a:latin typeface="Cambria Math" panose="02040503050406030204" pitchFamily="18" charset="0"/>
                      </a:rPr>
                      <m:t>=</m:t>
                    </m:r>
                  </m:oMath>
                </a14:m>
                <a:r>
                  <a:rPr lang="zh-CN" altLang="zh-CN" dirty="0"/>
                  <a:t>实际剩余的设备工时</a:t>
                </a:r>
                <a:endParaRPr lang="zh-CN" altLang="zh-CN" dirty="0"/>
              </a:p>
              <a:p>
                <a:pPr lvl="1"/>
                <a14:m>
                  <m:oMath xmlns:m="http://schemas.openxmlformats.org/officeDocument/2006/math">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𝑑</m:t>
                        </m:r>
                      </m:e>
                      <m:sub>
                        <m:r>
                          <a:rPr lang="en-US" altLang="zh-CN" i="1">
                            <a:latin typeface="Cambria Math" panose="02040503050406030204" pitchFamily="18" charset="0"/>
                          </a:rPr>
                          <m:t>3</m:t>
                        </m:r>
                      </m:sub>
                      <m:sup>
                        <m:r>
                          <a:rPr lang="en-US" altLang="zh-CN" i="1">
                            <a:latin typeface="Cambria Math" panose="02040503050406030204" pitchFamily="18" charset="0"/>
                          </a:rPr>
                          <m:t>+</m:t>
                        </m:r>
                      </m:sup>
                    </m:sSubSup>
                    <m:r>
                      <a:rPr lang="en-US" altLang="zh-CN" i="1">
                        <a:latin typeface="Cambria Math" panose="02040503050406030204" pitchFamily="18" charset="0"/>
                      </a:rPr>
                      <m:t>=</m:t>
                    </m:r>
                  </m:oMath>
                </a14:m>
                <a:r>
                  <a:rPr lang="zh-CN" altLang="zh-CN" dirty="0"/>
                  <a:t>实际超出的设备工时（即需要加班实现的设备工时）</a:t>
                </a:r>
                <a:endParaRPr lang="zh-CN" altLang="zh-CN" dirty="0"/>
              </a:p>
              <a:p>
                <a:pPr lvl="1"/>
                <a14:m>
                  <m:oMath xmlns:m="http://schemas.openxmlformats.org/officeDocument/2006/math">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𝑑</m:t>
                        </m:r>
                      </m:e>
                      <m:sub>
                        <m:r>
                          <a:rPr lang="en-US" altLang="zh-CN" i="1">
                            <a:latin typeface="Cambria Math" panose="02040503050406030204" pitchFamily="18" charset="0"/>
                          </a:rPr>
                          <m:t>4</m:t>
                        </m:r>
                      </m:sub>
                      <m:sup>
                        <m:r>
                          <a:rPr lang="en-US" altLang="zh-CN" i="1">
                            <a:latin typeface="Cambria Math" panose="02040503050406030204" pitchFamily="18" charset="0"/>
                          </a:rPr>
                          <m:t>−</m:t>
                        </m:r>
                      </m:sup>
                    </m:sSubSup>
                    <m:r>
                      <a:rPr lang="en-US" altLang="zh-CN" i="1">
                        <a:latin typeface="Cambria Math" panose="02040503050406030204" pitchFamily="18" charset="0"/>
                      </a:rPr>
                      <m:t>=</m:t>
                    </m:r>
                  </m:oMath>
                </a14:m>
                <a:r>
                  <a:rPr lang="zh-CN" altLang="zh-CN" dirty="0"/>
                  <a:t>相对于</a:t>
                </a:r>
                <a:r>
                  <a:rPr lang="en-US" altLang="zh-CN" dirty="0"/>
                  <a:t>60</a:t>
                </a:r>
                <a:r>
                  <a:rPr lang="zh-CN" altLang="zh-CN" dirty="0"/>
                  <a:t>万元的利润目标，实际利润不足的部分</a:t>
                </a:r>
                <a:endParaRPr lang="zh-CN" altLang="zh-CN" dirty="0"/>
              </a:p>
              <a:p>
                <a:pPr lvl="1"/>
                <a14:m>
                  <m:oMath xmlns:m="http://schemas.openxmlformats.org/officeDocument/2006/math">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𝑑</m:t>
                        </m:r>
                      </m:e>
                      <m:sub>
                        <m:r>
                          <a:rPr lang="en-US" altLang="zh-CN" i="1">
                            <a:latin typeface="Cambria Math" panose="02040503050406030204" pitchFamily="18" charset="0"/>
                          </a:rPr>
                          <m:t>4</m:t>
                        </m:r>
                      </m:sub>
                      <m:sup>
                        <m:r>
                          <a:rPr lang="en-US" altLang="zh-CN" i="1">
                            <a:latin typeface="Cambria Math" panose="02040503050406030204" pitchFamily="18" charset="0"/>
                          </a:rPr>
                          <m:t>+</m:t>
                        </m:r>
                      </m:sup>
                    </m:sSubSup>
                    <m:r>
                      <a:rPr lang="en-US" altLang="zh-CN" i="1">
                        <a:latin typeface="Cambria Math" panose="02040503050406030204" pitchFamily="18" charset="0"/>
                      </a:rPr>
                      <m:t>=</m:t>
                    </m:r>
                  </m:oMath>
                </a14:m>
                <a:r>
                  <a:rPr lang="zh-CN" altLang="zh-CN" dirty="0"/>
                  <a:t>相对于</a:t>
                </a:r>
                <a:r>
                  <a:rPr lang="en-US" altLang="zh-CN" dirty="0"/>
                  <a:t>60</a:t>
                </a:r>
                <a:r>
                  <a:rPr lang="zh-CN" altLang="zh-CN" dirty="0"/>
                  <a:t>万元的利润目标，实际利润超出的部分</a:t>
                </a:r>
                <a:endParaRPr lang="zh-CN" altLang="zh-CN" dirty="0"/>
              </a:p>
              <a:p>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t="-1109" b="-1744"/>
                </a:stretch>
              </a:blipFill>
            </p:spPr>
            <p:txBody>
              <a:bodyPr/>
              <a:lstStyle/>
              <a:p>
                <a:r>
                  <a:rPr lang="zh-CN" altLang="en-US">
                    <a:noFill/>
                  </a:rPr>
                  <a:t> </a:t>
                </a:r>
              </a:p>
            </p:txBody>
          </p:sp>
        </mc:Fallback>
      </mc:AlternateContent>
      <p:sp>
        <p:nvSpPr>
          <p:cNvPr id="1123397" name="Rectangle 69"/>
          <p:cNvSpPr>
            <a:spLocks noGrp="1" noChangeArrowheads="1"/>
          </p:cNvSpPr>
          <p:nvPr>
            <p:ph type="title" idx="4294967295"/>
          </p:nvPr>
        </p:nvSpPr>
        <p:spPr/>
        <p:txBody>
          <a:bodyPr>
            <a:normAutofit/>
          </a:bodyPr>
          <a:p>
            <a:r>
              <a:rPr lang="zh-CN" altLang="en-US">
                <a:latin typeface="华文楷体" panose="02010600040101010101" charset="-122"/>
                <a:ea typeface="华文楷体" panose="02010600040101010101" charset="-122"/>
                <a:cs typeface="华文楷体" panose="02010600040101010101" charset="-122"/>
              </a:rPr>
              <a:t>有优先权的目标规划的图解法</a:t>
            </a:r>
            <a:r>
              <a:rPr lang="en-US" altLang="zh-CN">
                <a:latin typeface="华文楷体" panose="02010600040101010101" charset="-122"/>
                <a:ea typeface="华文楷体" panose="02010600040101010101" charset="-122"/>
                <a:cs typeface="华文楷体" panose="02010600040101010101" charset="-122"/>
              </a:rPr>
              <a:t>-</a:t>
            </a:r>
            <a:r>
              <a:rPr lang="zh-CN" altLang="en-US">
                <a:latin typeface="华文楷体" panose="02010600040101010101" charset="-122"/>
                <a:ea typeface="华文楷体" panose="02010600040101010101" charset="-122"/>
                <a:cs typeface="华文楷体" panose="02010600040101010101" charset="-122"/>
              </a:rPr>
              <a:t>化肥生产</a:t>
            </a:r>
            <a:endParaRPr lang="zh-CN" altLang="en-US"/>
          </a:p>
        </p:txBody>
      </p:sp>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lnSpcReduction="20000"/>
          </a:bodyPr>
          <a:lstStyle/>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zh-CN" altLang="en-US" dirty="0"/>
          </a:p>
        </p:txBody>
      </p:sp>
      <mc:AlternateContent xmlns:mc="http://schemas.openxmlformats.org/markup-compatibility/2006">
        <mc:Choice xmlns:a14="http://schemas.microsoft.com/office/drawing/2010/main" Requires="a14">
          <p:sp>
            <p:nvSpPr>
              <p:cNvPr id="4" name="矩形 3"/>
              <p:cNvSpPr/>
              <p:nvPr/>
            </p:nvSpPr>
            <p:spPr>
              <a:xfrm>
                <a:off x="3823494" y="1812978"/>
                <a:ext cx="4572000" cy="2527300"/>
              </a:xfrm>
              <a:prstGeom prst="rect">
                <a:avLst/>
              </a:prstGeom>
            </p:spPr>
            <p:txBody>
              <a:bodyPr>
                <a:spAutoFit/>
              </a:bodyPr>
              <a:lstStyle/>
              <a:p>
                <a:pPr indent="266700" algn="just">
                  <a:lnSpc>
                    <a:spcPct val="115000"/>
                  </a:lnSpc>
                  <a:spcAft>
                    <a:spcPts val="0"/>
                  </a:spcAft>
                </a:pPr>
                <a:endParaRPr lang="zh-CN" altLang="zh-CN" kern="100" dirty="0">
                  <a:ea typeface="宋体" panose="02010600030101010101" pitchFamily="2" charset="-122"/>
                </a:endParaRPr>
              </a:p>
              <a:p>
                <a:pPr indent="266700">
                  <a:lnSpc>
                    <a:spcPct val="115000"/>
                  </a:lnSpc>
                  <a:spcAft>
                    <a:spcPts val="0"/>
                  </a:spcAft>
                </a:pPr>
                <a14:m>
                  <m:oMathPara xmlns:m="http://schemas.openxmlformats.org/officeDocument/2006/math">
                    <m:oMathParaPr>
                      <m:jc m:val="centerGroup"/>
                    </m:oMathParaPr>
                    <m:oMath xmlns:m="http://schemas.openxmlformats.org/officeDocument/2006/math">
                      <m:r>
                        <a:rPr lang="en-US" altLang="zh-CN" sz="1800" i="1" kern="100">
                          <a:effectLst/>
                          <a:latin typeface="Cambria Math" panose="02040503050406030204" pitchFamily="18" charset="0"/>
                          <a:ea typeface="宋体" panose="02010600030101010101" pitchFamily="2" charset="-122"/>
                        </a:rPr>
                        <m:t>𝑠</m:t>
                      </m:r>
                      <m:r>
                        <a:rPr lang="en-US" altLang="zh-CN" sz="1800" i="1" kern="100">
                          <a:effectLst/>
                          <a:latin typeface="Cambria Math" panose="02040503050406030204" pitchFamily="18" charset="0"/>
                          <a:ea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rPr>
                        <m:t>𝑡</m:t>
                      </m:r>
                      <m:r>
                        <a:rPr lang="en-US" altLang="zh-CN" sz="1800" i="1" kern="100">
                          <a:effectLst/>
                          <a:latin typeface="Cambria Math" panose="02040503050406030204" pitchFamily="18" charset="0"/>
                          <a:ea typeface="宋体" panose="02010600030101010101" pitchFamily="2" charset="-122"/>
                        </a:rPr>
                        <m:t>.</m:t>
                      </m:r>
                      <m:d>
                        <m:dPr>
                          <m:begChr m:val="{"/>
                          <m:endChr m:val=""/>
                          <m:ctrlPr>
                            <a:rPr lang="zh-CN" altLang="zh-CN" sz="1800" i="1" kern="100">
                              <a:effectLst/>
                              <a:latin typeface="Cambria Math" panose="02040503050406030204" pitchFamily="18" charset="0"/>
                              <a:ea typeface="Cambria Math" panose="02040503050406030204" pitchFamily="18" charset="0"/>
                            </a:rPr>
                          </m:ctrlPr>
                        </m:dPr>
                        <m:e>
                          <m:eqArr>
                            <m:eqArrPr>
                              <m:ctrlPr>
                                <a:rPr lang="zh-CN" altLang="zh-CN" sz="1800" i="1" kern="100">
                                  <a:effectLst/>
                                  <a:latin typeface="Cambria Math" panose="02040503050406030204" pitchFamily="18" charset="0"/>
                                  <a:ea typeface="Cambria Math" panose="02040503050406030204" pitchFamily="18" charset="0"/>
                                </a:rPr>
                              </m:ctrlPr>
                            </m:eqArrPr>
                            <m:e>
                              <m:r>
                                <a:rPr lang="en-US" altLang="zh-CN" sz="1800" i="1" kern="100">
                                  <a:effectLst/>
                                  <a:latin typeface="Cambria Math" panose="02040503050406030204" pitchFamily="18" charset="0"/>
                                  <a:ea typeface="宋体" panose="02010600030101010101" pitchFamily="2" charset="-122"/>
                                </a:rPr>
                                <m:t>2</m:t>
                              </m:r>
                              <m:sSub>
                                <m:sSubPr>
                                  <m:ctrlPr>
                                    <a:rPr lang="zh-CN" altLang="zh-CN" sz="1800" i="1" kern="100">
                                      <a:effectLst/>
                                      <a:latin typeface="Cambria Math" panose="02040503050406030204" pitchFamily="18" charset="0"/>
                                      <a:ea typeface="Cambria Math" panose="02040503050406030204" pitchFamily="18" charset="0"/>
                                    </a:rPr>
                                  </m:ctrlPr>
                                </m:sSubPr>
                                <m:e>
                                  <m:r>
                                    <a:rPr lang="en-US" altLang="zh-CN" sz="1800" i="1" kern="100">
                                      <a:effectLst/>
                                      <a:latin typeface="Cambria Math" panose="02040503050406030204" pitchFamily="18" charset="0"/>
                                      <a:ea typeface="宋体" panose="02010600030101010101" pitchFamily="2" charset="-122"/>
                                    </a:rPr>
                                    <m:t>𝑥</m:t>
                                  </m:r>
                                </m:e>
                                <m:sub>
                                  <m:r>
                                    <a:rPr lang="en-US" altLang="zh-CN" sz="1800" i="1" kern="100">
                                      <a:effectLst/>
                                      <a:latin typeface="Cambria Math" panose="02040503050406030204" pitchFamily="18" charset="0"/>
                                      <a:ea typeface="宋体" panose="02010600030101010101" pitchFamily="2" charset="-122"/>
                                    </a:rPr>
                                    <m:t>1</m:t>
                                  </m:r>
                                </m:sub>
                              </m:sSub>
                              <m:r>
                                <a:rPr lang="en-US" altLang="zh-CN" sz="1800" i="1" kern="100">
                                  <a:effectLst/>
                                  <a:latin typeface="Cambria Math" panose="02040503050406030204" pitchFamily="18" charset="0"/>
                                  <a:ea typeface="宋体" panose="02010600030101010101" pitchFamily="2" charset="-122"/>
                                </a:rPr>
                                <m:t>+</m:t>
                              </m:r>
                              <m:sSub>
                                <m:sSubPr>
                                  <m:ctrlPr>
                                    <a:rPr lang="zh-CN" altLang="zh-CN" sz="1800" i="1" kern="100">
                                      <a:effectLst/>
                                      <a:latin typeface="Cambria Math" panose="02040503050406030204" pitchFamily="18" charset="0"/>
                                      <a:ea typeface="Cambria Math" panose="02040503050406030204" pitchFamily="18" charset="0"/>
                                    </a:rPr>
                                  </m:ctrlPr>
                                </m:sSubPr>
                                <m:e>
                                  <m:r>
                                    <a:rPr lang="en-US" altLang="zh-CN" sz="1800" i="1" kern="100">
                                      <a:effectLst/>
                                      <a:latin typeface="Cambria Math" panose="02040503050406030204" pitchFamily="18" charset="0"/>
                                      <a:ea typeface="宋体" panose="02010600030101010101" pitchFamily="2" charset="-122"/>
                                    </a:rPr>
                                    <m:t>𝑥</m:t>
                                  </m:r>
                                </m:e>
                                <m:sub>
                                  <m:r>
                                    <a:rPr lang="en-US" altLang="zh-CN" sz="1800" i="1" kern="100">
                                      <a:effectLst/>
                                      <a:latin typeface="Cambria Math" panose="02040503050406030204" pitchFamily="18" charset="0"/>
                                      <a:ea typeface="宋体" panose="02010600030101010101" pitchFamily="2" charset="-122"/>
                                    </a:rPr>
                                    <m:t>2</m:t>
                                  </m:r>
                                </m:sub>
                              </m:sSub>
                              <m:r>
                                <a:rPr lang="en-US" altLang="zh-CN" sz="1800" i="1" kern="100">
                                  <a:effectLst/>
                                  <a:latin typeface="Cambria Math" panose="02040503050406030204" pitchFamily="18" charset="0"/>
                                  <a:ea typeface="宋体" panose="02010600030101010101" pitchFamily="2" charset="-122"/>
                                </a:rPr>
                                <m:t>+</m:t>
                              </m:r>
                              <m:sSubSup>
                                <m:sSubSupPr>
                                  <m:ctrlPr>
                                    <a:rPr lang="zh-CN" altLang="zh-CN" sz="1800" i="1" kern="100">
                                      <a:effectLst/>
                                      <a:latin typeface="Cambria Math" panose="02040503050406030204" pitchFamily="18" charset="0"/>
                                      <a:ea typeface="Cambria Math" panose="02040503050406030204" pitchFamily="18" charset="0"/>
                                    </a:rPr>
                                  </m:ctrlPr>
                                </m:sSubSupPr>
                                <m:e>
                                  <m:r>
                                    <a:rPr lang="en-US" altLang="zh-CN" sz="1800" i="1" kern="100">
                                      <a:effectLst/>
                                      <a:latin typeface="Cambria Math" panose="02040503050406030204" pitchFamily="18" charset="0"/>
                                      <a:ea typeface="宋体" panose="02010600030101010101" pitchFamily="2" charset="-122"/>
                                    </a:rPr>
                                    <m:t>𝑑</m:t>
                                  </m:r>
                                </m:e>
                                <m:sub>
                                  <m:r>
                                    <a:rPr lang="en-US" altLang="zh-CN" sz="1800" i="1" kern="100">
                                      <a:effectLst/>
                                      <a:latin typeface="Cambria Math" panose="02040503050406030204" pitchFamily="18" charset="0"/>
                                      <a:ea typeface="宋体" panose="02010600030101010101" pitchFamily="2" charset="-122"/>
                                    </a:rPr>
                                    <m:t>1</m:t>
                                  </m:r>
                                </m:sub>
                                <m:sup>
                                  <m:r>
                                    <a:rPr lang="en-US" altLang="zh-CN" sz="1800" i="1" kern="100">
                                      <a:effectLst/>
                                      <a:latin typeface="Cambria Math" panose="02040503050406030204" pitchFamily="18" charset="0"/>
                                      <a:ea typeface="宋体" panose="02010600030101010101" pitchFamily="2" charset="-122"/>
                                    </a:rPr>
                                    <m:t>−</m:t>
                                  </m:r>
                                </m:sup>
                              </m:sSubSup>
                              <m:r>
                                <a:rPr lang="en-US" altLang="zh-CN" sz="1800" i="1" kern="100">
                                  <a:effectLst/>
                                  <a:latin typeface="Cambria Math" panose="02040503050406030204" pitchFamily="18" charset="0"/>
                                  <a:ea typeface="宋体" panose="02010600030101010101" pitchFamily="2" charset="-122"/>
                                </a:rPr>
                                <m:t>−</m:t>
                              </m:r>
                              <m:sSubSup>
                                <m:sSubSupPr>
                                  <m:ctrlPr>
                                    <a:rPr lang="zh-CN" altLang="zh-CN" sz="1800" i="1" kern="100">
                                      <a:effectLst/>
                                      <a:latin typeface="Cambria Math" panose="02040503050406030204" pitchFamily="18" charset="0"/>
                                      <a:ea typeface="Cambria Math" panose="02040503050406030204" pitchFamily="18" charset="0"/>
                                    </a:rPr>
                                  </m:ctrlPr>
                                </m:sSubSupPr>
                                <m:e>
                                  <m:r>
                                    <a:rPr lang="en-US" altLang="zh-CN" sz="1800" i="1" kern="100">
                                      <a:effectLst/>
                                      <a:latin typeface="Cambria Math" panose="02040503050406030204" pitchFamily="18" charset="0"/>
                                      <a:ea typeface="宋体" panose="02010600030101010101" pitchFamily="2" charset="-122"/>
                                    </a:rPr>
                                    <m:t>𝑑</m:t>
                                  </m:r>
                                </m:e>
                                <m:sub>
                                  <m:r>
                                    <a:rPr lang="en-US" altLang="zh-CN" sz="1800" i="1" kern="100">
                                      <a:effectLst/>
                                      <a:latin typeface="Cambria Math" panose="02040503050406030204" pitchFamily="18" charset="0"/>
                                      <a:ea typeface="宋体" panose="02010600030101010101" pitchFamily="2" charset="-122"/>
                                    </a:rPr>
                                    <m:t>1</m:t>
                                  </m:r>
                                </m:sub>
                                <m:sup>
                                  <m:r>
                                    <a:rPr lang="en-US" altLang="zh-CN" sz="1800" i="1" kern="100">
                                      <a:effectLst/>
                                      <a:latin typeface="Cambria Math" panose="02040503050406030204" pitchFamily="18" charset="0"/>
                                      <a:ea typeface="宋体" panose="02010600030101010101" pitchFamily="2" charset="-122"/>
                                    </a:rPr>
                                    <m:t>+</m:t>
                                  </m:r>
                                </m:sup>
                              </m:sSubSup>
                              <m:r>
                                <a:rPr lang="en-US" altLang="zh-CN" sz="1800" i="1" kern="100">
                                  <a:effectLst/>
                                  <a:latin typeface="Cambria Math" panose="02040503050406030204" pitchFamily="18" charset="0"/>
                                  <a:ea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rPr>
                                <m:t>1200</m:t>
                              </m:r>
                            </m:e>
                            <m:e>
                              <m:sSub>
                                <m:sSubPr>
                                  <m:ctrlPr>
                                    <a:rPr lang="zh-CN" altLang="zh-CN" sz="1800" i="1" kern="100">
                                      <a:effectLst/>
                                      <a:latin typeface="Cambria Math" panose="02040503050406030204" pitchFamily="18" charset="0"/>
                                      <a:ea typeface="Cambria Math" panose="02040503050406030204" pitchFamily="18" charset="0"/>
                                    </a:rPr>
                                  </m:ctrlPr>
                                </m:sSubPr>
                                <m:e>
                                  <m:r>
                                    <a:rPr lang="en-US" altLang="zh-CN" sz="1800" i="1" kern="100">
                                      <a:effectLst/>
                                      <a:latin typeface="Cambria Math" panose="02040503050406030204" pitchFamily="18" charset="0"/>
                                      <a:ea typeface="宋体" panose="02010600030101010101" pitchFamily="2" charset="-122"/>
                                    </a:rPr>
                                    <m:t>𝑥</m:t>
                                  </m:r>
                                </m:e>
                                <m:sub>
                                  <m:r>
                                    <a:rPr lang="en-US" altLang="zh-CN" sz="1800" i="1" kern="100">
                                      <a:effectLst/>
                                      <a:latin typeface="Cambria Math" panose="02040503050406030204" pitchFamily="18" charset="0"/>
                                      <a:ea typeface="宋体" panose="02010600030101010101" pitchFamily="2" charset="-122"/>
                                    </a:rPr>
                                    <m:t>1</m:t>
                                  </m:r>
                                </m:sub>
                              </m:sSub>
                              <m:r>
                                <a:rPr lang="en-US" altLang="zh-CN" sz="1800" i="1" kern="100">
                                  <a:effectLst/>
                                  <a:latin typeface="Cambria Math" panose="02040503050406030204" pitchFamily="18" charset="0"/>
                                  <a:ea typeface="宋体" panose="02010600030101010101" pitchFamily="2" charset="-122"/>
                                </a:rPr>
                                <m:t>−</m:t>
                              </m:r>
                              <m:sSub>
                                <m:sSubPr>
                                  <m:ctrlPr>
                                    <a:rPr lang="zh-CN" altLang="zh-CN" sz="1800" i="1" kern="100">
                                      <a:effectLst/>
                                      <a:latin typeface="Cambria Math" panose="02040503050406030204" pitchFamily="18" charset="0"/>
                                      <a:ea typeface="Cambria Math" panose="02040503050406030204" pitchFamily="18" charset="0"/>
                                    </a:rPr>
                                  </m:ctrlPr>
                                </m:sSubPr>
                                <m:e>
                                  <m:r>
                                    <a:rPr lang="en-US" altLang="zh-CN" sz="1800" i="1" kern="100">
                                      <a:effectLst/>
                                      <a:latin typeface="Cambria Math" panose="02040503050406030204" pitchFamily="18" charset="0"/>
                                      <a:ea typeface="宋体" panose="02010600030101010101" pitchFamily="2" charset="-122"/>
                                    </a:rPr>
                                    <m:t>𝑥</m:t>
                                  </m:r>
                                </m:e>
                                <m:sub>
                                  <m:r>
                                    <a:rPr lang="en-US" altLang="zh-CN" sz="1800" i="1" kern="100">
                                      <a:effectLst/>
                                      <a:latin typeface="Cambria Math" panose="02040503050406030204" pitchFamily="18" charset="0"/>
                                      <a:ea typeface="宋体" panose="02010600030101010101" pitchFamily="2" charset="-122"/>
                                    </a:rPr>
                                    <m:t>2</m:t>
                                  </m:r>
                                </m:sub>
                              </m:sSub>
                              <m:r>
                                <a:rPr lang="en-US" altLang="zh-CN" sz="1800" i="1" kern="100">
                                  <a:effectLst/>
                                  <a:latin typeface="Cambria Math" panose="02040503050406030204" pitchFamily="18" charset="0"/>
                                  <a:ea typeface="宋体" panose="02010600030101010101" pitchFamily="2" charset="-122"/>
                                </a:rPr>
                                <m:t>+</m:t>
                              </m:r>
                              <m:sSubSup>
                                <m:sSubSupPr>
                                  <m:ctrlPr>
                                    <a:rPr lang="zh-CN" altLang="zh-CN" sz="1800" i="1" kern="100">
                                      <a:effectLst/>
                                      <a:latin typeface="Cambria Math" panose="02040503050406030204" pitchFamily="18" charset="0"/>
                                      <a:ea typeface="Cambria Math" panose="02040503050406030204" pitchFamily="18" charset="0"/>
                                    </a:rPr>
                                  </m:ctrlPr>
                                </m:sSubSupPr>
                                <m:e>
                                  <m:r>
                                    <a:rPr lang="en-US" altLang="zh-CN" sz="1800" i="1" kern="100">
                                      <a:effectLst/>
                                      <a:latin typeface="Cambria Math" panose="02040503050406030204" pitchFamily="18" charset="0"/>
                                      <a:ea typeface="宋体" panose="02010600030101010101" pitchFamily="2" charset="-122"/>
                                    </a:rPr>
                                    <m:t>𝑑</m:t>
                                  </m:r>
                                </m:e>
                                <m:sub>
                                  <m:r>
                                    <a:rPr lang="en-US" altLang="zh-CN" sz="1800" i="1" kern="100">
                                      <a:effectLst/>
                                      <a:latin typeface="Cambria Math" panose="02040503050406030204" pitchFamily="18" charset="0"/>
                                      <a:ea typeface="宋体" panose="02010600030101010101" pitchFamily="2" charset="-122"/>
                                    </a:rPr>
                                    <m:t>2</m:t>
                                  </m:r>
                                </m:sub>
                                <m:sup>
                                  <m:r>
                                    <a:rPr lang="en-US" altLang="zh-CN" sz="1800" i="1" kern="100">
                                      <a:effectLst/>
                                      <a:latin typeface="Cambria Math" panose="02040503050406030204" pitchFamily="18" charset="0"/>
                                      <a:ea typeface="宋体" panose="02010600030101010101" pitchFamily="2" charset="-122"/>
                                    </a:rPr>
                                    <m:t>−</m:t>
                                  </m:r>
                                </m:sup>
                              </m:sSubSup>
                              <m:r>
                                <a:rPr lang="en-US" altLang="zh-CN" sz="1800" i="1" kern="100">
                                  <a:effectLst/>
                                  <a:latin typeface="Cambria Math" panose="02040503050406030204" pitchFamily="18" charset="0"/>
                                  <a:ea typeface="宋体" panose="02010600030101010101" pitchFamily="2" charset="-122"/>
                                </a:rPr>
                                <m:t>−</m:t>
                              </m:r>
                              <m:sSubSup>
                                <m:sSubSupPr>
                                  <m:ctrlPr>
                                    <a:rPr lang="zh-CN" altLang="zh-CN" sz="1800" i="1" kern="100">
                                      <a:effectLst/>
                                      <a:latin typeface="Cambria Math" panose="02040503050406030204" pitchFamily="18" charset="0"/>
                                      <a:ea typeface="Cambria Math" panose="02040503050406030204" pitchFamily="18" charset="0"/>
                                    </a:rPr>
                                  </m:ctrlPr>
                                </m:sSubSupPr>
                                <m:e>
                                  <m:r>
                                    <a:rPr lang="en-US" altLang="zh-CN" sz="1800" i="1" kern="100">
                                      <a:effectLst/>
                                      <a:latin typeface="Cambria Math" panose="02040503050406030204" pitchFamily="18" charset="0"/>
                                      <a:ea typeface="宋体" panose="02010600030101010101" pitchFamily="2" charset="-122"/>
                                    </a:rPr>
                                    <m:t>𝑑</m:t>
                                  </m:r>
                                </m:e>
                                <m:sub>
                                  <m:r>
                                    <a:rPr lang="en-US" altLang="zh-CN" sz="1800" i="1" kern="100">
                                      <a:effectLst/>
                                      <a:latin typeface="Cambria Math" panose="02040503050406030204" pitchFamily="18" charset="0"/>
                                      <a:ea typeface="宋体" panose="02010600030101010101" pitchFamily="2" charset="-122"/>
                                    </a:rPr>
                                    <m:t>2</m:t>
                                  </m:r>
                                </m:sub>
                                <m:sup>
                                  <m:r>
                                    <a:rPr lang="en-US" altLang="zh-CN" sz="1800" i="1" kern="100">
                                      <a:effectLst/>
                                      <a:latin typeface="Cambria Math" panose="02040503050406030204" pitchFamily="18" charset="0"/>
                                      <a:ea typeface="宋体" panose="02010600030101010101" pitchFamily="2" charset="-122"/>
                                    </a:rPr>
                                    <m:t>+</m:t>
                                  </m:r>
                                </m:sup>
                              </m:sSubSup>
                              <m:r>
                                <a:rPr lang="en-US" altLang="zh-CN" sz="1800" i="1" kern="100">
                                  <a:effectLst/>
                                  <a:latin typeface="Cambria Math" panose="02040503050406030204" pitchFamily="18" charset="0"/>
                                  <a:ea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rPr>
                                <m:t>0</m:t>
                              </m:r>
                            </m:e>
                            <m:e>
                              <m:sSub>
                                <m:sSubPr>
                                  <m:ctrlPr>
                                    <a:rPr lang="zh-CN" altLang="zh-CN" sz="1800" i="1" kern="100">
                                      <a:effectLst/>
                                      <a:latin typeface="Cambria Math" panose="02040503050406030204" pitchFamily="18" charset="0"/>
                                      <a:ea typeface="Cambria Math" panose="02040503050406030204" pitchFamily="18" charset="0"/>
                                    </a:rPr>
                                  </m:ctrlPr>
                                </m:sSubPr>
                                <m:e>
                                  <m:r>
                                    <a:rPr lang="en-US" altLang="zh-CN" sz="1800" i="1" kern="100">
                                      <a:effectLst/>
                                      <a:latin typeface="Cambria Math" panose="02040503050406030204" pitchFamily="18" charset="0"/>
                                      <a:ea typeface="宋体" panose="02010600030101010101" pitchFamily="2" charset="-122"/>
                                    </a:rPr>
                                    <m:t>𝑥</m:t>
                                  </m:r>
                                </m:e>
                                <m:sub>
                                  <m:r>
                                    <a:rPr lang="en-US" altLang="zh-CN" sz="1800" i="1" kern="100">
                                      <a:effectLst/>
                                      <a:latin typeface="Cambria Math" panose="02040503050406030204" pitchFamily="18" charset="0"/>
                                      <a:ea typeface="宋体" panose="02010600030101010101" pitchFamily="2" charset="-122"/>
                                    </a:rPr>
                                    <m:t>1</m:t>
                                  </m:r>
                                </m:sub>
                              </m:sSub>
                              <m:r>
                                <a:rPr lang="en-US" altLang="zh-CN" sz="1800" i="1" kern="100">
                                  <a:effectLst/>
                                  <a:latin typeface="Cambria Math" panose="02040503050406030204" pitchFamily="18" charset="0"/>
                                  <a:ea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rPr>
                                <m:t>2</m:t>
                              </m:r>
                              <m:sSub>
                                <m:sSubPr>
                                  <m:ctrlPr>
                                    <a:rPr lang="zh-CN" altLang="zh-CN" sz="1800" i="1" kern="100">
                                      <a:effectLst/>
                                      <a:latin typeface="Cambria Math" panose="02040503050406030204" pitchFamily="18" charset="0"/>
                                      <a:ea typeface="Cambria Math" panose="02040503050406030204" pitchFamily="18" charset="0"/>
                                    </a:rPr>
                                  </m:ctrlPr>
                                </m:sSubPr>
                                <m:e>
                                  <m:r>
                                    <a:rPr lang="en-US" altLang="zh-CN" sz="1800" i="1" kern="100">
                                      <a:effectLst/>
                                      <a:latin typeface="Cambria Math" panose="02040503050406030204" pitchFamily="18" charset="0"/>
                                      <a:ea typeface="宋体" panose="02010600030101010101" pitchFamily="2" charset="-122"/>
                                    </a:rPr>
                                    <m:t>𝑥</m:t>
                                  </m:r>
                                </m:e>
                                <m:sub>
                                  <m:r>
                                    <a:rPr lang="en-US" altLang="zh-CN" sz="1800" i="1" kern="100">
                                      <a:effectLst/>
                                      <a:latin typeface="Cambria Math" panose="02040503050406030204" pitchFamily="18" charset="0"/>
                                      <a:ea typeface="宋体" panose="02010600030101010101" pitchFamily="2" charset="-122"/>
                                    </a:rPr>
                                    <m:t>2</m:t>
                                  </m:r>
                                </m:sub>
                              </m:sSub>
                              <m:r>
                                <a:rPr lang="en-US" altLang="zh-CN" sz="1800" i="1" kern="100">
                                  <a:effectLst/>
                                  <a:latin typeface="Cambria Math" panose="02040503050406030204" pitchFamily="18" charset="0"/>
                                  <a:ea typeface="宋体" panose="02010600030101010101" pitchFamily="2" charset="-122"/>
                                </a:rPr>
                                <m:t>+</m:t>
                              </m:r>
                              <m:sSubSup>
                                <m:sSubSupPr>
                                  <m:ctrlPr>
                                    <a:rPr lang="zh-CN" altLang="zh-CN" sz="1800" i="1" kern="100">
                                      <a:effectLst/>
                                      <a:latin typeface="Cambria Math" panose="02040503050406030204" pitchFamily="18" charset="0"/>
                                      <a:ea typeface="Cambria Math" panose="02040503050406030204" pitchFamily="18" charset="0"/>
                                    </a:rPr>
                                  </m:ctrlPr>
                                </m:sSubSupPr>
                                <m:e>
                                  <m:r>
                                    <a:rPr lang="en-US" altLang="zh-CN" sz="1800" i="1" kern="100">
                                      <a:effectLst/>
                                      <a:latin typeface="Cambria Math" panose="02040503050406030204" pitchFamily="18" charset="0"/>
                                      <a:ea typeface="宋体" panose="02010600030101010101" pitchFamily="2" charset="-122"/>
                                    </a:rPr>
                                    <m:t>𝑑</m:t>
                                  </m:r>
                                </m:e>
                                <m:sub>
                                  <m:r>
                                    <a:rPr lang="en-US" altLang="zh-CN" sz="1800" i="1" kern="100">
                                      <a:effectLst/>
                                      <a:latin typeface="Cambria Math" panose="02040503050406030204" pitchFamily="18" charset="0"/>
                                      <a:ea typeface="宋体" panose="02010600030101010101" pitchFamily="2" charset="-122"/>
                                    </a:rPr>
                                    <m:t>3</m:t>
                                  </m:r>
                                </m:sub>
                                <m:sup>
                                  <m:r>
                                    <a:rPr lang="en-US" altLang="zh-CN" sz="1800" i="1" kern="100">
                                      <a:effectLst/>
                                      <a:latin typeface="Cambria Math" panose="02040503050406030204" pitchFamily="18" charset="0"/>
                                      <a:ea typeface="宋体" panose="02010600030101010101" pitchFamily="2" charset="-122"/>
                                    </a:rPr>
                                    <m:t>−</m:t>
                                  </m:r>
                                </m:sup>
                              </m:sSubSup>
                              <m:r>
                                <a:rPr lang="en-US" altLang="zh-CN" sz="1800" i="1" kern="100">
                                  <a:effectLst/>
                                  <a:latin typeface="Cambria Math" panose="02040503050406030204" pitchFamily="18" charset="0"/>
                                  <a:ea typeface="宋体" panose="02010600030101010101" pitchFamily="2" charset="-122"/>
                                </a:rPr>
                                <m:t>−</m:t>
                              </m:r>
                              <m:sSubSup>
                                <m:sSubSupPr>
                                  <m:ctrlPr>
                                    <a:rPr lang="zh-CN" altLang="zh-CN" sz="1800" i="1" kern="100">
                                      <a:effectLst/>
                                      <a:latin typeface="Cambria Math" panose="02040503050406030204" pitchFamily="18" charset="0"/>
                                      <a:ea typeface="Cambria Math" panose="02040503050406030204" pitchFamily="18" charset="0"/>
                                    </a:rPr>
                                  </m:ctrlPr>
                                </m:sSubSupPr>
                                <m:e>
                                  <m:r>
                                    <a:rPr lang="en-US" altLang="zh-CN" sz="1800" i="1" kern="100">
                                      <a:effectLst/>
                                      <a:latin typeface="Cambria Math" panose="02040503050406030204" pitchFamily="18" charset="0"/>
                                      <a:ea typeface="宋体" panose="02010600030101010101" pitchFamily="2" charset="-122"/>
                                    </a:rPr>
                                    <m:t>𝑑</m:t>
                                  </m:r>
                                </m:e>
                                <m:sub>
                                  <m:r>
                                    <a:rPr lang="en-US" altLang="zh-CN" sz="1800" i="1" kern="100">
                                      <a:effectLst/>
                                      <a:latin typeface="Cambria Math" panose="02040503050406030204" pitchFamily="18" charset="0"/>
                                      <a:ea typeface="宋体" panose="02010600030101010101" pitchFamily="2" charset="-122"/>
                                    </a:rPr>
                                    <m:t>3</m:t>
                                  </m:r>
                                </m:sub>
                                <m:sup>
                                  <m:r>
                                    <a:rPr lang="en-US" altLang="zh-CN" sz="1800" i="1" kern="100">
                                      <a:effectLst/>
                                      <a:latin typeface="Cambria Math" panose="02040503050406030204" pitchFamily="18" charset="0"/>
                                      <a:ea typeface="宋体" panose="02010600030101010101" pitchFamily="2" charset="-122"/>
                                    </a:rPr>
                                    <m:t>+</m:t>
                                  </m:r>
                                </m:sup>
                              </m:sSubSup>
                              <m:r>
                                <a:rPr lang="en-US" altLang="zh-CN" sz="1800" i="1" kern="100">
                                  <a:effectLst/>
                                  <a:latin typeface="Cambria Math" panose="02040503050406030204" pitchFamily="18" charset="0"/>
                                  <a:ea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rPr>
                                <m:t>1000</m:t>
                              </m:r>
                            </m:e>
                            <m:e>
                              <m:sSub>
                                <m:sSubPr>
                                  <m:ctrlPr>
                                    <a:rPr lang="zh-CN" altLang="zh-CN" sz="1800" i="1" kern="100">
                                      <a:effectLst/>
                                      <a:latin typeface="Cambria Math" panose="02040503050406030204" pitchFamily="18" charset="0"/>
                                      <a:ea typeface="Cambria Math" panose="02040503050406030204" pitchFamily="18" charset="0"/>
                                    </a:rPr>
                                  </m:ctrlPr>
                                </m:sSubPr>
                                <m:e>
                                  <m:r>
                                    <a:rPr lang="en-US" altLang="zh-CN" sz="1800" i="1" kern="100">
                                      <a:effectLst/>
                                      <a:latin typeface="Cambria Math" panose="02040503050406030204" pitchFamily="18" charset="0"/>
                                      <a:ea typeface="宋体" panose="02010600030101010101" pitchFamily="2" charset="-122"/>
                                    </a:rPr>
                                    <m:t>600</m:t>
                                  </m:r>
                                  <m:r>
                                    <a:rPr lang="en-US" altLang="zh-CN" sz="1800" i="1" kern="100">
                                      <a:effectLst/>
                                      <a:latin typeface="Cambria Math" panose="02040503050406030204" pitchFamily="18" charset="0"/>
                                      <a:ea typeface="宋体" panose="02010600030101010101" pitchFamily="2" charset="-122"/>
                                    </a:rPr>
                                    <m:t>𝑥</m:t>
                                  </m:r>
                                </m:e>
                                <m:sub>
                                  <m:r>
                                    <a:rPr lang="en-US" altLang="zh-CN" sz="1800" i="1" kern="100">
                                      <a:effectLst/>
                                      <a:latin typeface="Cambria Math" panose="02040503050406030204" pitchFamily="18" charset="0"/>
                                      <a:ea typeface="宋体" panose="02010600030101010101" pitchFamily="2" charset="-122"/>
                                    </a:rPr>
                                    <m:t>1</m:t>
                                  </m:r>
                                </m:sub>
                              </m:sSub>
                              <m:r>
                                <a:rPr lang="en-US" altLang="zh-CN" sz="1800" i="1" kern="100">
                                  <a:effectLst/>
                                  <a:latin typeface="Cambria Math" panose="02040503050406030204" pitchFamily="18" charset="0"/>
                                  <a:ea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rPr>
                                <m:t>1000</m:t>
                              </m:r>
                              <m:sSub>
                                <m:sSubPr>
                                  <m:ctrlPr>
                                    <a:rPr lang="zh-CN" altLang="zh-CN" sz="1800" i="1" kern="100">
                                      <a:effectLst/>
                                      <a:latin typeface="Cambria Math" panose="02040503050406030204" pitchFamily="18" charset="0"/>
                                      <a:ea typeface="Cambria Math" panose="02040503050406030204" pitchFamily="18" charset="0"/>
                                    </a:rPr>
                                  </m:ctrlPr>
                                </m:sSubPr>
                                <m:e>
                                  <m:r>
                                    <a:rPr lang="en-US" altLang="zh-CN" sz="1800" i="1" kern="100">
                                      <a:effectLst/>
                                      <a:latin typeface="Cambria Math" panose="02040503050406030204" pitchFamily="18" charset="0"/>
                                      <a:ea typeface="宋体" panose="02010600030101010101" pitchFamily="2" charset="-122"/>
                                    </a:rPr>
                                    <m:t>𝑥</m:t>
                                  </m:r>
                                </m:e>
                                <m:sub>
                                  <m:r>
                                    <a:rPr lang="en-US" altLang="zh-CN" sz="1800" i="1" kern="100">
                                      <a:effectLst/>
                                      <a:latin typeface="Cambria Math" panose="02040503050406030204" pitchFamily="18" charset="0"/>
                                      <a:ea typeface="宋体" panose="02010600030101010101" pitchFamily="2" charset="-122"/>
                                    </a:rPr>
                                    <m:t>2</m:t>
                                  </m:r>
                                </m:sub>
                              </m:sSub>
                              <m:r>
                                <a:rPr lang="en-US" altLang="zh-CN" sz="1800" i="1" kern="100">
                                  <a:effectLst/>
                                  <a:latin typeface="Cambria Math" panose="02040503050406030204" pitchFamily="18" charset="0"/>
                                  <a:ea typeface="宋体" panose="02010600030101010101" pitchFamily="2" charset="-122"/>
                                </a:rPr>
                                <m:t>+</m:t>
                              </m:r>
                              <m:sSubSup>
                                <m:sSubSupPr>
                                  <m:ctrlPr>
                                    <a:rPr lang="zh-CN" altLang="zh-CN" sz="1800" i="1" kern="100">
                                      <a:effectLst/>
                                      <a:latin typeface="Cambria Math" panose="02040503050406030204" pitchFamily="18" charset="0"/>
                                      <a:ea typeface="Cambria Math" panose="02040503050406030204" pitchFamily="18" charset="0"/>
                                    </a:rPr>
                                  </m:ctrlPr>
                                </m:sSubSupPr>
                                <m:e>
                                  <m:r>
                                    <a:rPr lang="en-US" altLang="zh-CN" sz="1800" i="1" kern="100">
                                      <a:effectLst/>
                                      <a:latin typeface="Cambria Math" panose="02040503050406030204" pitchFamily="18" charset="0"/>
                                      <a:ea typeface="宋体" panose="02010600030101010101" pitchFamily="2" charset="-122"/>
                                    </a:rPr>
                                    <m:t>𝑑</m:t>
                                  </m:r>
                                </m:e>
                                <m:sub>
                                  <m:r>
                                    <a:rPr lang="en-US" altLang="zh-CN" sz="1800" i="1" kern="100">
                                      <a:effectLst/>
                                      <a:latin typeface="Cambria Math" panose="02040503050406030204" pitchFamily="18" charset="0"/>
                                      <a:ea typeface="宋体" panose="02010600030101010101" pitchFamily="2" charset="-122"/>
                                    </a:rPr>
                                    <m:t>4</m:t>
                                  </m:r>
                                </m:sub>
                                <m:sup>
                                  <m:r>
                                    <a:rPr lang="en-US" altLang="zh-CN" sz="1800" i="1" kern="100">
                                      <a:effectLst/>
                                      <a:latin typeface="Cambria Math" panose="02040503050406030204" pitchFamily="18" charset="0"/>
                                      <a:ea typeface="宋体" panose="02010600030101010101" pitchFamily="2" charset="-122"/>
                                    </a:rPr>
                                    <m:t>−</m:t>
                                  </m:r>
                                </m:sup>
                              </m:sSubSup>
                              <m:r>
                                <a:rPr lang="en-US" altLang="zh-CN" sz="1800" i="1" kern="100">
                                  <a:effectLst/>
                                  <a:latin typeface="Cambria Math" panose="02040503050406030204" pitchFamily="18" charset="0"/>
                                  <a:ea typeface="宋体" panose="02010600030101010101" pitchFamily="2" charset="-122"/>
                                </a:rPr>
                                <m:t>−</m:t>
                              </m:r>
                              <m:sSubSup>
                                <m:sSubSupPr>
                                  <m:ctrlPr>
                                    <a:rPr lang="zh-CN" altLang="zh-CN" sz="1800" i="1" kern="100">
                                      <a:effectLst/>
                                      <a:latin typeface="Cambria Math" panose="02040503050406030204" pitchFamily="18" charset="0"/>
                                      <a:ea typeface="Cambria Math" panose="02040503050406030204" pitchFamily="18" charset="0"/>
                                    </a:rPr>
                                  </m:ctrlPr>
                                </m:sSubSupPr>
                                <m:e>
                                  <m:r>
                                    <a:rPr lang="en-US" altLang="zh-CN" sz="1800" i="1" kern="100">
                                      <a:effectLst/>
                                      <a:latin typeface="Cambria Math" panose="02040503050406030204" pitchFamily="18" charset="0"/>
                                      <a:ea typeface="宋体" panose="02010600030101010101" pitchFamily="2" charset="-122"/>
                                    </a:rPr>
                                    <m:t>𝑑</m:t>
                                  </m:r>
                                </m:e>
                                <m:sub>
                                  <m:r>
                                    <a:rPr lang="en-US" altLang="zh-CN" sz="1800" i="1" kern="100">
                                      <a:effectLst/>
                                      <a:latin typeface="Cambria Math" panose="02040503050406030204" pitchFamily="18" charset="0"/>
                                      <a:ea typeface="宋体" panose="02010600030101010101" pitchFamily="2" charset="-122"/>
                                    </a:rPr>
                                    <m:t>4</m:t>
                                  </m:r>
                                </m:sub>
                                <m:sup>
                                  <m:r>
                                    <a:rPr lang="en-US" altLang="zh-CN" sz="1800" i="1" kern="100">
                                      <a:effectLst/>
                                      <a:latin typeface="Cambria Math" panose="02040503050406030204" pitchFamily="18" charset="0"/>
                                      <a:ea typeface="宋体" panose="02010600030101010101" pitchFamily="2" charset="-122"/>
                                    </a:rPr>
                                    <m:t>+</m:t>
                                  </m:r>
                                </m:sup>
                              </m:sSubSup>
                              <m:r>
                                <a:rPr lang="en-US" altLang="zh-CN" sz="1800" i="1" kern="100">
                                  <a:effectLst/>
                                  <a:latin typeface="Cambria Math" panose="02040503050406030204" pitchFamily="18" charset="0"/>
                                  <a:ea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rPr>
                                <m:t>600000</m:t>
                              </m:r>
                            </m:e>
                            <m:e>
                              <m:m>
                                <m:mPr>
                                  <m:mcs>
                                    <m:mc>
                                      <m:mcPr>
                                        <m:count m:val="1"/>
                                        <m:mcJc m:val="center"/>
                                      </m:mcPr>
                                    </m:mc>
                                  </m:mcs>
                                  <m:ctrlPr>
                                    <a:rPr lang="zh-CN" altLang="zh-CN" sz="1800" i="1" kern="100">
                                      <a:effectLst/>
                                      <a:latin typeface="Cambria Math" panose="02040503050406030204" pitchFamily="18" charset="0"/>
                                      <a:ea typeface="Cambria Math" panose="02040503050406030204" pitchFamily="18" charset="0"/>
                                    </a:rPr>
                                  </m:ctrlPr>
                                </m:mPr>
                                <m:mr>
                                  <m:e>
                                    <m:sSub>
                                      <m:sSubPr>
                                        <m:ctrlPr>
                                          <a:rPr lang="zh-CN" altLang="zh-CN" sz="1800" i="1" kern="100">
                                            <a:effectLst/>
                                            <a:latin typeface="Cambria Math" panose="02040503050406030204" pitchFamily="18" charset="0"/>
                                            <a:ea typeface="Cambria Math" panose="02040503050406030204" pitchFamily="18" charset="0"/>
                                          </a:rPr>
                                        </m:ctrlPr>
                                      </m:sSubPr>
                                      <m:e>
                                        <m:r>
                                          <a:rPr lang="en-US" altLang="zh-CN" sz="1800" i="1" kern="100">
                                            <a:effectLst/>
                                            <a:latin typeface="Cambria Math" panose="02040503050406030204" pitchFamily="18" charset="0"/>
                                            <a:ea typeface="宋体" panose="02010600030101010101" pitchFamily="2" charset="-122"/>
                                          </a:rPr>
                                          <m:t>𝑥</m:t>
                                        </m:r>
                                      </m:e>
                                      <m:sub>
                                        <m:r>
                                          <a:rPr lang="en-US" altLang="zh-CN" sz="1800" i="1" kern="100">
                                            <a:effectLst/>
                                            <a:latin typeface="Cambria Math" panose="02040503050406030204" pitchFamily="18" charset="0"/>
                                            <a:ea typeface="宋体" panose="02010600030101010101" pitchFamily="2" charset="-122"/>
                                          </a:rPr>
                                          <m:t>1</m:t>
                                        </m:r>
                                      </m:sub>
                                    </m:sSub>
                                    <m:r>
                                      <a:rPr lang="en-US" altLang="zh-CN" sz="1800" i="1" kern="100">
                                        <a:effectLst/>
                                        <a:latin typeface="Cambria Math" panose="02040503050406030204" pitchFamily="18" charset="0"/>
                                        <a:ea typeface="宋体" panose="02010600030101010101" pitchFamily="2" charset="-122"/>
                                      </a:rPr>
                                      <m:t>,</m:t>
                                    </m:r>
                                    <m:sSub>
                                      <m:sSubPr>
                                        <m:ctrlPr>
                                          <a:rPr lang="zh-CN" altLang="zh-CN" sz="1800" i="1" kern="100">
                                            <a:effectLst/>
                                            <a:latin typeface="Cambria Math" panose="02040503050406030204" pitchFamily="18" charset="0"/>
                                            <a:ea typeface="Cambria Math" panose="02040503050406030204" pitchFamily="18" charset="0"/>
                                          </a:rPr>
                                        </m:ctrlPr>
                                      </m:sSubPr>
                                      <m:e>
                                        <m:r>
                                          <a:rPr lang="en-US" altLang="zh-CN" sz="1800" i="1" kern="100">
                                            <a:effectLst/>
                                            <a:latin typeface="Cambria Math" panose="02040503050406030204" pitchFamily="18" charset="0"/>
                                            <a:ea typeface="宋体" panose="02010600030101010101" pitchFamily="2" charset="-122"/>
                                          </a:rPr>
                                          <m:t>𝑥</m:t>
                                        </m:r>
                                      </m:e>
                                      <m:sub>
                                        <m:r>
                                          <a:rPr lang="en-US" altLang="zh-CN" sz="1800" i="1" kern="100">
                                            <a:effectLst/>
                                            <a:latin typeface="Cambria Math" panose="02040503050406030204" pitchFamily="18" charset="0"/>
                                            <a:ea typeface="宋体" panose="02010600030101010101" pitchFamily="2" charset="-122"/>
                                          </a:rPr>
                                          <m:t>2</m:t>
                                        </m:r>
                                      </m:sub>
                                    </m:sSub>
                                    <m:r>
                                      <a:rPr lang="en-US" altLang="zh-CN" sz="1800" i="1" kern="100">
                                        <a:effectLst/>
                                        <a:latin typeface="Cambria Math" panose="02040503050406030204" pitchFamily="18" charset="0"/>
                                        <a:ea typeface="宋体" panose="02010600030101010101" pitchFamily="2" charset="-122"/>
                                      </a:rPr>
                                      <m:t>,</m:t>
                                    </m:r>
                                    <m:sSubSup>
                                      <m:sSubSupPr>
                                        <m:ctrlPr>
                                          <a:rPr lang="zh-CN" altLang="zh-CN" sz="1800" i="1" kern="100">
                                            <a:effectLst/>
                                            <a:latin typeface="Cambria Math" panose="02040503050406030204" pitchFamily="18" charset="0"/>
                                            <a:ea typeface="Cambria Math" panose="02040503050406030204" pitchFamily="18" charset="0"/>
                                          </a:rPr>
                                        </m:ctrlPr>
                                      </m:sSubSupPr>
                                      <m:e>
                                        <m:r>
                                          <a:rPr lang="en-US" altLang="zh-CN" sz="1800" i="1" kern="100">
                                            <a:effectLst/>
                                            <a:latin typeface="Cambria Math" panose="02040503050406030204" pitchFamily="18" charset="0"/>
                                            <a:ea typeface="宋体" panose="02010600030101010101" pitchFamily="2" charset="-122"/>
                                          </a:rPr>
                                          <m:t>𝑑</m:t>
                                        </m:r>
                                      </m:e>
                                      <m:sub>
                                        <m:r>
                                          <a:rPr lang="en-US" altLang="zh-CN" sz="1800" i="1" kern="100">
                                            <a:effectLst/>
                                            <a:latin typeface="Cambria Math" panose="02040503050406030204" pitchFamily="18" charset="0"/>
                                            <a:ea typeface="宋体" panose="02010600030101010101" pitchFamily="2" charset="-122"/>
                                          </a:rPr>
                                          <m:t>𝑖</m:t>
                                        </m:r>
                                      </m:sub>
                                      <m:sup>
                                        <m:r>
                                          <a:rPr lang="en-US" altLang="zh-CN" sz="1800" i="1" kern="100">
                                            <a:effectLst/>
                                            <a:latin typeface="Cambria Math" panose="02040503050406030204" pitchFamily="18" charset="0"/>
                                            <a:ea typeface="宋体" panose="02010600030101010101" pitchFamily="2" charset="-122"/>
                                          </a:rPr>
                                          <m:t>+</m:t>
                                        </m:r>
                                      </m:sup>
                                    </m:sSubSup>
                                    <m:r>
                                      <a:rPr lang="en-US" altLang="zh-CN" sz="1800" i="1" kern="100">
                                        <a:effectLst/>
                                        <a:latin typeface="Cambria Math" panose="02040503050406030204" pitchFamily="18" charset="0"/>
                                        <a:ea typeface="宋体" panose="02010600030101010101" pitchFamily="2" charset="-122"/>
                                      </a:rPr>
                                      <m:t>,</m:t>
                                    </m:r>
                                    <m:sSubSup>
                                      <m:sSubSupPr>
                                        <m:ctrlPr>
                                          <a:rPr lang="zh-CN" altLang="zh-CN" sz="1800" i="1" kern="100">
                                            <a:effectLst/>
                                            <a:latin typeface="Cambria Math" panose="02040503050406030204" pitchFamily="18" charset="0"/>
                                            <a:ea typeface="Cambria Math" panose="02040503050406030204" pitchFamily="18" charset="0"/>
                                          </a:rPr>
                                        </m:ctrlPr>
                                      </m:sSubSupPr>
                                      <m:e>
                                        <m:r>
                                          <a:rPr lang="en-US" altLang="zh-CN" sz="1800" i="1" kern="100">
                                            <a:effectLst/>
                                            <a:latin typeface="Cambria Math" panose="02040503050406030204" pitchFamily="18" charset="0"/>
                                            <a:ea typeface="宋体" panose="02010600030101010101" pitchFamily="2" charset="-122"/>
                                          </a:rPr>
                                          <m:t>𝑑</m:t>
                                        </m:r>
                                      </m:e>
                                      <m:sub>
                                        <m:r>
                                          <a:rPr lang="en-US" altLang="zh-CN" sz="1800" i="1" kern="100">
                                            <a:effectLst/>
                                            <a:latin typeface="Cambria Math" panose="02040503050406030204" pitchFamily="18" charset="0"/>
                                            <a:ea typeface="宋体" panose="02010600030101010101" pitchFamily="2" charset="-122"/>
                                          </a:rPr>
                                          <m:t>𝑖</m:t>
                                        </m:r>
                                      </m:sub>
                                      <m:sup>
                                        <m:r>
                                          <a:rPr lang="en-US" altLang="zh-CN" sz="1800" i="1" kern="100">
                                            <a:effectLst/>
                                            <a:latin typeface="Cambria Math" panose="02040503050406030204" pitchFamily="18" charset="0"/>
                                            <a:ea typeface="宋体" panose="02010600030101010101" pitchFamily="2" charset="-122"/>
                                          </a:rPr>
                                          <m:t>−</m:t>
                                        </m:r>
                                      </m:sup>
                                    </m:sSubSup>
                                    <m:r>
                                      <a:rPr lang="en-US" altLang="zh-CN" sz="1800" i="1" kern="100">
                                        <a:effectLst/>
                                        <a:latin typeface="Cambria Math" panose="02040503050406030204" pitchFamily="18" charset="0"/>
                                        <a:ea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rPr>
                                      <m:t>0</m:t>
                                    </m:r>
                                    <m:r>
                                      <a:rPr lang="en-US" altLang="zh-CN" sz="1800" i="1" kern="100">
                                        <a:effectLst/>
                                        <a:latin typeface="Cambria Math" panose="02040503050406030204" pitchFamily="18" charset="0"/>
                                        <a:ea typeface="宋体" panose="02010600030101010101" pitchFamily="2" charset="-122"/>
                                      </a:rPr>
                                      <m:t>, </m:t>
                                    </m:r>
                                    <m:r>
                                      <a:rPr lang="en-US" altLang="zh-CN" sz="1800" i="1" kern="100">
                                        <a:effectLst/>
                                        <a:latin typeface="Cambria Math" panose="02040503050406030204" pitchFamily="18" charset="0"/>
                                        <a:ea typeface="宋体" panose="02010600030101010101" pitchFamily="2" charset="-122"/>
                                      </a:rPr>
                                      <m:t>𝑖</m:t>
                                    </m:r>
                                    <m:r>
                                      <a:rPr lang="en-US" altLang="zh-CN" sz="1800" i="1" kern="100">
                                        <a:effectLst/>
                                        <a:latin typeface="Cambria Math" panose="02040503050406030204" pitchFamily="18" charset="0"/>
                                        <a:ea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rPr>
                                      <m:t>1</m:t>
                                    </m:r>
                                    <m:r>
                                      <a:rPr lang="en-US" altLang="zh-CN" sz="1800" i="1" kern="100">
                                        <a:effectLst/>
                                        <a:latin typeface="Cambria Math" panose="02040503050406030204" pitchFamily="18" charset="0"/>
                                        <a:ea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rPr>
                                      <m:t>2</m:t>
                                    </m:r>
                                    <m:r>
                                      <a:rPr lang="en-US" altLang="zh-CN" sz="1800" i="1" kern="100">
                                        <a:effectLst/>
                                        <a:latin typeface="Cambria Math" panose="02040503050406030204" pitchFamily="18" charset="0"/>
                                        <a:ea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rPr>
                                      <m:t>3</m:t>
                                    </m:r>
                                    <m:r>
                                      <a:rPr lang="en-US" altLang="zh-CN" sz="1800" i="1" kern="100">
                                        <a:effectLst/>
                                        <a:latin typeface="Cambria Math" panose="02040503050406030204" pitchFamily="18" charset="0"/>
                                        <a:ea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rPr>
                                      <m:t>4</m:t>
                                    </m:r>
                                  </m:e>
                                </m:mr>
                                <m:mr>
                                  <m:e>
                                    <m:sSubSup>
                                      <m:sSubSupPr>
                                        <m:ctrlPr>
                                          <a:rPr lang="zh-CN" altLang="zh-CN" sz="1800" i="1" kern="100">
                                            <a:effectLst/>
                                            <a:latin typeface="Cambria Math" panose="02040503050406030204" pitchFamily="18" charset="0"/>
                                            <a:ea typeface="Cambria Math" panose="02040503050406030204" pitchFamily="18" charset="0"/>
                                          </a:rPr>
                                        </m:ctrlPr>
                                      </m:sSubSupPr>
                                      <m:e>
                                        <m:r>
                                          <a:rPr lang="en-US" altLang="zh-CN" sz="1800" i="1" kern="100">
                                            <a:effectLst/>
                                            <a:latin typeface="Cambria Math" panose="02040503050406030204" pitchFamily="18" charset="0"/>
                                            <a:ea typeface="宋体" panose="02010600030101010101" pitchFamily="2" charset="-122"/>
                                          </a:rPr>
                                          <m:t>𝑑</m:t>
                                        </m:r>
                                      </m:e>
                                      <m:sub>
                                        <m:r>
                                          <a:rPr lang="en-US" altLang="zh-CN" sz="1800" i="1" kern="100">
                                            <a:effectLst/>
                                            <a:latin typeface="Cambria Math" panose="02040503050406030204" pitchFamily="18" charset="0"/>
                                            <a:ea typeface="宋体" panose="02010600030101010101" pitchFamily="2" charset="-122"/>
                                          </a:rPr>
                                          <m:t>𝑖</m:t>
                                        </m:r>
                                      </m:sub>
                                      <m:sup>
                                        <m:r>
                                          <a:rPr lang="en-US" altLang="zh-CN" sz="1800" i="1" kern="100">
                                            <a:effectLst/>
                                            <a:latin typeface="Cambria Math" panose="02040503050406030204" pitchFamily="18" charset="0"/>
                                            <a:ea typeface="宋体" panose="02010600030101010101" pitchFamily="2" charset="-122"/>
                                          </a:rPr>
                                          <m:t>+</m:t>
                                        </m:r>
                                      </m:sup>
                                    </m:sSubSup>
                                    <m:r>
                                      <a:rPr lang="en-US" altLang="zh-CN" sz="1800" i="1" kern="100">
                                        <a:effectLst/>
                                        <a:latin typeface="Cambria Math" panose="02040503050406030204" pitchFamily="18" charset="0"/>
                                        <a:ea typeface="宋体" panose="02010600030101010101" pitchFamily="2" charset="-122"/>
                                      </a:rPr>
                                      <m:t>∙</m:t>
                                    </m:r>
                                    <m:sSubSup>
                                      <m:sSubSupPr>
                                        <m:ctrlPr>
                                          <a:rPr lang="zh-CN" altLang="zh-CN" sz="1800" i="1" kern="100">
                                            <a:effectLst/>
                                            <a:latin typeface="Cambria Math" panose="02040503050406030204" pitchFamily="18" charset="0"/>
                                            <a:ea typeface="Cambria Math" panose="02040503050406030204" pitchFamily="18" charset="0"/>
                                          </a:rPr>
                                        </m:ctrlPr>
                                      </m:sSubSupPr>
                                      <m:e>
                                        <m:r>
                                          <a:rPr lang="en-US" altLang="zh-CN" sz="1800" i="1" kern="100">
                                            <a:effectLst/>
                                            <a:latin typeface="Cambria Math" panose="02040503050406030204" pitchFamily="18" charset="0"/>
                                            <a:ea typeface="宋体" panose="02010600030101010101" pitchFamily="2" charset="-122"/>
                                          </a:rPr>
                                          <m:t>𝑑</m:t>
                                        </m:r>
                                      </m:e>
                                      <m:sub>
                                        <m:r>
                                          <a:rPr lang="en-US" altLang="zh-CN" sz="1800" i="1" kern="100">
                                            <a:effectLst/>
                                            <a:latin typeface="Cambria Math" panose="02040503050406030204" pitchFamily="18" charset="0"/>
                                            <a:ea typeface="宋体" panose="02010600030101010101" pitchFamily="2" charset="-122"/>
                                          </a:rPr>
                                          <m:t>𝑖</m:t>
                                        </m:r>
                                      </m:sub>
                                      <m:sup>
                                        <m:r>
                                          <a:rPr lang="en-US" altLang="zh-CN" sz="1800" i="1" kern="100">
                                            <a:effectLst/>
                                            <a:latin typeface="Cambria Math" panose="02040503050406030204" pitchFamily="18" charset="0"/>
                                            <a:ea typeface="宋体" panose="02010600030101010101" pitchFamily="2" charset="-122"/>
                                          </a:rPr>
                                          <m:t>−</m:t>
                                        </m:r>
                                      </m:sup>
                                    </m:sSubSup>
                                    <m:r>
                                      <a:rPr lang="en-US" altLang="zh-CN" sz="1800" i="1" kern="100">
                                        <a:effectLst/>
                                        <a:latin typeface="Cambria Math" panose="02040503050406030204" pitchFamily="18" charset="0"/>
                                        <a:ea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rPr>
                                      <m:t>0</m:t>
                                    </m:r>
                                    <m:r>
                                      <a:rPr lang="en-US" altLang="zh-CN" sz="1800" i="1" kern="100">
                                        <a:effectLst/>
                                        <a:latin typeface="Cambria Math" panose="02040503050406030204" pitchFamily="18" charset="0"/>
                                        <a:ea typeface="宋体" panose="02010600030101010101" pitchFamily="2" charset="-122"/>
                                      </a:rPr>
                                      <m:t>, </m:t>
                                    </m:r>
                                    <m:r>
                                      <a:rPr lang="en-US" altLang="zh-CN" sz="1800" i="1" kern="100">
                                        <a:effectLst/>
                                        <a:latin typeface="Cambria Math" panose="02040503050406030204" pitchFamily="18" charset="0"/>
                                        <a:ea typeface="宋体" panose="02010600030101010101" pitchFamily="2" charset="-122"/>
                                      </a:rPr>
                                      <m:t>𝑖</m:t>
                                    </m:r>
                                    <m:r>
                                      <a:rPr lang="en-US" altLang="zh-CN" sz="1800" i="1" kern="100">
                                        <a:effectLst/>
                                        <a:latin typeface="Cambria Math" panose="02040503050406030204" pitchFamily="18" charset="0"/>
                                        <a:ea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rPr>
                                      <m:t>1</m:t>
                                    </m:r>
                                    <m:r>
                                      <a:rPr lang="en-US" altLang="zh-CN" sz="1800" i="1" kern="100">
                                        <a:effectLst/>
                                        <a:latin typeface="Cambria Math" panose="02040503050406030204" pitchFamily="18" charset="0"/>
                                        <a:ea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rPr>
                                      <m:t>2</m:t>
                                    </m:r>
                                    <m:r>
                                      <a:rPr lang="en-US" altLang="zh-CN" sz="1800" i="1" kern="100">
                                        <a:effectLst/>
                                        <a:latin typeface="Cambria Math" panose="02040503050406030204" pitchFamily="18" charset="0"/>
                                        <a:ea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rPr>
                                      <m:t>3</m:t>
                                    </m:r>
                                    <m:r>
                                      <a:rPr lang="en-US" altLang="zh-CN" sz="1800" i="1" kern="100">
                                        <a:effectLst/>
                                        <a:latin typeface="Cambria Math" panose="02040503050406030204" pitchFamily="18" charset="0"/>
                                        <a:ea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rPr>
                                      <m:t>4</m:t>
                                    </m:r>
                                    <m:r>
                                      <a:rPr lang="en-US" altLang="zh-CN" sz="1800" i="1" kern="100">
                                        <a:effectLst/>
                                        <a:latin typeface="Cambria Math" panose="02040503050406030204" pitchFamily="18" charset="0"/>
                                        <a:ea typeface="宋体" panose="02010600030101010101" pitchFamily="2" charset="-122"/>
                                      </a:rPr>
                                      <m:t>  </m:t>
                                    </m:r>
                                  </m:e>
                                </m:mr>
                              </m:m>
                            </m:e>
                          </m:eqArr>
                        </m:e>
                      </m:d>
                    </m:oMath>
                  </m:oMathPara>
                </a14:m>
                <a:endParaRPr lang="zh-CN" altLang="zh-CN" kern="100" dirty="0">
                  <a:ea typeface="宋体" panose="02010600030101010101" pitchFamily="2" charset="-122"/>
                </a:endParaRPr>
              </a:p>
            </p:txBody>
          </p:sp>
        </mc:Choice>
        <mc:Fallback>
          <p:sp>
            <p:nvSpPr>
              <p:cNvPr id="4" name="矩形 3"/>
              <p:cNvSpPr>
                <a:spLocks noRot="1" noChangeAspect="1" noMove="1" noResize="1" noEditPoints="1" noAdjustHandles="1" noChangeArrowheads="1" noChangeShapeType="1" noTextEdit="1"/>
              </p:cNvSpPr>
              <p:nvPr/>
            </p:nvSpPr>
            <p:spPr>
              <a:xfrm>
                <a:off x="3823494" y="1812978"/>
                <a:ext cx="4572000" cy="2527300"/>
              </a:xfrm>
              <a:prstGeom prst="rect">
                <a:avLst/>
              </a:prstGeom>
              <a:blipFill rotWithShape="1">
                <a:blip r:embed="rId1"/>
                <a:stretch>
                  <a:fillRect l="-3" t="-2" r="-2372" b="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矩形 5"/>
              <p:cNvSpPr/>
              <p:nvPr/>
            </p:nvSpPr>
            <p:spPr>
              <a:xfrm>
                <a:off x="3695972" y="1586834"/>
                <a:ext cx="4852035" cy="35941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m>
                        <m:mPr>
                          <m:mcs>
                            <m:mc>
                              <m:mcPr>
                                <m:count m:val="2"/>
                                <m:mcJc m:val="center"/>
                              </m:mcPr>
                            </m:mc>
                          </m:mcs>
                          <m:ctrlPr>
                            <a:rPr lang="zh-CN" altLang="en-US" i="1">
                              <a:latin typeface="Cambria Math" panose="02040503050406030204" pitchFamily="18" charset="0"/>
                            </a:rPr>
                          </m:ctrlPr>
                        </m:mPr>
                        <m:mr>
                          <m:e>
                            <m:r>
                              <m:rPr>
                                <m:sty m:val="p"/>
                              </m:rPr>
                              <a:rPr lang="zh-CN" altLang="en-US">
                                <a:latin typeface="Cambria Math" panose="02040503050406030204" pitchFamily="18" charset="0"/>
                              </a:rPr>
                              <m:t>m</m:t>
                            </m:r>
                            <m:r>
                              <m:rPr>
                                <m:sty m:val="p"/>
                              </m:rPr>
                              <a:rPr lang="zh-CN" altLang="en-US" i="0">
                                <a:latin typeface="Cambria Math" panose="02040503050406030204" pitchFamily="18" charset="0"/>
                              </a:rPr>
                              <m:t>in</m:t>
                            </m:r>
                          </m:e>
                          <m:e>
                            <m:r>
                              <a:rPr lang="zh-CN" altLang="en-US" i="1">
                                <a:latin typeface="Cambria Math" panose="02040503050406030204" pitchFamily="18" charset="0"/>
                              </a:rPr>
                              <m:t>𝑤</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𝑃</m:t>
                                </m:r>
                              </m:e>
                              <m:sub>
                                <m:r>
                                  <a:rPr lang="zh-CN" altLang="en-US" i="0">
                                    <a:latin typeface="Cambria Math" panose="02040503050406030204" pitchFamily="18" charset="0"/>
                                  </a:rPr>
                                  <m:t>1</m:t>
                                </m:r>
                              </m:sub>
                            </m:sSub>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𝑑</m:t>
                                </m:r>
                              </m:e>
                              <m:sub>
                                <m:r>
                                  <a:rPr lang="zh-CN" altLang="en-US" i="0">
                                    <a:latin typeface="Cambria Math" panose="02040503050406030204" pitchFamily="18" charset="0"/>
                                  </a:rPr>
                                  <m:t>1</m:t>
                                </m:r>
                              </m:sub>
                              <m:sup>
                                <m:r>
                                  <a:rPr lang="zh-CN" altLang="en-US" i="0">
                                    <a:latin typeface="Cambria Math" panose="02040503050406030204" pitchFamily="18" charset="0"/>
                                  </a:rPr>
                                  <m:t>+</m:t>
                                </m:r>
                              </m:sup>
                            </m:sSubSup>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𝑃</m:t>
                                </m:r>
                              </m:e>
                              <m:sub>
                                <m:r>
                                  <a:rPr lang="zh-CN" altLang="en-US" i="0">
                                    <a:latin typeface="Cambria Math" panose="02040503050406030204" pitchFamily="18" charset="0"/>
                                  </a:rPr>
                                  <m:t>2</m:t>
                                </m:r>
                              </m:sub>
                            </m:sSub>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𝑑</m:t>
                                </m:r>
                              </m:e>
                              <m:sub>
                                <m:r>
                                  <a:rPr lang="zh-CN" altLang="en-US" i="0">
                                    <a:latin typeface="Cambria Math" panose="02040503050406030204" pitchFamily="18" charset="0"/>
                                  </a:rPr>
                                  <m:t>2</m:t>
                                </m:r>
                              </m:sub>
                              <m:sup>
                                <m:r>
                                  <a:rPr lang="zh-CN" altLang="en-US" i="0">
                                    <a:latin typeface="Cambria Math" panose="02040503050406030204" pitchFamily="18" charset="0"/>
                                  </a:rPr>
                                  <m:t>+</m:t>
                                </m:r>
                              </m:sup>
                            </m:sSubSup>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𝑃</m:t>
                                </m:r>
                              </m:e>
                              <m:sub>
                                <m:r>
                                  <a:rPr lang="zh-CN" altLang="en-US" i="0">
                                    <a:latin typeface="Cambria Math" panose="02040503050406030204" pitchFamily="18" charset="0"/>
                                  </a:rPr>
                                  <m:t>3</m:t>
                                </m:r>
                              </m:sub>
                            </m:sSub>
                            <m:d>
                              <m:dPr>
                                <m:ctrlPr>
                                  <a:rPr lang="zh-CN" altLang="en-US" i="1">
                                    <a:latin typeface="Cambria Math" panose="02040503050406030204" pitchFamily="18" charset="0"/>
                                  </a:rPr>
                                </m:ctrlPr>
                              </m:dPr>
                              <m:e>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𝑑</m:t>
                                    </m:r>
                                  </m:e>
                                  <m:sub>
                                    <m:r>
                                      <a:rPr lang="zh-CN" altLang="en-US" i="0">
                                        <a:latin typeface="Cambria Math" panose="02040503050406030204" pitchFamily="18" charset="0"/>
                                      </a:rPr>
                                      <m:t>3</m:t>
                                    </m:r>
                                  </m:sub>
                                  <m:sup>
                                    <m:r>
                                      <a:rPr lang="zh-CN" altLang="en-US" i="0">
                                        <a:latin typeface="Cambria Math" panose="02040503050406030204" pitchFamily="18" charset="0"/>
                                      </a:rPr>
                                      <m:t>−</m:t>
                                    </m:r>
                                  </m:sup>
                                </m:sSubSup>
                                <m:r>
                                  <a:rPr lang="zh-CN" altLang="en-US" i="0">
                                    <a:latin typeface="Cambria Math" panose="02040503050406030204" pitchFamily="18" charset="0"/>
                                  </a:rPr>
                                  <m:t>+</m:t>
                                </m:r>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𝑑</m:t>
                                    </m:r>
                                  </m:e>
                                  <m:sub>
                                    <m:r>
                                      <a:rPr lang="zh-CN" altLang="en-US" i="0">
                                        <a:latin typeface="Cambria Math" panose="02040503050406030204" pitchFamily="18" charset="0"/>
                                      </a:rPr>
                                      <m:t>3</m:t>
                                    </m:r>
                                  </m:sub>
                                  <m:sup>
                                    <m:r>
                                      <a:rPr lang="zh-CN" altLang="en-US" i="0">
                                        <a:latin typeface="Cambria Math" panose="02040503050406030204" pitchFamily="18" charset="0"/>
                                      </a:rPr>
                                      <m:t>+</m:t>
                                    </m:r>
                                  </m:sup>
                                </m:sSubSup>
                              </m:e>
                            </m:d>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𝑃</m:t>
                                </m:r>
                              </m:e>
                              <m:sub>
                                <m:r>
                                  <a:rPr lang="zh-CN" altLang="en-US" i="0">
                                    <a:latin typeface="Cambria Math" panose="02040503050406030204" pitchFamily="18" charset="0"/>
                                  </a:rPr>
                                  <m:t>4</m:t>
                                </m:r>
                              </m:sub>
                            </m:sSub>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𝑑</m:t>
                                </m:r>
                              </m:e>
                              <m:sub>
                                <m:r>
                                  <a:rPr lang="zh-CN" altLang="en-US" i="0">
                                    <a:latin typeface="Cambria Math" panose="02040503050406030204" pitchFamily="18" charset="0"/>
                                  </a:rPr>
                                  <m:t>4</m:t>
                                </m:r>
                              </m:sub>
                              <m:sup>
                                <m:r>
                                  <a:rPr lang="zh-CN" altLang="en-US" i="0">
                                    <a:latin typeface="Cambria Math" panose="02040503050406030204" pitchFamily="18" charset="0"/>
                                  </a:rPr>
                                  <m:t>−</m:t>
                                </m:r>
                              </m:sup>
                            </m:sSubSup>
                          </m:e>
                        </m:mr>
                      </m:m>
                    </m:oMath>
                  </m:oMathPara>
                </a14:m>
                <a:endParaRPr lang="zh-CN" altLang="en-US" dirty="0"/>
              </a:p>
            </p:txBody>
          </p:sp>
        </mc:Choice>
        <mc:Fallback>
          <p:sp>
            <p:nvSpPr>
              <p:cNvPr id="6" name="矩形 5"/>
              <p:cNvSpPr>
                <a:spLocks noRot="1" noChangeAspect="1" noMove="1" noResize="1" noEditPoints="1" noAdjustHandles="1" noChangeArrowheads="1" noChangeShapeType="1" noTextEdit="1"/>
              </p:cNvSpPr>
              <p:nvPr/>
            </p:nvSpPr>
            <p:spPr>
              <a:xfrm>
                <a:off x="3695972" y="1586834"/>
                <a:ext cx="4852035" cy="359410"/>
              </a:xfrm>
              <a:prstGeom prst="rect">
                <a:avLst/>
              </a:prstGeom>
              <a:blipFill rotWithShape="1">
                <a:blip r:embed="rId2"/>
                <a:stretch>
                  <a:fillRect l="-6" t="-168" r="6" b="168"/>
                </a:stretch>
              </a:blipFill>
            </p:spPr>
            <p:txBody>
              <a:bodyPr/>
              <a:lstStyle/>
              <a:p>
                <a:r>
                  <a:rPr lang="zh-CN" altLang="en-US">
                    <a:noFill/>
                  </a:rPr>
                  <a:t> </a:t>
                </a:r>
              </a:p>
            </p:txBody>
          </p:sp>
        </mc:Fallback>
      </mc:AlternateContent>
      <p:sp>
        <p:nvSpPr>
          <p:cNvPr id="1123397" name="Rectangle 69"/>
          <p:cNvSpPr>
            <a:spLocks noGrp="1" noChangeArrowheads="1"/>
          </p:cNvSpPr>
          <p:nvPr>
            <p:ph type="title" idx="4294967295"/>
          </p:nvPr>
        </p:nvSpPr>
        <p:spPr/>
        <p:txBody>
          <a:bodyPr>
            <a:normAutofit/>
          </a:bodyPr>
          <a:lstStyle/>
          <a:p>
            <a:r>
              <a:rPr lang="zh-CN" altLang="en-US">
                <a:latin typeface="华文楷体" panose="02010600040101010101" charset="-122"/>
                <a:ea typeface="华文楷体" panose="02010600040101010101" charset="-122"/>
                <a:cs typeface="华文楷体" panose="02010600040101010101" charset="-122"/>
              </a:rPr>
              <a:t>有优先权的目标规划的图解法</a:t>
            </a:r>
            <a:r>
              <a:rPr lang="en-US" altLang="zh-CN">
                <a:latin typeface="华文楷体" panose="02010600040101010101" charset="-122"/>
                <a:ea typeface="华文楷体" panose="02010600040101010101" charset="-122"/>
                <a:cs typeface="华文楷体" panose="02010600040101010101" charset="-122"/>
              </a:rPr>
              <a:t>-</a:t>
            </a:r>
            <a:r>
              <a:rPr lang="zh-CN" altLang="en-US">
                <a:latin typeface="华文楷体" panose="02010600040101010101" charset="-122"/>
                <a:ea typeface="华文楷体" panose="02010600040101010101" charset="-122"/>
                <a:cs typeface="华文楷体" panose="02010600040101010101" charset="-122"/>
              </a:rPr>
              <a:t>化肥生产</a:t>
            </a:r>
            <a:endParaRPr lang="zh-CN" altLang="en-US"/>
          </a:p>
        </p:txBody>
      </p:sp>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2054346" y="1700700"/>
            <a:ext cx="6238875" cy="4410075"/>
          </a:xfrm>
          <a:prstGeom prst="rect">
            <a:avLst/>
          </a:prstGeom>
        </p:spPr>
      </p:pic>
      <mc:AlternateContent xmlns:mc="http://schemas.openxmlformats.org/markup-compatibility/2006">
        <mc:Choice xmlns:a14="http://schemas.microsoft.com/office/drawing/2010/main" Requires="a14">
          <p:sp>
            <p:nvSpPr>
              <p:cNvPr id="2" name="矩形 1"/>
              <p:cNvSpPr/>
              <p:nvPr/>
            </p:nvSpPr>
            <p:spPr>
              <a:xfrm>
                <a:off x="6407199" y="1377204"/>
                <a:ext cx="4572000" cy="1998980"/>
              </a:xfrm>
              <a:prstGeom prst="rect">
                <a:avLst/>
              </a:prstGeom>
              <a:solidFill>
                <a:schemeClr val="bg1"/>
              </a:solidFill>
            </p:spPr>
            <p:txBody>
              <a:bodyPr>
                <a:spAutoFit/>
              </a:bodyPr>
              <a:lstStyle/>
              <a:p>
                <a:pPr indent="127000" algn="ctr">
                  <a:lnSpc>
                    <a:spcPct val="115000"/>
                  </a:lnSpc>
                  <a:spcAft>
                    <a:spcPts val="0"/>
                  </a:spcAft>
                </a:pPr>
                <a14:m>
                  <m:oMathPara xmlns:m="http://schemas.openxmlformats.org/officeDocument/2006/math">
                    <m:oMathParaPr>
                      <m:jc m:val="centerGroup"/>
                    </m:oMathParaPr>
                    <m:oMath xmlns:m="http://schemas.openxmlformats.org/officeDocument/2006/math">
                      <m:m>
                        <m:mPr>
                          <m:mcs>
                            <m:mc>
                              <m:mcPr>
                                <m:count m:val="2"/>
                                <m:mcJc m:val="center"/>
                              </m:mcPr>
                            </m:mc>
                          </m:mcs>
                          <m:ctrlPr>
                            <a:rPr lang="zh-CN" altLang="zh-CN" sz="1600" i="1" kern="100">
                              <a:latin typeface="Cambria Math" panose="02040503050406030204" pitchFamily="18" charset="0"/>
                              <a:ea typeface="Cambria Math" panose="02040503050406030204" pitchFamily="18" charset="0"/>
                            </a:rPr>
                          </m:ctrlPr>
                        </m:mPr>
                        <m:mr>
                          <m:e>
                            <m:r>
                              <m:rPr>
                                <m:sty m:val="p"/>
                              </m:rPr>
                              <a:rPr lang="en-US" altLang="zh-CN" sz="1600" kern="100">
                                <a:effectLst/>
                                <a:latin typeface="Cambria Math" panose="02040503050406030204" pitchFamily="18" charset="0"/>
                                <a:ea typeface="宋体" panose="02010600030101010101" pitchFamily="2" charset="-122"/>
                              </a:rPr>
                              <m:t>min</m:t>
                            </m:r>
                          </m:e>
                          <m:e>
                            <m:r>
                              <a:rPr lang="en-US" altLang="zh-CN" sz="1600" i="1" kern="100">
                                <a:effectLst/>
                                <a:latin typeface="Cambria Math" panose="02040503050406030204" pitchFamily="18" charset="0"/>
                                <a:ea typeface="宋体" panose="02010600030101010101" pitchFamily="2" charset="-122"/>
                              </a:rPr>
                              <m:t>𝑤</m:t>
                            </m:r>
                            <m:r>
                              <a:rPr lang="en-US" altLang="zh-CN" sz="1600" i="1" kern="100">
                                <a:effectLst/>
                                <a:latin typeface="Cambria Math" panose="02040503050406030204" pitchFamily="18" charset="0"/>
                                <a:ea typeface="宋体" panose="02010600030101010101" pitchFamily="2" charset="-122"/>
                              </a:rPr>
                              <m:t>=</m:t>
                            </m:r>
                            <m:sSub>
                              <m:sSubPr>
                                <m:ctrlPr>
                                  <a:rPr lang="zh-CN" altLang="zh-CN" sz="1600" i="1" kern="100">
                                    <a:effectLst/>
                                    <a:latin typeface="Cambria Math" panose="02040503050406030204" pitchFamily="18" charset="0"/>
                                    <a:ea typeface="Cambria Math" panose="02040503050406030204" pitchFamily="18" charset="0"/>
                                  </a:rPr>
                                </m:ctrlPr>
                              </m:sSubPr>
                              <m:e>
                                <m:r>
                                  <a:rPr lang="en-US" altLang="zh-CN" sz="1600" i="1" kern="100">
                                    <a:effectLst/>
                                    <a:latin typeface="Cambria Math" panose="02040503050406030204" pitchFamily="18" charset="0"/>
                                    <a:ea typeface="宋体" panose="02010600030101010101" pitchFamily="2" charset="-122"/>
                                  </a:rPr>
                                  <m:t>𝑃</m:t>
                                </m:r>
                              </m:e>
                              <m:sub>
                                <m:r>
                                  <a:rPr lang="en-US" altLang="zh-CN" sz="1600" i="1" kern="100">
                                    <a:effectLst/>
                                    <a:latin typeface="Cambria Math" panose="02040503050406030204" pitchFamily="18" charset="0"/>
                                    <a:ea typeface="宋体" panose="02010600030101010101" pitchFamily="2" charset="-122"/>
                                  </a:rPr>
                                  <m:t>1</m:t>
                                </m:r>
                              </m:sub>
                            </m:sSub>
                            <m:sSubSup>
                              <m:sSubSupPr>
                                <m:ctrlPr>
                                  <a:rPr lang="zh-CN" altLang="zh-CN" sz="1600" i="1" kern="100">
                                    <a:effectLst/>
                                    <a:latin typeface="Cambria Math" panose="02040503050406030204" pitchFamily="18" charset="0"/>
                                    <a:ea typeface="Cambria Math" panose="02040503050406030204" pitchFamily="18" charset="0"/>
                                  </a:rPr>
                                </m:ctrlPr>
                              </m:sSubSupPr>
                              <m:e>
                                <m:r>
                                  <a:rPr lang="en-US" altLang="zh-CN" sz="1600" i="1" kern="100">
                                    <a:effectLst/>
                                    <a:latin typeface="Cambria Math" panose="02040503050406030204" pitchFamily="18" charset="0"/>
                                    <a:ea typeface="宋体" panose="02010600030101010101" pitchFamily="2" charset="-122"/>
                                  </a:rPr>
                                  <m:t>𝑑</m:t>
                                </m:r>
                              </m:e>
                              <m:sub>
                                <m:r>
                                  <a:rPr lang="en-US" altLang="zh-CN" sz="1600" i="1" kern="100">
                                    <a:effectLst/>
                                    <a:latin typeface="Cambria Math" panose="02040503050406030204" pitchFamily="18" charset="0"/>
                                    <a:ea typeface="宋体" panose="02010600030101010101" pitchFamily="2" charset="-122"/>
                                  </a:rPr>
                                  <m:t>1</m:t>
                                </m:r>
                              </m:sub>
                              <m:sup>
                                <m:r>
                                  <a:rPr lang="en-US" altLang="zh-CN" sz="1600" i="1" kern="100">
                                    <a:effectLst/>
                                    <a:latin typeface="Cambria Math" panose="02040503050406030204" pitchFamily="18" charset="0"/>
                                    <a:ea typeface="宋体" panose="02010600030101010101" pitchFamily="2" charset="-122"/>
                                  </a:rPr>
                                  <m:t>+</m:t>
                                </m:r>
                              </m:sup>
                            </m:sSubSup>
                            <m:r>
                              <a:rPr lang="en-US" altLang="zh-CN" sz="1600" i="1" kern="100">
                                <a:effectLst/>
                                <a:latin typeface="Cambria Math" panose="02040503050406030204" pitchFamily="18" charset="0"/>
                                <a:ea typeface="宋体" panose="02010600030101010101" pitchFamily="2" charset="-122"/>
                              </a:rPr>
                              <m:t>+</m:t>
                            </m:r>
                            <m:sSub>
                              <m:sSubPr>
                                <m:ctrlPr>
                                  <a:rPr lang="zh-CN" altLang="zh-CN" sz="1600" i="1" kern="100">
                                    <a:effectLst/>
                                    <a:latin typeface="Cambria Math" panose="02040503050406030204" pitchFamily="18" charset="0"/>
                                    <a:ea typeface="Cambria Math" panose="02040503050406030204" pitchFamily="18" charset="0"/>
                                  </a:rPr>
                                </m:ctrlPr>
                              </m:sSubPr>
                              <m:e>
                                <m:r>
                                  <a:rPr lang="en-US" altLang="zh-CN" sz="1600" i="1" kern="100">
                                    <a:effectLst/>
                                    <a:latin typeface="Cambria Math" panose="02040503050406030204" pitchFamily="18" charset="0"/>
                                    <a:ea typeface="宋体" panose="02010600030101010101" pitchFamily="2" charset="-122"/>
                                  </a:rPr>
                                  <m:t>𝑃</m:t>
                                </m:r>
                              </m:e>
                              <m:sub>
                                <m:r>
                                  <a:rPr lang="en-US" altLang="zh-CN" sz="1600" i="1" kern="100">
                                    <a:effectLst/>
                                    <a:latin typeface="Cambria Math" panose="02040503050406030204" pitchFamily="18" charset="0"/>
                                    <a:ea typeface="宋体" panose="02010600030101010101" pitchFamily="2" charset="-122"/>
                                  </a:rPr>
                                  <m:t>2</m:t>
                                </m:r>
                              </m:sub>
                            </m:sSub>
                            <m:sSubSup>
                              <m:sSubSupPr>
                                <m:ctrlPr>
                                  <a:rPr lang="zh-CN" altLang="zh-CN" sz="1600" i="1" kern="100">
                                    <a:effectLst/>
                                    <a:latin typeface="Cambria Math" panose="02040503050406030204" pitchFamily="18" charset="0"/>
                                    <a:ea typeface="Cambria Math" panose="02040503050406030204" pitchFamily="18" charset="0"/>
                                  </a:rPr>
                                </m:ctrlPr>
                              </m:sSubSupPr>
                              <m:e>
                                <m:r>
                                  <a:rPr lang="en-US" altLang="zh-CN" sz="1600" i="1" kern="100">
                                    <a:effectLst/>
                                    <a:latin typeface="Cambria Math" panose="02040503050406030204" pitchFamily="18" charset="0"/>
                                    <a:ea typeface="宋体" panose="02010600030101010101" pitchFamily="2" charset="-122"/>
                                  </a:rPr>
                                  <m:t>𝑑</m:t>
                                </m:r>
                              </m:e>
                              <m:sub>
                                <m:r>
                                  <a:rPr lang="en-US" altLang="zh-CN" sz="1600" i="1" kern="100">
                                    <a:effectLst/>
                                    <a:latin typeface="Cambria Math" panose="02040503050406030204" pitchFamily="18" charset="0"/>
                                    <a:ea typeface="宋体" panose="02010600030101010101" pitchFamily="2" charset="-122"/>
                                  </a:rPr>
                                  <m:t>2</m:t>
                                </m:r>
                              </m:sub>
                              <m:sup>
                                <m:r>
                                  <a:rPr lang="en-US" altLang="zh-CN" sz="1600" i="1" kern="100">
                                    <a:effectLst/>
                                    <a:latin typeface="Cambria Math" panose="02040503050406030204" pitchFamily="18" charset="0"/>
                                    <a:ea typeface="宋体" panose="02010600030101010101" pitchFamily="2" charset="-122"/>
                                  </a:rPr>
                                  <m:t>+</m:t>
                                </m:r>
                              </m:sup>
                            </m:sSubSup>
                            <m:r>
                              <a:rPr lang="en-US" altLang="zh-CN" sz="1600" i="1" kern="100">
                                <a:effectLst/>
                                <a:latin typeface="Cambria Math" panose="02040503050406030204" pitchFamily="18" charset="0"/>
                                <a:ea typeface="宋体" panose="02010600030101010101" pitchFamily="2" charset="-122"/>
                              </a:rPr>
                              <m:t>+</m:t>
                            </m:r>
                            <m:sSub>
                              <m:sSubPr>
                                <m:ctrlPr>
                                  <a:rPr lang="zh-CN" altLang="zh-CN" sz="1600" i="1" kern="100">
                                    <a:effectLst/>
                                    <a:latin typeface="Cambria Math" panose="02040503050406030204" pitchFamily="18" charset="0"/>
                                    <a:ea typeface="Cambria Math" panose="02040503050406030204" pitchFamily="18" charset="0"/>
                                  </a:rPr>
                                </m:ctrlPr>
                              </m:sSubPr>
                              <m:e>
                                <m:r>
                                  <a:rPr lang="en-US" altLang="zh-CN" sz="1600" i="1" kern="100">
                                    <a:effectLst/>
                                    <a:latin typeface="Cambria Math" panose="02040503050406030204" pitchFamily="18" charset="0"/>
                                    <a:ea typeface="宋体" panose="02010600030101010101" pitchFamily="2" charset="-122"/>
                                  </a:rPr>
                                  <m:t>𝑃</m:t>
                                </m:r>
                              </m:e>
                              <m:sub>
                                <m:r>
                                  <a:rPr lang="en-US" altLang="zh-CN" sz="1600" i="1" kern="100">
                                    <a:effectLst/>
                                    <a:latin typeface="Cambria Math" panose="02040503050406030204" pitchFamily="18" charset="0"/>
                                    <a:ea typeface="宋体" panose="02010600030101010101" pitchFamily="2" charset="-122"/>
                                  </a:rPr>
                                  <m:t>3</m:t>
                                </m:r>
                              </m:sub>
                            </m:sSub>
                            <m:d>
                              <m:dPr>
                                <m:ctrlPr>
                                  <a:rPr lang="zh-CN" altLang="zh-CN" sz="1600" i="1" kern="100">
                                    <a:effectLst/>
                                    <a:latin typeface="Cambria Math" panose="02040503050406030204" pitchFamily="18" charset="0"/>
                                    <a:ea typeface="Cambria Math" panose="02040503050406030204" pitchFamily="18" charset="0"/>
                                  </a:rPr>
                                </m:ctrlPr>
                              </m:dPr>
                              <m:e>
                                <m:sSubSup>
                                  <m:sSubSupPr>
                                    <m:ctrlPr>
                                      <a:rPr lang="zh-CN" altLang="zh-CN" sz="1600" i="1" kern="100">
                                        <a:effectLst/>
                                        <a:latin typeface="Cambria Math" panose="02040503050406030204" pitchFamily="18" charset="0"/>
                                        <a:ea typeface="Cambria Math" panose="02040503050406030204" pitchFamily="18" charset="0"/>
                                      </a:rPr>
                                    </m:ctrlPr>
                                  </m:sSubSupPr>
                                  <m:e>
                                    <m:r>
                                      <a:rPr lang="en-US" altLang="zh-CN" sz="1600" i="1" kern="100">
                                        <a:effectLst/>
                                        <a:latin typeface="Cambria Math" panose="02040503050406030204" pitchFamily="18" charset="0"/>
                                        <a:ea typeface="宋体" panose="02010600030101010101" pitchFamily="2" charset="-122"/>
                                      </a:rPr>
                                      <m:t>𝑑</m:t>
                                    </m:r>
                                  </m:e>
                                  <m:sub>
                                    <m:r>
                                      <a:rPr lang="en-US" altLang="zh-CN" sz="1600" i="1" kern="100">
                                        <a:effectLst/>
                                        <a:latin typeface="Cambria Math" panose="02040503050406030204" pitchFamily="18" charset="0"/>
                                        <a:ea typeface="宋体" panose="02010600030101010101" pitchFamily="2" charset="-122"/>
                                      </a:rPr>
                                      <m:t>3</m:t>
                                    </m:r>
                                  </m:sub>
                                  <m:sup>
                                    <m:r>
                                      <a:rPr lang="en-US" altLang="zh-CN" sz="1600" i="1" kern="100">
                                        <a:effectLst/>
                                        <a:latin typeface="Cambria Math" panose="02040503050406030204" pitchFamily="18" charset="0"/>
                                        <a:ea typeface="宋体" panose="02010600030101010101" pitchFamily="2" charset="-122"/>
                                      </a:rPr>
                                      <m:t>−</m:t>
                                    </m:r>
                                  </m:sup>
                                </m:sSubSup>
                                <m:r>
                                  <a:rPr lang="en-US" altLang="zh-CN" sz="1600" i="1" kern="100">
                                    <a:effectLst/>
                                    <a:latin typeface="Cambria Math" panose="02040503050406030204" pitchFamily="18" charset="0"/>
                                    <a:ea typeface="宋体" panose="02010600030101010101" pitchFamily="2" charset="-122"/>
                                  </a:rPr>
                                  <m:t>+</m:t>
                                </m:r>
                                <m:sSubSup>
                                  <m:sSubSupPr>
                                    <m:ctrlPr>
                                      <a:rPr lang="zh-CN" altLang="zh-CN" sz="1600" i="1" kern="100">
                                        <a:effectLst/>
                                        <a:latin typeface="Cambria Math" panose="02040503050406030204" pitchFamily="18" charset="0"/>
                                        <a:ea typeface="Cambria Math" panose="02040503050406030204" pitchFamily="18" charset="0"/>
                                      </a:rPr>
                                    </m:ctrlPr>
                                  </m:sSubSupPr>
                                  <m:e>
                                    <m:r>
                                      <a:rPr lang="en-US" altLang="zh-CN" sz="1600" i="1" kern="100">
                                        <a:effectLst/>
                                        <a:latin typeface="Cambria Math" panose="02040503050406030204" pitchFamily="18" charset="0"/>
                                        <a:ea typeface="宋体" panose="02010600030101010101" pitchFamily="2" charset="-122"/>
                                      </a:rPr>
                                      <m:t>𝑑</m:t>
                                    </m:r>
                                  </m:e>
                                  <m:sub>
                                    <m:r>
                                      <a:rPr lang="en-US" altLang="zh-CN" sz="1600" i="1" kern="100">
                                        <a:effectLst/>
                                        <a:latin typeface="Cambria Math" panose="02040503050406030204" pitchFamily="18" charset="0"/>
                                        <a:ea typeface="宋体" panose="02010600030101010101" pitchFamily="2" charset="-122"/>
                                      </a:rPr>
                                      <m:t>3</m:t>
                                    </m:r>
                                  </m:sub>
                                  <m:sup>
                                    <m:r>
                                      <a:rPr lang="en-US" altLang="zh-CN" sz="1600" i="1" kern="100">
                                        <a:effectLst/>
                                        <a:latin typeface="Cambria Math" panose="02040503050406030204" pitchFamily="18" charset="0"/>
                                        <a:ea typeface="宋体" panose="02010600030101010101" pitchFamily="2" charset="-122"/>
                                      </a:rPr>
                                      <m:t>+</m:t>
                                    </m:r>
                                  </m:sup>
                                </m:sSubSup>
                              </m:e>
                            </m:d>
                            <m:r>
                              <a:rPr lang="en-US" altLang="zh-CN" sz="1600" i="1" kern="100">
                                <a:effectLst/>
                                <a:latin typeface="Cambria Math" panose="02040503050406030204" pitchFamily="18" charset="0"/>
                                <a:ea typeface="宋体" panose="02010600030101010101" pitchFamily="2" charset="-122"/>
                              </a:rPr>
                              <m:t>+</m:t>
                            </m:r>
                            <m:sSub>
                              <m:sSubPr>
                                <m:ctrlPr>
                                  <a:rPr lang="zh-CN" altLang="zh-CN" sz="1600" i="1" kern="100">
                                    <a:effectLst/>
                                    <a:latin typeface="Cambria Math" panose="02040503050406030204" pitchFamily="18" charset="0"/>
                                    <a:ea typeface="Cambria Math" panose="02040503050406030204" pitchFamily="18" charset="0"/>
                                  </a:rPr>
                                </m:ctrlPr>
                              </m:sSubPr>
                              <m:e>
                                <m:r>
                                  <a:rPr lang="en-US" altLang="zh-CN" sz="1600" i="1" kern="100">
                                    <a:effectLst/>
                                    <a:latin typeface="Cambria Math" panose="02040503050406030204" pitchFamily="18" charset="0"/>
                                    <a:ea typeface="宋体" panose="02010600030101010101" pitchFamily="2" charset="-122"/>
                                  </a:rPr>
                                  <m:t>𝑃</m:t>
                                </m:r>
                              </m:e>
                              <m:sub>
                                <m:r>
                                  <a:rPr lang="en-US" altLang="zh-CN" sz="1600" i="1" kern="100">
                                    <a:effectLst/>
                                    <a:latin typeface="Cambria Math" panose="02040503050406030204" pitchFamily="18" charset="0"/>
                                    <a:ea typeface="宋体" panose="02010600030101010101" pitchFamily="2" charset="-122"/>
                                  </a:rPr>
                                  <m:t>4</m:t>
                                </m:r>
                              </m:sub>
                            </m:sSub>
                            <m:sSubSup>
                              <m:sSubSupPr>
                                <m:ctrlPr>
                                  <a:rPr lang="zh-CN" altLang="zh-CN" sz="1600" i="1" kern="100">
                                    <a:effectLst/>
                                    <a:latin typeface="Cambria Math" panose="02040503050406030204" pitchFamily="18" charset="0"/>
                                    <a:ea typeface="Cambria Math" panose="02040503050406030204" pitchFamily="18" charset="0"/>
                                  </a:rPr>
                                </m:ctrlPr>
                              </m:sSubSupPr>
                              <m:e>
                                <m:r>
                                  <a:rPr lang="en-US" altLang="zh-CN" sz="1600" i="1" kern="100">
                                    <a:effectLst/>
                                    <a:latin typeface="Cambria Math" panose="02040503050406030204" pitchFamily="18" charset="0"/>
                                    <a:ea typeface="宋体" panose="02010600030101010101" pitchFamily="2" charset="-122"/>
                                  </a:rPr>
                                  <m:t>𝑑</m:t>
                                </m:r>
                              </m:e>
                              <m:sub>
                                <m:r>
                                  <a:rPr lang="en-US" altLang="zh-CN" sz="1600" i="1" kern="100">
                                    <a:effectLst/>
                                    <a:latin typeface="Cambria Math" panose="02040503050406030204" pitchFamily="18" charset="0"/>
                                    <a:ea typeface="宋体" panose="02010600030101010101" pitchFamily="2" charset="-122"/>
                                  </a:rPr>
                                  <m:t>4</m:t>
                                </m:r>
                              </m:sub>
                              <m:sup>
                                <m:r>
                                  <a:rPr lang="en-US" altLang="zh-CN" sz="1600" i="1" kern="100">
                                    <a:effectLst/>
                                    <a:latin typeface="Cambria Math" panose="02040503050406030204" pitchFamily="18" charset="0"/>
                                    <a:ea typeface="宋体" panose="02010600030101010101" pitchFamily="2" charset="-122"/>
                                  </a:rPr>
                                  <m:t>−</m:t>
                                </m:r>
                              </m:sup>
                            </m:sSubSup>
                          </m:e>
                        </m:mr>
                      </m:m>
                    </m:oMath>
                  </m:oMathPara>
                </a14:m>
                <a:endParaRPr lang="zh-CN" altLang="zh-CN" sz="1600" kern="100" dirty="0">
                  <a:ea typeface="宋体" panose="02010600030101010101" pitchFamily="2" charset="-122"/>
                </a:endParaRPr>
              </a:p>
              <a:p>
                <a14:m>
                  <m:oMathPara xmlns:m="http://schemas.openxmlformats.org/officeDocument/2006/math">
                    <m:oMathParaPr>
                      <m:jc m:val="centerGroup"/>
                    </m:oMathParaPr>
                    <m:oMath xmlns:m="http://schemas.openxmlformats.org/officeDocument/2006/math">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𝑠</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𝑡</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d>
                        <m:dPr>
                          <m:begChr m:val="{"/>
                          <m:endChr m:val=""/>
                          <m:ctrlPr>
                            <a:rPr lang="zh-CN" altLang="zh-CN" sz="1600" i="1">
                              <a:effectLst/>
                              <a:latin typeface="Cambria Math" panose="02040503050406030204" pitchFamily="18" charset="0"/>
                              <a:ea typeface="Cambria Math" panose="02040503050406030204" pitchFamily="18" charset="0"/>
                            </a:rPr>
                          </m:ctrlPr>
                        </m:dPr>
                        <m:e>
                          <m:eqArr>
                            <m:eqArrPr>
                              <m:ctrlPr>
                                <a:rPr lang="zh-CN" altLang="zh-CN" sz="1600" i="1">
                                  <a:effectLst/>
                                  <a:latin typeface="Cambria Math" panose="02040503050406030204" pitchFamily="18" charset="0"/>
                                  <a:ea typeface="Cambria Math" panose="02040503050406030204" pitchFamily="18" charset="0"/>
                                </a:rPr>
                              </m:ctrlPr>
                            </m:eqArr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2</m:t>
                              </m:r>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1600" i="1">
                                      <a:effectLst/>
                                      <a:latin typeface="Cambria Math" panose="02040503050406030204" pitchFamily="18" charset="0"/>
                                      <a:ea typeface="Cambria Math" panose="02040503050406030204" pitchFamily="18" charset="0"/>
                                    </a:rPr>
                                  </m:ctrlPr>
                                </m:sSubSup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𝑑</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1600" i="1">
                                      <a:effectLst/>
                                      <a:latin typeface="Cambria Math" panose="02040503050406030204" pitchFamily="18" charset="0"/>
                                      <a:ea typeface="Cambria Math" panose="02040503050406030204" pitchFamily="18" charset="0"/>
                                    </a:rPr>
                                  </m:ctrlPr>
                                </m:sSubSup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𝑑</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1200</m:t>
                              </m:r>
                            </m:e>
                            <m:e>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1600" i="1">
                                      <a:effectLst/>
                                      <a:latin typeface="Cambria Math" panose="02040503050406030204" pitchFamily="18" charset="0"/>
                                      <a:ea typeface="Cambria Math" panose="02040503050406030204" pitchFamily="18" charset="0"/>
                                    </a:rPr>
                                  </m:ctrlPr>
                                </m:sSubSup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𝑑</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2</m:t>
                                  </m:r>
                                </m:sub>
                                <m: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1600" i="1">
                                      <a:effectLst/>
                                      <a:latin typeface="Cambria Math" panose="02040503050406030204" pitchFamily="18" charset="0"/>
                                      <a:ea typeface="Cambria Math" panose="02040503050406030204" pitchFamily="18" charset="0"/>
                                    </a:rPr>
                                  </m:ctrlPr>
                                </m:sSubSup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𝑑</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2</m:t>
                                  </m:r>
                                </m:sub>
                                <m: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0</m:t>
                              </m:r>
                            </m:e>
                            <m:e>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2</m:t>
                              </m:r>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1600" i="1">
                                      <a:effectLst/>
                                      <a:latin typeface="Cambria Math" panose="02040503050406030204" pitchFamily="18" charset="0"/>
                                      <a:ea typeface="Cambria Math" panose="02040503050406030204" pitchFamily="18" charset="0"/>
                                    </a:rPr>
                                  </m:ctrlPr>
                                </m:sSubSup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𝑑</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3</m:t>
                                  </m:r>
                                </m:sub>
                                <m: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1600" i="1">
                                      <a:effectLst/>
                                      <a:latin typeface="Cambria Math" panose="02040503050406030204" pitchFamily="18" charset="0"/>
                                      <a:ea typeface="Cambria Math" panose="02040503050406030204" pitchFamily="18" charset="0"/>
                                    </a:rPr>
                                  </m:ctrlPr>
                                </m:sSubSup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𝑑</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3</m:t>
                                  </m:r>
                                </m:sub>
                                <m: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1000</m:t>
                              </m:r>
                            </m:e>
                            <m:e>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600</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1000</m:t>
                              </m:r>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1600" i="1">
                                      <a:effectLst/>
                                      <a:latin typeface="Cambria Math" panose="02040503050406030204" pitchFamily="18" charset="0"/>
                                      <a:ea typeface="Cambria Math" panose="02040503050406030204" pitchFamily="18" charset="0"/>
                                    </a:rPr>
                                  </m:ctrlPr>
                                </m:sSubSup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𝑑</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4</m:t>
                                  </m:r>
                                </m:sub>
                                <m: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1600" i="1">
                                      <a:effectLst/>
                                      <a:latin typeface="Cambria Math" panose="02040503050406030204" pitchFamily="18" charset="0"/>
                                      <a:ea typeface="Cambria Math" panose="02040503050406030204" pitchFamily="18" charset="0"/>
                                    </a:rPr>
                                  </m:ctrlPr>
                                </m:sSubSup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𝑑</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4</m:t>
                                  </m:r>
                                </m:sub>
                                <m: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600000</m:t>
                              </m:r>
                            </m:e>
                            <m:e>
                              <m:m>
                                <m:mPr>
                                  <m:mcs>
                                    <m:mc>
                                      <m:mcPr>
                                        <m:count m:val="1"/>
                                        <m:mcJc m:val="center"/>
                                      </m:mcPr>
                                    </m:mc>
                                  </m:mcs>
                                  <m:ctrlPr>
                                    <a:rPr lang="zh-CN" altLang="zh-CN" sz="1600" i="1">
                                      <a:effectLst/>
                                      <a:latin typeface="Cambria Math" panose="02040503050406030204" pitchFamily="18" charset="0"/>
                                      <a:ea typeface="Cambria Math" panose="02040503050406030204" pitchFamily="18" charset="0"/>
                                    </a:rPr>
                                  </m:ctrlPr>
                                </m:mPr>
                                <m:mr>
                                  <m:e>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1600" i="1">
                                            <a:effectLst/>
                                            <a:latin typeface="Cambria Math" panose="02040503050406030204" pitchFamily="18" charset="0"/>
                                            <a:ea typeface="Cambria Math" panose="02040503050406030204" pitchFamily="18" charset="0"/>
                                          </a:rPr>
                                        </m:ctrlPr>
                                      </m:sSubSup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𝑑</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𝑖</m:t>
                                        </m:r>
                                      </m:sub>
                                      <m: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1600" i="1">
                                            <a:effectLst/>
                                            <a:latin typeface="Cambria Math" panose="02040503050406030204" pitchFamily="18" charset="0"/>
                                            <a:ea typeface="Cambria Math" panose="02040503050406030204" pitchFamily="18" charset="0"/>
                                          </a:rPr>
                                        </m:ctrlPr>
                                      </m:sSubSup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𝑑</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𝑖</m:t>
                                        </m:r>
                                      </m:sub>
                                      <m: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0</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 </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𝑖</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1</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2</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3</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4</m:t>
                                    </m:r>
                                  </m:e>
                                </m:mr>
                                <m:mr>
                                  <m:e>
                                    <m:sSubSup>
                                      <m:sSubSupPr>
                                        <m:ctrlPr>
                                          <a:rPr lang="zh-CN" altLang="zh-CN" sz="1600" i="1">
                                            <a:effectLst/>
                                            <a:latin typeface="Cambria Math" panose="02040503050406030204" pitchFamily="18" charset="0"/>
                                            <a:ea typeface="Cambria Math" panose="02040503050406030204" pitchFamily="18" charset="0"/>
                                          </a:rPr>
                                        </m:ctrlPr>
                                      </m:sSubSup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𝑑</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𝑖</m:t>
                                        </m:r>
                                      </m:sub>
                                      <m: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1600" i="1">
                                            <a:effectLst/>
                                            <a:latin typeface="Cambria Math" panose="02040503050406030204" pitchFamily="18" charset="0"/>
                                            <a:ea typeface="Cambria Math" panose="02040503050406030204" pitchFamily="18" charset="0"/>
                                          </a:rPr>
                                        </m:ctrlPr>
                                      </m:sSubSup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𝑑</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𝑖</m:t>
                                        </m:r>
                                      </m:sub>
                                      <m: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0</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 </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𝑖</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1</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2</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3</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4</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  </m:t>
                                    </m:r>
                                  </m:e>
                                </m:mr>
                              </m:m>
                            </m:e>
                          </m:eqArr>
                        </m:e>
                      </m:d>
                    </m:oMath>
                  </m:oMathPara>
                </a14:m>
                <a:endParaRPr lang="zh-CN" altLang="en-US" sz="1600" dirty="0"/>
              </a:p>
            </p:txBody>
          </p:sp>
        </mc:Choice>
        <mc:Fallback>
          <p:sp>
            <p:nvSpPr>
              <p:cNvPr id="2" name="矩形 1"/>
              <p:cNvSpPr>
                <a:spLocks noRot="1" noChangeAspect="1" noMove="1" noResize="1" noEditPoints="1" noAdjustHandles="1" noChangeArrowheads="1" noChangeShapeType="1" noTextEdit="1"/>
              </p:cNvSpPr>
              <p:nvPr/>
            </p:nvSpPr>
            <p:spPr>
              <a:xfrm>
                <a:off x="6407199" y="1377204"/>
                <a:ext cx="4572000" cy="1998980"/>
              </a:xfrm>
              <a:prstGeom prst="rect">
                <a:avLst/>
              </a:prstGeom>
              <a:blipFill rotWithShape="1">
                <a:blip r:embed="rId2"/>
                <a:stretch>
                  <a:fillRect l="-1" t="-26" r="1" b="26"/>
                </a:stretch>
              </a:blipFill>
            </p:spPr>
            <p:txBody>
              <a:bodyPr/>
              <a:lstStyle/>
              <a:p>
                <a:r>
                  <a:rPr lang="zh-CN" altLang="en-US">
                    <a:noFill/>
                  </a:rPr>
                  <a:t> </a:t>
                </a:r>
              </a:p>
            </p:txBody>
          </p:sp>
        </mc:Fallback>
      </mc:AlternateContent>
      <p:sp>
        <p:nvSpPr>
          <p:cNvPr id="4" name="矩形 3"/>
          <p:cNvSpPr/>
          <p:nvPr/>
        </p:nvSpPr>
        <p:spPr>
          <a:xfrm>
            <a:off x="7709309" y="4330672"/>
            <a:ext cx="1940560" cy="368300"/>
          </a:xfrm>
          <a:prstGeom prst="rect">
            <a:avLst/>
          </a:prstGeom>
        </p:spPr>
        <p:txBody>
          <a:bodyPr wrap="none">
            <a:spAutoFit/>
          </a:bodyPr>
          <a:lstStyle/>
          <a:p>
            <a:r>
              <a:rPr lang="zh-CN" altLang="zh-CN" kern="100" dirty="0">
                <a:solidFill>
                  <a:srgbClr val="C00000"/>
                </a:solidFill>
                <a:ea typeface="宋体" panose="02010600030101010101" pitchFamily="2" charset="-122"/>
                <a:cs typeface="Times New Roman" panose="02020603050405020304" pitchFamily="18" charset="0"/>
              </a:rPr>
              <a:t>最优解对应于点</a:t>
            </a:r>
            <a:r>
              <a:rPr lang="en-US" altLang="zh-CN" kern="100" dirty="0">
                <a:solidFill>
                  <a:srgbClr val="C00000"/>
                </a:solidFill>
                <a:ea typeface="宋体" panose="02010600030101010101" pitchFamily="2" charset="-122"/>
              </a:rPr>
              <a:t>D</a:t>
            </a:r>
            <a:endParaRPr lang="zh-CN" altLang="en-US" dirty="0">
              <a:solidFill>
                <a:srgbClr val="C00000"/>
              </a:solidFill>
            </a:endParaRPr>
          </a:p>
        </p:txBody>
      </p:sp>
      <p:sp>
        <p:nvSpPr>
          <p:cNvPr id="1123397" name="Rectangle 69"/>
          <p:cNvSpPr>
            <a:spLocks noGrp="1" noChangeArrowheads="1"/>
          </p:cNvSpPr>
          <p:nvPr>
            <p:ph type="title" idx="4294967295"/>
          </p:nvPr>
        </p:nvSpPr>
        <p:spPr/>
        <p:txBody>
          <a:bodyPr>
            <a:normAutofit/>
          </a:bodyPr>
          <a:p>
            <a:r>
              <a:rPr lang="zh-CN" altLang="en-US">
                <a:latin typeface="华文楷体" panose="02010600040101010101" charset="-122"/>
                <a:ea typeface="华文楷体" panose="02010600040101010101" charset="-122"/>
                <a:cs typeface="华文楷体" panose="02010600040101010101" charset="-122"/>
              </a:rPr>
              <a:t>有优先权的目标规划的图解法</a:t>
            </a:r>
            <a:r>
              <a:rPr lang="en-US" altLang="zh-CN">
                <a:latin typeface="华文楷体" panose="02010600040101010101" charset="-122"/>
                <a:ea typeface="华文楷体" panose="02010600040101010101" charset="-122"/>
                <a:cs typeface="华文楷体" panose="02010600040101010101" charset="-122"/>
              </a:rPr>
              <a:t>-</a:t>
            </a:r>
            <a:r>
              <a:rPr lang="zh-CN" altLang="en-US">
                <a:latin typeface="华文楷体" panose="02010600040101010101" charset="-122"/>
                <a:ea typeface="华文楷体" panose="02010600040101010101" charset="-122"/>
                <a:cs typeface="华文楷体" panose="02010600040101010101" charset="-122"/>
              </a:rPr>
              <a:t>化肥生产</a:t>
            </a:r>
            <a:endParaRPr lang="zh-CN" altLang="en-US"/>
          </a:p>
        </p:txBody>
      </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复杂情况下的</a:t>
            </a:r>
            <a:r>
              <a:rPr lang="zh-CN" altLang="en-US"/>
              <a:t>有优先权的</a:t>
            </a:r>
            <a:r>
              <a:rPr lang="zh-CN" altLang="en-US" dirty="0"/>
              <a:t>目标规划</a:t>
            </a:r>
            <a:endParaRPr lang="zh-CN" altLang="en-US" dirty="0"/>
          </a:p>
        </p:txBody>
      </p:sp>
      <p:sp>
        <p:nvSpPr>
          <p:cNvPr id="3" name="内容占位符 2"/>
          <p:cNvSpPr>
            <a:spLocks noGrp="1"/>
          </p:cNvSpPr>
          <p:nvPr>
            <p:ph idx="1"/>
          </p:nvPr>
        </p:nvSpPr>
        <p:spPr/>
        <p:txBody>
          <a:bodyPr/>
          <a:lstStyle/>
          <a:p>
            <a:pPr marL="0" indent="0">
              <a:buNone/>
            </a:pPr>
            <a:r>
              <a:rPr lang="zh-CN" altLang="en-US" dirty="0"/>
              <a:t>例</a:t>
            </a:r>
            <a:r>
              <a:rPr lang="en-US" altLang="zh-CN" dirty="0"/>
              <a:t>2</a:t>
            </a:r>
            <a:r>
              <a:rPr lang="zh-CN" altLang="en-US" dirty="0"/>
              <a:t>．一工艺品厂商手工生产某两种工艺品</a:t>
            </a:r>
            <a:r>
              <a:rPr lang="en-US" altLang="zh-CN" dirty="0"/>
              <a:t>A</a:t>
            </a:r>
            <a:r>
              <a:rPr lang="zh-CN" altLang="en-US" dirty="0"/>
              <a:t>、</a:t>
            </a:r>
            <a:r>
              <a:rPr lang="en-US" altLang="zh-CN" dirty="0"/>
              <a:t>B</a:t>
            </a:r>
            <a:r>
              <a:rPr lang="zh-CN" altLang="en-US" dirty="0"/>
              <a:t>，已知生产一件产品</a:t>
            </a:r>
            <a:r>
              <a:rPr lang="en-US" altLang="zh-CN" dirty="0"/>
              <a:t>A</a:t>
            </a:r>
            <a:r>
              <a:rPr lang="zh-CN" altLang="en-US" dirty="0"/>
              <a:t>需要耗费人力</a:t>
            </a:r>
            <a:r>
              <a:rPr lang="en-US" altLang="zh-CN" dirty="0"/>
              <a:t>2</a:t>
            </a:r>
            <a:r>
              <a:rPr lang="zh-CN" altLang="en-US" dirty="0"/>
              <a:t>工时，生产一件产品</a:t>
            </a:r>
            <a:r>
              <a:rPr lang="en-US" altLang="zh-CN" dirty="0"/>
              <a:t>B</a:t>
            </a:r>
            <a:r>
              <a:rPr lang="zh-CN" altLang="en-US" dirty="0"/>
              <a:t>需要耗费人力</a:t>
            </a:r>
            <a:r>
              <a:rPr lang="en-US" altLang="zh-CN" dirty="0"/>
              <a:t>3</a:t>
            </a:r>
            <a:r>
              <a:rPr lang="zh-CN" altLang="en-US" dirty="0"/>
              <a:t>工时。</a:t>
            </a:r>
            <a:r>
              <a:rPr lang="en-US" altLang="zh-CN" dirty="0"/>
              <a:t>A</a:t>
            </a:r>
            <a:r>
              <a:rPr lang="zh-CN" altLang="en-US" dirty="0"/>
              <a:t>、</a:t>
            </a:r>
            <a:r>
              <a:rPr lang="en-US" altLang="zh-CN" dirty="0"/>
              <a:t>B</a:t>
            </a:r>
            <a:r>
              <a:rPr lang="zh-CN" altLang="en-US" dirty="0"/>
              <a:t>产品的单位利润分别为</a:t>
            </a:r>
            <a:r>
              <a:rPr lang="en-US" altLang="zh-CN" dirty="0"/>
              <a:t>250</a:t>
            </a:r>
            <a:r>
              <a:rPr lang="zh-CN" altLang="en-US" dirty="0"/>
              <a:t>元和</a:t>
            </a:r>
            <a:r>
              <a:rPr lang="en-US" altLang="zh-CN" dirty="0"/>
              <a:t>125</a:t>
            </a:r>
            <a:r>
              <a:rPr lang="zh-CN" altLang="en-US" dirty="0"/>
              <a:t>元。为了最大效率地利用人力资源，确定生产的首要任务是保证人员高负荷生产，要求每周总耗费人力资源不能低于</a:t>
            </a:r>
            <a:r>
              <a:rPr lang="en-US" altLang="zh-CN" dirty="0"/>
              <a:t>600</a:t>
            </a:r>
            <a:r>
              <a:rPr lang="zh-CN" altLang="en-US" dirty="0"/>
              <a:t>工时，但也不能超过</a:t>
            </a:r>
            <a:r>
              <a:rPr lang="en-US" altLang="zh-CN" dirty="0"/>
              <a:t>680</a:t>
            </a:r>
            <a:r>
              <a:rPr lang="zh-CN" altLang="en-US" dirty="0"/>
              <a:t>工时的极限；次要任务是要求每周的利润超过</a:t>
            </a:r>
            <a:r>
              <a:rPr lang="en-US" altLang="zh-CN" dirty="0"/>
              <a:t>70000</a:t>
            </a:r>
            <a:r>
              <a:rPr lang="zh-CN" altLang="en-US" dirty="0"/>
              <a:t>元；在前两个任务的前提下，为了保证库存需要，要求每周产品</a:t>
            </a:r>
            <a:r>
              <a:rPr lang="en-US" altLang="zh-CN" dirty="0"/>
              <a:t>A</a:t>
            </a:r>
            <a:r>
              <a:rPr lang="zh-CN" altLang="en-US" dirty="0"/>
              <a:t>和</a:t>
            </a:r>
            <a:r>
              <a:rPr lang="en-US" altLang="zh-CN" dirty="0"/>
              <a:t>B</a:t>
            </a:r>
            <a:r>
              <a:rPr lang="zh-CN" altLang="en-US" dirty="0"/>
              <a:t>的产量分别不低于</a:t>
            </a:r>
            <a:r>
              <a:rPr lang="en-US" altLang="zh-CN" dirty="0"/>
              <a:t>200</a:t>
            </a:r>
            <a:r>
              <a:rPr lang="zh-CN" altLang="en-US" dirty="0"/>
              <a:t>和</a:t>
            </a:r>
            <a:r>
              <a:rPr lang="en-US" altLang="zh-CN" dirty="0"/>
              <a:t>120</a:t>
            </a:r>
            <a:r>
              <a:rPr lang="zh-CN" altLang="en-US" dirty="0"/>
              <a:t>件。</a:t>
            </a:r>
            <a:endParaRPr lang="zh-CN" altLang="en-US" dirty="0"/>
          </a:p>
          <a:p>
            <a:pPr marL="0" indent="0">
              <a:buNone/>
            </a:pPr>
            <a:r>
              <a:rPr lang="zh-CN" altLang="en-US" dirty="0"/>
              <a:t>试求写出目标规划数学模型</a:t>
            </a:r>
            <a:r>
              <a:rPr lang="en-US" altLang="zh-CN" dirty="0"/>
              <a:t>?</a:t>
            </a:r>
            <a:endParaRPr lang="en-US" altLang="zh-CN" dirty="0"/>
          </a:p>
          <a:p>
            <a:pPr marL="0" indent="0">
              <a:buNone/>
            </a:pPr>
            <a:endParaRPr lang="zh-CN" altLang="en-US" dirty="0"/>
          </a:p>
        </p:txBody>
      </p:sp>
      <p:sp>
        <p:nvSpPr>
          <p:cNvPr id="4" name="星形: 五角 3"/>
          <p:cNvSpPr/>
          <p:nvPr/>
        </p:nvSpPr>
        <p:spPr>
          <a:xfrm>
            <a:off x="9399526" y="681037"/>
            <a:ext cx="738231" cy="503340"/>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4</a:t>
            </a:r>
            <a:endParaRPr lang="zh-CN"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22"/>
          <p:cNvSpPr txBox="1">
            <a:spLocks noChangeArrowheads="1"/>
          </p:cNvSpPr>
          <p:nvPr/>
        </p:nvSpPr>
        <p:spPr bwMode="auto">
          <a:xfrm>
            <a:off x="2063553" y="1772816"/>
            <a:ext cx="8064896" cy="5093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a:tabLst>
                <a:tab pos="254000" algn="l"/>
                <a:tab pos="266700" algn="l"/>
              </a:tabLst>
              <a:defRPr>
                <a:solidFill>
                  <a:schemeClr val="tx1"/>
                </a:solidFill>
                <a:latin typeface="Arial" panose="020B0604020202020204" pitchFamily="34" charset="0"/>
                <a:ea typeface="宋体" panose="02010600030101010101" pitchFamily="2" charset="-122"/>
              </a:defRPr>
            </a:lvl1pPr>
            <a:lvl2pPr>
              <a:tabLst>
                <a:tab pos="254000" algn="l"/>
                <a:tab pos="266700" algn="l"/>
              </a:tabLst>
              <a:defRPr>
                <a:solidFill>
                  <a:schemeClr val="tx1"/>
                </a:solidFill>
                <a:latin typeface="Arial" panose="020B0604020202020204" pitchFamily="34" charset="0"/>
                <a:ea typeface="宋体" panose="02010600030101010101" pitchFamily="2" charset="-122"/>
              </a:defRPr>
            </a:lvl2pPr>
            <a:lvl3pPr>
              <a:tabLst>
                <a:tab pos="254000" algn="l"/>
                <a:tab pos="266700" algn="l"/>
              </a:tabLst>
              <a:defRPr>
                <a:solidFill>
                  <a:schemeClr val="tx1"/>
                </a:solidFill>
                <a:latin typeface="Arial" panose="020B0604020202020204" pitchFamily="34" charset="0"/>
                <a:ea typeface="宋体" panose="02010600030101010101" pitchFamily="2" charset="-122"/>
              </a:defRPr>
            </a:lvl3pPr>
            <a:lvl4pPr>
              <a:tabLst>
                <a:tab pos="254000" algn="l"/>
                <a:tab pos="266700" algn="l"/>
              </a:tabLst>
              <a:defRPr>
                <a:solidFill>
                  <a:schemeClr val="tx1"/>
                </a:solidFill>
                <a:latin typeface="Arial" panose="020B0604020202020204" pitchFamily="34" charset="0"/>
                <a:ea typeface="宋体" panose="02010600030101010101" pitchFamily="2" charset="-122"/>
              </a:defRPr>
            </a:lvl4pPr>
            <a:lvl5pPr>
              <a:tabLst>
                <a:tab pos="254000" algn="l"/>
                <a:tab pos="266700"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254000" algn="l"/>
                <a:tab pos="266700"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254000" algn="l"/>
                <a:tab pos="266700"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254000" algn="l"/>
                <a:tab pos="266700"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254000" algn="l"/>
                <a:tab pos="266700" algn="l"/>
              </a:tabLst>
              <a:defRPr>
                <a:solidFill>
                  <a:schemeClr val="tx1"/>
                </a:solidFill>
                <a:latin typeface="Arial" panose="020B0604020202020204" pitchFamily="34" charset="0"/>
                <a:ea typeface="宋体" panose="02010600030101010101" pitchFamily="2" charset="-122"/>
              </a:defRPr>
            </a:lvl9pPr>
          </a:lstStyle>
          <a:p>
            <a:pPr>
              <a:spcBef>
                <a:spcPts val="600"/>
              </a:spcBef>
              <a:spcAft>
                <a:spcPts val="600"/>
              </a:spcAft>
            </a:pPr>
            <a:r>
              <a:rPr lang="zh-CN" altLang="en-US" sz="2800" b="1" dirty="0" smtClean="0">
                <a:latin typeface="楷体" panose="02010609060101010101" pitchFamily="49" charset="-122"/>
                <a:ea typeface="楷体" panose="02010609060101010101" pitchFamily="49" charset="-122"/>
              </a:rPr>
              <a:t>解：</a:t>
            </a:r>
            <a:endParaRPr lang="en-US" altLang="zh-CN" sz="2800" b="1" dirty="0" smtClean="0">
              <a:latin typeface="楷体" panose="02010609060101010101" pitchFamily="49" charset="-122"/>
              <a:ea typeface="楷体" panose="02010609060101010101" pitchFamily="49" charset="-122"/>
            </a:endParaRPr>
          </a:p>
          <a:p>
            <a:pPr>
              <a:spcBef>
                <a:spcPts val="600"/>
              </a:spcBef>
              <a:spcAft>
                <a:spcPts val="600"/>
              </a:spcAft>
            </a:pPr>
            <a:r>
              <a:rPr lang="zh-CN" altLang="en-US" sz="2800" dirty="0" smtClean="0">
                <a:latin typeface="楷体" panose="02010609060101010101" pitchFamily="49" charset="-122"/>
                <a:ea typeface="楷体" panose="02010609060101010101" pitchFamily="49" charset="-122"/>
              </a:rPr>
              <a:t>   </a:t>
            </a:r>
            <a:r>
              <a:rPr lang="zh-CN" altLang="en-US" sz="2400" dirty="0" smtClean="0">
                <a:latin typeface="楷体" panose="02010609060101010101" pitchFamily="49" charset="-122"/>
                <a:ea typeface="楷体" panose="02010609060101010101" pitchFamily="49" charset="-122"/>
              </a:rPr>
              <a:t>该问题中 </a:t>
            </a:r>
            <a:r>
              <a:rPr lang="en-US" altLang="zh-CN" sz="2400" dirty="0" smtClean="0">
                <a:latin typeface="楷体" panose="02010609060101010101" pitchFamily="49" charset="-122"/>
                <a:ea typeface="楷体" panose="02010609060101010101" pitchFamily="49" charset="-122"/>
              </a:rPr>
              <a:t>3 </a:t>
            </a:r>
            <a:r>
              <a:rPr lang="zh-CN" altLang="en-US" sz="2400" dirty="0" smtClean="0">
                <a:latin typeface="楷体" panose="02010609060101010101" pitchFamily="49" charset="-122"/>
                <a:ea typeface="楷体" panose="02010609060101010101" pitchFamily="49" charset="-122"/>
              </a:rPr>
              <a:t>个不同优先权的目标，用 </a:t>
            </a:r>
            <a:r>
              <a:rPr lang="en-US" altLang="zh-CN" sz="2400" dirty="0" smtClean="0">
                <a:latin typeface="楷体" panose="02010609060101010101" pitchFamily="49" charset="-122"/>
                <a:ea typeface="楷体" panose="02010609060101010101" pitchFamily="49" charset="-122"/>
              </a:rPr>
              <a:t>P</a:t>
            </a:r>
            <a:r>
              <a:rPr lang="en-US" altLang="zh-CN" sz="2400" baseline="-25000" dirty="0" smtClean="0">
                <a:latin typeface="楷体" panose="02010609060101010101" pitchFamily="49" charset="-122"/>
                <a:ea typeface="楷体" panose="02010609060101010101" pitchFamily="49" charset="-122"/>
              </a:rPr>
              <a:t>1</a:t>
            </a:r>
            <a:r>
              <a:rPr lang="zh-CN" altLang="en-US" sz="2400" dirty="0" smtClean="0">
                <a:latin typeface="楷体" panose="02010609060101010101" pitchFamily="49" charset="-122"/>
                <a:ea typeface="楷体" panose="02010609060101010101" pitchFamily="49" charset="-122"/>
              </a:rPr>
              <a:t>、</a:t>
            </a:r>
            <a:r>
              <a:rPr lang="en-US" altLang="zh-CN" sz="2400" dirty="0" smtClean="0">
                <a:latin typeface="楷体" panose="02010609060101010101" pitchFamily="49" charset="-122"/>
                <a:ea typeface="楷体" panose="02010609060101010101" pitchFamily="49" charset="-122"/>
              </a:rPr>
              <a:t>P</a:t>
            </a:r>
            <a:r>
              <a:rPr lang="en-US" altLang="zh-CN" sz="2400" baseline="-25000" dirty="0" smtClean="0">
                <a:latin typeface="楷体" panose="02010609060101010101" pitchFamily="49" charset="-122"/>
                <a:ea typeface="楷体" panose="02010609060101010101" pitchFamily="49" charset="-122"/>
              </a:rPr>
              <a:t>2</a:t>
            </a:r>
            <a:r>
              <a:rPr lang="zh-CN" altLang="en-US" sz="2400" dirty="0" smtClean="0">
                <a:latin typeface="楷体" panose="02010609060101010101" pitchFamily="49" charset="-122"/>
                <a:ea typeface="楷体" panose="02010609060101010101" pitchFamily="49" charset="-122"/>
              </a:rPr>
              <a:t>、</a:t>
            </a:r>
            <a:r>
              <a:rPr lang="en-US" altLang="zh-CN" sz="2400" dirty="0" smtClean="0">
                <a:latin typeface="楷体" panose="02010609060101010101" pitchFamily="49" charset="-122"/>
                <a:ea typeface="楷体" panose="02010609060101010101" pitchFamily="49" charset="-122"/>
              </a:rPr>
              <a:t>P</a:t>
            </a:r>
            <a:r>
              <a:rPr lang="en-US" altLang="zh-CN" sz="2400" baseline="-25000" dirty="0" smtClean="0">
                <a:latin typeface="楷体" panose="02010609060101010101" pitchFamily="49" charset="-122"/>
                <a:ea typeface="楷体" panose="02010609060101010101" pitchFamily="49" charset="-122"/>
              </a:rPr>
              <a:t>3</a:t>
            </a:r>
            <a:r>
              <a:rPr lang="en-US" altLang="zh-CN" sz="2400" dirty="0" smtClean="0">
                <a:latin typeface="楷体" panose="02010609060101010101" pitchFamily="49" charset="-122"/>
                <a:ea typeface="楷体" panose="02010609060101010101" pitchFamily="49" charset="-122"/>
              </a:rPr>
              <a:t> </a:t>
            </a:r>
            <a:r>
              <a:rPr lang="zh-CN" altLang="en-US" sz="2400" dirty="0" smtClean="0">
                <a:latin typeface="楷体" panose="02010609060101010101" pitchFamily="49" charset="-122"/>
                <a:ea typeface="楷体" panose="02010609060101010101" pitchFamily="49" charset="-122"/>
              </a:rPr>
              <a:t>表示从高至低的优先权。</a:t>
            </a:r>
            <a:endParaRPr lang="zh-CN" altLang="en-US" sz="2400" dirty="0" smtClean="0">
              <a:latin typeface="楷体" panose="02010609060101010101" pitchFamily="49" charset="-122"/>
              <a:ea typeface="楷体" panose="02010609060101010101" pitchFamily="49" charset="-122"/>
            </a:endParaRPr>
          </a:p>
          <a:p>
            <a:pPr>
              <a:spcBef>
                <a:spcPts val="600"/>
              </a:spcBef>
              <a:spcAft>
                <a:spcPts val="600"/>
              </a:spcAft>
            </a:pPr>
            <a:r>
              <a:rPr lang="zh-CN" altLang="en-US" sz="2400" dirty="0" smtClean="0">
                <a:latin typeface="楷体" panose="02010609060101010101" pitchFamily="49" charset="-122"/>
                <a:ea typeface="楷体" panose="02010609060101010101" pitchFamily="49" charset="-122"/>
              </a:rPr>
              <a:t>    </a:t>
            </a:r>
            <a:r>
              <a:rPr lang="en-US" altLang="zh-CN" sz="2400" dirty="0" smtClean="0">
                <a:latin typeface="楷体" panose="02010609060101010101" pitchFamily="49" charset="-122"/>
                <a:ea typeface="楷体" panose="02010609060101010101" pitchFamily="49" charset="-122"/>
              </a:rPr>
              <a:t>P</a:t>
            </a:r>
            <a:r>
              <a:rPr lang="en-US" altLang="zh-CN" sz="2400" baseline="-25000" dirty="0" smtClean="0">
                <a:latin typeface="楷体" panose="02010609060101010101" pitchFamily="49" charset="-122"/>
                <a:ea typeface="楷体" panose="02010609060101010101" pitchFamily="49" charset="-122"/>
              </a:rPr>
              <a:t>1</a:t>
            </a:r>
            <a:r>
              <a:rPr lang="en-US" altLang="zh-CN" sz="2400" dirty="0" smtClean="0">
                <a:latin typeface="楷体" panose="02010609060101010101" pitchFamily="49" charset="-122"/>
                <a:ea typeface="楷体" panose="02010609060101010101" pitchFamily="49" charset="-122"/>
              </a:rPr>
              <a:t> </a:t>
            </a:r>
            <a:r>
              <a:rPr lang="zh-CN" altLang="en-US" sz="2400" dirty="0" smtClean="0">
                <a:latin typeface="楷体" panose="02010609060101010101" pitchFamily="49" charset="-122"/>
                <a:ea typeface="楷体" panose="02010609060101010101" pitchFamily="49" charset="-122"/>
              </a:rPr>
              <a:t>有两个目标：每周总耗费人力资源不能低于 </a:t>
            </a:r>
            <a:r>
              <a:rPr lang="en-US" altLang="zh-CN" sz="2400" dirty="0" smtClean="0">
                <a:latin typeface="楷体" panose="02010609060101010101" pitchFamily="49" charset="-122"/>
                <a:ea typeface="楷体" panose="02010609060101010101" pitchFamily="49" charset="-122"/>
              </a:rPr>
              <a:t>600 </a:t>
            </a:r>
            <a:r>
              <a:rPr lang="zh-CN" altLang="en-US" sz="2400" dirty="0" smtClean="0">
                <a:latin typeface="楷体" panose="02010609060101010101" pitchFamily="49" charset="-122"/>
                <a:ea typeface="楷体" panose="02010609060101010101" pitchFamily="49" charset="-122"/>
              </a:rPr>
              <a:t>工时，也不能超过 </a:t>
            </a:r>
            <a:r>
              <a:rPr lang="en-US" altLang="zh-CN" sz="2400" dirty="0" smtClean="0">
                <a:latin typeface="楷体" panose="02010609060101010101" pitchFamily="49" charset="-122"/>
                <a:ea typeface="楷体" panose="02010609060101010101" pitchFamily="49" charset="-122"/>
              </a:rPr>
              <a:t>680 </a:t>
            </a:r>
            <a:r>
              <a:rPr lang="zh-CN" altLang="en-US" sz="2400" dirty="0" smtClean="0">
                <a:latin typeface="楷体" panose="02010609060101010101" pitchFamily="49" charset="-122"/>
                <a:ea typeface="楷体" panose="02010609060101010101" pitchFamily="49" charset="-122"/>
              </a:rPr>
              <a:t>工时；</a:t>
            </a:r>
            <a:endParaRPr lang="zh-CN" altLang="en-US" sz="2400" dirty="0" smtClean="0">
              <a:latin typeface="楷体" panose="02010609060101010101" pitchFamily="49" charset="-122"/>
              <a:ea typeface="楷体" panose="02010609060101010101" pitchFamily="49" charset="-122"/>
            </a:endParaRPr>
          </a:p>
          <a:p>
            <a:pPr>
              <a:spcBef>
                <a:spcPts val="600"/>
              </a:spcBef>
              <a:spcAft>
                <a:spcPts val="600"/>
              </a:spcAft>
            </a:pPr>
            <a:r>
              <a:rPr lang="zh-CN" altLang="en-US" sz="2400" dirty="0" smtClean="0">
                <a:latin typeface="楷体" panose="02010609060101010101" pitchFamily="49" charset="-122"/>
                <a:ea typeface="楷体" panose="02010609060101010101" pitchFamily="49" charset="-122"/>
              </a:rPr>
              <a:t>	  </a:t>
            </a:r>
            <a:r>
              <a:rPr lang="en-US" altLang="zh-CN" sz="2400" dirty="0" smtClean="0">
                <a:latin typeface="楷体" panose="02010609060101010101" pitchFamily="49" charset="-122"/>
                <a:ea typeface="楷体" panose="02010609060101010101" pitchFamily="49" charset="-122"/>
              </a:rPr>
              <a:t>P</a:t>
            </a:r>
            <a:r>
              <a:rPr lang="en-US" altLang="zh-CN" sz="2400" baseline="-25000" dirty="0" smtClean="0">
                <a:latin typeface="楷体" panose="02010609060101010101" pitchFamily="49" charset="-122"/>
                <a:ea typeface="楷体" panose="02010609060101010101" pitchFamily="49" charset="-122"/>
              </a:rPr>
              <a:t>2</a:t>
            </a:r>
            <a:r>
              <a:rPr lang="en-US" altLang="zh-CN" sz="2400" dirty="0" smtClean="0">
                <a:latin typeface="楷体" panose="02010609060101010101" pitchFamily="49" charset="-122"/>
                <a:ea typeface="楷体" panose="02010609060101010101" pitchFamily="49" charset="-122"/>
              </a:rPr>
              <a:t> </a:t>
            </a:r>
            <a:r>
              <a:rPr lang="zh-CN" altLang="en-US" sz="2400" dirty="0" smtClean="0">
                <a:latin typeface="楷体" panose="02010609060101010101" pitchFamily="49" charset="-122"/>
                <a:ea typeface="楷体" panose="02010609060101010101" pitchFamily="49" charset="-122"/>
              </a:rPr>
              <a:t>有一个目标：每周的利润超过 </a:t>
            </a:r>
            <a:r>
              <a:rPr lang="en-US" altLang="zh-CN" sz="2400" dirty="0" smtClean="0">
                <a:latin typeface="楷体" panose="02010609060101010101" pitchFamily="49" charset="-122"/>
                <a:ea typeface="楷体" panose="02010609060101010101" pitchFamily="49" charset="-122"/>
              </a:rPr>
              <a:t>70000 </a:t>
            </a:r>
            <a:r>
              <a:rPr lang="zh-CN" altLang="en-US" sz="2400" dirty="0" smtClean="0">
                <a:latin typeface="楷体" panose="02010609060101010101" pitchFamily="49" charset="-122"/>
                <a:ea typeface="楷体" panose="02010609060101010101" pitchFamily="49" charset="-122"/>
              </a:rPr>
              <a:t>元；</a:t>
            </a:r>
            <a:endParaRPr lang="zh-CN" altLang="en-US" sz="2400" dirty="0" smtClean="0">
              <a:latin typeface="楷体" panose="02010609060101010101" pitchFamily="49" charset="-122"/>
              <a:ea typeface="楷体" panose="02010609060101010101" pitchFamily="49" charset="-122"/>
            </a:endParaRPr>
          </a:p>
          <a:p>
            <a:pPr>
              <a:spcBef>
                <a:spcPts val="600"/>
              </a:spcBef>
              <a:spcAft>
                <a:spcPts val="600"/>
              </a:spcAft>
            </a:pPr>
            <a:r>
              <a:rPr lang="zh-CN" altLang="en-US" sz="2400" dirty="0" smtClean="0">
                <a:latin typeface="楷体" panose="02010609060101010101" pitchFamily="49" charset="-122"/>
                <a:ea typeface="楷体" panose="02010609060101010101" pitchFamily="49" charset="-122"/>
              </a:rPr>
              <a:t>    </a:t>
            </a:r>
            <a:r>
              <a:rPr lang="en-US" altLang="zh-CN" sz="2400" dirty="0" smtClean="0">
                <a:latin typeface="楷体" panose="02010609060101010101" pitchFamily="49" charset="-122"/>
                <a:ea typeface="楷体" panose="02010609060101010101" pitchFamily="49" charset="-122"/>
              </a:rPr>
              <a:t>P</a:t>
            </a:r>
            <a:r>
              <a:rPr lang="en-US" altLang="zh-CN" sz="2400" baseline="-25000" dirty="0" smtClean="0">
                <a:latin typeface="楷体" panose="02010609060101010101" pitchFamily="49" charset="-122"/>
                <a:ea typeface="楷体" panose="02010609060101010101" pitchFamily="49" charset="-122"/>
              </a:rPr>
              <a:t>3</a:t>
            </a:r>
            <a:r>
              <a:rPr lang="en-US" altLang="zh-CN" sz="2400" dirty="0" smtClean="0">
                <a:latin typeface="楷体" panose="02010609060101010101" pitchFamily="49" charset="-122"/>
                <a:ea typeface="楷体" panose="02010609060101010101" pitchFamily="49" charset="-122"/>
              </a:rPr>
              <a:t> </a:t>
            </a:r>
            <a:r>
              <a:rPr lang="zh-CN" altLang="en-US" sz="2400" dirty="0" smtClean="0">
                <a:latin typeface="楷体" panose="02010609060101010101" pitchFamily="49" charset="-122"/>
                <a:ea typeface="楷体" panose="02010609060101010101" pitchFamily="49" charset="-122"/>
              </a:rPr>
              <a:t>有两个目标：每周产品 </a:t>
            </a:r>
            <a:r>
              <a:rPr lang="en-US" altLang="zh-CN" sz="2400" dirty="0" smtClean="0">
                <a:latin typeface="楷体" panose="02010609060101010101" pitchFamily="49" charset="-122"/>
                <a:ea typeface="楷体" panose="02010609060101010101" pitchFamily="49" charset="-122"/>
              </a:rPr>
              <a:t>A </a:t>
            </a:r>
            <a:r>
              <a:rPr lang="zh-CN" altLang="en-US" sz="2400" dirty="0" smtClean="0">
                <a:latin typeface="楷体" panose="02010609060101010101" pitchFamily="49" charset="-122"/>
                <a:ea typeface="楷体" panose="02010609060101010101" pitchFamily="49" charset="-122"/>
              </a:rPr>
              <a:t>和 </a:t>
            </a:r>
            <a:r>
              <a:rPr lang="en-US" altLang="zh-CN" sz="2400" dirty="0" smtClean="0">
                <a:latin typeface="楷体" panose="02010609060101010101" pitchFamily="49" charset="-122"/>
                <a:ea typeface="楷体" panose="02010609060101010101" pitchFamily="49" charset="-122"/>
              </a:rPr>
              <a:t>B </a:t>
            </a:r>
            <a:r>
              <a:rPr lang="zh-CN" altLang="en-US" sz="2400" dirty="0" smtClean="0">
                <a:latin typeface="楷体" panose="02010609060101010101" pitchFamily="49" charset="-122"/>
                <a:ea typeface="楷体" panose="02010609060101010101" pitchFamily="49" charset="-122"/>
              </a:rPr>
              <a:t>的产量分别不低于 </a:t>
            </a:r>
            <a:r>
              <a:rPr lang="en-US" altLang="zh-CN" sz="2400" dirty="0" smtClean="0">
                <a:latin typeface="楷体" panose="02010609060101010101" pitchFamily="49" charset="-122"/>
                <a:ea typeface="楷体" panose="02010609060101010101" pitchFamily="49" charset="-122"/>
              </a:rPr>
              <a:t>200 </a:t>
            </a:r>
            <a:r>
              <a:rPr lang="zh-CN" altLang="en-US" sz="2400" dirty="0" smtClean="0">
                <a:latin typeface="楷体" panose="02010609060101010101" pitchFamily="49" charset="-122"/>
                <a:ea typeface="楷体" panose="02010609060101010101" pitchFamily="49" charset="-122"/>
              </a:rPr>
              <a:t>和</a:t>
            </a:r>
            <a:r>
              <a:rPr lang="en-US" altLang="zh-CN" sz="2400" dirty="0" smtClean="0">
                <a:latin typeface="楷体" panose="02010609060101010101" pitchFamily="49" charset="-122"/>
                <a:ea typeface="楷体" panose="02010609060101010101" pitchFamily="49" charset="-122"/>
              </a:rPr>
              <a:t>120 </a:t>
            </a:r>
            <a:r>
              <a:rPr lang="zh-CN" altLang="en-US" sz="2400" dirty="0" smtClean="0">
                <a:latin typeface="楷体" panose="02010609060101010101" pitchFamily="49" charset="-122"/>
                <a:ea typeface="楷体" panose="02010609060101010101" pitchFamily="49" charset="-122"/>
              </a:rPr>
              <a:t>件。</a:t>
            </a:r>
            <a:endParaRPr lang="zh-CN" altLang="en-US" sz="2400" dirty="0" smtClean="0">
              <a:latin typeface="楷体" panose="02010609060101010101" pitchFamily="49" charset="-122"/>
              <a:ea typeface="楷体" panose="02010609060101010101" pitchFamily="49" charset="-122"/>
            </a:endParaRPr>
          </a:p>
          <a:p>
            <a:pPr>
              <a:spcBef>
                <a:spcPts val="600"/>
              </a:spcBef>
              <a:spcAft>
                <a:spcPts val="600"/>
              </a:spcAft>
            </a:pPr>
            <a:endParaRPr lang="zh-CN" altLang="en-US" sz="2800" dirty="0">
              <a:solidFill>
                <a:srgbClr val="000000"/>
              </a:solidFill>
              <a:latin typeface="Times New Roman" panose="02020603050405020304" pitchFamily="18" charset="0"/>
              <a:ea typeface="+mn-ea"/>
            </a:endParaRPr>
          </a:p>
          <a:p>
            <a:r>
              <a:rPr lang="zh-CN" altLang="en-US" sz="2400" dirty="0">
                <a:solidFill>
                  <a:srgbClr val="000000"/>
                </a:solidFill>
                <a:latin typeface="Times New Roman" panose="02020603050405020304" pitchFamily="18" charset="0"/>
                <a:ea typeface="+mn-ea"/>
              </a:rPr>
              <a:t>       </a:t>
            </a:r>
            <a:endParaRPr lang="zh-CN" altLang="en-US" sz="2400" dirty="0">
              <a:solidFill>
                <a:srgbClr val="000000"/>
              </a:solidFill>
              <a:latin typeface="Times New Roman" panose="02020603050405020304" pitchFamily="18" charset="0"/>
              <a:ea typeface="+mn-ea"/>
            </a:endParaRPr>
          </a:p>
          <a:p>
            <a:r>
              <a:rPr lang="zh-CN" altLang="en-US" sz="2400" dirty="0">
                <a:solidFill>
                  <a:srgbClr val="000000"/>
                </a:solidFill>
                <a:latin typeface="Times New Roman" panose="02020603050405020304" pitchFamily="18" charset="0"/>
                <a:ea typeface="+mn-ea"/>
              </a:rPr>
              <a:t>       </a:t>
            </a:r>
            <a:endParaRPr lang="zh-CN" altLang="en-US" sz="2400" dirty="0">
              <a:solidFill>
                <a:srgbClr val="000000"/>
              </a:solidFill>
              <a:latin typeface="Times New Roman" panose="02020603050405020304" pitchFamily="18" charset="0"/>
              <a:ea typeface="+mn-ea"/>
            </a:endParaRPr>
          </a:p>
        </p:txBody>
      </p:sp>
      <p:sp>
        <p:nvSpPr>
          <p:cNvPr id="2" name="标题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t>复杂情况下的</a:t>
            </a:r>
            <a:r>
              <a:rPr lang="zh-CN" altLang="en-US"/>
              <a:t>有优先权的</a:t>
            </a:r>
            <a:r>
              <a:rPr lang="zh-CN" altLang="en-US" dirty="0"/>
              <a:t>目标规划</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ox(in)">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ldLvl="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22"/>
          <p:cNvSpPr txBox="1">
            <a:spLocks noChangeArrowheads="1"/>
          </p:cNvSpPr>
          <p:nvPr/>
        </p:nvSpPr>
        <p:spPr bwMode="auto">
          <a:xfrm>
            <a:off x="1524000" y="1556792"/>
            <a:ext cx="9019757" cy="2292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a:tabLst>
                <a:tab pos="254000" algn="l"/>
                <a:tab pos="266700" algn="l"/>
              </a:tabLst>
              <a:defRPr>
                <a:solidFill>
                  <a:schemeClr val="tx1"/>
                </a:solidFill>
                <a:latin typeface="Arial" panose="020B0604020202020204" pitchFamily="34" charset="0"/>
                <a:ea typeface="宋体" panose="02010600030101010101" pitchFamily="2" charset="-122"/>
              </a:defRPr>
            </a:lvl1pPr>
            <a:lvl2pPr>
              <a:tabLst>
                <a:tab pos="254000" algn="l"/>
                <a:tab pos="266700" algn="l"/>
              </a:tabLst>
              <a:defRPr>
                <a:solidFill>
                  <a:schemeClr val="tx1"/>
                </a:solidFill>
                <a:latin typeface="Arial" panose="020B0604020202020204" pitchFamily="34" charset="0"/>
                <a:ea typeface="宋体" panose="02010600030101010101" pitchFamily="2" charset="-122"/>
              </a:defRPr>
            </a:lvl2pPr>
            <a:lvl3pPr>
              <a:tabLst>
                <a:tab pos="254000" algn="l"/>
                <a:tab pos="266700" algn="l"/>
              </a:tabLst>
              <a:defRPr>
                <a:solidFill>
                  <a:schemeClr val="tx1"/>
                </a:solidFill>
                <a:latin typeface="Arial" panose="020B0604020202020204" pitchFamily="34" charset="0"/>
                <a:ea typeface="宋体" panose="02010600030101010101" pitchFamily="2" charset="-122"/>
              </a:defRPr>
            </a:lvl3pPr>
            <a:lvl4pPr>
              <a:tabLst>
                <a:tab pos="254000" algn="l"/>
                <a:tab pos="266700" algn="l"/>
              </a:tabLst>
              <a:defRPr>
                <a:solidFill>
                  <a:schemeClr val="tx1"/>
                </a:solidFill>
                <a:latin typeface="Arial" panose="020B0604020202020204" pitchFamily="34" charset="0"/>
                <a:ea typeface="宋体" panose="02010600030101010101" pitchFamily="2" charset="-122"/>
              </a:defRPr>
            </a:lvl4pPr>
            <a:lvl5pPr>
              <a:tabLst>
                <a:tab pos="254000" algn="l"/>
                <a:tab pos="266700"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254000" algn="l"/>
                <a:tab pos="266700"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254000" algn="l"/>
                <a:tab pos="266700"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254000" algn="l"/>
                <a:tab pos="266700"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254000" algn="l"/>
                <a:tab pos="266700" algn="l"/>
              </a:tabLst>
              <a:defRPr>
                <a:solidFill>
                  <a:schemeClr val="tx1"/>
                </a:solidFill>
                <a:latin typeface="Arial" panose="020B0604020202020204" pitchFamily="34" charset="0"/>
                <a:ea typeface="宋体" panose="02010600030101010101" pitchFamily="2" charset="-122"/>
              </a:defRPr>
            </a:lvl9pPr>
          </a:lstStyle>
          <a:p>
            <a:pPr>
              <a:spcBef>
                <a:spcPts val="600"/>
              </a:spcBef>
              <a:spcAft>
                <a:spcPts val="600"/>
              </a:spcAft>
            </a:pPr>
            <a:r>
              <a:rPr lang="zh-CN" altLang="en-US" sz="2800" dirty="0" smtClean="0">
                <a:latin typeface="楷体" panose="02010609060101010101" pitchFamily="49" charset="-122"/>
                <a:ea typeface="楷体" panose="02010609060101010101" pitchFamily="49" charset="-122"/>
              </a:rPr>
              <a:t>   </a:t>
            </a:r>
            <a:r>
              <a:rPr lang="zh-CN" altLang="en-US" sz="2400" dirty="0" smtClean="0">
                <a:latin typeface="楷体" panose="02010609060101010101" pitchFamily="49" charset="-122"/>
                <a:ea typeface="楷体" panose="02010609060101010101" pitchFamily="49" charset="-122"/>
              </a:rPr>
              <a:t>采用简化模式，得目标线性规划如下：</a:t>
            </a:r>
            <a:endParaRPr lang="en-US" altLang="zh-CN" sz="2400" dirty="0" smtClean="0">
              <a:latin typeface="楷体" panose="02010609060101010101" pitchFamily="49" charset="-122"/>
              <a:ea typeface="楷体" panose="02010609060101010101" pitchFamily="49" charset="-122"/>
            </a:endParaRPr>
          </a:p>
          <a:p>
            <a:pPr>
              <a:spcBef>
                <a:spcPts val="600"/>
              </a:spcBef>
              <a:spcAft>
                <a:spcPts val="600"/>
              </a:spcAft>
            </a:pPr>
            <a:endParaRPr lang="en-US" altLang="zh-CN" sz="2400" dirty="0" smtClean="0">
              <a:latin typeface="楷体" panose="02010609060101010101" pitchFamily="49" charset="-122"/>
              <a:ea typeface="楷体" panose="02010609060101010101" pitchFamily="49" charset="-122"/>
            </a:endParaRPr>
          </a:p>
          <a:p>
            <a:pPr>
              <a:spcBef>
                <a:spcPts val="600"/>
              </a:spcBef>
              <a:spcAft>
                <a:spcPts val="600"/>
              </a:spcAft>
            </a:pPr>
            <a:r>
              <a:rPr lang="en-US" altLang="zh-CN" sz="2400" dirty="0" smtClean="0">
                <a:latin typeface="楷体" panose="02010609060101010101" pitchFamily="49" charset="-122"/>
                <a:ea typeface="楷体" panose="02010609060101010101" pitchFamily="49" charset="-122"/>
              </a:rPr>
              <a:t>          </a:t>
            </a:r>
            <a:endParaRPr lang="zh-CN" altLang="en-US" sz="2400" dirty="0">
              <a:latin typeface="楷体" panose="02010609060101010101" pitchFamily="49" charset="-122"/>
              <a:ea typeface="楷体" panose="02010609060101010101" pitchFamily="49" charset="-122"/>
            </a:endParaRPr>
          </a:p>
          <a:p>
            <a:r>
              <a:rPr lang="zh-CN" altLang="en-US" sz="2400" dirty="0">
                <a:solidFill>
                  <a:srgbClr val="000000"/>
                </a:solidFill>
                <a:latin typeface="Times New Roman" panose="02020603050405020304" pitchFamily="18" charset="0"/>
                <a:ea typeface="+mn-ea"/>
              </a:rPr>
              <a:t>       </a:t>
            </a:r>
            <a:endParaRPr lang="zh-CN" altLang="en-US" sz="2400" dirty="0">
              <a:solidFill>
                <a:srgbClr val="000000"/>
              </a:solidFill>
              <a:latin typeface="Times New Roman" panose="02020603050405020304" pitchFamily="18" charset="0"/>
              <a:ea typeface="+mn-ea"/>
            </a:endParaRPr>
          </a:p>
          <a:p>
            <a:r>
              <a:rPr lang="zh-CN" altLang="en-US" sz="2400" dirty="0">
                <a:solidFill>
                  <a:srgbClr val="000000"/>
                </a:solidFill>
                <a:latin typeface="Times New Roman" panose="02020603050405020304" pitchFamily="18" charset="0"/>
                <a:ea typeface="+mn-ea"/>
              </a:rPr>
              <a:t>       </a:t>
            </a:r>
            <a:endParaRPr lang="zh-CN" altLang="en-US" sz="2400" dirty="0">
              <a:solidFill>
                <a:srgbClr val="000000"/>
              </a:solidFill>
              <a:latin typeface="Times New Roman" panose="02020603050405020304" pitchFamily="18" charset="0"/>
              <a:ea typeface="+mn-ea"/>
            </a:endParaRPr>
          </a:p>
        </p:txBody>
      </p:sp>
      <p:sp>
        <p:nvSpPr>
          <p:cNvPr id="18" name="矩形 17"/>
          <p:cNvSpPr/>
          <p:nvPr/>
        </p:nvSpPr>
        <p:spPr>
          <a:xfrm>
            <a:off x="3205963" y="5968368"/>
            <a:ext cx="5869940" cy="398780"/>
          </a:xfrm>
          <a:prstGeom prst="rect">
            <a:avLst/>
          </a:prstGeom>
        </p:spPr>
        <p:txBody>
          <a:bodyPr wrap="none">
            <a:spAutoFit/>
          </a:bodyPr>
          <a:lstStyle/>
          <a:p>
            <a:r>
              <a:rPr lang="en-US" altLang="zh-CN" sz="2000" i="1" dirty="0"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sz="2000" baseline="-25000" dirty="0" smtClean="0">
                <a:latin typeface="Times New Roman" panose="02020603050405020304" pitchFamily="18" charset="0"/>
                <a:ea typeface="楷体" panose="02010609060101010101" pitchFamily="49" charset="-122"/>
                <a:cs typeface="Times New Roman" panose="02020603050405020304" pitchFamily="18" charset="0"/>
              </a:rPr>
              <a:t>1</a:t>
            </a:r>
            <a:r>
              <a:rPr lang="zh-CN" altLang="en-US" sz="2000" baseline="-25000"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i="1" dirty="0"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sz="2000" baseline="-25000" dirty="0" smtClean="0">
                <a:latin typeface="Times New Roman" panose="02020603050405020304" pitchFamily="18" charset="0"/>
                <a:ea typeface="楷体" panose="02010609060101010101" pitchFamily="49" charset="-122"/>
                <a:cs typeface="Times New Roman" panose="02020603050405020304" pitchFamily="18" charset="0"/>
              </a:rPr>
              <a:t>2</a:t>
            </a:r>
            <a:r>
              <a:rPr lang="zh-CN" altLang="en-US" sz="2000" baseline="-25000"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 d</a:t>
            </a:r>
            <a:r>
              <a:rPr lang="en-US" altLang="zh-CN" sz="2000" baseline="-25000" dirty="0" smtClean="0">
                <a:latin typeface="Times New Roman" panose="02020603050405020304" pitchFamily="18" charset="0"/>
                <a:ea typeface="楷体" panose="02010609060101010101" pitchFamily="49" charset="-122"/>
                <a:cs typeface="Times New Roman" panose="02020603050405020304" pitchFamily="18" charset="0"/>
              </a:rPr>
              <a:t>1</a:t>
            </a:r>
            <a:r>
              <a:rPr lang="en-US" altLang="zh-CN" sz="2000" baseline="30000"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baseline="30000"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d</a:t>
            </a:r>
            <a:r>
              <a:rPr lang="en-US" altLang="zh-CN" sz="2000" baseline="-25000" dirty="0" smtClean="0">
                <a:latin typeface="Times New Roman" panose="02020603050405020304" pitchFamily="18" charset="0"/>
                <a:ea typeface="楷体" panose="02010609060101010101" pitchFamily="49" charset="-122"/>
                <a:cs typeface="Times New Roman" panose="02020603050405020304" pitchFamily="18" charset="0"/>
              </a:rPr>
              <a:t>1</a:t>
            </a:r>
            <a:r>
              <a:rPr lang="en-US" altLang="zh-CN" sz="2000" baseline="30000"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,d</a:t>
            </a:r>
            <a:r>
              <a:rPr lang="en-US" altLang="zh-CN" sz="2000" baseline="-25000" dirty="0" smtClean="0">
                <a:latin typeface="Times New Roman" panose="02020603050405020304" pitchFamily="18" charset="0"/>
                <a:ea typeface="楷体" panose="02010609060101010101" pitchFamily="49" charset="-122"/>
                <a:cs typeface="Times New Roman" panose="02020603050405020304" pitchFamily="18" charset="0"/>
              </a:rPr>
              <a:t>2</a:t>
            </a:r>
            <a:r>
              <a:rPr lang="en-US" altLang="zh-CN" sz="2000" baseline="30000"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 ,d</a:t>
            </a:r>
            <a:r>
              <a:rPr lang="en-US" altLang="zh-CN" sz="2000" baseline="-25000" dirty="0" smtClean="0">
                <a:latin typeface="Times New Roman" panose="02020603050405020304" pitchFamily="18" charset="0"/>
                <a:ea typeface="楷体" panose="02010609060101010101" pitchFamily="49" charset="-122"/>
                <a:cs typeface="Times New Roman" panose="02020603050405020304" pitchFamily="18" charset="0"/>
              </a:rPr>
              <a:t>2</a:t>
            </a:r>
            <a:r>
              <a:rPr lang="en-US" altLang="zh-CN" sz="2000" baseline="30000"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 ,d</a:t>
            </a:r>
            <a:r>
              <a:rPr lang="en-US" altLang="zh-CN" sz="2000" baseline="-25000" dirty="0" smtClean="0">
                <a:latin typeface="Times New Roman" panose="02020603050405020304" pitchFamily="18" charset="0"/>
                <a:ea typeface="楷体" panose="02010609060101010101" pitchFamily="49" charset="-122"/>
                <a:cs typeface="Times New Roman" panose="02020603050405020304" pitchFamily="18" charset="0"/>
              </a:rPr>
              <a:t>3</a:t>
            </a:r>
            <a:r>
              <a:rPr lang="en-US" altLang="zh-CN" sz="2000" baseline="30000"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 ,d</a:t>
            </a:r>
            <a:r>
              <a:rPr lang="en-US" altLang="zh-CN" sz="2000" baseline="-25000" dirty="0" smtClean="0">
                <a:latin typeface="Times New Roman" panose="02020603050405020304" pitchFamily="18" charset="0"/>
                <a:ea typeface="楷体" panose="02010609060101010101" pitchFamily="49" charset="-122"/>
                <a:cs typeface="Times New Roman" panose="02020603050405020304" pitchFamily="18" charset="0"/>
              </a:rPr>
              <a:t>3</a:t>
            </a:r>
            <a:r>
              <a:rPr lang="en-US" altLang="zh-CN" sz="2000" baseline="30000"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 ,d</a:t>
            </a:r>
            <a:r>
              <a:rPr lang="en-US" altLang="zh-CN" sz="2000" baseline="-25000" dirty="0" smtClean="0">
                <a:latin typeface="Times New Roman" panose="02020603050405020304" pitchFamily="18" charset="0"/>
                <a:ea typeface="楷体" panose="02010609060101010101" pitchFamily="49" charset="-122"/>
                <a:cs typeface="Times New Roman" panose="02020603050405020304" pitchFamily="18" charset="0"/>
              </a:rPr>
              <a:t>4</a:t>
            </a:r>
            <a:r>
              <a:rPr lang="en-US" altLang="zh-CN" sz="2000" baseline="30000"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 ,d</a:t>
            </a:r>
            <a:r>
              <a:rPr lang="en-US" altLang="zh-CN" sz="2000" baseline="-25000" dirty="0" smtClean="0">
                <a:latin typeface="Times New Roman" panose="02020603050405020304" pitchFamily="18" charset="0"/>
                <a:ea typeface="楷体" panose="02010609060101010101" pitchFamily="49" charset="-122"/>
                <a:cs typeface="Times New Roman" panose="02020603050405020304" pitchFamily="18" charset="0"/>
              </a:rPr>
              <a:t>4</a:t>
            </a:r>
            <a:r>
              <a:rPr lang="en-US" altLang="zh-CN" sz="2000" baseline="30000"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,d</a:t>
            </a:r>
            <a:r>
              <a:rPr lang="en-US" altLang="zh-CN" sz="2000" baseline="-25000" dirty="0" smtClean="0">
                <a:latin typeface="Times New Roman" panose="02020603050405020304" pitchFamily="18" charset="0"/>
                <a:ea typeface="楷体" panose="02010609060101010101" pitchFamily="49" charset="-122"/>
                <a:cs typeface="Times New Roman" panose="02020603050405020304" pitchFamily="18" charset="0"/>
              </a:rPr>
              <a:t>5</a:t>
            </a:r>
            <a:r>
              <a:rPr lang="en-US" altLang="zh-CN" sz="2000" baseline="30000"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,d</a:t>
            </a:r>
            <a:r>
              <a:rPr lang="en-US" altLang="zh-CN" sz="2000" baseline="-25000" dirty="0" smtClean="0">
                <a:latin typeface="Times New Roman" panose="02020603050405020304" pitchFamily="18" charset="0"/>
                <a:ea typeface="楷体" panose="02010609060101010101" pitchFamily="49" charset="-122"/>
                <a:cs typeface="Times New Roman" panose="02020603050405020304" pitchFamily="18" charset="0"/>
              </a:rPr>
              <a:t>5</a:t>
            </a:r>
            <a:r>
              <a:rPr lang="en-US" altLang="zh-CN" sz="2000" baseline="30000"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dirty="0" smtClean="0">
                <a:solidFill>
                  <a:srgbClr val="000000"/>
                </a:solidFill>
                <a:latin typeface="Times New Roman" panose="02020603050405020304" pitchFamily="18" charset="0"/>
                <a:cs typeface="Times New Roman" panose="02020603050405020304" pitchFamily="18" charset="0"/>
              </a:rPr>
              <a:t>≥0</a:t>
            </a:r>
            <a:r>
              <a:rPr lang="en-US" altLang="zh-CN" sz="2000" baseline="30000" dirty="0" smtClean="0">
                <a:latin typeface="Times New Roman" panose="02020603050405020304" pitchFamily="18" charset="0"/>
                <a:ea typeface="楷体" panose="02010609060101010101" pitchFamily="49" charset="-122"/>
                <a:cs typeface="Times New Roman" panose="02020603050405020304" pitchFamily="18" charset="0"/>
              </a:rPr>
              <a:t>              </a:t>
            </a:r>
            <a:endParaRPr lang="zh-CN" altLang="en-US" sz="2000" dirty="0">
              <a:latin typeface="Times New Roman" panose="02020603050405020304" pitchFamily="18" charset="0"/>
              <a:cs typeface="Times New Roman" panose="02020603050405020304" pitchFamily="18" charset="0"/>
            </a:endParaRPr>
          </a:p>
        </p:txBody>
      </p:sp>
      <p:sp>
        <p:nvSpPr>
          <p:cNvPr id="8" name="TextBox 7"/>
          <p:cNvSpPr txBox="1"/>
          <p:nvPr/>
        </p:nvSpPr>
        <p:spPr>
          <a:xfrm>
            <a:off x="1991544" y="2132856"/>
            <a:ext cx="7992888" cy="460375"/>
          </a:xfrm>
          <a:prstGeom prst="rect">
            <a:avLst/>
          </a:prstGeom>
          <a:noFill/>
        </p:spPr>
        <p:txBody>
          <a:bodyPr wrap="square" rtlCol="0">
            <a:spAutoFit/>
          </a:bodyPr>
          <a:lstStyle/>
          <a:p>
            <a:pPr>
              <a:tabLst>
                <a:tab pos="254000" algn="l"/>
                <a:tab pos="266700" algn="l"/>
              </a:tabLst>
            </a:pP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        min    P</a:t>
            </a:r>
            <a:r>
              <a:rPr lang="en-US" altLang="zh-CN" sz="2400" baseline="-25000" dirty="0" smtClean="0">
                <a:latin typeface="Times New Roman" panose="02020603050405020304" pitchFamily="18" charset="0"/>
                <a:ea typeface="楷体" panose="02010609060101010101" pitchFamily="49" charset="-122"/>
                <a:cs typeface="Times New Roman" panose="02020603050405020304" pitchFamily="18" charset="0"/>
              </a:rPr>
              <a:t>1</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(d</a:t>
            </a:r>
            <a:r>
              <a:rPr lang="en-US" altLang="zh-CN" sz="2400" baseline="-25000" dirty="0" smtClean="0">
                <a:latin typeface="Times New Roman" panose="02020603050405020304" pitchFamily="18" charset="0"/>
                <a:ea typeface="楷体" panose="02010609060101010101" pitchFamily="49" charset="-122"/>
                <a:cs typeface="Times New Roman" panose="02020603050405020304" pitchFamily="18" charset="0"/>
              </a:rPr>
              <a:t>1</a:t>
            </a:r>
            <a:r>
              <a:rPr lang="en-US" altLang="zh-CN" sz="2400" baseline="30000"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 P</a:t>
            </a:r>
            <a:r>
              <a:rPr lang="en-US" altLang="zh-CN" sz="2400" baseline="-25000" dirty="0" smtClean="0">
                <a:latin typeface="Times New Roman" panose="02020603050405020304" pitchFamily="18" charset="0"/>
                <a:ea typeface="楷体" panose="02010609060101010101" pitchFamily="49" charset="-122"/>
                <a:cs typeface="Times New Roman" panose="02020603050405020304" pitchFamily="18" charset="0"/>
              </a:rPr>
              <a:t>1</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(d</a:t>
            </a:r>
            <a:r>
              <a:rPr lang="en-US" altLang="zh-CN" sz="2400" baseline="-25000" dirty="0" smtClean="0">
                <a:latin typeface="Times New Roman" panose="02020603050405020304" pitchFamily="18" charset="0"/>
                <a:ea typeface="楷体" panose="02010609060101010101" pitchFamily="49" charset="-122"/>
                <a:cs typeface="Times New Roman" panose="02020603050405020304" pitchFamily="18" charset="0"/>
              </a:rPr>
              <a:t>2</a:t>
            </a:r>
            <a:r>
              <a:rPr lang="en-US" altLang="zh-CN" sz="2400" baseline="30000"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 P</a:t>
            </a:r>
            <a:r>
              <a:rPr lang="en-US" altLang="zh-CN" sz="2400" baseline="-25000" dirty="0" smtClean="0">
                <a:latin typeface="Times New Roman" panose="02020603050405020304" pitchFamily="18" charset="0"/>
                <a:ea typeface="楷体" panose="02010609060101010101" pitchFamily="49" charset="-122"/>
                <a:cs typeface="Times New Roman" panose="02020603050405020304" pitchFamily="18" charset="0"/>
              </a:rPr>
              <a:t>2</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(d</a:t>
            </a:r>
            <a:r>
              <a:rPr lang="en-US" altLang="zh-CN" sz="2400" baseline="-25000" dirty="0" smtClean="0">
                <a:latin typeface="Times New Roman" panose="02020603050405020304" pitchFamily="18" charset="0"/>
                <a:ea typeface="楷体" panose="02010609060101010101" pitchFamily="49" charset="-122"/>
                <a:cs typeface="Times New Roman" panose="02020603050405020304" pitchFamily="18" charset="0"/>
              </a:rPr>
              <a:t>3</a:t>
            </a:r>
            <a:r>
              <a:rPr lang="en-US" altLang="zh-CN" sz="2400" baseline="30000"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 P</a:t>
            </a:r>
            <a:r>
              <a:rPr lang="en-US" altLang="zh-CN" sz="2400" baseline="-25000" dirty="0" smtClean="0">
                <a:latin typeface="Times New Roman" panose="02020603050405020304" pitchFamily="18" charset="0"/>
                <a:ea typeface="楷体" panose="02010609060101010101" pitchFamily="49" charset="-122"/>
                <a:cs typeface="Times New Roman" panose="02020603050405020304" pitchFamily="18" charset="0"/>
              </a:rPr>
              <a:t>3</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(d</a:t>
            </a:r>
            <a:r>
              <a:rPr lang="en-US" altLang="zh-CN" sz="2400" baseline="-25000" dirty="0" smtClean="0">
                <a:latin typeface="Times New Roman" panose="02020603050405020304" pitchFamily="18" charset="0"/>
                <a:ea typeface="楷体" panose="02010609060101010101" pitchFamily="49" charset="-122"/>
                <a:cs typeface="Times New Roman" panose="02020603050405020304" pitchFamily="18" charset="0"/>
              </a:rPr>
              <a:t>4</a:t>
            </a:r>
            <a:r>
              <a:rPr lang="en-US" altLang="zh-CN" sz="2400" baseline="30000"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 P</a:t>
            </a:r>
            <a:r>
              <a:rPr lang="en-US" altLang="zh-CN" sz="2400" baseline="-25000" dirty="0" smtClean="0">
                <a:latin typeface="Times New Roman" panose="02020603050405020304" pitchFamily="18" charset="0"/>
                <a:ea typeface="楷体" panose="02010609060101010101" pitchFamily="49" charset="-122"/>
                <a:cs typeface="Times New Roman" panose="02020603050405020304" pitchFamily="18" charset="0"/>
              </a:rPr>
              <a:t>3</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(2d</a:t>
            </a:r>
            <a:r>
              <a:rPr lang="en-US" altLang="zh-CN" sz="2400" baseline="-25000" dirty="0" smtClean="0">
                <a:latin typeface="Times New Roman" panose="02020603050405020304" pitchFamily="18" charset="0"/>
                <a:ea typeface="楷体" panose="02010609060101010101" pitchFamily="49" charset="-122"/>
                <a:cs typeface="Times New Roman" panose="02020603050405020304" pitchFamily="18" charset="0"/>
              </a:rPr>
              <a:t>5</a:t>
            </a:r>
            <a:r>
              <a:rPr lang="en-US" altLang="zh-CN" sz="2400" baseline="30000"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400" dirty="0" smtClean="0">
              <a:latin typeface="Times New Roman" panose="02020603050405020304" pitchFamily="18" charset="0"/>
              <a:ea typeface="隶书" panose="02010509060101010101" pitchFamily="49" charset="-122"/>
              <a:cs typeface="Times New Roman" panose="02020603050405020304" pitchFamily="18" charset="0"/>
            </a:endParaRPr>
          </a:p>
        </p:txBody>
      </p:sp>
      <p:sp>
        <p:nvSpPr>
          <p:cNvPr id="9" name="TextBox 8"/>
          <p:cNvSpPr txBox="1"/>
          <p:nvPr/>
        </p:nvSpPr>
        <p:spPr>
          <a:xfrm>
            <a:off x="1736737" y="2481136"/>
            <a:ext cx="8064896" cy="1553210"/>
          </a:xfrm>
          <a:prstGeom prst="rect">
            <a:avLst/>
          </a:prstGeom>
          <a:noFill/>
        </p:spPr>
        <p:txBody>
          <a:bodyPr wrap="square" rtlCol="0">
            <a:spAutoFit/>
          </a:bodyPr>
          <a:lstStyle/>
          <a:p>
            <a:pPr>
              <a:spcBef>
                <a:spcPts val="600"/>
              </a:spcBef>
              <a:spcAft>
                <a:spcPts val="600"/>
              </a:spcAft>
            </a:pPr>
            <a:r>
              <a:rPr lang="en-US" altLang="zh-CN" sz="2800" dirty="0" err="1" smtClean="0">
                <a:latin typeface="Times New Roman" panose="02020603050405020304" pitchFamily="18" charset="0"/>
                <a:ea typeface="楷体" panose="02010609060101010101" pitchFamily="49" charset="-122"/>
                <a:cs typeface="Times New Roman" panose="02020603050405020304" pitchFamily="18" charset="0"/>
              </a:rPr>
              <a:t>s.t</a:t>
            </a:r>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endParaRPr>
          </a:p>
          <a:p>
            <a:pPr>
              <a:spcBef>
                <a:spcPts val="600"/>
              </a:spcBef>
              <a:spcAft>
                <a:spcPts val="600"/>
              </a:spcAft>
            </a:pPr>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2</a:t>
            </a:r>
            <a:r>
              <a:rPr lang="en-US" altLang="zh-CN" sz="2000" i="1" dirty="0"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sz="2000" baseline="-25000" dirty="0" smtClean="0">
                <a:latin typeface="Times New Roman" panose="02020603050405020304" pitchFamily="18" charset="0"/>
                <a:ea typeface="楷体" panose="02010609060101010101" pitchFamily="49" charset="-122"/>
                <a:cs typeface="Times New Roman" panose="02020603050405020304" pitchFamily="18" charset="0"/>
              </a:rPr>
              <a:t>1</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+3</a:t>
            </a:r>
            <a:r>
              <a:rPr lang="en-US" altLang="zh-CN" sz="2000" i="1" dirty="0"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sz="2000" baseline="-25000" dirty="0" smtClean="0">
                <a:latin typeface="Times New Roman" panose="02020603050405020304" pitchFamily="18" charset="0"/>
                <a:ea typeface="楷体" panose="02010609060101010101" pitchFamily="49" charset="-122"/>
                <a:cs typeface="Times New Roman" panose="02020603050405020304" pitchFamily="18" charset="0"/>
              </a:rPr>
              <a:t>2</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-d</a:t>
            </a:r>
            <a:r>
              <a:rPr lang="en-US" altLang="zh-CN" sz="2000" baseline="-25000" dirty="0" smtClean="0">
                <a:latin typeface="Times New Roman" panose="02020603050405020304" pitchFamily="18" charset="0"/>
                <a:ea typeface="楷体" panose="02010609060101010101" pitchFamily="49" charset="-122"/>
                <a:cs typeface="Times New Roman" panose="02020603050405020304" pitchFamily="18" charset="0"/>
              </a:rPr>
              <a:t>1</a:t>
            </a:r>
            <a:r>
              <a:rPr lang="en-US" altLang="zh-CN" sz="2000" baseline="30000"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smtClean="0">
                <a:solidFill>
                  <a:srgbClr val="000000"/>
                </a:solidFill>
                <a:latin typeface="Times New Roman" panose="02020603050405020304" pitchFamily="18" charset="0"/>
                <a:cs typeface="Times New Roman" panose="02020603050405020304" pitchFamily="18" charset="0"/>
              </a:rPr>
              <a:t>+</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d</a:t>
            </a:r>
            <a:r>
              <a:rPr lang="en-US" altLang="zh-CN" sz="2000" baseline="-25000" dirty="0" smtClean="0">
                <a:latin typeface="Times New Roman" panose="02020603050405020304" pitchFamily="18" charset="0"/>
                <a:ea typeface="楷体" panose="02010609060101010101" pitchFamily="49" charset="-122"/>
                <a:cs typeface="Times New Roman" panose="02020603050405020304" pitchFamily="18" charset="0"/>
              </a:rPr>
              <a:t>1</a:t>
            </a:r>
            <a:r>
              <a:rPr lang="en-US" altLang="zh-CN" sz="2000" baseline="30000"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=680,</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对应</a:t>
            </a: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第</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1</a:t>
            </a: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个目标，</a:t>
            </a:r>
            <a:endPar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endParaRPr>
          </a:p>
          <a:p>
            <a:pPr>
              <a:tabLst>
                <a:tab pos="254000" algn="l"/>
                <a:tab pos="266700" algn="l"/>
              </a:tabLst>
            </a:pPr>
            <a:endParaRPr lang="zh-CN" altLang="en-US" sz="2400" dirty="0" smtClean="0">
              <a:latin typeface="Times New Roman" panose="02020603050405020304" pitchFamily="18" charset="0"/>
              <a:ea typeface="隶书" panose="02010509060101010101" pitchFamily="49" charset="-122"/>
              <a:cs typeface="Times New Roman" panose="02020603050405020304" pitchFamily="18" charset="0"/>
            </a:endParaRPr>
          </a:p>
        </p:txBody>
      </p:sp>
      <p:sp>
        <p:nvSpPr>
          <p:cNvPr id="11" name="TextBox 10"/>
          <p:cNvSpPr txBox="1"/>
          <p:nvPr/>
        </p:nvSpPr>
        <p:spPr>
          <a:xfrm>
            <a:off x="3071664" y="3717032"/>
            <a:ext cx="8640960" cy="829945"/>
          </a:xfrm>
          <a:prstGeom prst="rect">
            <a:avLst/>
          </a:prstGeom>
          <a:noFill/>
        </p:spPr>
        <p:txBody>
          <a:bodyPr wrap="square" rtlCol="0">
            <a:spAutoFit/>
          </a:bodyPr>
          <a:lstStyle/>
          <a:p>
            <a:pPr>
              <a:tabLst>
                <a:tab pos="254000" algn="l"/>
                <a:tab pos="266700" algn="l"/>
              </a:tabLst>
            </a:pP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2</a:t>
            </a:r>
            <a:r>
              <a:rPr lang="en-US" altLang="zh-CN" sz="2000" i="1" dirty="0"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sz="2000" baseline="-25000" dirty="0" smtClean="0">
                <a:latin typeface="Times New Roman" panose="02020603050405020304" pitchFamily="18" charset="0"/>
                <a:ea typeface="楷体" panose="02010609060101010101" pitchFamily="49" charset="-122"/>
                <a:cs typeface="Times New Roman" panose="02020603050405020304" pitchFamily="18" charset="0"/>
              </a:rPr>
              <a:t>1</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+3</a:t>
            </a:r>
            <a:r>
              <a:rPr lang="en-US" altLang="zh-CN" sz="2000" i="1" dirty="0"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sz="2000" baseline="-25000" dirty="0" smtClean="0">
                <a:latin typeface="Times New Roman" panose="02020603050405020304" pitchFamily="18" charset="0"/>
                <a:ea typeface="楷体" panose="02010609060101010101" pitchFamily="49" charset="-122"/>
                <a:cs typeface="Times New Roman" panose="02020603050405020304" pitchFamily="18" charset="0"/>
              </a:rPr>
              <a:t>2</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-d</a:t>
            </a:r>
            <a:r>
              <a:rPr lang="en-US" altLang="zh-CN" sz="2000" baseline="-25000" dirty="0" smtClean="0">
                <a:latin typeface="Times New Roman" panose="02020603050405020304" pitchFamily="18" charset="0"/>
                <a:ea typeface="楷体" panose="02010609060101010101" pitchFamily="49" charset="-122"/>
                <a:cs typeface="Times New Roman" panose="02020603050405020304" pitchFamily="18" charset="0"/>
              </a:rPr>
              <a:t>2</a:t>
            </a:r>
            <a:r>
              <a:rPr lang="en-US" altLang="zh-CN" sz="2000" baseline="30000"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smtClean="0">
                <a:solidFill>
                  <a:srgbClr val="000000"/>
                </a:solidFill>
                <a:latin typeface="Times New Roman" panose="02020603050405020304" pitchFamily="18" charset="0"/>
                <a:cs typeface="Times New Roman" panose="02020603050405020304" pitchFamily="18" charset="0"/>
              </a:rPr>
              <a:t>+</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 d</a:t>
            </a:r>
            <a:r>
              <a:rPr lang="en-US" altLang="zh-CN" sz="2000" baseline="-25000" dirty="0" smtClean="0">
                <a:latin typeface="Times New Roman" panose="02020603050405020304" pitchFamily="18" charset="0"/>
                <a:ea typeface="楷体" panose="02010609060101010101" pitchFamily="49" charset="-122"/>
                <a:cs typeface="Times New Roman" panose="02020603050405020304" pitchFamily="18" charset="0"/>
              </a:rPr>
              <a:t>2</a:t>
            </a:r>
            <a:r>
              <a:rPr lang="en-US" altLang="zh-CN" sz="2000" baseline="30000"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=600,                  </a:t>
            </a: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对应第</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2</a:t>
            </a: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个目标，</a:t>
            </a:r>
            <a:endPar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endParaRPr>
          </a:p>
          <a:p>
            <a:pPr>
              <a:tabLst>
                <a:tab pos="254000" algn="l"/>
                <a:tab pos="266700" algn="l"/>
              </a:tabLst>
            </a:pPr>
            <a:endParaRPr lang="zh-CN" altLang="en-US" sz="2400" dirty="0" smtClean="0">
              <a:latin typeface="Times New Roman" panose="02020603050405020304" pitchFamily="18" charset="0"/>
              <a:ea typeface="隶书" panose="02010509060101010101" pitchFamily="49" charset="-122"/>
              <a:cs typeface="Times New Roman" panose="02020603050405020304" pitchFamily="18" charset="0"/>
            </a:endParaRPr>
          </a:p>
        </p:txBody>
      </p:sp>
      <p:sp>
        <p:nvSpPr>
          <p:cNvPr id="12" name="TextBox 11"/>
          <p:cNvSpPr txBox="1"/>
          <p:nvPr/>
        </p:nvSpPr>
        <p:spPr>
          <a:xfrm>
            <a:off x="3035152" y="4221088"/>
            <a:ext cx="7632848" cy="829945"/>
          </a:xfrm>
          <a:prstGeom prst="rect">
            <a:avLst/>
          </a:prstGeom>
          <a:noFill/>
        </p:spPr>
        <p:txBody>
          <a:bodyPr wrap="square" rtlCol="0">
            <a:spAutoFit/>
          </a:bodyPr>
          <a:lstStyle/>
          <a:p>
            <a:pPr>
              <a:tabLst>
                <a:tab pos="254000" algn="l"/>
                <a:tab pos="266700" algn="l"/>
              </a:tabLst>
            </a:pP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250</a:t>
            </a:r>
            <a:r>
              <a:rPr lang="en-US" altLang="zh-CN" sz="2000" i="1" dirty="0"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sz="2000" baseline="-25000" dirty="0" smtClean="0">
                <a:latin typeface="Times New Roman" panose="02020603050405020304" pitchFamily="18" charset="0"/>
                <a:ea typeface="楷体" panose="02010609060101010101" pitchFamily="49" charset="-122"/>
                <a:cs typeface="Times New Roman" panose="02020603050405020304" pitchFamily="18" charset="0"/>
              </a:rPr>
              <a:t>1</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+125</a:t>
            </a:r>
            <a:r>
              <a:rPr lang="en-US" altLang="zh-CN" sz="2000" i="1" dirty="0"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sz="2000" baseline="-25000" dirty="0" smtClean="0">
                <a:latin typeface="Times New Roman" panose="02020603050405020304" pitchFamily="18" charset="0"/>
                <a:ea typeface="楷体" panose="02010609060101010101" pitchFamily="49" charset="-122"/>
                <a:cs typeface="Times New Roman" panose="02020603050405020304" pitchFamily="18" charset="0"/>
              </a:rPr>
              <a:t>2</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-d</a:t>
            </a:r>
            <a:r>
              <a:rPr lang="en-US" altLang="zh-CN" sz="2000" baseline="-25000" dirty="0" smtClean="0">
                <a:latin typeface="Times New Roman" panose="02020603050405020304" pitchFamily="18" charset="0"/>
                <a:ea typeface="楷体" panose="02010609060101010101" pitchFamily="49" charset="-122"/>
                <a:cs typeface="Times New Roman" panose="02020603050405020304" pitchFamily="18" charset="0"/>
              </a:rPr>
              <a:t>3</a:t>
            </a:r>
            <a:r>
              <a:rPr lang="en-US" altLang="zh-CN" sz="2000" baseline="30000"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smtClean="0">
                <a:solidFill>
                  <a:srgbClr val="000000"/>
                </a:solidFill>
                <a:latin typeface="Times New Roman" panose="02020603050405020304" pitchFamily="18" charset="0"/>
                <a:cs typeface="Times New Roman" panose="02020603050405020304" pitchFamily="18" charset="0"/>
              </a:rPr>
              <a:t>+</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 d</a:t>
            </a:r>
            <a:r>
              <a:rPr lang="en-US" altLang="zh-CN" sz="2000" baseline="-25000" dirty="0" smtClean="0">
                <a:latin typeface="Times New Roman" panose="02020603050405020304" pitchFamily="18" charset="0"/>
                <a:ea typeface="楷体" panose="02010609060101010101" pitchFamily="49" charset="-122"/>
                <a:cs typeface="Times New Roman" panose="02020603050405020304" pitchFamily="18" charset="0"/>
              </a:rPr>
              <a:t>3</a:t>
            </a:r>
            <a:r>
              <a:rPr lang="en-US" altLang="zh-CN" sz="2000" baseline="30000"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=70000,       </a:t>
            </a: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对应第</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3</a:t>
            </a: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个目标，</a:t>
            </a:r>
            <a:endPar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endParaRPr>
          </a:p>
          <a:p>
            <a:pPr>
              <a:tabLst>
                <a:tab pos="254000" algn="l"/>
                <a:tab pos="266700" algn="l"/>
              </a:tabLst>
            </a:pPr>
            <a:endParaRPr lang="zh-CN" altLang="en-US" sz="2400" dirty="0" smtClean="0">
              <a:latin typeface="Times New Roman" panose="02020603050405020304" pitchFamily="18" charset="0"/>
              <a:ea typeface="隶书" panose="02010509060101010101" pitchFamily="49" charset="-122"/>
              <a:cs typeface="Times New Roman" panose="02020603050405020304" pitchFamily="18" charset="0"/>
            </a:endParaRPr>
          </a:p>
        </p:txBody>
      </p:sp>
      <p:sp>
        <p:nvSpPr>
          <p:cNvPr id="13" name="TextBox 12"/>
          <p:cNvSpPr txBox="1"/>
          <p:nvPr/>
        </p:nvSpPr>
        <p:spPr>
          <a:xfrm>
            <a:off x="3088775" y="4733709"/>
            <a:ext cx="8640960" cy="829945"/>
          </a:xfrm>
          <a:prstGeom prst="rect">
            <a:avLst/>
          </a:prstGeom>
          <a:noFill/>
        </p:spPr>
        <p:txBody>
          <a:bodyPr wrap="square" rtlCol="0">
            <a:spAutoFit/>
          </a:bodyPr>
          <a:lstStyle/>
          <a:p>
            <a:pPr>
              <a:tabLst>
                <a:tab pos="254000" algn="l"/>
                <a:tab pos="266700" algn="l"/>
              </a:tabLst>
            </a:pPr>
            <a:r>
              <a:rPr lang="en-US" altLang="zh-CN" sz="2000" i="1" dirty="0"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sz="2000" baseline="-25000" dirty="0" smtClean="0">
                <a:latin typeface="Times New Roman" panose="02020603050405020304" pitchFamily="18" charset="0"/>
                <a:ea typeface="楷体" panose="02010609060101010101" pitchFamily="49" charset="-122"/>
                <a:cs typeface="Times New Roman" panose="02020603050405020304" pitchFamily="18" charset="0"/>
              </a:rPr>
              <a:t>1</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-d</a:t>
            </a:r>
            <a:r>
              <a:rPr lang="en-US" altLang="zh-CN" sz="2000" baseline="-25000" dirty="0" smtClean="0">
                <a:latin typeface="Times New Roman" panose="02020603050405020304" pitchFamily="18" charset="0"/>
                <a:ea typeface="楷体" panose="02010609060101010101" pitchFamily="49" charset="-122"/>
                <a:cs typeface="Times New Roman" panose="02020603050405020304" pitchFamily="18" charset="0"/>
              </a:rPr>
              <a:t>4</a:t>
            </a:r>
            <a:r>
              <a:rPr lang="en-US" altLang="zh-CN" sz="2000" baseline="30000"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smtClean="0">
                <a:solidFill>
                  <a:srgbClr val="000000"/>
                </a:solidFill>
                <a:latin typeface="Times New Roman" panose="02020603050405020304" pitchFamily="18" charset="0"/>
                <a:cs typeface="Times New Roman" panose="02020603050405020304" pitchFamily="18" charset="0"/>
              </a:rPr>
              <a:t>+</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 d</a:t>
            </a:r>
            <a:r>
              <a:rPr lang="en-US" altLang="zh-CN" sz="2000" baseline="-25000" dirty="0" smtClean="0">
                <a:latin typeface="Times New Roman" panose="02020603050405020304" pitchFamily="18" charset="0"/>
                <a:ea typeface="楷体" panose="02010609060101010101" pitchFamily="49" charset="-122"/>
                <a:cs typeface="Times New Roman" panose="02020603050405020304" pitchFamily="18" charset="0"/>
              </a:rPr>
              <a:t>4</a:t>
            </a:r>
            <a:r>
              <a:rPr lang="en-US" altLang="zh-CN" sz="2000" baseline="30000"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=200,           </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对应第</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4</a:t>
            </a: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个目标，</a:t>
            </a:r>
            <a:endPar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endParaRPr>
          </a:p>
          <a:p>
            <a:pPr>
              <a:tabLst>
                <a:tab pos="254000" algn="l"/>
                <a:tab pos="266700" algn="l"/>
              </a:tabLst>
            </a:pPr>
            <a:endParaRPr lang="zh-CN" altLang="en-US" sz="2400" dirty="0" smtClean="0">
              <a:latin typeface="Times New Roman" panose="02020603050405020304" pitchFamily="18" charset="0"/>
              <a:ea typeface="隶书" panose="02010509060101010101" pitchFamily="49" charset="-122"/>
              <a:cs typeface="Times New Roman" panose="02020603050405020304" pitchFamily="18" charset="0"/>
            </a:endParaRPr>
          </a:p>
        </p:txBody>
      </p:sp>
      <p:sp>
        <p:nvSpPr>
          <p:cNvPr id="19" name="TextBox 18"/>
          <p:cNvSpPr txBox="1"/>
          <p:nvPr/>
        </p:nvSpPr>
        <p:spPr>
          <a:xfrm>
            <a:off x="3061545" y="4959752"/>
            <a:ext cx="7992888" cy="1137285"/>
          </a:xfrm>
          <a:prstGeom prst="rect">
            <a:avLst/>
          </a:prstGeom>
          <a:noFill/>
        </p:spPr>
        <p:txBody>
          <a:bodyPr wrap="square" rtlCol="0">
            <a:spAutoFit/>
          </a:bodyPr>
          <a:lstStyle/>
          <a:p>
            <a:pPr>
              <a:tabLst>
                <a:tab pos="254000" algn="l"/>
                <a:tab pos="266700" algn="l"/>
              </a:tabLst>
            </a:pPr>
            <a:endPar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endParaRPr>
          </a:p>
          <a:p>
            <a:pPr>
              <a:tabLst>
                <a:tab pos="254000" algn="l"/>
                <a:tab pos="266700" algn="l"/>
              </a:tabLst>
            </a:pPr>
            <a:r>
              <a:rPr lang="en-US" altLang="zh-CN" sz="2000" i="1" dirty="0"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sz="2000" baseline="-25000" dirty="0" smtClean="0">
                <a:latin typeface="Times New Roman" panose="02020603050405020304" pitchFamily="18" charset="0"/>
                <a:ea typeface="楷体" panose="02010609060101010101" pitchFamily="49" charset="-122"/>
                <a:cs typeface="Times New Roman" panose="02020603050405020304" pitchFamily="18" charset="0"/>
              </a:rPr>
              <a:t>2</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-d</a:t>
            </a:r>
            <a:r>
              <a:rPr lang="en-US" altLang="zh-CN" sz="2000" baseline="-25000" dirty="0" smtClean="0">
                <a:latin typeface="Times New Roman" panose="02020603050405020304" pitchFamily="18" charset="0"/>
                <a:ea typeface="楷体" panose="02010609060101010101" pitchFamily="49" charset="-122"/>
                <a:cs typeface="Times New Roman" panose="02020603050405020304" pitchFamily="18" charset="0"/>
              </a:rPr>
              <a:t>5</a:t>
            </a:r>
            <a:r>
              <a:rPr lang="en-US" altLang="zh-CN" sz="2000" baseline="30000"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smtClean="0">
                <a:solidFill>
                  <a:srgbClr val="000000"/>
                </a:solidFill>
                <a:latin typeface="Times New Roman" panose="02020603050405020304" pitchFamily="18" charset="0"/>
                <a:cs typeface="Times New Roman" panose="02020603050405020304" pitchFamily="18" charset="0"/>
              </a:rPr>
              <a:t>+</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 d</a:t>
            </a:r>
            <a:r>
              <a:rPr lang="en-US" altLang="zh-CN" sz="2000" baseline="-25000" dirty="0" smtClean="0">
                <a:latin typeface="Times New Roman" panose="02020603050405020304" pitchFamily="18" charset="0"/>
                <a:ea typeface="楷体" panose="02010609060101010101" pitchFamily="49" charset="-122"/>
                <a:cs typeface="Times New Roman" panose="02020603050405020304" pitchFamily="18" charset="0"/>
              </a:rPr>
              <a:t>5</a:t>
            </a:r>
            <a:r>
              <a:rPr lang="en-US" altLang="zh-CN" sz="2000" baseline="30000"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=120,        </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对应第</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5</a:t>
            </a: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个目标， </a:t>
            </a:r>
            <a:endPar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endParaRPr>
          </a:p>
          <a:p>
            <a:pPr>
              <a:tabLst>
                <a:tab pos="254000" algn="l"/>
                <a:tab pos="266700" algn="l"/>
              </a:tabLst>
            </a:pPr>
            <a:endParaRPr lang="zh-CN" altLang="en-US" sz="2400" dirty="0" smtClean="0">
              <a:latin typeface="Times New Roman" panose="02020603050405020304" pitchFamily="18" charset="0"/>
              <a:ea typeface="隶书" panose="02010509060101010101" pitchFamily="49" charset="-122"/>
              <a:cs typeface="Times New Roman" panose="02020603050405020304" pitchFamily="18" charset="0"/>
            </a:endParaRPr>
          </a:p>
        </p:txBody>
      </p:sp>
      <p:sp>
        <p:nvSpPr>
          <p:cNvPr id="2" name="标题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t>复杂情况下的</a:t>
            </a:r>
            <a:r>
              <a:rPr lang="zh-CN" altLang="en-US"/>
              <a:t>有优先权的</a:t>
            </a:r>
            <a:r>
              <a:rPr lang="zh-CN" altLang="en-US" dirty="0"/>
              <a:t>目标规划</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ox(in)">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ox(in)">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ox(in)">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ox(in)">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box(in)">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box(in)">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box(in)">
                                      <p:cBhvr>
                                        <p:cTn id="37" dur="5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box(in)">
                                      <p:cBhvr>
                                        <p:cTn id="4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ldLvl="0" animBg="1"/>
      <p:bldP spid="18" grpId="0"/>
      <p:bldP spid="8" grpId="0"/>
      <p:bldP spid="9" grpId="0"/>
      <p:bldP spid="11" grpId="0"/>
      <p:bldP spid="12" grpId="0"/>
      <p:bldP spid="13" grpId="0"/>
      <p:bldP spid="19"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zh-CN" sz="2000" dirty="0" smtClean="0"/>
              <a:t>一</a:t>
            </a:r>
            <a:r>
              <a:rPr lang="zh-CN" altLang="zh-CN" sz="2000" dirty="0"/>
              <a:t>条</a:t>
            </a:r>
            <a:r>
              <a:rPr lang="en-US" altLang="zh-CN" sz="2000" dirty="0"/>
              <a:t>24</a:t>
            </a:r>
            <a:r>
              <a:rPr lang="zh-CN" altLang="zh-CN" sz="2000" dirty="0"/>
              <a:t>小时不间断工作的生产线</a:t>
            </a:r>
            <a:r>
              <a:rPr lang="zh-CN" altLang="zh-CN" sz="2000" dirty="0" smtClean="0"/>
              <a:t>，每天</a:t>
            </a:r>
            <a:r>
              <a:rPr lang="zh-CN" altLang="zh-CN" sz="2000" dirty="0"/>
              <a:t>必须花费</a:t>
            </a:r>
            <a:r>
              <a:rPr lang="en-US" altLang="zh-CN" sz="2000" dirty="0"/>
              <a:t>1</a:t>
            </a:r>
            <a:r>
              <a:rPr lang="zh-CN" altLang="zh-CN" sz="2000" dirty="0" smtClean="0"/>
              <a:t>小时时间设备维护。</a:t>
            </a:r>
            <a:endParaRPr lang="en-US" altLang="zh-CN" sz="2000" dirty="0" smtClean="0"/>
          </a:p>
          <a:p>
            <a:pPr lvl="1"/>
            <a:r>
              <a:rPr lang="zh-CN" altLang="zh-CN" sz="2000" dirty="0" smtClean="0"/>
              <a:t>每</a:t>
            </a:r>
            <a:r>
              <a:rPr lang="zh-CN" altLang="zh-CN" sz="2000" dirty="0"/>
              <a:t>组装一单位的两种产品（</a:t>
            </a:r>
            <a:r>
              <a:rPr lang="en-US" altLang="zh-CN" sz="2000" dirty="0"/>
              <a:t>A</a:t>
            </a:r>
            <a:r>
              <a:rPr lang="zh-CN" altLang="zh-CN" sz="2000" dirty="0"/>
              <a:t>和</a:t>
            </a:r>
            <a:r>
              <a:rPr lang="en-US" altLang="zh-CN" sz="2000" dirty="0"/>
              <a:t>B</a:t>
            </a:r>
            <a:r>
              <a:rPr lang="zh-CN" altLang="zh-CN" sz="2000" dirty="0"/>
              <a:t>）各需要消耗</a:t>
            </a:r>
            <a:r>
              <a:rPr lang="en-US" altLang="zh-CN" sz="2000" dirty="0"/>
              <a:t>1</a:t>
            </a:r>
            <a:r>
              <a:rPr lang="zh-CN" altLang="zh-CN" sz="2000" dirty="0"/>
              <a:t>小时的设备工时</a:t>
            </a:r>
            <a:r>
              <a:rPr lang="zh-CN" altLang="zh-CN" sz="2000" dirty="0" smtClean="0"/>
              <a:t>。</a:t>
            </a:r>
            <a:endParaRPr lang="en-US" altLang="zh-CN" sz="2000" dirty="0" smtClean="0"/>
          </a:p>
          <a:p>
            <a:pPr lvl="1"/>
            <a:r>
              <a:rPr lang="zh-CN" altLang="zh-CN" sz="2000" dirty="0" smtClean="0"/>
              <a:t>单位</a:t>
            </a:r>
            <a:r>
              <a:rPr lang="zh-CN" altLang="zh-CN" sz="2000" dirty="0"/>
              <a:t>产品</a:t>
            </a:r>
            <a:r>
              <a:rPr lang="en-US" altLang="zh-CN" sz="2000" dirty="0"/>
              <a:t>A</a:t>
            </a:r>
            <a:r>
              <a:rPr lang="zh-CN" altLang="zh-CN" sz="2000" dirty="0" smtClean="0"/>
              <a:t>需要</a:t>
            </a:r>
            <a:r>
              <a:rPr lang="en-US" altLang="zh-CN" sz="2000" dirty="0" smtClean="0"/>
              <a:t>1</a:t>
            </a:r>
            <a:r>
              <a:rPr lang="zh-CN" altLang="zh-CN" sz="2000" dirty="0"/>
              <a:t>小时人工工时</a:t>
            </a:r>
            <a:r>
              <a:rPr lang="zh-CN" altLang="zh-CN" sz="2000" dirty="0" smtClean="0"/>
              <a:t>，单位</a:t>
            </a:r>
            <a:r>
              <a:rPr lang="zh-CN" altLang="zh-CN" sz="2000" dirty="0"/>
              <a:t>产品</a:t>
            </a:r>
            <a:r>
              <a:rPr lang="en-US" altLang="zh-CN" sz="2000" dirty="0"/>
              <a:t>B</a:t>
            </a:r>
            <a:r>
              <a:rPr lang="zh-CN" altLang="zh-CN" sz="2000" dirty="0" smtClean="0"/>
              <a:t>需要</a:t>
            </a:r>
            <a:r>
              <a:rPr lang="en-US" altLang="zh-CN" sz="2000" dirty="0" smtClean="0"/>
              <a:t>0.8</a:t>
            </a:r>
            <a:r>
              <a:rPr lang="zh-CN" altLang="zh-CN" sz="2000" dirty="0"/>
              <a:t>小时人工工时</a:t>
            </a:r>
            <a:r>
              <a:rPr lang="zh-CN" altLang="zh-CN" sz="2000" dirty="0" smtClean="0"/>
              <a:t>。</a:t>
            </a:r>
            <a:endParaRPr lang="en-US" altLang="zh-CN" sz="2000" dirty="0" smtClean="0"/>
          </a:p>
          <a:p>
            <a:pPr lvl="1"/>
            <a:r>
              <a:rPr lang="zh-CN" altLang="zh-CN" sz="2000" dirty="0" smtClean="0"/>
              <a:t>正常</a:t>
            </a:r>
            <a:r>
              <a:rPr lang="zh-CN" altLang="zh-CN" sz="2000" dirty="0"/>
              <a:t>情况下，每周的可用人工工时是</a:t>
            </a:r>
            <a:r>
              <a:rPr lang="en-US" altLang="zh-CN" sz="2000" dirty="0"/>
              <a:t>112</a:t>
            </a:r>
            <a:r>
              <a:rPr lang="zh-CN" altLang="zh-CN" sz="2000" dirty="0"/>
              <a:t>小时；如果需要，工厂可以通过加班来适当增加人工工时。</a:t>
            </a:r>
            <a:endParaRPr lang="zh-CN" altLang="zh-CN" sz="2000" dirty="0"/>
          </a:p>
          <a:p>
            <a:pPr lvl="1"/>
            <a:r>
              <a:rPr lang="zh-CN" altLang="zh-CN" sz="2000" dirty="0"/>
              <a:t>工厂预测下周产品</a:t>
            </a:r>
            <a:r>
              <a:rPr lang="en-US" altLang="zh-CN" sz="2000" dirty="0"/>
              <a:t>A</a:t>
            </a:r>
            <a:r>
              <a:rPr lang="zh-CN" altLang="zh-CN" sz="2000" dirty="0"/>
              <a:t>和</a:t>
            </a:r>
            <a:r>
              <a:rPr lang="en-US" altLang="zh-CN" sz="2000" dirty="0"/>
              <a:t>B</a:t>
            </a:r>
            <a:r>
              <a:rPr lang="zh-CN" altLang="zh-CN" sz="2000" dirty="0"/>
              <a:t>的需求分别为</a:t>
            </a:r>
            <a:r>
              <a:rPr lang="en-US" altLang="zh-CN" sz="2000" dirty="0"/>
              <a:t>80</a:t>
            </a:r>
            <a:r>
              <a:rPr lang="zh-CN" altLang="zh-CN" sz="2000" dirty="0"/>
              <a:t>和</a:t>
            </a:r>
            <a:r>
              <a:rPr lang="en-US" altLang="zh-CN" sz="2000" dirty="0"/>
              <a:t>100</a:t>
            </a:r>
            <a:r>
              <a:rPr lang="zh-CN" altLang="zh-CN" sz="2000" dirty="0"/>
              <a:t>单位</a:t>
            </a:r>
            <a:r>
              <a:rPr lang="zh-CN" altLang="zh-CN" sz="2000" dirty="0" smtClean="0"/>
              <a:t>。</a:t>
            </a:r>
            <a:endParaRPr lang="en-US" altLang="zh-CN" sz="2000" dirty="0" smtClean="0"/>
          </a:p>
          <a:p>
            <a:pPr lvl="1"/>
            <a:r>
              <a:rPr lang="zh-CN" altLang="zh-CN" sz="2000" dirty="0" smtClean="0"/>
              <a:t>产品</a:t>
            </a:r>
            <a:r>
              <a:rPr lang="en-US" altLang="zh-CN" sz="2000" dirty="0"/>
              <a:t>A</a:t>
            </a:r>
            <a:r>
              <a:rPr lang="zh-CN" altLang="zh-CN" sz="2000" dirty="0"/>
              <a:t>每单位可获利</a:t>
            </a:r>
            <a:r>
              <a:rPr lang="en-US" altLang="zh-CN" sz="2000" dirty="0"/>
              <a:t>800</a:t>
            </a:r>
            <a:r>
              <a:rPr lang="zh-CN" altLang="zh-CN" sz="2000" dirty="0"/>
              <a:t>元，产品</a:t>
            </a:r>
            <a:r>
              <a:rPr lang="en-US" altLang="zh-CN" sz="2000" dirty="0"/>
              <a:t>B</a:t>
            </a:r>
            <a:r>
              <a:rPr lang="zh-CN" altLang="zh-CN" sz="2000" dirty="0"/>
              <a:t>每单位可获利</a:t>
            </a:r>
            <a:r>
              <a:rPr lang="en-US" altLang="zh-CN" sz="2000" dirty="0"/>
              <a:t>600</a:t>
            </a:r>
            <a:r>
              <a:rPr lang="zh-CN" altLang="zh-CN" sz="2000" dirty="0" smtClean="0"/>
              <a:t>元</a:t>
            </a:r>
            <a:r>
              <a:rPr lang="zh-CN" altLang="en-US" sz="2000" dirty="0" smtClean="0"/>
              <a:t>。</a:t>
            </a:r>
            <a:endParaRPr lang="en-US" altLang="zh-CN" sz="2000" dirty="0" smtClean="0"/>
          </a:p>
          <a:p>
            <a:r>
              <a:rPr lang="zh-CN" altLang="en-US" sz="2000" dirty="0"/>
              <a:t>四个</a:t>
            </a:r>
            <a:r>
              <a:rPr lang="zh-CN" altLang="en-US" sz="2000" dirty="0" smtClean="0"/>
              <a:t>目标：</a:t>
            </a:r>
            <a:endParaRPr lang="en-US" altLang="zh-CN" sz="2000" dirty="0" smtClean="0"/>
          </a:p>
          <a:p>
            <a:pPr lvl="1"/>
            <a:r>
              <a:rPr lang="zh-CN" altLang="zh-CN" sz="2000" dirty="0"/>
              <a:t>①</a:t>
            </a:r>
            <a:r>
              <a:rPr lang="en-US" altLang="zh-CN" sz="2000" dirty="0"/>
              <a:t> </a:t>
            </a:r>
            <a:r>
              <a:rPr lang="zh-CN" altLang="zh-CN" sz="2000" dirty="0"/>
              <a:t>尽量避免工人闲置；</a:t>
            </a:r>
            <a:endParaRPr lang="zh-CN" altLang="zh-CN" sz="2000" dirty="0"/>
          </a:p>
          <a:p>
            <a:pPr lvl="1"/>
            <a:r>
              <a:rPr lang="zh-CN" altLang="zh-CN" sz="2000" dirty="0"/>
              <a:t>② 尽量满足两种产品的市场需求；</a:t>
            </a:r>
            <a:endParaRPr lang="zh-CN" altLang="zh-CN" sz="2000" dirty="0"/>
          </a:p>
          <a:p>
            <a:pPr lvl="1"/>
            <a:r>
              <a:rPr lang="zh-CN" altLang="zh-CN" sz="2000" dirty="0"/>
              <a:t>③ 如果需要可以让工人加班，但尽量不超过</a:t>
            </a:r>
            <a:r>
              <a:rPr lang="en-US" altLang="zh-CN" sz="2000" dirty="0"/>
              <a:t>40</a:t>
            </a:r>
            <a:r>
              <a:rPr lang="zh-CN" altLang="zh-CN" sz="2000" dirty="0"/>
              <a:t>小时；</a:t>
            </a:r>
            <a:endParaRPr lang="zh-CN" altLang="zh-CN" sz="2000" dirty="0"/>
          </a:p>
          <a:p>
            <a:pPr lvl="1"/>
            <a:r>
              <a:rPr lang="zh-CN" altLang="zh-CN" sz="2000" dirty="0"/>
              <a:t>④</a:t>
            </a:r>
            <a:r>
              <a:rPr lang="en-US" altLang="zh-CN" sz="2000" dirty="0"/>
              <a:t> </a:t>
            </a:r>
            <a:r>
              <a:rPr lang="zh-CN" altLang="zh-CN" sz="2000" dirty="0"/>
              <a:t>实现利润最大化</a:t>
            </a:r>
            <a:r>
              <a:rPr lang="zh-CN" altLang="zh-CN" sz="2000" dirty="0" smtClean="0"/>
              <a:t>。</a:t>
            </a:r>
            <a:endParaRPr lang="zh-CN" altLang="en-US" sz="2000" dirty="0"/>
          </a:p>
        </p:txBody>
      </p:sp>
      <p:sp>
        <p:nvSpPr>
          <p:cNvPr id="1123397" name="Rectangle 69"/>
          <p:cNvSpPr>
            <a:spLocks noGrp="1" noChangeArrowheads="1"/>
          </p:cNvSpPr>
          <p:nvPr>
            <p:ph type="title" idx="4294967295"/>
          </p:nvPr>
        </p:nvSpPr>
        <p:spPr/>
        <p:txBody>
          <a:bodyPr>
            <a:normAutofit fontScale="90000"/>
          </a:bodyPr>
          <a:p>
            <a:r>
              <a:rPr lang="zh-CN" altLang="en-US">
                <a:latin typeface="华文楷体" panose="02010600040101010101" charset="-122"/>
                <a:ea typeface="华文楷体" panose="02010600040101010101" charset="-122"/>
                <a:cs typeface="华文楷体" panose="02010600040101010101" charset="-122"/>
              </a:rPr>
              <a:t>复杂情况下的有优先权的目标规划</a:t>
            </a:r>
            <a:r>
              <a:rPr lang="en-US" altLang="zh-CN">
                <a:latin typeface="华文楷体" panose="02010600040101010101" charset="-122"/>
                <a:ea typeface="华文楷体" panose="02010600040101010101" charset="-122"/>
                <a:cs typeface="华文楷体" panose="02010600040101010101" charset="-122"/>
              </a:rPr>
              <a:t>-</a:t>
            </a:r>
            <a:r>
              <a:rPr lang="zh-CN" altLang="en-US">
                <a:latin typeface="华文楷体" panose="02010600040101010101" charset="-122"/>
                <a:ea typeface="华文楷体" panose="02010600040101010101" charset="-122"/>
                <a:cs typeface="华文楷体" panose="02010600040101010101" charset="-122"/>
                <a:sym typeface="+mn-ea"/>
              </a:rPr>
              <a:t>设备组装线</a:t>
            </a:r>
            <a:endParaRPr lang="zh-CN" altLang="en-US">
              <a:latin typeface="华文楷体" panose="02010600040101010101" charset="-122"/>
              <a:ea typeface="华文楷体" panose="02010600040101010101" charset="-122"/>
              <a:cs typeface="华文楷体" panose="02010600040101010101" charset="-122"/>
            </a:endParaRPr>
          </a:p>
        </p:txBody>
      </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r>
                  <a:rPr lang="zh-CN" altLang="en-US" sz="2000" dirty="0" smtClean="0"/>
                  <a:t>定义决策变量：</a:t>
                </a:r>
                <a:endParaRPr lang="en-US" altLang="zh-CN" sz="2000" dirty="0" smtClean="0"/>
              </a:p>
              <a:p>
                <a:pPr lvl="1"/>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1</m:t>
                        </m:r>
                      </m:sub>
                    </m:sSub>
                  </m:oMath>
                </a14:m>
                <a:r>
                  <a:rPr lang="zh-CN" altLang="zh-CN" sz="2000" dirty="0" smtClean="0"/>
                  <a:t>和</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2</m:t>
                        </m:r>
                      </m:sub>
                    </m:sSub>
                  </m:oMath>
                </a14:m>
                <a:r>
                  <a:rPr lang="zh-CN" altLang="zh-CN" sz="2000" dirty="0"/>
                  <a:t>分别表示产品</a:t>
                </a:r>
                <a:r>
                  <a:rPr lang="en-US" altLang="zh-CN" sz="2000" dirty="0"/>
                  <a:t>A</a:t>
                </a:r>
                <a:r>
                  <a:rPr lang="zh-CN" altLang="zh-CN" sz="2000" dirty="0"/>
                  <a:t>和产品</a:t>
                </a:r>
                <a:r>
                  <a:rPr lang="en-US" altLang="zh-CN" sz="2000" dirty="0"/>
                  <a:t>B</a:t>
                </a:r>
                <a:r>
                  <a:rPr lang="zh-CN" altLang="zh-CN" sz="2000" dirty="0"/>
                  <a:t>的</a:t>
                </a:r>
                <a:r>
                  <a:rPr lang="zh-CN" altLang="zh-CN" sz="2000" dirty="0" smtClean="0"/>
                  <a:t>产量</a:t>
                </a:r>
                <a:endParaRPr lang="en-US" altLang="zh-CN" sz="2000" dirty="0" smtClean="0"/>
              </a:p>
              <a:p>
                <a:pPr lvl="1"/>
                <a14:m>
                  <m:oMath xmlns:m="http://schemas.openxmlformats.org/officeDocument/2006/math">
                    <m:sSubSup>
                      <m:sSubSupPr>
                        <m:ctrlPr>
                          <a:rPr lang="zh-CN" altLang="zh-CN" sz="2000" i="1">
                            <a:latin typeface="Cambria Math" panose="02040503050406030204" pitchFamily="18" charset="0"/>
                          </a:rPr>
                        </m:ctrlPr>
                      </m:sSubSupPr>
                      <m:e>
                        <m:r>
                          <a:rPr lang="en-US" altLang="zh-CN" sz="2000" i="1">
                            <a:latin typeface="Cambria Math" panose="02040503050406030204" pitchFamily="18" charset="0"/>
                          </a:rPr>
                          <m:t>𝑑</m:t>
                        </m:r>
                      </m:e>
                      <m:sub>
                        <m:r>
                          <a:rPr lang="en-US" altLang="zh-CN" sz="2000" i="1">
                            <a:latin typeface="Cambria Math" panose="02040503050406030204" pitchFamily="18" charset="0"/>
                          </a:rPr>
                          <m:t>1</m:t>
                        </m:r>
                      </m:sub>
                      <m:sup>
                        <m:r>
                          <a:rPr lang="en-US" altLang="zh-CN" sz="2000" i="1">
                            <a:latin typeface="Cambria Math" panose="02040503050406030204" pitchFamily="18" charset="0"/>
                          </a:rPr>
                          <m:t>−</m:t>
                        </m:r>
                      </m:sup>
                    </m:sSubSup>
                    <m:r>
                      <a:rPr lang="en-US" altLang="zh-CN" sz="2000" i="1">
                        <a:latin typeface="Cambria Math" panose="02040503050406030204" pitchFamily="18" charset="0"/>
                      </a:rPr>
                      <m:t>=</m:t>
                    </m:r>
                  </m:oMath>
                </a14:m>
                <a:r>
                  <a:rPr lang="zh-CN" altLang="zh-CN" sz="2000" dirty="0"/>
                  <a:t>相对于正常人工工时，闲置的人工工时</a:t>
                </a:r>
                <a:endParaRPr lang="zh-CN" altLang="zh-CN" sz="2000" dirty="0"/>
              </a:p>
              <a:p>
                <a:pPr lvl="1"/>
                <a14:m>
                  <m:oMath xmlns:m="http://schemas.openxmlformats.org/officeDocument/2006/math">
                    <m:sSubSup>
                      <m:sSubSupPr>
                        <m:ctrlPr>
                          <a:rPr lang="zh-CN" altLang="zh-CN" sz="2000" i="1">
                            <a:latin typeface="Cambria Math" panose="02040503050406030204" pitchFamily="18" charset="0"/>
                          </a:rPr>
                        </m:ctrlPr>
                      </m:sSubSupPr>
                      <m:e>
                        <m:r>
                          <a:rPr lang="en-US" altLang="zh-CN" sz="2000" i="1">
                            <a:latin typeface="Cambria Math" panose="02040503050406030204" pitchFamily="18" charset="0"/>
                          </a:rPr>
                          <m:t>𝑑</m:t>
                        </m:r>
                      </m:e>
                      <m:sub>
                        <m:r>
                          <a:rPr lang="en-US" altLang="zh-CN" sz="2000" i="1">
                            <a:latin typeface="Cambria Math" panose="02040503050406030204" pitchFamily="18" charset="0"/>
                          </a:rPr>
                          <m:t>1</m:t>
                        </m:r>
                      </m:sub>
                      <m:sup>
                        <m:r>
                          <a:rPr lang="en-US" altLang="zh-CN" sz="2000" i="1">
                            <a:latin typeface="Cambria Math" panose="02040503050406030204" pitchFamily="18" charset="0"/>
                          </a:rPr>
                          <m:t>+</m:t>
                        </m:r>
                      </m:sup>
                    </m:sSubSup>
                    <m:r>
                      <a:rPr lang="en-US" altLang="zh-CN" sz="2000" i="1">
                        <a:latin typeface="Cambria Math" panose="02040503050406030204" pitchFamily="18" charset="0"/>
                      </a:rPr>
                      <m:t>=</m:t>
                    </m:r>
                  </m:oMath>
                </a14:m>
                <a:r>
                  <a:rPr lang="zh-CN" altLang="zh-CN" sz="2000" dirty="0"/>
                  <a:t>相对于正常人工工时，需要加班的人工工时</a:t>
                </a:r>
                <a:endParaRPr lang="zh-CN" altLang="zh-CN" sz="2000" dirty="0"/>
              </a:p>
              <a:p>
                <a:pPr lvl="1"/>
                <a14:m>
                  <m:oMath xmlns:m="http://schemas.openxmlformats.org/officeDocument/2006/math">
                    <m:sSubSup>
                      <m:sSubSupPr>
                        <m:ctrlPr>
                          <a:rPr lang="zh-CN" altLang="zh-CN" sz="2000" i="1">
                            <a:latin typeface="Cambria Math" panose="02040503050406030204" pitchFamily="18" charset="0"/>
                          </a:rPr>
                        </m:ctrlPr>
                      </m:sSubSupPr>
                      <m:e>
                        <m:r>
                          <a:rPr lang="en-US" altLang="zh-CN" sz="2000" i="1">
                            <a:latin typeface="Cambria Math" panose="02040503050406030204" pitchFamily="18" charset="0"/>
                          </a:rPr>
                          <m:t>𝑑</m:t>
                        </m:r>
                      </m:e>
                      <m:sub>
                        <m:r>
                          <a:rPr lang="en-US" altLang="zh-CN" sz="2000" i="1">
                            <a:latin typeface="Cambria Math" panose="02040503050406030204" pitchFamily="18" charset="0"/>
                          </a:rPr>
                          <m:t>2</m:t>
                        </m:r>
                      </m:sub>
                      <m:sup>
                        <m:r>
                          <a:rPr lang="en-US" altLang="zh-CN" sz="2000" i="1">
                            <a:latin typeface="Cambria Math" panose="02040503050406030204" pitchFamily="18" charset="0"/>
                          </a:rPr>
                          <m:t>−</m:t>
                        </m:r>
                      </m:sup>
                    </m:sSubSup>
                    <m:r>
                      <a:rPr lang="en-US" altLang="zh-CN" sz="2000" i="1">
                        <a:latin typeface="Cambria Math" panose="02040503050406030204" pitchFamily="18" charset="0"/>
                      </a:rPr>
                      <m:t>=</m:t>
                    </m:r>
                  </m:oMath>
                </a14:m>
                <a:r>
                  <a:rPr lang="zh-CN" altLang="zh-CN" sz="2000" dirty="0"/>
                  <a:t>未能满足的产品</a:t>
                </a:r>
                <a:r>
                  <a:rPr lang="en-US" altLang="zh-CN" sz="2000" dirty="0"/>
                  <a:t>A</a:t>
                </a:r>
                <a:r>
                  <a:rPr lang="zh-CN" altLang="zh-CN" sz="2000" dirty="0"/>
                  <a:t>的需求</a:t>
                </a:r>
                <a:endParaRPr lang="zh-CN" altLang="zh-CN" sz="2000" dirty="0"/>
              </a:p>
              <a:p>
                <a:pPr lvl="1"/>
                <a14:m>
                  <m:oMath xmlns:m="http://schemas.openxmlformats.org/officeDocument/2006/math">
                    <m:sSubSup>
                      <m:sSubSupPr>
                        <m:ctrlPr>
                          <a:rPr lang="zh-CN" altLang="zh-CN" sz="2000" i="1">
                            <a:latin typeface="Cambria Math" panose="02040503050406030204" pitchFamily="18" charset="0"/>
                          </a:rPr>
                        </m:ctrlPr>
                      </m:sSubSupPr>
                      <m:e>
                        <m:r>
                          <a:rPr lang="en-US" altLang="zh-CN" sz="2000" i="1">
                            <a:latin typeface="Cambria Math" panose="02040503050406030204" pitchFamily="18" charset="0"/>
                          </a:rPr>
                          <m:t>𝑑</m:t>
                        </m:r>
                      </m:e>
                      <m:sub>
                        <m:r>
                          <a:rPr lang="en-US" altLang="zh-CN" sz="2000" i="1">
                            <a:latin typeface="Cambria Math" panose="02040503050406030204" pitchFamily="18" charset="0"/>
                          </a:rPr>
                          <m:t>2</m:t>
                        </m:r>
                      </m:sub>
                      <m:sup>
                        <m:r>
                          <a:rPr lang="en-US" altLang="zh-CN" sz="2000" i="1">
                            <a:latin typeface="Cambria Math" panose="02040503050406030204" pitchFamily="18" charset="0"/>
                          </a:rPr>
                          <m:t>+</m:t>
                        </m:r>
                      </m:sup>
                    </m:sSubSup>
                    <m:r>
                      <a:rPr lang="en-US" altLang="zh-CN" sz="2000" i="1">
                        <a:latin typeface="Cambria Math" panose="02040503050406030204" pitchFamily="18" charset="0"/>
                      </a:rPr>
                      <m:t>=</m:t>
                    </m:r>
                  </m:oMath>
                </a14:m>
                <a:r>
                  <a:rPr lang="zh-CN" altLang="zh-CN" sz="2000" dirty="0"/>
                  <a:t>超额满足的产品</a:t>
                </a:r>
                <a:r>
                  <a:rPr lang="en-US" altLang="zh-CN" sz="2000" dirty="0"/>
                  <a:t>A</a:t>
                </a:r>
                <a:r>
                  <a:rPr lang="zh-CN" altLang="zh-CN" sz="2000" dirty="0"/>
                  <a:t>的需求</a:t>
                </a:r>
                <a:endParaRPr lang="zh-CN" altLang="zh-CN" sz="2000" dirty="0"/>
              </a:p>
              <a:p>
                <a:pPr lvl="1"/>
                <a14:m>
                  <m:oMath xmlns:m="http://schemas.openxmlformats.org/officeDocument/2006/math">
                    <m:sSubSup>
                      <m:sSubSupPr>
                        <m:ctrlPr>
                          <a:rPr lang="zh-CN" altLang="zh-CN" sz="2000" i="1">
                            <a:latin typeface="Cambria Math" panose="02040503050406030204" pitchFamily="18" charset="0"/>
                          </a:rPr>
                        </m:ctrlPr>
                      </m:sSubSupPr>
                      <m:e>
                        <m:r>
                          <a:rPr lang="en-US" altLang="zh-CN" sz="2000" i="1">
                            <a:latin typeface="Cambria Math" panose="02040503050406030204" pitchFamily="18" charset="0"/>
                          </a:rPr>
                          <m:t>𝑑</m:t>
                        </m:r>
                      </m:e>
                      <m:sub>
                        <m:r>
                          <a:rPr lang="en-US" altLang="zh-CN" sz="2000" i="1">
                            <a:latin typeface="Cambria Math" panose="02040503050406030204" pitchFamily="18" charset="0"/>
                          </a:rPr>
                          <m:t>3</m:t>
                        </m:r>
                      </m:sub>
                      <m:sup>
                        <m:r>
                          <a:rPr lang="en-US" altLang="zh-CN" sz="2000" i="1">
                            <a:latin typeface="Cambria Math" panose="02040503050406030204" pitchFamily="18" charset="0"/>
                          </a:rPr>
                          <m:t>−</m:t>
                        </m:r>
                      </m:sup>
                    </m:sSubSup>
                    <m:r>
                      <a:rPr lang="en-US" altLang="zh-CN" sz="2000" i="1">
                        <a:latin typeface="Cambria Math" panose="02040503050406030204" pitchFamily="18" charset="0"/>
                      </a:rPr>
                      <m:t>=</m:t>
                    </m:r>
                  </m:oMath>
                </a14:m>
                <a:r>
                  <a:rPr lang="zh-CN" altLang="zh-CN" sz="2000" dirty="0"/>
                  <a:t>未能满足的产品</a:t>
                </a:r>
                <a:r>
                  <a:rPr lang="en-US" altLang="zh-CN" sz="2000" dirty="0"/>
                  <a:t>B</a:t>
                </a:r>
                <a:r>
                  <a:rPr lang="zh-CN" altLang="zh-CN" sz="2000" dirty="0"/>
                  <a:t>的需求</a:t>
                </a:r>
                <a:endParaRPr lang="zh-CN" altLang="zh-CN" sz="2000" dirty="0"/>
              </a:p>
              <a:p>
                <a:pPr lvl="1"/>
                <a14:m>
                  <m:oMath xmlns:m="http://schemas.openxmlformats.org/officeDocument/2006/math">
                    <m:sSubSup>
                      <m:sSubSupPr>
                        <m:ctrlPr>
                          <a:rPr lang="zh-CN" altLang="zh-CN" sz="2000" i="1">
                            <a:latin typeface="Cambria Math" panose="02040503050406030204" pitchFamily="18" charset="0"/>
                          </a:rPr>
                        </m:ctrlPr>
                      </m:sSubSupPr>
                      <m:e>
                        <m:r>
                          <a:rPr lang="en-US" altLang="zh-CN" sz="2000" i="1">
                            <a:latin typeface="Cambria Math" panose="02040503050406030204" pitchFamily="18" charset="0"/>
                          </a:rPr>
                          <m:t>𝑑</m:t>
                        </m:r>
                      </m:e>
                      <m:sub>
                        <m:r>
                          <a:rPr lang="en-US" altLang="zh-CN" sz="2000" i="1">
                            <a:latin typeface="Cambria Math" panose="02040503050406030204" pitchFamily="18" charset="0"/>
                          </a:rPr>
                          <m:t>3</m:t>
                        </m:r>
                      </m:sub>
                      <m:sup>
                        <m:r>
                          <a:rPr lang="en-US" altLang="zh-CN" sz="2000" i="1">
                            <a:latin typeface="Cambria Math" panose="02040503050406030204" pitchFamily="18" charset="0"/>
                          </a:rPr>
                          <m:t>+</m:t>
                        </m:r>
                      </m:sup>
                    </m:sSubSup>
                    <m:r>
                      <a:rPr lang="en-US" altLang="zh-CN" sz="2000" i="1">
                        <a:latin typeface="Cambria Math" panose="02040503050406030204" pitchFamily="18" charset="0"/>
                      </a:rPr>
                      <m:t>=</m:t>
                    </m:r>
                  </m:oMath>
                </a14:m>
                <a:r>
                  <a:rPr lang="zh-CN" altLang="zh-CN" sz="2000" dirty="0"/>
                  <a:t>超额满足的产品</a:t>
                </a:r>
                <a:r>
                  <a:rPr lang="en-US" altLang="zh-CN" sz="2000" dirty="0"/>
                  <a:t>B</a:t>
                </a:r>
                <a:r>
                  <a:rPr lang="zh-CN" altLang="zh-CN" sz="2000" dirty="0"/>
                  <a:t>的需求</a:t>
                </a:r>
                <a:endParaRPr lang="zh-CN" altLang="zh-CN" sz="2000" dirty="0"/>
              </a:p>
              <a:p>
                <a:pPr lvl="1"/>
                <a14:m>
                  <m:oMath xmlns:m="http://schemas.openxmlformats.org/officeDocument/2006/math">
                    <m:sSubSup>
                      <m:sSubSupPr>
                        <m:ctrlPr>
                          <a:rPr lang="zh-CN" altLang="zh-CN" sz="2000" i="1">
                            <a:latin typeface="Cambria Math" panose="02040503050406030204" pitchFamily="18" charset="0"/>
                          </a:rPr>
                        </m:ctrlPr>
                      </m:sSubSupPr>
                      <m:e>
                        <m:r>
                          <a:rPr lang="en-US" altLang="zh-CN" sz="2000" i="1">
                            <a:latin typeface="Cambria Math" panose="02040503050406030204" pitchFamily="18" charset="0"/>
                          </a:rPr>
                          <m:t>𝑑</m:t>
                        </m:r>
                      </m:e>
                      <m:sub>
                        <m:r>
                          <a:rPr lang="en-US" altLang="zh-CN" sz="2000" i="1">
                            <a:latin typeface="Cambria Math" panose="02040503050406030204" pitchFamily="18" charset="0"/>
                          </a:rPr>
                          <m:t>4</m:t>
                        </m:r>
                      </m:sub>
                      <m:sup>
                        <m:r>
                          <a:rPr lang="en-US" altLang="zh-CN" sz="2000" i="1">
                            <a:latin typeface="Cambria Math" panose="02040503050406030204" pitchFamily="18" charset="0"/>
                          </a:rPr>
                          <m:t>−</m:t>
                        </m:r>
                      </m:sup>
                    </m:sSubSup>
                    <m:r>
                      <a:rPr lang="en-US" altLang="zh-CN" sz="2000" i="1">
                        <a:latin typeface="Cambria Math" panose="02040503050406030204" pitchFamily="18" charset="0"/>
                      </a:rPr>
                      <m:t>=</m:t>
                    </m:r>
                  </m:oMath>
                </a14:m>
                <a:r>
                  <a:rPr lang="zh-CN" altLang="zh-CN" sz="2000" dirty="0"/>
                  <a:t>相对于</a:t>
                </a:r>
                <a:r>
                  <a:rPr lang="en-US" altLang="zh-CN" sz="2000" dirty="0"/>
                  <a:t>152</a:t>
                </a:r>
                <a:r>
                  <a:rPr lang="zh-CN" altLang="zh-CN" sz="2000" dirty="0"/>
                  <a:t>小时的人工工时，闲置的人工工时</a:t>
                </a:r>
                <a:endParaRPr lang="zh-CN" altLang="zh-CN" sz="2000" dirty="0"/>
              </a:p>
              <a:p>
                <a:pPr lvl="1"/>
                <a14:m>
                  <m:oMath xmlns:m="http://schemas.openxmlformats.org/officeDocument/2006/math">
                    <m:sSubSup>
                      <m:sSubSupPr>
                        <m:ctrlPr>
                          <a:rPr lang="zh-CN" altLang="zh-CN" sz="2000" i="1">
                            <a:latin typeface="Cambria Math" panose="02040503050406030204" pitchFamily="18" charset="0"/>
                          </a:rPr>
                        </m:ctrlPr>
                      </m:sSubSupPr>
                      <m:e>
                        <m:r>
                          <a:rPr lang="en-US" altLang="zh-CN" sz="2000" i="1">
                            <a:latin typeface="Cambria Math" panose="02040503050406030204" pitchFamily="18" charset="0"/>
                          </a:rPr>
                          <m:t>𝑑</m:t>
                        </m:r>
                      </m:e>
                      <m:sub>
                        <m:r>
                          <a:rPr lang="en-US" altLang="zh-CN" sz="2000" i="1">
                            <a:latin typeface="Cambria Math" panose="02040503050406030204" pitchFamily="18" charset="0"/>
                          </a:rPr>
                          <m:t>4</m:t>
                        </m:r>
                      </m:sub>
                      <m:sup>
                        <m:r>
                          <a:rPr lang="en-US" altLang="zh-CN" sz="2000" i="1">
                            <a:latin typeface="Cambria Math" panose="02040503050406030204" pitchFamily="18" charset="0"/>
                          </a:rPr>
                          <m:t>+</m:t>
                        </m:r>
                      </m:sup>
                    </m:sSubSup>
                    <m:r>
                      <a:rPr lang="en-US" altLang="zh-CN" sz="2000" i="1">
                        <a:latin typeface="Cambria Math" panose="02040503050406030204" pitchFamily="18" charset="0"/>
                      </a:rPr>
                      <m:t>=</m:t>
                    </m:r>
                  </m:oMath>
                </a14:m>
                <a:r>
                  <a:rPr lang="zh-CN" altLang="zh-CN" sz="2000" dirty="0"/>
                  <a:t>相对于</a:t>
                </a:r>
                <a:r>
                  <a:rPr lang="en-US" altLang="zh-CN" sz="2000" dirty="0"/>
                  <a:t>152</a:t>
                </a:r>
                <a:r>
                  <a:rPr lang="zh-CN" altLang="zh-CN" sz="2000" dirty="0"/>
                  <a:t>小时的人工工时，还需要加班的人工工时</a:t>
                </a:r>
                <a:endParaRPr lang="zh-CN" altLang="zh-CN" sz="2000" dirty="0"/>
              </a:p>
              <a:p>
                <a:pPr lvl="1"/>
                <a14:m>
                  <m:oMath xmlns:m="http://schemas.openxmlformats.org/officeDocument/2006/math">
                    <m:sSubSup>
                      <m:sSubSupPr>
                        <m:ctrlPr>
                          <a:rPr lang="zh-CN" altLang="zh-CN" sz="2000" i="1">
                            <a:latin typeface="Cambria Math" panose="02040503050406030204" pitchFamily="18" charset="0"/>
                          </a:rPr>
                        </m:ctrlPr>
                      </m:sSubSupPr>
                      <m:e>
                        <m:r>
                          <a:rPr lang="en-US" altLang="zh-CN" sz="2000" i="1">
                            <a:latin typeface="Cambria Math" panose="02040503050406030204" pitchFamily="18" charset="0"/>
                          </a:rPr>
                          <m:t>𝑑</m:t>
                        </m:r>
                      </m:e>
                      <m:sub>
                        <m:r>
                          <a:rPr lang="en-US" altLang="zh-CN" sz="2000" i="1">
                            <a:latin typeface="Cambria Math" panose="02040503050406030204" pitchFamily="18" charset="0"/>
                          </a:rPr>
                          <m:t>5</m:t>
                        </m:r>
                      </m:sub>
                      <m:sup>
                        <m:r>
                          <a:rPr lang="en-US" altLang="zh-CN" sz="2000" i="1">
                            <a:latin typeface="Cambria Math" panose="02040503050406030204" pitchFamily="18" charset="0"/>
                          </a:rPr>
                          <m:t>−</m:t>
                        </m:r>
                      </m:sup>
                    </m:sSubSup>
                    <m:r>
                      <a:rPr lang="en-US" altLang="zh-CN" sz="2000" i="1">
                        <a:latin typeface="Cambria Math" panose="02040503050406030204" pitchFamily="18" charset="0"/>
                      </a:rPr>
                      <m:t>=</m:t>
                    </m:r>
                  </m:oMath>
                </a14:m>
                <a:r>
                  <a:rPr lang="zh-CN" altLang="zh-CN" sz="2000" dirty="0"/>
                  <a:t>相对于</a:t>
                </a:r>
                <a14:m>
                  <m:oMath xmlns:m="http://schemas.openxmlformats.org/officeDocument/2006/math">
                    <m:r>
                      <a:rPr lang="en-US" altLang="zh-CN" sz="2000" i="1">
                        <a:latin typeface="Cambria Math" panose="02040503050406030204" pitchFamily="18" charset="0"/>
                      </a:rPr>
                      <m:t>𝑀</m:t>
                    </m:r>
                  </m:oMath>
                </a14:m>
                <a:r>
                  <a:rPr lang="zh-CN" altLang="zh-CN" sz="2000" dirty="0"/>
                  <a:t>的利润目标，实际利润不足的部分</a:t>
                </a:r>
                <a:endParaRPr lang="zh-CN" altLang="zh-CN" sz="2000" dirty="0"/>
              </a:p>
              <a:p>
                <a:pPr lvl="1"/>
                <a14:m>
                  <m:oMath xmlns:m="http://schemas.openxmlformats.org/officeDocument/2006/math">
                    <m:sSubSup>
                      <m:sSubSupPr>
                        <m:ctrlPr>
                          <a:rPr lang="zh-CN" altLang="zh-CN" sz="2000" i="1">
                            <a:latin typeface="Cambria Math" panose="02040503050406030204" pitchFamily="18" charset="0"/>
                          </a:rPr>
                        </m:ctrlPr>
                      </m:sSubSupPr>
                      <m:e>
                        <m:r>
                          <a:rPr lang="en-US" altLang="zh-CN" sz="2000" i="1">
                            <a:latin typeface="Cambria Math" panose="02040503050406030204" pitchFamily="18" charset="0"/>
                          </a:rPr>
                          <m:t>𝑑</m:t>
                        </m:r>
                      </m:e>
                      <m:sub>
                        <m:r>
                          <a:rPr lang="en-US" altLang="zh-CN" sz="2000" i="1">
                            <a:latin typeface="Cambria Math" panose="02040503050406030204" pitchFamily="18" charset="0"/>
                          </a:rPr>
                          <m:t>5</m:t>
                        </m:r>
                      </m:sub>
                      <m:sup>
                        <m:r>
                          <a:rPr lang="en-US" altLang="zh-CN" sz="2000" i="1">
                            <a:latin typeface="Cambria Math" panose="02040503050406030204" pitchFamily="18" charset="0"/>
                          </a:rPr>
                          <m:t>+</m:t>
                        </m:r>
                      </m:sup>
                    </m:sSubSup>
                    <m:r>
                      <a:rPr lang="en-US" altLang="zh-CN" sz="2000" i="1">
                        <a:latin typeface="Cambria Math" panose="02040503050406030204" pitchFamily="18" charset="0"/>
                      </a:rPr>
                      <m:t>=</m:t>
                    </m:r>
                  </m:oMath>
                </a14:m>
                <a:r>
                  <a:rPr lang="zh-CN" altLang="zh-CN" sz="2000" dirty="0"/>
                  <a:t>相对于</a:t>
                </a:r>
                <a14:m>
                  <m:oMath xmlns:m="http://schemas.openxmlformats.org/officeDocument/2006/math">
                    <m:r>
                      <a:rPr lang="en-US" altLang="zh-CN" sz="2000" i="1">
                        <a:latin typeface="Cambria Math" panose="02040503050406030204" pitchFamily="18" charset="0"/>
                      </a:rPr>
                      <m:t>𝑀</m:t>
                    </m:r>
                  </m:oMath>
                </a14:m>
                <a:r>
                  <a:rPr lang="zh-CN" altLang="zh-CN" sz="2000" dirty="0"/>
                  <a:t>的利润目标，实际利润超出的部分</a:t>
                </a:r>
                <a:endParaRPr lang="zh-CN" altLang="en-US" sz="2000"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
        <p:nvSpPr>
          <p:cNvPr id="2" name="Rectangle 69"/>
          <p:cNvSpPr>
            <a:spLocks noGrp="1" noChangeArrowheads="1"/>
          </p:cNvSpPr>
          <p:nvPr>
            <p:ph type="title" idx="4294967295"/>
          </p:nvPr>
        </p:nvSpPr>
        <p:spPr/>
        <p:txBody>
          <a:bodyPr>
            <a:normAutofit fontScale="90000"/>
          </a:bodyPr>
          <a:p>
            <a:r>
              <a:rPr lang="zh-CN" altLang="en-US">
                <a:latin typeface="华文楷体" panose="02010600040101010101" charset="-122"/>
                <a:ea typeface="华文楷体" panose="02010600040101010101" charset="-122"/>
                <a:cs typeface="华文楷体" panose="02010600040101010101" charset="-122"/>
              </a:rPr>
              <a:t>复杂情况下的有优先权的目标规划</a:t>
            </a:r>
            <a:r>
              <a:rPr lang="en-US" altLang="zh-CN">
                <a:latin typeface="华文楷体" panose="02010600040101010101" charset="-122"/>
                <a:ea typeface="华文楷体" panose="02010600040101010101" charset="-122"/>
                <a:cs typeface="华文楷体" panose="02010600040101010101" charset="-122"/>
              </a:rPr>
              <a:t>-</a:t>
            </a:r>
            <a:r>
              <a:rPr lang="zh-CN" altLang="en-US">
                <a:latin typeface="华文楷体" panose="02010600040101010101" charset="-122"/>
                <a:ea typeface="华文楷体" panose="02010600040101010101" charset="-122"/>
                <a:cs typeface="华文楷体" panose="02010600040101010101" charset="-122"/>
                <a:sym typeface="+mn-ea"/>
              </a:rPr>
              <a:t>设备组装线</a:t>
            </a:r>
            <a:endParaRPr lang="zh-CN" altLang="en-US">
              <a:latin typeface="华文楷体" panose="02010600040101010101" charset="-122"/>
              <a:ea typeface="华文楷体" panose="02010600040101010101" charset="-122"/>
              <a:cs typeface="华文楷体" panose="02010600040101010101" charset="-122"/>
            </a:endParaRPr>
          </a:p>
        </p:txBody>
      </p:sp>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矩形 3"/>
              <p:cNvSpPr/>
              <p:nvPr/>
            </p:nvSpPr>
            <p:spPr>
              <a:xfrm>
                <a:off x="2852798" y="1741417"/>
                <a:ext cx="6561015" cy="3467100"/>
              </a:xfrm>
              <a:prstGeom prst="rect">
                <a:avLst/>
              </a:prstGeom>
            </p:spPr>
            <p:txBody>
              <a:bodyPr wrap="square">
                <a:spAutoFit/>
              </a:bodyPr>
              <a:lstStyle/>
              <a:p>
                <a:pPr indent="266700" algn="just">
                  <a:lnSpc>
                    <a:spcPct val="115000"/>
                  </a:lnSpc>
                  <a:spcAft>
                    <a:spcPts val="0"/>
                  </a:spcAft>
                </a:pPr>
                <a14:m>
                  <m:oMathPara xmlns:m="http://schemas.openxmlformats.org/officeDocument/2006/math">
                    <m:oMathParaPr>
                      <m:jc m:val="centerGroup"/>
                    </m:oMathParaPr>
                    <m:oMath xmlns:m="http://schemas.openxmlformats.org/officeDocument/2006/math">
                      <m:r>
                        <a:rPr lang="en-US" altLang="zh-CN" sz="2200" i="1" kern="100">
                          <a:effectLst/>
                          <a:latin typeface="Cambria Math" panose="02040503050406030204" pitchFamily="18" charset="0"/>
                          <a:ea typeface="宋体" panose="02010600030101010101" pitchFamily="2" charset="-122"/>
                        </a:rPr>
                        <m:t>𝑚𝑖𝑛</m:t>
                      </m:r>
                      <m:r>
                        <a:rPr lang="en-US" altLang="zh-CN" sz="2200" i="1" kern="100">
                          <a:effectLst/>
                          <a:latin typeface="Cambria Math" panose="02040503050406030204" pitchFamily="18" charset="0"/>
                          <a:ea typeface="宋体" panose="02010600030101010101" pitchFamily="2" charset="-122"/>
                        </a:rPr>
                        <m:t> </m:t>
                      </m:r>
                      <m:r>
                        <a:rPr lang="en-US" altLang="zh-CN" sz="2200" i="1" kern="100">
                          <a:effectLst/>
                          <a:latin typeface="Cambria Math" panose="02040503050406030204" pitchFamily="18" charset="0"/>
                          <a:ea typeface="宋体" panose="02010600030101010101" pitchFamily="2" charset="-122"/>
                        </a:rPr>
                        <m:t>𝑤</m:t>
                      </m:r>
                      <m:r>
                        <a:rPr lang="en-US" altLang="zh-CN" sz="2200" i="1" kern="100">
                          <a:effectLst/>
                          <a:latin typeface="Cambria Math" panose="02040503050406030204" pitchFamily="18" charset="0"/>
                          <a:ea typeface="宋体" panose="02010600030101010101" pitchFamily="2" charset="-122"/>
                        </a:rPr>
                        <m:t>=</m:t>
                      </m:r>
                      <m:sSub>
                        <m:sSubPr>
                          <m:ctrlPr>
                            <a:rPr lang="zh-CN" altLang="zh-CN" sz="2200" i="1" kern="100">
                              <a:effectLst/>
                              <a:latin typeface="Cambria Math" panose="02040503050406030204" pitchFamily="18" charset="0"/>
                              <a:ea typeface="Cambria Math" panose="02040503050406030204" pitchFamily="18" charset="0"/>
                            </a:rPr>
                          </m:ctrlPr>
                        </m:sSubPr>
                        <m:e>
                          <m:r>
                            <a:rPr lang="en-US" altLang="zh-CN" sz="2200" i="1" kern="100">
                              <a:effectLst/>
                              <a:latin typeface="Cambria Math" panose="02040503050406030204" pitchFamily="18" charset="0"/>
                              <a:ea typeface="宋体" panose="02010600030101010101" pitchFamily="2" charset="-122"/>
                            </a:rPr>
                            <m:t>𝑃</m:t>
                          </m:r>
                        </m:e>
                        <m:sub>
                          <m:r>
                            <a:rPr lang="en-US" altLang="zh-CN" sz="2200" i="1" kern="100">
                              <a:effectLst/>
                              <a:latin typeface="Cambria Math" panose="02040503050406030204" pitchFamily="18" charset="0"/>
                              <a:ea typeface="宋体" panose="02010600030101010101" pitchFamily="2" charset="-122"/>
                            </a:rPr>
                            <m:t>1</m:t>
                          </m:r>
                        </m:sub>
                      </m:sSub>
                      <m:sSubSup>
                        <m:sSubSupPr>
                          <m:ctrlPr>
                            <a:rPr lang="zh-CN" altLang="zh-CN" sz="2200" i="1" kern="100">
                              <a:effectLst/>
                              <a:latin typeface="Cambria Math" panose="02040503050406030204" pitchFamily="18" charset="0"/>
                              <a:ea typeface="Cambria Math" panose="02040503050406030204" pitchFamily="18" charset="0"/>
                            </a:rPr>
                          </m:ctrlPr>
                        </m:sSubSupPr>
                        <m:e>
                          <m:r>
                            <a:rPr lang="en-US" altLang="zh-CN" sz="2200" i="1" kern="100">
                              <a:effectLst/>
                              <a:latin typeface="Cambria Math" panose="02040503050406030204" pitchFamily="18" charset="0"/>
                              <a:ea typeface="宋体" panose="02010600030101010101" pitchFamily="2" charset="-122"/>
                            </a:rPr>
                            <m:t>𝑑</m:t>
                          </m:r>
                        </m:e>
                        <m:sub>
                          <m:r>
                            <a:rPr lang="en-US" altLang="zh-CN" sz="2200" i="1" kern="100">
                              <a:effectLst/>
                              <a:latin typeface="Cambria Math" panose="02040503050406030204" pitchFamily="18" charset="0"/>
                              <a:ea typeface="宋体" panose="02010600030101010101" pitchFamily="2" charset="-122"/>
                            </a:rPr>
                            <m:t>1</m:t>
                          </m:r>
                        </m:sub>
                        <m:sup>
                          <m:r>
                            <a:rPr lang="zh-CN" altLang="en-US" sz="2200" i="1" kern="100">
                              <a:effectLst/>
                              <a:latin typeface="Cambria Math" panose="02040503050406030204" pitchFamily="18" charset="0"/>
                              <a:ea typeface="微软雅黑" panose="020B0503020204020204" pitchFamily="34" charset="-122"/>
                              <a:cs typeface="微软雅黑" panose="020B0503020204020204" pitchFamily="34" charset="-122"/>
                            </a:rPr>
                            <m:t>−</m:t>
                          </m:r>
                        </m:sup>
                      </m:sSubSup>
                      <m:r>
                        <a:rPr lang="en-US" altLang="zh-CN" sz="2200" kern="100">
                          <a:effectLst/>
                          <a:latin typeface="Cambria Math" panose="02040503050406030204" pitchFamily="18" charset="0"/>
                          <a:ea typeface="宋体" panose="02010600030101010101" pitchFamily="2" charset="-122"/>
                        </a:rPr>
                        <m:t>+</m:t>
                      </m:r>
                      <m:sSub>
                        <m:sSubPr>
                          <m:ctrlPr>
                            <a:rPr lang="zh-CN" altLang="zh-CN" sz="2200" i="1" kern="100">
                              <a:effectLst/>
                              <a:latin typeface="Cambria Math" panose="02040503050406030204" pitchFamily="18" charset="0"/>
                              <a:ea typeface="Cambria Math" panose="02040503050406030204" pitchFamily="18" charset="0"/>
                            </a:rPr>
                          </m:ctrlPr>
                        </m:sSubPr>
                        <m:e>
                          <m:r>
                            <a:rPr lang="en-US" altLang="zh-CN" sz="2200" i="1" kern="100">
                              <a:effectLst/>
                              <a:latin typeface="Cambria Math" panose="02040503050406030204" pitchFamily="18" charset="0"/>
                              <a:ea typeface="宋体" panose="02010600030101010101" pitchFamily="2" charset="-122"/>
                            </a:rPr>
                            <m:t>𝑃</m:t>
                          </m:r>
                        </m:e>
                        <m:sub>
                          <m:r>
                            <a:rPr lang="en-US" altLang="zh-CN" sz="2200" i="1" kern="100">
                              <a:effectLst/>
                              <a:latin typeface="Cambria Math" panose="02040503050406030204" pitchFamily="18" charset="0"/>
                              <a:ea typeface="宋体" panose="02010600030101010101" pitchFamily="2" charset="-122"/>
                            </a:rPr>
                            <m:t>2</m:t>
                          </m:r>
                        </m:sub>
                      </m:sSub>
                      <m:r>
                        <a:rPr lang="en-US" altLang="zh-CN" sz="2200" i="1" kern="100">
                          <a:effectLst/>
                          <a:latin typeface="Cambria Math" panose="02040503050406030204" pitchFamily="18" charset="0"/>
                          <a:ea typeface="宋体" panose="02010600030101010101" pitchFamily="2" charset="-122"/>
                        </a:rPr>
                        <m:t>(</m:t>
                      </m:r>
                      <m:sSubSup>
                        <m:sSubSupPr>
                          <m:ctrlPr>
                            <a:rPr lang="zh-CN" altLang="zh-CN" sz="2200" i="1" kern="100">
                              <a:effectLst/>
                              <a:latin typeface="Cambria Math" panose="02040503050406030204" pitchFamily="18" charset="0"/>
                              <a:ea typeface="Cambria Math" panose="02040503050406030204" pitchFamily="18" charset="0"/>
                            </a:rPr>
                          </m:ctrlPr>
                        </m:sSubSupPr>
                        <m:e>
                          <m:r>
                            <a:rPr lang="en-US" altLang="zh-CN" sz="2200" i="1" kern="100">
                              <a:effectLst/>
                              <a:latin typeface="Cambria Math" panose="02040503050406030204" pitchFamily="18" charset="0"/>
                              <a:ea typeface="宋体" panose="02010600030101010101" pitchFamily="2" charset="-122"/>
                            </a:rPr>
                            <m:t>4</m:t>
                          </m:r>
                          <m:r>
                            <a:rPr lang="en-US" altLang="zh-CN" sz="2200" i="1" kern="100">
                              <a:effectLst/>
                              <a:latin typeface="Cambria Math" panose="02040503050406030204" pitchFamily="18" charset="0"/>
                              <a:ea typeface="宋体" panose="02010600030101010101" pitchFamily="2" charset="-122"/>
                            </a:rPr>
                            <m:t>𝑑</m:t>
                          </m:r>
                        </m:e>
                        <m:sub>
                          <m:r>
                            <a:rPr lang="en-US" altLang="zh-CN" sz="2200" i="1" kern="100">
                              <a:effectLst/>
                              <a:latin typeface="Cambria Math" panose="02040503050406030204" pitchFamily="18" charset="0"/>
                              <a:ea typeface="宋体" panose="02010600030101010101" pitchFamily="2" charset="-122"/>
                            </a:rPr>
                            <m:t>2</m:t>
                          </m:r>
                        </m:sub>
                        <m:sup>
                          <m:r>
                            <a:rPr lang="en-US" altLang="zh-CN" sz="2200" i="1" kern="100">
                              <a:effectLst/>
                              <a:latin typeface="Cambria Math" panose="02040503050406030204" pitchFamily="18" charset="0"/>
                              <a:ea typeface="宋体" panose="02010600030101010101" pitchFamily="2" charset="-122"/>
                            </a:rPr>
                            <m:t>−</m:t>
                          </m:r>
                        </m:sup>
                      </m:sSubSup>
                      <m:r>
                        <a:rPr lang="en-US" altLang="zh-CN" sz="2200" i="1" kern="100">
                          <a:effectLst/>
                          <a:latin typeface="Cambria Math" panose="02040503050406030204" pitchFamily="18" charset="0"/>
                          <a:ea typeface="宋体" panose="02010600030101010101" pitchFamily="2" charset="-122"/>
                        </a:rPr>
                        <m:t>+</m:t>
                      </m:r>
                      <m:r>
                        <a:rPr lang="en-US" altLang="zh-CN" sz="2200" i="1" kern="100">
                          <a:effectLst/>
                          <a:latin typeface="Cambria Math" panose="02040503050406030204" pitchFamily="18" charset="0"/>
                          <a:ea typeface="宋体" panose="02010600030101010101" pitchFamily="2" charset="-122"/>
                        </a:rPr>
                        <m:t>3</m:t>
                      </m:r>
                      <m:sSubSup>
                        <m:sSubSupPr>
                          <m:ctrlPr>
                            <a:rPr lang="zh-CN" altLang="zh-CN" sz="2200" i="1" kern="100">
                              <a:effectLst/>
                              <a:latin typeface="Cambria Math" panose="02040503050406030204" pitchFamily="18" charset="0"/>
                              <a:ea typeface="Cambria Math" panose="02040503050406030204" pitchFamily="18" charset="0"/>
                            </a:rPr>
                          </m:ctrlPr>
                        </m:sSubSupPr>
                        <m:e>
                          <m:r>
                            <a:rPr lang="en-US" altLang="zh-CN" sz="2200" i="1" kern="100">
                              <a:effectLst/>
                              <a:latin typeface="Cambria Math" panose="02040503050406030204" pitchFamily="18" charset="0"/>
                              <a:ea typeface="宋体" panose="02010600030101010101" pitchFamily="2" charset="-122"/>
                            </a:rPr>
                            <m:t>𝑑</m:t>
                          </m:r>
                        </m:e>
                        <m:sub>
                          <m:r>
                            <a:rPr lang="en-US" altLang="zh-CN" sz="2200" i="1" kern="100">
                              <a:effectLst/>
                              <a:latin typeface="Cambria Math" panose="02040503050406030204" pitchFamily="18" charset="0"/>
                              <a:ea typeface="宋体" panose="02010600030101010101" pitchFamily="2" charset="-122"/>
                            </a:rPr>
                            <m:t>3</m:t>
                          </m:r>
                        </m:sub>
                        <m:sup>
                          <m:r>
                            <a:rPr lang="zh-CN" altLang="en-US" sz="2200" i="1" kern="100">
                              <a:effectLst/>
                              <a:latin typeface="Cambria Math" panose="02040503050406030204" pitchFamily="18" charset="0"/>
                              <a:ea typeface="微软雅黑" panose="020B0503020204020204" pitchFamily="34" charset="-122"/>
                              <a:cs typeface="微软雅黑" panose="020B0503020204020204" pitchFamily="34" charset="-122"/>
                            </a:rPr>
                            <m:t>−</m:t>
                          </m:r>
                        </m:sup>
                      </m:sSubSup>
                      <m:r>
                        <a:rPr lang="en-US" altLang="zh-CN" sz="2200" i="1" kern="100">
                          <a:effectLst/>
                          <a:latin typeface="Cambria Math" panose="02040503050406030204" pitchFamily="18" charset="0"/>
                          <a:ea typeface="宋体" panose="02010600030101010101" pitchFamily="2" charset="-122"/>
                        </a:rPr>
                        <m:t>)+</m:t>
                      </m:r>
                      <m:sSub>
                        <m:sSubPr>
                          <m:ctrlPr>
                            <a:rPr lang="zh-CN" altLang="zh-CN" sz="2200" i="1" kern="100">
                              <a:effectLst/>
                              <a:latin typeface="Cambria Math" panose="02040503050406030204" pitchFamily="18" charset="0"/>
                              <a:ea typeface="Cambria Math" panose="02040503050406030204" pitchFamily="18" charset="0"/>
                            </a:rPr>
                          </m:ctrlPr>
                        </m:sSubPr>
                        <m:e>
                          <m:r>
                            <a:rPr lang="en-US" altLang="zh-CN" sz="2200" i="1" kern="100">
                              <a:effectLst/>
                              <a:latin typeface="Cambria Math" panose="02040503050406030204" pitchFamily="18" charset="0"/>
                              <a:ea typeface="宋体" panose="02010600030101010101" pitchFamily="2" charset="-122"/>
                            </a:rPr>
                            <m:t>𝑃</m:t>
                          </m:r>
                        </m:e>
                        <m:sub>
                          <m:r>
                            <a:rPr lang="en-US" altLang="zh-CN" sz="2200" i="1" kern="100">
                              <a:effectLst/>
                              <a:latin typeface="Cambria Math" panose="02040503050406030204" pitchFamily="18" charset="0"/>
                              <a:ea typeface="宋体" panose="02010600030101010101" pitchFamily="2" charset="-122"/>
                            </a:rPr>
                            <m:t>3</m:t>
                          </m:r>
                        </m:sub>
                      </m:sSub>
                      <m:sSubSup>
                        <m:sSubSupPr>
                          <m:ctrlPr>
                            <a:rPr lang="zh-CN" altLang="zh-CN" sz="2200" i="1" kern="100">
                              <a:effectLst/>
                              <a:latin typeface="Cambria Math" panose="02040503050406030204" pitchFamily="18" charset="0"/>
                              <a:ea typeface="Cambria Math" panose="02040503050406030204" pitchFamily="18" charset="0"/>
                            </a:rPr>
                          </m:ctrlPr>
                        </m:sSubSupPr>
                        <m:e>
                          <m:r>
                            <a:rPr lang="en-US" altLang="zh-CN" sz="2200" i="1" kern="100">
                              <a:effectLst/>
                              <a:latin typeface="Cambria Math" panose="02040503050406030204" pitchFamily="18" charset="0"/>
                              <a:ea typeface="宋体" panose="02010600030101010101" pitchFamily="2" charset="-122"/>
                            </a:rPr>
                            <m:t>𝑑</m:t>
                          </m:r>
                        </m:e>
                        <m:sub>
                          <m:r>
                            <a:rPr lang="en-US" altLang="zh-CN" sz="2200" i="1" kern="100">
                              <a:effectLst/>
                              <a:latin typeface="Cambria Math" panose="02040503050406030204" pitchFamily="18" charset="0"/>
                              <a:ea typeface="宋体" panose="02010600030101010101" pitchFamily="2" charset="-122"/>
                            </a:rPr>
                            <m:t>4</m:t>
                          </m:r>
                        </m:sub>
                        <m:sup>
                          <m:r>
                            <a:rPr lang="en-US" altLang="zh-CN" sz="2200" i="1" kern="100">
                              <a:effectLst/>
                              <a:latin typeface="Cambria Math" panose="02040503050406030204" pitchFamily="18" charset="0"/>
                              <a:ea typeface="宋体" panose="02010600030101010101" pitchFamily="2" charset="-122"/>
                            </a:rPr>
                            <m:t>+</m:t>
                          </m:r>
                        </m:sup>
                      </m:sSubSup>
                      <m:r>
                        <a:rPr lang="en-US" altLang="zh-CN" sz="2200" i="1" kern="100">
                          <a:effectLst/>
                          <a:latin typeface="Cambria Math" panose="02040503050406030204" pitchFamily="18" charset="0"/>
                          <a:ea typeface="宋体" panose="02010600030101010101" pitchFamily="2" charset="-122"/>
                        </a:rPr>
                        <m:t>+</m:t>
                      </m:r>
                      <m:sSub>
                        <m:sSubPr>
                          <m:ctrlPr>
                            <a:rPr lang="zh-CN" altLang="zh-CN" sz="2200" i="1" kern="100">
                              <a:effectLst/>
                              <a:latin typeface="Cambria Math" panose="02040503050406030204" pitchFamily="18" charset="0"/>
                              <a:ea typeface="Cambria Math" panose="02040503050406030204" pitchFamily="18" charset="0"/>
                            </a:rPr>
                          </m:ctrlPr>
                        </m:sSubPr>
                        <m:e>
                          <m:r>
                            <a:rPr lang="en-US" altLang="zh-CN" sz="2200" i="1" kern="100">
                              <a:effectLst/>
                              <a:latin typeface="Cambria Math" panose="02040503050406030204" pitchFamily="18" charset="0"/>
                              <a:ea typeface="宋体" panose="02010600030101010101" pitchFamily="2" charset="-122"/>
                            </a:rPr>
                            <m:t>𝑃</m:t>
                          </m:r>
                        </m:e>
                        <m:sub>
                          <m:r>
                            <a:rPr lang="en-US" altLang="zh-CN" sz="2200" i="1" kern="100">
                              <a:effectLst/>
                              <a:latin typeface="Cambria Math" panose="02040503050406030204" pitchFamily="18" charset="0"/>
                              <a:ea typeface="宋体" panose="02010600030101010101" pitchFamily="2" charset="-122"/>
                            </a:rPr>
                            <m:t>4</m:t>
                          </m:r>
                        </m:sub>
                      </m:sSub>
                      <m:sSubSup>
                        <m:sSubSupPr>
                          <m:ctrlPr>
                            <a:rPr lang="zh-CN" altLang="zh-CN" sz="2200" i="1" kern="100">
                              <a:effectLst/>
                              <a:latin typeface="Cambria Math" panose="02040503050406030204" pitchFamily="18" charset="0"/>
                              <a:ea typeface="Cambria Math" panose="02040503050406030204" pitchFamily="18" charset="0"/>
                            </a:rPr>
                          </m:ctrlPr>
                        </m:sSubSupPr>
                        <m:e>
                          <m:r>
                            <a:rPr lang="en-US" altLang="zh-CN" sz="2200" i="1" kern="100">
                              <a:effectLst/>
                              <a:latin typeface="Cambria Math" panose="02040503050406030204" pitchFamily="18" charset="0"/>
                              <a:ea typeface="宋体" panose="02010600030101010101" pitchFamily="2" charset="-122"/>
                            </a:rPr>
                            <m:t>𝑑</m:t>
                          </m:r>
                        </m:e>
                        <m:sub>
                          <m:r>
                            <a:rPr lang="en-US" altLang="zh-CN" sz="2200" i="1" kern="100">
                              <a:effectLst/>
                              <a:latin typeface="Cambria Math" panose="02040503050406030204" pitchFamily="18" charset="0"/>
                              <a:ea typeface="宋体" panose="02010600030101010101" pitchFamily="2" charset="-122"/>
                            </a:rPr>
                            <m:t>5</m:t>
                          </m:r>
                        </m:sub>
                        <m:sup>
                          <m:r>
                            <a:rPr lang="zh-CN" altLang="en-US" sz="2200" i="1" kern="100">
                              <a:effectLst/>
                              <a:latin typeface="Cambria Math" panose="02040503050406030204" pitchFamily="18" charset="0"/>
                              <a:ea typeface="微软雅黑" panose="020B0503020204020204" pitchFamily="34" charset="-122"/>
                              <a:cs typeface="微软雅黑" panose="020B0503020204020204" pitchFamily="34" charset="-122"/>
                            </a:rPr>
                            <m:t>−</m:t>
                          </m:r>
                        </m:sup>
                      </m:sSubSup>
                    </m:oMath>
                  </m:oMathPara>
                </a14:m>
                <a:endParaRPr lang="zh-CN" altLang="zh-CN" sz="2200" kern="100" dirty="0">
                  <a:ea typeface="宋体" panose="02010600030101010101" pitchFamily="2" charset="-122"/>
                </a:endParaRPr>
              </a:p>
              <a:p>
                <a14:m>
                  <m:oMathPara xmlns:m="http://schemas.openxmlformats.org/officeDocument/2006/math">
                    <m:oMathParaPr>
                      <m:jc m:val="centerGroup"/>
                    </m:oMathParaPr>
                    <m:oMath xmlns:m="http://schemas.openxmlformats.org/officeDocument/2006/math">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𝑠</m:t>
                      </m:r>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𝑡</m:t>
                      </m:r>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 </m:t>
                      </m:r>
                      <m:d>
                        <m:dPr>
                          <m:begChr m:val="{"/>
                          <m:endChr m:val=""/>
                          <m:ctrlPr>
                            <a:rPr lang="zh-CN" altLang="zh-CN" sz="2200" i="1">
                              <a:effectLst/>
                              <a:latin typeface="Cambria Math" panose="02040503050406030204" pitchFamily="18" charset="0"/>
                              <a:ea typeface="Cambria Math" panose="02040503050406030204" pitchFamily="18" charset="0"/>
                            </a:rPr>
                          </m:ctrlPr>
                        </m:dPr>
                        <m:e>
                          <m:eqArr>
                            <m:eqArrPr>
                              <m:ctrlPr>
                                <a:rPr lang="zh-CN" altLang="zh-CN" sz="2200" i="1">
                                  <a:effectLst/>
                                  <a:latin typeface="Cambria Math" panose="02040503050406030204" pitchFamily="18" charset="0"/>
                                  <a:ea typeface="Cambria Math" panose="02040503050406030204" pitchFamily="18" charset="0"/>
                                </a:rPr>
                              </m:ctrlPr>
                            </m:eqArrPr>
                            <m:e>
                              <m:sSub>
                                <m:sSubPr>
                                  <m:ctrlPr>
                                    <a:rPr lang="zh-CN" altLang="zh-CN" sz="2200" i="1">
                                      <a:effectLst/>
                                      <a:latin typeface="Cambria Math" panose="02040503050406030204" pitchFamily="18" charset="0"/>
                                      <a:ea typeface="Cambria Math" panose="02040503050406030204" pitchFamily="18" charset="0"/>
                                    </a:rPr>
                                  </m:ctrlPr>
                                </m:sSubPr>
                                <m:e>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200" i="1">
                                      <a:effectLst/>
                                      <a:latin typeface="Cambria Math" panose="02040503050406030204" pitchFamily="18" charset="0"/>
                                      <a:ea typeface="Cambria Math" panose="02040503050406030204" pitchFamily="18" charset="0"/>
                                    </a:rPr>
                                  </m:ctrlPr>
                                </m:sSubPr>
                                <m:e>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161</m:t>
                              </m:r>
                            </m:e>
                            <m:e>
                              <m:sSub>
                                <m:sSubPr>
                                  <m:ctrlPr>
                                    <a:rPr lang="zh-CN" altLang="zh-CN" sz="2200" i="1">
                                      <a:effectLst/>
                                      <a:latin typeface="Cambria Math" panose="02040503050406030204" pitchFamily="18" charset="0"/>
                                      <a:ea typeface="Cambria Math" panose="02040503050406030204" pitchFamily="18" charset="0"/>
                                    </a:rPr>
                                  </m:ctrlPr>
                                </m:sSubPr>
                                <m:e>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0</m:t>
                              </m:r>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8</m:t>
                              </m:r>
                              <m:sSub>
                                <m:sSubPr>
                                  <m:ctrlPr>
                                    <a:rPr lang="zh-CN" altLang="zh-CN" sz="2200" i="1">
                                      <a:effectLst/>
                                      <a:latin typeface="Cambria Math" panose="02040503050406030204" pitchFamily="18" charset="0"/>
                                      <a:ea typeface="Cambria Math" panose="02040503050406030204" pitchFamily="18" charset="0"/>
                                    </a:rPr>
                                  </m:ctrlPr>
                                </m:sSubPr>
                                <m:e>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2200" i="1">
                                      <a:effectLst/>
                                      <a:latin typeface="Cambria Math" panose="02040503050406030204" pitchFamily="18" charset="0"/>
                                      <a:ea typeface="Cambria Math" panose="02040503050406030204" pitchFamily="18" charset="0"/>
                                    </a:rPr>
                                  </m:ctrlPr>
                                </m:sSubSupPr>
                                <m:e>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𝑑</m:t>
                                  </m:r>
                                </m:e>
                                <m:sub>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2200" i="1">
                                      <a:effectLst/>
                                      <a:latin typeface="Cambria Math" panose="02040503050406030204" pitchFamily="18" charset="0"/>
                                      <a:ea typeface="Cambria Math" panose="02040503050406030204" pitchFamily="18" charset="0"/>
                                    </a:rPr>
                                  </m:ctrlPr>
                                </m:sSubSupPr>
                                <m:e>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𝑑</m:t>
                                  </m:r>
                                </m:e>
                                <m:sub>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112</m:t>
                              </m:r>
                            </m:e>
                            <m:e>
                              <m:sSub>
                                <m:sSubPr>
                                  <m:ctrlPr>
                                    <a:rPr lang="zh-CN" altLang="zh-CN" sz="2200" i="1">
                                      <a:effectLst/>
                                      <a:latin typeface="Cambria Math" panose="02040503050406030204" pitchFamily="18" charset="0"/>
                                      <a:ea typeface="Cambria Math" panose="02040503050406030204" pitchFamily="18" charset="0"/>
                                    </a:rPr>
                                  </m:ctrlPr>
                                </m:sSubPr>
                                <m:e>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2200" i="1">
                                      <a:effectLst/>
                                      <a:latin typeface="Cambria Math" panose="02040503050406030204" pitchFamily="18" charset="0"/>
                                      <a:ea typeface="Cambria Math" panose="02040503050406030204" pitchFamily="18" charset="0"/>
                                    </a:rPr>
                                  </m:ctrlPr>
                                </m:sSubSupPr>
                                <m:e>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𝑑</m:t>
                                  </m:r>
                                </m:e>
                                <m:sub>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2</m:t>
                                  </m:r>
                                </m:sub>
                                <m:sup>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2200" i="1">
                                      <a:effectLst/>
                                      <a:latin typeface="Cambria Math" panose="02040503050406030204" pitchFamily="18" charset="0"/>
                                      <a:ea typeface="Cambria Math" panose="02040503050406030204" pitchFamily="18" charset="0"/>
                                    </a:rPr>
                                  </m:ctrlPr>
                                </m:sSubSupPr>
                                <m:e>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𝑑</m:t>
                                  </m:r>
                                </m:e>
                                <m:sub>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2</m:t>
                                  </m:r>
                                </m:sub>
                                <m:sup>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80</m:t>
                              </m:r>
                            </m:e>
                            <m:e>
                              <m:sSub>
                                <m:sSubPr>
                                  <m:ctrlPr>
                                    <a:rPr lang="zh-CN" altLang="zh-CN" sz="2200" i="1">
                                      <a:effectLst/>
                                      <a:latin typeface="Cambria Math" panose="02040503050406030204" pitchFamily="18" charset="0"/>
                                      <a:ea typeface="Cambria Math" panose="02040503050406030204" pitchFamily="18" charset="0"/>
                                    </a:rPr>
                                  </m:ctrlPr>
                                </m:sSubPr>
                                <m:e>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2200" i="1">
                                      <a:effectLst/>
                                      <a:latin typeface="Cambria Math" panose="02040503050406030204" pitchFamily="18" charset="0"/>
                                      <a:ea typeface="Cambria Math" panose="02040503050406030204" pitchFamily="18" charset="0"/>
                                    </a:rPr>
                                  </m:ctrlPr>
                                </m:sSubSupPr>
                                <m:e>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𝑑</m:t>
                                  </m:r>
                                </m:e>
                                <m:sub>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3</m:t>
                                  </m:r>
                                </m:sub>
                                <m:sup>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2200" i="1">
                                      <a:effectLst/>
                                      <a:latin typeface="Cambria Math" panose="02040503050406030204" pitchFamily="18" charset="0"/>
                                      <a:ea typeface="Cambria Math" panose="02040503050406030204" pitchFamily="18" charset="0"/>
                                    </a:rPr>
                                  </m:ctrlPr>
                                </m:sSubSupPr>
                                <m:e>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𝑑</m:t>
                                  </m:r>
                                </m:e>
                                <m:sub>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3</m:t>
                                  </m:r>
                                </m:sub>
                                <m:sup>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100</m:t>
                              </m:r>
                            </m:e>
                            <m:e>
                              <m:sSub>
                                <m:sSubPr>
                                  <m:ctrlPr>
                                    <a:rPr lang="zh-CN" altLang="zh-CN" sz="2200" i="1">
                                      <a:effectLst/>
                                      <a:latin typeface="Cambria Math" panose="02040503050406030204" pitchFamily="18" charset="0"/>
                                      <a:ea typeface="Cambria Math" panose="02040503050406030204" pitchFamily="18" charset="0"/>
                                    </a:rPr>
                                  </m:ctrlPr>
                                </m:sSubPr>
                                <m:e>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0</m:t>
                              </m:r>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8</m:t>
                              </m:r>
                              <m:sSub>
                                <m:sSubPr>
                                  <m:ctrlPr>
                                    <a:rPr lang="zh-CN" altLang="zh-CN" sz="2200" i="1">
                                      <a:effectLst/>
                                      <a:latin typeface="Cambria Math" panose="02040503050406030204" pitchFamily="18" charset="0"/>
                                      <a:ea typeface="Cambria Math" panose="02040503050406030204" pitchFamily="18" charset="0"/>
                                    </a:rPr>
                                  </m:ctrlPr>
                                </m:sSubPr>
                                <m:e>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2200" i="1">
                                      <a:effectLst/>
                                      <a:latin typeface="Cambria Math" panose="02040503050406030204" pitchFamily="18" charset="0"/>
                                      <a:ea typeface="Cambria Math" panose="02040503050406030204" pitchFamily="18" charset="0"/>
                                    </a:rPr>
                                  </m:ctrlPr>
                                </m:sSubSupPr>
                                <m:e>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𝑑</m:t>
                                  </m:r>
                                </m:e>
                                <m:sub>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4</m:t>
                                  </m:r>
                                </m:sub>
                                <m:sup>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2200" i="1">
                                      <a:effectLst/>
                                      <a:latin typeface="Cambria Math" panose="02040503050406030204" pitchFamily="18" charset="0"/>
                                      <a:ea typeface="Cambria Math" panose="02040503050406030204" pitchFamily="18" charset="0"/>
                                    </a:rPr>
                                  </m:ctrlPr>
                                </m:sSubSupPr>
                                <m:e>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𝑑</m:t>
                                  </m:r>
                                </m:e>
                                <m:sub>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4</m:t>
                                  </m:r>
                                </m:sub>
                                <m:sup>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152</m:t>
                              </m:r>
                            </m:e>
                            <m:e>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800</m:t>
                              </m:r>
                              <m:sSub>
                                <m:sSubPr>
                                  <m:ctrlPr>
                                    <a:rPr lang="zh-CN" altLang="zh-CN" sz="2200" i="1">
                                      <a:effectLst/>
                                      <a:latin typeface="Cambria Math" panose="02040503050406030204" pitchFamily="18" charset="0"/>
                                      <a:ea typeface="Cambria Math" panose="02040503050406030204" pitchFamily="18" charset="0"/>
                                    </a:rPr>
                                  </m:ctrlPr>
                                </m:sSubPr>
                                <m:e>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600</m:t>
                              </m:r>
                              <m:sSub>
                                <m:sSubPr>
                                  <m:ctrlPr>
                                    <a:rPr lang="zh-CN" altLang="zh-CN" sz="2200" i="1">
                                      <a:effectLst/>
                                      <a:latin typeface="Cambria Math" panose="02040503050406030204" pitchFamily="18" charset="0"/>
                                      <a:ea typeface="Cambria Math" panose="02040503050406030204" pitchFamily="18" charset="0"/>
                                    </a:rPr>
                                  </m:ctrlPr>
                                </m:sSubPr>
                                <m:e>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2200" i="1">
                                      <a:effectLst/>
                                      <a:latin typeface="Cambria Math" panose="02040503050406030204" pitchFamily="18" charset="0"/>
                                      <a:ea typeface="Cambria Math" panose="02040503050406030204" pitchFamily="18" charset="0"/>
                                    </a:rPr>
                                  </m:ctrlPr>
                                </m:sSubSupPr>
                                <m:e>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𝑑</m:t>
                                  </m:r>
                                </m:e>
                                <m:sub>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5</m:t>
                                  </m:r>
                                </m:sub>
                                <m:sup>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2200" i="1">
                                      <a:effectLst/>
                                      <a:latin typeface="Cambria Math" panose="02040503050406030204" pitchFamily="18" charset="0"/>
                                      <a:ea typeface="Cambria Math" panose="02040503050406030204" pitchFamily="18" charset="0"/>
                                    </a:rPr>
                                  </m:ctrlPr>
                                </m:sSubSupPr>
                                <m:e>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𝑑</m:t>
                                  </m:r>
                                </m:e>
                                <m:sub>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5</m:t>
                                  </m:r>
                                </m:sub>
                                <m:sup>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𝑀</m:t>
                              </m:r>
                            </m:e>
                            <m:e>
                              <m:sSub>
                                <m:sSubPr>
                                  <m:ctrlPr>
                                    <a:rPr lang="zh-CN" altLang="zh-CN" sz="2200" i="1">
                                      <a:effectLst/>
                                      <a:latin typeface="Cambria Math" panose="02040503050406030204" pitchFamily="18" charset="0"/>
                                      <a:ea typeface="Cambria Math" panose="02040503050406030204" pitchFamily="18" charset="0"/>
                                    </a:rPr>
                                  </m:ctrlPr>
                                </m:sSubPr>
                                <m:e>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200" i="1">
                                      <a:effectLst/>
                                      <a:latin typeface="Cambria Math" panose="02040503050406030204" pitchFamily="18" charset="0"/>
                                      <a:ea typeface="Cambria Math" panose="02040503050406030204" pitchFamily="18" charset="0"/>
                                    </a:rPr>
                                  </m:ctrlPr>
                                </m:sSubPr>
                                <m:e>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2200" i="1">
                                      <a:effectLst/>
                                      <a:latin typeface="Cambria Math" panose="02040503050406030204" pitchFamily="18" charset="0"/>
                                      <a:ea typeface="Cambria Math" panose="02040503050406030204" pitchFamily="18" charset="0"/>
                                    </a:rPr>
                                  </m:ctrlPr>
                                </m:sSubSupPr>
                                <m:e>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𝑑</m:t>
                                  </m:r>
                                </m:e>
                                <m:sub>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𝑖</m:t>
                                  </m:r>
                                </m:sub>
                                <m:sup>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2200" i="1">
                                      <a:effectLst/>
                                      <a:latin typeface="Cambria Math" panose="02040503050406030204" pitchFamily="18" charset="0"/>
                                      <a:ea typeface="Cambria Math" panose="02040503050406030204" pitchFamily="18" charset="0"/>
                                    </a:rPr>
                                  </m:ctrlPr>
                                </m:sSubSupPr>
                                <m:e>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𝑑</m:t>
                                  </m:r>
                                </m:e>
                                <m:sub>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𝑖</m:t>
                                  </m:r>
                                </m:sub>
                                <m:sup>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0</m:t>
                              </m:r>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 </m:t>
                              </m:r>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𝑖</m:t>
                              </m:r>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1</m:t>
                              </m:r>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2</m:t>
                              </m:r>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3</m:t>
                              </m:r>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4</m:t>
                              </m:r>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5</m:t>
                              </m:r>
                            </m:e>
                            <m:e>
                              <m:sSubSup>
                                <m:sSubSupPr>
                                  <m:ctrlPr>
                                    <a:rPr lang="zh-CN" altLang="zh-CN" sz="2200" i="1">
                                      <a:effectLst/>
                                      <a:latin typeface="Cambria Math" panose="02040503050406030204" pitchFamily="18" charset="0"/>
                                      <a:ea typeface="Cambria Math" panose="02040503050406030204" pitchFamily="18" charset="0"/>
                                    </a:rPr>
                                  </m:ctrlPr>
                                </m:sSubSupPr>
                                <m:e>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𝑑</m:t>
                                  </m:r>
                                </m:e>
                                <m:sub>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𝑖</m:t>
                                  </m:r>
                                </m:sub>
                                <m:sup>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2200" i="1">
                                      <a:effectLst/>
                                      <a:latin typeface="Cambria Math" panose="02040503050406030204" pitchFamily="18" charset="0"/>
                                      <a:ea typeface="Cambria Math" panose="02040503050406030204" pitchFamily="18" charset="0"/>
                                    </a:rPr>
                                  </m:ctrlPr>
                                </m:sSubSupPr>
                                <m:e>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𝑑</m:t>
                                  </m:r>
                                </m:e>
                                <m:sub>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𝑖</m:t>
                                  </m:r>
                                </m:sub>
                                <m:sup>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0</m:t>
                              </m:r>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 </m:t>
                              </m:r>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𝑖</m:t>
                              </m:r>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1</m:t>
                              </m:r>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2</m:t>
                              </m:r>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3</m:t>
                              </m:r>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4</m:t>
                              </m:r>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200" i="1" kern="100">
                                  <a:effectLst/>
                                  <a:latin typeface="Cambria Math" panose="02040503050406030204" pitchFamily="18" charset="0"/>
                                  <a:ea typeface="宋体" panose="02010600030101010101" pitchFamily="2" charset="-122"/>
                                  <a:cs typeface="Times New Roman" panose="02020603050405020304" pitchFamily="18" charset="0"/>
                                </a:rPr>
                                <m:t>5</m:t>
                              </m:r>
                            </m:e>
                          </m:eqArr>
                        </m:e>
                      </m:d>
                    </m:oMath>
                  </m:oMathPara>
                </a14:m>
                <a:endParaRPr lang="zh-CN" altLang="en-US" sz="2200" dirty="0"/>
              </a:p>
            </p:txBody>
          </p:sp>
        </mc:Choice>
        <mc:Fallback>
          <p:sp>
            <p:nvSpPr>
              <p:cNvPr id="4" name="矩形 3"/>
              <p:cNvSpPr>
                <a:spLocks noRot="1" noChangeAspect="1" noMove="1" noResize="1" noEditPoints="1" noAdjustHandles="1" noChangeArrowheads="1" noChangeShapeType="1" noTextEdit="1"/>
              </p:cNvSpPr>
              <p:nvPr/>
            </p:nvSpPr>
            <p:spPr>
              <a:xfrm>
                <a:off x="2852798" y="1741417"/>
                <a:ext cx="6561015" cy="3467100"/>
              </a:xfrm>
              <a:prstGeom prst="rect">
                <a:avLst/>
              </a:prstGeom>
              <a:blipFill rotWithShape="1">
                <a:blip r:embed="rId1"/>
                <a:stretch>
                  <a:fillRect l="-6" t="-7" r="9" b="7"/>
                </a:stretch>
              </a:blipFill>
            </p:spPr>
            <p:txBody>
              <a:bodyPr/>
              <a:lstStyle/>
              <a:p>
                <a:r>
                  <a:rPr lang="zh-CN" altLang="en-US">
                    <a:noFill/>
                  </a:rPr>
                  <a:t> </a:t>
                </a:r>
              </a:p>
            </p:txBody>
          </p:sp>
        </mc:Fallback>
      </mc:AlternateContent>
      <p:sp>
        <p:nvSpPr>
          <p:cNvPr id="2" name="Rectangle 69"/>
          <p:cNvSpPr>
            <a:spLocks noGrp="1" noChangeArrowheads="1"/>
          </p:cNvSpPr>
          <p:nvPr>
            <p:ph type="title" idx="4294967295"/>
          </p:nvPr>
        </p:nvSpPr>
        <p:spPr/>
        <p:txBody>
          <a:bodyPr>
            <a:normAutofit fontScale="90000"/>
          </a:bodyPr>
          <a:p>
            <a:r>
              <a:rPr lang="zh-CN" altLang="en-US">
                <a:latin typeface="华文楷体" panose="02010600040101010101" charset="-122"/>
                <a:ea typeface="华文楷体" panose="02010600040101010101" charset="-122"/>
                <a:cs typeface="华文楷体" panose="02010600040101010101" charset="-122"/>
              </a:rPr>
              <a:t>复杂情况下的有优先权的目标规划</a:t>
            </a:r>
            <a:r>
              <a:rPr lang="en-US" altLang="zh-CN">
                <a:latin typeface="华文楷体" panose="02010600040101010101" charset="-122"/>
                <a:ea typeface="华文楷体" panose="02010600040101010101" charset="-122"/>
                <a:cs typeface="华文楷体" panose="02010600040101010101" charset="-122"/>
              </a:rPr>
              <a:t>-</a:t>
            </a:r>
            <a:r>
              <a:rPr lang="zh-CN" altLang="en-US">
                <a:latin typeface="华文楷体" panose="02010600040101010101" charset="-122"/>
                <a:ea typeface="华文楷体" panose="02010600040101010101" charset="-122"/>
                <a:cs typeface="华文楷体" panose="02010600040101010101" charset="-122"/>
                <a:sym typeface="+mn-ea"/>
              </a:rPr>
              <a:t>设备组装线</a:t>
            </a:r>
            <a:endParaRPr lang="zh-CN" altLang="en-US">
              <a:latin typeface="华文楷体" panose="02010600040101010101" charset="-122"/>
              <a:ea typeface="华文楷体" panose="02010600040101010101" charset="-122"/>
              <a:cs typeface="华文楷体" panose="02010600040101010101" charset="-122"/>
            </a:endParaRPr>
          </a:p>
        </p:txBody>
      </p:sp>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1844675" y="1370745"/>
            <a:ext cx="6267450" cy="5038725"/>
          </a:xfrm>
          <a:prstGeom prst="rect">
            <a:avLst/>
          </a:prstGeom>
        </p:spPr>
      </p:pic>
      <mc:AlternateContent xmlns:mc="http://schemas.openxmlformats.org/markup-compatibility/2006">
        <mc:Choice xmlns:a14="http://schemas.microsoft.com/office/drawing/2010/main" Requires="a14">
          <p:sp>
            <p:nvSpPr>
              <p:cNvPr id="2" name="矩形 1"/>
              <p:cNvSpPr/>
              <p:nvPr/>
            </p:nvSpPr>
            <p:spPr>
              <a:xfrm>
                <a:off x="6038068" y="1436370"/>
                <a:ext cx="5046968" cy="2525395"/>
              </a:xfrm>
              <a:prstGeom prst="rect">
                <a:avLst/>
              </a:prstGeom>
              <a:solidFill>
                <a:schemeClr val="bg1"/>
              </a:solidFill>
            </p:spPr>
            <p:txBody>
              <a:bodyPr wrap="square">
                <a:spAutoFit/>
              </a:bodyPr>
              <a:lstStyle/>
              <a:p>
                <a:pPr indent="266700" algn="just">
                  <a:lnSpc>
                    <a:spcPct val="115000"/>
                  </a:lnSpc>
                  <a:spcAft>
                    <a:spcPts val="0"/>
                  </a:spcAft>
                </a:pPr>
                <a14:m>
                  <m:oMathPara xmlns:m="http://schemas.openxmlformats.org/officeDocument/2006/math">
                    <m:oMathParaPr>
                      <m:jc m:val="centerGroup"/>
                    </m:oMathParaPr>
                    <m:oMath xmlns:m="http://schemas.openxmlformats.org/officeDocument/2006/math">
                      <m:r>
                        <a:rPr lang="en-US" altLang="zh-CN" sz="1600" i="1" kern="100">
                          <a:effectLst/>
                          <a:latin typeface="Cambria Math" panose="02040503050406030204" pitchFamily="18" charset="0"/>
                          <a:ea typeface="宋体" panose="02010600030101010101" pitchFamily="2" charset="-122"/>
                        </a:rPr>
                        <m:t>𝑚𝑖𝑛</m:t>
                      </m:r>
                      <m:r>
                        <a:rPr lang="en-US" altLang="zh-CN" sz="1600" i="1" kern="100">
                          <a:effectLst/>
                          <a:latin typeface="Cambria Math" panose="02040503050406030204" pitchFamily="18" charset="0"/>
                          <a:ea typeface="宋体" panose="02010600030101010101" pitchFamily="2" charset="-122"/>
                        </a:rPr>
                        <m:t> </m:t>
                      </m:r>
                      <m:r>
                        <a:rPr lang="en-US" altLang="zh-CN" sz="1600" i="1" kern="100">
                          <a:effectLst/>
                          <a:latin typeface="Cambria Math" panose="02040503050406030204" pitchFamily="18" charset="0"/>
                          <a:ea typeface="宋体" panose="02010600030101010101" pitchFamily="2" charset="-122"/>
                        </a:rPr>
                        <m:t>𝑤</m:t>
                      </m:r>
                      <m:r>
                        <a:rPr lang="en-US" altLang="zh-CN" sz="1600" i="1" kern="100">
                          <a:effectLst/>
                          <a:latin typeface="Cambria Math" panose="02040503050406030204" pitchFamily="18" charset="0"/>
                          <a:ea typeface="宋体" panose="02010600030101010101" pitchFamily="2" charset="-122"/>
                        </a:rPr>
                        <m:t>=</m:t>
                      </m:r>
                      <m:sSub>
                        <m:sSubPr>
                          <m:ctrlPr>
                            <a:rPr lang="zh-CN" altLang="zh-CN" sz="1600" i="1" kern="100">
                              <a:effectLst/>
                              <a:latin typeface="Cambria Math" panose="02040503050406030204" pitchFamily="18" charset="0"/>
                              <a:ea typeface="Cambria Math" panose="02040503050406030204" pitchFamily="18" charset="0"/>
                            </a:rPr>
                          </m:ctrlPr>
                        </m:sSubPr>
                        <m:e>
                          <m:r>
                            <a:rPr lang="en-US" altLang="zh-CN" sz="1600" i="1" kern="100">
                              <a:effectLst/>
                              <a:latin typeface="Cambria Math" panose="02040503050406030204" pitchFamily="18" charset="0"/>
                              <a:ea typeface="宋体" panose="02010600030101010101" pitchFamily="2" charset="-122"/>
                            </a:rPr>
                            <m:t>𝑃</m:t>
                          </m:r>
                        </m:e>
                        <m:sub>
                          <m:r>
                            <a:rPr lang="en-US" altLang="zh-CN" sz="1600" i="1" kern="100">
                              <a:effectLst/>
                              <a:latin typeface="Cambria Math" panose="02040503050406030204" pitchFamily="18" charset="0"/>
                              <a:ea typeface="宋体" panose="02010600030101010101" pitchFamily="2" charset="-122"/>
                            </a:rPr>
                            <m:t>1</m:t>
                          </m:r>
                        </m:sub>
                      </m:sSub>
                      <m:sSubSup>
                        <m:sSubSupPr>
                          <m:ctrlPr>
                            <a:rPr lang="zh-CN" altLang="zh-CN" sz="1600" i="1" kern="100">
                              <a:effectLst/>
                              <a:latin typeface="Cambria Math" panose="02040503050406030204" pitchFamily="18" charset="0"/>
                              <a:ea typeface="Cambria Math" panose="02040503050406030204" pitchFamily="18" charset="0"/>
                            </a:rPr>
                          </m:ctrlPr>
                        </m:sSubSupPr>
                        <m:e>
                          <m:r>
                            <a:rPr lang="en-US" altLang="zh-CN" sz="1600" i="1" kern="100">
                              <a:effectLst/>
                              <a:latin typeface="Cambria Math" panose="02040503050406030204" pitchFamily="18" charset="0"/>
                              <a:ea typeface="宋体" panose="02010600030101010101" pitchFamily="2" charset="-122"/>
                            </a:rPr>
                            <m:t>𝑑</m:t>
                          </m:r>
                        </m:e>
                        <m:sub>
                          <m:r>
                            <a:rPr lang="en-US" altLang="zh-CN" sz="1600" i="1" kern="100">
                              <a:effectLst/>
                              <a:latin typeface="Cambria Math" panose="02040503050406030204" pitchFamily="18" charset="0"/>
                              <a:ea typeface="宋体" panose="02010600030101010101" pitchFamily="2" charset="-122"/>
                            </a:rPr>
                            <m:t>1</m:t>
                          </m:r>
                        </m:sub>
                        <m:sup>
                          <m:r>
                            <a:rPr lang="zh-CN" altLang="en-US" sz="1600" i="1" kern="100">
                              <a:effectLst/>
                              <a:latin typeface="Cambria Math" panose="02040503050406030204" pitchFamily="18" charset="0"/>
                              <a:ea typeface="微软雅黑" panose="020B0503020204020204" pitchFamily="34" charset="-122"/>
                              <a:cs typeface="微软雅黑" panose="020B0503020204020204" pitchFamily="34" charset="-122"/>
                            </a:rPr>
                            <m:t>−</m:t>
                          </m:r>
                        </m:sup>
                      </m:sSubSup>
                      <m:r>
                        <a:rPr lang="en-US" altLang="zh-CN" sz="1600" kern="100">
                          <a:effectLst/>
                          <a:latin typeface="Cambria Math" panose="02040503050406030204" pitchFamily="18" charset="0"/>
                          <a:ea typeface="宋体" panose="02010600030101010101" pitchFamily="2" charset="-122"/>
                        </a:rPr>
                        <m:t>+</m:t>
                      </m:r>
                      <m:sSub>
                        <m:sSubPr>
                          <m:ctrlPr>
                            <a:rPr lang="zh-CN" altLang="zh-CN" sz="1600" i="1" kern="100">
                              <a:effectLst/>
                              <a:latin typeface="Cambria Math" panose="02040503050406030204" pitchFamily="18" charset="0"/>
                              <a:ea typeface="Cambria Math" panose="02040503050406030204" pitchFamily="18" charset="0"/>
                            </a:rPr>
                          </m:ctrlPr>
                        </m:sSubPr>
                        <m:e>
                          <m:r>
                            <a:rPr lang="en-US" altLang="zh-CN" sz="1600" i="1" kern="100">
                              <a:effectLst/>
                              <a:latin typeface="Cambria Math" panose="02040503050406030204" pitchFamily="18" charset="0"/>
                              <a:ea typeface="宋体" panose="02010600030101010101" pitchFamily="2" charset="-122"/>
                            </a:rPr>
                            <m:t>𝑃</m:t>
                          </m:r>
                        </m:e>
                        <m:sub>
                          <m:r>
                            <a:rPr lang="en-US" altLang="zh-CN" sz="1600" i="1" kern="100">
                              <a:effectLst/>
                              <a:latin typeface="Cambria Math" panose="02040503050406030204" pitchFamily="18" charset="0"/>
                              <a:ea typeface="宋体" panose="02010600030101010101" pitchFamily="2" charset="-122"/>
                            </a:rPr>
                            <m:t>2</m:t>
                          </m:r>
                        </m:sub>
                      </m:sSub>
                      <m:r>
                        <a:rPr lang="en-US" altLang="zh-CN" sz="1600" i="1" kern="100">
                          <a:effectLst/>
                          <a:latin typeface="Cambria Math" panose="02040503050406030204" pitchFamily="18" charset="0"/>
                          <a:ea typeface="宋体" panose="02010600030101010101" pitchFamily="2" charset="-122"/>
                        </a:rPr>
                        <m:t>(</m:t>
                      </m:r>
                      <m:sSubSup>
                        <m:sSubSupPr>
                          <m:ctrlPr>
                            <a:rPr lang="zh-CN" altLang="zh-CN" sz="1600" i="1" kern="100">
                              <a:effectLst/>
                              <a:latin typeface="Cambria Math" panose="02040503050406030204" pitchFamily="18" charset="0"/>
                              <a:ea typeface="Cambria Math" panose="02040503050406030204" pitchFamily="18" charset="0"/>
                            </a:rPr>
                          </m:ctrlPr>
                        </m:sSubSupPr>
                        <m:e>
                          <m:r>
                            <a:rPr lang="en-US" altLang="zh-CN" sz="1600" i="1" kern="100">
                              <a:effectLst/>
                              <a:latin typeface="Cambria Math" panose="02040503050406030204" pitchFamily="18" charset="0"/>
                              <a:ea typeface="宋体" panose="02010600030101010101" pitchFamily="2" charset="-122"/>
                            </a:rPr>
                            <m:t>4</m:t>
                          </m:r>
                          <m:r>
                            <a:rPr lang="en-US" altLang="zh-CN" sz="1600" i="1" kern="100">
                              <a:effectLst/>
                              <a:latin typeface="Cambria Math" panose="02040503050406030204" pitchFamily="18" charset="0"/>
                              <a:ea typeface="宋体" panose="02010600030101010101" pitchFamily="2" charset="-122"/>
                            </a:rPr>
                            <m:t>𝑑</m:t>
                          </m:r>
                        </m:e>
                        <m:sub>
                          <m:r>
                            <a:rPr lang="en-US" altLang="zh-CN" sz="1600" i="1" kern="100">
                              <a:effectLst/>
                              <a:latin typeface="Cambria Math" panose="02040503050406030204" pitchFamily="18" charset="0"/>
                              <a:ea typeface="宋体" panose="02010600030101010101" pitchFamily="2" charset="-122"/>
                            </a:rPr>
                            <m:t>2</m:t>
                          </m:r>
                        </m:sub>
                        <m:sup>
                          <m:r>
                            <a:rPr lang="en-US" altLang="zh-CN" sz="1600" i="1" kern="100">
                              <a:effectLst/>
                              <a:latin typeface="Cambria Math" panose="02040503050406030204" pitchFamily="18" charset="0"/>
                              <a:ea typeface="宋体" panose="02010600030101010101" pitchFamily="2" charset="-122"/>
                            </a:rPr>
                            <m:t>−</m:t>
                          </m:r>
                        </m:sup>
                      </m:sSubSup>
                      <m:r>
                        <a:rPr lang="en-US" altLang="zh-CN" sz="1600" i="1" kern="100">
                          <a:effectLst/>
                          <a:latin typeface="Cambria Math" panose="02040503050406030204" pitchFamily="18" charset="0"/>
                          <a:ea typeface="宋体" panose="02010600030101010101" pitchFamily="2" charset="-122"/>
                        </a:rPr>
                        <m:t>+</m:t>
                      </m:r>
                      <m:r>
                        <a:rPr lang="en-US" altLang="zh-CN" sz="1600" i="1" kern="100">
                          <a:effectLst/>
                          <a:latin typeface="Cambria Math" panose="02040503050406030204" pitchFamily="18" charset="0"/>
                          <a:ea typeface="宋体" panose="02010600030101010101" pitchFamily="2" charset="-122"/>
                        </a:rPr>
                        <m:t>3</m:t>
                      </m:r>
                      <m:sSubSup>
                        <m:sSubSupPr>
                          <m:ctrlPr>
                            <a:rPr lang="zh-CN" altLang="zh-CN" sz="1600" i="1" kern="100">
                              <a:effectLst/>
                              <a:latin typeface="Cambria Math" panose="02040503050406030204" pitchFamily="18" charset="0"/>
                              <a:ea typeface="Cambria Math" panose="02040503050406030204" pitchFamily="18" charset="0"/>
                            </a:rPr>
                          </m:ctrlPr>
                        </m:sSubSupPr>
                        <m:e>
                          <m:r>
                            <a:rPr lang="en-US" altLang="zh-CN" sz="1600" i="1" kern="100">
                              <a:effectLst/>
                              <a:latin typeface="Cambria Math" panose="02040503050406030204" pitchFamily="18" charset="0"/>
                              <a:ea typeface="宋体" panose="02010600030101010101" pitchFamily="2" charset="-122"/>
                            </a:rPr>
                            <m:t>𝑑</m:t>
                          </m:r>
                        </m:e>
                        <m:sub>
                          <m:r>
                            <a:rPr lang="en-US" altLang="zh-CN" sz="1600" i="1" kern="100">
                              <a:effectLst/>
                              <a:latin typeface="Cambria Math" panose="02040503050406030204" pitchFamily="18" charset="0"/>
                              <a:ea typeface="宋体" panose="02010600030101010101" pitchFamily="2" charset="-122"/>
                            </a:rPr>
                            <m:t>3</m:t>
                          </m:r>
                        </m:sub>
                        <m:sup>
                          <m:r>
                            <a:rPr lang="zh-CN" altLang="en-US" sz="1600" i="1" kern="100">
                              <a:effectLst/>
                              <a:latin typeface="Cambria Math" panose="02040503050406030204" pitchFamily="18" charset="0"/>
                              <a:ea typeface="微软雅黑" panose="020B0503020204020204" pitchFamily="34" charset="-122"/>
                              <a:cs typeface="微软雅黑" panose="020B0503020204020204" pitchFamily="34" charset="-122"/>
                            </a:rPr>
                            <m:t>−</m:t>
                          </m:r>
                        </m:sup>
                      </m:sSubSup>
                      <m:r>
                        <a:rPr lang="en-US" altLang="zh-CN" sz="1600" i="1" kern="100">
                          <a:effectLst/>
                          <a:latin typeface="Cambria Math" panose="02040503050406030204" pitchFamily="18" charset="0"/>
                          <a:ea typeface="宋体" panose="02010600030101010101" pitchFamily="2" charset="-122"/>
                        </a:rPr>
                        <m:t>)+</m:t>
                      </m:r>
                      <m:sSub>
                        <m:sSubPr>
                          <m:ctrlPr>
                            <a:rPr lang="zh-CN" altLang="zh-CN" sz="1600" i="1" kern="100">
                              <a:effectLst/>
                              <a:latin typeface="Cambria Math" panose="02040503050406030204" pitchFamily="18" charset="0"/>
                              <a:ea typeface="Cambria Math" panose="02040503050406030204" pitchFamily="18" charset="0"/>
                            </a:rPr>
                          </m:ctrlPr>
                        </m:sSubPr>
                        <m:e>
                          <m:r>
                            <a:rPr lang="en-US" altLang="zh-CN" sz="1600" i="1" kern="100">
                              <a:effectLst/>
                              <a:latin typeface="Cambria Math" panose="02040503050406030204" pitchFamily="18" charset="0"/>
                              <a:ea typeface="宋体" panose="02010600030101010101" pitchFamily="2" charset="-122"/>
                            </a:rPr>
                            <m:t>𝑃</m:t>
                          </m:r>
                        </m:e>
                        <m:sub>
                          <m:r>
                            <a:rPr lang="en-US" altLang="zh-CN" sz="1600" i="1" kern="100">
                              <a:effectLst/>
                              <a:latin typeface="Cambria Math" panose="02040503050406030204" pitchFamily="18" charset="0"/>
                              <a:ea typeface="宋体" panose="02010600030101010101" pitchFamily="2" charset="-122"/>
                            </a:rPr>
                            <m:t>3</m:t>
                          </m:r>
                        </m:sub>
                      </m:sSub>
                      <m:sSubSup>
                        <m:sSubSupPr>
                          <m:ctrlPr>
                            <a:rPr lang="zh-CN" altLang="zh-CN" sz="1600" i="1" kern="100">
                              <a:effectLst/>
                              <a:latin typeface="Cambria Math" panose="02040503050406030204" pitchFamily="18" charset="0"/>
                              <a:ea typeface="Cambria Math" panose="02040503050406030204" pitchFamily="18" charset="0"/>
                            </a:rPr>
                          </m:ctrlPr>
                        </m:sSubSupPr>
                        <m:e>
                          <m:r>
                            <a:rPr lang="en-US" altLang="zh-CN" sz="1600" i="1" kern="100">
                              <a:effectLst/>
                              <a:latin typeface="Cambria Math" panose="02040503050406030204" pitchFamily="18" charset="0"/>
                              <a:ea typeface="宋体" panose="02010600030101010101" pitchFamily="2" charset="-122"/>
                            </a:rPr>
                            <m:t>𝑑</m:t>
                          </m:r>
                        </m:e>
                        <m:sub>
                          <m:r>
                            <a:rPr lang="en-US" altLang="zh-CN" sz="1600" i="1" kern="100">
                              <a:effectLst/>
                              <a:latin typeface="Cambria Math" panose="02040503050406030204" pitchFamily="18" charset="0"/>
                              <a:ea typeface="宋体" panose="02010600030101010101" pitchFamily="2" charset="-122"/>
                            </a:rPr>
                            <m:t>4</m:t>
                          </m:r>
                        </m:sub>
                        <m:sup>
                          <m:r>
                            <a:rPr lang="en-US" altLang="zh-CN" sz="1600" i="1" kern="100">
                              <a:effectLst/>
                              <a:latin typeface="Cambria Math" panose="02040503050406030204" pitchFamily="18" charset="0"/>
                              <a:ea typeface="宋体" panose="02010600030101010101" pitchFamily="2" charset="-122"/>
                            </a:rPr>
                            <m:t>+</m:t>
                          </m:r>
                        </m:sup>
                      </m:sSubSup>
                      <m:r>
                        <a:rPr lang="en-US" altLang="zh-CN" sz="1600" i="1" kern="100">
                          <a:effectLst/>
                          <a:latin typeface="Cambria Math" panose="02040503050406030204" pitchFamily="18" charset="0"/>
                          <a:ea typeface="宋体" panose="02010600030101010101" pitchFamily="2" charset="-122"/>
                        </a:rPr>
                        <m:t>+</m:t>
                      </m:r>
                      <m:sSub>
                        <m:sSubPr>
                          <m:ctrlPr>
                            <a:rPr lang="zh-CN" altLang="zh-CN" sz="1600" i="1" kern="100">
                              <a:effectLst/>
                              <a:latin typeface="Cambria Math" panose="02040503050406030204" pitchFamily="18" charset="0"/>
                              <a:ea typeface="Cambria Math" panose="02040503050406030204" pitchFamily="18" charset="0"/>
                            </a:rPr>
                          </m:ctrlPr>
                        </m:sSubPr>
                        <m:e>
                          <m:r>
                            <a:rPr lang="en-US" altLang="zh-CN" sz="1600" i="1" kern="100">
                              <a:effectLst/>
                              <a:latin typeface="Cambria Math" panose="02040503050406030204" pitchFamily="18" charset="0"/>
                              <a:ea typeface="宋体" panose="02010600030101010101" pitchFamily="2" charset="-122"/>
                            </a:rPr>
                            <m:t>𝑃</m:t>
                          </m:r>
                        </m:e>
                        <m:sub>
                          <m:r>
                            <a:rPr lang="en-US" altLang="zh-CN" sz="1600" i="1" kern="100">
                              <a:effectLst/>
                              <a:latin typeface="Cambria Math" panose="02040503050406030204" pitchFamily="18" charset="0"/>
                              <a:ea typeface="宋体" panose="02010600030101010101" pitchFamily="2" charset="-122"/>
                            </a:rPr>
                            <m:t>4</m:t>
                          </m:r>
                        </m:sub>
                      </m:sSub>
                      <m:sSubSup>
                        <m:sSubSupPr>
                          <m:ctrlPr>
                            <a:rPr lang="zh-CN" altLang="zh-CN" sz="1600" i="1" kern="100">
                              <a:effectLst/>
                              <a:latin typeface="Cambria Math" panose="02040503050406030204" pitchFamily="18" charset="0"/>
                              <a:ea typeface="Cambria Math" panose="02040503050406030204" pitchFamily="18" charset="0"/>
                            </a:rPr>
                          </m:ctrlPr>
                        </m:sSubSupPr>
                        <m:e>
                          <m:r>
                            <a:rPr lang="en-US" altLang="zh-CN" sz="1600" i="1" kern="100">
                              <a:effectLst/>
                              <a:latin typeface="Cambria Math" panose="02040503050406030204" pitchFamily="18" charset="0"/>
                              <a:ea typeface="宋体" panose="02010600030101010101" pitchFamily="2" charset="-122"/>
                            </a:rPr>
                            <m:t>𝑑</m:t>
                          </m:r>
                        </m:e>
                        <m:sub>
                          <m:r>
                            <a:rPr lang="en-US" altLang="zh-CN" sz="1600" i="1" kern="100">
                              <a:effectLst/>
                              <a:latin typeface="Cambria Math" panose="02040503050406030204" pitchFamily="18" charset="0"/>
                              <a:ea typeface="宋体" panose="02010600030101010101" pitchFamily="2" charset="-122"/>
                            </a:rPr>
                            <m:t>5</m:t>
                          </m:r>
                        </m:sub>
                        <m:sup>
                          <m:r>
                            <a:rPr lang="zh-CN" altLang="en-US" sz="1600" i="1" kern="100">
                              <a:effectLst/>
                              <a:latin typeface="Cambria Math" panose="02040503050406030204" pitchFamily="18" charset="0"/>
                              <a:ea typeface="微软雅黑" panose="020B0503020204020204" pitchFamily="34" charset="-122"/>
                              <a:cs typeface="微软雅黑" panose="020B0503020204020204" pitchFamily="34" charset="-122"/>
                            </a:rPr>
                            <m:t>−</m:t>
                          </m:r>
                        </m:sup>
                      </m:sSubSup>
                    </m:oMath>
                  </m:oMathPara>
                </a14:m>
                <a:endParaRPr lang="zh-CN" altLang="zh-CN" sz="1600" kern="100" dirty="0">
                  <a:ea typeface="宋体" panose="02010600030101010101" pitchFamily="2" charset="-122"/>
                </a:endParaRPr>
              </a:p>
              <a:p>
                <a14:m>
                  <m:oMathPara xmlns:m="http://schemas.openxmlformats.org/officeDocument/2006/math">
                    <m:oMathParaPr>
                      <m:jc m:val="centerGroup"/>
                    </m:oMathParaPr>
                    <m:oMath xmlns:m="http://schemas.openxmlformats.org/officeDocument/2006/math">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𝑠</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𝑡</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 </m:t>
                      </m:r>
                      <m:d>
                        <m:dPr>
                          <m:begChr m:val="{"/>
                          <m:endChr m:val=""/>
                          <m:ctrlPr>
                            <a:rPr lang="zh-CN" altLang="zh-CN" sz="1600" i="1">
                              <a:effectLst/>
                              <a:latin typeface="Cambria Math" panose="02040503050406030204" pitchFamily="18" charset="0"/>
                              <a:ea typeface="Cambria Math" panose="02040503050406030204" pitchFamily="18" charset="0"/>
                            </a:rPr>
                          </m:ctrlPr>
                        </m:dPr>
                        <m:e>
                          <m:eqArr>
                            <m:eqArrPr>
                              <m:ctrlPr>
                                <a:rPr lang="zh-CN" altLang="zh-CN" sz="1600" i="1">
                                  <a:effectLst/>
                                  <a:latin typeface="Cambria Math" panose="02040503050406030204" pitchFamily="18" charset="0"/>
                                  <a:ea typeface="Cambria Math" panose="02040503050406030204" pitchFamily="18" charset="0"/>
                                </a:rPr>
                              </m:ctrlPr>
                            </m:eqArrPr>
                            <m:e>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161</m:t>
                              </m:r>
                            </m:e>
                            <m:e>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0</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8</m:t>
                              </m:r>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1600" i="1">
                                      <a:effectLst/>
                                      <a:latin typeface="Cambria Math" panose="02040503050406030204" pitchFamily="18" charset="0"/>
                                      <a:ea typeface="Cambria Math" panose="02040503050406030204" pitchFamily="18" charset="0"/>
                                    </a:rPr>
                                  </m:ctrlPr>
                                </m:sSubSup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𝑑</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1600" i="1">
                                      <a:effectLst/>
                                      <a:latin typeface="Cambria Math" panose="02040503050406030204" pitchFamily="18" charset="0"/>
                                      <a:ea typeface="Cambria Math" panose="02040503050406030204" pitchFamily="18" charset="0"/>
                                    </a:rPr>
                                  </m:ctrlPr>
                                </m:sSubSup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𝑑</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112</m:t>
                              </m:r>
                            </m:e>
                            <m:e>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1600" i="1">
                                      <a:effectLst/>
                                      <a:latin typeface="Cambria Math" panose="02040503050406030204" pitchFamily="18" charset="0"/>
                                      <a:ea typeface="Cambria Math" panose="02040503050406030204" pitchFamily="18" charset="0"/>
                                    </a:rPr>
                                  </m:ctrlPr>
                                </m:sSubSup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𝑑</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2</m:t>
                                  </m:r>
                                </m:sub>
                                <m: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1600" i="1">
                                      <a:effectLst/>
                                      <a:latin typeface="Cambria Math" panose="02040503050406030204" pitchFamily="18" charset="0"/>
                                      <a:ea typeface="Cambria Math" panose="02040503050406030204" pitchFamily="18" charset="0"/>
                                    </a:rPr>
                                  </m:ctrlPr>
                                </m:sSubSup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𝑑</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2</m:t>
                                  </m:r>
                                </m:sub>
                                <m: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80</m:t>
                              </m:r>
                            </m:e>
                            <m:e>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1600" i="1">
                                      <a:effectLst/>
                                      <a:latin typeface="Cambria Math" panose="02040503050406030204" pitchFamily="18" charset="0"/>
                                      <a:ea typeface="Cambria Math" panose="02040503050406030204" pitchFamily="18" charset="0"/>
                                    </a:rPr>
                                  </m:ctrlPr>
                                </m:sSubSup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𝑑</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3</m:t>
                                  </m:r>
                                </m:sub>
                                <m: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1600" i="1">
                                      <a:effectLst/>
                                      <a:latin typeface="Cambria Math" panose="02040503050406030204" pitchFamily="18" charset="0"/>
                                      <a:ea typeface="Cambria Math" panose="02040503050406030204" pitchFamily="18" charset="0"/>
                                    </a:rPr>
                                  </m:ctrlPr>
                                </m:sSubSup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𝑑</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3</m:t>
                                  </m:r>
                                </m:sub>
                                <m: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100</m:t>
                              </m:r>
                            </m:e>
                            <m:e>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0</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8</m:t>
                              </m:r>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1600" i="1">
                                      <a:effectLst/>
                                      <a:latin typeface="Cambria Math" panose="02040503050406030204" pitchFamily="18" charset="0"/>
                                      <a:ea typeface="Cambria Math" panose="02040503050406030204" pitchFamily="18" charset="0"/>
                                    </a:rPr>
                                  </m:ctrlPr>
                                </m:sSubSup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𝑑</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4</m:t>
                                  </m:r>
                                </m:sub>
                                <m: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1600" i="1">
                                      <a:effectLst/>
                                      <a:latin typeface="Cambria Math" panose="02040503050406030204" pitchFamily="18" charset="0"/>
                                      <a:ea typeface="Cambria Math" panose="02040503050406030204" pitchFamily="18" charset="0"/>
                                    </a:rPr>
                                  </m:ctrlPr>
                                </m:sSubSup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𝑑</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4</m:t>
                                  </m:r>
                                </m:sub>
                                <m: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152</m:t>
                              </m:r>
                            </m:e>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800</m:t>
                              </m:r>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600</m:t>
                              </m:r>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1600" i="1">
                                      <a:effectLst/>
                                      <a:latin typeface="Cambria Math" panose="02040503050406030204" pitchFamily="18" charset="0"/>
                                      <a:ea typeface="Cambria Math" panose="02040503050406030204" pitchFamily="18" charset="0"/>
                                    </a:rPr>
                                  </m:ctrlPr>
                                </m:sSubSup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𝑑</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5</m:t>
                                  </m:r>
                                </m:sub>
                                <m: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1600" i="1">
                                      <a:effectLst/>
                                      <a:latin typeface="Cambria Math" panose="02040503050406030204" pitchFamily="18" charset="0"/>
                                      <a:ea typeface="Cambria Math" panose="02040503050406030204" pitchFamily="18" charset="0"/>
                                    </a:rPr>
                                  </m:ctrlPr>
                                </m:sSubSup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𝑑</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5</m:t>
                                  </m:r>
                                </m:sub>
                                <m: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𝑀</m:t>
                              </m:r>
                            </m:e>
                            <m:e>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1600" i="1">
                                      <a:effectLst/>
                                      <a:latin typeface="Cambria Math" panose="02040503050406030204" pitchFamily="18" charset="0"/>
                                      <a:ea typeface="Cambria Math" panose="02040503050406030204" pitchFamily="18" charset="0"/>
                                    </a:rPr>
                                  </m:ctrlPr>
                                </m:sSubSup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𝑑</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𝑖</m:t>
                                  </m:r>
                                </m:sub>
                                <m: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1600" i="1">
                                      <a:effectLst/>
                                      <a:latin typeface="Cambria Math" panose="02040503050406030204" pitchFamily="18" charset="0"/>
                                      <a:ea typeface="Cambria Math" panose="02040503050406030204" pitchFamily="18" charset="0"/>
                                    </a:rPr>
                                  </m:ctrlPr>
                                </m:sSubSup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𝑑</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𝑖</m:t>
                                  </m:r>
                                </m:sub>
                                <m: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0</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 </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𝑖</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1</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2</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3</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4</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5</m:t>
                              </m:r>
                            </m:e>
                            <m:e>
                              <m:sSubSup>
                                <m:sSubSupPr>
                                  <m:ctrlPr>
                                    <a:rPr lang="zh-CN" altLang="zh-CN" sz="1600" i="1">
                                      <a:effectLst/>
                                      <a:latin typeface="Cambria Math" panose="02040503050406030204" pitchFamily="18" charset="0"/>
                                      <a:ea typeface="Cambria Math" panose="02040503050406030204" pitchFamily="18" charset="0"/>
                                    </a:rPr>
                                  </m:ctrlPr>
                                </m:sSubSup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𝑑</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𝑖</m:t>
                                  </m:r>
                                </m:sub>
                                <m: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1600" i="1">
                                      <a:effectLst/>
                                      <a:latin typeface="Cambria Math" panose="02040503050406030204" pitchFamily="18" charset="0"/>
                                      <a:ea typeface="Cambria Math" panose="02040503050406030204" pitchFamily="18" charset="0"/>
                                    </a:rPr>
                                  </m:ctrlPr>
                                </m:sSubSup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𝑑</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𝑖</m:t>
                                  </m:r>
                                </m:sub>
                                <m: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0</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 </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𝑖</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1</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2</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3</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4</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5</m:t>
                              </m:r>
                            </m:e>
                          </m:eqArr>
                        </m:e>
                      </m:d>
                    </m:oMath>
                  </m:oMathPara>
                </a14:m>
                <a:endParaRPr lang="zh-CN" altLang="en-US" sz="1600" dirty="0"/>
              </a:p>
            </p:txBody>
          </p:sp>
        </mc:Choice>
        <mc:Fallback>
          <p:sp>
            <p:nvSpPr>
              <p:cNvPr id="2" name="矩形 1"/>
              <p:cNvSpPr>
                <a:spLocks noRot="1" noChangeAspect="1" noMove="1" noResize="1" noEditPoints="1" noAdjustHandles="1" noChangeArrowheads="1" noChangeShapeType="1" noTextEdit="1"/>
              </p:cNvSpPr>
              <p:nvPr/>
            </p:nvSpPr>
            <p:spPr>
              <a:xfrm>
                <a:off x="6038068" y="1436370"/>
                <a:ext cx="5046968" cy="2525395"/>
              </a:xfrm>
              <a:prstGeom prst="rect">
                <a:avLst/>
              </a:prstGeom>
              <a:blipFill rotWithShape="1">
                <a:blip r:embed="rId2"/>
                <a:stretch>
                  <a:fillRect l="-10" r="9"/>
                </a:stretch>
              </a:blipFill>
            </p:spPr>
            <p:txBody>
              <a:bodyPr/>
              <a:lstStyle/>
              <a:p>
                <a:r>
                  <a:rPr lang="zh-CN" altLang="en-US">
                    <a:noFill/>
                  </a:rPr>
                  <a:t> </a:t>
                </a:r>
              </a:p>
            </p:txBody>
          </p:sp>
        </mc:Fallback>
      </mc:AlternateContent>
      <p:sp>
        <p:nvSpPr>
          <p:cNvPr id="4" name="矩形 3"/>
          <p:cNvSpPr/>
          <p:nvPr/>
        </p:nvSpPr>
        <p:spPr>
          <a:xfrm>
            <a:off x="7251953" y="4823041"/>
            <a:ext cx="1435100" cy="368300"/>
          </a:xfrm>
          <a:prstGeom prst="rect">
            <a:avLst/>
          </a:prstGeom>
        </p:spPr>
        <p:txBody>
          <a:bodyPr wrap="none">
            <a:spAutoFit/>
          </a:bodyPr>
          <a:lstStyle/>
          <a:p>
            <a:r>
              <a:rPr lang="zh-CN" altLang="zh-CN" kern="100" dirty="0" smtClean="0">
                <a:solidFill>
                  <a:srgbClr val="C00000"/>
                </a:solidFill>
                <a:ea typeface="宋体" panose="02010600030101010101" pitchFamily="2" charset="-122"/>
                <a:cs typeface="Times New Roman" panose="02020603050405020304" pitchFamily="18" charset="0"/>
              </a:rPr>
              <a:t>最优解为</a:t>
            </a:r>
            <a:r>
              <a:rPr lang="en-US" altLang="zh-CN" kern="100" dirty="0">
                <a:solidFill>
                  <a:srgbClr val="C00000"/>
                </a:solidFill>
                <a:ea typeface="宋体" panose="02010600030101010101" pitchFamily="2" charset="-122"/>
              </a:rPr>
              <a:t>F</a:t>
            </a:r>
            <a:r>
              <a:rPr lang="zh-CN" altLang="zh-CN" kern="100" dirty="0">
                <a:solidFill>
                  <a:srgbClr val="C00000"/>
                </a:solidFill>
                <a:ea typeface="宋体" panose="02010600030101010101" pitchFamily="2" charset="-122"/>
                <a:cs typeface="Times New Roman" panose="02020603050405020304" pitchFamily="18" charset="0"/>
              </a:rPr>
              <a:t>点</a:t>
            </a:r>
            <a:endParaRPr lang="zh-CN" altLang="en-US" dirty="0">
              <a:solidFill>
                <a:srgbClr val="C00000"/>
              </a:solidFill>
            </a:endParaRPr>
          </a:p>
        </p:txBody>
      </p:sp>
      <p:sp>
        <p:nvSpPr>
          <p:cNvPr id="1123397" name="Rectangle 69"/>
          <p:cNvSpPr>
            <a:spLocks noGrp="1" noChangeArrowheads="1"/>
          </p:cNvSpPr>
          <p:nvPr>
            <p:ph type="title" idx="4294967295"/>
          </p:nvPr>
        </p:nvSpPr>
        <p:spPr/>
        <p:txBody>
          <a:bodyPr>
            <a:normAutofit fontScale="90000"/>
          </a:bodyPr>
          <a:p>
            <a:r>
              <a:rPr lang="zh-CN" altLang="en-US">
                <a:latin typeface="华文楷体" panose="02010600040101010101" charset="-122"/>
                <a:ea typeface="华文楷体" panose="02010600040101010101" charset="-122"/>
                <a:cs typeface="华文楷体" panose="02010600040101010101" charset="-122"/>
              </a:rPr>
              <a:t>复杂情况下的有优先权的目标规划</a:t>
            </a:r>
            <a:r>
              <a:rPr lang="en-US" altLang="zh-CN">
                <a:latin typeface="华文楷体" panose="02010600040101010101" charset="-122"/>
                <a:ea typeface="华文楷体" panose="02010600040101010101" charset="-122"/>
                <a:cs typeface="华文楷体" panose="02010600040101010101" charset="-122"/>
              </a:rPr>
              <a:t>-</a:t>
            </a:r>
            <a:r>
              <a:rPr lang="zh-CN" altLang="en-US">
                <a:latin typeface="华文楷体" panose="02010600040101010101" charset="-122"/>
                <a:ea typeface="华文楷体" panose="02010600040101010101" charset="-122"/>
                <a:cs typeface="华文楷体" panose="02010600040101010101" charset="-122"/>
                <a:sym typeface="+mn-ea"/>
              </a:rPr>
              <a:t>设备组装线</a:t>
            </a:r>
            <a:endParaRPr lang="zh-CN" altLang="en-US">
              <a:latin typeface="华文楷体" panose="02010600040101010101" charset="-122"/>
              <a:ea typeface="华文楷体" panose="02010600040101010101" charset="-122"/>
              <a:cs typeface="华文楷体" panose="02010600040101010101" charset="-122"/>
            </a:endParaRPr>
          </a:p>
        </p:txBody>
      </p:sp>
    </p:spTree>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加权目标规划</a:t>
            </a:r>
            <a:endParaRPr lang="zh-CN" altLang="en-US" dirty="0"/>
          </a:p>
        </p:txBody>
      </p:sp>
      <p:sp>
        <p:nvSpPr>
          <p:cNvPr id="3" name="内容占位符 2"/>
          <p:cNvSpPr>
            <a:spLocks noGrp="1"/>
          </p:cNvSpPr>
          <p:nvPr>
            <p:ph idx="1"/>
          </p:nvPr>
        </p:nvSpPr>
        <p:spPr/>
        <p:txBody>
          <a:bodyPr/>
          <a:lstStyle/>
          <a:p>
            <a:pPr marL="0" indent="0">
              <a:buNone/>
            </a:pPr>
            <a:r>
              <a:rPr lang="zh-CN" altLang="en-US" b="1" dirty="0">
                <a:solidFill>
                  <a:srgbClr val="FF3300"/>
                </a:solidFill>
              </a:rPr>
              <a:t>加权目标规划</a:t>
            </a:r>
            <a:r>
              <a:rPr lang="zh-CN" altLang="en-US" b="1" dirty="0"/>
              <a:t>是另一种解决多目标决策问题的方法，其基本方法是通过量化的方法分配给每个目标的偏离的严重程度一个罚数权重，然后建立总的目标函数，该目标函数表示的目标是要使每个目标函数与各自目标的加权偏差之和最小，假设所有单个的目标函数及约束条件都符合线性规划的要求，那么，整个问题都可以描述为一个线性规划的问题。</a:t>
            </a:r>
            <a:endParaRPr lang="zh-CN" altLang="en-US" b="1" dirty="0"/>
          </a:p>
          <a:p>
            <a:pPr marL="0" indent="0">
              <a:buNone/>
            </a:pPr>
            <a:endParaRPr lang="zh-CN" alt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加权目标规划</a:t>
            </a:r>
            <a:endParaRPr lang="zh-CN" altLang="en-US" dirty="0"/>
          </a:p>
        </p:txBody>
      </p:sp>
      <p:sp>
        <p:nvSpPr>
          <p:cNvPr id="3" name="内容占位符 2"/>
          <p:cNvSpPr>
            <a:spLocks noGrp="1"/>
          </p:cNvSpPr>
          <p:nvPr>
            <p:ph idx="1"/>
          </p:nvPr>
        </p:nvSpPr>
        <p:spPr/>
        <p:txBody>
          <a:bodyPr/>
          <a:lstStyle/>
          <a:p>
            <a:pPr marL="0" indent="0">
              <a:buNone/>
            </a:pPr>
            <a:r>
              <a:rPr lang="zh-CN" altLang="en-US" b="1" dirty="0"/>
              <a:t>如果在例</a:t>
            </a:r>
            <a:r>
              <a:rPr lang="en-US" altLang="zh-CN" b="1" dirty="0"/>
              <a:t>2</a:t>
            </a:r>
            <a:r>
              <a:rPr lang="zh-CN" altLang="en-US" b="1" dirty="0"/>
              <a:t>中我们对每周总耗费的人力资源超过</a:t>
            </a:r>
            <a:r>
              <a:rPr lang="en-US" altLang="zh-CN" b="1" dirty="0"/>
              <a:t>680</a:t>
            </a:r>
            <a:r>
              <a:rPr lang="zh-CN" altLang="en-US" b="1" dirty="0"/>
              <a:t>工时或低于</a:t>
            </a:r>
            <a:r>
              <a:rPr lang="en-US" altLang="zh-CN" b="1" dirty="0"/>
              <a:t>600</a:t>
            </a:r>
            <a:r>
              <a:rPr lang="zh-CN" altLang="en-US" b="1" dirty="0"/>
              <a:t>工时的每工时罚数权重定为</a:t>
            </a:r>
            <a:r>
              <a:rPr lang="en-US" altLang="zh-CN" b="1" dirty="0"/>
              <a:t>7</a:t>
            </a:r>
            <a:r>
              <a:rPr lang="zh-CN" altLang="en-US" b="1" dirty="0"/>
              <a:t>；每周利润低于</a:t>
            </a:r>
            <a:r>
              <a:rPr lang="en-US" altLang="zh-CN" b="1" dirty="0"/>
              <a:t>70000</a:t>
            </a:r>
            <a:r>
              <a:rPr lang="zh-CN" altLang="en-US" b="1" dirty="0"/>
              <a:t>元时，每元的罚数权重为</a:t>
            </a:r>
            <a:r>
              <a:rPr lang="en-US" altLang="zh-CN" b="1" dirty="0"/>
              <a:t>5</a:t>
            </a:r>
            <a:r>
              <a:rPr lang="zh-CN" altLang="en-US" b="1" dirty="0"/>
              <a:t>；每周产品</a:t>
            </a:r>
            <a:r>
              <a:rPr lang="en-US" altLang="zh-CN" b="1" dirty="0"/>
              <a:t>A</a:t>
            </a:r>
            <a:r>
              <a:rPr lang="zh-CN" altLang="en-US" b="1" dirty="0"/>
              <a:t>产量低于</a:t>
            </a:r>
            <a:r>
              <a:rPr lang="en-US" altLang="zh-CN" b="1" dirty="0"/>
              <a:t>200</a:t>
            </a:r>
            <a:r>
              <a:rPr lang="zh-CN" altLang="en-US" b="1" dirty="0"/>
              <a:t>件时每件罚数权重为</a:t>
            </a:r>
            <a:r>
              <a:rPr lang="en-US" altLang="zh-CN" b="1" dirty="0"/>
              <a:t>2</a:t>
            </a:r>
            <a:r>
              <a:rPr lang="zh-CN" altLang="en-US" b="1" dirty="0"/>
              <a:t>，而每周产品</a:t>
            </a:r>
            <a:r>
              <a:rPr lang="en-US" altLang="zh-CN" b="1" dirty="0"/>
              <a:t>B</a:t>
            </a:r>
            <a:r>
              <a:rPr lang="zh-CN" altLang="en-US" b="1" dirty="0"/>
              <a:t>产量低于</a:t>
            </a:r>
            <a:r>
              <a:rPr lang="en-US" altLang="zh-CN" b="1" dirty="0"/>
              <a:t>120</a:t>
            </a:r>
            <a:r>
              <a:rPr lang="zh-CN" altLang="en-US" b="1" dirty="0"/>
              <a:t>件时每件罚数权重为</a:t>
            </a:r>
            <a:r>
              <a:rPr lang="en-US" altLang="zh-CN" b="1" dirty="0"/>
              <a:t>4</a:t>
            </a:r>
            <a:r>
              <a:rPr lang="zh-CN" altLang="en-US" b="1" dirty="0"/>
              <a:t>。</a:t>
            </a:r>
            <a:endParaRPr lang="zh-CN" altLang="en-US" b="1" dirty="0"/>
          </a:p>
          <a:p>
            <a:endParaRPr lang="zh-CN" altLang="en-US" dirty="0"/>
          </a:p>
        </p:txBody>
      </p:sp>
      <p:sp>
        <p:nvSpPr>
          <p:cNvPr id="4" name="星形: 五角 3"/>
          <p:cNvSpPr/>
          <p:nvPr/>
        </p:nvSpPr>
        <p:spPr>
          <a:xfrm>
            <a:off x="4664279" y="729842"/>
            <a:ext cx="687897" cy="536896"/>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4</a:t>
            </a:r>
            <a:endParaRPr lang="zh-CN"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22"/>
          <p:cNvSpPr txBox="1">
            <a:spLocks noChangeArrowheads="1"/>
          </p:cNvSpPr>
          <p:nvPr/>
        </p:nvSpPr>
        <p:spPr bwMode="auto">
          <a:xfrm>
            <a:off x="1884468" y="1772816"/>
            <a:ext cx="8659289" cy="4305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a:tabLst>
                <a:tab pos="254000" algn="l"/>
                <a:tab pos="266700" algn="l"/>
              </a:tabLst>
              <a:defRPr>
                <a:solidFill>
                  <a:schemeClr val="tx1"/>
                </a:solidFill>
                <a:latin typeface="Arial" panose="020B0604020202020204" pitchFamily="34" charset="0"/>
                <a:ea typeface="宋体" panose="02010600030101010101" pitchFamily="2" charset="-122"/>
              </a:defRPr>
            </a:lvl1pPr>
            <a:lvl2pPr>
              <a:tabLst>
                <a:tab pos="254000" algn="l"/>
                <a:tab pos="266700" algn="l"/>
              </a:tabLst>
              <a:defRPr>
                <a:solidFill>
                  <a:schemeClr val="tx1"/>
                </a:solidFill>
                <a:latin typeface="Arial" panose="020B0604020202020204" pitchFamily="34" charset="0"/>
                <a:ea typeface="宋体" panose="02010600030101010101" pitchFamily="2" charset="-122"/>
              </a:defRPr>
            </a:lvl2pPr>
            <a:lvl3pPr>
              <a:tabLst>
                <a:tab pos="254000" algn="l"/>
                <a:tab pos="266700" algn="l"/>
              </a:tabLst>
              <a:defRPr>
                <a:solidFill>
                  <a:schemeClr val="tx1"/>
                </a:solidFill>
                <a:latin typeface="Arial" panose="020B0604020202020204" pitchFamily="34" charset="0"/>
                <a:ea typeface="宋体" panose="02010600030101010101" pitchFamily="2" charset="-122"/>
              </a:defRPr>
            </a:lvl3pPr>
            <a:lvl4pPr>
              <a:tabLst>
                <a:tab pos="254000" algn="l"/>
                <a:tab pos="266700" algn="l"/>
              </a:tabLst>
              <a:defRPr>
                <a:solidFill>
                  <a:schemeClr val="tx1"/>
                </a:solidFill>
                <a:latin typeface="Arial" panose="020B0604020202020204" pitchFamily="34" charset="0"/>
                <a:ea typeface="宋体" panose="02010600030101010101" pitchFamily="2" charset="-122"/>
              </a:defRPr>
            </a:lvl4pPr>
            <a:lvl5pPr>
              <a:tabLst>
                <a:tab pos="254000" algn="l"/>
                <a:tab pos="266700"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254000" algn="l"/>
                <a:tab pos="266700"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254000" algn="l"/>
                <a:tab pos="266700"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254000" algn="l"/>
                <a:tab pos="266700"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254000" algn="l"/>
                <a:tab pos="266700" algn="l"/>
              </a:tabLst>
              <a:defRPr>
                <a:solidFill>
                  <a:schemeClr val="tx1"/>
                </a:solidFill>
                <a:latin typeface="Arial" panose="020B0604020202020204" pitchFamily="34" charset="0"/>
                <a:ea typeface="宋体" panose="02010600030101010101" pitchFamily="2" charset="-122"/>
              </a:defRPr>
            </a:lvl9pPr>
          </a:lstStyle>
          <a:p>
            <a:pPr>
              <a:spcBef>
                <a:spcPts val="600"/>
              </a:spcBef>
              <a:spcAft>
                <a:spcPts val="600"/>
              </a:spcAft>
            </a:pPr>
            <a:r>
              <a:rPr lang="zh-CN" altLang="en-US" sz="2800" dirty="0" smtClean="0">
                <a:latin typeface="楷体" panose="02010609060101010101" pitchFamily="49" charset="-122"/>
                <a:ea typeface="楷体" panose="02010609060101010101" pitchFamily="49" charset="-122"/>
              </a:rPr>
              <a:t>   </a:t>
            </a:r>
            <a:endParaRPr lang="zh-CN" altLang="en-US" sz="2800" dirty="0">
              <a:latin typeface="楷体" panose="02010609060101010101" pitchFamily="49" charset="-122"/>
              <a:ea typeface="楷体" panose="02010609060101010101" pitchFamily="49" charset="-122"/>
            </a:endParaRPr>
          </a:p>
        </p:txBody>
      </p:sp>
      <p:sp>
        <p:nvSpPr>
          <p:cNvPr id="12" name="Text Box 21"/>
          <p:cNvSpPr txBox="1">
            <a:spLocks noChangeArrowheads="1"/>
          </p:cNvSpPr>
          <p:nvPr/>
        </p:nvSpPr>
        <p:spPr bwMode="auto">
          <a:xfrm>
            <a:off x="2063552" y="1700808"/>
            <a:ext cx="8136904" cy="1400810"/>
          </a:xfrm>
          <a:prstGeom prst="rect">
            <a:avLst/>
          </a:prstGeom>
          <a:noFill/>
          <a:ln w="9525">
            <a:noFill/>
            <a:miter lim="800000"/>
          </a:ln>
          <a:effectLst/>
        </p:spPr>
        <p:txBody>
          <a:bodyPr wrap="square" lIns="0" tIns="0" rIns="0" bIns="0">
            <a:spAutoFit/>
          </a:bodyPr>
          <a:lstStyle/>
          <a:p>
            <a:pPr>
              <a:lnSpc>
                <a:spcPts val="1050"/>
              </a:lnSpc>
              <a:tabLst>
                <a:tab pos="203200" algn="l"/>
                <a:tab pos="266700" algn="l"/>
                <a:tab pos="736600" algn="l"/>
              </a:tabLst>
            </a:pPr>
            <a:endParaRPr lang="en-US" altLang="zh-CN" sz="2400" dirty="0" smtClean="0">
              <a:solidFill>
                <a:srgbClr val="000000"/>
              </a:solidFill>
              <a:latin typeface="Times New Roman" panose="02020603050405020304" pitchFamily="18" charset="0"/>
            </a:endParaRPr>
          </a:p>
          <a:p>
            <a:pPr>
              <a:lnSpc>
                <a:spcPts val="1050"/>
              </a:lnSpc>
              <a:tabLst>
                <a:tab pos="203200" algn="l"/>
                <a:tab pos="266700" algn="l"/>
                <a:tab pos="736600" algn="l"/>
              </a:tabLst>
            </a:pPr>
            <a:endParaRPr lang="en-US" altLang="zh-CN" sz="2400" dirty="0" smtClean="0">
              <a:latin typeface="楷体" panose="02010609060101010101" pitchFamily="49" charset="-122"/>
              <a:ea typeface="楷体" panose="02010609060101010101" pitchFamily="49" charset="-122"/>
            </a:endParaRPr>
          </a:p>
          <a:p>
            <a:pPr>
              <a:lnSpc>
                <a:spcPts val="1050"/>
              </a:lnSpc>
              <a:tabLst>
                <a:tab pos="203200" algn="l"/>
                <a:tab pos="266700" algn="l"/>
                <a:tab pos="736600" algn="l"/>
              </a:tabLst>
            </a:pPr>
            <a:r>
              <a:rPr lang="zh-CN" altLang="en-US" sz="2400" dirty="0" smtClean="0">
                <a:latin typeface="楷体" panose="02010609060101010101" pitchFamily="49" charset="-122"/>
                <a:ea typeface="楷体" panose="02010609060101010101" pitchFamily="49" charset="-122"/>
              </a:rPr>
              <a:t>其</a:t>
            </a:r>
            <a:r>
              <a:rPr lang="zh-CN" altLang="en-US" sz="2400" dirty="0">
                <a:latin typeface="楷体" panose="02010609060101010101" pitchFamily="49" charset="-122"/>
                <a:ea typeface="楷体" panose="02010609060101010101" pitchFamily="49" charset="-122"/>
              </a:rPr>
              <a:t>目标函数化为：</a:t>
            </a:r>
            <a:endParaRPr lang="zh-CN" altLang="en-US" sz="2400" dirty="0">
              <a:latin typeface="楷体" panose="02010609060101010101" pitchFamily="49" charset="-122"/>
              <a:ea typeface="楷体" panose="02010609060101010101" pitchFamily="49" charset="-122"/>
            </a:endParaRPr>
          </a:p>
          <a:p>
            <a:pPr>
              <a:lnSpc>
                <a:spcPts val="1615"/>
              </a:lnSpc>
              <a:tabLst>
                <a:tab pos="203200" algn="l"/>
                <a:tab pos="266700" algn="l"/>
                <a:tab pos="736600" algn="l"/>
              </a:tabLst>
            </a:pPr>
            <a:r>
              <a:rPr lang="zh-CN" altLang="en-US" sz="2400" dirty="0">
                <a:solidFill>
                  <a:srgbClr val="000000"/>
                </a:solidFill>
                <a:latin typeface="Times New Roman" panose="02020603050405020304" pitchFamily="18" charset="0"/>
              </a:rPr>
              <a:t>			</a:t>
            </a:r>
            <a:r>
              <a:rPr lang="zh-CN" altLang="en-US" sz="2400" dirty="0" smtClean="0">
                <a:solidFill>
                  <a:srgbClr val="000000"/>
                </a:solidFill>
                <a:latin typeface="Times New Roman" panose="02020603050405020304" pitchFamily="18" charset="0"/>
              </a:rPr>
              <a:t>  </a:t>
            </a:r>
            <a:endParaRPr lang="en-US" altLang="zh-CN" sz="2400" dirty="0" smtClean="0">
              <a:solidFill>
                <a:srgbClr val="000000"/>
              </a:solidFill>
              <a:latin typeface="Times New Roman" panose="02020603050405020304" pitchFamily="18" charset="0"/>
            </a:endParaRPr>
          </a:p>
          <a:p>
            <a:pPr>
              <a:lnSpc>
                <a:spcPts val="1615"/>
              </a:lnSpc>
              <a:tabLst>
                <a:tab pos="203200" algn="l"/>
                <a:tab pos="266700" algn="l"/>
                <a:tab pos="736600" algn="l"/>
              </a:tabLst>
            </a:pPr>
            <a:r>
              <a:rPr lang="en-US" altLang="zh-CN" sz="2400" dirty="0" smtClean="0">
                <a:solidFill>
                  <a:srgbClr val="000000"/>
                </a:solidFill>
                <a:latin typeface="Times New Roman" panose="02020603050405020304" pitchFamily="18" charset="0"/>
              </a:rPr>
              <a:t>                               min </a:t>
            </a:r>
            <a:r>
              <a:rPr lang="en-US" altLang="zh-CN" sz="2400" dirty="0" smtClean="0">
                <a:solidFill>
                  <a:srgbClr val="000000"/>
                </a:solidFill>
                <a:latin typeface="Times New Roman" panose="02020603050405020304" pitchFamily="18" charset="0"/>
              </a:rPr>
              <a:t>  7</a:t>
            </a:r>
            <a:r>
              <a:rPr lang="en-US" altLang="zh-CN" sz="2400" i="1" dirty="0" smtClean="0">
                <a:solidFill>
                  <a:srgbClr val="000000"/>
                </a:solidFill>
                <a:latin typeface="Times New Roman" panose="02020603050405020304" pitchFamily="18" charset="0"/>
              </a:rPr>
              <a:t>d</a:t>
            </a:r>
            <a:r>
              <a:rPr lang="en-US" altLang="zh-CN" sz="1050" dirty="0" smtClean="0">
                <a:solidFill>
                  <a:srgbClr val="000000"/>
                </a:solidFill>
                <a:latin typeface="Times New Roman" panose="02020603050405020304" pitchFamily="18" charset="0"/>
              </a:rPr>
              <a:t>1</a:t>
            </a:r>
            <a:r>
              <a:rPr lang="en-US" altLang="zh-CN" sz="1200" baseline="90000" dirty="0" smtClean="0">
                <a:solidFill>
                  <a:srgbClr val="000000"/>
                </a:solidFill>
                <a:latin typeface="Times New Roman" panose="02020603050405020304" pitchFamily="18" charset="0"/>
              </a:rPr>
              <a:t>+</a:t>
            </a:r>
            <a:r>
              <a:rPr lang="en-US" altLang="zh-CN" sz="2400" dirty="0" smtClean="0">
                <a:solidFill>
                  <a:srgbClr val="000000"/>
                </a:solidFill>
                <a:latin typeface="Times New Roman" panose="02020603050405020304" pitchFamily="18" charset="0"/>
              </a:rPr>
              <a:t>+7</a:t>
            </a:r>
            <a:r>
              <a:rPr lang="en-US" altLang="zh-CN" sz="2400" i="1" dirty="0" smtClean="0">
                <a:solidFill>
                  <a:srgbClr val="000000"/>
                </a:solidFill>
                <a:latin typeface="Times New Roman" panose="02020603050405020304" pitchFamily="18" charset="0"/>
              </a:rPr>
              <a:t>d</a:t>
            </a:r>
            <a:r>
              <a:rPr lang="en-US" altLang="zh-CN" sz="1050" dirty="0" smtClean="0">
                <a:solidFill>
                  <a:srgbClr val="000000"/>
                </a:solidFill>
                <a:latin typeface="Times New Roman" panose="02020603050405020304" pitchFamily="18" charset="0"/>
              </a:rPr>
              <a:t>2</a:t>
            </a:r>
            <a:r>
              <a:rPr lang="en-US" altLang="zh-CN" sz="1200" baseline="90000" dirty="0" smtClean="0">
                <a:solidFill>
                  <a:srgbClr val="000000"/>
                </a:solidFill>
                <a:latin typeface="Times New Roman" panose="02020603050405020304" pitchFamily="18" charset="0"/>
              </a:rPr>
              <a:t>−</a:t>
            </a:r>
            <a:r>
              <a:rPr lang="en-US" altLang="zh-CN" sz="2400" dirty="0" smtClean="0">
                <a:solidFill>
                  <a:srgbClr val="000000"/>
                </a:solidFill>
                <a:latin typeface="Times New Roman" panose="02020603050405020304" pitchFamily="18" charset="0"/>
              </a:rPr>
              <a:t>+5</a:t>
            </a:r>
            <a:r>
              <a:rPr lang="en-US" altLang="zh-CN" sz="2400" i="1" dirty="0" smtClean="0">
                <a:solidFill>
                  <a:srgbClr val="000000"/>
                </a:solidFill>
                <a:latin typeface="Times New Roman" panose="02020603050405020304" pitchFamily="18" charset="0"/>
              </a:rPr>
              <a:t>d</a:t>
            </a:r>
            <a:r>
              <a:rPr lang="en-US" altLang="zh-CN" sz="1050" dirty="0" smtClean="0">
                <a:solidFill>
                  <a:srgbClr val="000000"/>
                </a:solidFill>
                <a:latin typeface="Times New Roman" panose="02020603050405020304" pitchFamily="18" charset="0"/>
              </a:rPr>
              <a:t>3</a:t>
            </a:r>
            <a:r>
              <a:rPr lang="en-US" altLang="zh-CN" sz="1200" baseline="90000" dirty="0">
                <a:solidFill>
                  <a:srgbClr val="000000"/>
                </a:solidFill>
                <a:latin typeface="Times New Roman" panose="02020603050405020304" pitchFamily="18" charset="0"/>
              </a:rPr>
              <a:t>−</a:t>
            </a:r>
            <a:r>
              <a:rPr lang="en-US" altLang="zh-CN" sz="2400" dirty="0">
                <a:solidFill>
                  <a:srgbClr val="000000"/>
                </a:solidFill>
                <a:latin typeface="Times New Roman" panose="02020603050405020304" pitchFamily="18" charset="0"/>
              </a:rPr>
              <a:t>+2</a:t>
            </a:r>
            <a:r>
              <a:rPr lang="en-US" altLang="zh-CN" sz="2400" i="1" dirty="0">
                <a:solidFill>
                  <a:srgbClr val="000000"/>
                </a:solidFill>
                <a:latin typeface="Times New Roman" panose="02020603050405020304" pitchFamily="18" charset="0"/>
              </a:rPr>
              <a:t>d</a:t>
            </a:r>
            <a:r>
              <a:rPr lang="en-US" altLang="zh-CN" sz="1050" dirty="0">
                <a:solidFill>
                  <a:srgbClr val="000000"/>
                </a:solidFill>
                <a:latin typeface="Times New Roman" panose="02020603050405020304" pitchFamily="18" charset="0"/>
              </a:rPr>
              <a:t>4</a:t>
            </a:r>
            <a:r>
              <a:rPr lang="en-US" altLang="zh-CN" sz="1200" baseline="90000" dirty="0">
                <a:solidFill>
                  <a:srgbClr val="000000"/>
                </a:solidFill>
                <a:latin typeface="Times New Roman" panose="02020603050405020304" pitchFamily="18" charset="0"/>
              </a:rPr>
              <a:t>−</a:t>
            </a:r>
            <a:r>
              <a:rPr lang="en-US" altLang="zh-CN" sz="2400" dirty="0">
                <a:solidFill>
                  <a:srgbClr val="000000"/>
                </a:solidFill>
                <a:latin typeface="Times New Roman" panose="02020603050405020304" pitchFamily="18" charset="0"/>
              </a:rPr>
              <a:t>+4</a:t>
            </a:r>
            <a:r>
              <a:rPr lang="en-US" altLang="zh-CN" sz="2400" i="1" dirty="0">
                <a:solidFill>
                  <a:srgbClr val="000000"/>
                </a:solidFill>
                <a:latin typeface="Times New Roman" panose="02020603050405020304" pitchFamily="18" charset="0"/>
              </a:rPr>
              <a:t>d</a:t>
            </a:r>
            <a:r>
              <a:rPr lang="en-US" altLang="zh-CN" sz="1050" dirty="0">
                <a:solidFill>
                  <a:srgbClr val="000000"/>
                </a:solidFill>
                <a:latin typeface="Times New Roman" panose="02020603050405020304" pitchFamily="18" charset="0"/>
              </a:rPr>
              <a:t>5</a:t>
            </a:r>
            <a:r>
              <a:rPr lang="en-US" altLang="zh-CN" sz="1200" baseline="90000" dirty="0">
                <a:solidFill>
                  <a:srgbClr val="000000"/>
                </a:solidFill>
                <a:latin typeface="Times New Roman" panose="02020603050405020304" pitchFamily="18" charset="0"/>
              </a:rPr>
              <a:t>−</a:t>
            </a:r>
            <a:endParaRPr lang="en-US" altLang="zh-CN" sz="1200" baseline="90000" dirty="0">
              <a:solidFill>
                <a:srgbClr val="000000"/>
              </a:solidFill>
              <a:latin typeface="Times New Roman" panose="02020603050405020304" pitchFamily="18" charset="0"/>
            </a:endParaRPr>
          </a:p>
          <a:p>
            <a:pPr>
              <a:lnSpc>
                <a:spcPts val="1465"/>
              </a:lnSpc>
              <a:tabLst>
                <a:tab pos="203200" algn="l"/>
                <a:tab pos="266700" algn="l"/>
                <a:tab pos="736600" algn="l"/>
              </a:tabLst>
            </a:pPr>
            <a:endParaRPr lang="en-US" altLang="zh-CN" sz="2400" dirty="0" smtClean="0">
              <a:solidFill>
                <a:srgbClr val="000000"/>
              </a:solidFill>
              <a:latin typeface="Times New Roman" panose="02020603050405020304" pitchFamily="18" charset="0"/>
            </a:endParaRPr>
          </a:p>
          <a:p>
            <a:pPr>
              <a:lnSpc>
                <a:spcPts val="1465"/>
              </a:lnSpc>
              <a:tabLst>
                <a:tab pos="203200" algn="l"/>
                <a:tab pos="266700" algn="l"/>
                <a:tab pos="736600" algn="l"/>
              </a:tabLst>
            </a:pPr>
            <a:r>
              <a:rPr lang="zh-CN" altLang="en-US" sz="2400" dirty="0" smtClean="0">
                <a:solidFill>
                  <a:srgbClr val="000000"/>
                </a:solidFill>
                <a:latin typeface="楷体" panose="02010609060101010101" pitchFamily="49" charset="-122"/>
                <a:ea typeface="楷体" panose="02010609060101010101" pitchFamily="49" charset="-122"/>
              </a:rPr>
              <a:t>变成</a:t>
            </a:r>
            <a:r>
              <a:rPr lang="zh-CN" altLang="en-US" sz="2400" dirty="0">
                <a:solidFill>
                  <a:srgbClr val="000000"/>
                </a:solidFill>
                <a:latin typeface="楷体" panose="02010609060101010101" pitchFamily="49" charset="-122"/>
                <a:ea typeface="楷体" panose="02010609060101010101" pitchFamily="49" charset="-122"/>
              </a:rPr>
              <a:t>了一个普通的单一目标的线性规划问题</a:t>
            </a:r>
            <a:endParaRPr lang="zh-CN" altLang="en-US" sz="2400" dirty="0">
              <a:solidFill>
                <a:srgbClr val="000000"/>
              </a:solidFill>
              <a:latin typeface="楷体" panose="02010609060101010101" pitchFamily="49" charset="-122"/>
              <a:ea typeface="楷体" panose="02010609060101010101" pitchFamily="49" charset="-122"/>
            </a:endParaRPr>
          </a:p>
          <a:p>
            <a:pPr>
              <a:lnSpc>
                <a:spcPts val="1615"/>
              </a:lnSpc>
              <a:tabLst>
                <a:tab pos="203200" algn="l"/>
                <a:tab pos="266700" algn="l"/>
                <a:tab pos="736600" algn="l"/>
              </a:tabLst>
            </a:pPr>
            <a:endParaRPr lang="en-US" altLang="zh-CN" sz="2400" dirty="0" smtClean="0">
              <a:solidFill>
                <a:srgbClr val="000000"/>
              </a:solidFill>
              <a:latin typeface="Times New Roman" panose="02020603050405020304" pitchFamily="18" charset="0"/>
            </a:endParaRPr>
          </a:p>
        </p:txBody>
      </p:sp>
      <p:sp>
        <p:nvSpPr>
          <p:cNvPr id="9" name="TextBox 8"/>
          <p:cNvSpPr txBox="1"/>
          <p:nvPr/>
        </p:nvSpPr>
        <p:spPr>
          <a:xfrm>
            <a:off x="1919536" y="3284984"/>
            <a:ext cx="8352928" cy="2821940"/>
          </a:xfrm>
          <a:prstGeom prst="rect">
            <a:avLst/>
          </a:prstGeom>
          <a:noFill/>
        </p:spPr>
        <p:txBody>
          <a:bodyPr wrap="square" rtlCol="0">
            <a:spAutoFit/>
          </a:bodyPr>
          <a:lstStyle/>
          <a:p>
            <a:pPr>
              <a:lnSpc>
                <a:spcPts val="1615"/>
              </a:lnSpc>
              <a:spcAft>
                <a:spcPts val="1200"/>
              </a:spcAft>
              <a:tabLst>
                <a:tab pos="203200" algn="l"/>
                <a:tab pos="266700" algn="l"/>
                <a:tab pos="736600" algn="l"/>
              </a:tabLst>
            </a:pPr>
            <a:r>
              <a:rPr lang="en-US" altLang="zh-CN" sz="2400" dirty="0" smtClean="0">
                <a:solidFill>
                  <a:srgbClr val="000000"/>
                </a:solidFill>
                <a:latin typeface="Times New Roman" panose="02020603050405020304" pitchFamily="18" charset="0"/>
              </a:rPr>
              <a:t>                               min </a:t>
            </a:r>
            <a:r>
              <a:rPr lang="en-US" altLang="zh-CN" sz="2400" dirty="0" smtClean="0">
                <a:solidFill>
                  <a:srgbClr val="000000"/>
                </a:solidFill>
                <a:latin typeface="Times New Roman" panose="02020603050405020304" pitchFamily="18" charset="0"/>
              </a:rPr>
              <a:t>  7</a:t>
            </a:r>
            <a:r>
              <a:rPr lang="en-US" altLang="zh-CN" sz="2400" i="1" dirty="0" smtClean="0">
                <a:solidFill>
                  <a:srgbClr val="000000"/>
                </a:solidFill>
                <a:latin typeface="Times New Roman" panose="02020603050405020304" pitchFamily="18" charset="0"/>
              </a:rPr>
              <a:t>d</a:t>
            </a:r>
            <a:r>
              <a:rPr lang="en-US" altLang="zh-CN" sz="1050" dirty="0" smtClean="0">
                <a:solidFill>
                  <a:srgbClr val="000000"/>
                </a:solidFill>
                <a:latin typeface="Times New Roman" panose="02020603050405020304" pitchFamily="18" charset="0"/>
              </a:rPr>
              <a:t>1</a:t>
            </a:r>
            <a:r>
              <a:rPr lang="en-US" altLang="zh-CN" sz="1200" baseline="90000" dirty="0" smtClean="0">
                <a:solidFill>
                  <a:srgbClr val="000000"/>
                </a:solidFill>
                <a:latin typeface="Times New Roman" panose="02020603050405020304" pitchFamily="18" charset="0"/>
              </a:rPr>
              <a:t>+</a:t>
            </a:r>
            <a:r>
              <a:rPr lang="en-US" altLang="zh-CN" sz="2400" dirty="0" smtClean="0">
                <a:solidFill>
                  <a:srgbClr val="000000"/>
                </a:solidFill>
                <a:latin typeface="Times New Roman" panose="02020603050405020304" pitchFamily="18" charset="0"/>
              </a:rPr>
              <a:t>+7</a:t>
            </a:r>
            <a:r>
              <a:rPr lang="en-US" altLang="zh-CN" sz="2400" i="1" dirty="0" smtClean="0">
                <a:solidFill>
                  <a:srgbClr val="000000"/>
                </a:solidFill>
                <a:latin typeface="Times New Roman" panose="02020603050405020304" pitchFamily="18" charset="0"/>
              </a:rPr>
              <a:t>d</a:t>
            </a:r>
            <a:r>
              <a:rPr lang="en-US" altLang="zh-CN" sz="1050" dirty="0" smtClean="0">
                <a:solidFill>
                  <a:srgbClr val="000000"/>
                </a:solidFill>
                <a:latin typeface="Times New Roman" panose="02020603050405020304" pitchFamily="18" charset="0"/>
              </a:rPr>
              <a:t>2</a:t>
            </a:r>
            <a:r>
              <a:rPr lang="en-US" altLang="zh-CN" sz="1200" baseline="90000" dirty="0" smtClean="0">
                <a:solidFill>
                  <a:srgbClr val="000000"/>
                </a:solidFill>
                <a:latin typeface="Times New Roman" panose="02020603050405020304" pitchFamily="18" charset="0"/>
              </a:rPr>
              <a:t>−</a:t>
            </a:r>
            <a:r>
              <a:rPr lang="en-US" altLang="zh-CN" sz="2400" dirty="0" smtClean="0">
                <a:solidFill>
                  <a:srgbClr val="000000"/>
                </a:solidFill>
                <a:latin typeface="Times New Roman" panose="02020603050405020304" pitchFamily="18" charset="0"/>
              </a:rPr>
              <a:t>+5</a:t>
            </a:r>
            <a:r>
              <a:rPr lang="en-US" altLang="zh-CN" sz="2400" i="1" dirty="0" smtClean="0">
                <a:solidFill>
                  <a:srgbClr val="000000"/>
                </a:solidFill>
                <a:latin typeface="Times New Roman" panose="02020603050405020304" pitchFamily="18" charset="0"/>
              </a:rPr>
              <a:t>d</a:t>
            </a:r>
            <a:r>
              <a:rPr lang="en-US" altLang="zh-CN" sz="1050" dirty="0" smtClean="0">
                <a:solidFill>
                  <a:srgbClr val="000000"/>
                </a:solidFill>
                <a:latin typeface="Times New Roman" panose="02020603050405020304" pitchFamily="18" charset="0"/>
              </a:rPr>
              <a:t>3</a:t>
            </a:r>
            <a:r>
              <a:rPr lang="en-US" altLang="zh-CN" sz="1200" baseline="90000" dirty="0" smtClean="0">
                <a:solidFill>
                  <a:srgbClr val="000000"/>
                </a:solidFill>
                <a:latin typeface="Times New Roman" panose="02020603050405020304" pitchFamily="18" charset="0"/>
              </a:rPr>
              <a:t>−</a:t>
            </a:r>
            <a:r>
              <a:rPr lang="en-US" altLang="zh-CN" sz="2400" dirty="0" smtClean="0">
                <a:solidFill>
                  <a:srgbClr val="000000"/>
                </a:solidFill>
                <a:latin typeface="Times New Roman" panose="02020603050405020304" pitchFamily="18" charset="0"/>
              </a:rPr>
              <a:t>+2</a:t>
            </a:r>
            <a:r>
              <a:rPr lang="en-US" altLang="zh-CN" sz="2400" i="1" dirty="0" smtClean="0">
                <a:solidFill>
                  <a:srgbClr val="000000"/>
                </a:solidFill>
                <a:latin typeface="Times New Roman" panose="02020603050405020304" pitchFamily="18" charset="0"/>
              </a:rPr>
              <a:t>d</a:t>
            </a:r>
            <a:r>
              <a:rPr lang="en-US" altLang="zh-CN" sz="1050" dirty="0" smtClean="0">
                <a:solidFill>
                  <a:srgbClr val="000000"/>
                </a:solidFill>
                <a:latin typeface="Times New Roman" panose="02020603050405020304" pitchFamily="18" charset="0"/>
              </a:rPr>
              <a:t>4</a:t>
            </a:r>
            <a:r>
              <a:rPr lang="en-US" altLang="zh-CN" sz="1200" baseline="90000" dirty="0" smtClean="0">
                <a:solidFill>
                  <a:srgbClr val="000000"/>
                </a:solidFill>
                <a:latin typeface="Times New Roman" panose="02020603050405020304" pitchFamily="18" charset="0"/>
              </a:rPr>
              <a:t>−</a:t>
            </a:r>
            <a:r>
              <a:rPr lang="en-US" altLang="zh-CN" sz="2400" dirty="0" smtClean="0">
                <a:solidFill>
                  <a:srgbClr val="000000"/>
                </a:solidFill>
                <a:latin typeface="Times New Roman" panose="02020603050405020304" pitchFamily="18" charset="0"/>
              </a:rPr>
              <a:t>+4</a:t>
            </a:r>
            <a:r>
              <a:rPr lang="en-US" altLang="zh-CN" sz="2400" i="1" dirty="0" smtClean="0">
                <a:solidFill>
                  <a:srgbClr val="000000"/>
                </a:solidFill>
                <a:latin typeface="Times New Roman" panose="02020603050405020304" pitchFamily="18" charset="0"/>
              </a:rPr>
              <a:t>d</a:t>
            </a:r>
            <a:r>
              <a:rPr lang="en-US" altLang="zh-CN" sz="1050" dirty="0" smtClean="0">
                <a:solidFill>
                  <a:srgbClr val="000000"/>
                </a:solidFill>
                <a:latin typeface="Times New Roman" panose="02020603050405020304" pitchFamily="18" charset="0"/>
              </a:rPr>
              <a:t>5</a:t>
            </a:r>
            <a:r>
              <a:rPr lang="en-US" altLang="zh-CN" sz="1200" baseline="90000" dirty="0" smtClean="0">
                <a:solidFill>
                  <a:srgbClr val="000000"/>
                </a:solidFill>
                <a:latin typeface="Times New Roman" panose="02020603050405020304" pitchFamily="18" charset="0"/>
              </a:rPr>
              <a:t>−</a:t>
            </a:r>
            <a:endParaRPr lang="en-US" altLang="zh-CN" sz="1200" dirty="0" smtClean="0">
              <a:solidFill>
                <a:srgbClr val="000000"/>
              </a:solidFill>
              <a:latin typeface="Times New Roman" panose="02020603050405020304" pitchFamily="18" charset="0"/>
            </a:endParaRPr>
          </a:p>
          <a:p>
            <a:pPr>
              <a:lnSpc>
                <a:spcPts val="1540"/>
              </a:lnSpc>
              <a:tabLst>
                <a:tab pos="203200" algn="l"/>
                <a:tab pos="266700" algn="l"/>
                <a:tab pos="736600" algn="l"/>
              </a:tabLst>
            </a:pPr>
            <a:endParaRPr lang="en-US" altLang="zh-CN" sz="2400" dirty="0" smtClean="0">
              <a:solidFill>
                <a:srgbClr val="000000"/>
              </a:solidFill>
              <a:latin typeface="Times New Roman" panose="02020603050405020304" pitchFamily="18" charset="0"/>
            </a:endParaRPr>
          </a:p>
          <a:p>
            <a:pPr>
              <a:lnSpc>
                <a:spcPts val="1540"/>
              </a:lnSpc>
              <a:tabLst>
                <a:tab pos="203200" algn="l"/>
                <a:tab pos="266700" algn="l"/>
                <a:tab pos="736600" algn="l"/>
              </a:tabLst>
            </a:pPr>
            <a:r>
              <a:rPr lang="en-US" altLang="zh-CN" sz="2400" dirty="0" err="1" smtClean="0">
                <a:solidFill>
                  <a:srgbClr val="000000"/>
                </a:solidFill>
                <a:latin typeface="Times New Roman" panose="02020603050405020304" pitchFamily="18" charset="0"/>
              </a:rPr>
              <a:t>s.t.</a:t>
            </a:r>
            <a:r>
              <a:rPr lang="en-US" altLang="zh-CN" sz="2400" dirty="0" smtClean="0">
                <a:solidFill>
                  <a:srgbClr val="000000"/>
                </a:solidFill>
                <a:latin typeface="Times New Roman" panose="02020603050405020304" pitchFamily="18" charset="0"/>
              </a:rPr>
              <a:t>                             </a:t>
            </a:r>
            <a:r>
              <a:rPr lang="en-US" altLang="zh-CN" sz="2400" dirty="0" smtClean="0">
                <a:solidFill>
                  <a:srgbClr val="000000"/>
                </a:solidFill>
                <a:latin typeface="Times New Roman" panose="02020603050405020304" pitchFamily="18" charset="0"/>
              </a:rPr>
              <a:t>2</a:t>
            </a:r>
            <a:r>
              <a:rPr lang="en-US" altLang="zh-CN" sz="2400" i="1" dirty="0" smtClean="0">
                <a:solidFill>
                  <a:srgbClr val="000000"/>
                </a:solidFill>
                <a:latin typeface="Times New Roman" panose="02020603050405020304" pitchFamily="18" charset="0"/>
              </a:rPr>
              <a:t>x</a:t>
            </a:r>
            <a:r>
              <a:rPr lang="en-US" altLang="zh-CN" sz="1050" dirty="0" smtClean="0">
                <a:solidFill>
                  <a:srgbClr val="000000"/>
                </a:solidFill>
                <a:latin typeface="Times New Roman" panose="02020603050405020304" pitchFamily="18" charset="0"/>
              </a:rPr>
              <a:t>1</a:t>
            </a:r>
            <a:r>
              <a:rPr lang="en-US" altLang="zh-CN" sz="2400" dirty="0" smtClean="0">
                <a:solidFill>
                  <a:srgbClr val="000000"/>
                </a:solidFill>
                <a:latin typeface="Times New Roman" panose="02020603050405020304" pitchFamily="18" charset="0"/>
              </a:rPr>
              <a:t>+3</a:t>
            </a:r>
            <a:r>
              <a:rPr lang="en-US" altLang="zh-CN" sz="2400" i="1" dirty="0" smtClean="0">
                <a:solidFill>
                  <a:srgbClr val="000000"/>
                </a:solidFill>
                <a:latin typeface="Times New Roman" panose="02020603050405020304" pitchFamily="18" charset="0"/>
              </a:rPr>
              <a:t>x</a:t>
            </a:r>
            <a:r>
              <a:rPr lang="en-US" altLang="zh-CN" sz="1050" dirty="0" smtClean="0">
                <a:solidFill>
                  <a:srgbClr val="000000"/>
                </a:solidFill>
                <a:latin typeface="Times New Roman" panose="02020603050405020304" pitchFamily="18" charset="0"/>
              </a:rPr>
              <a:t>2</a:t>
            </a:r>
            <a:r>
              <a:rPr lang="en-US" altLang="zh-CN" sz="2400" dirty="0" smtClean="0">
                <a:solidFill>
                  <a:srgbClr val="000000"/>
                </a:solidFill>
                <a:latin typeface="Times New Roman" panose="02020603050405020304" pitchFamily="18" charset="0"/>
              </a:rPr>
              <a:t>-</a:t>
            </a:r>
            <a:r>
              <a:rPr lang="en-US" altLang="zh-CN" sz="2400" i="1" dirty="0" smtClean="0">
                <a:solidFill>
                  <a:srgbClr val="000000"/>
                </a:solidFill>
                <a:latin typeface="Times New Roman" panose="02020603050405020304" pitchFamily="18" charset="0"/>
              </a:rPr>
              <a:t>d</a:t>
            </a:r>
            <a:r>
              <a:rPr lang="en-US" altLang="zh-CN" sz="1050" dirty="0" smtClean="0">
                <a:solidFill>
                  <a:srgbClr val="000000"/>
                </a:solidFill>
                <a:latin typeface="Times New Roman" panose="02020603050405020304" pitchFamily="18" charset="0"/>
              </a:rPr>
              <a:t>1</a:t>
            </a:r>
            <a:r>
              <a:rPr lang="en-US" altLang="zh-CN" sz="1200" baseline="90000" dirty="0" smtClean="0">
                <a:solidFill>
                  <a:srgbClr val="000000"/>
                </a:solidFill>
                <a:latin typeface="Times New Roman" panose="02020603050405020304" pitchFamily="18" charset="0"/>
              </a:rPr>
              <a:t>+</a:t>
            </a:r>
            <a:r>
              <a:rPr lang="en-US" altLang="zh-CN" sz="2400" dirty="0" smtClean="0">
                <a:solidFill>
                  <a:srgbClr val="000000"/>
                </a:solidFill>
                <a:latin typeface="Times New Roman" panose="02020603050405020304" pitchFamily="18" charset="0"/>
              </a:rPr>
              <a:t>+</a:t>
            </a:r>
            <a:r>
              <a:rPr lang="en-US" altLang="zh-CN" sz="2400" i="1" dirty="0" smtClean="0">
                <a:solidFill>
                  <a:srgbClr val="000000"/>
                </a:solidFill>
                <a:latin typeface="Times New Roman" panose="02020603050405020304" pitchFamily="18" charset="0"/>
              </a:rPr>
              <a:t>d</a:t>
            </a:r>
            <a:r>
              <a:rPr lang="en-US" altLang="zh-CN" sz="1050" dirty="0" smtClean="0">
                <a:solidFill>
                  <a:srgbClr val="000000"/>
                </a:solidFill>
                <a:latin typeface="Times New Roman" panose="02020603050405020304" pitchFamily="18" charset="0"/>
              </a:rPr>
              <a:t>1</a:t>
            </a:r>
            <a:r>
              <a:rPr lang="en-US" altLang="zh-CN" sz="1200" baseline="90000" dirty="0" smtClean="0">
                <a:solidFill>
                  <a:srgbClr val="000000"/>
                </a:solidFill>
                <a:latin typeface="Times New Roman" panose="02020603050405020304" pitchFamily="18" charset="0"/>
              </a:rPr>
              <a:t>−</a:t>
            </a:r>
            <a:r>
              <a:rPr lang="en-US" altLang="zh-CN" sz="2400" dirty="0" smtClean="0">
                <a:solidFill>
                  <a:srgbClr val="000000"/>
                </a:solidFill>
                <a:latin typeface="Times New Roman" panose="02020603050405020304" pitchFamily="18" charset="0"/>
              </a:rPr>
              <a:t>=680</a:t>
            </a:r>
            <a:endParaRPr lang="en-US" altLang="zh-CN" sz="2400" dirty="0" smtClean="0">
              <a:solidFill>
                <a:srgbClr val="000000"/>
              </a:solidFill>
              <a:latin typeface="Times New Roman" panose="02020603050405020304" pitchFamily="18" charset="0"/>
            </a:endParaRPr>
          </a:p>
          <a:p>
            <a:pPr>
              <a:lnSpc>
                <a:spcPts val="1540"/>
              </a:lnSpc>
              <a:tabLst>
                <a:tab pos="203200" algn="l"/>
                <a:tab pos="266700" algn="l"/>
                <a:tab pos="736600" algn="l"/>
              </a:tabLst>
            </a:pPr>
            <a:r>
              <a:rPr lang="en-US" altLang="zh-CN" sz="2400" dirty="0" smtClean="0">
                <a:solidFill>
                  <a:srgbClr val="000000"/>
                </a:solidFill>
                <a:latin typeface="Times New Roman" panose="02020603050405020304" pitchFamily="18" charset="0"/>
              </a:rPr>
              <a:t>		</a:t>
            </a:r>
            <a:endParaRPr lang="en-US" altLang="zh-CN" sz="2400" dirty="0" smtClean="0">
              <a:solidFill>
                <a:srgbClr val="000000"/>
              </a:solidFill>
              <a:latin typeface="Times New Roman" panose="02020603050405020304" pitchFamily="18" charset="0"/>
            </a:endParaRPr>
          </a:p>
          <a:p>
            <a:pPr>
              <a:lnSpc>
                <a:spcPts val="1540"/>
              </a:lnSpc>
              <a:tabLst>
                <a:tab pos="203200" algn="l"/>
                <a:tab pos="266700" algn="l"/>
                <a:tab pos="736600" algn="l"/>
              </a:tabLst>
            </a:pPr>
            <a:r>
              <a:rPr lang="en-US" altLang="zh-CN" sz="2400" dirty="0" smtClean="0">
                <a:solidFill>
                  <a:srgbClr val="000000"/>
                </a:solidFill>
                <a:latin typeface="Times New Roman" panose="02020603050405020304" pitchFamily="18" charset="0"/>
              </a:rPr>
              <a:t>                                 </a:t>
            </a:r>
            <a:r>
              <a:rPr lang="en-US" altLang="zh-CN" sz="2400" dirty="0" smtClean="0">
                <a:solidFill>
                  <a:srgbClr val="000000"/>
                </a:solidFill>
                <a:latin typeface="Times New Roman" panose="02020603050405020304" pitchFamily="18" charset="0"/>
              </a:rPr>
              <a:t>2</a:t>
            </a:r>
            <a:r>
              <a:rPr lang="en-US" altLang="zh-CN" sz="2400" i="1" dirty="0" smtClean="0">
                <a:solidFill>
                  <a:srgbClr val="000000"/>
                </a:solidFill>
                <a:latin typeface="Times New Roman" panose="02020603050405020304" pitchFamily="18" charset="0"/>
              </a:rPr>
              <a:t>x</a:t>
            </a:r>
            <a:r>
              <a:rPr lang="en-US" altLang="zh-CN" sz="1050" dirty="0" smtClean="0">
                <a:solidFill>
                  <a:srgbClr val="000000"/>
                </a:solidFill>
                <a:latin typeface="Times New Roman" panose="02020603050405020304" pitchFamily="18" charset="0"/>
              </a:rPr>
              <a:t>1</a:t>
            </a:r>
            <a:r>
              <a:rPr lang="en-US" altLang="zh-CN" sz="2400" dirty="0" smtClean="0">
                <a:solidFill>
                  <a:srgbClr val="000000"/>
                </a:solidFill>
                <a:latin typeface="Times New Roman" panose="02020603050405020304" pitchFamily="18" charset="0"/>
              </a:rPr>
              <a:t>+3</a:t>
            </a:r>
            <a:r>
              <a:rPr lang="en-US" altLang="zh-CN" sz="2400" i="1" dirty="0" smtClean="0">
                <a:solidFill>
                  <a:srgbClr val="000000"/>
                </a:solidFill>
                <a:latin typeface="Times New Roman" panose="02020603050405020304" pitchFamily="18" charset="0"/>
              </a:rPr>
              <a:t>x</a:t>
            </a:r>
            <a:r>
              <a:rPr lang="en-US" altLang="zh-CN" sz="1050" dirty="0" smtClean="0">
                <a:solidFill>
                  <a:srgbClr val="000000"/>
                </a:solidFill>
                <a:latin typeface="Times New Roman" panose="02020603050405020304" pitchFamily="18" charset="0"/>
              </a:rPr>
              <a:t>2</a:t>
            </a:r>
            <a:r>
              <a:rPr lang="en-US" altLang="zh-CN" sz="2400" dirty="0" smtClean="0">
                <a:solidFill>
                  <a:srgbClr val="000000"/>
                </a:solidFill>
                <a:latin typeface="Times New Roman" panose="02020603050405020304" pitchFamily="18" charset="0"/>
              </a:rPr>
              <a:t>-</a:t>
            </a:r>
            <a:r>
              <a:rPr lang="en-US" altLang="zh-CN" sz="2400" i="1" dirty="0" smtClean="0">
                <a:solidFill>
                  <a:srgbClr val="000000"/>
                </a:solidFill>
                <a:latin typeface="Times New Roman" panose="02020603050405020304" pitchFamily="18" charset="0"/>
              </a:rPr>
              <a:t>d</a:t>
            </a:r>
            <a:r>
              <a:rPr lang="en-US" altLang="zh-CN" sz="1050" dirty="0" smtClean="0">
                <a:solidFill>
                  <a:srgbClr val="000000"/>
                </a:solidFill>
                <a:latin typeface="Times New Roman" panose="02020603050405020304" pitchFamily="18" charset="0"/>
              </a:rPr>
              <a:t>2</a:t>
            </a:r>
            <a:r>
              <a:rPr lang="en-US" altLang="zh-CN" sz="1200" baseline="90000" dirty="0" smtClean="0">
                <a:solidFill>
                  <a:srgbClr val="000000"/>
                </a:solidFill>
                <a:latin typeface="Times New Roman" panose="02020603050405020304" pitchFamily="18" charset="0"/>
              </a:rPr>
              <a:t>+</a:t>
            </a:r>
            <a:r>
              <a:rPr lang="en-US" altLang="zh-CN" sz="2400" dirty="0" smtClean="0">
                <a:solidFill>
                  <a:srgbClr val="000000"/>
                </a:solidFill>
                <a:latin typeface="Times New Roman" panose="02020603050405020304" pitchFamily="18" charset="0"/>
              </a:rPr>
              <a:t>+</a:t>
            </a:r>
            <a:r>
              <a:rPr lang="en-US" altLang="zh-CN" sz="2400" i="1" dirty="0" smtClean="0">
                <a:solidFill>
                  <a:srgbClr val="000000"/>
                </a:solidFill>
                <a:latin typeface="Times New Roman" panose="02020603050405020304" pitchFamily="18" charset="0"/>
              </a:rPr>
              <a:t>d</a:t>
            </a:r>
            <a:r>
              <a:rPr lang="en-US" altLang="zh-CN" sz="1050" dirty="0" smtClean="0">
                <a:solidFill>
                  <a:srgbClr val="000000"/>
                </a:solidFill>
                <a:latin typeface="Times New Roman" panose="02020603050405020304" pitchFamily="18" charset="0"/>
              </a:rPr>
              <a:t>2</a:t>
            </a:r>
            <a:r>
              <a:rPr lang="en-US" altLang="zh-CN" sz="1200" baseline="90000" dirty="0" smtClean="0">
                <a:solidFill>
                  <a:srgbClr val="000000"/>
                </a:solidFill>
                <a:latin typeface="Times New Roman" panose="02020603050405020304" pitchFamily="18" charset="0"/>
              </a:rPr>
              <a:t>−</a:t>
            </a:r>
            <a:r>
              <a:rPr lang="en-US" altLang="zh-CN" sz="2400" dirty="0" smtClean="0">
                <a:solidFill>
                  <a:srgbClr val="000000"/>
                </a:solidFill>
                <a:latin typeface="Times New Roman" panose="02020603050405020304" pitchFamily="18" charset="0"/>
              </a:rPr>
              <a:t>=600</a:t>
            </a:r>
            <a:endParaRPr lang="en-US" altLang="zh-CN" sz="2400" dirty="0" smtClean="0">
              <a:solidFill>
                <a:srgbClr val="000000"/>
              </a:solidFill>
              <a:latin typeface="Times New Roman" panose="02020603050405020304" pitchFamily="18" charset="0"/>
            </a:endParaRPr>
          </a:p>
          <a:p>
            <a:pPr>
              <a:lnSpc>
                <a:spcPts val="1540"/>
              </a:lnSpc>
              <a:tabLst>
                <a:tab pos="203200" algn="l"/>
                <a:tab pos="266700" algn="l"/>
                <a:tab pos="736600" algn="l"/>
              </a:tabLst>
            </a:pPr>
            <a:r>
              <a:rPr lang="en-US" altLang="zh-CN" sz="2400" dirty="0" smtClean="0">
                <a:solidFill>
                  <a:srgbClr val="000000"/>
                </a:solidFill>
                <a:latin typeface="Times New Roman" panose="02020603050405020304" pitchFamily="18" charset="0"/>
              </a:rPr>
              <a:t>		</a:t>
            </a:r>
            <a:endParaRPr lang="en-US" altLang="zh-CN" sz="2400" dirty="0" smtClean="0">
              <a:solidFill>
                <a:srgbClr val="000000"/>
              </a:solidFill>
              <a:latin typeface="Times New Roman" panose="02020603050405020304" pitchFamily="18" charset="0"/>
            </a:endParaRPr>
          </a:p>
          <a:p>
            <a:pPr>
              <a:lnSpc>
                <a:spcPts val="1540"/>
              </a:lnSpc>
              <a:tabLst>
                <a:tab pos="203200" algn="l"/>
                <a:tab pos="266700" algn="l"/>
                <a:tab pos="736600" algn="l"/>
              </a:tabLst>
            </a:pPr>
            <a:r>
              <a:rPr lang="en-US" altLang="zh-CN" sz="2400" dirty="0" smtClean="0">
                <a:solidFill>
                  <a:srgbClr val="000000"/>
                </a:solidFill>
                <a:latin typeface="Times New Roman" panose="02020603050405020304" pitchFamily="18" charset="0"/>
              </a:rPr>
              <a:t>                                 </a:t>
            </a:r>
            <a:r>
              <a:rPr lang="en-US" altLang="zh-CN" sz="2400" dirty="0" smtClean="0">
                <a:solidFill>
                  <a:srgbClr val="000000"/>
                </a:solidFill>
                <a:latin typeface="Times New Roman" panose="02020603050405020304" pitchFamily="18" charset="0"/>
              </a:rPr>
              <a:t>250</a:t>
            </a:r>
            <a:r>
              <a:rPr lang="en-US" altLang="zh-CN" sz="2400" i="1" dirty="0" smtClean="0">
                <a:solidFill>
                  <a:srgbClr val="000000"/>
                </a:solidFill>
                <a:latin typeface="Times New Roman" panose="02020603050405020304" pitchFamily="18" charset="0"/>
              </a:rPr>
              <a:t>x</a:t>
            </a:r>
            <a:r>
              <a:rPr lang="en-US" altLang="zh-CN" sz="1050" dirty="0" smtClean="0">
                <a:solidFill>
                  <a:srgbClr val="000000"/>
                </a:solidFill>
                <a:latin typeface="Times New Roman" panose="02020603050405020304" pitchFamily="18" charset="0"/>
              </a:rPr>
              <a:t>1</a:t>
            </a:r>
            <a:r>
              <a:rPr lang="en-US" altLang="zh-CN" sz="2400" dirty="0" smtClean="0">
                <a:solidFill>
                  <a:srgbClr val="000000"/>
                </a:solidFill>
                <a:latin typeface="Times New Roman" panose="02020603050405020304" pitchFamily="18" charset="0"/>
              </a:rPr>
              <a:t>+125</a:t>
            </a:r>
            <a:r>
              <a:rPr lang="en-US" altLang="zh-CN" sz="2400" i="1" dirty="0" smtClean="0">
                <a:solidFill>
                  <a:srgbClr val="000000"/>
                </a:solidFill>
                <a:latin typeface="Times New Roman" panose="02020603050405020304" pitchFamily="18" charset="0"/>
              </a:rPr>
              <a:t>x</a:t>
            </a:r>
            <a:r>
              <a:rPr lang="en-US" altLang="zh-CN" sz="1050" dirty="0" smtClean="0">
                <a:solidFill>
                  <a:srgbClr val="000000"/>
                </a:solidFill>
                <a:latin typeface="Times New Roman" panose="02020603050405020304" pitchFamily="18" charset="0"/>
              </a:rPr>
              <a:t>2</a:t>
            </a:r>
            <a:r>
              <a:rPr lang="en-US" altLang="zh-CN" sz="2400" dirty="0" smtClean="0">
                <a:solidFill>
                  <a:srgbClr val="000000"/>
                </a:solidFill>
                <a:latin typeface="Times New Roman" panose="02020603050405020304" pitchFamily="18" charset="0"/>
              </a:rPr>
              <a:t>−</a:t>
            </a:r>
            <a:r>
              <a:rPr lang="en-US" altLang="zh-CN" sz="2400" i="1" dirty="0" smtClean="0">
                <a:solidFill>
                  <a:srgbClr val="000000"/>
                </a:solidFill>
                <a:latin typeface="Times New Roman" panose="02020603050405020304" pitchFamily="18" charset="0"/>
              </a:rPr>
              <a:t>d</a:t>
            </a:r>
            <a:r>
              <a:rPr lang="en-US" altLang="zh-CN" sz="1050" dirty="0" smtClean="0">
                <a:solidFill>
                  <a:srgbClr val="000000"/>
                </a:solidFill>
                <a:latin typeface="Times New Roman" panose="02020603050405020304" pitchFamily="18" charset="0"/>
              </a:rPr>
              <a:t>3</a:t>
            </a:r>
            <a:r>
              <a:rPr lang="en-US" altLang="zh-CN" sz="1200" baseline="90000" dirty="0" smtClean="0">
                <a:solidFill>
                  <a:srgbClr val="000000"/>
                </a:solidFill>
                <a:latin typeface="Times New Roman" panose="02020603050405020304" pitchFamily="18" charset="0"/>
              </a:rPr>
              <a:t>+</a:t>
            </a:r>
            <a:r>
              <a:rPr lang="en-US" altLang="zh-CN" sz="2400" dirty="0" smtClean="0">
                <a:solidFill>
                  <a:srgbClr val="000000"/>
                </a:solidFill>
                <a:latin typeface="Times New Roman" panose="02020603050405020304" pitchFamily="18" charset="0"/>
              </a:rPr>
              <a:t>+</a:t>
            </a:r>
            <a:r>
              <a:rPr lang="en-US" altLang="zh-CN" sz="2400" i="1" dirty="0" smtClean="0">
                <a:solidFill>
                  <a:srgbClr val="000000"/>
                </a:solidFill>
                <a:latin typeface="Times New Roman" panose="02020603050405020304" pitchFamily="18" charset="0"/>
              </a:rPr>
              <a:t>d</a:t>
            </a:r>
            <a:r>
              <a:rPr lang="en-US" altLang="zh-CN" sz="1050" dirty="0" smtClean="0">
                <a:solidFill>
                  <a:srgbClr val="000000"/>
                </a:solidFill>
                <a:latin typeface="Times New Roman" panose="02020603050405020304" pitchFamily="18" charset="0"/>
              </a:rPr>
              <a:t>3</a:t>
            </a:r>
            <a:r>
              <a:rPr lang="en-US" altLang="zh-CN" sz="1200" baseline="90000" dirty="0" smtClean="0">
                <a:solidFill>
                  <a:srgbClr val="000000"/>
                </a:solidFill>
                <a:latin typeface="Times New Roman" panose="02020603050405020304" pitchFamily="18" charset="0"/>
              </a:rPr>
              <a:t>−</a:t>
            </a:r>
            <a:r>
              <a:rPr lang="en-US" altLang="zh-CN" sz="2400" dirty="0" smtClean="0">
                <a:solidFill>
                  <a:srgbClr val="000000"/>
                </a:solidFill>
                <a:latin typeface="Times New Roman" panose="02020603050405020304" pitchFamily="18" charset="0"/>
              </a:rPr>
              <a:t>=70000</a:t>
            </a:r>
            <a:endParaRPr lang="en-US" altLang="zh-CN" sz="2400" dirty="0" smtClean="0">
              <a:solidFill>
                <a:srgbClr val="000000"/>
              </a:solidFill>
              <a:latin typeface="Times New Roman" panose="02020603050405020304" pitchFamily="18" charset="0"/>
            </a:endParaRPr>
          </a:p>
          <a:p>
            <a:pPr>
              <a:lnSpc>
                <a:spcPts val="1540"/>
              </a:lnSpc>
              <a:tabLst>
                <a:tab pos="203200" algn="l"/>
                <a:tab pos="266700" algn="l"/>
                <a:tab pos="736600" algn="l"/>
              </a:tabLst>
            </a:pPr>
            <a:r>
              <a:rPr lang="en-US" altLang="zh-CN" sz="2400" dirty="0" smtClean="0">
                <a:solidFill>
                  <a:srgbClr val="000000"/>
                </a:solidFill>
                <a:latin typeface="Times New Roman" panose="02020603050405020304" pitchFamily="18" charset="0"/>
              </a:rPr>
              <a:t>		</a:t>
            </a:r>
            <a:endParaRPr lang="en-US" altLang="zh-CN" sz="2400" dirty="0" smtClean="0">
              <a:solidFill>
                <a:srgbClr val="000000"/>
              </a:solidFill>
              <a:latin typeface="Times New Roman" panose="02020603050405020304" pitchFamily="18" charset="0"/>
            </a:endParaRPr>
          </a:p>
          <a:p>
            <a:pPr>
              <a:lnSpc>
                <a:spcPts val="1540"/>
              </a:lnSpc>
              <a:tabLst>
                <a:tab pos="203200" algn="l"/>
                <a:tab pos="266700" algn="l"/>
                <a:tab pos="736600" algn="l"/>
              </a:tabLst>
            </a:pPr>
            <a:r>
              <a:rPr lang="en-US" altLang="zh-CN" sz="2400" i="1" dirty="0" smtClean="0">
                <a:solidFill>
                  <a:srgbClr val="000000"/>
                </a:solidFill>
                <a:latin typeface="Times New Roman" panose="02020603050405020304" pitchFamily="18" charset="0"/>
              </a:rPr>
              <a:t>                                 </a:t>
            </a:r>
            <a:r>
              <a:rPr lang="en-US" altLang="zh-CN" sz="2400" i="1" dirty="0" smtClean="0">
                <a:solidFill>
                  <a:srgbClr val="000000"/>
                </a:solidFill>
                <a:latin typeface="Times New Roman" panose="02020603050405020304" pitchFamily="18" charset="0"/>
              </a:rPr>
              <a:t>x</a:t>
            </a:r>
            <a:r>
              <a:rPr lang="en-US" altLang="zh-CN" sz="1050" dirty="0" smtClean="0">
                <a:solidFill>
                  <a:srgbClr val="000000"/>
                </a:solidFill>
                <a:latin typeface="Times New Roman" panose="02020603050405020304" pitchFamily="18" charset="0"/>
              </a:rPr>
              <a:t>1</a:t>
            </a:r>
            <a:r>
              <a:rPr lang="en-US" altLang="zh-CN" sz="2400" dirty="0" smtClean="0">
                <a:solidFill>
                  <a:srgbClr val="000000"/>
                </a:solidFill>
                <a:latin typeface="Times New Roman" panose="02020603050405020304" pitchFamily="18" charset="0"/>
              </a:rPr>
              <a:t>-</a:t>
            </a:r>
            <a:r>
              <a:rPr lang="en-US" altLang="zh-CN" sz="2400" i="1" dirty="0" smtClean="0">
                <a:solidFill>
                  <a:srgbClr val="000000"/>
                </a:solidFill>
                <a:latin typeface="Times New Roman" panose="02020603050405020304" pitchFamily="18" charset="0"/>
              </a:rPr>
              <a:t>d</a:t>
            </a:r>
            <a:r>
              <a:rPr lang="en-US" altLang="zh-CN" sz="1050" dirty="0" smtClean="0">
                <a:solidFill>
                  <a:srgbClr val="000000"/>
                </a:solidFill>
                <a:latin typeface="Times New Roman" panose="02020603050405020304" pitchFamily="18" charset="0"/>
              </a:rPr>
              <a:t>4</a:t>
            </a:r>
            <a:r>
              <a:rPr lang="en-US" altLang="zh-CN" sz="1200" baseline="90000" dirty="0" smtClean="0">
                <a:solidFill>
                  <a:srgbClr val="000000"/>
                </a:solidFill>
                <a:latin typeface="Times New Roman" panose="02020603050405020304" pitchFamily="18" charset="0"/>
              </a:rPr>
              <a:t>+</a:t>
            </a:r>
            <a:r>
              <a:rPr lang="en-US" altLang="zh-CN" sz="2400" dirty="0" smtClean="0">
                <a:solidFill>
                  <a:srgbClr val="000000"/>
                </a:solidFill>
                <a:latin typeface="Times New Roman" panose="02020603050405020304" pitchFamily="18" charset="0"/>
              </a:rPr>
              <a:t>+</a:t>
            </a:r>
            <a:r>
              <a:rPr lang="en-US" altLang="zh-CN" sz="2400" i="1" dirty="0" smtClean="0">
                <a:solidFill>
                  <a:srgbClr val="000000"/>
                </a:solidFill>
                <a:latin typeface="Times New Roman" panose="02020603050405020304" pitchFamily="18" charset="0"/>
              </a:rPr>
              <a:t>d</a:t>
            </a:r>
            <a:r>
              <a:rPr lang="en-US" altLang="zh-CN" sz="1050" dirty="0" smtClean="0">
                <a:solidFill>
                  <a:srgbClr val="000000"/>
                </a:solidFill>
                <a:latin typeface="Times New Roman" panose="02020603050405020304" pitchFamily="18" charset="0"/>
              </a:rPr>
              <a:t>4</a:t>
            </a:r>
            <a:r>
              <a:rPr lang="en-US" altLang="zh-CN" sz="1200" baseline="90000" dirty="0" smtClean="0">
                <a:solidFill>
                  <a:srgbClr val="000000"/>
                </a:solidFill>
                <a:latin typeface="Times New Roman" panose="02020603050405020304" pitchFamily="18" charset="0"/>
              </a:rPr>
              <a:t>−</a:t>
            </a:r>
            <a:r>
              <a:rPr lang="en-US" altLang="zh-CN" sz="2400" dirty="0" smtClean="0">
                <a:solidFill>
                  <a:srgbClr val="000000"/>
                </a:solidFill>
                <a:latin typeface="Times New Roman" panose="02020603050405020304" pitchFamily="18" charset="0"/>
              </a:rPr>
              <a:t>=200</a:t>
            </a:r>
            <a:endParaRPr lang="en-US" altLang="zh-CN" sz="2400" dirty="0" smtClean="0">
              <a:solidFill>
                <a:srgbClr val="000000"/>
              </a:solidFill>
              <a:latin typeface="Times New Roman" panose="02020603050405020304" pitchFamily="18" charset="0"/>
            </a:endParaRPr>
          </a:p>
          <a:p>
            <a:pPr>
              <a:lnSpc>
                <a:spcPts val="1540"/>
              </a:lnSpc>
              <a:tabLst>
                <a:tab pos="203200" algn="l"/>
                <a:tab pos="266700" algn="l"/>
                <a:tab pos="736600" algn="l"/>
              </a:tabLst>
            </a:pPr>
            <a:r>
              <a:rPr lang="en-US" altLang="zh-CN" sz="2400" dirty="0" smtClean="0">
                <a:solidFill>
                  <a:srgbClr val="000000"/>
                </a:solidFill>
                <a:latin typeface="Times New Roman" panose="02020603050405020304" pitchFamily="18" charset="0"/>
              </a:rPr>
              <a:t>	</a:t>
            </a:r>
            <a:endParaRPr lang="en-US" altLang="zh-CN" sz="2400" dirty="0" smtClean="0">
              <a:solidFill>
                <a:srgbClr val="000000"/>
              </a:solidFill>
              <a:latin typeface="Times New Roman" panose="02020603050405020304" pitchFamily="18" charset="0"/>
            </a:endParaRPr>
          </a:p>
          <a:p>
            <a:pPr>
              <a:lnSpc>
                <a:spcPts val="1540"/>
              </a:lnSpc>
              <a:tabLst>
                <a:tab pos="203200" algn="l"/>
                <a:tab pos="266700" algn="l"/>
                <a:tab pos="736600" algn="l"/>
              </a:tabLst>
            </a:pPr>
            <a:r>
              <a:rPr lang="en-US" altLang="zh-CN" sz="2400" dirty="0" smtClean="0">
                <a:solidFill>
                  <a:srgbClr val="000000"/>
                </a:solidFill>
                <a:latin typeface="Times New Roman" panose="02020603050405020304" pitchFamily="18" charset="0"/>
              </a:rPr>
              <a:t>                                 </a:t>
            </a:r>
            <a:r>
              <a:rPr lang="en-US" altLang="zh-CN" sz="2400" i="1" dirty="0" smtClean="0">
                <a:solidFill>
                  <a:srgbClr val="000000"/>
                </a:solidFill>
                <a:latin typeface="Times New Roman" panose="02020603050405020304" pitchFamily="18" charset="0"/>
              </a:rPr>
              <a:t>x</a:t>
            </a:r>
            <a:r>
              <a:rPr lang="en-US" altLang="zh-CN" sz="1050" dirty="0" smtClean="0">
                <a:solidFill>
                  <a:srgbClr val="000000"/>
                </a:solidFill>
                <a:latin typeface="Times New Roman" panose="02020603050405020304" pitchFamily="18" charset="0"/>
              </a:rPr>
              <a:t>2</a:t>
            </a:r>
            <a:r>
              <a:rPr lang="en-US" altLang="zh-CN" sz="2400" dirty="0" smtClean="0">
                <a:solidFill>
                  <a:srgbClr val="000000"/>
                </a:solidFill>
                <a:latin typeface="Times New Roman" panose="02020603050405020304" pitchFamily="18" charset="0"/>
              </a:rPr>
              <a:t>-</a:t>
            </a:r>
            <a:r>
              <a:rPr lang="en-US" altLang="zh-CN" sz="2400" i="1" dirty="0" smtClean="0">
                <a:solidFill>
                  <a:srgbClr val="000000"/>
                </a:solidFill>
                <a:latin typeface="Times New Roman" panose="02020603050405020304" pitchFamily="18" charset="0"/>
              </a:rPr>
              <a:t>d</a:t>
            </a:r>
            <a:r>
              <a:rPr lang="en-US" altLang="zh-CN" sz="1050" dirty="0" smtClean="0">
                <a:solidFill>
                  <a:srgbClr val="000000"/>
                </a:solidFill>
                <a:latin typeface="Times New Roman" panose="02020603050405020304" pitchFamily="18" charset="0"/>
              </a:rPr>
              <a:t>5</a:t>
            </a:r>
            <a:r>
              <a:rPr lang="en-US" altLang="zh-CN" sz="1200" baseline="90000" dirty="0" smtClean="0">
                <a:solidFill>
                  <a:srgbClr val="000000"/>
                </a:solidFill>
                <a:latin typeface="Times New Roman" panose="02020603050405020304" pitchFamily="18" charset="0"/>
              </a:rPr>
              <a:t>+</a:t>
            </a:r>
            <a:r>
              <a:rPr lang="en-US" altLang="zh-CN" sz="2400" dirty="0" smtClean="0">
                <a:solidFill>
                  <a:srgbClr val="000000"/>
                </a:solidFill>
                <a:latin typeface="Times New Roman" panose="02020603050405020304" pitchFamily="18" charset="0"/>
              </a:rPr>
              <a:t>+</a:t>
            </a:r>
            <a:r>
              <a:rPr lang="en-US" altLang="zh-CN" sz="2400" i="1" dirty="0" smtClean="0">
                <a:solidFill>
                  <a:srgbClr val="000000"/>
                </a:solidFill>
                <a:latin typeface="Times New Roman" panose="02020603050405020304" pitchFamily="18" charset="0"/>
              </a:rPr>
              <a:t>d</a:t>
            </a:r>
            <a:r>
              <a:rPr lang="en-US" altLang="zh-CN" sz="1050" dirty="0" smtClean="0">
                <a:solidFill>
                  <a:srgbClr val="000000"/>
                </a:solidFill>
                <a:latin typeface="Times New Roman" panose="02020603050405020304" pitchFamily="18" charset="0"/>
              </a:rPr>
              <a:t>5</a:t>
            </a:r>
            <a:r>
              <a:rPr lang="en-US" altLang="zh-CN" sz="1200" baseline="90000" dirty="0" smtClean="0">
                <a:solidFill>
                  <a:srgbClr val="000000"/>
                </a:solidFill>
                <a:latin typeface="Times New Roman" panose="02020603050405020304" pitchFamily="18" charset="0"/>
              </a:rPr>
              <a:t>−</a:t>
            </a:r>
            <a:r>
              <a:rPr lang="en-US" altLang="zh-CN" sz="2400" dirty="0" smtClean="0">
                <a:solidFill>
                  <a:srgbClr val="000000"/>
                </a:solidFill>
                <a:latin typeface="Times New Roman" panose="02020603050405020304" pitchFamily="18" charset="0"/>
              </a:rPr>
              <a:t>=120</a:t>
            </a:r>
            <a:endParaRPr lang="en-US" altLang="zh-CN" sz="2400" dirty="0" smtClean="0">
              <a:solidFill>
                <a:srgbClr val="000000"/>
              </a:solidFill>
              <a:latin typeface="Times New Roman" panose="02020603050405020304" pitchFamily="18" charset="0"/>
            </a:endParaRPr>
          </a:p>
          <a:p>
            <a:pPr>
              <a:lnSpc>
                <a:spcPts val="1540"/>
              </a:lnSpc>
              <a:tabLst>
                <a:tab pos="203200" algn="l"/>
                <a:tab pos="266700" algn="l"/>
                <a:tab pos="736600" algn="l"/>
              </a:tabLst>
            </a:pPr>
            <a:r>
              <a:rPr lang="en-US" altLang="zh-CN" sz="2400" dirty="0" smtClean="0">
                <a:solidFill>
                  <a:srgbClr val="000000"/>
                </a:solidFill>
                <a:latin typeface="Times New Roman" panose="02020603050405020304" pitchFamily="18" charset="0"/>
              </a:rPr>
              <a:t>	</a:t>
            </a:r>
            <a:endParaRPr lang="en-US" altLang="zh-CN" sz="2400" dirty="0" smtClean="0">
              <a:solidFill>
                <a:srgbClr val="000000"/>
              </a:solidFill>
              <a:latin typeface="Times New Roman" panose="02020603050405020304" pitchFamily="18" charset="0"/>
            </a:endParaRPr>
          </a:p>
          <a:p>
            <a:pPr>
              <a:lnSpc>
                <a:spcPts val="1540"/>
              </a:lnSpc>
              <a:tabLst>
                <a:tab pos="203200" algn="l"/>
                <a:tab pos="266700" algn="l"/>
                <a:tab pos="736600" algn="l"/>
              </a:tabLst>
            </a:pPr>
            <a:r>
              <a:rPr lang="en-US" altLang="zh-CN" sz="2400" i="1" dirty="0" smtClean="0">
                <a:solidFill>
                  <a:srgbClr val="000000"/>
                </a:solidFill>
                <a:latin typeface="Times New Roman" panose="02020603050405020304" pitchFamily="18" charset="0"/>
              </a:rPr>
              <a:t>                                 </a:t>
            </a:r>
            <a:r>
              <a:rPr lang="en-US" altLang="zh-CN" sz="2400" i="1" dirty="0" smtClean="0">
                <a:solidFill>
                  <a:srgbClr val="000000"/>
                </a:solidFill>
                <a:latin typeface="Times New Roman" panose="02020603050405020304" pitchFamily="18" charset="0"/>
              </a:rPr>
              <a:t>x</a:t>
            </a:r>
            <a:r>
              <a:rPr lang="en-US" altLang="zh-CN" sz="1050" dirty="0" smtClean="0">
                <a:solidFill>
                  <a:srgbClr val="000000"/>
                </a:solidFill>
                <a:latin typeface="Times New Roman" panose="02020603050405020304" pitchFamily="18" charset="0"/>
              </a:rPr>
              <a:t>1</a:t>
            </a:r>
            <a:r>
              <a:rPr lang="en-US" altLang="zh-CN" sz="2400" dirty="0" smtClean="0">
                <a:solidFill>
                  <a:srgbClr val="000000"/>
                </a:solidFill>
                <a:latin typeface="Times New Roman" panose="02020603050405020304" pitchFamily="18" charset="0"/>
              </a:rPr>
              <a:t>, </a:t>
            </a:r>
            <a:r>
              <a:rPr lang="en-US" altLang="zh-CN" sz="2400" i="1" dirty="0" smtClean="0">
                <a:solidFill>
                  <a:srgbClr val="000000"/>
                </a:solidFill>
                <a:latin typeface="Times New Roman" panose="02020603050405020304" pitchFamily="18" charset="0"/>
              </a:rPr>
              <a:t>x</a:t>
            </a:r>
            <a:r>
              <a:rPr lang="en-US" altLang="zh-CN" sz="1050" dirty="0" smtClean="0">
                <a:solidFill>
                  <a:srgbClr val="000000"/>
                </a:solidFill>
                <a:latin typeface="Times New Roman" panose="02020603050405020304" pitchFamily="18" charset="0"/>
              </a:rPr>
              <a:t>2</a:t>
            </a:r>
            <a:r>
              <a:rPr lang="en-US" altLang="zh-CN" sz="2400" dirty="0" smtClean="0">
                <a:solidFill>
                  <a:srgbClr val="000000"/>
                </a:solidFill>
                <a:latin typeface="Times New Roman" panose="02020603050405020304" pitchFamily="18" charset="0"/>
              </a:rPr>
              <a:t>, </a:t>
            </a:r>
            <a:r>
              <a:rPr lang="en-US" altLang="zh-CN" sz="2400" i="1" dirty="0" smtClean="0">
                <a:solidFill>
                  <a:srgbClr val="000000"/>
                </a:solidFill>
                <a:latin typeface="Times New Roman" panose="02020603050405020304" pitchFamily="18" charset="0"/>
              </a:rPr>
              <a:t>d</a:t>
            </a:r>
            <a:r>
              <a:rPr lang="en-US" altLang="zh-CN" sz="1050" dirty="0" smtClean="0">
                <a:solidFill>
                  <a:srgbClr val="000000"/>
                </a:solidFill>
                <a:latin typeface="Times New Roman" panose="02020603050405020304" pitchFamily="18" charset="0"/>
              </a:rPr>
              <a:t>1</a:t>
            </a:r>
            <a:r>
              <a:rPr lang="en-US" altLang="zh-CN" sz="1200" baseline="90000" dirty="0" smtClean="0">
                <a:solidFill>
                  <a:srgbClr val="000000"/>
                </a:solidFill>
                <a:latin typeface="Times New Roman" panose="02020603050405020304" pitchFamily="18" charset="0"/>
              </a:rPr>
              <a:t>+</a:t>
            </a:r>
            <a:r>
              <a:rPr lang="en-US" altLang="zh-CN" sz="2400" dirty="0" smtClean="0">
                <a:solidFill>
                  <a:srgbClr val="000000"/>
                </a:solidFill>
                <a:latin typeface="Times New Roman" panose="02020603050405020304" pitchFamily="18" charset="0"/>
              </a:rPr>
              <a:t>, </a:t>
            </a:r>
            <a:r>
              <a:rPr lang="en-US" altLang="zh-CN" sz="2400" i="1" dirty="0" smtClean="0">
                <a:solidFill>
                  <a:srgbClr val="000000"/>
                </a:solidFill>
                <a:latin typeface="Times New Roman" panose="02020603050405020304" pitchFamily="18" charset="0"/>
              </a:rPr>
              <a:t>d</a:t>
            </a:r>
            <a:r>
              <a:rPr lang="en-US" altLang="zh-CN" sz="1050" dirty="0" smtClean="0">
                <a:solidFill>
                  <a:srgbClr val="000000"/>
                </a:solidFill>
                <a:latin typeface="Times New Roman" panose="02020603050405020304" pitchFamily="18" charset="0"/>
              </a:rPr>
              <a:t>1</a:t>
            </a:r>
            <a:r>
              <a:rPr lang="en-US" altLang="zh-CN" sz="1200" baseline="90000" dirty="0" smtClean="0">
                <a:solidFill>
                  <a:srgbClr val="000000"/>
                </a:solidFill>
                <a:latin typeface="Times New Roman" panose="02020603050405020304" pitchFamily="18" charset="0"/>
              </a:rPr>
              <a:t>−</a:t>
            </a:r>
            <a:r>
              <a:rPr lang="en-US" altLang="zh-CN" sz="2400" dirty="0" smtClean="0">
                <a:solidFill>
                  <a:srgbClr val="000000"/>
                </a:solidFill>
                <a:latin typeface="Times New Roman" panose="02020603050405020304" pitchFamily="18" charset="0"/>
              </a:rPr>
              <a:t>, </a:t>
            </a:r>
            <a:r>
              <a:rPr lang="en-US" altLang="zh-CN" sz="2400" i="1" dirty="0" smtClean="0">
                <a:solidFill>
                  <a:srgbClr val="000000"/>
                </a:solidFill>
                <a:latin typeface="Times New Roman" panose="02020603050405020304" pitchFamily="18" charset="0"/>
              </a:rPr>
              <a:t>d</a:t>
            </a:r>
            <a:r>
              <a:rPr lang="en-US" altLang="zh-CN" sz="1050" dirty="0" smtClean="0">
                <a:solidFill>
                  <a:srgbClr val="000000"/>
                </a:solidFill>
                <a:latin typeface="Times New Roman" panose="02020603050405020304" pitchFamily="18" charset="0"/>
              </a:rPr>
              <a:t>2</a:t>
            </a:r>
            <a:r>
              <a:rPr lang="en-US" altLang="zh-CN" sz="1200" baseline="90000" dirty="0" smtClean="0">
                <a:solidFill>
                  <a:srgbClr val="000000"/>
                </a:solidFill>
                <a:latin typeface="Times New Roman" panose="02020603050405020304" pitchFamily="18" charset="0"/>
              </a:rPr>
              <a:t>+</a:t>
            </a:r>
            <a:r>
              <a:rPr lang="en-US" altLang="zh-CN" sz="2400" dirty="0" smtClean="0">
                <a:solidFill>
                  <a:srgbClr val="000000"/>
                </a:solidFill>
                <a:latin typeface="Times New Roman" panose="02020603050405020304" pitchFamily="18" charset="0"/>
              </a:rPr>
              <a:t>, </a:t>
            </a:r>
            <a:r>
              <a:rPr lang="en-US" altLang="zh-CN" sz="2400" i="1" dirty="0" smtClean="0">
                <a:solidFill>
                  <a:srgbClr val="000000"/>
                </a:solidFill>
                <a:latin typeface="Times New Roman" panose="02020603050405020304" pitchFamily="18" charset="0"/>
              </a:rPr>
              <a:t>d</a:t>
            </a:r>
            <a:r>
              <a:rPr lang="en-US" altLang="zh-CN" sz="1050" dirty="0" smtClean="0">
                <a:solidFill>
                  <a:srgbClr val="000000"/>
                </a:solidFill>
                <a:latin typeface="Times New Roman" panose="02020603050405020304" pitchFamily="18" charset="0"/>
              </a:rPr>
              <a:t>2</a:t>
            </a:r>
            <a:r>
              <a:rPr lang="en-US" altLang="zh-CN" sz="1200" baseline="90000" dirty="0" smtClean="0">
                <a:solidFill>
                  <a:srgbClr val="000000"/>
                </a:solidFill>
                <a:latin typeface="Times New Roman" panose="02020603050405020304" pitchFamily="18" charset="0"/>
              </a:rPr>
              <a:t>-</a:t>
            </a:r>
            <a:r>
              <a:rPr lang="en-US" altLang="zh-CN" sz="2400" dirty="0" smtClean="0">
                <a:solidFill>
                  <a:srgbClr val="000000"/>
                </a:solidFill>
                <a:latin typeface="Times New Roman" panose="02020603050405020304" pitchFamily="18" charset="0"/>
              </a:rPr>
              <a:t>, </a:t>
            </a:r>
            <a:r>
              <a:rPr lang="en-US" altLang="zh-CN" sz="2400" i="1" dirty="0" smtClean="0">
                <a:solidFill>
                  <a:srgbClr val="000000"/>
                </a:solidFill>
                <a:latin typeface="Times New Roman" panose="02020603050405020304" pitchFamily="18" charset="0"/>
              </a:rPr>
              <a:t>d</a:t>
            </a:r>
            <a:r>
              <a:rPr lang="en-US" altLang="zh-CN" sz="1050" dirty="0" smtClean="0">
                <a:solidFill>
                  <a:srgbClr val="000000"/>
                </a:solidFill>
                <a:latin typeface="Times New Roman" panose="02020603050405020304" pitchFamily="18" charset="0"/>
              </a:rPr>
              <a:t>3</a:t>
            </a:r>
            <a:r>
              <a:rPr lang="en-US" altLang="zh-CN" sz="1200" baseline="90000" dirty="0" smtClean="0">
                <a:solidFill>
                  <a:srgbClr val="000000"/>
                </a:solidFill>
                <a:latin typeface="Times New Roman" panose="02020603050405020304" pitchFamily="18" charset="0"/>
              </a:rPr>
              <a:t>+</a:t>
            </a:r>
            <a:r>
              <a:rPr lang="en-US" altLang="zh-CN" sz="2400" dirty="0" smtClean="0">
                <a:solidFill>
                  <a:srgbClr val="000000"/>
                </a:solidFill>
                <a:latin typeface="Times New Roman" panose="02020603050405020304" pitchFamily="18" charset="0"/>
              </a:rPr>
              <a:t>, </a:t>
            </a:r>
            <a:r>
              <a:rPr lang="en-US" altLang="zh-CN" sz="2400" i="1" dirty="0" smtClean="0">
                <a:solidFill>
                  <a:srgbClr val="000000"/>
                </a:solidFill>
                <a:latin typeface="Times New Roman" panose="02020603050405020304" pitchFamily="18" charset="0"/>
              </a:rPr>
              <a:t>d</a:t>
            </a:r>
            <a:r>
              <a:rPr lang="en-US" altLang="zh-CN" sz="1050" dirty="0" smtClean="0">
                <a:solidFill>
                  <a:srgbClr val="000000"/>
                </a:solidFill>
                <a:latin typeface="Times New Roman" panose="02020603050405020304" pitchFamily="18" charset="0"/>
              </a:rPr>
              <a:t>3</a:t>
            </a:r>
            <a:r>
              <a:rPr lang="en-US" altLang="zh-CN" sz="1200" baseline="90000" dirty="0" smtClean="0">
                <a:solidFill>
                  <a:srgbClr val="000000"/>
                </a:solidFill>
                <a:latin typeface="Times New Roman" panose="02020603050405020304" pitchFamily="18" charset="0"/>
              </a:rPr>
              <a:t>−</a:t>
            </a:r>
            <a:r>
              <a:rPr lang="en-US" altLang="zh-CN" sz="2400" dirty="0" smtClean="0">
                <a:solidFill>
                  <a:srgbClr val="000000"/>
                </a:solidFill>
                <a:latin typeface="Times New Roman" panose="02020603050405020304" pitchFamily="18" charset="0"/>
              </a:rPr>
              <a:t>, </a:t>
            </a:r>
            <a:r>
              <a:rPr lang="en-US" altLang="zh-CN" sz="2400" i="1" dirty="0" smtClean="0">
                <a:solidFill>
                  <a:srgbClr val="000000"/>
                </a:solidFill>
                <a:latin typeface="Times New Roman" panose="02020603050405020304" pitchFamily="18" charset="0"/>
              </a:rPr>
              <a:t>d</a:t>
            </a:r>
            <a:r>
              <a:rPr lang="en-US" altLang="zh-CN" sz="1050" dirty="0" smtClean="0">
                <a:solidFill>
                  <a:srgbClr val="000000"/>
                </a:solidFill>
                <a:latin typeface="Times New Roman" panose="02020603050405020304" pitchFamily="18" charset="0"/>
              </a:rPr>
              <a:t>4</a:t>
            </a:r>
            <a:r>
              <a:rPr lang="en-US" altLang="zh-CN" sz="1200" baseline="90000" dirty="0" smtClean="0">
                <a:solidFill>
                  <a:srgbClr val="000000"/>
                </a:solidFill>
                <a:latin typeface="Times New Roman" panose="02020603050405020304" pitchFamily="18" charset="0"/>
              </a:rPr>
              <a:t>+</a:t>
            </a:r>
            <a:r>
              <a:rPr lang="en-US" altLang="zh-CN" sz="2400" dirty="0" smtClean="0">
                <a:solidFill>
                  <a:srgbClr val="000000"/>
                </a:solidFill>
                <a:latin typeface="Times New Roman" panose="02020603050405020304" pitchFamily="18" charset="0"/>
              </a:rPr>
              <a:t>, </a:t>
            </a:r>
            <a:r>
              <a:rPr lang="en-US" altLang="zh-CN" sz="2400" i="1" dirty="0" smtClean="0">
                <a:solidFill>
                  <a:srgbClr val="000000"/>
                </a:solidFill>
                <a:latin typeface="Times New Roman" panose="02020603050405020304" pitchFamily="18" charset="0"/>
              </a:rPr>
              <a:t>d</a:t>
            </a:r>
            <a:r>
              <a:rPr lang="en-US" altLang="zh-CN" sz="1050" dirty="0" smtClean="0">
                <a:solidFill>
                  <a:srgbClr val="000000"/>
                </a:solidFill>
                <a:latin typeface="Times New Roman" panose="02020603050405020304" pitchFamily="18" charset="0"/>
              </a:rPr>
              <a:t>4</a:t>
            </a:r>
            <a:r>
              <a:rPr lang="en-US" altLang="zh-CN" sz="1200" baseline="90000" dirty="0" smtClean="0">
                <a:solidFill>
                  <a:srgbClr val="000000"/>
                </a:solidFill>
                <a:latin typeface="Times New Roman" panose="02020603050405020304" pitchFamily="18" charset="0"/>
              </a:rPr>
              <a:t>−</a:t>
            </a:r>
            <a:r>
              <a:rPr lang="en-US" altLang="zh-CN" sz="2400" dirty="0" smtClean="0">
                <a:solidFill>
                  <a:srgbClr val="000000"/>
                </a:solidFill>
                <a:latin typeface="Times New Roman" panose="02020603050405020304" pitchFamily="18" charset="0"/>
              </a:rPr>
              <a:t>, </a:t>
            </a:r>
            <a:r>
              <a:rPr lang="en-US" altLang="zh-CN" sz="2400" i="1" dirty="0" smtClean="0">
                <a:solidFill>
                  <a:srgbClr val="000000"/>
                </a:solidFill>
                <a:latin typeface="Times New Roman" panose="02020603050405020304" pitchFamily="18" charset="0"/>
              </a:rPr>
              <a:t>d</a:t>
            </a:r>
            <a:r>
              <a:rPr lang="en-US" altLang="zh-CN" sz="1050" dirty="0" smtClean="0">
                <a:solidFill>
                  <a:srgbClr val="000000"/>
                </a:solidFill>
                <a:latin typeface="Times New Roman" panose="02020603050405020304" pitchFamily="18" charset="0"/>
              </a:rPr>
              <a:t>5</a:t>
            </a:r>
            <a:r>
              <a:rPr lang="en-US" altLang="zh-CN" sz="1200" baseline="90000" dirty="0" smtClean="0">
                <a:solidFill>
                  <a:srgbClr val="000000"/>
                </a:solidFill>
                <a:latin typeface="Times New Roman" panose="02020603050405020304" pitchFamily="18" charset="0"/>
              </a:rPr>
              <a:t>+</a:t>
            </a:r>
            <a:r>
              <a:rPr lang="en-US" altLang="zh-CN" sz="2400" dirty="0" smtClean="0">
                <a:solidFill>
                  <a:srgbClr val="000000"/>
                </a:solidFill>
                <a:latin typeface="Times New Roman" panose="02020603050405020304" pitchFamily="18" charset="0"/>
              </a:rPr>
              <a:t>, </a:t>
            </a:r>
            <a:r>
              <a:rPr lang="en-US" altLang="zh-CN" sz="2400" i="1" dirty="0" smtClean="0">
                <a:solidFill>
                  <a:srgbClr val="000000"/>
                </a:solidFill>
                <a:latin typeface="Times New Roman" panose="02020603050405020304" pitchFamily="18" charset="0"/>
              </a:rPr>
              <a:t>d</a:t>
            </a:r>
            <a:r>
              <a:rPr lang="en-US" altLang="zh-CN" sz="1050" dirty="0" smtClean="0">
                <a:solidFill>
                  <a:srgbClr val="000000"/>
                </a:solidFill>
                <a:latin typeface="Times New Roman" panose="02020603050405020304" pitchFamily="18" charset="0"/>
              </a:rPr>
              <a:t>5</a:t>
            </a:r>
            <a:r>
              <a:rPr lang="en-US" altLang="zh-CN" sz="1200" baseline="90000" dirty="0" smtClean="0">
                <a:solidFill>
                  <a:srgbClr val="000000"/>
                </a:solidFill>
                <a:latin typeface="Times New Roman" panose="02020603050405020304" pitchFamily="18" charset="0"/>
              </a:rPr>
              <a:t>−</a:t>
            </a:r>
            <a:r>
              <a:rPr lang="en-US" altLang="zh-CN" sz="2400" dirty="0" smtClean="0">
                <a:solidFill>
                  <a:srgbClr val="000000"/>
                </a:solidFill>
                <a:latin typeface="Times New Roman" panose="02020603050405020304" pitchFamily="18" charset="0"/>
              </a:rPr>
              <a:t>≥0 </a:t>
            </a:r>
            <a:r>
              <a:rPr lang="zh-CN" altLang="en-US" sz="2400" dirty="0" smtClean="0">
                <a:solidFill>
                  <a:srgbClr val="000000"/>
                </a:solidFill>
                <a:latin typeface="Times New Roman" panose="02020603050405020304" pitchFamily="18" charset="0"/>
              </a:rPr>
              <a:t>。</a:t>
            </a:r>
            <a:endParaRPr lang="zh-CN" altLang="en-US" sz="2400" dirty="0" smtClean="0">
              <a:latin typeface="隶书" panose="02010509060101010101" pitchFamily="49" charset="-122"/>
              <a:ea typeface="隶书" panose="02010509060101010101" pitchFamily="49" charset="-122"/>
            </a:endParaRPr>
          </a:p>
        </p:txBody>
      </p:sp>
      <p:sp>
        <p:nvSpPr>
          <p:cNvPr id="2" name="标题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t>加权目标规划</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ox(in)">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ox(in)">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9"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3" name="Rectangle 8"/>
          <p:cNvSpPr>
            <a:spLocks noChangeArrowheads="1"/>
          </p:cNvSpPr>
          <p:nvPr/>
        </p:nvSpPr>
        <p:spPr bwMode="auto">
          <a:xfrm>
            <a:off x="1524000" y="2589213"/>
            <a:ext cx="30988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 name="Title 1"/>
          <p:cNvSpPr>
            <a:spLocks noGrp="1"/>
          </p:cNvSpPr>
          <p:nvPr/>
        </p:nvSpPr>
        <p:spPr>
          <a:xfrm>
            <a:off x="838200" y="365125"/>
            <a:ext cx="10515600" cy="8978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err="1">
                <a:latin typeface="华文楷体" panose="02010600040101010101" charset="-122"/>
                <a:ea typeface="华文楷体" panose="02010600040101010101" charset="-122"/>
              </a:rPr>
              <a:t>课堂练习</a:t>
            </a:r>
            <a:r>
              <a:rPr lang="en-US" altLang="zh-CN" dirty="0" err="1">
                <a:latin typeface="华文楷体" panose="02010600040101010101" charset="-122"/>
                <a:ea typeface="华文楷体" panose="02010600040101010101" charset="-122"/>
              </a:rPr>
              <a:t>1</a:t>
            </a:r>
            <a:endParaRPr lang="en-US" altLang="zh-CN" dirty="0" err="1">
              <a:latin typeface="华文楷体" panose="02010600040101010101" charset="-122"/>
              <a:ea typeface="华文楷体" panose="02010600040101010101" charset="-122"/>
            </a:endParaRPr>
          </a:p>
        </p:txBody>
      </p:sp>
      <p:sp>
        <p:nvSpPr>
          <p:cNvPr id="3" name="文本框 2"/>
          <p:cNvSpPr txBox="1"/>
          <p:nvPr/>
        </p:nvSpPr>
        <p:spPr>
          <a:xfrm>
            <a:off x="515620" y="1388110"/>
            <a:ext cx="10457815" cy="3707765"/>
          </a:xfrm>
          <a:prstGeom prst="rect">
            <a:avLst/>
          </a:prstGeom>
          <a:noFill/>
        </p:spPr>
        <p:txBody>
          <a:bodyPr wrap="square" rtlCol="0">
            <a:noAutofit/>
          </a:bodyPr>
          <a:p>
            <a:r>
              <a:rPr lang="zh-CN" altLang="en-US" sz="2400">
                <a:latin typeface="仿宋" panose="02010609060101010101" charset="-122"/>
                <a:ea typeface="仿宋" panose="02010609060101010101" charset="-122"/>
                <a:cs typeface="仿宋" panose="02010609060101010101" charset="-122"/>
              </a:rPr>
              <a:t>某工厂生产两种产品。产品</a:t>
            </a:r>
            <a:r>
              <a:rPr lang="en-US" altLang="zh-CN" sz="2400">
                <a:latin typeface="仿宋" panose="02010609060101010101" charset="-122"/>
                <a:ea typeface="仿宋" panose="02010609060101010101" charset="-122"/>
                <a:cs typeface="仿宋" panose="02010609060101010101" charset="-122"/>
              </a:rPr>
              <a:t>A</a:t>
            </a:r>
            <a:r>
              <a:rPr lang="zh-CN" altLang="en-US" sz="2400">
                <a:latin typeface="仿宋" panose="02010609060101010101" charset="-122"/>
                <a:ea typeface="仿宋" panose="02010609060101010101" charset="-122"/>
                <a:cs typeface="仿宋" panose="02010609060101010101" charset="-122"/>
              </a:rPr>
              <a:t>、</a:t>
            </a:r>
            <a:r>
              <a:rPr lang="en-US" altLang="zh-CN" sz="2400">
                <a:latin typeface="仿宋" panose="02010609060101010101" charset="-122"/>
                <a:ea typeface="仿宋" panose="02010609060101010101" charset="-122"/>
                <a:cs typeface="仿宋" panose="02010609060101010101" charset="-122"/>
              </a:rPr>
              <a:t>B</a:t>
            </a:r>
            <a:r>
              <a:rPr lang="zh-CN" altLang="en-US" sz="2400">
                <a:latin typeface="仿宋" panose="02010609060101010101" charset="-122"/>
                <a:ea typeface="仿宋" panose="02010609060101010101" charset="-122"/>
                <a:cs typeface="仿宋" panose="02010609060101010101" charset="-122"/>
              </a:rPr>
              <a:t>的单件利润分别是</a:t>
            </a:r>
            <a:r>
              <a:rPr lang="en-US" altLang="zh-CN" sz="2400">
                <a:latin typeface="仿宋" panose="02010609060101010101" charset="-122"/>
                <a:ea typeface="仿宋" panose="02010609060101010101" charset="-122"/>
                <a:cs typeface="仿宋" panose="02010609060101010101" charset="-122"/>
              </a:rPr>
              <a:t>20</a:t>
            </a:r>
            <a:r>
              <a:rPr lang="zh-CN" altLang="en-US" sz="2400">
                <a:latin typeface="仿宋" panose="02010609060101010101" charset="-122"/>
                <a:ea typeface="仿宋" panose="02010609060101010101" charset="-122"/>
                <a:cs typeface="仿宋" panose="02010609060101010101" charset="-122"/>
              </a:rPr>
              <a:t>元和</a:t>
            </a:r>
            <a:r>
              <a:rPr lang="en-US" altLang="zh-CN" sz="2400">
                <a:latin typeface="仿宋" panose="02010609060101010101" charset="-122"/>
                <a:ea typeface="仿宋" panose="02010609060101010101" charset="-122"/>
                <a:cs typeface="仿宋" panose="02010609060101010101" charset="-122"/>
              </a:rPr>
              <a:t>16</a:t>
            </a:r>
            <a:r>
              <a:rPr lang="zh-CN" altLang="en-US" sz="2400">
                <a:latin typeface="仿宋" panose="02010609060101010101" charset="-122"/>
                <a:ea typeface="仿宋" panose="02010609060101010101" charset="-122"/>
                <a:cs typeface="仿宋" panose="02010609060101010101" charset="-122"/>
              </a:rPr>
              <a:t>元。生产一件</a:t>
            </a:r>
            <a:r>
              <a:rPr lang="en-US" altLang="zh-CN" sz="2400">
                <a:latin typeface="仿宋" panose="02010609060101010101" charset="-122"/>
                <a:ea typeface="仿宋" panose="02010609060101010101" charset="-122"/>
                <a:cs typeface="仿宋" panose="02010609060101010101" charset="-122"/>
              </a:rPr>
              <a:t>A</a:t>
            </a:r>
            <a:r>
              <a:rPr lang="zh-CN" altLang="en-US" sz="2400">
                <a:latin typeface="仿宋" panose="02010609060101010101" charset="-122"/>
                <a:ea typeface="仿宋" panose="02010609060101010101" charset="-122"/>
                <a:cs typeface="仿宋" panose="02010609060101010101" charset="-122"/>
              </a:rPr>
              <a:t>、</a:t>
            </a:r>
            <a:r>
              <a:rPr lang="en-US" altLang="zh-CN" sz="2400">
                <a:latin typeface="仿宋" panose="02010609060101010101" charset="-122"/>
                <a:ea typeface="仿宋" panose="02010609060101010101" charset="-122"/>
                <a:cs typeface="仿宋" panose="02010609060101010101" charset="-122"/>
              </a:rPr>
              <a:t>B</a:t>
            </a:r>
            <a:r>
              <a:rPr lang="zh-CN" altLang="en-US" sz="2400">
                <a:latin typeface="仿宋" panose="02010609060101010101" charset="-122"/>
                <a:ea typeface="仿宋" panose="02010609060101010101" charset="-122"/>
                <a:cs typeface="仿宋" panose="02010609060101010101" charset="-122"/>
              </a:rPr>
              <a:t>产品所耗费的工时分别为</a:t>
            </a:r>
            <a:r>
              <a:rPr lang="en-US" altLang="zh-CN" sz="2400">
                <a:latin typeface="仿宋" panose="02010609060101010101" charset="-122"/>
                <a:ea typeface="仿宋" panose="02010609060101010101" charset="-122"/>
                <a:cs typeface="仿宋" panose="02010609060101010101" charset="-122"/>
              </a:rPr>
              <a:t>4h</a:t>
            </a:r>
            <a:r>
              <a:rPr lang="zh-CN" altLang="en-US" sz="2400">
                <a:latin typeface="仿宋" panose="02010609060101010101" charset="-122"/>
                <a:ea typeface="仿宋" panose="02010609060101010101" charset="-122"/>
                <a:cs typeface="仿宋" panose="02010609060101010101" charset="-122"/>
              </a:rPr>
              <a:t>和</a:t>
            </a:r>
            <a:r>
              <a:rPr lang="en-US" altLang="zh-CN" sz="2400">
                <a:latin typeface="仿宋" panose="02010609060101010101" charset="-122"/>
                <a:ea typeface="仿宋" panose="02010609060101010101" charset="-122"/>
                <a:cs typeface="仿宋" panose="02010609060101010101" charset="-122"/>
              </a:rPr>
              <a:t>2h</a:t>
            </a:r>
            <a:r>
              <a:rPr lang="zh-CN" altLang="en-US" sz="2400">
                <a:latin typeface="仿宋" panose="02010609060101010101" charset="-122"/>
                <a:ea typeface="仿宋" panose="02010609060101010101" charset="-122"/>
                <a:cs typeface="仿宋" panose="02010609060101010101" charset="-122"/>
              </a:rPr>
              <a:t>。已知该工厂每周可用的总工时为</a:t>
            </a:r>
            <a:r>
              <a:rPr lang="en-US" altLang="zh-CN" sz="2400">
                <a:latin typeface="仿宋" panose="02010609060101010101" charset="-122"/>
                <a:ea typeface="仿宋" panose="02010609060101010101" charset="-122"/>
                <a:cs typeface="仿宋" panose="02010609060101010101" charset="-122"/>
              </a:rPr>
              <a:t>1000h</a:t>
            </a:r>
            <a:r>
              <a:rPr lang="zh-CN" altLang="en-US" sz="2400">
                <a:latin typeface="仿宋" panose="02010609060101010101" charset="-122"/>
                <a:ea typeface="仿宋" panose="02010609060101010101" charset="-122"/>
                <a:cs typeface="仿宋" panose="02010609060101010101" charset="-122"/>
              </a:rPr>
              <a:t>。如果加班生产，每件产品的利润会降低</a:t>
            </a:r>
            <a:r>
              <a:rPr lang="en-US" altLang="zh-CN" sz="2400">
                <a:latin typeface="仿宋" panose="02010609060101010101" charset="-122"/>
                <a:ea typeface="仿宋" panose="02010609060101010101" charset="-122"/>
                <a:cs typeface="仿宋" panose="02010609060101010101" charset="-122"/>
              </a:rPr>
              <a:t>2</a:t>
            </a:r>
            <a:r>
              <a:rPr lang="zh-CN" altLang="en-US" sz="2400">
                <a:latin typeface="仿宋" panose="02010609060101010101" charset="-122"/>
                <a:ea typeface="仿宋" panose="02010609060101010101" charset="-122"/>
                <a:cs typeface="仿宋" panose="02010609060101010101" charset="-122"/>
              </a:rPr>
              <a:t>元。工厂按照优先级顺序设立了以下目标：</a:t>
            </a:r>
            <a:endParaRPr lang="zh-CN" altLang="en-US" sz="2400">
              <a:latin typeface="仿宋" panose="02010609060101010101" charset="-122"/>
              <a:ea typeface="仿宋" panose="02010609060101010101" charset="-122"/>
              <a:cs typeface="仿宋" panose="02010609060101010101" charset="-122"/>
            </a:endParaRPr>
          </a:p>
          <a:p>
            <a:r>
              <a:rPr lang="en-US" altLang="zh-CN" sz="2400">
                <a:latin typeface="仿宋" panose="02010609060101010101" charset="-122"/>
                <a:ea typeface="仿宋" panose="02010609060101010101" charset="-122"/>
                <a:cs typeface="仿宋" panose="02010609060101010101" charset="-122"/>
              </a:rPr>
              <a:t>    </a:t>
            </a:r>
            <a:r>
              <a:rPr lang="zh-CN" altLang="en-US" sz="2400">
                <a:latin typeface="仿宋" panose="02010609060101010101" charset="-122"/>
                <a:ea typeface="仿宋" panose="02010609060101010101" charset="-122"/>
                <a:cs typeface="仿宋" panose="02010609060101010101" charset="-122"/>
              </a:rPr>
              <a:t>目标</a:t>
            </a:r>
            <a:r>
              <a:rPr lang="en-US" altLang="zh-CN" sz="2400">
                <a:latin typeface="仿宋" panose="02010609060101010101" charset="-122"/>
                <a:ea typeface="仿宋" panose="02010609060101010101" charset="-122"/>
                <a:cs typeface="仿宋" panose="02010609060101010101" charset="-122"/>
              </a:rPr>
              <a:t>1</a:t>
            </a:r>
            <a:r>
              <a:rPr lang="zh-CN" altLang="en-US" sz="2400">
                <a:latin typeface="仿宋" panose="02010609060101010101" charset="-122"/>
                <a:ea typeface="仿宋" panose="02010609060101010101" charset="-122"/>
                <a:cs typeface="仿宋" panose="02010609060101010101" charset="-122"/>
              </a:rPr>
              <a:t>：加班时间每周不能超过</a:t>
            </a:r>
            <a:r>
              <a:rPr lang="en-US" altLang="zh-CN" sz="2400">
                <a:latin typeface="仿宋" panose="02010609060101010101" charset="-122"/>
                <a:ea typeface="仿宋" panose="02010609060101010101" charset="-122"/>
                <a:cs typeface="仿宋" panose="02010609060101010101" charset="-122"/>
              </a:rPr>
              <a:t>200h</a:t>
            </a:r>
            <a:r>
              <a:rPr lang="zh-CN" altLang="en-US" sz="2400">
                <a:latin typeface="仿宋" panose="02010609060101010101" charset="-122"/>
                <a:ea typeface="仿宋" panose="02010609060101010101" charset="-122"/>
                <a:cs typeface="仿宋" panose="02010609060101010101" charset="-122"/>
              </a:rPr>
              <a:t>。</a:t>
            </a:r>
            <a:endParaRPr lang="en-US" altLang="zh-CN" sz="2400">
              <a:latin typeface="仿宋" panose="02010609060101010101" charset="-122"/>
              <a:ea typeface="仿宋" panose="02010609060101010101" charset="-122"/>
              <a:cs typeface="仿宋" panose="02010609060101010101" charset="-122"/>
            </a:endParaRPr>
          </a:p>
          <a:p>
            <a:r>
              <a:rPr lang="en-US" altLang="zh-CN" sz="2400">
                <a:latin typeface="仿宋" panose="02010609060101010101" charset="-122"/>
                <a:ea typeface="仿宋" panose="02010609060101010101" charset="-122"/>
                <a:cs typeface="仿宋" panose="02010609060101010101" charset="-122"/>
              </a:rPr>
              <a:t>    </a:t>
            </a:r>
            <a:r>
              <a:rPr lang="zh-CN" altLang="en-US" sz="2400">
                <a:latin typeface="仿宋" panose="02010609060101010101" charset="-122"/>
                <a:ea typeface="仿宋" panose="02010609060101010101" charset="-122"/>
                <a:cs typeface="仿宋" panose="02010609060101010101" charset="-122"/>
              </a:rPr>
              <a:t>目标</a:t>
            </a:r>
            <a:r>
              <a:rPr lang="en-US" altLang="zh-CN" sz="2400">
                <a:latin typeface="仿宋" panose="02010609060101010101" charset="-122"/>
                <a:ea typeface="仿宋" panose="02010609060101010101" charset="-122"/>
                <a:cs typeface="仿宋" panose="02010609060101010101" charset="-122"/>
              </a:rPr>
              <a:t>2</a:t>
            </a:r>
            <a:r>
              <a:rPr lang="zh-CN" altLang="en-US" sz="2400">
                <a:latin typeface="仿宋" panose="02010609060101010101" charset="-122"/>
                <a:ea typeface="仿宋" panose="02010609060101010101" charset="-122"/>
                <a:cs typeface="仿宋" panose="02010609060101010101" charset="-122"/>
              </a:rPr>
              <a:t>：产品</a:t>
            </a:r>
            <a:r>
              <a:rPr lang="en-US" altLang="zh-CN" sz="2400">
                <a:latin typeface="仿宋" panose="02010609060101010101" charset="-122"/>
                <a:ea typeface="仿宋" panose="02010609060101010101" charset="-122"/>
                <a:cs typeface="仿宋" panose="02010609060101010101" charset="-122"/>
              </a:rPr>
              <a:t>A</a:t>
            </a:r>
            <a:r>
              <a:rPr lang="zh-CN" altLang="en-US" sz="2400">
                <a:latin typeface="仿宋" panose="02010609060101010101" charset="-122"/>
                <a:ea typeface="仿宋" panose="02010609060101010101" charset="-122"/>
                <a:cs typeface="仿宋" panose="02010609060101010101" charset="-122"/>
              </a:rPr>
              <a:t>的产量不能低于</a:t>
            </a:r>
            <a:r>
              <a:rPr lang="en-US" altLang="zh-CN" sz="2400">
                <a:latin typeface="仿宋" panose="02010609060101010101" charset="-122"/>
                <a:ea typeface="仿宋" panose="02010609060101010101" charset="-122"/>
                <a:cs typeface="仿宋" panose="02010609060101010101" charset="-122"/>
              </a:rPr>
              <a:t>100</a:t>
            </a:r>
            <a:r>
              <a:rPr lang="zh-CN" altLang="en-US" sz="2400">
                <a:latin typeface="仿宋" panose="02010609060101010101" charset="-122"/>
                <a:ea typeface="仿宋" panose="02010609060101010101" charset="-122"/>
                <a:cs typeface="仿宋" panose="02010609060101010101" charset="-122"/>
              </a:rPr>
              <a:t>个。</a:t>
            </a:r>
            <a:endParaRPr lang="zh-CN" altLang="en-US" sz="2400">
              <a:latin typeface="仿宋" panose="02010609060101010101" charset="-122"/>
              <a:ea typeface="仿宋" panose="02010609060101010101" charset="-122"/>
              <a:cs typeface="仿宋" panose="02010609060101010101" charset="-122"/>
            </a:endParaRPr>
          </a:p>
          <a:p>
            <a:r>
              <a:rPr lang="en-US" altLang="zh-CN" sz="2400">
                <a:latin typeface="仿宋" panose="02010609060101010101" charset="-122"/>
                <a:ea typeface="仿宋" panose="02010609060101010101" charset="-122"/>
                <a:cs typeface="仿宋" panose="02010609060101010101" charset="-122"/>
              </a:rPr>
              <a:t>    </a:t>
            </a:r>
            <a:r>
              <a:rPr lang="zh-CN" altLang="en-US" sz="2400">
                <a:latin typeface="仿宋" panose="02010609060101010101" charset="-122"/>
                <a:ea typeface="仿宋" panose="02010609060101010101" charset="-122"/>
                <a:cs typeface="仿宋" panose="02010609060101010101" charset="-122"/>
              </a:rPr>
              <a:t>目标</a:t>
            </a:r>
            <a:r>
              <a:rPr lang="en-US" altLang="zh-CN" sz="2400">
                <a:latin typeface="仿宋" panose="02010609060101010101" charset="-122"/>
                <a:ea typeface="仿宋" panose="02010609060101010101" charset="-122"/>
                <a:cs typeface="仿宋" panose="02010609060101010101" charset="-122"/>
              </a:rPr>
              <a:t>3</a:t>
            </a:r>
            <a:r>
              <a:rPr lang="zh-CN" altLang="en-US" sz="2400">
                <a:latin typeface="仿宋" panose="02010609060101010101" charset="-122"/>
                <a:ea typeface="仿宋" panose="02010609060101010101" charset="-122"/>
                <a:cs typeface="仿宋" panose="02010609060101010101" charset="-122"/>
              </a:rPr>
              <a:t>：利润最大。</a:t>
            </a:r>
            <a:endParaRPr lang="zh-CN" altLang="en-US" sz="2400">
              <a:latin typeface="仿宋" panose="02010609060101010101" charset="-122"/>
              <a:ea typeface="仿宋" panose="02010609060101010101" charset="-122"/>
              <a:cs typeface="仿宋" panose="02010609060101010101" charset="-122"/>
            </a:endParaRPr>
          </a:p>
          <a:p>
            <a:r>
              <a:rPr lang="en-US" altLang="zh-CN" sz="2400">
                <a:latin typeface="仿宋" panose="02010609060101010101" charset="-122"/>
                <a:ea typeface="仿宋" panose="02010609060101010101" charset="-122"/>
                <a:cs typeface="仿宋" panose="02010609060101010101" charset="-122"/>
              </a:rPr>
              <a:t>    </a:t>
            </a:r>
            <a:r>
              <a:rPr lang="zh-CN" altLang="en-US" sz="2400">
                <a:latin typeface="仿宋" panose="02010609060101010101" charset="-122"/>
                <a:ea typeface="仿宋" panose="02010609060101010101" charset="-122"/>
                <a:cs typeface="仿宋" panose="02010609060101010101" charset="-122"/>
              </a:rPr>
              <a:t>试确定该厂每周的生产安排。</a:t>
            </a:r>
            <a:endParaRPr lang="zh-CN" altLang="en-US" sz="2400">
              <a:latin typeface="仿宋" panose="02010609060101010101" charset="-122"/>
              <a:ea typeface="仿宋" panose="02010609060101010101" charset="-122"/>
              <a:cs typeface="仿宋" panose="02010609060101010101" charset="-122"/>
            </a:endParaRPr>
          </a:p>
          <a:p>
            <a:endParaRPr lang="zh-CN" altLang="en-US"/>
          </a:p>
          <a:p>
            <a:pPr algn="ctr"/>
            <a:endParaRPr lang="en-US" altLang="zh-CN" sz="3200">
              <a:latin typeface="Times New Roman" panose="02020603050405020304" pitchFamily="18" charset="0"/>
              <a:cs typeface="Times New Roman" panose="02020603050405020304" pitchFamily="18" charset="0"/>
            </a:endParaRPr>
          </a:p>
        </p:txBody>
      </p:sp>
    </p:spTree>
  </p:cSld>
  <p:clrMapOvr>
    <a:masterClrMapping/>
  </p:clrMapOvr>
  <p:transition spd="slow">
    <p:zoom/>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3" name="Rectangle 8"/>
          <p:cNvSpPr>
            <a:spLocks noChangeArrowheads="1"/>
          </p:cNvSpPr>
          <p:nvPr/>
        </p:nvSpPr>
        <p:spPr bwMode="auto">
          <a:xfrm>
            <a:off x="1524000" y="2589213"/>
            <a:ext cx="30988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 name="Title 1"/>
          <p:cNvSpPr>
            <a:spLocks noGrp="1"/>
          </p:cNvSpPr>
          <p:nvPr/>
        </p:nvSpPr>
        <p:spPr>
          <a:xfrm>
            <a:off x="838200" y="365125"/>
            <a:ext cx="10515600" cy="8978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err="1">
                <a:latin typeface="华文楷体" panose="02010600040101010101" charset="-122"/>
                <a:ea typeface="华文楷体" panose="02010600040101010101" charset="-122"/>
              </a:rPr>
              <a:t>课堂练习</a:t>
            </a:r>
            <a:r>
              <a:rPr lang="en-US" altLang="zh-CN" dirty="0" err="1">
                <a:latin typeface="华文楷体" panose="02010600040101010101" charset="-122"/>
                <a:ea typeface="华文楷体" panose="02010600040101010101" charset="-122"/>
              </a:rPr>
              <a:t>2</a:t>
            </a:r>
            <a:endParaRPr lang="en-US" altLang="zh-CN" dirty="0" err="1">
              <a:latin typeface="华文楷体" panose="02010600040101010101" charset="-122"/>
              <a:ea typeface="华文楷体" panose="02010600040101010101" charset="-122"/>
            </a:endParaRPr>
          </a:p>
        </p:txBody>
      </p:sp>
      <p:sp>
        <p:nvSpPr>
          <p:cNvPr id="3" name="文本框 2"/>
          <p:cNvSpPr txBox="1"/>
          <p:nvPr/>
        </p:nvSpPr>
        <p:spPr>
          <a:xfrm>
            <a:off x="515620" y="1388110"/>
            <a:ext cx="10457815" cy="3707765"/>
          </a:xfrm>
          <a:prstGeom prst="rect">
            <a:avLst/>
          </a:prstGeom>
          <a:noFill/>
        </p:spPr>
        <p:txBody>
          <a:bodyPr wrap="square" rtlCol="0">
            <a:noAutofit/>
          </a:bodyPr>
          <a:p>
            <a:r>
              <a:rPr lang="zh-CN" altLang="en-US" sz="2400">
                <a:latin typeface="仿宋" panose="02010609060101010101" charset="-122"/>
                <a:ea typeface="仿宋" panose="02010609060101010101" charset="-122"/>
                <a:cs typeface="仿宋" panose="02010609060101010101" charset="-122"/>
              </a:rPr>
              <a:t>某电子产品工厂装配生产线能够分别生产</a:t>
            </a:r>
            <a:r>
              <a:rPr lang="en-US" altLang="zh-CN" sz="2400">
                <a:latin typeface="仿宋" panose="02010609060101010101" charset="-122"/>
                <a:ea typeface="仿宋" panose="02010609060101010101" charset="-122"/>
                <a:cs typeface="仿宋" panose="02010609060101010101" charset="-122"/>
              </a:rPr>
              <a:t>A</a:t>
            </a:r>
            <a:r>
              <a:rPr lang="zh-CN" altLang="en-US" sz="2400">
                <a:latin typeface="仿宋" panose="02010609060101010101" charset="-122"/>
                <a:ea typeface="仿宋" panose="02010609060101010101" charset="-122"/>
                <a:cs typeface="仿宋" panose="02010609060101010101" charset="-122"/>
              </a:rPr>
              <a:t>、</a:t>
            </a:r>
            <a:r>
              <a:rPr lang="en-US" altLang="zh-CN" sz="2400">
                <a:latin typeface="仿宋" panose="02010609060101010101" charset="-122"/>
                <a:ea typeface="仿宋" panose="02010609060101010101" charset="-122"/>
                <a:cs typeface="仿宋" panose="02010609060101010101" charset="-122"/>
              </a:rPr>
              <a:t>B</a:t>
            </a:r>
            <a:r>
              <a:rPr lang="zh-CN" altLang="en-US" sz="2400">
                <a:latin typeface="仿宋" panose="02010609060101010101" charset="-122"/>
                <a:ea typeface="仿宋" panose="02010609060101010101" charset="-122"/>
                <a:cs typeface="仿宋" panose="02010609060101010101" charset="-122"/>
              </a:rPr>
              <a:t>、</a:t>
            </a:r>
            <a:r>
              <a:rPr lang="en-US" altLang="zh-CN" sz="2400">
                <a:latin typeface="仿宋" panose="02010609060101010101" charset="-122"/>
                <a:ea typeface="仿宋" panose="02010609060101010101" charset="-122"/>
                <a:cs typeface="仿宋" panose="02010609060101010101" charset="-122"/>
              </a:rPr>
              <a:t>C</a:t>
            </a:r>
            <a:r>
              <a:rPr lang="zh-CN" altLang="en-US" sz="2400">
                <a:latin typeface="仿宋" panose="02010609060101010101" charset="-122"/>
                <a:ea typeface="仿宋" panose="02010609060101010101" charset="-122"/>
                <a:cs typeface="仿宋" panose="02010609060101010101" charset="-122"/>
              </a:rPr>
              <a:t>三种不同的电子产品。已知三种电子产品装配时的工时消耗分别为</a:t>
            </a:r>
            <a:r>
              <a:rPr lang="en-US" altLang="zh-CN" sz="2400">
                <a:latin typeface="仿宋" panose="02010609060101010101" charset="-122"/>
                <a:ea typeface="仿宋" panose="02010609060101010101" charset="-122"/>
                <a:cs typeface="仿宋" panose="02010609060101010101" charset="-122"/>
              </a:rPr>
              <a:t>6h</a:t>
            </a:r>
            <a:r>
              <a:rPr lang="zh-CN" altLang="en-US" sz="2400">
                <a:latin typeface="仿宋" panose="02010609060101010101" charset="-122"/>
                <a:ea typeface="仿宋" panose="02010609060101010101" charset="-122"/>
                <a:cs typeface="仿宋" panose="02010609060101010101" charset="-122"/>
              </a:rPr>
              <a:t>、</a:t>
            </a:r>
            <a:r>
              <a:rPr lang="en-US" altLang="zh-CN" sz="2400">
                <a:latin typeface="仿宋" panose="02010609060101010101" charset="-122"/>
                <a:ea typeface="仿宋" panose="02010609060101010101" charset="-122"/>
                <a:cs typeface="仿宋" panose="02010609060101010101" charset="-122"/>
              </a:rPr>
              <a:t>9h</a:t>
            </a:r>
            <a:r>
              <a:rPr lang="zh-CN" altLang="en-US" sz="2400">
                <a:latin typeface="仿宋" panose="02010609060101010101" charset="-122"/>
                <a:ea typeface="仿宋" panose="02010609060101010101" charset="-122"/>
                <a:cs typeface="仿宋" panose="02010609060101010101" charset="-122"/>
              </a:rPr>
              <a:t>和</a:t>
            </a:r>
            <a:r>
              <a:rPr lang="en-US" altLang="zh-CN" sz="2400">
                <a:latin typeface="仿宋" panose="02010609060101010101" charset="-122"/>
                <a:ea typeface="仿宋" panose="02010609060101010101" charset="-122"/>
                <a:cs typeface="仿宋" panose="02010609060101010101" charset="-122"/>
              </a:rPr>
              <a:t>12h,</a:t>
            </a:r>
            <a:r>
              <a:rPr lang="zh-CN" altLang="en-US" sz="2400">
                <a:latin typeface="仿宋" panose="02010609060101010101" charset="-122"/>
                <a:ea typeface="仿宋" panose="02010609060101010101" charset="-122"/>
                <a:cs typeface="仿宋" panose="02010609060101010101" charset="-122"/>
              </a:rPr>
              <a:t>在正常情况下，生产线每月工作时间为</a:t>
            </a:r>
            <a:r>
              <a:rPr lang="en-US" altLang="zh-CN" sz="2400">
                <a:latin typeface="仿宋" panose="02010609060101010101" charset="-122"/>
                <a:ea typeface="仿宋" panose="02010609060101010101" charset="-122"/>
                <a:cs typeface="仿宋" panose="02010609060101010101" charset="-122"/>
              </a:rPr>
              <a:t>140h</a:t>
            </a:r>
            <a:r>
              <a:rPr lang="zh-CN" altLang="en-US" sz="2400">
                <a:latin typeface="仿宋" panose="02010609060101010101" charset="-122"/>
                <a:ea typeface="仿宋" panose="02010609060101010101" charset="-122"/>
                <a:cs typeface="仿宋" panose="02010609060101010101" charset="-122"/>
              </a:rPr>
              <a:t>。三种不同的电子产品每月销量预计为</a:t>
            </a:r>
            <a:r>
              <a:rPr lang="en-US" altLang="zh-CN" sz="2400">
                <a:latin typeface="仿宋" panose="02010609060101010101" charset="-122"/>
                <a:ea typeface="仿宋" panose="02010609060101010101" charset="-122"/>
                <a:cs typeface="仿宋" panose="02010609060101010101" charset="-122"/>
              </a:rPr>
              <a:t>12</a:t>
            </a:r>
            <a:r>
              <a:rPr lang="zh-CN" altLang="en-US" sz="2400">
                <a:latin typeface="仿宋" panose="02010609060101010101" charset="-122"/>
                <a:ea typeface="仿宋" panose="02010609060101010101" charset="-122"/>
                <a:cs typeface="仿宋" panose="02010609060101010101" charset="-122"/>
              </a:rPr>
              <a:t>单位、</a:t>
            </a:r>
            <a:r>
              <a:rPr lang="en-US" altLang="zh-CN" sz="2400">
                <a:latin typeface="仿宋" panose="02010609060101010101" charset="-122"/>
                <a:ea typeface="仿宋" panose="02010609060101010101" charset="-122"/>
                <a:cs typeface="仿宋" panose="02010609060101010101" charset="-122"/>
              </a:rPr>
              <a:t>15</a:t>
            </a:r>
            <a:r>
              <a:rPr lang="zh-CN" altLang="en-US" sz="2400">
                <a:latin typeface="仿宋" panose="02010609060101010101" charset="-122"/>
                <a:ea typeface="仿宋" panose="02010609060101010101" charset="-122"/>
                <a:cs typeface="仿宋" panose="02010609060101010101" charset="-122"/>
              </a:rPr>
              <a:t>单位和</a:t>
            </a:r>
            <a:r>
              <a:rPr lang="en-US" altLang="zh-CN" sz="2400">
                <a:latin typeface="仿宋" panose="02010609060101010101" charset="-122"/>
                <a:ea typeface="仿宋" panose="02010609060101010101" charset="-122"/>
                <a:cs typeface="仿宋" panose="02010609060101010101" charset="-122"/>
              </a:rPr>
              <a:t>10</a:t>
            </a:r>
            <a:r>
              <a:rPr lang="zh-CN" altLang="en-US" sz="2400">
                <a:latin typeface="仿宋" panose="02010609060101010101" charset="-122"/>
                <a:ea typeface="仿宋" panose="02010609060101010101" charset="-122"/>
                <a:cs typeface="仿宋" panose="02010609060101010101" charset="-122"/>
              </a:rPr>
              <a:t>单位，每单位电子产品预期获利分别为</a:t>
            </a:r>
            <a:r>
              <a:rPr lang="en-US" altLang="zh-CN" sz="2400">
                <a:latin typeface="仿宋" panose="02010609060101010101" charset="-122"/>
                <a:ea typeface="仿宋" panose="02010609060101010101" charset="-122"/>
                <a:cs typeface="仿宋" panose="02010609060101010101" charset="-122"/>
              </a:rPr>
              <a:t>500</a:t>
            </a:r>
            <a:r>
              <a:rPr lang="zh-CN" altLang="en-US" sz="2400">
                <a:latin typeface="仿宋" panose="02010609060101010101" charset="-122"/>
                <a:ea typeface="仿宋" panose="02010609060101010101" charset="-122"/>
                <a:cs typeface="仿宋" panose="02010609060101010101" charset="-122"/>
              </a:rPr>
              <a:t>元、</a:t>
            </a:r>
            <a:r>
              <a:rPr lang="en-US" altLang="zh-CN" sz="2400">
                <a:latin typeface="仿宋" panose="02010609060101010101" charset="-122"/>
                <a:ea typeface="仿宋" panose="02010609060101010101" charset="-122"/>
                <a:cs typeface="仿宋" panose="02010609060101010101" charset="-122"/>
              </a:rPr>
              <a:t>700</a:t>
            </a:r>
            <a:r>
              <a:rPr lang="zh-CN" altLang="en-US" sz="2400">
                <a:latin typeface="仿宋" panose="02010609060101010101" charset="-122"/>
                <a:ea typeface="仿宋" panose="02010609060101010101" charset="-122"/>
                <a:cs typeface="仿宋" panose="02010609060101010101" charset="-122"/>
              </a:rPr>
              <a:t>元和</a:t>
            </a:r>
            <a:r>
              <a:rPr lang="en-US" altLang="zh-CN" sz="2400">
                <a:latin typeface="仿宋" panose="02010609060101010101" charset="-122"/>
                <a:ea typeface="仿宋" panose="02010609060101010101" charset="-122"/>
                <a:cs typeface="仿宋" panose="02010609060101010101" charset="-122"/>
              </a:rPr>
              <a:t>900</a:t>
            </a:r>
            <a:r>
              <a:rPr lang="zh-CN" altLang="en-US" sz="2400">
                <a:latin typeface="仿宋" panose="02010609060101010101" charset="-122"/>
                <a:ea typeface="仿宋" panose="02010609060101010101" charset="-122"/>
                <a:cs typeface="仿宋" panose="02010609060101010101" charset="-122"/>
              </a:rPr>
              <a:t>元。该厂经营目标</a:t>
            </a:r>
            <a:r>
              <a:rPr lang="zh-CN" altLang="en-US" sz="2400">
                <a:latin typeface="仿宋" panose="02010609060101010101" charset="-122"/>
                <a:ea typeface="仿宋" panose="02010609060101010101" charset="-122"/>
                <a:cs typeface="仿宋" panose="02010609060101010101" charset="-122"/>
              </a:rPr>
              <a:t>如下：</a:t>
            </a:r>
            <a:endParaRPr lang="zh-CN" altLang="en-US" sz="2400">
              <a:latin typeface="仿宋" panose="02010609060101010101" charset="-122"/>
              <a:ea typeface="仿宋" panose="02010609060101010101" charset="-122"/>
              <a:cs typeface="仿宋" panose="02010609060101010101" charset="-122"/>
            </a:endParaRPr>
          </a:p>
          <a:p>
            <a:r>
              <a:rPr lang="en-US" altLang="zh-CN" sz="2400">
                <a:latin typeface="仿宋" panose="02010609060101010101" charset="-122"/>
                <a:ea typeface="仿宋" panose="02010609060101010101" charset="-122"/>
                <a:cs typeface="仿宋" panose="02010609060101010101" charset="-122"/>
              </a:rPr>
              <a:t>    </a:t>
            </a:r>
            <a:r>
              <a:rPr lang="zh-CN" altLang="en-US" sz="2400">
                <a:latin typeface="仿宋" panose="02010609060101010101" charset="-122"/>
                <a:ea typeface="仿宋" panose="02010609060101010101" charset="-122"/>
                <a:cs typeface="仿宋" panose="02010609060101010101" charset="-122"/>
              </a:rPr>
              <a:t>第一优先级：月利润不低于</a:t>
            </a:r>
            <a:r>
              <a:rPr lang="en-US" altLang="zh-CN" sz="2400">
                <a:latin typeface="仿宋" panose="02010609060101010101" charset="-122"/>
                <a:ea typeface="仿宋" panose="02010609060101010101" charset="-122"/>
                <a:cs typeface="仿宋" panose="02010609060101010101" charset="-122"/>
              </a:rPr>
              <a:t>12000</a:t>
            </a:r>
            <a:r>
              <a:rPr lang="zh-CN" altLang="en-US" sz="2400">
                <a:latin typeface="仿宋" panose="02010609060101010101" charset="-122"/>
                <a:ea typeface="仿宋" panose="02010609060101010101" charset="-122"/>
                <a:cs typeface="仿宋" panose="02010609060101010101" charset="-122"/>
              </a:rPr>
              <a:t>元。</a:t>
            </a:r>
            <a:endParaRPr lang="en-US" altLang="zh-CN" sz="2400">
              <a:latin typeface="仿宋" panose="02010609060101010101" charset="-122"/>
              <a:ea typeface="仿宋" panose="02010609060101010101" charset="-122"/>
              <a:cs typeface="仿宋" panose="02010609060101010101" charset="-122"/>
            </a:endParaRPr>
          </a:p>
          <a:p>
            <a:r>
              <a:rPr lang="en-US" altLang="zh-CN" sz="2400">
                <a:latin typeface="仿宋" panose="02010609060101010101" charset="-122"/>
                <a:ea typeface="仿宋" panose="02010609060101010101" charset="-122"/>
                <a:cs typeface="仿宋" panose="02010609060101010101" charset="-122"/>
              </a:rPr>
              <a:t>    </a:t>
            </a:r>
            <a:r>
              <a:rPr lang="zh-CN" altLang="en-US" sz="2400">
                <a:latin typeface="仿宋" panose="02010609060101010101" charset="-122"/>
                <a:ea typeface="仿宋" panose="02010609060101010101" charset="-122"/>
                <a:cs typeface="仿宋" panose="02010609060101010101" charset="-122"/>
              </a:rPr>
              <a:t>第二优先级：加班时间不超过</a:t>
            </a:r>
            <a:r>
              <a:rPr lang="en-US" altLang="zh-CN" sz="2400">
                <a:latin typeface="仿宋" panose="02010609060101010101" charset="-122"/>
                <a:ea typeface="仿宋" panose="02010609060101010101" charset="-122"/>
                <a:cs typeface="仿宋" panose="02010609060101010101" charset="-122"/>
              </a:rPr>
              <a:t>40</a:t>
            </a:r>
            <a:r>
              <a:rPr lang="zh-CN" altLang="en-US" sz="2400">
                <a:latin typeface="仿宋" panose="02010609060101010101" charset="-122"/>
                <a:ea typeface="仿宋" panose="02010609060101010101" charset="-122"/>
                <a:cs typeface="仿宋" panose="02010609060101010101" charset="-122"/>
              </a:rPr>
              <a:t>小时。</a:t>
            </a:r>
            <a:endParaRPr lang="zh-CN" altLang="en-US" sz="2400">
              <a:latin typeface="仿宋" panose="02010609060101010101" charset="-122"/>
              <a:ea typeface="仿宋" panose="02010609060101010101" charset="-122"/>
              <a:cs typeface="仿宋" panose="02010609060101010101" charset="-122"/>
            </a:endParaRPr>
          </a:p>
          <a:p>
            <a:r>
              <a:rPr lang="en-US" altLang="zh-CN" sz="2400">
                <a:latin typeface="仿宋" panose="02010609060101010101" charset="-122"/>
                <a:ea typeface="仿宋" panose="02010609060101010101" charset="-122"/>
                <a:cs typeface="仿宋" panose="02010609060101010101" charset="-122"/>
              </a:rPr>
              <a:t>    </a:t>
            </a:r>
            <a:r>
              <a:rPr lang="zh-CN" altLang="en-US" sz="2400">
                <a:latin typeface="仿宋" panose="02010609060101010101" charset="-122"/>
                <a:ea typeface="仿宋" panose="02010609060101010101" charset="-122"/>
                <a:cs typeface="仿宋" panose="02010609060101010101" charset="-122"/>
              </a:rPr>
              <a:t>第三优先级：产量以预计销量为</a:t>
            </a:r>
            <a:r>
              <a:rPr lang="zh-CN" altLang="en-US" sz="2400">
                <a:latin typeface="仿宋" panose="02010609060101010101" charset="-122"/>
                <a:ea typeface="仿宋" panose="02010609060101010101" charset="-122"/>
                <a:cs typeface="仿宋" panose="02010609060101010101" charset="-122"/>
              </a:rPr>
              <a:t>标准。</a:t>
            </a:r>
            <a:endParaRPr lang="zh-CN" altLang="en-US" sz="2400">
              <a:latin typeface="仿宋" panose="02010609060101010101" charset="-122"/>
              <a:ea typeface="仿宋" panose="02010609060101010101" charset="-122"/>
              <a:cs typeface="仿宋" panose="02010609060101010101" charset="-122"/>
            </a:endParaRPr>
          </a:p>
          <a:p>
            <a:r>
              <a:rPr lang="en-US" altLang="zh-CN" sz="2400">
                <a:latin typeface="仿宋" panose="02010609060101010101" charset="-122"/>
                <a:ea typeface="仿宋" panose="02010609060101010101" charset="-122"/>
                <a:cs typeface="仿宋" panose="02010609060101010101" charset="-122"/>
              </a:rPr>
              <a:t>    </a:t>
            </a:r>
            <a:endParaRPr lang="zh-CN" altLang="en-US" sz="2400">
              <a:latin typeface="仿宋" panose="02010609060101010101" charset="-122"/>
              <a:ea typeface="仿宋" panose="02010609060101010101" charset="-122"/>
              <a:cs typeface="仿宋" panose="02010609060101010101" charset="-122"/>
            </a:endParaRPr>
          </a:p>
          <a:p>
            <a:endParaRPr lang="zh-CN" altLang="en-US"/>
          </a:p>
          <a:p>
            <a:pPr algn="ctr"/>
            <a:endParaRPr lang="en-US" altLang="zh-CN" sz="3200">
              <a:latin typeface="Times New Roman" panose="02020603050405020304" pitchFamily="18" charset="0"/>
              <a:cs typeface="Times New Roman" panose="02020603050405020304" pitchFamily="18" charset="0"/>
            </a:endParaRPr>
          </a:p>
        </p:txBody>
      </p:sp>
    </p:spTree>
  </p:cSld>
  <p:clrMapOvr>
    <a:masterClrMapping/>
  </p:clrMapOvr>
  <p:transition spd="slow">
    <p:zoom/>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3" name="Rectangle 8"/>
          <p:cNvSpPr>
            <a:spLocks noChangeArrowheads="1"/>
          </p:cNvSpPr>
          <p:nvPr/>
        </p:nvSpPr>
        <p:spPr bwMode="auto">
          <a:xfrm>
            <a:off x="1524000" y="2589213"/>
            <a:ext cx="30988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 name="Title 1"/>
          <p:cNvSpPr>
            <a:spLocks noGrp="1"/>
          </p:cNvSpPr>
          <p:nvPr/>
        </p:nvSpPr>
        <p:spPr>
          <a:xfrm>
            <a:off x="838200" y="365125"/>
            <a:ext cx="10515600" cy="8978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err="1">
                <a:latin typeface="华文楷体" panose="02010600040101010101" charset="-122"/>
                <a:ea typeface="华文楷体" panose="02010600040101010101" charset="-122"/>
              </a:rPr>
              <a:t>课堂练习</a:t>
            </a:r>
            <a:r>
              <a:rPr lang="en-US" altLang="zh-CN" dirty="0" err="1">
                <a:latin typeface="华文楷体" panose="02010600040101010101" charset="-122"/>
                <a:ea typeface="华文楷体" panose="02010600040101010101" charset="-122"/>
              </a:rPr>
              <a:t>3</a:t>
            </a:r>
            <a:endParaRPr lang="en-US" altLang="zh-CN" dirty="0" err="1">
              <a:latin typeface="华文楷体" panose="02010600040101010101" charset="-122"/>
              <a:ea typeface="华文楷体" panose="02010600040101010101" charset="-122"/>
            </a:endParaRPr>
          </a:p>
        </p:txBody>
      </p:sp>
      <p:sp>
        <p:nvSpPr>
          <p:cNvPr id="3" name="文本框 2"/>
          <p:cNvSpPr txBox="1"/>
          <p:nvPr/>
        </p:nvSpPr>
        <p:spPr>
          <a:xfrm>
            <a:off x="515620" y="1388110"/>
            <a:ext cx="10457815" cy="3707765"/>
          </a:xfrm>
          <a:prstGeom prst="rect">
            <a:avLst/>
          </a:prstGeom>
          <a:noFill/>
        </p:spPr>
        <p:txBody>
          <a:bodyPr wrap="square" rtlCol="0">
            <a:noAutofit/>
          </a:bodyPr>
          <a:p>
            <a:r>
              <a:rPr lang="zh-CN" altLang="en-US" sz="2400">
                <a:latin typeface="仿宋" panose="02010609060101010101" charset="-122"/>
                <a:ea typeface="仿宋" panose="02010609060101010101" charset="-122"/>
                <a:cs typeface="仿宋" panose="02010609060101010101" charset="-122"/>
              </a:rPr>
              <a:t>公司计划生产</a:t>
            </a:r>
            <a:r>
              <a:rPr lang="en-US" altLang="zh-CN" sz="2400">
                <a:latin typeface="仿宋" panose="02010609060101010101" charset="-122"/>
                <a:ea typeface="仿宋" panose="02010609060101010101" charset="-122"/>
                <a:cs typeface="仿宋" panose="02010609060101010101" charset="-122"/>
              </a:rPr>
              <a:t>A</a:t>
            </a:r>
            <a:r>
              <a:rPr lang="zh-CN" altLang="en-US" sz="2400">
                <a:latin typeface="仿宋" panose="02010609060101010101" charset="-122"/>
                <a:ea typeface="仿宋" panose="02010609060101010101" charset="-122"/>
                <a:cs typeface="仿宋" panose="02010609060101010101" charset="-122"/>
              </a:rPr>
              <a:t>、</a:t>
            </a:r>
            <a:r>
              <a:rPr lang="en-US" altLang="zh-CN" sz="2400">
                <a:latin typeface="仿宋" panose="02010609060101010101" charset="-122"/>
                <a:ea typeface="仿宋" panose="02010609060101010101" charset="-122"/>
                <a:cs typeface="仿宋" panose="02010609060101010101" charset="-122"/>
              </a:rPr>
              <a:t>B</a:t>
            </a:r>
            <a:r>
              <a:rPr lang="zh-CN" altLang="en-US" sz="2400">
                <a:latin typeface="仿宋" panose="02010609060101010101" charset="-122"/>
                <a:ea typeface="仿宋" panose="02010609060101010101" charset="-122"/>
                <a:cs typeface="仿宋" panose="02010609060101010101" charset="-122"/>
              </a:rPr>
              <a:t>两种产品，需分别经过甲、乙、丙三道工序，其数据如下表所示。如何安排生产计划，使产值和利润尽可能高？</a:t>
            </a:r>
            <a:endParaRPr lang="zh-CN" altLang="en-US" sz="2400">
              <a:latin typeface="仿宋" panose="02010609060101010101" charset="-122"/>
              <a:ea typeface="仿宋" panose="02010609060101010101" charset="-122"/>
              <a:cs typeface="仿宋" panose="02010609060101010101" charset="-122"/>
            </a:endParaRPr>
          </a:p>
          <a:p>
            <a:r>
              <a:rPr lang="en-US" altLang="zh-CN" sz="2400">
                <a:latin typeface="仿宋" panose="02010609060101010101" charset="-122"/>
                <a:ea typeface="仿宋" panose="02010609060101010101" charset="-122"/>
                <a:cs typeface="仿宋" panose="02010609060101010101" charset="-122"/>
              </a:rPr>
              <a:t>    </a:t>
            </a:r>
            <a:endParaRPr lang="zh-CN" altLang="en-US" sz="2400">
              <a:latin typeface="仿宋" panose="02010609060101010101" charset="-122"/>
              <a:ea typeface="仿宋" panose="02010609060101010101" charset="-122"/>
              <a:cs typeface="仿宋" panose="02010609060101010101" charset="-122"/>
            </a:endParaRPr>
          </a:p>
          <a:p>
            <a:endParaRPr lang="zh-CN" altLang="en-US"/>
          </a:p>
          <a:p>
            <a:pPr algn="ctr"/>
            <a:endParaRPr lang="en-US" altLang="zh-CN" sz="3200">
              <a:latin typeface="Times New Roman" panose="02020603050405020304" pitchFamily="18" charset="0"/>
              <a:cs typeface="Times New Roman" panose="02020603050405020304" pitchFamily="18" charset="0"/>
            </a:endParaRPr>
          </a:p>
        </p:txBody>
      </p:sp>
      <p:graphicFrame>
        <p:nvGraphicFramePr>
          <p:cNvPr id="4" name="表格 3"/>
          <p:cNvGraphicFramePr/>
          <p:nvPr>
            <p:custDataLst>
              <p:tags r:id="rId1"/>
            </p:custDataLst>
          </p:nvPr>
        </p:nvGraphicFramePr>
        <p:xfrm>
          <a:off x="605790" y="2341880"/>
          <a:ext cx="9982200" cy="2468880"/>
        </p:xfrm>
        <a:graphic>
          <a:graphicData uri="http://schemas.openxmlformats.org/drawingml/2006/table">
            <a:tbl>
              <a:tblPr firstRow="1" bandRow="1">
                <a:tableStyleId>{5C22544A-7EE6-4342-B048-85BDC9FD1C3A}</a:tableStyleId>
              </a:tblPr>
              <a:tblGrid>
                <a:gridCol w="1663700"/>
                <a:gridCol w="1663700"/>
                <a:gridCol w="1663700"/>
                <a:gridCol w="1663700"/>
                <a:gridCol w="1663700"/>
                <a:gridCol w="1663700"/>
              </a:tblGrid>
              <a:tr h="617220">
                <a:tc gridSpan="2">
                  <a:txBody>
                    <a:bodyPr/>
                    <a:p>
                      <a:pPr algn="ctr">
                        <a:buNone/>
                      </a:pPr>
                      <a:r>
                        <a:rPr lang="zh-CN" altLang="en-US">
                          <a:latin typeface="楷体" panose="02010609060101010101" pitchFamily="49" charset="-122"/>
                          <a:ea typeface="楷体" panose="02010609060101010101" pitchFamily="49" charset="-122"/>
                        </a:rPr>
                        <a:t>甲</a:t>
                      </a:r>
                      <a:endParaRPr lang="zh-CN" altLang="en-US">
                        <a:latin typeface="楷体" panose="02010609060101010101" pitchFamily="49" charset="-122"/>
                        <a:ea typeface="楷体" panose="02010609060101010101" pitchFamily="49" charset="-122"/>
                      </a:endParaRPr>
                    </a:p>
                  </a:txBody>
                  <a:tcPr/>
                </a:tc>
                <a:tc hMerge="1">
                  <a:tcPr/>
                </a:tc>
                <a:tc>
                  <a:txBody>
                    <a:bodyPr/>
                    <a:p>
                      <a:pPr algn="ctr">
                        <a:buNone/>
                      </a:pPr>
                      <a:r>
                        <a:rPr lang="zh-CN" altLang="en-US">
                          <a:latin typeface="楷体" panose="02010609060101010101" pitchFamily="49" charset="-122"/>
                          <a:ea typeface="楷体" panose="02010609060101010101" pitchFamily="49" charset="-122"/>
                        </a:rPr>
                        <a:t>乙</a:t>
                      </a:r>
                      <a:endParaRPr lang="zh-CN" altLang="en-US">
                        <a:latin typeface="楷体" panose="02010609060101010101" pitchFamily="49" charset="-122"/>
                        <a:ea typeface="楷体" panose="02010609060101010101" pitchFamily="49" charset="-122"/>
                      </a:endParaRPr>
                    </a:p>
                  </a:txBody>
                  <a:tcPr/>
                </a:tc>
                <a:tc>
                  <a:txBody>
                    <a:bodyPr/>
                    <a:p>
                      <a:pPr algn="ctr">
                        <a:buNone/>
                      </a:pPr>
                      <a:r>
                        <a:rPr lang="zh-CN" altLang="en-US">
                          <a:latin typeface="楷体" panose="02010609060101010101" pitchFamily="49" charset="-122"/>
                          <a:ea typeface="楷体" panose="02010609060101010101" pitchFamily="49" charset="-122"/>
                        </a:rPr>
                        <a:t>丙</a:t>
                      </a:r>
                      <a:endParaRPr lang="zh-CN" altLang="en-US">
                        <a:latin typeface="楷体" panose="02010609060101010101" pitchFamily="49" charset="-122"/>
                        <a:ea typeface="楷体" panose="02010609060101010101" pitchFamily="49" charset="-122"/>
                      </a:endParaRPr>
                    </a:p>
                  </a:txBody>
                  <a:tcPr/>
                </a:tc>
                <a:tc>
                  <a:txBody>
                    <a:bodyPr/>
                    <a:p>
                      <a:pPr algn="ctr">
                        <a:buNone/>
                      </a:pPr>
                      <a:r>
                        <a:rPr lang="zh-CN" altLang="en-US">
                          <a:latin typeface="楷体" panose="02010609060101010101" pitchFamily="49" charset="-122"/>
                          <a:ea typeface="楷体" panose="02010609060101010101" pitchFamily="49" charset="-122"/>
                        </a:rPr>
                        <a:t>产品单价</a:t>
                      </a:r>
                      <a:endParaRPr lang="zh-CN" altLang="en-US">
                        <a:latin typeface="楷体" panose="02010609060101010101" pitchFamily="49" charset="-122"/>
                        <a:ea typeface="楷体" panose="02010609060101010101" pitchFamily="49" charset="-122"/>
                      </a:endParaRPr>
                    </a:p>
                  </a:txBody>
                  <a:tcPr/>
                </a:tc>
                <a:tc>
                  <a:txBody>
                    <a:bodyPr/>
                    <a:p>
                      <a:pPr algn="ctr">
                        <a:buNone/>
                      </a:pPr>
                      <a:r>
                        <a:rPr lang="zh-CN" altLang="en-US">
                          <a:latin typeface="楷体" panose="02010609060101010101" pitchFamily="49" charset="-122"/>
                          <a:ea typeface="楷体" panose="02010609060101010101" pitchFamily="49" charset="-122"/>
                        </a:rPr>
                        <a:t>单件利润</a:t>
                      </a:r>
                      <a:endParaRPr lang="zh-CN" altLang="en-US">
                        <a:latin typeface="楷体" panose="02010609060101010101" pitchFamily="49" charset="-122"/>
                        <a:ea typeface="楷体" panose="02010609060101010101" pitchFamily="49" charset="-122"/>
                      </a:endParaRPr>
                    </a:p>
                  </a:txBody>
                  <a:tcPr/>
                </a:tc>
              </a:tr>
              <a:tr h="617220">
                <a:tc>
                  <a:txBody>
                    <a:bodyPr/>
                    <a:p>
                      <a:pPr algn="ctr">
                        <a:buNone/>
                      </a:pPr>
                      <a:r>
                        <a:rPr lang="en-US" altLang="zh-CN">
                          <a:latin typeface="楷体" panose="02010609060101010101" pitchFamily="49" charset="-122"/>
                          <a:ea typeface="楷体" panose="02010609060101010101" pitchFamily="49" charset="-122"/>
                        </a:rPr>
                        <a:t>A</a:t>
                      </a:r>
                      <a:endParaRPr lang="en-US" altLang="zh-CN">
                        <a:latin typeface="楷体" panose="02010609060101010101" pitchFamily="49" charset="-122"/>
                        <a:ea typeface="楷体" panose="02010609060101010101" pitchFamily="49" charset="-122"/>
                      </a:endParaRPr>
                    </a:p>
                  </a:txBody>
                  <a:tcPr/>
                </a:tc>
                <a:tc>
                  <a:txBody>
                    <a:bodyPr/>
                    <a:p>
                      <a:pPr algn="ctr">
                        <a:buNone/>
                      </a:pPr>
                      <a:r>
                        <a:rPr lang="en-US" altLang="zh-CN">
                          <a:latin typeface="楷体" panose="02010609060101010101" pitchFamily="49" charset="-122"/>
                          <a:ea typeface="楷体" panose="02010609060101010101" pitchFamily="49" charset="-122"/>
                        </a:rPr>
                        <a:t>2</a:t>
                      </a:r>
                      <a:endParaRPr lang="en-US" altLang="zh-CN">
                        <a:latin typeface="楷体" panose="02010609060101010101" pitchFamily="49" charset="-122"/>
                        <a:ea typeface="楷体" panose="02010609060101010101" pitchFamily="49" charset="-122"/>
                      </a:endParaRPr>
                    </a:p>
                  </a:txBody>
                  <a:tcPr/>
                </a:tc>
                <a:tc>
                  <a:txBody>
                    <a:bodyPr/>
                    <a:p>
                      <a:pPr algn="ctr">
                        <a:buNone/>
                      </a:pPr>
                      <a:r>
                        <a:rPr lang="en-US" altLang="zh-CN">
                          <a:latin typeface="楷体" panose="02010609060101010101" pitchFamily="49" charset="-122"/>
                          <a:ea typeface="楷体" panose="02010609060101010101" pitchFamily="49" charset="-122"/>
                        </a:rPr>
                        <a:t>1</a:t>
                      </a:r>
                      <a:endParaRPr lang="en-US" altLang="zh-CN">
                        <a:latin typeface="楷体" panose="02010609060101010101" pitchFamily="49" charset="-122"/>
                        <a:ea typeface="楷体" panose="02010609060101010101" pitchFamily="49" charset="-122"/>
                      </a:endParaRPr>
                    </a:p>
                  </a:txBody>
                  <a:tcPr/>
                </a:tc>
                <a:tc>
                  <a:txBody>
                    <a:bodyPr/>
                    <a:p>
                      <a:pPr algn="ctr">
                        <a:buNone/>
                      </a:pPr>
                      <a:r>
                        <a:rPr lang="en-US" altLang="zh-CN">
                          <a:latin typeface="楷体" panose="02010609060101010101" pitchFamily="49" charset="-122"/>
                          <a:ea typeface="楷体" panose="02010609060101010101" pitchFamily="49" charset="-122"/>
                        </a:rPr>
                        <a:t>2.2</a:t>
                      </a:r>
                      <a:endParaRPr lang="en-US" altLang="zh-CN">
                        <a:latin typeface="楷体" panose="02010609060101010101" pitchFamily="49" charset="-122"/>
                        <a:ea typeface="楷体" panose="02010609060101010101" pitchFamily="49" charset="-122"/>
                      </a:endParaRPr>
                    </a:p>
                  </a:txBody>
                  <a:tcPr/>
                </a:tc>
                <a:tc>
                  <a:txBody>
                    <a:bodyPr/>
                    <a:p>
                      <a:pPr algn="ctr">
                        <a:buNone/>
                      </a:pPr>
                      <a:r>
                        <a:rPr lang="en-US" altLang="zh-CN">
                          <a:latin typeface="楷体" panose="02010609060101010101" pitchFamily="49" charset="-122"/>
                          <a:ea typeface="楷体" panose="02010609060101010101" pitchFamily="49" charset="-122"/>
                        </a:rPr>
                        <a:t>50</a:t>
                      </a:r>
                      <a:endParaRPr lang="en-US" altLang="zh-CN">
                        <a:latin typeface="楷体" panose="02010609060101010101" pitchFamily="49" charset="-122"/>
                        <a:ea typeface="楷体" panose="02010609060101010101" pitchFamily="49" charset="-122"/>
                      </a:endParaRPr>
                    </a:p>
                  </a:txBody>
                  <a:tcPr/>
                </a:tc>
                <a:tc>
                  <a:txBody>
                    <a:bodyPr/>
                    <a:p>
                      <a:pPr algn="ctr">
                        <a:buNone/>
                      </a:pPr>
                      <a:r>
                        <a:rPr lang="en-US" altLang="zh-CN">
                          <a:latin typeface="楷体" panose="02010609060101010101" pitchFamily="49" charset="-122"/>
                          <a:ea typeface="楷体" panose="02010609060101010101" pitchFamily="49" charset="-122"/>
                        </a:rPr>
                        <a:t>10</a:t>
                      </a:r>
                      <a:endParaRPr lang="en-US" altLang="zh-CN">
                        <a:latin typeface="楷体" panose="02010609060101010101" pitchFamily="49" charset="-122"/>
                        <a:ea typeface="楷体" panose="02010609060101010101" pitchFamily="49" charset="-122"/>
                      </a:endParaRPr>
                    </a:p>
                  </a:txBody>
                  <a:tcPr/>
                </a:tc>
              </a:tr>
              <a:tr h="617220">
                <a:tc>
                  <a:txBody>
                    <a:bodyPr/>
                    <a:p>
                      <a:pPr algn="ctr">
                        <a:buNone/>
                      </a:pPr>
                      <a:r>
                        <a:rPr lang="en-US" altLang="zh-CN">
                          <a:latin typeface="楷体" panose="02010609060101010101" pitchFamily="49" charset="-122"/>
                          <a:ea typeface="楷体" panose="02010609060101010101" pitchFamily="49" charset="-122"/>
                        </a:rPr>
                        <a:t>B</a:t>
                      </a:r>
                      <a:endParaRPr lang="en-US" altLang="zh-CN">
                        <a:latin typeface="楷体" panose="02010609060101010101" pitchFamily="49" charset="-122"/>
                        <a:ea typeface="楷体" panose="02010609060101010101" pitchFamily="49" charset="-122"/>
                      </a:endParaRPr>
                    </a:p>
                  </a:txBody>
                  <a:tcPr/>
                </a:tc>
                <a:tc>
                  <a:txBody>
                    <a:bodyPr/>
                    <a:p>
                      <a:pPr algn="ctr">
                        <a:buNone/>
                      </a:pPr>
                      <a:r>
                        <a:rPr lang="en-US" altLang="zh-CN">
                          <a:latin typeface="楷体" panose="02010609060101010101" pitchFamily="49" charset="-122"/>
                          <a:ea typeface="楷体" panose="02010609060101010101" pitchFamily="49" charset="-122"/>
                        </a:rPr>
                        <a:t>2</a:t>
                      </a:r>
                      <a:endParaRPr lang="en-US" altLang="zh-CN">
                        <a:latin typeface="楷体" panose="02010609060101010101" pitchFamily="49" charset="-122"/>
                        <a:ea typeface="楷体" panose="02010609060101010101" pitchFamily="49" charset="-122"/>
                      </a:endParaRPr>
                    </a:p>
                  </a:txBody>
                  <a:tcPr/>
                </a:tc>
                <a:tc>
                  <a:txBody>
                    <a:bodyPr/>
                    <a:p>
                      <a:pPr algn="ctr">
                        <a:buNone/>
                      </a:pPr>
                      <a:r>
                        <a:rPr lang="en-US" altLang="zh-CN">
                          <a:latin typeface="楷体" panose="02010609060101010101" pitchFamily="49" charset="-122"/>
                          <a:ea typeface="楷体" panose="02010609060101010101" pitchFamily="49" charset="-122"/>
                        </a:rPr>
                        <a:t>2</a:t>
                      </a:r>
                      <a:endParaRPr lang="en-US" altLang="zh-CN">
                        <a:latin typeface="楷体" panose="02010609060101010101" pitchFamily="49" charset="-122"/>
                        <a:ea typeface="楷体" panose="02010609060101010101" pitchFamily="49" charset="-122"/>
                      </a:endParaRPr>
                    </a:p>
                  </a:txBody>
                  <a:tcPr/>
                </a:tc>
                <a:tc>
                  <a:txBody>
                    <a:bodyPr/>
                    <a:p>
                      <a:pPr algn="ctr">
                        <a:buNone/>
                      </a:pPr>
                      <a:r>
                        <a:rPr lang="en-US" altLang="zh-CN">
                          <a:latin typeface="楷体" panose="02010609060101010101" pitchFamily="49" charset="-122"/>
                          <a:ea typeface="楷体" panose="02010609060101010101" pitchFamily="49" charset="-122"/>
                        </a:rPr>
                        <a:t>0.8</a:t>
                      </a:r>
                      <a:endParaRPr lang="en-US" altLang="zh-CN">
                        <a:latin typeface="楷体" panose="02010609060101010101" pitchFamily="49" charset="-122"/>
                        <a:ea typeface="楷体" panose="02010609060101010101" pitchFamily="49" charset="-122"/>
                      </a:endParaRPr>
                    </a:p>
                  </a:txBody>
                  <a:tcPr/>
                </a:tc>
                <a:tc>
                  <a:txBody>
                    <a:bodyPr/>
                    <a:p>
                      <a:pPr algn="ctr">
                        <a:buNone/>
                      </a:pPr>
                      <a:r>
                        <a:rPr lang="en-US" altLang="zh-CN">
                          <a:latin typeface="楷体" panose="02010609060101010101" pitchFamily="49" charset="-122"/>
                          <a:ea typeface="楷体" panose="02010609060101010101" pitchFamily="49" charset="-122"/>
                        </a:rPr>
                        <a:t>70</a:t>
                      </a:r>
                      <a:endParaRPr lang="en-US" altLang="zh-CN">
                        <a:latin typeface="楷体" panose="02010609060101010101" pitchFamily="49" charset="-122"/>
                        <a:ea typeface="楷体" panose="02010609060101010101" pitchFamily="49" charset="-122"/>
                      </a:endParaRPr>
                    </a:p>
                  </a:txBody>
                  <a:tcPr/>
                </a:tc>
                <a:tc>
                  <a:txBody>
                    <a:bodyPr/>
                    <a:p>
                      <a:pPr algn="ctr">
                        <a:buNone/>
                      </a:pPr>
                      <a:r>
                        <a:rPr lang="en-US" altLang="zh-CN">
                          <a:latin typeface="楷体" panose="02010609060101010101" pitchFamily="49" charset="-122"/>
                          <a:ea typeface="楷体" panose="02010609060101010101" pitchFamily="49" charset="-122"/>
                        </a:rPr>
                        <a:t>8</a:t>
                      </a:r>
                      <a:endParaRPr lang="en-US" altLang="zh-CN">
                        <a:latin typeface="楷体" panose="02010609060101010101" pitchFamily="49" charset="-122"/>
                        <a:ea typeface="楷体" panose="02010609060101010101" pitchFamily="49" charset="-122"/>
                      </a:endParaRPr>
                    </a:p>
                  </a:txBody>
                  <a:tcPr/>
                </a:tc>
              </a:tr>
              <a:tr h="617220">
                <a:tc>
                  <a:txBody>
                    <a:bodyPr/>
                    <a:p>
                      <a:pPr algn="ctr">
                        <a:buNone/>
                      </a:pPr>
                      <a:r>
                        <a:rPr lang="zh-CN" altLang="en-US">
                          <a:latin typeface="楷体" panose="02010609060101010101" pitchFamily="49" charset="-122"/>
                          <a:ea typeface="楷体" panose="02010609060101010101" pitchFamily="49" charset="-122"/>
                          <a:cs typeface="楷体" panose="02010609060101010101" pitchFamily="49" charset="-122"/>
                        </a:rPr>
                        <a:t>加工能力</a:t>
                      </a:r>
                      <a:r>
                        <a:rPr lang="en-US" altLang="zh-CN">
                          <a:latin typeface="楷体" panose="02010609060101010101" pitchFamily="49" charset="-122"/>
                          <a:ea typeface="楷体" panose="02010609060101010101" pitchFamily="49" charset="-122"/>
                          <a:cs typeface="楷体" panose="02010609060101010101" pitchFamily="49" charset="-122"/>
                        </a:rPr>
                        <a:t>/h</a:t>
                      </a:r>
                      <a:endParaRPr lang="en-US" altLang="zh-CN">
                        <a:latin typeface="楷体" panose="02010609060101010101" pitchFamily="49" charset="-122"/>
                        <a:ea typeface="楷体" panose="02010609060101010101" pitchFamily="49" charset="-122"/>
                        <a:cs typeface="楷体" panose="02010609060101010101" pitchFamily="49" charset="-122"/>
                      </a:endParaRPr>
                    </a:p>
                  </a:txBody>
                  <a:tcPr/>
                </a:tc>
                <a:tc>
                  <a:txBody>
                    <a:bodyPr/>
                    <a:p>
                      <a:pPr algn="ctr">
                        <a:buNone/>
                      </a:pPr>
                      <a:r>
                        <a:rPr lang="en-US" altLang="zh-CN">
                          <a:latin typeface="楷体" panose="02010609060101010101" pitchFamily="49" charset="-122"/>
                          <a:ea typeface="楷体" panose="02010609060101010101" pitchFamily="49" charset="-122"/>
                        </a:rPr>
                        <a:t>120</a:t>
                      </a:r>
                      <a:endParaRPr lang="en-US" altLang="zh-CN">
                        <a:latin typeface="楷体" panose="02010609060101010101" pitchFamily="49" charset="-122"/>
                        <a:ea typeface="楷体" panose="02010609060101010101" pitchFamily="49" charset="-122"/>
                      </a:endParaRPr>
                    </a:p>
                  </a:txBody>
                  <a:tcPr/>
                </a:tc>
                <a:tc>
                  <a:txBody>
                    <a:bodyPr/>
                    <a:p>
                      <a:pPr algn="ctr">
                        <a:buNone/>
                      </a:pPr>
                      <a:r>
                        <a:rPr lang="en-US" altLang="zh-CN">
                          <a:latin typeface="楷体" panose="02010609060101010101" pitchFamily="49" charset="-122"/>
                          <a:ea typeface="楷体" panose="02010609060101010101" pitchFamily="49" charset="-122"/>
                        </a:rPr>
                        <a:t>100</a:t>
                      </a:r>
                      <a:endParaRPr lang="en-US" altLang="zh-CN">
                        <a:latin typeface="楷体" panose="02010609060101010101" pitchFamily="49" charset="-122"/>
                        <a:ea typeface="楷体" panose="02010609060101010101" pitchFamily="49" charset="-122"/>
                      </a:endParaRPr>
                    </a:p>
                  </a:txBody>
                  <a:tcPr/>
                </a:tc>
                <a:tc>
                  <a:txBody>
                    <a:bodyPr/>
                    <a:p>
                      <a:pPr algn="ctr">
                        <a:buNone/>
                      </a:pPr>
                      <a:r>
                        <a:rPr lang="en-US" altLang="zh-CN">
                          <a:latin typeface="楷体" panose="02010609060101010101" pitchFamily="49" charset="-122"/>
                          <a:ea typeface="楷体" panose="02010609060101010101" pitchFamily="49" charset="-122"/>
                        </a:rPr>
                        <a:t>90</a:t>
                      </a:r>
                      <a:endParaRPr lang="en-US" altLang="zh-CN">
                        <a:latin typeface="楷体" panose="02010609060101010101" pitchFamily="49" charset="-122"/>
                        <a:ea typeface="楷体" panose="02010609060101010101" pitchFamily="49" charset="-122"/>
                      </a:endParaRPr>
                    </a:p>
                  </a:txBody>
                  <a:tcPr/>
                </a:tc>
                <a:tc>
                  <a:txBody>
                    <a:bodyPr/>
                    <a:p>
                      <a:pPr algn="ctr">
                        <a:buNone/>
                      </a:pPr>
                      <a:endParaRPr lang="zh-CN" altLang="en-US">
                        <a:latin typeface="楷体" panose="02010609060101010101" pitchFamily="49" charset="-122"/>
                        <a:ea typeface="楷体" panose="02010609060101010101" pitchFamily="49" charset="-122"/>
                      </a:endParaRPr>
                    </a:p>
                  </a:txBody>
                  <a:tcPr/>
                </a:tc>
                <a:tc>
                  <a:txBody>
                    <a:bodyPr/>
                    <a:p>
                      <a:pPr algn="ctr">
                        <a:buNone/>
                      </a:pPr>
                      <a:endParaRPr lang="zh-CN" altLang="en-US">
                        <a:latin typeface="楷体" panose="02010609060101010101" pitchFamily="49" charset="-122"/>
                        <a:ea typeface="楷体" panose="02010609060101010101" pitchFamily="49" charset="-122"/>
                      </a:endParaRPr>
                    </a:p>
                  </a:txBody>
                  <a:tcPr/>
                </a:tc>
              </a:tr>
            </a:tbl>
          </a:graphicData>
        </a:graphic>
      </p:graphicFrame>
    </p:spTree>
  </p:cSld>
  <p:clrMapOvr>
    <a:masterClrMapping/>
  </p:clrMapOvr>
  <p:transition spd="slow">
    <p:zoom/>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课堂练习</a:t>
            </a:r>
            <a:r>
              <a:rPr lang="en-US" altLang="zh-CN" dirty="0"/>
              <a:t>4:</a:t>
            </a:r>
            <a:r>
              <a:rPr lang="zh-CN" altLang="en-US" dirty="0"/>
              <a:t>试用图解法求出下列目标规划的满意</a:t>
            </a:r>
            <a:r>
              <a:rPr lang="zh-CN" altLang="en-US" dirty="0"/>
              <a:t>解</a:t>
            </a:r>
            <a:endParaRPr lang="zh-CN" altLang="en-US" dirty="0"/>
          </a:p>
        </p:txBody>
      </p:sp>
      <p:graphicFrame>
        <p:nvGraphicFramePr>
          <p:cNvPr id="8" name="对象 7">
            <a:hlinkClick r:id="" action="ppaction://ole?verb="/>
          </p:cNvPr>
          <p:cNvGraphicFramePr>
            <a:graphicFrameLocks noChangeAspect="1"/>
          </p:cNvGraphicFramePr>
          <p:nvPr/>
        </p:nvGraphicFramePr>
        <p:xfrm>
          <a:off x="6034405" y="1535430"/>
          <a:ext cx="4608195" cy="2529840"/>
        </p:xfrm>
        <a:graphic>
          <a:graphicData uri="http://schemas.openxmlformats.org/presentationml/2006/ole">
            <mc:AlternateContent xmlns:mc="http://schemas.openxmlformats.org/markup-compatibility/2006">
              <mc:Choice xmlns:v="urn:schemas-microsoft-com:vml" Requires="v">
                <p:oleObj spid="_x0000_s1025" name="" r:id="rId1" imgW="2463165" imgH="1473200" progId="Equation.DSMT4">
                  <p:embed/>
                </p:oleObj>
              </mc:Choice>
              <mc:Fallback>
                <p:oleObj name="" r:id="rId1" imgW="2463165" imgH="1473200" progId="Equation.DSMT4">
                  <p:embed/>
                  <p:pic>
                    <p:nvPicPr>
                      <p:cNvPr id="0" name="图片 1024"/>
                      <p:cNvPicPr/>
                      <p:nvPr/>
                    </p:nvPicPr>
                    <p:blipFill>
                      <a:blip r:embed="rId2"/>
                      <a:stretch>
                        <a:fillRect/>
                      </a:stretch>
                    </p:blipFill>
                    <p:spPr>
                      <a:xfrm>
                        <a:off x="6034405" y="1535430"/>
                        <a:ext cx="4608195" cy="2529840"/>
                      </a:xfrm>
                      <a:prstGeom prst="rect">
                        <a:avLst/>
                      </a:prstGeom>
                    </p:spPr>
                  </p:pic>
                </p:oleObj>
              </mc:Fallback>
            </mc:AlternateContent>
          </a:graphicData>
        </a:graphic>
      </p:graphicFrame>
      <p:graphicFrame>
        <p:nvGraphicFramePr>
          <p:cNvPr id="10" name="对象 9">
            <a:hlinkClick r:id="" action="ppaction://ole?verb="/>
          </p:cNvPr>
          <p:cNvGraphicFramePr>
            <a:graphicFrameLocks noChangeAspect="1"/>
          </p:cNvGraphicFramePr>
          <p:nvPr/>
        </p:nvGraphicFramePr>
        <p:xfrm>
          <a:off x="240983" y="4089083"/>
          <a:ext cx="5156200" cy="2530475"/>
        </p:xfrm>
        <a:graphic>
          <a:graphicData uri="http://schemas.openxmlformats.org/presentationml/2006/ole">
            <mc:AlternateContent xmlns:mc="http://schemas.openxmlformats.org/markup-compatibility/2006">
              <mc:Choice xmlns:v="urn:schemas-microsoft-com:vml" Requires="v">
                <p:oleObj spid="_x0000_s11" name="" r:id="rId3" imgW="2755900" imgH="1473200" progId="Equation.DSMT4">
                  <p:embed/>
                </p:oleObj>
              </mc:Choice>
              <mc:Fallback>
                <p:oleObj name="" r:id="rId3" imgW="2755900" imgH="1473200" progId="Equation.DSMT4">
                  <p:embed/>
                  <p:pic>
                    <p:nvPicPr>
                      <p:cNvPr id="0" name="图片 1024"/>
                      <p:cNvPicPr/>
                      <p:nvPr/>
                    </p:nvPicPr>
                    <p:blipFill>
                      <a:blip r:embed="rId4"/>
                      <a:stretch>
                        <a:fillRect/>
                      </a:stretch>
                    </p:blipFill>
                    <p:spPr>
                      <a:xfrm>
                        <a:off x="240983" y="4089083"/>
                        <a:ext cx="5156200" cy="2530475"/>
                      </a:xfrm>
                      <a:prstGeom prst="rect">
                        <a:avLst/>
                      </a:prstGeom>
                    </p:spPr>
                  </p:pic>
                </p:oleObj>
              </mc:Fallback>
            </mc:AlternateContent>
          </a:graphicData>
        </a:graphic>
      </p:graphicFrame>
      <p:graphicFrame>
        <p:nvGraphicFramePr>
          <p:cNvPr id="12" name="对象 11">
            <a:hlinkClick r:id="" action="ppaction://ole?verb="/>
          </p:cNvPr>
          <p:cNvGraphicFramePr>
            <a:graphicFrameLocks noChangeAspect="1"/>
          </p:cNvGraphicFramePr>
          <p:nvPr/>
        </p:nvGraphicFramePr>
        <p:xfrm>
          <a:off x="257175" y="1505268"/>
          <a:ext cx="4562475" cy="2530475"/>
        </p:xfrm>
        <a:graphic>
          <a:graphicData uri="http://schemas.openxmlformats.org/presentationml/2006/ole">
            <mc:AlternateContent xmlns:mc="http://schemas.openxmlformats.org/markup-compatibility/2006">
              <mc:Choice xmlns:v="urn:schemas-microsoft-com:vml" Requires="v">
                <p:oleObj spid="_x0000_s13" name="" r:id="rId5" imgW="2438400" imgH="1473200" progId="Equation.DSMT4">
                  <p:embed/>
                </p:oleObj>
              </mc:Choice>
              <mc:Fallback>
                <p:oleObj name="" r:id="rId5" imgW="2438400" imgH="1473200" progId="Equation.DSMT4">
                  <p:embed/>
                  <p:pic>
                    <p:nvPicPr>
                      <p:cNvPr id="0" name="图片 1024"/>
                      <p:cNvPicPr/>
                      <p:nvPr/>
                    </p:nvPicPr>
                    <p:blipFill>
                      <a:blip r:embed="rId6"/>
                      <a:stretch>
                        <a:fillRect/>
                      </a:stretch>
                    </p:blipFill>
                    <p:spPr>
                      <a:xfrm>
                        <a:off x="257175" y="1505268"/>
                        <a:ext cx="4562475" cy="2530475"/>
                      </a:xfrm>
                      <a:prstGeom prst="rect">
                        <a:avLst/>
                      </a:prstGeom>
                    </p:spPr>
                  </p:pic>
                </p:oleObj>
              </mc:Fallback>
            </mc:AlternateContent>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目标规划满意解的几种常见</a:t>
            </a:r>
            <a:r>
              <a:rPr lang="zh-CN" altLang="en-US" dirty="0"/>
              <a:t>情况</a:t>
            </a:r>
            <a:endParaRPr lang="zh-CN" altLang="en-US" dirty="0"/>
          </a:p>
        </p:txBody>
      </p:sp>
      <p:sp>
        <p:nvSpPr>
          <p:cNvPr id="3" name="内容占位符 2"/>
          <p:cNvSpPr>
            <a:spLocks noGrp="1"/>
          </p:cNvSpPr>
          <p:nvPr>
            <p:ph idx="1"/>
          </p:nvPr>
        </p:nvSpPr>
        <p:spPr/>
        <p:txBody>
          <a:bodyPr>
            <a:normAutofit/>
          </a:bodyPr>
          <a:lstStyle/>
          <a:p>
            <a:r>
              <a:rPr lang="zh-CN" altLang="en-US" dirty="0"/>
              <a:t>各级目标均满足，目标函数中各偏差变量均等于</a:t>
            </a:r>
            <a:r>
              <a:rPr lang="en-US" altLang="zh-CN" dirty="0"/>
              <a:t>0</a:t>
            </a:r>
            <a:r>
              <a:rPr lang="zh-CN" altLang="en-US" dirty="0"/>
              <a:t>，目标函数值</a:t>
            </a:r>
            <a:r>
              <a:rPr lang="en-US" altLang="zh-CN" dirty="0"/>
              <a:t>Z*=0 </a:t>
            </a:r>
            <a:r>
              <a:rPr lang="zh-CN" altLang="en-US" dirty="0"/>
              <a:t>（练习</a:t>
            </a:r>
            <a:r>
              <a:rPr lang="en-US" altLang="zh-CN" dirty="0"/>
              <a:t>1</a:t>
            </a:r>
            <a:r>
              <a:rPr lang="zh-CN" altLang="en-US" dirty="0"/>
              <a:t>）</a:t>
            </a:r>
            <a:endParaRPr lang="zh-CN" altLang="en-US" dirty="0"/>
          </a:p>
          <a:p>
            <a:r>
              <a:rPr lang="zh-CN" altLang="en-US" dirty="0"/>
              <a:t>前</a:t>
            </a:r>
            <a:r>
              <a:rPr lang="en-US" altLang="zh-CN" dirty="0"/>
              <a:t>k</a:t>
            </a:r>
            <a:r>
              <a:rPr lang="zh-CN" altLang="en-US" dirty="0"/>
              <a:t>级目标在某一点处得到满足，第</a:t>
            </a:r>
            <a:r>
              <a:rPr lang="en-US" altLang="zh-CN" dirty="0"/>
              <a:t>k+1</a:t>
            </a:r>
            <a:r>
              <a:rPr lang="zh-CN" altLang="en-US" dirty="0"/>
              <a:t>级目标无法满足，满意解即在该点处取得（练习</a:t>
            </a:r>
            <a:r>
              <a:rPr lang="en-US" altLang="zh-CN" dirty="0"/>
              <a:t>3</a:t>
            </a:r>
            <a:r>
              <a:rPr lang="zh-CN" altLang="en-US" dirty="0"/>
              <a:t>）</a:t>
            </a:r>
            <a:endParaRPr lang="zh-CN" altLang="en-US" dirty="0"/>
          </a:p>
          <a:p>
            <a:r>
              <a:rPr lang="zh-CN" altLang="en-US" dirty="0">
                <a:sym typeface="+mn-ea"/>
              </a:rPr>
              <a:t>前</a:t>
            </a:r>
            <a:r>
              <a:rPr lang="en-US" altLang="zh-CN" dirty="0">
                <a:sym typeface="+mn-ea"/>
              </a:rPr>
              <a:t>k</a:t>
            </a:r>
            <a:r>
              <a:rPr lang="zh-CN" altLang="en-US" dirty="0">
                <a:sym typeface="+mn-ea"/>
              </a:rPr>
              <a:t>级目标在某一线段（或某一区域）处得到满足，第</a:t>
            </a:r>
            <a:r>
              <a:rPr lang="en-US" altLang="zh-CN" dirty="0">
                <a:sym typeface="+mn-ea"/>
              </a:rPr>
              <a:t>k+1</a:t>
            </a:r>
            <a:r>
              <a:rPr lang="zh-CN" altLang="en-US" dirty="0">
                <a:sym typeface="+mn-ea"/>
              </a:rPr>
              <a:t>级目标无法满足，满意解为该线段上的点（或该区域上的点）至满足第</a:t>
            </a:r>
            <a:r>
              <a:rPr lang="en-US" altLang="zh-CN" dirty="0">
                <a:sym typeface="+mn-ea"/>
              </a:rPr>
              <a:t>k+1</a:t>
            </a:r>
            <a:r>
              <a:rPr lang="zh-CN" altLang="en-US" dirty="0">
                <a:sym typeface="+mn-ea"/>
              </a:rPr>
              <a:t>级目标距离最近的点处</a:t>
            </a:r>
            <a:r>
              <a:rPr lang="zh-CN" altLang="en-US" dirty="0">
                <a:sym typeface="+mn-ea"/>
              </a:rPr>
              <a:t>取得（练习</a:t>
            </a:r>
            <a:r>
              <a:rPr lang="en-US" altLang="zh-CN" dirty="0">
                <a:sym typeface="+mn-ea"/>
              </a:rPr>
              <a:t>2</a:t>
            </a:r>
            <a:r>
              <a:rPr lang="zh-CN" altLang="en-US" dirty="0">
                <a:sym typeface="+mn-ea"/>
              </a:rPr>
              <a:t>）</a:t>
            </a:r>
            <a:endParaRPr lang="zh-CN" alt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本章总结</a:t>
            </a:r>
            <a:endParaRPr lang="zh-CN" altLang="en-US" dirty="0"/>
          </a:p>
        </p:txBody>
      </p:sp>
      <p:sp>
        <p:nvSpPr>
          <p:cNvPr id="3" name="内容占位符 2"/>
          <p:cNvSpPr>
            <a:spLocks noGrp="1"/>
          </p:cNvSpPr>
          <p:nvPr>
            <p:ph idx="1"/>
          </p:nvPr>
        </p:nvSpPr>
        <p:spPr/>
        <p:txBody>
          <a:bodyPr>
            <a:normAutofit/>
          </a:bodyPr>
          <a:lstStyle/>
          <a:p>
            <a:r>
              <a:rPr lang="zh-CN" altLang="en-US" dirty="0"/>
              <a:t>目标规划问题举例</a:t>
            </a:r>
            <a:endParaRPr lang="en-US" altLang="zh-CN" dirty="0"/>
          </a:p>
          <a:p>
            <a:pPr lvl="1"/>
            <a:r>
              <a:rPr lang="zh-CN" altLang="en-US" dirty="0"/>
              <a:t>什么是目标值、实现值、偏差变量？</a:t>
            </a:r>
            <a:endParaRPr lang="en-US" altLang="zh-CN" dirty="0"/>
          </a:p>
          <a:p>
            <a:pPr lvl="1"/>
            <a:r>
              <a:rPr lang="zh-CN" altLang="en-US" dirty="0"/>
              <a:t>要求恰好、不超过、和超过目标值时相应的目标函数该如何使用偏差变量表示？</a:t>
            </a:r>
            <a:endParaRPr lang="en-US" altLang="zh-CN" dirty="0"/>
          </a:p>
          <a:p>
            <a:pPr lvl="1"/>
            <a:r>
              <a:rPr lang="zh-CN" altLang="en-US" dirty="0"/>
              <a:t>目标规划与线性规划的区别</a:t>
            </a:r>
            <a:endParaRPr lang="en-US" altLang="zh-CN" dirty="0"/>
          </a:p>
          <a:p>
            <a:pPr lvl="1"/>
            <a:r>
              <a:rPr lang="zh-CN" altLang="en-US" dirty="0"/>
              <a:t>目标规划问题的建模步骤</a:t>
            </a:r>
            <a:endParaRPr lang="en-US" altLang="zh-CN" dirty="0"/>
          </a:p>
          <a:p>
            <a:r>
              <a:rPr lang="zh-CN" altLang="en-US" dirty="0"/>
              <a:t>目标规划的图解法</a:t>
            </a:r>
            <a:endParaRPr lang="en-US" altLang="zh-CN" dirty="0"/>
          </a:p>
          <a:p>
            <a:pPr lvl="1"/>
            <a:r>
              <a:rPr lang="zh-CN" altLang="en-US" dirty="0"/>
              <a:t>图解法的解题步骤</a:t>
            </a:r>
            <a:endParaRPr lang="en-US" altLang="zh-CN" dirty="0"/>
          </a:p>
          <a:p>
            <a:r>
              <a:rPr lang="zh-CN" altLang="en-US" dirty="0"/>
              <a:t>复杂情况下的有优先权的目标规划</a:t>
            </a:r>
            <a:endParaRPr lang="en-US" altLang="zh-CN" dirty="0"/>
          </a:p>
          <a:p>
            <a:r>
              <a:rPr lang="zh-CN" altLang="en-US" dirty="0"/>
              <a:t>加权目标规划</a:t>
            </a:r>
            <a:endParaRPr lang="zh-CN" altLang="en-US" dirty="0"/>
          </a:p>
          <a:p>
            <a:endParaRPr lang="zh-CN" alt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err="1">
                <a:latin typeface="华文楷体" panose="02010600040101010101" charset="-122"/>
                <a:ea typeface="华文楷体" panose="02010600040101010101" charset="-122"/>
              </a:rPr>
              <a:t>课后作业（仅写出整数规划</a:t>
            </a:r>
            <a:r>
              <a:rPr lang="zh-CN" altLang="en-US" dirty="0" err="1">
                <a:latin typeface="华文楷体" panose="02010600040101010101" charset="-122"/>
                <a:ea typeface="华文楷体" panose="02010600040101010101" charset="-122"/>
              </a:rPr>
              <a:t>模型）</a:t>
            </a:r>
            <a:endParaRPr lang="zh-CN" altLang="en-US" dirty="0" err="1">
              <a:latin typeface="华文楷体" panose="02010600040101010101" charset="-122"/>
              <a:ea typeface="华文楷体" panose="02010600040101010101" charset="-122"/>
            </a:endParaRPr>
          </a:p>
        </p:txBody>
      </p:sp>
      <p:sp>
        <p:nvSpPr>
          <p:cNvPr id="3" name="Content Placeholder 2"/>
          <p:cNvSpPr>
            <a:spLocks noGrp="1"/>
          </p:cNvSpPr>
          <p:nvPr>
            <p:ph idx="1"/>
          </p:nvPr>
        </p:nvSpPr>
        <p:spPr/>
        <p:txBody>
          <a:bodyPr>
            <a:normAutofit/>
          </a:bodyPr>
          <a:lstStyle/>
          <a:p>
            <a:r>
              <a:rPr lang="zh-CN" altLang="en-US" dirty="0">
                <a:latin typeface="华文楷体" panose="02010600040101010101" charset="-122"/>
                <a:ea typeface="华文楷体" panose="02010600040101010101" charset="-122"/>
                <a:cs typeface="华文楷体" panose="02010600040101010101" charset="-122"/>
              </a:rPr>
              <a:t>第九章课后习题</a:t>
            </a:r>
            <a:r>
              <a:rPr lang="en-US" dirty="0">
                <a:latin typeface="华文楷体" panose="02010600040101010101" charset="-122"/>
                <a:ea typeface="华文楷体" panose="02010600040101010101" charset="-122"/>
                <a:cs typeface="华文楷体" panose="02010600040101010101" charset="-122"/>
              </a:rPr>
              <a:t>6</a:t>
            </a:r>
            <a:r>
              <a:rPr lang="zh-CN" altLang="en-US" dirty="0">
                <a:latin typeface="华文楷体" panose="02010600040101010101" charset="-122"/>
                <a:ea typeface="华文楷体" panose="02010600040101010101" charset="-122"/>
                <a:cs typeface="华文楷体" panose="02010600040101010101" charset="-122"/>
              </a:rPr>
              <a:t>（仅建模），</a:t>
            </a:r>
            <a:r>
              <a:rPr lang="en-US" altLang="zh-CN" dirty="0">
                <a:latin typeface="华文楷体" panose="02010600040101010101" charset="-122"/>
                <a:ea typeface="华文楷体" panose="02010600040101010101" charset="-122"/>
                <a:cs typeface="华文楷体" panose="02010600040101010101" charset="-122"/>
              </a:rPr>
              <a:t>7</a:t>
            </a:r>
            <a:r>
              <a:rPr lang="zh-CN" altLang="en-US" dirty="0">
                <a:latin typeface="华文楷体" panose="02010600040101010101" charset="-122"/>
                <a:ea typeface="华文楷体" panose="02010600040101010101" charset="-122"/>
                <a:cs typeface="华文楷体" panose="02010600040101010101" charset="-122"/>
              </a:rPr>
              <a:t>（建模</a:t>
            </a:r>
            <a:r>
              <a:rPr lang="en-US" altLang="zh-CN" dirty="0">
                <a:latin typeface="华文楷体" panose="02010600040101010101" charset="-122"/>
                <a:ea typeface="华文楷体" panose="02010600040101010101" charset="-122"/>
                <a:cs typeface="华文楷体" panose="02010600040101010101" charset="-122"/>
              </a:rPr>
              <a:t>+</a:t>
            </a:r>
            <a:r>
              <a:rPr lang="zh-CN" altLang="en-US" dirty="0">
                <a:latin typeface="华文楷体" panose="02010600040101010101" charset="-122"/>
                <a:ea typeface="华文楷体" panose="02010600040101010101" charset="-122"/>
                <a:cs typeface="华文楷体" panose="02010600040101010101" charset="-122"/>
              </a:rPr>
              <a:t>求解），</a:t>
            </a:r>
            <a:r>
              <a:rPr lang="en-US" altLang="zh-CN" dirty="0">
                <a:latin typeface="华文楷体" panose="02010600040101010101" charset="-122"/>
                <a:ea typeface="华文楷体" panose="02010600040101010101" charset="-122"/>
                <a:cs typeface="华文楷体" panose="02010600040101010101" charset="-122"/>
              </a:rPr>
              <a:t>12</a:t>
            </a:r>
            <a:r>
              <a:rPr lang="zh-CN" altLang="en-US" dirty="0">
                <a:latin typeface="华文楷体" panose="02010600040101010101" charset="-122"/>
                <a:ea typeface="华文楷体" panose="02010600040101010101" charset="-122"/>
                <a:cs typeface="华文楷体" panose="02010600040101010101" charset="-122"/>
                <a:sym typeface="+mn-ea"/>
              </a:rPr>
              <a:t>（建模</a:t>
            </a:r>
            <a:r>
              <a:rPr lang="en-US" altLang="zh-CN" dirty="0">
                <a:latin typeface="华文楷体" panose="02010600040101010101" charset="-122"/>
                <a:ea typeface="华文楷体" panose="02010600040101010101" charset="-122"/>
                <a:cs typeface="华文楷体" panose="02010600040101010101" charset="-122"/>
                <a:sym typeface="+mn-ea"/>
              </a:rPr>
              <a:t>+</a:t>
            </a:r>
            <a:r>
              <a:rPr lang="zh-CN" altLang="en-US" dirty="0">
                <a:latin typeface="华文楷体" panose="02010600040101010101" charset="-122"/>
                <a:ea typeface="华文楷体" panose="02010600040101010101" charset="-122"/>
                <a:cs typeface="华文楷体" panose="02010600040101010101" charset="-122"/>
                <a:sym typeface="+mn-ea"/>
              </a:rPr>
              <a:t>求解）</a:t>
            </a:r>
            <a:r>
              <a:rPr lang="zh-CN" altLang="en-US" dirty="0">
                <a:latin typeface="华文楷体" panose="02010600040101010101" charset="-122"/>
                <a:ea typeface="华文楷体" panose="02010600040101010101" charset="-122"/>
                <a:cs typeface="华文楷体" panose="02010600040101010101" charset="-122"/>
              </a:rPr>
              <a:t>，</a:t>
            </a:r>
            <a:r>
              <a:rPr lang="en-US" altLang="zh-CN" dirty="0">
                <a:latin typeface="华文楷体" panose="02010600040101010101" charset="-122"/>
                <a:ea typeface="华文楷体" panose="02010600040101010101" charset="-122"/>
                <a:cs typeface="华文楷体" panose="02010600040101010101" charset="-122"/>
              </a:rPr>
              <a:t>13  </a:t>
            </a:r>
            <a:r>
              <a:rPr lang="zh-CN" altLang="en-US" dirty="0">
                <a:latin typeface="华文楷体" panose="02010600040101010101" charset="-122"/>
                <a:ea typeface="华文楷体" panose="02010600040101010101" charset="-122"/>
                <a:cs typeface="华文楷体" panose="02010600040101010101" charset="-122"/>
                <a:sym typeface="+mn-ea"/>
              </a:rPr>
              <a:t>（仅建模）</a:t>
            </a:r>
            <a:r>
              <a:rPr lang="zh-CN" altLang="en-US" dirty="0">
                <a:latin typeface="华文楷体" panose="02010600040101010101" charset="-122"/>
                <a:ea typeface="华文楷体" panose="02010600040101010101" charset="-122"/>
                <a:cs typeface="华文楷体" panose="02010600040101010101" charset="-122"/>
              </a:rPr>
              <a:t>（第五版）</a:t>
            </a:r>
            <a:endParaRPr lang="zh-CN" altLang="en-US" dirty="0">
              <a:latin typeface="华文楷体" panose="02010600040101010101" charset="-122"/>
              <a:ea typeface="华文楷体" panose="02010600040101010101" charset="-122"/>
              <a:cs typeface="华文楷体" panose="02010600040101010101" charset="-122"/>
            </a:endParaRPr>
          </a:p>
          <a:p>
            <a:r>
              <a:rPr lang="zh-CN" altLang="en-US" dirty="0">
                <a:latin typeface="华文楷体" panose="02010600040101010101" charset="-122"/>
                <a:ea typeface="华文楷体" panose="02010600040101010101" charset="-122"/>
                <a:cs typeface="华文楷体" panose="02010600040101010101" charset="-122"/>
              </a:rPr>
              <a:t>或</a:t>
            </a:r>
            <a:r>
              <a:rPr lang="zh-CN" altLang="en-US" dirty="0">
                <a:latin typeface="华文楷体" panose="02010600040101010101" charset="-122"/>
                <a:ea typeface="华文楷体" panose="02010600040101010101" charset="-122"/>
                <a:cs typeface="华文楷体" panose="02010600040101010101" charset="-122"/>
                <a:sym typeface="+mn-ea"/>
              </a:rPr>
              <a:t>第</a:t>
            </a:r>
            <a:r>
              <a:rPr lang="zh-CN" altLang="en-US" dirty="0">
                <a:latin typeface="华文楷体" panose="02010600040101010101" charset="-122"/>
                <a:ea typeface="华文楷体" panose="02010600040101010101" charset="-122"/>
                <a:cs typeface="华文楷体" panose="02010600040101010101" charset="-122"/>
                <a:sym typeface="+mn-ea"/>
              </a:rPr>
              <a:t>九</a:t>
            </a:r>
            <a:r>
              <a:rPr lang="zh-CN" altLang="en-US" dirty="0">
                <a:latin typeface="华文楷体" panose="02010600040101010101" charset="-122"/>
                <a:ea typeface="华文楷体" panose="02010600040101010101" charset="-122"/>
                <a:cs typeface="华文楷体" panose="02010600040101010101" charset="-122"/>
                <a:sym typeface="+mn-ea"/>
              </a:rPr>
              <a:t>章课后习题</a:t>
            </a:r>
            <a:r>
              <a:rPr lang="en-US" dirty="0">
                <a:latin typeface="华文楷体" panose="02010600040101010101" charset="-122"/>
                <a:ea typeface="华文楷体" panose="02010600040101010101" charset="-122"/>
                <a:cs typeface="华文楷体" panose="02010600040101010101" charset="-122"/>
                <a:sym typeface="+mn-ea"/>
              </a:rPr>
              <a:t>4</a:t>
            </a:r>
            <a:r>
              <a:rPr lang="zh-CN" altLang="en-US" dirty="0">
                <a:latin typeface="华文楷体" panose="02010600040101010101" charset="-122"/>
                <a:ea typeface="华文楷体" panose="02010600040101010101" charset="-122"/>
                <a:cs typeface="华文楷体" panose="02010600040101010101" charset="-122"/>
                <a:sym typeface="+mn-ea"/>
              </a:rPr>
              <a:t>（仅建模），</a:t>
            </a:r>
            <a:r>
              <a:rPr lang="en-US" altLang="zh-CN" dirty="0">
                <a:latin typeface="华文楷体" panose="02010600040101010101" charset="-122"/>
                <a:ea typeface="华文楷体" panose="02010600040101010101" charset="-122"/>
                <a:cs typeface="华文楷体" panose="02010600040101010101" charset="-122"/>
                <a:sym typeface="+mn-ea"/>
              </a:rPr>
              <a:t>5</a:t>
            </a:r>
            <a:r>
              <a:rPr lang="zh-CN" altLang="en-US" dirty="0">
                <a:latin typeface="华文楷体" panose="02010600040101010101" charset="-122"/>
                <a:ea typeface="华文楷体" panose="02010600040101010101" charset="-122"/>
                <a:cs typeface="华文楷体" panose="02010600040101010101" charset="-122"/>
                <a:sym typeface="+mn-ea"/>
              </a:rPr>
              <a:t>（建模</a:t>
            </a:r>
            <a:r>
              <a:rPr lang="en-US" altLang="zh-CN" dirty="0">
                <a:latin typeface="华文楷体" panose="02010600040101010101" charset="-122"/>
                <a:ea typeface="华文楷体" panose="02010600040101010101" charset="-122"/>
                <a:cs typeface="华文楷体" panose="02010600040101010101" charset="-122"/>
                <a:sym typeface="+mn-ea"/>
              </a:rPr>
              <a:t>+</a:t>
            </a:r>
            <a:r>
              <a:rPr lang="zh-CN" altLang="en-US" dirty="0">
                <a:latin typeface="华文楷体" panose="02010600040101010101" charset="-122"/>
                <a:ea typeface="华文楷体" panose="02010600040101010101" charset="-122"/>
                <a:cs typeface="华文楷体" panose="02010600040101010101" charset="-122"/>
                <a:sym typeface="+mn-ea"/>
              </a:rPr>
              <a:t>求解），</a:t>
            </a:r>
            <a:r>
              <a:rPr lang="en-US" altLang="zh-CN" dirty="0">
                <a:latin typeface="华文楷体" panose="02010600040101010101" charset="-122"/>
                <a:ea typeface="华文楷体" panose="02010600040101010101" charset="-122"/>
                <a:cs typeface="华文楷体" panose="02010600040101010101" charset="-122"/>
                <a:sym typeface="+mn-ea"/>
              </a:rPr>
              <a:t>7</a:t>
            </a:r>
            <a:r>
              <a:rPr lang="zh-CN" altLang="en-US" dirty="0">
                <a:latin typeface="华文楷体" panose="02010600040101010101" charset="-122"/>
                <a:ea typeface="华文楷体" panose="02010600040101010101" charset="-122"/>
                <a:cs typeface="华文楷体" panose="02010600040101010101" charset="-122"/>
                <a:sym typeface="+mn-ea"/>
              </a:rPr>
              <a:t>（建模</a:t>
            </a:r>
            <a:r>
              <a:rPr lang="en-US" altLang="zh-CN" dirty="0">
                <a:latin typeface="华文楷体" panose="02010600040101010101" charset="-122"/>
                <a:ea typeface="华文楷体" panose="02010600040101010101" charset="-122"/>
                <a:cs typeface="华文楷体" panose="02010600040101010101" charset="-122"/>
                <a:sym typeface="+mn-ea"/>
              </a:rPr>
              <a:t>+</a:t>
            </a:r>
            <a:r>
              <a:rPr lang="zh-CN" altLang="en-US" dirty="0">
                <a:latin typeface="华文楷体" panose="02010600040101010101" charset="-122"/>
                <a:ea typeface="华文楷体" panose="02010600040101010101" charset="-122"/>
                <a:cs typeface="华文楷体" panose="02010600040101010101" charset="-122"/>
                <a:sym typeface="+mn-ea"/>
              </a:rPr>
              <a:t>求解）</a:t>
            </a:r>
            <a:r>
              <a:rPr lang="zh-CN" altLang="en-US" dirty="0">
                <a:latin typeface="华文楷体" panose="02010600040101010101" charset="-122"/>
                <a:ea typeface="华文楷体" panose="02010600040101010101" charset="-122"/>
                <a:cs typeface="华文楷体" panose="02010600040101010101" charset="-122"/>
                <a:sym typeface="+mn-ea"/>
              </a:rPr>
              <a:t>，</a:t>
            </a:r>
            <a:r>
              <a:rPr lang="en-US" altLang="zh-CN" dirty="0">
                <a:latin typeface="华文楷体" panose="02010600040101010101" charset="-122"/>
                <a:ea typeface="华文楷体" panose="02010600040101010101" charset="-122"/>
                <a:cs typeface="华文楷体" panose="02010600040101010101" charset="-122"/>
                <a:sym typeface="+mn-ea"/>
              </a:rPr>
              <a:t>8</a:t>
            </a:r>
            <a:r>
              <a:rPr lang="zh-CN" altLang="en-US" dirty="0">
                <a:latin typeface="华文楷体" panose="02010600040101010101" charset="-122"/>
                <a:ea typeface="华文楷体" panose="02010600040101010101" charset="-122"/>
                <a:cs typeface="华文楷体" panose="02010600040101010101" charset="-122"/>
                <a:sym typeface="+mn-ea"/>
              </a:rPr>
              <a:t>（仅建模）</a:t>
            </a:r>
            <a:r>
              <a:rPr lang="zh-CN" altLang="en-US" dirty="0">
                <a:latin typeface="华文楷体" panose="02010600040101010101" charset="-122"/>
                <a:ea typeface="华文楷体" panose="02010600040101010101" charset="-122"/>
                <a:cs typeface="华文楷体" panose="02010600040101010101" charset="-122"/>
                <a:sym typeface="+mn-ea"/>
              </a:rPr>
              <a:t>（第四版）</a:t>
            </a:r>
            <a:endParaRPr lang="en-US" altLang="zh-CN" dirty="0">
              <a:latin typeface="华文楷体" panose="02010600040101010101" charset="-122"/>
              <a:ea typeface="华文楷体" panose="02010600040101010101" charset="-122"/>
              <a:cs typeface="华文楷体" panose="02010600040101010101" charset="-122"/>
              <a:sym typeface="+mn-ea"/>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RAINPROBLEM" val="ProblemBody"/>
</p:tagLst>
</file>

<file path=ppt/tags/tag2.xml><?xml version="1.0" encoding="utf-8"?>
<p:tagLst xmlns:p="http://schemas.openxmlformats.org/presentationml/2006/main">
  <p:tag name="RAINPROBLEM" val="ProblemItem"/>
  <p:tag name="KSO_WM_DIAGRAM_VIRTUALLY_FRAME" val="{&quot;height&quot;:253.1250393700788,&quot;left&quot;:123.75,&quot;top&quot;:219.37503937007872,&quot;width&quot;:740.25}"/>
</p:tagLst>
</file>

<file path=ppt/tags/tag3.xml><?xml version="1.0" encoding="utf-8"?>
<p:tagLst xmlns:p="http://schemas.openxmlformats.org/presentationml/2006/main">
  <p:tag name="RAINPROBLEM" val="ProblemItem"/>
  <p:tag name="KSO_WM_DIAGRAM_VIRTUALLY_FRAME" val="{&quot;height&quot;:253.1250393700788,&quot;left&quot;:123.75,&quot;top&quot;:219.37503937007872,&quot;width&quot;:740.25}"/>
</p:tagLst>
</file>

<file path=ppt/tags/tag4.xml><?xml version="1.0" encoding="utf-8"?>
<p:tagLst xmlns:p="http://schemas.openxmlformats.org/presentationml/2006/main">
  <p:tag name="RAINPROBLEM" val="ProblemItem"/>
  <p:tag name="KSO_WM_DIAGRAM_VIRTUALLY_FRAME" val="{&quot;height&quot;:253.1250393700788,&quot;left&quot;:123.75,&quot;top&quot;:219.37503937007872,&quot;width&quot;:740.25}"/>
</p:tagLst>
</file>

<file path=ppt/tags/tag5.xml><?xml version="1.0" encoding="utf-8"?>
<p:tagLst xmlns:p="http://schemas.openxmlformats.org/presentationml/2006/main">
  <p:tag name="RAINPROBLEM" val="ProblemItem"/>
  <p:tag name="KSO_WM_DIAGRAM_VIRTUALLY_FRAME" val="{&quot;height&quot;:253.1250393700788,&quot;left&quot;:123.75,&quot;top&quot;:219.37503937007872,&quot;width&quot;:740.25}"/>
</p:tagLst>
</file>

<file path=ppt/tags/tag6.xml><?xml version="1.0" encoding="utf-8"?>
<p:tagLst xmlns:p="http://schemas.openxmlformats.org/presentationml/2006/main">
  <p:tag name="RAINPROBLEM" val="ProblemBullet"/>
  <p:tag name="RAINPROBLEMTYPE" val="MultipleChoice"/>
  <p:tag name="RAINBULLET" val="Wrong"/>
  <p:tag name="KSO_WM_DIAGRAM_VIRTUALLY_FRAME" val="{&quot;height&quot;:253.1250393700788,&quot;left&quot;:123.75,&quot;top&quot;:219.37503937007872,&quot;width&quot;:740.25}"/>
</p:tagLst>
</file>

<file path=ppt/tags/tag7.xml><?xml version="1.0" encoding="utf-8"?>
<p:tagLst xmlns:p="http://schemas.openxmlformats.org/presentationml/2006/main">
  <p:tag name="RAINPROBLEM" val="ProblemBullet"/>
  <p:tag name="RAINPROBLEMTYPE" val="MultipleChoice"/>
  <p:tag name="RAINBULLET" val="Wrong"/>
  <p:tag name="KSO_WM_DIAGRAM_VIRTUALLY_FRAME" val="{&quot;height&quot;:253.1250393700788,&quot;left&quot;:123.75,&quot;top&quot;:219.37503937007872,&quot;width&quot;:740.25}"/>
</p:tagLst>
</file>

<file path=ppt/tags/tag8.xml><?xml version="1.0" encoding="utf-8"?>
<p:tagLst xmlns:p="http://schemas.openxmlformats.org/presentationml/2006/main">
  <p:tag name="RAINPROBLEM" val="ProblemBullet"/>
  <p:tag name="RAINPROBLEMTYPE" val="MultipleChoice"/>
  <p:tag name="RAINBULLET" val="Wrong"/>
  <p:tag name="KSO_WM_DIAGRAM_VIRTUALLY_FRAME" val="{&quot;height&quot;:253.1250393700788,&quot;left&quot;:123.75,&quot;top&quot;:219.37503937007872,&quot;width&quot;:740.25}"/>
</p:tagLst>
</file>

<file path=ppt/tags/tag9.xml><?xml version="1.0" encoding="utf-8"?>
<p:tagLst xmlns:p="http://schemas.openxmlformats.org/presentationml/2006/main">
  <p:tag name="RAINPROBLEM" val="ProblemBullet"/>
  <p:tag name="RAINPROBLEMTYPE" val="MultipleChoice"/>
  <p:tag name="RAINBULLET" val="Wrong"/>
  <p:tag name="KSO_WM_DIAGRAM_VIRTUALLY_FRAME" val="{&quot;height&quot;:253.1250393700788,&quot;left&quot;:123.75,&quot;top&quot;:219.37503937007872,&quot;width&quot;:740.25}"/>
</p:tagLst>
</file>

<file path=ppt/tags/tag10.xml><?xml version="1.0" encoding="utf-8"?>
<p:tagLst xmlns:p="http://schemas.openxmlformats.org/presentationml/2006/main">
  <p:tag name="RAINPROBLEM" val="MultipleChoice"/>
  <p:tag name="PROBLEMSCORE" val="1"/>
</p:tagLst>
</file>

<file path=ppt/tags/tag11.xml><?xml version="1.0" encoding="utf-8"?>
<p:tagLst xmlns:p="http://schemas.openxmlformats.org/presentationml/2006/main">
  <p:tag name="RAINPROBLEM" val="ProblemBody"/>
</p:tagLst>
</file>

<file path=ppt/tags/tag12.xml><?xml version="1.0" encoding="utf-8"?>
<p:tagLst xmlns:p="http://schemas.openxmlformats.org/presentationml/2006/main">
  <p:tag name="RAINPROBLEM" val="ProblemItem"/>
  <p:tag name="KSO_WM_DIAGRAM_VIRTUALLY_FRAME" val="{&quot;height&quot;:253.1250393700788,&quot;left&quot;:123.75,&quot;top&quot;:219.37503937007872,&quot;width&quot;:740.25}"/>
</p:tagLst>
</file>

<file path=ppt/tags/tag13.xml><?xml version="1.0" encoding="utf-8"?>
<p:tagLst xmlns:p="http://schemas.openxmlformats.org/presentationml/2006/main">
  <p:tag name="RAINPROBLEM" val="ProblemItem"/>
  <p:tag name="KSO_WM_DIAGRAM_VIRTUALLY_FRAME" val="{&quot;height&quot;:253.1250393700788,&quot;left&quot;:123.75,&quot;top&quot;:219.37503937007872,&quot;width&quot;:740.25}"/>
</p:tagLst>
</file>

<file path=ppt/tags/tag14.xml><?xml version="1.0" encoding="utf-8"?>
<p:tagLst xmlns:p="http://schemas.openxmlformats.org/presentationml/2006/main">
  <p:tag name="RAINPROBLEM" val="ProblemItem"/>
  <p:tag name="KSO_WM_DIAGRAM_VIRTUALLY_FRAME" val="{&quot;height&quot;:253.1250393700788,&quot;left&quot;:123.75,&quot;top&quot;:219.37503937007872,&quot;width&quot;:740.25}"/>
</p:tagLst>
</file>

<file path=ppt/tags/tag15.xml><?xml version="1.0" encoding="utf-8"?>
<p:tagLst xmlns:p="http://schemas.openxmlformats.org/presentationml/2006/main">
  <p:tag name="RAINPROBLEM" val="ProblemItem"/>
  <p:tag name="KSO_WM_DIAGRAM_VIRTUALLY_FRAME" val="{&quot;height&quot;:253.1250393700788,&quot;left&quot;:123.75,&quot;top&quot;:219.37503937007872,&quot;width&quot;:740.25}"/>
</p:tagLst>
</file>

<file path=ppt/tags/tag16.xml><?xml version="1.0" encoding="utf-8"?>
<p:tagLst xmlns:p="http://schemas.openxmlformats.org/presentationml/2006/main">
  <p:tag name="RAINPROBLEM" val="ProblemBullet"/>
  <p:tag name="RAINPROBLEMTYPE" val="MultipleChoice"/>
  <p:tag name="RAINBULLET" val="Wrong"/>
  <p:tag name="KSO_WM_DIAGRAM_VIRTUALLY_FRAME" val="{&quot;height&quot;:253.1250393700788,&quot;left&quot;:123.75,&quot;top&quot;:219.37503937007872,&quot;width&quot;:740.25}"/>
</p:tagLst>
</file>

<file path=ppt/tags/tag17.xml><?xml version="1.0" encoding="utf-8"?>
<p:tagLst xmlns:p="http://schemas.openxmlformats.org/presentationml/2006/main">
  <p:tag name="RAINPROBLEM" val="ProblemBullet"/>
  <p:tag name="RAINPROBLEMTYPE" val="MultipleChoice"/>
  <p:tag name="RAINBULLET" val="Wrong"/>
  <p:tag name="KSO_WM_DIAGRAM_VIRTUALLY_FRAME" val="{&quot;height&quot;:253.1250393700788,&quot;left&quot;:123.75,&quot;top&quot;:219.37503937007872,&quot;width&quot;:740.25}"/>
</p:tagLst>
</file>

<file path=ppt/tags/tag18.xml><?xml version="1.0" encoding="utf-8"?>
<p:tagLst xmlns:p="http://schemas.openxmlformats.org/presentationml/2006/main">
  <p:tag name="RAINPROBLEM" val="ProblemBullet"/>
  <p:tag name="RAINPROBLEMTYPE" val="MultipleChoice"/>
  <p:tag name="RAINBULLET" val="Wrong"/>
  <p:tag name="KSO_WM_DIAGRAM_VIRTUALLY_FRAME" val="{&quot;height&quot;:253.1250393700788,&quot;left&quot;:123.75,&quot;top&quot;:219.37503937007872,&quot;width&quot;:740.25}"/>
</p:tagLst>
</file>

<file path=ppt/tags/tag19.xml><?xml version="1.0" encoding="utf-8"?>
<p:tagLst xmlns:p="http://schemas.openxmlformats.org/presentationml/2006/main">
  <p:tag name="RAINPROBLEM" val="ProblemBullet"/>
  <p:tag name="RAINPROBLEMTYPE" val="MultipleChoice"/>
  <p:tag name="RAINBULLET" val="Wrong"/>
  <p:tag name="KSO_WM_DIAGRAM_VIRTUALLY_FRAME" val="{&quot;height&quot;:253.1250393700788,&quot;left&quot;:123.75,&quot;top&quot;:219.37503937007872,&quot;width&quot;:740.25}"/>
</p:tagLst>
</file>

<file path=ppt/tags/tag20.xml><?xml version="1.0" encoding="utf-8"?>
<p:tagLst xmlns:p="http://schemas.openxmlformats.org/presentationml/2006/main">
  <p:tag name="RAINPROBLEM" val="MultipleChoice"/>
  <p:tag name="PROBLEMSCORE" val="1"/>
</p:tagLst>
</file>

<file path=ppt/tags/tag21.xml><?xml version="1.0" encoding="utf-8"?>
<p:tagLst xmlns:p="http://schemas.openxmlformats.org/presentationml/2006/main">
  <p:tag name="RAINPROBLEM" val="ProblemBody"/>
</p:tagLst>
</file>

<file path=ppt/tags/tag22.xml><?xml version="1.0" encoding="utf-8"?>
<p:tagLst xmlns:p="http://schemas.openxmlformats.org/presentationml/2006/main">
  <p:tag name="RAINPROBLEM" val="FillBlank"/>
  <p:tag name="PROBLEMBLANKKEYWORD" val="填空"/>
  <p:tag name="PROBLEMSCORE" val="2"/>
  <p:tag name="PROBLEMBLANK" val="[{&quot;Num&quot;:1,&quot;Score&quot;:1,&quot;Answers&quot;:[&quot;0&quot;],&quot;CaseSensitive&quot;:false,&quot;FuzzyMatch&quot;:false},{&quot;Num&quot;:2,&quot;Score&quot;:1,&quot;Answers&quot;:[&quot;0&quot;],&quot;CaseSensitive&quot;:false,&quot;FuzzyMatch&quot;:false}]"/>
</p:tagLst>
</file>

<file path=ppt/tags/tag23.xml><?xml version="1.0" encoding="utf-8"?>
<p:tagLst xmlns:p="http://schemas.openxmlformats.org/presentationml/2006/main">
  <p:tag name="RAINPROBLEM" val="ProblemBody"/>
</p:tagLst>
</file>

<file path=ppt/tags/tag24.xml><?xml version="1.0" encoding="utf-8"?>
<p:tagLst xmlns:p="http://schemas.openxmlformats.org/presentationml/2006/main">
  <p:tag name="RAINPROBLEM" val="MultipleChoice"/>
  <p:tag name="PROBLEMSCORE" val="1"/>
</p:tagLst>
</file>

<file path=ppt/tags/tag25.xml><?xml version="1.0" encoding="utf-8"?>
<p:tagLst xmlns:p="http://schemas.openxmlformats.org/presentationml/2006/main">
  <p:tag name="RAINPROBLEM" val="ProblemBody"/>
</p:tagLst>
</file>

<file path=ppt/tags/tag26.xml><?xml version="1.0" encoding="utf-8"?>
<p:tagLst xmlns:p="http://schemas.openxmlformats.org/presentationml/2006/main">
  <p:tag name="RAINPROBLEM" val="ProblemItem"/>
</p:tagLst>
</file>

<file path=ppt/tags/tag27.xml><?xml version="1.0" encoding="utf-8"?>
<p:tagLst xmlns:p="http://schemas.openxmlformats.org/presentationml/2006/main">
  <p:tag name="RAINPROBLEM" val="ProblemItem"/>
</p:tagLst>
</file>

<file path=ppt/tags/tag28.xml><?xml version="1.0" encoding="utf-8"?>
<p:tagLst xmlns:p="http://schemas.openxmlformats.org/presentationml/2006/main">
  <p:tag name="RAINPROBLEM" val="ProblemItem"/>
</p:tagLst>
</file>

<file path=ppt/tags/tag29.xml><?xml version="1.0" encoding="utf-8"?>
<p:tagLst xmlns:p="http://schemas.openxmlformats.org/presentationml/2006/main">
  <p:tag name="RAINPROBLEM" val="ProblemItem"/>
</p:tagLst>
</file>

<file path=ppt/tags/tag30.xml><?xml version="1.0" encoding="utf-8"?>
<p:tagLst xmlns:p="http://schemas.openxmlformats.org/presentationml/2006/main">
  <p:tag name="RAINPROBLEM" val="ProblemItem"/>
</p:tagLst>
</file>

<file path=ppt/tags/tag31.xml><?xml version="1.0" encoding="utf-8"?>
<p:tagLst xmlns:p="http://schemas.openxmlformats.org/presentationml/2006/main">
  <p:tag name="RAINPROBLEM" val="ProblemItem"/>
</p:tagLst>
</file>

<file path=ppt/tags/tag32.xml><?xml version="1.0" encoding="utf-8"?>
<p:tagLst xmlns:p="http://schemas.openxmlformats.org/presentationml/2006/main">
  <p:tag name="RAINPROBLEM" val="ProblemItem"/>
</p:tagLst>
</file>

<file path=ppt/tags/tag33.xml><?xml version="1.0" encoding="utf-8"?>
<p:tagLst xmlns:p="http://schemas.openxmlformats.org/presentationml/2006/main">
  <p:tag name="RAINPROBLEM" val="ProblemItem"/>
</p:tagLst>
</file>

<file path=ppt/tags/tag34.xml><?xml version="1.0" encoding="utf-8"?>
<p:tagLst xmlns:p="http://schemas.openxmlformats.org/presentationml/2006/main">
  <p:tag name="RAINPROBLEM" val="ProblemBullet"/>
  <p:tag name="RAINPROBLEMTYPE" val="MultipleChoice"/>
  <p:tag name="RAINBULLET" val="Wrong"/>
</p:tagLst>
</file>

<file path=ppt/tags/tag35.xml><?xml version="1.0" encoding="utf-8"?>
<p:tagLst xmlns:p="http://schemas.openxmlformats.org/presentationml/2006/main">
  <p:tag name="RAINPROBLEM" val="ProblemBullet"/>
  <p:tag name="RAINPROBLEMTYPE" val="MultipleChoice"/>
  <p:tag name="RAINBULLET" val="Wrong"/>
</p:tagLst>
</file>

<file path=ppt/tags/tag36.xml><?xml version="1.0" encoding="utf-8"?>
<p:tagLst xmlns:p="http://schemas.openxmlformats.org/presentationml/2006/main">
  <p:tag name="RAINPROBLEM" val="ProblemBullet"/>
  <p:tag name="RAINPROBLEMTYPE" val="MultipleChoice"/>
  <p:tag name="RAINBULLET" val="Wrong"/>
</p:tagLst>
</file>

<file path=ppt/tags/tag37.xml><?xml version="1.0" encoding="utf-8"?>
<p:tagLst xmlns:p="http://schemas.openxmlformats.org/presentationml/2006/main">
  <p:tag name="RAINPROBLEM" val="ProblemBullet"/>
  <p:tag name="RAINPROBLEMTYPE" val="MultipleChoice"/>
  <p:tag name="RAINBULLET" val="Wrong"/>
</p:tagLst>
</file>

<file path=ppt/tags/tag38.xml><?xml version="1.0" encoding="utf-8"?>
<p:tagLst xmlns:p="http://schemas.openxmlformats.org/presentationml/2006/main">
  <p:tag name="RAINPROBLEM" val="MultipleChoice"/>
  <p:tag name="PROBLEMSCORE" val="1"/>
</p:tagLst>
</file>

<file path=ppt/tags/tag39.xml><?xml version="1.0" encoding="utf-8"?>
<p:tagLst xmlns:p="http://schemas.openxmlformats.org/presentationml/2006/main">
  <p:tag name="RAINPROBLEM" val="ProblemBody"/>
</p:tagLst>
</file>

<file path=ppt/tags/tag40.xml><?xml version="1.0" encoding="utf-8"?>
<p:tagLst xmlns:p="http://schemas.openxmlformats.org/presentationml/2006/main">
  <p:tag name="RAINPROBLEM" val="ProblemBody"/>
</p:tagLst>
</file>

<file path=ppt/tags/tag41.xml><?xml version="1.0" encoding="utf-8"?>
<p:tagLst xmlns:p="http://schemas.openxmlformats.org/presentationml/2006/main">
  <p:tag name="RAINPROBLEM" val="ProblemItem"/>
</p:tagLst>
</file>

<file path=ppt/tags/tag42.xml><?xml version="1.0" encoding="utf-8"?>
<p:tagLst xmlns:p="http://schemas.openxmlformats.org/presentationml/2006/main">
  <p:tag name="RAINPROBLEM" val="ProblemItem"/>
</p:tagLst>
</file>

<file path=ppt/tags/tag43.xml><?xml version="1.0" encoding="utf-8"?>
<p:tagLst xmlns:p="http://schemas.openxmlformats.org/presentationml/2006/main">
  <p:tag name="RAINPROBLEM" val="ProblemItem"/>
</p:tagLst>
</file>

<file path=ppt/tags/tag44.xml><?xml version="1.0" encoding="utf-8"?>
<p:tagLst xmlns:p="http://schemas.openxmlformats.org/presentationml/2006/main">
  <p:tag name="RAINPROBLEM" val="ProblemItem"/>
</p:tagLst>
</file>

<file path=ppt/tags/tag45.xml><?xml version="1.0" encoding="utf-8"?>
<p:tagLst xmlns:p="http://schemas.openxmlformats.org/presentationml/2006/main">
  <p:tag name="RAINPROBLEM" val="ProblemItem"/>
</p:tagLst>
</file>

<file path=ppt/tags/tag46.xml><?xml version="1.0" encoding="utf-8"?>
<p:tagLst xmlns:p="http://schemas.openxmlformats.org/presentationml/2006/main">
  <p:tag name="RAINPROBLEM" val="ProblemItem"/>
</p:tagLst>
</file>

<file path=ppt/tags/tag47.xml><?xml version="1.0" encoding="utf-8"?>
<p:tagLst xmlns:p="http://schemas.openxmlformats.org/presentationml/2006/main">
  <p:tag name="RAINPROBLEM" val="ProblemItem"/>
</p:tagLst>
</file>

<file path=ppt/tags/tag48.xml><?xml version="1.0" encoding="utf-8"?>
<p:tagLst xmlns:p="http://schemas.openxmlformats.org/presentationml/2006/main">
  <p:tag name="RAINPROBLEM" val="ProblemItem"/>
</p:tagLst>
</file>

<file path=ppt/tags/tag49.xml><?xml version="1.0" encoding="utf-8"?>
<p:tagLst xmlns:p="http://schemas.openxmlformats.org/presentationml/2006/main">
  <p:tag name="RAINPROBLEM" val="ProblemBullet"/>
  <p:tag name="RAINPROBLEMTYPE" val="MultipleChoice"/>
  <p:tag name="RAINBULLET" val="Wrong"/>
</p:tagLst>
</file>

<file path=ppt/tags/tag50.xml><?xml version="1.0" encoding="utf-8"?>
<p:tagLst xmlns:p="http://schemas.openxmlformats.org/presentationml/2006/main">
  <p:tag name="RAINPROBLEM" val="ProblemBullet"/>
  <p:tag name="RAINPROBLEMTYPE" val="MultipleChoice"/>
  <p:tag name="RAINBULLET" val="Wrong"/>
</p:tagLst>
</file>

<file path=ppt/tags/tag51.xml><?xml version="1.0" encoding="utf-8"?>
<p:tagLst xmlns:p="http://schemas.openxmlformats.org/presentationml/2006/main">
  <p:tag name="RAINPROBLEM" val="ProblemBullet"/>
  <p:tag name="RAINPROBLEMTYPE" val="MultipleChoice"/>
  <p:tag name="RAINBULLET" val="Wrong"/>
</p:tagLst>
</file>

<file path=ppt/tags/tag52.xml><?xml version="1.0" encoding="utf-8"?>
<p:tagLst xmlns:p="http://schemas.openxmlformats.org/presentationml/2006/main">
  <p:tag name="RAINPROBLEM" val="ProblemBullet"/>
  <p:tag name="RAINPROBLEMTYPE" val="MultipleChoice"/>
  <p:tag name="RAINBULLET" val="Wrong"/>
</p:tagLst>
</file>

<file path=ppt/tags/tag53.xml><?xml version="1.0" encoding="utf-8"?>
<p:tagLst xmlns:p="http://schemas.openxmlformats.org/presentationml/2006/main">
  <p:tag name="RAINPROBLEM" val="MultipleChoice"/>
  <p:tag name="PROBLEMSCORE" val="1"/>
</p:tagLst>
</file>

<file path=ppt/tags/tag54.xml><?xml version="1.0" encoding="utf-8"?>
<p:tagLst xmlns:p="http://schemas.openxmlformats.org/presentationml/2006/main">
  <p:tag name="TABLE_ENDDRAG_ORIGIN_RECT" val="785*194"/>
  <p:tag name="TABLE_ENDDRAG_RECT" val="47*184*785*194"/>
</p:tagLst>
</file>

<file path=ppt/theme/theme1.xml><?xml version="1.0" encoding="utf-8"?>
<a:theme xmlns:a="http://schemas.openxmlformats.org/drawingml/2006/main" name="主题1">
  <a:themeElements>
    <a:clrScheme name="自定义 6">
      <a:dk1>
        <a:sysClr val="windowText" lastClr="000000"/>
      </a:dk1>
      <a:lt1>
        <a:sysClr val="window" lastClr="FFFFFF"/>
      </a:lt1>
      <a:dk2>
        <a:srgbClr val="44546A"/>
      </a:dk2>
      <a:lt2>
        <a:srgbClr val="E7E6E6"/>
      </a:lt2>
      <a:accent1>
        <a:srgbClr val="006D39"/>
      </a:accent1>
      <a:accent2>
        <a:srgbClr val="008F77"/>
      </a:accent2>
      <a:accent3>
        <a:srgbClr val="ED7D31"/>
      </a:accent3>
      <a:accent4>
        <a:srgbClr val="FFC000"/>
      </a:accent4>
      <a:accent5>
        <a:srgbClr val="5B9BD5"/>
      </a:accent5>
      <a:accent6>
        <a:srgbClr val="F4F9F1"/>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主题1">
  <a:themeElements>
    <a:clrScheme name="自定义 6">
      <a:dk1>
        <a:sysClr val="windowText" lastClr="000000"/>
      </a:dk1>
      <a:lt1>
        <a:sysClr val="window" lastClr="FFFFFF"/>
      </a:lt1>
      <a:dk2>
        <a:srgbClr val="44546A"/>
      </a:dk2>
      <a:lt2>
        <a:srgbClr val="E7E6E6"/>
      </a:lt2>
      <a:accent1>
        <a:srgbClr val="006D39"/>
      </a:accent1>
      <a:accent2>
        <a:srgbClr val="008F77"/>
      </a:accent2>
      <a:accent3>
        <a:srgbClr val="ED7D31"/>
      </a:accent3>
      <a:accent4>
        <a:srgbClr val="FFC000"/>
      </a:accent4>
      <a:accent5>
        <a:srgbClr val="5B9BD5"/>
      </a:accent5>
      <a:accent6>
        <a:srgbClr val="F4F9F1"/>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主题1</Template>
  <TotalTime>0</TotalTime>
  <Words>10098</Words>
  <Application>WPS 演示</Application>
  <PresentationFormat>宽屏</PresentationFormat>
  <Paragraphs>686</Paragraphs>
  <Slides>57</Slides>
  <Notes>0</Notes>
  <HiddenSlides>1</HiddenSlides>
  <MMClips>0</MMClips>
  <ScaleCrop>false</ScaleCrop>
  <HeadingPairs>
    <vt:vector size="8" baseType="variant">
      <vt:variant>
        <vt:lpstr>已用的字体</vt:lpstr>
      </vt:variant>
      <vt:variant>
        <vt:i4>20</vt:i4>
      </vt:variant>
      <vt:variant>
        <vt:lpstr>主题</vt:lpstr>
      </vt:variant>
      <vt:variant>
        <vt:i4>4</vt:i4>
      </vt:variant>
      <vt:variant>
        <vt:lpstr>嵌入 OLE 服务器</vt:lpstr>
      </vt:variant>
      <vt:variant>
        <vt:i4>4</vt:i4>
      </vt:variant>
      <vt:variant>
        <vt:lpstr>幻灯片标题</vt:lpstr>
      </vt:variant>
      <vt:variant>
        <vt:i4>57</vt:i4>
      </vt:variant>
    </vt:vector>
  </HeadingPairs>
  <TitlesOfParts>
    <vt:vector size="85" baseType="lpstr">
      <vt:lpstr>Arial</vt:lpstr>
      <vt:lpstr>宋体</vt:lpstr>
      <vt:lpstr>Wingdings</vt:lpstr>
      <vt:lpstr>微软雅黑</vt:lpstr>
      <vt:lpstr>DIN Light</vt:lpstr>
      <vt:lpstr>微软雅黑 Light</vt:lpstr>
      <vt:lpstr>楷体</vt:lpstr>
      <vt:lpstr>等线</vt:lpstr>
      <vt:lpstr>Segoe UI Light</vt:lpstr>
      <vt:lpstr>华文楷体</vt:lpstr>
      <vt:lpstr>楷体_GB2312</vt:lpstr>
      <vt:lpstr>新宋体</vt:lpstr>
      <vt:lpstr>Times New Roman</vt:lpstr>
      <vt:lpstr>Cambria Math</vt:lpstr>
      <vt:lpstr>Courant</vt:lpstr>
      <vt:lpstr>Arial Unicode MS</vt:lpstr>
      <vt:lpstr>等线 Light</vt:lpstr>
      <vt:lpstr>Calibri</vt:lpstr>
      <vt:lpstr>仿宋</vt:lpstr>
      <vt:lpstr>隶书</vt:lpstr>
      <vt:lpstr>主题1</vt:lpstr>
      <vt:lpstr>自定义设计方案</vt:lpstr>
      <vt:lpstr>1_Office 主题​​</vt:lpstr>
      <vt:lpstr>1_主题1</vt:lpstr>
      <vt:lpstr>Equation.3</vt:lpstr>
      <vt:lpstr>Equation.DSMT4</vt:lpstr>
      <vt:lpstr>Equation.DSMT4</vt:lpstr>
      <vt:lpstr>Equation.DSMT4</vt:lpstr>
      <vt:lpstr>PowerPoint 演示文稿</vt:lpstr>
      <vt:lpstr>章节内容</vt:lpstr>
      <vt:lpstr>PowerPoint 演示文稿</vt:lpstr>
      <vt:lpstr>PowerPoint 演示文稿</vt:lpstr>
      <vt:lpstr>PowerPoint 演示文稿</vt:lpstr>
      <vt:lpstr>章节内容</vt:lpstr>
      <vt:lpstr>PowerPoint 演示文稿</vt:lpstr>
      <vt:lpstr>目标规划问题举例</vt:lpstr>
      <vt:lpstr>目标规划问题举例</vt:lpstr>
      <vt:lpstr>线性规划与目标规划问题的区别</vt:lpstr>
      <vt:lpstr>目标规划问题举例-目标规划与线性规划对比</vt:lpstr>
      <vt:lpstr>目标规划问题举例-例1</vt:lpstr>
      <vt:lpstr>目标规划问题名词解释-目标值与实现值</vt:lpstr>
      <vt:lpstr>目标规划问题名词解释-偏差变量</vt:lpstr>
      <vt:lpstr>PowerPoint 演示文稿</vt:lpstr>
      <vt:lpstr>PowerPoint 演示文稿</vt:lpstr>
      <vt:lpstr>PowerPoint 演示文稿</vt:lpstr>
      <vt:lpstr>目标规划问题名词解释-偏差变量</vt:lpstr>
      <vt:lpstr>目标规划问题名词解释-约束类型</vt:lpstr>
      <vt:lpstr>思考题</vt:lpstr>
      <vt:lpstr>目标规划问题名词解释-目标函数</vt:lpstr>
      <vt:lpstr>PowerPoint 演示文稿</vt:lpstr>
      <vt:lpstr>思考问题</vt:lpstr>
      <vt:lpstr>目标规划问题名词解释-优先因子与优先权数</vt:lpstr>
      <vt:lpstr>PowerPoint 演示文稿</vt:lpstr>
      <vt:lpstr>目标规划问题举例-目标规划的一般形式</vt:lpstr>
      <vt:lpstr>PowerPoint 演示文稿</vt:lpstr>
      <vt:lpstr>目标规划问题举例-建模步骤</vt:lpstr>
      <vt:lpstr>目标规划问题举例</vt:lpstr>
      <vt:lpstr>有优先权的目标规划的图解法</vt:lpstr>
      <vt:lpstr>有优先权的目标规划的图解法</vt:lpstr>
      <vt:lpstr>PowerPoint 演示文稿</vt:lpstr>
      <vt:lpstr>PowerPoint 演示文稿</vt:lpstr>
      <vt:lpstr>PowerPoint 演示文稿</vt:lpstr>
      <vt:lpstr>PowerPoint 演示文稿</vt:lpstr>
      <vt:lpstr>PowerPoint 演示文稿</vt:lpstr>
      <vt:lpstr>有优先权的目标规划的图解法-化肥生产 </vt:lpstr>
      <vt:lpstr>有优先权的目标规划的图解法-化肥生产</vt:lpstr>
      <vt:lpstr>有优先权的目标规划的图解法-化肥生产</vt:lpstr>
      <vt:lpstr>有优先权的目标规划的图解法-化肥生产</vt:lpstr>
      <vt:lpstr>复杂情况下的有优先权的目标规划</vt:lpstr>
      <vt:lpstr>PowerPoint 演示文稿</vt:lpstr>
      <vt:lpstr>PowerPoint 演示文稿</vt:lpstr>
      <vt:lpstr>复杂情况下的有优先权的目标规划-设备组装线</vt:lpstr>
      <vt:lpstr>复杂情况下的有优先权的目标规划-设备组装线</vt:lpstr>
      <vt:lpstr>复杂情况下的有优先权的目标规划-设备组装线</vt:lpstr>
      <vt:lpstr>复杂情况下的有优先权的目标规划-设备组装线</vt:lpstr>
      <vt:lpstr>加权目标规划</vt:lpstr>
      <vt:lpstr>加权目标规划</vt:lpstr>
      <vt:lpstr>PowerPoint 演示文稿</vt:lpstr>
      <vt:lpstr>PowerPoint 演示文稿</vt:lpstr>
      <vt:lpstr>PowerPoint 演示文稿</vt:lpstr>
      <vt:lpstr>PowerPoint 演示文稿</vt:lpstr>
      <vt:lpstr>课堂练习题:试用图解法求出下列目标规划的满意解</vt:lpstr>
      <vt:lpstr>目标规划满意解的几种常见情况</vt:lpstr>
      <vt:lpstr>本章总结</vt:lpstr>
      <vt:lpstr>课后作业（仅写出整数规划模型）</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Siyu Bian</dc:creator>
  <cp:lastModifiedBy>Lee</cp:lastModifiedBy>
  <cp:revision>71</cp:revision>
  <dcterms:created xsi:type="dcterms:W3CDTF">2023-05-29T02:04:00Z</dcterms:created>
  <dcterms:modified xsi:type="dcterms:W3CDTF">2025-11-03T05:50:15Z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DB97D051DCEF42C99516CB6093E3B20C_12</vt:lpwstr>
  </property>
  <property fmtid="{D5CDD505-2E9C-101B-9397-08002B2CF9AE}" pid="3" name="KSOProductBuildVer">
    <vt:lpwstr>2052-12.1.0.19302</vt:lpwstr>
  </property>
</Properties>
</file>